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9" r:id="rId5"/>
    <p:sldId id="270" r:id="rId6"/>
    <p:sldId id="267" r:id="rId7"/>
    <p:sldId id="268"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69" d="100"/>
          <a:sy n="69" d="100"/>
        </p:scale>
        <p:origin x="72"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21"/>
            <a:ext cx="12192002" cy="6855879"/>
          </a:xfrm>
          <a:prstGeom prst="rect">
            <a:avLst/>
          </a:prstGeom>
        </p:spPr>
      </p:pic>
      <p:sp>
        <p:nvSpPr>
          <p:cNvPr id="2" name="标题 1"/>
          <p:cNvSpPr>
            <a:spLocks noGrp="1"/>
          </p:cNvSpPr>
          <p:nvPr>
            <p:ph type="ctrTitle"/>
          </p:nvPr>
        </p:nvSpPr>
        <p:spPr>
          <a:xfrm>
            <a:off x="2413688" y="2438419"/>
            <a:ext cx="4646140" cy="991641"/>
          </a:xfrm>
        </p:spPr>
        <p:txBody>
          <a:bodyPr anchor="b">
            <a:noAutofit/>
          </a:bodyPr>
          <a:lstStyle>
            <a:lvl1pPr algn="ctr">
              <a:defRPr sz="6600">
                <a:solidFill>
                  <a:schemeClr val="tx1">
                    <a:lumMod val="85000"/>
                    <a:lumOff val="1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8" name="文本框 7"/>
          <p:cNvSpPr txBox="1"/>
          <p:nvPr userDrawn="1"/>
        </p:nvSpPr>
        <p:spPr>
          <a:xfrm>
            <a:off x="4925712" y="4217773"/>
            <a:ext cx="2339102" cy="369332"/>
          </a:xfrm>
          <a:prstGeom prst="rect">
            <a:avLst/>
          </a:prstGeom>
          <a:noFill/>
        </p:spPr>
        <p:txBody>
          <a:bodyPr wrap="none" rtlCol="0">
            <a:spAutoFit/>
          </a:bodyPr>
          <a:lstStyle/>
          <a:p>
            <a:r>
              <a:rPr lang="zh-CN" altLang="en-US" spc="300" dirty="0" smtClean="0">
                <a:solidFill>
                  <a:schemeClr val="tx1">
                    <a:lumMod val="85000"/>
                    <a:lumOff val="15000"/>
                  </a:schemeClr>
                </a:solidFill>
                <a:latin typeface="微软雅黑" panose="020B0503020204020204" pitchFamily="34" charset="-122"/>
                <a:ea typeface="微软雅黑" panose="020B0503020204020204" pitchFamily="34" charset="-122"/>
              </a:rPr>
              <a:t>主讲老师：陆炜妮</a:t>
            </a:r>
            <a:endParaRPr lang="zh-CN" altLang="en-US" spc="3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9026412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圆角矩形 6"/>
          <p:cNvSpPr/>
          <p:nvPr userDrawn="1"/>
        </p:nvSpPr>
        <p:spPr>
          <a:xfrm>
            <a:off x="847725" y="885825"/>
            <a:ext cx="10582275" cy="5429249"/>
          </a:xfrm>
          <a:prstGeom prst="roundRect">
            <a:avLst>
              <a:gd name="adj" fmla="val 3900"/>
            </a:avLst>
          </a:prstGeom>
          <a:solidFill>
            <a:srgbClr val="F2F2F2"/>
          </a:solidFill>
          <a:ln>
            <a:solidFill>
              <a:schemeClr val="bg1">
                <a:lumMod val="85000"/>
              </a:schemeClr>
            </a:solidFill>
          </a:ln>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62075" y="257174"/>
            <a:ext cx="2409825" cy="638175"/>
          </a:xfrm>
          <a:prstGeom prst="rect">
            <a:avLst/>
          </a:prstGeom>
        </p:spPr>
      </p:pic>
      <p:sp>
        <p:nvSpPr>
          <p:cNvPr id="3" name="内容占位符 2"/>
          <p:cNvSpPr>
            <a:spLocks noGrp="1"/>
          </p:cNvSpPr>
          <p:nvPr>
            <p:ph idx="1"/>
          </p:nvPr>
        </p:nvSpPr>
        <p:spPr>
          <a:xfrm>
            <a:off x="1095374" y="1171575"/>
            <a:ext cx="10125075" cy="4914899"/>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0" name="标题 1"/>
          <p:cNvSpPr>
            <a:spLocks noGrp="1"/>
          </p:cNvSpPr>
          <p:nvPr>
            <p:ph type="title"/>
          </p:nvPr>
        </p:nvSpPr>
        <p:spPr>
          <a:xfrm>
            <a:off x="1720850" y="153988"/>
            <a:ext cx="2527300" cy="742950"/>
          </a:xfrm>
        </p:spPr>
        <p:txBody>
          <a:bodyPr anchor="b">
            <a:noAutofit/>
          </a:bodyPr>
          <a:lstStyle>
            <a:lvl1pPr>
              <a:defRPr sz="2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67764" y="6438900"/>
            <a:ext cx="252412" cy="252412"/>
          </a:xfrm>
          <a:prstGeom prst="rect">
            <a:avLst/>
          </a:prstGeom>
        </p:spPr>
      </p:pic>
      <p:sp>
        <p:nvSpPr>
          <p:cNvPr id="12" name="文本框 11"/>
          <p:cNvSpPr txBox="1"/>
          <p:nvPr userDrawn="1"/>
        </p:nvSpPr>
        <p:spPr>
          <a:xfrm>
            <a:off x="8953501" y="6416158"/>
            <a:ext cx="1620957" cy="307777"/>
          </a:xfrm>
          <a:prstGeom prst="rect">
            <a:avLst/>
          </a:prstGeom>
          <a:noFill/>
        </p:spPr>
        <p:txBody>
          <a:bodyPr wrap="none" rtlCol="0">
            <a:spAutoFit/>
          </a:bodyPr>
          <a:lstStyle/>
          <a:p>
            <a:r>
              <a:rPr lang="zh-CN" altLang="en-US" sz="1400" dirty="0" smtClean="0">
                <a:latin typeface="华文行楷" panose="02010800040101010101" pitchFamily="2" charset="-122"/>
                <a:ea typeface="华文行楷" panose="02010800040101010101" pitchFamily="2" charset="-122"/>
              </a:rPr>
              <a:t>东莞职业技术学院</a:t>
            </a:r>
            <a:endParaRPr lang="zh-CN" altLang="en-US" sz="1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634165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3315921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96140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01192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2093859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057731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643453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85555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41229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26925D-53E1-4B75-92B5-D8E7C2D23CF1}" type="datetimeFigureOut">
              <a:rPr lang="zh-CN" altLang="en-US" smtClean="0"/>
              <a:t>2020-7-30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177958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26925D-53E1-4B75-92B5-D8E7C2D23CF1}" type="datetimeFigureOut">
              <a:rPr lang="zh-CN" altLang="en-US" smtClean="0"/>
              <a:t>2020-7-30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88128-9016-4E7C-AB04-7D98CB94010C}" type="slidenum">
              <a:rPr lang="zh-CN" altLang="en-US" smtClean="0"/>
              <a:t>‹#›</a:t>
            </a:fld>
            <a:endParaRPr lang="zh-CN" altLang="en-US"/>
          </a:p>
        </p:txBody>
      </p:sp>
    </p:spTree>
    <p:extLst>
      <p:ext uri="{BB962C8B-B14F-4D97-AF65-F5344CB8AC3E}">
        <p14:creationId xmlns:p14="http://schemas.microsoft.com/office/powerpoint/2010/main" val="37220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95850" y="1618212"/>
            <a:ext cx="4711012" cy="1455439"/>
          </a:xfrm>
        </p:spPr>
        <p:txBody>
          <a:bodyPr>
            <a:noAutofit/>
          </a:bodyPr>
          <a:lstStyle/>
          <a:p>
            <a:pPr>
              <a:lnSpc>
                <a:spcPct val="150000"/>
              </a:lnSpc>
            </a:pPr>
            <a:r>
              <a:rPr lang="zh-CN" altLang="en-US" sz="4000" spc="300" dirty="0" smtClean="0">
                <a:solidFill>
                  <a:schemeClr val="tx1">
                    <a:lumMod val="75000"/>
                    <a:lumOff val="25000"/>
                  </a:schemeClr>
                </a:solidFill>
              </a:rPr>
              <a:t>成功导航的特征</a:t>
            </a:r>
            <a:endParaRPr lang="zh-CN" altLang="en-US" sz="4000" spc="300" dirty="0">
              <a:solidFill>
                <a:schemeClr val="tx1">
                  <a:lumMod val="75000"/>
                  <a:lumOff val="25000"/>
                </a:schemeClr>
              </a:solidFill>
            </a:endParaRPr>
          </a:p>
        </p:txBody>
      </p:sp>
    </p:spTree>
    <p:extLst>
      <p:ext uri="{BB962C8B-B14F-4D97-AF65-F5344CB8AC3E}">
        <p14:creationId xmlns:p14="http://schemas.microsoft.com/office/powerpoint/2010/main" val="1718936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6200775" cy="4914899"/>
          </a:xfrm>
        </p:spPr>
        <p:txBody>
          <a:bodyPr>
            <a:noAutofit/>
          </a:bodyPr>
          <a:lstStyle/>
          <a:p>
            <a:pPr>
              <a:lnSpc>
                <a:spcPct val="150000"/>
              </a:lnSpc>
              <a:buFont typeface="Wingdings" panose="05000000000000000000" pitchFamily="2" charset="2"/>
              <a:buChar char="Ø"/>
            </a:pPr>
            <a:r>
              <a:rPr lang="zh-CN" altLang="en-US" sz="3200" dirty="0" smtClean="0"/>
              <a:t>了解网站信息的组织结构</a:t>
            </a:r>
            <a:endParaRPr lang="en-US" altLang="zh-CN" sz="3200" dirty="0" smtClean="0"/>
          </a:p>
          <a:p>
            <a:pPr>
              <a:lnSpc>
                <a:spcPct val="150000"/>
              </a:lnSpc>
              <a:buFont typeface="Wingdings" panose="05000000000000000000" pitchFamily="2" charset="2"/>
              <a:buChar char="Ø"/>
            </a:pPr>
            <a:r>
              <a:rPr lang="zh-CN" altLang="en-US" sz="3200" dirty="0" smtClean="0"/>
              <a:t>了解导航的外观设计</a:t>
            </a:r>
            <a:endParaRPr lang="en-US" altLang="zh-CN" sz="3200" dirty="0" smtClean="0"/>
          </a:p>
          <a:p>
            <a:pPr>
              <a:lnSpc>
                <a:spcPct val="150000"/>
              </a:lnSpc>
              <a:buFont typeface="Wingdings" panose="05000000000000000000" pitchFamily="2" charset="2"/>
              <a:buChar char="Ø"/>
            </a:pPr>
            <a:r>
              <a:rPr lang="zh-CN" altLang="en-US" sz="3200" dirty="0" smtClean="0"/>
              <a:t>了解导航的交互设计</a:t>
            </a:r>
            <a:endParaRPr lang="en-US" altLang="zh-CN" sz="3200" dirty="0" smtClean="0"/>
          </a:p>
        </p:txBody>
      </p:sp>
      <p:sp>
        <p:nvSpPr>
          <p:cNvPr id="3" name="标题 2"/>
          <p:cNvSpPr>
            <a:spLocks noGrp="1"/>
          </p:cNvSpPr>
          <p:nvPr>
            <p:ph type="title"/>
          </p:nvPr>
        </p:nvSpPr>
        <p:spPr>
          <a:xfrm>
            <a:off x="1720850" y="126278"/>
            <a:ext cx="2527300" cy="742950"/>
          </a:xfrm>
        </p:spPr>
        <p:txBody>
          <a:bodyPr/>
          <a:lstStyle/>
          <a:p>
            <a:r>
              <a:rPr lang="zh-CN" altLang="en-US" dirty="0"/>
              <a:t>学习目标</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037" y="2214562"/>
            <a:ext cx="2962275" cy="3800475"/>
          </a:xfrm>
          <a:prstGeom prst="rect">
            <a:avLst/>
          </a:prstGeom>
        </p:spPr>
      </p:pic>
    </p:spTree>
    <p:extLst>
      <p:ext uri="{BB962C8B-B14F-4D97-AF65-F5344CB8AC3E}">
        <p14:creationId xmlns:p14="http://schemas.microsoft.com/office/powerpoint/2010/main" val="8502992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64277"/>
            <a:ext cx="10099099" cy="5122198"/>
          </a:xfrm>
        </p:spPr>
        <p:txBody>
          <a:bodyPr>
            <a:normAutofit/>
          </a:bodyPr>
          <a:lstStyle/>
          <a:p>
            <a:pPr>
              <a:lnSpc>
                <a:spcPct val="150000"/>
              </a:lnSpc>
              <a:buFont typeface="Wingdings" panose="05000000000000000000" pitchFamily="2" charset="2"/>
              <a:buChar char="Ø"/>
            </a:pPr>
            <a:r>
              <a:rPr lang="zh-CN" altLang="en-US" sz="3000" dirty="0" smtClean="0"/>
              <a:t>成功导航的特征</a:t>
            </a:r>
            <a:endParaRPr lang="en-US" altLang="zh-CN" sz="3000" dirty="0" smtClean="0"/>
          </a:p>
          <a:p>
            <a:pPr marL="457200" lvl="1" indent="0">
              <a:lnSpc>
                <a:spcPct val="150000"/>
              </a:lnSpc>
              <a:buNone/>
            </a:pPr>
            <a:r>
              <a:rPr lang="en-US" altLang="zh-CN" sz="2600" dirty="0" smtClean="0"/>
              <a:t>1</a:t>
            </a:r>
            <a:r>
              <a:rPr lang="zh-CN" altLang="en-US" sz="2600" dirty="0" smtClean="0"/>
              <a:t>、合理的信息组织结构</a:t>
            </a:r>
            <a:endParaRPr lang="en-US" altLang="zh-CN" sz="2600" dirty="0" smtClean="0"/>
          </a:p>
          <a:p>
            <a:pPr marL="914400" lvl="2" indent="0">
              <a:lnSpc>
                <a:spcPct val="150000"/>
              </a:lnSpc>
              <a:buNone/>
            </a:pPr>
            <a:r>
              <a:rPr lang="en-US" altLang="zh-CN" sz="2200" dirty="0" smtClean="0"/>
              <a:t>1</a:t>
            </a:r>
            <a:r>
              <a:rPr lang="zh-CN" altLang="en-US" sz="2200" dirty="0" smtClean="0"/>
              <a:t>）</a:t>
            </a:r>
            <a:r>
              <a:rPr lang="zh-CN" altLang="zh-CN" dirty="0"/>
              <a:t>内容类信息是网站的主要内容，通常使用网站的主导航来组织</a:t>
            </a:r>
            <a:r>
              <a:rPr lang="zh-CN" altLang="zh-CN" dirty="0" smtClean="0"/>
              <a:t>。</a:t>
            </a:r>
            <a:r>
              <a:rPr lang="zh-CN" altLang="zh-CN" dirty="0"/>
              <a:t>主导航大多采用一级导航或二级导航，一般不要超过三级</a:t>
            </a:r>
            <a:r>
              <a:rPr lang="zh-CN" altLang="zh-CN" dirty="0" smtClean="0"/>
              <a:t>导航</a:t>
            </a:r>
            <a:r>
              <a:rPr lang="zh-CN" altLang="en-US" dirty="0" smtClean="0"/>
              <a:t>。</a:t>
            </a:r>
            <a:endParaRPr lang="en-US" altLang="zh-CN" dirty="0" smtClean="0"/>
          </a:p>
          <a:p>
            <a:pPr marL="914400" lvl="2" indent="0">
              <a:lnSpc>
                <a:spcPct val="150000"/>
              </a:lnSpc>
              <a:buNone/>
            </a:pPr>
            <a:r>
              <a:rPr lang="en-US" altLang="zh-CN" sz="2200" dirty="0" smtClean="0"/>
              <a:t>2</a:t>
            </a:r>
            <a:r>
              <a:rPr lang="zh-CN" altLang="en-US" sz="2200" dirty="0" smtClean="0"/>
              <a:t>）</a:t>
            </a:r>
            <a:r>
              <a:rPr lang="zh-CN" altLang="zh-CN" dirty="0"/>
              <a:t>周边类信息指的是网站中不那么重要，但是又必须要有的内容</a:t>
            </a:r>
            <a:r>
              <a:rPr lang="zh-CN" altLang="zh-CN" dirty="0" smtClean="0"/>
              <a:t>，例如</a:t>
            </a:r>
            <a:r>
              <a:rPr lang="zh-CN" altLang="en-US" dirty="0"/>
              <a:t>合作伙伴</a:t>
            </a:r>
            <a:r>
              <a:rPr lang="zh-CN" altLang="zh-CN" dirty="0" smtClean="0"/>
              <a:t>、联系</a:t>
            </a:r>
            <a:r>
              <a:rPr lang="zh-CN" altLang="zh-CN" dirty="0"/>
              <a:t>我们</a:t>
            </a:r>
            <a:r>
              <a:rPr lang="zh-CN" altLang="zh-CN" dirty="0" smtClean="0"/>
              <a:t>等</a:t>
            </a:r>
            <a:r>
              <a:rPr lang="zh-CN" altLang="en-US" dirty="0" smtClean="0"/>
              <a:t>，</a:t>
            </a:r>
            <a:r>
              <a:rPr lang="zh-CN" altLang="zh-CN" dirty="0" smtClean="0"/>
              <a:t>通常</a:t>
            </a:r>
            <a:r>
              <a:rPr lang="zh-CN" altLang="zh-CN" dirty="0"/>
              <a:t>使用次导航来设计，放置在网页中不那么重要的</a:t>
            </a:r>
            <a:r>
              <a:rPr lang="zh-CN" altLang="zh-CN" dirty="0" smtClean="0"/>
              <a:t>位置</a:t>
            </a:r>
            <a:r>
              <a:rPr lang="zh-CN" altLang="en-US" dirty="0" smtClean="0"/>
              <a:t>。</a:t>
            </a:r>
            <a:endParaRPr lang="en-US" altLang="zh-CN" dirty="0" smtClean="0"/>
          </a:p>
          <a:p>
            <a:pPr marL="914400" lvl="2" indent="0">
              <a:lnSpc>
                <a:spcPct val="150000"/>
              </a:lnSpc>
              <a:buNone/>
            </a:pPr>
            <a:r>
              <a:rPr lang="en-US" altLang="zh-CN" sz="2200" dirty="0" smtClean="0"/>
              <a:t>3</a:t>
            </a:r>
            <a:r>
              <a:rPr lang="zh-CN" altLang="en-US" sz="2200" dirty="0" smtClean="0"/>
              <a:t>）</a:t>
            </a:r>
            <a:r>
              <a:rPr lang="zh-CN" altLang="zh-CN" dirty="0"/>
              <a:t>功能类信息指的是具有特定功能的信息，例如购物车、用户登陆与</a:t>
            </a:r>
            <a:r>
              <a:rPr lang="zh-CN" altLang="zh-CN" dirty="0" smtClean="0"/>
              <a:t>注册等</a:t>
            </a:r>
            <a:r>
              <a:rPr lang="zh-CN" altLang="zh-CN" dirty="0"/>
              <a:t>。功能类信息是提供给浏览者使用的工具，必须放置在显眼并随手可及的</a:t>
            </a:r>
            <a:r>
              <a:rPr lang="zh-CN" altLang="zh-CN" dirty="0" smtClean="0"/>
              <a:t>地方</a:t>
            </a:r>
            <a:r>
              <a:rPr lang="zh-CN" altLang="en-US" dirty="0" smtClean="0"/>
              <a:t>。</a:t>
            </a:r>
            <a:endParaRPr lang="zh-CN" altLang="en-US" sz="2200" dirty="0"/>
          </a:p>
        </p:txBody>
      </p:sp>
      <p:sp>
        <p:nvSpPr>
          <p:cNvPr id="3" name="标题 2"/>
          <p:cNvSpPr>
            <a:spLocks noGrp="1"/>
          </p:cNvSpPr>
          <p:nvPr>
            <p:ph type="title"/>
          </p:nvPr>
        </p:nvSpPr>
        <p:spPr>
          <a:xfrm>
            <a:off x="1720850" y="126278"/>
            <a:ext cx="2527300" cy="742950"/>
          </a:xfrm>
        </p:spPr>
        <p:txBody>
          <a:bodyPr/>
          <a:lstStyle/>
          <a:p>
            <a:r>
              <a:rPr lang="zh-CN" altLang="en-US" dirty="0"/>
              <a:t>学习内容</a:t>
            </a:r>
            <a:endParaRPr lang="zh-CN" altLang="en-US" dirty="0"/>
          </a:p>
        </p:txBody>
      </p:sp>
    </p:spTree>
    <p:extLst>
      <p:ext uri="{BB962C8B-B14F-4D97-AF65-F5344CB8AC3E}">
        <p14:creationId xmlns:p14="http://schemas.microsoft.com/office/powerpoint/2010/main" val="41915003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64277"/>
            <a:ext cx="10099099" cy="5122198"/>
          </a:xfrm>
        </p:spPr>
        <p:txBody>
          <a:bodyPr>
            <a:normAutofit fontScale="92500"/>
          </a:bodyPr>
          <a:lstStyle/>
          <a:p>
            <a:pPr>
              <a:lnSpc>
                <a:spcPct val="150000"/>
              </a:lnSpc>
              <a:buFont typeface="Wingdings" panose="05000000000000000000" pitchFamily="2" charset="2"/>
              <a:buChar char="Ø"/>
            </a:pPr>
            <a:r>
              <a:rPr lang="zh-CN" altLang="en-US" sz="3000" dirty="0" smtClean="0"/>
              <a:t>成功导航的特征</a:t>
            </a:r>
            <a:endParaRPr lang="en-US" altLang="zh-CN" sz="3000" dirty="0" smtClean="0"/>
          </a:p>
          <a:p>
            <a:pPr marL="457200" lvl="1" indent="0">
              <a:lnSpc>
                <a:spcPct val="150000"/>
              </a:lnSpc>
              <a:buNone/>
            </a:pPr>
            <a:r>
              <a:rPr lang="en-US" altLang="zh-CN" sz="2600" dirty="0"/>
              <a:t>2</a:t>
            </a:r>
            <a:r>
              <a:rPr lang="zh-CN" altLang="en-US" sz="2600" dirty="0" smtClean="0"/>
              <a:t>、良好的外观设计</a:t>
            </a:r>
            <a:endParaRPr lang="en-US" altLang="zh-CN" sz="2600" dirty="0" smtClean="0"/>
          </a:p>
          <a:p>
            <a:pPr marL="914400" lvl="2" indent="0">
              <a:lnSpc>
                <a:spcPct val="150000"/>
              </a:lnSpc>
              <a:buNone/>
            </a:pPr>
            <a:r>
              <a:rPr lang="en-US" altLang="zh-CN" sz="2200" b="1" dirty="0" smtClean="0"/>
              <a:t>1</a:t>
            </a:r>
            <a:r>
              <a:rPr lang="zh-CN" altLang="en-US" sz="2200" b="1" dirty="0" smtClean="0"/>
              <a:t>）合理的布局设计</a:t>
            </a:r>
            <a:r>
              <a:rPr lang="zh-CN" altLang="en-US" sz="2200" dirty="0" smtClean="0"/>
              <a:t>。</a:t>
            </a:r>
            <a:r>
              <a:rPr lang="zh-CN" altLang="zh-CN" sz="2200" dirty="0"/>
              <a:t>导航条的布局设计包括在网页中的位置、所占空间比例、排列方式</a:t>
            </a:r>
            <a:r>
              <a:rPr lang="zh-CN" altLang="zh-CN" sz="2200" dirty="0" smtClean="0"/>
              <a:t>等</a:t>
            </a:r>
            <a:r>
              <a:rPr lang="zh-CN" altLang="en-US" sz="2200" dirty="0" smtClean="0"/>
              <a:t>。</a:t>
            </a:r>
            <a:endParaRPr lang="en-US" altLang="zh-CN" sz="2200" dirty="0" smtClean="0"/>
          </a:p>
          <a:p>
            <a:pPr marL="914400" lvl="2" indent="0">
              <a:lnSpc>
                <a:spcPct val="150000"/>
              </a:lnSpc>
              <a:buNone/>
            </a:pPr>
            <a:r>
              <a:rPr lang="en-US" altLang="zh-CN" sz="2200" b="1" dirty="0" smtClean="0"/>
              <a:t>2</a:t>
            </a:r>
            <a:r>
              <a:rPr lang="zh-CN" altLang="en-US" sz="2200" b="1" dirty="0" smtClean="0"/>
              <a:t>）</a:t>
            </a:r>
            <a:r>
              <a:rPr lang="zh-CN" altLang="en-US" sz="2200" b="1" dirty="0" smtClean="0"/>
              <a:t>清晰的视觉传达</a:t>
            </a:r>
            <a:r>
              <a:rPr lang="zh-CN" altLang="en-US" sz="2200" dirty="0" smtClean="0"/>
              <a:t>。</a:t>
            </a:r>
            <a:r>
              <a:rPr lang="zh-CN" altLang="zh-CN" sz="2200" dirty="0"/>
              <a:t>成功的导航，要求有明确的标签文字</a:t>
            </a:r>
            <a:r>
              <a:rPr lang="zh-CN" altLang="zh-CN" sz="2200" dirty="0" smtClean="0"/>
              <a:t>，能够</a:t>
            </a:r>
            <a:r>
              <a:rPr lang="zh-CN" altLang="zh-CN" sz="2200" dirty="0"/>
              <a:t>准确表达菜单的信息含义；要有清晰的视觉效果，标签</a:t>
            </a:r>
            <a:r>
              <a:rPr lang="zh-CN" altLang="zh-CN" sz="2200" dirty="0" smtClean="0"/>
              <a:t>文字可读性</a:t>
            </a:r>
            <a:r>
              <a:rPr lang="zh-CN" altLang="zh-CN" sz="2200" dirty="0"/>
              <a:t>好</a:t>
            </a:r>
            <a:r>
              <a:rPr lang="zh-CN" altLang="zh-CN" sz="2200" dirty="0" smtClean="0"/>
              <a:t>，图标</a:t>
            </a:r>
            <a:r>
              <a:rPr lang="zh-CN" altLang="zh-CN" sz="2200" dirty="0"/>
              <a:t>的指示明确；要有清晰的视觉层次，能够明确区分各级导航菜单，能够清楚定位当前所点击的菜单。</a:t>
            </a:r>
            <a:endParaRPr lang="en-US" altLang="zh-CN" sz="2200" dirty="0" smtClean="0"/>
          </a:p>
          <a:p>
            <a:pPr marL="914400" lvl="2" indent="0">
              <a:lnSpc>
                <a:spcPct val="150000"/>
              </a:lnSpc>
              <a:buNone/>
            </a:pPr>
            <a:r>
              <a:rPr lang="en-US" altLang="zh-CN" sz="2200" b="1" dirty="0" smtClean="0"/>
              <a:t>3</a:t>
            </a:r>
            <a:r>
              <a:rPr lang="zh-CN" altLang="en-US" sz="2200" b="1" dirty="0" smtClean="0"/>
              <a:t>）</a:t>
            </a:r>
            <a:r>
              <a:rPr lang="zh-CN" altLang="en-US" sz="2200" b="1" dirty="0" smtClean="0"/>
              <a:t>相称的设计风格</a:t>
            </a:r>
            <a:r>
              <a:rPr lang="zh-CN" altLang="en-US" sz="2200" dirty="0" smtClean="0"/>
              <a:t>。</a:t>
            </a:r>
            <a:r>
              <a:rPr lang="zh-CN" altLang="zh-CN" sz="2200" dirty="0"/>
              <a:t>成功的导航应该具有与网站类型相称的设计</a:t>
            </a:r>
            <a:r>
              <a:rPr lang="zh-CN" altLang="zh-CN" sz="2200" dirty="0" smtClean="0"/>
              <a:t>风格</a:t>
            </a:r>
            <a:r>
              <a:rPr lang="zh-CN" altLang="en-US" sz="2200" dirty="0"/>
              <a:t>，</a:t>
            </a:r>
            <a:r>
              <a:rPr lang="zh-CN" altLang="zh-CN" sz="2200" dirty="0" smtClean="0"/>
              <a:t>再</a:t>
            </a:r>
            <a:r>
              <a:rPr lang="zh-CN" altLang="zh-CN" sz="2200" dirty="0"/>
              <a:t>出色的导航设计方案都必须服务于网站的整体需求，与网站融为一体。</a:t>
            </a:r>
          </a:p>
          <a:p>
            <a:pPr marL="914400" lvl="2" indent="0">
              <a:lnSpc>
                <a:spcPct val="150000"/>
              </a:lnSpc>
              <a:buNone/>
            </a:pPr>
            <a:endParaRPr lang="zh-CN" altLang="en-US" sz="2200" dirty="0"/>
          </a:p>
        </p:txBody>
      </p:sp>
      <p:sp>
        <p:nvSpPr>
          <p:cNvPr id="3" name="标题 2"/>
          <p:cNvSpPr>
            <a:spLocks noGrp="1"/>
          </p:cNvSpPr>
          <p:nvPr>
            <p:ph type="title"/>
          </p:nvPr>
        </p:nvSpPr>
        <p:spPr>
          <a:xfrm>
            <a:off x="1720850" y="126278"/>
            <a:ext cx="2527300" cy="742950"/>
          </a:xfrm>
        </p:spPr>
        <p:txBody>
          <a:bodyPr/>
          <a:lstStyle/>
          <a:p>
            <a:r>
              <a:rPr lang="zh-CN" altLang="en-US" dirty="0"/>
              <a:t>学习内容</a:t>
            </a:r>
            <a:endParaRPr lang="zh-CN" altLang="en-US" dirty="0"/>
          </a:p>
        </p:txBody>
      </p:sp>
    </p:spTree>
    <p:extLst>
      <p:ext uri="{BB962C8B-B14F-4D97-AF65-F5344CB8AC3E}">
        <p14:creationId xmlns:p14="http://schemas.microsoft.com/office/powerpoint/2010/main" val="31123303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964277"/>
            <a:ext cx="10099099" cy="5122198"/>
          </a:xfrm>
        </p:spPr>
        <p:txBody>
          <a:bodyPr>
            <a:normAutofit/>
          </a:bodyPr>
          <a:lstStyle/>
          <a:p>
            <a:pPr>
              <a:lnSpc>
                <a:spcPct val="150000"/>
              </a:lnSpc>
              <a:buFont typeface="Wingdings" panose="05000000000000000000" pitchFamily="2" charset="2"/>
              <a:buChar char="Ø"/>
            </a:pPr>
            <a:r>
              <a:rPr lang="zh-CN" altLang="en-US" sz="3000" dirty="0" smtClean="0"/>
              <a:t>成功导航的特征</a:t>
            </a:r>
            <a:endParaRPr lang="en-US" altLang="zh-CN" sz="3000" dirty="0" smtClean="0"/>
          </a:p>
          <a:p>
            <a:pPr marL="457200" lvl="1" indent="0">
              <a:lnSpc>
                <a:spcPct val="150000"/>
              </a:lnSpc>
              <a:buNone/>
            </a:pPr>
            <a:r>
              <a:rPr lang="en-US" altLang="zh-CN" sz="2600" dirty="0"/>
              <a:t>3</a:t>
            </a:r>
            <a:r>
              <a:rPr lang="zh-CN" altLang="en-US" sz="2600" dirty="0" smtClean="0"/>
              <a:t>、良好的交互设计</a:t>
            </a:r>
            <a:endParaRPr lang="en-US" altLang="zh-CN" sz="2600" dirty="0" smtClean="0"/>
          </a:p>
          <a:p>
            <a:pPr marL="914400" lvl="2" indent="0">
              <a:lnSpc>
                <a:spcPct val="150000"/>
              </a:lnSpc>
              <a:buNone/>
            </a:pPr>
            <a:r>
              <a:rPr lang="en-US" altLang="zh-CN" sz="2200" b="1" dirty="0" smtClean="0"/>
              <a:t>1</a:t>
            </a:r>
            <a:r>
              <a:rPr lang="zh-CN" altLang="en-US" sz="2200" b="1" dirty="0" smtClean="0"/>
              <a:t>）合理的视觉效果</a:t>
            </a:r>
            <a:r>
              <a:rPr lang="zh-CN" altLang="en-US" sz="2200" dirty="0" smtClean="0"/>
              <a:t>。</a:t>
            </a:r>
            <a:r>
              <a:rPr lang="zh-CN" altLang="zh-CN" dirty="0"/>
              <a:t>鼠标状态发生改变时，导航菜单的变化在视觉效果上应做到醒目、自然、不突兀，既能够起到提示的效果，但是又不喧宾夺主，不能破坏网页的整体设计风格。</a:t>
            </a:r>
            <a:endParaRPr lang="en-US" altLang="zh-CN" sz="2200" dirty="0" smtClean="0"/>
          </a:p>
          <a:p>
            <a:pPr marL="914400" lvl="2" indent="0">
              <a:lnSpc>
                <a:spcPct val="150000"/>
              </a:lnSpc>
              <a:buNone/>
            </a:pPr>
            <a:r>
              <a:rPr lang="en-US" altLang="zh-CN" sz="2200" b="1" dirty="0" smtClean="0"/>
              <a:t>2</a:t>
            </a:r>
            <a:r>
              <a:rPr lang="zh-CN" altLang="en-US" sz="2200" b="1" dirty="0" smtClean="0"/>
              <a:t>）</a:t>
            </a:r>
            <a:r>
              <a:rPr lang="zh-CN" altLang="en-US" sz="2200" b="1" dirty="0"/>
              <a:t>易于学习</a:t>
            </a:r>
            <a:r>
              <a:rPr lang="zh-CN" altLang="en-US" sz="2200" dirty="0" smtClean="0"/>
              <a:t>。</a:t>
            </a:r>
            <a:r>
              <a:rPr lang="zh-CN" altLang="zh-CN" dirty="0"/>
              <a:t>成功的导航交互设计应该是有规律的、易于学习的，浏览者能够快速理解导航菜单的变化规律和意图，并根据这些规律找到信息的定位</a:t>
            </a:r>
            <a:r>
              <a:rPr lang="zh-CN" altLang="zh-CN" sz="2200" dirty="0" smtClean="0"/>
              <a:t>。</a:t>
            </a:r>
            <a:endParaRPr lang="en-US" altLang="zh-CN" sz="2200" dirty="0" smtClean="0"/>
          </a:p>
          <a:p>
            <a:pPr marL="914400" lvl="2" indent="0">
              <a:lnSpc>
                <a:spcPct val="150000"/>
              </a:lnSpc>
              <a:buNone/>
            </a:pPr>
            <a:r>
              <a:rPr lang="en-US" altLang="zh-CN" sz="2200" b="1" dirty="0" smtClean="0"/>
              <a:t>3</a:t>
            </a:r>
            <a:r>
              <a:rPr lang="zh-CN" altLang="en-US" sz="2200" b="1" dirty="0" smtClean="0"/>
              <a:t>）</a:t>
            </a:r>
            <a:r>
              <a:rPr lang="zh-CN" altLang="en-US" sz="2200" b="1" dirty="0"/>
              <a:t>富有创意</a:t>
            </a:r>
            <a:r>
              <a:rPr lang="zh-CN" altLang="en-US" sz="2200" dirty="0" smtClean="0"/>
              <a:t>。</a:t>
            </a:r>
            <a:r>
              <a:rPr lang="zh-CN" altLang="zh-CN" dirty="0"/>
              <a:t>富有创意的交互设计是成功导航的重要</a:t>
            </a:r>
            <a:r>
              <a:rPr lang="zh-CN" altLang="zh-CN" dirty="0" smtClean="0"/>
              <a:t>特征</a:t>
            </a:r>
            <a:r>
              <a:rPr lang="zh-CN" altLang="en-US" dirty="0" smtClean="0"/>
              <a:t>，</a:t>
            </a:r>
            <a:r>
              <a:rPr lang="zh-CN" altLang="zh-CN" dirty="0"/>
              <a:t>在常规与个性之间寻求一个平衡点，使得导航既有吸引力也有良好的可用性</a:t>
            </a:r>
            <a:r>
              <a:rPr lang="zh-CN" altLang="zh-CN" sz="2200" dirty="0" smtClean="0"/>
              <a:t>。</a:t>
            </a:r>
            <a:endParaRPr lang="zh-CN" altLang="zh-CN" sz="2200" dirty="0"/>
          </a:p>
          <a:p>
            <a:pPr marL="914400" lvl="2" indent="0">
              <a:lnSpc>
                <a:spcPct val="150000"/>
              </a:lnSpc>
              <a:buNone/>
            </a:pPr>
            <a:endParaRPr lang="zh-CN" altLang="en-US" sz="2200" dirty="0"/>
          </a:p>
        </p:txBody>
      </p:sp>
      <p:sp>
        <p:nvSpPr>
          <p:cNvPr id="3" name="标题 2"/>
          <p:cNvSpPr>
            <a:spLocks noGrp="1"/>
          </p:cNvSpPr>
          <p:nvPr>
            <p:ph type="title"/>
          </p:nvPr>
        </p:nvSpPr>
        <p:spPr>
          <a:xfrm>
            <a:off x="1720850" y="126278"/>
            <a:ext cx="2527300" cy="742950"/>
          </a:xfrm>
        </p:spPr>
        <p:txBody>
          <a:bodyPr/>
          <a:lstStyle/>
          <a:p>
            <a:r>
              <a:rPr lang="zh-CN" altLang="en-US" dirty="0"/>
              <a:t>学习内容</a:t>
            </a:r>
            <a:endParaRPr lang="zh-CN" altLang="en-US" dirty="0"/>
          </a:p>
        </p:txBody>
      </p:sp>
    </p:spTree>
    <p:extLst>
      <p:ext uri="{BB962C8B-B14F-4D97-AF65-F5344CB8AC3E}">
        <p14:creationId xmlns:p14="http://schemas.microsoft.com/office/powerpoint/2010/main" val="42817311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5" y="1171575"/>
            <a:ext cx="10112952" cy="4914899"/>
          </a:xfrm>
        </p:spPr>
        <p:txBody>
          <a:bodyPr>
            <a:normAutofit/>
          </a:bodyPr>
          <a:lstStyle/>
          <a:p>
            <a:pPr>
              <a:lnSpc>
                <a:spcPct val="150000"/>
              </a:lnSpc>
              <a:buFont typeface="Wingdings" panose="05000000000000000000" pitchFamily="2" charset="2"/>
              <a:buChar char="Ø"/>
            </a:pPr>
            <a:r>
              <a:rPr lang="zh-CN" altLang="zh-CN" dirty="0"/>
              <a:t>无论如何，记住关键的一条设计原则就是，永远要将最关键、</a:t>
            </a:r>
            <a:r>
              <a:rPr lang="zh-CN" altLang="zh-CN" dirty="0" smtClean="0"/>
              <a:t>最重要</a:t>
            </a:r>
            <a:r>
              <a:rPr lang="zh-CN" altLang="zh-CN" dirty="0"/>
              <a:t>的内容信息让用户轻松找到，这就是导航应该做到的</a:t>
            </a:r>
            <a:r>
              <a:rPr lang="zh-CN" altLang="zh-CN" dirty="0" smtClean="0"/>
              <a:t>。</a:t>
            </a:r>
            <a:endParaRPr lang="en-US" altLang="zh-CN" dirty="0" smtClean="0"/>
          </a:p>
          <a:p>
            <a:pPr>
              <a:lnSpc>
                <a:spcPct val="150000"/>
              </a:lnSpc>
              <a:buFont typeface="Wingdings" panose="05000000000000000000" pitchFamily="2" charset="2"/>
              <a:buChar char="Ø"/>
            </a:pPr>
            <a:r>
              <a:rPr lang="zh-CN" altLang="zh-CN" dirty="0" smtClean="0"/>
              <a:t>创意不是</a:t>
            </a:r>
            <a:r>
              <a:rPr lang="zh-CN" altLang="zh-CN" dirty="0"/>
              <a:t>天马行空，而是在遵循导航设计的基本原则基础上进行的与网站需求相符的个性化设计。</a:t>
            </a:r>
            <a:endParaRPr lang="en-US" altLang="zh-CN" sz="3000" dirty="0" smtClean="0"/>
          </a:p>
        </p:txBody>
      </p:sp>
      <p:sp>
        <p:nvSpPr>
          <p:cNvPr id="3" name="标题 2"/>
          <p:cNvSpPr>
            <a:spLocks noGrp="1"/>
          </p:cNvSpPr>
          <p:nvPr>
            <p:ph type="title"/>
          </p:nvPr>
        </p:nvSpPr>
        <p:spPr/>
        <p:txBody>
          <a:bodyPr/>
          <a:lstStyle/>
          <a:p>
            <a:r>
              <a:rPr lang="zh-CN" altLang="en-US" dirty="0" smtClean="0"/>
              <a:t>小  结</a:t>
            </a:r>
            <a:endParaRPr lang="zh-CN" altLang="en-US" dirty="0"/>
          </a:p>
        </p:txBody>
      </p:sp>
    </p:spTree>
    <p:extLst>
      <p:ext uri="{BB962C8B-B14F-4D97-AF65-F5344CB8AC3E}">
        <p14:creationId xmlns:p14="http://schemas.microsoft.com/office/powerpoint/2010/main" val="39230644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95374" y="1171575"/>
            <a:ext cx="6399935" cy="4439516"/>
          </a:xfrm>
        </p:spPr>
        <p:txBody>
          <a:bodyPr>
            <a:normAutofit/>
          </a:bodyPr>
          <a:lstStyle/>
          <a:p>
            <a:pPr>
              <a:lnSpc>
                <a:spcPct val="150000"/>
              </a:lnSpc>
              <a:buFont typeface="Wingdings" panose="05000000000000000000" pitchFamily="2" charset="2"/>
              <a:buChar char="Ø"/>
            </a:pPr>
            <a:r>
              <a:rPr lang="zh-CN" altLang="en-US" sz="3600" dirty="0"/>
              <a:t>请选取你认为在导航设计上成功</a:t>
            </a:r>
            <a:r>
              <a:rPr lang="zh-CN" altLang="en-US" sz="3600" dirty="0" smtClean="0"/>
              <a:t>的一张网页，并说明</a:t>
            </a:r>
            <a:r>
              <a:rPr lang="zh-CN" altLang="en-US" sz="3600" dirty="0"/>
              <a:t>你认为它成功的理由。</a:t>
            </a:r>
            <a:endParaRPr lang="zh-CN" altLang="en-US" sz="3600" dirty="0"/>
          </a:p>
        </p:txBody>
      </p:sp>
      <p:sp>
        <p:nvSpPr>
          <p:cNvPr id="3" name="标题 2"/>
          <p:cNvSpPr>
            <a:spLocks noGrp="1"/>
          </p:cNvSpPr>
          <p:nvPr>
            <p:ph type="title"/>
          </p:nvPr>
        </p:nvSpPr>
        <p:spPr/>
        <p:txBody>
          <a:bodyPr/>
          <a:lstStyle/>
          <a:p>
            <a:r>
              <a:rPr lang="zh-CN" altLang="en-US" dirty="0"/>
              <a:t>课后作业</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1437" y="1365141"/>
            <a:ext cx="1852613" cy="4835634"/>
          </a:xfrm>
          <a:prstGeom prst="rect">
            <a:avLst/>
          </a:prstGeom>
        </p:spPr>
      </p:pic>
    </p:spTree>
    <p:extLst>
      <p:ext uri="{BB962C8B-B14F-4D97-AF65-F5344CB8AC3E}">
        <p14:creationId xmlns:p14="http://schemas.microsoft.com/office/powerpoint/2010/main" val="8721965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上阴影">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1157</TotalTime>
  <Words>537</Words>
  <Application>Microsoft Office PowerPoint</Application>
  <PresentationFormat>宽屏</PresentationFormat>
  <Paragraphs>28</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等线 Light</vt:lpstr>
      <vt:lpstr>华文行楷</vt:lpstr>
      <vt:lpstr>微软雅黑</vt:lpstr>
      <vt:lpstr>Arial</vt:lpstr>
      <vt:lpstr>Wingdings</vt:lpstr>
      <vt:lpstr>Office 主题​​</vt:lpstr>
      <vt:lpstr>成功导航的特征</vt:lpstr>
      <vt:lpstr>学习目标</vt:lpstr>
      <vt:lpstr>学习内容</vt:lpstr>
      <vt:lpstr>学习内容</vt:lpstr>
      <vt:lpstr>学习内容</vt:lpstr>
      <vt:lpstr>小  结</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网页制作三大技术</dc:title>
  <dc:creator>Lenovo</dc:creator>
  <cp:lastModifiedBy>陆炜妮</cp:lastModifiedBy>
  <cp:revision>80</cp:revision>
  <dcterms:created xsi:type="dcterms:W3CDTF">2020-04-27T05:20:13Z</dcterms:created>
  <dcterms:modified xsi:type="dcterms:W3CDTF">2020-07-30T02:15:52Z</dcterms:modified>
</cp:coreProperties>
</file>
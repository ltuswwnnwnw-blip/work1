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6" r:id="rId5"/>
    <p:sldId id="275" r:id="rId6"/>
    <p:sldId id="277" r:id="rId7"/>
    <p:sldId id="278" r:id="rId8"/>
    <p:sldId id="279" r:id="rId9"/>
    <p:sldId id="280" r:id="rId10"/>
    <p:sldId id="281" r:id="rId11"/>
    <p:sldId id="267" r:id="rId12"/>
    <p:sldId id="268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2121"/>
            <a:ext cx="12192002" cy="685587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413688" y="2438419"/>
            <a:ext cx="4646140" cy="991641"/>
          </a:xfrm>
        </p:spPr>
        <p:txBody>
          <a:bodyPr anchor="b">
            <a:noAutofit/>
          </a:bodyPr>
          <a:lstStyle>
            <a:lvl1pPr algn="ctr">
              <a:defRPr sz="6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8" name="文本框 7"/>
          <p:cNvSpPr txBox="1"/>
          <p:nvPr userDrawn="1"/>
        </p:nvSpPr>
        <p:spPr>
          <a:xfrm>
            <a:off x="4925712" y="4217773"/>
            <a:ext cx="23391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pc="3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主讲老师：陆炜妮</a:t>
            </a:r>
            <a:endParaRPr lang="zh-CN" altLang="en-US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902641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 userDrawn="1"/>
        </p:nvSpPr>
        <p:spPr>
          <a:xfrm>
            <a:off x="847725" y="885825"/>
            <a:ext cx="10582275" cy="5429249"/>
          </a:xfrm>
          <a:prstGeom prst="roundRect">
            <a:avLst>
              <a:gd name="adj" fmla="val 3900"/>
            </a:avLst>
          </a:prstGeom>
          <a:solidFill>
            <a:srgbClr val="F2F2F2"/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075" y="257174"/>
            <a:ext cx="2409825" cy="638175"/>
          </a:xfrm>
          <a:prstGeom prst="rect">
            <a:avLst/>
          </a:prstGeom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95374" y="1171575"/>
            <a:ext cx="10125075" cy="491489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1720850" y="153988"/>
            <a:ext cx="2527300" cy="742950"/>
          </a:xfrm>
        </p:spPr>
        <p:txBody>
          <a:bodyPr anchor="b">
            <a:noAutofit/>
          </a:bodyPr>
          <a:lstStyle>
            <a:lvl1pPr>
              <a:defRPr sz="28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7764" y="6438900"/>
            <a:ext cx="252412" cy="252412"/>
          </a:xfrm>
          <a:prstGeom prst="rect">
            <a:avLst/>
          </a:prstGeom>
        </p:spPr>
      </p:pic>
      <p:sp>
        <p:nvSpPr>
          <p:cNvPr id="12" name="文本框 11"/>
          <p:cNvSpPr txBox="1"/>
          <p:nvPr userDrawn="1"/>
        </p:nvSpPr>
        <p:spPr>
          <a:xfrm>
            <a:off x="8953501" y="6416158"/>
            <a:ext cx="16209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400" dirty="0" smtClean="0">
                <a:latin typeface="华文行楷" panose="02010800040101010101" pitchFamily="2" charset="-122"/>
                <a:ea typeface="华文行楷" panose="02010800040101010101" pitchFamily="2" charset="-122"/>
              </a:rPr>
              <a:t>东莞职业技术学院</a:t>
            </a:r>
            <a:endParaRPr lang="zh-CN" altLang="en-US" sz="1400" dirty="0"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3416534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31592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14039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1192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859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77310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3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5523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2980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582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26925D-53E1-4B75-92B5-D8E7C2D23CF1}" type="datetimeFigureOut">
              <a:rPr lang="zh-CN" altLang="en-US" smtClean="0"/>
              <a:t>2020-7-28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C88128-9016-4E7C-AB04-7D98CB94010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20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395850" y="1554481"/>
            <a:ext cx="4711012" cy="145543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spc="3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双层浮动的复杂混排</a:t>
            </a:r>
            <a:endParaRPr lang="zh-CN" altLang="en-US" sz="3600" spc="3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8936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1171575"/>
            <a:ext cx="6200775" cy="4914899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400" dirty="0" smtClean="0"/>
              <a:t>灵活运用浮动（</a:t>
            </a:r>
            <a:r>
              <a:rPr lang="en-US" altLang="zh-CN" sz="3400" dirty="0" smtClean="0"/>
              <a:t>float</a:t>
            </a:r>
            <a:r>
              <a:rPr lang="zh-CN" altLang="en-US" sz="3400" dirty="0" smtClean="0"/>
              <a:t>）实现复杂的混排结构</a:t>
            </a:r>
            <a:endParaRPr lang="en-US" altLang="zh-CN" sz="34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学习目标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0037" y="2214562"/>
            <a:ext cx="2962275" cy="3800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299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64277"/>
            <a:ext cx="10135121" cy="512219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使用列表设计标签结构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使用浮动实现</a:t>
            </a:r>
            <a:r>
              <a:rPr lang="en-US" altLang="zh-CN" sz="3000" dirty="0" smtClean="0"/>
              <a:t>3</a:t>
            </a:r>
            <a:r>
              <a:rPr lang="zh-CN" altLang="en-US" sz="3000" dirty="0" smtClean="0"/>
              <a:t>行</a:t>
            </a:r>
            <a:r>
              <a:rPr lang="en-US" altLang="zh-CN" sz="3000" dirty="0" smtClean="0"/>
              <a:t>2</a:t>
            </a:r>
            <a:r>
              <a:rPr lang="zh-CN" altLang="en-US" sz="3000" dirty="0" smtClean="0"/>
              <a:t>列布局，且图文单元内是图左文右结构</a:t>
            </a:r>
            <a:endParaRPr lang="en-US" altLang="zh-CN" sz="3000" dirty="0" smtClean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zh-CN" altLang="en-US" sz="3000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任务目标</a:t>
            </a:r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9830" y="2693325"/>
            <a:ext cx="6705600" cy="339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500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6001" y="1234845"/>
            <a:ext cx="8976965" cy="454250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标签分析</a:t>
            </a:r>
            <a:endParaRPr lang="zh-CN" altLang="en-US" dirty="0"/>
          </a:p>
        </p:txBody>
      </p:sp>
      <p:sp>
        <p:nvSpPr>
          <p:cNvPr id="5" name="矩形标注 4"/>
          <p:cNvSpPr/>
          <p:nvPr/>
        </p:nvSpPr>
        <p:spPr>
          <a:xfrm>
            <a:off x="5810596" y="4480560"/>
            <a:ext cx="3807229" cy="972589"/>
          </a:xfrm>
          <a:prstGeom prst="wedgeRectCallout">
            <a:avLst>
              <a:gd name="adj1" fmla="val 62107"/>
              <a:gd name="adj2" fmla="val 23689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标注 5"/>
          <p:cNvSpPr/>
          <p:nvPr/>
        </p:nvSpPr>
        <p:spPr>
          <a:xfrm>
            <a:off x="1779660" y="2329943"/>
            <a:ext cx="7996106" cy="3181396"/>
          </a:xfrm>
          <a:prstGeom prst="wedgeRectCallout">
            <a:avLst>
              <a:gd name="adj1" fmla="val 53476"/>
              <a:gd name="adj2" fmla="val -1735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0002871" y="3019583"/>
            <a:ext cx="11576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&lt;</a:t>
            </a:r>
            <a:r>
              <a:rPr lang="en-US" altLang="zh-CN" sz="3600" dirty="0" err="1" smtClean="0">
                <a:solidFill>
                  <a:srgbClr val="FF0000"/>
                </a:solidFill>
              </a:rPr>
              <a:t>ul</a:t>
            </a:r>
            <a:r>
              <a:rPr lang="en-US" altLang="zh-CN" sz="3600" dirty="0" smtClean="0">
                <a:solidFill>
                  <a:srgbClr val="FF0000"/>
                </a:solidFill>
              </a:rPr>
              <a:t>&gt;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002871" y="4865008"/>
            <a:ext cx="10054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>
                <a:solidFill>
                  <a:srgbClr val="FF0000"/>
                </a:solidFill>
              </a:rPr>
              <a:t>&lt;li&gt;</a:t>
            </a:r>
            <a:endParaRPr lang="zh-CN" altLang="en-US" sz="3600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37441" y="4780549"/>
            <a:ext cx="12506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&lt;</a:t>
            </a:r>
            <a:r>
              <a:rPr lang="en-US" altLang="zh-CN" sz="2800" dirty="0" err="1" smtClean="0">
                <a:solidFill>
                  <a:srgbClr val="FF0000"/>
                </a:solidFill>
              </a:rPr>
              <a:t>img</a:t>
            </a:r>
            <a:r>
              <a:rPr lang="en-US" altLang="zh-CN" sz="2800" dirty="0" smtClean="0">
                <a:solidFill>
                  <a:srgbClr val="FF0000"/>
                </a:solidFill>
              </a:rPr>
              <a:t>&gt;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46017" y="1748533"/>
            <a:ext cx="1048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&lt;h1&gt;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328227" y="4505570"/>
            <a:ext cx="6767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 smtClean="0">
                <a:solidFill>
                  <a:srgbClr val="FF0000"/>
                </a:solidFill>
              </a:rPr>
              <a:t>&lt;h4&gt;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8015866" y="4831317"/>
            <a:ext cx="86914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800" dirty="0" smtClean="0">
                <a:solidFill>
                  <a:srgbClr val="FF0000"/>
                </a:solidFill>
              </a:rPr>
              <a:t>&lt;p&gt;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6042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  <p:bldP spid="9" grpId="0"/>
      <p:bldP spid="10" grpId="0"/>
      <p:bldP spid="13" grpId="0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5" y="955965"/>
            <a:ext cx="4432590" cy="858980"/>
          </a:xfrm>
        </p:spPr>
        <p:txBody>
          <a:bodyPr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一、设计网页的</a:t>
            </a:r>
            <a:r>
              <a:rPr lang="en-US" altLang="zh-CN" sz="3000" dirty="0" smtClean="0"/>
              <a:t>HTML</a:t>
            </a:r>
            <a:r>
              <a:rPr lang="zh-CN" altLang="en-US" sz="3000" dirty="0" smtClean="0"/>
              <a:t>标签</a:t>
            </a:r>
            <a:endParaRPr lang="en-US" altLang="zh-CN" sz="30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2958" y="1814944"/>
            <a:ext cx="4019551" cy="4354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3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709681" cy="40593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二、设计网页的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）全局样式、头部标题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首先设置</a:t>
            </a:r>
            <a:r>
              <a:rPr lang="en-US" altLang="zh-CN" dirty="0"/>
              <a:t>body</a:t>
            </a:r>
            <a:r>
              <a:rPr lang="zh-CN" altLang="zh-CN" dirty="0"/>
              <a:t>的背景色，统一网页中的字体，清除列表符号，清除所有标签的默认内外边距，便于后面精确控制元素间的间距。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5701" y="1385887"/>
            <a:ext cx="3430299" cy="32406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828" y="4474092"/>
            <a:ext cx="2865172" cy="1552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532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709681" cy="40593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二、设计网页的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/>
              <a:t>2</a:t>
            </a:r>
            <a:r>
              <a:rPr lang="zh-CN" altLang="en-US" sz="2600" dirty="0" smtClean="0"/>
              <a:t>）外层浮动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外层浮动添加在</a:t>
            </a:r>
            <a:r>
              <a:rPr lang="en-US" altLang="zh-CN" dirty="0"/>
              <a:t>li</a:t>
            </a:r>
            <a:r>
              <a:rPr lang="zh-CN" altLang="zh-CN" dirty="0"/>
              <a:t>上，用来实现</a:t>
            </a:r>
            <a:r>
              <a:rPr lang="en-US" altLang="zh-CN" dirty="0"/>
              <a:t>3</a:t>
            </a:r>
            <a:r>
              <a:rPr lang="zh-CN" altLang="zh-CN" dirty="0"/>
              <a:t>行</a:t>
            </a:r>
            <a:r>
              <a:rPr lang="en-US" altLang="zh-CN" dirty="0"/>
              <a:t>2</a:t>
            </a:r>
            <a:r>
              <a:rPr lang="zh-CN" altLang="zh-CN" dirty="0"/>
              <a:t>列的结构</a:t>
            </a:r>
            <a:r>
              <a:rPr lang="zh-CN" altLang="zh-CN" dirty="0" smtClean="0"/>
              <a:t>。限定</a:t>
            </a:r>
            <a:r>
              <a:rPr lang="en-US" altLang="zh-CN" dirty="0"/>
              <a:t>li</a:t>
            </a:r>
            <a:r>
              <a:rPr lang="zh-CN" altLang="zh-CN" dirty="0"/>
              <a:t>的宽度，然后使用左浮动，利用底部边框实现分割虚线。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3137" y="1698047"/>
            <a:ext cx="5019028" cy="331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825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4709681" cy="40593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二、设计网页的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3</a:t>
            </a:r>
            <a:r>
              <a:rPr lang="zh-CN" altLang="en-US" sz="2600" dirty="0" smtClean="0"/>
              <a:t>）内层浮动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内层浮动添加在</a:t>
            </a:r>
            <a:r>
              <a:rPr lang="en-US" altLang="zh-CN" dirty="0"/>
              <a:t>li</a:t>
            </a:r>
            <a:r>
              <a:rPr lang="zh-CN" altLang="zh-CN" dirty="0"/>
              <a:t>里面的</a:t>
            </a:r>
            <a:r>
              <a:rPr lang="en-US" altLang="zh-CN" dirty="0" err="1"/>
              <a:t>img</a:t>
            </a:r>
            <a:r>
              <a:rPr lang="zh-CN" altLang="zh-CN" dirty="0"/>
              <a:t>上，实现图左文右的结构，并对文字的样式进行修饰，在第一列</a:t>
            </a:r>
            <a:r>
              <a:rPr lang="en-US" altLang="zh-CN" dirty="0"/>
              <a:t>li</a:t>
            </a:r>
            <a:r>
              <a:rPr lang="zh-CN" altLang="zh-CN" dirty="0"/>
              <a:t>上添加右侧内边距实现两列之间的间隔。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2923" y="1102301"/>
            <a:ext cx="3008168" cy="510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08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0593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二、设计网页的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4</a:t>
            </a:r>
            <a:r>
              <a:rPr lang="zh-CN" altLang="en-US" sz="2600" dirty="0" smtClean="0"/>
              <a:t>）</a:t>
            </a:r>
            <a:r>
              <a:rPr lang="en-US" altLang="zh-CN" sz="2600" dirty="0" err="1" smtClean="0"/>
              <a:t>ul</a:t>
            </a:r>
            <a:r>
              <a:rPr lang="zh-CN" altLang="en-US" sz="2600" dirty="0" smtClean="0"/>
              <a:t>样式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计算出</a:t>
            </a:r>
            <a:r>
              <a:rPr lang="en-US" altLang="zh-CN" dirty="0" err="1"/>
              <a:t>ul</a:t>
            </a:r>
            <a:r>
              <a:rPr lang="zh-CN" altLang="zh-CN" dirty="0"/>
              <a:t>的准确宽度</a:t>
            </a:r>
            <a:r>
              <a:rPr lang="zh-CN" altLang="zh-CN" dirty="0" smtClean="0"/>
              <a:t>，实现</a:t>
            </a:r>
            <a:r>
              <a:rPr lang="zh-CN" altLang="zh-CN" dirty="0"/>
              <a:t>准确的居中</a:t>
            </a:r>
            <a:r>
              <a:rPr lang="zh-CN" altLang="zh-CN" dirty="0" smtClean="0"/>
              <a:t>效果</a:t>
            </a:r>
            <a:r>
              <a:rPr lang="zh-CN" altLang="en-US" dirty="0" smtClean="0"/>
              <a:t>；</a:t>
            </a:r>
            <a:r>
              <a:rPr lang="zh-CN" altLang="zh-CN" dirty="0" smtClean="0"/>
              <a:t>因为子</a:t>
            </a:r>
            <a:r>
              <a:rPr lang="zh-CN" altLang="zh-CN" dirty="0"/>
              <a:t>元素</a:t>
            </a:r>
            <a:r>
              <a:rPr lang="en-US" altLang="zh-CN" dirty="0"/>
              <a:t>li</a:t>
            </a:r>
            <a:r>
              <a:rPr lang="zh-CN" altLang="zh-CN" dirty="0"/>
              <a:t>使用了浮动</a:t>
            </a:r>
            <a:r>
              <a:rPr lang="zh-CN" altLang="zh-CN" dirty="0" smtClean="0"/>
              <a:t>，</a:t>
            </a:r>
            <a:r>
              <a:rPr lang="zh-CN" altLang="en-US" dirty="0"/>
              <a:t>所以</a:t>
            </a:r>
            <a:r>
              <a:rPr lang="en-US" altLang="zh-CN" dirty="0" err="1" smtClean="0"/>
              <a:t>ul</a:t>
            </a:r>
            <a:r>
              <a:rPr lang="zh-CN" altLang="zh-CN" dirty="0" smtClean="0"/>
              <a:t>出现</a:t>
            </a:r>
            <a:r>
              <a:rPr lang="zh-CN" altLang="zh-CN" dirty="0"/>
              <a:t>“高度塌陷”的情况，需要清除浮动，恢复</a:t>
            </a:r>
            <a:r>
              <a:rPr lang="en-US" altLang="zh-CN" dirty="0" err="1"/>
              <a:t>ul</a:t>
            </a:r>
            <a:r>
              <a:rPr lang="zh-CN" altLang="zh-CN" dirty="0"/>
              <a:t>的高度后才能看到背景。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3576" y="3535999"/>
            <a:ext cx="5647517" cy="25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53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955965"/>
            <a:ext cx="10168371" cy="4059380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3000" dirty="0" smtClean="0"/>
              <a:t>二、设计网页的</a:t>
            </a:r>
            <a:r>
              <a:rPr lang="en-US" altLang="zh-CN" sz="3000" dirty="0" smtClean="0"/>
              <a:t>CSS</a:t>
            </a:r>
            <a:r>
              <a:rPr lang="zh-CN" altLang="en-US" sz="3000" dirty="0" smtClean="0"/>
              <a:t>样式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5</a:t>
            </a:r>
            <a:r>
              <a:rPr lang="zh-CN" altLang="en-US" sz="2600" dirty="0" smtClean="0"/>
              <a:t>）清除底部虚线</a:t>
            </a:r>
            <a:endParaRPr lang="en-US" altLang="zh-CN" sz="2600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zh-CN" altLang="zh-CN" dirty="0"/>
              <a:t>将最后一行的</a:t>
            </a:r>
            <a:r>
              <a:rPr lang="en-US" altLang="zh-CN" dirty="0"/>
              <a:t>2</a:t>
            </a:r>
            <a:r>
              <a:rPr lang="zh-CN" altLang="zh-CN" dirty="0"/>
              <a:t>个</a:t>
            </a:r>
            <a:r>
              <a:rPr lang="en-US" altLang="zh-CN" dirty="0"/>
              <a:t>li</a:t>
            </a:r>
            <a:r>
              <a:rPr lang="zh-CN" altLang="zh-CN" dirty="0"/>
              <a:t>归为</a:t>
            </a:r>
            <a:r>
              <a:rPr lang="en-US" altLang="zh-CN" dirty="0"/>
              <a:t>last</a:t>
            </a:r>
            <a:r>
              <a:rPr lang="zh-CN" altLang="zh-CN" dirty="0"/>
              <a:t>类，统一清除底部边框。</a:t>
            </a:r>
            <a:endParaRPr lang="en-US" altLang="zh-CN" sz="22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1720850" y="120736"/>
            <a:ext cx="2527300" cy="742950"/>
          </a:xfrm>
        </p:spPr>
        <p:txBody>
          <a:bodyPr/>
          <a:lstStyle/>
          <a:p>
            <a:r>
              <a:rPr lang="zh-CN" altLang="en-US" dirty="0"/>
              <a:t>任务实施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6410" y="3154566"/>
            <a:ext cx="4286582" cy="195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563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1095374" y="1171575"/>
            <a:ext cx="9486727" cy="49148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/>
              <a:t>任务</a:t>
            </a:r>
            <a:r>
              <a:rPr lang="zh-CN" altLang="en-US" sz="3000" dirty="0" smtClean="0"/>
              <a:t>中主要使用：</a:t>
            </a:r>
            <a:endParaRPr lang="en-US" altLang="zh-CN" sz="30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1</a:t>
            </a:r>
            <a:r>
              <a:rPr lang="zh-CN" altLang="en-US" sz="2600" dirty="0" smtClean="0"/>
              <a:t>）列表设计图文单元的结构</a:t>
            </a:r>
            <a:endParaRPr lang="en-US" altLang="zh-CN" sz="2600" dirty="0" smtClean="0"/>
          </a:p>
          <a:p>
            <a:pPr marL="457200" lvl="1" indent="0">
              <a:lnSpc>
                <a:spcPct val="150000"/>
              </a:lnSpc>
              <a:buNone/>
            </a:pPr>
            <a:r>
              <a:rPr lang="en-US" altLang="zh-CN" sz="2600" dirty="0" smtClean="0"/>
              <a:t>2</a:t>
            </a:r>
            <a:r>
              <a:rPr lang="zh-CN" altLang="en-US" sz="2600" dirty="0" smtClean="0"/>
              <a:t>）浮动</a:t>
            </a:r>
            <a:r>
              <a:rPr lang="zh-CN" altLang="en-US" sz="2600" dirty="0" smtClean="0"/>
              <a:t>实现外层</a:t>
            </a:r>
            <a:r>
              <a:rPr lang="en-US" altLang="zh-CN" sz="2600" dirty="0" smtClean="0"/>
              <a:t>3</a:t>
            </a:r>
            <a:r>
              <a:rPr lang="zh-CN" altLang="en-US" sz="2600" dirty="0" smtClean="0"/>
              <a:t>行</a:t>
            </a:r>
            <a:r>
              <a:rPr lang="en-US" altLang="zh-CN" sz="2600" dirty="0" smtClean="0"/>
              <a:t>2</a:t>
            </a:r>
            <a:r>
              <a:rPr lang="zh-CN" altLang="en-US" sz="2600" dirty="0" smtClean="0"/>
              <a:t>列布局、</a:t>
            </a:r>
            <a:r>
              <a:rPr lang="zh-CN" altLang="en-US" sz="2600" dirty="0" smtClean="0"/>
              <a:t>以及内层图</a:t>
            </a:r>
            <a:r>
              <a:rPr lang="zh-CN" altLang="en-US" sz="2600" dirty="0" smtClean="0"/>
              <a:t>左文右结构</a:t>
            </a:r>
            <a:endParaRPr lang="en-US" altLang="zh-CN" sz="2600" dirty="0" smtClean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小  结</a:t>
            </a:r>
            <a:endParaRPr lang="zh-CN" altLang="en-US" dirty="0"/>
          </a:p>
        </p:txBody>
      </p:sp>
      <p:sp>
        <p:nvSpPr>
          <p:cNvPr id="5" name="流程图: 可选过程 4"/>
          <p:cNvSpPr/>
          <p:nvPr/>
        </p:nvSpPr>
        <p:spPr>
          <a:xfrm>
            <a:off x="4953820" y="3965418"/>
            <a:ext cx="4959725" cy="205513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360000" rtlCol="0" anchor="ctr"/>
          <a:lstStyle/>
          <a:p>
            <a:r>
              <a:rPr lang="en-US" altLang="zh-CN" sz="3200" b="1" dirty="0" smtClean="0"/>
              <a:t>&gt;&gt; </a:t>
            </a:r>
            <a:r>
              <a:rPr lang="zh-CN" altLang="en-US" sz="3200" b="1" dirty="0"/>
              <a:t>浮动</a:t>
            </a:r>
            <a:r>
              <a:rPr lang="en-US" altLang="zh-CN" sz="3200" b="1" dirty="0" smtClean="0"/>
              <a:t>float</a:t>
            </a:r>
          </a:p>
          <a:p>
            <a:pPr>
              <a:lnSpc>
                <a:spcPct val="150000"/>
              </a:lnSpc>
            </a:pPr>
            <a:r>
              <a:rPr lang="zh-CN" altLang="en-US" sz="2200" dirty="0" smtClean="0"/>
              <a:t>浮动可以添加在相互嵌套的元素上，从而实现变化丰富的网页布局。</a:t>
            </a:r>
            <a:endParaRPr lang="zh-CN" altLang="en-US" sz="2200" dirty="0"/>
          </a:p>
        </p:txBody>
      </p:sp>
    </p:spTree>
    <p:extLst>
      <p:ext uri="{BB962C8B-B14F-4D97-AF65-F5344CB8AC3E}">
        <p14:creationId xmlns:p14="http://schemas.microsoft.com/office/powerpoint/2010/main" val="3923064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课后作业</a:t>
            </a:r>
          </a:p>
        </p:txBody>
      </p:sp>
      <p:sp>
        <p:nvSpPr>
          <p:cNvPr id="6" name="内容占位符 1"/>
          <p:cNvSpPr txBox="1">
            <a:spLocks/>
          </p:cNvSpPr>
          <p:nvPr/>
        </p:nvSpPr>
        <p:spPr>
          <a:xfrm>
            <a:off x="1095376" y="963750"/>
            <a:ext cx="4072370" cy="4914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3000" dirty="0" smtClean="0"/>
              <a:t>运用</a:t>
            </a:r>
            <a:r>
              <a:rPr lang="zh-CN" altLang="en-US" sz="3000" dirty="0"/>
              <a:t>双层浮动</a:t>
            </a:r>
            <a:r>
              <a:rPr lang="zh-CN" altLang="en-US" sz="3000" dirty="0" smtClean="0"/>
              <a:t>实现右侧效果图中的网页效果。</a:t>
            </a:r>
            <a:endParaRPr lang="en-US" altLang="zh-CN" sz="3000" dirty="0" smtClean="0"/>
          </a:p>
        </p:txBody>
      </p:sp>
      <p:pic>
        <p:nvPicPr>
          <p:cNvPr id="7" name="图片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3950" y="1362123"/>
            <a:ext cx="4851527" cy="4516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19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上阴影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3975" dist="41275" dir="14700000" algn="t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1519</TotalTime>
  <Words>380</Words>
  <Application>Microsoft Office PowerPoint</Application>
  <PresentationFormat>宽屏</PresentationFormat>
  <Paragraphs>43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等线 Light</vt:lpstr>
      <vt:lpstr>华文行楷</vt:lpstr>
      <vt:lpstr>微软雅黑</vt:lpstr>
      <vt:lpstr>Arial</vt:lpstr>
      <vt:lpstr>Wingdings</vt:lpstr>
      <vt:lpstr>Office 主题​​</vt:lpstr>
      <vt:lpstr>双层浮动的复杂混排</vt:lpstr>
      <vt:lpstr>学习目标</vt:lpstr>
      <vt:lpstr>任务目标</vt:lpstr>
      <vt:lpstr>标签分析</vt:lpstr>
      <vt:lpstr>任务实施</vt:lpstr>
      <vt:lpstr>任务实施</vt:lpstr>
      <vt:lpstr>任务实施</vt:lpstr>
      <vt:lpstr>任务实施</vt:lpstr>
      <vt:lpstr>任务实施</vt:lpstr>
      <vt:lpstr>任务实施</vt:lpstr>
      <vt:lpstr>小  结</vt:lpstr>
      <vt:lpstr>课后作业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网页制作三大技术</dc:title>
  <dc:creator>Lenovo</dc:creator>
  <cp:lastModifiedBy>陆炜妮</cp:lastModifiedBy>
  <cp:revision>105</cp:revision>
  <dcterms:created xsi:type="dcterms:W3CDTF">2020-04-27T05:20:13Z</dcterms:created>
  <dcterms:modified xsi:type="dcterms:W3CDTF">2020-07-28T05:43:23Z</dcterms:modified>
</cp:coreProperties>
</file>
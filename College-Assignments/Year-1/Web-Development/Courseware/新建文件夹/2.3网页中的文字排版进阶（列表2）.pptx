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67" r:id="rId21"/>
    <p:sldId id="268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5398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2020-7-23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2103121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网页的文字排版进阶</a:t>
            </a:r>
            <a:r>
              <a:rPr lang="en-US" altLang="zh-CN" sz="36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altLang="zh-CN" sz="36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zh-CN" altLang="en-US" sz="28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（列表</a:t>
            </a:r>
            <a:r>
              <a:rPr lang="en-US" altLang="zh-CN" sz="28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zh-CN" altLang="en-US" sz="28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endParaRPr lang="zh-CN" altLang="en-US" sz="28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200775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600" dirty="0" smtClean="0"/>
              <a:t>合理设计</a:t>
            </a:r>
            <a:r>
              <a:rPr lang="zh-CN" altLang="en-US" sz="3600" dirty="0"/>
              <a:t>列表的样式</a:t>
            </a:r>
            <a:endParaRPr lang="en-US" altLang="zh-CN" sz="36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600" dirty="0"/>
              <a:t>灵活</a:t>
            </a:r>
            <a:r>
              <a:rPr lang="zh-CN" altLang="en-US" sz="3600" dirty="0" smtClean="0"/>
              <a:t>控制元素间的间隔</a:t>
            </a:r>
            <a:endParaRPr lang="en-US" altLang="zh-CN" sz="36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3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33451"/>
            <a:ext cx="4565593" cy="515302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 smtClean="0"/>
              <a:t>本案例重点样式：</a:t>
            </a:r>
            <a:endParaRPr lang="en-US" altLang="zh-CN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 smtClean="0"/>
              <a:t>1</a:t>
            </a:r>
            <a:r>
              <a:rPr lang="zh-CN" altLang="en-US" sz="2400" dirty="0" smtClean="0"/>
              <a:t>）墨绿色背景与内容之间四个方向有间隔</a:t>
            </a:r>
            <a:endParaRPr lang="en-US" altLang="zh-CN" sz="24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 smtClean="0"/>
              <a:t>2</a:t>
            </a:r>
            <a:r>
              <a:rPr lang="zh-CN" altLang="en-US" sz="2400" dirty="0" smtClean="0"/>
              <a:t>）二级标题上下有明显间隔，与橙色边框有小间隔</a:t>
            </a:r>
            <a:endParaRPr lang="en-US" altLang="zh-CN" sz="24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 smtClean="0"/>
              <a:t>3</a:t>
            </a:r>
            <a:r>
              <a:rPr lang="zh-CN" altLang="en-US" sz="2400" dirty="0" smtClean="0"/>
              <a:t>）一级目录上下有明显间隔</a:t>
            </a:r>
            <a:endParaRPr lang="en-US" altLang="zh-CN" sz="24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 smtClean="0"/>
              <a:t>4</a:t>
            </a:r>
            <a:r>
              <a:rPr lang="zh-CN" altLang="en-US" sz="2400" dirty="0" smtClean="0"/>
              <a:t>）三级目录使用图像图标、左侧有明显缩进</a:t>
            </a:r>
            <a:endParaRPr lang="zh-CN" altLang="en-US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/>
              <a:t>任务目标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705" y="1171575"/>
            <a:ext cx="4815840" cy="497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23925"/>
            <a:ext cx="10057535" cy="516254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后代选择器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后代选择器使用“选择器</a:t>
            </a:r>
            <a:r>
              <a:rPr lang="en-US" altLang="zh-CN" dirty="0"/>
              <a:t>1 </a:t>
            </a:r>
            <a:r>
              <a:rPr lang="zh-CN" altLang="zh-CN" dirty="0"/>
              <a:t>选择器</a:t>
            </a:r>
            <a:r>
              <a:rPr lang="en-US" altLang="zh-CN" dirty="0"/>
              <a:t>2</a:t>
            </a:r>
            <a:r>
              <a:rPr lang="zh-CN" altLang="zh-CN" dirty="0"/>
              <a:t>”表示，中间使用空格分隔，用于选取父元素内部符合条件的子元素。</a:t>
            </a:r>
            <a:endParaRPr lang="zh-CN" altLang="en-US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266" y="3320760"/>
            <a:ext cx="4187523" cy="276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19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33451"/>
            <a:ext cx="10057535" cy="51530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后代选择器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后代选择器使用“选择器</a:t>
            </a:r>
            <a:r>
              <a:rPr lang="en-US" altLang="zh-CN" dirty="0"/>
              <a:t>1 </a:t>
            </a:r>
            <a:r>
              <a:rPr lang="zh-CN" altLang="zh-CN" dirty="0"/>
              <a:t>选择器</a:t>
            </a:r>
            <a:r>
              <a:rPr lang="en-US" altLang="zh-CN" dirty="0"/>
              <a:t>2</a:t>
            </a:r>
            <a:r>
              <a:rPr lang="zh-CN" altLang="zh-CN" dirty="0"/>
              <a:t>”表示，中间使用空格分隔，用于选取父元素内部符合条件的子元素。</a:t>
            </a:r>
            <a:endParaRPr lang="zh-CN" altLang="en-US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806" y="3320761"/>
            <a:ext cx="4187523" cy="276571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936" y="3572306"/>
            <a:ext cx="5702973" cy="23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957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14401"/>
            <a:ext cx="10057535" cy="51720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通配符</a:t>
            </a:r>
            <a:r>
              <a:rPr lang="zh-CN" altLang="en-US" sz="3000" dirty="0" smtClean="0"/>
              <a:t>选择</a:t>
            </a:r>
            <a:r>
              <a:rPr lang="zh-CN" altLang="en-US" sz="3000" dirty="0"/>
              <a:t>器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 smtClean="0"/>
              <a:t>通配</a:t>
            </a:r>
            <a:r>
              <a:rPr lang="zh-CN" altLang="en-US" dirty="0" smtClean="0"/>
              <a:t>符</a:t>
            </a:r>
            <a:r>
              <a:rPr lang="zh-CN" altLang="zh-CN" dirty="0" smtClean="0"/>
              <a:t>选择</a:t>
            </a:r>
            <a:r>
              <a:rPr lang="zh-CN" altLang="zh-CN" dirty="0"/>
              <a:t>器使用“</a:t>
            </a:r>
            <a:r>
              <a:rPr lang="en-US" altLang="zh-CN" dirty="0"/>
              <a:t>*</a:t>
            </a:r>
            <a:r>
              <a:rPr lang="zh-CN" altLang="zh-CN" dirty="0"/>
              <a:t>”表示，用于选取所有元素，与后代选择器组合使用可以选取某个元素中的所有子元素。</a:t>
            </a:r>
            <a:endParaRPr lang="zh-CN" altLang="en-US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49" y="3184811"/>
            <a:ext cx="4352495" cy="290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082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14401"/>
            <a:ext cx="5042190" cy="51720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盒子模型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sz="2200" dirty="0"/>
              <a:t>所有</a:t>
            </a:r>
            <a:r>
              <a:rPr lang="en-US" altLang="zh-CN" sz="2200" dirty="0"/>
              <a:t>HTML</a:t>
            </a:r>
            <a:r>
              <a:rPr lang="zh-CN" altLang="zh-CN" sz="2200" dirty="0"/>
              <a:t>元素都可以看作是矩形盒子，这些矩形盒子通过一个模型来描述其占用的空间，这个模型称为盒子模型（</a:t>
            </a:r>
            <a:r>
              <a:rPr lang="en-US" altLang="zh-CN" sz="2200" dirty="0"/>
              <a:t>Box Model</a:t>
            </a:r>
            <a:r>
              <a:rPr lang="zh-CN" altLang="zh-CN" sz="2200" dirty="0"/>
              <a:t>）。盒子模型包括元素内容（</a:t>
            </a:r>
            <a:r>
              <a:rPr lang="en-US" altLang="zh-CN" sz="2200" dirty="0"/>
              <a:t>content</a:t>
            </a:r>
            <a:r>
              <a:rPr lang="zh-CN" altLang="zh-CN" sz="2200" dirty="0"/>
              <a:t>）、内边距（</a:t>
            </a:r>
            <a:r>
              <a:rPr lang="en-US" altLang="zh-CN" sz="2200" dirty="0"/>
              <a:t>padding</a:t>
            </a:r>
            <a:r>
              <a:rPr lang="zh-CN" altLang="zh-CN" sz="2200" dirty="0"/>
              <a:t>）、边框（</a:t>
            </a:r>
            <a:r>
              <a:rPr lang="en-US" altLang="zh-CN" sz="2200" dirty="0"/>
              <a:t>border</a:t>
            </a:r>
            <a:r>
              <a:rPr lang="zh-CN" altLang="zh-CN" sz="2200" dirty="0"/>
              <a:t>）、外边距（</a:t>
            </a:r>
            <a:r>
              <a:rPr lang="en-US" altLang="zh-CN" sz="2200" dirty="0"/>
              <a:t>margin</a:t>
            </a:r>
            <a:r>
              <a:rPr lang="zh-CN" altLang="zh-CN" sz="2200" dirty="0" smtClean="0"/>
              <a:t>）</a:t>
            </a:r>
            <a:r>
              <a:rPr lang="zh-CN" altLang="en-US" sz="2200" dirty="0" smtClean="0"/>
              <a:t>。</a:t>
            </a:r>
            <a:endParaRPr lang="zh-CN" altLang="en-US" sz="2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7565" y="2146587"/>
            <a:ext cx="5054590" cy="275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10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33451"/>
            <a:ext cx="9932843" cy="51530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盒子模型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、宽度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使用</a:t>
            </a:r>
            <a:r>
              <a:rPr lang="en-US" altLang="zh-CN" dirty="0"/>
              <a:t>width</a:t>
            </a:r>
            <a:r>
              <a:rPr lang="zh-CN" altLang="zh-CN" dirty="0"/>
              <a:t>属性设置元素内容区域的宽度。例如</a:t>
            </a:r>
            <a:r>
              <a:rPr lang="en-US" altLang="zh-CN" dirty="0"/>
              <a:t>div{width:100px;}</a:t>
            </a:r>
            <a:r>
              <a:rPr lang="zh-CN" altLang="zh-CN" dirty="0"/>
              <a:t>表示</a:t>
            </a:r>
            <a:r>
              <a:rPr lang="en-US" altLang="zh-CN" dirty="0"/>
              <a:t>div</a:t>
            </a:r>
            <a:r>
              <a:rPr lang="zh-CN" altLang="zh-CN" dirty="0"/>
              <a:t>元素内部可用于显示内容的宽度为</a:t>
            </a:r>
            <a:r>
              <a:rPr lang="en-US" altLang="zh-CN" dirty="0"/>
              <a:t>100px</a:t>
            </a:r>
            <a:r>
              <a:rPr lang="zh-CN" altLang="zh-CN" dirty="0"/>
              <a:t>，但元素的实际宽度要加上左右的内边距、边框以及外边</a:t>
            </a:r>
            <a:r>
              <a:rPr lang="zh-CN" altLang="zh-CN" dirty="0" smtClean="0"/>
              <a:t>距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、高度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使用</a:t>
            </a:r>
            <a:r>
              <a:rPr lang="en-US" altLang="zh-CN" dirty="0"/>
              <a:t>height</a:t>
            </a:r>
            <a:r>
              <a:rPr lang="zh-CN" altLang="zh-CN" dirty="0"/>
              <a:t>属性设置元素内容区域的高度。例如</a:t>
            </a:r>
            <a:r>
              <a:rPr lang="en-US" altLang="zh-CN" dirty="0"/>
              <a:t>div{height:100px;}</a:t>
            </a:r>
            <a:r>
              <a:rPr lang="zh-CN" altLang="zh-CN" dirty="0"/>
              <a:t>表示</a:t>
            </a:r>
            <a:r>
              <a:rPr lang="en-US" altLang="zh-CN" dirty="0"/>
              <a:t>div</a:t>
            </a:r>
            <a:r>
              <a:rPr lang="zh-CN" altLang="zh-CN" dirty="0"/>
              <a:t>元素内部可用于显示内容的高度为</a:t>
            </a:r>
            <a:r>
              <a:rPr lang="en-US" altLang="zh-CN" dirty="0"/>
              <a:t>100px</a:t>
            </a:r>
            <a:r>
              <a:rPr lang="zh-CN" altLang="zh-CN" dirty="0"/>
              <a:t>，但元素的实际高度要加上上下的内边距、边框以及外边</a:t>
            </a:r>
            <a:r>
              <a:rPr lang="zh-CN" altLang="zh-CN" dirty="0" smtClean="0"/>
              <a:t>距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150597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33451"/>
            <a:ext cx="4141644" cy="51530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盒子模型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3</a:t>
            </a:r>
            <a:r>
              <a:rPr lang="zh-CN" altLang="en-US" dirty="0" smtClean="0"/>
              <a:t>、外边距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使用</a:t>
            </a:r>
            <a:r>
              <a:rPr lang="en-US" altLang="zh-CN" dirty="0"/>
              <a:t>margin</a:t>
            </a:r>
            <a:r>
              <a:rPr lang="zh-CN" altLang="zh-CN" dirty="0"/>
              <a:t>属性设置元素的外边距。外边距指的是元素之间的距离，有上、右、下、左共</a:t>
            </a:r>
            <a:r>
              <a:rPr lang="en-US" altLang="zh-CN" dirty="0"/>
              <a:t>4</a:t>
            </a:r>
            <a:r>
              <a:rPr lang="zh-CN" altLang="zh-CN" dirty="0"/>
              <a:t>个方向，可以统一设置，也可以分开</a:t>
            </a:r>
            <a:r>
              <a:rPr lang="zh-CN" altLang="zh-CN" dirty="0" smtClean="0"/>
              <a:t>设置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195" y="2125373"/>
            <a:ext cx="6126987" cy="307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885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33451"/>
            <a:ext cx="4141644" cy="51530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盒子模型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4</a:t>
            </a:r>
            <a:r>
              <a:rPr lang="zh-CN" altLang="en-US" dirty="0" smtClean="0"/>
              <a:t>、内边距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使用</a:t>
            </a:r>
            <a:r>
              <a:rPr lang="en-US" altLang="zh-CN" dirty="0"/>
              <a:t>padding</a:t>
            </a:r>
            <a:r>
              <a:rPr lang="zh-CN" altLang="zh-CN" dirty="0"/>
              <a:t>属性设置元素的内边距。内边距指的是元素内容与边框之间的距离，有上、右、下、左共</a:t>
            </a:r>
            <a:r>
              <a:rPr lang="en-US" altLang="zh-CN" dirty="0"/>
              <a:t>4</a:t>
            </a:r>
            <a:r>
              <a:rPr lang="zh-CN" altLang="zh-CN" dirty="0"/>
              <a:t>个方向，可以统一设置，也可以分开</a:t>
            </a:r>
            <a:r>
              <a:rPr lang="zh-CN" altLang="zh-CN" dirty="0" smtClean="0"/>
              <a:t>设置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7019" y="2305483"/>
            <a:ext cx="5988737" cy="3000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549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14401"/>
            <a:ext cx="4141644" cy="51720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/>
              <a:t>l</a:t>
            </a:r>
            <a:r>
              <a:rPr lang="en-US" altLang="zh-CN" sz="3000" dirty="0" smtClean="0"/>
              <a:t>ist-style-type</a:t>
            </a:r>
            <a:r>
              <a:rPr lang="zh-CN" altLang="en-US" sz="3000" dirty="0" smtClean="0"/>
              <a:t>属性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dirty="0"/>
              <a:t>该</a:t>
            </a:r>
            <a:r>
              <a:rPr lang="zh-CN" altLang="zh-CN" dirty="0" smtClean="0"/>
              <a:t>属性</a:t>
            </a:r>
            <a:r>
              <a:rPr lang="zh-CN" altLang="zh-CN" dirty="0"/>
              <a:t>设置列表类型，并可以改变列表项的标记符号</a:t>
            </a:r>
            <a:r>
              <a:rPr lang="zh-CN" altLang="zh-CN" dirty="0" smtClean="0"/>
              <a:t>。</a:t>
            </a:r>
            <a:r>
              <a:rPr lang="zh-CN" altLang="zh-CN" dirty="0"/>
              <a:t>有序列表</a:t>
            </a:r>
            <a:r>
              <a:rPr lang="en-US" altLang="zh-CN" dirty="0" err="1"/>
              <a:t>ol</a:t>
            </a:r>
            <a:r>
              <a:rPr lang="zh-CN" altLang="zh-CN" dirty="0"/>
              <a:t>的默认列表符号是</a:t>
            </a:r>
            <a:r>
              <a:rPr lang="en-US" altLang="zh-CN" dirty="0"/>
              <a:t>decimal</a:t>
            </a:r>
            <a:r>
              <a:rPr lang="zh-CN" altLang="zh-CN" dirty="0"/>
              <a:t>（数字），无序列表</a:t>
            </a:r>
            <a:r>
              <a:rPr lang="en-US" altLang="zh-CN" dirty="0" err="1"/>
              <a:t>ul</a:t>
            </a:r>
            <a:r>
              <a:rPr lang="zh-CN" altLang="zh-CN" dirty="0"/>
              <a:t>的默认列表符号是</a:t>
            </a:r>
            <a:r>
              <a:rPr lang="en-US" altLang="zh-CN" dirty="0"/>
              <a:t>disc</a:t>
            </a:r>
            <a:r>
              <a:rPr lang="zh-CN" altLang="zh-CN" dirty="0"/>
              <a:t>（实心圆</a:t>
            </a:r>
            <a:r>
              <a:rPr lang="zh-CN" altLang="zh-CN" dirty="0" smtClean="0"/>
              <a:t>）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7019" y="1864735"/>
            <a:ext cx="5869007" cy="352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768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33451"/>
            <a:ext cx="10140661" cy="51530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list-style-image</a:t>
            </a:r>
            <a:r>
              <a:rPr lang="zh-CN" altLang="en-US" sz="3000" dirty="0" smtClean="0"/>
              <a:t>属性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dirty="0"/>
              <a:t>该</a:t>
            </a:r>
            <a:r>
              <a:rPr lang="zh-CN" altLang="zh-CN" dirty="0" smtClean="0"/>
              <a:t>属性</a:t>
            </a:r>
            <a:r>
              <a:rPr lang="zh-CN" altLang="zh-CN" dirty="0"/>
              <a:t>可以指定列表项标记的图像。当所提供的列表符号不能满足需求时，可以采用图像来丰富列表项标记的视觉效果。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919" y="3324224"/>
            <a:ext cx="5477418" cy="1511012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410"/>
          <a:stretch/>
        </p:blipFill>
        <p:spPr>
          <a:xfrm>
            <a:off x="7194950" y="3324224"/>
            <a:ext cx="2959131" cy="254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4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23925"/>
            <a:ext cx="4239325" cy="516254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list-style-position</a:t>
            </a:r>
            <a:r>
              <a:rPr lang="zh-CN" altLang="en-US" sz="3000" dirty="0" smtClean="0"/>
              <a:t>属性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dirty="0"/>
              <a:t>该</a:t>
            </a:r>
            <a:r>
              <a:rPr lang="zh-CN" altLang="zh-CN" dirty="0" smtClean="0"/>
              <a:t>属性</a:t>
            </a:r>
            <a:r>
              <a:rPr lang="zh-CN" altLang="zh-CN" dirty="0"/>
              <a:t>设置列表标记的位置。列表标志的位置有</a:t>
            </a:r>
            <a:r>
              <a:rPr lang="en-US" altLang="zh-CN" dirty="0"/>
              <a:t>2</a:t>
            </a:r>
            <a:r>
              <a:rPr lang="zh-CN" altLang="zh-CN" dirty="0"/>
              <a:t>种：</a:t>
            </a:r>
            <a:r>
              <a:rPr lang="en-US" altLang="zh-CN" dirty="0"/>
              <a:t>inside</a:t>
            </a:r>
            <a:r>
              <a:rPr lang="zh-CN" altLang="zh-CN" dirty="0"/>
              <a:t>和</a:t>
            </a:r>
            <a:r>
              <a:rPr lang="en-US" altLang="zh-CN" dirty="0" smtClean="0"/>
              <a:t>outside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948" y="1476375"/>
            <a:ext cx="5719649" cy="1698643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53"/>
          <a:stretch/>
        </p:blipFill>
        <p:spPr>
          <a:xfrm>
            <a:off x="5717275" y="3278765"/>
            <a:ext cx="5400996" cy="2807709"/>
          </a:xfrm>
          <a:prstGeom prst="rect">
            <a:avLst/>
          </a:prstGeom>
        </p:spPr>
      </p:pic>
      <p:sp>
        <p:nvSpPr>
          <p:cNvPr id="8" name="线形标注 1(带强调线) 7"/>
          <p:cNvSpPr/>
          <p:nvPr/>
        </p:nvSpPr>
        <p:spPr>
          <a:xfrm>
            <a:off x="3879273" y="3782291"/>
            <a:ext cx="1096985" cy="612648"/>
          </a:xfrm>
          <a:prstGeom prst="accentCallout1">
            <a:avLst>
              <a:gd name="adj1" fmla="val 43626"/>
              <a:gd name="adj2" fmla="val 109849"/>
              <a:gd name="adj3" fmla="val 46919"/>
              <a:gd name="adj4" fmla="val 187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/>
              <a:t>inside</a:t>
            </a:r>
            <a:endParaRPr lang="zh-CN" altLang="en-US" sz="2400" dirty="0"/>
          </a:p>
        </p:txBody>
      </p:sp>
      <p:sp>
        <p:nvSpPr>
          <p:cNvPr id="9" name="线形标注 1(带强调线) 8"/>
          <p:cNvSpPr/>
          <p:nvPr/>
        </p:nvSpPr>
        <p:spPr>
          <a:xfrm>
            <a:off x="3629887" y="4934382"/>
            <a:ext cx="1221675" cy="612648"/>
          </a:xfrm>
          <a:prstGeom prst="accentCallout1">
            <a:avLst>
              <a:gd name="adj1" fmla="val 43626"/>
              <a:gd name="adj2" fmla="val 109849"/>
              <a:gd name="adj3" fmla="val 46919"/>
              <a:gd name="adj4" fmla="val 1874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out</a:t>
            </a:r>
            <a:r>
              <a:rPr lang="en-US" altLang="zh-CN" sz="2400" dirty="0" smtClean="0"/>
              <a:t>side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43131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33451"/>
            <a:ext cx="10057535" cy="51530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、全局样式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样式设计的开始，首先统一网页中的字体、去除粗体效果，清除所有标签的默认内外边距，便于后面精确控制元素间的间距。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任务实施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443" y="3509963"/>
            <a:ext cx="3607117" cy="257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958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33451"/>
            <a:ext cx="10057535" cy="51530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2</a:t>
            </a:r>
            <a:r>
              <a:rPr lang="zh-CN" altLang="en-US" dirty="0" smtClean="0"/>
              <a:t>、头部标题样式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一级标题需要实现居中、</a:t>
            </a:r>
            <a:r>
              <a:rPr lang="en-US" altLang="zh-CN" dirty="0"/>
              <a:t>28px</a:t>
            </a:r>
            <a:r>
              <a:rPr lang="zh-CN" altLang="zh-CN" dirty="0"/>
              <a:t>字号大小，然后使用后代选择器选中副标题文字，设计字号为</a:t>
            </a:r>
            <a:r>
              <a:rPr lang="en-US" altLang="zh-CN" dirty="0"/>
              <a:t>20px</a:t>
            </a:r>
            <a:r>
              <a:rPr lang="zh-CN" altLang="zh-CN" dirty="0"/>
              <a:t>。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任务实施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785" y="3286006"/>
            <a:ext cx="2606722" cy="281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795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33451"/>
            <a:ext cx="10057535" cy="51530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3</a:t>
            </a:r>
            <a:r>
              <a:rPr lang="zh-CN" altLang="en-US" dirty="0" smtClean="0"/>
              <a:t>、外层</a:t>
            </a:r>
            <a:r>
              <a:rPr lang="en-US" altLang="zh-CN" dirty="0" smtClean="0"/>
              <a:t>div</a:t>
            </a:r>
            <a:r>
              <a:rPr lang="zh-CN" altLang="en-US" dirty="0" smtClean="0"/>
              <a:t>和</a:t>
            </a:r>
            <a:r>
              <a:rPr lang="zh-CN" altLang="en-US" dirty="0"/>
              <a:t>二</a:t>
            </a:r>
            <a:r>
              <a:rPr lang="zh-CN" altLang="en-US" dirty="0" smtClean="0"/>
              <a:t>级标题样式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任务实施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3" y="2587696"/>
            <a:ext cx="3910147" cy="209348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029" y="2587696"/>
            <a:ext cx="5684325" cy="310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27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33451"/>
            <a:ext cx="10057535" cy="51530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4</a:t>
            </a:r>
            <a:r>
              <a:rPr lang="zh-CN" altLang="en-US" dirty="0" smtClean="0"/>
              <a:t>、段落样式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段落样式包括字号、首行缩进以及关键字的斜体加下划线效果。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任务实施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832" y="3066184"/>
            <a:ext cx="3376617" cy="302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058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33451"/>
            <a:ext cx="4418735" cy="51530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5</a:t>
            </a:r>
            <a:r>
              <a:rPr lang="zh-CN" altLang="en-US" dirty="0" smtClean="0"/>
              <a:t>、</a:t>
            </a:r>
            <a:r>
              <a:rPr lang="zh-CN" altLang="en-US" dirty="0"/>
              <a:t>列表</a:t>
            </a:r>
            <a:r>
              <a:rPr lang="zh-CN" altLang="en-US" dirty="0" smtClean="0"/>
              <a:t>样式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图书目录下是</a:t>
            </a:r>
            <a:r>
              <a:rPr lang="en-US" altLang="zh-CN" dirty="0"/>
              <a:t>3</a:t>
            </a:r>
            <a:r>
              <a:rPr lang="zh-CN" altLang="zh-CN" dirty="0"/>
              <a:t>层列表的嵌套，且逐层缩进，第</a:t>
            </a:r>
            <a:r>
              <a:rPr lang="en-US" altLang="zh-CN" dirty="0"/>
              <a:t>3</a:t>
            </a:r>
            <a:r>
              <a:rPr lang="zh-CN" altLang="zh-CN" dirty="0"/>
              <a:t>层列表符号采用了图像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任务实施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109" y="1567294"/>
            <a:ext cx="5681126" cy="371128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547" y="4514629"/>
            <a:ext cx="2295205" cy="12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01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33451"/>
            <a:ext cx="9946699" cy="51530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6</a:t>
            </a:r>
            <a:r>
              <a:rPr lang="zh-CN" altLang="en-US" dirty="0" smtClean="0"/>
              <a:t>、</a:t>
            </a:r>
            <a:r>
              <a:rPr lang="zh-CN" altLang="en-US" dirty="0"/>
              <a:t>页脚</a:t>
            </a:r>
            <a:r>
              <a:rPr lang="zh-CN" altLang="en-US" dirty="0" smtClean="0"/>
              <a:t>样式</a:t>
            </a:r>
            <a:endParaRPr lang="en-US" altLang="zh-CN" dirty="0" smtClean="0"/>
          </a:p>
          <a:p>
            <a:pPr marL="914400" lvl="2" indent="0">
              <a:buNone/>
            </a:pPr>
            <a:r>
              <a:rPr lang="zh-CN" altLang="zh-CN" dirty="0"/>
              <a:t>为页脚设计最小的字号</a:t>
            </a:r>
            <a:r>
              <a:rPr lang="en-US" altLang="zh-CN" dirty="0"/>
              <a:t>12px</a:t>
            </a:r>
            <a:r>
              <a:rPr lang="zh-CN" altLang="zh-CN" dirty="0"/>
              <a:t>、居中显示、与上方间距</a:t>
            </a:r>
            <a:r>
              <a:rPr lang="en-US" altLang="zh-CN" dirty="0"/>
              <a:t>10px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任务实施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50" y="3110346"/>
            <a:ext cx="3662795" cy="28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837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71551"/>
            <a:ext cx="10209069" cy="51149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本案例主要使用的</a:t>
            </a:r>
            <a:r>
              <a:rPr lang="zh-CN" altLang="en-US" sz="3000" dirty="0"/>
              <a:t>样式</a:t>
            </a:r>
            <a:r>
              <a:rPr lang="zh-CN" altLang="en-US" sz="3000" dirty="0" smtClean="0"/>
              <a:t>：</a:t>
            </a:r>
            <a:endParaRPr lang="en-US" altLang="zh-CN" sz="3000" dirty="0" smtClean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/>
              <a:t>p</a:t>
            </a:r>
            <a:r>
              <a:rPr lang="en-US" altLang="zh-CN" sz="2800" dirty="0" smtClean="0"/>
              <a:t>adding</a:t>
            </a:r>
            <a:r>
              <a:rPr lang="zh-CN" altLang="en-US" sz="2800" dirty="0" smtClean="0"/>
              <a:t>内边距、</a:t>
            </a:r>
            <a:r>
              <a:rPr lang="en-US" altLang="zh-CN" sz="2800" dirty="0" smtClean="0"/>
              <a:t>margin</a:t>
            </a:r>
            <a:r>
              <a:rPr lang="zh-CN" altLang="en-US" sz="2800" dirty="0" smtClean="0"/>
              <a:t>外边距</a:t>
            </a:r>
            <a:endParaRPr lang="en-US" altLang="zh-CN" sz="2800" dirty="0" smtClean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 smtClean="0"/>
              <a:t>后代选择器</a:t>
            </a:r>
            <a:endParaRPr lang="en-US" altLang="zh-CN" sz="2800" dirty="0" smtClean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 smtClean="0"/>
              <a:t>通配符选择器</a:t>
            </a:r>
            <a:endParaRPr lang="en-US" altLang="zh-CN" sz="2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/>
              <a:t>列表</a:t>
            </a:r>
            <a:r>
              <a:rPr lang="zh-CN" altLang="en-US" sz="2800" dirty="0" smtClean="0"/>
              <a:t>样式</a:t>
            </a:r>
            <a:endParaRPr lang="en-US" altLang="zh-CN" sz="28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  <p:sp>
        <p:nvSpPr>
          <p:cNvPr id="6" name="流程图: 可选过程 5"/>
          <p:cNvSpPr/>
          <p:nvPr/>
        </p:nvSpPr>
        <p:spPr>
          <a:xfrm>
            <a:off x="5665669" y="2701636"/>
            <a:ext cx="5506636" cy="329184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360000" rtlCol="0" anchor="ctr"/>
          <a:lstStyle/>
          <a:p>
            <a:pPr>
              <a:lnSpc>
                <a:spcPct val="200000"/>
              </a:lnSpc>
            </a:pPr>
            <a:r>
              <a:rPr lang="en-US" altLang="zh-CN" sz="3200" b="1" smtClean="0"/>
              <a:t>&gt;&gt; </a:t>
            </a:r>
            <a:r>
              <a:rPr lang="zh-CN" altLang="en-US" sz="3200" b="1" smtClean="0"/>
              <a:t>内</a:t>
            </a:r>
            <a:r>
              <a:rPr lang="zh-CN" altLang="en-US" sz="3200" b="1" dirty="0" smtClean="0"/>
              <a:t>、外边距</a:t>
            </a:r>
            <a:endParaRPr lang="en-US" altLang="zh-CN" sz="3200" b="1" dirty="0" smtClean="0"/>
          </a:p>
          <a:p>
            <a:pPr>
              <a:lnSpc>
                <a:spcPct val="150000"/>
              </a:lnSpc>
            </a:pPr>
            <a:r>
              <a:rPr lang="zh-CN" altLang="en-US" sz="2200" dirty="0" smtClean="0"/>
              <a:t> 元素的内、外边距可以用来实现元素间的间距控制，关键要分清楚对于目标元素而言，这个间隔属于内边距还是外边距。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019175"/>
            <a:ext cx="6096001" cy="163258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要控制网页中两个</a:t>
            </a:r>
            <a:r>
              <a:rPr lang="en-US" altLang="zh-CN" dirty="0" smtClean="0"/>
              <a:t>p</a:t>
            </a:r>
            <a:r>
              <a:rPr lang="zh-CN" altLang="en-US" dirty="0" smtClean="0"/>
              <a:t>元素的上下间距，可以有哪些方法？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98568"/>
            <a:ext cx="2527300" cy="742950"/>
          </a:xfrm>
        </p:spPr>
        <p:txBody>
          <a:bodyPr/>
          <a:lstStyle/>
          <a:p>
            <a:r>
              <a:rPr lang="zh-CN" altLang="en-US" dirty="0" smtClean="0"/>
              <a:t>思  考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437" y="1365141"/>
            <a:ext cx="1852613" cy="483563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139557" y="2891518"/>
            <a:ext cx="3485249" cy="138499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bg1"/>
                </a:solidFill>
              </a:rPr>
              <a:t>&lt;p&gt;</a:t>
            </a:r>
            <a:r>
              <a:rPr lang="zh-CN" altLang="en-US" sz="2800" dirty="0">
                <a:solidFill>
                  <a:schemeClr val="bg1"/>
                </a:solidFill>
              </a:rPr>
              <a:t>第一</a:t>
            </a:r>
            <a:r>
              <a:rPr lang="zh-CN" altLang="en-US" sz="2800" dirty="0" smtClean="0">
                <a:solidFill>
                  <a:schemeClr val="bg1"/>
                </a:solidFill>
              </a:rPr>
              <a:t>个</a:t>
            </a:r>
            <a:r>
              <a:rPr lang="zh-CN" altLang="en-US" sz="2800" dirty="0">
                <a:solidFill>
                  <a:schemeClr val="bg1"/>
                </a:solidFill>
              </a:rPr>
              <a:t>段落</a:t>
            </a:r>
            <a:r>
              <a:rPr lang="en-US" altLang="zh-CN" sz="2800" dirty="0" smtClean="0">
                <a:solidFill>
                  <a:schemeClr val="bg1"/>
                </a:solidFill>
              </a:rPr>
              <a:t>&lt;/</a:t>
            </a:r>
            <a:r>
              <a:rPr lang="en-US" altLang="zh-CN" sz="2800" dirty="0">
                <a:solidFill>
                  <a:schemeClr val="bg1"/>
                </a:solidFill>
              </a:rPr>
              <a:t>p</a:t>
            </a:r>
            <a:r>
              <a:rPr lang="en-US" altLang="zh-CN" sz="2800" dirty="0" smtClean="0">
                <a:solidFill>
                  <a:schemeClr val="bg1"/>
                </a:solidFill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bg1"/>
                </a:solidFill>
              </a:rPr>
              <a:t>&lt;p&gt;</a:t>
            </a:r>
            <a:r>
              <a:rPr lang="zh-CN" altLang="en-US" sz="2800" dirty="0" smtClean="0">
                <a:solidFill>
                  <a:schemeClr val="bg1"/>
                </a:solidFill>
              </a:rPr>
              <a:t>第二个段落</a:t>
            </a:r>
            <a:r>
              <a:rPr lang="en-US" altLang="zh-CN" sz="2800" dirty="0" smtClean="0">
                <a:solidFill>
                  <a:schemeClr val="bg1"/>
                </a:solidFill>
              </a:rPr>
              <a:t>&lt;/</a:t>
            </a:r>
            <a:r>
              <a:rPr lang="en-US" altLang="zh-CN" sz="2800" dirty="0">
                <a:solidFill>
                  <a:schemeClr val="bg1"/>
                </a:solidFill>
              </a:rPr>
              <a:t>p</a:t>
            </a:r>
            <a:r>
              <a:rPr lang="en-US" altLang="zh-CN" sz="2800" dirty="0" smtClean="0">
                <a:solidFill>
                  <a:schemeClr val="bg1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841</Words>
  <Application>Microsoft Office PowerPoint</Application>
  <PresentationFormat>宽屏</PresentationFormat>
  <Paragraphs>82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网页的文字排版进阶 （列表2）</vt:lpstr>
      <vt:lpstr>学习目标</vt:lpstr>
      <vt:lpstr>任务目标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任务实施</vt:lpstr>
      <vt:lpstr>任务实施</vt:lpstr>
      <vt:lpstr>任务实施</vt:lpstr>
      <vt:lpstr>任务实施</vt:lpstr>
      <vt:lpstr>任务实施</vt:lpstr>
      <vt:lpstr>任务实施</vt:lpstr>
      <vt:lpstr>小  结</vt:lpstr>
      <vt:lpstr>思  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68</cp:revision>
  <dcterms:created xsi:type="dcterms:W3CDTF">2020-04-27T05:20:13Z</dcterms:created>
  <dcterms:modified xsi:type="dcterms:W3CDTF">2020-07-23T05:41:42Z</dcterms:modified>
</cp:coreProperties>
</file>
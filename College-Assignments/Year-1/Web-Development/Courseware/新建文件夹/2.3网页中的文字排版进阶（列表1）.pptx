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69" r:id="rId10"/>
    <p:sldId id="275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210312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网页的文字排版进阶</a:t>
            </a:r>
            <a: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（列表</a:t>
            </a:r>
            <a: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合理设计</a:t>
            </a:r>
            <a:r>
              <a:rPr lang="zh-CN" altLang="en-US" sz="3200" dirty="0"/>
              <a:t>网页</a:t>
            </a:r>
            <a:r>
              <a:rPr lang="zh-CN" altLang="en-US" sz="3200" dirty="0" smtClean="0"/>
              <a:t>的整体标签结构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合理</a:t>
            </a:r>
            <a:r>
              <a:rPr lang="zh-CN" altLang="en-US" sz="3200" dirty="0" smtClean="0"/>
              <a:t>设计列表的标签结构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4565593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本案例使用“自定义列表</a:t>
            </a:r>
            <a:r>
              <a:rPr lang="en-US" altLang="zh-CN" dirty="0" smtClean="0"/>
              <a:t>+</a:t>
            </a:r>
            <a:r>
              <a:rPr lang="zh-CN" altLang="en-US" dirty="0" smtClean="0"/>
              <a:t>有序列表</a:t>
            </a:r>
            <a:r>
              <a:rPr lang="en-US" altLang="zh-CN" dirty="0" smtClean="0"/>
              <a:t>+</a:t>
            </a:r>
            <a:r>
              <a:rPr lang="zh-CN" altLang="en-US" dirty="0" smtClean="0"/>
              <a:t>无序列表”组合设计出图书目录效果。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任务目标</a:t>
            </a:r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05" y="1171575"/>
            <a:ext cx="4815840" cy="49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163601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区块标签</a:t>
            </a:r>
            <a:r>
              <a:rPr lang="en-US" altLang="zh-CN" sz="3000" dirty="0" smtClean="0"/>
              <a:t>&lt;div&gt;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网页中通常使用</a:t>
            </a:r>
            <a:r>
              <a:rPr lang="en-US" altLang="zh-CN" dirty="0"/>
              <a:t>&lt;div&gt;</a:t>
            </a:r>
            <a:r>
              <a:rPr lang="zh-CN" altLang="zh-CN" dirty="0"/>
              <a:t>标签对文档进行区块的划分，</a:t>
            </a:r>
            <a:r>
              <a:rPr lang="en-US" altLang="zh-CN" dirty="0"/>
              <a:t>&lt;div&gt;</a:t>
            </a:r>
            <a:r>
              <a:rPr lang="zh-CN" altLang="zh-CN" dirty="0"/>
              <a:t>中可以嵌套其他元素，分区后有利于对区块中的元素进行样式设置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2922100"/>
            <a:ext cx="5659453" cy="2796119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207" y="3218315"/>
            <a:ext cx="3970593" cy="200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7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3927387" cy="47030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无序列表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无序列表使用</a:t>
            </a:r>
            <a:r>
              <a:rPr lang="en-US" altLang="zh-CN" dirty="0"/>
              <a:t>&lt;</a:t>
            </a:r>
            <a:r>
              <a:rPr lang="en-US" altLang="zh-CN" dirty="0" err="1"/>
              <a:t>ul</a:t>
            </a:r>
            <a:r>
              <a:rPr lang="en-US" altLang="zh-CN" dirty="0"/>
              <a:t>&gt;</a:t>
            </a:r>
            <a:r>
              <a:rPr lang="zh-CN" altLang="zh-CN" dirty="0"/>
              <a:t>表示列表范围，使用</a:t>
            </a:r>
            <a:r>
              <a:rPr lang="en-US" altLang="zh-CN" dirty="0"/>
              <a:t>&lt;li&gt;</a:t>
            </a:r>
            <a:r>
              <a:rPr lang="zh-CN" altLang="zh-CN" dirty="0"/>
              <a:t>表示每个列表项，使用粗体圆点作为列表符号标识于每个列表项的左侧。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145" y="1171575"/>
            <a:ext cx="3602619" cy="4711118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88"/>
          <a:stretch/>
        </p:blipFill>
        <p:spPr>
          <a:xfrm>
            <a:off x="8267808" y="1171575"/>
            <a:ext cx="2704991" cy="226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6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19094" cy="47030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有</a:t>
            </a:r>
            <a:r>
              <a:rPr lang="zh-CN" altLang="en-US" sz="3000" dirty="0" smtClean="0"/>
              <a:t>序列表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有序列表使用</a:t>
            </a:r>
            <a:r>
              <a:rPr lang="en-US" altLang="zh-CN" dirty="0"/>
              <a:t>&lt;</a:t>
            </a:r>
            <a:r>
              <a:rPr lang="en-US" altLang="zh-CN" dirty="0" err="1"/>
              <a:t>ol</a:t>
            </a:r>
            <a:r>
              <a:rPr lang="en-US" altLang="zh-CN" dirty="0"/>
              <a:t>&gt;</a:t>
            </a:r>
            <a:r>
              <a:rPr lang="zh-CN" altLang="zh-CN" dirty="0"/>
              <a:t>表示列表范围，使用</a:t>
            </a:r>
            <a:r>
              <a:rPr lang="en-US" altLang="zh-CN" dirty="0"/>
              <a:t>&lt;li&gt;</a:t>
            </a:r>
            <a:r>
              <a:rPr lang="zh-CN" altLang="zh-CN" dirty="0"/>
              <a:t>表示每个列表项，使用数字作为列表符号标识于每个列表项的左侧。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50" y="3052093"/>
            <a:ext cx="3327668" cy="292734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95"/>
          <a:stretch/>
        </p:blipFill>
        <p:spPr>
          <a:xfrm>
            <a:off x="5619682" y="3304134"/>
            <a:ext cx="2828859" cy="238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19094" cy="18306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/>
              <a:t>自定义</a:t>
            </a:r>
            <a:r>
              <a:rPr lang="zh-CN" altLang="en-US" sz="3000" dirty="0" smtClean="0"/>
              <a:t>列表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自定义列表使用</a:t>
            </a:r>
            <a:r>
              <a:rPr lang="en-US" altLang="zh-CN" dirty="0"/>
              <a:t>&lt;dl&gt;</a:t>
            </a:r>
            <a:r>
              <a:rPr lang="zh-CN" altLang="zh-CN" dirty="0"/>
              <a:t>表示列表范围，</a:t>
            </a:r>
            <a:r>
              <a:rPr lang="en-US" altLang="zh-CN" dirty="0"/>
              <a:t>&lt;</a:t>
            </a:r>
            <a:r>
              <a:rPr lang="en-US" altLang="zh-CN" dirty="0" err="1"/>
              <a:t>dt</a:t>
            </a:r>
            <a:r>
              <a:rPr lang="en-US" altLang="zh-CN" dirty="0"/>
              <a:t>&gt;</a:t>
            </a:r>
            <a:r>
              <a:rPr lang="zh-CN" altLang="zh-CN" dirty="0"/>
              <a:t>表示自定义列表项，</a:t>
            </a:r>
            <a:r>
              <a:rPr lang="en-US" altLang="zh-CN" dirty="0"/>
              <a:t>&lt;</a:t>
            </a:r>
            <a:r>
              <a:rPr lang="en-US" altLang="zh-CN" dirty="0" err="1"/>
              <a:t>dd</a:t>
            </a:r>
            <a:r>
              <a:rPr lang="en-US" altLang="zh-CN" dirty="0"/>
              <a:t>&gt;</a:t>
            </a:r>
            <a:r>
              <a:rPr lang="zh-CN" altLang="zh-CN" dirty="0"/>
              <a:t>表示自定义列表项的定义或注释。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17" y="3720574"/>
            <a:ext cx="7966987" cy="2224446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48" y="2961749"/>
            <a:ext cx="5274310" cy="151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19094" cy="22284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换行标签</a:t>
            </a:r>
            <a:r>
              <a:rPr lang="en-US" altLang="zh-CN" sz="3000" dirty="0" smtClean="0"/>
              <a:t>&lt;</a:t>
            </a:r>
            <a:r>
              <a:rPr lang="en-US" altLang="zh-CN" sz="3000" dirty="0" err="1" smtClean="0"/>
              <a:t>br</a:t>
            </a:r>
            <a:r>
              <a:rPr lang="en-US" altLang="zh-CN" sz="3000" dirty="0" smtClean="0"/>
              <a:t>&gt;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如果要在文本的某个位置强制换行</a:t>
            </a:r>
            <a:r>
              <a:rPr lang="zh-CN" altLang="zh-CN" dirty="0" smtClean="0"/>
              <a:t>，就</a:t>
            </a:r>
            <a:r>
              <a:rPr lang="zh-CN" altLang="zh-CN" dirty="0"/>
              <a:t>需要用到换行标签</a:t>
            </a:r>
            <a:r>
              <a:rPr lang="en-US" altLang="zh-CN" dirty="0"/>
              <a:t>&lt;</a:t>
            </a:r>
            <a:r>
              <a:rPr lang="en-US" altLang="zh-CN" dirty="0" err="1"/>
              <a:t>br</a:t>
            </a:r>
            <a:r>
              <a:rPr lang="en-US" altLang="zh-CN" dirty="0"/>
              <a:t>&gt;</a:t>
            </a:r>
            <a:r>
              <a:rPr lang="zh-CN" altLang="zh-CN" dirty="0"/>
              <a:t>。</a:t>
            </a:r>
            <a:r>
              <a:rPr lang="en-US" altLang="zh-CN" dirty="0"/>
              <a:t>&lt;</a:t>
            </a:r>
            <a:r>
              <a:rPr lang="en-US" altLang="zh-CN" dirty="0" err="1"/>
              <a:t>br</a:t>
            </a:r>
            <a:r>
              <a:rPr lang="en-US" altLang="zh-CN" dirty="0"/>
              <a:t>&gt;</a:t>
            </a:r>
            <a:r>
              <a:rPr lang="zh-CN" altLang="zh-CN" dirty="0"/>
              <a:t>只是插入一个换行符，简单的开始新的一行，而不是一个新的</a:t>
            </a:r>
            <a:r>
              <a:rPr lang="zh-CN" altLang="zh-CN" dirty="0" smtClean="0"/>
              <a:t>段落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相关知识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130" y="2912135"/>
            <a:ext cx="7292876" cy="186592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094" y="4524771"/>
            <a:ext cx="6264706" cy="16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5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标签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009" y="1046883"/>
            <a:ext cx="4957157" cy="5087909"/>
          </a:xfrm>
          <a:prstGeom prst="rect">
            <a:avLst/>
          </a:prstGeom>
        </p:spPr>
      </p:pic>
      <p:sp>
        <p:nvSpPr>
          <p:cNvPr id="5" name="矩形标注 4"/>
          <p:cNvSpPr/>
          <p:nvPr/>
        </p:nvSpPr>
        <p:spPr>
          <a:xfrm>
            <a:off x="3413757" y="2136371"/>
            <a:ext cx="5015347" cy="3749039"/>
          </a:xfrm>
          <a:prstGeom prst="wedgeRectCallout">
            <a:avLst>
              <a:gd name="adj1" fmla="val -69296"/>
              <a:gd name="adj2" fmla="val 677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3532909" y="3815543"/>
            <a:ext cx="3075709" cy="1995055"/>
          </a:xfrm>
          <a:prstGeom prst="wedgeRectCallout">
            <a:avLst>
              <a:gd name="adj1" fmla="val 64639"/>
              <a:gd name="adj2" fmla="val 1638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标注 6"/>
          <p:cNvSpPr/>
          <p:nvPr/>
        </p:nvSpPr>
        <p:spPr>
          <a:xfrm>
            <a:off x="3884814" y="4796443"/>
            <a:ext cx="1801091" cy="955963"/>
          </a:xfrm>
          <a:prstGeom prst="wedgeRectCallout">
            <a:avLst>
              <a:gd name="adj1" fmla="val 64639"/>
              <a:gd name="adj2" fmla="val 1638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4020589" y="5090161"/>
            <a:ext cx="767542" cy="412864"/>
          </a:xfrm>
          <a:prstGeom prst="wedgeRectCallout">
            <a:avLst>
              <a:gd name="adj1" fmla="val 64639"/>
              <a:gd name="adj2" fmla="val 16380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36979" y="399426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div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60523" y="4759575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4"/>
                </a:solidFill>
              </a:rPr>
              <a:t>自定义</a:t>
            </a:r>
            <a:endParaRPr lang="en-US" altLang="zh-CN" sz="2000" dirty="0" smtClean="0">
              <a:solidFill>
                <a:schemeClr val="accent4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accent4"/>
                </a:solidFill>
              </a:rPr>
              <a:t>列表</a:t>
            </a:r>
            <a:endParaRPr lang="zh-CN" altLang="en-US" sz="2000" dirty="0">
              <a:solidFill>
                <a:schemeClr val="accent4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93724" y="511357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4"/>
                </a:solidFill>
              </a:rPr>
              <a:t>有序</a:t>
            </a:r>
            <a:endParaRPr lang="en-US" altLang="zh-CN" dirty="0" smtClean="0">
              <a:solidFill>
                <a:schemeClr val="accent4"/>
              </a:solidFill>
            </a:endParaRPr>
          </a:p>
          <a:p>
            <a:r>
              <a:rPr lang="zh-CN" altLang="en-US" dirty="0" smtClean="0">
                <a:solidFill>
                  <a:schemeClr val="accent4"/>
                </a:solidFill>
              </a:rPr>
              <a:t>列表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30063" y="502866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4"/>
                </a:solidFill>
              </a:rPr>
              <a:t>无序</a:t>
            </a:r>
            <a:endParaRPr lang="en-US" altLang="zh-CN" dirty="0" smtClean="0">
              <a:solidFill>
                <a:schemeClr val="accent4"/>
              </a:solidFill>
            </a:endParaRPr>
          </a:p>
          <a:p>
            <a:r>
              <a:rPr lang="zh-CN" altLang="en-US" dirty="0" smtClean="0">
                <a:solidFill>
                  <a:schemeClr val="accent4"/>
                </a:solidFill>
              </a:rPr>
              <a:t>列表</a:t>
            </a:r>
            <a:endParaRPr lang="zh-CN" alt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6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39" y="955444"/>
            <a:ext cx="5448195" cy="5295727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354" y="1495771"/>
            <a:ext cx="4167449" cy="42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60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209069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本案例主要使用的标签：</a:t>
            </a:r>
            <a:endParaRPr lang="en-US" altLang="zh-CN" sz="30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d</a:t>
            </a:r>
            <a:r>
              <a:rPr lang="en-US" altLang="zh-CN" sz="2800" dirty="0" err="1" smtClean="0"/>
              <a:t>l+dt+dd</a:t>
            </a:r>
            <a:r>
              <a:rPr lang="zh-CN" altLang="en-US" sz="2800" dirty="0" smtClean="0"/>
              <a:t>自定义列表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o</a:t>
            </a:r>
            <a:r>
              <a:rPr lang="en-US" altLang="zh-CN" sz="2800" dirty="0" err="1" smtClean="0"/>
              <a:t>l+li</a:t>
            </a:r>
            <a:r>
              <a:rPr lang="zh-CN" altLang="en-US" sz="2800" dirty="0" smtClean="0"/>
              <a:t>有序列表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u</a:t>
            </a:r>
            <a:r>
              <a:rPr lang="en-US" altLang="zh-CN" sz="2800" dirty="0" err="1" smtClean="0"/>
              <a:t>l+li</a:t>
            </a:r>
            <a:r>
              <a:rPr lang="zh-CN" altLang="en-US" sz="2800" dirty="0" smtClean="0"/>
              <a:t>无序列表</a:t>
            </a:r>
            <a:endParaRPr lang="en-US" altLang="zh-CN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&lt;div&gt;</a:t>
            </a:r>
            <a:r>
              <a:rPr lang="zh-CN" altLang="en-US" sz="2800" dirty="0" smtClean="0"/>
              <a:t>区块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smtClean="0"/>
              <a:t>&lt;</a:t>
            </a:r>
            <a:r>
              <a:rPr lang="en-US" altLang="zh-CN" sz="2800" dirty="0" err="1" smtClean="0"/>
              <a:t>br</a:t>
            </a:r>
            <a:r>
              <a:rPr lang="en-US" altLang="zh-CN" sz="2800" dirty="0" smtClean="0"/>
              <a:t>&gt;</a:t>
            </a:r>
            <a:r>
              <a:rPr lang="zh-CN" altLang="en-US" sz="2800" dirty="0" smtClean="0"/>
              <a:t>换行</a:t>
            </a:r>
            <a:endParaRPr lang="en-US" altLang="zh-CN" sz="2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5665669" y="3108959"/>
            <a:ext cx="4093473" cy="26683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150000"/>
              </a:lnSpc>
            </a:pPr>
            <a:r>
              <a:rPr lang="en-US" altLang="zh-CN" sz="3200" b="1" dirty="0" smtClean="0"/>
              <a:t>&gt;&gt; div</a:t>
            </a:r>
            <a:r>
              <a:rPr lang="zh-CN" altLang="en-US" sz="3200" b="1" dirty="0" smtClean="0"/>
              <a:t>标签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本身没有任何默认样式，常用于划分网页的区域范围，便于样式的设计。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列表内部嵌套</a:t>
            </a:r>
            <a:r>
              <a:rPr lang="en-US" altLang="zh-CN" dirty="0" smtClean="0"/>
              <a:t>p</a:t>
            </a:r>
            <a:r>
              <a:rPr lang="zh-CN" altLang="en-US" dirty="0" smtClean="0"/>
              <a:t>元素，如下标签设计是否合理？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思  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20850" y="2718261"/>
            <a:ext cx="3688830" cy="276909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&lt;</a:t>
            </a:r>
            <a:r>
              <a:rPr lang="en-US" altLang="zh-CN" sz="2800" dirty="0" err="1" smtClean="0">
                <a:solidFill>
                  <a:schemeClr val="bg1"/>
                </a:solidFill>
              </a:rPr>
              <a:t>ul</a:t>
            </a:r>
            <a:r>
              <a:rPr lang="en-US" altLang="zh-CN" sz="2800" dirty="0" smtClean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ts val="35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      &lt;p&gt;&lt;/p&gt;</a:t>
            </a:r>
          </a:p>
          <a:p>
            <a:pPr>
              <a:lnSpc>
                <a:spcPts val="35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      &lt;li&gt;&lt;p&gt;&lt;/p&gt;&lt;/li&gt;</a:t>
            </a:r>
          </a:p>
          <a:p>
            <a:pPr>
              <a:lnSpc>
                <a:spcPts val="35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      &lt;li&gt;</a:t>
            </a:r>
            <a:r>
              <a:rPr lang="en-US" altLang="zh-CN" sz="2800" dirty="0">
                <a:solidFill>
                  <a:schemeClr val="bg1"/>
                </a:solidFill>
              </a:rPr>
              <a:t>&lt;p&gt;&lt;/p&gt;</a:t>
            </a:r>
            <a:r>
              <a:rPr lang="en-US" altLang="zh-CN" sz="2800" dirty="0" smtClean="0">
                <a:solidFill>
                  <a:schemeClr val="bg1"/>
                </a:solidFill>
              </a:rPr>
              <a:t>&lt;/li&gt;</a:t>
            </a:r>
          </a:p>
          <a:p>
            <a:pPr>
              <a:lnSpc>
                <a:spcPts val="3500"/>
              </a:lnSpc>
            </a:pPr>
            <a:r>
              <a:rPr lang="en-US" altLang="zh-CN" sz="2800" dirty="0">
                <a:solidFill>
                  <a:schemeClr val="bg1"/>
                </a:solidFill>
              </a:rPr>
              <a:t> </a:t>
            </a:r>
            <a:r>
              <a:rPr lang="en-US" altLang="zh-CN" sz="2800" dirty="0" smtClean="0">
                <a:solidFill>
                  <a:schemeClr val="bg1"/>
                </a:solidFill>
              </a:rPr>
              <a:t>     </a:t>
            </a:r>
            <a:r>
              <a:rPr lang="en-US" altLang="zh-CN" sz="2800" dirty="0">
                <a:solidFill>
                  <a:schemeClr val="bg1"/>
                </a:solidFill>
              </a:rPr>
              <a:t>&lt;p&gt;&lt;/p&gt;</a:t>
            </a:r>
            <a:endParaRPr lang="en-US" altLang="zh-CN" sz="2800" dirty="0" smtClean="0">
              <a:solidFill>
                <a:schemeClr val="bg1"/>
              </a:solidFill>
            </a:endParaRPr>
          </a:p>
          <a:p>
            <a:pPr>
              <a:lnSpc>
                <a:spcPts val="35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&lt;/</a:t>
            </a:r>
            <a:r>
              <a:rPr lang="en-US" altLang="zh-CN" sz="2800" dirty="0" err="1" smtClean="0">
                <a:solidFill>
                  <a:schemeClr val="bg1"/>
                </a:solidFill>
              </a:rPr>
              <a:t>ul</a:t>
            </a:r>
            <a:r>
              <a:rPr lang="en-US" altLang="zh-CN" sz="2800" dirty="0" smtClean="0">
                <a:solidFill>
                  <a:schemeClr val="bg1"/>
                </a:solidFill>
              </a:rPr>
              <a:t>&gt;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355</Words>
  <Application>Microsoft Office PowerPoint</Application>
  <PresentationFormat>宽屏</PresentationFormat>
  <Paragraphs>47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网页的文字排版进阶 （列表1）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标签分析</vt:lpstr>
      <vt:lpstr>任务实施</vt:lpstr>
      <vt:lpstr>小  结</vt:lpstr>
      <vt:lpstr>思  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59</cp:revision>
  <dcterms:created xsi:type="dcterms:W3CDTF">2020-04-27T05:20:13Z</dcterms:created>
  <dcterms:modified xsi:type="dcterms:W3CDTF">2020-07-23T05:41:01Z</dcterms:modified>
</cp:coreProperties>
</file>
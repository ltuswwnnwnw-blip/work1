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6" r:id="rId5"/>
    <p:sldId id="269" r:id="rId6"/>
    <p:sldId id="277" r:id="rId7"/>
    <p:sldId id="278" r:id="rId8"/>
    <p:sldId id="279" r:id="rId9"/>
    <p:sldId id="280" r:id="rId10"/>
    <p:sldId id="281" r:id="rId11"/>
    <p:sldId id="282" r:id="rId12"/>
    <p:sldId id="283" r:id="rId13"/>
    <p:sldId id="284" r:id="rId14"/>
    <p:sldId id="275" r:id="rId15"/>
    <p:sldId id="285" r:id="rId16"/>
    <p:sldId id="286" r:id="rId17"/>
    <p:sldId id="287" r:id="rId18"/>
    <p:sldId id="288" r:id="rId19"/>
    <p:sldId id="289" r:id="rId20"/>
    <p:sldId id="290" r:id="rId21"/>
    <p:sldId id="291" r:id="rId22"/>
    <p:sldId id="292" r:id="rId23"/>
    <p:sldId id="293" r:id="rId24"/>
    <p:sldId id="267" r:id="rId25"/>
    <p:sldId id="268"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69" d="100"/>
          <a:sy n="69" d="100"/>
        </p:scale>
        <p:origin x="72"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21"/>
            <a:ext cx="12192002" cy="6855879"/>
          </a:xfrm>
          <a:prstGeom prst="rect">
            <a:avLst/>
          </a:prstGeom>
        </p:spPr>
      </p:pic>
      <p:sp>
        <p:nvSpPr>
          <p:cNvPr id="2" name="标题 1"/>
          <p:cNvSpPr>
            <a:spLocks noGrp="1"/>
          </p:cNvSpPr>
          <p:nvPr>
            <p:ph type="ctrTitle"/>
          </p:nvPr>
        </p:nvSpPr>
        <p:spPr>
          <a:xfrm>
            <a:off x="2413688" y="2438419"/>
            <a:ext cx="4646140" cy="991641"/>
          </a:xfrm>
        </p:spPr>
        <p:txBody>
          <a:bodyPr anchor="b">
            <a:noAutofit/>
          </a:bodyPr>
          <a:lstStyle>
            <a:lvl1pPr algn="ctr">
              <a:defRPr sz="6600">
                <a:solidFill>
                  <a:schemeClr val="tx1">
                    <a:lumMod val="85000"/>
                    <a:lumOff val="1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8" name="文本框 7"/>
          <p:cNvSpPr txBox="1"/>
          <p:nvPr userDrawn="1"/>
        </p:nvSpPr>
        <p:spPr>
          <a:xfrm>
            <a:off x="4925712" y="4217773"/>
            <a:ext cx="2339102" cy="369332"/>
          </a:xfrm>
          <a:prstGeom prst="rect">
            <a:avLst/>
          </a:prstGeom>
          <a:noFill/>
        </p:spPr>
        <p:txBody>
          <a:bodyPr wrap="none" rtlCol="0">
            <a:spAutoFit/>
          </a:bodyPr>
          <a:lstStyle/>
          <a:p>
            <a:r>
              <a:rPr lang="zh-CN" altLang="en-US" spc="300" dirty="0" smtClean="0">
                <a:solidFill>
                  <a:schemeClr val="tx1">
                    <a:lumMod val="85000"/>
                    <a:lumOff val="15000"/>
                  </a:schemeClr>
                </a:solidFill>
                <a:latin typeface="微软雅黑" panose="020B0503020204020204" pitchFamily="34" charset="-122"/>
                <a:ea typeface="微软雅黑" panose="020B0503020204020204" pitchFamily="34" charset="-122"/>
              </a:rPr>
              <a:t>主讲老师：陆炜妮</a:t>
            </a:r>
            <a:endParaRPr lang="zh-CN" altLang="en-US" spc="3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9026412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圆角矩形 6"/>
          <p:cNvSpPr/>
          <p:nvPr userDrawn="1"/>
        </p:nvSpPr>
        <p:spPr>
          <a:xfrm>
            <a:off x="847725" y="885825"/>
            <a:ext cx="10582275" cy="5429249"/>
          </a:xfrm>
          <a:prstGeom prst="roundRect">
            <a:avLst>
              <a:gd name="adj" fmla="val 3900"/>
            </a:avLst>
          </a:prstGeom>
          <a:solidFill>
            <a:srgbClr val="F2F2F2"/>
          </a:solidFill>
          <a:ln>
            <a:solidFill>
              <a:schemeClr val="bg1">
                <a:lumMod val="85000"/>
              </a:schemeClr>
            </a:solid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62075" y="257174"/>
            <a:ext cx="2409825" cy="638175"/>
          </a:xfrm>
          <a:prstGeom prst="rect">
            <a:avLst/>
          </a:prstGeom>
        </p:spPr>
      </p:pic>
      <p:sp>
        <p:nvSpPr>
          <p:cNvPr id="3" name="内容占位符 2"/>
          <p:cNvSpPr>
            <a:spLocks noGrp="1"/>
          </p:cNvSpPr>
          <p:nvPr>
            <p:ph idx="1"/>
          </p:nvPr>
        </p:nvSpPr>
        <p:spPr>
          <a:xfrm>
            <a:off x="1095374" y="1171575"/>
            <a:ext cx="10125075" cy="4914899"/>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 name="标题 1"/>
          <p:cNvSpPr>
            <a:spLocks noGrp="1"/>
          </p:cNvSpPr>
          <p:nvPr>
            <p:ph type="title"/>
          </p:nvPr>
        </p:nvSpPr>
        <p:spPr>
          <a:xfrm>
            <a:off x="1720850" y="153988"/>
            <a:ext cx="2527300" cy="742950"/>
          </a:xfrm>
        </p:spPr>
        <p:txBody>
          <a:bodyPr anchor="b">
            <a:noAutofit/>
          </a:bodyPr>
          <a:lstStyle>
            <a:lvl1pPr>
              <a:defRPr sz="2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767764" y="6438900"/>
            <a:ext cx="252412" cy="252412"/>
          </a:xfrm>
          <a:prstGeom prst="rect">
            <a:avLst/>
          </a:prstGeom>
        </p:spPr>
      </p:pic>
      <p:sp>
        <p:nvSpPr>
          <p:cNvPr id="12" name="文本框 11"/>
          <p:cNvSpPr txBox="1"/>
          <p:nvPr userDrawn="1"/>
        </p:nvSpPr>
        <p:spPr>
          <a:xfrm>
            <a:off x="8953501" y="6416158"/>
            <a:ext cx="1620957" cy="307777"/>
          </a:xfrm>
          <a:prstGeom prst="rect">
            <a:avLst/>
          </a:prstGeom>
          <a:noFill/>
        </p:spPr>
        <p:txBody>
          <a:bodyPr wrap="none" rtlCol="0">
            <a:spAutoFit/>
          </a:bodyPr>
          <a:lstStyle/>
          <a:p>
            <a:r>
              <a:rPr lang="zh-CN" altLang="en-US" sz="1400" dirty="0" smtClean="0">
                <a:latin typeface="华文行楷" panose="02010800040101010101" pitchFamily="2" charset="-122"/>
                <a:ea typeface="华文行楷" panose="02010800040101010101" pitchFamily="2" charset="-122"/>
              </a:rPr>
              <a:t>东莞职业技术学院</a:t>
            </a:r>
            <a:endParaRPr lang="zh-CN" altLang="en-US" sz="1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16341653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43315921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961403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2001192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2093859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3057731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1643453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855552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412298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26925D-53E1-4B75-92B5-D8E7C2D23CF1}" type="datetimeFigureOut">
              <a:rPr lang="zh-CN" altLang="en-US" smtClean="0"/>
              <a:t>2020-7-28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1779582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26925D-53E1-4B75-92B5-D8E7C2D23CF1}" type="datetimeFigureOut">
              <a:rPr lang="zh-CN" altLang="en-US" smtClean="0"/>
              <a:t>2020-7-28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37220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395850" y="1554481"/>
            <a:ext cx="4711012" cy="1455439"/>
          </a:xfrm>
        </p:spPr>
        <p:txBody>
          <a:bodyPr>
            <a:noAutofit/>
          </a:bodyPr>
          <a:lstStyle/>
          <a:p>
            <a:pPr>
              <a:lnSpc>
                <a:spcPct val="150000"/>
              </a:lnSpc>
            </a:pPr>
            <a:r>
              <a:rPr lang="zh-CN" altLang="en-US" sz="4000" spc="300" dirty="0" smtClean="0">
                <a:solidFill>
                  <a:schemeClr val="tx1">
                    <a:lumMod val="75000"/>
                    <a:lumOff val="25000"/>
                  </a:schemeClr>
                </a:solidFill>
              </a:rPr>
              <a:t>图左文右的混排</a:t>
            </a:r>
            <a:endParaRPr lang="zh-CN" altLang="en-US" sz="4000" spc="300" dirty="0">
              <a:solidFill>
                <a:schemeClr val="tx1">
                  <a:lumMod val="75000"/>
                  <a:lumOff val="25000"/>
                </a:schemeClr>
              </a:solidFill>
            </a:endParaRPr>
          </a:p>
        </p:txBody>
      </p:sp>
    </p:spTree>
    <p:extLst>
      <p:ext uri="{BB962C8B-B14F-4D97-AF65-F5344CB8AC3E}">
        <p14:creationId xmlns:p14="http://schemas.microsoft.com/office/powerpoint/2010/main" val="17189364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1171575"/>
            <a:ext cx="6200775" cy="4914899"/>
          </a:xfrm>
        </p:spPr>
        <p:txBody>
          <a:bodyPr>
            <a:noAutofit/>
          </a:bodyPr>
          <a:lstStyle/>
          <a:p>
            <a:pPr>
              <a:lnSpc>
                <a:spcPct val="150000"/>
              </a:lnSpc>
              <a:buFont typeface="Wingdings" panose="05000000000000000000" pitchFamily="2" charset="2"/>
              <a:buChar char="Ø"/>
            </a:pPr>
            <a:r>
              <a:rPr lang="zh-CN" altLang="en-US" sz="3400" dirty="0" smtClean="0"/>
              <a:t>掌握图左文右混排结构的实现</a:t>
            </a:r>
            <a:endParaRPr lang="en-US" altLang="zh-CN" sz="3400" dirty="0" smtClean="0"/>
          </a:p>
          <a:p>
            <a:pPr>
              <a:lnSpc>
                <a:spcPct val="150000"/>
              </a:lnSpc>
              <a:buFont typeface="Wingdings" panose="05000000000000000000" pitchFamily="2" charset="2"/>
              <a:buChar char="Ø"/>
            </a:pPr>
            <a:r>
              <a:rPr lang="zh-CN" altLang="en-US" sz="3400" dirty="0" smtClean="0"/>
              <a:t>理解流动布局和浮动布局</a:t>
            </a:r>
            <a:endParaRPr lang="en-US" altLang="zh-CN" sz="3400" dirty="0" smtClean="0"/>
          </a:p>
        </p:txBody>
      </p:sp>
      <p:sp>
        <p:nvSpPr>
          <p:cNvPr id="3" name="标题 2"/>
          <p:cNvSpPr>
            <a:spLocks noGrp="1"/>
          </p:cNvSpPr>
          <p:nvPr>
            <p:ph type="title"/>
          </p:nvPr>
        </p:nvSpPr>
        <p:spPr/>
        <p:txBody>
          <a:bodyPr/>
          <a:lstStyle/>
          <a:p>
            <a:r>
              <a:rPr lang="zh-CN" altLang="en-US" dirty="0"/>
              <a:t>学习目标</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0037" y="2214562"/>
            <a:ext cx="2962275" cy="3800475"/>
          </a:xfrm>
          <a:prstGeom prst="rect">
            <a:avLst/>
          </a:prstGeom>
        </p:spPr>
      </p:pic>
    </p:spTree>
    <p:extLst>
      <p:ext uri="{BB962C8B-B14F-4D97-AF65-F5344CB8AC3E}">
        <p14:creationId xmlns:p14="http://schemas.microsoft.com/office/powerpoint/2010/main" val="8502992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64277"/>
            <a:ext cx="4100081" cy="5122198"/>
          </a:xfrm>
        </p:spPr>
        <p:txBody>
          <a:bodyPr>
            <a:normAutofit/>
          </a:bodyPr>
          <a:lstStyle/>
          <a:p>
            <a:pPr>
              <a:lnSpc>
                <a:spcPct val="150000"/>
              </a:lnSpc>
              <a:buFont typeface="Wingdings" panose="05000000000000000000" pitchFamily="2" charset="2"/>
              <a:buChar char="Ø"/>
            </a:pPr>
            <a:r>
              <a:rPr lang="zh-CN" altLang="en-US" sz="3000" dirty="0" smtClean="0"/>
              <a:t>使用列表设计出图左文右混排的标签结构</a:t>
            </a:r>
            <a:endParaRPr lang="en-US" altLang="zh-CN" sz="3000" dirty="0" smtClean="0"/>
          </a:p>
          <a:p>
            <a:pPr>
              <a:lnSpc>
                <a:spcPct val="150000"/>
              </a:lnSpc>
              <a:buFont typeface="Wingdings" panose="05000000000000000000" pitchFamily="2" charset="2"/>
              <a:buChar char="Ø"/>
            </a:pPr>
            <a:r>
              <a:rPr lang="zh-CN" altLang="en-US" sz="3000" dirty="0" smtClean="0"/>
              <a:t>使用浮动实现图左文右的布局</a:t>
            </a:r>
            <a:endParaRPr lang="en-US" altLang="zh-CN" sz="3000" dirty="0" smtClean="0"/>
          </a:p>
          <a:p>
            <a:pPr>
              <a:lnSpc>
                <a:spcPct val="150000"/>
              </a:lnSpc>
              <a:buFont typeface="Wingdings" panose="05000000000000000000" pitchFamily="2" charset="2"/>
              <a:buChar char="Ø"/>
            </a:pPr>
            <a:r>
              <a:rPr lang="zh-CN" altLang="en-US" sz="3000" dirty="0" smtClean="0"/>
              <a:t>合理设置内部、外部间距</a:t>
            </a:r>
            <a:endParaRPr lang="zh-CN" altLang="en-US" sz="3000" dirty="0"/>
          </a:p>
        </p:txBody>
      </p:sp>
      <p:sp>
        <p:nvSpPr>
          <p:cNvPr id="3" name="标题 2"/>
          <p:cNvSpPr>
            <a:spLocks noGrp="1"/>
          </p:cNvSpPr>
          <p:nvPr>
            <p:ph type="title"/>
          </p:nvPr>
        </p:nvSpPr>
        <p:spPr/>
        <p:txBody>
          <a:bodyPr/>
          <a:lstStyle/>
          <a:p>
            <a:r>
              <a:rPr lang="zh-CN" altLang="en-US"/>
              <a:t>任务目标</a:t>
            </a:r>
            <a:endParaRPr lang="zh-CN" altLang="en-US" dirty="0"/>
          </a:p>
        </p:txBody>
      </p:sp>
      <p:pic>
        <p:nvPicPr>
          <p:cNvPr id="4" name="图片 3"/>
          <p:cNvPicPr/>
          <p:nvPr/>
        </p:nvPicPr>
        <p:blipFill>
          <a:blip r:embed="rId2">
            <a:extLst>
              <a:ext uri="{28A0092B-C50C-407E-A947-70E740481C1C}">
                <a14:useLocalDpi xmlns:a14="http://schemas.microsoft.com/office/drawing/2010/main" val="0"/>
              </a:ext>
            </a:extLst>
          </a:blip>
          <a:stretch>
            <a:fillRect/>
          </a:stretch>
        </p:blipFill>
        <p:spPr>
          <a:xfrm>
            <a:off x="5195455" y="1229071"/>
            <a:ext cx="5893352" cy="4857404"/>
          </a:xfrm>
          <a:prstGeom prst="rect">
            <a:avLst/>
          </a:prstGeom>
        </p:spPr>
      </p:pic>
    </p:spTree>
    <p:extLst>
      <p:ext uri="{BB962C8B-B14F-4D97-AF65-F5344CB8AC3E}">
        <p14:creationId xmlns:p14="http://schemas.microsoft.com/office/powerpoint/2010/main" val="41915003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标签分析</a:t>
            </a:r>
            <a:endParaRPr lang="zh-CN" altLang="en-US" dirty="0"/>
          </a:p>
        </p:txBody>
      </p:sp>
      <p:pic>
        <p:nvPicPr>
          <p:cNvPr id="4" name="图片 3"/>
          <p:cNvPicPr/>
          <p:nvPr/>
        </p:nvPicPr>
        <p:blipFill>
          <a:blip r:embed="rId2">
            <a:extLst>
              <a:ext uri="{28A0092B-C50C-407E-A947-70E740481C1C}">
                <a14:useLocalDpi xmlns:a14="http://schemas.microsoft.com/office/drawing/2010/main" val="0"/>
              </a:ext>
            </a:extLst>
          </a:blip>
          <a:stretch>
            <a:fillRect/>
          </a:stretch>
        </p:blipFill>
        <p:spPr>
          <a:xfrm>
            <a:off x="2812472" y="1076670"/>
            <a:ext cx="6276109" cy="5116311"/>
          </a:xfrm>
          <a:prstGeom prst="rect">
            <a:avLst/>
          </a:prstGeom>
        </p:spPr>
      </p:pic>
      <p:sp>
        <p:nvSpPr>
          <p:cNvPr id="5" name="矩形标注 4"/>
          <p:cNvSpPr/>
          <p:nvPr/>
        </p:nvSpPr>
        <p:spPr>
          <a:xfrm>
            <a:off x="3532912" y="2563082"/>
            <a:ext cx="4807524" cy="1052955"/>
          </a:xfrm>
          <a:prstGeom prst="wedgeRectCallout">
            <a:avLst>
              <a:gd name="adj1" fmla="val 56452"/>
              <a:gd name="adj2" fmla="val 602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标注 5"/>
          <p:cNvSpPr/>
          <p:nvPr/>
        </p:nvSpPr>
        <p:spPr>
          <a:xfrm>
            <a:off x="3477492" y="1330036"/>
            <a:ext cx="4973782" cy="4710546"/>
          </a:xfrm>
          <a:prstGeom prst="wedgeRectCallout">
            <a:avLst>
              <a:gd name="adj1" fmla="val 54835"/>
              <a:gd name="adj2" fmla="val 1985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636497" y="4260433"/>
            <a:ext cx="1157689" cy="646331"/>
          </a:xfrm>
          <a:prstGeom prst="rect">
            <a:avLst/>
          </a:prstGeom>
          <a:noFill/>
        </p:spPr>
        <p:txBody>
          <a:bodyPr wrap="none" rtlCol="0">
            <a:spAutoFit/>
          </a:bodyPr>
          <a:lstStyle/>
          <a:p>
            <a:r>
              <a:rPr lang="en-US" altLang="zh-CN" sz="3600" dirty="0" smtClean="0">
                <a:solidFill>
                  <a:srgbClr val="FF0000"/>
                </a:solidFill>
              </a:rPr>
              <a:t>&lt;</a:t>
            </a:r>
            <a:r>
              <a:rPr lang="en-US" altLang="zh-CN" sz="3600" dirty="0" err="1" smtClean="0">
                <a:solidFill>
                  <a:srgbClr val="FF0000"/>
                </a:solidFill>
              </a:rPr>
              <a:t>ul</a:t>
            </a:r>
            <a:r>
              <a:rPr lang="en-US" altLang="zh-CN" sz="3600" dirty="0" smtClean="0">
                <a:solidFill>
                  <a:srgbClr val="FF0000"/>
                </a:solidFill>
              </a:rPr>
              <a:t>&gt;</a:t>
            </a:r>
            <a:endParaRPr lang="zh-CN" altLang="en-US" sz="3600" dirty="0">
              <a:solidFill>
                <a:srgbClr val="FF0000"/>
              </a:solidFill>
            </a:endParaRPr>
          </a:p>
        </p:txBody>
      </p:sp>
      <p:sp>
        <p:nvSpPr>
          <p:cNvPr id="8" name="文本框 7"/>
          <p:cNvSpPr txBox="1"/>
          <p:nvPr/>
        </p:nvSpPr>
        <p:spPr>
          <a:xfrm>
            <a:off x="8631378" y="2835668"/>
            <a:ext cx="1005403" cy="646331"/>
          </a:xfrm>
          <a:prstGeom prst="rect">
            <a:avLst/>
          </a:prstGeom>
          <a:noFill/>
        </p:spPr>
        <p:txBody>
          <a:bodyPr wrap="none" rtlCol="0">
            <a:spAutoFit/>
          </a:bodyPr>
          <a:lstStyle/>
          <a:p>
            <a:r>
              <a:rPr lang="en-US" altLang="zh-CN" sz="3600" dirty="0" smtClean="0">
                <a:solidFill>
                  <a:srgbClr val="FF0000"/>
                </a:solidFill>
              </a:rPr>
              <a:t>&lt;li&gt;</a:t>
            </a:r>
            <a:endParaRPr lang="zh-CN" altLang="en-US" sz="3600" dirty="0">
              <a:solidFill>
                <a:srgbClr val="FF0000"/>
              </a:solidFill>
            </a:endParaRPr>
          </a:p>
        </p:txBody>
      </p:sp>
      <p:sp>
        <p:nvSpPr>
          <p:cNvPr id="9" name="文本框 8"/>
          <p:cNvSpPr txBox="1"/>
          <p:nvPr/>
        </p:nvSpPr>
        <p:spPr>
          <a:xfrm>
            <a:off x="3512887" y="2918797"/>
            <a:ext cx="1555234" cy="646331"/>
          </a:xfrm>
          <a:prstGeom prst="rect">
            <a:avLst/>
          </a:prstGeom>
          <a:noFill/>
        </p:spPr>
        <p:txBody>
          <a:bodyPr wrap="none" rtlCol="0">
            <a:spAutoFit/>
          </a:bodyPr>
          <a:lstStyle/>
          <a:p>
            <a:r>
              <a:rPr lang="en-US" altLang="zh-CN" sz="3600" dirty="0" smtClean="0">
                <a:solidFill>
                  <a:srgbClr val="FF0000"/>
                </a:solidFill>
              </a:rPr>
              <a:t>&lt;</a:t>
            </a:r>
            <a:r>
              <a:rPr lang="en-US" altLang="zh-CN" sz="3600" dirty="0" err="1" smtClean="0">
                <a:solidFill>
                  <a:srgbClr val="FF0000"/>
                </a:solidFill>
              </a:rPr>
              <a:t>img</a:t>
            </a:r>
            <a:r>
              <a:rPr lang="en-US" altLang="zh-CN" sz="3600" dirty="0" smtClean="0">
                <a:solidFill>
                  <a:srgbClr val="FF0000"/>
                </a:solidFill>
              </a:rPr>
              <a:t>&gt;</a:t>
            </a:r>
            <a:endParaRPr lang="zh-CN" altLang="en-US" sz="3600" dirty="0">
              <a:solidFill>
                <a:srgbClr val="FF0000"/>
              </a:solidFill>
            </a:endParaRPr>
          </a:p>
        </p:txBody>
      </p:sp>
      <p:sp>
        <p:nvSpPr>
          <p:cNvPr id="10" name="文本框 9"/>
          <p:cNvSpPr txBox="1"/>
          <p:nvPr/>
        </p:nvSpPr>
        <p:spPr>
          <a:xfrm>
            <a:off x="5705434" y="2722740"/>
            <a:ext cx="1064715" cy="646331"/>
          </a:xfrm>
          <a:prstGeom prst="rect">
            <a:avLst/>
          </a:prstGeom>
          <a:noFill/>
        </p:spPr>
        <p:txBody>
          <a:bodyPr wrap="none" rtlCol="0">
            <a:spAutoFit/>
          </a:bodyPr>
          <a:lstStyle/>
          <a:p>
            <a:r>
              <a:rPr lang="en-US" altLang="zh-CN" sz="3600" dirty="0" smtClean="0">
                <a:solidFill>
                  <a:srgbClr val="FF0000"/>
                </a:solidFill>
              </a:rPr>
              <a:t>&lt;p&gt;</a:t>
            </a:r>
            <a:endParaRPr lang="zh-CN" altLang="en-US" sz="3600" dirty="0">
              <a:solidFill>
                <a:srgbClr val="FF0000"/>
              </a:solidFill>
            </a:endParaRPr>
          </a:p>
        </p:txBody>
      </p:sp>
    </p:spTree>
    <p:extLst>
      <p:ext uri="{BB962C8B-B14F-4D97-AF65-F5344CB8AC3E}">
        <p14:creationId xmlns:p14="http://schemas.microsoft.com/office/powerpoint/2010/main" val="265760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6302952" cy="5130510"/>
          </a:xfrm>
        </p:spPr>
        <p:txBody>
          <a:bodyPr>
            <a:normAutofit lnSpcReduction="10000"/>
          </a:bodyPr>
          <a:lstStyle/>
          <a:p>
            <a:pPr>
              <a:lnSpc>
                <a:spcPct val="150000"/>
              </a:lnSpc>
              <a:buFont typeface="Wingdings" panose="05000000000000000000" pitchFamily="2" charset="2"/>
              <a:buChar char="Ø"/>
            </a:pPr>
            <a:r>
              <a:rPr lang="zh-CN" altLang="en-US" sz="3000" dirty="0" smtClean="0"/>
              <a:t>流动布局模型</a:t>
            </a:r>
            <a:endParaRPr lang="en-US" altLang="zh-CN" sz="3000" dirty="0" smtClean="0"/>
          </a:p>
          <a:p>
            <a:pPr marL="457200" lvl="1" indent="0">
              <a:lnSpc>
                <a:spcPct val="150000"/>
              </a:lnSpc>
              <a:buNone/>
            </a:pPr>
            <a:r>
              <a:rPr lang="zh-CN" altLang="zh-CN" dirty="0"/>
              <a:t>流动布局模型是默认的网页布局模型</a:t>
            </a:r>
            <a:r>
              <a:rPr lang="zh-CN" altLang="zh-CN" dirty="0" smtClean="0"/>
              <a:t>，</a:t>
            </a:r>
            <a:r>
              <a:rPr lang="zh-CN" altLang="en-US" dirty="0" smtClean="0"/>
              <a:t>具有以下</a:t>
            </a:r>
            <a:r>
              <a:rPr lang="zh-CN" altLang="zh-CN" dirty="0" smtClean="0"/>
              <a:t>特点：</a:t>
            </a:r>
            <a:endParaRPr lang="en-US" altLang="zh-CN" dirty="0" smtClean="0"/>
          </a:p>
          <a:p>
            <a:pPr marL="457200" lvl="1" indent="0">
              <a:lnSpc>
                <a:spcPct val="150000"/>
              </a:lnSpc>
              <a:buNone/>
            </a:pPr>
            <a:r>
              <a:rPr lang="en-US" altLang="zh-CN" dirty="0"/>
              <a:t>1</a:t>
            </a:r>
            <a:r>
              <a:rPr lang="zh-CN" altLang="zh-CN" dirty="0" smtClean="0"/>
              <a:t>）块状</a:t>
            </a:r>
            <a:r>
              <a:rPr lang="zh-CN" altLang="zh-CN" dirty="0"/>
              <a:t>元素是根据其在父元素中出现的先后顺序从上往下</a:t>
            </a:r>
            <a:r>
              <a:rPr lang="zh-CN" altLang="zh-CN" dirty="0" smtClean="0"/>
              <a:t>排列，</a:t>
            </a:r>
            <a:r>
              <a:rPr lang="zh-CN" altLang="zh-CN" dirty="0"/>
              <a:t>独占一行，宽度为父元素的</a:t>
            </a:r>
            <a:r>
              <a:rPr lang="en-US" altLang="zh-CN" dirty="0"/>
              <a:t>100%</a:t>
            </a:r>
            <a:r>
              <a:rPr lang="zh-CN" altLang="zh-CN" dirty="0"/>
              <a:t>，相邻的块状元素在不同的行显示。</a:t>
            </a:r>
          </a:p>
          <a:p>
            <a:pPr marL="457200" lvl="1" indent="0">
              <a:lnSpc>
                <a:spcPct val="150000"/>
              </a:lnSpc>
              <a:buNone/>
            </a:pPr>
            <a:r>
              <a:rPr lang="en-US" altLang="zh-CN" dirty="0"/>
              <a:t>2</a:t>
            </a:r>
            <a:r>
              <a:rPr lang="zh-CN" altLang="zh-CN" dirty="0" smtClean="0"/>
              <a:t>）行</a:t>
            </a:r>
            <a:r>
              <a:rPr lang="zh-CN" altLang="zh-CN" dirty="0"/>
              <a:t>内元素都会在所处的父元素内根据其出现的先后顺序从左往右排列显示。</a:t>
            </a:r>
          </a:p>
          <a:p>
            <a:pPr marL="457200" lvl="1" indent="0">
              <a:lnSpc>
                <a:spcPct val="150000"/>
              </a:lnSpc>
              <a:buNone/>
            </a:pP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4" name="图片 3"/>
          <p:cNvPicPr/>
          <p:nvPr/>
        </p:nvPicPr>
        <p:blipFill rotWithShape="1">
          <a:blip r:embed="rId2">
            <a:extLst>
              <a:ext uri="{28A0092B-C50C-407E-A947-70E740481C1C}">
                <a14:useLocalDpi xmlns:a14="http://schemas.microsoft.com/office/drawing/2010/main" val="0"/>
              </a:ext>
            </a:extLst>
          </a:blip>
          <a:srcRect b="14201"/>
          <a:stretch/>
        </p:blipFill>
        <p:spPr bwMode="auto">
          <a:xfrm>
            <a:off x="7495309" y="1973897"/>
            <a:ext cx="3732181" cy="266737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321628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5130510"/>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sz="3000" dirty="0" smtClean="0"/>
          </a:p>
          <a:p>
            <a:pPr marL="457200" lvl="1" indent="0">
              <a:lnSpc>
                <a:spcPct val="150000"/>
              </a:lnSpc>
              <a:buNone/>
            </a:pPr>
            <a:r>
              <a:rPr lang="en-US" altLang="zh-CN" dirty="0"/>
              <a:t>CSS</a:t>
            </a:r>
            <a:r>
              <a:rPr lang="zh-CN" altLang="zh-CN" dirty="0"/>
              <a:t>中的浮动（</a:t>
            </a:r>
            <a:r>
              <a:rPr lang="en-US" altLang="zh-CN" dirty="0"/>
              <a:t>Float</a:t>
            </a:r>
            <a:r>
              <a:rPr lang="zh-CN" altLang="zh-CN" dirty="0"/>
              <a:t>），会使元素向左或向有移动，其周围的元素也会重新排列。浮动（</a:t>
            </a:r>
            <a:r>
              <a:rPr lang="en-US" altLang="zh-CN" dirty="0"/>
              <a:t>Float</a:t>
            </a:r>
            <a:r>
              <a:rPr lang="zh-CN" altLang="zh-CN" dirty="0"/>
              <a:t>）往往应用于图像，实现文字环绕图像</a:t>
            </a:r>
            <a:r>
              <a:rPr lang="zh-CN" altLang="zh-CN" dirty="0" smtClean="0"/>
              <a:t>排列效果</a:t>
            </a:r>
            <a:r>
              <a:rPr lang="zh-CN" altLang="zh-CN" dirty="0"/>
              <a:t>。</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5" name="图片 4"/>
          <p:cNvPicPr/>
          <p:nvPr/>
        </p:nvPicPr>
        <p:blipFill rotWithShape="1">
          <a:blip r:embed="rId2">
            <a:extLst>
              <a:ext uri="{28A0092B-C50C-407E-A947-70E740481C1C}">
                <a14:useLocalDpi xmlns:a14="http://schemas.microsoft.com/office/drawing/2010/main" val="0"/>
              </a:ext>
            </a:extLst>
          </a:blip>
          <a:srcRect b="5762"/>
          <a:stretch/>
        </p:blipFill>
        <p:spPr bwMode="auto">
          <a:xfrm>
            <a:off x="3676650" y="3100387"/>
            <a:ext cx="5314950" cy="288477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162637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5130510"/>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sz="3000" dirty="0" smtClean="0"/>
          </a:p>
          <a:p>
            <a:pPr marL="457200" lvl="1" indent="0">
              <a:lnSpc>
                <a:spcPct val="150000"/>
              </a:lnSpc>
              <a:buNone/>
            </a:pPr>
            <a:r>
              <a:rPr lang="zh-CN" altLang="zh-CN" dirty="0"/>
              <a:t>浮动（</a:t>
            </a:r>
            <a:r>
              <a:rPr lang="en-US" altLang="zh-CN" dirty="0"/>
              <a:t>Float</a:t>
            </a:r>
            <a:r>
              <a:rPr lang="zh-CN" altLang="zh-CN" dirty="0"/>
              <a:t>）也可以用在布局上，得到与流动布局不一样的页面效果。</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1593" y="2676523"/>
            <a:ext cx="3769426" cy="2283402"/>
          </a:xfrm>
          <a:prstGeom prst="rect">
            <a:avLst/>
          </a:prstGeom>
        </p:spPr>
      </p:pic>
      <p:pic>
        <p:nvPicPr>
          <p:cNvPr id="6" name="图片 5"/>
          <p:cNvPicPr/>
          <p:nvPr/>
        </p:nvPicPr>
        <p:blipFill>
          <a:blip r:embed="rId3">
            <a:extLst>
              <a:ext uri="{28A0092B-C50C-407E-A947-70E740481C1C}">
                <a14:useLocalDpi xmlns:a14="http://schemas.microsoft.com/office/drawing/2010/main" val="0"/>
              </a:ext>
            </a:extLst>
          </a:blip>
          <a:stretch>
            <a:fillRect/>
          </a:stretch>
        </p:blipFill>
        <p:spPr>
          <a:xfrm>
            <a:off x="5379236" y="2716096"/>
            <a:ext cx="5884509" cy="2243829"/>
          </a:xfrm>
          <a:prstGeom prst="rect">
            <a:avLst/>
          </a:prstGeom>
        </p:spPr>
      </p:pic>
    </p:spTree>
    <p:extLst>
      <p:ext uri="{BB962C8B-B14F-4D97-AF65-F5344CB8AC3E}">
        <p14:creationId xmlns:p14="http://schemas.microsoft.com/office/powerpoint/2010/main" val="39311510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5130510"/>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sz="3000" dirty="0" smtClean="0"/>
          </a:p>
          <a:p>
            <a:pPr marL="457200" lvl="1" indent="0">
              <a:lnSpc>
                <a:spcPct val="150000"/>
              </a:lnSpc>
              <a:buNone/>
            </a:pPr>
            <a:r>
              <a:rPr lang="zh-CN" altLang="zh-CN" dirty="0"/>
              <a:t>浮动（</a:t>
            </a:r>
            <a:r>
              <a:rPr lang="en-US" altLang="zh-CN" dirty="0"/>
              <a:t>Float</a:t>
            </a:r>
            <a:r>
              <a:rPr lang="zh-CN" altLang="zh-CN" dirty="0" smtClean="0"/>
              <a:t>）</a:t>
            </a:r>
            <a:r>
              <a:rPr lang="zh-CN" altLang="en-US" dirty="0" smtClean="0"/>
              <a:t>的特点：</a:t>
            </a:r>
            <a:endParaRPr lang="en-US" altLang="zh-CN" dirty="0" smtClean="0"/>
          </a:p>
          <a:p>
            <a:pPr marL="914400" lvl="2" indent="0">
              <a:lnSpc>
                <a:spcPct val="150000"/>
              </a:lnSpc>
              <a:buNone/>
            </a:pPr>
            <a:r>
              <a:rPr lang="en-US" altLang="zh-CN" sz="2200" dirty="0" smtClean="0"/>
              <a:t>1</a:t>
            </a:r>
            <a:r>
              <a:rPr lang="zh-CN" altLang="en-US" sz="2200" dirty="0" smtClean="0"/>
              <a:t>）</a:t>
            </a:r>
            <a:r>
              <a:rPr lang="zh-CN" altLang="zh-CN" sz="2200" dirty="0" smtClean="0"/>
              <a:t>元素</a:t>
            </a:r>
            <a:r>
              <a:rPr lang="zh-CN" altLang="zh-CN" sz="2200" dirty="0"/>
              <a:t>只能左右浮动，而不能上下浮动；</a:t>
            </a:r>
          </a:p>
          <a:p>
            <a:pPr marL="914400" lvl="2" indent="0">
              <a:lnSpc>
                <a:spcPct val="150000"/>
              </a:lnSpc>
              <a:buNone/>
            </a:pPr>
            <a:r>
              <a:rPr lang="en-US" altLang="zh-CN" sz="2200" dirty="0" smtClean="0"/>
              <a:t>2</a:t>
            </a:r>
            <a:r>
              <a:rPr lang="zh-CN" altLang="en-US" sz="2200" dirty="0" smtClean="0"/>
              <a:t>）</a:t>
            </a:r>
            <a:r>
              <a:rPr lang="zh-CN" altLang="zh-CN" sz="2200" dirty="0" smtClean="0"/>
              <a:t>一</a:t>
            </a:r>
            <a:r>
              <a:rPr lang="zh-CN" altLang="zh-CN" sz="2200" dirty="0"/>
              <a:t>个浮动元素会尽量向左或向右移动，直到它的外边缘碰到父</a:t>
            </a:r>
            <a:r>
              <a:rPr lang="zh-CN" altLang="zh-CN" sz="2200" dirty="0" smtClean="0"/>
              <a:t>元素包含</a:t>
            </a:r>
            <a:r>
              <a:rPr lang="zh-CN" altLang="zh-CN" sz="2200" dirty="0"/>
              <a:t>框或另一个浮动元素的边缘为止。</a:t>
            </a:r>
          </a:p>
          <a:p>
            <a:pPr marL="914400" lvl="2" indent="0">
              <a:lnSpc>
                <a:spcPct val="150000"/>
              </a:lnSpc>
              <a:buNone/>
            </a:pPr>
            <a:r>
              <a:rPr lang="en-US" altLang="zh-CN" sz="2200" dirty="0" smtClean="0"/>
              <a:t>3</a:t>
            </a:r>
            <a:r>
              <a:rPr lang="zh-CN" altLang="en-US" sz="2200" dirty="0" smtClean="0"/>
              <a:t>）</a:t>
            </a:r>
            <a:r>
              <a:rPr lang="zh-CN" altLang="zh-CN" sz="2200" dirty="0" smtClean="0"/>
              <a:t>浮动</a:t>
            </a:r>
            <a:r>
              <a:rPr lang="zh-CN" altLang="zh-CN" sz="2200" dirty="0"/>
              <a:t>元素之后的元素将围绕它排列；浮动元素之前的元素不受影响。</a:t>
            </a:r>
          </a:p>
          <a:p>
            <a:pPr marL="457200" lvl="1" indent="0">
              <a:lnSpc>
                <a:spcPct val="150000"/>
              </a:lnSpc>
              <a:buNone/>
            </a:pPr>
            <a:endParaRPr lang="en-US" altLang="zh-CN" dirty="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spTree>
    <p:extLst>
      <p:ext uri="{BB962C8B-B14F-4D97-AF65-F5344CB8AC3E}">
        <p14:creationId xmlns:p14="http://schemas.microsoft.com/office/powerpoint/2010/main" val="33447888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5130510"/>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sz="3000" dirty="0" smtClean="0"/>
          </a:p>
          <a:p>
            <a:pPr marL="457200" lvl="1" indent="0">
              <a:lnSpc>
                <a:spcPct val="150000"/>
              </a:lnSpc>
              <a:buNone/>
            </a:pPr>
            <a:r>
              <a:rPr lang="zh-CN" altLang="zh-CN" dirty="0"/>
              <a:t>浮动（</a:t>
            </a:r>
            <a:r>
              <a:rPr lang="en-US" altLang="zh-CN" dirty="0"/>
              <a:t>Float</a:t>
            </a:r>
            <a:r>
              <a:rPr lang="zh-CN" altLang="zh-CN" dirty="0" smtClean="0"/>
              <a:t>）</a:t>
            </a:r>
            <a:r>
              <a:rPr lang="zh-CN" altLang="en-US" dirty="0" smtClean="0"/>
              <a:t>的原理：</a:t>
            </a:r>
            <a:endParaRPr lang="en-US" altLang="zh-CN" dirty="0" smtClean="0"/>
          </a:p>
          <a:p>
            <a:pPr marL="914400" lvl="2" indent="0">
              <a:lnSpc>
                <a:spcPct val="150000"/>
              </a:lnSpc>
              <a:buNone/>
            </a:pPr>
            <a:r>
              <a:rPr lang="zh-CN" altLang="zh-CN" sz="2200" dirty="0" smtClean="0"/>
              <a:t>浮动</a:t>
            </a:r>
            <a:r>
              <a:rPr lang="zh-CN" altLang="zh-CN" sz="2200" dirty="0"/>
              <a:t>元素会脱离正常文档流独立出来，以一种特殊的形式存在，因为它不再处于文档流中，所以它不占据空间。后面的元素会认为浮动元素不存在而向上移动，占据其所释放出来的空间。</a:t>
            </a:r>
            <a:endParaRPr lang="en-US" altLang="zh-CN" sz="2200" dirty="0"/>
          </a:p>
          <a:p>
            <a:pPr marL="457200" lvl="1" indent="0">
              <a:lnSpc>
                <a:spcPct val="150000"/>
              </a:lnSpc>
              <a:buNone/>
            </a:pPr>
            <a:endParaRPr lang="en-US" altLang="zh-CN" dirty="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spTree>
    <p:extLst>
      <p:ext uri="{BB962C8B-B14F-4D97-AF65-F5344CB8AC3E}">
        <p14:creationId xmlns:p14="http://schemas.microsoft.com/office/powerpoint/2010/main" val="24772349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2521526"/>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sz="3000" dirty="0" smtClean="0"/>
          </a:p>
          <a:p>
            <a:pPr marL="457200" lvl="1" indent="0">
              <a:lnSpc>
                <a:spcPct val="150000"/>
              </a:lnSpc>
              <a:buNone/>
            </a:pPr>
            <a:r>
              <a:rPr lang="zh-CN" altLang="zh-CN" dirty="0"/>
              <a:t>浮动（</a:t>
            </a:r>
            <a:r>
              <a:rPr lang="en-US" altLang="zh-CN" dirty="0"/>
              <a:t>Float</a:t>
            </a:r>
            <a:r>
              <a:rPr lang="zh-CN" altLang="zh-CN" dirty="0" smtClean="0"/>
              <a:t>）</a:t>
            </a:r>
            <a:r>
              <a:rPr lang="zh-CN" altLang="en-US" dirty="0" smtClean="0"/>
              <a:t>可能会造成“父元素塌陷”。</a:t>
            </a:r>
            <a:endParaRPr lang="en-US" altLang="zh-CN"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4" name="图片 3"/>
          <p:cNvPicPr/>
          <p:nvPr/>
        </p:nvPicPr>
        <p:blipFill rotWithShape="1">
          <a:blip r:embed="rId2">
            <a:extLst>
              <a:ext uri="{28A0092B-C50C-407E-A947-70E740481C1C}">
                <a14:useLocalDpi xmlns:a14="http://schemas.microsoft.com/office/drawing/2010/main" val="0"/>
              </a:ext>
            </a:extLst>
          </a:blip>
          <a:srcRect r="53208"/>
          <a:stretch/>
        </p:blipFill>
        <p:spPr>
          <a:xfrm>
            <a:off x="1095375" y="2541010"/>
            <a:ext cx="2673061" cy="3559624"/>
          </a:xfrm>
          <a:prstGeom prst="rect">
            <a:avLst/>
          </a:prstGeom>
        </p:spPr>
      </p:pic>
      <p:pic>
        <p:nvPicPr>
          <p:cNvPr id="5" name="图片 4"/>
          <p:cNvPicPr/>
          <p:nvPr/>
        </p:nvPicPr>
        <p:blipFill>
          <a:blip r:embed="rId3">
            <a:extLst>
              <a:ext uri="{28A0092B-C50C-407E-A947-70E740481C1C}">
                <a14:useLocalDpi xmlns:a14="http://schemas.microsoft.com/office/drawing/2010/main" val="0"/>
              </a:ext>
            </a:extLst>
          </a:blip>
          <a:stretch>
            <a:fillRect/>
          </a:stretch>
        </p:blipFill>
        <p:spPr>
          <a:xfrm>
            <a:off x="4959511" y="3428897"/>
            <a:ext cx="6160502" cy="1794271"/>
          </a:xfrm>
          <a:prstGeom prst="rect">
            <a:avLst/>
          </a:prstGeom>
        </p:spPr>
      </p:pic>
      <p:cxnSp>
        <p:nvCxnSpPr>
          <p:cNvPr id="7" name="直接箭头连接符 6"/>
          <p:cNvCxnSpPr>
            <a:stCxn id="4" idx="3"/>
            <a:endCxn id="5" idx="1"/>
          </p:cNvCxnSpPr>
          <p:nvPr/>
        </p:nvCxnSpPr>
        <p:spPr>
          <a:xfrm>
            <a:off x="3768436" y="4320822"/>
            <a:ext cx="1191075" cy="5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768435" y="3879268"/>
            <a:ext cx="1107996" cy="461665"/>
          </a:xfrm>
          <a:prstGeom prst="rect">
            <a:avLst/>
          </a:prstGeom>
          <a:noFill/>
        </p:spPr>
        <p:txBody>
          <a:bodyPr wrap="none" rtlCol="0">
            <a:spAutoFit/>
          </a:bodyPr>
          <a:lstStyle/>
          <a:p>
            <a:r>
              <a:rPr lang="zh-CN" altLang="en-US" sz="2400" dirty="0" smtClean="0"/>
              <a:t>浮动后</a:t>
            </a:r>
            <a:endParaRPr lang="zh-CN" altLang="en-US" sz="2400" dirty="0"/>
          </a:p>
        </p:txBody>
      </p:sp>
    </p:spTree>
    <p:extLst>
      <p:ext uri="{BB962C8B-B14F-4D97-AF65-F5344CB8AC3E}">
        <p14:creationId xmlns:p14="http://schemas.microsoft.com/office/powerpoint/2010/main" val="4581317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2147453"/>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sz="3000" dirty="0" smtClean="0"/>
          </a:p>
          <a:p>
            <a:pPr marL="457200" lvl="1" indent="0">
              <a:lnSpc>
                <a:spcPct val="150000"/>
              </a:lnSpc>
              <a:buNone/>
            </a:pPr>
            <a:r>
              <a:rPr lang="zh-CN" altLang="en-US" dirty="0" smtClean="0"/>
              <a:t>清除</a:t>
            </a:r>
            <a:r>
              <a:rPr lang="zh-CN" altLang="zh-CN" dirty="0" smtClean="0"/>
              <a:t>浮动</a:t>
            </a:r>
            <a:r>
              <a:rPr lang="zh-CN" altLang="en-US" dirty="0" smtClean="0"/>
              <a:t>的影响，关键是恢复父元素的高度。</a:t>
            </a:r>
            <a:endParaRPr lang="en-US" altLang="zh-CN" dirty="0" smtClean="0"/>
          </a:p>
          <a:p>
            <a:pPr marL="457200" lvl="1" indent="0">
              <a:lnSpc>
                <a:spcPct val="150000"/>
              </a:lnSpc>
              <a:buNone/>
            </a:pPr>
            <a:r>
              <a:rPr lang="zh-CN" altLang="en-US" dirty="0"/>
              <a:t>方法</a:t>
            </a:r>
            <a:r>
              <a:rPr lang="zh-CN" altLang="en-US" dirty="0" smtClean="0"/>
              <a:t>一：手工设置父元素的高度</a:t>
            </a:r>
            <a:endParaRPr lang="en-US" altLang="zh-CN"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8575" y="3373581"/>
            <a:ext cx="3001457" cy="1627909"/>
          </a:xfrm>
          <a:prstGeom prst="rect">
            <a:avLst/>
          </a:prstGeom>
        </p:spPr>
      </p:pic>
      <p:pic>
        <p:nvPicPr>
          <p:cNvPr id="9" name="图片 8"/>
          <p:cNvPicPr/>
          <p:nvPr/>
        </p:nvPicPr>
        <p:blipFill>
          <a:blip r:embed="rId3">
            <a:extLst>
              <a:ext uri="{28A0092B-C50C-407E-A947-70E740481C1C}">
                <a14:useLocalDpi xmlns:a14="http://schemas.microsoft.com/office/drawing/2010/main" val="0"/>
              </a:ext>
            </a:extLst>
          </a:blip>
          <a:stretch>
            <a:fillRect/>
          </a:stretch>
        </p:blipFill>
        <p:spPr>
          <a:xfrm>
            <a:off x="4670713" y="3195697"/>
            <a:ext cx="6001182" cy="2720194"/>
          </a:xfrm>
          <a:prstGeom prst="rect">
            <a:avLst/>
          </a:prstGeom>
        </p:spPr>
      </p:pic>
    </p:spTree>
    <p:extLst>
      <p:ext uri="{BB962C8B-B14F-4D97-AF65-F5344CB8AC3E}">
        <p14:creationId xmlns:p14="http://schemas.microsoft.com/office/powerpoint/2010/main" val="1726990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2147453"/>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dirty="0" smtClean="0"/>
          </a:p>
          <a:p>
            <a:pPr marL="457200" lvl="1" indent="0">
              <a:lnSpc>
                <a:spcPct val="150000"/>
              </a:lnSpc>
              <a:buNone/>
            </a:pPr>
            <a:r>
              <a:rPr lang="zh-CN" altLang="en-US" dirty="0" smtClean="0"/>
              <a:t>方法</a:t>
            </a:r>
            <a:r>
              <a:rPr lang="zh-CN" altLang="en-US" dirty="0"/>
              <a:t>二</a:t>
            </a:r>
            <a:r>
              <a:rPr lang="zh-CN" altLang="en-US" dirty="0" smtClean="0"/>
              <a:t>：使用</a:t>
            </a:r>
            <a:r>
              <a:rPr lang="en-US" altLang="zh-CN" dirty="0" smtClean="0"/>
              <a:t>clear</a:t>
            </a:r>
            <a:r>
              <a:rPr lang="zh-CN" altLang="en-US" dirty="0" smtClean="0"/>
              <a:t>清除浮动</a:t>
            </a:r>
            <a:endParaRPr lang="en-US" altLang="zh-CN"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4327" y="1310432"/>
            <a:ext cx="3597018" cy="4719165"/>
          </a:xfrm>
          <a:prstGeom prst="rect">
            <a:avLst/>
          </a:prstGeom>
        </p:spPr>
      </p:pic>
      <p:pic>
        <p:nvPicPr>
          <p:cNvPr id="7" name="图片 6"/>
          <p:cNvPicPr/>
          <p:nvPr/>
        </p:nvPicPr>
        <p:blipFill>
          <a:blip r:embed="rId3">
            <a:extLst>
              <a:ext uri="{28A0092B-C50C-407E-A947-70E740481C1C}">
                <a14:useLocalDpi xmlns:a14="http://schemas.microsoft.com/office/drawing/2010/main" val="0"/>
              </a:ext>
            </a:extLst>
          </a:blip>
          <a:stretch>
            <a:fillRect/>
          </a:stretch>
        </p:blipFill>
        <p:spPr>
          <a:xfrm>
            <a:off x="1220066" y="2710081"/>
            <a:ext cx="6131281" cy="2291410"/>
          </a:xfrm>
          <a:prstGeom prst="rect">
            <a:avLst/>
          </a:prstGeom>
        </p:spPr>
      </p:pic>
    </p:spTree>
    <p:extLst>
      <p:ext uri="{BB962C8B-B14F-4D97-AF65-F5344CB8AC3E}">
        <p14:creationId xmlns:p14="http://schemas.microsoft.com/office/powerpoint/2010/main" val="28333709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10168370" cy="2867890"/>
          </a:xfrm>
        </p:spPr>
        <p:txBody>
          <a:bodyPr>
            <a:normAutofit/>
          </a:bodyPr>
          <a:lstStyle/>
          <a:p>
            <a:pPr>
              <a:lnSpc>
                <a:spcPct val="150000"/>
              </a:lnSpc>
              <a:buFont typeface="Wingdings" panose="05000000000000000000" pitchFamily="2" charset="2"/>
              <a:buChar char="Ø"/>
            </a:pPr>
            <a:r>
              <a:rPr lang="zh-CN" altLang="en-US" sz="3000" dirty="0"/>
              <a:t>浮动</a:t>
            </a:r>
            <a:r>
              <a:rPr lang="zh-CN" altLang="en-US" sz="3000" dirty="0" smtClean="0"/>
              <a:t>布局模型</a:t>
            </a:r>
            <a:endParaRPr lang="en-US" altLang="zh-CN" dirty="0" smtClean="0"/>
          </a:p>
          <a:p>
            <a:pPr marL="457200" lvl="1" indent="0">
              <a:lnSpc>
                <a:spcPct val="150000"/>
              </a:lnSpc>
              <a:buNone/>
            </a:pPr>
            <a:r>
              <a:rPr lang="zh-CN" altLang="en-US" dirty="0" smtClean="0"/>
              <a:t>方法三：使用</a:t>
            </a:r>
            <a:r>
              <a:rPr lang="en-US" altLang="zh-CN" dirty="0" smtClean="0"/>
              <a:t>overflow</a:t>
            </a:r>
            <a:r>
              <a:rPr lang="zh-CN" altLang="en-US" dirty="0" smtClean="0"/>
              <a:t>恢复父元素高度。</a:t>
            </a:r>
            <a:r>
              <a:rPr lang="zh-CN" altLang="zh-CN" dirty="0"/>
              <a:t>在没有为元素明确高度的情况下，</a:t>
            </a:r>
            <a:r>
              <a:rPr lang="en-US" altLang="zh-CN" dirty="0"/>
              <a:t>overflow</a:t>
            </a:r>
            <a:r>
              <a:rPr lang="zh-CN" altLang="zh-CN" dirty="0"/>
              <a:t>会自动根据内容调整元素的高度，从而达到明确元素高度的</a:t>
            </a:r>
            <a:r>
              <a:rPr lang="zh-CN" altLang="zh-CN" dirty="0" smtClean="0"/>
              <a:t>效果</a:t>
            </a:r>
            <a:r>
              <a:rPr lang="zh-CN" altLang="en-US" dirty="0" smtClean="0"/>
              <a:t>。</a:t>
            </a:r>
            <a:endParaRPr lang="en-US" altLang="zh-CN"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4425" y="3458933"/>
            <a:ext cx="4023318" cy="2110593"/>
          </a:xfrm>
          <a:prstGeom prst="rect">
            <a:avLst/>
          </a:prstGeom>
        </p:spPr>
      </p:pic>
    </p:spTree>
    <p:extLst>
      <p:ext uri="{BB962C8B-B14F-4D97-AF65-F5344CB8AC3E}">
        <p14:creationId xmlns:p14="http://schemas.microsoft.com/office/powerpoint/2010/main" val="5629753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3" cy="5130510"/>
          </a:xfrm>
        </p:spPr>
        <p:txBody>
          <a:bodyPr>
            <a:normAutofit/>
          </a:bodyPr>
          <a:lstStyle/>
          <a:p>
            <a:pPr>
              <a:lnSpc>
                <a:spcPct val="150000"/>
              </a:lnSpc>
              <a:buFont typeface="Wingdings" panose="05000000000000000000" pitchFamily="2" charset="2"/>
              <a:buChar char="Ø"/>
            </a:pPr>
            <a:r>
              <a:rPr lang="zh-CN" altLang="en-US" sz="3000" dirty="0"/>
              <a:t>绝对</a:t>
            </a:r>
            <a:r>
              <a:rPr lang="zh-CN" altLang="en-US" sz="3000" dirty="0" smtClean="0"/>
              <a:t>路径和相对路径</a:t>
            </a:r>
            <a:endParaRPr lang="en-US" altLang="zh-CN" sz="3000" dirty="0" smtClean="0"/>
          </a:p>
          <a:p>
            <a:pPr marL="457200" lvl="1" indent="0">
              <a:lnSpc>
                <a:spcPct val="150000"/>
              </a:lnSpc>
              <a:buNone/>
            </a:pPr>
            <a:r>
              <a:rPr lang="en-US" altLang="zh-CN" sz="3000" dirty="0"/>
              <a:t>1</a:t>
            </a:r>
            <a:r>
              <a:rPr lang="zh-CN" altLang="zh-CN" sz="3000" dirty="0"/>
              <a:t>）绝对路径</a:t>
            </a:r>
          </a:p>
          <a:p>
            <a:pPr marL="914400" lvl="2" indent="0">
              <a:lnSpc>
                <a:spcPct val="150000"/>
              </a:lnSpc>
              <a:buNone/>
            </a:pPr>
            <a:r>
              <a:rPr lang="zh-CN" altLang="zh-CN" sz="2200" dirty="0"/>
              <a:t>绝对路径是指从盘符开始的路径，例如</a:t>
            </a:r>
            <a:r>
              <a:rPr lang="en-US" altLang="zh-CN" sz="2200" dirty="0"/>
              <a:t>d:\myweb\pics\logo.jpg</a:t>
            </a:r>
            <a:r>
              <a:rPr lang="zh-CN" altLang="zh-CN" sz="2200" dirty="0"/>
              <a:t>，使用绝对路径描述的文件位置是固定的，不管</a:t>
            </a:r>
            <a:r>
              <a:rPr lang="zh-CN" altLang="zh-CN" sz="2200" dirty="0" smtClean="0"/>
              <a:t>从</a:t>
            </a:r>
            <a:r>
              <a:rPr lang="zh-CN" altLang="zh-CN" sz="2200" dirty="0"/>
              <a:t>哪个位置去调用该文件，路径都是不变的</a:t>
            </a:r>
            <a:r>
              <a:rPr lang="zh-CN" altLang="zh-CN" sz="2200" dirty="0" smtClean="0"/>
              <a:t>。</a:t>
            </a:r>
            <a:endParaRPr lang="zh-CN" altLang="zh-CN" sz="2200" dirty="0"/>
          </a:p>
          <a:p>
            <a:pPr>
              <a:lnSpc>
                <a:spcPct val="150000"/>
              </a:lnSpc>
              <a:buFont typeface="Wingdings" panose="05000000000000000000" pitchFamily="2" charset="2"/>
              <a:buChar char="Ø"/>
            </a:pPr>
            <a:endParaRPr lang="en-US" altLang="zh-CN" sz="30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endParaRPr lang="zh-CN" altLang="en-US" dirty="0"/>
          </a:p>
        </p:txBody>
      </p:sp>
    </p:spTree>
    <p:extLst>
      <p:ext uri="{BB962C8B-B14F-4D97-AF65-F5344CB8AC3E}">
        <p14:creationId xmlns:p14="http://schemas.microsoft.com/office/powerpoint/2010/main" val="9438395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3" cy="5130510"/>
          </a:xfrm>
        </p:spPr>
        <p:txBody>
          <a:bodyPr>
            <a:normAutofit/>
          </a:bodyPr>
          <a:lstStyle/>
          <a:p>
            <a:pPr>
              <a:lnSpc>
                <a:spcPct val="150000"/>
              </a:lnSpc>
              <a:buFont typeface="Wingdings" panose="05000000000000000000" pitchFamily="2" charset="2"/>
              <a:buChar char="Ø"/>
            </a:pPr>
            <a:r>
              <a:rPr lang="zh-CN" altLang="en-US" sz="3000" dirty="0"/>
              <a:t>绝对</a:t>
            </a:r>
            <a:r>
              <a:rPr lang="zh-CN" altLang="en-US" sz="3000" dirty="0" smtClean="0"/>
              <a:t>路径和相对路径</a:t>
            </a:r>
            <a:endParaRPr lang="en-US" altLang="zh-CN" sz="3000" dirty="0" smtClean="0"/>
          </a:p>
          <a:p>
            <a:pPr marL="457200" lvl="1" indent="0">
              <a:lnSpc>
                <a:spcPct val="150000"/>
              </a:lnSpc>
              <a:buNone/>
            </a:pPr>
            <a:r>
              <a:rPr lang="en-US" altLang="zh-CN" sz="3000" dirty="0"/>
              <a:t>2</a:t>
            </a:r>
            <a:r>
              <a:rPr lang="zh-CN" altLang="zh-CN" sz="3000" dirty="0" smtClean="0"/>
              <a:t>）</a:t>
            </a:r>
            <a:r>
              <a:rPr lang="zh-CN" altLang="en-US" sz="3000" dirty="0" smtClean="0"/>
              <a:t>相</a:t>
            </a:r>
            <a:r>
              <a:rPr lang="zh-CN" altLang="zh-CN" sz="3000" dirty="0" smtClean="0"/>
              <a:t>对</a:t>
            </a:r>
            <a:r>
              <a:rPr lang="zh-CN" altLang="zh-CN" sz="3000" dirty="0"/>
              <a:t>路径</a:t>
            </a:r>
          </a:p>
          <a:p>
            <a:pPr marL="914400" lvl="2" indent="0">
              <a:lnSpc>
                <a:spcPct val="150000"/>
              </a:lnSpc>
              <a:buNone/>
            </a:pPr>
            <a:r>
              <a:rPr lang="zh-CN" altLang="zh-CN" sz="2200" dirty="0"/>
              <a:t>相对路径是指从当前页面的位置出发到达目标文件所经过的路径。相对路径不关注目标文件保存在哪个盘，只关注从出发点到目标位置之间所经过的路径，也就是两者之间的相对路径</a:t>
            </a:r>
            <a:r>
              <a:rPr lang="zh-CN" altLang="zh-CN" sz="2200" dirty="0" smtClean="0"/>
              <a:t>。</a:t>
            </a:r>
            <a:r>
              <a:rPr lang="zh-CN" altLang="en-US" sz="2200" dirty="0" smtClean="0"/>
              <a:t>网页</a:t>
            </a:r>
            <a:r>
              <a:rPr lang="zh-CN" altLang="en-US" sz="2200" dirty="0"/>
              <a:t>中的文件</a:t>
            </a:r>
            <a:r>
              <a:rPr lang="zh-CN" altLang="en-US" sz="2200" dirty="0" smtClean="0"/>
              <a:t>路径使用相对路径来设置。</a:t>
            </a:r>
            <a:endParaRPr lang="zh-CN" altLang="zh-CN" sz="2200" dirty="0"/>
          </a:p>
          <a:p>
            <a:pPr>
              <a:lnSpc>
                <a:spcPct val="150000"/>
              </a:lnSpc>
              <a:buFont typeface="Wingdings" panose="05000000000000000000" pitchFamily="2" charset="2"/>
              <a:buChar char="Ø"/>
            </a:pPr>
            <a:endParaRPr lang="en-US" altLang="zh-CN" sz="30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endParaRPr lang="zh-CN" altLang="en-US" dirty="0"/>
          </a:p>
        </p:txBody>
      </p:sp>
    </p:spTree>
    <p:extLst>
      <p:ext uri="{BB962C8B-B14F-4D97-AF65-F5344CB8AC3E}">
        <p14:creationId xmlns:p14="http://schemas.microsoft.com/office/powerpoint/2010/main" val="17416313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3" cy="5130510"/>
          </a:xfrm>
        </p:spPr>
        <p:txBody>
          <a:bodyPr>
            <a:normAutofit/>
          </a:bodyPr>
          <a:lstStyle/>
          <a:p>
            <a:pPr>
              <a:lnSpc>
                <a:spcPct val="150000"/>
              </a:lnSpc>
              <a:buFont typeface="Wingdings" panose="05000000000000000000" pitchFamily="2" charset="2"/>
              <a:buChar char="Ø"/>
            </a:pPr>
            <a:r>
              <a:rPr lang="zh-CN" altLang="en-US" sz="3000" dirty="0"/>
              <a:t>绝对</a:t>
            </a:r>
            <a:r>
              <a:rPr lang="zh-CN" altLang="en-US" sz="3000" dirty="0" smtClean="0"/>
              <a:t>路径和相对路径</a:t>
            </a:r>
            <a:endParaRPr lang="en-US" altLang="zh-CN" sz="3000" dirty="0" smtClean="0"/>
          </a:p>
          <a:p>
            <a:pPr marL="457200" lvl="1" indent="0">
              <a:lnSpc>
                <a:spcPct val="150000"/>
              </a:lnSpc>
              <a:buNone/>
            </a:pPr>
            <a:r>
              <a:rPr lang="en-US" altLang="zh-CN" sz="3000" dirty="0"/>
              <a:t>2</a:t>
            </a:r>
            <a:r>
              <a:rPr lang="zh-CN" altLang="zh-CN" sz="3000" dirty="0" smtClean="0"/>
              <a:t>）</a:t>
            </a:r>
            <a:r>
              <a:rPr lang="zh-CN" altLang="en-US" sz="3000" dirty="0" smtClean="0"/>
              <a:t>相</a:t>
            </a:r>
            <a:r>
              <a:rPr lang="zh-CN" altLang="zh-CN" sz="3000" dirty="0" smtClean="0"/>
              <a:t>对</a:t>
            </a:r>
            <a:r>
              <a:rPr lang="zh-CN" altLang="zh-CN" sz="3000" dirty="0"/>
              <a:t>路径</a:t>
            </a:r>
          </a:p>
          <a:p>
            <a:pPr marL="914400" lvl="2" indent="0">
              <a:lnSpc>
                <a:spcPct val="150000"/>
              </a:lnSpc>
              <a:buNone/>
            </a:pPr>
            <a:r>
              <a:rPr lang="zh-CN" altLang="en-US" sz="2200" dirty="0" smtClean="0"/>
              <a:t>情况一：文件在当前目录</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endParaRPr lang="zh-CN" altLang="en-US" dirty="0"/>
          </a:p>
        </p:txBody>
      </p:sp>
      <p:pic>
        <p:nvPicPr>
          <p:cNvPr id="4" name="图片 3"/>
          <p:cNvPicPr/>
          <p:nvPr/>
        </p:nvPicPr>
        <p:blipFill>
          <a:blip r:embed="rId2">
            <a:extLst>
              <a:ext uri="{28A0092B-C50C-407E-A947-70E740481C1C}">
                <a14:useLocalDpi xmlns:a14="http://schemas.microsoft.com/office/drawing/2010/main" val="0"/>
              </a:ext>
            </a:extLst>
          </a:blip>
          <a:stretch>
            <a:fillRect/>
          </a:stretch>
        </p:blipFill>
        <p:spPr>
          <a:xfrm>
            <a:off x="2695660" y="3290079"/>
            <a:ext cx="5692551" cy="2796396"/>
          </a:xfrm>
          <a:prstGeom prst="rect">
            <a:avLst/>
          </a:prstGeom>
        </p:spPr>
      </p:pic>
    </p:spTree>
    <p:extLst>
      <p:ext uri="{BB962C8B-B14F-4D97-AF65-F5344CB8AC3E}">
        <p14:creationId xmlns:p14="http://schemas.microsoft.com/office/powerpoint/2010/main" val="34700135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3" cy="5130510"/>
          </a:xfrm>
        </p:spPr>
        <p:txBody>
          <a:bodyPr>
            <a:normAutofit/>
          </a:bodyPr>
          <a:lstStyle/>
          <a:p>
            <a:pPr>
              <a:lnSpc>
                <a:spcPct val="150000"/>
              </a:lnSpc>
              <a:buFont typeface="Wingdings" panose="05000000000000000000" pitchFamily="2" charset="2"/>
              <a:buChar char="Ø"/>
            </a:pPr>
            <a:r>
              <a:rPr lang="zh-CN" altLang="en-US" sz="3000" dirty="0"/>
              <a:t>绝对</a:t>
            </a:r>
            <a:r>
              <a:rPr lang="zh-CN" altLang="en-US" sz="3000" dirty="0" smtClean="0"/>
              <a:t>路径和相对路径</a:t>
            </a:r>
            <a:endParaRPr lang="en-US" altLang="zh-CN" sz="3000" dirty="0" smtClean="0"/>
          </a:p>
          <a:p>
            <a:pPr marL="457200" lvl="1" indent="0">
              <a:lnSpc>
                <a:spcPct val="150000"/>
              </a:lnSpc>
              <a:buNone/>
            </a:pPr>
            <a:r>
              <a:rPr lang="en-US" altLang="zh-CN" sz="3000" dirty="0"/>
              <a:t>2</a:t>
            </a:r>
            <a:r>
              <a:rPr lang="zh-CN" altLang="zh-CN" sz="3000" dirty="0" smtClean="0"/>
              <a:t>）</a:t>
            </a:r>
            <a:r>
              <a:rPr lang="zh-CN" altLang="en-US" sz="3000" dirty="0" smtClean="0"/>
              <a:t>相</a:t>
            </a:r>
            <a:r>
              <a:rPr lang="zh-CN" altLang="zh-CN" sz="3000" dirty="0" smtClean="0"/>
              <a:t>对</a:t>
            </a:r>
            <a:r>
              <a:rPr lang="zh-CN" altLang="zh-CN" sz="3000" dirty="0"/>
              <a:t>路径</a:t>
            </a:r>
          </a:p>
          <a:p>
            <a:pPr marL="914400" lvl="2" indent="0">
              <a:lnSpc>
                <a:spcPct val="150000"/>
              </a:lnSpc>
              <a:buNone/>
            </a:pPr>
            <a:r>
              <a:rPr lang="zh-CN" altLang="en-US" sz="2200" dirty="0" smtClean="0"/>
              <a:t>情况</a:t>
            </a:r>
            <a:r>
              <a:rPr lang="zh-CN" altLang="en-US" sz="2200" dirty="0"/>
              <a:t>二</a:t>
            </a:r>
            <a:r>
              <a:rPr lang="zh-CN" altLang="en-US" sz="2200" dirty="0" smtClean="0"/>
              <a:t>：文件在</a:t>
            </a:r>
            <a:r>
              <a:rPr lang="zh-CN" altLang="en-US" sz="2200" dirty="0"/>
              <a:t>上一层</a:t>
            </a:r>
            <a:r>
              <a:rPr lang="zh-CN" altLang="en-US" sz="2200" dirty="0" smtClean="0"/>
              <a:t>目录</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endParaRPr lang="zh-CN" altLang="en-US" dirty="0"/>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2602316" y="3140537"/>
            <a:ext cx="6983005" cy="2945938"/>
          </a:xfrm>
          <a:prstGeom prst="rect">
            <a:avLst/>
          </a:prstGeom>
        </p:spPr>
      </p:pic>
    </p:spTree>
    <p:extLst>
      <p:ext uri="{BB962C8B-B14F-4D97-AF65-F5344CB8AC3E}">
        <p14:creationId xmlns:p14="http://schemas.microsoft.com/office/powerpoint/2010/main" val="19692592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3" cy="5130510"/>
          </a:xfrm>
        </p:spPr>
        <p:txBody>
          <a:bodyPr>
            <a:normAutofit/>
          </a:bodyPr>
          <a:lstStyle/>
          <a:p>
            <a:pPr>
              <a:lnSpc>
                <a:spcPct val="150000"/>
              </a:lnSpc>
              <a:buFont typeface="Wingdings" panose="05000000000000000000" pitchFamily="2" charset="2"/>
              <a:buChar char="Ø"/>
            </a:pPr>
            <a:r>
              <a:rPr lang="zh-CN" altLang="en-US" sz="3000" dirty="0"/>
              <a:t>绝对</a:t>
            </a:r>
            <a:r>
              <a:rPr lang="zh-CN" altLang="en-US" sz="3000" dirty="0" smtClean="0"/>
              <a:t>路径和相对路径</a:t>
            </a:r>
            <a:endParaRPr lang="en-US" altLang="zh-CN" sz="3000" dirty="0" smtClean="0"/>
          </a:p>
          <a:p>
            <a:pPr marL="457200" lvl="1" indent="0">
              <a:lnSpc>
                <a:spcPct val="150000"/>
              </a:lnSpc>
              <a:buNone/>
            </a:pPr>
            <a:r>
              <a:rPr lang="en-US" altLang="zh-CN" sz="3000" dirty="0"/>
              <a:t>2</a:t>
            </a:r>
            <a:r>
              <a:rPr lang="zh-CN" altLang="zh-CN" sz="3000" dirty="0" smtClean="0"/>
              <a:t>）</a:t>
            </a:r>
            <a:r>
              <a:rPr lang="zh-CN" altLang="en-US" sz="3000" dirty="0" smtClean="0"/>
              <a:t>相</a:t>
            </a:r>
            <a:r>
              <a:rPr lang="zh-CN" altLang="zh-CN" sz="3000" dirty="0" smtClean="0"/>
              <a:t>对</a:t>
            </a:r>
            <a:r>
              <a:rPr lang="zh-CN" altLang="zh-CN" sz="3000" dirty="0"/>
              <a:t>路径</a:t>
            </a:r>
          </a:p>
          <a:p>
            <a:pPr marL="914400" lvl="2" indent="0">
              <a:lnSpc>
                <a:spcPct val="150000"/>
              </a:lnSpc>
              <a:buNone/>
            </a:pPr>
            <a:r>
              <a:rPr lang="zh-CN" altLang="en-US" sz="2200" dirty="0" smtClean="0"/>
              <a:t>情况三：文件在下</a:t>
            </a:r>
            <a:r>
              <a:rPr lang="zh-CN" altLang="en-US" sz="2200" dirty="0" smtClean="0"/>
              <a:t>一</a:t>
            </a:r>
            <a:r>
              <a:rPr lang="zh-CN" altLang="en-US" sz="2200" dirty="0"/>
              <a:t>层</a:t>
            </a:r>
            <a:r>
              <a:rPr lang="zh-CN" altLang="en-US" sz="2200" dirty="0" smtClean="0"/>
              <a:t>目录</a:t>
            </a:r>
            <a:endParaRPr lang="en-US" altLang="zh-CN" sz="2200" dirty="0" smtClean="0"/>
          </a:p>
        </p:txBody>
      </p:sp>
      <p:sp>
        <p:nvSpPr>
          <p:cNvPr id="3" name="标题 2"/>
          <p:cNvSpPr>
            <a:spLocks noGrp="1"/>
          </p:cNvSpPr>
          <p:nvPr>
            <p:ph type="title"/>
          </p:nvPr>
        </p:nvSpPr>
        <p:spPr>
          <a:xfrm>
            <a:off x="1720850" y="120736"/>
            <a:ext cx="2527300" cy="742950"/>
          </a:xfrm>
        </p:spPr>
        <p:txBody>
          <a:bodyPr/>
          <a:lstStyle/>
          <a:p>
            <a:r>
              <a:rPr lang="zh-CN" altLang="en-US" dirty="0"/>
              <a:t>相关知识</a:t>
            </a:r>
            <a:endParaRPr lang="zh-CN" altLang="en-US" dirty="0"/>
          </a:p>
        </p:txBody>
      </p:sp>
      <p:pic>
        <p:nvPicPr>
          <p:cNvPr id="6" name="图片 5"/>
          <p:cNvPicPr/>
          <p:nvPr/>
        </p:nvPicPr>
        <p:blipFill>
          <a:blip r:embed="rId2">
            <a:extLst>
              <a:ext uri="{28A0092B-C50C-407E-A947-70E740481C1C}">
                <a14:useLocalDpi xmlns:a14="http://schemas.microsoft.com/office/drawing/2010/main" val="0"/>
              </a:ext>
            </a:extLst>
          </a:blip>
          <a:stretch>
            <a:fillRect/>
          </a:stretch>
        </p:blipFill>
        <p:spPr>
          <a:xfrm>
            <a:off x="2622781" y="3106766"/>
            <a:ext cx="5921162" cy="2979709"/>
          </a:xfrm>
          <a:prstGeom prst="rect">
            <a:avLst/>
          </a:prstGeom>
        </p:spPr>
      </p:pic>
    </p:spTree>
    <p:extLst>
      <p:ext uri="{BB962C8B-B14F-4D97-AF65-F5344CB8AC3E}">
        <p14:creationId xmlns:p14="http://schemas.microsoft.com/office/powerpoint/2010/main" val="25028688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55965"/>
            <a:ext cx="10085243" cy="5130510"/>
          </a:xfrm>
        </p:spPr>
        <p:txBody>
          <a:bodyPr>
            <a:normAutofit/>
          </a:bodyPr>
          <a:lstStyle/>
          <a:p>
            <a:pPr marL="0" indent="0">
              <a:lnSpc>
                <a:spcPct val="150000"/>
              </a:lnSpc>
              <a:buNone/>
            </a:pPr>
            <a:r>
              <a:rPr lang="zh-CN" altLang="en-US" sz="3000" dirty="0" smtClean="0"/>
              <a:t>一、设计网页的</a:t>
            </a:r>
            <a:r>
              <a:rPr lang="en-US" altLang="zh-CN" sz="3000" dirty="0" smtClean="0"/>
              <a:t>HTML</a:t>
            </a:r>
            <a:r>
              <a:rPr lang="zh-CN" altLang="en-US" sz="3000" dirty="0" smtClean="0"/>
              <a:t>标签结构</a:t>
            </a:r>
            <a:endParaRPr lang="en-US" altLang="zh-CN" sz="30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055" y="2028824"/>
            <a:ext cx="9882003" cy="3054772"/>
          </a:xfrm>
          <a:prstGeom prst="rect">
            <a:avLst/>
          </a:prstGeom>
        </p:spPr>
      </p:pic>
    </p:spTree>
    <p:extLst>
      <p:ext uri="{BB962C8B-B14F-4D97-AF65-F5344CB8AC3E}">
        <p14:creationId xmlns:p14="http://schemas.microsoft.com/office/powerpoint/2010/main" val="24875679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4959062" cy="5130510"/>
          </a:xfrm>
        </p:spPr>
        <p:txBody>
          <a:bodyPr>
            <a:normAutofit/>
          </a:bodyPr>
          <a:lstStyle/>
          <a:p>
            <a:pPr marL="0" indent="0">
              <a:lnSpc>
                <a:spcPct val="150000"/>
              </a:lnSpc>
              <a:buNone/>
            </a:pPr>
            <a:r>
              <a:rPr lang="zh-CN" altLang="en-US" sz="3000" dirty="0"/>
              <a:t>二</a:t>
            </a:r>
            <a:r>
              <a:rPr lang="zh-CN" altLang="en-US" sz="3000" dirty="0" smtClean="0"/>
              <a:t>、设计网页的</a:t>
            </a:r>
            <a:r>
              <a:rPr lang="en-US" altLang="zh-CN" sz="3000" dirty="0" smtClean="0"/>
              <a:t>CSS</a:t>
            </a:r>
            <a:r>
              <a:rPr lang="zh-CN" altLang="en-US" sz="3000" dirty="0" smtClean="0"/>
              <a:t>样式</a:t>
            </a:r>
            <a:endParaRPr lang="en-US" altLang="zh-CN" sz="3000" dirty="0" smtClean="0"/>
          </a:p>
          <a:p>
            <a:pPr marL="457200" lvl="1" indent="0">
              <a:lnSpc>
                <a:spcPct val="150000"/>
              </a:lnSpc>
              <a:buNone/>
            </a:pPr>
            <a:r>
              <a:rPr lang="en-US" altLang="zh-CN" sz="2600" dirty="0" smtClean="0"/>
              <a:t>1</a:t>
            </a:r>
            <a:r>
              <a:rPr lang="zh-CN" altLang="en-US" sz="2600" dirty="0" smtClean="0"/>
              <a:t>）全局样式</a:t>
            </a:r>
            <a:endParaRPr lang="en-US" altLang="zh-CN" sz="2600" dirty="0" smtClean="0"/>
          </a:p>
          <a:p>
            <a:pPr marL="914400" lvl="2" indent="0">
              <a:lnSpc>
                <a:spcPct val="150000"/>
              </a:lnSpc>
              <a:buNone/>
            </a:pPr>
            <a:r>
              <a:rPr lang="zh-CN" altLang="zh-CN" sz="2200" dirty="0"/>
              <a:t>首先使用</a:t>
            </a:r>
            <a:r>
              <a:rPr lang="en-US" altLang="zh-CN" sz="2200" dirty="0"/>
              <a:t>*</a:t>
            </a:r>
            <a:r>
              <a:rPr lang="zh-CN" altLang="zh-CN" sz="2200" dirty="0" smtClean="0"/>
              <a:t>选择</a:t>
            </a:r>
            <a:r>
              <a:rPr lang="zh-CN" altLang="en-US" sz="2200" dirty="0" smtClean="0"/>
              <a:t>器</a:t>
            </a:r>
            <a:r>
              <a:rPr lang="zh-CN" altLang="zh-CN" sz="2200" dirty="0" smtClean="0"/>
              <a:t>清除</a:t>
            </a:r>
            <a:r>
              <a:rPr lang="zh-CN" altLang="zh-CN" sz="2200" dirty="0"/>
              <a:t>所有元素的默认内外边距和列表符号，然后限定好</a:t>
            </a:r>
            <a:r>
              <a:rPr lang="en-US" altLang="zh-CN" sz="2200" dirty="0"/>
              <a:t>&lt;</a:t>
            </a:r>
            <a:r>
              <a:rPr lang="en-US" altLang="zh-CN" sz="2200" dirty="0" err="1"/>
              <a:t>ul</a:t>
            </a:r>
            <a:r>
              <a:rPr lang="en-US" altLang="zh-CN" sz="2200" dirty="0"/>
              <a:t>&gt;</a:t>
            </a:r>
            <a:r>
              <a:rPr lang="zh-CN" altLang="zh-CN" sz="2200" dirty="0"/>
              <a:t>的宽度、背景色、居中等其他样式。</a:t>
            </a:r>
          </a:p>
          <a:p>
            <a:pPr marL="457200" lvl="1" indent="0">
              <a:lnSpc>
                <a:spcPct val="150000"/>
              </a:lnSpc>
              <a:buNone/>
            </a:pP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1691" y="1273320"/>
            <a:ext cx="4067336" cy="4614862"/>
          </a:xfrm>
          <a:prstGeom prst="rect">
            <a:avLst/>
          </a:prstGeom>
        </p:spPr>
      </p:pic>
    </p:spTree>
    <p:extLst>
      <p:ext uri="{BB962C8B-B14F-4D97-AF65-F5344CB8AC3E}">
        <p14:creationId xmlns:p14="http://schemas.microsoft.com/office/powerpoint/2010/main" val="36129169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4959062" cy="5130510"/>
          </a:xfrm>
        </p:spPr>
        <p:txBody>
          <a:bodyPr>
            <a:normAutofit/>
          </a:bodyPr>
          <a:lstStyle/>
          <a:p>
            <a:pPr marL="0" indent="0">
              <a:lnSpc>
                <a:spcPct val="150000"/>
              </a:lnSpc>
              <a:buNone/>
            </a:pPr>
            <a:r>
              <a:rPr lang="zh-CN" altLang="en-US" sz="3000" dirty="0"/>
              <a:t>二</a:t>
            </a:r>
            <a:r>
              <a:rPr lang="zh-CN" altLang="en-US" sz="3000" dirty="0" smtClean="0"/>
              <a:t>、设计网页的</a:t>
            </a:r>
            <a:r>
              <a:rPr lang="en-US" altLang="zh-CN" sz="3000" dirty="0" smtClean="0"/>
              <a:t>CSS</a:t>
            </a:r>
            <a:r>
              <a:rPr lang="zh-CN" altLang="en-US" sz="3000" dirty="0" smtClean="0"/>
              <a:t>样式</a:t>
            </a:r>
            <a:endParaRPr lang="en-US" altLang="zh-CN" sz="3000" dirty="0" smtClean="0"/>
          </a:p>
          <a:p>
            <a:pPr marL="457200" lvl="1" indent="0">
              <a:lnSpc>
                <a:spcPct val="150000"/>
              </a:lnSpc>
              <a:buNone/>
            </a:pPr>
            <a:r>
              <a:rPr lang="en-US" altLang="zh-CN" sz="2600" dirty="0"/>
              <a:t>2</a:t>
            </a:r>
            <a:r>
              <a:rPr lang="zh-CN" altLang="en-US" sz="2600" dirty="0" smtClean="0"/>
              <a:t>）实现图左文右</a:t>
            </a:r>
            <a:endParaRPr lang="en-US" altLang="zh-CN" sz="2600" dirty="0" smtClean="0"/>
          </a:p>
          <a:p>
            <a:pPr marL="914400" lvl="2" indent="0">
              <a:lnSpc>
                <a:spcPct val="150000"/>
              </a:lnSpc>
              <a:buNone/>
            </a:pPr>
            <a:r>
              <a:rPr lang="zh-CN" altLang="zh-CN" dirty="0"/>
              <a:t>在图片上添加向左的浮动，后面的文字就会认为图片是不存在的，从而向上移动占据图片右侧的空间。</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0976" y="1333500"/>
            <a:ext cx="3356697" cy="4677720"/>
          </a:xfrm>
          <a:prstGeom prst="rect">
            <a:avLst/>
          </a:prstGeom>
        </p:spPr>
      </p:pic>
    </p:spTree>
    <p:extLst>
      <p:ext uri="{BB962C8B-B14F-4D97-AF65-F5344CB8AC3E}">
        <p14:creationId xmlns:p14="http://schemas.microsoft.com/office/powerpoint/2010/main" val="6059956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4959062" cy="5130510"/>
          </a:xfrm>
        </p:spPr>
        <p:txBody>
          <a:bodyPr>
            <a:normAutofit/>
          </a:bodyPr>
          <a:lstStyle/>
          <a:p>
            <a:pPr marL="0" indent="0">
              <a:lnSpc>
                <a:spcPct val="150000"/>
              </a:lnSpc>
              <a:buNone/>
            </a:pPr>
            <a:r>
              <a:rPr lang="zh-CN" altLang="en-US" sz="3000" dirty="0"/>
              <a:t>二</a:t>
            </a:r>
            <a:r>
              <a:rPr lang="zh-CN" altLang="en-US" sz="3000" dirty="0" smtClean="0"/>
              <a:t>、设计网页的</a:t>
            </a:r>
            <a:r>
              <a:rPr lang="en-US" altLang="zh-CN" sz="3000" dirty="0" smtClean="0"/>
              <a:t>CSS</a:t>
            </a:r>
            <a:r>
              <a:rPr lang="zh-CN" altLang="en-US" sz="3000" dirty="0" smtClean="0"/>
              <a:t>样式</a:t>
            </a:r>
            <a:endParaRPr lang="en-US" altLang="zh-CN" sz="3000" dirty="0" smtClean="0"/>
          </a:p>
          <a:p>
            <a:pPr marL="457200" lvl="1" indent="0">
              <a:lnSpc>
                <a:spcPct val="150000"/>
              </a:lnSpc>
              <a:buNone/>
            </a:pPr>
            <a:r>
              <a:rPr lang="en-US" altLang="zh-CN" sz="2600" dirty="0" smtClean="0"/>
              <a:t>3</a:t>
            </a:r>
            <a:r>
              <a:rPr lang="zh-CN" altLang="en-US" sz="2600" dirty="0" smtClean="0"/>
              <a:t>）解决父元素塌陷问题</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675" y="2753590"/>
            <a:ext cx="6477254" cy="3037609"/>
          </a:xfrm>
          <a:prstGeom prst="rect">
            <a:avLst/>
          </a:prstGeom>
        </p:spPr>
      </p:pic>
    </p:spTree>
    <p:extLst>
      <p:ext uri="{BB962C8B-B14F-4D97-AF65-F5344CB8AC3E}">
        <p14:creationId xmlns:p14="http://schemas.microsoft.com/office/powerpoint/2010/main" val="23958062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955965"/>
            <a:ext cx="4959062" cy="5130510"/>
          </a:xfrm>
        </p:spPr>
        <p:txBody>
          <a:bodyPr>
            <a:normAutofit/>
          </a:bodyPr>
          <a:lstStyle/>
          <a:p>
            <a:pPr marL="0" indent="0">
              <a:lnSpc>
                <a:spcPct val="150000"/>
              </a:lnSpc>
              <a:buNone/>
            </a:pPr>
            <a:r>
              <a:rPr lang="zh-CN" altLang="en-US" sz="3000" dirty="0"/>
              <a:t>二</a:t>
            </a:r>
            <a:r>
              <a:rPr lang="zh-CN" altLang="en-US" sz="3000" dirty="0" smtClean="0"/>
              <a:t>、设计网页的</a:t>
            </a:r>
            <a:r>
              <a:rPr lang="en-US" altLang="zh-CN" sz="3000" dirty="0" smtClean="0"/>
              <a:t>CSS</a:t>
            </a:r>
            <a:r>
              <a:rPr lang="zh-CN" altLang="en-US" sz="3000" dirty="0" smtClean="0"/>
              <a:t>样式</a:t>
            </a:r>
            <a:endParaRPr lang="en-US" altLang="zh-CN" sz="3000" dirty="0" smtClean="0"/>
          </a:p>
          <a:p>
            <a:pPr marL="457200" lvl="1" indent="0">
              <a:lnSpc>
                <a:spcPct val="150000"/>
              </a:lnSpc>
              <a:buNone/>
            </a:pPr>
            <a:r>
              <a:rPr lang="en-US" altLang="zh-CN" sz="2600" dirty="0" smtClean="0"/>
              <a:t>4</a:t>
            </a:r>
            <a:r>
              <a:rPr lang="zh-CN" altLang="en-US" sz="2600" dirty="0" smtClean="0"/>
              <a:t>）清除底部虚线</a:t>
            </a:r>
            <a:endParaRPr lang="en-US" altLang="zh-CN" sz="2600" dirty="0" smtClean="0"/>
          </a:p>
        </p:txBody>
      </p:sp>
      <p:sp>
        <p:nvSpPr>
          <p:cNvPr id="3" name="标题 2"/>
          <p:cNvSpPr>
            <a:spLocks noGrp="1"/>
          </p:cNvSpPr>
          <p:nvPr>
            <p:ph type="title"/>
          </p:nvPr>
        </p:nvSpPr>
        <p:spPr>
          <a:xfrm>
            <a:off x="1720850" y="120736"/>
            <a:ext cx="2527300" cy="742950"/>
          </a:xfrm>
        </p:spPr>
        <p:txBody>
          <a:bodyPr/>
          <a:lstStyle/>
          <a:p>
            <a:r>
              <a:rPr lang="zh-CN" altLang="en-US" dirty="0"/>
              <a:t>任务实施</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5396" y="2560927"/>
            <a:ext cx="5088671" cy="2302018"/>
          </a:xfrm>
          <a:prstGeom prst="rect">
            <a:avLst/>
          </a:prstGeom>
        </p:spPr>
      </p:pic>
    </p:spTree>
    <p:extLst>
      <p:ext uri="{BB962C8B-B14F-4D97-AF65-F5344CB8AC3E}">
        <p14:creationId xmlns:p14="http://schemas.microsoft.com/office/powerpoint/2010/main" val="11002061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1171575"/>
            <a:ext cx="8173316" cy="4914899"/>
          </a:xfrm>
        </p:spPr>
        <p:txBody>
          <a:bodyPr>
            <a:normAutofit/>
          </a:bodyPr>
          <a:lstStyle/>
          <a:p>
            <a:pPr>
              <a:lnSpc>
                <a:spcPct val="150000"/>
              </a:lnSpc>
              <a:buFont typeface="Wingdings" panose="05000000000000000000" pitchFamily="2" charset="2"/>
              <a:buChar char="Ø"/>
            </a:pPr>
            <a:r>
              <a:rPr lang="zh-CN" altLang="en-US" sz="3000" dirty="0"/>
              <a:t>任务</a:t>
            </a:r>
            <a:r>
              <a:rPr lang="zh-CN" altLang="en-US" sz="3000" dirty="0" smtClean="0"/>
              <a:t>中主要使用：</a:t>
            </a:r>
            <a:endParaRPr lang="en-US" altLang="zh-CN" sz="3000" dirty="0" smtClean="0"/>
          </a:p>
          <a:p>
            <a:pPr marL="457200" lvl="1" indent="0">
              <a:lnSpc>
                <a:spcPct val="150000"/>
              </a:lnSpc>
              <a:buNone/>
            </a:pPr>
            <a:r>
              <a:rPr lang="en-US" altLang="zh-CN" sz="2600" dirty="0" smtClean="0"/>
              <a:t>1</a:t>
            </a:r>
            <a:r>
              <a:rPr lang="zh-CN" altLang="en-US" sz="2600" dirty="0" smtClean="0"/>
              <a:t>）列表设计图文单元的结构</a:t>
            </a:r>
            <a:endParaRPr lang="en-US" altLang="zh-CN" sz="2600" dirty="0" smtClean="0"/>
          </a:p>
          <a:p>
            <a:pPr marL="457200" lvl="1" indent="0">
              <a:lnSpc>
                <a:spcPct val="150000"/>
              </a:lnSpc>
              <a:buNone/>
            </a:pPr>
            <a:r>
              <a:rPr lang="en-US" altLang="zh-CN" sz="2600" dirty="0" smtClean="0"/>
              <a:t>2</a:t>
            </a:r>
            <a:r>
              <a:rPr lang="zh-CN" altLang="en-US" sz="2600" dirty="0" smtClean="0"/>
              <a:t>）浮动实现图左文右布局</a:t>
            </a:r>
            <a:endParaRPr lang="en-US" altLang="zh-CN" sz="2600" dirty="0" smtClean="0"/>
          </a:p>
          <a:p>
            <a:pPr marL="457200" lvl="1" indent="0">
              <a:lnSpc>
                <a:spcPct val="150000"/>
              </a:lnSpc>
              <a:buNone/>
            </a:pPr>
            <a:r>
              <a:rPr lang="en-US" altLang="zh-CN" sz="2600" dirty="0" smtClean="0"/>
              <a:t>3</a:t>
            </a:r>
            <a:r>
              <a:rPr lang="zh-CN" altLang="en-US" sz="2600" dirty="0" smtClean="0"/>
              <a:t>）</a:t>
            </a:r>
            <a:r>
              <a:rPr lang="en-US" altLang="zh-CN" sz="2600" dirty="0" smtClean="0"/>
              <a:t>margin</a:t>
            </a:r>
            <a:r>
              <a:rPr lang="zh-CN" altLang="en-US" sz="2600" dirty="0" smtClean="0"/>
              <a:t>和</a:t>
            </a:r>
            <a:r>
              <a:rPr lang="en-US" altLang="zh-CN" sz="2600" dirty="0" smtClean="0"/>
              <a:t>padding</a:t>
            </a:r>
            <a:r>
              <a:rPr lang="zh-CN" altLang="en-US" sz="2600" dirty="0" smtClean="0"/>
              <a:t>控制间隔</a:t>
            </a:r>
            <a:endParaRPr lang="en-US" altLang="zh-CN" sz="2600" dirty="0" smtClean="0"/>
          </a:p>
          <a:p>
            <a:pPr marL="0" indent="0">
              <a:lnSpc>
                <a:spcPct val="150000"/>
              </a:lnSpc>
              <a:buNone/>
            </a:pPr>
            <a:endParaRPr lang="en-US" altLang="zh-CN" sz="3000" dirty="0" smtClean="0"/>
          </a:p>
        </p:txBody>
      </p:sp>
      <p:sp>
        <p:nvSpPr>
          <p:cNvPr id="3" name="标题 2"/>
          <p:cNvSpPr>
            <a:spLocks noGrp="1"/>
          </p:cNvSpPr>
          <p:nvPr>
            <p:ph type="title"/>
          </p:nvPr>
        </p:nvSpPr>
        <p:spPr/>
        <p:txBody>
          <a:bodyPr/>
          <a:lstStyle/>
          <a:p>
            <a:r>
              <a:rPr lang="zh-CN" altLang="en-US" dirty="0" smtClean="0"/>
              <a:t>小  结</a:t>
            </a:r>
            <a:endParaRPr lang="zh-CN" altLang="en-US" dirty="0"/>
          </a:p>
        </p:txBody>
      </p:sp>
      <p:sp>
        <p:nvSpPr>
          <p:cNvPr id="6" name="流程图: 可选过程 5"/>
          <p:cNvSpPr/>
          <p:nvPr/>
        </p:nvSpPr>
        <p:spPr>
          <a:xfrm>
            <a:off x="6186599" y="2728479"/>
            <a:ext cx="4855474" cy="273170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tIns="0" bIns="360000" rtlCol="0" anchor="ctr"/>
          <a:lstStyle/>
          <a:p>
            <a:r>
              <a:rPr lang="en-US" altLang="zh-CN" sz="3200" b="1" dirty="0" smtClean="0"/>
              <a:t>&gt;&gt; float</a:t>
            </a:r>
            <a:r>
              <a:rPr lang="zh-CN" altLang="en-US" sz="3200" b="1" dirty="0" smtClean="0"/>
              <a:t>属性</a:t>
            </a:r>
            <a:endParaRPr lang="en-US" altLang="zh-CN" sz="3200" b="1" dirty="0" smtClean="0"/>
          </a:p>
          <a:p>
            <a:pPr>
              <a:lnSpc>
                <a:spcPct val="150000"/>
              </a:lnSpc>
            </a:pPr>
            <a:r>
              <a:rPr lang="zh-CN" altLang="en-US" sz="2200" dirty="0" smtClean="0"/>
              <a:t>只能左、右浮动，不能上、下浮动；浮动可能会造成父元素的塌陷，需要掌握恢复的方法。</a:t>
            </a:r>
            <a:endParaRPr lang="zh-CN" altLang="en-US" sz="2200" dirty="0"/>
          </a:p>
        </p:txBody>
      </p:sp>
    </p:spTree>
    <p:extLst>
      <p:ext uri="{BB962C8B-B14F-4D97-AF65-F5344CB8AC3E}">
        <p14:creationId xmlns:p14="http://schemas.microsoft.com/office/powerpoint/2010/main" val="392306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4474" t="4834" r="4480" b="6687"/>
          <a:stretch/>
        </p:blipFill>
        <p:spPr>
          <a:xfrm>
            <a:off x="5031622" y="1075883"/>
            <a:ext cx="6162853" cy="4992408"/>
          </a:xfrm>
        </p:spPr>
      </p:pic>
      <p:sp>
        <p:nvSpPr>
          <p:cNvPr id="3" name="标题 2"/>
          <p:cNvSpPr>
            <a:spLocks noGrp="1"/>
          </p:cNvSpPr>
          <p:nvPr>
            <p:ph type="title"/>
          </p:nvPr>
        </p:nvSpPr>
        <p:spPr/>
        <p:txBody>
          <a:bodyPr/>
          <a:lstStyle/>
          <a:p>
            <a:r>
              <a:rPr lang="zh-CN" altLang="en-US" dirty="0"/>
              <a:t>课后作业</a:t>
            </a:r>
          </a:p>
        </p:txBody>
      </p:sp>
      <p:sp>
        <p:nvSpPr>
          <p:cNvPr id="6" name="内容占位符 1"/>
          <p:cNvSpPr txBox="1">
            <a:spLocks/>
          </p:cNvSpPr>
          <p:nvPr/>
        </p:nvSpPr>
        <p:spPr>
          <a:xfrm>
            <a:off x="1095376" y="963750"/>
            <a:ext cx="4072370" cy="49148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Ø"/>
            </a:pPr>
            <a:r>
              <a:rPr lang="zh-CN" altLang="en-US" sz="3000" dirty="0" smtClean="0"/>
              <a:t>将本案例的偶数行修改为图右文左，奇数行保持图左文右。注意两侧的图片必须和虚线平齐。</a:t>
            </a:r>
            <a:endParaRPr lang="en-US" altLang="zh-CN" sz="3000" dirty="0" smtClean="0"/>
          </a:p>
          <a:p>
            <a:pPr marL="457200" lvl="1" indent="0">
              <a:lnSpc>
                <a:spcPct val="150000"/>
              </a:lnSpc>
              <a:buFont typeface="Arial" panose="020B0604020202020204" pitchFamily="34" charset="0"/>
              <a:buNone/>
            </a:pPr>
            <a:endParaRPr lang="en-US" altLang="zh-CN" sz="3000" dirty="0" smtClean="0"/>
          </a:p>
        </p:txBody>
      </p:sp>
    </p:spTree>
    <p:extLst>
      <p:ext uri="{BB962C8B-B14F-4D97-AF65-F5344CB8AC3E}">
        <p14:creationId xmlns:p14="http://schemas.microsoft.com/office/powerpoint/2010/main" val="8721965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上阴影">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1305</TotalTime>
  <Words>871</Words>
  <Application>Microsoft Office PowerPoint</Application>
  <PresentationFormat>宽屏</PresentationFormat>
  <Paragraphs>93</Paragraphs>
  <Slides>25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等线</vt:lpstr>
      <vt:lpstr>等线 Light</vt:lpstr>
      <vt:lpstr>华文行楷</vt:lpstr>
      <vt:lpstr>微软雅黑</vt:lpstr>
      <vt:lpstr>Arial</vt:lpstr>
      <vt:lpstr>Wingdings</vt:lpstr>
      <vt:lpstr>Office 主题​​</vt:lpstr>
      <vt:lpstr>图左文右的混排</vt:lpstr>
      <vt:lpstr>学习目标</vt:lpstr>
      <vt:lpstr>任务目标</vt:lpstr>
      <vt:lpstr>标签分析</vt:lpstr>
      <vt:lpstr>相关知识</vt:lpstr>
      <vt:lpstr>相关知识</vt:lpstr>
      <vt:lpstr>相关知识</vt:lpstr>
      <vt:lpstr>相关知识</vt:lpstr>
      <vt:lpstr>相关知识</vt:lpstr>
      <vt:lpstr>相关知识</vt:lpstr>
      <vt:lpstr>相关知识</vt:lpstr>
      <vt:lpstr>相关知识</vt:lpstr>
      <vt:lpstr>相关知识</vt:lpstr>
      <vt:lpstr>相关知识</vt:lpstr>
      <vt:lpstr>相关知识</vt:lpstr>
      <vt:lpstr>相关知识</vt:lpstr>
      <vt:lpstr>相关知识</vt:lpstr>
      <vt:lpstr>相关知识</vt:lpstr>
      <vt:lpstr>任务实施</vt:lpstr>
      <vt:lpstr>任务实施</vt:lpstr>
      <vt:lpstr>任务实施</vt:lpstr>
      <vt:lpstr>任务实施</vt:lpstr>
      <vt:lpstr>任务实施</vt:lpstr>
      <vt:lpstr>小  结</vt:lpstr>
      <vt:lpstr>课后作业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网页制作三大技术</dc:title>
  <dc:creator>Lenovo</dc:creator>
  <cp:lastModifiedBy>陆炜妮</cp:lastModifiedBy>
  <cp:revision>95</cp:revision>
  <dcterms:created xsi:type="dcterms:W3CDTF">2020-04-27T05:20:13Z</dcterms:created>
  <dcterms:modified xsi:type="dcterms:W3CDTF">2020-07-28T06:51:37Z</dcterms:modified>
</cp:coreProperties>
</file>
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9" r:id="rId5"/>
    <p:sldId id="276" r:id="rId6"/>
    <p:sldId id="277" r:id="rId7"/>
    <p:sldId id="278" r:id="rId8"/>
    <p:sldId id="279" r:id="rId9"/>
    <p:sldId id="280" r:id="rId10"/>
    <p:sldId id="281" r:id="rId11"/>
    <p:sldId id="282" r:id="rId12"/>
    <p:sldId id="275" r:id="rId13"/>
    <p:sldId id="283" r:id="rId14"/>
    <p:sldId id="284" r:id="rId15"/>
    <p:sldId id="285" r:id="rId16"/>
    <p:sldId id="267" r:id="rId17"/>
    <p:sldId id="268"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9" d="100"/>
          <a:sy n="69" d="100"/>
        </p:scale>
        <p:origin x="72"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21"/>
            <a:ext cx="12192002" cy="6855879"/>
          </a:xfrm>
          <a:prstGeom prst="rect">
            <a:avLst/>
          </a:prstGeom>
        </p:spPr>
      </p:pic>
      <p:sp>
        <p:nvSpPr>
          <p:cNvPr id="2" name="标题 1"/>
          <p:cNvSpPr>
            <a:spLocks noGrp="1"/>
          </p:cNvSpPr>
          <p:nvPr>
            <p:ph type="ctrTitle"/>
          </p:nvPr>
        </p:nvSpPr>
        <p:spPr>
          <a:xfrm>
            <a:off x="2413688" y="2438419"/>
            <a:ext cx="4646140" cy="991641"/>
          </a:xfrm>
        </p:spPr>
        <p:txBody>
          <a:bodyPr anchor="b">
            <a:noAutofit/>
          </a:bodyPr>
          <a:lstStyle>
            <a:lvl1pPr algn="ctr">
              <a:defRPr sz="6600">
                <a:solidFill>
                  <a:schemeClr val="tx1">
                    <a:lumMod val="85000"/>
                    <a:lumOff val="1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8" name="文本框 7"/>
          <p:cNvSpPr txBox="1"/>
          <p:nvPr userDrawn="1"/>
        </p:nvSpPr>
        <p:spPr>
          <a:xfrm>
            <a:off x="4925712" y="4217773"/>
            <a:ext cx="2339102" cy="369332"/>
          </a:xfrm>
          <a:prstGeom prst="rect">
            <a:avLst/>
          </a:prstGeom>
          <a:noFill/>
        </p:spPr>
        <p:txBody>
          <a:bodyPr wrap="none" rtlCol="0">
            <a:spAutoFit/>
          </a:bodyPr>
          <a:lstStyle/>
          <a:p>
            <a:r>
              <a:rPr lang="zh-CN" altLang="en-US" spc="300" dirty="0" smtClean="0">
                <a:solidFill>
                  <a:schemeClr val="tx1">
                    <a:lumMod val="85000"/>
                    <a:lumOff val="15000"/>
                  </a:schemeClr>
                </a:solidFill>
                <a:latin typeface="微软雅黑" panose="020B0503020204020204" pitchFamily="34" charset="-122"/>
                <a:ea typeface="微软雅黑" panose="020B0503020204020204" pitchFamily="34" charset="-122"/>
              </a:rPr>
              <a:t>主讲老师：陆炜妮</a:t>
            </a:r>
            <a:endParaRPr lang="zh-CN" altLang="en-US" spc="3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9026412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圆角矩形 6"/>
          <p:cNvSpPr/>
          <p:nvPr userDrawn="1"/>
        </p:nvSpPr>
        <p:spPr>
          <a:xfrm>
            <a:off x="847725" y="885825"/>
            <a:ext cx="10582275" cy="5429249"/>
          </a:xfrm>
          <a:prstGeom prst="roundRect">
            <a:avLst>
              <a:gd name="adj" fmla="val 3900"/>
            </a:avLst>
          </a:prstGeom>
          <a:solidFill>
            <a:srgbClr val="F2F2F2"/>
          </a:solidFill>
          <a:ln>
            <a:solidFill>
              <a:schemeClr val="bg1">
                <a:lumMod val="85000"/>
              </a:schemeClr>
            </a:solid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62075" y="257174"/>
            <a:ext cx="2409825" cy="638175"/>
          </a:xfrm>
          <a:prstGeom prst="rect">
            <a:avLst/>
          </a:prstGeom>
        </p:spPr>
      </p:pic>
      <p:sp>
        <p:nvSpPr>
          <p:cNvPr id="3" name="内容占位符 2"/>
          <p:cNvSpPr>
            <a:spLocks noGrp="1"/>
          </p:cNvSpPr>
          <p:nvPr>
            <p:ph idx="1"/>
          </p:nvPr>
        </p:nvSpPr>
        <p:spPr>
          <a:xfrm>
            <a:off x="1095374" y="1171575"/>
            <a:ext cx="10125075" cy="4914899"/>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 name="标题 1"/>
          <p:cNvSpPr>
            <a:spLocks noGrp="1"/>
          </p:cNvSpPr>
          <p:nvPr>
            <p:ph type="title"/>
          </p:nvPr>
        </p:nvSpPr>
        <p:spPr>
          <a:xfrm>
            <a:off x="1720850" y="126278"/>
            <a:ext cx="2527300" cy="742950"/>
          </a:xfrm>
        </p:spPr>
        <p:txBody>
          <a:bodyPr anchor="b">
            <a:noAutofit/>
          </a:bodyPr>
          <a:lstStyle>
            <a:lvl1pPr>
              <a:defRPr sz="2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767764" y="6438900"/>
            <a:ext cx="252412" cy="252412"/>
          </a:xfrm>
          <a:prstGeom prst="rect">
            <a:avLst/>
          </a:prstGeom>
        </p:spPr>
      </p:pic>
      <p:sp>
        <p:nvSpPr>
          <p:cNvPr id="12" name="文本框 11"/>
          <p:cNvSpPr txBox="1"/>
          <p:nvPr userDrawn="1"/>
        </p:nvSpPr>
        <p:spPr>
          <a:xfrm>
            <a:off x="8953501" y="6416158"/>
            <a:ext cx="1620957" cy="307777"/>
          </a:xfrm>
          <a:prstGeom prst="rect">
            <a:avLst/>
          </a:prstGeom>
          <a:noFill/>
        </p:spPr>
        <p:txBody>
          <a:bodyPr wrap="none" rtlCol="0">
            <a:spAutoFit/>
          </a:bodyPr>
          <a:lstStyle/>
          <a:p>
            <a:r>
              <a:rPr lang="zh-CN" altLang="en-US" sz="1400" dirty="0" smtClean="0">
                <a:latin typeface="华文行楷" panose="02010800040101010101" pitchFamily="2" charset="-122"/>
                <a:ea typeface="华文行楷" panose="02010800040101010101" pitchFamily="2" charset="-122"/>
              </a:rPr>
              <a:t>东莞职业技术学院</a:t>
            </a:r>
            <a:endParaRPr lang="zh-CN" altLang="en-US" sz="1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16341653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A726925D-53E1-4B75-92B5-D8E7C2D23CF1}" type="datetimeFigureOut">
              <a:rPr lang="zh-CN" altLang="en-US" smtClean="0"/>
              <a:t>2020-8-2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43315921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A726925D-53E1-4B75-92B5-D8E7C2D23CF1}" type="datetimeFigureOut">
              <a:rPr lang="zh-CN" altLang="en-US" smtClean="0"/>
              <a:t>2020-8-2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961403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A726925D-53E1-4B75-92B5-D8E7C2D23CF1}" type="datetimeFigureOut">
              <a:rPr lang="zh-CN" altLang="en-US" smtClean="0"/>
              <a:t>2020-8-2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2001192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A726925D-53E1-4B75-92B5-D8E7C2D23CF1}" type="datetimeFigureOut">
              <a:rPr lang="zh-CN" altLang="en-US" smtClean="0"/>
              <a:t>2020-8-2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2093859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726925D-53E1-4B75-92B5-D8E7C2D23CF1}" type="datetimeFigureOut">
              <a:rPr lang="zh-CN" altLang="en-US" smtClean="0"/>
              <a:t>2020-8-2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3057731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726925D-53E1-4B75-92B5-D8E7C2D23CF1}" type="datetimeFigureOut">
              <a:rPr lang="zh-CN" altLang="en-US" smtClean="0"/>
              <a:t>2020-8-2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1643453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726925D-53E1-4B75-92B5-D8E7C2D23CF1}" type="datetimeFigureOut">
              <a:rPr lang="zh-CN" altLang="en-US" smtClean="0"/>
              <a:t>2020-8-2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855552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726925D-53E1-4B75-92B5-D8E7C2D23CF1}" type="datetimeFigureOut">
              <a:rPr lang="zh-CN" altLang="en-US" smtClean="0"/>
              <a:t>2020-8-2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412298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726925D-53E1-4B75-92B5-D8E7C2D23CF1}" type="datetimeFigureOut">
              <a:rPr lang="zh-CN" altLang="en-US" smtClean="0"/>
              <a:t>2020-8-2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1779582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26925D-53E1-4B75-92B5-D8E7C2D23CF1}" type="datetimeFigureOut">
              <a:rPr lang="zh-CN" altLang="en-US" smtClean="0"/>
              <a:t>2020-8-2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37220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395850" y="1479653"/>
            <a:ext cx="4711012" cy="1455439"/>
          </a:xfrm>
        </p:spPr>
        <p:txBody>
          <a:bodyPr>
            <a:noAutofit/>
          </a:bodyPr>
          <a:lstStyle/>
          <a:p>
            <a:pPr>
              <a:lnSpc>
                <a:spcPct val="150000"/>
              </a:lnSpc>
            </a:pPr>
            <a:r>
              <a:rPr lang="zh-CN" altLang="en-US" sz="3600" spc="300" dirty="0" smtClean="0">
                <a:solidFill>
                  <a:schemeClr val="tx1">
                    <a:lumMod val="75000"/>
                    <a:lumOff val="25000"/>
                  </a:schemeClr>
                </a:solidFill>
              </a:rPr>
              <a:t>水平导航条的设计</a:t>
            </a:r>
            <a:endParaRPr lang="zh-CN" altLang="en-US" sz="3600" spc="300" dirty="0">
              <a:solidFill>
                <a:schemeClr val="tx1">
                  <a:lumMod val="75000"/>
                  <a:lumOff val="25000"/>
                </a:schemeClr>
              </a:solidFill>
            </a:endParaRPr>
          </a:p>
        </p:txBody>
      </p:sp>
    </p:spTree>
    <p:extLst>
      <p:ext uri="{BB962C8B-B14F-4D97-AF65-F5344CB8AC3E}">
        <p14:creationId xmlns:p14="http://schemas.microsoft.com/office/powerpoint/2010/main" val="17189364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1171575"/>
            <a:ext cx="6200775" cy="4914899"/>
          </a:xfrm>
        </p:spPr>
        <p:txBody>
          <a:bodyPr>
            <a:noAutofit/>
          </a:bodyPr>
          <a:lstStyle/>
          <a:p>
            <a:pPr>
              <a:lnSpc>
                <a:spcPct val="150000"/>
              </a:lnSpc>
              <a:buFont typeface="Wingdings" panose="05000000000000000000" pitchFamily="2" charset="2"/>
              <a:buChar char="Ø"/>
            </a:pPr>
            <a:r>
              <a:rPr lang="zh-CN" altLang="en-US" sz="3600" dirty="0" smtClean="0"/>
              <a:t>掌握水平导航条的标签结构设计、样式设计、以及鼠标交互设计。</a:t>
            </a:r>
            <a:endParaRPr lang="en-US" altLang="zh-CN" sz="3600" dirty="0" smtClean="0"/>
          </a:p>
        </p:txBody>
      </p:sp>
      <p:sp>
        <p:nvSpPr>
          <p:cNvPr id="3" name="标题 2"/>
          <p:cNvSpPr>
            <a:spLocks noGrp="1"/>
          </p:cNvSpPr>
          <p:nvPr>
            <p:ph type="title"/>
          </p:nvPr>
        </p:nvSpPr>
        <p:spPr/>
        <p:txBody>
          <a:bodyPr/>
          <a:lstStyle/>
          <a:p>
            <a:r>
              <a:rPr lang="zh-CN" altLang="en-US" dirty="0"/>
              <a:t>学习目标</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0037" y="2214562"/>
            <a:ext cx="2962275" cy="3800475"/>
          </a:xfrm>
          <a:prstGeom prst="rect">
            <a:avLst/>
          </a:prstGeom>
        </p:spPr>
      </p:pic>
    </p:spTree>
    <p:extLst>
      <p:ext uri="{BB962C8B-B14F-4D97-AF65-F5344CB8AC3E}">
        <p14:creationId xmlns:p14="http://schemas.microsoft.com/office/powerpoint/2010/main" val="8502992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64277"/>
            <a:ext cx="10126808" cy="2831868"/>
          </a:xfrm>
        </p:spPr>
        <p:txBody>
          <a:bodyPr>
            <a:normAutofit/>
          </a:bodyPr>
          <a:lstStyle/>
          <a:p>
            <a:pPr>
              <a:lnSpc>
                <a:spcPct val="150000"/>
              </a:lnSpc>
              <a:buFont typeface="Wingdings" panose="05000000000000000000" pitchFamily="2" charset="2"/>
              <a:buChar char="Ø"/>
            </a:pPr>
            <a:r>
              <a:rPr lang="zh-CN" altLang="en-US" sz="3000" dirty="0" smtClean="0"/>
              <a:t>使用超链接设计导航条结构</a:t>
            </a:r>
            <a:endParaRPr lang="en-US" altLang="zh-CN" sz="3000" dirty="0" smtClean="0"/>
          </a:p>
          <a:p>
            <a:pPr>
              <a:lnSpc>
                <a:spcPct val="150000"/>
              </a:lnSpc>
              <a:buFont typeface="Wingdings" panose="05000000000000000000" pitchFamily="2" charset="2"/>
              <a:buChar char="Ø"/>
            </a:pPr>
            <a:r>
              <a:rPr lang="zh-CN" altLang="en-US" sz="3000" dirty="0" smtClean="0"/>
              <a:t>拓展超链接的响应区</a:t>
            </a:r>
            <a:endParaRPr lang="en-US" altLang="zh-CN" sz="3000" dirty="0" smtClean="0"/>
          </a:p>
          <a:p>
            <a:pPr>
              <a:lnSpc>
                <a:spcPct val="150000"/>
              </a:lnSpc>
              <a:buFont typeface="Wingdings" panose="05000000000000000000" pitchFamily="2" charset="2"/>
              <a:buChar char="Ø"/>
            </a:pPr>
            <a:r>
              <a:rPr lang="zh-CN" altLang="en-US" sz="3000" dirty="0" smtClean="0"/>
              <a:t>设计鼠标经过、按下、</a:t>
            </a:r>
            <a:r>
              <a:rPr lang="zh-CN" altLang="en-US" sz="3000" dirty="0"/>
              <a:t>访问过</a:t>
            </a:r>
            <a:r>
              <a:rPr lang="zh-CN" altLang="en-US" sz="3000" dirty="0" smtClean="0"/>
              <a:t>的样式</a:t>
            </a:r>
            <a:endParaRPr lang="zh-CN" altLang="en-US" sz="3000" dirty="0"/>
          </a:p>
        </p:txBody>
      </p:sp>
      <p:sp>
        <p:nvSpPr>
          <p:cNvPr id="3" name="标题 2"/>
          <p:cNvSpPr>
            <a:spLocks noGrp="1"/>
          </p:cNvSpPr>
          <p:nvPr>
            <p:ph type="title"/>
          </p:nvPr>
        </p:nvSpPr>
        <p:spPr/>
        <p:txBody>
          <a:bodyPr/>
          <a:lstStyle/>
          <a:p>
            <a:r>
              <a:rPr lang="zh-CN" altLang="en-US" dirty="0"/>
              <a:t>任务目标</a:t>
            </a:r>
          </a:p>
        </p:txBody>
      </p:sp>
      <p:pic>
        <p:nvPicPr>
          <p:cNvPr id="4" name="图片 3" descr="截图55"/>
          <p:cNvPicPr/>
          <p:nvPr/>
        </p:nvPicPr>
        <p:blipFill>
          <a:blip r:embed="rId2"/>
          <a:stretch>
            <a:fillRect/>
          </a:stretch>
        </p:blipFill>
        <p:spPr>
          <a:xfrm>
            <a:off x="1366405" y="3684010"/>
            <a:ext cx="9477032" cy="1539153"/>
          </a:xfrm>
          <a:prstGeom prst="rect">
            <a:avLst/>
          </a:prstGeom>
        </p:spPr>
      </p:pic>
    </p:spTree>
    <p:extLst>
      <p:ext uri="{BB962C8B-B14F-4D97-AF65-F5344CB8AC3E}">
        <p14:creationId xmlns:p14="http://schemas.microsoft.com/office/powerpoint/2010/main" val="41915003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71390" cy="5130510"/>
          </a:xfrm>
        </p:spPr>
        <p:txBody>
          <a:bodyPr>
            <a:normAutofit/>
          </a:bodyPr>
          <a:lstStyle/>
          <a:p>
            <a:pPr>
              <a:lnSpc>
                <a:spcPct val="150000"/>
              </a:lnSpc>
              <a:buFont typeface="Wingdings" panose="05000000000000000000" pitchFamily="2" charset="2"/>
              <a:buChar char="Ø"/>
            </a:pPr>
            <a:r>
              <a:rPr lang="zh-CN" altLang="en-US" sz="3000" dirty="0" smtClean="0"/>
              <a:t>超链接标签</a:t>
            </a:r>
            <a:r>
              <a:rPr lang="en-US" altLang="zh-CN" sz="3000" dirty="0" smtClean="0"/>
              <a:t>&lt;a&gt;</a:t>
            </a:r>
          </a:p>
          <a:p>
            <a:pPr marL="457200" lvl="2" indent="0">
              <a:lnSpc>
                <a:spcPct val="150000"/>
              </a:lnSpc>
              <a:spcBef>
                <a:spcPts val="1000"/>
              </a:spcBef>
              <a:buNone/>
            </a:pPr>
            <a:r>
              <a:rPr lang="en-US" altLang="zh-CN" sz="2400" b="1" dirty="0"/>
              <a:t>&lt;a </a:t>
            </a:r>
            <a:r>
              <a:rPr lang="en-US" altLang="zh-CN" sz="2400" b="1" dirty="0" err="1"/>
              <a:t>href</a:t>
            </a:r>
            <a:r>
              <a:rPr lang="en-US" altLang="zh-CN" sz="2400" b="1" dirty="0"/>
              <a:t>=”</a:t>
            </a:r>
            <a:r>
              <a:rPr lang="zh-CN" altLang="zh-CN" sz="2400" b="1" dirty="0"/>
              <a:t>链接地址</a:t>
            </a:r>
            <a:r>
              <a:rPr lang="en-US" altLang="zh-CN" sz="2400" b="1" dirty="0"/>
              <a:t>” target=”</a:t>
            </a:r>
            <a:r>
              <a:rPr lang="zh-CN" altLang="zh-CN" sz="2400" b="1" dirty="0"/>
              <a:t>目标窗口位置</a:t>
            </a:r>
            <a:r>
              <a:rPr lang="en-US" altLang="zh-CN" sz="2400" b="1" dirty="0"/>
              <a:t>”&gt;</a:t>
            </a:r>
            <a:r>
              <a:rPr lang="zh-CN" altLang="zh-CN" sz="2400" b="1" dirty="0"/>
              <a:t>超链接文字或图像</a:t>
            </a:r>
            <a:r>
              <a:rPr lang="en-US" altLang="zh-CN" sz="2400" b="1" dirty="0"/>
              <a:t>&lt;/a</a:t>
            </a:r>
            <a:r>
              <a:rPr lang="en-US" altLang="zh-CN" sz="2400" b="1" dirty="0" smtClean="0"/>
              <a:t>&gt;</a:t>
            </a:r>
          </a:p>
          <a:p>
            <a:pPr marL="457200" lvl="2" indent="0">
              <a:lnSpc>
                <a:spcPct val="150000"/>
              </a:lnSpc>
              <a:spcBef>
                <a:spcPts val="1000"/>
              </a:spcBef>
              <a:buNone/>
            </a:pPr>
            <a:endParaRPr lang="en-US" altLang="zh-CN" sz="1000" b="1" dirty="0"/>
          </a:p>
          <a:p>
            <a:pPr marL="457200" lvl="2" indent="0">
              <a:lnSpc>
                <a:spcPct val="150000"/>
              </a:lnSpc>
              <a:spcBef>
                <a:spcPts val="1000"/>
              </a:spcBef>
              <a:buNone/>
            </a:pPr>
            <a:r>
              <a:rPr lang="en-US" altLang="zh-CN" sz="2400" dirty="0"/>
              <a:t>1</a:t>
            </a:r>
            <a:r>
              <a:rPr lang="zh-CN" altLang="en-US" sz="2400" dirty="0"/>
              <a:t>）</a:t>
            </a:r>
            <a:r>
              <a:rPr lang="en-US" altLang="zh-CN" sz="2400" b="1" dirty="0" err="1"/>
              <a:t>href</a:t>
            </a:r>
            <a:r>
              <a:rPr lang="zh-CN" altLang="zh-CN" sz="2400" b="1" dirty="0"/>
              <a:t>属性</a:t>
            </a:r>
            <a:r>
              <a:rPr lang="zh-CN" altLang="zh-CN" sz="2400" dirty="0"/>
              <a:t>：设置超链接目标的</a:t>
            </a:r>
            <a:r>
              <a:rPr lang="en-US" altLang="zh-CN" sz="2400" dirty="0" err="1"/>
              <a:t>url</a:t>
            </a:r>
            <a:r>
              <a:rPr lang="zh-CN" altLang="zh-CN" sz="2400" dirty="0"/>
              <a:t>地址。</a:t>
            </a:r>
          </a:p>
          <a:p>
            <a:pPr marL="457200" lvl="2" indent="0">
              <a:lnSpc>
                <a:spcPct val="150000"/>
              </a:lnSpc>
              <a:spcBef>
                <a:spcPts val="1000"/>
              </a:spcBef>
              <a:buNone/>
            </a:pPr>
            <a:r>
              <a:rPr lang="en-US" altLang="zh-CN" sz="2400" dirty="0"/>
              <a:t>2</a:t>
            </a:r>
            <a:r>
              <a:rPr lang="zh-CN" altLang="en-US" sz="2400" dirty="0"/>
              <a:t>）</a:t>
            </a:r>
            <a:r>
              <a:rPr lang="en-US" altLang="zh-CN" sz="2400" b="1" dirty="0"/>
              <a:t>target</a:t>
            </a:r>
            <a:r>
              <a:rPr lang="zh-CN" altLang="zh-CN" sz="2400" b="1" dirty="0"/>
              <a:t>属性</a:t>
            </a:r>
            <a:r>
              <a:rPr lang="zh-CN" altLang="zh-CN" sz="2400" dirty="0"/>
              <a:t>：设置超链接目标页面的打开方式，有</a:t>
            </a:r>
            <a:r>
              <a:rPr lang="en-US" altLang="zh-CN" sz="2400" dirty="0"/>
              <a:t>_self</a:t>
            </a:r>
            <a:r>
              <a:rPr lang="zh-CN" altLang="zh-CN" sz="2400" dirty="0"/>
              <a:t>和</a:t>
            </a:r>
            <a:r>
              <a:rPr lang="en-US" altLang="zh-CN" sz="2400" dirty="0"/>
              <a:t>_blank</a:t>
            </a:r>
            <a:r>
              <a:rPr lang="zh-CN" altLang="zh-CN" sz="2400" dirty="0"/>
              <a:t>两种取值，其中</a:t>
            </a:r>
            <a:r>
              <a:rPr lang="en-US" altLang="zh-CN" sz="2400" dirty="0"/>
              <a:t>_self</a:t>
            </a:r>
            <a:r>
              <a:rPr lang="zh-CN" altLang="zh-CN" sz="2400" dirty="0"/>
              <a:t>（默认值）表示在原窗口打开目标页面，</a:t>
            </a:r>
            <a:r>
              <a:rPr lang="en-US" altLang="zh-CN" sz="2400" dirty="0"/>
              <a:t>_blank</a:t>
            </a:r>
            <a:r>
              <a:rPr lang="zh-CN" altLang="zh-CN" sz="2400" dirty="0"/>
              <a:t>表示在新窗口打开目标页面。</a:t>
            </a:r>
          </a:p>
          <a:p>
            <a:pPr marL="457200" lvl="1" indent="0">
              <a:lnSpc>
                <a:spcPct val="150000"/>
              </a:lnSpc>
              <a:buNone/>
            </a:pP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spTree>
    <p:extLst>
      <p:ext uri="{BB962C8B-B14F-4D97-AF65-F5344CB8AC3E}">
        <p14:creationId xmlns:p14="http://schemas.microsoft.com/office/powerpoint/2010/main" val="41321628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71390" cy="5130510"/>
          </a:xfrm>
        </p:spPr>
        <p:txBody>
          <a:bodyPr>
            <a:normAutofit/>
          </a:bodyPr>
          <a:lstStyle/>
          <a:p>
            <a:pPr>
              <a:lnSpc>
                <a:spcPct val="150000"/>
              </a:lnSpc>
              <a:buFont typeface="Wingdings" panose="05000000000000000000" pitchFamily="2" charset="2"/>
              <a:buChar char="Ø"/>
            </a:pPr>
            <a:r>
              <a:rPr lang="zh-CN" altLang="en-US" sz="3000" dirty="0" smtClean="0"/>
              <a:t>超链接的三种形式</a:t>
            </a:r>
            <a:endParaRPr lang="en-US" altLang="zh-CN" sz="3000" dirty="0" smtClean="0"/>
          </a:p>
          <a:p>
            <a:pPr marL="457200" lvl="1" indent="0">
              <a:lnSpc>
                <a:spcPct val="150000"/>
              </a:lnSpc>
              <a:buNone/>
            </a:pPr>
            <a:r>
              <a:rPr lang="en-US" altLang="zh-CN" sz="2600" dirty="0" smtClean="0"/>
              <a:t>1</a:t>
            </a:r>
            <a:r>
              <a:rPr lang="zh-CN" altLang="en-US" sz="2600" dirty="0" smtClean="0"/>
              <a:t>）网页间的链接</a:t>
            </a:r>
            <a:endParaRPr lang="en-US" altLang="zh-CN" sz="2600" dirty="0" smtClean="0"/>
          </a:p>
          <a:p>
            <a:pPr marL="914400" lvl="2" indent="0">
              <a:lnSpc>
                <a:spcPct val="150000"/>
              </a:lnSpc>
              <a:buNone/>
            </a:pPr>
            <a:r>
              <a:rPr lang="zh-CN" altLang="zh-CN" sz="2200" dirty="0"/>
              <a:t>根据网页之间的存放位置分为：内部网页链接和外部网页链接。</a:t>
            </a: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9531" y="3160568"/>
            <a:ext cx="9385550" cy="2076449"/>
          </a:xfrm>
          <a:prstGeom prst="rect">
            <a:avLst/>
          </a:prstGeom>
        </p:spPr>
      </p:pic>
    </p:spTree>
    <p:extLst>
      <p:ext uri="{BB962C8B-B14F-4D97-AF65-F5344CB8AC3E}">
        <p14:creationId xmlns:p14="http://schemas.microsoft.com/office/powerpoint/2010/main" val="5576108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3664527" cy="5130510"/>
          </a:xfrm>
        </p:spPr>
        <p:txBody>
          <a:bodyPr>
            <a:normAutofit/>
          </a:bodyPr>
          <a:lstStyle/>
          <a:p>
            <a:pPr>
              <a:lnSpc>
                <a:spcPct val="150000"/>
              </a:lnSpc>
              <a:buFont typeface="Wingdings" panose="05000000000000000000" pitchFamily="2" charset="2"/>
              <a:buChar char="Ø"/>
            </a:pPr>
            <a:r>
              <a:rPr lang="zh-CN" altLang="en-US" sz="3000" dirty="0" smtClean="0"/>
              <a:t>超链接的三种形式</a:t>
            </a:r>
            <a:endParaRPr lang="en-US" altLang="zh-CN" sz="3000" dirty="0" smtClean="0"/>
          </a:p>
          <a:p>
            <a:pPr marL="457200" lvl="1" indent="0">
              <a:lnSpc>
                <a:spcPct val="150000"/>
              </a:lnSpc>
              <a:buNone/>
            </a:pPr>
            <a:r>
              <a:rPr lang="en-US" altLang="zh-CN" sz="2600" dirty="0"/>
              <a:t>2</a:t>
            </a:r>
            <a:r>
              <a:rPr lang="zh-CN" altLang="en-US" sz="2600" dirty="0" smtClean="0"/>
              <a:t>）锚点链接</a:t>
            </a:r>
            <a:endParaRPr lang="en-US" altLang="zh-CN" sz="2600" dirty="0" smtClean="0"/>
          </a:p>
          <a:p>
            <a:pPr marL="914400" lvl="2" indent="0">
              <a:lnSpc>
                <a:spcPct val="150000"/>
              </a:lnSpc>
              <a:buNone/>
            </a:pPr>
            <a:r>
              <a:rPr lang="zh-CN" altLang="zh-CN" sz="2200" dirty="0"/>
              <a:t>锚点链接是在当前页面的不同位置之间上下切换定位的一种链接形式</a:t>
            </a:r>
            <a:r>
              <a:rPr lang="zh-CN" altLang="zh-CN" sz="2200" dirty="0" smtClean="0"/>
              <a:t>。</a:t>
            </a: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5321" y="1362292"/>
            <a:ext cx="6406863" cy="4516716"/>
          </a:xfrm>
          <a:prstGeom prst="rect">
            <a:avLst/>
          </a:prstGeom>
        </p:spPr>
      </p:pic>
    </p:spTree>
    <p:extLst>
      <p:ext uri="{BB962C8B-B14F-4D97-AF65-F5344CB8AC3E}">
        <p14:creationId xmlns:p14="http://schemas.microsoft.com/office/powerpoint/2010/main" val="5311308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4" cy="5130510"/>
          </a:xfrm>
        </p:spPr>
        <p:txBody>
          <a:bodyPr>
            <a:normAutofit/>
          </a:bodyPr>
          <a:lstStyle/>
          <a:p>
            <a:pPr>
              <a:lnSpc>
                <a:spcPct val="150000"/>
              </a:lnSpc>
              <a:buFont typeface="Wingdings" panose="05000000000000000000" pitchFamily="2" charset="2"/>
              <a:buChar char="Ø"/>
            </a:pPr>
            <a:r>
              <a:rPr lang="zh-CN" altLang="en-US" sz="3000" dirty="0" smtClean="0"/>
              <a:t>超链接的三种形式</a:t>
            </a:r>
            <a:endParaRPr lang="en-US" altLang="zh-CN" sz="3000" dirty="0" smtClean="0"/>
          </a:p>
          <a:p>
            <a:pPr marL="457200" lvl="1" indent="0">
              <a:lnSpc>
                <a:spcPct val="150000"/>
              </a:lnSpc>
              <a:buNone/>
            </a:pPr>
            <a:r>
              <a:rPr lang="en-US" altLang="zh-CN" sz="2600" dirty="0"/>
              <a:t>3</a:t>
            </a:r>
            <a:r>
              <a:rPr lang="zh-CN" altLang="en-US" sz="2600" dirty="0" smtClean="0"/>
              <a:t>）功能链接</a:t>
            </a:r>
            <a:endParaRPr lang="en-US" altLang="zh-CN" sz="2600" dirty="0" smtClean="0"/>
          </a:p>
          <a:p>
            <a:pPr marL="914400" lvl="2" indent="0">
              <a:lnSpc>
                <a:spcPct val="150000"/>
              </a:lnSpc>
              <a:buNone/>
            </a:pPr>
            <a:r>
              <a:rPr lang="zh-CN" altLang="zh-CN" sz="2200" dirty="0"/>
              <a:t>功能链接不是打开某个网页，而是启动本机自带的某个应用程序，如常用的电子邮件、</a:t>
            </a:r>
            <a:r>
              <a:rPr lang="en-US" altLang="zh-CN" sz="2200" dirty="0"/>
              <a:t>QQ</a:t>
            </a:r>
            <a:r>
              <a:rPr lang="zh-CN" altLang="zh-CN" sz="2200" dirty="0"/>
              <a:t>、</a:t>
            </a:r>
            <a:r>
              <a:rPr lang="en-US" altLang="zh-CN" sz="2200" dirty="0"/>
              <a:t>MSN</a:t>
            </a:r>
            <a:r>
              <a:rPr lang="zh-CN" altLang="zh-CN" sz="2200" dirty="0"/>
              <a:t>等应用程序</a:t>
            </a:r>
            <a:r>
              <a:rPr lang="zh-CN" altLang="zh-CN" sz="2200" dirty="0" smtClean="0"/>
              <a:t>。</a:t>
            </a: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6289" y="3731202"/>
            <a:ext cx="9127783" cy="1949162"/>
          </a:xfrm>
          <a:prstGeom prst="rect">
            <a:avLst/>
          </a:prstGeom>
        </p:spPr>
      </p:pic>
    </p:spTree>
    <p:extLst>
      <p:ext uri="{BB962C8B-B14F-4D97-AF65-F5344CB8AC3E}">
        <p14:creationId xmlns:p14="http://schemas.microsoft.com/office/powerpoint/2010/main" val="34274677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4" cy="5130510"/>
          </a:xfrm>
        </p:spPr>
        <p:txBody>
          <a:bodyPr>
            <a:normAutofit/>
          </a:bodyPr>
          <a:lstStyle/>
          <a:p>
            <a:pPr>
              <a:lnSpc>
                <a:spcPct val="150000"/>
              </a:lnSpc>
              <a:buFont typeface="Wingdings" panose="05000000000000000000" pitchFamily="2" charset="2"/>
              <a:buChar char="Ø"/>
            </a:pPr>
            <a:r>
              <a:rPr lang="en-US" altLang="zh-CN" sz="3000" dirty="0"/>
              <a:t>d</a:t>
            </a:r>
            <a:r>
              <a:rPr lang="en-US" altLang="zh-CN" sz="3000" dirty="0" smtClean="0"/>
              <a:t>isplay</a:t>
            </a:r>
            <a:r>
              <a:rPr lang="zh-CN" altLang="en-US" sz="3000" dirty="0" smtClean="0"/>
              <a:t>属性</a:t>
            </a:r>
            <a:endParaRPr lang="en-US" altLang="zh-CN" sz="3000" dirty="0" smtClean="0"/>
          </a:p>
          <a:p>
            <a:pPr marL="457200" lvl="1" indent="0">
              <a:lnSpc>
                <a:spcPct val="150000"/>
              </a:lnSpc>
              <a:buNone/>
            </a:pPr>
            <a:r>
              <a:rPr lang="en-US" altLang="zh-CN" dirty="0"/>
              <a:t>display</a:t>
            </a:r>
            <a:r>
              <a:rPr lang="zh-CN" altLang="zh-CN" dirty="0" smtClean="0"/>
              <a:t>属性规定</a:t>
            </a:r>
            <a:r>
              <a:rPr lang="zh-CN" altLang="zh-CN" dirty="0"/>
              <a:t>了元素应该生成的框的类型，常见的属性值有：</a:t>
            </a:r>
            <a:r>
              <a:rPr lang="en-US" altLang="zh-CN" dirty="0"/>
              <a:t>none</a:t>
            </a:r>
            <a:r>
              <a:rPr lang="zh-CN" altLang="zh-CN" dirty="0"/>
              <a:t>、</a:t>
            </a:r>
            <a:r>
              <a:rPr lang="en-US" altLang="zh-CN" dirty="0"/>
              <a:t>block</a:t>
            </a:r>
            <a:r>
              <a:rPr lang="zh-CN" altLang="zh-CN" dirty="0"/>
              <a:t>、</a:t>
            </a:r>
            <a:r>
              <a:rPr lang="en-US" altLang="zh-CN" dirty="0"/>
              <a:t>inline</a:t>
            </a:r>
            <a:r>
              <a:rPr lang="zh-CN" altLang="zh-CN" dirty="0"/>
              <a:t>、</a:t>
            </a:r>
            <a:r>
              <a:rPr lang="en-US" altLang="zh-CN" dirty="0" smtClean="0"/>
              <a:t>inline-block</a:t>
            </a:r>
            <a:r>
              <a:rPr lang="zh-CN" altLang="en-US" dirty="0" smtClean="0"/>
              <a:t>。</a:t>
            </a:r>
            <a:endParaRPr lang="en-US" altLang="zh-CN" dirty="0" smtClean="0"/>
          </a:p>
          <a:p>
            <a:pPr marL="457200" lvl="1" indent="0">
              <a:lnSpc>
                <a:spcPct val="150000"/>
              </a:lnSpc>
              <a:buNone/>
            </a:pPr>
            <a:r>
              <a:rPr lang="en-US" altLang="zh-CN" dirty="0" smtClean="0"/>
              <a:t>1</a:t>
            </a:r>
            <a:r>
              <a:rPr lang="zh-CN" altLang="en-US" dirty="0" smtClean="0"/>
              <a:t>）</a:t>
            </a:r>
            <a:r>
              <a:rPr lang="en-US" altLang="zh-CN" b="1" dirty="0" err="1" smtClean="0"/>
              <a:t>display:none</a:t>
            </a:r>
            <a:endParaRPr lang="en-US" altLang="zh-CN" b="1" dirty="0" smtClean="0"/>
          </a:p>
          <a:p>
            <a:pPr marL="914400" lvl="2" indent="0">
              <a:lnSpc>
                <a:spcPct val="150000"/>
              </a:lnSpc>
              <a:buNone/>
            </a:pPr>
            <a:r>
              <a:rPr lang="zh-CN" altLang="zh-CN" sz="2200" dirty="0"/>
              <a:t>当元素的</a:t>
            </a:r>
            <a:r>
              <a:rPr lang="en-US" altLang="zh-CN" sz="2200" dirty="0"/>
              <a:t>display</a:t>
            </a:r>
            <a:r>
              <a:rPr lang="zh-CN" altLang="zh-CN" sz="2200" dirty="0"/>
              <a:t>属性被设为</a:t>
            </a:r>
            <a:r>
              <a:rPr lang="en-US" altLang="zh-CN" sz="2200" dirty="0"/>
              <a:t>none</a:t>
            </a:r>
            <a:r>
              <a:rPr lang="zh-CN" altLang="zh-CN" sz="2200" dirty="0"/>
              <a:t>的时候，表示此元素不被显示</a:t>
            </a:r>
            <a:r>
              <a:rPr lang="zh-CN" altLang="zh-CN" sz="2200" dirty="0" smtClean="0"/>
              <a:t>。</a:t>
            </a:r>
            <a:endParaRPr lang="en-US" altLang="zh-CN" sz="2200" dirty="0" smtClean="0"/>
          </a:p>
          <a:p>
            <a:pPr marL="457200" lvl="1" indent="0">
              <a:lnSpc>
                <a:spcPct val="150000"/>
              </a:lnSpc>
              <a:buNone/>
            </a:pPr>
            <a:r>
              <a:rPr lang="en-US" altLang="zh-CN" dirty="0" smtClean="0"/>
              <a:t>2</a:t>
            </a:r>
            <a:r>
              <a:rPr lang="zh-CN" altLang="en-US" dirty="0" smtClean="0"/>
              <a:t>）</a:t>
            </a:r>
            <a:r>
              <a:rPr lang="en-US" altLang="zh-CN" b="1" dirty="0" err="1" smtClean="0"/>
              <a:t>display:block</a:t>
            </a:r>
            <a:endParaRPr lang="en-US" altLang="zh-CN" b="1" dirty="0" smtClean="0"/>
          </a:p>
          <a:p>
            <a:pPr marL="914400" lvl="2" indent="0">
              <a:lnSpc>
                <a:spcPct val="150000"/>
              </a:lnSpc>
              <a:buNone/>
            </a:pPr>
            <a:r>
              <a:rPr lang="zh-CN" altLang="zh-CN" sz="2200" dirty="0"/>
              <a:t>当元素的</a:t>
            </a:r>
            <a:r>
              <a:rPr lang="en-US" altLang="zh-CN" sz="2200" dirty="0"/>
              <a:t>display</a:t>
            </a:r>
            <a:r>
              <a:rPr lang="zh-CN" altLang="zh-CN" sz="2200" dirty="0"/>
              <a:t>属性被设为</a:t>
            </a:r>
            <a:r>
              <a:rPr lang="en-US" altLang="zh-CN" sz="2200" dirty="0"/>
              <a:t>block</a:t>
            </a:r>
            <a:r>
              <a:rPr lang="zh-CN" altLang="zh-CN" sz="2200" dirty="0"/>
              <a:t>时，此元素将显示为块状</a:t>
            </a:r>
            <a:r>
              <a:rPr lang="zh-CN" altLang="zh-CN" sz="2200" dirty="0" smtClean="0"/>
              <a:t>元素</a:t>
            </a:r>
            <a:r>
              <a:rPr lang="zh-CN" altLang="en-US" sz="2200" dirty="0" smtClean="0"/>
              <a:t>。</a:t>
            </a: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spTree>
    <p:extLst>
      <p:ext uri="{BB962C8B-B14F-4D97-AF65-F5344CB8AC3E}">
        <p14:creationId xmlns:p14="http://schemas.microsoft.com/office/powerpoint/2010/main" val="8129058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4" cy="5130510"/>
          </a:xfrm>
        </p:spPr>
        <p:txBody>
          <a:bodyPr>
            <a:normAutofit lnSpcReduction="10000"/>
          </a:bodyPr>
          <a:lstStyle/>
          <a:p>
            <a:pPr>
              <a:lnSpc>
                <a:spcPct val="150000"/>
              </a:lnSpc>
              <a:buFont typeface="Wingdings" panose="05000000000000000000" pitchFamily="2" charset="2"/>
              <a:buChar char="Ø"/>
            </a:pPr>
            <a:r>
              <a:rPr lang="en-US" altLang="zh-CN" sz="3000" dirty="0"/>
              <a:t>d</a:t>
            </a:r>
            <a:r>
              <a:rPr lang="en-US" altLang="zh-CN" sz="3000" dirty="0" smtClean="0"/>
              <a:t>isplay</a:t>
            </a:r>
            <a:r>
              <a:rPr lang="zh-CN" altLang="en-US" sz="3000" dirty="0" smtClean="0"/>
              <a:t>属性</a:t>
            </a:r>
            <a:endParaRPr lang="en-US" altLang="zh-CN" sz="3000" dirty="0" smtClean="0"/>
          </a:p>
          <a:p>
            <a:pPr marL="457200" lvl="1" indent="0">
              <a:lnSpc>
                <a:spcPct val="150000"/>
              </a:lnSpc>
              <a:buNone/>
            </a:pPr>
            <a:r>
              <a:rPr lang="en-US" altLang="zh-CN" dirty="0"/>
              <a:t>display</a:t>
            </a:r>
            <a:r>
              <a:rPr lang="zh-CN" altLang="zh-CN" dirty="0" smtClean="0"/>
              <a:t>属性规定</a:t>
            </a:r>
            <a:r>
              <a:rPr lang="zh-CN" altLang="zh-CN" dirty="0"/>
              <a:t>了元素应该生成的框的类型，常见的属性值有：</a:t>
            </a:r>
            <a:r>
              <a:rPr lang="en-US" altLang="zh-CN" dirty="0"/>
              <a:t>none</a:t>
            </a:r>
            <a:r>
              <a:rPr lang="zh-CN" altLang="zh-CN" dirty="0"/>
              <a:t>、</a:t>
            </a:r>
            <a:r>
              <a:rPr lang="en-US" altLang="zh-CN" dirty="0"/>
              <a:t>block</a:t>
            </a:r>
            <a:r>
              <a:rPr lang="zh-CN" altLang="zh-CN" dirty="0"/>
              <a:t>、</a:t>
            </a:r>
            <a:r>
              <a:rPr lang="en-US" altLang="zh-CN" dirty="0"/>
              <a:t>inline</a:t>
            </a:r>
            <a:r>
              <a:rPr lang="zh-CN" altLang="zh-CN" dirty="0"/>
              <a:t>、</a:t>
            </a:r>
            <a:r>
              <a:rPr lang="en-US" altLang="zh-CN" dirty="0" smtClean="0"/>
              <a:t>inline-block</a:t>
            </a:r>
            <a:r>
              <a:rPr lang="zh-CN" altLang="en-US" dirty="0" smtClean="0"/>
              <a:t>。</a:t>
            </a:r>
            <a:endParaRPr lang="en-US" altLang="zh-CN" dirty="0" smtClean="0"/>
          </a:p>
          <a:p>
            <a:pPr marL="457200" lvl="1" indent="0">
              <a:lnSpc>
                <a:spcPct val="150000"/>
              </a:lnSpc>
              <a:buNone/>
            </a:pPr>
            <a:r>
              <a:rPr lang="en-US" altLang="zh-CN" sz="2200" dirty="0" smtClean="0"/>
              <a:t>3</a:t>
            </a:r>
            <a:r>
              <a:rPr lang="zh-CN" altLang="en-US" sz="2200" dirty="0" smtClean="0"/>
              <a:t>）</a:t>
            </a:r>
            <a:r>
              <a:rPr lang="en-US" altLang="zh-CN" sz="2200" b="1" dirty="0" err="1" smtClean="0"/>
              <a:t>display:inline</a:t>
            </a:r>
            <a:endParaRPr lang="en-US" altLang="zh-CN" sz="2200" b="1" dirty="0" smtClean="0"/>
          </a:p>
          <a:p>
            <a:pPr marL="914400" lvl="2" indent="0">
              <a:lnSpc>
                <a:spcPct val="150000"/>
              </a:lnSpc>
              <a:buNone/>
            </a:pPr>
            <a:r>
              <a:rPr lang="zh-CN" altLang="zh-CN" sz="2200" dirty="0"/>
              <a:t>当元素的</a:t>
            </a:r>
            <a:r>
              <a:rPr lang="en-US" altLang="zh-CN" sz="2200" dirty="0"/>
              <a:t>display</a:t>
            </a:r>
            <a:r>
              <a:rPr lang="zh-CN" altLang="zh-CN" sz="2200" dirty="0"/>
              <a:t>属性被设为</a:t>
            </a:r>
            <a:r>
              <a:rPr lang="en-US" altLang="zh-CN" sz="2200" dirty="0"/>
              <a:t>inline</a:t>
            </a:r>
            <a:r>
              <a:rPr lang="zh-CN" altLang="zh-CN" sz="2200" dirty="0"/>
              <a:t>时，此元素会被显示为行内</a:t>
            </a:r>
            <a:r>
              <a:rPr lang="zh-CN" altLang="zh-CN" sz="2200" dirty="0" smtClean="0"/>
              <a:t>元素</a:t>
            </a:r>
            <a:r>
              <a:rPr lang="zh-CN" altLang="en-US" sz="2200" dirty="0" smtClean="0"/>
              <a:t>。</a:t>
            </a:r>
            <a:endParaRPr lang="en-US" altLang="zh-CN" sz="2200" dirty="0" smtClean="0"/>
          </a:p>
          <a:p>
            <a:pPr marL="457200" lvl="1" indent="0">
              <a:lnSpc>
                <a:spcPct val="150000"/>
              </a:lnSpc>
              <a:buNone/>
            </a:pPr>
            <a:r>
              <a:rPr lang="en-US" altLang="zh-CN" sz="2200" dirty="0" smtClean="0"/>
              <a:t>4</a:t>
            </a:r>
            <a:r>
              <a:rPr lang="zh-CN" altLang="en-US" sz="2200" dirty="0" smtClean="0"/>
              <a:t>）</a:t>
            </a:r>
            <a:r>
              <a:rPr lang="en-US" altLang="zh-CN" sz="2200" b="1" dirty="0" err="1" smtClean="0"/>
              <a:t>display:inline-block</a:t>
            </a:r>
            <a:endParaRPr lang="en-US" altLang="zh-CN" sz="2200" b="1" dirty="0" smtClean="0"/>
          </a:p>
          <a:p>
            <a:pPr marL="914400" lvl="2" indent="0">
              <a:lnSpc>
                <a:spcPct val="150000"/>
              </a:lnSpc>
              <a:buNone/>
            </a:pPr>
            <a:r>
              <a:rPr lang="en-US" altLang="zh-CN" sz="2200" dirty="0"/>
              <a:t>inline-block</a:t>
            </a:r>
            <a:r>
              <a:rPr lang="zh-CN" altLang="zh-CN" sz="2200" dirty="0"/>
              <a:t>结合了</a:t>
            </a:r>
            <a:r>
              <a:rPr lang="en-US" altLang="zh-CN" sz="2200" dirty="0"/>
              <a:t>inline</a:t>
            </a:r>
            <a:r>
              <a:rPr lang="zh-CN" altLang="zh-CN" sz="2200" dirty="0"/>
              <a:t>和</a:t>
            </a:r>
            <a:r>
              <a:rPr lang="en-US" altLang="zh-CN" sz="2200" dirty="0"/>
              <a:t>block</a:t>
            </a:r>
            <a:r>
              <a:rPr lang="zh-CN" altLang="zh-CN" sz="2200" dirty="0"/>
              <a:t>的特性于一身，设置了</a:t>
            </a:r>
            <a:r>
              <a:rPr lang="en-US" altLang="zh-CN" sz="2200" dirty="0"/>
              <a:t>inline-block</a:t>
            </a:r>
            <a:r>
              <a:rPr lang="zh-CN" altLang="zh-CN" sz="2200" dirty="0"/>
              <a:t>的元素既有行内元素不换行的特点又具有块状元素可以设置宽、高、</a:t>
            </a:r>
            <a:r>
              <a:rPr lang="en-US" altLang="zh-CN" sz="2200" dirty="0"/>
              <a:t>padding</a:t>
            </a:r>
            <a:r>
              <a:rPr lang="zh-CN" altLang="zh-CN" sz="2200" dirty="0"/>
              <a:t>和</a:t>
            </a:r>
            <a:r>
              <a:rPr lang="en-US" altLang="zh-CN" sz="2200" dirty="0"/>
              <a:t>margin</a:t>
            </a:r>
            <a:r>
              <a:rPr lang="zh-CN" altLang="zh-CN" sz="2200" dirty="0"/>
              <a:t>的特点。</a:t>
            </a: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spTree>
    <p:extLst>
      <p:ext uri="{BB962C8B-B14F-4D97-AF65-F5344CB8AC3E}">
        <p14:creationId xmlns:p14="http://schemas.microsoft.com/office/powerpoint/2010/main" val="33042194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4" cy="5130510"/>
          </a:xfrm>
        </p:spPr>
        <p:txBody>
          <a:bodyPr>
            <a:normAutofit/>
          </a:bodyPr>
          <a:lstStyle/>
          <a:p>
            <a:pPr>
              <a:lnSpc>
                <a:spcPct val="150000"/>
              </a:lnSpc>
              <a:buFont typeface="Wingdings" panose="05000000000000000000" pitchFamily="2" charset="2"/>
              <a:buChar char="Ø"/>
            </a:pPr>
            <a:r>
              <a:rPr lang="zh-CN" altLang="en-US" sz="3000" dirty="0"/>
              <a:t>伪类</a:t>
            </a:r>
            <a:endParaRPr lang="en-US" altLang="zh-CN" sz="3000" dirty="0" smtClean="0"/>
          </a:p>
          <a:p>
            <a:pPr marL="457200" lvl="1" indent="0">
              <a:lnSpc>
                <a:spcPct val="150000"/>
              </a:lnSpc>
              <a:buNone/>
            </a:pPr>
            <a:r>
              <a:rPr lang="en-US" altLang="zh-CN" dirty="0"/>
              <a:t>CSS</a:t>
            </a:r>
            <a:r>
              <a:rPr lang="zh-CN" altLang="zh-CN" dirty="0"/>
              <a:t>中的伪类用来添加一些选择符的特殊</a:t>
            </a:r>
            <a:r>
              <a:rPr lang="zh-CN" altLang="zh-CN" dirty="0" smtClean="0"/>
              <a:t>效果</a:t>
            </a:r>
            <a:r>
              <a:rPr lang="zh-CN" altLang="en-US" sz="2200" dirty="0" smtClean="0"/>
              <a:t>。</a:t>
            </a:r>
            <a:r>
              <a:rPr lang="zh-CN" altLang="zh-CN" dirty="0"/>
              <a:t>伪类并不是真正的类，用于已有元素处于某种状态时为其添加对应的样式，这个状态是根据用户行为或需要而动态变化的</a:t>
            </a:r>
            <a:r>
              <a:rPr lang="zh-CN" altLang="zh-CN" dirty="0" smtClean="0"/>
              <a:t>。</a:t>
            </a:r>
            <a:endParaRPr lang="en-US" altLang="zh-CN" dirty="0" smtClean="0"/>
          </a:p>
          <a:p>
            <a:pPr marL="457200" lvl="1" indent="0">
              <a:lnSpc>
                <a:spcPct val="150000"/>
              </a:lnSpc>
              <a:buNone/>
            </a:pPr>
            <a:endParaRPr lang="en-US" altLang="zh-CN" sz="2200" dirty="0"/>
          </a:p>
          <a:p>
            <a:pPr marL="457200" lvl="1" indent="0" algn="ctr">
              <a:lnSpc>
                <a:spcPct val="150000"/>
              </a:lnSpc>
              <a:buNone/>
            </a:pPr>
            <a:r>
              <a:rPr lang="zh-CN" altLang="zh-CN" sz="3600" dirty="0"/>
              <a:t>选择器：伪类名</a:t>
            </a:r>
            <a:r>
              <a:rPr lang="en-US" altLang="zh-CN" sz="3600" dirty="0"/>
              <a:t> { </a:t>
            </a:r>
            <a:r>
              <a:rPr lang="zh-CN" altLang="zh-CN" sz="3600" dirty="0"/>
              <a:t>属性：属性值</a:t>
            </a:r>
            <a:r>
              <a:rPr lang="en-US" altLang="zh-CN" sz="3600" dirty="0"/>
              <a:t> }</a:t>
            </a:r>
            <a:endParaRPr lang="zh-CN" altLang="zh-CN" sz="3600" dirty="0"/>
          </a:p>
          <a:p>
            <a:pPr marL="457200" lvl="1" indent="0">
              <a:lnSpc>
                <a:spcPct val="150000"/>
              </a:lnSpc>
              <a:buNone/>
            </a:pP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spTree>
    <p:extLst>
      <p:ext uri="{BB962C8B-B14F-4D97-AF65-F5344CB8AC3E}">
        <p14:creationId xmlns:p14="http://schemas.microsoft.com/office/powerpoint/2010/main" val="7081239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4" cy="5130510"/>
          </a:xfrm>
        </p:spPr>
        <p:txBody>
          <a:bodyPr>
            <a:normAutofit/>
          </a:bodyPr>
          <a:lstStyle/>
          <a:p>
            <a:pPr>
              <a:lnSpc>
                <a:spcPct val="150000"/>
              </a:lnSpc>
              <a:buFont typeface="Wingdings" panose="05000000000000000000" pitchFamily="2" charset="2"/>
              <a:buChar char="Ø"/>
            </a:pPr>
            <a:r>
              <a:rPr lang="zh-CN" altLang="en-US" sz="3000" dirty="0"/>
              <a:t>伪</a:t>
            </a:r>
            <a:r>
              <a:rPr lang="zh-CN" altLang="en-US" sz="3000" dirty="0" smtClean="0"/>
              <a:t>类</a:t>
            </a:r>
            <a:endParaRPr lang="en-US" altLang="zh-CN" sz="3000" dirty="0" smtClean="0"/>
          </a:p>
          <a:p>
            <a:pPr marL="457200" lvl="1" indent="0">
              <a:lnSpc>
                <a:spcPct val="150000"/>
              </a:lnSpc>
              <a:buNone/>
            </a:pPr>
            <a:r>
              <a:rPr lang="en-US" altLang="zh-CN" dirty="0"/>
              <a:t>CSS</a:t>
            </a:r>
            <a:r>
              <a:rPr lang="zh-CN" altLang="zh-CN" dirty="0"/>
              <a:t>中的伪类有很多</a:t>
            </a:r>
            <a:r>
              <a:rPr lang="zh-CN" altLang="zh-CN" dirty="0" smtClean="0"/>
              <a:t>，</a:t>
            </a:r>
            <a:r>
              <a:rPr lang="zh-CN" altLang="en-US" dirty="0"/>
              <a:t>这里</a:t>
            </a:r>
            <a:r>
              <a:rPr lang="zh-CN" altLang="zh-CN" dirty="0" smtClean="0"/>
              <a:t>介绍</a:t>
            </a:r>
            <a:r>
              <a:rPr lang="zh-CN" altLang="zh-CN" dirty="0"/>
              <a:t>的是超链接常用的伪类，如下</a:t>
            </a:r>
            <a:r>
              <a:rPr lang="zh-CN" altLang="zh-CN" dirty="0" smtClean="0"/>
              <a:t>表</a:t>
            </a:r>
            <a:r>
              <a:rPr lang="en-US" altLang="zh-CN" dirty="0" smtClean="0"/>
              <a:t>1</a:t>
            </a:r>
            <a:r>
              <a:rPr lang="zh-CN" altLang="zh-CN" dirty="0"/>
              <a:t>所示。</a:t>
            </a:r>
          </a:p>
          <a:p>
            <a:pPr marL="457200" lvl="1" indent="0">
              <a:lnSpc>
                <a:spcPct val="150000"/>
              </a:lnSpc>
              <a:buNone/>
            </a:pPr>
            <a:endParaRPr lang="en-US" altLang="zh-CN" sz="2600" dirty="0" smtClean="0"/>
          </a:p>
          <a:p>
            <a:pPr marL="457200" lvl="1" indent="0">
              <a:lnSpc>
                <a:spcPct val="150000"/>
              </a:lnSpc>
              <a:buNone/>
            </a:pP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3283963"/>
            <a:ext cx="9833706" cy="1883786"/>
          </a:xfrm>
          <a:prstGeom prst="rect">
            <a:avLst/>
          </a:prstGeom>
        </p:spPr>
      </p:pic>
      <p:sp>
        <p:nvSpPr>
          <p:cNvPr id="5" name="文本框 4"/>
          <p:cNvSpPr txBox="1"/>
          <p:nvPr/>
        </p:nvSpPr>
        <p:spPr>
          <a:xfrm>
            <a:off x="4918369" y="2881747"/>
            <a:ext cx="1984839" cy="369332"/>
          </a:xfrm>
          <a:prstGeom prst="rect">
            <a:avLst/>
          </a:prstGeom>
          <a:noFill/>
        </p:spPr>
        <p:txBody>
          <a:bodyPr wrap="none" rtlCol="0">
            <a:spAutoFit/>
          </a:bodyPr>
          <a:lstStyle/>
          <a:p>
            <a:r>
              <a:rPr lang="zh-CN" altLang="en-US" dirty="0" smtClean="0"/>
              <a:t>表</a:t>
            </a:r>
            <a:r>
              <a:rPr lang="en-US" altLang="zh-CN" dirty="0" smtClean="0"/>
              <a:t>1 </a:t>
            </a:r>
            <a:r>
              <a:rPr lang="zh-CN" altLang="en-US" dirty="0" smtClean="0"/>
              <a:t>超链接的伪类</a:t>
            </a:r>
            <a:endParaRPr lang="zh-CN" altLang="en-US" dirty="0"/>
          </a:p>
        </p:txBody>
      </p:sp>
    </p:spTree>
    <p:extLst>
      <p:ext uri="{BB962C8B-B14F-4D97-AF65-F5344CB8AC3E}">
        <p14:creationId xmlns:p14="http://schemas.microsoft.com/office/powerpoint/2010/main" val="8872391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8062480" cy="1025235"/>
          </a:xfrm>
        </p:spPr>
        <p:txBody>
          <a:bodyPr>
            <a:normAutofit/>
          </a:bodyPr>
          <a:lstStyle/>
          <a:p>
            <a:pPr>
              <a:lnSpc>
                <a:spcPct val="150000"/>
              </a:lnSpc>
              <a:buFont typeface="Wingdings" panose="05000000000000000000" pitchFamily="2" charset="2"/>
              <a:buChar char="Ø"/>
            </a:pPr>
            <a:r>
              <a:rPr lang="zh-CN" altLang="en-US" sz="3000" dirty="0" smtClean="0"/>
              <a:t>设计导航条的标签结构</a:t>
            </a:r>
            <a:endParaRPr lang="en-US" altLang="zh-CN" sz="3000" dirty="0" smtClean="0"/>
          </a:p>
        </p:txBody>
      </p:sp>
      <p:sp>
        <p:nvSpPr>
          <p:cNvPr id="3" name="标题 2"/>
          <p:cNvSpPr>
            <a:spLocks noGrp="1"/>
          </p:cNvSpPr>
          <p:nvPr>
            <p:ph type="title"/>
          </p:nvPr>
        </p:nvSpPr>
        <p:spPr>
          <a:xfrm>
            <a:off x="1720850" y="120736"/>
            <a:ext cx="2527300" cy="742950"/>
          </a:xfrm>
        </p:spPr>
        <p:txBody>
          <a:bodyPr/>
          <a:lstStyle/>
          <a:p>
            <a:r>
              <a:rPr lang="zh-CN" altLang="en-US" dirty="0"/>
              <a:t>任务实施</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0594" y="1195387"/>
            <a:ext cx="4776788" cy="4908380"/>
          </a:xfrm>
          <a:prstGeom prst="rect">
            <a:avLst/>
          </a:prstGeom>
        </p:spPr>
      </p:pic>
    </p:spTree>
    <p:extLst>
      <p:ext uri="{BB962C8B-B14F-4D97-AF65-F5344CB8AC3E}">
        <p14:creationId xmlns:p14="http://schemas.microsoft.com/office/powerpoint/2010/main" val="9438395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8062480" cy="2466108"/>
          </a:xfrm>
        </p:spPr>
        <p:txBody>
          <a:bodyPr>
            <a:normAutofit/>
          </a:bodyPr>
          <a:lstStyle/>
          <a:p>
            <a:pPr>
              <a:lnSpc>
                <a:spcPct val="150000"/>
              </a:lnSpc>
              <a:buFont typeface="Wingdings" panose="05000000000000000000" pitchFamily="2" charset="2"/>
              <a:buChar char="Ø"/>
            </a:pPr>
            <a:r>
              <a:rPr lang="zh-CN" altLang="en-US" sz="3000" dirty="0" smtClean="0"/>
              <a:t>设计导航条的</a:t>
            </a:r>
            <a:r>
              <a:rPr lang="en-US" altLang="zh-CN" sz="3000" dirty="0" smtClean="0"/>
              <a:t>CSS</a:t>
            </a:r>
            <a:r>
              <a:rPr lang="zh-CN" altLang="en-US" sz="3000" dirty="0" smtClean="0"/>
              <a:t>样式</a:t>
            </a:r>
            <a:endParaRPr lang="en-US" altLang="zh-CN" sz="3000" dirty="0" smtClean="0"/>
          </a:p>
          <a:p>
            <a:pPr marL="457200" lvl="1" indent="0">
              <a:lnSpc>
                <a:spcPct val="150000"/>
              </a:lnSpc>
              <a:buNone/>
            </a:pPr>
            <a:r>
              <a:rPr lang="en-US" altLang="zh-CN" sz="2600" dirty="0" smtClean="0"/>
              <a:t>1</a:t>
            </a:r>
            <a:r>
              <a:rPr lang="zh-CN" altLang="en-US" sz="2600" dirty="0" smtClean="0"/>
              <a:t>）外层</a:t>
            </a:r>
            <a:r>
              <a:rPr lang="en-US" altLang="zh-CN" sz="2600" dirty="0" smtClean="0"/>
              <a:t>div</a:t>
            </a:r>
            <a:r>
              <a:rPr lang="zh-CN" altLang="en-US" sz="2600" dirty="0" smtClean="0"/>
              <a:t>样式</a:t>
            </a: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任务实施</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9321" y="2652339"/>
            <a:ext cx="7424466" cy="3402097"/>
          </a:xfrm>
          <a:prstGeom prst="rect">
            <a:avLst/>
          </a:prstGeom>
        </p:spPr>
      </p:pic>
    </p:spTree>
    <p:extLst>
      <p:ext uri="{BB962C8B-B14F-4D97-AF65-F5344CB8AC3E}">
        <p14:creationId xmlns:p14="http://schemas.microsoft.com/office/powerpoint/2010/main" val="28614401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8062480" cy="2466108"/>
          </a:xfrm>
        </p:spPr>
        <p:txBody>
          <a:bodyPr>
            <a:normAutofit/>
          </a:bodyPr>
          <a:lstStyle/>
          <a:p>
            <a:pPr>
              <a:lnSpc>
                <a:spcPct val="150000"/>
              </a:lnSpc>
              <a:buFont typeface="Wingdings" panose="05000000000000000000" pitchFamily="2" charset="2"/>
              <a:buChar char="Ø"/>
            </a:pPr>
            <a:r>
              <a:rPr lang="zh-CN" altLang="en-US" sz="3000" dirty="0" smtClean="0"/>
              <a:t>设计导航条的</a:t>
            </a:r>
            <a:r>
              <a:rPr lang="en-US" altLang="zh-CN" sz="3000" dirty="0" smtClean="0"/>
              <a:t>CSS</a:t>
            </a:r>
            <a:r>
              <a:rPr lang="zh-CN" altLang="en-US" sz="3000" dirty="0" smtClean="0"/>
              <a:t>样式</a:t>
            </a:r>
            <a:endParaRPr lang="en-US" altLang="zh-CN" sz="3000" dirty="0" smtClean="0"/>
          </a:p>
          <a:p>
            <a:pPr marL="457200" lvl="1" indent="0">
              <a:lnSpc>
                <a:spcPct val="150000"/>
              </a:lnSpc>
              <a:buNone/>
            </a:pPr>
            <a:r>
              <a:rPr lang="en-US" altLang="zh-CN" sz="2600" dirty="0" smtClean="0"/>
              <a:t>2</a:t>
            </a:r>
            <a:r>
              <a:rPr lang="zh-CN" altLang="en-US" sz="2600" dirty="0" smtClean="0"/>
              <a:t>）超链接的公共样式</a:t>
            </a: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任务实施</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0811" y="2570451"/>
            <a:ext cx="4120861" cy="3246041"/>
          </a:xfrm>
          <a:prstGeom prst="rect">
            <a:avLst/>
          </a:prstGeom>
        </p:spPr>
      </p:pic>
    </p:spTree>
    <p:extLst>
      <p:ext uri="{BB962C8B-B14F-4D97-AF65-F5344CB8AC3E}">
        <p14:creationId xmlns:p14="http://schemas.microsoft.com/office/powerpoint/2010/main" val="11459732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8062480" cy="2466108"/>
          </a:xfrm>
        </p:spPr>
        <p:txBody>
          <a:bodyPr>
            <a:normAutofit/>
          </a:bodyPr>
          <a:lstStyle/>
          <a:p>
            <a:pPr>
              <a:lnSpc>
                <a:spcPct val="150000"/>
              </a:lnSpc>
              <a:buFont typeface="Wingdings" panose="05000000000000000000" pitchFamily="2" charset="2"/>
              <a:buChar char="Ø"/>
            </a:pPr>
            <a:r>
              <a:rPr lang="zh-CN" altLang="en-US" sz="3000" dirty="0" smtClean="0"/>
              <a:t>设计导航条的</a:t>
            </a:r>
            <a:r>
              <a:rPr lang="en-US" altLang="zh-CN" sz="3000" dirty="0" smtClean="0"/>
              <a:t>CSS</a:t>
            </a:r>
            <a:r>
              <a:rPr lang="zh-CN" altLang="en-US" sz="3000" dirty="0" smtClean="0"/>
              <a:t>样式</a:t>
            </a:r>
            <a:endParaRPr lang="en-US" altLang="zh-CN" sz="3000" dirty="0" smtClean="0"/>
          </a:p>
          <a:p>
            <a:pPr marL="457200" lvl="1" indent="0">
              <a:lnSpc>
                <a:spcPct val="150000"/>
              </a:lnSpc>
              <a:buNone/>
            </a:pPr>
            <a:r>
              <a:rPr lang="en-US" altLang="zh-CN" sz="2600" dirty="0" smtClean="0"/>
              <a:t>2</a:t>
            </a:r>
            <a:r>
              <a:rPr lang="zh-CN" altLang="en-US" sz="2600" dirty="0" smtClean="0"/>
              <a:t>）超链接</a:t>
            </a:r>
            <a:r>
              <a:rPr lang="zh-CN" altLang="en-US" sz="2600" dirty="0" smtClean="0"/>
              <a:t>各个状态的样式</a:t>
            </a: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任务实施</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834" y="1327439"/>
            <a:ext cx="4382162" cy="4616161"/>
          </a:xfrm>
          <a:prstGeom prst="rect">
            <a:avLst/>
          </a:prstGeom>
        </p:spPr>
      </p:pic>
    </p:spTree>
    <p:extLst>
      <p:ext uri="{BB962C8B-B14F-4D97-AF65-F5344CB8AC3E}">
        <p14:creationId xmlns:p14="http://schemas.microsoft.com/office/powerpoint/2010/main" val="27274173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1171575"/>
            <a:ext cx="10168370" cy="4914899"/>
          </a:xfrm>
        </p:spPr>
        <p:txBody>
          <a:bodyPr>
            <a:normAutofit/>
          </a:bodyPr>
          <a:lstStyle/>
          <a:p>
            <a:pPr>
              <a:lnSpc>
                <a:spcPct val="150000"/>
              </a:lnSpc>
              <a:buFont typeface="Wingdings" panose="05000000000000000000" pitchFamily="2" charset="2"/>
              <a:buChar char="Ø"/>
            </a:pPr>
            <a:r>
              <a:rPr lang="zh-CN" altLang="en-US" sz="3000" dirty="0" smtClean="0"/>
              <a:t>使用</a:t>
            </a:r>
            <a:r>
              <a:rPr lang="en-US" altLang="zh-CN" sz="3000" dirty="0" err="1" smtClean="0"/>
              <a:t>display:inline-block</a:t>
            </a:r>
            <a:r>
              <a:rPr lang="zh-CN" altLang="en-US" sz="3000" dirty="0" smtClean="0"/>
              <a:t>拓展超链接的响应区</a:t>
            </a:r>
            <a:endParaRPr lang="en-US" altLang="zh-CN" sz="3000" dirty="0" smtClean="0"/>
          </a:p>
          <a:p>
            <a:pPr>
              <a:lnSpc>
                <a:spcPct val="150000"/>
              </a:lnSpc>
              <a:buFont typeface="Wingdings" panose="05000000000000000000" pitchFamily="2" charset="2"/>
              <a:buChar char="Ø"/>
            </a:pPr>
            <a:r>
              <a:rPr lang="zh-CN" altLang="en-US" sz="3000" dirty="0" smtClean="0"/>
              <a:t>伪类选择符实现鼠标交互控制</a:t>
            </a:r>
            <a:endParaRPr lang="en-US" altLang="zh-CN" sz="3000" dirty="0" smtClean="0"/>
          </a:p>
        </p:txBody>
      </p:sp>
      <p:sp>
        <p:nvSpPr>
          <p:cNvPr id="3" name="标题 2"/>
          <p:cNvSpPr>
            <a:spLocks noGrp="1"/>
          </p:cNvSpPr>
          <p:nvPr>
            <p:ph type="title"/>
          </p:nvPr>
        </p:nvSpPr>
        <p:spPr/>
        <p:txBody>
          <a:bodyPr/>
          <a:lstStyle/>
          <a:p>
            <a:r>
              <a:rPr lang="zh-CN" altLang="en-US" dirty="0" smtClean="0"/>
              <a:t>小  结</a:t>
            </a:r>
            <a:endParaRPr lang="zh-CN" altLang="en-US" dirty="0"/>
          </a:p>
        </p:txBody>
      </p:sp>
      <p:sp>
        <p:nvSpPr>
          <p:cNvPr id="6" name="流程图: 可选过程 5"/>
          <p:cNvSpPr/>
          <p:nvPr/>
        </p:nvSpPr>
        <p:spPr>
          <a:xfrm>
            <a:off x="3103418" y="3073351"/>
            <a:ext cx="7093526" cy="234377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tIns="0" bIns="360000" rtlCol="0" anchor="ctr"/>
          <a:lstStyle/>
          <a:p>
            <a:r>
              <a:rPr lang="en-US" altLang="zh-CN" sz="3200" b="1" dirty="0" smtClean="0"/>
              <a:t>&gt;&gt; </a:t>
            </a:r>
            <a:r>
              <a:rPr lang="zh-CN" altLang="en-US" sz="3200" b="1" dirty="0"/>
              <a:t>伪类选择符</a:t>
            </a:r>
            <a:endParaRPr lang="en-US" altLang="zh-CN" sz="3200" b="1" dirty="0" smtClean="0"/>
          </a:p>
          <a:p>
            <a:pPr>
              <a:lnSpc>
                <a:spcPct val="150000"/>
              </a:lnSpc>
            </a:pPr>
            <a:r>
              <a:rPr lang="zh-CN" altLang="en-US" sz="2400" dirty="0" smtClean="0"/>
              <a:t>遵照优先顺序</a:t>
            </a:r>
            <a:r>
              <a:rPr lang="en-US" altLang="zh-CN" sz="2400" dirty="0" smtClean="0"/>
              <a:t>a:link</a:t>
            </a:r>
            <a:r>
              <a:rPr lang="zh-CN" altLang="zh-CN" sz="2400" dirty="0"/>
              <a:t>、</a:t>
            </a:r>
            <a:r>
              <a:rPr lang="en-US" altLang="zh-CN" sz="2400" dirty="0"/>
              <a:t>a:visited</a:t>
            </a:r>
            <a:r>
              <a:rPr lang="zh-CN" altLang="zh-CN" sz="2400" dirty="0"/>
              <a:t>、</a:t>
            </a:r>
            <a:r>
              <a:rPr lang="en-US" altLang="zh-CN" sz="2400" dirty="0"/>
              <a:t>a:hover</a:t>
            </a:r>
            <a:r>
              <a:rPr lang="zh-CN" altLang="zh-CN" sz="2400" dirty="0"/>
              <a:t>、</a:t>
            </a:r>
            <a:r>
              <a:rPr lang="en-US" altLang="zh-CN" sz="2400" dirty="0" smtClean="0"/>
              <a:t>a:active</a:t>
            </a:r>
            <a:r>
              <a:rPr lang="zh-CN" altLang="en-US" sz="2400" dirty="0" smtClean="0"/>
              <a:t>，如果顺序打乱会看不到正确效果。</a:t>
            </a:r>
            <a:endParaRPr lang="zh-CN" altLang="en-US" sz="2400" dirty="0"/>
          </a:p>
        </p:txBody>
      </p:sp>
    </p:spTree>
    <p:extLst>
      <p:ext uri="{BB962C8B-B14F-4D97-AF65-F5344CB8AC3E}">
        <p14:creationId xmlns:p14="http://schemas.microsoft.com/office/powerpoint/2010/main" val="392306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课后作业</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0972" y="1365141"/>
            <a:ext cx="1852613" cy="4835634"/>
          </a:xfrm>
          <a:prstGeom prst="rect">
            <a:avLst/>
          </a:prstGeom>
        </p:spPr>
      </p:pic>
      <p:sp>
        <p:nvSpPr>
          <p:cNvPr id="8" name="内容占位符 1"/>
          <p:cNvSpPr txBox="1">
            <a:spLocks/>
          </p:cNvSpPr>
          <p:nvPr/>
        </p:nvSpPr>
        <p:spPr>
          <a:xfrm>
            <a:off x="1095375" y="1171575"/>
            <a:ext cx="7743825" cy="49148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pPr>
            <a:r>
              <a:rPr lang="zh-CN" altLang="en-US" sz="3000" dirty="0" smtClean="0"/>
              <a:t>完成如下效果图中的导航条设计。要求鼠标经过时背景变白色。</a:t>
            </a:r>
            <a:endParaRPr lang="en-US" altLang="zh-CN" sz="3000" dirty="0" smtClean="0"/>
          </a:p>
        </p:txBody>
      </p:sp>
      <p:pic>
        <p:nvPicPr>
          <p:cNvPr id="10" name="内容占位符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38683" y="2989984"/>
            <a:ext cx="7670176" cy="1221798"/>
          </a:xfrm>
        </p:spPr>
      </p:pic>
    </p:spTree>
    <p:extLst>
      <p:ext uri="{BB962C8B-B14F-4D97-AF65-F5344CB8AC3E}">
        <p14:creationId xmlns:p14="http://schemas.microsoft.com/office/powerpoint/2010/main" val="8721965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上阴影">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1334</TotalTime>
  <Words>627</Words>
  <Application>Microsoft Office PowerPoint</Application>
  <PresentationFormat>宽屏</PresentationFormat>
  <Paragraphs>66</Paragraphs>
  <Slides>17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等线</vt:lpstr>
      <vt:lpstr>等线 Light</vt:lpstr>
      <vt:lpstr>华文行楷</vt:lpstr>
      <vt:lpstr>微软雅黑</vt:lpstr>
      <vt:lpstr>Arial</vt:lpstr>
      <vt:lpstr>Wingdings</vt:lpstr>
      <vt:lpstr>Office 主题​​</vt:lpstr>
      <vt:lpstr>水平导航条的设计</vt:lpstr>
      <vt:lpstr>学习目标</vt:lpstr>
      <vt:lpstr>任务目标</vt:lpstr>
      <vt:lpstr>相关知识</vt:lpstr>
      <vt:lpstr>相关知识</vt:lpstr>
      <vt:lpstr>相关知识</vt:lpstr>
      <vt:lpstr>相关知识</vt:lpstr>
      <vt:lpstr>相关知识</vt:lpstr>
      <vt:lpstr>相关知识</vt:lpstr>
      <vt:lpstr>相关知识</vt:lpstr>
      <vt:lpstr>相关知识</vt:lpstr>
      <vt:lpstr>任务实施</vt:lpstr>
      <vt:lpstr>任务实施</vt:lpstr>
      <vt:lpstr>任务实施</vt:lpstr>
      <vt:lpstr>任务实施</vt:lpstr>
      <vt:lpstr>小  结</vt:lpstr>
      <vt:lpstr>课后作业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网页制作三大技术</dc:title>
  <dc:creator>Lenovo</dc:creator>
  <cp:lastModifiedBy>陆炜妮</cp:lastModifiedBy>
  <cp:revision>90</cp:revision>
  <dcterms:created xsi:type="dcterms:W3CDTF">2020-04-27T05:20:13Z</dcterms:created>
  <dcterms:modified xsi:type="dcterms:W3CDTF">2020-08-02T06:48:30Z</dcterms:modified>
</cp:coreProperties>
</file>
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71" r:id="rId6"/>
    <p:sldId id="272" r:id="rId7"/>
    <p:sldId id="273" r:id="rId8"/>
    <p:sldId id="269" r:id="rId9"/>
    <p:sldId id="274" r:id="rId10"/>
    <p:sldId id="267" r:id="rId11"/>
    <p:sldId id="268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5398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2103121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网页的文字排版进阶</a:t>
            </a:r>
            <a:r>
              <a:rPr lang="en-US" altLang="zh-CN" sz="36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altLang="zh-CN" sz="36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zh-CN" altLang="en-US" sz="28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（表格</a:t>
            </a:r>
            <a:r>
              <a:rPr lang="en-US" altLang="zh-CN" sz="28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28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endParaRPr lang="zh-CN" altLang="en-US" sz="28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954116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600" dirty="0"/>
              <a:t>合理设计网页的整体标签结构</a:t>
            </a:r>
            <a:endParaRPr lang="en-US" altLang="zh-CN" sz="36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600" dirty="0" smtClean="0"/>
              <a:t>合理设计</a:t>
            </a:r>
            <a:r>
              <a:rPr lang="zh-CN" altLang="en-US" sz="3600" dirty="0"/>
              <a:t>表格</a:t>
            </a:r>
            <a:r>
              <a:rPr lang="zh-CN" altLang="en-US" sz="3600" dirty="0" smtClean="0"/>
              <a:t>的标签结构</a:t>
            </a:r>
            <a:endParaRPr lang="en-US" altLang="zh-CN" sz="36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3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4565593" cy="491489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 smtClean="0"/>
              <a:t>本</a:t>
            </a:r>
            <a:r>
              <a:rPr lang="zh-CN" altLang="en-US" dirty="0"/>
              <a:t>案例使用</a:t>
            </a:r>
            <a:r>
              <a:rPr lang="zh-CN" altLang="en-US" dirty="0" smtClean="0"/>
              <a:t>“表格”设计出班委成员名单。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任务目标</a:t>
            </a:r>
            <a:endParaRPr lang="zh-CN" altLang="en-US" dirty="0"/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4351" y="1086166"/>
            <a:ext cx="5274310" cy="508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规则表格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表格由</a:t>
            </a:r>
            <a:r>
              <a:rPr lang="en-US" altLang="zh-CN" dirty="0"/>
              <a:t>&lt;table&gt;</a:t>
            </a:r>
            <a:r>
              <a:rPr lang="zh-CN" altLang="zh-CN" dirty="0" smtClean="0"/>
              <a:t>标签定义</a:t>
            </a:r>
            <a:r>
              <a:rPr lang="zh-CN" altLang="zh-CN" dirty="0"/>
              <a:t>。完整的表格包含表格标题</a:t>
            </a:r>
            <a:r>
              <a:rPr lang="en-US" altLang="zh-CN" dirty="0"/>
              <a:t>&lt;caption&gt;</a:t>
            </a:r>
            <a:r>
              <a:rPr lang="zh-CN" altLang="zh-CN" dirty="0"/>
              <a:t>、表头</a:t>
            </a:r>
            <a:r>
              <a:rPr lang="en-US" altLang="zh-CN" dirty="0"/>
              <a:t>&lt;</a:t>
            </a:r>
            <a:r>
              <a:rPr lang="en-US" altLang="zh-CN" dirty="0" err="1"/>
              <a:t>thead</a:t>
            </a:r>
            <a:r>
              <a:rPr lang="en-US" altLang="zh-CN" dirty="0"/>
              <a:t>&gt;</a:t>
            </a:r>
            <a:r>
              <a:rPr lang="zh-CN" altLang="zh-CN" dirty="0"/>
              <a:t>、表格主体</a:t>
            </a:r>
            <a:r>
              <a:rPr lang="en-US" altLang="zh-CN" dirty="0"/>
              <a:t>&lt;</a:t>
            </a:r>
            <a:r>
              <a:rPr lang="en-US" altLang="zh-CN" dirty="0" err="1"/>
              <a:t>tbody</a:t>
            </a:r>
            <a:r>
              <a:rPr lang="en-US" altLang="zh-CN" dirty="0"/>
              <a:t>&gt;</a:t>
            </a:r>
            <a:r>
              <a:rPr lang="zh-CN" altLang="zh-CN" dirty="0"/>
              <a:t>、表尾</a:t>
            </a:r>
            <a:r>
              <a:rPr lang="en-US" altLang="zh-CN" dirty="0"/>
              <a:t>&lt;</a:t>
            </a:r>
            <a:r>
              <a:rPr lang="en-US" altLang="zh-CN" dirty="0" err="1"/>
              <a:t>tfoot</a:t>
            </a:r>
            <a:r>
              <a:rPr lang="en-US" altLang="zh-CN" dirty="0"/>
              <a:t>&gt;</a:t>
            </a:r>
            <a:r>
              <a:rPr lang="zh-CN" altLang="zh-CN" dirty="0"/>
              <a:t>等</a:t>
            </a:r>
            <a:r>
              <a:rPr lang="en-US" altLang="zh-CN" dirty="0"/>
              <a:t>4</a:t>
            </a:r>
            <a:r>
              <a:rPr lang="zh-CN" altLang="zh-CN" dirty="0"/>
              <a:t>个组成部分，除了标题外，其余部分均由若干行</a:t>
            </a:r>
            <a:r>
              <a:rPr lang="en-US" altLang="zh-CN" dirty="0"/>
              <a:t>&lt;</a:t>
            </a:r>
            <a:r>
              <a:rPr lang="en-US" altLang="zh-CN" dirty="0" err="1"/>
              <a:t>tr</a:t>
            </a:r>
            <a:r>
              <a:rPr lang="en-US" altLang="zh-CN" dirty="0"/>
              <a:t>&gt;</a:t>
            </a:r>
            <a:r>
              <a:rPr lang="zh-CN" altLang="zh-CN" dirty="0"/>
              <a:t>组成，每行被分割为若干单元格</a:t>
            </a:r>
            <a:r>
              <a:rPr lang="en-US" altLang="zh-CN" dirty="0"/>
              <a:t>&lt;td&gt;</a:t>
            </a:r>
            <a:r>
              <a:rPr lang="zh-CN" altLang="zh-CN" dirty="0"/>
              <a:t>或</a:t>
            </a:r>
            <a:r>
              <a:rPr lang="en-US" altLang="zh-CN" dirty="0"/>
              <a:t>&lt;</a:t>
            </a:r>
            <a:r>
              <a:rPr lang="en-US" altLang="zh-CN" dirty="0" err="1"/>
              <a:t>th</a:t>
            </a:r>
            <a:r>
              <a:rPr lang="en-US" altLang="zh-CN" dirty="0"/>
              <a:t>&gt;</a:t>
            </a:r>
            <a:r>
              <a:rPr lang="zh-CN" altLang="zh-CN" dirty="0"/>
              <a:t>，</a:t>
            </a:r>
            <a:r>
              <a:rPr lang="en-US" altLang="zh-CN" dirty="0"/>
              <a:t>&lt;td&gt;</a:t>
            </a:r>
            <a:r>
              <a:rPr lang="zh-CN" altLang="zh-CN" dirty="0"/>
              <a:t>指的是表格主体中的数据单元格，</a:t>
            </a:r>
            <a:r>
              <a:rPr lang="en-US" altLang="zh-CN" dirty="0"/>
              <a:t>&lt;</a:t>
            </a:r>
            <a:r>
              <a:rPr lang="en-US" altLang="zh-CN" dirty="0" err="1"/>
              <a:t>th</a:t>
            </a:r>
            <a:r>
              <a:rPr lang="en-US" altLang="zh-CN" dirty="0"/>
              <a:t>&gt;</a:t>
            </a:r>
            <a:r>
              <a:rPr lang="zh-CN" altLang="zh-CN" dirty="0"/>
              <a:t>指的是表头或表尾中的单元格。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589536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规则表格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000" dirty="0" smtClean="0"/>
              <a:t>完整的表格结构</a:t>
            </a:r>
            <a:endParaRPr lang="en-US" altLang="zh-CN" sz="2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017"/>
          <a:stretch/>
        </p:blipFill>
        <p:spPr>
          <a:xfrm>
            <a:off x="1751842" y="2801306"/>
            <a:ext cx="2747096" cy="313112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3386" y="1608304"/>
            <a:ext cx="5973880" cy="448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516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规则表格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000" dirty="0"/>
              <a:t>简化</a:t>
            </a:r>
            <a:r>
              <a:rPr lang="zh-CN" altLang="en-US" sz="2000" dirty="0" smtClean="0"/>
              <a:t>的表格结构</a:t>
            </a:r>
            <a:endParaRPr lang="en-US" altLang="zh-CN" sz="2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017"/>
          <a:stretch/>
        </p:blipFill>
        <p:spPr>
          <a:xfrm>
            <a:off x="1720850" y="2541998"/>
            <a:ext cx="2724624" cy="314911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604" y="2541998"/>
            <a:ext cx="6455160" cy="288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57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不规则表格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不规则表格指的是一行横跨多列，或者一列竖跨多行的</a:t>
            </a:r>
            <a:r>
              <a:rPr lang="zh-CN" altLang="zh-CN" dirty="0" smtClean="0"/>
              <a:t>情况</a:t>
            </a:r>
            <a:r>
              <a:rPr lang="zh-CN" altLang="en-US" dirty="0" smtClean="0"/>
              <a:t>。</a:t>
            </a:r>
            <a:endParaRPr lang="en-US" altLang="zh-CN" sz="2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4" y="2377270"/>
            <a:ext cx="5878632" cy="3824652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633"/>
          <a:stretch/>
        </p:blipFill>
        <p:spPr>
          <a:xfrm>
            <a:off x="7385952" y="2893472"/>
            <a:ext cx="3564983" cy="30706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986835" y="3886769"/>
            <a:ext cx="594815" cy="3138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167560" y="5353619"/>
            <a:ext cx="537665" cy="3138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563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757" y="1069541"/>
            <a:ext cx="5274310" cy="508571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/>
              <a:t>标签</a:t>
            </a:r>
            <a:r>
              <a:rPr lang="zh-CN" altLang="en-US" dirty="0" smtClean="0"/>
              <a:t>分析</a:t>
            </a:r>
            <a:endParaRPr lang="zh-CN" altLang="en-US" dirty="0"/>
          </a:p>
        </p:txBody>
      </p:sp>
      <p:sp>
        <p:nvSpPr>
          <p:cNvPr id="5" name="矩形标注 4"/>
          <p:cNvSpPr/>
          <p:nvPr/>
        </p:nvSpPr>
        <p:spPr>
          <a:xfrm>
            <a:off x="4064923" y="1313411"/>
            <a:ext cx="3981796" cy="4563687"/>
          </a:xfrm>
          <a:prstGeom prst="wedgeRectCallout">
            <a:avLst>
              <a:gd name="adj1" fmla="val -69296"/>
              <a:gd name="adj2" fmla="val 677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299193" y="3653441"/>
            <a:ext cx="9829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solidFill>
                  <a:srgbClr val="FF0000"/>
                </a:solidFill>
              </a:rPr>
              <a:t>&lt;div&gt;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685930" y="3149984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&lt;caption&gt;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810369" y="4259414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行</a:t>
            </a:r>
            <a:r>
              <a:rPr lang="en-US" altLang="zh-CN" dirty="0" smtClean="0">
                <a:solidFill>
                  <a:srgbClr val="FF0000"/>
                </a:solidFill>
              </a:rPr>
              <a:t>&lt;</a:t>
            </a:r>
            <a:r>
              <a:rPr lang="en-US" altLang="zh-CN" dirty="0" err="1" smtClean="0">
                <a:solidFill>
                  <a:srgbClr val="FF0000"/>
                </a:solidFill>
              </a:rPr>
              <a:t>tr</a:t>
            </a:r>
            <a:r>
              <a:rPr lang="en-US" altLang="zh-CN" dirty="0" smtClean="0">
                <a:solidFill>
                  <a:srgbClr val="FF0000"/>
                </a:solidFill>
              </a:rPr>
              <a:t>&gt;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24076" y="3922127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单元格</a:t>
            </a:r>
            <a:r>
              <a:rPr lang="en-US" altLang="zh-CN" dirty="0" smtClean="0">
                <a:solidFill>
                  <a:srgbClr val="FF0000"/>
                </a:solidFill>
              </a:rPr>
              <a:t>&lt;td&gt;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070553" y="3427214"/>
            <a:ext cx="1479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FF0000"/>
                </a:solidFill>
              </a:rPr>
              <a:t>表头单元格</a:t>
            </a:r>
            <a:r>
              <a:rPr lang="en-US" altLang="zh-CN" sz="1400" dirty="0" smtClean="0">
                <a:solidFill>
                  <a:srgbClr val="FF0000"/>
                </a:solidFill>
              </a:rPr>
              <a:t>&lt;</a:t>
            </a:r>
            <a:r>
              <a:rPr lang="en-US" altLang="zh-CN" sz="1400" dirty="0" err="1" smtClean="0">
                <a:solidFill>
                  <a:srgbClr val="FF0000"/>
                </a:solidFill>
              </a:rPr>
              <a:t>th</a:t>
            </a:r>
            <a:r>
              <a:rPr lang="en-US" altLang="zh-CN" sz="1400" dirty="0" smtClean="0">
                <a:solidFill>
                  <a:srgbClr val="FF0000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88392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2" grpId="0"/>
      <p:bldP spid="14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495" y="977176"/>
            <a:ext cx="7552460" cy="5266847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0" r="7025"/>
          <a:stretch/>
        </p:blipFill>
        <p:spPr>
          <a:xfrm>
            <a:off x="7716982" y="2277657"/>
            <a:ext cx="3477491" cy="385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804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209069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本案例</a:t>
            </a:r>
            <a:r>
              <a:rPr lang="zh-CN" altLang="en-US" sz="3000" dirty="0"/>
              <a:t>重点掌握</a:t>
            </a:r>
            <a:r>
              <a:rPr lang="zh-CN" altLang="en-US" sz="3000" dirty="0" smtClean="0"/>
              <a:t>的</a:t>
            </a:r>
            <a:r>
              <a:rPr lang="zh-CN" altLang="en-US" sz="3000" dirty="0"/>
              <a:t>标签</a:t>
            </a:r>
            <a:r>
              <a:rPr lang="zh-CN" altLang="en-US" sz="3000" dirty="0" smtClean="0"/>
              <a:t>：</a:t>
            </a:r>
            <a:endParaRPr lang="en-US" altLang="zh-CN" sz="3000" dirty="0" smtClean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 smtClean="0"/>
              <a:t>&lt;table&gt;</a:t>
            </a:r>
            <a:r>
              <a:rPr lang="zh-CN" altLang="en-US" sz="2800" dirty="0" smtClean="0"/>
              <a:t>表格</a:t>
            </a:r>
            <a:endParaRPr lang="en-US" altLang="zh-CN" sz="2800" dirty="0" smtClean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 smtClean="0"/>
              <a:t>&lt;caption&gt;</a:t>
            </a:r>
            <a:r>
              <a:rPr lang="zh-CN" altLang="en-US" sz="2800" dirty="0" smtClean="0"/>
              <a:t>表格标题</a:t>
            </a:r>
            <a:endParaRPr lang="en-US" altLang="zh-CN" sz="2800" dirty="0" smtClean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 smtClean="0"/>
              <a:t>&lt;</a:t>
            </a:r>
            <a:r>
              <a:rPr lang="en-US" altLang="zh-CN" sz="2800" dirty="0" err="1" smtClean="0"/>
              <a:t>tr</a:t>
            </a:r>
            <a:r>
              <a:rPr lang="en-US" altLang="zh-CN" sz="2800" dirty="0" smtClean="0"/>
              <a:t>&gt;</a:t>
            </a:r>
            <a:r>
              <a:rPr lang="zh-CN" altLang="en-US" sz="2800" dirty="0" smtClean="0"/>
              <a:t>行</a:t>
            </a:r>
            <a:endParaRPr lang="en-US" altLang="zh-CN" sz="2800" dirty="0" smtClean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 smtClean="0"/>
              <a:t>&lt;</a:t>
            </a:r>
            <a:r>
              <a:rPr lang="en-US" altLang="zh-CN" sz="2800" dirty="0" err="1" smtClean="0"/>
              <a:t>th</a:t>
            </a:r>
            <a:r>
              <a:rPr lang="en-US" altLang="zh-CN" sz="2800" dirty="0" smtClean="0"/>
              <a:t>&gt;</a:t>
            </a:r>
            <a:r>
              <a:rPr lang="zh-CN" altLang="en-US" sz="2800" dirty="0" smtClean="0"/>
              <a:t>表头单元格</a:t>
            </a:r>
            <a:endParaRPr lang="en-US" altLang="zh-CN" sz="2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 smtClean="0"/>
              <a:t>&lt;td&gt;</a:t>
            </a:r>
            <a:r>
              <a:rPr lang="zh-CN" altLang="en-US" sz="2800" dirty="0" smtClean="0"/>
              <a:t>数据单元格</a:t>
            </a:r>
            <a:endParaRPr lang="en-US" altLang="zh-CN" sz="28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  <p:sp>
        <p:nvSpPr>
          <p:cNvPr id="6" name="流程图: 可选过程 5"/>
          <p:cNvSpPr/>
          <p:nvPr/>
        </p:nvSpPr>
        <p:spPr>
          <a:xfrm>
            <a:off x="5998178" y="2959331"/>
            <a:ext cx="4658738" cy="2202874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360000" rtlCol="0" anchor="ctr"/>
          <a:lstStyle/>
          <a:p>
            <a:r>
              <a:rPr lang="en-US" altLang="zh-CN" sz="3200" b="1" dirty="0" smtClean="0"/>
              <a:t>&gt;&gt; </a:t>
            </a:r>
            <a:r>
              <a:rPr lang="zh-CN" altLang="en-US" sz="3200" b="1" dirty="0" smtClean="0"/>
              <a:t>单元格合并</a:t>
            </a:r>
            <a:endParaRPr lang="en-US" altLang="zh-CN" sz="3200" b="1" dirty="0" smtClean="0"/>
          </a:p>
          <a:p>
            <a:pPr>
              <a:lnSpc>
                <a:spcPct val="150000"/>
              </a:lnSpc>
            </a:pPr>
            <a:r>
              <a:rPr lang="en-US" altLang="zh-CN" sz="2200" dirty="0" err="1" smtClean="0"/>
              <a:t>colspan</a:t>
            </a:r>
            <a:r>
              <a:rPr lang="zh-CN" altLang="en-US" sz="2200" dirty="0" smtClean="0"/>
              <a:t>属性用于水平合并单元格</a:t>
            </a:r>
            <a:endParaRPr lang="en-US" altLang="zh-CN" sz="2200" dirty="0" smtClean="0"/>
          </a:p>
          <a:p>
            <a:pPr>
              <a:lnSpc>
                <a:spcPct val="150000"/>
              </a:lnSpc>
            </a:pPr>
            <a:r>
              <a:rPr lang="en-US" altLang="zh-CN" sz="2200" dirty="0" err="1"/>
              <a:t>r</a:t>
            </a:r>
            <a:r>
              <a:rPr lang="en-US" altLang="zh-CN" sz="2200" dirty="0" err="1" smtClean="0"/>
              <a:t>owspan</a:t>
            </a:r>
            <a:r>
              <a:rPr lang="zh-CN" altLang="en-US" sz="2200" dirty="0" smtClean="0"/>
              <a:t>属性用于垂直合并单元格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6096001" cy="148018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下图中的不规则表格应该如何设计标签结构呢？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12423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思  考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437" y="1365141"/>
            <a:ext cx="1852613" cy="483563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618" y="2552013"/>
            <a:ext cx="4103951" cy="366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1076</TotalTime>
  <Words>263</Words>
  <Application>Microsoft Office PowerPoint</Application>
  <PresentationFormat>宽屏</PresentationFormat>
  <Paragraphs>37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网页的文字排版进阶 （表格1）</vt:lpstr>
      <vt:lpstr>学习目标</vt:lpstr>
      <vt:lpstr>任务目标</vt:lpstr>
      <vt:lpstr>相关知识</vt:lpstr>
      <vt:lpstr>相关知识</vt:lpstr>
      <vt:lpstr>相关知识</vt:lpstr>
      <vt:lpstr>相关知识</vt:lpstr>
      <vt:lpstr>标签分析</vt:lpstr>
      <vt:lpstr>任务实施</vt:lpstr>
      <vt:lpstr>小  结</vt:lpstr>
      <vt:lpstr>思  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72</cp:revision>
  <dcterms:created xsi:type="dcterms:W3CDTF">2020-04-27T05:20:13Z</dcterms:created>
  <dcterms:modified xsi:type="dcterms:W3CDTF">2020-07-23T05:47:26Z</dcterms:modified>
</cp:coreProperties>
</file>
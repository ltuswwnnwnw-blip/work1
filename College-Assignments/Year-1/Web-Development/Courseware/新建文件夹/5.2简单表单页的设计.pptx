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9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75" r:id="rId16"/>
    <p:sldId id="286" r:id="rId17"/>
    <p:sldId id="287" r:id="rId18"/>
    <p:sldId id="288" r:id="rId19"/>
    <p:sldId id="267" r:id="rId20"/>
    <p:sldId id="268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2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121"/>
            <a:ext cx="12192002" cy="685587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413688" y="2438419"/>
            <a:ext cx="4646140" cy="991641"/>
          </a:xfrm>
        </p:spPr>
        <p:txBody>
          <a:bodyPr anchor="b">
            <a:noAutofit/>
          </a:bodyPr>
          <a:lstStyle>
            <a:lvl1pPr algn="ctr">
              <a:defRPr sz="6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4925712" y="4217773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pc="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主讲老师：陆炜妮</a:t>
            </a:r>
            <a:endParaRPr lang="zh-CN" altLang="en-US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02641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 userDrawn="1"/>
        </p:nvSpPr>
        <p:spPr>
          <a:xfrm>
            <a:off x="847725" y="885825"/>
            <a:ext cx="10582275" cy="5429249"/>
          </a:xfrm>
          <a:prstGeom prst="roundRect">
            <a:avLst>
              <a:gd name="adj" fmla="val 3900"/>
            </a:avLst>
          </a:prstGeom>
          <a:solidFill>
            <a:srgbClr val="F2F2F2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075" y="257174"/>
            <a:ext cx="2409825" cy="638175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5374" y="1171575"/>
            <a:ext cx="10125075" cy="491489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1720850" y="126278"/>
            <a:ext cx="2527300" cy="742950"/>
          </a:xfrm>
        </p:spPr>
        <p:txBody>
          <a:bodyPr anchor="b">
            <a:noAutofit/>
          </a:bodyPr>
          <a:lstStyle>
            <a:lvl1pPr>
              <a:defRPr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7764" y="6438900"/>
            <a:ext cx="252412" cy="252412"/>
          </a:xfrm>
          <a:prstGeom prst="rect">
            <a:avLst/>
          </a:prstGeom>
        </p:spPr>
      </p:pic>
      <p:sp>
        <p:nvSpPr>
          <p:cNvPr id="12" name="文本框 11"/>
          <p:cNvSpPr txBox="1"/>
          <p:nvPr userDrawn="1"/>
        </p:nvSpPr>
        <p:spPr>
          <a:xfrm>
            <a:off x="8953501" y="6416158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东莞职业技术学院</a:t>
            </a:r>
            <a:endParaRPr lang="zh-CN" altLang="en-US" sz="14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41653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1592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403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192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859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731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453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552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980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582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26925D-53E1-4B75-92B5-D8E7C2D23CF1}" type="datetimeFigureOut">
              <a:rPr lang="zh-CN" altLang="en-US" smtClean="0"/>
              <a:t>2020-8-6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20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395850" y="1465805"/>
            <a:ext cx="4711012" cy="145543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spc="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简单表单页的设计</a:t>
            </a:r>
            <a:endParaRPr lang="zh-CN" altLang="en-US" sz="3600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936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1171575"/>
            <a:ext cx="6200775" cy="491489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 smtClean="0"/>
              <a:t>掌握表单的</a:t>
            </a:r>
            <a:r>
              <a:rPr lang="zh-CN" altLang="en-US" sz="3200" dirty="0"/>
              <a:t>使用</a:t>
            </a:r>
            <a:endParaRPr lang="en-US" altLang="zh-CN" sz="32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 smtClean="0"/>
              <a:t>掌握常用表单元素（文本框、按钮）的用法</a:t>
            </a:r>
            <a:endParaRPr lang="en-US" altLang="zh-CN" sz="32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/>
              <a:t>灵活</a:t>
            </a:r>
            <a:r>
              <a:rPr lang="zh-CN" altLang="en-US" sz="3200" dirty="0" smtClean="0"/>
              <a:t>控制表单布局</a:t>
            </a:r>
            <a:endParaRPr lang="en-US" altLang="zh-CN" sz="3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学习目标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37" y="2214562"/>
            <a:ext cx="2962275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299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061262"/>
            <a:ext cx="10085244" cy="228972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合理设计表单页的标签结构</a:t>
            </a:r>
            <a:r>
              <a:rPr lang="zh-CN" altLang="en-US" sz="3000" dirty="0"/>
              <a:t>、</a:t>
            </a:r>
            <a:r>
              <a:rPr lang="zh-CN" altLang="en-US" sz="3000" dirty="0" smtClean="0"/>
              <a:t>布局</a:t>
            </a:r>
            <a:endParaRPr lang="en-US" altLang="zh-CN" sz="3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美化表单元素的样式</a:t>
            </a:r>
            <a:endParaRPr lang="zh-CN" altLang="en-US" sz="30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任务目标</a:t>
            </a:r>
          </a:p>
        </p:txBody>
      </p:sp>
      <p:pic>
        <p:nvPicPr>
          <p:cNvPr id="4" name="图片 3" descr="截图98"/>
          <p:cNvPicPr/>
          <p:nvPr/>
        </p:nvPicPr>
        <p:blipFill>
          <a:blip r:embed="rId2"/>
          <a:stretch>
            <a:fillRect/>
          </a:stretch>
        </p:blipFill>
        <p:spPr>
          <a:xfrm>
            <a:off x="2621171" y="2769089"/>
            <a:ext cx="7406901" cy="3299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500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表</a:t>
            </a:r>
            <a:r>
              <a:rPr lang="zh-CN" altLang="en-US" sz="3000" dirty="0" smtClean="0"/>
              <a:t>单</a:t>
            </a:r>
            <a:r>
              <a:rPr lang="en-US" altLang="zh-CN" sz="3000" dirty="0" smtClean="0"/>
              <a:t>&lt;form&gt;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表单</a:t>
            </a:r>
            <a:r>
              <a:rPr lang="en-US" altLang="zh-CN" dirty="0"/>
              <a:t>&lt;form&gt;</a:t>
            </a:r>
            <a:r>
              <a:rPr lang="zh-CN" altLang="zh-CN" dirty="0"/>
              <a:t>指的是一个包含表单元素的区域，只有在这个区域内的表单元素的输入内容才会被收集。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9644" y="3144982"/>
            <a:ext cx="8145948" cy="162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162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表</a:t>
            </a:r>
            <a:r>
              <a:rPr lang="zh-CN" altLang="en-US" sz="3000" dirty="0" smtClean="0"/>
              <a:t>单</a:t>
            </a:r>
            <a:r>
              <a:rPr lang="en-US" altLang="zh-CN" sz="3000" dirty="0" smtClean="0"/>
              <a:t>&lt;form&gt;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表单</a:t>
            </a:r>
            <a:r>
              <a:rPr lang="en-US" altLang="zh-CN" dirty="0"/>
              <a:t>&lt;form&gt;</a:t>
            </a:r>
            <a:r>
              <a:rPr lang="zh-CN" altLang="zh-CN" dirty="0"/>
              <a:t>是不可见的，它只是限定了一块区域用来放置表单元素，用于实现表单的数据收集功能。</a:t>
            </a:r>
            <a:r>
              <a:rPr lang="en-US" altLang="zh-CN" dirty="0"/>
              <a:t>&lt;form&gt;</a:t>
            </a:r>
            <a:r>
              <a:rPr lang="zh-CN" altLang="zh-CN" dirty="0"/>
              <a:t>标签的常用属性有</a:t>
            </a:r>
            <a:r>
              <a:rPr lang="en-US" altLang="zh-CN" dirty="0"/>
              <a:t>action</a:t>
            </a:r>
            <a:r>
              <a:rPr lang="zh-CN" altLang="zh-CN" dirty="0"/>
              <a:t>、</a:t>
            </a:r>
            <a:r>
              <a:rPr lang="en-US" altLang="zh-CN" dirty="0"/>
              <a:t>method</a:t>
            </a:r>
            <a:r>
              <a:rPr lang="zh-CN" altLang="zh-CN" dirty="0"/>
              <a:t>和</a:t>
            </a:r>
            <a:r>
              <a:rPr lang="en-US" altLang="zh-CN" dirty="0"/>
              <a:t>name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1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1</a:t>
            </a:r>
            <a:r>
              <a:rPr lang="zh-CN" altLang="en-US" sz="2600" dirty="0" smtClean="0"/>
              <a:t>）</a:t>
            </a:r>
            <a:r>
              <a:rPr lang="en-US" altLang="zh-CN" sz="2600" dirty="0" smtClean="0"/>
              <a:t>action</a:t>
            </a:r>
            <a:r>
              <a:rPr lang="zh-CN" altLang="en-US" sz="2600" dirty="0" smtClean="0"/>
              <a:t>属性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sz="2200" dirty="0"/>
              <a:t>action</a:t>
            </a:r>
            <a:r>
              <a:rPr lang="zh-CN" altLang="zh-CN" sz="2200" dirty="0"/>
              <a:t>属性规定了当提交表单时，将表单数据发送到何处，通常用</a:t>
            </a:r>
            <a:r>
              <a:rPr lang="en-US" altLang="zh-CN" sz="2200" dirty="0" err="1"/>
              <a:t>url</a:t>
            </a:r>
            <a:r>
              <a:rPr lang="zh-CN" altLang="zh-CN" sz="2200" dirty="0"/>
              <a:t>来指定接收表单数据的目标页面。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</p:spTree>
    <p:extLst>
      <p:ext uri="{BB962C8B-B14F-4D97-AF65-F5344CB8AC3E}">
        <p14:creationId xmlns:p14="http://schemas.microsoft.com/office/powerpoint/2010/main" val="2775480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表</a:t>
            </a:r>
            <a:r>
              <a:rPr lang="zh-CN" altLang="en-US" sz="3000" dirty="0" smtClean="0"/>
              <a:t>单</a:t>
            </a:r>
            <a:r>
              <a:rPr lang="en-US" altLang="zh-CN" sz="3000" dirty="0" smtClean="0"/>
              <a:t>&lt;form&gt;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/>
              <a:t>2</a:t>
            </a:r>
            <a:r>
              <a:rPr lang="zh-CN" altLang="en-US" sz="2600" dirty="0" smtClean="0"/>
              <a:t>）</a:t>
            </a:r>
            <a:r>
              <a:rPr lang="en-US" altLang="zh-CN" sz="2600" dirty="0" smtClean="0"/>
              <a:t>method</a:t>
            </a:r>
            <a:r>
              <a:rPr lang="zh-CN" altLang="en-US" sz="2600" dirty="0" smtClean="0"/>
              <a:t>属性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sz="2200" dirty="0"/>
              <a:t>method</a:t>
            </a:r>
            <a:r>
              <a:rPr lang="zh-CN" altLang="zh-CN" sz="2200" dirty="0"/>
              <a:t>属性规定表单数据发送的两种方式：</a:t>
            </a:r>
            <a:r>
              <a:rPr lang="en-US" altLang="zh-CN" sz="2200" dirty="0"/>
              <a:t>get</a:t>
            </a:r>
            <a:r>
              <a:rPr lang="zh-CN" altLang="zh-CN" sz="2200" dirty="0"/>
              <a:t>方法和</a:t>
            </a:r>
            <a:r>
              <a:rPr lang="en-US" altLang="zh-CN" sz="2200" dirty="0"/>
              <a:t>post</a:t>
            </a:r>
            <a:r>
              <a:rPr lang="zh-CN" altLang="zh-CN" sz="2200" dirty="0"/>
              <a:t>方法</a:t>
            </a:r>
            <a:r>
              <a:rPr lang="zh-CN" altLang="zh-CN" sz="2200" dirty="0" smtClean="0"/>
              <a:t>。</a:t>
            </a:r>
            <a:endParaRPr lang="en-US" altLang="zh-CN" sz="2200" dirty="0" smtClean="0"/>
          </a:p>
          <a:p>
            <a:pPr marL="914400" lvl="2" indent="0">
              <a:lnSpc>
                <a:spcPct val="150000"/>
              </a:lnSpc>
              <a:buNone/>
            </a:pPr>
            <a:endParaRPr lang="en-US" altLang="zh-CN" sz="10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/>
              <a:t>3</a:t>
            </a:r>
            <a:r>
              <a:rPr lang="zh-CN" altLang="en-US" sz="2600" dirty="0" smtClean="0"/>
              <a:t>）</a:t>
            </a:r>
            <a:r>
              <a:rPr lang="en-US" altLang="zh-CN" sz="2600" dirty="0" smtClean="0"/>
              <a:t>name</a:t>
            </a:r>
            <a:r>
              <a:rPr lang="zh-CN" altLang="en-US" sz="2600" dirty="0" smtClean="0"/>
              <a:t>属性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sz="2200" dirty="0"/>
              <a:t>name</a:t>
            </a:r>
            <a:r>
              <a:rPr lang="zh-CN" altLang="zh-CN" sz="2200" dirty="0"/>
              <a:t>属性规定表单的名称。</a:t>
            </a:r>
            <a:r>
              <a:rPr lang="en-US" altLang="zh-CN" sz="2200" dirty="0"/>
              <a:t>&lt;form&gt;</a:t>
            </a:r>
            <a:r>
              <a:rPr lang="zh-CN" altLang="zh-CN" sz="2200" dirty="0"/>
              <a:t>标签的</a:t>
            </a:r>
            <a:r>
              <a:rPr lang="en-US" altLang="zh-CN" sz="2200" dirty="0"/>
              <a:t>name</a:t>
            </a:r>
            <a:r>
              <a:rPr lang="zh-CN" altLang="zh-CN" sz="2200" dirty="0"/>
              <a:t>属性提供了一种在脚本中引用表单的方法。</a:t>
            </a:r>
          </a:p>
          <a:p>
            <a:pPr marL="914400" lvl="2" indent="0">
              <a:lnSpc>
                <a:spcPct val="150000"/>
              </a:lnSpc>
              <a:buNone/>
            </a:pP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</p:spTree>
    <p:extLst>
      <p:ext uri="{BB962C8B-B14F-4D97-AF65-F5344CB8AC3E}">
        <p14:creationId xmlns:p14="http://schemas.microsoft.com/office/powerpoint/2010/main" val="480973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表</a:t>
            </a:r>
            <a:r>
              <a:rPr lang="zh-CN" altLang="en-US" sz="3000" dirty="0" smtClean="0"/>
              <a:t>单元素：文本框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dirty="0" smtClean="0"/>
              <a:t>文本框提供</a:t>
            </a:r>
            <a:r>
              <a:rPr lang="zh-CN" altLang="zh-CN" dirty="0" smtClean="0"/>
              <a:t>用户在</a:t>
            </a:r>
            <a:r>
              <a:rPr lang="zh-CN" altLang="zh-CN" dirty="0"/>
              <a:t>表单中输入一行文本</a:t>
            </a:r>
            <a:r>
              <a:rPr lang="zh-CN" altLang="zh-CN" dirty="0" smtClean="0"/>
              <a:t>内容。</a:t>
            </a:r>
            <a:r>
              <a:rPr lang="zh-CN" altLang="en-US" dirty="0" smtClean="0"/>
              <a:t>普通</a:t>
            </a:r>
            <a:r>
              <a:rPr lang="zh-CN" altLang="zh-CN" dirty="0" smtClean="0"/>
              <a:t>文本框</a:t>
            </a:r>
            <a:r>
              <a:rPr lang="zh-CN" altLang="zh-CN" dirty="0"/>
              <a:t>使用</a:t>
            </a:r>
            <a:r>
              <a:rPr lang="en-US" altLang="zh-CN" dirty="0"/>
              <a:t>&lt;input type</a:t>
            </a:r>
            <a:r>
              <a:rPr lang="en-US" altLang="zh-CN" dirty="0" smtClean="0"/>
              <a:t>=“text”&gt;</a:t>
            </a:r>
            <a:r>
              <a:rPr lang="zh-CN" altLang="en-US" dirty="0" smtClean="0"/>
              <a:t>，</a:t>
            </a:r>
            <a:r>
              <a:rPr lang="zh-CN" altLang="zh-CN" dirty="0" smtClean="0"/>
              <a:t>密码</a:t>
            </a:r>
            <a:r>
              <a:rPr lang="zh-CN" altLang="zh-CN" dirty="0"/>
              <a:t>框使用</a:t>
            </a:r>
            <a:r>
              <a:rPr lang="en-US" altLang="zh-CN" dirty="0"/>
              <a:t>&lt;input type</a:t>
            </a:r>
            <a:r>
              <a:rPr lang="en-US" altLang="zh-CN" dirty="0" smtClean="0"/>
              <a:t>=“password”&gt;</a:t>
            </a:r>
            <a:r>
              <a:rPr lang="zh-CN" altLang="en-US" dirty="0" smtClean="0"/>
              <a:t>。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1390" y="3154679"/>
            <a:ext cx="8195068" cy="1733923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099" y="5077867"/>
            <a:ext cx="8119245" cy="796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603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表</a:t>
            </a:r>
            <a:r>
              <a:rPr lang="zh-CN" altLang="en-US" sz="3000" dirty="0" smtClean="0"/>
              <a:t>单元素：按钮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 smtClean="0"/>
              <a:t>表单中的按钮分为三种类型：提交按钮、重置按钮和普通按钮。三种按钮都是用</a:t>
            </a:r>
            <a:r>
              <a:rPr lang="en-US" altLang="zh-CN" dirty="0" smtClean="0"/>
              <a:t>&lt;input&gt;</a:t>
            </a:r>
            <a:r>
              <a:rPr lang="zh-CN" altLang="zh-CN" dirty="0" smtClean="0"/>
              <a:t>标签来定义，但各自的</a:t>
            </a:r>
            <a:r>
              <a:rPr lang="en-US" altLang="zh-CN" dirty="0" smtClean="0"/>
              <a:t>type</a:t>
            </a:r>
            <a:r>
              <a:rPr lang="zh-CN" altLang="zh-CN" dirty="0" smtClean="0"/>
              <a:t>属性不同。</a:t>
            </a:r>
            <a:endParaRPr lang="en-US" altLang="zh-CN" dirty="0" smtClean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1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1</a:t>
            </a:r>
            <a:r>
              <a:rPr lang="zh-CN" altLang="en-US" dirty="0" smtClean="0"/>
              <a:t>）普通按钮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sz="2200" dirty="0"/>
              <a:t>普通按钮使用</a:t>
            </a:r>
            <a:r>
              <a:rPr lang="en-US" altLang="zh-CN" sz="2200" dirty="0"/>
              <a:t>&lt;input type="button"&gt;</a:t>
            </a:r>
            <a:r>
              <a:rPr lang="zh-CN" altLang="zh-CN" sz="2200" dirty="0"/>
              <a:t>标签来定义。普通按钮通常用于通过</a:t>
            </a:r>
            <a:r>
              <a:rPr lang="en-US" altLang="zh-CN" sz="2200" dirty="0"/>
              <a:t>JavaScript</a:t>
            </a:r>
            <a:r>
              <a:rPr lang="zh-CN" altLang="zh-CN" sz="2200" dirty="0"/>
              <a:t>调用脚本实现某些特定的功能。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</p:spTree>
    <p:extLst>
      <p:ext uri="{BB962C8B-B14F-4D97-AF65-F5344CB8AC3E}">
        <p14:creationId xmlns:p14="http://schemas.microsoft.com/office/powerpoint/2010/main" val="4068741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表</a:t>
            </a:r>
            <a:r>
              <a:rPr lang="zh-CN" altLang="en-US" sz="3000" dirty="0" smtClean="0"/>
              <a:t>单元素：按钮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1</a:t>
            </a:r>
            <a:r>
              <a:rPr lang="zh-CN" altLang="en-US" dirty="0" smtClean="0"/>
              <a:t>）提交按钮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sz="2200" dirty="0" smtClean="0"/>
              <a:t>提交按钮使用</a:t>
            </a:r>
            <a:r>
              <a:rPr lang="en-US" altLang="zh-CN" sz="2200" dirty="0" smtClean="0"/>
              <a:t>&lt;input type="submit"&gt;</a:t>
            </a:r>
            <a:r>
              <a:rPr lang="zh-CN" altLang="zh-CN" sz="2200" dirty="0" smtClean="0"/>
              <a:t>标签来定义。当用户单击提交按钮时，表单的内容就会被收集并传送到</a:t>
            </a:r>
            <a:r>
              <a:rPr lang="en-US" altLang="zh-CN" sz="2200" dirty="0" smtClean="0"/>
              <a:t>action</a:t>
            </a:r>
            <a:r>
              <a:rPr lang="zh-CN" altLang="zh-CN" sz="2200" dirty="0" smtClean="0"/>
              <a:t>属性指定的目标文件进行处理。</a:t>
            </a:r>
            <a:endParaRPr lang="en-US" altLang="zh-CN" sz="22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2</a:t>
            </a:r>
            <a:r>
              <a:rPr lang="zh-CN" altLang="en-US" sz="2600" dirty="0" smtClean="0"/>
              <a:t>）重置按钮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sz="2200" dirty="0" smtClean="0"/>
              <a:t>重置按钮使用</a:t>
            </a:r>
            <a:r>
              <a:rPr lang="en-US" altLang="zh-CN" sz="2200" dirty="0" smtClean="0"/>
              <a:t>&lt;input type="reset"&gt;</a:t>
            </a:r>
            <a:r>
              <a:rPr lang="zh-CN" altLang="zh-CN" sz="2200" dirty="0" smtClean="0"/>
              <a:t>标签来定义。当用户单击重置按钮时，表单内的所有表单元素将恢复到初始状态所设定的默认值。</a:t>
            </a:r>
            <a:endParaRPr lang="zh-CN" altLang="zh-CN" sz="22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</p:spTree>
    <p:extLst>
      <p:ext uri="{BB962C8B-B14F-4D97-AF65-F5344CB8AC3E}">
        <p14:creationId xmlns:p14="http://schemas.microsoft.com/office/powerpoint/2010/main" val="1340624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表</a:t>
            </a:r>
            <a:r>
              <a:rPr lang="zh-CN" altLang="en-US" sz="3000" dirty="0" smtClean="0"/>
              <a:t>单元素：按钮</a:t>
            </a: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849" y="1875559"/>
            <a:ext cx="8362605" cy="2613314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849" y="4730170"/>
            <a:ext cx="9054168" cy="77008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771072" y="5592533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提交按钮和重置按钮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5914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000" dirty="0" smtClean="0"/>
              <a:t>&lt;label&gt;</a:t>
            </a:r>
            <a:r>
              <a:rPr lang="zh-CN" altLang="en-US" sz="3000" dirty="0" smtClean="0"/>
              <a:t>标签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&lt;label&gt;</a:t>
            </a:r>
            <a:r>
              <a:rPr lang="zh-CN" altLang="zh-CN" dirty="0"/>
              <a:t>标签用来为</a:t>
            </a:r>
            <a:r>
              <a:rPr lang="en-US" altLang="zh-CN" dirty="0"/>
              <a:t>input</a:t>
            </a:r>
            <a:r>
              <a:rPr lang="zh-CN" altLang="zh-CN" dirty="0"/>
              <a:t>元素定义标注</a:t>
            </a:r>
            <a:r>
              <a:rPr lang="zh-CN" altLang="zh-CN" dirty="0" smtClean="0"/>
              <a:t>。</a:t>
            </a:r>
            <a:r>
              <a:rPr lang="zh-CN" altLang="en-US" dirty="0" smtClean="0"/>
              <a:t>通过</a:t>
            </a:r>
            <a:r>
              <a:rPr lang="en-US" altLang="zh-CN" dirty="0" smtClean="0"/>
              <a:t>for</a:t>
            </a:r>
            <a:r>
              <a:rPr lang="zh-CN" altLang="en-US" dirty="0" smtClean="0"/>
              <a:t>属性可实现</a:t>
            </a:r>
            <a:r>
              <a:rPr lang="zh-CN" altLang="zh-CN" dirty="0" smtClean="0"/>
              <a:t>点击</a:t>
            </a:r>
            <a:r>
              <a:rPr lang="en-US" altLang="zh-CN" dirty="0"/>
              <a:t>&lt;label&gt;</a:t>
            </a:r>
            <a:r>
              <a:rPr lang="zh-CN" altLang="zh-CN" dirty="0"/>
              <a:t>元素内的文本时</a:t>
            </a:r>
            <a:r>
              <a:rPr lang="zh-CN" altLang="zh-CN" dirty="0" smtClean="0"/>
              <a:t>，将</a:t>
            </a:r>
            <a:r>
              <a:rPr lang="zh-CN" altLang="zh-CN" dirty="0"/>
              <a:t>鼠标焦点定位到相关的表单元素</a:t>
            </a:r>
            <a:r>
              <a:rPr lang="zh-CN" altLang="zh-CN" dirty="0" smtClean="0"/>
              <a:t>上。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1045" y="3472728"/>
            <a:ext cx="7803922" cy="168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424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000" dirty="0" smtClean="0"/>
              <a:t>[attribute=value]</a:t>
            </a:r>
            <a:r>
              <a:rPr lang="zh-CN" altLang="en-US" sz="3000" dirty="0" smtClean="0"/>
              <a:t>选择器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[attribute=value]</a:t>
            </a:r>
            <a:r>
              <a:rPr lang="zh-CN" altLang="zh-CN" dirty="0"/>
              <a:t>选择器用于选取带有指定属性和值的元素。例如选择所有设置了</a:t>
            </a:r>
            <a:r>
              <a:rPr lang="en-US" altLang="zh-CN" dirty="0"/>
              <a:t>target="_blank"</a:t>
            </a:r>
            <a:r>
              <a:rPr lang="zh-CN" altLang="zh-CN" dirty="0"/>
              <a:t>的</a:t>
            </a:r>
            <a:r>
              <a:rPr lang="en-US" altLang="zh-CN" dirty="0"/>
              <a:t>&lt;a&gt;</a:t>
            </a:r>
            <a:r>
              <a:rPr lang="zh-CN" altLang="zh-CN" dirty="0"/>
              <a:t>元素，并把文字设置为红色：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150" y="3183082"/>
            <a:ext cx="3344141" cy="196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835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3" y="955965"/>
            <a:ext cx="10112953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外边距合并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 smtClean="0"/>
              <a:t>当</a:t>
            </a:r>
            <a:r>
              <a:rPr lang="zh-CN" altLang="zh-CN" dirty="0"/>
              <a:t>两个垂直外边距相遇时，将会合并成为一个外边距，合并后的外边距高度等于两个发生合并的外边距中高度较大者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1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1</a:t>
            </a:r>
            <a:r>
              <a:rPr lang="zh-CN" altLang="en-US" dirty="0" smtClean="0"/>
              <a:t>）上下</a:t>
            </a:r>
            <a:r>
              <a:rPr lang="zh-CN" altLang="en-US" dirty="0"/>
              <a:t>相邻</a:t>
            </a:r>
            <a:r>
              <a:rPr lang="zh-CN" altLang="en-US" dirty="0" smtClean="0"/>
              <a:t>元素外边距合并</a:t>
            </a:r>
            <a:endParaRPr lang="zh-CN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8008" y="3054493"/>
            <a:ext cx="5759593" cy="3031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012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3" y="955965"/>
            <a:ext cx="10112953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外边距合并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r>
              <a:rPr lang="zh-CN" altLang="en-US" dirty="0"/>
              <a:t>父</a:t>
            </a:r>
            <a:r>
              <a:rPr lang="zh-CN" altLang="en-US" dirty="0" smtClean="0"/>
              <a:t>元素和子元素外边距合并</a:t>
            </a:r>
            <a:endParaRPr lang="zh-CN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6671" y="2413721"/>
            <a:ext cx="7254662" cy="3672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736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5734916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设计网页的</a:t>
            </a:r>
            <a:r>
              <a:rPr lang="en-US" altLang="zh-CN" sz="3000" dirty="0" smtClean="0"/>
              <a:t>HTML</a:t>
            </a:r>
            <a:r>
              <a:rPr lang="zh-CN" altLang="en-US" sz="3000" dirty="0" smtClean="0"/>
              <a:t>标签结构</a:t>
            </a: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5748" y="955965"/>
            <a:ext cx="4895850" cy="53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39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4446443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设计网页的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1</a:t>
            </a:r>
            <a:r>
              <a:rPr lang="zh-CN" altLang="en-US" sz="2600" dirty="0" smtClean="0"/>
              <a:t>）整体布局样式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在外层</a:t>
            </a:r>
            <a:r>
              <a:rPr lang="en-US" altLang="zh-CN" dirty="0"/>
              <a:t>div</a:t>
            </a:r>
            <a:r>
              <a:rPr lang="zh-CN" altLang="zh-CN" dirty="0"/>
              <a:t>上统一设置网页内容的宽度为</a:t>
            </a:r>
            <a:r>
              <a:rPr lang="en-US" altLang="zh-CN" dirty="0"/>
              <a:t>950</a:t>
            </a:r>
            <a:r>
              <a:rPr lang="zh-CN" altLang="zh-CN" dirty="0"/>
              <a:t>像素，居中显示；中间主体最外层</a:t>
            </a:r>
            <a:r>
              <a:rPr lang="en-US" altLang="zh-CN" dirty="0"/>
              <a:t>div</a:t>
            </a:r>
            <a:r>
              <a:rPr lang="zh-CN" altLang="zh-CN" dirty="0"/>
              <a:t>负责与浏览器同宽的蓝色背景，内层</a:t>
            </a:r>
            <a:r>
              <a:rPr lang="en-US" altLang="zh-CN" dirty="0"/>
              <a:t>div</a:t>
            </a:r>
            <a:r>
              <a:rPr lang="zh-CN" altLang="zh-CN" dirty="0"/>
              <a:t>负责宽度限制；图片通过背景方式</a:t>
            </a:r>
            <a:r>
              <a:rPr lang="zh-CN" altLang="zh-CN" dirty="0" smtClean="0"/>
              <a:t>添加。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9530" y="1080656"/>
            <a:ext cx="4004397" cy="5070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361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4446443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设计网页的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2</a:t>
            </a:r>
            <a:r>
              <a:rPr lang="zh-CN" altLang="en-US" sz="2600" dirty="0" smtClean="0"/>
              <a:t>）</a:t>
            </a:r>
            <a:r>
              <a:rPr lang="zh-CN" altLang="en-US" sz="2600" dirty="0"/>
              <a:t>表单的</a:t>
            </a:r>
            <a:r>
              <a:rPr lang="zh-CN" altLang="en-US" sz="2600" dirty="0" smtClean="0"/>
              <a:t>整体样式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利用</a:t>
            </a:r>
            <a:r>
              <a:rPr lang="en-US" altLang="zh-CN" dirty="0"/>
              <a:t>&lt;form&gt;</a:t>
            </a:r>
            <a:r>
              <a:rPr lang="zh-CN" altLang="zh-CN" dirty="0"/>
              <a:t>标签的</a:t>
            </a:r>
            <a:r>
              <a:rPr lang="en-US" altLang="zh-CN" dirty="0"/>
              <a:t>margin-left</a:t>
            </a:r>
            <a:r>
              <a:rPr lang="zh-CN" altLang="zh-CN" dirty="0"/>
              <a:t>属性将表单整体移动到图片的右侧，然后设置白色背景、</a:t>
            </a:r>
            <a:r>
              <a:rPr lang="zh-CN" altLang="zh-CN" dirty="0" smtClean="0"/>
              <a:t>边框</a:t>
            </a:r>
            <a:r>
              <a:rPr lang="zh-CN" altLang="en-US" dirty="0"/>
              <a:t>、</a:t>
            </a:r>
            <a:r>
              <a:rPr lang="zh-CN" altLang="zh-CN" dirty="0" smtClean="0"/>
              <a:t>宽度</a:t>
            </a:r>
            <a:r>
              <a:rPr lang="zh-CN" altLang="en-US" dirty="0" smtClean="0"/>
              <a:t>和外边距。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9782" y="1840490"/>
            <a:ext cx="4526441" cy="3729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810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4446443" cy="166254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设计网页的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smtClean="0"/>
              <a:t>3</a:t>
            </a:r>
            <a:r>
              <a:rPr lang="zh-CN" altLang="en-US" sz="2600" smtClean="0"/>
              <a:t>）</a:t>
            </a:r>
            <a:r>
              <a:rPr lang="zh-CN" altLang="en-US" sz="2600" dirty="0"/>
              <a:t>表单</a:t>
            </a:r>
            <a:r>
              <a:rPr lang="zh-CN" altLang="en-US" sz="2600" dirty="0" smtClean="0"/>
              <a:t>的</a:t>
            </a:r>
            <a:r>
              <a:rPr lang="zh-CN" altLang="en-US" sz="2600" dirty="0"/>
              <a:t>内部</a:t>
            </a:r>
            <a:r>
              <a:rPr lang="zh-CN" altLang="en-US" sz="2600" dirty="0" smtClean="0"/>
              <a:t>样式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1641" y="2365664"/>
            <a:ext cx="4805086" cy="374363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7114" y="1055543"/>
            <a:ext cx="2282339" cy="5053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912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22185"/>
            <a:ext cx="7466734" cy="491489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3600" dirty="0" smtClean="0"/>
              <a:t>任务中主要使用：</a:t>
            </a:r>
            <a:endParaRPr lang="en-US" altLang="zh-CN" sz="36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/>
              <a:t>表单的属性和作用</a:t>
            </a:r>
            <a:endParaRPr lang="en-US" altLang="zh-CN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/>
              <a:t>表单元素：文本框</a:t>
            </a:r>
            <a:r>
              <a:rPr lang="zh-CN" altLang="en-US" dirty="0"/>
              <a:t>、按钮、</a:t>
            </a:r>
            <a:r>
              <a:rPr lang="en-US" altLang="zh-CN" dirty="0"/>
              <a:t>label</a:t>
            </a:r>
            <a:r>
              <a:rPr lang="zh-CN" altLang="en-US" dirty="0"/>
              <a:t>的用法</a:t>
            </a:r>
            <a:endParaRPr lang="en-US" altLang="zh-CN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/>
              <a:t>运用</a:t>
            </a:r>
            <a:r>
              <a:rPr lang="en-US" altLang="zh-CN" dirty="0" smtClean="0"/>
              <a:t>margin</a:t>
            </a:r>
            <a:r>
              <a:rPr lang="zh-CN" altLang="en-US" dirty="0" smtClean="0"/>
              <a:t>调整表单布局</a:t>
            </a: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小  结</a:t>
            </a:r>
            <a:endParaRPr lang="zh-CN" altLang="en-US" dirty="0"/>
          </a:p>
        </p:txBody>
      </p:sp>
      <p:sp>
        <p:nvSpPr>
          <p:cNvPr id="6" name="流程图: 可选过程 5"/>
          <p:cNvSpPr/>
          <p:nvPr/>
        </p:nvSpPr>
        <p:spPr>
          <a:xfrm>
            <a:off x="5867945" y="3857479"/>
            <a:ext cx="5160274" cy="222899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360000" rtlCol="0" anchor="ctr"/>
          <a:lstStyle/>
          <a:p>
            <a:r>
              <a:rPr lang="en-US" altLang="zh-CN" sz="3200" b="1" dirty="0" smtClean="0"/>
              <a:t>&gt;&gt; </a:t>
            </a:r>
            <a:r>
              <a:rPr lang="zh-CN" altLang="en-US" sz="3200" b="1" dirty="0"/>
              <a:t>外边距合并</a:t>
            </a:r>
            <a:endParaRPr lang="en-US" altLang="zh-CN" sz="3200" b="1" dirty="0" smtClean="0"/>
          </a:p>
          <a:p>
            <a:pPr>
              <a:lnSpc>
                <a:spcPct val="150000"/>
              </a:lnSpc>
            </a:pPr>
            <a:r>
              <a:rPr lang="zh-CN" altLang="zh-CN" sz="2400" dirty="0"/>
              <a:t>外边距合并只可能发生在垂直方向，水平方向不会产生合并的情况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23064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课后作业</a:t>
            </a:r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672" t="24026" r="3767" b="16259"/>
          <a:stretch/>
        </p:blipFill>
        <p:spPr>
          <a:xfrm>
            <a:off x="6109854" y="1510145"/>
            <a:ext cx="4904509" cy="4027577"/>
          </a:xfrm>
        </p:spPr>
      </p:pic>
      <p:sp>
        <p:nvSpPr>
          <p:cNvPr id="8" name="内容占位符 1"/>
          <p:cNvSpPr txBox="1">
            <a:spLocks/>
          </p:cNvSpPr>
          <p:nvPr/>
        </p:nvSpPr>
        <p:spPr>
          <a:xfrm>
            <a:off x="1095375" y="1171575"/>
            <a:ext cx="4889789" cy="4914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对本节案例进行修改，效果如右图。</a:t>
            </a:r>
            <a:endParaRPr lang="en-US" altLang="zh-CN" sz="3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底部新增内容为超链接，鼠标经过文字变红色。</a:t>
            </a:r>
            <a:endParaRPr lang="en-US" altLang="zh-CN" sz="3000" dirty="0" smtClean="0"/>
          </a:p>
        </p:txBody>
      </p:sp>
    </p:spTree>
    <p:extLst>
      <p:ext uri="{BB962C8B-B14F-4D97-AF65-F5344CB8AC3E}">
        <p14:creationId xmlns:p14="http://schemas.microsoft.com/office/powerpoint/2010/main" val="872196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上阴影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1518</TotalTime>
  <Words>806</Words>
  <Application>Microsoft Office PowerPoint</Application>
  <PresentationFormat>宽屏</PresentationFormat>
  <Paragraphs>79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7" baseType="lpstr">
      <vt:lpstr>等线</vt:lpstr>
      <vt:lpstr>等线 Light</vt:lpstr>
      <vt:lpstr>华文行楷</vt:lpstr>
      <vt:lpstr>微软雅黑</vt:lpstr>
      <vt:lpstr>Arial</vt:lpstr>
      <vt:lpstr>Wingdings</vt:lpstr>
      <vt:lpstr>Office 主题​​</vt:lpstr>
      <vt:lpstr>简单表单页的设计</vt:lpstr>
      <vt:lpstr>学习目标</vt:lpstr>
      <vt:lpstr>任务目标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任务实施</vt:lpstr>
      <vt:lpstr>任务实施</vt:lpstr>
      <vt:lpstr>任务实施</vt:lpstr>
      <vt:lpstr>任务实施</vt:lpstr>
      <vt:lpstr>小  结</vt:lpstr>
      <vt:lpstr>课后作业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网页制作三大技术</dc:title>
  <dc:creator>Lenovo</dc:creator>
  <cp:lastModifiedBy>陆炜妮</cp:lastModifiedBy>
  <cp:revision>92</cp:revision>
  <dcterms:created xsi:type="dcterms:W3CDTF">2020-04-27T05:20:13Z</dcterms:created>
  <dcterms:modified xsi:type="dcterms:W3CDTF">2020-08-06T09:23:38Z</dcterms:modified>
</cp:coreProperties>
</file>
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75" r:id="rId26"/>
    <p:sldId id="267" r:id="rId27"/>
    <p:sldId id="26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86398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zh-CN" altLang="en-US" sz="36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</a:t>
            </a:r>
            <a:r>
              <a:rPr lang="en-US" altLang="zh-CN" sz="3200" dirty="0" smtClean="0"/>
              <a:t>JavaScript</a:t>
            </a:r>
            <a:r>
              <a:rPr lang="zh-CN" altLang="en-US" sz="3200" dirty="0" smtClean="0"/>
              <a:t>基础语法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</a:t>
            </a:r>
            <a:r>
              <a:rPr lang="en-US" altLang="zh-CN" sz="3200" dirty="0" smtClean="0"/>
              <a:t>JavaScript</a:t>
            </a:r>
            <a:r>
              <a:rPr lang="zh-CN" altLang="en-US" sz="3200" dirty="0" smtClean="0"/>
              <a:t>的</a:t>
            </a:r>
            <a:r>
              <a:rPr lang="en-US" altLang="zh-CN" sz="3200" dirty="0"/>
              <a:t>if</a:t>
            </a:r>
            <a:r>
              <a:rPr lang="zh-CN" altLang="en-US" sz="3200" dirty="0" smtClean="0"/>
              <a:t>条件判断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截图167"/>
          <p:cNvPicPr/>
          <p:nvPr/>
        </p:nvPicPr>
        <p:blipFill>
          <a:blip r:embed="rId2"/>
          <a:stretch>
            <a:fillRect/>
          </a:stretch>
        </p:blipFill>
        <p:spPr>
          <a:xfrm>
            <a:off x="5980471" y="4094663"/>
            <a:ext cx="5166472" cy="1937427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41253"/>
            <a:ext cx="10187142" cy="5122198"/>
          </a:xfrm>
        </p:spPr>
        <p:txBody>
          <a:bodyPr>
            <a:norm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zh-CN" altLang="en-US" sz="3000" dirty="0"/>
              <a:t>使用</a:t>
            </a:r>
            <a:r>
              <a:rPr lang="en-US" altLang="zh-CN" sz="3000" dirty="0"/>
              <a:t>JavaScript</a:t>
            </a:r>
            <a:r>
              <a:rPr lang="zh-CN" altLang="en-US" sz="3000" dirty="0"/>
              <a:t>编程</a:t>
            </a:r>
            <a:r>
              <a:rPr lang="zh-CN" altLang="en-US" sz="3000" dirty="0" smtClean="0"/>
              <a:t>实现：</a:t>
            </a:r>
            <a:endParaRPr lang="en-US" altLang="zh-CN" sz="3000" dirty="0" smtClean="0"/>
          </a:p>
          <a:p>
            <a:pPr lvl="1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600" dirty="0" smtClean="0"/>
              <a:t>接收用户输入、输出结果</a:t>
            </a:r>
            <a:endParaRPr lang="en-US" altLang="zh-CN" sz="2600" dirty="0" smtClean="0"/>
          </a:p>
          <a:p>
            <a:pPr lvl="1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600" dirty="0" smtClean="0"/>
              <a:t>使用变量、数据类型转换、</a:t>
            </a:r>
            <a:r>
              <a:rPr lang="en-US" altLang="zh-CN" sz="2600" dirty="0" smtClean="0"/>
              <a:t>if</a:t>
            </a:r>
            <a:r>
              <a:rPr lang="zh-CN" altLang="en-US" sz="2600" dirty="0" smtClean="0"/>
              <a:t>语句实现分数等级的判断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 descr="截图166"/>
          <p:cNvPicPr/>
          <p:nvPr/>
        </p:nvPicPr>
        <p:blipFill rotWithShape="1">
          <a:blip r:embed="rId3"/>
          <a:srcRect l="6341" r="11103" b="12848"/>
          <a:stretch/>
        </p:blipFill>
        <p:spPr>
          <a:xfrm>
            <a:off x="1222424" y="3070092"/>
            <a:ext cx="5812557" cy="255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基本语法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）区分大小写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JavaScript</a:t>
            </a:r>
            <a:r>
              <a:rPr lang="zh-CN" altLang="zh-CN" sz="2200" dirty="0"/>
              <a:t>对字母的大小写敏感，所以在定义和使用变量名、函数名、关键字及其他标识符时，一定要严格区分字母的大小写，例如变量</a:t>
            </a:r>
            <a:r>
              <a:rPr lang="en-US" altLang="zh-CN" sz="2200" dirty="0"/>
              <a:t>password</a:t>
            </a:r>
            <a:r>
              <a:rPr lang="zh-CN" altLang="zh-CN" sz="2200" dirty="0"/>
              <a:t>与变量</a:t>
            </a:r>
            <a:r>
              <a:rPr lang="en-US" altLang="zh-CN" sz="2200" dirty="0" err="1"/>
              <a:t>passWord</a:t>
            </a:r>
            <a:r>
              <a:rPr lang="zh-CN" altLang="zh-CN" sz="2200" dirty="0"/>
              <a:t>是两个不同的变量。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基本语法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）语句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JavaScript</a:t>
            </a:r>
            <a:r>
              <a:rPr lang="zh-CN" altLang="zh-CN" sz="2200" dirty="0"/>
              <a:t>语句是发送给浏览器的命令，告诉浏览器要做的事情。一个完整的</a:t>
            </a:r>
            <a:r>
              <a:rPr lang="en-US" altLang="zh-CN" sz="2200" dirty="0"/>
              <a:t>JavaScript</a:t>
            </a:r>
            <a:r>
              <a:rPr lang="zh-CN" altLang="zh-CN" sz="2200" dirty="0"/>
              <a:t>功能通常是由多条语句组合完成的。</a:t>
            </a:r>
            <a:r>
              <a:rPr lang="en-US" altLang="zh-CN" sz="2200" dirty="0"/>
              <a:t>JavaScript</a:t>
            </a:r>
            <a:r>
              <a:rPr lang="zh-CN" altLang="zh-CN" sz="2200" dirty="0"/>
              <a:t>语句之间使用分号；分隔，多条语句可以排列在一行，也可以一条语句独占一行。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94" y="4035123"/>
            <a:ext cx="1586995" cy="20477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951" y="4548860"/>
            <a:ext cx="3173107" cy="104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0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基本语法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）运算符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JavaScript</a:t>
            </a:r>
            <a:r>
              <a:rPr lang="zh-CN" altLang="zh-CN" sz="2200" dirty="0"/>
              <a:t>中的运算符用于执行算术运算、值的比较等</a:t>
            </a:r>
            <a:r>
              <a:rPr lang="zh-CN" altLang="zh-CN" sz="2200" dirty="0" smtClean="0"/>
              <a:t>。</a:t>
            </a:r>
            <a:r>
              <a:rPr lang="zh-CN" altLang="zh-CN" sz="2200" dirty="0"/>
              <a:t>下面列出常用的算术运算符、比较运算符和逻辑运算符。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17898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05181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基本语法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）运算符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算术运算符用于执行两个变量或值的运算。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975" y="1897890"/>
            <a:ext cx="5533969" cy="401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4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14030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基本语法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）运算符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比较运算符用于逻辑语句的判断，从而确定给定的两个值或变量之间的大小关系。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677" y="1978546"/>
            <a:ext cx="5938434" cy="344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7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基本语法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）运算符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逻辑运算符用来确定变量或值之间的逻辑</a:t>
            </a:r>
            <a:r>
              <a:rPr lang="zh-CN" altLang="zh-CN" dirty="0" smtClean="0"/>
              <a:t>关系。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313" y="3215370"/>
            <a:ext cx="9480344" cy="204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0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464768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基本语法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）注释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为了提高</a:t>
            </a:r>
            <a:r>
              <a:rPr lang="en-US" altLang="zh-CN" sz="2200" dirty="0"/>
              <a:t>JavaScript</a:t>
            </a:r>
            <a:r>
              <a:rPr lang="zh-CN" altLang="zh-CN" sz="2200" dirty="0"/>
              <a:t>代码的可读性，可以添加注释。单行注释使用</a:t>
            </a:r>
            <a:r>
              <a:rPr lang="en-US" altLang="zh-CN" sz="2200" dirty="0"/>
              <a:t>//</a:t>
            </a:r>
            <a:r>
              <a:rPr lang="zh-CN" altLang="zh-CN" sz="2200" dirty="0"/>
              <a:t>开头，多行注释使用</a:t>
            </a:r>
            <a:r>
              <a:rPr lang="en-US" altLang="zh-CN" sz="2200" dirty="0"/>
              <a:t>/*</a:t>
            </a:r>
            <a:r>
              <a:rPr lang="zh-CN" altLang="zh-CN" sz="2200" dirty="0"/>
              <a:t>开头，</a:t>
            </a:r>
            <a:r>
              <a:rPr lang="en-US" altLang="zh-CN" sz="2200" dirty="0"/>
              <a:t>*/</a:t>
            </a:r>
            <a:r>
              <a:rPr lang="zh-CN" altLang="zh-CN" sz="2200" dirty="0"/>
              <a:t>结尾</a:t>
            </a:r>
            <a:r>
              <a:rPr lang="zh-CN" altLang="zh-CN" sz="2200" dirty="0" smtClean="0"/>
              <a:t>。</a:t>
            </a:r>
            <a:r>
              <a:rPr lang="zh-CN" altLang="en-US" sz="2200" dirty="0" smtClean="0"/>
              <a:t>注意，</a:t>
            </a:r>
            <a:r>
              <a:rPr lang="zh-CN" altLang="zh-CN" sz="2200" dirty="0" smtClean="0"/>
              <a:t>注释</a:t>
            </a:r>
            <a:r>
              <a:rPr lang="zh-CN" altLang="zh-CN" sz="2200" dirty="0"/>
              <a:t>不会被</a:t>
            </a:r>
            <a:r>
              <a:rPr lang="zh-CN" altLang="zh-CN" sz="2200" dirty="0" smtClean="0"/>
              <a:t>执行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982" y="1800267"/>
            <a:ext cx="3934133" cy="411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1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9541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变量</a:t>
            </a:r>
            <a:endParaRPr lang="en-US" altLang="zh-CN" sz="3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变量是用于存放数据的容器，容器中的内容是可以改变的。</a:t>
            </a:r>
            <a:r>
              <a:rPr lang="en-US" altLang="zh-CN" dirty="0"/>
              <a:t>JavaScript</a:t>
            </a:r>
            <a:r>
              <a:rPr lang="zh-CN" altLang="zh-CN" dirty="0"/>
              <a:t>中使用</a:t>
            </a:r>
            <a:r>
              <a:rPr lang="en-US" altLang="zh-CN" dirty="0" err="1"/>
              <a:t>var</a:t>
            </a:r>
            <a:r>
              <a:rPr lang="zh-CN" altLang="zh-CN" dirty="0"/>
              <a:t>关键字来声明</a:t>
            </a:r>
            <a:r>
              <a:rPr lang="zh-CN" altLang="zh-CN" dirty="0" smtClean="0"/>
              <a:t>变量</a:t>
            </a:r>
            <a:r>
              <a:rPr lang="zh-CN" altLang="en-US" dirty="0" smtClean="0"/>
              <a:t>。</a:t>
            </a: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579" y="3198291"/>
            <a:ext cx="7570795" cy="180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9541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变量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变量</a:t>
            </a:r>
            <a:r>
              <a:rPr lang="zh-CN" altLang="zh-CN" dirty="0"/>
              <a:t>名需要遵守以下命名规则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1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变量</a:t>
            </a:r>
            <a:r>
              <a:rPr lang="zh-CN" altLang="zh-CN" sz="2200" dirty="0"/>
              <a:t>名只允许包含字母、数字、美元符号（</a:t>
            </a:r>
            <a:r>
              <a:rPr lang="en-US" altLang="zh-CN" sz="2200" dirty="0"/>
              <a:t>$</a:t>
            </a:r>
            <a:r>
              <a:rPr lang="zh-CN" altLang="zh-CN" sz="2200" dirty="0"/>
              <a:t>）和下划线（</a:t>
            </a:r>
            <a:r>
              <a:rPr lang="en-US" altLang="zh-CN" sz="2200" dirty="0"/>
              <a:t>_</a:t>
            </a:r>
            <a:r>
              <a:rPr lang="zh-CN" altLang="zh-CN" sz="2200" dirty="0"/>
              <a:t>），但第一个字符不允许是数字</a:t>
            </a:r>
            <a:r>
              <a:rPr lang="zh-CN" altLang="zh-CN" sz="2200" dirty="0" smtClean="0"/>
              <a:t>。</a:t>
            </a:r>
            <a:endParaRPr lang="en-US" altLang="zh-CN" sz="22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2</a:t>
            </a:r>
            <a:r>
              <a:rPr lang="zh-CN" altLang="en-US" sz="2200" dirty="0" smtClean="0"/>
              <a:t>）</a:t>
            </a:r>
            <a:r>
              <a:rPr lang="zh-CN" altLang="zh-CN" dirty="0"/>
              <a:t>变量名区分大小写。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3</a:t>
            </a:r>
            <a:r>
              <a:rPr lang="zh-CN" altLang="en-US" sz="2200" dirty="0" smtClean="0"/>
              <a:t>）</a:t>
            </a:r>
            <a:r>
              <a:rPr lang="zh-CN" altLang="zh-CN" dirty="0"/>
              <a:t>变量名不允许使用保留关键字。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zh-CN" altLang="zh-CN" sz="22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12362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9541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保留关键字</a:t>
            </a:r>
            <a:endParaRPr lang="en-US" altLang="zh-CN" sz="3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在</a:t>
            </a:r>
            <a:r>
              <a:rPr lang="en-US" altLang="zh-CN" dirty="0"/>
              <a:t>JavaScript</a:t>
            </a:r>
            <a:r>
              <a:rPr lang="zh-CN" altLang="zh-CN" dirty="0"/>
              <a:t>中，以下标识符是保留关键字，不能用作变量名或函数名。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zh-CN" altLang="zh-CN" sz="22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961" y="2478651"/>
            <a:ext cx="6643676" cy="360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7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9541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数据类型</a:t>
            </a:r>
            <a:endParaRPr lang="en-US" altLang="zh-CN" sz="3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的基本数据类型有：字符串（</a:t>
            </a:r>
            <a:r>
              <a:rPr lang="en-US" altLang="zh-CN" dirty="0"/>
              <a:t>String</a:t>
            </a:r>
            <a:r>
              <a:rPr lang="zh-CN" altLang="zh-CN" dirty="0"/>
              <a:t>）、数字（</a:t>
            </a:r>
            <a:r>
              <a:rPr lang="en-US" altLang="zh-CN" dirty="0"/>
              <a:t>Number</a:t>
            </a:r>
            <a:r>
              <a:rPr lang="zh-CN" altLang="zh-CN" dirty="0"/>
              <a:t>）、布尔（</a:t>
            </a:r>
            <a:r>
              <a:rPr lang="en-US" altLang="zh-CN" dirty="0"/>
              <a:t>Boolean</a:t>
            </a:r>
            <a:r>
              <a:rPr lang="zh-CN" altLang="zh-CN" dirty="0"/>
              <a:t>）。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）字符串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字符串类型用于存储字符的变量，使用双引号或单引号来</a:t>
            </a:r>
            <a:r>
              <a:rPr lang="zh-CN" altLang="zh-CN" sz="2200" dirty="0" smtClean="0"/>
              <a:t>定义</a:t>
            </a:r>
            <a:r>
              <a:rPr lang="zh-CN" altLang="en-US" sz="2200" dirty="0" smtClean="0"/>
              <a:t>。</a:t>
            </a:r>
            <a:endParaRPr lang="zh-CN" altLang="zh-CN" sz="2200" dirty="0"/>
          </a:p>
          <a:p>
            <a:pPr marL="914400" lvl="2" indent="0">
              <a:lnSpc>
                <a:spcPct val="150000"/>
              </a:lnSpc>
              <a:buNone/>
            </a:pPr>
            <a:endParaRPr lang="zh-CN" altLang="zh-CN" sz="22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078" y="4238931"/>
            <a:ext cx="4882793" cy="184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1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9541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数据类型</a:t>
            </a:r>
            <a:endParaRPr lang="en-US" altLang="zh-CN" sz="3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的基本数据类型有：字符串（</a:t>
            </a:r>
            <a:r>
              <a:rPr lang="en-US" altLang="zh-CN" dirty="0"/>
              <a:t>String</a:t>
            </a:r>
            <a:r>
              <a:rPr lang="zh-CN" altLang="zh-CN" dirty="0"/>
              <a:t>）、数字（</a:t>
            </a:r>
            <a:r>
              <a:rPr lang="en-US" altLang="zh-CN" dirty="0"/>
              <a:t>Number</a:t>
            </a:r>
            <a:r>
              <a:rPr lang="zh-CN" altLang="zh-CN" dirty="0"/>
              <a:t>）、布尔（</a:t>
            </a:r>
            <a:r>
              <a:rPr lang="en-US" altLang="zh-CN" dirty="0"/>
              <a:t>Boolean</a:t>
            </a:r>
            <a:r>
              <a:rPr lang="zh-CN" altLang="zh-CN" dirty="0"/>
              <a:t>）。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）数字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JavaScript</a:t>
            </a:r>
            <a:r>
              <a:rPr lang="zh-CN" altLang="zh-CN" sz="2200" dirty="0"/>
              <a:t>只有一种数字类型，可以带小数点，也可以不</a:t>
            </a:r>
            <a:r>
              <a:rPr lang="zh-CN" altLang="zh-CN" sz="2200" dirty="0" smtClean="0"/>
              <a:t>带</a:t>
            </a:r>
            <a:r>
              <a:rPr lang="zh-CN" altLang="en-US" sz="2200" dirty="0" smtClean="0"/>
              <a:t>。</a:t>
            </a:r>
            <a:endParaRPr lang="zh-CN" altLang="zh-CN" sz="22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115" y="4226076"/>
            <a:ext cx="2989927" cy="18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0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9541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数据类型</a:t>
            </a:r>
            <a:endParaRPr lang="en-US" altLang="zh-CN" sz="3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的基本数据类型有：字符串（</a:t>
            </a:r>
            <a:r>
              <a:rPr lang="en-US" altLang="zh-CN" dirty="0"/>
              <a:t>String</a:t>
            </a:r>
            <a:r>
              <a:rPr lang="zh-CN" altLang="zh-CN" dirty="0"/>
              <a:t>）、数字（</a:t>
            </a:r>
            <a:r>
              <a:rPr lang="en-US" altLang="zh-CN" dirty="0"/>
              <a:t>Number</a:t>
            </a:r>
            <a:r>
              <a:rPr lang="zh-CN" altLang="zh-CN" dirty="0"/>
              <a:t>）、布尔（</a:t>
            </a:r>
            <a:r>
              <a:rPr lang="en-US" altLang="zh-CN" dirty="0"/>
              <a:t>Boolean</a:t>
            </a:r>
            <a:r>
              <a:rPr lang="zh-CN" altLang="zh-CN" dirty="0"/>
              <a:t>）。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zh-CN" altLang="en-US" dirty="0"/>
              <a:t>布尔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布尔类型只能有两个值：</a:t>
            </a:r>
            <a:r>
              <a:rPr lang="en-US" altLang="zh-CN" sz="2200" dirty="0"/>
              <a:t>true</a:t>
            </a:r>
            <a:r>
              <a:rPr lang="zh-CN" altLang="zh-CN" sz="2200" dirty="0"/>
              <a:t>和</a:t>
            </a:r>
            <a:r>
              <a:rPr lang="en-US" altLang="zh-CN" sz="2200" dirty="0"/>
              <a:t>false</a:t>
            </a:r>
            <a:r>
              <a:rPr lang="zh-CN" altLang="zh-CN" sz="2200" dirty="0"/>
              <a:t>。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595" y="4253681"/>
            <a:ext cx="2945562" cy="183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2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93642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数据类型转换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JavaScript</a:t>
            </a:r>
            <a:r>
              <a:rPr lang="zh-CN" altLang="zh-CN" dirty="0"/>
              <a:t>变量通过使用函数能够被转换为不同的数据类型，常用的转换包括：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）把数字转换为字符串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可以使用全局方法</a:t>
            </a:r>
            <a:r>
              <a:rPr lang="en-US" altLang="zh-CN" sz="2200" dirty="0"/>
              <a:t>String()</a:t>
            </a:r>
            <a:r>
              <a:rPr lang="zh-CN" altLang="zh-CN" sz="2200" dirty="0"/>
              <a:t>或数字方法</a:t>
            </a:r>
            <a:r>
              <a:rPr lang="en-US" altLang="zh-CN" sz="2200" dirty="0" err="1"/>
              <a:t>toString</a:t>
            </a:r>
            <a:r>
              <a:rPr lang="en-US" altLang="zh-CN" sz="2200" dirty="0"/>
              <a:t>()</a:t>
            </a:r>
            <a:r>
              <a:rPr lang="zh-CN" altLang="zh-CN" sz="2200" dirty="0"/>
              <a:t>来</a:t>
            </a:r>
            <a:r>
              <a:rPr lang="zh-CN" altLang="zh-CN" sz="2200" dirty="0" smtClean="0"/>
              <a:t>实现</a:t>
            </a:r>
            <a:r>
              <a:rPr lang="zh-CN" altLang="en-US" sz="2200" dirty="0" smtClean="0"/>
              <a:t>。</a:t>
            </a:r>
            <a:endParaRPr lang="en-US" altLang="zh-CN" sz="22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685" y="4247381"/>
            <a:ext cx="2979798" cy="183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4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0692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数据类型转换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）把字符串转换为</a:t>
            </a:r>
            <a:r>
              <a:rPr lang="zh-CN" altLang="en-US" sz="2600" dirty="0"/>
              <a:t>数字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可以使用全局方法</a:t>
            </a:r>
            <a:r>
              <a:rPr lang="en-US" altLang="zh-CN" sz="2200" dirty="0"/>
              <a:t>Number()</a:t>
            </a:r>
            <a:r>
              <a:rPr lang="zh-CN" altLang="zh-CN" sz="2200" dirty="0"/>
              <a:t>、</a:t>
            </a:r>
            <a:r>
              <a:rPr lang="en-US" altLang="zh-CN" sz="2200" dirty="0" err="1"/>
              <a:t>parseInt</a:t>
            </a:r>
            <a:r>
              <a:rPr lang="en-US" altLang="zh-CN" sz="2200" dirty="0"/>
              <a:t>()</a:t>
            </a:r>
            <a:r>
              <a:rPr lang="zh-CN" altLang="zh-CN" sz="2200" dirty="0"/>
              <a:t>或</a:t>
            </a:r>
            <a:r>
              <a:rPr lang="en-US" altLang="zh-CN" sz="2200" dirty="0" err="1"/>
              <a:t>parseFloat</a:t>
            </a:r>
            <a:r>
              <a:rPr lang="en-US" altLang="zh-CN" sz="2200" dirty="0"/>
              <a:t>()</a:t>
            </a:r>
            <a:r>
              <a:rPr lang="zh-CN" altLang="zh-CN" sz="2200" dirty="0"/>
              <a:t>来实现。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068" y="3019425"/>
            <a:ext cx="7566513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6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0692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输入语句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prompt()</a:t>
            </a:r>
            <a:r>
              <a:rPr lang="zh-CN" altLang="zh-CN" dirty="0"/>
              <a:t>方法用于显示可提示用户进行输入的对话框，该方法返回用户输入的</a:t>
            </a:r>
            <a:r>
              <a:rPr lang="zh-CN" altLang="zh-CN" dirty="0" smtClean="0"/>
              <a:t>字符串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en-US" altLang="zh-CN" b="1" dirty="0"/>
              <a:t>prompt(</a:t>
            </a:r>
            <a:r>
              <a:rPr lang="en-US" altLang="zh-CN" b="1" dirty="0" err="1"/>
              <a:t>msg,defaultTxt</a:t>
            </a:r>
            <a:r>
              <a:rPr lang="en-US" altLang="zh-CN" b="1" dirty="0"/>
              <a:t>);</a:t>
            </a:r>
            <a:endParaRPr lang="zh-CN" altLang="zh-CN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200" dirty="0" smtClean="0"/>
              <a:t>注：</a:t>
            </a:r>
            <a:r>
              <a:rPr lang="zh-CN" altLang="zh-CN" sz="2200" dirty="0" smtClean="0"/>
              <a:t>参数</a:t>
            </a:r>
            <a:r>
              <a:rPr lang="en-US" altLang="zh-CN" sz="2200" dirty="0" err="1"/>
              <a:t>msg</a:t>
            </a:r>
            <a:r>
              <a:rPr lang="zh-CN" altLang="zh-CN" sz="2200" dirty="0"/>
              <a:t>表示要在对话框中显示的提示文本；参数</a:t>
            </a:r>
            <a:r>
              <a:rPr lang="en-US" altLang="zh-CN" sz="2200" dirty="0" err="1"/>
              <a:t>defaultTxt</a:t>
            </a:r>
            <a:r>
              <a:rPr lang="zh-CN" altLang="zh-CN" sz="2200" dirty="0"/>
              <a:t>表示默认的输入文本。这两个参数都为可选。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18" y="4715181"/>
            <a:ext cx="4685037" cy="10366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900" y="4251571"/>
            <a:ext cx="4620744" cy="183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9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0692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输</a:t>
            </a:r>
            <a:r>
              <a:rPr lang="zh-CN" altLang="en-US" sz="3000" dirty="0"/>
              <a:t>出</a:t>
            </a:r>
            <a:r>
              <a:rPr lang="zh-CN" altLang="en-US" sz="3000" dirty="0" smtClean="0"/>
              <a:t>语句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document</a:t>
            </a:r>
            <a:r>
              <a:rPr lang="zh-CN" altLang="zh-CN" dirty="0"/>
              <a:t>对象的</a:t>
            </a:r>
            <a:r>
              <a:rPr lang="en-US" altLang="zh-CN" dirty="0"/>
              <a:t>write</a:t>
            </a:r>
            <a:r>
              <a:rPr lang="zh-CN" altLang="zh-CN" dirty="0"/>
              <a:t>方法可以将内容写入</a:t>
            </a:r>
            <a:r>
              <a:rPr lang="en-US" altLang="zh-CN" dirty="0"/>
              <a:t>HTML</a:t>
            </a:r>
            <a:r>
              <a:rPr lang="zh-CN" altLang="zh-CN" dirty="0"/>
              <a:t>输出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en-US" altLang="zh-CN" b="1" dirty="0" err="1"/>
              <a:t>document.write</a:t>
            </a:r>
            <a:r>
              <a:rPr lang="en-US" altLang="zh-CN" b="1" dirty="0"/>
              <a:t>(s1,s2,s3</a:t>
            </a:r>
            <a:r>
              <a:rPr lang="en-US" altLang="zh-CN" b="1" dirty="0" smtClean="0"/>
              <a:t>,…);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200" dirty="0" smtClean="0"/>
              <a:t>注：</a:t>
            </a:r>
            <a:r>
              <a:rPr lang="zh-CN" altLang="zh-CN" sz="2200" dirty="0"/>
              <a:t>参数</a:t>
            </a:r>
            <a:r>
              <a:rPr lang="en-US" altLang="zh-CN" sz="2200" dirty="0"/>
              <a:t>s1</a:t>
            </a:r>
            <a:r>
              <a:rPr lang="zh-CN" altLang="zh-CN" sz="2200" dirty="0"/>
              <a:t>、</a:t>
            </a:r>
            <a:r>
              <a:rPr lang="en-US" altLang="zh-CN" sz="2200" dirty="0"/>
              <a:t>s2</a:t>
            </a:r>
            <a:r>
              <a:rPr lang="zh-CN" altLang="zh-CN" sz="2200" dirty="0"/>
              <a:t>、</a:t>
            </a:r>
            <a:r>
              <a:rPr lang="en-US" altLang="zh-CN" sz="2200" dirty="0"/>
              <a:t>s3</a:t>
            </a:r>
            <a:r>
              <a:rPr lang="zh-CN" altLang="zh-CN" sz="2200" dirty="0"/>
              <a:t>为要写入的输出流，它们将按顺序被追加到文档中，该参数为可选</a:t>
            </a:r>
            <a:r>
              <a:rPr lang="zh-CN" altLang="zh-CN" sz="2200" dirty="0" smtClean="0"/>
              <a:t>。</a:t>
            </a:r>
            <a:endParaRPr lang="zh-CN" altLang="zh-CN" sz="22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673" y="4712175"/>
            <a:ext cx="5281546" cy="139490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474" y="3727040"/>
            <a:ext cx="5887945" cy="77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5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0692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条件语句</a:t>
            </a:r>
            <a:r>
              <a:rPr lang="en-US" altLang="zh-CN" sz="3000" dirty="0" smtClean="0"/>
              <a:t>if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条件语句用于基于不同条件执行不同的动作。最常用的条件语句就是</a:t>
            </a:r>
            <a:r>
              <a:rPr lang="en-US" altLang="zh-CN" dirty="0"/>
              <a:t>if</a:t>
            </a:r>
            <a:r>
              <a:rPr lang="zh-CN" altLang="zh-CN" dirty="0"/>
              <a:t>语句了，</a:t>
            </a:r>
            <a:r>
              <a:rPr lang="en-US" altLang="zh-CN" dirty="0"/>
              <a:t>if</a:t>
            </a:r>
            <a:r>
              <a:rPr lang="zh-CN" altLang="zh-CN" dirty="0"/>
              <a:t>语句有三种结构：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if</a:t>
            </a:r>
            <a:r>
              <a:rPr lang="zh-CN" altLang="en-US" dirty="0" smtClean="0"/>
              <a:t>结构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if</a:t>
            </a:r>
            <a:r>
              <a:rPr lang="zh-CN" altLang="zh-CN" sz="2200" dirty="0"/>
              <a:t>结构是最简单的</a:t>
            </a:r>
            <a:r>
              <a:rPr lang="en-US" altLang="zh-CN" sz="2200" dirty="0"/>
              <a:t>if</a:t>
            </a:r>
            <a:r>
              <a:rPr lang="zh-CN" altLang="zh-CN" sz="2200" dirty="0"/>
              <a:t>语句形式，用于判断一种条件，语法如下：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if(condition){</a:t>
            </a:r>
            <a:endParaRPr lang="zh-CN" altLang="zh-CN" sz="220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//</a:t>
            </a:r>
            <a:r>
              <a:rPr lang="zh-CN" altLang="zh-CN" sz="2200" dirty="0" smtClean="0"/>
              <a:t>如果</a:t>
            </a:r>
            <a:r>
              <a:rPr lang="en-US" altLang="zh-CN" sz="2200" dirty="0"/>
              <a:t>condition</a:t>
            </a:r>
            <a:r>
              <a:rPr lang="zh-CN" altLang="zh-CN" sz="2200" dirty="0"/>
              <a:t>为</a:t>
            </a:r>
            <a:r>
              <a:rPr lang="en-US" altLang="zh-CN" sz="2200" dirty="0"/>
              <a:t>true</a:t>
            </a:r>
            <a:r>
              <a:rPr lang="zh-CN" altLang="zh-CN" sz="2200" dirty="0"/>
              <a:t>执行该代码块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}</a:t>
            </a:r>
            <a:endParaRPr lang="zh-CN" altLang="zh-CN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44305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0692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条件语句</a:t>
            </a:r>
            <a:r>
              <a:rPr lang="en-US" altLang="zh-CN" sz="3000" dirty="0" smtClean="0"/>
              <a:t>if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if…else…</a:t>
            </a:r>
            <a:r>
              <a:rPr lang="zh-CN" altLang="en-US" dirty="0" smtClean="0"/>
              <a:t>结构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if…else…</a:t>
            </a:r>
            <a:r>
              <a:rPr lang="zh-CN" altLang="zh-CN" sz="2200" dirty="0"/>
              <a:t>结构可以判断两种条件，是一种较为复杂的</a:t>
            </a:r>
            <a:r>
              <a:rPr lang="en-US" altLang="zh-CN" sz="2200" dirty="0"/>
              <a:t>if</a:t>
            </a:r>
            <a:r>
              <a:rPr lang="zh-CN" altLang="zh-CN" sz="2200" dirty="0"/>
              <a:t>语句</a:t>
            </a:r>
            <a:r>
              <a:rPr lang="zh-CN" altLang="zh-CN" sz="2200" dirty="0" smtClean="0"/>
              <a:t>形式：</a:t>
            </a:r>
            <a:endParaRPr lang="zh-CN" altLang="zh-CN" sz="220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if(condition){</a:t>
            </a:r>
            <a:endParaRPr lang="zh-CN" altLang="zh-CN" sz="220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//</a:t>
            </a:r>
            <a:r>
              <a:rPr lang="zh-CN" altLang="zh-CN" sz="2200" dirty="0" smtClean="0"/>
              <a:t>如果</a:t>
            </a:r>
            <a:r>
              <a:rPr lang="en-US" altLang="zh-CN" sz="2200" dirty="0"/>
              <a:t>condition</a:t>
            </a:r>
            <a:r>
              <a:rPr lang="zh-CN" altLang="zh-CN" sz="2200" dirty="0"/>
              <a:t>为</a:t>
            </a:r>
            <a:r>
              <a:rPr lang="en-US" altLang="zh-CN" sz="2200" dirty="0"/>
              <a:t>true</a:t>
            </a:r>
            <a:r>
              <a:rPr lang="zh-CN" altLang="zh-CN" sz="2200" dirty="0"/>
              <a:t>执行该代码块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}else{</a:t>
            </a:r>
            <a:endParaRPr lang="zh-CN" altLang="zh-CN" sz="220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//</a:t>
            </a:r>
            <a:r>
              <a:rPr lang="zh-CN" altLang="zh-CN" sz="2200" dirty="0" smtClean="0"/>
              <a:t>如果</a:t>
            </a:r>
            <a:r>
              <a:rPr lang="en-US" altLang="zh-CN" sz="2200" dirty="0"/>
              <a:t>condition</a:t>
            </a:r>
            <a:r>
              <a:rPr lang="zh-CN" altLang="zh-CN" sz="2200" dirty="0"/>
              <a:t>为</a:t>
            </a:r>
            <a:r>
              <a:rPr lang="en-US" altLang="zh-CN" sz="2200" dirty="0"/>
              <a:t>false</a:t>
            </a:r>
            <a:r>
              <a:rPr lang="zh-CN" altLang="zh-CN" sz="2200" dirty="0"/>
              <a:t>执行该代码块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}</a:t>
            </a:r>
            <a:endParaRPr lang="zh-CN" altLang="zh-CN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715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06923" cy="513051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条件语句</a:t>
            </a:r>
            <a:r>
              <a:rPr lang="en-US" altLang="zh-CN" sz="3000" dirty="0" smtClean="0"/>
              <a:t>if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if…else if…else</a:t>
            </a:r>
            <a:r>
              <a:rPr lang="zh-CN" altLang="en-US" dirty="0" smtClean="0"/>
              <a:t>结构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/>
              <a:t>if…else if…else</a:t>
            </a:r>
            <a:r>
              <a:rPr lang="zh-CN" altLang="zh-CN" sz="2200" dirty="0"/>
              <a:t>结构可以判断三种以上的条件，是最复杂的</a:t>
            </a:r>
            <a:r>
              <a:rPr lang="en-US" altLang="zh-CN" sz="2200" dirty="0"/>
              <a:t>if</a:t>
            </a:r>
            <a:r>
              <a:rPr lang="zh-CN" altLang="zh-CN" sz="2200" dirty="0"/>
              <a:t>语句形式</a:t>
            </a:r>
            <a:r>
              <a:rPr lang="zh-CN" altLang="zh-CN" sz="2200" dirty="0" smtClean="0"/>
              <a:t>：</a:t>
            </a:r>
            <a:endParaRPr lang="zh-CN" altLang="zh-CN" sz="2200" dirty="0"/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if(condition1){</a:t>
            </a:r>
            <a:endParaRPr lang="zh-CN" altLang="zh-CN" sz="2000" dirty="0"/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dirty="0" smtClean="0"/>
              <a:t>//</a:t>
            </a:r>
            <a:r>
              <a:rPr lang="zh-CN" altLang="zh-CN" sz="2000" dirty="0" smtClean="0"/>
              <a:t>如果</a:t>
            </a:r>
            <a:r>
              <a:rPr lang="en-US" altLang="zh-CN" sz="2000" dirty="0"/>
              <a:t>condition1</a:t>
            </a:r>
            <a:r>
              <a:rPr lang="zh-CN" altLang="zh-CN" sz="2000" dirty="0"/>
              <a:t>为</a:t>
            </a:r>
            <a:r>
              <a:rPr lang="en-US" altLang="zh-CN" sz="2000" dirty="0"/>
              <a:t>true</a:t>
            </a:r>
            <a:r>
              <a:rPr lang="zh-CN" altLang="zh-CN" sz="2000" dirty="0"/>
              <a:t>执行该代码块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}else if(condition2){</a:t>
            </a:r>
            <a:endParaRPr lang="zh-CN" altLang="zh-CN" sz="2000" dirty="0"/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dirty="0" smtClean="0"/>
              <a:t>//</a:t>
            </a:r>
            <a:r>
              <a:rPr lang="zh-CN" altLang="zh-CN" sz="2000" dirty="0" smtClean="0"/>
              <a:t>如果</a:t>
            </a:r>
            <a:r>
              <a:rPr lang="en-US" altLang="zh-CN" sz="2000" dirty="0"/>
              <a:t>condition1</a:t>
            </a:r>
            <a:r>
              <a:rPr lang="zh-CN" altLang="zh-CN" sz="2000" dirty="0"/>
              <a:t>为</a:t>
            </a:r>
            <a:r>
              <a:rPr lang="en-US" altLang="zh-CN" sz="2000" dirty="0"/>
              <a:t>false</a:t>
            </a:r>
            <a:r>
              <a:rPr lang="zh-CN" altLang="zh-CN" sz="2000" dirty="0"/>
              <a:t>且</a:t>
            </a:r>
            <a:r>
              <a:rPr lang="en-US" altLang="zh-CN" sz="2000" dirty="0"/>
              <a:t>condition2</a:t>
            </a:r>
            <a:r>
              <a:rPr lang="zh-CN" altLang="zh-CN" sz="2000" dirty="0"/>
              <a:t>为</a:t>
            </a:r>
            <a:r>
              <a:rPr lang="en-US" altLang="zh-CN" sz="2000" dirty="0"/>
              <a:t>true</a:t>
            </a:r>
            <a:r>
              <a:rPr lang="zh-CN" altLang="zh-CN" sz="2000" dirty="0"/>
              <a:t>执行该代码块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}</a:t>
            </a:r>
            <a:endParaRPr lang="zh-CN" altLang="zh-CN" sz="2000" dirty="0"/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…… //</a:t>
            </a:r>
            <a:r>
              <a:rPr lang="zh-CN" altLang="zh-CN" sz="2000" dirty="0"/>
              <a:t>多个</a:t>
            </a:r>
            <a:r>
              <a:rPr lang="en-US" altLang="zh-CN" sz="2000" dirty="0"/>
              <a:t>else if</a:t>
            </a:r>
            <a:r>
              <a:rPr lang="zh-CN" altLang="zh-CN" sz="2000" dirty="0"/>
              <a:t>分支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}else{</a:t>
            </a:r>
            <a:endParaRPr lang="zh-CN" altLang="zh-CN" sz="2000" dirty="0"/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dirty="0" smtClean="0"/>
              <a:t>//</a:t>
            </a:r>
            <a:r>
              <a:rPr lang="zh-CN" altLang="zh-CN" sz="2000" dirty="0" smtClean="0"/>
              <a:t>如果</a:t>
            </a:r>
            <a:r>
              <a:rPr lang="en-US" altLang="zh-CN" sz="2000" dirty="0"/>
              <a:t>condition1</a:t>
            </a:r>
            <a:r>
              <a:rPr lang="zh-CN" altLang="zh-CN" sz="2000" dirty="0"/>
              <a:t>、</a:t>
            </a:r>
            <a:r>
              <a:rPr lang="en-US" altLang="zh-CN" sz="2000" dirty="0"/>
              <a:t>condition2……</a:t>
            </a:r>
            <a:r>
              <a:rPr lang="zh-CN" altLang="zh-CN" sz="2000" dirty="0"/>
              <a:t>均为</a:t>
            </a:r>
            <a:r>
              <a:rPr lang="en-US" altLang="zh-CN" sz="2000" dirty="0"/>
              <a:t>false</a:t>
            </a:r>
            <a:r>
              <a:rPr lang="zh-CN" altLang="zh-CN" sz="2000" dirty="0"/>
              <a:t>执行该代码块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zh-CN" sz="2000" dirty="0"/>
              <a:t>}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340333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0692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条件语句</a:t>
            </a:r>
            <a:r>
              <a:rPr lang="en-US" altLang="zh-CN" sz="3000" dirty="0" smtClean="0"/>
              <a:t>if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实例要求：根据当前时间，在网页上显示不同的问候语。</a:t>
            </a:r>
            <a:r>
              <a:rPr lang="en-US" altLang="zh-CN" dirty="0"/>
              <a:t>12</a:t>
            </a:r>
            <a:r>
              <a:rPr lang="zh-CN" altLang="zh-CN" dirty="0"/>
              <a:t>点以前显示“上午好”，</a:t>
            </a:r>
            <a:r>
              <a:rPr lang="en-US" altLang="zh-CN" dirty="0"/>
              <a:t>18</a:t>
            </a:r>
            <a:r>
              <a:rPr lang="zh-CN" altLang="zh-CN" dirty="0"/>
              <a:t>点以前显示“下午好”，其余时间显示“晚上好”。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462" y="2977610"/>
            <a:ext cx="3273937" cy="31088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916" y="3028949"/>
            <a:ext cx="4004694" cy="305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8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0" y="1066031"/>
            <a:ext cx="6236541" cy="51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24909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if</a:t>
            </a:r>
            <a:r>
              <a:rPr lang="zh-CN" altLang="en-US" sz="3000" dirty="0" smtClean="0"/>
              <a:t>结构是最简单的</a:t>
            </a:r>
            <a:r>
              <a:rPr lang="en-US" altLang="zh-CN" sz="3000" dirty="0" smtClean="0"/>
              <a:t>if</a:t>
            </a:r>
            <a:r>
              <a:rPr lang="zh-CN" altLang="en-US" sz="3000" dirty="0" smtClean="0"/>
              <a:t>语句形式，用于判断一种条件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if…else…</a:t>
            </a:r>
            <a:r>
              <a:rPr lang="zh-CN" altLang="en-US" sz="3000" dirty="0" smtClean="0"/>
              <a:t>结构可以判断两种条件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i</a:t>
            </a:r>
            <a:r>
              <a:rPr lang="en-US" altLang="zh-CN" sz="3000" dirty="0" smtClean="0"/>
              <a:t>f…else if …else</a:t>
            </a:r>
            <a:r>
              <a:rPr lang="zh-CN" altLang="en-US" sz="3000" dirty="0" smtClean="0"/>
              <a:t>结构可以判断三种以上的条件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5" name="流程图: 可选过程 4"/>
          <p:cNvSpPr/>
          <p:nvPr/>
        </p:nvSpPr>
        <p:spPr>
          <a:xfrm>
            <a:off x="3374574" y="3804601"/>
            <a:ext cx="4738648" cy="2153748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360000" rtlCol="0" anchor="ctr"/>
          <a:lstStyle/>
          <a:p>
            <a:pPr>
              <a:lnSpc>
                <a:spcPct val="150000"/>
              </a:lnSpc>
            </a:pPr>
            <a:r>
              <a:rPr lang="en-US" altLang="zh-CN" sz="3200" b="1" dirty="0" smtClean="0"/>
              <a:t>&gt;&gt; </a:t>
            </a:r>
            <a:r>
              <a:rPr lang="en-US" altLang="zh-CN" sz="3200" dirty="0"/>
              <a:t>if…else if …else</a:t>
            </a:r>
            <a:r>
              <a:rPr lang="zh-CN" altLang="en-US" sz="3200" dirty="0" smtClean="0"/>
              <a:t>结构</a:t>
            </a:r>
            <a:endParaRPr lang="en-US" altLang="zh-CN" sz="32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此</a:t>
            </a:r>
            <a:r>
              <a:rPr lang="zh-CN" altLang="en-US" sz="2400" dirty="0" smtClean="0"/>
              <a:t>结构中，前面的判断条件是后面的判断条件的前提。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80376"/>
            <a:ext cx="6096001" cy="14801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完成“性格小测验”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1826211"/>
            <a:ext cx="4975711" cy="425211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16" y="2688112"/>
            <a:ext cx="4983841" cy="316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935</Words>
  <Application>Microsoft Office PowerPoint</Application>
  <PresentationFormat>宽屏</PresentationFormat>
  <Paragraphs>124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JavaScript入门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96</cp:revision>
  <dcterms:created xsi:type="dcterms:W3CDTF">2020-04-27T05:20:13Z</dcterms:created>
  <dcterms:modified xsi:type="dcterms:W3CDTF">2020-08-20T12:32:17Z</dcterms:modified>
</cp:coreProperties>
</file>
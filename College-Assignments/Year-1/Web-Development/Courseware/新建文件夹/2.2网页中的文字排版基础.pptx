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67" r:id="rId22"/>
    <p:sldId id="26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04163" y="2076469"/>
            <a:ext cx="4711012" cy="991641"/>
          </a:xfrm>
        </p:spPr>
        <p:txBody>
          <a:bodyPr>
            <a:noAutofit/>
          </a:bodyPr>
          <a:lstStyle/>
          <a:p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网页的文字排版基础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能够根据网页中不同文字的功能合理使用标签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能够为网页中的文字</a:t>
            </a:r>
            <a:r>
              <a:rPr lang="zh-CN" altLang="en-US" dirty="0"/>
              <a:t>设计</a:t>
            </a:r>
            <a:r>
              <a:rPr lang="zh-CN" altLang="en-US" dirty="0" smtClean="0"/>
              <a:t>常用样式</a:t>
            </a:r>
            <a:endParaRPr lang="en-US" altLang="zh-CN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能够为文字段落中的指定文字设计特有样式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5010151" cy="491489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      </a:t>
            </a:r>
            <a:r>
              <a:rPr lang="zh-CN" altLang="en-US" sz="2400" dirty="0" smtClean="0"/>
              <a:t>本案例网页</a:t>
            </a:r>
            <a:r>
              <a:rPr lang="zh-CN" altLang="zh-CN" sz="2400" dirty="0" smtClean="0"/>
              <a:t>包含一级</a:t>
            </a:r>
            <a:r>
              <a:rPr lang="zh-CN" altLang="zh-CN" sz="2400" dirty="0"/>
              <a:t>标题、二级标题、段落正文、页脚等不同功能的文字</a:t>
            </a:r>
            <a:r>
              <a:rPr lang="zh-CN" altLang="zh-CN" sz="2400" dirty="0" smtClean="0"/>
              <a:t>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/>
              <a:t>       </a:t>
            </a:r>
            <a:r>
              <a:rPr lang="zh-CN" altLang="en-US" sz="2400" dirty="0" smtClean="0"/>
              <a:t>一、二级</a:t>
            </a:r>
            <a:r>
              <a:rPr lang="zh-CN" altLang="zh-CN" sz="2400" dirty="0" smtClean="0"/>
              <a:t>标题</a:t>
            </a:r>
            <a:r>
              <a:rPr lang="zh-CN" altLang="zh-CN" sz="2400" dirty="0"/>
              <a:t>文字采用微软雅黑，为其设计合理的字号、颜色、行高、背景、边框；段落正文采用宋体，首行缩进</a:t>
            </a:r>
            <a:r>
              <a:rPr lang="en-US" altLang="zh-CN" sz="2400" dirty="0"/>
              <a:t>2</a:t>
            </a:r>
            <a:r>
              <a:rPr lang="zh-CN" altLang="zh-CN" sz="2400" dirty="0"/>
              <a:t>个字</a:t>
            </a:r>
            <a:r>
              <a:rPr lang="zh-CN" altLang="zh-CN" sz="2400" dirty="0" smtClean="0"/>
              <a:t>，关键字</a:t>
            </a:r>
            <a:r>
              <a:rPr lang="en-US" altLang="zh-CN" sz="2400" dirty="0"/>
              <a:t>HTML</a:t>
            </a:r>
            <a:r>
              <a:rPr lang="zh-CN" altLang="zh-CN" sz="2400" dirty="0"/>
              <a:t>、</a:t>
            </a:r>
            <a:r>
              <a:rPr lang="en-US" altLang="zh-CN" sz="2400" dirty="0"/>
              <a:t>CSS</a:t>
            </a:r>
            <a:r>
              <a:rPr lang="zh-CN" altLang="zh-CN" sz="2400" dirty="0"/>
              <a:t>、</a:t>
            </a:r>
            <a:r>
              <a:rPr lang="en-US" altLang="zh-CN" sz="2400" dirty="0"/>
              <a:t>JavaScript</a:t>
            </a:r>
            <a:r>
              <a:rPr lang="zh-CN" altLang="zh-CN" sz="2400" dirty="0"/>
              <a:t>设计</a:t>
            </a:r>
            <a:r>
              <a:rPr lang="zh-CN" altLang="zh-CN" sz="2400" dirty="0" smtClean="0"/>
              <a:t>为</a:t>
            </a:r>
            <a:r>
              <a:rPr lang="zh-CN" altLang="zh-CN" sz="2400" dirty="0"/>
              <a:t>带下</a:t>
            </a:r>
            <a:r>
              <a:rPr lang="zh-CN" altLang="zh-CN" sz="2400" dirty="0" smtClean="0"/>
              <a:t>划线</a:t>
            </a:r>
            <a:r>
              <a:rPr lang="zh-CN" altLang="en-US" sz="2400" dirty="0" smtClean="0"/>
              <a:t>的</a:t>
            </a:r>
            <a:r>
              <a:rPr lang="zh-CN" altLang="zh-CN" sz="2400" dirty="0" smtClean="0"/>
              <a:t>斜体。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任务目标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49" y="1171574"/>
            <a:ext cx="4791075" cy="491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&lt;span&gt;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&lt;span&gt;</a:t>
            </a:r>
            <a:r>
              <a:rPr lang="zh-CN" altLang="zh-CN" dirty="0" smtClean="0"/>
              <a:t>可以嵌套</a:t>
            </a:r>
            <a:r>
              <a:rPr lang="zh-CN" altLang="zh-CN" dirty="0"/>
              <a:t>在其他元素中，将其部分文本挑选出来设计独立样式，而不会破坏原有的</a:t>
            </a:r>
            <a:r>
              <a:rPr lang="zh-CN" altLang="zh-CN" dirty="0" smtClean="0"/>
              <a:t>布局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3207328"/>
            <a:ext cx="10125075" cy="58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4363316" cy="49105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/>
              <a:t>i</a:t>
            </a:r>
            <a:r>
              <a:rPr lang="en-US" altLang="zh-CN" sz="3000" dirty="0" smtClean="0"/>
              <a:t>d</a:t>
            </a:r>
            <a:r>
              <a:rPr lang="zh-CN" altLang="en-US" sz="3000" dirty="0" smtClean="0"/>
              <a:t>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用于选择具有特定</a:t>
            </a:r>
            <a:r>
              <a:rPr lang="en-US" altLang="zh-CN" dirty="0"/>
              <a:t>id</a:t>
            </a:r>
            <a:r>
              <a:rPr lang="zh-CN" altLang="zh-CN" dirty="0"/>
              <a:t>属性值的</a:t>
            </a:r>
            <a:r>
              <a:rPr lang="en-US" altLang="zh-CN" dirty="0"/>
              <a:t>HTML</a:t>
            </a:r>
            <a:r>
              <a:rPr lang="zh-CN" altLang="zh-CN" dirty="0"/>
              <a:t>元素，并为其指定样式</a:t>
            </a:r>
            <a:r>
              <a:rPr lang="zh-CN" altLang="zh-CN" dirty="0" smtClean="0"/>
              <a:t>。</a:t>
            </a:r>
            <a:r>
              <a:rPr lang="zh-CN" altLang="en-US" dirty="0" smtClean="0"/>
              <a:t>网页中，元素的</a:t>
            </a:r>
            <a:r>
              <a:rPr lang="en-US" altLang="zh-CN" dirty="0" smtClean="0"/>
              <a:t>id</a:t>
            </a:r>
            <a:r>
              <a:rPr lang="zh-CN" altLang="en-US" dirty="0" smtClean="0"/>
              <a:t>属性值是唯一的。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52" y="1420956"/>
            <a:ext cx="5560716" cy="46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4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89" cy="49105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/>
              <a:t>f</a:t>
            </a:r>
            <a:r>
              <a:rPr lang="en-US" altLang="zh-CN" sz="3000" dirty="0" smtClean="0"/>
              <a:t>ont-family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font-family</a:t>
            </a:r>
            <a:r>
              <a:rPr lang="zh-CN" altLang="zh-CN" dirty="0"/>
              <a:t>属性设置字体。可以为元素按优先级指定多种字体，如果浏览器不支持第一种字体，则会尝试下一种。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32" y="3190873"/>
            <a:ext cx="9534988" cy="186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6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89" cy="491057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/>
              <a:t>f</a:t>
            </a:r>
            <a:r>
              <a:rPr lang="en-US" altLang="zh-CN" sz="3000" dirty="0" smtClean="0"/>
              <a:t>ont-size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font-size</a:t>
            </a:r>
            <a:r>
              <a:rPr lang="zh-CN" altLang="zh-CN" dirty="0"/>
              <a:t>设置字号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en-US" dirty="0" smtClean="0"/>
              <a:t>关键字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设置字号的关键字有</a:t>
            </a:r>
            <a:r>
              <a:rPr lang="en-US" altLang="zh-CN" dirty="0"/>
              <a:t>xx-small</a:t>
            </a:r>
            <a:r>
              <a:rPr lang="zh-CN" altLang="zh-CN" dirty="0"/>
              <a:t>、</a:t>
            </a:r>
            <a:r>
              <a:rPr lang="en-US" altLang="zh-CN" dirty="0"/>
              <a:t>x-small</a:t>
            </a:r>
            <a:r>
              <a:rPr lang="zh-CN" altLang="zh-CN" dirty="0"/>
              <a:t>、</a:t>
            </a:r>
            <a:r>
              <a:rPr lang="en-US" altLang="zh-CN" dirty="0"/>
              <a:t>small</a:t>
            </a:r>
            <a:r>
              <a:rPr lang="zh-CN" altLang="zh-CN" dirty="0"/>
              <a:t>、</a:t>
            </a:r>
            <a:r>
              <a:rPr lang="en-US" altLang="zh-CN" dirty="0"/>
              <a:t>medium</a:t>
            </a:r>
            <a:r>
              <a:rPr lang="zh-CN" altLang="zh-CN" dirty="0"/>
              <a:t>、</a:t>
            </a:r>
            <a:r>
              <a:rPr lang="en-US" altLang="zh-CN" dirty="0"/>
              <a:t>large</a:t>
            </a:r>
            <a:r>
              <a:rPr lang="zh-CN" altLang="zh-CN" dirty="0"/>
              <a:t>、</a:t>
            </a:r>
            <a:r>
              <a:rPr lang="en-US" altLang="zh-CN" dirty="0"/>
              <a:t>x-large</a:t>
            </a:r>
            <a:r>
              <a:rPr lang="zh-CN" altLang="zh-CN" dirty="0"/>
              <a:t>、</a:t>
            </a:r>
            <a:r>
              <a:rPr lang="en-US" altLang="zh-CN" dirty="0"/>
              <a:t>xx-large</a:t>
            </a:r>
            <a:r>
              <a:rPr lang="zh-CN" altLang="zh-CN" dirty="0"/>
              <a:t>，其中</a:t>
            </a:r>
            <a:r>
              <a:rPr lang="en-US" altLang="zh-CN" dirty="0"/>
              <a:t>xx-small</a:t>
            </a:r>
            <a:r>
              <a:rPr lang="zh-CN" altLang="zh-CN" dirty="0"/>
              <a:t>最小，</a:t>
            </a:r>
            <a:r>
              <a:rPr lang="en-US" altLang="zh-CN" dirty="0"/>
              <a:t>xx-large</a:t>
            </a:r>
            <a:r>
              <a:rPr lang="zh-CN" altLang="zh-CN" dirty="0"/>
              <a:t>最大。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）绝对</a:t>
            </a:r>
            <a:r>
              <a:rPr lang="zh-CN" altLang="en-US" dirty="0" smtClean="0"/>
              <a:t>数值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常用的绝对数值有</a:t>
            </a:r>
            <a:r>
              <a:rPr lang="en-US" altLang="zh-CN" dirty="0" err="1"/>
              <a:t>px</a:t>
            </a:r>
            <a:r>
              <a:rPr lang="zh-CN" altLang="zh-CN" dirty="0"/>
              <a:t>（</a:t>
            </a:r>
            <a:r>
              <a:rPr lang="zh-CN" altLang="zh-CN" dirty="0" smtClean="0"/>
              <a:t>像素）</a:t>
            </a:r>
            <a:r>
              <a:rPr lang="zh-CN" altLang="zh-CN" dirty="0"/>
              <a:t>和</a:t>
            </a:r>
            <a:r>
              <a:rPr lang="en-US" altLang="zh-CN" dirty="0" err="1"/>
              <a:t>pt</a:t>
            </a:r>
            <a:r>
              <a:rPr lang="zh-CN" altLang="zh-CN" dirty="0"/>
              <a:t>（</a:t>
            </a:r>
            <a:r>
              <a:rPr lang="zh-CN" altLang="zh-CN" dirty="0" smtClean="0"/>
              <a:t>磅）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）相对</a:t>
            </a:r>
            <a:r>
              <a:rPr lang="zh-CN" altLang="en-US" dirty="0" smtClean="0"/>
              <a:t>数值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常用的相对数值有</a:t>
            </a:r>
            <a:r>
              <a:rPr lang="en-US" altLang="zh-CN" dirty="0" err="1"/>
              <a:t>em</a:t>
            </a:r>
            <a:r>
              <a:rPr lang="zh-CN" altLang="zh-CN" dirty="0"/>
              <a:t>和</a:t>
            </a:r>
            <a:r>
              <a:rPr lang="en-US" altLang="zh-CN" dirty="0"/>
              <a:t>%</a:t>
            </a:r>
            <a:r>
              <a:rPr lang="zh-CN" altLang="zh-CN" dirty="0"/>
              <a:t>，它们是以父元素为参考基准来计算当前元素的字体大小。</a:t>
            </a:r>
            <a:r>
              <a:rPr lang="en-US" altLang="zh-CN" dirty="0"/>
              <a:t>1em</a:t>
            </a:r>
            <a:r>
              <a:rPr lang="zh-CN" altLang="zh-CN" dirty="0"/>
              <a:t>和</a:t>
            </a:r>
            <a:r>
              <a:rPr lang="en-US" altLang="zh-CN" dirty="0"/>
              <a:t>100%</a:t>
            </a:r>
            <a:r>
              <a:rPr lang="zh-CN" altLang="zh-CN" dirty="0"/>
              <a:t>总是等于父元素</a:t>
            </a:r>
            <a:r>
              <a:rPr lang="en-US" altLang="zh-CN" dirty="0"/>
              <a:t>font-size</a:t>
            </a:r>
            <a:r>
              <a:rPr lang="zh-CN" altLang="zh-CN" dirty="0"/>
              <a:t>的</a:t>
            </a:r>
            <a:r>
              <a:rPr lang="zh-CN" altLang="zh-CN" dirty="0" smtClean="0"/>
              <a:t>值。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695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89" cy="49105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font-weight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font-weight</a:t>
            </a:r>
            <a:r>
              <a:rPr lang="zh-CN" altLang="zh-CN" dirty="0"/>
              <a:t>属性设置字体粗细。</a:t>
            </a:r>
            <a:r>
              <a:rPr lang="en-US" altLang="zh-CN" dirty="0"/>
              <a:t>font-weight</a:t>
            </a:r>
            <a:r>
              <a:rPr lang="zh-CN" altLang="zh-CN" dirty="0"/>
              <a:t>的取值可以是</a:t>
            </a:r>
            <a:r>
              <a:rPr lang="en-US" altLang="zh-CN" dirty="0"/>
              <a:t>normal</a:t>
            </a:r>
            <a:r>
              <a:rPr lang="zh-CN" altLang="zh-CN" dirty="0"/>
              <a:t>（标准）、</a:t>
            </a:r>
            <a:r>
              <a:rPr lang="en-US" altLang="zh-CN" dirty="0"/>
              <a:t>bold</a:t>
            </a:r>
            <a:r>
              <a:rPr lang="zh-CN" altLang="zh-CN" dirty="0"/>
              <a:t>（粗体）、</a:t>
            </a:r>
            <a:r>
              <a:rPr lang="en-US" altLang="zh-CN" dirty="0"/>
              <a:t>bolder</a:t>
            </a:r>
            <a:r>
              <a:rPr lang="zh-CN" altLang="zh-CN" dirty="0"/>
              <a:t>（更粗）、</a:t>
            </a:r>
            <a:r>
              <a:rPr lang="en-US" altLang="zh-CN" dirty="0"/>
              <a:t>lighter</a:t>
            </a:r>
            <a:r>
              <a:rPr lang="zh-CN" altLang="zh-CN" dirty="0"/>
              <a:t>（更细）或者</a:t>
            </a:r>
            <a:r>
              <a:rPr lang="en-US" altLang="zh-CN" dirty="0"/>
              <a:t>[100,200,300,400,500,600,700,800,900]</a:t>
            </a:r>
            <a:r>
              <a:rPr lang="zh-CN" altLang="zh-CN" dirty="0"/>
              <a:t>当中的数值，其中</a:t>
            </a:r>
            <a:r>
              <a:rPr lang="en-US" altLang="zh-CN" dirty="0"/>
              <a:t>400</a:t>
            </a:r>
            <a:r>
              <a:rPr lang="zh-CN" altLang="zh-CN" dirty="0"/>
              <a:t>等同于</a:t>
            </a:r>
            <a:r>
              <a:rPr lang="en-US" altLang="zh-CN" dirty="0"/>
              <a:t>normal</a:t>
            </a:r>
            <a:r>
              <a:rPr lang="zh-CN" altLang="zh-CN" dirty="0"/>
              <a:t>，</a:t>
            </a:r>
            <a:r>
              <a:rPr lang="en-US" altLang="zh-CN" dirty="0"/>
              <a:t>700</a:t>
            </a:r>
            <a:r>
              <a:rPr lang="zh-CN" altLang="zh-CN" dirty="0"/>
              <a:t>等同于</a:t>
            </a:r>
            <a:r>
              <a:rPr lang="en-US" altLang="zh-CN" dirty="0"/>
              <a:t>bold</a:t>
            </a:r>
            <a:r>
              <a:rPr lang="zh-CN" altLang="zh-CN" dirty="0"/>
              <a:t>。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492" y="3626860"/>
            <a:ext cx="5524392" cy="24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6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5222299" cy="49105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line-height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line-height</a:t>
            </a:r>
            <a:r>
              <a:rPr lang="zh-CN" altLang="zh-CN" dirty="0"/>
              <a:t>设置行高</a:t>
            </a:r>
            <a:r>
              <a:rPr lang="zh-CN" altLang="zh-CN" dirty="0" smtClean="0"/>
              <a:t>。可以</a:t>
            </a:r>
            <a:r>
              <a:rPr lang="zh-CN" altLang="zh-CN" dirty="0"/>
              <a:t>使用像素、百分比或数值对</a:t>
            </a:r>
            <a:r>
              <a:rPr lang="en-US" altLang="zh-CN" dirty="0"/>
              <a:t>line-height</a:t>
            </a:r>
            <a:r>
              <a:rPr lang="zh-CN" altLang="zh-CN" dirty="0"/>
              <a:t>进行</a:t>
            </a:r>
            <a:r>
              <a:rPr lang="zh-CN" altLang="zh-CN" dirty="0" smtClean="0"/>
              <a:t>设置</a:t>
            </a:r>
            <a:r>
              <a:rPr lang="zh-CN" altLang="en-US" dirty="0" smtClean="0"/>
              <a:t>。</a:t>
            </a:r>
            <a:r>
              <a:rPr lang="zh-CN" altLang="zh-CN" dirty="0" smtClean="0"/>
              <a:t>例如</a:t>
            </a:r>
            <a:r>
              <a:rPr lang="zh-CN" altLang="en-US" dirty="0" smtClean="0"/>
              <a:t>要</a:t>
            </a:r>
            <a:r>
              <a:rPr lang="zh-CN" altLang="zh-CN" dirty="0" smtClean="0"/>
              <a:t>设置</a:t>
            </a:r>
            <a:r>
              <a:rPr lang="en-US" altLang="zh-CN" dirty="0"/>
              <a:t>1.5</a:t>
            </a:r>
            <a:r>
              <a:rPr lang="zh-CN" altLang="zh-CN" dirty="0"/>
              <a:t>倍的行高，</a:t>
            </a:r>
            <a:r>
              <a:rPr lang="zh-CN" altLang="zh-CN" dirty="0" smtClean="0"/>
              <a:t>那么</a:t>
            </a:r>
            <a:r>
              <a:rPr lang="zh-CN" altLang="en-US" dirty="0"/>
              <a:t>右</a:t>
            </a:r>
            <a:r>
              <a:rPr lang="zh-CN" altLang="en-US" dirty="0" smtClean="0"/>
              <a:t>图中的</a:t>
            </a:r>
            <a:r>
              <a:rPr lang="en-US" altLang="zh-CN" dirty="0" smtClean="0"/>
              <a:t>3</a:t>
            </a:r>
            <a:r>
              <a:rPr lang="zh-CN" altLang="zh-CN" dirty="0"/>
              <a:t>种方法都可以实现相同的</a:t>
            </a:r>
            <a:r>
              <a:rPr lang="zh-CN" altLang="zh-CN" dirty="0" smtClean="0"/>
              <a:t>效果</a:t>
            </a:r>
            <a:r>
              <a:rPr lang="zh-CN" altLang="en-US" dirty="0" smtClean="0"/>
              <a:t>。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64" y="1376795"/>
            <a:ext cx="4737400" cy="449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7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90" cy="49105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border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border</a:t>
            </a:r>
            <a:r>
              <a:rPr lang="zh-CN" altLang="zh-CN" dirty="0"/>
              <a:t>属性来设置边框。</a:t>
            </a:r>
            <a:r>
              <a:rPr lang="en-US" altLang="zh-CN" dirty="0"/>
              <a:t>border</a:t>
            </a:r>
            <a:r>
              <a:rPr lang="zh-CN" altLang="zh-CN" dirty="0"/>
              <a:t>属性</a:t>
            </a:r>
            <a:r>
              <a:rPr lang="zh-CN" altLang="zh-CN" dirty="0" smtClean="0"/>
              <a:t>包括</a:t>
            </a:r>
            <a:r>
              <a:rPr lang="en-US" altLang="zh-CN" dirty="0" smtClean="0"/>
              <a:t>border-width</a:t>
            </a:r>
            <a:r>
              <a:rPr lang="zh-CN" altLang="zh-CN" dirty="0" smtClean="0"/>
              <a:t>、</a:t>
            </a:r>
            <a:r>
              <a:rPr lang="en-US" altLang="zh-CN" dirty="0" smtClean="0"/>
              <a:t>border-style</a:t>
            </a:r>
            <a:r>
              <a:rPr lang="zh-CN" altLang="zh-CN" dirty="0" smtClean="0"/>
              <a:t>和</a:t>
            </a:r>
            <a:r>
              <a:rPr lang="en-US" altLang="zh-CN" dirty="0" smtClean="0"/>
              <a:t>border-color</a:t>
            </a:r>
            <a:r>
              <a:rPr lang="zh-CN" altLang="zh-CN" dirty="0" smtClean="0"/>
              <a:t>，可以</a:t>
            </a:r>
            <a:r>
              <a:rPr lang="zh-CN" altLang="zh-CN" dirty="0"/>
              <a:t>分别设置这些属性，也可以缩写在</a:t>
            </a:r>
            <a:r>
              <a:rPr lang="en-US" altLang="zh-CN" dirty="0"/>
              <a:t>border</a:t>
            </a:r>
            <a:r>
              <a:rPr lang="zh-CN" altLang="zh-CN" dirty="0"/>
              <a:t>属性</a:t>
            </a:r>
            <a:r>
              <a:rPr lang="zh-CN" altLang="zh-CN" dirty="0" smtClean="0"/>
              <a:t>里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106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71390" cy="49105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border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34" b="30855"/>
          <a:stretch/>
        </p:blipFill>
        <p:spPr>
          <a:xfrm>
            <a:off x="1095374" y="2051968"/>
            <a:ext cx="6483063" cy="40301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67" y="1089943"/>
            <a:ext cx="5692625" cy="143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7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3960942" cy="491057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border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元素的边框有</a:t>
            </a:r>
            <a:r>
              <a:rPr lang="en-US" altLang="zh-CN" dirty="0"/>
              <a:t>4</a:t>
            </a:r>
            <a:r>
              <a:rPr lang="zh-CN" altLang="zh-CN" dirty="0"/>
              <a:t>条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上</a:t>
            </a:r>
            <a:r>
              <a:rPr lang="zh-CN" altLang="zh-CN" dirty="0"/>
              <a:t>边框</a:t>
            </a:r>
            <a:r>
              <a:rPr lang="en-US" altLang="zh-CN" dirty="0"/>
              <a:t>border-top</a:t>
            </a:r>
            <a:r>
              <a:rPr lang="zh-CN" altLang="zh-CN" dirty="0" smtClean="0"/>
              <a:t>、下</a:t>
            </a:r>
            <a:r>
              <a:rPr lang="zh-CN" altLang="zh-CN" dirty="0"/>
              <a:t>边框</a:t>
            </a:r>
            <a:r>
              <a:rPr lang="en-US" altLang="zh-CN" dirty="0"/>
              <a:t>border-bottom</a:t>
            </a:r>
            <a:r>
              <a:rPr lang="zh-CN" altLang="zh-CN" dirty="0"/>
              <a:t>、左边框</a:t>
            </a:r>
            <a:r>
              <a:rPr lang="en-US" altLang="zh-CN" dirty="0"/>
              <a:t>border- left</a:t>
            </a:r>
            <a:r>
              <a:rPr lang="zh-CN" altLang="zh-CN" dirty="0"/>
              <a:t>以及右边框</a:t>
            </a:r>
            <a:r>
              <a:rPr lang="en-US" altLang="zh-CN" dirty="0"/>
              <a:t>border- right</a:t>
            </a:r>
            <a:r>
              <a:rPr lang="zh-CN" altLang="zh-CN" dirty="0"/>
              <a:t>，可以同时设置</a:t>
            </a:r>
            <a:r>
              <a:rPr lang="en-US" altLang="zh-CN" dirty="0"/>
              <a:t>4</a:t>
            </a:r>
            <a:r>
              <a:rPr lang="zh-CN" altLang="zh-CN" dirty="0"/>
              <a:t>条边框的样式，也可以分别设置不同的样式。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918" y="1892011"/>
            <a:ext cx="5989950" cy="2486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617" y="4585854"/>
            <a:ext cx="6114553" cy="79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6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18171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/>
              <a:t>f</a:t>
            </a:r>
            <a:r>
              <a:rPr lang="en-US" altLang="zh-CN" sz="3000" dirty="0" smtClean="0"/>
              <a:t>ont-style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font-style</a:t>
            </a:r>
            <a:r>
              <a:rPr lang="zh-CN" altLang="zh-CN" dirty="0"/>
              <a:t>属性设置字体风格。</a:t>
            </a:r>
            <a:r>
              <a:rPr lang="en-US" altLang="zh-CN" dirty="0"/>
              <a:t>font-style</a:t>
            </a:r>
            <a:r>
              <a:rPr lang="zh-CN" altLang="zh-CN" dirty="0"/>
              <a:t>的属性值通常有</a:t>
            </a:r>
            <a:r>
              <a:rPr lang="en-US" altLang="zh-CN" dirty="0"/>
              <a:t>normal</a:t>
            </a:r>
            <a:r>
              <a:rPr lang="zh-CN" altLang="zh-CN" dirty="0"/>
              <a:t>（标准字体，默认值）、</a:t>
            </a:r>
            <a:r>
              <a:rPr lang="en-US" altLang="zh-CN" dirty="0"/>
              <a:t>italic</a:t>
            </a:r>
            <a:r>
              <a:rPr lang="zh-CN" altLang="zh-CN" dirty="0"/>
              <a:t>（斜体）和</a:t>
            </a:r>
            <a:r>
              <a:rPr lang="en-US" altLang="zh-CN" dirty="0"/>
              <a:t>oblique</a:t>
            </a:r>
            <a:r>
              <a:rPr lang="zh-CN" altLang="zh-CN" dirty="0"/>
              <a:t>（倾斜体）。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516455"/>
            <a:ext cx="6511744" cy="1706707"/>
          </a:xfrm>
          <a:prstGeom prst="rect">
            <a:avLst/>
          </a:prstGeom>
        </p:spPr>
      </p:pic>
      <p:sp>
        <p:nvSpPr>
          <p:cNvPr id="7" name="线形标注 1(带强调线) 6"/>
          <p:cNvSpPr/>
          <p:nvPr/>
        </p:nvSpPr>
        <p:spPr>
          <a:xfrm>
            <a:off x="1343999" y="3713018"/>
            <a:ext cx="1291251" cy="656790"/>
          </a:xfrm>
          <a:prstGeom prst="accentCallout1">
            <a:avLst>
              <a:gd name="adj1" fmla="val 18751"/>
              <a:gd name="adj2" fmla="val 109849"/>
              <a:gd name="adj3" fmla="val 24305"/>
              <a:gd name="adj4" fmla="val 14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normal</a:t>
            </a:r>
            <a:endParaRPr lang="zh-CN" altLang="en-US" sz="2400" dirty="0"/>
          </a:p>
        </p:txBody>
      </p:sp>
      <p:sp>
        <p:nvSpPr>
          <p:cNvPr id="8" name="线形标注 1(带强调线) 7"/>
          <p:cNvSpPr/>
          <p:nvPr/>
        </p:nvSpPr>
        <p:spPr>
          <a:xfrm>
            <a:off x="1387962" y="4897581"/>
            <a:ext cx="1291251" cy="656790"/>
          </a:xfrm>
          <a:prstGeom prst="accentCallout1">
            <a:avLst>
              <a:gd name="adj1" fmla="val 18751"/>
              <a:gd name="adj2" fmla="val 109849"/>
              <a:gd name="adj3" fmla="val 1101"/>
              <a:gd name="adj4" fmla="val 1299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oblique</a:t>
            </a:r>
            <a:endParaRPr lang="zh-CN" altLang="en-US" sz="2400" dirty="0"/>
          </a:p>
        </p:txBody>
      </p:sp>
      <p:sp>
        <p:nvSpPr>
          <p:cNvPr id="9" name="线形标注 1(带强调线) 8"/>
          <p:cNvSpPr/>
          <p:nvPr/>
        </p:nvSpPr>
        <p:spPr>
          <a:xfrm>
            <a:off x="9776131" y="3884899"/>
            <a:ext cx="1291251" cy="656790"/>
          </a:xfrm>
          <a:prstGeom prst="accentCallout1">
            <a:avLst>
              <a:gd name="adj1" fmla="val 29298"/>
              <a:gd name="adj2" fmla="val -10322"/>
              <a:gd name="adj3" fmla="val 70712"/>
              <a:gd name="adj4" fmla="val -449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italic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309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3493134"/>
            <a:ext cx="6630555" cy="1819360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201367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text-decoration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sz="2600" dirty="0"/>
              <a:t>使用</a:t>
            </a:r>
            <a:r>
              <a:rPr lang="en-US" altLang="zh-CN" sz="2600" dirty="0"/>
              <a:t>text-decoration</a:t>
            </a:r>
            <a:r>
              <a:rPr lang="zh-CN" altLang="zh-CN" sz="2600" dirty="0"/>
              <a:t>属性设置文本的修饰。</a:t>
            </a:r>
            <a:r>
              <a:rPr lang="en-US" altLang="zh-CN" sz="2600" dirty="0"/>
              <a:t>text-decoration</a:t>
            </a:r>
            <a:r>
              <a:rPr lang="zh-CN" altLang="zh-CN" sz="2600" dirty="0"/>
              <a:t>的常用属性值有</a:t>
            </a:r>
            <a:r>
              <a:rPr lang="en-US" altLang="zh-CN" sz="2600" dirty="0"/>
              <a:t>underline</a:t>
            </a:r>
            <a:r>
              <a:rPr lang="zh-CN" altLang="zh-CN" sz="2600" dirty="0"/>
              <a:t>（下划线）、</a:t>
            </a:r>
            <a:r>
              <a:rPr lang="en-US" altLang="zh-CN" sz="2600" dirty="0" err="1"/>
              <a:t>overline</a:t>
            </a:r>
            <a:r>
              <a:rPr lang="zh-CN" altLang="zh-CN" sz="2600" dirty="0"/>
              <a:t>（上划线）和</a:t>
            </a:r>
            <a:r>
              <a:rPr lang="en-US" altLang="zh-CN" sz="2600" dirty="0"/>
              <a:t>line-through</a:t>
            </a:r>
            <a:r>
              <a:rPr lang="zh-CN" altLang="zh-CN" sz="2600" dirty="0"/>
              <a:t>（穿过文本的线）。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sp>
        <p:nvSpPr>
          <p:cNvPr id="7" name="线形标注 1(带强调线) 6"/>
          <p:cNvSpPr/>
          <p:nvPr/>
        </p:nvSpPr>
        <p:spPr>
          <a:xfrm>
            <a:off x="1095375" y="3713018"/>
            <a:ext cx="1473760" cy="656790"/>
          </a:xfrm>
          <a:prstGeom prst="accentCallout1">
            <a:avLst>
              <a:gd name="adj1" fmla="val 18751"/>
              <a:gd name="adj2" fmla="val 109849"/>
              <a:gd name="adj3" fmla="val 26415"/>
              <a:gd name="adj4" fmla="val 1327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underline</a:t>
            </a:r>
            <a:endParaRPr lang="zh-CN" altLang="en-US" sz="2400" dirty="0"/>
          </a:p>
        </p:txBody>
      </p:sp>
      <p:sp>
        <p:nvSpPr>
          <p:cNvPr id="8" name="线形标注 1(带强调线) 7"/>
          <p:cNvSpPr/>
          <p:nvPr/>
        </p:nvSpPr>
        <p:spPr>
          <a:xfrm>
            <a:off x="1357746" y="5442597"/>
            <a:ext cx="2138885" cy="656790"/>
          </a:xfrm>
          <a:prstGeom prst="accentCallout1">
            <a:avLst>
              <a:gd name="adj1" fmla="val 18751"/>
              <a:gd name="adj2" fmla="val 109849"/>
              <a:gd name="adj3" fmla="val -51635"/>
              <a:gd name="adj4" fmla="val 1371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l</a:t>
            </a:r>
            <a:r>
              <a:rPr lang="en-US" altLang="zh-CN" sz="2400" dirty="0" smtClean="0"/>
              <a:t>ine-through</a:t>
            </a:r>
            <a:endParaRPr lang="zh-CN" altLang="en-US" sz="2400" dirty="0"/>
          </a:p>
        </p:txBody>
      </p:sp>
      <p:sp>
        <p:nvSpPr>
          <p:cNvPr id="9" name="线形标注 1(带强调线) 8"/>
          <p:cNvSpPr/>
          <p:nvPr/>
        </p:nvSpPr>
        <p:spPr>
          <a:xfrm>
            <a:off x="9820094" y="4041413"/>
            <a:ext cx="1291251" cy="656790"/>
          </a:xfrm>
          <a:prstGeom prst="accentCallout1">
            <a:avLst>
              <a:gd name="adj1" fmla="val 29298"/>
              <a:gd name="adj2" fmla="val -10322"/>
              <a:gd name="adj3" fmla="val 53836"/>
              <a:gd name="adj4" fmla="val -27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/>
              <a:t>overline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6884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201367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background-color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background-color</a:t>
            </a:r>
            <a:r>
              <a:rPr lang="zh-CN" altLang="zh-CN" dirty="0"/>
              <a:t>属性设置背景色。</a:t>
            </a:r>
            <a:r>
              <a:rPr lang="en-US" altLang="zh-CN" dirty="0"/>
              <a:t>background-color</a:t>
            </a:r>
            <a:r>
              <a:rPr lang="zh-CN" altLang="zh-CN" dirty="0"/>
              <a:t>可以使用颜色关键字、十六进制颜色值和</a:t>
            </a:r>
            <a:r>
              <a:rPr lang="en-US" altLang="zh-CN" dirty="0" err="1"/>
              <a:t>rgb</a:t>
            </a:r>
            <a:r>
              <a:rPr lang="zh-CN" altLang="zh-CN" dirty="0"/>
              <a:t>颜色值来设定。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085" y="3185245"/>
            <a:ext cx="6909849" cy="248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698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000" dirty="0" smtClean="0"/>
              <a:t>一、设计</a:t>
            </a:r>
            <a:r>
              <a:rPr lang="zh-CN" altLang="en-US" sz="3000" dirty="0"/>
              <a:t>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70" b="6576"/>
          <a:stretch/>
        </p:blipFill>
        <p:spPr>
          <a:xfrm>
            <a:off x="1720850" y="1995053"/>
            <a:ext cx="8718953" cy="387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9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1155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3000" dirty="0" smtClean="0"/>
              <a:t>二、设计</a:t>
            </a:r>
            <a:r>
              <a:rPr lang="zh-CN" altLang="en-US" sz="3000" dirty="0"/>
              <a:t>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、一级</a:t>
            </a:r>
            <a:r>
              <a:rPr lang="zh-CN" altLang="en-US" sz="2600" dirty="0" smtClean="0"/>
              <a:t>标题样式</a:t>
            </a:r>
            <a:endParaRPr lang="en-US" altLang="zh-CN" sz="2600" dirty="0" smtClean="0"/>
          </a:p>
          <a:p>
            <a:pPr marL="571500" indent="-571500">
              <a:buFont typeface="+mj-ea"/>
              <a:buAutoNum type="ea1JpnChsDbPeriod" startAt="2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2469198"/>
            <a:ext cx="3807114" cy="368364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9" b="76249"/>
          <a:stretch/>
        </p:blipFill>
        <p:spPr>
          <a:xfrm>
            <a:off x="5832764" y="3311236"/>
            <a:ext cx="5278581" cy="66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4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1155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3000" dirty="0" smtClean="0"/>
              <a:t>二、设计</a:t>
            </a:r>
            <a:r>
              <a:rPr lang="zh-CN" altLang="en-US" sz="3000" dirty="0"/>
              <a:t>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、二</a:t>
            </a:r>
            <a:r>
              <a:rPr lang="zh-CN" altLang="en-US" sz="2600" dirty="0" smtClean="0"/>
              <a:t>级标题样式</a:t>
            </a:r>
            <a:endParaRPr lang="en-US" altLang="zh-CN" sz="2600" dirty="0" smtClean="0"/>
          </a:p>
          <a:p>
            <a:pPr marL="571500" indent="-571500">
              <a:buFont typeface="+mj-ea"/>
              <a:buAutoNum type="ea1JpnChsDbPeriod" startAt="2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31" y="2365289"/>
            <a:ext cx="4989462" cy="360602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2" b="57811"/>
          <a:stretch/>
        </p:blipFill>
        <p:spPr>
          <a:xfrm>
            <a:off x="4583120" y="2635453"/>
            <a:ext cx="6417389" cy="74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77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1155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3000" dirty="0" smtClean="0"/>
              <a:t>二、设计</a:t>
            </a:r>
            <a:r>
              <a:rPr lang="zh-CN" altLang="en-US" sz="3000" dirty="0"/>
              <a:t>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、段落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  <a:p>
            <a:pPr marL="571500" indent="-571500">
              <a:buFont typeface="+mj-ea"/>
              <a:buAutoNum type="ea1JpnChsDbPeriod" startAt="2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2327564"/>
            <a:ext cx="3918848" cy="29956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739" y="4225488"/>
            <a:ext cx="4139003" cy="1870511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2" b="45967"/>
          <a:stretch/>
        </p:blipFill>
        <p:spPr>
          <a:xfrm>
            <a:off x="4088854" y="1912511"/>
            <a:ext cx="7187623" cy="179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9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15970" cy="1155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3000" dirty="0" smtClean="0"/>
              <a:t>二、设计</a:t>
            </a:r>
            <a:r>
              <a:rPr lang="zh-CN" altLang="en-US" sz="3000" dirty="0"/>
              <a:t>网页</a:t>
            </a:r>
            <a:r>
              <a:rPr lang="zh-CN" altLang="en-US" sz="3000" dirty="0" smtClean="0"/>
              <a:t>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 smtClean="0"/>
              <a:t>、页脚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  <a:p>
            <a:pPr marL="571500" indent="-571500">
              <a:buFont typeface="+mj-ea"/>
              <a:buAutoNum type="ea1JpnChsDbPeriod" startAt="2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525" y="2327564"/>
            <a:ext cx="4148870" cy="3685309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75" b="-20"/>
          <a:stretch/>
        </p:blipFill>
        <p:spPr>
          <a:xfrm>
            <a:off x="4523509" y="2112819"/>
            <a:ext cx="6587836" cy="155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6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20906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本案例主要使用：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&lt;span</a:t>
            </a:r>
            <a:r>
              <a:rPr lang="en-US" altLang="zh-CN" sz="2800" dirty="0" smtClean="0"/>
              <a:t>&gt;</a:t>
            </a:r>
            <a:r>
              <a:rPr lang="zh-CN" altLang="en-US" sz="2800" dirty="0"/>
              <a:t>标签</a:t>
            </a:r>
            <a:endParaRPr lang="en-US" altLang="zh-CN" sz="28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id</a:t>
            </a:r>
            <a:r>
              <a:rPr lang="zh-CN" altLang="en-US" sz="2800" dirty="0"/>
              <a:t>选择</a:t>
            </a:r>
            <a:r>
              <a:rPr lang="zh-CN" altLang="en-US" sz="2800" dirty="0" smtClean="0"/>
              <a:t>器</a:t>
            </a:r>
            <a:endParaRPr lang="en-US" altLang="zh-CN" sz="28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）文字</a:t>
            </a:r>
            <a:r>
              <a:rPr lang="zh-CN" altLang="en-US" sz="2800" dirty="0" smtClean="0"/>
              <a:t>的常用样式：</a:t>
            </a:r>
            <a:endParaRPr lang="en-US" altLang="zh-CN" sz="28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dirty="0"/>
              <a:t>font-family</a:t>
            </a:r>
            <a:r>
              <a:rPr lang="zh-CN" altLang="en-US" sz="2400" dirty="0"/>
              <a:t>、</a:t>
            </a:r>
            <a:r>
              <a:rPr lang="en-US" altLang="zh-CN" sz="2400" dirty="0"/>
              <a:t>font-size</a:t>
            </a:r>
            <a:r>
              <a:rPr lang="zh-CN" altLang="en-US" sz="2400" dirty="0"/>
              <a:t>、</a:t>
            </a:r>
            <a:r>
              <a:rPr lang="en-US" altLang="zh-CN" sz="2400" dirty="0"/>
              <a:t>font-weight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line-height</a:t>
            </a:r>
            <a:r>
              <a:rPr lang="zh-CN" altLang="en-US" sz="2400" dirty="0"/>
              <a:t>、</a:t>
            </a:r>
            <a:r>
              <a:rPr lang="en-US" altLang="zh-CN" sz="2400" dirty="0"/>
              <a:t>border</a:t>
            </a:r>
            <a:r>
              <a:rPr lang="zh-CN" altLang="en-US" sz="2400" dirty="0"/>
              <a:t>、</a:t>
            </a:r>
            <a:r>
              <a:rPr lang="en-US" altLang="zh-CN" sz="2400" dirty="0"/>
              <a:t>font-style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text-decoration</a:t>
            </a:r>
            <a:r>
              <a:rPr lang="zh-CN" altLang="en-US" sz="2400" dirty="0"/>
              <a:t>、</a:t>
            </a:r>
            <a:r>
              <a:rPr lang="en-US" altLang="zh-CN" sz="2400" dirty="0"/>
              <a:t>background-color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6" name="流程图: 可选过程 5"/>
          <p:cNvSpPr/>
          <p:nvPr/>
        </p:nvSpPr>
        <p:spPr>
          <a:xfrm>
            <a:off x="6347313" y="1171575"/>
            <a:ext cx="4785680" cy="260538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3200" b="1" dirty="0"/>
              <a:t>i</a:t>
            </a:r>
            <a:r>
              <a:rPr lang="en-US" altLang="zh-CN" sz="3200" b="1" dirty="0" smtClean="0"/>
              <a:t>d</a:t>
            </a:r>
            <a:r>
              <a:rPr lang="zh-CN" altLang="en-US" sz="3200" b="1" dirty="0" smtClean="0"/>
              <a:t>选择器</a:t>
            </a:r>
            <a:endParaRPr lang="en-US" altLang="zh-CN" sz="3200" b="1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因为同一张网页中，元素的</a:t>
            </a:r>
            <a:r>
              <a:rPr lang="en-US" altLang="zh-CN" sz="2200" dirty="0" smtClean="0"/>
              <a:t>id</a:t>
            </a:r>
            <a:r>
              <a:rPr lang="zh-CN" altLang="en-US" sz="2200" dirty="0" smtClean="0"/>
              <a:t>属性值必须唯一，所以</a:t>
            </a:r>
            <a:r>
              <a:rPr lang="en-US" altLang="zh-CN" sz="2200" dirty="0" smtClean="0"/>
              <a:t>id</a:t>
            </a:r>
            <a:r>
              <a:rPr lang="zh-CN" altLang="en-US" sz="2200" dirty="0" smtClean="0"/>
              <a:t>选择器只能选中唯一的目标元素。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491489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尝试</a:t>
            </a:r>
            <a:r>
              <a:rPr lang="zh-CN" altLang="en-US" smtClean="0"/>
              <a:t>完成如下网页</a:t>
            </a:r>
            <a:r>
              <a:rPr lang="zh-CN" altLang="en-US" dirty="0" smtClean="0"/>
              <a:t>的制作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课后作业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25" y="2055260"/>
            <a:ext cx="3629025" cy="414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745</Words>
  <Application>Microsoft Office PowerPoint</Application>
  <PresentationFormat>宽屏</PresentationFormat>
  <Paragraphs>80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网页的文字排版基础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52</cp:revision>
  <dcterms:created xsi:type="dcterms:W3CDTF">2020-04-27T05:20:13Z</dcterms:created>
  <dcterms:modified xsi:type="dcterms:W3CDTF">2020-07-22T08:52:41Z</dcterms:modified>
</cp:coreProperties>
</file>
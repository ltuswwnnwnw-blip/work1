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69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75" r:id="rId17"/>
    <p:sldId id="287" r:id="rId18"/>
    <p:sldId id="288" r:id="rId19"/>
    <p:sldId id="289" r:id="rId20"/>
    <p:sldId id="290" r:id="rId21"/>
    <p:sldId id="291" r:id="rId22"/>
    <p:sldId id="292" r:id="rId23"/>
    <p:sldId id="267" r:id="rId24"/>
    <p:sldId id="26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5398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554481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图上文下的混排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dirty="0" smtClean="0"/>
              <a:t>掌握图上文下混排结构的实现</a:t>
            </a:r>
            <a:endParaRPr lang="en-US" altLang="zh-CN" sz="3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dirty="0" smtClean="0"/>
              <a:t>掌握相对定位和绝对定位</a:t>
            </a:r>
            <a:endParaRPr lang="en-US" altLang="zh-CN" sz="3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4100081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使用列表设计出图上文下混排的标签结构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使用浮动实现</a:t>
            </a:r>
            <a:r>
              <a:rPr lang="en-US" altLang="zh-CN" sz="3000" dirty="0"/>
              <a:t>2</a:t>
            </a:r>
            <a:r>
              <a:rPr lang="zh-CN" altLang="en-US" sz="3000" dirty="0" smtClean="0"/>
              <a:t>行</a:t>
            </a:r>
            <a:r>
              <a:rPr lang="en-US" altLang="zh-CN" sz="3000" dirty="0" smtClean="0"/>
              <a:t>3</a:t>
            </a:r>
            <a:r>
              <a:rPr lang="zh-CN" altLang="en-US" sz="3000" dirty="0" smtClean="0"/>
              <a:t>列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使用定位实现元素在图片上方叠加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任务目标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286" y="1587038"/>
            <a:ext cx="60198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021" y="1582196"/>
            <a:ext cx="6019800" cy="38766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标签分析</a:t>
            </a:r>
            <a:endParaRPr lang="zh-CN" altLang="en-US" dirty="0"/>
          </a:p>
        </p:txBody>
      </p:sp>
      <p:sp>
        <p:nvSpPr>
          <p:cNvPr id="5" name="矩形标注 4"/>
          <p:cNvSpPr/>
          <p:nvPr/>
        </p:nvSpPr>
        <p:spPr>
          <a:xfrm>
            <a:off x="6866313" y="3640975"/>
            <a:ext cx="1479665" cy="1468358"/>
          </a:xfrm>
          <a:prstGeom prst="wedgeRectCallout">
            <a:avLst>
              <a:gd name="adj1" fmla="val 71059"/>
              <a:gd name="adj2" fmla="val 659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标注 5"/>
          <p:cNvSpPr/>
          <p:nvPr/>
        </p:nvSpPr>
        <p:spPr>
          <a:xfrm>
            <a:off x="3682538" y="1878676"/>
            <a:ext cx="4734599" cy="3275215"/>
          </a:xfrm>
          <a:prstGeom prst="wedgeRectCallout">
            <a:avLst>
              <a:gd name="adj1" fmla="val 60677"/>
              <a:gd name="adj2" fmla="val -2179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787197" y="2329942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&lt;</a:t>
            </a:r>
            <a:r>
              <a:rPr lang="en-US" altLang="zh-CN" sz="3600" dirty="0" err="1" smtClean="0">
                <a:solidFill>
                  <a:srgbClr val="FF0000"/>
                </a:solidFill>
              </a:rPr>
              <a:t>ul</a:t>
            </a:r>
            <a:r>
              <a:rPr lang="en-US" altLang="zh-CN" sz="3600" dirty="0" smtClean="0">
                <a:solidFill>
                  <a:srgbClr val="FF0000"/>
                </a:solidFill>
              </a:rPr>
              <a:t>&gt;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8297" y="4149825"/>
            <a:ext cx="1005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&lt;li&gt;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60230" y="4027392"/>
            <a:ext cx="1404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</a:rPr>
              <a:t>&lt;</a:t>
            </a:r>
            <a:r>
              <a:rPr lang="en-US" altLang="zh-CN" sz="3200" dirty="0" err="1" smtClean="0">
                <a:solidFill>
                  <a:srgbClr val="FF0000"/>
                </a:solidFill>
              </a:rPr>
              <a:t>img</a:t>
            </a:r>
            <a:r>
              <a:rPr lang="en-US" altLang="zh-CN" sz="3200" dirty="0" smtClean="0">
                <a:solidFill>
                  <a:srgbClr val="FF0000"/>
                </a:solidFill>
              </a:rPr>
              <a:t>&gt;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051858" y="3573430"/>
            <a:ext cx="872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&lt;span&gt;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411357" y="4522196"/>
            <a:ext cx="676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&lt;h4&gt;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530872" y="4725794"/>
            <a:ext cx="574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&lt;p&gt;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60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0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行内元素与块状元素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行内元素和块状元素是</a:t>
            </a:r>
            <a:r>
              <a:rPr lang="en-US" altLang="zh-CN" dirty="0"/>
              <a:t>HTML</a:t>
            </a:r>
            <a:r>
              <a:rPr lang="zh-CN" altLang="zh-CN" dirty="0"/>
              <a:t>中的两种基本元素，常见的块状元素如</a:t>
            </a:r>
            <a:r>
              <a:rPr lang="en-US" altLang="zh-CN" dirty="0"/>
              <a:t>h1</a:t>
            </a:r>
            <a:r>
              <a:rPr lang="zh-CN" altLang="zh-CN" dirty="0"/>
              <a:t>、</a:t>
            </a:r>
            <a:r>
              <a:rPr lang="en-US" altLang="zh-CN" dirty="0"/>
              <a:t>p</a:t>
            </a:r>
            <a:r>
              <a:rPr lang="zh-CN" altLang="zh-CN" dirty="0"/>
              <a:t>、</a:t>
            </a:r>
            <a:r>
              <a:rPr lang="en-US" altLang="zh-CN" dirty="0"/>
              <a:t>div</a:t>
            </a:r>
            <a:r>
              <a:rPr lang="zh-CN" altLang="zh-CN" dirty="0"/>
              <a:t>、</a:t>
            </a:r>
            <a:r>
              <a:rPr lang="en-US" altLang="zh-CN" dirty="0" err="1"/>
              <a:t>ul</a:t>
            </a:r>
            <a:r>
              <a:rPr lang="zh-CN" altLang="zh-CN" dirty="0"/>
              <a:t>、</a:t>
            </a:r>
            <a:r>
              <a:rPr lang="en-US" altLang="zh-CN" dirty="0"/>
              <a:t>li</a:t>
            </a:r>
            <a:r>
              <a:rPr lang="zh-CN" altLang="zh-CN" dirty="0"/>
              <a:t>等，常见的行内元素如</a:t>
            </a:r>
            <a:r>
              <a:rPr lang="en-US" altLang="zh-CN" dirty="0" err="1"/>
              <a:t>img</a:t>
            </a:r>
            <a:r>
              <a:rPr lang="zh-CN" altLang="zh-CN" dirty="0"/>
              <a:t>、</a:t>
            </a:r>
            <a:r>
              <a:rPr lang="en-US" altLang="zh-CN" dirty="0"/>
              <a:t>span</a:t>
            </a:r>
            <a:r>
              <a:rPr lang="zh-CN" altLang="zh-CN" dirty="0"/>
              <a:t>、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 err="1"/>
              <a:t>em</a:t>
            </a:r>
            <a:r>
              <a:rPr lang="zh-CN" altLang="zh-CN" dirty="0"/>
              <a:t>等</a:t>
            </a:r>
            <a:r>
              <a:rPr lang="zh-CN" altLang="zh-CN" dirty="0" smtClean="0"/>
              <a:t>，</a:t>
            </a:r>
            <a:r>
              <a:rPr lang="zh-CN" altLang="en-US" dirty="0" smtClean="0"/>
              <a:t>两者主要</a:t>
            </a:r>
            <a:r>
              <a:rPr lang="zh-CN" altLang="zh-CN" dirty="0" smtClean="0"/>
              <a:t>区别</a:t>
            </a:r>
            <a:r>
              <a:rPr lang="zh-CN" altLang="en-US" dirty="0" smtClean="0"/>
              <a:t>如下：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zh-CN" dirty="0"/>
              <a:t>）块状元素独占一行，且宽度会占满父元素宽度；行内元素不会独占一行，与之相邻的行内元素可以排在同一行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zh-CN" dirty="0"/>
              <a:t>）块状元素可以设置</a:t>
            </a:r>
            <a:r>
              <a:rPr lang="en-US" altLang="zh-CN" dirty="0"/>
              <a:t>width</a:t>
            </a:r>
            <a:r>
              <a:rPr lang="zh-CN" altLang="zh-CN" dirty="0"/>
              <a:t>和</a:t>
            </a:r>
            <a:r>
              <a:rPr lang="en-US" altLang="zh-CN" dirty="0"/>
              <a:t>height</a:t>
            </a:r>
            <a:r>
              <a:rPr lang="zh-CN" altLang="zh-CN" dirty="0"/>
              <a:t>，而行内元素设置</a:t>
            </a:r>
            <a:r>
              <a:rPr lang="en-US" altLang="zh-CN" dirty="0"/>
              <a:t>width</a:t>
            </a:r>
            <a:r>
              <a:rPr lang="zh-CN" altLang="zh-CN" dirty="0"/>
              <a:t>和</a:t>
            </a:r>
            <a:r>
              <a:rPr lang="en-US" altLang="zh-CN" dirty="0"/>
              <a:t>height</a:t>
            </a:r>
            <a:r>
              <a:rPr lang="zh-CN" altLang="zh-CN" dirty="0"/>
              <a:t>无效果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zh-CN" dirty="0"/>
              <a:t>）块状元素可以设置</a:t>
            </a:r>
            <a:r>
              <a:rPr lang="en-US" altLang="zh-CN" dirty="0"/>
              <a:t>margin</a:t>
            </a:r>
            <a:r>
              <a:rPr lang="zh-CN" altLang="zh-CN" dirty="0"/>
              <a:t>和</a:t>
            </a:r>
            <a:r>
              <a:rPr lang="en-US" altLang="zh-CN" dirty="0"/>
              <a:t>padding</a:t>
            </a:r>
            <a:r>
              <a:rPr lang="zh-CN" altLang="zh-CN" dirty="0"/>
              <a:t>属性控制</a:t>
            </a:r>
            <a:r>
              <a:rPr lang="en-US" altLang="zh-CN" dirty="0"/>
              <a:t>4</a:t>
            </a:r>
            <a:r>
              <a:rPr lang="zh-CN" altLang="zh-CN" dirty="0"/>
              <a:t>个方向的内外边距；行内元素</a:t>
            </a:r>
            <a:r>
              <a:rPr lang="zh-CN" altLang="zh-CN" dirty="0" smtClean="0"/>
              <a:t>只能控制</a:t>
            </a:r>
            <a:r>
              <a:rPr lang="zh-CN" altLang="zh-CN" dirty="0"/>
              <a:t>左右的内外边距，上下的内外边距没有效果。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相对定位</a:t>
            </a:r>
            <a:r>
              <a:rPr lang="zh-CN" altLang="en-US" sz="3000" dirty="0" smtClean="0"/>
              <a:t>与绝对定位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position</a:t>
            </a:r>
            <a:r>
              <a:rPr lang="zh-CN" altLang="zh-CN" dirty="0"/>
              <a:t>属性用于指定元素的定位方法，通常有</a:t>
            </a:r>
            <a:r>
              <a:rPr lang="en-US" altLang="zh-CN" dirty="0"/>
              <a:t>4</a:t>
            </a:r>
            <a:r>
              <a:rPr lang="zh-CN" altLang="zh-CN" dirty="0"/>
              <a:t>种定位方法：</a:t>
            </a:r>
            <a:r>
              <a:rPr lang="en-US" altLang="zh-CN" dirty="0"/>
              <a:t>static</a:t>
            </a:r>
            <a:r>
              <a:rPr lang="zh-CN" altLang="zh-CN" dirty="0"/>
              <a:t>、</a:t>
            </a:r>
            <a:r>
              <a:rPr lang="en-US" altLang="zh-CN" dirty="0"/>
              <a:t>relative</a:t>
            </a:r>
            <a:r>
              <a:rPr lang="zh-CN" altLang="zh-CN" dirty="0"/>
              <a:t>、</a:t>
            </a:r>
            <a:r>
              <a:rPr lang="en-US" altLang="zh-CN" dirty="0"/>
              <a:t>absolute</a:t>
            </a:r>
            <a:r>
              <a:rPr lang="zh-CN" altLang="zh-CN" dirty="0"/>
              <a:t>和</a:t>
            </a:r>
            <a:r>
              <a:rPr lang="en-US" altLang="zh-CN" dirty="0"/>
              <a:t>fixed</a:t>
            </a:r>
            <a:r>
              <a:rPr lang="zh-CN" altLang="zh-CN" dirty="0"/>
              <a:t>。</a:t>
            </a:r>
            <a:r>
              <a:rPr lang="zh-CN" altLang="zh-CN" dirty="0" smtClean="0"/>
              <a:t>这里先</a:t>
            </a:r>
            <a:r>
              <a:rPr lang="zh-CN" altLang="zh-CN" dirty="0"/>
              <a:t>来认识前面三种</a:t>
            </a:r>
            <a:r>
              <a:rPr lang="zh-CN" altLang="zh-CN" dirty="0" smtClean="0"/>
              <a:t>定位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1</a:t>
            </a:r>
            <a:r>
              <a:rPr lang="zh-CN" altLang="zh-CN" dirty="0"/>
              <a:t>）</a:t>
            </a:r>
            <a:r>
              <a:rPr lang="en-US" altLang="zh-CN" dirty="0"/>
              <a:t>static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static</a:t>
            </a:r>
            <a:r>
              <a:rPr lang="zh-CN" altLang="zh-CN" dirty="0"/>
              <a:t>是</a:t>
            </a:r>
            <a:r>
              <a:rPr lang="en-US" altLang="zh-CN" dirty="0"/>
              <a:t>position</a:t>
            </a:r>
            <a:r>
              <a:rPr lang="zh-CN" altLang="zh-CN" dirty="0"/>
              <a:t>属性的默认值，指的是静态定位，元素出现在正常的文档流中，忽略</a:t>
            </a:r>
            <a:r>
              <a:rPr lang="en-US" altLang="zh-CN" dirty="0"/>
              <a:t>top</a:t>
            </a:r>
            <a:r>
              <a:rPr lang="zh-CN" altLang="zh-CN" dirty="0"/>
              <a:t>、</a:t>
            </a:r>
            <a:r>
              <a:rPr lang="en-US" altLang="zh-CN" dirty="0"/>
              <a:t>bottom</a:t>
            </a:r>
            <a:r>
              <a:rPr lang="zh-CN" altLang="zh-CN" dirty="0"/>
              <a:t>、</a:t>
            </a:r>
            <a:r>
              <a:rPr lang="en-US" altLang="zh-CN" dirty="0"/>
              <a:t>left</a:t>
            </a:r>
            <a:r>
              <a:rPr lang="zh-CN" altLang="zh-CN" dirty="0"/>
              <a:t>、</a:t>
            </a:r>
            <a:r>
              <a:rPr lang="en-US" altLang="zh-CN" dirty="0"/>
              <a:t>right</a:t>
            </a:r>
            <a:r>
              <a:rPr lang="zh-CN" altLang="zh-CN" dirty="0"/>
              <a:t>或者</a:t>
            </a:r>
            <a:r>
              <a:rPr lang="en-US" altLang="zh-CN" dirty="0"/>
              <a:t>z-index</a:t>
            </a:r>
            <a:r>
              <a:rPr lang="zh-CN" altLang="zh-CN" dirty="0"/>
              <a:t>属性的效果，没有定位。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79169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335608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相对定位</a:t>
            </a:r>
            <a:r>
              <a:rPr lang="zh-CN" altLang="en-US" sz="3000" dirty="0" smtClean="0"/>
              <a:t>与绝对定位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2</a:t>
            </a:r>
            <a:r>
              <a:rPr lang="zh-CN" altLang="zh-CN" dirty="0" smtClean="0"/>
              <a:t>）</a:t>
            </a:r>
            <a:r>
              <a:rPr lang="en-US" altLang="zh-CN" dirty="0" smtClean="0"/>
              <a:t>relative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relative</a:t>
            </a:r>
            <a:r>
              <a:rPr lang="zh-CN" altLang="zh-CN" dirty="0"/>
              <a:t>表示相对定位，将元素相对其正常位置进行移动。元素设置此属性之后仍然处于文档流中，不影响其他元素的布局，但是移动元素会导致它覆盖其他元素，产生叠加效果。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004" y="2601365"/>
            <a:ext cx="2411267" cy="33560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980" y="2806931"/>
            <a:ext cx="3259478" cy="229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0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335608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相对定位</a:t>
            </a:r>
            <a:r>
              <a:rPr lang="zh-CN" altLang="en-US" sz="3000" dirty="0" smtClean="0"/>
              <a:t>与绝对定位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zh-CN" dirty="0" smtClean="0"/>
              <a:t>）</a:t>
            </a:r>
            <a:r>
              <a:rPr lang="en-US" altLang="zh-CN" dirty="0" err="1" smtClean="0"/>
              <a:t>absloute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dirty="0"/>
              <a:t>absolute</a:t>
            </a:r>
            <a:r>
              <a:rPr lang="zh-CN" altLang="zh-CN" dirty="0"/>
              <a:t>表示绝对定位，元素会选择距离自己最近的且不是</a:t>
            </a:r>
            <a:r>
              <a:rPr lang="en-US" altLang="zh-CN" dirty="0"/>
              <a:t>static</a:t>
            </a:r>
            <a:r>
              <a:rPr lang="zh-CN" altLang="zh-CN" dirty="0"/>
              <a:t>的父元素作为参考对象来进行定位。元素设置此属性之后会脱离文档流，并释放原来所占空间。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225" y="1406927"/>
            <a:ext cx="3478011" cy="37484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499526" y="5155380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r>
              <a:rPr lang="en-US" altLang="zh-CN" dirty="0" smtClean="0"/>
              <a:t>iv</a:t>
            </a:r>
            <a:r>
              <a:rPr lang="zh-CN" altLang="en-US" dirty="0" smtClean="0"/>
              <a:t>静态定位效果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244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7910080" cy="22859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相对定位</a:t>
            </a:r>
            <a:r>
              <a:rPr lang="zh-CN" altLang="en-US" sz="3000" dirty="0" smtClean="0"/>
              <a:t>与绝对定位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zh-CN" dirty="0" smtClean="0"/>
              <a:t>）</a:t>
            </a:r>
            <a:r>
              <a:rPr lang="en-US" altLang="zh-CN" dirty="0" err="1" smtClean="0"/>
              <a:t>absloute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第一种情况：直接将</a:t>
            </a:r>
            <a:r>
              <a:rPr lang="en-US" altLang="zh-CN" dirty="0" smtClean="0"/>
              <a:t>box3</a:t>
            </a:r>
            <a:r>
              <a:rPr lang="zh-CN" altLang="en-US" dirty="0" smtClean="0"/>
              <a:t>设为</a:t>
            </a:r>
            <a:r>
              <a:rPr lang="zh-CN" altLang="en-US" dirty="0"/>
              <a:t>绝对定位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8" name="图片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565" y="3075709"/>
            <a:ext cx="2838365" cy="29504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45" y="3241963"/>
            <a:ext cx="5913730" cy="241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9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7910080" cy="22859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相对定位</a:t>
            </a:r>
            <a:r>
              <a:rPr lang="zh-CN" altLang="en-US" sz="3000" dirty="0" smtClean="0"/>
              <a:t>与绝对定位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zh-CN" dirty="0" smtClean="0"/>
              <a:t>）</a:t>
            </a:r>
            <a:r>
              <a:rPr lang="en-US" altLang="zh-CN" dirty="0" err="1" smtClean="0"/>
              <a:t>absloute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第</a:t>
            </a:r>
            <a:r>
              <a:rPr lang="zh-CN" altLang="en-US" dirty="0"/>
              <a:t>二</a:t>
            </a:r>
            <a:r>
              <a:rPr lang="zh-CN" altLang="en-US" dirty="0" smtClean="0"/>
              <a:t>种情况：将</a:t>
            </a:r>
            <a:r>
              <a:rPr lang="en-US" altLang="zh-CN" dirty="0" smtClean="0"/>
              <a:t>box1</a:t>
            </a:r>
            <a:r>
              <a:rPr lang="zh-CN" altLang="en-US" dirty="0" smtClean="0"/>
              <a:t>设为相对定位，</a:t>
            </a:r>
            <a:r>
              <a:rPr lang="en-US" altLang="zh-CN" dirty="0" smtClean="0"/>
              <a:t>box3</a:t>
            </a:r>
            <a:r>
              <a:rPr lang="zh-CN" altLang="en-US" dirty="0" smtClean="0"/>
              <a:t>设为绝对定位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7608" y="2998119"/>
            <a:ext cx="3041737" cy="318667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309" y="2998119"/>
            <a:ext cx="4717499" cy="318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5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8907607" cy="22859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相对定位</a:t>
            </a:r>
            <a:r>
              <a:rPr lang="zh-CN" altLang="en-US" sz="3000" dirty="0" smtClean="0"/>
              <a:t>与绝对定位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3</a:t>
            </a:r>
            <a:r>
              <a:rPr lang="zh-CN" altLang="zh-CN" dirty="0" smtClean="0"/>
              <a:t>）</a:t>
            </a:r>
            <a:r>
              <a:rPr lang="en-US" altLang="zh-CN" dirty="0" err="1" smtClean="0"/>
              <a:t>absloute</a:t>
            </a:r>
            <a:endParaRPr lang="zh-CN" altLang="zh-CN" dirty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dirty="0" smtClean="0"/>
              <a:t>第三种情况：</a:t>
            </a:r>
            <a:r>
              <a:rPr lang="zh-CN" altLang="zh-CN" dirty="0"/>
              <a:t>将</a:t>
            </a:r>
            <a:r>
              <a:rPr lang="en-US" altLang="zh-CN" dirty="0"/>
              <a:t>box1</a:t>
            </a:r>
            <a:r>
              <a:rPr lang="zh-CN" altLang="zh-CN" dirty="0"/>
              <a:t>和</a:t>
            </a:r>
            <a:r>
              <a:rPr lang="en-US" altLang="zh-CN" dirty="0"/>
              <a:t>box2</a:t>
            </a:r>
            <a:r>
              <a:rPr lang="zh-CN" altLang="zh-CN" dirty="0"/>
              <a:t>设为相对定位，</a:t>
            </a:r>
            <a:r>
              <a:rPr lang="en-US" altLang="zh-CN" dirty="0"/>
              <a:t>box3</a:t>
            </a:r>
            <a:r>
              <a:rPr lang="zh-CN" altLang="zh-CN" dirty="0"/>
              <a:t>设为绝对定位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578" y="2998119"/>
            <a:ext cx="3250401" cy="316715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08" y="2998119"/>
            <a:ext cx="6087517" cy="316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3144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图片下方的小间隙</a:t>
            </a:r>
            <a:endParaRPr lang="en-US" altLang="zh-CN" sz="3000" dirty="0" smtClean="0"/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zh-CN" sz="2200" dirty="0" smtClean="0"/>
              <a:t>红色</a:t>
            </a:r>
            <a:r>
              <a:rPr lang="zh-CN" altLang="zh-CN" sz="2200" dirty="0"/>
              <a:t>实线为文字的基线</a:t>
            </a:r>
            <a:r>
              <a:rPr lang="zh-CN" altLang="zh-CN" sz="2200" dirty="0" smtClean="0"/>
              <a:t>，大多数</a:t>
            </a:r>
            <a:r>
              <a:rPr lang="zh-CN" altLang="zh-CN" sz="2200" dirty="0"/>
              <a:t>字母的底部位于基线上，只有个别字母尾部较长如</a:t>
            </a:r>
            <a:r>
              <a:rPr lang="en-US" altLang="zh-CN" sz="2200" dirty="0"/>
              <a:t>p</a:t>
            </a:r>
            <a:r>
              <a:rPr lang="zh-CN" altLang="zh-CN" sz="2200" dirty="0"/>
              <a:t>、</a:t>
            </a:r>
            <a:r>
              <a:rPr lang="en-US" altLang="zh-CN" sz="2200" dirty="0"/>
              <a:t>y</a:t>
            </a:r>
            <a:r>
              <a:rPr lang="zh-CN" altLang="zh-CN" sz="2200" dirty="0"/>
              <a:t>，底部会处于基线下方，这就是行内元素在垂直方向上默认的</a:t>
            </a:r>
            <a:r>
              <a:rPr lang="zh-CN" altLang="zh-CN" sz="2200" dirty="0">
                <a:solidFill>
                  <a:srgbClr val="FF0000"/>
                </a:solidFill>
              </a:rPr>
              <a:t>基线对齐</a:t>
            </a:r>
            <a:r>
              <a:rPr lang="zh-CN" altLang="zh-CN" sz="2200" dirty="0"/>
              <a:t>方式</a:t>
            </a:r>
            <a:r>
              <a:rPr lang="zh-CN" altLang="zh-CN" sz="2200" dirty="0" smtClean="0"/>
              <a:t>。图片</a:t>
            </a:r>
            <a:r>
              <a:rPr lang="zh-CN" altLang="zh-CN" sz="2200" dirty="0"/>
              <a:t>作为其中的一个行内元素，同样也是遵循基线对齐，所以会出现图片下方的小间隙。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132" y="3584863"/>
            <a:ext cx="5698363" cy="256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0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15932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清除图片下方的小间隙</a:t>
            </a:r>
            <a:endParaRPr lang="en-US" altLang="zh-CN" sz="3000" dirty="0" smtClean="0"/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/>
              <a:t>方法</a:t>
            </a:r>
            <a:r>
              <a:rPr lang="zh-CN" altLang="en-US" dirty="0" smtClean="0"/>
              <a:t>一：改变图片的垂直对齐方式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650" y="3967169"/>
            <a:ext cx="3152776" cy="14557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507" y="2623277"/>
            <a:ext cx="6398372" cy="1089747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471" y="3950413"/>
            <a:ext cx="3227259" cy="1472547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920" y="3950413"/>
            <a:ext cx="3189066" cy="147254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44759" y="5437019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vertical-align</a:t>
            </a:r>
            <a:r>
              <a:rPr lang="zh-CN" altLang="zh-CN" dirty="0"/>
              <a:t>为</a:t>
            </a:r>
            <a:r>
              <a:rPr lang="en-US" altLang="zh-CN" dirty="0"/>
              <a:t>bottom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080620" y="5437019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vertical-align</a:t>
            </a:r>
            <a:r>
              <a:rPr lang="zh-CN" altLang="zh-CN" dirty="0"/>
              <a:t>为</a:t>
            </a:r>
            <a:r>
              <a:rPr lang="en-US" altLang="zh-CN" dirty="0"/>
              <a:t>top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246995" y="5437019"/>
            <a:ext cx="2452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vertical-align</a:t>
            </a:r>
            <a:r>
              <a:rPr lang="zh-CN" altLang="zh-CN" dirty="0"/>
              <a:t>为</a:t>
            </a:r>
            <a:r>
              <a:rPr lang="en-US" altLang="zh-CN" dirty="0"/>
              <a:t>middle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81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29787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清除图片下方的小间隙</a:t>
            </a:r>
            <a:endParaRPr lang="en-US" altLang="zh-CN" sz="3000" dirty="0" smtClean="0"/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 smtClean="0"/>
              <a:t>方法</a:t>
            </a:r>
            <a:r>
              <a:rPr lang="zh-CN" altLang="en-US" dirty="0"/>
              <a:t>二</a:t>
            </a:r>
            <a:r>
              <a:rPr lang="zh-CN" altLang="en-US" dirty="0" smtClean="0"/>
              <a:t>：将图片改为块状元素</a:t>
            </a:r>
            <a:endParaRPr lang="en-US" altLang="zh-CN" dirty="0" smtClean="0"/>
          </a:p>
          <a:p>
            <a:pPr marL="914400" lvl="2" indent="0">
              <a:lnSpc>
                <a:spcPct val="170000"/>
              </a:lnSpc>
              <a:buNone/>
            </a:pPr>
            <a:r>
              <a:rPr lang="zh-CN" altLang="zh-CN" sz="2200" dirty="0"/>
              <a:t>因为块状元素不存在基线对齐，所以在不影响布局的情况下，可以使用该方法。</a:t>
            </a:r>
          </a:p>
          <a:p>
            <a:pPr marL="457200" lvl="1" indent="0">
              <a:lnSpc>
                <a:spcPct val="17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472" y="3666752"/>
            <a:ext cx="4011375" cy="219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03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29787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清除图片下方的小间隙</a:t>
            </a:r>
            <a:endParaRPr lang="en-US" altLang="zh-CN" sz="3000" dirty="0" smtClean="0"/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dirty="0" smtClean="0"/>
              <a:t>方法三：</a:t>
            </a:r>
            <a:r>
              <a:rPr lang="zh-CN" altLang="zh-CN" dirty="0"/>
              <a:t>父元素行高足够小，使得基线上移</a:t>
            </a:r>
            <a:endParaRPr lang="en-US" altLang="zh-CN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如果父元素没有包含文字内容，可以将行高设为</a:t>
            </a:r>
            <a:r>
              <a:rPr lang="en-US" altLang="zh-CN" sz="2200" dirty="0"/>
              <a:t>0</a:t>
            </a:r>
            <a:r>
              <a:rPr lang="zh-CN" altLang="zh-CN" sz="2200" dirty="0"/>
              <a:t>，使得基线上移；但是如果父元素内还包含有文字，那么文字的样式就会受到影响。</a:t>
            </a:r>
          </a:p>
          <a:p>
            <a:pPr marL="457200" lvl="1" indent="0">
              <a:lnSpc>
                <a:spcPct val="17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740" y="3829915"/>
            <a:ext cx="3397568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1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7716116" cy="9698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 smtClean="0"/>
              <a:t>一、设计网页的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98" y="1787669"/>
            <a:ext cx="6142205" cy="43914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4" r="7561"/>
          <a:stretch/>
        </p:blipFill>
        <p:spPr>
          <a:xfrm>
            <a:off x="7323733" y="2535762"/>
            <a:ext cx="3967724" cy="303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679498" cy="4765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二</a:t>
            </a:r>
            <a:r>
              <a:rPr lang="zh-CN" altLang="en-US" sz="3000" dirty="0" smtClean="0"/>
              <a:t>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）全局样式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首先统一网页中的字体、去除粗体效果和列表符号，清除所有标签的默认内外边距，便于后面精确控制元素间的间距。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873" y="1872961"/>
            <a:ext cx="4364182" cy="36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4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848225" cy="4765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二</a:t>
            </a:r>
            <a:r>
              <a:rPr lang="zh-CN" altLang="en-US" sz="3000" dirty="0" smtClean="0"/>
              <a:t>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</a:t>
            </a:r>
            <a:r>
              <a:rPr lang="zh-CN" altLang="en-US" sz="2600" dirty="0" smtClean="0"/>
              <a:t>图文单元横向排列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 smtClean="0"/>
              <a:t>在</a:t>
            </a:r>
            <a:r>
              <a:rPr lang="en-US" altLang="zh-CN" sz="2200" dirty="0"/>
              <a:t>li</a:t>
            </a:r>
            <a:r>
              <a:rPr lang="zh-CN" altLang="zh-CN" sz="2200" dirty="0"/>
              <a:t>上添加</a:t>
            </a:r>
            <a:r>
              <a:rPr lang="en-US" altLang="zh-CN" sz="2200" dirty="0" smtClean="0"/>
              <a:t>float</a:t>
            </a:r>
            <a:r>
              <a:rPr lang="zh-CN" altLang="zh-CN" sz="2200" dirty="0" smtClean="0"/>
              <a:t>实现</a:t>
            </a:r>
            <a:r>
              <a:rPr lang="zh-CN" altLang="zh-CN" sz="2200" dirty="0"/>
              <a:t>横排，并根据图片的宽度设定</a:t>
            </a:r>
            <a:r>
              <a:rPr lang="en-US" altLang="zh-CN" sz="2200" dirty="0"/>
              <a:t>li</a:t>
            </a:r>
            <a:r>
              <a:rPr lang="zh-CN" altLang="zh-CN" sz="2200" dirty="0"/>
              <a:t>的宽度为</a:t>
            </a:r>
            <a:r>
              <a:rPr lang="en-US" altLang="zh-CN" sz="2200" dirty="0"/>
              <a:t>150px</a:t>
            </a:r>
            <a:r>
              <a:rPr lang="zh-CN" altLang="zh-CN" sz="2200" dirty="0"/>
              <a:t>；行与行之间的间隔使用</a:t>
            </a:r>
            <a:r>
              <a:rPr lang="en-US" altLang="zh-CN" sz="2200" dirty="0"/>
              <a:t>padding</a:t>
            </a:r>
            <a:r>
              <a:rPr lang="zh-CN" altLang="zh-CN" sz="2200" dirty="0"/>
              <a:t>来实现；分割虚线使用底部边框来设计。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1" y="1887248"/>
            <a:ext cx="5251656" cy="396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679498" cy="4765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二</a:t>
            </a:r>
            <a:r>
              <a:rPr lang="zh-CN" altLang="en-US" sz="3000" dirty="0" smtClean="0"/>
              <a:t>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</a:t>
            </a:r>
            <a:r>
              <a:rPr lang="en-US" altLang="zh-CN" sz="2600" dirty="0" smtClean="0"/>
              <a:t>span</a:t>
            </a:r>
            <a:r>
              <a:rPr lang="zh-CN" altLang="en-US" sz="2600" dirty="0" smtClean="0"/>
              <a:t>叠加图片左上角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将</a:t>
            </a:r>
            <a:r>
              <a:rPr lang="en-US" altLang="zh-CN" sz="2200" dirty="0"/>
              <a:t>span</a:t>
            </a:r>
            <a:r>
              <a:rPr lang="zh-CN" altLang="zh-CN" sz="2200" dirty="0"/>
              <a:t>的父元素</a:t>
            </a:r>
            <a:r>
              <a:rPr lang="en-US" altLang="zh-CN" sz="2200" dirty="0"/>
              <a:t>li</a:t>
            </a:r>
            <a:r>
              <a:rPr lang="zh-CN" altLang="zh-CN" sz="2200" dirty="0"/>
              <a:t>设计为相对定位，</a:t>
            </a:r>
            <a:r>
              <a:rPr lang="en-US" altLang="zh-CN" sz="2200" dirty="0"/>
              <a:t>span</a:t>
            </a:r>
            <a:r>
              <a:rPr lang="zh-CN" altLang="zh-CN" sz="2200" dirty="0"/>
              <a:t>设计为绝对定位，使得</a:t>
            </a:r>
            <a:r>
              <a:rPr lang="en-US" altLang="zh-CN" sz="2200" dirty="0"/>
              <a:t>span</a:t>
            </a:r>
            <a:r>
              <a:rPr lang="zh-CN" altLang="zh-CN" sz="2200" dirty="0"/>
              <a:t>元素可以脱离文档流，叠加到图片的左</a:t>
            </a:r>
            <a:r>
              <a:rPr lang="zh-CN" altLang="zh-CN" sz="2200" dirty="0" smtClean="0"/>
              <a:t>上角</a:t>
            </a:r>
            <a:r>
              <a:rPr lang="zh-CN" altLang="en-US" sz="2200" dirty="0" smtClean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</p:spTree>
    <p:extLst>
      <p:ext uri="{BB962C8B-B14F-4D97-AF65-F5344CB8AC3E}">
        <p14:creationId xmlns:p14="http://schemas.microsoft.com/office/powerpoint/2010/main" val="319877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679498" cy="4765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二</a:t>
            </a:r>
            <a:r>
              <a:rPr lang="zh-CN" altLang="en-US" sz="3000" dirty="0" smtClean="0"/>
              <a:t>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4</a:t>
            </a:r>
            <a:r>
              <a:rPr lang="zh-CN" altLang="en-US" sz="2600" dirty="0" smtClean="0"/>
              <a:t>）标题和段落样式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200" dirty="0"/>
              <a:t>为图片下方的标题和段落设计灰色背景，并增加背景与文字之间的内边距，使文字看起来不那么拥挤；注意标题与段落的字号和颜色应有所区别。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873" y="1230019"/>
            <a:ext cx="4336472" cy="484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28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5679498" cy="4765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二</a:t>
            </a:r>
            <a:r>
              <a:rPr lang="zh-CN" altLang="en-US" sz="3000" dirty="0" smtClean="0"/>
              <a:t>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细节</a:t>
            </a:r>
            <a:r>
              <a:rPr lang="zh-CN" altLang="en-US" sz="2600" dirty="0" smtClean="0"/>
              <a:t>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200" dirty="0" smtClean="0"/>
              <a:t>增加中间列左右间隔；删除底部虚线。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404" y="3081337"/>
            <a:ext cx="3621232" cy="297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8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10112952" cy="476596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/>
              <a:t>二</a:t>
            </a:r>
            <a:r>
              <a:rPr lang="zh-CN" altLang="en-US" sz="3000" dirty="0" smtClean="0"/>
              <a:t>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6</a:t>
            </a:r>
            <a:r>
              <a:rPr lang="zh-CN" altLang="en-US" sz="2600" dirty="0" smtClean="0"/>
              <a:t>）</a:t>
            </a:r>
            <a:r>
              <a:rPr lang="zh-CN" altLang="en-US" sz="2600" dirty="0" smtClean="0"/>
              <a:t>外层布局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sz="2000" dirty="0"/>
              <a:t>当</a:t>
            </a:r>
            <a:r>
              <a:rPr lang="en-US" altLang="zh-CN" sz="2000" dirty="0"/>
              <a:t>li</a:t>
            </a:r>
            <a:r>
              <a:rPr lang="zh-CN" altLang="zh-CN" sz="2000" dirty="0"/>
              <a:t>之间的间隔都确定</a:t>
            </a:r>
            <a:r>
              <a:rPr lang="zh-CN" altLang="zh-CN" sz="2000" dirty="0" smtClean="0"/>
              <a:t>好，就</a:t>
            </a:r>
            <a:r>
              <a:rPr lang="zh-CN" altLang="zh-CN" sz="2000" dirty="0"/>
              <a:t>可以计算出</a:t>
            </a:r>
            <a:r>
              <a:rPr lang="en-US" altLang="zh-CN" sz="2000" dirty="0" err="1"/>
              <a:t>ul</a:t>
            </a:r>
            <a:r>
              <a:rPr lang="zh-CN" altLang="zh-CN" sz="2000" dirty="0"/>
              <a:t>的准确宽度：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 err="1"/>
              <a:t>ul</a:t>
            </a:r>
            <a:r>
              <a:rPr lang="zh-CN" altLang="zh-CN" sz="2000" dirty="0"/>
              <a:t>宽度</a:t>
            </a:r>
            <a:r>
              <a:rPr lang="en-US" altLang="zh-CN" sz="2000" dirty="0"/>
              <a:t>=</a:t>
            </a:r>
            <a:r>
              <a:rPr lang="zh-CN" altLang="zh-CN" sz="2000" dirty="0"/>
              <a:t>（第</a:t>
            </a:r>
            <a:r>
              <a:rPr lang="en-US" altLang="zh-CN" sz="2000" dirty="0"/>
              <a:t>1</a:t>
            </a:r>
            <a:r>
              <a:rPr lang="zh-CN" altLang="zh-CN" sz="2000" dirty="0"/>
              <a:t>列</a:t>
            </a:r>
            <a:r>
              <a:rPr lang="en-US" altLang="zh-CN" sz="2000" dirty="0"/>
              <a:t>li</a:t>
            </a:r>
            <a:r>
              <a:rPr lang="zh-CN" altLang="zh-CN" sz="2000" dirty="0"/>
              <a:t>的</a:t>
            </a:r>
            <a:r>
              <a:rPr lang="en-US" altLang="zh-CN" sz="2000" dirty="0"/>
              <a:t>width</a:t>
            </a:r>
            <a:r>
              <a:rPr lang="zh-CN" altLang="zh-CN" sz="2000" dirty="0"/>
              <a:t>）</a:t>
            </a:r>
            <a:r>
              <a:rPr lang="en-US" altLang="zh-CN" sz="2000" dirty="0"/>
              <a:t>+</a:t>
            </a:r>
            <a:r>
              <a:rPr lang="zh-CN" altLang="zh-CN" sz="2000" dirty="0"/>
              <a:t>（第</a:t>
            </a:r>
            <a:r>
              <a:rPr lang="en-US" altLang="zh-CN" sz="2000" dirty="0"/>
              <a:t>2</a:t>
            </a:r>
            <a:r>
              <a:rPr lang="zh-CN" altLang="zh-CN" sz="2000" dirty="0"/>
              <a:t>列</a:t>
            </a:r>
            <a:r>
              <a:rPr lang="en-US" altLang="zh-CN" sz="2000" dirty="0"/>
              <a:t>li</a:t>
            </a:r>
            <a:r>
              <a:rPr lang="zh-CN" altLang="zh-CN" sz="2000" dirty="0"/>
              <a:t>的</a:t>
            </a:r>
            <a:r>
              <a:rPr lang="en-US" altLang="zh-CN" sz="2000" dirty="0"/>
              <a:t>width + </a:t>
            </a:r>
            <a:r>
              <a:rPr lang="zh-CN" altLang="zh-CN" sz="2000" dirty="0"/>
              <a:t>左右</a:t>
            </a:r>
            <a:r>
              <a:rPr lang="en-US" altLang="zh-CN" sz="2000" dirty="0"/>
              <a:t>padding</a:t>
            </a:r>
            <a:r>
              <a:rPr lang="zh-CN" altLang="zh-CN" sz="2000" dirty="0"/>
              <a:t>）</a:t>
            </a:r>
            <a:r>
              <a:rPr lang="en-US" altLang="zh-CN" sz="2000" dirty="0"/>
              <a:t>+</a:t>
            </a:r>
            <a:r>
              <a:rPr lang="zh-CN" altLang="zh-CN" sz="2000" dirty="0"/>
              <a:t>（第</a:t>
            </a:r>
            <a:r>
              <a:rPr lang="en-US" altLang="zh-CN" sz="2000" dirty="0"/>
              <a:t>3</a:t>
            </a:r>
            <a:r>
              <a:rPr lang="zh-CN" altLang="zh-CN" sz="2000" dirty="0"/>
              <a:t>列</a:t>
            </a:r>
            <a:r>
              <a:rPr lang="en-US" altLang="zh-CN" sz="2000" dirty="0"/>
              <a:t>li</a:t>
            </a:r>
            <a:r>
              <a:rPr lang="zh-CN" altLang="zh-CN" sz="2000" dirty="0"/>
              <a:t>的</a:t>
            </a:r>
            <a:r>
              <a:rPr lang="en-US" altLang="zh-CN" sz="2000" dirty="0"/>
              <a:t>width</a:t>
            </a:r>
            <a:r>
              <a:rPr lang="zh-CN" altLang="zh-CN" sz="2000" dirty="0"/>
              <a:t>）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      </a:t>
            </a:r>
            <a:r>
              <a:rPr lang="en-US" altLang="zh-CN" sz="2000" dirty="0" smtClean="0"/>
              <a:t>    =</a:t>
            </a:r>
            <a:r>
              <a:rPr lang="en-US" altLang="zh-CN" sz="2000" dirty="0"/>
              <a:t>150 + (150 + 15 + 15) + 150</a:t>
            </a:r>
            <a:endParaRPr lang="zh-CN" altLang="zh-CN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000" dirty="0"/>
              <a:t>      </a:t>
            </a:r>
            <a:r>
              <a:rPr lang="en-US" altLang="zh-CN" sz="2000" dirty="0" smtClean="0"/>
              <a:t>    =</a:t>
            </a:r>
            <a:r>
              <a:rPr lang="en-US" altLang="zh-CN" sz="2000" dirty="0"/>
              <a:t>480</a:t>
            </a:r>
            <a:endParaRPr lang="zh-CN" altLang="zh-CN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589" y="3676565"/>
            <a:ext cx="3372283" cy="229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8173316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任务</a:t>
            </a:r>
            <a:r>
              <a:rPr lang="zh-CN" altLang="en-US" sz="3000" dirty="0" smtClean="0"/>
              <a:t>中主要使用：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）列表设计图文单元的结构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）浮动实现</a:t>
            </a:r>
            <a:r>
              <a:rPr lang="en-US" altLang="zh-CN" sz="2600" dirty="0" smtClean="0"/>
              <a:t>2</a:t>
            </a:r>
            <a:r>
              <a:rPr lang="zh-CN" altLang="en-US" sz="2600" dirty="0" smtClean="0"/>
              <a:t>行</a:t>
            </a:r>
            <a:r>
              <a:rPr lang="en-US" altLang="zh-CN" sz="2600" dirty="0" smtClean="0"/>
              <a:t>3</a:t>
            </a:r>
            <a:r>
              <a:rPr lang="zh-CN" altLang="en-US" sz="2600" dirty="0" smtClean="0"/>
              <a:t>列布局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）“相对定位</a:t>
            </a:r>
            <a:r>
              <a:rPr lang="en-US" altLang="zh-CN" sz="2600" dirty="0" smtClean="0"/>
              <a:t>+</a:t>
            </a:r>
            <a:r>
              <a:rPr lang="zh-CN" altLang="en-US" sz="2600" dirty="0" smtClean="0"/>
              <a:t>绝对定位”实现元素叠加定位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4</a:t>
            </a:r>
            <a:r>
              <a:rPr lang="zh-CN" altLang="en-US" sz="2600" dirty="0" smtClean="0"/>
              <a:t>）</a:t>
            </a:r>
            <a:r>
              <a:rPr lang="en-US" altLang="zh-CN" sz="2600" dirty="0" smtClean="0"/>
              <a:t>display</a:t>
            </a:r>
            <a:r>
              <a:rPr lang="zh-CN" altLang="en-US" sz="2600" dirty="0" smtClean="0"/>
              <a:t>属性改变元素的类型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）清除图片下方的小间隙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69868" y="3316778"/>
            <a:ext cx="5935287" cy="548640"/>
          </a:xfrm>
          <a:prstGeom prst="rect">
            <a:avLst/>
          </a:prstGeom>
          <a:noFill/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6" name="内容占位符 1"/>
          <p:cNvSpPr txBox="1">
            <a:spLocks/>
          </p:cNvSpPr>
          <p:nvPr/>
        </p:nvSpPr>
        <p:spPr>
          <a:xfrm>
            <a:off x="1095376" y="963750"/>
            <a:ext cx="4072370" cy="4914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运用本节所学知识实现左侧效果图中的网页效果。</a:t>
            </a:r>
            <a:endParaRPr lang="en-US" altLang="zh-CN" sz="3000" dirty="0" smtClean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719" y="1096760"/>
            <a:ext cx="5436888" cy="4914900"/>
          </a:xfr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1089</Words>
  <Application>Microsoft Office PowerPoint</Application>
  <PresentationFormat>宽屏</PresentationFormat>
  <Paragraphs>102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图上文下的混排</vt:lpstr>
      <vt:lpstr>学习目标</vt:lpstr>
      <vt:lpstr>任务目标</vt:lpstr>
      <vt:lpstr>标签分析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105</cp:revision>
  <dcterms:created xsi:type="dcterms:W3CDTF">2020-04-27T05:20:13Z</dcterms:created>
  <dcterms:modified xsi:type="dcterms:W3CDTF">2020-07-28T08:09:58Z</dcterms:modified>
</cp:coreProperties>
</file>
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8" r:id="rId8"/>
    <p:sldId id="279" r:id="rId9"/>
    <p:sldId id="280" r:id="rId10"/>
    <p:sldId id="275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67" r:id="rId22"/>
    <p:sldId id="26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54729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表单数据验证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dirty="0" smtClean="0"/>
              <a:t>掌握表单的数据获取、验证、结果显示以及提交表单的方法。</a:t>
            </a:r>
            <a:endParaRPr lang="en-US" altLang="zh-CN" sz="4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5169864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正确获取表单元素的数据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使用正则表达式验证文本框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提交表单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571" y="1009034"/>
            <a:ext cx="4126262" cy="2638149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1"/>
          <a:stretch/>
        </p:blipFill>
        <p:spPr>
          <a:xfrm>
            <a:off x="2958853" y="3244645"/>
            <a:ext cx="4430407" cy="28418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583" y="3895278"/>
            <a:ext cx="3668568" cy="11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正则表达式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正则表达式</a:t>
            </a:r>
            <a:r>
              <a:rPr lang="zh-CN" altLang="zh-CN" dirty="0"/>
              <a:t>描述了一种字符串匹配的模式，就是用事先定义好的一些特定字符、及这些特定字符的组合，组成一个</a:t>
            </a:r>
            <a:r>
              <a:rPr lang="en-US" altLang="zh-CN" dirty="0"/>
              <a:t>“</a:t>
            </a:r>
            <a:r>
              <a:rPr lang="zh-CN" altLang="zh-CN" dirty="0"/>
              <a:t>规则字符串</a:t>
            </a:r>
            <a:r>
              <a:rPr lang="en-US" altLang="zh-CN" dirty="0"/>
              <a:t>”</a:t>
            </a:r>
            <a:r>
              <a:rPr lang="zh-CN" altLang="zh-CN" dirty="0"/>
              <a:t>，以此匹配符合规则的字符</a:t>
            </a:r>
            <a:r>
              <a:rPr lang="zh-CN" altLang="zh-CN" dirty="0" smtClean="0"/>
              <a:t>。</a:t>
            </a:r>
            <a:r>
              <a:rPr lang="zh-CN" altLang="zh-CN" dirty="0"/>
              <a:t>很多程序语言都支持正则表达式，</a:t>
            </a:r>
            <a:r>
              <a:rPr lang="en-US" altLang="zh-CN" dirty="0"/>
              <a:t>JavaScript</a:t>
            </a:r>
            <a:r>
              <a:rPr lang="zh-CN" altLang="zh-CN" dirty="0"/>
              <a:t>也不例外。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正则表达式由一些普通字符和一些元字符组成。普通字符包括大小写的字母和数字，而元字符则具有特殊的含义，要想真正用好正则表达式，正确理解元字符是最重要的。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正则表达式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133324"/>
              </p:ext>
            </p:extLst>
          </p:nvPr>
        </p:nvGraphicFramePr>
        <p:xfrm>
          <a:off x="1458226" y="2001167"/>
          <a:ext cx="9559663" cy="4085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5060">
                  <a:extLst>
                    <a:ext uri="{9D8B030D-6E8A-4147-A177-3AD203B41FA5}">
                      <a16:colId xmlns:a16="http://schemas.microsoft.com/office/drawing/2014/main" val="1207188343"/>
                    </a:ext>
                  </a:extLst>
                </a:gridCol>
                <a:gridCol w="8324603">
                  <a:extLst>
                    <a:ext uri="{9D8B030D-6E8A-4147-A177-3AD203B41FA5}">
                      <a16:colId xmlns:a16="http://schemas.microsoft.com/office/drawing/2014/main" val="2273303949"/>
                    </a:ext>
                  </a:extLst>
                </a:gridCol>
              </a:tblGrid>
              <a:tr h="371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元字符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描述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/>
                </a:tc>
                <a:extLst>
                  <a:ext uri="{0D108BD9-81ED-4DB2-BD59-A6C34878D82A}">
                    <a16:rowId xmlns:a16="http://schemas.microsoft.com/office/drawing/2014/main" val="3378120227"/>
                  </a:ext>
                </a:extLst>
              </a:tr>
              <a:tr h="7427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\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将下一个字符标记为一个特殊字符、或一个原义字符、或一个向后引用、或一个八进制转义符。例如，</a:t>
                      </a:r>
                      <a:r>
                        <a:rPr lang="en-US" sz="1900" kern="100" dirty="0">
                          <a:effectLst/>
                        </a:rPr>
                        <a:t>'n' </a:t>
                      </a:r>
                      <a:r>
                        <a:rPr lang="zh-CN" sz="1900" kern="100" dirty="0">
                          <a:effectLst/>
                        </a:rPr>
                        <a:t>匹配字符</a:t>
                      </a:r>
                      <a:r>
                        <a:rPr lang="en-US" sz="1900" kern="100" dirty="0">
                          <a:effectLst/>
                        </a:rPr>
                        <a:t> "n"</a:t>
                      </a:r>
                      <a:r>
                        <a:rPr lang="zh-CN" sz="1900" kern="100" dirty="0">
                          <a:effectLst/>
                        </a:rPr>
                        <a:t>，</a:t>
                      </a:r>
                      <a:r>
                        <a:rPr lang="en-US" sz="1900" kern="100" dirty="0">
                          <a:effectLst/>
                        </a:rPr>
                        <a:t>'\n' </a:t>
                      </a:r>
                      <a:r>
                        <a:rPr lang="zh-CN" sz="1900" kern="100" dirty="0">
                          <a:effectLst/>
                        </a:rPr>
                        <a:t>匹配一个换行符。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extLst>
                  <a:ext uri="{0D108BD9-81ED-4DB2-BD59-A6C34878D82A}">
                    <a16:rowId xmlns:a16="http://schemas.microsoft.com/office/drawing/2014/main" val="1217051758"/>
                  </a:ext>
                </a:extLst>
              </a:tr>
              <a:tr h="7427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^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匹配输入字符串的开始位置。如果设置了正则表达式对象的</a:t>
                      </a:r>
                      <a:r>
                        <a:rPr lang="en-US" sz="1900" kern="100" dirty="0">
                          <a:effectLst/>
                        </a:rPr>
                        <a:t>Multiline</a:t>
                      </a:r>
                      <a:r>
                        <a:rPr lang="zh-CN" sz="1900" kern="100" dirty="0">
                          <a:effectLst/>
                        </a:rPr>
                        <a:t>属性，</a:t>
                      </a:r>
                      <a:r>
                        <a:rPr lang="en-US" sz="1900" kern="100" dirty="0">
                          <a:effectLst/>
                        </a:rPr>
                        <a:t>^ </a:t>
                      </a:r>
                      <a:r>
                        <a:rPr lang="zh-CN" sz="1900" kern="100" dirty="0">
                          <a:effectLst/>
                        </a:rPr>
                        <a:t>也匹配</a:t>
                      </a:r>
                      <a:r>
                        <a:rPr lang="en-US" sz="1900" kern="100" dirty="0">
                          <a:effectLst/>
                        </a:rPr>
                        <a:t> '\n' </a:t>
                      </a:r>
                      <a:r>
                        <a:rPr lang="zh-CN" sz="1900" kern="100" dirty="0">
                          <a:effectLst/>
                        </a:rPr>
                        <a:t>或</a:t>
                      </a:r>
                      <a:r>
                        <a:rPr lang="en-US" sz="1900" kern="100" dirty="0">
                          <a:effectLst/>
                        </a:rPr>
                        <a:t> '\r' </a:t>
                      </a:r>
                      <a:r>
                        <a:rPr lang="zh-CN" sz="1900" kern="100" dirty="0">
                          <a:effectLst/>
                        </a:rPr>
                        <a:t>之后的位置。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extLst>
                  <a:ext uri="{0D108BD9-81ED-4DB2-BD59-A6C34878D82A}">
                    <a16:rowId xmlns:a16="http://schemas.microsoft.com/office/drawing/2014/main" val="4046858640"/>
                  </a:ext>
                </a:extLst>
              </a:tr>
              <a:tr h="7427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$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匹配输入字符串的结束位置。如果设置了正则表达式对象的</a:t>
                      </a:r>
                      <a:r>
                        <a:rPr lang="en-US" sz="1900" kern="100" dirty="0">
                          <a:effectLst/>
                        </a:rPr>
                        <a:t>Multiline </a:t>
                      </a:r>
                      <a:r>
                        <a:rPr lang="zh-CN" sz="1900" kern="100" dirty="0">
                          <a:effectLst/>
                        </a:rPr>
                        <a:t>属性，</a:t>
                      </a:r>
                      <a:r>
                        <a:rPr lang="en-US" sz="1900" kern="100" dirty="0">
                          <a:effectLst/>
                        </a:rPr>
                        <a:t>$</a:t>
                      </a:r>
                      <a:r>
                        <a:rPr lang="zh-CN" sz="1900" kern="100" dirty="0">
                          <a:effectLst/>
                        </a:rPr>
                        <a:t>也匹配</a:t>
                      </a:r>
                      <a:r>
                        <a:rPr lang="en-US" sz="1900" kern="100" dirty="0">
                          <a:effectLst/>
                        </a:rPr>
                        <a:t> '\n' </a:t>
                      </a:r>
                      <a:r>
                        <a:rPr lang="zh-CN" sz="1900" kern="100" dirty="0">
                          <a:effectLst/>
                        </a:rPr>
                        <a:t>或</a:t>
                      </a:r>
                      <a:r>
                        <a:rPr lang="en-US" sz="1900" kern="100" dirty="0">
                          <a:effectLst/>
                        </a:rPr>
                        <a:t> '\r' </a:t>
                      </a:r>
                      <a:r>
                        <a:rPr lang="zh-CN" sz="1900" kern="100" dirty="0">
                          <a:effectLst/>
                        </a:rPr>
                        <a:t>之前的位置。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extLst>
                  <a:ext uri="{0D108BD9-81ED-4DB2-BD59-A6C34878D82A}">
                    <a16:rowId xmlns:a16="http://schemas.microsoft.com/office/drawing/2014/main" val="996045639"/>
                  </a:ext>
                </a:extLst>
              </a:tr>
              <a:tr h="371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*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匹配前面的子表达式零次或多次。例如，</a:t>
                      </a:r>
                      <a:r>
                        <a:rPr lang="en-US" sz="1900" kern="100" dirty="0" err="1">
                          <a:effectLst/>
                        </a:rPr>
                        <a:t>pq</a:t>
                      </a:r>
                      <a:r>
                        <a:rPr lang="en-US" sz="1900" kern="100" dirty="0">
                          <a:effectLst/>
                        </a:rPr>
                        <a:t>* </a:t>
                      </a:r>
                      <a:r>
                        <a:rPr lang="zh-CN" sz="1900" kern="100" dirty="0">
                          <a:effectLst/>
                        </a:rPr>
                        <a:t>能匹配</a:t>
                      </a:r>
                      <a:r>
                        <a:rPr lang="en-US" sz="1900" kern="100" dirty="0">
                          <a:effectLst/>
                        </a:rPr>
                        <a:t> "p" </a:t>
                      </a:r>
                      <a:r>
                        <a:rPr lang="zh-CN" sz="1900" kern="100" dirty="0">
                          <a:effectLst/>
                        </a:rPr>
                        <a:t>以及</a:t>
                      </a:r>
                      <a:r>
                        <a:rPr lang="en-US" sz="1900" kern="100" dirty="0">
                          <a:effectLst/>
                        </a:rPr>
                        <a:t> "</a:t>
                      </a:r>
                      <a:r>
                        <a:rPr lang="en-US" sz="1900" kern="100" dirty="0" err="1">
                          <a:effectLst/>
                        </a:rPr>
                        <a:t>pqq</a:t>
                      </a:r>
                      <a:r>
                        <a:rPr lang="en-US" sz="1900" kern="100" dirty="0">
                          <a:effectLst/>
                        </a:rPr>
                        <a:t>"</a:t>
                      </a:r>
                      <a:r>
                        <a:rPr lang="zh-CN" sz="1900" kern="100" dirty="0">
                          <a:effectLst/>
                        </a:rPr>
                        <a:t>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extLst>
                  <a:ext uri="{0D108BD9-81ED-4DB2-BD59-A6C34878D82A}">
                    <a16:rowId xmlns:a16="http://schemas.microsoft.com/office/drawing/2014/main" val="638013157"/>
                  </a:ext>
                </a:extLst>
              </a:tr>
              <a:tr h="7427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+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匹配前面的子表达式一次或多次。例如，</a:t>
                      </a:r>
                      <a:r>
                        <a:rPr lang="en-US" sz="1900" kern="100" dirty="0">
                          <a:effectLst/>
                        </a:rPr>
                        <a:t>'</a:t>
                      </a:r>
                      <a:r>
                        <a:rPr lang="en-US" sz="1900" kern="100" dirty="0" err="1">
                          <a:effectLst/>
                        </a:rPr>
                        <a:t>pq</a:t>
                      </a:r>
                      <a:r>
                        <a:rPr lang="en-US" sz="1900" kern="100" dirty="0">
                          <a:effectLst/>
                        </a:rPr>
                        <a:t>+' </a:t>
                      </a:r>
                      <a:r>
                        <a:rPr lang="zh-CN" sz="1900" kern="100" dirty="0">
                          <a:effectLst/>
                        </a:rPr>
                        <a:t>能匹配</a:t>
                      </a:r>
                      <a:r>
                        <a:rPr lang="en-US" sz="1900" kern="100" dirty="0">
                          <a:effectLst/>
                        </a:rPr>
                        <a:t> "</a:t>
                      </a:r>
                      <a:r>
                        <a:rPr lang="en-US" sz="1900" kern="100" dirty="0" err="1">
                          <a:effectLst/>
                        </a:rPr>
                        <a:t>pq</a:t>
                      </a:r>
                      <a:r>
                        <a:rPr lang="en-US" sz="1900" kern="100" dirty="0">
                          <a:effectLst/>
                        </a:rPr>
                        <a:t>" </a:t>
                      </a:r>
                      <a:r>
                        <a:rPr lang="zh-CN" sz="1900" kern="100" dirty="0">
                          <a:effectLst/>
                        </a:rPr>
                        <a:t>以及</a:t>
                      </a:r>
                      <a:r>
                        <a:rPr lang="en-US" sz="1900" kern="100" dirty="0">
                          <a:effectLst/>
                        </a:rPr>
                        <a:t> "</a:t>
                      </a:r>
                      <a:r>
                        <a:rPr lang="en-US" sz="1900" kern="100" dirty="0" err="1">
                          <a:effectLst/>
                        </a:rPr>
                        <a:t>pqq</a:t>
                      </a:r>
                      <a:r>
                        <a:rPr lang="en-US" sz="1900" kern="100" dirty="0">
                          <a:effectLst/>
                        </a:rPr>
                        <a:t>"</a:t>
                      </a:r>
                      <a:r>
                        <a:rPr lang="zh-CN" sz="1900" kern="100" dirty="0">
                          <a:effectLst/>
                        </a:rPr>
                        <a:t>，但不能匹配</a:t>
                      </a:r>
                      <a:r>
                        <a:rPr lang="en-US" sz="1900" kern="100" dirty="0">
                          <a:effectLst/>
                        </a:rPr>
                        <a:t> "p"</a:t>
                      </a:r>
                      <a:r>
                        <a:rPr lang="zh-CN" sz="1900" kern="100" dirty="0">
                          <a:effectLst/>
                        </a:rPr>
                        <a:t>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extLst>
                  <a:ext uri="{0D108BD9-81ED-4DB2-BD59-A6C34878D82A}">
                    <a16:rowId xmlns:a16="http://schemas.microsoft.com/office/drawing/2014/main" val="2865598754"/>
                  </a:ext>
                </a:extLst>
              </a:tr>
              <a:tr h="371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?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匹配前面的子表达式零次或一次。例如，</a:t>
                      </a:r>
                      <a:r>
                        <a:rPr lang="en-US" sz="1900" kern="100" dirty="0">
                          <a:effectLst/>
                        </a:rPr>
                        <a:t>"ye(</a:t>
                      </a:r>
                      <a:r>
                        <a:rPr lang="en-US" sz="1900" kern="100" dirty="0" err="1">
                          <a:effectLst/>
                        </a:rPr>
                        <a:t>ar</a:t>
                      </a:r>
                      <a:r>
                        <a:rPr lang="en-US" sz="1900" kern="100" dirty="0">
                          <a:effectLst/>
                        </a:rPr>
                        <a:t>)?" </a:t>
                      </a:r>
                      <a:r>
                        <a:rPr lang="zh-CN" sz="1900" kern="100" dirty="0">
                          <a:effectLst/>
                        </a:rPr>
                        <a:t>可以匹配</a:t>
                      </a:r>
                      <a:r>
                        <a:rPr lang="en-US" sz="1900" kern="100" dirty="0">
                          <a:effectLst/>
                        </a:rPr>
                        <a:t> "ye" </a:t>
                      </a:r>
                      <a:r>
                        <a:rPr lang="zh-CN" sz="1900" kern="100" dirty="0">
                          <a:effectLst/>
                        </a:rPr>
                        <a:t>或</a:t>
                      </a:r>
                      <a:r>
                        <a:rPr lang="en-US" sz="1900" kern="100" dirty="0">
                          <a:effectLst/>
                        </a:rPr>
                        <a:t> "year" </a:t>
                      </a:r>
                      <a:r>
                        <a:rPr lang="zh-CN" sz="1900" kern="100" dirty="0">
                          <a:effectLst/>
                        </a:rPr>
                        <a:t>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151" marR="121151" marT="0" marB="0" anchor="ctr"/>
                </a:tc>
                <a:extLst>
                  <a:ext uri="{0D108BD9-81ED-4DB2-BD59-A6C34878D82A}">
                    <a16:rowId xmlns:a16="http://schemas.microsoft.com/office/drawing/2014/main" val="3923816516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361054" y="1631835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表</a:t>
            </a:r>
            <a:r>
              <a:rPr lang="en-US" altLang="zh-CN" dirty="0" smtClean="0"/>
              <a:t>1 </a:t>
            </a:r>
            <a:r>
              <a:rPr lang="zh-CN" altLang="en-US" dirty="0" smtClean="0"/>
              <a:t>部分元字符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159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正则表达式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757345"/>
              </p:ext>
            </p:extLst>
          </p:nvPr>
        </p:nvGraphicFramePr>
        <p:xfrm>
          <a:off x="1281244" y="1942174"/>
          <a:ext cx="9917707" cy="41443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1318">
                  <a:extLst>
                    <a:ext uri="{9D8B030D-6E8A-4147-A177-3AD203B41FA5}">
                      <a16:colId xmlns:a16="http://schemas.microsoft.com/office/drawing/2014/main" val="1207188343"/>
                    </a:ext>
                  </a:extLst>
                </a:gridCol>
                <a:gridCol w="8636389">
                  <a:extLst>
                    <a:ext uri="{9D8B030D-6E8A-4147-A177-3AD203B41FA5}">
                      <a16:colId xmlns:a16="http://schemas.microsoft.com/office/drawing/2014/main" val="2273303949"/>
                    </a:ext>
                  </a:extLst>
                </a:gridCol>
              </a:tblGrid>
              <a:tr h="3187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元字符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描述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/>
                </a:tc>
                <a:extLst>
                  <a:ext uri="{0D108BD9-81ED-4DB2-BD59-A6C34878D82A}">
                    <a16:rowId xmlns:a16="http://schemas.microsoft.com/office/drawing/2014/main" val="3378120227"/>
                  </a:ext>
                </a:extLst>
              </a:tr>
              <a:tr h="6375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{n}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n </a:t>
                      </a:r>
                      <a:r>
                        <a:rPr lang="zh-CN" sz="1900" kern="100" dirty="0">
                          <a:effectLst/>
                        </a:rPr>
                        <a:t>是一个非负整数。匹配确定的</a:t>
                      </a:r>
                      <a:r>
                        <a:rPr lang="en-US" sz="1900" kern="100" dirty="0">
                          <a:effectLst/>
                        </a:rPr>
                        <a:t> n </a:t>
                      </a:r>
                      <a:r>
                        <a:rPr lang="zh-CN" sz="1900" kern="100" dirty="0">
                          <a:effectLst/>
                        </a:rPr>
                        <a:t>次。例如，</a:t>
                      </a:r>
                      <a:r>
                        <a:rPr lang="en-US" sz="1900" kern="100" dirty="0">
                          <a:effectLst/>
                        </a:rPr>
                        <a:t>'t{2}' </a:t>
                      </a:r>
                      <a:r>
                        <a:rPr lang="zh-CN" sz="1900" kern="100" dirty="0">
                          <a:effectLst/>
                        </a:rPr>
                        <a:t>不能匹配</a:t>
                      </a:r>
                      <a:r>
                        <a:rPr lang="en-US" sz="1900" kern="100" dirty="0">
                          <a:effectLst/>
                        </a:rPr>
                        <a:t> "best" </a:t>
                      </a:r>
                      <a:r>
                        <a:rPr lang="zh-CN" sz="1900" kern="100" dirty="0">
                          <a:effectLst/>
                        </a:rPr>
                        <a:t>中的</a:t>
                      </a:r>
                      <a:r>
                        <a:rPr lang="en-US" sz="1900" kern="100" dirty="0">
                          <a:effectLst/>
                        </a:rPr>
                        <a:t> 't'</a:t>
                      </a:r>
                      <a:r>
                        <a:rPr lang="zh-CN" sz="1900" kern="100" dirty="0">
                          <a:effectLst/>
                        </a:rPr>
                        <a:t>，但是能匹配</a:t>
                      </a:r>
                      <a:r>
                        <a:rPr lang="en-US" sz="1900" kern="100" dirty="0">
                          <a:effectLst/>
                        </a:rPr>
                        <a:t> "battle" </a:t>
                      </a:r>
                      <a:r>
                        <a:rPr lang="zh-CN" sz="1900" kern="100" dirty="0">
                          <a:effectLst/>
                        </a:rPr>
                        <a:t>中的两个 </a:t>
                      </a:r>
                      <a:r>
                        <a:rPr lang="en-US" sz="1900" kern="100" dirty="0">
                          <a:effectLst/>
                        </a:rPr>
                        <a:t>t</a:t>
                      </a:r>
                      <a:r>
                        <a:rPr lang="zh-CN" sz="1900" kern="100" dirty="0">
                          <a:effectLst/>
                        </a:rPr>
                        <a:t>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extLst>
                  <a:ext uri="{0D108BD9-81ED-4DB2-BD59-A6C34878D82A}">
                    <a16:rowId xmlns:a16="http://schemas.microsoft.com/office/drawing/2014/main" val="2274706541"/>
                  </a:ext>
                </a:extLst>
              </a:tr>
              <a:tr h="6375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{n,m}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m</a:t>
                      </a:r>
                      <a:r>
                        <a:rPr lang="zh-CN" sz="1600" kern="100">
                          <a:effectLst/>
                        </a:rPr>
                        <a:t>和</a:t>
                      </a:r>
                      <a:r>
                        <a:rPr lang="en-US" sz="1600" kern="100">
                          <a:effectLst/>
                        </a:rPr>
                        <a:t>n</a:t>
                      </a:r>
                      <a:r>
                        <a:rPr lang="zh-CN" sz="1600" kern="100">
                          <a:effectLst/>
                        </a:rPr>
                        <a:t>均为非负整数，其中</a:t>
                      </a:r>
                      <a:r>
                        <a:rPr lang="en-US" sz="1600" kern="100">
                          <a:effectLst/>
                        </a:rPr>
                        <a:t>n&lt;=m</a:t>
                      </a:r>
                      <a:r>
                        <a:rPr lang="zh-CN" sz="1600" kern="100">
                          <a:effectLst/>
                        </a:rPr>
                        <a:t>。最少匹配</a:t>
                      </a:r>
                      <a:r>
                        <a:rPr lang="en-US" sz="1600" kern="100">
                          <a:effectLst/>
                        </a:rPr>
                        <a:t>n</a:t>
                      </a:r>
                      <a:r>
                        <a:rPr lang="zh-CN" sz="1600" kern="100">
                          <a:effectLst/>
                        </a:rPr>
                        <a:t>次且最多匹配</a:t>
                      </a:r>
                      <a:r>
                        <a:rPr lang="en-US" sz="1600" kern="100">
                          <a:effectLst/>
                        </a:rPr>
                        <a:t>m</a:t>
                      </a:r>
                      <a:r>
                        <a:rPr lang="zh-CN" sz="1600" kern="100">
                          <a:effectLst/>
                        </a:rPr>
                        <a:t>次。例如，</a:t>
                      </a:r>
                      <a:r>
                        <a:rPr lang="en-US" sz="1900" kern="100">
                          <a:effectLst/>
                        </a:rPr>
                        <a:t>'ye{1,3}'</a:t>
                      </a:r>
                      <a:r>
                        <a:rPr lang="zh-CN" sz="1900" kern="100">
                          <a:effectLst/>
                        </a:rPr>
                        <a:t>可以匹配</a:t>
                      </a:r>
                      <a:r>
                        <a:rPr lang="en-US" sz="1900" kern="100">
                          <a:effectLst/>
                        </a:rPr>
                        <a:t>'ye'</a:t>
                      </a:r>
                      <a:r>
                        <a:rPr lang="zh-CN" sz="1900" kern="100">
                          <a:effectLst/>
                        </a:rPr>
                        <a:t>、</a:t>
                      </a:r>
                      <a:r>
                        <a:rPr lang="en-US" sz="1900" kern="100">
                          <a:effectLst/>
                        </a:rPr>
                        <a:t>'yee'</a:t>
                      </a:r>
                      <a:r>
                        <a:rPr lang="zh-CN" sz="1900" kern="100">
                          <a:effectLst/>
                        </a:rPr>
                        <a:t>、</a:t>
                      </a:r>
                      <a:r>
                        <a:rPr lang="en-US" sz="1900" kern="100">
                          <a:effectLst/>
                        </a:rPr>
                        <a:t>'yeee'</a:t>
                      </a:r>
                      <a:r>
                        <a:rPr lang="zh-CN" sz="1900" kern="100">
                          <a:effectLst/>
                        </a:rPr>
                        <a:t>。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extLst>
                  <a:ext uri="{0D108BD9-81ED-4DB2-BD59-A6C34878D82A}">
                    <a16:rowId xmlns:a16="http://schemas.microsoft.com/office/drawing/2014/main" val="4280553039"/>
                  </a:ext>
                </a:extLst>
              </a:tr>
              <a:tr h="6375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[xyz]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字符集合。匹配所包含的任意一个字符。例如，</a:t>
                      </a:r>
                      <a:r>
                        <a:rPr lang="en-US" sz="1900" kern="100" dirty="0">
                          <a:effectLst/>
                        </a:rPr>
                        <a:t>'[</a:t>
                      </a:r>
                      <a:r>
                        <a:rPr lang="en-US" sz="1900" kern="100" dirty="0" err="1">
                          <a:effectLst/>
                        </a:rPr>
                        <a:t>abc</a:t>
                      </a:r>
                      <a:r>
                        <a:rPr lang="en-US" sz="1900" kern="100" dirty="0">
                          <a:effectLst/>
                        </a:rPr>
                        <a:t>]' </a:t>
                      </a:r>
                      <a:r>
                        <a:rPr lang="zh-CN" sz="1900" kern="100" dirty="0">
                          <a:effectLst/>
                        </a:rPr>
                        <a:t>可以匹配</a:t>
                      </a:r>
                      <a:r>
                        <a:rPr lang="en-US" sz="1900" kern="100" dirty="0">
                          <a:effectLst/>
                        </a:rPr>
                        <a:t> "best" </a:t>
                      </a:r>
                      <a:r>
                        <a:rPr lang="zh-CN" sz="1900" kern="100" dirty="0">
                          <a:effectLst/>
                        </a:rPr>
                        <a:t>中的</a:t>
                      </a:r>
                      <a:r>
                        <a:rPr lang="en-US" sz="1900" kern="100" dirty="0">
                          <a:effectLst/>
                        </a:rPr>
                        <a:t> 'b'</a:t>
                      </a:r>
                      <a:r>
                        <a:rPr lang="zh-CN" sz="1900" kern="100" dirty="0">
                          <a:effectLst/>
                        </a:rPr>
                        <a:t>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extLst>
                  <a:ext uri="{0D108BD9-81ED-4DB2-BD59-A6C34878D82A}">
                    <a16:rowId xmlns:a16="http://schemas.microsoft.com/office/drawing/2014/main" val="2449187951"/>
                  </a:ext>
                </a:extLst>
              </a:tr>
              <a:tr h="6375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[^xyz]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负值字符集合。匹配未包含的任意字符。例如，</a:t>
                      </a:r>
                      <a:r>
                        <a:rPr lang="en-US" sz="1900" kern="100" dirty="0">
                          <a:effectLst/>
                        </a:rPr>
                        <a:t>'[^</a:t>
                      </a:r>
                      <a:r>
                        <a:rPr lang="en-US" sz="1900" kern="100" dirty="0" err="1">
                          <a:effectLst/>
                        </a:rPr>
                        <a:t>abc</a:t>
                      </a:r>
                      <a:r>
                        <a:rPr lang="en-US" sz="1900" kern="100" dirty="0">
                          <a:effectLst/>
                        </a:rPr>
                        <a:t>]' </a:t>
                      </a:r>
                      <a:r>
                        <a:rPr lang="zh-CN" sz="1900" kern="100" dirty="0">
                          <a:effectLst/>
                        </a:rPr>
                        <a:t>可以匹配</a:t>
                      </a:r>
                      <a:r>
                        <a:rPr lang="en-US" sz="1900" kern="100" dirty="0">
                          <a:effectLst/>
                        </a:rPr>
                        <a:t> "best" </a:t>
                      </a:r>
                      <a:r>
                        <a:rPr lang="zh-CN" sz="1900" kern="100" dirty="0">
                          <a:effectLst/>
                        </a:rPr>
                        <a:t>中的</a:t>
                      </a:r>
                      <a:r>
                        <a:rPr lang="en-US" sz="1900" kern="100" dirty="0">
                          <a:effectLst/>
                        </a:rPr>
                        <a:t>'e'</a:t>
                      </a:r>
                      <a:r>
                        <a:rPr lang="zh-CN" sz="1900" kern="100" dirty="0">
                          <a:effectLst/>
                        </a:rPr>
                        <a:t>、</a:t>
                      </a:r>
                      <a:r>
                        <a:rPr lang="en-US" sz="1900" kern="100" dirty="0">
                          <a:effectLst/>
                        </a:rPr>
                        <a:t>'s'</a:t>
                      </a:r>
                      <a:r>
                        <a:rPr lang="zh-CN" sz="1900" kern="100" dirty="0">
                          <a:effectLst/>
                        </a:rPr>
                        <a:t>、</a:t>
                      </a:r>
                      <a:r>
                        <a:rPr lang="en-US" sz="1900" kern="100" dirty="0">
                          <a:effectLst/>
                        </a:rPr>
                        <a:t>'t'</a:t>
                      </a:r>
                      <a:r>
                        <a:rPr lang="zh-CN" sz="1900" kern="100" dirty="0">
                          <a:effectLst/>
                        </a:rPr>
                        <a:t>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extLst>
                  <a:ext uri="{0D108BD9-81ED-4DB2-BD59-A6C34878D82A}">
                    <a16:rowId xmlns:a16="http://schemas.microsoft.com/office/drawing/2014/main" val="2668525569"/>
                  </a:ext>
                </a:extLst>
              </a:tr>
              <a:tr h="6375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[a-z]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字符范围。匹配指定范围内的任意字符。例如，</a:t>
                      </a:r>
                      <a:r>
                        <a:rPr lang="en-US" sz="1900" kern="100" dirty="0">
                          <a:effectLst/>
                        </a:rPr>
                        <a:t>'[a-z]' </a:t>
                      </a:r>
                      <a:r>
                        <a:rPr lang="zh-CN" sz="1900" kern="100" dirty="0">
                          <a:effectLst/>
                        </a:rPr>
                        <a:t>可以匹配</a:t>
                      </a:r>
                      <a:r>
                        <a:rPr lang="en-US" sz="1900" kern="100" dirty="0">
                          <a:effectLst/>
                        </a:rPr>
                        <a:t> 'a' </a:t>
                      </a:r>
                      <a:r>
                        <a:rPr lang="zh-CN" sz="1900" kern="100" dirty="0">
                          <a:effectLst/>
                        </a:rPr>
                        <a:t>到</a:t>
                      </a:r>
                      <a:r>
                        <a:rPr lang="en-US" sz="1900" kern="100" dirty="0">
                          <a:effectLst/>
                        </a:rPr>
                        <a:t> 'z' </a:t>
                      </a:r>
                      <a:r>
                        <a:rPr lang="zh-CN" sz="1900" kern="100" dirty="0">
                          <a:effectLst/>
                        </a:rPr>
                        <a:t>范围内的任意小写字母字符。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extLst>
                  <a:ext uri="{0D108BD9-81ED-4DB2-BD59-A6C34878D82A}">
                    <a16:rowId xmlns:a16="http://schemas.microsoft.com/office/drawing/2014/main" val="3027765529"/>
                  </a:ext>
                </a:extLst>
              </a:tr>
              <a:tr h="6375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[^a-z]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负值字符范围。匹配任何不在指定范围内的任意字符。例如，</a:t>
                      </a:r>
                      <a:r>
                        <a:rPr lang="en-US" sz="1900" kern="100" dirty="0">
                          <a:effectLst/>
                        </a:rPr>
                        <a:t>'[^a-z]' </a:t>
                      </a:r>
                      <a:r>
                        <a:rPr lang="zh-CN" sz="1900" kern="100" dirty="0">
                          <a:effectLst/>
                        </a:rPr>
                        <a:t>可以匹配任何不在</a:t>
                      </a:r>
                      <a:r>
                        <a:rPr lang="en-US" sz="1900" kern="100" dirty="0">
                          <a:effectLst/>
                        </a:rPr>
                        <a:t> 'a' </a:t>
                      </a:r>
                      <a:r>
                        <a:rPr lang="zh-CN" sz="1900" kern="100" dirty="0">
                          <a:effectLst/>
                        </a:rPr>
                        <a:t>到</a:t>
                      </a:r>
                      <a:r>
                        <a:rPr lang="en-US" sz="1900" kern="100" dirty="0">
                          <a:effectLst/>
                        </a:rPr>
                        <a:t> 'z' </a:t>
                      </a:r>
                      <a:r>
                        <a:rPr lang="zh-CN" sz="1900" kern="100" dirty="0">
                          <a:effectLst/>
                        </a:rPr>
                        <a:t>范围内的任意字符。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5688" marR="125688" marT="0" marB="0" anchor="ctr"/>
                </a:tc>
                <a:extLst>
                  <a:ext uri="{0D108BD9-81ED-4DB2-BD59-A6C34878D82A}">
                    <a16:rowId xmlns:a16="http://schemas.microsoft.com/office/drawing/2014/main" val="3464262983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361054" y="1631835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表</a:t>
            </a:r>
            <a:r>
              <a:rPr lang="en-US" altLang="zh-CN" dirty="0"/>
              <a:t>2</a:t>
            </a:r>
            <a:r>
              <a:rPr lang="en-US" altLang="zh-CN" dirty="0" smtClean="0"/>
              <a:t> </a:t>
            </a:r>
            <a:r>
              <a:rPr lang="zh-CN" altLang="en-US" dirty="0" smtClean="0"/>
              <a:t>部分元字符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92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正则表达式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）只能输入数字：</a:t>
            </a:r>
            <a:r>
              <a:rPr lang="en-US" altLang="zh-CN" dirty="0"/>
              <a:t>^[0-9</a:t>
            </a:r>
            <a:r>
              <a:rPr lang="en-US" altLang="zh-CN" dirty="0" smtClean="0"/>
              <a:t>]*$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）只能输入</a:t>
            </a:r>
            <a:r>
              <a:rPr lang="en-US" altLang="zh-CN" sz="2600" dirty="0" smtClean="0"/>
              <a:t>n</a:t>
            </a:r>
            <a:r>
              <a:rPr lang="zh-CN" altLang="en-US" sz="2600" dirty="0" smtClean="0"/>
              <a:t>位的数字：</a:t>
            </a:r>
            <a:r>
              <a:rPr lang="en-US" altLang="zh-CN" dirty="0"/>
              <a:t>^[0-9]{</a:t>
            </a:r>
            <a:r>
              <a:rPr lang="en-US" altLang="zh-CN" i="1" dirty="0"/>
              <a:t>n</a:t>
            </a:r>
            <a:r>
              <a:rPr lang="en-US" altLang="zh-CN" dirty="0" smtClean="0"/>
              <a:t>}$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）验证电话号码：</a:t>
            </a:r>
            <a:r>
              <a:rPr lang="en-US" altLang="zh-CN" dirty="0"/>
              <a:t>^([0-9]{3,4}-)[0-9]{7,8}$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06268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表单验证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表单的验证是在提交表单之前完成的，只有验证通过了，表单数据才能提交，否则无法</a:t>
            </a:r>
            <a:r>
              <a:rPr lang="zh-CN" altLang="zh-CN" dirty="0" smtClean="0"/>
              <a:t>提交。</a:t>
            </a:r>
            <a:r>
              <a:rPr lang="zh-CN" altLang="zh-CN" dirty="0"/>
              <a:t>这个功能是通过</a:t>
            </a:r>
            <a:r>
              <a:rPr lang="en-US" altLang="zh-CN" dirty="0" err="1"/>
              <a:t>onsubmit</a:t>
            </a:r>
            <a:r>
              <a:rPr lang="zh-CN" altLang="zh-CN" dirty="0"/>
              <a:t>属性来完成</a:t>
            </a:r>
            <a:r>
              <a:rPr lang="zh-CN" altLang="zh-CN" dirty="0" smtClean="0"/>
              <a:t>的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80267" y="3185651"/>
            <a:ext cx="8977138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&lt;form action="ok.html" method="post" </a:t>
            </a:r>
            <a:r>
              <a:rPr lang="en-US" altLang="zh-CN" sz="2000" dirty="0" err="1">
                <a:solidFill>
                  <a:srgbClr val="FF0000"/>
                </a:solidFill>
              </a:rPr>
              <a:t>onsubmit</a:t>
            </a:r>
            <a:r>
              <a:rPr lang="en-US" altLang="zh-CN" sz="2000" dirty="0"/>
              <a:t>="return </a:t>
            </a:r>
            <a:r>
              <a:rPr lang="en-US" altLang="zh-CN" sz="2000" dirty="0" err="1"/>
              <a:t>checkForm</a:t>
            </a:r>
            <a:r>
              <a:rPr lang="en-US" altLang="zh-CN" sz="2000" dirty="0"/>
              <a:t>();"&gt;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</a:t>
            </a:r>
            <a:r>
              <a:rPr lang="zh-CN" altLang="zh-CN" sz="2000" dirty="0" smtClean="0"/>
              <a:t>查询</a:t>
            </a:r>
            <a:r>
              <a:rPr lang="zh-CN" altLang="zh-CN" sz="2000" dirty="0"/>
              <a:t>的内容</a:t>
            </a:r>
            <a:r>
              <a:rPr lang="en-US" altLang="zh-CN" sz="2000" dirty="0"/>
              <a:t>&lt;input type="text" name="keyword" id="keyword" value="" /&gt;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&lt;</a:t>
            </a:r>
            <a:r>
              <a:rPr lang="en-US" altLang="zh-CN" sz="2000" dirty="0"/>
              <a:t>input type="submit" value="</a:t>
            </a:r>
            <a:r>
              <a:rPr lang="zh-CN" altLang="zh-CN" sz="2000" dirty="0"/>
              <a:t>提交</a:t>
            </a:r>
            <a:r>
              <a:rPr lang="en-US" altLang="zh-CN" sz="2000" dirty="0"/>
              <a:t>"/&gt;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&lt;/</a:t>
            </a:r>
            <a:r>
              <a:rPr lang="en-US" altLang="zh-CN" sz="2000" dirty="0"/>
              <a:t>form&gt;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2291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993642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表单验证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dirty="0" err="1"/>
              <a:t>checkForm</a:t>
            </a:r>
            <a:r>
              <a:rPr lang="en-US" altLang="zh-CN" sz="2200" dirty="0" smtClean="0"/>
              <a:t>()</a:t>
            </a:r>
            <a:r>
              <a:rPr lang="zh-CN" altLang="zh-CN" sz="2200" dirty="0" smtClean="0"/>
              <a:t>根据</a:t>
            </a:r>
            <a:r>
              <a:rPr lang="zh-CN" altLang="zh-CN" sz="2200" dirty="0"/>
              <a:t>文本框的验证结果给出返回值（</a:t>
            </a:r>
            <a:r>
              <a:rPr lang="en-US" altLang="zh-CN" sz="2200" dirty="0" smtClean="0"/>
              <a:t>true</a:t>
            </a:r>
            <a:r>
              <a:rPr lang="zh-CN" altLang="en-US" sz="2200" dirty="0" smtClean="0"/>
              <a:t>或</a:t>
            </a:r>
            <a:r>
              <a:rPr lang="en-US" altLang="zh-CN" sz="2200" dirty="0" smtClean="0"/>
              <a:t>false</a:t>
            </a:r>
            <a:r>
              <a:rPr lang="zh-CN" altLang="zh-CN" sz="2200" dirty="0" smtClean="0"/>
              <a:t>）；表</a:t>
            </a:r>
            <a:r>
              <a:rPr lang="zh-CN" altLang="zh-CN" sz="2200" dirty="0"/>
              <a:t>单会对</a:t>
            </a:r>
            <a:r>
              <a:rPr lang="en-US" altLang="zh-CN" sz="2200" dirty="0" err="1"/>
              <a:t>onsubmit</a:t>
            </a:r>
            <a:r>
              <a:rPr lang="zh-CN" altLang="zh-CN" sz="2200" dirty="0"/>
              <a:t>的值进行判断，如果为</a:t>
            </a:r>
            <a:r>
              <a:rPr lang="en-US" altLang="zh-CN" sz="2200" dirty="0"/>
              <a:t>false</a:t>
            </a:r>
            <a:r>
              <a:rPr lang="zh-CN" altLang="zh-CN" sz="2200" dirty="0"/>
              <a:t>，表示验证失败，表单不能提交，如果为</a:t>
            </a:r>
            <a:r>
              <a:rPr lang="en-US" altLang="zh-CN" sz="2200" dirty="0"/>
              <a:t>true</a:t>
            </a:r>
            <a:r>
              <a:rPr lang="zh-CN" altLang="zh-CN" sz="2200" dirty="0"/>
              <a:t>，表示验证通过，提交表单并跳转到</a:t>
            </a:r>
            <a:r>
              <a:rPr lang="en-US" altLang="zh-CN" sz="2200" dirty="0"/>
              <a:t>ok.html</a:t>
            </a:r>
            <a:r>
              <a:rPr lang="zh-CN" altLang="zh-CN" sz="2200" dirty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84500" y="3501152"/>
            <a:ext cx="5673348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function </a:t>
            </a:r>
            <a:r>
              <a:rPr lang="en-US" altLang="zh-CN" dirty="0" err="1"/>
              <a:t>checkForm</a:t>
            </a:r>
            <a:r>
              <a:rPr lang="en-US" altLang="zh-CN" dirty="0"/>
              <a:t>(){</a:t>
            </a:r>
            <a:endParaRPr lang="zh-CN" altLang="zh-CN" dirty="0"/>
          </a:p>
          <a:p>
            <a:r>
              <a:rPr lang="en-US" altLang="zh-CN" dirty="0" smtClean="0"/>
              <a:t>        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</a:t>
            </a:r>
            <a:r>
              <a:rPr lang="en-US" altLang="zh-CN" dirty="0"/>
              <a:t>s=</a:t>
            </a:r>
            <a:r>
              <a:rPr lang="en-US" altLang="zh-CN" dirty="0" err="1"/>
              <a:t>document.getElementById</a:t>
            </a:r>
            <a:r>
              <a:rPr lang="en-US" altLang="zh-CN" dirty="0"/>
              <a:t>("keyword").value;</a:t>
            </a:r>
            <a:endParaRPr lang="zh-CN" altLang="zh-CN" dirty="0"/>
          </a:p>
          <a:p>
            <a:r>
              <a:rPr lang="en-US" altLang="zh-CN" dirty="0" smtClean="0"/>
              <a:t>        if </a:t>
            </a:r>
            <a:r>
              <a:rPr lang="en-US" altLang="zh-CN" dirty="0"/>
              <a:t>(s=="") 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alert</a:t>
            </a:r>
            <a:r>
              <a:rPr lang="en-US" altLang="zh-CN" dirty="0"/>
              <a:t>("</a:t>
            </a:r>
            <a:r>
              <a:rPr lang="zh-CN" altLang="zh-CN" dirty="0"/>
              <a:t>查询内容是空的！</a:t>
            </a:r>
            <a:r>
              <a:rPr lang="en-US" altLang="zh-CN" dirty="0"/>
              <a:t>");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return </a:t>
            </a:r>
            <a:r>
              <a:rPr lang="en-US" altLang="zh-CN" dirty="0"/>
              <a:t>false;</a:t>
            </a:r>
            <a:endParaRPr lang="zh-CN" altLang="zh-CN" dirty="0"/>
          </a:p>
          <a:p>
            <a:r>
              <a:rPr lang="en-US" altLang="zh-CN" dirty="0" smtClean="0"/>
              <a:t>        } </a:t>
            </a:r>
            <a:r>
              <a:rPr lang="en-US" altLang="zh-CN" dirty="0"/>
              <a:t>else{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return </a:t>
            </a:r>
            <a:r>
              <a:rPr lang="en-US" altLang="zh-CN" dirty="0"/>
              <a:t>true;</a:t>
            </a:r>
            <a:endParaRPr lang="zh-CN" altLang="zh-CN" dirty="0"/>
          </a:p>
          <a:p>
            <a:r>
              <a:rPr lang="en-US" altLang="zh-CN" dirty="0" smtClean="0"/>
              <a:t>        }</a:t>
            </a:r>
            <a:endParaRPr lang="zh-CN" altLang="zh-CN" dirty="0"/>
          </a:p>
          <a:p>
            <a:r>
              <a:rPr lang="en-US" altLang="zh-CN" dirty="0" smtClean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745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10940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设计表单的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20850" y="1902542"/>
            <a:ext cx="8505855" cy="40934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&lt;div id="register"&gt;</a:t>
            </a:r>
            <a:endParaRPr lang="zh-CN" altLang="zh-CN" sz="2000" dirty="0"/>
          </a:p>
          <a:p>
            <a:r>
              <a:rPr lang="en-US" altLang="zh-CN" sz="2000" dirty="0" smtClean="0"/>
              <a:t>        &lt;</a:t>
            </a:r>
            <a:r>
              <a:rPr lang="en-US" altLang="zh-CN" sz="2000" dirty="0"/>
              <a:t>h2&gt;</a:t>
            </a:r>
            <a:r>
              <a:rPr lang="zh-CN" altLang="zh-CN" sz="2000" dirty="0"/>
              <a:t>用户注册</a:t>
            </a:r>
            <a:r>
              <a:rPr lang="en-US" altLang="zh-CN" sz="2000" dirty="0"/>
              <a:t>&lt;/h2&gt;</a:t>
            </a:r>
            <a:endParaRPr lang="zh-CN" altLang="zh-CN" sz="2000" dirty="0"/>
          </a:p>
          <a:p>
            <a:r>
              <a:rPr lang="en-US" altLang="zh-CN" sz="2000" dirty="0" smtClean="0"/>
              <a:t>        &lt;</a:t>
            </a:r>
            <a:r>
              <a:rPr lang="en-US" altLang="zh-CN" sz="2000" dirty="0"/>
              <a:t>form action="ok.html" method="get" </a:t>
            </a:r>
            <a:r>
              <a:rPr lang="en-US" altLang="zh-CN" sz="2000" dirty="0" err="1"/>
              <a:t>onsubmit</a:t>
            </a:r>
            <a:r>
              <a:rPr lang="en-US" altLang="zh-CN" sz="2000" dirty="0"/>
              <a:t>="return </a:t>
            </a:r>
            <a:r>
              <a:rPr lang="en-US" altLang="zh-CN" sz="2000" dirty="0" err="1"/>
              <a:t>checkAll</a:t>
            </a:r>
            <a:r>
              <a:rPr lang="en-US" altLang="zh-CN" sz="2000" dirty="0"/>
              <a:t>();"&gt;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&lt;</a:t>
            </a:r>
            <a:r>
              <a:rPr lang="en-US" altLang="zh-CN" sz="2000" dirty="0"/>
              <a:t>p&gt;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span&gt;</a:t>
            </a:r>
            <a:r>
              <a:rPr lang="zh-CN" altLang="zh-CN" sz="2000" dirty="0"/>
              <a:t>用户名：</a:t>
            </a:r>
            <a:r>
              <a:rPr lang="en-US" altLang="zh-CN" sz="2000" dirty="0"/>
              <a:t>&lt;/span&gt;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input type="text" name="user" id="user" value="" /&gt;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&gt;&lt;/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&lt;/</a:t>
            </a:r>
            <a:r>
              <a:rPr lang="en-US" altLang="zh-CN" sz="2000" dirty="0"/>
              <a:t>p&gt;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&lt;</a:t>
            </a:r>
            <a:r>
              <a:rPr lang="en-US" altLang="zh-CN" sz="2000" dirty="0"/>
              <a:t>p&gt;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span&gt;</a:t>
            </a:r>
            <a:r>
              <a:rPr lang="zh-CN" altLang="zh-CN" sz="2000" dirty="0"/>
              <a:t>密码：</a:t>
            </a:r>
            <a:r>
              <a:rPr lang="en-US" altLang="zh-CN" sz="2000" dirty="0"/>
              <a:t>&lt;/span&gt;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input type="password" name="</a:t>
            </a:r>
            <a:r>
              <a:rPr lang="en-US" altLang="zh-CN" sz="2000" dirty="0" err="1"/>
              <a:t>pwd</a:t>
            </a:r>
            <a:r>
              <a:rPr lang="en-US" altLang="zh-CN" sz="2000" dirty="0"/>
              <a:t>" id="</a:t>
            </a:r>
            <a:r>
              <a:rPr lang="en-US" altLang="zh-CN" sz="2000" dirty="0" err="1"/>
              <a:t>pwd</a:t>
            </a:r>
            <a:r>
              <a:rPr lang="en-US" altLang="zh-CN" sz="2000" dirty="0"/>
              <a:t>" value="" /&gt;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&gt;&lt;/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&lt;/</a:t>
            </a:r>
            <a:r>
              <a:rPr lang="en-US" altLang="zh-CN" sz="2000" dirty="0"/>
              <a:t>p</a:t>
            </a:r>
            <a:r>
              <a:rPr lang="en-US" altLang="zh-CN" sz="2000" dirty="0" smtClean="0"/>
              <a:t>&gt;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113696" cy="10940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设计表单的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20850" y="1945447"/>
            <a:ext cx="8584401" cy="40934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	&lt;</a:t>
            </a:r>
            <a:r>
              <a:rPr lang="en-US" altLang="zh-CN" sz="2000" dirty="0"/>
              <a:t>p&gt;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span&gt;</a:t>
            </a:r>
            <a:r>
              <a:rPr lang="zh-CN" altLang="zh-CN" sz="2000" dirty="0"/>
              <a:t>性别：</a:t>
            </a:r>
            <a:r>
              <a:rPr lang="en-US" altLang="zh-CN" sz="2000" dirty="0"/>
              <a:t>&lt;/span&gt;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input type="radio" name="sex" value="</a:t>
            </a:r>
            <a:r>
              <a:rPr lang="zh-CN" altLang="zh-CN" sz="2000" dirty="0"/>
              <a:t>男</a:t>
            </a:r>
            <a:r>
              <a:rPr lang="en-US" altLang="zh-CN" sz="2000" dirty="0"/>
              <a:t>" /&gt;</a:t>
            </a:r>
            <a:r>
              <a:rPr lang="zh-CN" altLang="zh-CN" sz="2000" dirty="0"/>
              <a:t>男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input type="radio" name="sex" value="</a:t>
            </a:r>
            <a:r>
              <a:rPr lang="zh-CN" altLang="zh-CN" sz="2000" dirty="0"/>
              <a:t>女</a:t>
            </a:r>
            <a:r>
              <a:rPr lang="en-US" altLang="zh-CN" sz="2000" dirty="0"/>
              <a:t>" /&gt;</a:t>
            </a:r>
            <a:r>
              <a:rPr lang="zh-CN" altLang="zh-CN" sz="2000" dirty="0"/>
              <a:t>女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&gt;&lt;/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&lt;/</a:t>
            </a:r>
            <a:r>
              <a:rPr lang="en-US" altLang="zh-CN" sz="2000" dirty="0"/>
              <a:t>p&gt;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&lt;</a:t>
            </a:r>
            <a:r>
              <a:rPr lang="en-US" altLang="zh-CN" sz="2000" dirty="0"/>
              <a:t>p&gt;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span&gt;</a:t>
            </a:r>
            <a:r>
              <a:rPr lang="zh-CN" altLang="zh-CN" sz="2000" dirty="0"/>
              <a:t>业余爱好：</a:t>
            </a:r>
            <a:r>
              <a:rPr lang="en-US" altLang="zh-CN" sz="2000" dirty="0"/>
              <a:t>&lt;/span&gt;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input type="checkbox" name="interest" value="</a:t>
            </a:r>
            <a:r>
              <a:rPr lang="zh-CN" altLang="zh-CN" sz="2000" dirty="0"/>
              <a:t>阅读</a:t>
            </a:r>
            <a:r>
              <a:rPr lang="en-US" altLang="zh-CN" sz="2000" dirty="0"/>
              <a:t>" /&gt;</a:t>
            </a:r>
            <a:r>
              <a:rPr lang="zh-CN" altLang="zh-CN" sz="2000" dirty="0"/>
              <a:t>阅读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input type="checkbox" name="interest" value="</a:t>
            </a:r>
            <a:r>
              <a:rPr lang="zh-CN" altLang="zh-CN" sz="2000" dirty="0"/>
              <a:t>运动</a:t>
            </a:r>
            <a:r>
              <a:rPr lang="en-US" altLang="zh-CN" sz="2000" dirty="0"/>
              <a:t>" /&gt;</a:t>
            </a:r>
            <a:r>
              <a:rPr lang="zh-CN" altLang="zh-CN" sz="2000" dirty="0"/>
              <a:t>运动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input type="checkbox" name="interest" value="</a:t>
            </a:r>
            <a:r>
              <a:rPr lang="zh-CN" altLang="zh-CN" sz="2000" dirty="0"/>
              <a:t>旅游</a:t>
            </a:r>
            <a:r>
              <a:rPr lang="en-US" altLang="zh-CN" sz="2000" dirty="0"/>
              <a:t>" /&gt;</a:t>
            </a:r>
            <a:r>
              <a:rPr lang="zh-CN" altLang="zh-CN" sz="2000" dirty="0"/>
              <a:t>旅游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&gt;&lt;/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&lt;/</a:t>
            </a:r>
            <a:r>
              <a:rPr lang="en-US" altLang="zh-CN" sz="2000" dirty="0"/>
              <a:t>p</a:t>
            </a:r>
            <a:r>
              <a:rPr lang="en-US" altLang="zh-CN" sz="2000" dirty="0" smtClean="0"/>
              <a:t>&gt;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43846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7089980" cy="10940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设计表单的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80033" y="2142305"/>
            <a:ext cx="5857694" cy="22467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	&lt;</a:t>
            </a:r>
            <a:r>
              <a:rPr lang="en-US" altLang="zh-CN" sz="2000" dirty="0"/>
              <a:t>p&gt;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span&gt;&lt;/span&gt;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input type="submit" value="</a:t>
            </a:r>
            <a:r>
              <a:rPr lang="zh-CN" altLang="zh-CN" sz="2000" dirty="0"/>
              <a:t>注册</a:t>
            </a:r>
            <a:r>
              <a:rPr lang="en-US" altLang="zh-CN" sz="2000" dirty="0"/>
              <a:t>"/&gt;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&lt;</a:t>
            </a:r>
            <a:r>
              <a:rPr lang="en-US" altLang="zh-CN" sz="2000" dirty="0"/>
              <a:t>input type="reset" value="</a:t>
            </a:r>
            <a:r>
              <a:rPr lang="zh-CN" altLang="zh-CN" sz="2000" dirty="0"/>
              <a:t>重置</a:t>
            </a:r>
            <a:r>
              <a:rPr lang="en-US" altLang="zh-CN" sz="2000" dirty="0"/>
              <a:t>" /&gt;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&lt;/</a:t>
            </a:r>
            <a:r>
              <a:rPr lang="en-US" altLang="zh-CN" sz="2000" dirty="0"/>
              <a:t>p&gt;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&lt;/</a:t>
            </a:r>
            <a:r>
              <a:rPr lang="en-US" altLang="zh-CN" sz="2000" dirty="0"/>
              <a:t>form&gt;</a:t>
            </a:r>
            <a:endParaRPr lang="zh-CN" altLang="zh-CN" sz="2000" dirty="0"/>
          </a:p>
          <a:p>
            <a:r>
              <a:rPr lang="en-US" altLang="zh-CN" sz="2000" dirty="0"/>
              <a:t>&lt;/div&gt;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35060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7089980" cy="10940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设计表单的样式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68523" y="1799304"/>
            <a:ext cx="7002238" cy="44012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&lt;style type="text/</a:t>
            </a:r>
            <a:r>
              <a:rPr lang="en-US" altLang="zh-CN" sz="2000" dirty="0" err="1"/>
              <a:t>css</a:t>
            </a:r>
            <a:r>
              <a:rPr lang="en-US" altLang="zh-CN" sz="2000" dirty="0"/>
              <a:t>"&gt;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#</a:t>
            </a:r>
            <a:r>
              <a:rPr lang="en-US" altLang="zh-CN" sz="2000" dirty="0"/>
              <a:t>register{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width</a:t>
            </a:r>
            <a:r>
              <a:rPr lang="en-US" altLang="zh-CN" sz="2000" dirty="0"/>
              <a:t>: </a:t>
            </a:r>
            <a:r>
              <a:rPr lang="en-US" altLang="zh-CN" sz="2000" dirty="0" smtClean="0"/>
              <a:t>380px;  border</a:t>
            </a:r>
            <a:r>
              <a:rPr lang="en-US" altLang="zh-CN" sz="2000" dirty="0"/>
              <a:t>: 1px solid gray</a:t>
            </a:r>
            <a:r>
              <a:rPr lang="en-US" altLang="zh-CN" sz="2000" dirty="0" smtClean="0"/>
              <a:t>;  font-size</a:t>
            </a:r>
            <a:r>
              <a:rPr lang="en-US" altLang="zh-CN" sz="2000" dirty="0"/>
              <a:t>: 14px;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}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#</a:t>
            </a:r>
            <a:r>
              <a:rPr lang="en-US" altLang="zh-CN" sz="2000" dirty="0"/>
              <a:t>register h2{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text-align</a:t>
            </a:r>
            <a:r>
              <a:rPr lang="en-US" altLang="zh-CN" sz="2000" dirty="0"/>
              <a:t>: center;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}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#</a:t>
            </a:r>
            <a:r>
              <a:rPr lang="en-US" altLang="zh-CN" sz="2000" dirty="0"/>
              <a:t>register span{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display</a:t>
            </a:r>
            <a:r>
              <a:rPr lang="en-US" altLang="zh-CN" sz="2000" dirty="0"/>
              <a:t>: inline-block</a:t>
            </a:r>
            <a:r>
              <a:rPr lang="en-US" altLang="zh-CN" sz="2000" dirty="0" smtClean="0"/>
              <a:t>;  width</a:t>
            </a:r>
            <a:r>
              <a:rPr lang="en-US" altLang="zh-CN" sz="2000" dirty="0"/>
              <a:t>: </a:t>
            </a:r>
            <a:r>
              <a:rPr lang="en-US" altLang="zh-CN" sz="2000" dirty="0" smtClean="0"/>
              <a:t>100px;  text-align</a:t>
            </a:r>
            <a:r>
              <a:rPr lang="en-US" altLang="zh-CN" sz="2000" dirty="0"/>
              <a:t>: right;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}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#</a:t>
            </a:r>
            <a:r>
              <a:rPr lang="en-US" altLang="zh-CN" sz="2000" dirty="0"/>
              <a:t>register 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{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font-size</a:t>
            </a:r>
            <a:r>
              <a:rPr lang="en-US" altLang="zh-CN" sz="2000" dirty="0"/>
              <a:t>: </a:t>
            </a:r>
            <a:r>
              <a:rPr lang="en-US" altLang="zh-CN" sz="2000" dirty="0" smtClean="0"/>
              <a:t>12px;  color</a:t>
            </a:r>
            <a:r>
              <a:rPr lang="en-US" altLang="zh-CN" sz="2000" dirty="0"/>
              <a:t>: red;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}</a:t>
            </a:r>
            <a:endParaRPr lang="zh-CN" altLang="zh-CN" sz="2000" dirty="0"/>
          </a:p>
          <a:p>
            <a:r>
              <a:rPr lang="en-US" altLang="zh-CN" sz="2000" dirty="0"/>
              <a:t>&lt;/style&gt;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95464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3349215" cy="5076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实现表单</a:t>
            </a:r>
            <a:r>
              <a:rPr lang="zh-CN" altLang="en-US" sz="3000" dirty="0" smtClean="0"/>
              <a:t>验证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）初始化工作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程序的开始首先为每一个表单元素都定义了全局变量，并在</a:t>
            </a:r>
            <a:r>
              <a:rPr lang="en-US" altLang="zh-CN" dirty="0" err="1"/>
              <a:t>onload</a:t>
            </a:r>
            <a:r>
              <a:rPr lang="zh-CN" altLang="zh-CN" dirty="0"/>
              <a:t>事件中分别获取对应的表单元素，完成全局变量的赋值。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44590" y="1709473"/>
            <a:ext cx="6845144" cy="42051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&lt;script type="text/</a:t>
            </a:r>
            <a:r>
              <a:rPr lang="en-US" altLang="zh-CN" dirty="0" err="1"/>
              <a:t>javascript</a:t>
            </a:r>
            <a:r>
              <a:rPr lang="en-US" altLang="zh-CN" dirty="0"/>
              <a:t>"&gt;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   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</a:t>
            </a:r>
            <a:r>
              <a:rPr lang="en-US" altLang="zh-CN" dirty="0" err="1"/>
              <a:t>emNodes,userNode,pwdNode,sexNodes,interestNodes</a:t>
            </a:r>
            <a:r>
              <a:rPr lang="en-US" altLang="zh-CN" dirty="0"/>
              <a:t>;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   </a:t>
            </a:r>
            <a:r>
              <a:rPr lang="en-US" altLang="zh-CN" dirty="0" err="1" smtClean="0"/>
              <a:t>window.onload</a:t>
            </a:r>
            <a:r>
              <a:rPr lang="en-US" altLang="zh-CN" dirty="0" smtClean="0"/>
              <a:t>=function</a:t>
            </a:r>
            <a:r>
              <a:rPr lang="en-US" altLang="zh-CN" dirty="0"/>
              <a:t>(){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 smtClean="0"/>
              <a:t>emNodes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document.getElementsByTagName</a:t>
            </a:r>
            <a:r>
              <a:rPr lang="en-US" altLang="zh-CN" dirty="0"/>
              <a:t>("</a:t>
            </a:r>
            <a:r>
              <a:rPr lang="en-US" altLang="zh-CN" dirty="0" err="1"/>
              <a:t>em</a:t>
            </a:r>
            <a:r>
              <a:rPr lang="en-US" altLang="zh-CN" dirty="0"/>
              <a:t>");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 smtClean="0"/>
              <a:t>userNode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document.getElementById</a:t>
            </a:r>
            <a:r>
              <a:rPr lang="en-US" altLang="zh-CN" dirty="0"/>
              <a:t>("user");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 smtClean="0"/>
              <a:t>pwdNode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document.getElementById</a:t>
            </a:r>
            <a:r>
              <a:rPr lang="en-US" altLang="zh-CN" dirty="0"/>
              <a:t>("</a:t>
            </a:r>
            <a:r>
              <a:rPr lang="en-US" altLang="zh-CN" dirty="0" err="1"/>
              <a:t>pwd</a:t>
            </a:r>
            <a:r>
              <a:rPr lang="en-US" altLang="zh-CN" dirty="0"/>
              <a:t>");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 smtClean="0"/>
              <a:t>sexNodes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document.getElementsByName</a:t>
            </a:r>
            <a:r>
              <a:rPr lang="en-US" altLang="zh-CN" dirty="0"/>
              <a:t>("sex");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 smtClean="0"/>
              <a:t>interestNodes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document.getElementsByName</a:t>
            </a:r>
            <a:r>
              <a:rPr lang="en-US" altLang="zh-CN" dirty="0"/>
              <a:t>("interest");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   }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&lt;/script&gt;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77895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3349215" cy="5076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实现表单</a:t>
            </a:r>
            <a:r>
              <a:rPr lang="zh-CN" altLang="en-US" sz="3000" dirty="0" smtClean="0"/>
              <a:t>验证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）验证用户名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当用户名长度小于</a:t>
            </a:r>
            <a:r>
              <a:rPr lang="en-US" altLang="zh-CN" dirty="0"/>
              <a:t>6</a:t>
            </a:r>
            <a:r>
              <a:rPr lang="zh-CN" altLang="zh-CN" dirty="0"/>
              <a:t>时，给出错误提示；当长度大于</a:t>
            </a:r>
            <a:r>
              <a:rPr lang="en-US" altLang="zh-CN" dirty="0"/>
              <a:t>6</a:t>
            </a:r>
            <a:r>
              <a:rPr lang="zh-CN" altLang="zh-CN" dirty="0"/>
              <a:t>时，不显示任何提示。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80564" y="1601201"/>
            <a:ext cx="6375463" cy="37856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&lt;script type="text/</a:t>
            </a:r>
            <a:r>
              <a:rPr lang="en-US" altLang="zh-CN" sz="2000" dirty="0" err="1"/>
              <a:t>javascript</a:t>
            </a:r>
            <a:r>
              <a:rPr lang="en-US" altLang="zh-CN" sz="2000" dirty="0" smtClean="0"/>
              <a:t>"&gt;</a:t>
            </a:r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……</a:t>
            </a:r>
            <a:endParaRPr lang="zh-CN" altLang="zh-CN" sz="2000" dirty="0"/>
          </a:p>
          <a:p>
            <a:r>
              <a:rPr lang="en-US" altLang="zh-CN" sz="2000" dirty="0" smtClean="0"/>
              <a:t>        function </a:t>
            </a:r>
            <a:r>
              <a:rPr lang="en-US" altLang="zh-CN" sz="2000" dirty="0" err="1"/>
              <a:t>checkUser</a:t>
            </a:r>
            <a:r>
              <a:rPr lang="en-US" altLang="zh-CN" sz="2000" dirty="0"/>
              <a:t>(){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if(</a:t>
            </a:r>
            <a:r>
              <a:rPr lang="en-US" altLang="zh-CN" sz="2000" dirty="0" err="1" smtClean="0"/>
              <a:t>userNode.value.length</a:t>
            </a:r>
            <a:r>
              <a:rPr lang="en-US" altLang="zh-CN" sz="2000" dirty="0" smtClean="0"/>
              <a:t>&lt;6</a:t>
            </a:r>
            <a:r>
              <a:rPr lang="en-US" altLang="zh-CN" sz="2000" dirty="0"/>
              <a:t>){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       </a:t>
            </a:r>
            <a:r>
              <a:rPr lang="en-US" altLang="zh-CN" sz="2000" dirty="0" err="1" smtClean="0"/>
              <a:t>emNodes</a:t>
            </a:r>
            <a:r>
              <a:rPr lang="en-US" altLang="zh-CN" sz="2000" dirty="0" smtClean="0"/>
              <a:t>[0</a:t>
            </a:r>
            <a:r>
              <a:rPr lang="en-US" altLang="zh-CN" sz="2000" dirty="0"/>
              <a:t>].</a:t>
            </a:r>
            <a:r>
              <a:rPr lang="en-US" altLang="zh-CN" sz="2000" dirty="0" err="1"/>
              <a:t>innerHTML</a:t>
            </a:r>
            <a:r>
              <a:rPr lang="en-US" altLang="zh-CN" sz="2000" dirty="0"/>
              <a:t>="</a:t>
            </a:r>
            <a:r>
              <a:rPr lang="zh-CN" altLang="zh-CN" sz="2000" dirty="0"/>
              <a:t>长度不能小于</a:t>
            </a:r>
            <a:r>
              <a:rPr lang="en-US" altLang="zh-CN" sz="2000" dirty="0"/>
              <a:t>6";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       return </a:t>
            </a:r>
            <a:r>
              <a:rPr lang="en-US" altLang="zh-CN" sz="2000" dirty="0"/>
              <a:t>false;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}</a:t>
            </a:r>
            <a:r>
              <a:rPr lang="en-US" altLang="zh-CN" sz="2000" dirty="0"/>
              <a:t>else{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</a:t>
            </a:r>
            <a:r>
              <a:rPr lang="en-US" altLang="zh-CN" sz="2000" dirty="0" err="1" smtClean="0"/>
              <a:t>emNodes</a:t>
            </a:r>
            <a:r>
              <a:rPr lang="en-US" altLang="zh-CN" sz="2000" dirty="0" smtClean="0"/>
              <a:t>[0</a:t>
            </a:r>
            <a:r>
              <a:rPr lang="en-US" altLang="zh-CN" sz="2000" dirty="0"/>
              <a:t>].</a:t>
            </a:r>
            <a:r>
              <a:rPr lang="en-US" altLang="zh-CN" sz="2000" dirty="0" err="1"/>
              <a:t>innerHTML</a:t>
            </a:r>
            <a:r>
              <a:rPr lang="en-US" altLang="zh-CN" sz="2000" dirty="0"/>
              <a:t>="";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        return </a:t>
            </a:r>
            <a:r>
              <a:rPr lang="en-US" altLang="zh-CN" sz="2000" dirty="0"/>
              <a:t>true;</a:t>
            </a:r>
            <a:endParaRPr lang="zh-CN" altLang="zh-CN" sz="2000" dirty="0"/>
          </a:p>
          <a:p>
            <a:r>
              <a:rPr lang="en-US" altLang="zh-CN" sz="2000" dirty="0"/>
              <a:t>	}</a:t>
            </a:r>
            <a:endParaRPr lang="zh-CN" altLang="zh-CN" sz="2000" dirty="0"/>
          </a:p>
          <a:p>
            <a:r>
              <a:rPr lang="en-US" altLang="zh-CN" sz="2000" dirty="0" smtClean="0"/>
              <a:t>        }</a:t>
            </a:r>
          </a:p>
          <a:p>
            <a:r>
              <a:rPr lang="en-US" altLang="zh-CN" sz="2000" dirty="0" smtClean="0"/>
              <a:t>&lt;/</a:t>
            </a:r>
            <a:r>
              <a:rPr lang="en-US" altLang="zh-CN" sz="2000" dirty="0"/>
              <a:t>script&gt;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94588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3349215" cy="507612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实现表单</a:t>
            </a:r>
            <a:r>
              <a:rPr lang="zh-CN" altLang="en-US" sz="3000" dirty="0" smtClean="0"/>
              <a:t>验证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）验证</a:t>
            </a:r>
            <a:r>
              <a:rPr lang="zh-CN" altLang="en-US" sz="2600" dirty="0"/>
              <a:t>密码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当密码长度小于</a:t>
            </a:r>
            <a:r>
              <a:rPr lang="en-US" altLang="zh-CN" dirty="0"/>
              <a:t>8</a:t>
            </a:r>
            <a:r>
              <a:rPr lang="zh-CN" altLang="zh-CN" dirty="0"/>
              <a:t>时，给出错误提示；当密码包含数字、大小写字母以外的其他字符时，给出错误提示；当前面两条都满足时，不显示任何提示。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88834" y="1108947"/>
            <a:ext cx="6716903" cy="50629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900" dirty="0"/>
              <a:t>&lt;script type="text/</a:t>
            </a:r>
            <a:r>
              <a:rPr lang="en-US" altLang="zh-CN" sz="1900" dirty="0" err="1"/>
              <a:t>javascript</a:t>
            </a:r>
            <a:r>
              <a:rPr lang="en-US" altLang="zh-CN" sz="1900" dirty="0" smtClean="0"/>
              <a:t>"&gt;</a:t>
            </a:r>
          </a:p>
          <a:p>
            <a:r>
              <a:rPr lang="en-US" altLang="zh-CN" sz="1900" dirty="0"/>
              <a:t> </a:t>
            </a:r>
            <a:r>
              <a:rPr lang="en-US" altLang="zh-CN" sz="1900" dirty="0" smtClean="0"/>
              <a:t>       ……</a:t>
            </a:r>
            <a:endParaRPr lang="zh-CN" altLang="zh-CN" sz="1900" dirty="0"/>
          </a:p>
          <a:p>
            <a:r>
              <a:rPr lang="en-US" altLang="zh-CN" sz="1900" dirty="0" smtClean="0"/>
              <a:t>        function </a:t>
            </a:r>
            <a:r>
              <a:rPr lang="en-US" altLang="zh-CN" sz="1900" dirty="0" err="1"/>
              <a:t>checkPwd</a:t>
            </a:r>
            <a:r>
              <a:rPr lang="en-US" altLang="zh-CN" sz="1900" dirty="0"/>
              <a:t>(){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 err="1" smtClean="0"/>
              <a:t>var</a:t>
            </a:r>
            <a:r>
              <a:rPr lang="en-US" altLang="zh-CN" sz="1900" dirty="0" smtClean="0"/>
              <a:t> </a:t>
            </a:r>
            <a:r>
              <a:rPr lang="en-US" altLang="zh-CN" sz="1900" dirty="0" err="1"/>
              <a:t>reg</a:t>
            </a:r>
            <a:r>
              <a:rPr lang="en-US" altLang="zh-CN" sz="1900" dirty="0"/>
              <a:t>= /^[0-9A-Za-z]+$/;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 err="1" smtClean="0"/>
              <a:t>var</a:t>
            </a:r>
            <a:r>
              <a:rPr lang="en-US" altLang="zh-CN" sz="1900" dirty="0" smtClean="0"/>
              <a:t> </a:t>
            </a:r>
            <a:r>
              <a:rPr lang="en-US" altLang="zh-CN" sz="1900" dirty="0"/>
              <a:t>s=</a:t>
            </a:r>
            <a:r>
              <a:rPr lang="en-US" altLang="zh-CN" sz="1900" dirty="0" err="1"/>
              <a:t>pwdNode.value</a:t>
            </a:r>
            <a:r>
              <a:rPr lang="en-US" altLang="zh-CN" sz="1900" dirty="0"/>
              <a:t>;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 smtClean="0"/>
              <a:t>if(</a:t>
            </a:r>
            <a:r>
              <a:rPr lang="en-US" altLang="zh-CN" sz="1900" dirty="0" err="1" smtClean="0"/>
              <a:t>s.length</a:t>
            </a:r>
            <a:r>
              <a:rPr lang="en-US" altLang="zh-CN" sz="1900" dirty="0" smtClean="0"/>
              <a:t>&lt;8</a:t>
            </a:r>
            <a:r>
              <a:rPr lang="en-US" altLang="zh-CN" sz="1900" dirty="0"/>
              <a:t>){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 smtClean="0"/>
              <a:t>        </a:t>
            </a:r>
            <a:r>
              <a:rPr lang="en-US" altLang="zh-CN" sz="1900" dirty="0" err="1" smtClean="0"/>
              <a:t>emNodes</a:t>
            </a:r>
            <a:r>
              <a:rPr lang="en-US" altLang="zh-CN" sz="1900" dirty="0" smtClean="0"/>
              <a:t>[1</a:t>
            </a:r>
            <a:r>
              <a:rPr lang="en-US" altLang="zh-CN" sz="1900" dirty="0"/>
              <a:t>].</a:t>
            </a:r>
            <a:r>
              <a:rPr lang="en-US" altLang="zh-CN" sz="1900" dirty="0" err="1"/>
              <a:t>innerHTML</a:t>
            </a:r>
            <a:r>
              <a:rPr lang="en-US" altLang="zh-CN" sz="1900" dirty="0"/>
              <a:t>="</a:t>
            </a:r>
            <a:r>
              <a:rPr lang="zh-CN" altLang="zh-CN" sz="1900" dirty="0"/>
              <a:t>长度不能小于</a:t>
            </a:r>
            <a:r>
              <a:rPr lang="en-US" altLang="zh-CN" sz="1900" dirty="0"/>
              <a:t>8";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/>
              <a:t> </a:t>
            </a:r>
            <a:r>
              <a:rPr lang="en-US" altLang="zh-CN" sz="1900" dirty="0" smtClean="0"/>
              <a:t>       return </a:t>
            </a:r>
            <a:r>
              <a:rPr lang="en-US" altLang="zh-CN" sz="1900" dirty="0"/>
              <a:t>false;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 smtClean="0"/>
              <a:t>}</a:t>
            </a:r>
            <a:r>
              <a:rPr lang="en-US" altLang="zh-CN" sz="1900" dirty="0"/>
              <a:t>else if(!</a:t>
            </a:r>
            <a:r>
              <a:rPr lang="en-US" altLang="zh-CN" sz="1900" dirty="0" err="1"/>
              <a:t>reg.test</a:t>
            </a:r>
            <a:r>
              <a:rPr lang="en-US" altLang="zh-CN" sz="1900" dirty="0"/>
              <a:t>(s)){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 smtClean="0"/>
              <a:t>        </a:t>
            </a:r>
            <a:r>
              <a:rPr lang="en-US" altLang="zh-CN" sz="1900" dirty="0" err="1" smtClean="0"/>
              <a:t>emNodes</a:t>
            </a:r>
            <a:r>
              <a:rPr lang="en-US" altLang="zh-CN" sz="1900" dirty="0" smtClean="0"/>
              <a:t>[1</a:t>
            </a:r>
            <a:r>
              <a:rPr lang="en-US" altLang="zh-CN" sz="1900" dirty="0"/>
              <a:t>].</a:t>
            </a:r>
            <a:r>
              <a:rPr lang="en-US" altLang="zh-CN" sz="1900" dirty="0" err="1"/>
              <a:t>innerHTML</a:t>
            </a:r>
            <a:r>
              <a:rPr lang="en-US" altLang="zh-CN" sz="1900" dirty="0"/>
              <a:t>="</a:t>
            </a:r>
            <a:r>
              <a:rPr lang="zh-CN" altLang="zh-CN" sz="1900" dirty="0"/>
              <a:t>只能包含数字和字母</a:t>
            </a:r>
            <a:r>
              <a:rPr lang="en-US" altLang="zh-CN" sz="1900" dirty="0"/>
              <a:t>";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/>
              <a:t> </a:t>
            </a:r>
            <a:r>
              <a:rPr lang="en-US" altLang="zh-CN" sz="1900" dirty="0" smtClean="0"/>
              <a:t>       return </a:t>
            </a:r>
            <a:r>
              <a:rPr lang="en-US" altLang="zh-CN" sz="1900" dirty="0"/>
              <a:t>false;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 smtClean="0"/>
              <a:t>}</a:t>
            </a:r>
            <a:r>
              <a:rPr lang="en-US" altLang="zh-CN" sz="1900" dirty="0"/>
              <a:t>else{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 smtClean="0"/>
              <a:t>        </a:t>
            </a:r>
            <a:r>
              <a:rPr lang="en-US" altLang="zh-CN" sz="1900" dirty="0" err="1" smtClean="0"/>
              <a:t>emNodes</a:t>
            </a:r>
            <a:r>
              <a:rPr lang="en-US" altLang="zh-CN" sz="1900" dirty="0" smtClean="0"/>
              <a:t>[1</a:t>
            </a:r>
            <a:r>
              <a:rPr lang="en-US" altLang="zh-CN" sz="1900" dirty="0"/>
              <a:t>].</a:t>
            </a:r>
            <a:r>
              <a:rPr lang="en-US" altLang="zh-CN" sz="1900" dirty="0" err="1"/>
              <a:t>innerHTML</a:t>
            </a:r>
            <a:r>
              <a:rPr lang="en-US" altLang="zh-CN" sz="1900" dirty="0"/>
              <a:t>="";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/>
              <a:t> </a:t>
            </a:r>
            <a:r>
              <a:rPr lang="en-US" altLang="zh-CN" sz="1900" dirty="0" smtClean="0"/>
              <a:t>       return </a:t>
            </a:r>
            <a:r>
              <a:rPr lang="en-US" altLang="zh-CN" sz="1900" dirty="0"/>
              <a:t>true;</a:t>
            </a:r>
            <a:endParaRPr lang="zh-CN" altLang="zh-CN" sz="1900" dirty="0"/>
          </a:p>
          <a:p>
            <a:r>
              <a:rPr lang="en-US" altLang="zh-CN" sz="1900" dirty="0"/>
              <a:t>	</a:t>
            </a:r>
            <a:r>
              <a:rPr lang="en-US" altLang="zh-CN" sz="1900" dirty="0" smtClean="0"/>
              <a:t>}</a:t>
            </a:r>
            <a:endParaRPr lang="zh-CN" altLang="zh-CN" sz="1900" dirty="0"/>
          </a:p>
          <a:p>
            <a:r>
              <a:rPr lang="en-US" altLang="zh-CN" sz="1900" dirty="0"/>
              <a:t> </a:t>
            </a:r>
            <a:r>
              <a:rPr lang="en-US" altLang="zh-CN" sz="1900" dirty="0" smtClean="0"/>
              <a:t>       }</a:t>
            </a:r>
          </a:p>
          <a:p>
            <a:r>
              <a:rPr lang="en-US" altLang="zh-CN" sz="1900" dirty="0" smtClean="0"/>
              <a:t>&lt;/</a:t>
            </a:r>
            <a:r>
              <a:rPr lang="en-US" altLang="zh-CN" sz="1900" dirty="0"/>
              <a:t>script&gt;</a:t>
            </a:r>
            <a:endParaRPr lang="zh-CN" altLang="zh-CN" sz="1900" dirty="0"/>
          </a:p>
        </p:txBody>
      </p:sp>
    </p:spTree>
    <p:extLst>
      <p:ext uri="{BB962C8B-B14F-4D97-AF65-F5344CB8AC3E}">
        <p14:creationId xmlns:p14="http://schemas.microsoft.com/office/powerpoint/2010/main" val="265486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3349215" cy="5076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实现表单</a:t>
            </a:r>
            <a:r>
              <a:rPr lang="zh-CN" altLang="en-US" sz="3000" dirty="0" smtClean="0"/>
              <a:t>验证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4</a:t>
            </a:r>
            <a:r>
              <a:rPr lang="zh-CN" altLang="en-US" sz="2600" dirty="0" smtClean="0"/>
              <a:t>）验证性别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性别要求必选，可通过判断单选按钮元素的</a:t>
            </a:r>
            <a:r>
              <a:rPr lang="en-US" altLang="zh-CN" dirty="0"/>
              <a:t>checked</a:t>
            </a:r>
            <a:r>
              <a:rPr lang="zh-CN" altLang="zh-CN" dirty="0"/>
              <a:t>属性来完成的。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80563" y="1108947"/>
            <a:ext cx="4799712" cy="51244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900" dirty="0"/>
              <a:t>&lt;script type="text/</a:t>
            </a:r>
            <a:r>
              <a:rPr lang="en-US" altLang="zh-CN" sz="1900" dirty="0" err="1"/>
              <a:t>javascript</a:t>
            </a:r>
            <a:r>
              <a:rPr lang="en-US" altLang="zh-CN" sz="1900" dirty="0" smtClean="0"/>
              <a:t>"&gt;</a:t>
            </a:r>
          </a:p>
          <a:p>
            <a:r>
              <a:rPr lang="en-US" altLang="zh-CN" sz="1900" dirty="0"/>
              <a:t> </a:t>
            </a:r>
            <a:r>
              <a:rPr lang="en-US" altLang="zh-CN" sz="1900" dirty="0" smtClean="0"/>
              <a:t>       ……</a:t>
            </a:r>
            <a:endParaRPr lang="zh-CN" altLang="zh-CN" sz="1900" dirty="0"/>
          </a:p>
          <a:p>
            <a:r>
              <a:rPr lang="en-US" altLang="zh-CN" dirty="0" smtClean="0"/>
              <a:t>        function </a:t>
            </a:r>
            <a:r>
              <a:rPr lang="en-US" altLang="zh-CN" dirty="0" err="1"/>
              <a:t>checkSex</a:t>
            </a:r>
            <a:r>
              <a:rPr lang="en-US" altLang="zh-CN" dirty="0"/>
              <a:t>(){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</a:t>
            </a:r>
            <a:r>
              <a:rPr lang="en-US" altLang="zh-CN" dirty="0"/>
              <a:t>mark=false;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for(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sexNodes.length;i</a:t>
            </a:r>
            <a:r>
              <a:rPr lang="en-US" altLang="zh-CN" dirty="0"/>
              <a:t>++){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     if(</a:t>
            </a:r>
            <a:r>
              <a:rPr lang="en-US" altLang="zh-CN" dirty="0" err="1" smtClean="0"/>
              <a:t>sexNodes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/>
              <a:t>].checked){</a:t>
            </a:r>
            <a:endParaRPr lang="zh-CN" altLang="zh-CN" dirty="0"/>
          </a:p>
          <a:p>
            <a:r>
              <a:rPr lang="en-US" altLang="zh-CN" dirty="0"/>
              <a:t>		</a:t>
            </a:r>
            <a:r>
              <a:rPr lang="en-US" altLang="zh-CN" dirty="0" smtClean="0"/>
              <a:t>mark=true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     }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}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if(mark</a:t>
            </a:r>
            <a:r>
              <a:rPr lang="en-US" altLang="zh-CN" dirty="0"/>
              <a:t>==false){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en-US" altLang="zh-CN" dirty="0" err="1" smtClean="0"/>
              <a:t>emNodes</a:t>
            </a:r>
            <a:r>
              <a:rPr lang="en-US" altLang="zh-CN" dirty="0" smtClean="0"/>
              <a:t>[2</a:t>
            </a:r>
            <a:r>
              <a:rPr lang="en-US" altLang="zh-CN" dirty="0"/>
              <a:t>].</a:t>
            </a:r>
            <a:r>
              <a:rPr lang="en-US" altLang="zh-CN" dirty="0" err="1"/>
              <a:t>innerHTML</a:t>
            </a:r>
            <a:r>
              <a:rPr lang="en-US" altLang="zh-CN" dirty="0"/>
              <a:t>="</a:t>
            </a:r>
            <a:r>
              <a:rPr lang="zh-CN" altLang="zh-CN" dirty="0"/>
              <a:t>必选</a:t>
            </a:r>
            <a:r>
              <a:rPr lang="en-US" altLang="zh-CN" dirty="0"/>
              <a:t>";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     return </a:t>
            </a:r>
            <a:r>
              <a:rPr lang="en-US" altLang="zh-CN" dirty="0"/>
              <a:t>false;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}</a:t>
            </a:r>
            <a:r>
              <a:rPr lang="en-US" altLang="zh-CN" dirty="0"/>
              <a:t>else{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en-US" altLang="zh-CN" dirty="0" err="1" smtClean="0"/>
              <a:t>emNodes</a:t>
            </a:r>
            <a:r>
              <a:rPr lang="en-US" altLang="zh-CN" dirty="0" smtClean="0"/>
              <a:t>[2</a:t>
            </a:r>
            <a:r>
              <a:rPr lang="en-US" altLang="zh-CN" dirty="0"/>
              <a:t>].</a:t>
            </a:r>
            <a:r>
              <a:rPr lang="en-US" altLang="zh-CN" dirty="0" err="1"/>
              <a:t>innerHTML</a:t>
            </a:r>
            <a:r>
              <a:rPr lang="en-US" altLang="zh-CN" dirty="0"/>
              <a:t>="";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     return </a:t>
            </a:r>
            <a:r>
              <a:rPr lang="en-US" altLang="zh-CN" dirty="0"/>
              <a:t>true;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}</a:t>
            </a:r>
            <a:endParaRPr lang="zh-CN" altLang="zh-CN" dirty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}</a:t>
            </a:r>
            <a:endParaRPr lang="zh-CN" altLang="zh-CN" dirty="0"/>
          </a:p>
          <a:p>
            <a:r>
              <a:rPr lang="en-US" altLang="zh-CN" sz="1900" dirty="0" smtClean="0"/>
              <a:t>&lt;/</a:t>
            </a:r>
            <a:r>
              <a:rPr lang="en-US" altLang="zh-CN" sz="1900" dirty="0"/>
              <a:t>script&gt;</a:t>
            </a:r>
            <a:endParaRPr lang="zh-CN" altLang="zh-CN" sz="1900" dirty="0"/>
          </a:p>
        </p:txBody>
      </p:sp>
    </p:spTree>
    <p:extLst>
      <p:ext uri="{BB962C8B-B14F-4D97-AF65-F5344CB8AC3E}">
        <p14:creationId xmlns:p14="http://schemas.microsoft.com/office/powerpoint/2010/main" val="163102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3349215" cy="5076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实现表单</a:t>
            </a:r>
            <a:r>
              <a:rPr lang="zh-CN" altLang="en-US" sz="3000" dirty="0" smtClean="0"/>
              <a:t>验证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）验证业余爱好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业余爱好要求必选，可通过判断复选框元素的</a:t>
            </a:r>
            <a:r>
              <a:rPr lang="en-US" altLang="zh-CN" dirty="0"/>
              <a:t>checked</a:t>
            </a:r>
            <a:r>
              <a:rPr lang="zh-CN" altLang="zh-CN" dirty="0"/>
              <a:t>属性来完成的。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80563" y="1108947"/>
            <a:ext cx="5011308" cy="51244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900" dirty="0"/>
              <a:t>&lt;script type="text/</a:t>
            </a:r>
            <a:r>
              <a:rPr lang="en-US" altLang="zh-CN" sz="1900" dirty="0" err="1"/>
              <a:t>javascript</a:t>
            </a:r>
            <a:r>
              <a:rPr lang="en-US" altLang="zh-CN" sz="1900" dirty="0" smtClean="0"/>
              <a:t>"&gt;</a:t>
            </a:r>
          </a:p>
          <a:p>
            <a:r>
              <a:rPr lang="en-US" altLang="zh-CN" sz="1900" dirty="0"/>
              <a:t> </a:t>
            </a:r>
            <a:r>
              <a:rPr lang="en-US" altLang="zh-CN" sz="1900" dirty="0" smtClean="0"/>
              <a:t>       ……</a:t>
            </a:r>
            <a:endParaRPr lang="zh-CN" altLang="zh-CN" sz="1900" dirty="0"/>
          </a:p>
          <a:p>
            <a:r>
              <a:rPr lang="en-US" altLang="zh-CN" dirty="0" smtClean="0"/>
              <a:t>        function </a:t>
            </a:r>
            <a:r>
              <a:rPr lang="en-US" altLang="zh-CN" dirty="0" err="1"/>
              <a:t>checkInterest</a:t>
            </a:r>
            <a:r>
              <a:rPr lang="en-US" altLang="zh-CN" dirty="0"/>
              <a:t>(){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</a:t>
            </a:r>
            <a:r>
              <a:rPr lang="en-US" altLang="zh-CN" dirty="0"/>
              <a:t>mark=false;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for(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interestNodes.length;i</a:t>
            </a:r>
            <a:r>
              <a:rPr lang="en-US" altLang="zh-CN" dirty="0"/>
              <a:t>++){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        if(</a:t>
            </a:r>
            <a:r>
              <a:rPr lang="en-US" altLang="zh-CN" dirty="0" err="1" smtClean="0"/>
              <a:t>interestNodes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/>
              <a:t>].checked){</a:t>
            </a:r>
            <a:endParaRPr lang="zh-CN" altLang="zh-CN" dirty="0"/>
          </a:p>
          <a:p>
            <a:r>
              <a:rPr lang="en-US" altLang="zh-CN" dirty="0"/>
              <a:t>		</a:t>
            </a:r>
            <a:r>
              <a:rPr lang="en-US" altLang="zh-CN" dirty="0" smtClean="0"/>
              <a:t>mark=true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     }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}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if(mark</a:t>
            </a:r>
            <a:r>
              <a:rPr lang="en-US" altLang="zh-CN" dirty="0"/>
              <a:t>==false){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        </a:t>
            </a:r>
            <a:r>
              <a:rPr lang="en-US" altLang="zh-CN" dirty="0" err="1" smtClean="0"/>
              <a:t>emNodes</a:t>
            </a:r>
            <a:r>
              <a:rPr lang="en-US" altLang="zh-CN" dirty="0" smtClean="0"/>
              <a:t>[3</a:t>
            </a:r>
            <a:r>
              <a:rPr lang="en-US" altLang="zh-CN" dirty="0"/>
              <a:t>].</a:t>
            </a:r>
            <a:r>
              <a:rPr lang="en-US" altLang="zh-CN" dirty="0" err="1"/>
              <a:t>innerHTML</a:t>
            </a:r>
            <a:r>
              <a:rPr lang="en-US" altLang="zh-CN" dirty="0"/>
              <a:t>="</a:t>
            </a:r>
            <a:r>
              <a:rPr lang="zh-CN" altLang="zh-CN" dirty="0"/>
              <a:t>必选</a:t>
            </a:r>
            <a:r>
              <a:rPr lang="en-US" altLang="zh-CN" dirty="0"/>
              <a:t>";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     return </a:t>
            </a:r>
            <a:r>
              <a:rPr lang="en-US" altLang="zh-CN" dirty="0"/>
              <a:t>false;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}</a:t>
            </a:r>
            <a:r>
              <a:rPr lang="en-US" altLang="zh-CN" dirty="0"/>
              <a:t>else{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        </a:t>
            </a:r>
            <a:r>
              <a:rPr lang="en-US" altLang="zh-CN" dirty="0" err="1" smtClean="0"/>
              <a:t>emNodes</a:t>
            </a:r>
            <a:r>
              <a:rPr lang="en-US" altLang="zh-CN" dirty="0" smtClean="0"/>
              <a:t>[3</a:t>
            </a:r>
            <a:r>
              <a:rPr lang="en-US" altLang="zh-CN" dirty="0"/>
              <a:t>].</a:t>
            </a:r>
            <a:r>
              <a:rPr lang="en-US" altLang="zh-CN" dirty="0" err="1"/>
              <a:t>innerHTML</a:t>
            </a:r>
            <a:r>
              <a:rPr lang="en-US" altLang="zh-CN" dirty="0"/>
              <a:t>="";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     return </a:t>
            </a:r>
            <a:r>
              <a:rPr lang="en-US" altLang="zh-CN" dirty="0"/>
              <a:t>true;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}</a:t>
            </a:r>
            <a:endParaRPr lang="zh-CN" altLang="zh-CN" dirty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}</a:t>
            </a:r>
            <a:endParaRPr lang="zh-CN" altLang="zh-CN" dirty="0"/>
          </a:p>
          <a:p>
            <a:r>
              <a:rPr lang="en-US" altLang="zh-CN" sz="1900" dirty="0" smtClean="0"/>
              <a:t>&lt;/</a:t>
            </a:r>
            <a:r>
              <a:rPr lang="en-US" altLang="zh-CN" sz="1900" dirty="0"/>
              <a:t>script&gt;</a:t>
            </a:r>
            <a:endParaRPr lang="zh-CN" altLang="zh-CN" sz="1900" dirty="0"/>
          </a:p>
        </p:txBody>
      </p:sp>
    </p:spTree>
    <p:extLst>
      <p:ext uri="{BB962C8B-B14F-4D97-AF65-F5344CB8AC3E}">
        <p14:creationId xmlns:p14="http://schemas.microsoft.com/office/powerpoint/2010/main" val="31267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39657" cy="5076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实现表单</a:t>
            </a:r>
            <a:r>
              <a:rPr lang="zh-CN" altLang="en-US" sz="3000" dirty="0" smtClean="0"/>
              <a:t>验证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6</a:t>
            </a:r>
            <a:r>
              <a:rPr lang="zh-CN" altLang="en-US" sz="2600" dirty="0" smtClean="0"/>
              <a:t>）表单提交前的验证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添加一个函数</a:t>
            </a:r>
            <a:r>
              <a:rPr lang="en-US" altLang="zh-CN" dirty="0" err="1"/>
              <a:t>checkAll</a:t>
            </a:r>
            <a:r>
              <a:rPr lang="en-US" altLang="zh-CN" dirty="0"/>
              <a:t>()</a:t>
            </a:r>
            <a:r>
              <a:rPr lang="zh-CN" altLang="zh-CN" dirty="0"/>
              <a:t>用于统一执行所有验证表单元素的</a:t>
            </a:r>
            <a:r>
              <a:rPr lang="zh-CN" altLang="zh-CN" dirty="0" smtClean="0"/>
              <a:t>函数。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89532" y="3108213"/>
            <a:ext cx="7329251" cy="29238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900" dirty="0"/>
              <a:t>&lt;script type="text/</a:t>
            </a:r>
            <a:r>
              <a:rPr lang="en-US" altLang="zh-CN" sz="1900" dirty="0" err="1"/>
              <a:t>javascript</a:t>
            </a:r>
            <a:r>
              <a:rPr lang="en-US" altLang="zh-CN" sz="1900" dirty="0" smtClean="0"/>
              <a:t>"&gt;</a:t>
            </a:r>
          </a:p>
          <a:p>
            <a:r>
              <a:rPr lang="en-US" altLang="zh-CN" sz="1900" dirty="0"/>
              <a:t> </a:t>
            </a:r>
            <a:r>
              <a:rPr lang="en-US" altLang="zh-CN" sz="1900" dirty="0" smtClean="0"/>
              <a:t>       ……</a:t>
            </a:r>
            <a:endParaRPr lang="en-US" altLang="zh-CN" sz="1900" dirty="0"/>
          </a:p>
          <a:p>
            <a:r>
              <a:rPr lang="en-US" altLang="zh-CN" sz="1900" dirty="0"/>
              <a:t> </a:t>
            </a:r>
            <a:r>
              <a:rPr lang="en-US" altLang="zh-CN" sz="1900" dirty="0" smtClean="0"/>
              <a:t>       </a:t>
            </a:r>
            <a:r>
              <a:rPr lang="en-US" altLang="zh-CN" dirty="0" smtClean="0"/>
              <a:t>function </a:t>
            </a:r>
            <a:r>
              <a:rPr lang="en-US" altLang="zh-CN" dirty="0" err="1"/>
              <a:t>checkAll</a:t>
            </a:r>
            <a:r>
              <a:rPr lang="en-US" altLang="zh-CN" dirty="0"/>
              <a:t>(){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if </a:t>
            </a:r>
            <a:r>
              <a:rPr lang="en-US" altLang="zh-CN" dirty="0"/>
              <a:t>(</a:t>
            </a:r>
            <a:r>
              <a:rPr lang="en-US" altLang="zh-CN" dirty="0" err="1"/>
              <a:t>checkUser</a:t>
            </a:r>
            <a:r>
              <a:rPr lang="en-US" altLang="zh-CN" dirty="0"/>
              <a:t>()&amp;&amp;</a:t>
            </a:r>
            <a:r>
              <a:rPr lang="en-US" altLang="zh-CN" dirty="0" err="1"/>
              <a:t>checkPwd</a:t>
            </a:r>
            <a:r>
              <a:rPr lang="en-US" altLang="zh-CN" dirty="0"/>
              <a:t>()&amp;&amp;</a:t>
            </a:r>
            <a:r>
              <a:rPr lang="en-US" altLang="zh-CN" dirty="0" err="1"/>
              <a:t>checkSex</a:t>
            </a:r>
            <a:r>
              <a:rPr lang="en-US" altLang="zh-CN" dirty="0"/>
              <a:t>()&amp;&amp;</a:t>
            </a:r>
            <a:r>
              <a:rPr lang="en-US" altLang="zh-CN" dirty="0" err="1"/>
              <a:t>checkInterest</a:t>
            </a:r>
            <a:r>
              <a:rPr lang="en-US" altLang="zh-CN" dirty="0"/>
              <a:t>()) 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        return </a:t>
            </a:r>
            <a:r>
              <a:rPr lang="en-US" altLang="zh-CN" dirty="0"/>
              <a:t>true;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} </a:t>
            </a:r>
            <a:r>
              <a:rPr lang="en-US" altLang="zh-CN" dirty="0"/>
              <a:t>else{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        return </a:t>
            </a:r>
            <a:r>
              <a:rPr lang="en-US" altLang="zh-CN" dirty="0"/>
              <a:t>false;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smtClean="0"/>
              <a:t>}</a:t>
            </a:r>
            <a:endParaRPr lang="zh-CN" altLang="zh-CN" dirty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}</a:t>
            </a:r>
          </a:p>
          <a:p>
            <a:r>
              <a:rPr lang="en-US" altLang="zh-CN" sz="1900" dirty="0" smtClean="0"/>
              <a:t>&lt;/</a:t>
            </a:r>
            <a:r>
              <a:rPr lang="en-US" altLang="zh-CN" sz="1900" dirty="0"/>
              <a:t>script&gt;</a:t>
            </a:r>
            <a:endParaRPr lang="zh-CN" altLang="zh-CN" sz="1900" dirty="0"/>
          </a:p>
        </p:txBody>
      </p:sp>
    </p:spTree>
    <p:extLst>
      <p:ext uri="{BB962C8B-B14F-4D97-AF65-F5344CB8AC3E}">
        <p14:creationId xmlns:p14="http://schemas.microsoft.com/office/powerpoint/2010/main" val="321804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39657" cy="5076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实现表单</a:t>
            </a:r>
            <a:r>
              <a:rPr lang="zh-CN" altLang="en-US" sz="3000" dirty="0" smtClean="0"/>
              <a:t>验证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6</a:t>
            </a:r>
            <a:r>
              <a:rPr lang="zh-CN" altLang="en-US" sz="2600" dirty="0" smtClean="0"/>
              <a:t>）表单提交前的验证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在表单上添加</a:t>
            </a:r>
            <a:r>
              <a:rPr lang="en-US" altLang="zh-CN" dirty="0" err="1" smtClean="0"/>
              <a:t>onsubmit</a:t>
            </a:r>
            <a:r>
              <a:rPr lang="zh-CN" altLang="en-US" dirty="0" smtClean="0"/>
              <a:t>属性，提交表单前调用</a:t>
            </a:r>
            <a:r>
              <a:rPr lang="en-US" altLang="zh-CN" dirty="0" err="1" smtClean="0"/>
              <a:t>checkAll</a:t>
            </a:r>
            <a:r>
              <a:rPr lang="en-US" altLang="zh-CN" dirty="0" smtClean="0"/>
              <a:t>()</a:t>
            </a:r>
            <a:r>
              <a:rPr lang="zh-CN" altLang="en-US" dirty="0" smtClean="0"/>
              <a:t>函数</a:t>
            </a:r>
            <a:r>
              <a:rPr lang="zh-CN" altLang="zh-CN" dirty="0" smtClean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62275" y="3226200"/>
            <a:ext cx="8505855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&lt;div id="register"&gt;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&lt;</a:t>
            </a:r>
            <a:r>
              <a:rPr lang="en-US" altLang="zh-CN" sz="2000" dirty="0"/>
              <a:t>h2&gt;</a:t>
            </a:r>
            <a:r>
              <a:rPr lang="zh-CN" altLang="zh-CN" sz="2000" dirty="0"/>
              <a:t>用户注册</a:t>
            </a:r>
            <a:r>
              <a:rPr lang="en-US" altLang="zh-CN" sz="2000" dirty="0"/>
              <a:t>&lt;/h2&gt;</a:t>
            </a:r>
            <a:endParaRPr lang="zh-CN" altLang="zh-CN" sz="2000" dirty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&lt;</a:t>
            </a:r>
            <a:r>
              <a:rPr lang="en-US" altLang="zh-CN" sz="2000" dirty="0"/>
              <a:t>form action="ok.html" method="get" </a:t>
            </a:r>
            <a:r>
              <a:rPr lang="en-US" altLang="zh-CN" sz="2000" dirty="0" err="1"/>
              <a:t>onsubmit</a:t>
            </a:r>
            <a:r>
              <a:rPr lang="en-US" altLang="zh-CN" sz="2000" dirty="0"/>
              <a:t>="return </a:t>
            </a:r>
            <a:r>
              <a:rPr lang="en-US" altLang="zh-CN" sz="2000" dirty="0" err="1"/>
              <a:t>checkAll</a:t>
            </a:r>
            <a:r>
              <a:rPr lang="en-US" altLang="zh-CN" sz="2000" dirty="0"/>
              <a:t>();"&gt;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……</a:t>
            </a:r>
            <a:endParaRPr lang="zh-CN" altLang="zh-CN" sz="2000" dirty="0"/>
          </a:p>
          <a:p>
            <a:r>
              <a:rPr lang="en-US" altLang="zh-CN" sz="2000" dirty="0" smtClean="0"/>
              <a:t>        &lt;/</a:t>
            </a:r>
            <a:r>
              <a:rPr lang="en-US" altLang="zh-CN" sz="2000" dirty="0"/>
              <a:t>form&gt;</a:t>
            </a:r>
            <a:endParaRPr lang="zh-CN" altLang="zh-CN" sz="2000" dirty="0"/>
          </a:p>
          <a:p>
            <a:r>
              <a:rPr lang="en-US" altLang="zh-CN" sz="2000" dirty="0"/>
              <a:t>&lt;/div&gt;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68886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9965915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每个表单元素的验证使用独立函数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通过事件调用函数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smtClean="0"/>
              <a:t>正则表达式用于</a:t>
            </a:r>
            <a:r>
              <a:rPr lang="zh-CN" altLang="en-US" sz="3000" dirty="0" smtClean="0"/>
              <a:t>描述字符串的匹配模式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err="1"/>
              <a:t>o</a:t>
            </a:r>
            <a:r>
              <a:rPr lang="en-US" altLang="zh-CN" sz="3000" dirty="0" err="1" smtClean="0"/>
              <a:t>nsubmit</a:t>
            </a:r>
            <a:r>
              <a:rPr lang="zh-CN" altLang="en-US" sz="3000" dirty="0" smtClean="0"/>
              <a:t>事件用于提交表单前对表单元素进行统一验证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7945387" cy="30759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本案例中，对密码框的验证分两步进行：先验证长度是否小于</a:t>
            </a:r>
            <a:r>
              <a:rPr lang="en-US" altLang="zh-CN" dirty="0" smtClean="0"/>
              <a:t>8</a:t>
            </a:r>
            <a:r>
              <a:rPr lang="zh-CN" altLang="en-US" dirty="0"/>
              <a:t>；</a:t>
            </a:r>
            <a:r>
              <a:rPr lang="zh-CN" altLang="en-US" dirty="0" smtClean="0"/>
              <a:t>再使用正则表达式验证字符串模式。请问，如果只使用正则表达式一次完成长度和模式的验证，应该如何修改代码？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535" y="1365141"/>
            <a:ext cx="1852613" cy="4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2574</TotalTime>
  <Words>1291</Words>
  <Application>Microsoft Office PowerPoint</Application>
  <PresentationFormat>宽屏</PresentationFormat>
  <Paragraphs>250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等线</vt:lpstr>
      <vt:lpstr>等线 Light</vt:lpstr>
      <vt:lpstr>华文行楷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表单数据验证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87</cp:revision>
  <dcterms:created xsi:type="dcterms:W3CDTF">2020-04-27T05:20:13Z</dcterms:created>
  <dcterms:modified xsi:type="dcterms:W3CDTF">2020-09-18T14:35:18Z</dcterms:modified>
</cp:coreProperties>
</file>
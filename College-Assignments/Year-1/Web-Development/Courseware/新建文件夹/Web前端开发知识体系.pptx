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Microsoft YaHei"/>
              </a:defRPr>
            </a:pPr>
            <a:r>
              <a:t>Web前端开发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05E3C"/>
                </a:solidFill>
                <a:latin typeface="Microsoft YaHei"/>
              </a:defRPr>
            </a:pPr>
            <a:r>
              <a:t>知识体系全景图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HTML + CSS + JavaScript  -  从基础到进阶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HTML 基础 - 网页的骨架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CSS 基础 - 网页的化妆师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CSS 盒子模型 - 理解网页空间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CSS 布局实战 - 搭建页面框架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657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JavaScript 基础 - 让网页动起来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DOM 操作 - 用JS控制网页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E3C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特效实战 - 综合应用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943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9BB"/>
                </a:solidFill>
                <a:latin typeface="Microsoft YaHei"/>
              </a:defRPr>
            </a:pPr>
            <a:r>
              <a:t>计算机科学专业 - 系统化学习 - 化抽象为形象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309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88AA"/>
                </a:solidFill>
                <a:latin typeface="Microsoft YaHei"/>
              </a:defRPr>
            </a:pPr>
            <a:r>
              <a:t>共 82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173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HTML 基础 - 网页的骨架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标签结构、文本、列表、表格、图片、表单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574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CSS 基础 - 网页的化妆师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317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选择器、文字样式、背景、边框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724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6974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CSS 盒子模型 - 理解网页空间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9718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盒子模型、display、浮动、定位、排版原则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9184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649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3756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CSS 布局实战 - 搭建页面框架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11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图文混排、导航条、表单样式、多栏布局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3192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050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9776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JavaScript 基础 - 让网页动起来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51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变量、数据类型、运算符、条件循环、函数、数组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7200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45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6177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DOM 操作 - 用JS控制网页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8920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DOM树、获取元素、操作内容样式、事件处理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12080"/>
            <a:ext cx="548640" cy="5029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852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2578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特效实战 - 综合应用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321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定时器、字符串、日期、图像切换、表单验证、正则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第一模块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HTML 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网页的骨架 - 用标签搭建网页结构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3/82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1.1 什么是HTML？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HTML (HyperText Markup Language) 超文本标记语言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人话解释：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HTML 就像是"搭积木"，用各种标签把文字、图片、链接等元素组合成网页。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它只负责"内容的结构"，不负责"好看不好看"（那是CSS的事）。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核心概念：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标签(tag)：用尖括号包裹的关键词，如 &lt;h1&gt;、&lt;p&gt;、&lt;div&gt;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元素(element)：从开始标签到结束标签的所有代码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属性(attribute)：在开始标签中提供额外信息，如 class="title"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&lt;!DOCTYPE html&gt;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&lt;html&gt;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&lt;head&gt;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&lt;title&gt;网页标题&lt;/title&gt;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&lt;/head&gt;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&lt;body&gt;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&lt;h1&gt;我是一级标题&lt;/h1&gt;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&lt;p&gt;我是一个段落。&lt;/p&gt;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&lt;/body&gt;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1.2 常用文本标签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标题标签 &lt;h1&gt; ~ &lt;h6&gt;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h1 到 h6，数字越大字号越小，h1 一个页面最好只用一次（SEO 友好）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段落标签 &lt;p&gt;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定义文本段落，浏览器会自动在段落前后添加间距，块级元素，独占一行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文本内标签 &lt;span&gt;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行内元素，不破坏原有布局，用于给文本中的部分文字单独加样式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换行标签 &lt;br&gt;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强制换行但不产生新段落（单标签，没有闭合标签）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&lt;h1&gt;Web前端开发&lt;/h1&gt;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&lt;h2&gt;CSS入门&lt;/h2&gt;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&lt;p&gt;这是一个段落文本。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&lt;span style="color:red"&gt;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重点内容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&lt;/span&gt;在这里。&lt;/p&gt;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&lt;p&gt;第一行&lt;br&gt;第二行&lt;/p&gt;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1.3 列表 - 信息的层次化表达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三种列表，各有用途：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1. 无序列表 &lt;ul&gt; + &lt;li&gt;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每个列表项前有圆点符号，适合并列关系的项目 (ul=Unordered List)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2. 有序列表 &lt;ol&gt; + &lt;li&gt;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每个列表项前有数字编号，适合有顺序的步骤 (ol=Ordered List)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3. 自定义列表 &lt;dl&gt; + &lt;dt&gt; + &lt;dd&gt;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术语+解释的结构，适合名词释义、FAQ等场景 (dl=Definition List)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无序列表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&lt;ul&gt;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&lt;li&gt;HTML&lt;/li&gt;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&lt;li&gt;CSS&lt;/li&gt;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&lt;li&gt;JavaScript&lt;/li&gt;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&lt;/ul&gt;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有序列表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&lt;ol&gt;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&lt;li&gt;打开编辑器&lt;/li&gt;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&lt;li&gt;编写代码&lt;/li&gt;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&lt;li&gt;浏览器预览&lt;/li&gt;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&lt;/ol&gt;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自定义列表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&lt;dl&gt;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&lt;dt&gt;HTML&lt;/dt&gt;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&lt;dd&gt;网页的结构语言&lt;/dd&gt;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&lt;/dl&gt;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1.4 表格 - 结构化数据展示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表格结构（从外到内）：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&lt;table&gt; - 定义整个表格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&lt;caption&gt; - 表格标题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&lt;tr&gt; - 表格行 (Table Row)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&lt;th&gt; - 表头单元格 (Table Header)，默认加粗居中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&lt;td&gt; - 数据单元格 (Table Data)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单元格合并：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colspan="2" -&gt; 水平合并2列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rowspan="2"  -&gt; 垂直合并2行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人话：就像 Excel，&lt;tr&gt;是一行，&lt;td&gt;是一格，合并就是"合并单元格"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&lt;table&gt;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&lt;tr&gt;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&lt;th&gt;姓名&lt;/th&gt;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&lt;th&gt;成绩&lt;/th&gt;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&lt;/tr&gt;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&lt;tr&gt;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&lt;td&gt;张三&lt;/td&gt;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&lt;td&gt;95&lt;/td&gt;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&lt;/tr&gt;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&lt;tr&gt;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&lt;td colspan="2"&gt;合计&lt;/td&gt;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&lt;/tr&gt;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&lt;/table&gt;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1.5 表单 - 与用户交互的桥梁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&lt;form&gt; - 表单容器，action 指定提交地址，method 指定 GET/POST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常用表单控件：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&lt;input type="text"&gt;        - 单行文本框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&lt;input type="password"&gt;    - 密码框（输入内容被隐藏）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&lt;input type="radio"&gt;       - 单选按钮（同name为一组）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&lt;input type="checkbox"&gt;    - 复选框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&lt;select&gt; + &lt;option&gt;        - 下拉选择框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&lt;textarea&gt;                  - 多行文本域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&lt;input type="submit"&gt;      - 提交按钮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&lt;label&gt;：关联文字与控件，点击文字也能聚焦到输入框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&lt;form action="login.php" method="post"&gt;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&lt;label&gt;用户名：&lt;/label&gt;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&lt;input type="text" name="user"&gt;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&lt;label&gt;密码：&lt;/label&gt;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&lt;input type="password" name="pwd"&gt;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&lt;input type="radio" name="sex"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   value="男"&gt;男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&lt;input type="radio" name="sex"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   value="女"&gt;女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&lt;input type="submit" value="提交"&gt;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&lt;/form&gt;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1.6 div 与 span - 网页的"容器"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&lt;div&gt; - 块级容器 (Division)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本身没有任何默认样式，是最纯粹的"容器"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独占一行，宽度默认100%，可以嵌套任何元素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1A3C6E"/>
                </a:solidFill>
                <a:latin typeface="Microsoft YaHei"/>
              </a:defRPr>
            </a:pPr>
            <a:r>
              <a:t>&lt;span&gt; - 行内容器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不换行，只在文本流中占据内容宽度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用来给文本中的特定部分加样式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人话：div 像一个大盒子，装一整块区域；span 像一个小标签，贴在一个词上。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&lt;div id="header"&gt;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&lt;h1&gt;网站标题&lt;/h1&gt;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&lt;/div&gt;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&lt;div id="content"&gt;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&lt;p&gt;正文内容...&lt;/p&gt;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&lt;/div&gt;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span 用法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&lt;p&gt;今天天气&lt;span style="color:red"&gt;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非常热&lt;/span&gt;。&lt;/p&gt;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1.7 图片 &lt;img&gt; 与 超链接 &lt;a&gt;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&lt;img&gt; - 图片标签（单标签，无需闭合）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src(路径) / alt(替代文本) / width / height / title(悬停文字)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路径：相对路径(src="img/photo.jpg") vs 绝对路径(src="https://...")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&lt;a&gt; - 锚标签 (Anchor)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href：目标地址（URL/锚点#id/邮件mailto:）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target：_self(当前窗口) / _blank(新窗口)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人话：img 在网页上"挖洞"嵌图片；&lt;a&gt; 是网页中的"任意门"。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图片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&lt;img src="photo.jpg"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alt="一张风景照"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width="400"&gt;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超链接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&lt;a href="https://github.com"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target="_blank"&gt;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访问GitHub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&lt;/a&gt;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页面内跳转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&lt;a href="#footer"&gt;跳到底部&lt;/a&gt;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模块一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【HTML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文档结构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&lt;!DOCTYPE html&gt; -&gt; &lt;html&gt; -&gt; &lt;head&gt; + &lt;body&gt;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文本标签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h1~h6, p, span, br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列表标签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ul&gt;li（无序）, ol&gt;li（有序）, dl&gt;dt+dd（自定义）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表格标签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table, tr, th, td, colspan, rowspan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表单标签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form, input, select, textarea, label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容器+媒体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div（块级容器）, span（行内容器）, img,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第二模块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CSS 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网页的化妆师 - 给HTML穿上漂亮的衣服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12/82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13/82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2.1 什么是CSS？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CSS (Cascading Style Sheets) 层叠样式表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人话：HTML是"毛坯房"（只有结构），CSS是"装修"（颜色、大小、位置等）。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CSS的三种引入方式：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行内样式：在标签的 style 属性里直接写（优先级最高，但不推荐大量使用）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内部样式表：在 &lt;head&gt; 里的 &lt;style&gt; 标签中写（适合单页面）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外部样式表：用 &lt;link&gt; 引入外部 .css 文件（推荐，便于维护和复用）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层叠(Cascading)的含义：多个样式规则作用于同一元素时，按优先级（特指度&gt;顺序&gt;继承）决定最终效果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行内样式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&lt;p style="color:red;"&gt;红色文字&lt;/p&gt;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内部样式表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&lt;style&gt;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 { color: blue;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&lt;/style&gt;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外部样式表（推荐）--&gt;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&lt;link rel="stylesheet"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href="style.css"&gt;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2.2 CSS 选择器体系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选择器就是 CSS 的"瞄准镜"，决定了样式作用于哪些元素。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基础选择器（5种）：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* (通配符)            -&gt; 选中所有元素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p, div, h1 (标签)     -&gt; 选中所有该类型的标签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.class (类选择器)     -&gt; 选中所有 class="xxx" 的元素（最常用！）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#id (ID选择器)        -&gt; 选中唯一 id 的元素（一个页面id不能重复）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复合选择器：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后代选择器  div p     -&gt; div内部所有p（空格隔开）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交集选择器  p.ita     -&gt; 同时是p且class为ita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并集选择器  h1, h2    -&gt; h1和h2一起选中（逗号隔开）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754880" cy="47548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828800"/>
            <a:ext cx="1005840" cy="10058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187451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774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通配符</a:t>
            </a:r>
            <a:br/>
            <a:r>
              <a:t>选所有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828800"/>
            <a:ext cx="1005840" cy="10058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1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div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标签</a:t>
            </a:r>
            <a:br/>
            <a:r>
              <a:t>选类型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828800"/>
            <a:ext cx="1005840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7451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.class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3774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类选择器</a:t>
            </a:r>
            <a:br/>
            <a:r>
              <a:t>.class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59" y="1828800"/>
            <a:ext cx="1005840" cy="10058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9" y="1874519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#id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9" y="23774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ID选择器</a:t>
            </a:r>
            <a:br/>
            <a:r>
              <a:t>#unique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004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后代选择器: div p</a:t>
            </a:r>
            <a:br/>
            <a:r>
              <a:t>交集选择器: p.ita</a:t>
            </a:r>
            <a:br/>
            <a:r>
              <a:t>并集选择器: h1, h2, h3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15/82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2.3 文字样式 - 让文字更好看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font-family   字体族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可以设置多个备选字体，浏览器从前往后找第一个可用的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衬线体(Serif)：笔画有装饰，适合印刷；非衬线体(Sans-serif)：笔画简洁，适合屏幕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font-size     字号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绝对单位：px（像素）、pt（磅）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相对单位：em（相对父元素）、rem（相对根元素）、%（百分比）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font-weight   粗细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normal(400)、bold(700)，也可以用100-900的数字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font-style / text-decoration / line-height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italic斜体 / underline下划线 / line-height行高（1.2~1.5倍字号最舒适）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p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font-family: "Microsoft YaHei",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         Arial, sans-serif;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font-size: 16px;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font-weight: bold;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font-style: italic;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text-decoration: underline;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line-height: 1.6;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color: #333333;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16/82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2.4 背景与颜色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color - 文字颜色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三种写法：颜色名(red)、十六进制(#FF0000)、RGB(rgb(255,0,0))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background-color - 背景颜色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background-image - 背景图片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url("图片路径") 引入背景图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background-repeat - 背景重复方式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repeat(平铺) / no-repeat / repeat-x / repeat-y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background-position - 背景位置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关键词: left/center/right top/center/bottom 或精确值: 10px 20px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简写 background：把所有属性合并到一行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div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background-color: #f0f0f0;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background-image: url("bg.jpg");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background-repeat: no-repeat;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background-position: center top;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简写形式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div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background: #f0f0f0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url("bg.jpg") no-repeat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center top;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17/82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2.5 边框 - 元素的"相框"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border 三要素：width（宽度）、style（样式）、color（颜色）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border-style 常用值：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solid(实线) / dashed(虚线) / dotted(点线) / double(双线) / none(无)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四个方向可分别设置：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border-top / border-right / border-bottom / border-left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人话：border 就像相框，可以给元素的四个边分别设置样式。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统一设置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.box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border: 2px solid #333;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分别设置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.header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border-top: 3px solid red;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border-bottom: 1px dashed #ccc;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完整写法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.card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border-width: 1px;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border-style: solid;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border-color: #e0e0e0;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18/82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模块二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【CSS 基础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CSS 引入方式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行内style / &lt;style&gt;内部 / &lt;link&gt;外部（推荐）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选择器体系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*(通配符) / 标签 / .class(最常用) / #id(唯一) / 后代/交集/并集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文字样式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font-family, font-size, font-weight, font-style, text-decoration, line-height, color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背景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background-color, background-image, background-repeat, background-position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边框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border: width style color;  四个方向可独立设置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第三模块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CSS 盒子模型与排版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理解网页空间 - 每个元素都是一个盒子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19/82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20/82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3.1 盒子模型 - CSS最核心的概念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在CSS眼中，网页上每一个HTML元素都是一个矩形盒子！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盒子模型四层结构（从内到外）：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content   - 内容区域（文字、图片等实际内容）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padding   - 内边距（内容到边框之间的距离，在边框内部）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border    - 边框（盒子的边界线）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margin    - 外边距（这个盒子与其他盒子之间的距离，在边框外部）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人话：content是房间里的家具，padding是家具到墙壁的空隙，border是墙壁，margin是房子与邻居的间距。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1">
                <a:solidFill>
                  <a:srgbClr val="1E1E1E"/>
                </a:solidFill>
                <a:latin typeface="Microsoft YaHei"/>
              </a:defRPr>
            </a:pPr>
            <a:r>
              <a:t>重要公式：实际宽度 = width + 左右padding + 左右border + 左右margin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21/82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3.2 盒子模型图解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margin（外边距）- 盒子与盒子之间的距离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四个方向：margin-top/right/bottom/left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简写：margin: 上 右 下 左 (顺时针)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padding（内边距）- 内容与边框之间的距离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规则和margin一样，四个方向+简写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与margin的区别：padding在边框里面，有背景色；margin在边框外面，透明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margin的"塌陷"现象：上下相邻的两个块级元素，垂直margin会合并（取最大值），而不是相加。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754880" cy="47548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3840480" cy="3840480"/>
          </a:xfrm>
          <a:prstGeom prst="rect">
            <a:avLst/>
          </a:prstGeom>
          <a:solidFill>
            <a:srgbClr val="FFE0CC"/>
          </a:solidFill>
          <a:ln w="12700">
            <a:solidFill>
              <a:srgbClr val="DD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691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icrosoft YaHei"/>
              </a:defRPr>
            </a:pPr>
            <a:r>
              <a:t>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103120"/>
            <a:ext cx="2926080" cy="2926080"/>
          </a:xfrm>
          <a:prstGeom prst="rect">
            <a:avLst/>
          </a:prstGeom>
          <a:solidFill>
            <a:srgbClr val="FFF0CC"/>
          </a:solidFill>
          <a:ln w="38100">
            <a:solidFill>
              <a:srgbClr val="CC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icrosoft YaHei"/>
              </a:defRPr>
            </a:pPr>
            <a:r>
              <a:t>border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2011680" cy="2011680"/>
          </a:xfrm>
          <a:prstGeom prst="rect">
            <a:avLst/>
          </a:prstGeom>
          <a:solidFill>
            <a:srgbClr val="CCEECC"/>
          </a:solidFill>
          <a:ln w="12700">
            <a:solidFill>
              <a:srgbClr val="99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606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E1E1E"/>
                </a:solidFill>
                <a:latin typeface="Microsoft YaHei"/>
              </a:defRPr>
            </a:pPr>
            <a:r>
              <a:t>padding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2926080"/>
            <a:ext cx="1463040" cy="1828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3832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内容区域</a:t>
            </a:r>
            <a:br/>
            <a:r>
              <a:t>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2194560"/>
            <a:ext cx="731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外</a:t>
            </a:r>
            <a:br/>
            <a:r>
              <a:t>边</a:t>
            </a:r>
            <a:br/>
            <a:r>
              <a:t>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22/82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3.3 display 属性 - 元素的"性格"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display 决定了元素以什么"身份"参与页面布局：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block（块级元素）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独占一行，宽度默认100%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可以设置宽高、margin、padding全部生效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代表：div, p, h1~h6, ul, li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inline（行内元素）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不换行，和其他行内元素排在一行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宽度由内容决定，设置width/height无效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代表：span, a, em, strong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inline-block（行内块元素）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不换行（像inline）+ 可以设宽高（像block）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常用于：导航按钮、卡片列表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让一个行内元素可以设置宽高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a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inline-block;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width: 100px;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height: 40px;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text-align: center;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隐藏元素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.hidden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none;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23/82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3.4 浮动 float - 让元素"漂"起来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float 让元素脱离正常的文档流，向左或向右"漂浮"，其他内容会环绕它。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float 取值：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left - 左浮动 / right - 右浮动 / none - 不浮动（默认）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浮动的影响：父元素"塌陷"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浮动元素脱离文档流，父元素无法感知其高度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清除浮动 clear：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clear: left/right/both - 不允许该侧有浮动元素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人话：float就像把一张图片从队伍里抽出来贴到左边，文字自动绕着它排。但它爸爸（父元素）就不知道它多高了。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img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float: left;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margin-right: 15px;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清除浮动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.clearfix::after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content: "";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block;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clear: both;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24/82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3.5 position 定位 - 精确控制元素位置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position 属性让元素脱离正常流，按指定方式定位：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static（默认）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正常文档流，top/right/bottom/left无效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relative（相对定位）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相对于自己原本的位置偏移，仍占原来的空间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absolute（绝对定位）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相对于最近的已定位祖先元素定位，完全脱离文档流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fixed（固定定位）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相对于浏览器窗口定位，滚动页面位置不变（常用于固定导航、回到顶部）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"父相子绝"经典模式：父relative + 子absolute = 子元素在父元素内部精确定位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.parent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relative;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.child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absolute;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top: 10px;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right: 20px;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固定导航栏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.nav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fixed;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top: 0;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width: 100%;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25/82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3.6 z-index - 元素的"楼层"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z-index 控制定位元素的堆叠顺序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z-index 值越大，元素越靠上（离用户越近）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只对 position: relative/absolute/fixed 的元素生效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人话：网页像一层层玻璃板叠在一起，z-index就是"第几层"。数字大的在上层，会遮挡下层。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.layer1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absolute;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z-index: 1; /* 下层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.layer2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absolute;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z-index: 10; /* 上层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弹窗遮罩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.overlay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fixed;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z-index: 999;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26/82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3.7 文字排版的设计原则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好的网页文字排版有三大标准：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1. 良好的易读性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字体：正文&gt;14px用非衬线体(微软雅黑/Arial)，&lt;14px用衬线体(宋体/Times)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对齐：正文左对齐最易读（人眼从左往右，右侧不齐反而帮助换行）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行宽：不要太宽，否则眼睛容易串行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行距：字号的1.2~1.5倍，字号越小行距越大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颜色：正文用柔和深灰(#333)，少用纯黑/纯红/纯蓝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2. 合理的位置和比例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标题-&gt;单独放置，正文-&gt;比例最大，说明文字-&gt;出现在图片/表单周围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6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E05E3C"/>
                </a:solidFill>
                <a:latin typeface="Microsoft YaHei"/>
              </a:defRPr>
            </a:pPr>
            <a:r>
              <a:t>3. 合理的信息结构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围绕主题组织内容，借助标题表现层次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27/82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3.8 文字排版的禁忌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不要使用超过3种以上字体（太多字体让页面杂乱）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不要使用过大的字号（正文过大影响阅读效率）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不要使用不停闪烁的文字（影响阅读且可能引发癫痫）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标题和正文在字号、颜色上应有所区分（否则用户无法快速扫描）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核心原则：排版规则是大方向，不是死板条框。需要根据设备、主题、用户偏好灵活调整。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28/82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模块三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【CSS 盒子模型与排版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盒子模型四层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content -&gt; padding -&gt; border -&gt; margin（从内到外）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display三种值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block(独占行) / inline(行内) / inline-block(行内+可设宽高)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float浮动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left/right - 从左或右浮动，其他内容环绕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position定位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static(默认)/relative(相对)/absolute(绝对)/fixed(固定)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z-index层级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值越大越靠前，只对非static定位有效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排版原则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易读性（字体/字号/对齐/行宽/行距/颜色）+ 信息层次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第四模块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CSS 布局实战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搭建网页框架 - 从图文混排到多栏布局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29/82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30/82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4.1 图文混排 - 图片和文字的组合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三种经典混排模式：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图左文右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图片 float:left，文字自然环绕在右侧，给图片设 margin-right 留间距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图上文下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图片和文字都 display:block，各占一行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双层浮动复杂混排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外层div+内层多个浮动元素，用 position + z-index 管理层级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语义化标签：&lt;figure&gt; + &lt;figcaption&gt; 用于图文组合，比纯div更有语义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图左文右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img { float: left;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margin-right: 15px;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图上文下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.figure { text-align: center;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.figure img { display: block;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       margin: 0 auto;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&lt;figure&gt;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&lt;img src="a.jpg"&gt;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&lt;figcaption&gt;图片说明&lt;/figcaption&gt;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&lt;/figure&gt;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31/82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4.2 网页布局类型概览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常见的网页布局方式：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单列布局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内容居中，宽度固定或百分比。最简单，适合文章页、阅读页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两栏布局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左侧栏（导航/目录）+ 右侧主内容区。实现：float / flex / grid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三栏布局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左栏+中间主内容+右栏。经典：圣杯布局、双飞翼布局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框架布局 (iframe)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在一个页面内嵌入另一个页面，现在多被AJAX/组件化替代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32/82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4.3 两栏布局 - 侧边栏 + 主体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典型场景：左侧导航菜单 + 右侧内容区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方法1：float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侧栏 float:left + 固定宽度，主内容区 margin-left 等于侧栏宽度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方法2：flex（推荐）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父容器 display:flex，侧栏 flex:0 0 200px（固定），主内容 flex:1（自动填充）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方法1: float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.sidebar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float: left; width: 200px;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.main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margin-left: 220px;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方法2: flex（推荐）*/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.container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flex;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.sidebar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flex: 0 0 200px;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.main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flex: 1;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33/82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4.4 三栏布局 - 圣杯与双飞翼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经典三栏布局：左右固定宽度，中间自适应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圣杯布局 (Holy Grail)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三栏都左浮动，中间100%，左右用负margin拉到同行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双飞翼布局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中间栏内部嵌套div设margin，不需要相对定位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现代方案：Flexbox一行搞定！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Flexbox 三栏布局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.container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flex;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.left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flex: 0 0 200px;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order: 1;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.center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flex: 1;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order: 2;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.right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flex: 0 0 200px;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order: 3;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34/82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4.5 导航条设计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导航条是网站的"路标"，好的导航要做到：清晰、一致、可用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水平导航条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用 ul&gt;li 结构，li 设 display:inline-block 或 float:left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鼠标悬停效果用 :hover 伪类改变背景色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垂直导航条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li 自然垂直排列（块级），适合侧边栏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复杂导航条（下拉菜单）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一级菜单内嵌套二级菜单的ul，默认display:none，hover时display:block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用"父相子绝"让二级菜单定位在一级菜单下方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水平导航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.nav li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inline-block;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.nav a:hover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background: #333;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color: #fff;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/* 下拉菜单 */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.dropdown { position: relative;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.dropdown ul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none;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position: absolute;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top: 100%;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.dropdown:hover ul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display: block;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35/82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4.6 表单样式设计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表单设计原则：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1. label与input对齐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左对齐标签：扫描快；顶对齐标签：视线移动少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2. 视觉分组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用 &lt;fieldset&gt;+&lt;legend&gt; 对表单分区，相关字段放一起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3. 状态反馈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聚焦高亮边框，验证失败显示红色提示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4. 按钮样式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提交按钮用醒目颜色，重置用低调颜色，按钮至少44x44px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input[type="text"],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input[type="password"]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width: 250px;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padding: 8px;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border: 1px solid #ccc;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border-radius: 4px;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input:focus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border-color: #4A90D9;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outline: none;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box-shadow: 0 0 4px rgba(74,144,217,.4);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36/82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4.7 表格样式设计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表格美化要点：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border-collapse: collapse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合并相邻单元格边框，让表格显示为单线边框（必须加在table上）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隔行变色（斑马纹）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用 :nth-child(even) / :nth-child(odd) 交替设置背景色，提升可读性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表头样式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th 设置深色背景+白色文字，与数据行形成对比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table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width: 100%;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border-collapse: collapse;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th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background: #1A3C6E;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color: white; padding: 10px;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td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padding: 8px;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border-bottom: 1px solid #ddd;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tr:nth-child(even)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background: #f9f9f9;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tr:hover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background: #e8f0fe;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37/82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模块四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【CSS 布局实战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图文混排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图左文右(float) / 图上文下(block) / 双层浮动(position)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两栏布局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float+margin / flex（推荐）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三栏布局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圣杯/双飞翼（经典）/ flex（现代，最简单）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导航条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水平(inline-block) / 垂直 / 下拉菜单(父相子绝+hover)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表单样式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标签对齐 / 分组(fieldset) / 聚焦高亮 / 按钮样式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表格样式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border-collapse / 斑马纹 / hover效果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第五模块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JavaScript 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让网页活起来 - 从静态页面到动态交互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38/82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39/82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5.1 什么是JavaScript？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JavaScript（简称JS）是一门轻量级的脚本语言，主要用于网页的动态交互。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人话：HTML是骨架，CSS是皮肤，JS是肌肉和神经系统-让网页能响应用户操作。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JS能做什么？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响应用户点击、输入、滚动等操作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动态修改网页内容和样式（操作DOM）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表单验证、数据计算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定时器、动画效果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JS代码写在哪里？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HTML内嵌：&lt;script&gt;代码&lt;/script&gt;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外部文件：&lt;script src="app.js"&gt;&lt;/script&gt;（推荐）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内部JS 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&lt;script&gt;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alert("Hello!");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&lt;/script&gt;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&lt;!-- 外部JS（推荐）--&gt;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&lt;script src="app.js"&gt;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&lt;/script&gt;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app.js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console.log("外部文件加载");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40/82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5.2 变量与数据类型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变量就是给数据起一个名字，方便反复使用。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声明变量三种方式：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var    - 老式声明，函数作用域，有"变量提升"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let    - 现代声明，块作用域，不能重复声明（推荐！）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const  - 声明常量，一旦赋值不能修改（更安全！）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基本数据类型：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string(字符串), number(数字), boolean(true/false), undefined, null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人话：变量就像贴有标签的盒子，"let name='小明'"就是把"小明"放进贴了"name"标签的盒子里。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name = "小明";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const PI = 3.14;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数据类型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str = "hello";     // 字符串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num = 42;          // 数字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isOk = true;       // 布尔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x;                 // undefined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y = null;          // null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typeof str;  // "string"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41/82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5.3 运算符与条件语句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算术：+ - * / %(取余) ++(自增) --(自减)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比较（返回布尔值）：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== (等于，含类型转换)  vs  === (严格等于，不转换 - 推荐！)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!= / !== / &gt; / &lt; / &gt;= / &lt;=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逻辑：&amp;&amp;(与) ||(或) !(非)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"2"==2-&gt;true（类型被转了），"2"===2-&gt;false（类型不同）-所以用===！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条件语句：if/else if/else - 做判断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switch(变量){case值1:...break; default:...} - 多个固定值判断，记得break！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score = 85;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if (score &gt;= 90)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console.log("优秀");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 else if (score &gt;= 60)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console.log("及格");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 else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console.log("不及格");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switch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switch(day)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case 1: console.log("周一"); break;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default: console.log("其他");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42/82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5.4 循环 - 重复执行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for 循环（最常用）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for(初始化; 条件; 步进){ 循环体 } - 三要素：起点、终点、每步怎么走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while 循环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while(条件){ 循环体 } - 只要条件为true就执行，小心死循环！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for...in - 遍历对象的属性名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break 和 continue：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break - 立即跳出整个循环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continue - 跳过当前这轮，继续下一轮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for 循环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for (let i = 0; i &lt; 5; i++)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console.log(i);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输出: 0, 1, 2, 3, 4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while 循环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count = 0;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while (count &lt; 3)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console.log(count);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count++;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遍历数组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arr = ["a","b","c"];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for (let i = 0; i &lt; arr.length; i++)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console.log(arr[i]);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43/82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5.5 数组 - 一组数据的集合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数组(Array)是存放多个数据的有序列表，用方括号[]表示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创建：let arr = [1,2,3]; let names = ["张三","李四"];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访问元素（索引从0开始！）：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arr[0]-&gt;第1个, arr[2]-&gt;第3个, arr.length-&gt;数组长度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常用数组方法：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push(元素)   - 末尾添加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pop()       - 删除最后一个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splice(索引,删除数,插入...) - 增删改一体化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fruits = ["苹果","香蕉"];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fruits.push("橘子");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["苹果","香蕉","橘子"]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fruits.pop();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["苹果","香蕉"]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splice增删改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fruits.splice(1, 1, "西瓜");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从索引1删1个,插入"西瓜"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遍历数组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for (let i = 0;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i &lt; fruits.length; i++)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console.log(fruits[i]);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44/82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5.6 函数 - 可复用的代码块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函数(Function)是一段可以重复使用的代码，可以接收输入参数并返回结果。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函数的作用：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避免重复写相同的代码（DRY原则）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- 把复杂逻辑拆成小模块，便于理解和维护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函数三要素：function 函数名(参数){ 函数体; return 返回值; }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形参vs实参：定义时的参数叫"形参"（占位符），调用时传的叫"实参"（实际数据）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函数定义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add(a, b)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return a + b;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函数调用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result = add(3, 5);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console.log(result); // 8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无参数函数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sayHello()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alert("你好!");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事件处理函数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button.onclick = function()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alert("被点击了!");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45/82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模块五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【JavaScript 基础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JS简介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轻量级脚本语言，让网页动态交互。&lt;script&gt;或外部.js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变量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var / let(推荐) / const(常量)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数据类型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string, number, boolean, undefined, null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运算符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算术/赋值/比较(===严格等于)/逻辑(&amp;&amp;,||,!)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条件语句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if/else if/else, switch/case(记得break)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循环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for(最常用), while, for...in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数组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[1,2,3], 索引从0开始, push/pop/splice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函数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function 名(参数){ return 值; } 可复用代码块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第六模块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DOM 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用JavaScript操控网页 - 连接JS与HTML的桥梁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46/82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47/82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6.1 什么是DOM？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DOM (Document Object Model) 文档对象模型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人话：浏览器把HTML解析成一棵"节点树"，JS通过这棵树来读取和修改网页的任何内容。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DOM树的结构：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document（根）-&gt; html -&gt; head(title, meta) + body(h1, p, div)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每个标签、属性、文本都是DOM树上的一个"节点"（Node）。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JS通过DOM可以做三件事：找元素 / 改内容 / 加事件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48/82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6.2 DOM树 - 网页元素的家族关系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DOM节点之间的关系：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父节点(parentNode)   - 直接上级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子节点(childNodes)   - 直接下级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兄弟节点(siblings)   - 同一父级下的同级节点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A3C6E"/>
                </a:solidFill>
                <a:latin typeface="Microsoft YaHei"/>
              </a:defRPr>
            </a:pPr>
            <a:r>
              <a:t>核心理解：JS通过DOM可以对网页做三件事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1. 找元素 - 获取页面上你想要的任意元素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2. 改内容 - 修改元素的文字、属性、样式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3. 加事件 - 响应用户操作（点击、输入等）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754880" cy="4754880"/>
          </a:xfrm>
          <a:prstGeom prst="rect">
            <a:avLst/>
          </a:prstGeom>
          <a:solidFill>
            <a:srgbClr val="D6E4F0"/>
          </a:solidFill>
          <a:ln w="1270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914400" cy="3200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document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286000"/>
            <a:ext cx="914400" cy="320040"/>
          </a:xfrm>
          <a:prstGeom prst="rect">
            <a:avLst/>
          </a:prstGeom>
          <a:solidFill>
            <a:srgbClr val="2C6B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743200"/>
            <a:ext cx="914400" cy="32004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743200"/>
            <a:ext cx="914400" cy="320040"/>
          </a:xfrm>
          <a:prstGeom prst="rect">
            <a:avLst/>
          </a:prstGeom>
          <a:solidFill>
            <a:srgbClr val="3A7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body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200400"/>
            <a:ext cx="9144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title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3200400"/>
            <a:ext cx="9144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200400"/>
            <a:ext cx="9144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h1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3200400"/>
            <a:ext cx="914400" cy="320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657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1E"/>
                </a:solidFill>
                <a:latin typeface="Microsoft YaHei"/>
              </a:defRPr>
            </a:pPr>
            <a:r>
              <a:t>每个HTML标签都是树上的一个节点</a:t>
            </a:r>
            <a:br/>
            <a:r>
              <a:t>document是根, html是树干</a:t>
            </a:r>
            <a:br/>
            <a:r>
              <a:t>body是主分支, p/h1是叶子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49/82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6.3 获取元素 - 四种"抓取"方法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1. document.getElementById("id")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通过id获取单个元素（id在页面中唯一），返回单个元素或null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2. document.getElementsByTagName("标签名")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通过标签名获取一组元素，返回HTMLCollection（实时更新）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3. document.getElementsByName("name")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通过name属性获取一组元素（常用于表单控件）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4. document.querySelector("CSS选择器") - 最灵活！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querySelector -&gt; 第一个匹配 / querySelectorAll -&gt; 所有匹配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参数是CSS选择器语法，如 "#id", ".class", "div p"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1. ID获取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title = document.getElementById("title");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2. 标签名获取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ps = document.getElementsByTagName("p");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3. name获取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radios = document.getElementsByName("sex");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4. CSS选择器(推荐)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firstP = document.querySelector("p");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allLinks = document.querySelectorAll("a.link");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50/82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6.4 操作元素内容和属性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修改元素内容：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element.innerHTML - 获取/设置HTML内容（会解析标签）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element.innerText - 获取/设置纯文本（不解析标签）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修改元素属性：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element.src - 图片路径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element.href - 链接地址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element.value - 表单元素值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element.checked - 复选框/单选选中状态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element.className - class属性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修改内容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div = document.getElementById("box");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div.innerHTML = "&lt;strong&gt;粗体文字&lt;/strong&gt;";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修改属性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img = document.getElementById("photo");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img.src = "new-photo.jpg";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link = document.getElementById("home");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link.href = "/index.html";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获取表单值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inputVal = document.getElementById("username").value;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51/82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6.5 操作样式和事件处理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修改样式：element.style.CSS属性 = "值"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注意CSS属性名转驼峰：background-color-&gt;backgroundColor, font-size-&gt;fontSize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  更好做法：用classList.add/remove/toggle切换预定义CSS类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事件(Event)：用户在网页上的每个动作都可以被JS监听并响应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onclick(单击) / onmouseover(移入) / onmouseout(移出)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onfocus(获焦) / onblur(失焦) / onkeydown(按键)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onload(页面加载完) / onsubmit(表单提交) / onchange(值改变)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事件绑定方式：HTML属性 / JS属性 / addEventListener(推荐)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修改样式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box = document.getElementById("box");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box.style.backgroundColor = "red";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box.style.fontSize = "20px";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推荐：切换class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box.classList.add("active");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box.classList.remove("hidden");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box.classList.toggle("dark");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事件绑定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btn.onclick = function()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alert("被点击!");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52/82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模块六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【DOM 操作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DOM概念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浏览器把HTML解析成节点树，JS通过DOM API操作这棵树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获取元素（4种方法）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getElementById / getElementsByTagName / getElementsByName / querySelector(推荐)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操作内容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innerHTML(含标签) / innerText(纯文本) / value(表单值)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操作属性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src, href, className, checked 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操作样式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element.style.属性(驼峰命名), classList.add/remove/toggle(推荐)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事件处理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onclick, onmouseover/out, onfocus/blur, onload, onsubmit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5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第七模块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特效实战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BBDD"/>
                </a:solidFill>
                <a:latin typeface="Microsoft YaHei"/>
              </a:defRPr>
            </a:pPr>
            <a:r>
              <a:t>综合应用 - 定时器、动画、表单验证、正则表达式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88AA"/>
                </a:solidFill>
                <a:latin typeface="Microsoft YaHei"/>
              </a:defRPr>
            </a:pPr>
            <a:r>
              <a:t>53/82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54/82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7.1 定时器 - 控制代码执行时间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JavaScript提供两种定时器，由Window对象提供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setInterval - 周期性执行（重复）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语法：setInterval(函数, 毫秒)，每隔指定毫秒重复调用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返回值是ID，可用clearInterval(ID)停止。典型用途：时钟、轮播图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setTimeout - 延时执行（只一次）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语法：setTimeout(函数, 毫秒)，等待后执行一次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用clearTimeout(ID)取消。典型用途：延迟显示、防抖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用完定时器记得清除，否则持续占用资源！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每秒执行一次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timer = setInterval(function()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console.log("滴答");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}, 1000);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5秒后停止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setTimeout(function()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clearInterval(timer);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}, 5000);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延迟3秒弹出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setTimeout(function()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alert("3秒到了!");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}, 3000);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55/82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7.2 打字特效与字符串操作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打字特效原理：每次多显示一个字符，用定时器控制间隔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实现步骤：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1. 准备多条文字存入数组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2. setInterval定时触发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3. 每次用substring(0,n)截取前n个字符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4. n逐次+1，直到显示完毕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5. 清除定时器+setTimeout延时切换下一条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字符串方法：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str.substring(start,end) - 截取start到end-1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str.substr(start,length) - 从start截取length个字符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texts = ["通知1","通知2"];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idx = 0, pos = 0, timer;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typeEffect()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timer = setInterval(() =&gt;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if (pos &lt; texts[idx].length)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pos++;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el.innerHTML =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  texts[idx].substring(0,pos);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} else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clearInterval(timer);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  setTimeout(nextText,3000);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}, 100);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56/82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7.3 图像切换特效 - 轮播图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轮播图核心功能：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- 自动播放：setInterval定时切换图片，修改大图src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- 鼠标经过缩略图：onmouseover-&gt;清除定时器-&gt;切换-&gt;重启定时器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- 缩略图透明度：当前为1，其他为0.3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- 淡入动画：逐帧增加opacity从0到1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关键点：定时器需要管理好-暂停时清除，恢复时重启，避免冲突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current = 0;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imgs = ["a.jpg","b.jpg"];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thumbs = document.querySelectorAll(".thumb");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gotoImg(n)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current = n;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bigImg.src = imgs[n];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thumbs.forEach((t,i) =&gt;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t.style.opacity = i===n?1:0.3;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});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timer = setInterval(() =&gt;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gotoImg((current+1)%imgs.length);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}, 3000);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57/82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7.4 Date对象 - 处理日期时间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Date对象用于获取和操作日期时间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创建：let now = new Date(); //自动获取当前日期时间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常用方法：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getFullYear() - 年(4位数)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getMonth()    - 月(0-11, 0=1月，需要+1!)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getDate()     - 日(1-31)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getDay()      - 星期几(0-6, 0=周日)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getHours/Minutes/Seconds() - 时/分/秒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动态时钟：函数获取时间-&gt;更新页面-&gt;setTimeout自调用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showTime()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now = new Date();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y = now.getFullYear();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m = now.getMonth()+1;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d = now.getDate();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h = now.getHours();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min = now.getMinutes();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s = now.getSeconds();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el.innerHTML =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`${y}-${m}-${d} ${h}:${min}:${s}`;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setTimeout(showTime, 1000);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58/82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7.5 导航条下拉特效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交互：鼠标移入一级菜单-&gt;显示二级；鼠标移出-&gt;隐藏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HTML：二级菜单div嵌套在一级菜单li里面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CSS：二级菜单默认display:none，"父相子绝"定位（li设relative，二级div设absolute，top:100%）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JS：li绑定onmouseover/out，调用show(n)/hide(n)切换display属性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&lt;li onmouseover="show(0)"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onmouseout="hide(0)"&gt;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一级菜单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&lt;div class="sub"&gt;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&lt;a href="#"&gt;二级菜单1&lt;/a&gt;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&lt;a href="#"&gt;二级菜单2&lt;/a&gt;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&lt;/div&gt;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&lt;/li&gt;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show(n)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subs[n].style.display="block";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hide(n)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subs[n].style.display="none";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59/82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7.6 正则表达式 - 字符串匹配利器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正则表达式(RegExp)用"规则字符串"来描述和匹配文本模式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人话：正则就像"文字版CTRL+F"，但不是搜具体的词，而是搜"满足某种规律"的文本。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常用元字符：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^(开头) $(结尾) \d(数字) \w(字母数字下划线) .(任意字符)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*(0+次) +(1+次) {n}(恰好n次) {n,m}(n~m次)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  [abc](a/b/c之一) [^abc](不是a/b/c)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常用正则在代码示例中列出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创建正则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let reg = /^[0-9A-Za-z]+$/;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测试匹配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reg.test("hello123"); // true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reg.test("hello@#");   // false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// 经典正则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/^[0-9]*$/         // 纯数字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/^[0-9]{6}$/       // 恰好6位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/^1[3-9]\d{9}$/    // 手机号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/^\w+@\w+\.\w+$/   // 简单邮箱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60/82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7.7 表单验证 - 综合实战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1A3C6E"/>
                </a:solidFill>
                <a:latin typeface="Microsoft YaHei"/>
              </a:defRPr>
            </a:pPr>
            <a:r>
              <a:t>表单提交流程：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1. HTML：&lt;form onsubmit="return checkAll()"&gt;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checkAll()返回false-&gt;表单不提交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2. JS：每个字段独立验证函数（checkUser, checkPwd, checkSex...）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checkAll()调用所有验证函数，全部通过才返回true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1E1E1E"/>
                </a:solidFill>
                <a:latin typeface="Microsoft YaHei"/>
              </a:defRPr>
            </a:pPr>
            <a:r>
              <a:t>3. 验证逻辑示例：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用户名：长度&gt;=6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密码：长度&gt;=8 + 正则验证字符类型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   性别/爱好：checked属性检查是否至少选一项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4. 错误提示：用&lt;em&gt;标签显示红色文字，通过时清空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188720"/>
            <a:ext cx="5029200" cy="47548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75488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checkAll()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if (checkUser() &amp;&amp; checkPwd()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&amp;&amp; checkSex() &amp;&amp; checkInterest())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return true;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return false;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function checkUser()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let val = document.getElementById("user").value;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if (val.length &lt; 6) {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showError("长度不能小于6");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  return false;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}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  return true;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0">
                <a:solidFill>
                  <a:srgbClr val="E6DB7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61/82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3C6E"/>
                </a:solidFill>
                <a:latin typeface="Microsoft YaHei"/>
              </a:defRPr>
            </a:pPr>
            <a:r>
              <a:t>模块七 知识总结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41248"/>
            <a:ext cx="109728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【特效实战 核心知识清单】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000" b="0">
                <a:solidFill>
                  <a:srgbClr val="1E1E1E"/>
                </a:solidFill>
                <a:latin typeface="Microsoft YaHei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定时器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setInterval(重复)/setTimeout(延时一次)，用完记得clear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文本特效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substring/substr截取+定时器=打字效果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图像切换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定时器自动播放+鼠标事件手动切换+opacity淡入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Date对象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getFullYear/getMonth(注意+1)/getDay... +setTimeout自调用=动态时钟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导航条特效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父相子绝+display切换+onmouseover/out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正则表达式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元字符(^$\d\w.*+[]{}) + test()匹配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E05E3C"/>
                </a:solidFill>
                <a:latin typeface="Microsoft YaHei"/>
              </a:defRPr>
            </a:pPr>
            <a:r>
              <a:t>- 表单验证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 b="0">
                <a:solidFill>
                  <a:srgbClr val="1E1E1E"/>
                </a:solidFill>
                <a:latin typeface="Microsoft YaHei"/>
              </a:defRPr>
            </a:pPr>
            <a:r>
              <a:t>  独立验证函数+onsubmit="return checkAll()"+checked检查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总结：学习路线图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1828800" cy="36576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359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搭骨架-标签、列表、表格、表单、div/span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16352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620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 CSS基础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8950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上颜色-选择器、文字、背景、边框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346704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3924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 盒子模型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1985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懂空间-content/padding/border/margin、display、浮动、定位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877056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92277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 布局实战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9502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盖房子-图文混排、导航条、表单样式、多栏布局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407408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4531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5 JS基础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学语言-变量、数据类型、运算符、条件、循环、数组、函数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937760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6 DOM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109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连起来-获取元素、操作内容/样式、事件处理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468112"/>
            <a:ext cx="457200" cy="50292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5138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7 特效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54126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DDEE"/>
                </a:solidFill>
                <a:latin typeface="Microsoft YaHei"/>
              </a:defRPr>
            </a:pPr>
            <a:r>
              <a:t>飞起来-定时器、动画、日期、正则、表单验证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DD"/>
                </a:solidFill>
                <a:latin typeface="Microsoft YaHei"/>
              </a:defRPr>
            </a:pPr>
            <a:r>
              <a:t>学习建议：跟着这个路线，每个模块写代码+看效果，不要光看不练。前端开发最重要的是"动手"！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583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63/82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Web前端技术栈全景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41148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HTML (结构层)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标签语义化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文档结构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表单与表格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无障碍访问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27680" y="1371600"/>
            <a:ext cx="3474720" cy="4114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CSS (表现层)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0" y="22860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选择器与优先级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盒子模型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Flex/Grid布局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动画与过渡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响应式设计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0" y="1371600"/>
            <a:ext cx="3474720" cy="4114800"/>
          </a:xfrm>
          <a:prstGeom prst="rect">
            <a:avLst/>
          </a:prstGeom>
          <a:solidFill>
            <a:srgbClr val="E0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JavaScript (行为层)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0" y="228600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ES6+语法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DOM/BOM操作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事件机制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异步编程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- AJAX/Fetch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Microsoft YaHei"/>
              </a:defRPr>
            </a:pPr>
            <a:r>
              <a:t>三层分离原则：HTML管结构，CSS管样式，JS管行为。各司其职，代码才清晰好维护。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
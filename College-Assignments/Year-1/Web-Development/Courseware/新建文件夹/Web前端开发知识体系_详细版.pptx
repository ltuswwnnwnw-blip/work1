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Web前端开发知识体系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从HTML入门到JS特效实战 — 一份让CS大学生看懂的前端笔记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2743200" cy="457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专业术语 + 人话解释 + 代码示例 + 网页效果图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4572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600" b="0">
                <a:solidFill>
                  <a:srgbClr val="666666"/>
                </a:solidFill>
              </a:defRPr>
            </a:pPr>
            <a:r>
              <a:t>整理自课程PPT  |  CS大学生学习版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八大模块学习路线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HTML基础与超链接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网页的骨架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0584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005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29000" y="114300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23444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3736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HTML表格与多媒体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数据展示与媒体元素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00584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005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3640" y="114300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23444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3736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CSS基础与选择器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网页的皮肤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0584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005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98280" y="114300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123444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73736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CSS布局与定位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19456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元素的摆放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100584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566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79476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29768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网页布局实战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5488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完整页面搭建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6616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566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29000" y="370332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379476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29768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JavaScript基础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75488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页面的肌肉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56616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3566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3640" y="370332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79476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29768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DOM与事件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75488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用JS控制元素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56616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52560" y="3566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98280" y="3703320"/>
            <a:ext cx="457200" cy="45720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379476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E05E3C"/>
                </a:solidFill>
              </a:defRPr>
            </a:pPr>
            <a:r>
              <a:t>模块八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297680"/>
            <a:ext cx="2286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网页特效实战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754880"/>
            <a:ext cx="2286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综合应用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3566160"/>
            <a:ext cx="2560320" cy="2194560"/>
          </a:xfrm>
          <a:prstGeom prst="rect">
            <a:avLst/>
          </a:prstGeom>
          <a:noFill/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HTML基础与超链接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网页骨架 — 标签、文字排版、超链接入门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什么是好的网页文字排版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1. 文字有良好的易读性（可读性）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字体、字号、对齐方式、行宽、行距、颜色多方面综合考虑，让文字给人清晰的视觉印象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2. 文字的位置和比例设计合理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标题单独放置（居中或左对齐）；正文占比较大；说明性文字出现在图片和表单元素四周，比例较小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3. 文字的信息结构合理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围绕网页主题和浏览者需求组织内容；借助各级标题清楚表现层次；合理的空间设计提升层次感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人话：文字排版 = 让人看得清楚 + 重点突出 + 结构分明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字体、字号、对齐、行宽、行距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字体选择规则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正文&gt;14px用非衬线体（微软雅黑/Arial）；正文&lt;14px用衬线体（宋体/Times New Roman）；标题用非衬线体，饱满醒目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字号体系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关键字法：xx-small ~ xx-large；绝对数值：px（像素）、pt（磅）；相对数值：em和%，1em=父元素font-size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对齐方式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正文通常左对齐（利用右侧不对齐帮助眼睛换行）；标题对齐可多样化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行宽与行距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行宽：注意阅读区划分，避免过长导致疲劳和串行；行距：字号的1.2~1.5倍，字号越小行距应越大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人话：正文字号&gt;=14px用微软雅黑；行距=字号的1.5倍最舒服；一行不超过40个汉字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颜色与其他注意事项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字体颜色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正文用柔和颜色（深灰色），尽量少用纯黑/纯红/纯蓝（饱和度高的纯色刺激眼睛）；标题可用亮眼颜色提高关注度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背景颜色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背景与字体对比度要足够大；低亮度浅色背景（浅灰、淡绿）+ 深色文字，提高阅读舒适度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其他要点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不超过3种字体；不要用太大的字；不要使用不停闪烁的文字；标题与正文在字号、颜色上应有所区别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人话：正文用深灰不用纯黑；背景用浅灰不用纯白；字体别超过3种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HTML标签实战 — 标题、段落、span、br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715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&lt;h1&gt;~&lt;h6&gt; 标题标签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715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定义六级标题，h1最大h6最小，具有默认字号和加粗效果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715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&lt;p&gt; 段落标签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715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定义文本段落，默认有上下外边距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55064"/>
            <a:ext cx="5715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&lt;span&gt; 行内容器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19656"/>
            <a:ext cx="5715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嵌套在其他元素中，对部分文字设置独立样式而不破坏布局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93976"/>
            <a:ext cx="5715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&lt;br&gt; 换行标签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5715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在文本中强制换行，不创建新段落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777240"/>
            <a:ext cx="2743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822960"/>
            <a:ext cx="25603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CDC71"/>
                </a:solidFill>
              </a:defRPr>
            </a:pPr>
            <a:r>
              <a:t>&lt;!DOCTYPE html&gt;</a:t>
            </a:r>
            <a:br/>
            <a:r>
              <a:t>&lt;html&gt;</a:t>
            </a:r>
            <a:br/>
            <a:r>
              <a:t>&lt;head&gt;&lt;title&gt;演示&lt;/title&gt;&lt;/head&gt;</a:t>
            </a:r>
            <a:br/>
            <a:r>
              <a:t>&lt;body&gt;</a:t>
            </a:r>
            <a:br/>
            <a:r>
              <a:t>&lt;h1&gt;一级标题(最大)&lt;/h1&gt;</a:t>
            </a:r>
            <a:br/>
            <a:r>
              <a:t>&lt;h2&gt;二级标题&lt;/h2&gt;</a:t>
            </a:r>
            <a:br/>
            <a:r>
              <a:t>&lt;p&gt;这是&lt;span style="color:red"&gt;红字&lt;/span&gt;段落。&lt;br&gt;换行后文本。&lt;/p&gt;</a:t>
            </a:r>
            <a:br/>
            <a:r>
              <a:t>&lt;/body&gt;</a:t>
            </a:r>
            <a:br/>
            <a:r>
              <a:t>&lt;/html&gt;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777240"/>
            <a:ext cx="260604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0003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4633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9264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005840"/>
            <a:ext cx="260604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777240"/>
            <a:ext cx="260604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143000"/>
            <a:ext cx="2331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1A365D"/>
                </a:solidFill>
              </a:defRPr>
            </a:pPr>
            <a:r>
              <a:t>一级标题(最大)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1554480"/>
            <a:ext cx="2331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二级标题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874520"/>
            <a:ext cx="23317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这是红字段落。</a:t>
            </a:r>
            <a:br/>
            <a:r>
              <a:t>换行后文本。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效果图示意：标题有层次区分，span内文字独立样式，br实现段内换行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HTML列表与表格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数据展示 — 三种列表、表格标签、div区块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HTML列表标签与div/br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&lt;ul&gt;+&lt;li&gt; 无序列表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使用粗体圆点作为列表符号，适合不需要排序的内容列表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&lt;ol&gt;+&lt;li&gt; 有序列表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使用数字作为列表符号，适合需要顺序关系的步骤或排行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&lt;dl&gt;+&lt;dt&gt;+&lt;dd&gt; 自定义列表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dt定义列表项，dd定义列表项的解释说明，适合术语/名词解释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&lt;div&gt; 区块标签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没有任何默认样式，用于划分网页区域，便于CSS样式设计 —— 网页中的'集装箱'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&lt;br&gt; 换行标签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插入换行符，开始新的一行而不是新段落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人话：ul=带圆点的列表；ol=带序号的列表；dl=带解释的列表；div=分区的容器盒子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HTML表格标签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&lt;table&gt; 表格容器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定义整个表格，内部嵌套标题、表头、主体、表尾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&lt;caption&gt; 表格标题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定义表格的标题文字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&lt;tr&gt; &lt;th&gt; &lt;td&gt;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tr=表格行；th=表头单元格(默认加粗居中)；td=数据单元格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colspan / rowspan 合并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colspan=水平合并列；rowspan=垂直合并行 —— 用于创建不规则表格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人话：table是表格外壳，tr是一行，td是一个格子；合并格子用colspan(横并)和rowspan(竖并)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HTML列表代码演示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三种列表对比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ul=无序圆点 / ol=有序数字 / dl=自定义解释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div+span 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div划分区块，span标记行内特殊文字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743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5603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CDC71"/>
                </a:solidFill>
              </a:defRPr>
            </a:pPr>
            <a:r>
              <a:t>&lt;ul&gt;</a:t>
            </a:r>
            <a:br/>
            <a:r>
              <a:t>&lt;li&gt;前端技术&lt;/li&gt;</a:t>
            </a:r>
            <a:br/>
            <a:r>
              <a:t>&lt;li&gt;后端开发&lt;/li&gt;</a:t>
            </a:r>
            <a:br/>
            <a:r>
              <a:t>&lt;/ul&gt;</a:t>
            </a:r>
            <a:br/>
            <a:r>
              <a:t>&lt;ol&gt;</a:t>
            </a:r>
            <a:br/>
            <a:r>
              <a:t>&lt;li&gt;第一步：学HTML&lt;/li&gt;</a:t>
            </a:r>
            <a:br/>
            <a:r>
              <a:t>&lt;li&gt;第二步：学CSS&lt;/li&gt;</a:t>
            </a:r>
            <a:br/>
            <a:r>
              <a:t>&lt;/ol&gt;</a:t>
            </a:r>
            <a:br/>
            <a:r>
              <a:t>&lt;dl&gt;&lt;dt&gt;HTML&lt;/dt&gt;&lt;dd&gt;骨架&lt;/dd&gt;&lt;/dl&gt;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777240"/>
            <a:ext cx="260604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0003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1005840"/>
            <a:ext cx="260604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777240"/>
            <a:ext cx="260604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143000"/>
            <a:ext cx="2606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前端技术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325880"/>
            <a:ext cx="2606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后端开发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645920"/>
            <a:ext cx="2606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1. 第一步：学HTML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828800"/>
            <a:ext cx="2606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2. 第二步：学CSS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103120"/>
            <a:ext cx="2606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HTML - 网页骨架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效果图示意：有序/无序/自定义列表代码对应的页面效果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HTML表格代码演示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table/tr/td/th 构建表格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table=表格, tr=行, td=数据格, th=表头格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colspan/rowspan 合并格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colspan横并列, rowspan竖并行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74320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5603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9CDC71"/>
                </a:solidFill>
              </a:defRPr>
            </a:pPr>
            <a:r>
              <a:t>&lt;table border="1"&gt;</a:t>
            </a:r>
            <a:br/>
            <a:r>
              <a:t>&lt;caption&gt;班委名单&lt;/caption&gt;</a:t>
            </a:r>
            <a:br/>
            <a:r>
              <a:t>&lt;tr&gt;&lt;th&gt;职务&lt;/th&gt;&lt;th&gt;姓名&lt;/th&gt;&lt;/tr&gt;</a:t>
            </a:r>
            <a:br/>
            <a:r>
              <a:t>&lt;tr&gt;&lt;td&gt;班长&lt;/td&gt;&lt;td&gt;张三&lt;/td&gt;&lt;/tr&gt;</a:t>
            </a:r>
            <a:br/>
            <a:r>
              <a:t>&lt;tr&gt;&lt;td&gt;学委&lt;/td&gt;&lt;td&gt;李四&lt;/td&gt;&lt;/tr&gt;</a:t>
            </a:r>
            <a:br/>
            <a:r>
              <a:t>&lt;/table&gt;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777240"/>
            <a:ext cx="260604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0003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1005840"/>
            <a:ext cx="260604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777240"/>
            <a:ext cx="260604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14300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班委名单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646920" y="1463040"/>
          <a:ext cx="19659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职务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班长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张三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学委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李四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效果图示意：表格标签对应的页面外观，含标题/表头/数据行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CSS基础与选择器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网页皮肤 — 选择器、文字样式、盒子模型、背景边框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CSS选择器大全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标签选择器 p {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选中所有同名标签，如 p{color:red} 让所有段落变红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id选择器 #name {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选中唯一id元素，同一页面id必须唯一 —— 一人一证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class选择器 .name {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选中所有同名class元素 —— 一个班级多人都能加入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后代选择器 A B {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空格分隔，选中A内部所有B子元素，不限层级深度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交集选择器 AB {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无分隔符，选中同时满足两个选择器的元素，如 p.ita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并集选择器 A,B {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逗号分隔，同时选中多个选择器，批量设置样式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1071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1071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通配符选择器 * {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7530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选中所有元素，常配合后代选择器使用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人话：选择器=CSS的瞄准镜；id=身份证(唯一)，class=班级(可共享)，后代=家族后代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文字样式属性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font-family 字体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设置字体，可按优先级指定多个，如 font-family: '微软雅黑', Arial, sans-serif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font-size 字号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支持关键字(xx-small~xx-large)、绝对数值(px/pt)、相对数值(em/%)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font-weight 粗细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normal(400)/bold(700)/bolder/lighter 或 100~900数值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font-style 风格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normal标准 / italic斜体 / oblique倾斜体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line-height 行高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像素/百分比/数值均可，如 line-height:1.5 表示1.5倍行高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text-decoration 修饰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underline下划线 / overline上划线 / line-through删除线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人话：font-family选字体；font-size定大小；line-height控行距（1.5倍最舒服）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盒子模型 + 背景 + 边框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盒子模型 (Box Model)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每个HTML元素都是矩形盒子：content(内容) + padding(内边距) + border(边框) + margin(外边距)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margin 外边距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元素与元素之间的距离，四个方向可分别设置或统一设置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padding 内边距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元素内容与边框之间的距离，四个方向可分别设置或统一设置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border 边框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border-width粗细 + border-style样式 + border-color颜色（可缩写）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background 背景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background-color背景色/background-image背景图/background-repeat重复/background-position位置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border-collapse 表格边框合并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应用于table，将双线边框合并为单线：border-collapse:collapse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人话：盒子模型就像快递盒——content是物品，padding是泡沫，border是纸箱，margin是盒与盒的间距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CSS选择器与样式代码演示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选择器组合使用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标签/id/class/后代/交集/并集/通配符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文字与盒子样式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font-*/text-*/background/border/padding/margin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7432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56032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9CDC71"/>
                </a:solidFill>
              </a:defRPr>
            </a:pPr>
            <a:r>
              <a:t>&lt;style&gt;</a:t>
            </a:r>
            <a:br/>
            <a:r>
              <a:t>body{font-family:"微软雅黑";}</a:t>
            </a:r>
            <a:br/>
            <a:r>
              <a:t>.title{font-size:24px;color:#1A365D;</a:t>
            </a:r>
            <a:br/>
            <a:r>
              <a:t>  border-bottom:3px solid #E05E3C;}</a:t>
            </a:r>
            <a:br/>
            <a:r>
              <a:t>.box{width:300px;padding:20px;</a:t>
            </a:r>
            <a:br/>
            <a:r>
              <a:t>  margin:10px;background:#F5F5F5;</a:t>
            </a:r>
            <a:br/>
            <a:r>
              <a:t>  border:1px solid #CCC;}</a:t>
            </a:r>
            <a:br/>
            <a:r>
              <a:t>.box p{line-height:1.5;color:#333;}</a:t>
            </a:r>
            <a:br/>
            <a:r>
              <a:t>&lt;/style&gt;</a:t>
            </a:r>
            <a:br/>
            <a:r>
              <a:t>&lt;div class="box"&gt;</a:t>
            </a:r>
            <a:br/>
            <a:r>
              <a:t>&lt;h2 class="title"&gt;标题文字&lt;/h2&gt;</a:t>
            </a:r>
            <a:br/>
            <a:r>
              <a:t>&lt;p&gt;段落内容文字&lt;/p&gt;</a:t>
            </a:r>
            <a:br/>
            <a:r>
              <a:t>&lt;/div&gt;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777240"/>
            <a:ext cx="260604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0003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1005840"/>
            <a:ext cx="260604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777240"/>
            <a:ext cx="260604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097280"/>
            <a:ext cx="2331720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280160"/>
            <a:ext cx="1828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标题文字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1645920"/>
            <a:ext cx="182880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783080"/>
            <a:ext cx="1828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段落内容文字，行高1.5倍，深灰色正文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效果图示意：CSS样式作用后的盒子效果（背景/边框/内边距/外边距/字体/行高）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CSS布局与定位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元素摆放 — 浮动布局、定位机制、两栏三栏布局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浮动布局 (Float)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float 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float:left/right 让元素浮动，脱离正常文档流，文字环绕效果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clear 清除浮动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clear:left/right/both 禁止元素旁边有浮动元素，防止布局错乱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浮动引起的'高度塌陷'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父元素中的子元素全部浮动后，父元素高度变为0 —— 需要用clearfix解决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overflow:hidden 清除浮动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给父元素加 overflow:hidden，触发BFC，自动包含浮动子元素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人话：float就像把元素'拔'起来飘到左边或右边；clear就是告诉元素'别让浮动元素到我旁边来'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定位机制 (Position)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static 静态定位（默认）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元素按正常文档流排列，top/left/right/bottom无效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relative 相对定位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相对于元素原来的位置偏移，仍保留原空间 —— '挪位置但占坑'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absolute 绝对定位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相对于最近的已定位祖先元素定位，脱离文档流 —— '跳出队列'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fixed 固定定位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相对于浏览器窗口定位，滚动页面时位置不变 —— '固定在屏幕上'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父相子绝 经典用法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父元素设position:relative，子元素设position:absolute，子元素以父元素为参照定位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人话：static=老老实实排队；relative=能挪但坑还在；absolute=跳到别人身上；fixed=粘在屏幕上不动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浮动+定位代码演示 — 两栏布局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两栏浮动布局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左侧固定宽度 float:left，右侧自适应 margin-left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父相子绝定位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父级相对定位，子级绝对定位控制位置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7432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56032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9CDC71"/>
                </a:solidFill>
              </a:defRPr>
            </a:pPr>
            <a:r>
              <a:t>.sidebar{float:left;</a:t>
            </a:r>
            <a:br/>
            <a:r>
              <a:t>  width:200px;background:#1A365D;</a:t>
            </a:r>
            <a:br/>
            <a:r>
              <a:t>  color:#fff;min-height:300px;}</a:t>
            </a:r>
            <a:br/>
            <a:r>
              <a:t>.main{margin-left:210px;</a:t>
            </a:r>
            <a:br/>
            <a:r>
              <a:t>  padding:15px;background:#F5F5F5;</a:t>
            </a:r>
            <a:br/>
            <a:r>
              <a:t>  min-height:300px;}</a:t>
            </a:r>
            <a:br/>
            <a:r>
              <a:t>.clearfix::after{content:"";</a:t>
            </a:r>
            <a:br/>
            <a:r>
              <a:t>  display:block;clear:both;}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777240"/>
            <a:ext cx="260604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0003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1005840"/>
            <a:ext cx="260604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777240"/>
            <a:ext cx="260604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097280"/>
            <a:ext cx="731520" cy="2286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234440"/>
            <a:ext cx="548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侧栏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1097280"/>
            <a:ext cx="155448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0" y="1234440"/>
            <a:ext cx="1371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主内容区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效果图示意：左侧固定宽度侧栏(float) + 右侧自适应主内容区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网页布局实战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综合应用 — 导航条、表单设计、两栏/三栏/框架布局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导航条设计要点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水平导航条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使用无序列表ul&gt;li&gt;a，设置li为float:left或display:inline-block实现横向排列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垂直导航条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ul&gt;li&gt;a 保持默认的块级特性，设置宽度后形成垂直菜单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复杂导航条（下拉菜单）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li内部嵌套二级菜单div，使用'父相子绝'定位二级菜单，JS控制显示/隐藏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导航条样式重点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去除列表符号list-style:none；a标签设为块级或行内块便于点击；悬停hover变色效果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人话：导航=列表+链接+CSS；水平导航把li横着排，下拉菜单用父相子绝控制二级菜单位置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表单设计与页面布局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表单核心标签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&lt;form&gt;表单容器(含action提交地址、method提交方式)；&lt;input&gt;输入框(type=text/password/radio/checkbox/submit/reset)；&lt;select&gt;下拉；&lt;textarea&gt;多行文本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表单布局技巧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用span包裹标签文字设置统一宽度(text-align:right)，表单元素左边对齐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两栏布局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左栏固定宽度，右栏自适应(利用float或flex) —— 适合博客、后台管理系统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三栏布局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左右固定宽度，中间自适应 —— 经典'双飞翼/圣杯'布局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框架布局 iframe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在页面中嵌入另一个页面，适合将公共头部/底部/导航独立出来复用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人话：form是表单外壳，input是各种输入框，用span对齐标签；两栏=左窄右宽，三栏=左右窄中间宽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导航条代码演示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ul&gt;li&gt;a 列表结构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导航条的本质是有样式的链接列表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hover伪类 + 过渡效果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鼠标悬停改变背景色和文字颜色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74320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56032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9CDC71"/>
                </a:solidFill>
              </a:defRPr>
            </a:pPr>
            <a:r>
              <a:t>&lt;ul class="nav"&gt;</a:t>
            </a:r>
            <a:br/>
            <a:r>
              <a:t>&lt;li&gt;&lt;a href="#"&gt;首页&lt;/a&gt;&lt;/li&gt;</a:t>
            </a:r>
            <a:br/>
            <a:r>
              <a:t>&lt;li&gt;&lt;a href="#"&gt;课程&lt;/a&gt;&lt;/li&gt;</a:t>
            </a:r>
            <a:br/>
            <a:r>
              <a:t>&lt;li&gt;&lt;a href="#"&gt;关于&lt;/a&gt;&lt;/li&gt;</a:t>
            </a:r>
            <a:br/>
            <a:r>
              <a:t>&lt;/ul&gt;</a:t>
            </a:r>
            <a:br/>
            <a:r>
              <a:t>&lt;style&gt;</a:t>
            </a:r>
            <a:br/>
            <a:r>
              <a:t>.nav{list-style:none;background:#1A365D;}</a:t>
            </a:r>
            <a:br/>
            <a:r>
              <a:t>.nav li{display:inline-block;}</a:t>
            </a:r>
            <a:br/>
            <a:r>
              <a:t>.nav a{display:block;padding:10px 20px;</a:t>
            </a:r>
            <a:br/>
            <a:r>
              <a:t>color:#fff;text-decoration:none;}</a:t>
            </a:r>
            <a:br/>
            <a:r>
              <a:t>.nav a:hover{background:#E05E3C;}</a:t>
            </a:r>
            <a:br/>
            <a:r>
              <a:t>&lt;/style&gt;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777240"/>
            <a:ext cx="260604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0003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633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0" y="1005840"/>
            <a:ext cx="260604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777240"/>
            <a:ext cx="260604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64040" y="1097280"/>
            <a:ext cx="2331720" cy="3657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1161288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首页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161288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课程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1161288"/>
            <a:ext cx="502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关于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78308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导航条hover效果：</a:t>
            </a:r>
            <a:br/>
            <a:r>
              <a:t>鼠标悬停时背景变为</a:t>
            </a:r>
            <a:br/>
            <a:r>
              <a:t>珊瑚色(#E05E3C)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效果图示意：水平导航条外观，hover时背景变色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表单代码演示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form + input 表单结构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form定义表单范围，input通过type属性控制输入类型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表单布局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用span包裹标签文字，设置统一宽度实现对齐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926080" cy="2560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7432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9CDC71"/>
                </a:solidFill>
              </a:defRPr>
            </a:pPr>
            <a:r>
              <a:t>&lt;form action="login.php" method="post"&gt;</a:t>
            </a:r>
            <a:br/>
            <a:r>
              <a:t>&lt;label&gt;用户名：&lt;input type="text" name="user"&gt;&lt;/label&gt;&lt;br&gt;</a:t>
            </a:r>
            <a:br/>
            <a:r>
              <a:t>&lt;label&gt;密码：&lt;input type="password" name="pwd"&gt;&lt;/label&gt;&lt;br&gt;</a:t>
            </a:r>
            <a:br/>
            <a:r>
              <a:t>性别：&lt;input type="radio" name="sex" value="男"&gt;男</a:t>
            </a:r>
            <a:br/>
            <a:r>
              <a:t>&lt;input type="radio" name="sex" value="女"&gt;女&lt;br&gt;</a:t>
            </a:r>
            <a:br/>
            <a:r>
              <a:t>&lt;input type="submit" value="登录"&gt;</a:t>
            </a:r>
            <a:br/>
            <a:r>
              <a:t>&lt;/form&gt;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777240"/>
            <a:ext cx="242316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921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1005840"/>
            <a:ext cx="242316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777240"/>
            <a:ext cx="242316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234440"/>
            <a:ext cx="2011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用户名：______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1554480"/>
            <a:ext cx="2011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密码：______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874520"/>
            <a:ext cx="2011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性别：o 男  o 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2331720"/>
            <a:ext cx="548640" cy="2743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350008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登录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效果图示意：表单外观(文本框/密码框/单选按钮/提交按钮)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JavaScript基础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页面肌肉 — JS语法、变量、运算符、条件、循环、数组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JS概述与三种写法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JavaScript是什么？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运行在浏览器中的脚本语言，让网页'动起来' —— 实现交互效果、动态内容、表单验证等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行内写法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直接把JS代码写在HTML标签的事件属性中，如 &lt;button onclick='alert(1)'&gt; 点击 &lt;/button&gt;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内嵌写法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使用&lt;script&gt;标签写在HTML文件的&lt;head&gt;或&lt;body&gt;中 —— 适合小型项目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外部写法（推荐）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JS代码写在独立的.js文件中，用&lt;script src='xxx.js'&gt;引入 —— 实现结构与行为分离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人话：JS让网页从'静态图片'变成'可交互应用'；推荐外部写法，结构清晰好维护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变量、数据类型与输入输出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变量声明 var / let / const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var:函数作用域(可重复声明，有提升)；let:块级作用域(不可重复声明)；const:声明常量(不可修改) —— 推荐优先用const和let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基本数据类型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number数字、string字符串、boolean布尔(true/false)、undefined未定义、null空值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输入输出方法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prompt('提示')弹出输入框获取用户输入(返回字符串)；alert('内容')弹出警告框；console.log()控制台输出(调试必备)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类型转换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parseInt()转整数；parseFloat()转小数；Number()转数字；String()转字符串；+号拼接字符串时自动转字符串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人话：变量=贴标签的盒子；let声明可变变量，const声明常量；prompt=弹窗问问题，alert=弹窗说结果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JavaScript运算符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运算符类型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运算符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人话解释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算术运算符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 - * / % ++ 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a+b a%b a++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加减乘除取余自增自减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赋值运算符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= += -= *= /=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x+=5 即 x=x+5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把右边的值赋给左边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比较运算符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== === != &gt; &lt; &gt;=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a===b 值和类型都相等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===严格相等(推荐)；==会类型转换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逻辑运算符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&amp;&amp; || !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a&amp;&amp;b 且 a||b 或 !a非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且(全真才真) 或(有真就真) 非(取反)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字符串拼接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'Hello'+'World'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用+号把字符串连在一起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重点：== vs === 区别 — ==只比较值(会类型转换)，===同时比较值和类型(推荐使用===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条件判断 if/else 与 switch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if / else if /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根据不同条件执行不同代码块。if(条件){代码1}else{代码2} —— 条件为true执行if块，否则执行else块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if嵌套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一个if内部可以再写if，实现多层条件判断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switch语句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基于不同值执行不同动作。switch(表达式){case 值1:代码1;break; case 值2:代码2;break; default:默认代码}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if vs switch 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if适合范围判断(&gt; &lt; &gt;=)；switch适合等值匹配(===)，代码更清晰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人话：if/else='如果...就...否则...'；switch='看看是哪个情况，匹配到就执行'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数组 (Array)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数组创建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var arr=[1,2,3] 字面量创建；var arr=new Array(1,2,3) 构造函数创建 —— 推荐字面量方式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数组访问与修改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arr[0]访问第一个元素(索引从0开始)；arr[2]=10修改第三个元素；arr.length获取数组长度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数组遍历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for(var i=0;i&lt;arr.length;i++) 经典for循环遍历；arr.forEach(function(e){}) 方法遍历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常用数组方法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push()末尾添加；pop()末尾删除；shift()首部删除；unshift()首部添加；splice()删除/插入/替换；join()转为字符串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人话：数组=带编号的格子的列表，从0开始编号；length='数组里有多少个元素'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循环 (for / while / do-while)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for 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for(初始化;条件;迭代){循环体} —— 已知循环次数时使用。例如 for(var i=0;i&lt;10;i++){ } 循环10次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while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while(条件){循环体} —— 先判断条件，再执行。条件为true就一直循环，适合未知循环次数的场景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do-while 循环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do{循环体}while(条件) —— 先执行一次循环体，再判断条件。至少执行一次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break 和 continue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break:立即退出整个循环；continue:跳过当前这一轮，进入下一轮循环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人话：for='数着次数做'；while='只要条件对就一直做'；break='不做了全部停'；continue='这一遍跳过做下一遍'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JavaScript代码演示 — 基础语法综合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变量/输入/条件/循环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综合演示：获取输入、判断条件、循环输出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数组操作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创建数组、遍历、方法调用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92608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74320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9CDC71"/>
                </a:solidFill>
              </a:defRPr>
            </a:pPr>
            <a:r>
              <a:t>// 变量与输入</a:t>
            </a:r>
            <a:br/>
            <a:r>
              <a:t>let name = prompt("你叫什么?");</a:t>
            </a:r>
            <a:br/>
            <a:r>
              <a:t>alert("你好, " + name);</a:t>
            </a:r>
            <a:br/>
            <a:br/>
            <a:r>
              <a:t>// 条件判断</a:t>
            </a:r>
            <a:br/>
            <a:r>
              <a:t>let score = 85;</a:t>
            </a:r>
            <a:br/>
            <a:r>
              <a:t>if(score &gt;= 90) {</a:t>
            </a:r>
            <a:br/>
            <a:r>
              <a:t>  console.log("优秀");</a:t>
            </a:r>
            <a:br/>
            <a:r>
              <a:t>} else if(score &gt;= 60) {</a:t>
            </a:r>
            <a:br/>
            <a:r>
              <a:t>  console.log("及格");</a:t>
            </a:r>
            <a:br/>
            <a:r>
              <a:t>} else {</a:t>
            </a:r>
            <a:br/>
            <a:r>
              <a:t>  console.log("不及格");</a:t>
            </a:r>
            <a:br/>
            <a:r>
              <a:t>}</a:t>
            </a:r>
            <a:br/>
            <a:br/>
            <a:r>
              <a:t>// 数组与循环</a:t>
            </a:r>
            <a:br/>
            <a:r>
              <a:t>let arr = ["HTML","CSS","JS"];</a:t>
            </a:r>
            <a:br/>
            <a:r>
              <a:t>for(let i=0; i&lt;arr.length; i++) {</a:t>
            </a:r>
            <a:br/>
            <a:r>
              <a:t>  console.log(arr[i]);</a:t>
            </a:r>
            <a:br/>
            <a:r>
              <a:t>}</a:t>
            </a:r>
            <a:br/>
            <a:r>
              <a:t>arr.push("Vue");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777240"/>
            <a:ext cx="242316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921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1005840"/>
            <a:ext cx="242316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777240"/>
            <a:ext cx="242316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143000"/>
            <a:ext cx="20116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弹窗：你叫什么?</a:t>
            </a:r>
            <a:br/>
            <a:r>
              <a:t>用户输入后→</a:t>
            </a:r>
            <a:br/>
            <a:r>
              <a:t>弹窗：你好, XXX</a:t>
            </a:r>
            <a:br/>
            <a:br/>
            <a:r>
              <a:t>控制台输出：</a:t>
            </a:r>
            <a:br/>
            <a:r>
              <a:t>'及格'</a:t>
            </a:r>
            <a:br/>
            <a:r>
              <a:t>'HTML' 'CSS' 'JS'</a:t>
            </a:r>
            <a:br/>
            <a:r>
              <a:t>数组变为4个元素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效果图示意：prompt弹窗获取输入，if/else判断条件，for循环遍历数组，push添加元素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DOM与事件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用JS操控页面 — 函数、事件、DOM树、元素获取、节点操作、样式控制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函数定义与调用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函数是什么？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把一段可重复使用的代码块包装起来，给个名字，需要时调用 —— 一次定义，多次使用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函数定义方式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function 函数名(参数1,参数2){ ... return 返回值; } —— 参数是输入，return是输出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函数调用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函数名(实参1,实参2) —— 实参会传给函数内部的形参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匿名函数与箭头函数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var fn=function(){} 匿名函数赋值给变量；(a,b)=&gt;a+b 箭头函数(ES6简写)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人话：函数就像'菜谱'——定义好了做法(函数体)，给原料(参数)，出菜品(返回值)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JavaScript常用事件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事件属性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触发时机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典型用途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鼠标点击元素时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按钮点击、图片切换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ondblclick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鼠标双击元素时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双击编辑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onmouseover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鼠标移入元素时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下拉菜单显示、图片高亮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onmouseout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鼠标移出元素时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下拉菜单隐藏、恢复状态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页面/图片加载完成时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页面初始化操作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onchange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表单元素内容改变时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下拉框联动、输入验证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表单提交时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表单数据验证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onfocus / onblur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元素获得/失去焦点时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输入框提示效果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事件=浏览器对用户操作的响应；给元素绑定事件=告诉浏览器'当XX发生时，执行YY代码'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DOM概念与获取元素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DOM是什么？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Document Object Model 文档对象模型。浏览器把HTML文档解析成一棵'节点树'，JS通过DOM API操控这棵树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DOM树结构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document是根节点 → html → head/body → 各级子元素。每个标签、属性、文本都是树上的一个节点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getElementById('id')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通过id获取单个元素 —— 最常用、最快的方法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getElementsByClassName('class')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通过class获取元素集合(类数组)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getElementsByTagName('tag')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通过标签名获取元素集合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getElementsByName('name')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通过name属性获取元素集合(常用于表单元素)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1071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1071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querySelector / querySelectorAll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7530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使用CSS选择器语法选取元素(现代推荐) —— querySelector返回第一个，querySelectorAll返回全部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人话：DOM=浏览器把HTML变成一棵'树'；获取元素=用各种'钩子'把页面中的元素捞出来操作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DOM节点属性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属性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人话解释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parentNode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获取当前节点的父节点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找老爸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childNodes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获取当前节点的所有子节点(含文本节点)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找所有孩子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children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获取当前节点的所有元素子节点(不含文本)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找所有元素孩子(推荐)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firstChild / lastChild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获取第一个/最后一个子节点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老大/老幺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nextSibling / previousSibling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获取下一个/上一个兄弟节点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下一个/上一个兄弟姐妹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nodeName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返回节点名称(大写标签名)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查看节点叫什么名字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nodeType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返回节点类型(1=元素 3=文本)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判断是元素还是文字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innerHTML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获取/设置元素内部的HTML内容(含标签)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读取或替换里面的全部内容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innerText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获取/设置元素内部的纯文本内容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读取或替换里面的文字(去标签)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节点操作=在DOM树上'爬来爬去'找亲戚，然后增删改内容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样式控制与类操作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element.style.属性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直接修改元素的行内样式，如 element.style.color='red' —— 修改单个属性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element.className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直接设置class属性值，会覆盖原有的class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element.classList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classList.add('类名')添加class；.remove('类名')移除class；.toggle('类名')切换class；.contains('类名')判断是否包含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动态样式最佳实践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预定义CSS类，通过JS切换class来改变样式 —— 样式与行为分离，便于维护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人话：style改单个样式；classList切换整组样式(推荐)；别一个个改style，用class切换更优雅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DOM操作代码演示 — 点击变色+显示/隐藏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获取元素 + 绑定事件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getElementById获取元素，onclick绑定点击事件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修改样式 + 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element.style修改样式，element.innerHTML修改内容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92608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74320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9CDC71"/>
                </a:solidFill>
              </a:defRPr>
            </a:pPr>
            <a:r>
              <a:t>// 点击变色</a:t>
            </a:r>
            <a:br/>
            <a:r>
              <a:t>let box = document.getElementById("box");</a:t>
            </a:r>
            <a:br/>
            <a:r>
              <a:t>box.onclick = function() {</a:t>
            </a:r>
            <a:br/>
            <a:r>
              <a:t>  box.style.backgroundColor = "#E05E3C";</a:t>
            </a:r>
            <a:br/>
            <a:r>
              <a:t>  box.style.color = "#fff";</a:t>
            </a:r>
            <a:br/>
            <a:r>
              <a:t>};</a:t>
            </a:r>
            <a:br/>
            <a:br/>
            <a:r>
              <a:t>// 显示/隐藏切换</a:t>
            </a:r>
            <a:br/>
            <a:r>
              <a:t>let btn = document.getElementById("btn");</a:t>
            </a:r>
            <a:br/>
            <a:r>
              <a:t>let panel = document.getElementById("panel");</a:t>
            </a:r>
            <a:br/>
            <a:r>
              <a:t>btn.onclick = function() {</a:t>
            </a:r>
            <a:br/>
            <a:r>
              <a:t>  if(panel.style.display=="none"){</a:t>
            </a:r>
            <a:br/>
            <a:r>
              <a:t>    panel.style.display="block";</a:t>
            </a:r>
            <a:br/>
            <a:r>
              <a:t>  } else {</a:t>
            </a:r>
            <a:br/>
            <a:r>
              <a:t>    panel.style.display="none";</a:t>
            </a:r>
            <a:br/>
            <a:r>
              <a:t>  }</a:t>
            </a:r>
            <a:br/>
            <a:r>
              <a:t>};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777240"/>
            <a:ext cx="242316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921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1005840"/>
            <a:ext cx="242316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777240"/>
            <a:ext cx="242316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188720"/>
            <a:ext cx="18288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234440"/>
            <a:ext cx="1828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【box区域】点击变色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874520"/>
            <a:ext cx="1828800" cy="32004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901952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【显示/隐藏按钮】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377440"/>
            <a:ext cx="18288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423160"/>
            <a:ext cx="18288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面板内容区域</a:t>
            </a:r>
            <a:br/>
            <a:r>
              <a:t>点击按钮切换显示/隐藏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效果图示意：点击box变色；点击按钮切换面板显示隐藏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1463040" cy="1463040"/>
          </a:xfrm>
          <a:prstGeom prst="ellipse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103120"/>
            <a:ext cx="73152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网页特效实战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017520"/>
            <a:ext cx="7315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综合应用 — 定时器、字符串、Date、轮播图、导航特效、正则、表单验证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定时器与字符串操作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setInterval(fn, 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每隔ms毫秒执行一次fn函数，返回定时器ID —— 用于持续动画，需clearInterval(ID)停止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setTimeout(fn, 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ms毫秒后执行一次fn函数，只执行一次！返回定时器ID —— 用于延迟操作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substr(start, length)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从start位置开始，提取length个字符 —— 按长度截取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substring(from, 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从from位置到to位置之间的子串(不含to) —— 按起止位置截取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split(separator)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按分隔符将字符串拆分为数组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字符串长度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str.length 获取字符串的字符个数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人话：setInterval='每X秒做一次(会一直做)'；setTimeout='X秒后做一次(只做一次)'；substr按个数取，substring按位置取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Date对象常用方法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返回值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getFullYear()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返回4位年份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getMonth()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0~11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返回月份(0=1月！需要+1)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getDate()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1~31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返回日期(几号)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getDay()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0~6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返回星期几(0=周日)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getHours()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0~23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返回小时数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getMinutes()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0~59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返回分钟数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getSeconds()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0~59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返回秒数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创建Date对象：var now = new Date(); 自动获取当前日期时间。注意：getMonth()返回0-11，显示时要+1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轮播图与下拉导航原理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轮播图核心原理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所有图片叠放在同一个位置，默认只显示当前一张(display:block/opacity:1)，其余隐藏(display:none/opacity:0)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自动轮播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用setInterval定时切换到下一张，配合透明度渐变(fadeIn/fadeOut)或位移动画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缩略图/按钮切换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鼠标经过缩略图时，先clearInterval停止自动播放，切换到对应图片，再重新启动定时器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下拉导航原理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二级菜单默认隐藏(display:none)；鼠标经过一级菜单(onmouseover/onmouseout)时切换显示隐藏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父相子绝定位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一级菜单li设position:relative，二级菜单div设position:absolute，top/left控制出现位置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人话：轮播='图片排队，只露一个，定时换人'；下拉导航='二级菜单先藏起来，鼠标碰一级菜单再弹出'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正则表达式元字符（表1）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元字符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\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转义符，将特殊字符转为普通字符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\n匹配换行符而不是字母n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^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匹配字符串的开始位置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^abc匹配以abc开头的字符串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匹配字符串的结束位置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abc$匹配以abc结尾的字符串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匹配前一个表达式0次或多次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ab*匹配a或ab或abb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匹配前一个表达式1次或多次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ab+匹配ab或abb(不匹配a)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?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匹配前一个表达式0次或1次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ab?匹配a或ab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匹配除换行符外的任意单个字符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a.b匹配aab,abb,acb等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正则表达式=用'特殊符号'描述字符串的匹配规则，用于验证输入格式(邮箱/手机号/密码等)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正则表达式元字符（表2）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772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元字符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{n}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精确匹配n次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a{3}匹配aaa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{n,m}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匹配n到m次(n&lt;=m)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a{2,4}匹配aa,aaa,aaaa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[xyz]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字符集合，匹配其中任一字符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[abc]匹配a或b或c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[^xyz]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负值字符集合，匹配不在其中的字符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[^abc]匹配不是a/b/c的字符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[a-z]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字符范围，匹配范围内的任一字符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[a-z]匹配任意小写字母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\d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匹配一个数字字符，等价于[0-9]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\d{3}匹配3位数字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\w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匹配字母、数字、下划线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\w+匹配一个或多个单词字符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常用组合：^[0-9]*$仅数字；^[0-9]{n}$ 精确n位数字；^[a-zA-Z0-9]+$ 字母数字组合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表单验证完整流程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1. 表单onsubmit事件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4183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form标签添加onsubmit='return checkAll()'，提交前触发验证函数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2. 获取表单元素值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4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document.getElementById('id').value 获取文本框值；.checked 判断单选框/复选框是否选中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55064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55064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3. 独立验证函数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每个表单元素编写独立验证函数(如checkUser/checkPwd)，返回true(通过)或false(失败)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93976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93976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4. 正则表达式验证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var reg=/^[0-9A-Za-z]+$/; reg.test(str) 验证字符串是否匹配规则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32888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32888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5. 错误提示显示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emNodes[0].innerHTML='错误信息' 在对应位置显示红色提示文字；通过返回''清空提示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54864" cy="292608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71800"/>
            <a:ext cx="10972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6. 统一提交验证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0972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function checkAll(){return checkUser()&amp;&amp;checkPwd()&amp;&amp;checkSex();} 全部通过才提交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人话：表单验证='在提交前检查一遍'；每个输入框单独写验证规则，最后统一检查，全过了才放行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综合特效代码演示 — 时钟效果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定时器 +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setInterval每秒更新一次时间显示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16152"/>
            <a:ext cx="54864" cy="292608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16152"/>
            <a:ext cx="5852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A365D"/>
                </a:solidFill>
              </a:defRPr>
            </a:pPr>
            <a:r>
              <a:t>字符串处理 +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80744"/>
            <a:ext cx="58521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格式化显示日期时间，switch转换星期几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77240"/>
            <a:ext cx="292608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822960"/>
            <a:ext cx="274320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850" b="0">
                <a:solidFill>
                  <a:srgbClr val="9CDC71"/>
                </a:solidFill>
              </a:defRPr>
            </a:pPr>
            <a:r>
              <a:t>function showTime() {</a:t>
            </a:r>
            <a:br/>
            <a:r>
              <a:t>  let now = new Date();</a:t>
            </a:r>
            <a:br/>
            <a:r>
              <a:t>  let y = now.getFullYear();</a:t>
            </a:r>
            <a:br/>
            <a:r>
              <a:t>  let mo = now.getMonth() + 1;</a:t>
            </a:r>
            <a:br/>
            <a:r>
              <a:t>  let d = now.getDate();</a:t>
            </a:r>
            <a:br/>
            <a:r>
              <a:t>  let h = now.getHours();</a:t>
            </a:r>
            <a:br/>
            <a:r>
              <a:t>  let mi = now.getMinutes();</a:t>
            </a:r>
            <a:br/>
            <a:r>
              <a:t>  let s = now.getSeconds();</a:t>
            </a:r>
            <a:br/>
            <a:r>
              <a:t>  let week = now.getDay();</a:t>
            </a:r>
            <a:br/>
            <a:r>
              <a:t>  let wkStr;</a:t>
            </a:r>
            <a:br/>
            <a:r>
              <a:t>  switch(week) {</a:t>
            </a:r>
            <a:br/>
            <a:r>
              <a:t>    case 1: wkStr="一"; break;</a:t>
            </a:r>
            <a:br/>
            <a:r>
              <a:t>    case 2: wkStr="二"; break;</a:t>
            </a:r>
            <a:br/>
            <a:r>
              <a:t>    // ... 省略其他case</a:t>
            </a:r>
            <a:br/>
            <a:r>
              <a:t>    default: wkStr="日";</a:t>
            </a:r>
            <a:br/>
            <a:r>
              <a:t>  }</a:t>
            </a:r>
            <a:br/>
            <a:r>
              <a:t>  document.getElementById("clock")</a:t>
            </a:r>
            <a:br/>
            <a:r>
              <a:t>  .innerHTML = y+"年"+mo+"月"+d+"日"</a:t>
            </a:r>
            <a:br/>
            <a:r>
              <a:t>    +" 星期"+wkStr+" "+h+":"+mi+":"+s;</a:t>
            </a:r>
            <a:br/>
            <a:r>
              <a:t>  setTimeout(showTime, 1000);</a:t>
            </a:r>
            <a:br/>
            <a:r>
              <a:t>}</a:t>
            </a:r>
            <a:br/>
            <a:r>
              <a:t>window.onload = showTime;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777240"/>
            <a:ext cx="2423160" cy="2286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82912" y="827532"/>
            <a:ext cx="109728" cy="109728"/>
          </a:xfrm>
          <a:prstGeom prst="roundRect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29216" y="827532"/>
            <a:ext cx="109728" cy="109728"/>
          </a:xfrm>
          <a:prstGeom prst="round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827532"/>
            <a:ext cx="109728" cy="109728"/>
          </a:xfrm>
          <a:prstGeom prst="roundRect">
            <a:avLst/>
          </a:prstGeom>
          <a:solidFill>
            <a:srgbClr val="27C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1005840"/>
            <a:ext cx="2423160" cy="2788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777240"/>
            <a:ext cx="2423160" cy="30175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0" y="1691640"/>
            <a:ext cx="201168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691640"/>
            <a:ext cx="20116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2026年6月14日</a:t>
            </a:r>
            <a:br/>
            <a:r>
              <a:t>星期日 14:30:25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063240"/>
            <a:ext cx="1645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每秒自动更新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效果图示意：页面上动态显示当前时间，每秒更新一次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八大模块知识总览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463040"/>
            <a:ext cx="36576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核心内容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关键技能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01 HTML基础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文字排版规则、字体/字号/颜色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掌握好的网页文字排版标准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02 列表与表格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ul/ol/dl列表、table表格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用标签合理组织数据结构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03 CSS选择器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7种选择器、文字样式、盒子模型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灵活选中目标元素并设置样式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04 布局与定位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float浮动、position定位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控制页面元素的摆放位置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05 布局实战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导航条、表单、两栏/三栏布局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搭建完整的页面框架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06 JavaScript基础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变量/运算符/条件/循环/数组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编写网页交互逻辑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07 DOM与事件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DOM树/元素获取/事件/样式控制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用JS动态操控页面内容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08 网页特效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定时器/Date/轮播/正则/表单验证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实现完整的交互特效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学习路线建议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645920"/>
            <a:ext cx="36576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0" y="2103120"/>
            <a:ext cx="54864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084832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第一阶段：HTML (1-2周)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59152"/>
            <a:ext cx="9144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掌握常用标签，理解网页骨架结构，能写出语义化的HTML页面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83464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2926080"/>
            <a:ext cx="54864" cy="502920"/>
          </a:xfrm>
          <a:prstGeom prst="rect">
            <a:avLst/>
          </a:prstGeom>
          <a:solidFill>
            <a:srgbClr val="2C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907792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第二阶段：CSS (2-3周)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82112"/>
            <a:ext cx="9144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掌握选择器、盒子模型、布局定位，能独立完成静态页面设计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65760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3749040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730752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第三阶段：页面实战 (1-2周)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005072"/>
            <a:ext cx="9144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综合HTML+CSS完成导航条、表单、完整页面布局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48056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0" y="4572000"/>
            <a:ext cx="54864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553712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第四阶段：JavaScript (3-4周)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28032"/>
            <a:ext cx="9144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掌握JS语法、DOM操作、事件处理，让页面具备交互能力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0352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0" y="5394960"/>
            <a:ext cx="54864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5376672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第五阶段：特效实战 (2-3周)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650992"/>
            <a:ext cx="9144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综合JS/CSS/HTML完成轮播图、下拉导航、表单验证等实战项目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持续练习 + 多看优秀网站源码 + 动手写项目 = 快速成长为前端开发者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
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67" r:id="rId19"/>
    <p:sldId id="26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210312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网页文字排版进阶</a:t>
            </a:r>
            <a: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（表格</a:t>
            </a:r>
            <a:r>
              <a:rPr lang="en-US" altLang="zh-CN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合理设计表格的</a:t>
            </a:r>
            <a:r>
              <a:rPr lang="zh-CN" altLang="en-US" sz="3200" dirty="0"/>
              <a:t>样式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灵活选中目标元素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灵活</a:t>
            </a:r>
            <a:r>
              <a:rPr lang="zh-CN" altLang="en-US" sz="3200" dirty="0" smtClean="0"/>
              <a:t>控制元素的背景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4565593" cy="4914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本案例重点样式：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元素整体居中</a:t>
            </a:r>
            <a:endParaRPr lang="en-US" altLang="zh-C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渐变填充背景</a:t>
            </a:r>
            <a:endParaRPr lang="en-US" altLang="zh-C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为标题添加图标</a:t>
            </a:r>
            <a:endParaRPr lang="en-US" altLang="zh-C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表格的隔行变色</a:t>
            </a:r>
            <a:endParaRPr lang="en-US" altLang="zh-C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任务目标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351" y="1086166"/>
            <a:ext cx="5274310" cy="50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交集选择器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交集选择器使用“选择器</a:t>
            </a:r>
            <a:r>
              <a:rPr lang="en-US" altLang="zh-CN" dirty="0"/>
              <a:t>1</a:t>
            </a:r>
            <a:r>
              <a:rPr lang="zh-CN" altLang="zh-CN" dirty="0"/>
              <a:t>选择器</a:t>
            </a:r>
            <a:r>
              <a:rPr lang="en-US" altLang="zh-CN" dirty="0"/>
              <a:t>2</a:t>
            </a:r>
            <a:r>
              <a:rPr lang="zh-CN" altLang="zh-CN" dirty="0"/>
              <a:t>”表示，中间没有任何连接符，用于选取选择器</a:t>
            </a:r>
            <a:r>
              <a:rPr lang="en-US" altLang="zh-CN" dirty="0"/>
              <a:t>1</a:t>
            </a:r>
            <a:r>
              <a:rPr lang="zh-CN" altLang="zh-CN" dirty="0"/>
              <a:t>和选择器</a:t>
            </a:r>
            <a:r>
              <a:rPr lang="en-US" altLang="zh-CN" dirty="0"/>
              <a:t>2</a:t>
            </a:r>
            <a:r>
              <a:rPr lang="zh-CN" altLang="zh-CN" dirty="0"/>
              <a:t>相交部分的元素</a:t>
            </a:r>
            <a:r>
              <a:rPr lang="zh-CN" altLang="zh-CN" dirty="0" smtClean="0"/>
              <a:t>。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068" y="2936413"/>
            <a:ext cx="6263090" cy="116961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616657" y="4271749"/>
            <a:ext cx="2565779" cy="16650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chemeClr val="tx2">
                    <a:lumMod val="75000"/>
                  </a:schemeClr>
                </a:solidFill>
              </a:rPr>
              <a:t>p</a:t>
            </a:r>
            <a:endParaRPr lang="zh-CN" altLang="en-US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5405961" y="4411951"/>
            <a:ext cx="2577979" cy="15417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.</a:t>
            </a:r>
            <a:r>
              <a:rPr lang="en-US" altLang="zh-CN" sz="3600" dirty="0" err="1" smtClean="0">
                <a:solidFill>
                  <a:srgbClr val="FF0000"/>
                </a:solidFill>
              </a:rPr>
              <a:t>ita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90863" y="4868936"/>
            <a:ext cx="843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 smtClean="0"/>
              <a:t>p.ita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并集</a:t>
            </a:r>
            <a:r>
              <a:rPr lang="zh-CN" altLang="en-US" sz="3000" dirty="0"/>
              <a:t>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并集选择器使用“选择器</a:t>
            </a:r>
            <a:r>
              <a:rPr lang="en-US" altLang="zh-CN" dirty="0"/>
              <a:t>1,</a:t>
            </a:r>
            <a:r>
              <a:rPr lang="zh-CN" altLang="zh-CN" dirty="0"/>
              <a:t>选择器</a:t>
            </a:r>
            <a:r>
              <a:rPr lang="en-US" altLang="zh-CN" dirty="0"/>
              <a:t>2</a:t>
            </a:r>
            <a:r>
              <a:rPr lang="zh-CN" altLang="zh-CN" dirty="0"/>
              <a:t>”表示，中间使用逗号分隔，用于同时选取多个元素，元素间是并列关系。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692" y="2957440"/>
            <a:ext cx="3772967" cy="25153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976" y="2957439"/>
            <a:ext cx="5404183" cy="251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9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背景样式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CSS</a:t>
            </a:r>
            <a:r>
              <a:rPr lang="zh-CN" altLang="zh-CN" dirty="0"/>
              <a:t>提供了多个属性用于定义背景</a:t>
            </a:r>
            <a:r>
              <a:rPr lang="zh-CN" altLang="zh-CN" dirty="0" smtClean="0"/>
              <a:t>效果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64" y="2436667"/>
            <a:ext cx="6109962" cy="364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62655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b</a:t>
            </a:r>
            <a:r>
              <a:rPr lang="en-US" altLang="zh-CN" sz="3000" dirty="0" smtClean="0"/>
              <a:t>ackground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600" dirty="0" smtClean="0"/>
              <a:t>可以通过单独的属性定义背景效果，也可以将多个属性合并到</a:t>
            </a:r>
            <a:r>
              <a:rPr lang="en-US" altLang="zh-CN" sz="2600" dirty="0" smtClean="0"/>
              <a:t>background</a:t>
            </a:r>
            <a:r>
              <a:rPr lang="zh-CN" altLang="en-US" sz="2600" dirty="0" smtClean="0"/>
              <a:t>属性中。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45383" y="1094438"/>
            <a:ext cx="4538422" cy="25545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1{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background-image:url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(“bg.jpg”);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background-repeat:no-repeat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background-position:10px center;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background-color:#</a:t>
            </a:r>
            <a:r>
              <a:rPr lang="en-US" altLang="zh-C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fefefe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00803" y="4609147"/>
            <a:ext cx="6983002" cy="1400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1{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background:#</a:t>
            </a:r>
            <a:r>
              <a:rPr lang="en-US" altLang="zh-C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fefefe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(“bg.jpg”) no-repeat 10px center;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箭头连接符 7"/>
          <p:cNvCxnSpPr>
            <a:stCxn id="5" idx="2"/>
          </p:cNvCxnSpPr>
          <p:nvPr/>
        </p:nvCxnSpPr>
        <p:spPr>
          <a:xfrm>
            <a:off x="8614594" y="3648983"/>
            <a:ext cx="0" cy="950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612467" y="387644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缩略写法</a:t>
            </a:r>
          </a:p>
        </p:txBody>
      </p:sp>
    </p:spTree>
    <p:extLst>
      <p:ext uri="{BB962C8B-B14F-4D97-AF65-F5344CB8AC3E}">
        <p14:creationId xmlns:p14="http://schemas.microsoft.com/office/powerpoint/2010/main" val="419624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209935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b</a:t>
            </a:r>
            <a:r>
              <a:rPr lang="en-US" altLang="zh-CN" sz="3000" dirty="0" smtClean="0"/>
              <a:t>order-collapse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表格中的元素都有独立的边框，所以默认情况下表格呈现出双线条边框，如果需要把表格显示为单线条边框，需使用</a:t>
            </a:r>
            <a:r>
              <a:rPr lang="en-US" altLang="zh-CN" dirty="0"/>
              <a:t>border-collapse</a:t>
            </a:r>
            <a:r>
              <a:rPr lang="zh-CN" altLang="zh-CN" dirty="0" smtClean="0"/>
              <a:t>属性</a:t>
            </a:r>
            <a:r>
              <a:rPr lang="zh-CN" altLang="en-US" dirty="0" smtClean="0"/>
              <a:t>。</a:t>
            </a:r>
            <a:r>
              <a:rPr lang="zh-CN" altLang="zh-CN" dirty="0"/>
              <a:t>需要注意的是，</a:t>
            </a:r>
            <a:r>
              <a:rPr lang="en-US" altLang="zh-CN" dirty="0"/>
              <a:t>border-collapse</a:t>
            </a:r>
            <a:r>
              <a:rPr lang="zh-CN" altLang="zh-CN" dirty="0"/>
              <a:t>属性只能添加在</a:t>
            </a:r>
            <a:r>
              <a:rPr lang="en-US" altLang="zh-CN" dirty="0"/>
              <a:t>table</a:t>
            </a:r>
            <a:r>
              <a:rPr lang="zh-CN" altLang="zh-CN" dirty="0"/>
              <a:t>上才有效。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322" y="3742893"/>
            <a:ext cx="4178120" cy="172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209935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border-spacing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在边框分离模式下，可以使用</a:t>
            </a:r>
            <a:r>
              <a:rPr lang="en-US" altLang="zh-CN" dirty="0"/>
              <a:t>border-spacing</a:t>
            </a:r>
            <a:r>
              <a:rPr lang="zh-CN" altLang="zh-CN" dirty="0"/>
              <a:t>属性设置相邻单元格的边框之间的距离。可以设置水平和垂直方向的间距。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3083070"/>
            <a:ext cx="8527780" cy="164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2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、全局样式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首先</a:t>
            </a:r>
            <a:r>
              <a:rPr lang="zh-CN" altLang="zh-CN" dirty="0"/>
              <a:t>统一网页中的字体、去除粗体效果，清除所有标签的默认内外边距，便于后面精确控制元素间的间距；确定网页的整体宽度，实现居中效果。</a:t>
            </a: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781" y="1188892"/>
            <a:ext cx="3652837" cy="49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 smtClean="0"/>
              <a:t>、</a:t>
            </a:r>
            <a:r>
              <a:rPr lang="zh-CN" altLang="en-US" dirty="0"/>
              <a:t>头部标题</a:t>
            </a:r>
            <a:r>
              <a:rPr lang="zh-CN" altLang="en-US" dirty="0" smtClean="0"/>
              <a:t>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一级标题需要实现居中、</a:t>
            </a:r>
            <a:r>
              <a:rPr lang="en-US" altLang="zh-CN" dirty="0"/>
              <a:t>32px</a:t>
            </a:r>
            <a:r>
              <a:rPr lang="zh-CN" altLang="zh-CN" dirty="0"/>
              <a:t>字号，并为其填充水平方向重复的渐变背景。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112" y="1619251"/>
            <a:ext cx="5105265" cy="349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6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 smtClean="0"/>
              <a:t>、外层</a:t>
            </a:r>
            <a:r>
              <a:rPr lang="en-US" altLang="zh-CN" dirty="0" smtClean="0"/>
              <a:t>div</a:t>
            </a:r>
            <a:r>
              <a:rPr lang="zh-CN" altLang="en-US" dirty="0" smtClean="0"/>
              <a:t>和二级标题样式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利用</a:t>
            </a:r>
            <a:r>
              <a:rPr lang="zh-CN" altLang="en-US" dirty="0" smtClean="0"/>
              <a:t>外层</a:t>
            </a:r>
            <a:r>
              <a:rPr lang="en-US" altLang="zh-CN" dirty="0" smtClean="0"/>
              <a:t>div</a:t>
            </a:r>
            <a:r>
              <a:rPr lang="zh-CN" altLang="zh-CN" dirty="0" smtClean="0"/>
              <a:t>实现</a:t>
            </a:r>
            <a:r>
              <a:rPr lang="zh-CN" altLang="zh-CN" dirty="0"/>
              <a:t>背景色的统一设置，以及统一主体内容与该</a:t>
            </a:r>
            <a:r>
              <a:rPr lang="en-US" altLang="zh-CN" dirty="0"/>
              <a:t>div</a:t>
            </a:r>
            <a:r>
              <a:rPr lang="zh-CN" altLang="zh-CN" dirty="0"/>
              <a:t>边框之间的</a:t>
            </a:r>
            <a:r>
              <a:rPr lang="zh-CN" altLang="zh-CN" dirty="0" smtClean="0"/>
              <a:t>间距</a:t>
            </a:r>
            <a:r>
              <a:rPr lang="zh-CN" altLang="en-US" dirty="0" smtClean="0"/>
              <a:t>；</a:t>
            </a:r>
            <a:r>
              <a:rPr lang="zh-CN" altLang="zh-CN" dirty="0" smtClean="0"/>
              <a:t>二</a:t>
            </a:r>
            <a:r>
              <a:rPr lang="zh-CN" altLang="zh-CN" dirty="0"/>
              <a:t>级标题样式主要是左侧图标的设计，要求该图标垂直居中，图标四周的间距合理。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351" y="1581468"/>
            <a:ext cx="3873130" cy="16050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350" y="3298015"/>
            <a:ext cx="5584683" cy="233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5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874135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4</a:t>
            </a:r>
            <a:r>
              <a:rPr lang="zh-CN" altLang="en-US" dirty="0" smtClean="0"/>
              <a:t>、段落样式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使用后代选择器选中目标段落，并添加首行缩进、</a:t>
            </a:r>
            <a:r>
              <a:rPr lang="en-US" altLang="zh-CN" dirty="0"/>
              <a:t>1.5</a:t>
            </a:r>
            <a:r>
              <a:rPr lang="zh-CN" altLang="zh-CN" dirty="0"/>
              <a:t>倍行距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3160568"/>
            <a:ext cx="3688460" cy="239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9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5728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5</a:t>
            </a:r>
            <a:r>
              <a:rPr lang="zh-CN" altLang="en-US" dirty="0" smtClean="0"/>
              <a:t>、表格样式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首先从表格的整体样式入手，设置好表格的宽度、居中、背景色、边框合并，以及每一列所占宽度比例。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853" y="1331333"/>
            <a:ext cx="4657292" cy="447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6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5728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5</a:t>
            </a:r>
            <a:r>
              <a:rPr lang="zh-CN" altLang="en-US" dirty="0" smtClean="0"/>
              <a:t>、表格样式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然后，为表头和表尾单元格</a:t>
            </a:r>
            <a:r>
              <a:rPr lang="en-US" altLang="zh-CN" dirty="0" err="1"/>
              <a:t>th</a:t>
            </a:r>
            <a:r>
              <a:rPr lang="zh-CN" altLang="zh-CN" dirty="0"/>
              <a:t>、数据单元格</a:t>
            </a:r>
            <a:r>
              <a:rPr lang="en-US" altLang="zh-CN" dirty="0"/>
              <a:t>td</a:t>
            </a:r>
            <a:r>
              <a:rPr lang="zh-CN" altLang="zh-CN" dirty="0"/>
              <a:t>设计</a:t>
            </a:r>
            <a:r>
              <a:rPr lang="zh-CN" altLang="zh-CN" dirty="0" smtClean="0"/>
              <a:t>样式</a:t>
            </a:r>
            <a:r>
              <a:rPr lang="zh-CN" altLang="en-US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444" y="1625745"/>
            <a:ext cx="4515335" cy="417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7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22626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5</a:t>
            </a:r>
            <a:r>
              <a:rPr lang="zh-CN" altLang="en-US" dirty="0" smtClean="0"/>
              <a:t>、表格样式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最后设计偶数行的白色背景，以及第</a:t>
            </a:r>
            <a:r>
              <a:rPr lang="en-US" altLang="zh-CN" dirty="0"/>
              <a:t>4</a:t>
            </a:r>
            <a:r>
              <a:rPr lang="zh-CN" altLang="zh-CN" dirty="0"/>
              <a:t>列的对齐方式为</a:t>
            </a:r>
            <a:r>
              <a:rPr lang="zh-CN" altLang="zh-CN" dirty="0" smtClean="0"/>
              <a:t>左对齐</a:t>
            </a:r>
            <a:r>
              <a:rPr lang="zh-CN" altLang="en-US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3150177"/>
            <a:ext cx="4034045" cy="281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8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15549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设计网页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6</a:t>
            </a:r>
            <a:r>
              <a:rPr lang="zh-CN" altLang="en-US" dirty="0" smtClean="0"/>
              <a:t>、页脚样式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页脚的背景渐变为浅灰到深灰，渐变方向与页首相反，所以背景图的定位需要设为</a:t>
            </a:r>
            <a:r>
              <a:rPr lang="en-US" altLang="zh-CN" dirty="0"/>
              <a:t>bottom</a:t>
            </a:r>
            <a:r>
              <a:rPr lang="zh-CN" altLang="zh-CN" dirty="0"/>
              <a:t>，以保证背景最后的颜色为深灰色</a:t>
            </a:r>
            <a:r>
              <a:rPr lang="zh-CN" altLang="en-US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381" y="2217593"/>
            <a:ext cx="5607477" cy="26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209069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本案例主要使用的</a:t>
            </a:r>
            <a:r>
              <a:rPr lang="zh-CN" altLang="en-US" sz="3000" dirty="0"/>
              <a:t>样式</a:t>
            </a:r>
            <a:r>
              <a:rPr lang="zh-CN" altLang="en-US" sz="3000" dirty="0" smtClean="0"/>
              <a:t>：</a:t>
            </a:r>
            <a:endParaRPr lang="en-US" altLang="zh-CN" sz="30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并</a:t>
            </a:r>
            <a:r>
              <a:rPr lang="zh-CN" altLang="en-US" sz="2800" dirty="0" smtClean="0"/>
              <a:t>集选择器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交集</a:t>
            </a:r>
            <a:r>
              <a:rPr lang="zh-CN" altLang="en-US" sz="2800" dirty="0" smtClean="0"/>
              <a:t>选择器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background</a:t>
            </a:r>
            <a:endParaRPr lang="en-US" altLang="zh-CN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表格的样式</a:t>
            </a:r>
            <a:endParaRPr lang="en-US" altLang="zh-CN" sz="2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6" name="流程图: 可选过程 5"/>
          <p:cNvSpPr/>
          <p:nvPr/>
        </p:nvSpPr>
        <p:spPr>
          <a:xfrm>
            <a:off x="5424600" y="2380623"/>
            <a:ext cx="5506636" cy="273170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360000" rtlCol="0" anchor="ctr"/>
          <a:lstStyle/>
          <a:p>
            <a:r>
              <a:rPr lang="en-US" altLang="zh-CN" sz="3200" b="1" dirty="0" smtClean="0"/>
              <a:t>&gt;&gt; background</a:t>
            </a:r>
          </a:p>
          <a:p>
            <a:pPr>
              <a:lnSpc>
                <a:spcPct val="150000"/>
              </a:lnSpc>
            </a:pPr>
            <a:r>
              <a:rPr lang="zh-CN" altLang="en-US" sz="2200" dirty="0"/>
              <a:t>把</a:t>
            </a:r>
            <a:r>
              <a:rPr lang="zh-CN" altLang="en-US" sz="2200" dirty="0" smtClean="0"/>
              <a:t>图片作为背景，可以灵活控制图片与内容之间的相对位置；通过背景的重复，可实现自适应的背景。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合理运用表格的标签和样式，制作个人介绍网页。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2651760"/>
            <a:ext cx="5566856" cy="335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664</Words>
  <Application>Microsoft Office PowerPoint</Application>
  <PresentationFormat>宽屏</PresentationFormat>
  <Paragraphs>84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网页文字排版进阶 （表格2）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70</cp:revision>
  <dcterms:created xsi:type="dcterms:W3CDTF">2020-04-27T05:20:13Z</dcterms:created>
  <dcterms:modified xsi:type="dcterms:W3CDTF">2020-07-23T13:26:25Z</dcterms:modified>
</cp:coreProperties>
</file>
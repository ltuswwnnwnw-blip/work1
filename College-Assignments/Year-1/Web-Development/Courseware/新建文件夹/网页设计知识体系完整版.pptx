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网页设计与制作 — 完整知识体系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Microsoft YaHei"/>
              </a:defRPr>
            </a:pPr>
            <a:r>
              <a:t>从基础到进阶 · 八大模块 · 代码与效果对照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7E22"/>
                </a:solidFill>
                <a:latin typeface="Microsoft YaHei"/>
              </a:defRPr>
            </a:pPr>
            <a:r>
              <a:t>HTML + CSS + JavaScript   |   专业术语 + 通俗讲解   |   适合CS大学生学习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涵盖：文字排版 → 列表表格 → 图文混排 → 导航条 → 表单 → 页面布局 → JavaScript → 网页特效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t>网页文字排版基础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本模块涵盖知识点：</a:t>
            </a:r>
          </a:p>
          <a:p>
            <a:pPr>
              <a:spcAft>
                <a:spcPts val="3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1. 网页文字排版规则 — 易读性、字体字号、对齐方式、行宽行距、颜色搭配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2. 核心HTML标签 — &lt;span&gt;、&lt;div&gt;、&lt;ul&gt;/&lt;ol&gt;/&lt;dl&gt;、&lt;table&gt; 系列标签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3. CSS选择器 — id选择器、后代选择器、通配符选择器、交集/并集选择器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4. 文字样式属性 — font-family、font-size、font-weight、line-height、text-decoration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5. 盒子模型 (Box Model) — content、padding、border、margin 四层结构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6. 列表样式 — list-style-type、list-style-image、list-style-position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7. 表格 — &lt;table&gt;/&lt;tr&gt;/&lt;td&gt;/&lt;th&gt;、colspan/rowspan合并、边框样式、隔行变色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7AE60"/>
                </a:solidFill>
                <a:latin typeface="Microsoft YaHei"/>
              </a:defRPr>
            </a:pPr>
            <a:r>
              <a:t>图文混排 — 图片与文字的布局艺术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本模块涵盖知识点：</a:t>
            </a:r>
          </a:p>
          <a:p>
            <a:pPr>
              <a:spcAft>
                <a:spcPts val="3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1. 图文混排结构设计 — 图大文小、图小文多、图文相当三种结构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2. 间距设计原则 — 内部间距 &lt; 外部间距，表现从属与独立关系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3. 浮动布局 (Float) — 图左文右的核心实现，父元素塌陷与清除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4. 定位 (Position) — static/relative/absolute，实现元素叠加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5. 行内元素 vs 块状元素 — 核心区别与 display 转换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6. 图片下方小间隙 — 原因(基线对齐)及三种清除方法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7. 双层浮动 — 外层控制行列，内层控制图文排列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  <a:latin typeface="Microsoft YaHei"/>
              </a:defRPr>
            </a:pPr>
            <a:r>
              <a:t>导航条设计 — 网站的"指路牌"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980B9"/>
                </a:solidFill>
                <a:latin typeface="Microsoft YaHei"/>
              </a:defRPr>
            </a:pPr>
            <a:r>
              <a:t>本模块涵盖知识点：</a:t>
            </a:r>
          </a:p>
          <a:p>
            <a:pPr>
              <a:spcAft>
                <a:spcPts val="3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1. 成功导航三大特征 — 合理信息组织 + 良好外观 + 良好交互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2. 超链接 &lt;a&gt; — href/target属性、三种链接形式（页面/锚点/功能）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3. display属性 — block/inline/inline-block/none 四种模式切换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4. 伪类选择器 — :link/:visited/:hover/:active (LVHA顺序!)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5. 水平导航条 — inline-block实现横排 + hover变色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6. 垂直导航条 — display:block撑满响应区 + hover缩进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7. 进阶技巧 — margin负值凸起效果、行内元素间隙清除(font-size:0)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E44AD"/>
                </a:solidFill>
                <a:latin typeface="Microsoft YaHei"/>
              </a:defRPr>
            </a:pPr>
            <a:r>
              <a:t>表单设计 — 用户与网站的"对话窗口"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8E44AD"/>
                </a:solidFill>
                <a:latin typeface="Microsoft YaHei"/>
              </a:defRPr>
            </a:pPr>
            <a:r>
              <a:t>本模块涵盖知识点：</a:t>
            </a:r>
          </a:p>
          <a:p>
            <a:pPr>
              <a:spcAft>
                <a:spcPts val="3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1. 表单设计思路 — 信息结构（必要字段+逻辑排序+分类组合）+ 外观设计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2. &lt;form&gt; 标签 — action/method(get/post)/name属性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3. 表单元素 — text/password/radio/checkbox/select/textarea/button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4. &lt;label&gt; 标签 — for属性关联输入框，点击文字聚焦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5. 表单验证 — JavaScript实现用户名/密码/性别/爱好验证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6. 外边距合并 — 垂直外边距相遇合并（取大值），水平不合并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0392B"/>
                </a:solidFill>
                <a:latin typeface="Microsoft YaHei"/>
              </a:defRPr>
            </a:pPr>
            <a:r>
              <a:t>网页布局 — 搭建页面的"骨架"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本模块涵盖知识点：</a:t>
            </a:r>
          </a:p>
          <a:p>
            <a:pPr>
              <a:spcAft>
                <a:spcPts val="3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1. 固定宽度 vs 可变宽度布局 — 适用场景与选择依据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2. 两栏布局 — float实现，左侧固定+右侧自适应(margin-left)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3. 三栏布局 — 左中右三栏，min-width/max-width控制宽度范围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4. 框架布局 (frameset) — 多页面同屏、后台系统常用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5. 内容居中技巧 — 单行(text-align+line-height) / 多行(定位+margin负值)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6. overflow/white-space/text-overflow — 内容溢出控制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Module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35400"/>
                </a:solidFill>
                <a:latin typeface="Microsoft YaHei"/>
              </a:defRPr>
            </a:pPr>
            <a:r>
              <a:t>JavaScript 基础 — 让网页"动"起来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D35400"/>
                </a:solidFill>
                <a:latin typeface="Microsoft YaHei"/>
              </a:defRPr>
            </a:pPr>
            <a:r>
              <a:t>本模块涵盖知识点：</a:t>
            </a:r>
          </a:p>
          <a:p>
            <a:pPr>
              <a:spcAft>
                <a:spcPts val="3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1. JS是什么 &amp; 能做什么 — 浏览器端的脚本语言，实现特效/验证/动态交互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2. 三种使用方法 — 直接嵌入/外部文件/标签属性，各自适用场景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3. 基础语法 — 区分大小写、分号、运算符(算术/比较/逻辑)、注释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4. 变量与数据类型 — var声明、String/Number/Boolean、类型转换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5. 条件判断 — if / if...else / if...else if...else 三种结构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6. 数组 Array — 创建3种方式、下标访问(从0开始)、length属性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7. 循环 — for/while/do...while/for...in，注意避免死循环!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  <a:latin typeface="Microsoft YaHei"/>
              </a:defRPr>
            </a:pPr>
            <a:r>
              <a:t>DOM 文档对象模型 — JavaScript 操控网页的"遥控器"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980B9"/>
                </a:solidFill>
                <a:latin typeface="Microsoft YaHei"/>
              </a:defRPr>
            </a:pPr>
            <a:r>
              <a:t>本模块涵盖知识点：</a:t>
            </a:r>
          </a:p>
          <a:p>
            <a:pPr>
              <a:spcAft>
                <a:spcPts val="3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1. 函数 — function声明、无参/有参函数、return返回值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2. 事件 — onclick/onload/onmouseover等，事件驱动编程模型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3. DOM概念 — HTML文档的树形结构，节点树（元素/文本/属性/注释节点）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4. 获取元素5种方法 — getElementById/ByName/ByTagName/ByClassName/节点树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5. 控制样式 — element.style.属性 = "值"，动态修改CSS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Module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7AE60"/>
                </a:solidFill>
                <a:latin typeface="Microsoft YaHei"/>
              </a:defRPr>
            </a:pPr>
            <a:r>
              <a:t>网页特效 — JavaScript 实战应用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本模块涵盖知识点：</a:t>
            </a:r>
          </a:p>
          <a:p>
            <a:pPr>
              <a:spcAft>
                <a:spcPts val="300"/>
              </a:spcAft>
              <a:defRPr sz="8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1. 定时器 — setInterval(循环执行) / setTimeout(延迟一次)，动画核心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2. 文本特效 — 打字效果、substr/substring提取字符串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3. 图像特效 — 图片切换、透明度控制、鼠标事件联动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4. 时间日期 — Date对象、switch语句、动态时钟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5. 导航条特效 — 下拉/收起控制，JS+CSS联动</a:t>
            </a:r>
          </a:p>
          <a:p>
            <a:pPr>
              <a:spcAft>
                <a:spcPts val="3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6. 表单验证 — 正则表达式、onsubmit事件、验证函数设计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1.1 网页文字排版规则 — 什么是好的排版？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核心评价标准（人话：好排版 = 看得清 + 找得到 + 读得爽）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① 文字有良好的易读性 (Readability)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字体 (Font)：正文&gt;14px用非衬线体(微软雅黑/Arial)，≤14px用衬线体(宋体/Times New Roman)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字号 (Font-size)：正文通常14-16px，标题更大更醒目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对齐方式：正文左对齐（符合从左往右阅读习惯，右侧参差不齐反而帮助眼睛换行）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行宽：不能太宽（否则扭头累+容易串行），要合理划分阅读区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行距 (line-height)：一般1.2~1.5倍字号，字越小行距应越大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颜色：正文用柔和深灰色（少用纯黑/纯红/纯蓝，高饱和度刺眼）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背景与文字对比度要足够大，浅色背景+深色文字最佳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② 文字位置和比例设计合理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标题单独放置，居中或左对齐；正文比例最大；说明文字比例小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③ 文字信息结构合理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围绕主题组织内容 → 合理排序和分类 → 借助标题表现层次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⚠ 实用禁忌：不要超3种字体 | 不要过大字号 | 不要闪烁文字 | 标题正文要有区分</a:t>
            </a:r>
          </a:p>
        </p:txBody>
      </p:sp>
      <p:pic>
        <p:nvPicPr>
          <p:cNvPr id="6" name="Picture 5" descr="dem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47320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▲ 文字排版效果预览：字体、字号、行高、边框、背景等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1.2 核心CSS文字属性 — 控制文字外观的开关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486400" cy="3840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98C379"/>
                </a:solidFill>
                <a:latin typeface="Consolas"/>
              </a:defRPr>
            </a:pPr>
            <a:r>
              <a:t>CSS 文字常用属性速查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/* === 字体与字号 ===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font-family: "Microsoft YaHei", sans-serif;  /* 字体族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font-size: 16px;          /* 字号：px/pt/em/%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font-weight: bold;        /* 粗细：normal/bold/100-900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/* === 行高与对齐 ===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line-height: 1.8;         /* 行高：倍数/px/em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text-align: left;         /* 对齐：left/center/right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text-indent: 2em;         /* 首行缩进2个字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/* === 文字装饰 ===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font-style: italic;       /* 斜体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text-decoration: underline; /* 下划线/overline/line-through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/* === 边框与背景 ===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border: 2px solid #3498db; /* 简写：粗细 样式 颜色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border-bottom: 1px dashed #ccc; /* 单边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background-color: #fff3cd;  /* 背景色 */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005840"/>
          <a:ext cx="5760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属性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常用值示例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font-family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设置字体族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微软雅黑, Arial, sans-serif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font-size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设置字号大小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14px, 16px, 1.2em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font-weight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设置字体粗细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normal, bold, 700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line-height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设置行高（行间距）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1.5, 2, 24px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text-align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设置水平对齐方式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left, center, right, justify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text-decoration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设置文字装饰线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underline, overline, line-through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font-style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设置斜体/正常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normal, italic, oblique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border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设置边框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1px solid #ccc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background-color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设置背景颜色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#fff, rgb(255,255,255)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通俗理解：font-family 是换衣服（字体风格），font-size 是调大小，line-height 是控制行与行之间的呼吸空间，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border 是给元素画框框，background-color 是给元素刷底色。这些属性组合起来，就能让文字从裸奔变成精致排版。</a:t>
            </a:r>
          </a:p>
          <a:p>
            <a:pPr>
              <a:spcAft>
                <a:spcPts val="300"/>
              </a:spcAft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注意：CSS属性名不区分大小写，但多个属性可以写在同一行，用分号隔开。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1.3 盒子模型 (Box Model) — 网页布局的基石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人话：每个HTML元素都是一个矩形盒子，从内到外有四层：</a:t>
            </a:r>
          </a:p>
          <a:p>
            <a:pPr>
              <a:spcAft>
                <a:spcPts val="300"/>
              </a:spcAft>
              <a:defRPr sz="1300" b="1">
                <a:solidFill>
                  <a:srgbClr val="E67E22"/>
                </a:solidFill>
                <a:latin typeface="Microsoft YaHei"/>
              </a:defRPr>
            </a:pPr>
            <a:r>
              <a:t>  content(内容) → padding(内边距) → border(边框) → margin(外边距)</a:t>
            </a:r>
          </a:p>
          <a:p>
            <a:pPr>
              <a:spcAft>
                <a:spcPts val="300"/>
              </a:spcAft>
              <a:defRPr sz="1200" b="0">
                <a:solidFill>
                  <a:srgbClr val="E74C3C"/>
                </a:solidFill>
                <a:latin typeface="Microsoft YaHei"/>
              </a:defRPr>
            </a:pPr>
            <a:r>
              <a:t>实际宽度公式：元素总宽度 = width + padding左右 + border左右 + margin左右</a:t>
            </a:r>
          </a:p>
        </p:txBody>
      </p:sp>
      <p:pic>
        <p:nvPicPr>
          <p:cNvPr id="6" name="Picture 5" descr="demo_box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54864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0058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各层详解：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① content（内容区）= width x height 定义的区域，文字/图片就显示在这里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② padding（内边距）= 内容到边框的距离，padding值越大，内容与边框之间越空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四个方向：padding-top/right/bottom/left，简写 padding:10px(四边相同)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简写规则：padding:上 右 下 左; 或 padding:上下 左右;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③ border（边框）= 元素的边界线，可设置粗细、样式(solid/dashed/dotted)、颜色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四边可单独设置：border-top/right/bottom/left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④ margin（外边距）= 元素与元素之间的距离，控制元素之间的社交距离</a:t>
            </a:r>
          </a:p>
          <a:p>
            <a:pPr>
              <a:spcAft>
                <a:spcPts val="300"/>
              </a:spcAft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   注意：上下相邻元素的margin会合并（取较大值），水平方向不合并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E67E22"/>
                </a:solidFill>
                <a:latin typeface="Microsoft YaHei"/>
              </a:defRPr>
            </a:pPr>
            <a:r>
              <a:t>常用技巧：* { margin:0; padding:0; } 清除浏览器默认内外边距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1.4 列表 — 网页中的信息结构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三种列表对比：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① 无序列表 &lt;ul&gt; + &lt;li&gt;：用圆点/方块等符号标记，顺序不重要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默认符号：disc(实心圆)、circle(空心圆)、square(方块)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适用场景：导航菜单、功能列表、标签云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② 有序列表 &lt;ol&gt; + &lt;li&gt;：用数字/字母标记，强调先后顺序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默认符号：decimal(数字)、upper-roman(大写罗马)、lower-alpha(小写字母)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适用场景：排行榜、步骤说明、目录章节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③ 自定义列表 &lt;dl&gt; + &lt;dt&gt; + &lt;dd&gt;：术语+解释结构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&lt;dt&gt;定义术语，&lt;dd&gt;定义描述，语义清晰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适用场景：名词解释、FAQ、图书目录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CSS列表样式属性：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 list-style-type: 改变标记符号类型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 list-style-image: url(icon.png) 用图片做标记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 list-style-position: inside/outside 标记在内部还是外部</a:t>
            </a:r>
          </a:p>
        </p:txBody>
      </p:sp>
      <p:pic>
        <p:nvPicPr>
          <p:cNvPr id="6" name="Picture 5" descr="demo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55755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1.5 表格 — 结构化数据的展示利器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HTML表格结构：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&lt;table&gt; — 定义表格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&lt;caption&gt;表格标题&lt;/caption&gt; — 表格的名字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&lt;thead&gt; — 表头区域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 &lt;tr&gt; — 行 (table row)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   &lt;th&gt;表头单元格&lt;/th&gt; — 加粗居中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&lt;tbody&gt; — 表格主体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  &lt;tr&gt;&lt;td&gt;数据单元格&lt;/td&gt;&lt;/tr&gt;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&lt;tfoot&gt; — 表尾（可选）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不规则表格 — 合并单元格：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colspan=2 — 水平合并（跨列），一行横跨多列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rowspan=2 — 垂直合并（跨行），一列竖跨多行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CSS表格样式要点：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border-collapse: collapse — 合并边框为单线（写在table上）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border-spacing: 5px — 单元格间距（分离模式下有效）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:nth-child(even/odd) — 实现隔行变色</a:t>
            </a:r>
          </a:p>
        </p:txBody>
      </p:sp>
      <p:pic>
        <p:nvPicPr>
          <p:cNvPr id="6" name="Picture 5" descr="demo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2.1 浮动 (Float) 与 定位 (Position) — 图文混排的核心技术</a:t>
            </a:r>
          </a:p>
        </p:txBody>
      </p:sp>
      <p:pic>
        <p:nvPicPr>
          <p:cNvPr id="5" name="Picture 4" descr="demo_float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4457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0058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Float 浮动布局：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让元素飘起来，脱离正常文档流，后面的元素会顶上来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float: left — 元素靠左浮动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float: right — 元素靠右浮动</a:t>
            </a:r>
          </a:p>
          <a:p>
            <a:pPr>
              <a:spcAft>
                <a:spcPts val="300"/>
              </a:spcAft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  只能左右浮动，不能上下浮动！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浮动三大问题及解决方案：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① 父元素塌陷（高度变0）：子元素浮动后父元素失去高度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  解决：overflow:hidden | 手工设高度 | clear:both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② 后续元素位置异常：浮动元素后的元素会环绕它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  解决：在需要换行的元素上使用 clear:both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Position 定位：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static — 默认，正常文档流，忽略top/left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relative — 相对定位，仍在文档流中，相对自身原位置偏移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absolute — 绝对定位，脱离文档流，参考最近的非static祖先定位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fixed — 固定定位，相对于浏览器窗口，滚动也不动</a:t>
            </a:r>
          </a:p>
          <a:p>
            <a:pPr>
              <a:spcAft>
                <a:spcPts val="300"/>
              </a:spcAft>
              <a:defRPr sz="1200" b="1">
                <a:solidFill>
                  <a:srgbClr val="E67E22"/>
                </a:solidFill>
                <a:latin typeface="Microsoft YaHei"/>
              </a:defRPr>
            </a:pPr>
            <a:r>
              <a:t>  ★ 经典组合：父relative + 子absolute = 子元素相对父元素精确定位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3.1 超链接与伪类 — 导航条的灵魂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&lt;a&gt; 超链接标签：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格式：&lt;a href="目标URL" target="_self/_blank"&gt;链接文字&lt;/a&gt;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href — 链接目标地址（网页URL、锚点#id、邮件mailto:等）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target — _self(当前窗口) / _blank(新窗口)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伪类 (Pseudo-class) — 表示元素的特殊状态：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:link — 未访问的链接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:visited — 已访问的链接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:hover — 鼠标悬停时 ★最常用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:active — 鼠标按下时</a:t>
            </a:r>
          </a:p>
          <a:p>
            <a:pPr>
              <a:spcAft>
                <a:spcPts val="300"/>
              </a:spcAft>
              <a:defRPr sz="1200" b="1">
                <a:solidFill>
                  <a:srgbClr val="E74C3C"/>
                </a:solidFill>
                <a:latin typeface="Microsoft YaHei"/>
              </a:defRPr>
            </a:pPr>
            <a:r>
              <a:t>  ⚠ LVHA顺序不能乱！(LoVe HAte记忆法)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200400"/>
            <a:ext cx="5669280" cy="32004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98C379"/>
                </a:solidFill>
                <a:latin typeface="Consolas"/>
              </a:defRPr>
            </a:pPr>
            <a:r>
              <a:t>导航条 CSS 代码示例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/* 水平导航条核心CSS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.nav { background: #2c3e50; text-align: center; 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.nav a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display: inline-block;     /* 行内块：可设宽高+不换行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padding: 14px 24px;        /* 撑大点击区域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color: #fff;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text-decoration: none;     /* 去掉下划线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transition: all 0.3s;      /* 过渡动画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.nav a:hover { background: #e67e22; }      /* 悬停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.nav a:visited { color: #ddd; }            /* 已访问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.nav a:active { background: #d35400; }     /* 按下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/* 垂直导航条核心CSS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.vnav a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display: block;            /* 块状：独占一行+撑满宽度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padding: 12px 20px;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border-bottom: 1px solid #eee;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.vnav a:hover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background: #e67e22;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padding-left: 30px;        /* 悬停向右缩进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</a:t>
            </a:r>
          </a:p>
        </p:txBody>
      </p:sp>
      <p:pic>
        <p:nvPicPr>
          <p:cNvPr id="7" name="Picture 6" descr="demo_nav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57470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4.1 表单元素大全 — 不止有文本框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表单元素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HTML标签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关键属性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文本框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&lt;input type="text"&gt;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单行文本输入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placeholder, maxlength, value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密码框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&lt;input type="password"&gt;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密码输入(显示为***)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同文本框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单选按钮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&lt;input type="radio"&gt;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多选一（同name成组）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name, checked, value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复选框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&lt;input type="checkbox"&gt;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多选多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name, checked,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下拉列表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&lt;select&gt;&lt;option&gt;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节省空间的选项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selected, value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文本域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&lt;textarea&gt;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多行文本输入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rows, cols（建议用CSS控尺寸）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提交按钮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&lt;input type="submit"&gt;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提交表单数据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value(按钮文字)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重置按钮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&lt;input type="reset"&gt;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恢复表单默认值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普通按钮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&lt;input type="button"&gt;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触发JavaScript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onclick, value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8E44AD"/>
                </a:solidFill>
                <a:latin typeface="Microsoft YaHei"/>
              </a:defRPr>
            </a:pPr>
            <a:r>
              <a:t>通俗理解：表单就像一张电子问卷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&lt;form&gt; = 整张问卷纸（action是提交到哪，method是提交方式）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&lt;label&gt; = 问题标题（点击标题就能跳到对应输入框）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&lt;input&gt; = 各种答题方式：填空题(text)、单选题(radio)、多选题(checkbox)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&lt;select&gt; = 下拉选择题，&lt;textarea&gt; = 简答题（多行文字）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5.1 两栏布局 — 最经典的网页布局模式</a:t>
            </a:r>
          </a:p>
        </p:txBody>
      </p:sp>
      <p:pic>
        <p:nvPicPr>
          <p:cNvPr id="5" name="Picture 4" descr="demo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4457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92240" y="1005840"/>
            <a:ext cx="5303520" cy="32004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98C379"/>
                </a:solidFill>
                <a:latin typeface="Consolas"/>
              </a:defRPr>
            </a:pPr>
            <a:r>
              <a:t>布局核心CSS代码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/* === 两栏固定宽度布局 (总宽800px) ===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.wrap { width: 800px; margin: 0 auto; }    /* 居中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.left { float: left; width: 180px; }       /* 左栏固定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.main { margin-left: 210px; }               /* 右栏自适应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.footer { clear: both; }                    /* 清除浮动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/* === 两栏可变宽度布局 ===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.wrap { max-width: 800px; min-width: 500px; margin: 0 auto; 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.left { float: left; width: 180px; 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.main { margin-left: 210px; 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/* === 三栏固定宽度布局 === */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.left { float: left; width: 180px; 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.right { float: right; width: 180px; 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.main { margin: 0 200px; }              /* 中间自适应 */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43891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布局关键点：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① 固定宽度 = 给容器设 width: xxx px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② 可变宽度 = 用 min-width + max-width 限制范围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③ 中间栏自适应 = 不用width，用margin让出左右空间</a:t>
            </a:r>
          </a:p>
          <a:p>
            <a:pPr>
              <a:spcAft>
                <a:spcPts val="3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④ 框架布局 = &lt;frameset&gt; + &lt;frame&gt;，适合后台管理系统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6.1 JS基础语法速查 — 变量、类型、条件、循环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669280" cy="50292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98C379"/>
                </a:solidFill>
                <a:latin typeface="Consolas"/>
              </a:defRPr>
            </a:pPr>
            <a:r>
              <a:t>JavaScript 基础语法示例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=== 变量声明 ===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name = "张三";           // String 字符串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age = 20;                // Number 数字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isStudent = true;        // Boolean 布尔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=== 类型转换 ===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n = Number("123");       // 字符串-&gt;数字: 123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s = String(456);         // 数字-&gt;字符串:"456"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x = parseInt("42px");    // 提取整数: 42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=== 条件判断 ===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if (age &gt;= 18)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document.write("成年人");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 else if (age &gt;= 13)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document.write("青少年");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 else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document.write("儿童");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=== 数组 ===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arr = ["HTML", "CSS", "JS"];  // 方法一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arr2 = new Array(3);           // 方法二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arr[0];  // "HTML" (下标从0开始!)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arr.length; // 3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=== 循环 ===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for (var i = 0; i &lt; arr.length; i++)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document.write(arr[i]);      // 遍历数组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j = 0;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while (j &lt; 3) { j++; }        // while循环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do { j++; } while (j &lt; 5);    // 至少执行一次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for (var k in arr) { ... }    // 遍历属性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D35400"/>
                </a:solidFill>
                <a:latin typeface="Microsoft YaHei"/>
              </a:defRPr>
            </a:pPr>
            <a:r>
              <a:t>人话解读：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变量 = 贴了标签的盒子，用来存数据。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var score = 90; // 盒子叫score，里面放了90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数据类型 = 盒子里能放什么东西：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String = 一串文字，用引号包起来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Number = 数字，可以加减乘除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Boolean = 只有true/false两个值，像开关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if条件 = 生活中的如果...就...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if(分数&gt;=60) { 及格 } else { 不及格 }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数组 = 带编号的储物柜，每个格子放一个东西</a:t>
            </a:r>
          </a:p>
          <a:p>
            <a:pPr>
              <a:spcAft>
                <a:spcPts val="300"/>
              </a:spcAft>
              <a:defRPr sz="1100" b="0">
                <a:solidFill>
                  <a:srgbClr val="E74C3C"/>
                </a:solidFill>
                <a:latin typeface="Microsoft YaHei"/>
              </a:defRPr>
            </a:pPr>
            <a:r>
              <a:t>  arr[0]是第一个，arr[1]是第二个...注意编号从0开始！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循环 = 重复干一件事，直到满足条件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for循环最常用：知道要循环多少次时使用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while循环：不知道次数，只要条件成立就一直做</a:t>
            </a:r>
          </a:p>
          <a:p>
            <a:pPr>
              <a:spcAft>
                <a:spcPts val="300"/>
              </a:spcAft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  ⚠ 死循环 = 条件永远成立，浏览器会卡死！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48463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运算符类型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符号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 (x=10)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算术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+ - * / 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加减乘除取余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x%3 = 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算术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++ 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自增自减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x++ -&gt;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比较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== === !=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等于/全等/不等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x==10 true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&gt; &lt; &gt;= &lt;=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大小比较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大于/小于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x&gt;5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逻辑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&amp;&amp;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与：两边都true才true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(x&gt;5 &amp;&amp; x&lt;20) true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逻辑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||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或：一边true就true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(x&lt;5 || x&gt;5)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逻辑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!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非：取反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!(x==5) true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7.1 DOM 核心操作 — 获取元素 + 操控样式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669280" cy="48463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98C379"/>
                </a:solidFill>
                <a:latin typeface="Consolas"/>
              </a:defRPr>
            </a:pPr>
            <a:r>
              <a:t>DOM 操作代码示例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=== 函数定义 ===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function changeColor(color) {        // 有参函数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var box = document.getElementById("box");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box.style.backgroundColor = color; // 修改背景色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=== 五种获取元素的方法 ===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1. 通过id（最常用，返回单个元素）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el = document.getElementById("myId");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2. 通过name（返回数组/集合）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els = document.getElementsByName("sex");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3. 通过标签名（返回集合）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ps = document.getElementsByTagName("p");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4. 通过class名（返回集合）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items = document.getElementsByClassName("item");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5. 通过节点树关系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parent = el.parentNode;          // 父节点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children = el.childNodes;        // 子节点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next = el.nextSibling;           // 下一个兄弟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=== 事件绑定（方法二：JS端绑定） ===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window.onload = function()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var btn = document.getElementById("btn");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btn.onclick = function() {         // 点击事件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  alert("按钮被点击了！");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};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DOM 通俗理解：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DOM 就是浏览器把HTML文档解析成一棵家族树：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根节点 &lt;html&gt;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|-- &lt;head&gt; (子节点)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|-- &lt;body&gt; (子节点)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    |-- &lt;div id=header&gt;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    |-- &lt;div id=main&gt;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     |-- &lt;div id=footer&gt;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D35400"/>
                </a:solidFill>
                <a:latin typeface="Microsoft YaHei"/>
              </a:defRPr>
            </a:pPr>
            <a:r>
              <a:t>JavaScript 通过这棵树可以：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① 找到任意元素（像用遥控器选中目标）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② 修改元素内容（element.innerHTML = 新内容）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③ 修改元素样式（element.style.color = red）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④ 添加/删除元素（createElement/removeChild）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2980B9"/>
                </a:solidFill>
                <a:latin typeface="Microsoft YaHei"/>
              </a:defRPr>
            </a:pPr>
            <a:r>
              <a:t>事件 = 网页上的动作：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onclick — 鼠标点击 | onload — 页面加载完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onmouseover — 鼠标移入 | onmouseout — 鼠标移出</a:t>
            </a:r>
          </a:p>
          <a:p>
            <a:pPr>
              <a:spcAft>
                <a:spcPts val="300"/>
              </a:spcAft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onchange — 内容改变 | onsubmit — 表单提交</a:t>
            </a:r>
          </a:p>
          <a:p>
            <a:pPr>
              <a:spcAft>
                <a:spcPts val="300"/>
              </a:spcAft>
              <a:defRPr sz="5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人话：事件就是当XX发生时，执行YY的编程方式。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比如当按钮被点击时，弹出一个对话框。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8.1 定时器 + 表单验证 — JS实战两大核心</a:t>
            </a:r>
          </a:p>
        </p:txBody>
      </p:sp>
      <p:pic>
        <p:nvPicPr>
          <p:cNvPr id="5" name="Picture 4" descr="demo_j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4457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92240" y="1005840"/>
            <a:ext cx="5303520" cy="34747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98C379"/>
                </a:solidFill>
                <a:latin typeface="Consolas"/>
              </a:defRPr>
            </a:pPr>
            <a:r>
              <a:t>特效代码示例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=== 定时器：打字效果 ===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msg = "欢迎学习网页设计！";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i = 0;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function typeWriter()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if (i &lt; msg.length)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  document.getElementById("output")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    .textContent = msg.substring(0, i+1);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  i++;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  setTimeout(typeWriter, 100);  // 100ms打一个字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=== 动态时钟 ===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function showTime()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var now = new Date();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var h = now.getHours();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var m = now.getMinutes();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var s = now.getSeconds();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document.getElementById("clock")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  .textContent = h + ":" + m + ":" + s;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setTimeout(showTime, 1000);     // 每秒更新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=== 表单验证：正则表达式 ===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function checkPwd()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var pwd = document.getElementById("pwd").value;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var reg = /^[0-9A-Za-z]{8,}$/;  // 至少8位数字字母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if (!reg.test(pwd))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  alert("密码必须8位以上数字和字母！");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  return false;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return true;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定时器人话：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setInterval = 每隔X毫秒做一次（循环闹钟）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setTimeout = X毫秒后做一次（一次性闹钟）</a:t>
            </a:r>
          </a:p>
          <a:p>
            <a:pPr>
              <a:spcAft>
                <a:spcPts val="3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清除定时器：clearInterval(id) / clearTimeout(id)，避免后台一直运行占用资源</a:t>
            </a:r>
          </a:p>
          <a:p>
            <a:pPr>
              <a:spcAft>
                <a:spcPts val="300"/>
              </a:spcAft>
              <a:defRPr sz="300" b="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表单验证人话：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正则表达式 = 描述字符串长相的规则，如 /^[0-9A-Za-z]+$/ 表示只能包含数字和字母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onsubmit = 提交前先检查，return false 阻止提交，return true 放行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1695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8.2 网页常用特效总结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特效类别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核心技术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应用场景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关键注意点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文本打字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setTimeout + substring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公告滚动、欢迎语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定时器用完要clear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图片切换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onmouseover + 透明度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产品图集、轮播图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hover与自动播放同步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动态时钟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Date对象 + setInterval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网页时钟、倒计时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用setTimeout自调用更安全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表单验证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正则 + onsubmit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注册/登录页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每个字段独立验证函数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导航下拉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JS控制display/height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多级菜单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注意过渡动画平滑性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广告滚动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setInterval + scrollLeft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水平滚动广告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hover时暂停滚动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4114800"/>
            <a:ext cx="5669280" cy="25603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900" b="1">
                <a:solidFill>
                  <a:srgbClr val="98C379"/>
                </a:solidFill>
                <a:latin typeface="Consolas"/>
              </a:defRPr>
            </a:pPr>
            <a:r>
              <a:t>Date对象 + switch语句示例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Date对象常用方法速查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var d = new Date();           // 创建日期对象(当前时间)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d.getFullYear();  // 年: 2026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d.getMonth();     // 月: 0-11 (0=一月！需+1)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d.getDate();      // 日: 1-31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d.getDay();       // 星期: 0-6 (0=周日)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d.getHours();     // 时: 0-23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d.getMinutes();   // 分: 0-59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d.getSeconds();   // 秒: 0-59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// switch 语句（比多层if更清晰）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switch(day) {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case 0: str="星期日"; break;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case 1: str="星期一"; break;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// ... 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case 6: str="星期六"; break;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  default: str="未知";</a:t>
            </a:r>
          </a:p>
          <a:p>
            <a:pPr>
              <a:spcAft>
                <a:spcPts val="100"/>
              </a:spcAft>
              <a:defRPr sz="800">
                <a:solidFill>
                  <a:srgbClr val="DCDFE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⚠ 常见陷阱提醒：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getMonth() 返回值 0-11！0代表一月，使用时要 +1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getDay() 返回 0-6，0代表周日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setInterval 可能累积误差，用setTimeout递归调用更精确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正则表达式中的^和$表示字符串开头和结尾，限定整个字符串</a:t>
            </a:r>
          </a:p>
          <a:p>
            <a:pPr>
              <a:spcAft>
                <a:spcPts val="3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  定时器不用时要clear，否则后台一直运行浪费资源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学习路径总结 — 从入门到实战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651760" cy="1920240"/>
          </a:xfrm>
          <a:prstGeom prst="rect">
            <a:avLst/>
          </a:prstGeom>
          <a:solidFill>
            <a:srgbClr val="24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M1 文字排版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HTML标签</a:t>
            </a:r>
            <a:br/>
            <a:r>
              <a:t>CSS属性</a:t>
            </a:r>
            <a:br/>
            <a:r>
              <a:t>盒子模型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2011680"/>
            <a:ext cx="2651760" cy="1920240"/>
          </a:xfrm>
          <a:prstGeom prst="rect">
            <a:avLst/>
          </a:prstGeom>
          <a:solidFill>
            <a:srgbClr val="24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M2 图文混排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560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浮动Float</a:t>
            </a:r>
            <a:br/>
            <a:r>
              <a:t>定位Position</a:t>
            </a:r>
            <a:br/>
            <a:r>
              <a:t>行内vs块状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2651760" cy="1920240"/>
          </a:xfrm>
          <a:prstGeom prst="rect">
            <a:avLst/>
          </a:prstGeom>
          <a:solidFill>
            <a:srgbClr val="24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M3 导航条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超链接&lt;a&gt;</a:t>
            </a:r>
            <a:br/>
            <a:r>
              <a:t>伪类:hover</a:t>
            </a:r>
            <a:br/>
            <a:r>
              <a:t>display模式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2011680"/>
            <a:ext cx="2651760" cy="1920240"/>
          </a:xfrm>
          <a:prstGeom prst="rect">
            <a:avLst/>
          </a:prstGeom>
          <a:solidFill>
            <a:srgbClr val="24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M4 表单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560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form元素</a:t>
            </a:r>
            <a:br/>
            <a:r>
              <a:t>单选复选</a:t>
            </a:r>
            <a:br/>
            <a:r>
              <a:t>表单验证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2651760" cy="1920240"/>
          </a:xfrm>
          <a:prstGeom prst="rect">
            <a:avLst/>
          </a:prstGeom>
          <a:solidFill>
            <a:srgbClr val="24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M5 页面布局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两栏/三栏</a:t>
            </a:r>
            <a:br/>
            <a:r>
              <a:t>固定/可变</a:t>
            </a:r>
            <a:br/>
            <a:r>
              <a:t>框架布局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4297680"/>
            <a:ext cx="2651760" cy="1920240"/>
          </a:xfrm>
          <a:prstGeom prst="rect">
            <a:avLst/>
          </a:prstGeom>
          <a:solidFill>
            <a:srgbClr val="24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M6 JS基础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846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变量类型</a:t>
            </a:r>
            <a:br/>
            <a:r>
              <a:t>条件循环</a:t>
            </a:r>
            <a:br/>
            <a:r>
              <a:t>数组对象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297680"/>
            <a:ext cx="2651760" cy="1920240"/>
          </a:xfrm>
          <a:prstGeom prst="rect">
            <a:avLst/>
          </a:prstGeom>
          <a:solidFill>
            <a:srgbClr val="24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M7 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846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函数事件</a:t>
            </a:r>
            <a:br/>
            <a:r>
              <a:t>获取元素</a:t>
            </a:r>
            <a:br/>
            <a:r>
              <a:t>操控样式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297680"/>
            <a:ext cx="2651760" cy="1920240"/>
          </a:xfrm>
          <a:prstGeom prst="rect">
            <a:avLst/>
          </a:prstGeom>
          <a:solidFill>
            <a:srgbClr val="24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M8 特效实战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846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定时器动画</a:t>
            </a:r>
            <a:br/>
            <a:r>
              <a:t>日期特效</a:t>
            </a:r>
            <a:br/>
            <a:r>
              <a:t>表单验证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建议学习顺序：M1 -&gt; M2 -&gt; M3 -&gt; M4 -&gt; M5 -&gt; M6 -&gt; M7 -&gt; M8    |    每个模块：概念理解 + 代码练习 + 效果预览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
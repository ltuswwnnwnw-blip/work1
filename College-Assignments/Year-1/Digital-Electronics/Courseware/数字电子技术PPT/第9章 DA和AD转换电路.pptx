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0"/>
  </p:notesMasterIdLst>
  <p:handoutMasterIdLst>
    <p:handoutMasterId r:id="rId61"/>
  </p:handoutMasterIdLst>
  <p:sldIdLst>
    <p:sldId id="563" r:id="rId3"/>
    <p:sldId id="261" r:id="rId4"/>
    <p:sldId id="259" r:id="rId5"/>
    <p:sldId id="1088" r:id="rId6"/>
    <p:sldId id="1090" r:id="rId7"/>
    <p:sldId id="1091" r:id="rId8"/>
    <p:sldId id="1092" r:id="rId9"/>
    <p:sldId id="1183" r:id="rId10"/>
    <p:sldId id="1184" r:id="rId11"/>
    <p:sldId id="1185" r:id="rId12"/>
    <p:sldId id="1186" r:id="rId13"/>
    <p:sldId id="1187" r:id="rId14"/>
    <p:sldId id="1188" r:id="rId15"/>
    <p:sldId id="1189" r:id="rId16"/>
    <p:sldId id="1191" r:id="rId17"/>
    <p:sldId id="1190" r:id="rId18"/>
    <p:sldId id="1093" r:id="rId19"/>
    <p:sldId id="1194" r:id="rId20"/>
    <p:sldId id="1195" r:id="rId21"/>
    <p:sldId id="1196" r:id="rId22"/>
    <p:sldId id="1197" r:id="rId23"/>
    <p:sldId id="1198" r:id="rId24"/>
    <p:sldId id="1199" r:id="rId25"/>
    <p:sldId id="1200" r:id="rId26"/>
    <p:sldId id="1202" r:id="rId27"/>
    <p:sldId id="1203" r:id="rId28"/>
    <p:sldId id="1204" r:id="rId29"/>
    <p:sldId id="1205" r:id="rId30"/>
    <p:sldId id="1206" r:id="rId31"/>
    <p:sldId id="1239" r:id="rId32"/>
    <p:sldId id="1240" r:id="rId33"/>
    <p:sldId id="1241" r:id="rId34"/>
    <p:sldId id="1242" r:id="rId35"/>
    <p:sldId id="1243" r:id="rId36"/>
    <p:sldId id="1244" r:id="rId37"/>
    <p:sldId id="1245" r:id="rId38"/>
    <p:sldId id="1246" r:id="rId39"/>
    <p:sldId id="1247" r:id="rId40"/>
    <p:sldId id="1248" r:id="rId41"/>
    <p:sldId id="1249" r:id="rId42"/>
    <p:sldId id="1250" r:id="rId43"/>
    <p:sldId id="1251" r:id="rId44"/>
    <p:sldId id="1252" r:id="rId45"/>
    <p:sldId id="1253" r:id="rId46"/>
    <p:sldId id="1254" r:id="rId47"/>
    <p:sldId id="1255" r:id="rId48"/>
    <p:sldId id="1256" r:id="rId49"/>
    <p:sldId id="1257" r:id="rId50"/>
    <p:sldId id="1258" r:id="rId51"/>
    <p:sldId id="1259" r:id="rId52"/>
    <p:sldId id="1260" r:id="rId53"/>
    <p:sldId id="1261" r:id="rId54"/>
    <p:sldId id="1262" r:id="rId55"/>
    <p:sldId id="541" r:id="rId56"/>
    <p:sldId id="542" r:id="rId57"/>
    <p:sldId id="1207" r:id="rId58"/>
    <p:sldId id="468" r:id="rId59"/>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iongjie" initials="x"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66"/>
    <a:srgbClr val="1318F3"/>
    <a:srgbClr val="FE09D6"/>
    <a:srgbClr val="007F00"/>
    <a:srgbClr val="9B9300"/>
    <a:srgbClr val="02115E"/>
    <a:srgbClr val="FE1CD6"/>
    <a:srgbClr val="070707"/>
    <a:srgbClr val="FF9900"/>
    <a:srgbClr val="92D0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71" d="100"/>
          <a:sy n="71" d="100"/>
        </p:scale>
        <p:origin x="-756" y="-90"/>
      </p:cViewPr>
      <p:guideLst>
        <p:guide orient="horz" pos="2396"/>
        <p:guide pos="2894"/>
      </p:guideLst>
    </p:cSldViewPr>
  </p:slideViewPr>
  <p:notesTextViewPr>
    <p:cViewPr>
      <p:scale>
        <a:sx n="100" d="100"/>
        <a:sy n="100" d="100"/>
      </p:scale>
      <p:origin x="0" y="0"/>
    </p:cViewPr>
  </p:notesTextViewPr>
  <p:sorterViewPr showFormatting="0">
    <p:cViewPr>
      <p:scale>
        <a:sx n="66" d="100"/>
        <a:sy n="66" d="100"/>
      </p:scale>
      <p:origin x="0" y="696"/>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5" Type="http://schemas.openxmlformats.org/officeDocument/2006/relationships/commentAuthors" Target="commentAuthors.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handoutMaster" Target="handoutMasters/handoutMaster1.xml"/><Relationship Id="rId60" Type="http://schemas.openxmlformats.org/officeDocument/2006/relationships/notesMaster" Target="notesMasters/notesMaster1.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2.wmf"/></Relationships>
</file>

<file path=ppt/drawings/_rels/vmlDrawing6.vml.rels><?xml version="1.0" encoding="UTF-8" standalone="yes"?>
<Relationships xmlns="http://schemas.openxmlformats.org/package/2006/relationships"><Relationship Id="rId5" Type="http://schemas.openxmlformats.org/officeDocument/2006/relationships/image" Target="../media/image38.wmf"/><Relationship Id="rId4" Type="http://schemas.openxmlformats.org/officeDocument/2006/relationships/image" Target="../media/image37.wmf"/><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0.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62.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63.wmf"/></Relationships>
</file>

<file path=ppt/drawings/_rels/vmlDrawing14.vml.rels><?xml version="1.0" encoding="UTF-8" standalone="yes"?>
<Relationships xmlns="http://schemas.openxmlformats.org/package/2006/relationships"><Relationship Id="rId4" Type="http://schemas.openxmlformats.org/officeDocument/2006/relationships/image" Target="../media/image81.wmf"/><Relationship Id="rId3" Type="http://schemas.openxmlformats.org/officeDocument/2006/relationships/image" Target="../media/image80.wmf"/><Relationship Id="rId2" Type="http://schemas.openxmlformats.org/officeDocument/2006/relationships/image" Target="../media/image79.wmf"/><Relationship Id="rId1" Type="http://schemas.openxmlformats.org/officeDocument/2006/relationships/image" Target="../media/image7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D4CE3B78-4C24-40AA-B3C7-9D99C1C50DA8}"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ea typeface="+mn-ea"/>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EBB3A8F-C92E-4D35-9C30-EEB82B447B3F}"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image" Target="../media/image7.png"/><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1" Type="http://schemas.openxmlformats.org/officeDocument/2006/relationships/image" Target="../media/image10.png"/><Relationship Id="rId10" Type="http://schemas.openxmlformats.org/officeDocument/2006/relationships/image" Target="../media/image9.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PhAnim="0" showMasterSp="0">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18" name="Rectangle 127"/>
          <p:cNvSpPr>
            <a:spLocks noChangeArrowheads="1"/>
          </p:cNvSpPr>
          <p:nvPr/>
        </p:nvSpPr>
        <p:spPr bwMode="gray">
          <a:xfrm>
            <a:off x="0" y="0"/>
            <a:ext cx="9144000" cy="18288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2051" name="Group 15"/>
          <p:cNvGrpSpPr/>
          <p:nvPr/>
        </p:nvGrpSpPr>
        <p:grpSpPr>
          <a:xfrm>
            <a:off x="152400" y="381000"/>
            <a:ext cx="6838950" cy="3365500"/>
            <a:chOff x="664" y="1951"/>
            <a:chExt cx="4308" cy="2120"/>
          </a:xfrm>
        </p:grpSpPr>
        <p:sp>
          <p:nvSpPr>
            <p:cNvPr id="2066" name="Freeform 16"/>
            <p:cNvSpPr/>
            <p:nvPr/>
          </p:nvSpPr>
          <p:spPr>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w="12700">
              <a:noFill/>
            </a:ln>
          </p:spPr>
          <p:txBody>
            <a:bodyPr/>
            <a:p>
              <a:endParaRPr lang="zh-CN" altLang="en-US"/>
            </a:p>
          </p:txBody>
        </p:sp>
        <p:sp>
          <p:nvSpPr>
            <p:cNvPr id="2067" name="Freeform 17"/>
            <p:cNvSpPr/>
            <p:nvPr/>
          </p:nvSpPr>
          <p:spPr>
            <a:xfrm>
              <a:off x="703" y="2230"/>
              <a:ext cx="34" cy="28"/>
            </a:xfrm>
            <a:custGeom>
              <a:avLst/>
              <a:gdLst/>
              <a:ahLst/>
              <a:cxnLst>
                <a:cxn ang="0">
                  <a:pos x="16" y="4"/>
                </a:cxn>
                <a:cxn ang="0">
                  <a:pos x="0" y="22"/>
                </a:cxn>
                <a:cxn ang="0">
                  <a:pos x="22" y="38"/>
                </a:cxn>
                <a:cxn ang="0">
                  <a:pos x="46" y="26"/>
                </a:cxn>
                <a:cxn ang="0">
                  <a:pos x="30" y="0"/>
                </a:cxn>
                <a:cxn ang="0">
                  <a:pos x="16" y="4"/>
                </a:cxn>
              </a:cxnLst>
              <a:pathLst>
                <a:path w="46" h="38">
                  <a:moveTo>
                    <a:pt x="16" y="4"/>
                  </a:moveTo>
                  <a:lnTo>
                    <a:pt x="0" y="22"/>
                  </a:lnTo>
                  <a:lnTo>
                    <a:pt x="22" y="38"/>
                  </a:lnTo>
                  <a:lnTo>
                    <a:pt x="46" y="26"/>
                  </a:lnTo>
                  <a:lnTo>
                    <a:pt x="30" y="0"/>
                  </a:lnTo>
                  <a:lnTo>
                    <a:pt x="16" y="4"/>
                  </a:lnTo>
                  <a:close/>
                </a:path>
              </a:pathLst>
            </a:custGeom>
            <a:solidFill>
              <a:srgbClr val="FEFEFE">
                <a:alpha val="30196"/>
              </a:srgbClr>
            </a:solidFill>
            <a:ln w="12700">
              <a:noFill/>
            </a:ln>
          </p:spPr>
          <p:txBody>
            <a:bodyPr/>
            <a:p>
              <a:endParaRPr lang="zh-CN" altLang="en-US"/>
            </a:p>
          </p:txBody>
        </p:sp>
        <p:sp>
          <p:nvSpPr>
            <p:cNvPr id="2068" name="Freeform 18"/>
            <p:cNvSpPr/>
            <p:nvPr/>
          </p:nvSpPr>
          <p:spPr>
            <a:xfrm>
              <a:off x="1010" y="2353"/>
              <a:ext cx="39" cy="32"/>
            </a:xfrm>
            <a:custGeom>
              <a:avLst/>
              <a:gdLst/>
              <a:ahLst/>
              <a:cxnLst>
                <a:cxn ang="0">
                  <a:pos x="12" y="0"/>
                </a:cxn>
                <a:cxn ang="0">
                  <a:pos x="26" y="44"/>
                </a:cxn>
                <a:cxn ang="0">
                  <a:pos x="42" y="42"/>
                </a:cxn>
                <a:cxn ang="0">
                  <a:pos x="38" y="16"/>
                </a:cxn>
                <a:cxn ang="0">
                  <a:pos x="26" y="2"/>
                </a:cxn>
                <a:cxn ang="0">
                  <a:pos x="12" y="0"/>
                </a:cxn>
              </a:cxnLst>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w="12700">
              <a:noFill/>
            </a:ln>
          </p:spPr>
          <p:txBody>
            <a:bodyPr/>
            <a:p>
              <a:endParaRPr lang="zh-CN" altLang="en-US"/>
            </a:p>
          </p:txBody>
        </p:sp>
        <p:sp>
          <p:nvSpPr>
            <p:cNvPr id="2069" name="Freeform 19"/>
            <p:cNvSpPr/>
            <p:nvPr/>
          </p:nvSpPr>
          <p:spPr>
            <a:xfrm>
              <a:off x="1792" y="2409"/>
              <a:ext cx="98" cy="74"/>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w="12700">
              <a:noFill/>
            </a:ln>
          </p:spPr>
          <p:txBody>
            <a:bodyPr/>
            <a:p>
              <a:endParaRPr lang="zh-CN" altLang="en-US"/>
            </a:p>
          </p:txBody>
        </p:sp>
        <p:sp>
          <p:nvSpPr>
            <p:cNvPr id="2070" name="Freeform 20"/>
            <p:cNvSpPr/>
            <p:nvPr/>
          </p:nvSpPr>
          <p:spPr>
            <a:xfrm>
              <a:off x="1318" y="2793"/>
              <a:ext cx="158" cy="84"/>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w="12700">
              <a:noFill/>
            </a:ln>
          </p:spPr>
          <p:txBody>
            <a:bodyPr/>
            <a:p>
              <a:endParaRPr lang="zh-CN" altLang="en-US"/>
            </a:p>
          </p:txBody>
        </p:sp>
        <p:sp>
          <p:nvSpPr>
            <p:cNvPr id="2071" name="Freeform 21"/>
            <p:cNvSpPr/>
            <p:nvPr/>
          </p:nvSpPr>
          <p:spPr>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w="12700">
              <a:noFill/>
            </a:ln>
          </p:spPr>
          <p:txBody>
            <a:bodyPr/>
            <a:p>
              <a:endParaRPr lang="zh-CN" altLang="en-US"/>
            </a:p>
          </p:txBody>
        </p:sp>
        <p:sp>
          <p:nvSpPr>
            <p:cNvPr id="2072" name="Freeform 22"/>
            <p:cNvSpPr/>
            <p:nvPr/>
          </p:nvSpPr>
          <p:spPr>
            <a:xfrm>
              <a:off x="1553" y="2883"/>
              <a:ext cx="38"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73" name="Freeform 23"/>
            <p:cNvSpPr/>
            <p:nvPr/>
          </p:nvSpPr>
          <p:spPr>
            <a:xfrm>
              <a:off x="1609" y="2886"/>
              <a:ext cx="12" cy="25"/>
            </a:xfrm>
            <a:custGeom>
              <a:avLst/>
              <a:gdLst/>
              <a:ahLst/>
              <a:cxnLst>
                <a:cxn ang="0">
                  <a:pos x="14" y="0"/>
                </a:cxn>
                <a:cxn ang="0">
                  <a:pos x="0" y="14"/>
                </a:cxn>
                <a:cxn ang="0">
                  <a:pos x="16" y="34"/>
                </a:cxn>
                <a:cxn ang="0">
                  <a:pos x="12" y="18"/>
                </a:cxn>
                <a:cxn ang="0">
                  <a:pos x="16" y="6"/>
                </a:cxn>
                <a:cxn ang="0">
                  <a:pos x="14" y="0"/>
                </a:cxn>
              </a:cxnLst>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w="12700">
              <a:noFill/>
            </a:ln>
          </p:spPr>
          <p:txBody>
            <a:bodyPr/>
            <a:p>
              <a:endParaRPr lang="zh-CN" altLang="en-US"/>
            </a:p>
          </p:txBody>
        </p:sp>
        <p:sp>
          <p:nvSpPr>
            <p:cNvPr id="2074" name="Freeform 24"/>
            <p:cNvSpPr/>
            <p:nvPr/>
          </p:nvSpPr>
          <p:spPr>
            <a:xfrm>
              <a:off x="1426" y="2040"/>
              <a:ext cx="180" cy="88"/>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w="12700">
              <a:noFill/>
            </a:ln>
          </p:spPr>
          <p:txBody>
            <a:bodyPr/>
            <a:p>
              <a:endParaRPr lang="zh-CN" altLang="en-US"/>
            </a:p>
          </p:txBody>
        </p:sp>
        <p:sp>
          <p:nvSpPr>
            <p:cNvPr id="2075" name="Freeform 25"/>
            <p:cNvSpPr/>
            <p:nvPr/>
          </p:nvSpPr>
          <p:spPr>
            <a:xfrm>
              <a:off x="1506" y="1999"/>
              <a:ext cx="146" cy="60"/>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w="12700">
              <a:noFill/>
            </a:ln>
          </p:spPr>
          <p:txBody>
            <a:bodyPr/>
            <a:p>
              <a:endParaRPr lang="zh-CN" altLang="en-US"/>
            </a:p>
          </p:txBody>
        </p:sp>
        <p:sp>
          <p:nvSpPr>
            <p:cNvPr id="2076" name="Freeform 26"/>
            <p:cNvSpPr/>
            <p:nvPr/>
          </p:nvSpPr>
          <p:spPr>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w="12700">
              <a:noFill/>
            </a:ln>
          </p:spPr>
          <p:txBody>
            <a:bodyPr/>
            <a:p>
              <a:endParaRPr lang="zh-CN" altLang="en-US"/>
            </a:p>
          </p:txBody>
        </p:sp>
        <p:sp>
          <p:nvSpPr>
            <p:cNvPr id="2077" name="Freeform 27"/>
            <p:cNvSpPr/>
            <p:nvPr/>
          </p:nvSpPr>
          <p:spPr>
            <a:xfrm>
              <a:off x="1709" y="1987"/>
              <a:ext cx="44" cy="37"/>
            </a:xfrm>
            <a:custGeom>
              <a:avLst/>
              <a:gdLst/>
              <a:ahLst/>
              <a:cxnLst>
                <a:cxn ang="0">
                  <a:pos x="26" y="0"/>
                </a:cxn>
                <a:cxn ang="0">
                  <a:pos x="0" y="10"/>
                </a:cxn>
                <a:cxn ang="0">
                  <a:pos x="30" y="40"/>
                </a:cxn>
                <a:cxn ang="0">
                  <a:pos x="48" y="50"/>
                </a:cxn>
                <a:cxn ang="0">
                  <a:pos x="58" y="28"/>
                </a:cxn>
                <a:cxn ang="0">
                  <a:pos x="44" y="8"/>
                </a:cxn>
                <a:cxn ang="0">
                  <a:pos x="26" y="0"/>
                </a:cxn>
              </a:cxnLst>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w="12700">
              <a:noFill/>
            </a:ln>
          </p:spPr>
          <p:txBody>
            <a:bodyPr/>
            <a:p>
              <a:endParaRPr lang="zh-CN" altLang="en-US"/>
            </a:p>
          </p:txBody>
        </p:sp>
        <p:sp>
          <p:nvSpPr>
            <p:cNvPr id="2078" name="Freeform 28"/>
            <p:cNvSpPr/>
            <p:nvPr/>
          </p:nvSpPr>
          <p:spPr>
            <a:xfrm>
              <a:off x="1625" y="2057"/>
              <a:ext cx="65" cy="42"/>
            </a:xfrm>
            <a:custGeom>
              <a:avLst/>
              <a:gdLst/>
              <a:ahLst/>
              <a:cxnLst>
                <a:cxn ang="0">
                  <a:pos x="44" y="7"/>
                </a:cxn>
                <a:cxn ang="0">
                  <a:pos x="24" y="25"/>
                </a:cxn>
                <a:cxn ang="0">
                  <a:pos x="4" y="27"/>
                </a:cxn>
                <a:cxn ang="0">
                  <a:pos x="16" y="57"/>
                </a:cxn>
                <a:cxn ang="0">
                  <a:pos x="74" y="35"/>
                </a:cxn>
                <a:cxn ang="0">
                  <a:pos x="86" y="17"/>
                </a:cxn>
                <a:cxn ang="0">
                  <a:pos x="56" y="7"/>
                </a:cxn>
                <a:cxn ang="0">
                  <a:pos x="44" y="7"/>
                </a:cxn>
              </a:cxnLst>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w="12700">
              <a:noFill/>
            </a:ln>
          </p:spPr>
          <p:txBody>
            <a:bodyPr/>
            <a:p>
              <a:endParaRPr lang="zh-CN" altLang="en-US"/>
            </a:p>
          </p:txBody>
        </p:sp>
        <p:sp>
          <p:nvSpPr>
            <p:cNvPr id="2079" name="Freeform 29"/>
            <p:cNvSpPr/>
            <p:nvPr/>
          </p:nvSpPr>
          <p:spPr>
            <a:xfrm>
              <a:off x="1693" y="2065"/>
              <a:ext cx="54" cy="25"/>
            </a:xfrm>
            <a:custGeom>
              <a:avLst/>
              <a:gdLst/>
              <a:ahLst/>
              <a:cxnLst>
                <a:cxn ang="0">
                  <a:pos x="40" y="0"/>
                </a:cxn>
                <a:cxn ang="0">
                  <a:pos x="10" y="16"/>
                </a:cxn>
                <a:cxn ang="0">
                  <a:pos x="24" y="34"/>
                </a:cxn>
                <a:cxn ang="0">
                  <a:pos x="52" y="28"/>
                </a:cxn>
                <a:cxn ang="0">
                  <a:pos x="64" y="20"/>
                </a:cxn>
                <a:cxn ang="0">
                  <a:pos x="40" y="0"/>
                </a:cxn>
              </a:cxnLst>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w="12700">
              <a:noFill/>
            </a:ln>
          </p:spPr>
          <p:txBody>
            <a:bodyPr/>
            <a:p>
              <a:endParaRPr lang="zh-CN" altLang="en-US"/>
            </a:p>
          </p:txBody>
        </p:sp>
        <p:sp>
          <p:nvSpPr>
            <p:cNvPr id="2080" name="Freeform 30"/>
            <p:cNvSpPr/>
            <p:nvPr/>
          </p:nvSpPr>
          <p:spPr>
            <a:xfrm>
              <a:off x="1664" y="2029"/>
              <a:ext cx="64" cy="34"/>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w="12700">
              <a:noFill/>
            </a:ln>
          </p:spPr>
          <p:txBody>
            <a:bodyPr/>
            <a:p>
              <a:endParaRPr lang="zh-CN" altLang="en-US"/>
            </a:p>
          </p:txBody>
        </p:sp>
        <p:sp>
          <p:nvSpPr>
            <p:cNvPr id="2081" name="Freeform 31"/>
            <p:cNvSpPr/>
            <p:nvPr/>
          </p:nvSpPr>
          <p:spPr>
            <a:xfrm>
              <a:off x="1637" y="1997"/>
              <a:ext cx="44" cy="24"/>
            </a:xfrm>
            <a:custGeom>
              <a:avLst/>
              <a:gdLst/>
              <a:ahLst/>
              <a:cxnLst>
                <a:cxn ang="0">
                  <a:pos x="16" y="4"/>
                </a:cxn>
                <a:cxn ang="0">
                  <a:pos x="0" y="18"/>
                </a:cxn>
                <a:cxn ang="0">
                  <a:pos x="20" y="28"/>
                </a:cxn>
                <a:cxn ang="0">
                  <a:pos x="28" y="20"/>
                </a:cxn>
                <a:cxn ang="0">
                  <a:pos x="52" y="12"/>
                </a:cxn>
                <a:cxn ang="0">
                  <a:pos x="44" y="0"/>
                </a:cxn>
                <a:cxn ang="0">
                  <a:pos x="16" y="4"/>
                </a:cxn>
              </a:cxnLst>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w="12700">
              <a:noFill/>
            </a:ln>
          </p:spPr>
          <p:txBody>
            <a:bodyPr/>
            <a:p>
              <a:endParaRPr lang="zh-CN" altLang="en-US"/>
            </a:p>
          </p:txBody>
        </p:sp>
        <p:sp>
          <p:nvSpPr>
            <p:cNvPr id="2082" name="Freeform 32"/>
            <p:cNvSpPr/>
            <p:nvPr/>
          </p:nvSpPr>
          <p:spPr>
            <a:xfrm>
              <a:off x="1751" y="2000"/>
              <a:ext cx="114" cy="77"/>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w="12700">
              <a:noFill/>
            </a:ln>
          </p:spPr>
          <p:txBody>
            <a:bodyPr/>
            <a:p>
              <a:endParaRPr lang="zh-CN" altLang="en-US"/>
            </a:p>
          </p:txBody>
        </p:sp>
        <p:sp>
          <p:nvSpPr>
            <p:cNvPr id="2083" name="Freeform 33"/>
            <p:cNvSpPr/>
            <p:nvPr/>
          </p:nvSpPr>
          <p:spPr>
            <a:xfrm>
              <a:off x="664" y="2245"/>
              <a:ext cx="25" cy="15"/>
            </a:xfrm>
            <a:custGeom>
              <a:avLst/>
              <a:gdLst/>
              <a:ahLst/>
              <a:cxnLst>
                <a:cxn ang="0">
                  <a:pos x="34" y="0"/>
                </a:cxn>
                <a:cxn ang="0">
                  <a:pos x="24" y="20"/>
                </a:cxn>
                <a:cxn ang="0">
                  <a:pos x="4" y="18"/>
                </a:cxn>
                <a:cxn ang="0">
                  <a:pos x="4" y="6"/>
                </a:cxn>
                <a:cxn ang="0">
                  <a:pos x="34" y="0"/>
                </a:cxn>
              </a:cxnLst>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w="12700">
              <a:noFill/>
            </a:ln>
          </p:spPr>
          <p:txBody>
            <a:bodyPr/>
            <a:p>
              <a:endParaRPr lang="zh-CN" altLang="en-US"/>
            </a:p>
          </p:txBody>
        </p:sp>
        <p:sp>
          <p:nvSpPr>
            <p:cNvPr id="2084" name="Freeform 34"/>
            <p:cNvSpPr/>
            <p:nvPr/>
          </p:nvSpPr>
          <p:spPr>
            <a:xfrm>
              <a:off x="1421" y="2756"/>
              <a:ext cx="16" cy="12"/>
            </a:xfrm>
            <a:custGeom>
              <a:avLst/>
              <a:gdLst/>
              <a:ahLst/>
              <a:cxnLst>
                <a:cxn ang="0">
                  <a:pos x="3" y="0"/>
                </a:cxn>
                <a:cxn ang="0">
                  <a:pos x="13" y="16"/>
                </a:cxn>
                <a:cxn ang="0">
                  <a:pos x="3" y="0"/>
                </a:cxn>
              </a:cxnLst>
              <a:pathLst>
                <a:path w="21" h="16">
                  <a:moveTo>
                    <a:pt x="3" y="0"/>
                  </a:moveTo>
                  <a:cubicBezTo>
                    <a:pt x="0" y="9"/>
                    <a:pt x="6" y="11"/>
                    <a:pt x="13" y="16"/>
                  </a:cubicBezTo>
                  <a:cubicBezTo>
                    <a:pt x="21" y="4"/>
                    <a:pt x="16" y="2"/>
                    <a:pt x="3" y="0"/>
                  </a:cubicBezTo>
                  <a:close/>
                </a:path>
              </a:pathLst>
            </a:custGeom>
            <a:solidFill>
              <a:srgbClr val="FEFEFE">
                <a:alpha val="30196"/>
              </a:srgbClr>
            </a:solidFill>
            <a:ln w="12700">
              <a:noFill/>
            </a:ln>
          </p:spPr>
          <p:txBody>
            <a:bodyPr/>
            <a:p>
              <a:endParaRPr lang="zh-CN" altLang="en-US"/>
            </a:p>
          </p:txBody>
        </p:sp>
        <p:sp>
          <p:nvSpPr>
            <p:cNvPr id="2085" name="Freeform 35"/>
            <p:cNvSpPr/>
            <p:nvPr/>
          </p:nvSpPr>
          <p:spPr>
            <a:xfrm>
              <a:off x="1424" y="2781"/>
              <a:ext cx="16" cy="12"/>
            </a:xfrm>
            <a:custGeom>
              <a:avLst/>
              <a:gdLst/>
              <a:ahLst/>
              <a:cxnLst>
                <a:cxn ang="0">
                  <a:pos x="3" y="0"/>
                </a:cxn>
                <a:cxn ang="0">
                  <a:pos x="13" y="16"/>
                </a:cxn>
                <a:cxn ang="0">
                  <a:pos x="3" y="0"/>
                </a:cxn>
              </a:cxnLst>
              <a:pathLst>
                <a:path w="21" h="16">
                  <a:moveTo>
                    <a:pt x="3" y="0"/>
                  </a:moveTo>
                  <a:cubicBezTo>
                    <a:pt x="0" y="9"/>
                    <a:pt x="6" y="11"/>
                    <a:pt x="13" y="16"/>
                  </a:cubicBezTo>
                  <a:cubicBezTo>
                    <a:pt x="21" y="4"/>
                    <a:pt x="16" y="2"/>
                    <a:pt x="3" y="0"/>
                  </a:cubicBezTo>
                  <a:close/>
                </a:path>
              </a:pathLst>
            </a:custGeom>
            <a:solidFill>
              <a:srgbClr val="FEFEFE">
                <a:alpha val="30196"/>
              </a:srgbClr>
            </a:solidFill>
            <a:ln w="12700">
              <a:noFill/>
            </a:ln>
          </p:spPr>
          <p:txBody>
            <a:bodyPr/>
            <a:p>
              <a:endParaRPr lang="zh-CN" altLang="en-US"/>
            </a:p>
          </p:txBody>
        </p:sp>
        <p:sp>
          <p:nvSpPr>
            <p:cNvPr id="2086" name="Freeform 36"/>
            <p:cNvSpPr/>
            <p:nvPr/>
          </p:nvSpPr>
          <p:spPr>
            <a:xfrm>
              <a:off x="1628" y="2913"/>
              <a:ext cx="15" cy="12"/>
            </a:xfrm>
            <a:custGeom>
              <a:avLst/>
              <a:gdLst/>
              <a:ahLst/>
              <a:cxnLst>
                <a:cxn ang="0">
                  <a:pos x="3" y="0"/>
                </a:cxn>
                <a:cxn ang="0">
                  <a:pos x="13" y="16"/>
                </a:cxn>
                <a:cxn ang="0">
                  <a:pos x="3" y="0"/>
                </a:cxn>
              </a:cxnLst>
              <a:pathLst>
                <a:path w="21" h="16">
                  <a:moveTo>
                    <a:pt x="3" y="0"/>
                  </a:moveTo>
                  <a:cubicBezTo>
                    <a:pt x="0" y="9"/>
                    <a:pt x="6" y="11"/>
                    <a:pt x="13" y="16"/>
                  </a:cubicBezTo>
                  <a:cubicBezTo>
                    <a:pt x="21" y="4"/>
                    <a:pt x="16" y="2"/>
                    <a:pt x="3" y="0"/>
                  </a:cubicBezTo>
                  <a:close/>
                </a:path>
              </a:pathLst>
            </a:custGeom>
            <a:solidFill>
              <a:srgbClr val="FEFEFE">
                <a:alpha val="30196"/>
              </a:srgbClr>
            </a:solidFill>
            <a:ln w="12700">
              <a:noFill/>
            </a:ln>
          </p:spPr>
          <p:txBody>
            <a:bodyPr/>
            <a:p>
              <a:endParaRPr lang="zh-CN" altLang="en-US"/>
            </a:p>
          </p:txBody>
        </p:sp>
        <p:sp>
          <p:nvSpPr>
            <p:cNvPr id="2087" name="Freeform 37"/>
            <p:cNvSpPr/>
            <p:nvPr/>
          </p:nvSpPr>
          <p:spPr>
            <a:xfrm>
              <a:off x="1752" y="2429"/>
              <a:ext cx="38"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88" name="Freeform 38"/>
            <p:cNvSpPr/>
            <p:nvPr/>
          </p:nvSpPr>
          <p:spPr>
            <a:xfrm>
              <a:off x="1652" y="2224"/>
              <a:ext cx="38"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89" name="Freeform 39"/>
            <p:cNvSpPr/>
            <p:nvPr/>
          </p:nvSpPr>
          <p:spPr>
            <a:xfrm>
              <a:off x="1717" y="2045"/>
              <a:ext cx="39"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90" name="Freeform 40"/>
            <p:cNvSpPr/>
            <p:nvPr/>
          </p:nvSpPr>
          <p:spPr>
            <a:xfrm>
              <a:off x="1780" y="2153"/>
              <a:ext cx="38" cy="18"/>
            </a:xfrm>
            <a:custGeom>
              <a:avLst/>
              <a:gdLst/>
              <a:ahLst/>
              <a:cxnLst>
                <a:cxn ang="0">
                  <a:pos x="13" y="0"/>
                </a:cxn>
                <a:cxn ang="0">
                  <a:pos x="7" y="18"/>
                </a:cxn>
                <a:cxn ang="0">
                  <a:pos x="27" y="24"/>
                </a:cxn>
                <a:cxn ang="0">
                  <a:pos x="33" y="4"/>
                </a:cxn>
                <a:cxn ang="0">
                  <a:pos x="13" y="0"/>
                </a:cxn>
              </a:cxnLst>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w="12700">
              <a:noFill/>
            </a:ln>
          </p:spPr>
          <p:txBody>
            <a:bodyPr/>
            <a:p>
              <a:endParaRPr lang="zh-CN" altLang="en-US"/>
            </a:p>
          </p:txBody>
        </p:sp>
        <p:sp>
          <p:nvSpPr>
            <p:cNvPr id="2091" name="Freeform 41"/>
            <p:cNvSpPr/>
            <p:nvPr/>
          </p:nvSpPr>
          <p:spPr>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w="12700">
              <a:noFill/>
            </a:ln>
          </p:spPr>
          <p:txBody>
            <a:bodyPr/>
            <a:p>
              <a:endParaRPr lang="zh-CN" altLang="en-US"/>
            </a:p>
          </p:txBody>
        </p:sp>
        <p:sp>
          <p:nvSpPr>
            <p:cNvPr id="2092" name="Freeform 42"/>
            <p:cNvSpPr/>
            <p:nvPr/>
          </p:nvSpPr>
          <p:spPr>
            <a:xfrm>
              <a:off x="2009" y="2135"/>
              <a:ext cx="39" cy="24"/>
            </a:xfrm>
            <a:custGeom>
              <a:avLst/>
              <a:gdLst/>
              <a:ahLst/>
              <a:cxnLst>
                <a:cxn ang="0">
                  <a:pos x="34" y="0"/>
                </a:cxn>
                <a:cxn ang="0">
                  <a:pos x="8" y="20"/>
                </a:cxn>
                <a:cxn ang="0">
                  <a:pos x="24" y="32"/>
                </a:cxn>
                <a:cxn ang="0">
                  <a:pos x="42" y="30"/>
                </a:cxn>
                <a:cxn ang="0">
                  <a:pos x="34" y="0"/>
                </a:cxn>
              </a:cxnLst>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w="12700">
              <a:noFill/>
            </a:ln>
          </p:spPr>
          <p:txBody>
            <a:bodyPr/>
            <a:p>
              <a:endParaRPr lang="zh-CN" altLang="en-US"/>
            </a:p>
          </p:txBody>
        </p:sp>
        <p:sp>
          <p:nvSpPr>
            <p:cNvPr id="2093" name="Freeform 43"/>
            <p:cNvSpPr/>
            <p:nvPr/>
          </p:nvSpPr>
          <p:spPr>
            <a:xfrm>
              <a:off x="2292" y="2201"/>
              <a:ext cx="128"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w="12700">
              <a:noFill/>
            </a:ln>
          </p:spPr>
          <p:txBody>
            <a:bodyPr/>
            <a:p>
              <a:endParaRPr lang="zh-CN" altLang="en-US"/>
            </a:p>
          </p:txBody>
        </p:sp>
        <p:sp>
          <p:nvSpPr>
            <p:cNvPr id="2094" name="Freeform 44"/>
            <p:cNvSpPr/>
            <p:nvPr/>
          </p:nvSpPr>
          <p:spPr>
            <a:xfrm>
              <a:off x="2393" y="2038"/>
              <a:ext cx="39" cy="24"/>
            </a:xfrm>
            <a:custGeom>
              <a:avLst/>
              <a:gdLst/>
              <a:ahLst/>
              <a:cxnLst>
                <a:cxn ang="0">
                  <a:pos x="34" y="0"/>
                </a:cxn>
                <a:cxn ang="0">
                  <a:pos x="8" y="20"/>
                </a:cxn>
                <a:cxn ang="0">
                  <a:pos x="24" y="32"/>
                </a:cxn>
                <a:cxn ang="0">
                  <a:pos x="42" y="30"/>
                </a:cxn>
                <a:cxn ang="0">
                  <a:pos x="34" y="0"/>
                </a:cxn>
              </a:cxnLst>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w="12700">
              <a:noFill/>
            </a:ln>
          </p:spPr>
          <p:txBody>
            <a:bodyPr/>
            <a:p>
              <a:endParaRPr lang="zh-CN" altLang="en-US"/>
            </a:p>
          </p:txBody>
        </p:sp>
        <p:sp>
          <p:nvSpPr>
            <p:cNvPr id="2095" name="Freeform 45"/>
            <p:cNvSpPr/>
            <p:nvPr/>
          </p:nvSpPr>
          <p:spPr>
            <a:xfrm>
              <a:off x="2662" y="2006"/>
              <a:ext cx="155" cy="63"/>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w="12700">
              <a:noFill/>
            </a:ln>
          </p:spPr>
          <p:txBody>
            <a:bodyPr/>
            <a:p>
              <a:endParaRPr lang="zh-CN" altLang="en-US"/>
            </a:p>
          </p:txBody>
        </p:sp>
        <p:sp>
          <p:nvSpPr>
            <p:cNvPr id="2096" name="Freeform 46"/>
            <p:cNvSpPr/>
            <p:nvPr/>
          </p:nvSpPr>
          <p:spPr>
            <a:xfrm>
              <a:off x="2759" y="2039"/>
              <a:ext cx="48" cy="21"/>
            </a:xfrm>
            <a:custGeom>
              <a:avLst/>
              <a:gdLst/>
              <a:ahLst/>
              <a:cxnLst>
                <a:cxn ang="0">
                  <a:pos x="36" y="6"/>
                </a:cxn>
                <a:cxn ang="0">
                  <a:pos x="8" y="4"/>
                </a:cxn>
                <a:cxn ang="0">
                  <a:pos x="24" y="28"/>
                </a:cxn>
                <a:cxn ang="0">
                  <a:pos x="54" y="14"/>
                </a:cxn>
                <a:cxn ang="0">
                  <a:pos x="36" y="6"/>
                </a:cxn>
              </a:cxnLst>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w="12700">
              <a:noFill/>
            </a:ln>
          </p:spPr>
          <p:txBody>
            <a:bodyPr/>
            <a:p>
              <a:endParaRPr lang="zh-CN" altLang="en-US"/>
            </a:p>
          </p:txBody>
        </p:sp>
        <p:sp>
          <p:nvSpPr>
            <p:cNvPr id="2097" name="Freeform 47"/>
            <p:cNvSpPr/>
            <p:nvPr/>
          </p:nvSpPr>
          <p:spPr>
            <a:xfrm>
              <a:off x="2467" y="2311"/>
              <a:ext cx="109"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w="12700">
              <a:noFill/>
            </a:ln>
          </p:spPr>
          <p:txBody>
            <a:bodyPr/>
            <a:p>
              <a:endParaRPr lang="zh-CN" altLang="en-US"/>
            </a:p>
          </p:txBody>
        </p:sp>
        <p:sp>
          <p:nvSpPr>
            <p:cNvPr id="2098" name="Freeform 48"/>
            <p:cNvSpPr/>
            <p:nvPr/>
          </p:nvSpPr>
          <p:spPr>
            <a:xfrm>
              <a:off x="2413" y="2359"/>
              <a:ext cx="69" cy="68"/>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w="12700">
              <a:noFill/>
            </a:ln>
          </p:spPr>
          <p:txBody>
            <a:bodyPr/>
            <a:p>
              <a:endParaRPr lang="zh-CN" altLang="en-US"/>
            </a:p>
          </p:txBody>
        </p:sp>
        <p:sp>
          <p:nvSpPr>
            <p:cNvPr id="2099" name="Freeform 49"/>
            <p:cNvSpPr/>
            <p:nvPr/>
          </p:nvSpPr>
          <p:spPr>
            <a:xfrm>
              <a:off x="4099" y="3502"/>
              <a:ext cx="474" cy="495"/>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w="12700">
              <a:noFill/>
            </a:ln>
          </p:spPr>
          <p:txBody>
            <a:bodyPr/>
            <a:p>
              <a:endParaRPr lang="zh-CN" altLang="en-US"/>
            </a:p>
          </p:txBody>
        </p:sp>
        <p:sp>
          <p:nvSpPr>
            <p:cNvPr id="2100" name="Freeform 50"/>
            <p:cNvSpPr/>
            <p:nvPr/>
          </p:nvSpPr>
          <p:spPr>
            <a:xfrm>
              <a:off x="4246" y="3241"/>
              <a:ext cx="319" cy="210"/>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w="12700">
              <a:noFill/>
            </a:ln>
          </p:spPr>
          <p:txBody>
            <a:bodyPr/>
            <a:p>
              <a:endParaRPr lang="zh-CN" altLang="en-US"/>
            </a:p>
          </p:txBody>
        </p:sp>
        <p:sp>
          <p:nvSpPr>
            <p:cNvPr id="2101" name="Freeform 51"/>
            <p:cNvSpPr/>
            <p:nvPr/>
          </p:nvSpPr>
          <p:spPr>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w="12700">
              <a:noFill/>
            </a:ln>
          </p:spPr>
          <p:txBody>
            <a:bodyPr/>
            <a:p>
              <a:endParaRPr lang="zh-CN" altLang="en-US"/>
            </a:p>
          </p:txBody>
        </p:sp>
        <p:sp>
          <p:nvSpPr>
            <p:cNvPr id="2102" name="Freeform 52"/>
            <p:cNvSpPr/>
            <p:nvPr/>
          </p:nvSpPr>
          <p:spPr>
            <a:xfrm>
              <a:off x="4485" y="4013"/>
              <a:ext cx="45" cy="58"/>
            </a:xfrm>
            <a:custGeom>
              <a:avLst/>
              <a:gdLst/>
              <a:ahLst/>
              <a:cxnLst>
                <a:cxn ang="0">
                  <a:pos x="32" y="18"/>
                </a:cxn>
                <a:cxn ang="0">
                  <a:pos x="0" y="18"/>
                </a:cxn>
                <a:cxn ang="0">
                  <a:pos x="20" y="42"/>
                </a:cxn>
                <a:cxn ang="0">
                  <a:pos x="28" y="66"/>
                </a:cxn>
                <a:cxn ang="0">
                  <a:pos x="32" y="78"/>
                </a:cxn>
                <a:cxn ang="0">
                  <a:pos x="60" y="50"/>
                </a:cxn>
                <a:cxn ang="0">
                  <a:pos x="32" y="18"/>
                </a:cxn>
              </a:cxnLst>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w="12700">
              <a:noFill/>
            </a:ln>
          </p:spPr>
          <p:txBody>
            <a:bodyPr/>
            <a:p>
              <a:endParaRPr lang="zh-CN" altLang="en-US"/>
            </a:p>
          </p:txBody>
        </p:sp>
        <p:sp>
          <p:nvSpPr>
            <p:cNvPr id="2103" name="Freeform 53"/>
            <p:cNvSpPr/>
            <p:nvPr/>
          </p:nvSpPr>
          <p:spPr>
            <a:xfrm>
              <a:off x="4621" y="3923"/>
              <a:ext cx="164" cy="85"/>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w="12700">
              <a:noFill/>
            </a:ln>
          </p:spPr>
          <p:txBody>
            <a:bodyPr/>
            <a:p>
              <a:endParaRPr lang="zh-CN" altLang="en-US"/>
            </a:p>
          </p:txBody>
        </p:sp>
        <p:sp>
          <p:nvSpPr>
            <p:cNvPr id="2104" name="Freeform 54"/>
            <p:cNvSpPr/>
            <p:nvPr/>
          </p:nvSpPr>
          <p:spPr>
            <a:xfrm>
              <a:off x="4791" y="3873"/>
              <a:ext cx="104" cy="92"/>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w="12700">
              <a:noFill/>
            </a:ln>
          </p:spPr>
          <p:txBody>
            <a:bodyPr/>
            <a:p>
              <a:endParaRPr lang="zh-CN" altLang="en-US"/>
            </a:p>
          </p:txBody>
        </p:sp>
        <p:sp>
          <p:nvSpPr>
            <p:cNvPr id="2105" name="Freeform 55"/>
            <p:cNvSpPr/>
            <p:nvPr/>
          </p:nvSpPr>
          <p:spPr>
            <a:xfrm>
              <a:off x="4846" y="3832"/>
              <a:ext cx="37" cy="26"/>
            </a:xfrm>
            <a:custGeom>
              <a:avLst/>
              <a:gdLst/>
              <a:ahLst/>
              <a:cxnLst>
                <a:cxn ang="0">
                  <a:pos x="29" y="0"/>
                </a:cxn>
                <a:cxn ang="0">
                  <a:pos x="8" y="11"/>
                </a:cxn>
                <a:cxn ang="0">
                  <a:pos x="24" y="35"/>
                </a:cxn>
                <a:cxn ang="0">
                  <a:pos x="39" y="26"/>
                </a:cxn>
                <a:cxn ang="0">
                  <a:pos x="29" y="0"/>
                </a:cxn>
              </a:cxnLst>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w="12700">
              <a:noFill/>
            </a:ln>
          </p:spPr>
          <p:txBody>
            <a:bodyPr/>
            <a:p>
              <a:endParaRPr lang="zh-CN" altLang="en-US"/>
            </a:p>
          </p:txBody>
        </p:sp>
        <p:sp>
          <p:nvSpPr>
            <p:cNvPr id="2106" name="Freeform 56"/>
            <p:cNvSpPr/>
            <p:nvPr/>
          </p:nvSpPr>
          <p:spPr>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w="12700">
              <a:noFill/>
            </a:ln>
          </p:spPr>
          <p:txBody>
            <a:bodyPr/>
            <a:p>
              <a:endParaRPr lang="zh-CN" altLang="en-US"/>
            </a:p>
          </p:txBody>
        </p:sp>
        <p:sp>
          <p:nvSpPr>
            <p:cNvPr id="2107" name="Freeform 57"/>
            <p:cNvSpPr/>
            <p:nvPr/>
          </p:nvSpPr>
          <p:spPr>
            <a:xfrm>
              <a:off x="3655" y="3034"/>
              <a:ext cx="49" cy="61"/>
            </a:xfrm>
            <a:custGeom>
              <a:avLst/>
              <a:gdLst/>
              <a:ahLst/>
              <a:cxnLst>
                <a:cxn ang="0">
                  <a:pos x="29" y="0"/>
                </a:cxn>
                <a:cxn ang="0">
                  <a:pos x="25" y="60"/>
                </a:cxn>
                <a:cxn ang="0">
                  <a:pos x="29" y="76"/>
                </a:cxn>
                <a:cxn ang="0">
                  <a:pos x="41" y="80"/>
                </a:cxn>
                <a:cxn ang="0">
                  <a:pos x="57" y="76"/>
                </a:cxn>
                <a:cxn ang="0">
                  <a:pos x="29" y="0"/>
                </a:cxn>
              </a:cxnLst>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w="12700">
              <a:noFill/>
            </a:ln>
          </p:spPr>
          <p:txBody>
            <a:bodyPr/>
            <a:p>
              <a:endParaRPr lang="zh-CN" altLang="en-US"/>
            </a:p>
          </p:txBody>
        </p:sp>
        <p:sp>
          <p:nvSpPr>
            <p:cNvPr id="2108" name="Freeform 58"/>
            <p:cNvSpPr/>
            <p:nvPr/>
          </p:nvSpPr>
          <p:spPr>
            <a:xfrm>
              <a:off x="3988" y="3100"/>
              <a:ext cx="111" cy="183"/>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w="12700">
              <a:noFill/>
            </a:ln>
          </p:spPr>
          <p:txBody>
            <a:bodyPr/>
            <a:p>
              <a:endParaRPr lang="zh-CN" altLang="en-US"/>
            </a:p>
          </p:txBody>
        </p:sp>
        <p:sp>
          <p:nvSpPr>
            <p:cNvPr id="2109" name="Freeform 59"/>
            <p:cNvSpPr/>
            <p:nvPr/>
          </p:nvSpPr>
          <p:spPr>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w="12700">
              <a:noFill/>
            </a:ln>
          </p:spPr>
          <p:txBody>
            <a:bodyPr/>
            <a:p>
              <a:endParaRPr lang="zh-CN" altLang="en-US"/>
            </a:p>
          </p:txBody>
        </p:sp>
        <p:sp>
          <p:nvSpPr>
            <p:cNvPr id="2110" name="Freeform 60"/>
            <p:cNvSpPr/>
            <p:nvPr/>
          </p:nvSpPr>
          <p:spPr>
            <a:xfrm>
              <a:off x="3943" y="3153"/>
              <a:ext cx="40" cy="131"/>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w="12700">
              <a:noFill/>
            </a:ln>
          </p:spPr>
          <p:txBody>
            <a:bodyPr/>
            <a:p>
              <a:endParaRPr lang="zh-CN" altLang="en-US"/>
            </a:p>
          </p:txBody>
        </p:sp>
        <p:sp>
          <p:nvSpPr>
            <p:cNvPr id="2111" name="Freeform 61"/>
            <p:cNvSpPr/>
            <p:nvPr/>
          </p:nvSpPr>
          <p:spPr>
            <a:xfrm>
              <a:off x="3988" y="3290"/>
              <a:ext cx="65" cy="54"/>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w="12700">
              <a:noFill/>
            </a:ln>
          </p:spPr>
          <p:txBody>
            <a:bodyPr/>
            <a:p>
              <a:endParaRPr lang="zh-CN" altLang="en-US"/>
            </a:p>
          </p:txBody>
        </p:sp>
        <p:sp>
          <p:nvSpPr>
            <p:cNvPr id="2112" name="Freeform 62"/>
            <p:cNvSpPr/>
            <p:nvPr/>
          </p:nvSpPr>
          <p:spPr>
            <a:xfrm>
              <a:off x="4092" y="3195"/>
              <a:ext cx="83" cy="117"/>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w="12700">
              <a:noFill/>
            </a:ln>
          </p:spPr>
          <p:txBody>
            <a:bodyPr/>
            <a:p>
              <a:endParaRPr lang="zh-CN" altLang="en-US"/>
            </a:p>
          </p:txBody>
        </p:sp>
        <p:sp>
          <p:nvSpPr>
            <p:cNvPr id="2113" name="Freeform 63"/>
            <p:cNvSpPr/>
            <p:nvPr/>
          </p:nvSpPr>
          <p:spPr>
            <a:xfrm>
              <a:off x="4064" y="2777"/>
              <a:ext cx="22" cy="71"/>
            </a:xfrm>
            <a:custGeom>
              <a:avLst/>
              <a:gdLst/>
              <a:ahLst/>
              <a:cxnLst>
                <a:cxn ang="0">
                  <a:pos x="12" y="0"/>
                </a:cxn>
                <a:cxn ang="0">
                  <a:pos x="0" y="16"/>
                </a:cxn>
                <a:cxn ang="0">
                  <a:pos x="6" y="37"/>
                </a:cxn>
                <a:cxn ang="0">
                  <a:pos x="1" y="61"/>
                </a:cxn>
                <a:cxn ang="0">
                  <a:pos x="16" y="94"/>
                </a:cxn>
                <a:cxn ang="0">
                  <a:pos x="30" y="82"/>
                </a:cxn>
                <a:cxn ang="0">
                  <a:pos x="22" y="61"/>
                </a:cxn>
                <a:cxn ang="0">
                  <a:pos x="12" y="0"/>
                </a:cxn>
              </a:cxnLst>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w="12700">
              <a:noFill/>
            </a:ln>
          </p:spPr>
          <p:txBody>
            <a:bodyPr/>
            <a:p>
              <a:endParaRPr lang="zh-CN" altLang="en-US"/>
            </a:p>
          </p:txBody>
        </p:sp>
        <p:sp>
          <p:nvSpPr>
            <p:cNvPr id="2114" name="Freeform 64"/>
            <p:cNvSpPr/>
            <p:nvPr/>
          </p:nvSpPr>
          <p:spPr>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w="12700">
              <a:noFill/>
            </a:ln>
          </p:spPr>
          <p:txBody>
            <a:bodyPr/>
            <a:p>
              <a:endParaRPr lang="zh-CN" altLang="en-US"/>
            </a:p>
          </p:txBody>
        </p:sp>
        <p:sp>
          <p:nvSpPr>
            <p:cNvPr id="2115" name="Freeform 65"/>
            <p:cNvSpPr/>
            <p:nvPr/>
          </p:nvSpPr>
          <p:spPr>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w="12700">
              <a:noFill/>
            </a:ln>
          </p:spPr>
          <p:txBody>
            <a:bodyPr/>
            <a:p>
              <a:endParaRPr lang="zh-CN" altLang="en-US"/>
            </a:p>
          </p:txBody>
        </p:sp>
        <p:sp>
          <p:nvSpPr>
            <p:cNvPr id="2116" name="Freeform 66"/>
            <p:cNvSpPr/>
            <p:nvPr/>
          </p:nvSpPr>
          <p:spPr>
            <a:xfrm>
              <a:off x="4197" y="3193"/>
              <a:ext cx="29" cy="49"/>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w="12700">
              <a:noFill/>
            </a:ln>
          </p:spPr>
          <p:txBody>
            <a:bodyPr/>
            <a:p>
              <a:endParaRPr lang="zh-CN" altLang="en-US"/>
            </a:p>
          </p:txBody>
        </p:sp>
        <p:sp>
          <p:nvSpPr>
            <p:cNvPr id="2117" name="Freeform 67"/>
            <p:cNvSpPr/>
            <p:nvPr/>
          </p:nvSpPr>
          <p:spPr>
            <a:xfrm>
              <a:off x="4181" y="3275"/>
              <a:ext cx="18" cy="17"/>
            </a:xfrm>
            <a:custGeom>
              <a:avLst/>
              <a:gdLst/>
              <a:ahLst/>
              <a:cxnLst>
                <a:cxn ang="0">
                  <a:pos x="0" y="0"/>
                </a:cxn>
                <a:cxn ang="0">
                  <a:pos x="6" y="23"/>
                </a:cxn>
                <a:cxn ang="0">
                  <a:pos x="24" y="11"/>
                </a:cxn>
                <a:cxn ang="0">
                  <a:pos x="0" y="0"/>
                </a:cxn>
              </a:cxnLst>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w="12700">
              <a:noFill/>
            </a:ln>
          </p:spPr>
          <p:txBody>
            <a:bodyPr/>
            <a:p>
              <a:endParaRPr lang="zh-CN" altLang="en-US"/>
            </a:p>
          </p:txBody>
        </p:sp>
        <p:sp>
          <p:nvSpPr>
            <p:cNvPr id="2118" name="Freeform 68"/>
            <p:cNvSpPr/>
            <p:nvPr/>
          </p:nvSpPr>
          <p:spPr>
            <a:xfrm>
              <a:off x="4208" y="3265"/>
              <a:ext cx="45" cy="37"/>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w="12700">
              <a:noFill/>
            </a:ln>
          </p:spPr>
          <p:txBody>
            <a:bodyPr/>
            <a:p>
              <a:endParaRPr lang="zh-CN" altLang="en-US"/>
            </a:p>
          </p:txBody>
        </p:sp>
        <p:sp>
          <p:nvSpPr>
            <p:cNvPr id="2119" name="Freeform 69"/>
            <p:cNvSpPr/>
            <p:nvPr/>
          </p:nvSpPr>
          <p:spPr>
            <a:xfrm>
              <a:off x="4277" y="3335"/>
              <a:ext cx="24" cy="33"/>
            </a:xfrm>
            <a:custGeom>
              <a:avLst/>
              <a:gdLst/>
              <a:ahLst/>
              <a:cxnLst>
                <a:cxn ang="0">
                  <a:pos x="28" y="0"/>
                </a:cxn>
                <a:cxn ang="0">
                  <a:pos x="10" y="11"/>
                </a:cxn>
                <a:cxn ang="0">
                  <a:pos x="12" y="32"/>
                </a:cxn>
                <a:cxn ang="0">
                  <a:pos x="24" y="36"/>
                </a:cxn>
                <a:cxn ang="0">
                  <a:pos x="28" y="0"/>
                </a:cxn>
              </a:cxnLst>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w="12700">
              <a:noFill/>
            </a:ln>
          </p:spPr>
          <p:txBody>
            <a:bodyPr/>
            <a:p>
              <a:endParaRPr lang="zh-CN" altLang="en-US"/>
            </a:p>
          </p:txBody>
        </p:sp>
        <p:sp>
          <p:nvSpPr>
            <p:cNvPr id="2120" name="Freeform 70"/>
            <p:cNvSpPr/>
            <p:nvPr/>
          </p:nvSpPr>
          <p:spPr>
            <a:xfrm>
              <a:off x="4544" y="3293"/>
              <a:ext cx="46" cy="47"/>
            </a:xfrm>
            <a:custGeom>
              <a:avLst/>
              <a:gdLst/>
              <a:ahLst/>
              <a:cxnLst>
                <a:cxn ang="0">
                  <a:pos x="7" y="0"/>
                </a:cxn>
                <a:cxn ang="0">
                  <a:pos x="0" y="14"/>
                </a:cxn>
                <a:cxn ang="0">
                  <a:pos x="24" y="35"/>
                </a:cxn>
                <a:cxn ang="0">
                  <a:pos x="36" y="54"/>
                </a:cxn>
                <a:cxn ang="0">
                  <a:pos x="46" y="63"/>
                </a:cxn>
                <a:cxn ang="0">
                  <a:pos x="61" y="56"/>
                </a:cxn>
                <a:cxn ang="0">
                  <a:pos x="33" y="17"/>
                </a:cxn>
                <a:cxn ang="0">
                  <a:pos x="7" y="0"/>
                </a:cxn>
              </a:cxnLst>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w="12700">
              <a:noFill/>
            </a:ln>
          </p:spPr>
          <p:txBody>
            <a:bodyPr/>
            <a:p>
              <a:endParaRPr lang="zh-CN" altLang="en-US"/>
            </a:p>
          </p:txBody>
        </p:sp>
        <p:sp>
          <p:nvSpPr>
            <p:cNvPr id="2121" name="Freeform 71"/>
            <p:cNvSpPr/>
            <p:nvPr/>
          </p:nvSpPr>
          <p:spPr>
            <a:xfrm>
              <a:off x="4147" y="3352"/>
              <a:ext cx="46" cy="50"/>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w="12700">
              <a:noFill/>
            </a:ln>
          </p:spPr>
          <p:txBody>
            <a:bodyPr/>
            <a:p>
              <a:endParaRPr lang="zh-CN" altLang="en-US"/>
            </a:p>
          </p:txBody>
        </p:sp>
        <p:sp>
          <p:nvSpPr>
            <p:cNvPr id="2122" name="Freeform 72"/>
            <p:cNvSpPr/>
            <p:nvPr/>
          </p:nvSpPr>
          <p:spPr>
            <a:xfrm>
              <a:off x="4098" y="3371"/>
              <a:ext cx="32" cy="27"/>
            </a:xfrm>
            <a:custGeom>
              <a:avLst/>
              <a:gdLst/>
              <a:ahLst/>
              <a:cxnLst>
                <a:cxn ang="0">
                  <a:pos x="21" y="3"/>
                </a:cxn>
                <a:cxn ang="0">
                  <a:pos x="6" y="6"/>
                </a:cxn>
                <a:cxn ang="0">
                  <a:pos x="33" y="36"/>
                </a:cxn>
                <a:cxn ang="0">
                  <a:pos x="42" y="30"/>
                </a:cxn>
                <a:cxn ang="0">
                  <a:pos x="21" y="3"/>
                </a:cxn>
              </a:cxnLst>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w="12700">
              <a:noFill/>
            </a:ln>
          </p:spPr>
          <p:txBody>
            <a:bodyPr/>
            <a:p>
              <a:endParaRPr lang="zh-CN" altLang="en-US"/>
            </a:p>
          </p:txBody>
        </p:sp>
        <p:sp>
          <p:nvSpPr>
            <p:cNvPr id="2123" name="Freeform 73"/>
            <p:cNvSpPr/>
            <p:nvPr/>
          </p:nvSpPr>
          <p:spPr>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w="12700">
              <a:noFill/>
            </a:ln>
          </p:spPr>
          <p:txBody>
            <a:bodyPr/>
            <a:p>
              <a:endParaRPr lang="zh-CN" altLang="en-US"/>
            </a:p>
          </p:txBody>
        </p:sp>
        <p:sp>
          <p:nvSpPr>
            <p:cNvPr id="2124" name="Freeform 74"/>
            <p:cNvSpPr/>
            <p:nvPr/>
          </p:nvSpPr>
          <p:spPr>
            <a:xfrm>
              <a:off x="4111" y="3353"/>
              <a:ext cx="34" cy="24"/>
            </a:xfrm>
            <a:custGeom>
              <a:avLst/>
              <a:gdLst/>
              <a:ahLst/>
              <a:cxnLst>
                <a:cxn ang="0">
                  <a:pos x="21" y="0"/>
                </a:cxn>
                <a:cxn ang="0">
                  <a:pos x="0" y="7"/>
                </a:cxn>
                <a:cxn ang="0">
                  <a:pos x="27" y="31"/>
                </a:cxn>
                <a:cxn ang="0">
                  <a:pos x="45" y="24"/>
                </a:cxn>
                <a:cxn ang="0">
                  <a:pos x="22" y="10"/>
                </a:cxn>
                <a:cxn ang="0">
                  <a:pos x="21" y="0"/>
                </a:cxn>
              </a:cxnLst>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w="12700">
              <a:noFill/>
            </a:ln>
          </p:spPr>
          <p:txBody>
            <a:bodyPr/>
            <a:p>
              <a:endParaRPr lang="zh-CN" altLang="en-US"/>
            </a:p>
          </p:txBody>
        </p:sp>
        <p:sp>
          <p:nvSpPr>
            <p:cNvPr id="2125" name="Freeform 75"/>
            <p:cNvSpPr/>
            <p:nvPr/>
          </p:nvSpPr>
          <p:spPr>
            <a:xfrm>
              <a:off x="4062" y="3021"/>
              <a:ext cx="27" cy="55"/>
            </a:xfrm>
            <a:custGeom>
              <a:avLst/>
              <a:gdLst/>
              <a:ahLst/>
              <a:cxnLst>
                <a:cxn ang="0">
                  <a:pos x="30" y="0"/>
                </a:cxn>
                <a:cxn ang="0">
                  <a:pos x="21" y="15"/>
                </a:cxn>
                <a:cxn ang="0">
                  <a:pos x="9" y="36"/>
                </a:cxn>
                <a:cxn ang="0">
                  <a:pos x="0" y="59"/>
                </a:cxn>
                <a:cxn ang="0">
                  <a:pos x="8" y="74"/>
                </a:cxn>
                <a:cxn ang="0">
                  <a:pos x="20" y="59"/>
                </a:cxn>
                <a:cxn ang="0">
                  <a:pos x="35" y="32"/>
                </a:cxn>
                <a:cxn ang="0">
                  <a:pos x="30" y="0"/>
                </a:cxn>
              </a:cxnLst>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w="12700">
              <a:noFill/>
            </a:ln>
          </p:spPr>
          <p:txBody>
            <a:bodyPr/>
            <a:p>
              <a:endParaRPr lang="zh-CN" altLang="en-US"/>
            </a:p>
          </p:txBody>
        </p:sp>
        <p:sp>
          <p:nvSpPr>
            <p:cNvPr id="2126" name="Freeform 76"/>
            <p:cNvSpPr/>
            <p:nvPr/>
          </p:nvSpPr>
          <p:spPr>
            <a:xfrm>
              <a:off x="4113" y="3012"/>
              <a:ext cx="19" cy="55"/>
            </a:xfrm>
            <a:custGeom>
              <a:avLst/>
              <a:gdLst/>
              <a:ahLst/>
              <a:cxnLst>
                <a:cxn ang="0">
                  <a:pos x="13" y="7"/>
                </a:cxn>
                <a:cxn ang="0">
                  <a:pos x="4" y="8"/>
                </a:cxn>
                <a:cxn ang="0">
                  <a:pos x="0" y="22"/>
                </a:cxn>
                <a:cxn ang="0">
                  <a:pos x="15" y="41"/>
                </a:cxn>
                <a:cxn ang="0">
                  <a:pos x="25" y="56"/>
                </a:cxn>
                <a:cxn ang="0">
                  <a:pos x="16" y="20"/>
                </a:cxn>
                <a:cxn ang="0">
                  <a:pos x="13" y="7"/>
                </a:cxn>
              </a:cxnLst>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w="12700">
              <a:noFill/>
            </a:ln>
          </p:spPr>
          <p:txBody>
            <a:bodyPr/>
            <a:p>
              <a:endParaRPr lang="zh-CN" altLang="en-US"/>
            </a:p>
          </p:txBody>
        </p:sp>
        <p:sp>
          <p:nvSpPr>
            <p:cNvPr id="2127" name="Freeform 77"/>
            <p:cNvSpPr/>
            <p:nvPr/>
          </p:nvSpPr>
          <p:spPr>
            <a:xfrm>
              <a:off x="4135" y="2995"/>
              <a:ext cx="10" cy="25"/>
            </a:xfrm>
            <a:custGeom>
              <a:avLst/>
              <a:gdLst/>
              <a:ahLst/>
              <a:cxnLst>
                <a:cxn ang="0">
                  <a:pos x="11" y="0"/>
                </a:cxn>
                <a:cxn ang="0">
                  <a:pos x="1" y="10"/>
                </a:cxn>
                <a:cxn ang="0">
                  <a:pos x="11" y="25"/>
                </a:cxn>
                <a:cxn ang="0">
                  <a:pos x="11" y="0"/>
                </a:cxn>
              </a:cxnLst>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w="12700">
              <a:noFill/>
            </a:ln>
          </p:spPr>
          <p:txBody>
            <a:bodyPr/>
            <a:p>
              <a:endParaRPr lang="zh-CN" altLang="en-US"/>
            </a:p>
          </p:txBody>
        </p:sp>
        <p:sp>
          <p:nvSpPr>
            <p:cNvPr id="2128" name="Freeform 78"/>
            <p:cNvSpPr/>
            <p:nvPr/>
          </p:nvSpPr>
          <p:spPr>
            <a:xfrm>
              <a:off x="4145" y="3007"/>
              <a:ext cx="21" cy="48"/>
            </a:xfrm>
            <a:custGeom>
              <a:avLst/>
              <a:gdLst/>
              <a:ahLst/>
              <a:cxnLst>
                <a:cxn ang="0">
                  <a:pos x="5" y="0"/>
                </a:cxn>
                <a:cxn ang="0">
                  <a:pos x="11" y="14"/>
                </a:cxn>
                <a:cxn ang="0">
                  <a:pos x="20" y="21"/>
                </a:cxn>
                <a:cxn ang="0">
                  <a:pos x="8" y="39"/>
                </a:cxn>
                <a:cxn ang="0">
                  <a:pos x="0" y="56"/>
                </a:cxn>
                <a:cxn ang="0">
                  <a:pos x="11" y="57"/>
                </a:cxn>
                <a:cxn ang="0">
                  <a:pos x="26" y="26"/>
                </a:cxn>
                <a:cxn ang="0">
                  <a:pos x="5" y="0"/>
                </a:cxn>
              </a:cxnLst>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w="12700">
              <a:noFill/>
            </a:ln>
          </p:spPr>
          <p:txBody>
            <a:bodyPr/>
            <a:p>
              <a:endParaRPr lang="zh-CN" altLang="en-US"/>
            </a:p>
          </p:txBody>
        </p:sp>
        <p:sp>
          <p:nvSpPr>
            <p:cNvPr id="2129" name="Freeform 79"/>
            <p:cNvSpPr/>
            <p:nvPr/>
          </p:nvSpPr>
          <p:spPr>
            <a:xfrm>
              <a:off x="3876" y="3076"/>
              <a:ext cx="12" cy="27"/>
            </a:xfrm>
            <a:custGeom>
              <a:avLst/>
              <a:gdLst/>
              <a:ahLst/>
              <a:cxnLst>
                <a:cxn ang="0">
                  <a:pos x="14" y="3"/>
                </a:cxn>
                <a:cxn ang="0">
                  <a:pos x="0" y="7"/>
                </a:cxn>
                <a:cxn ang="0">
                  <a:pos x="8" y="22"/>
                </a:cxn>
                <a:cxn ang="0">
                  <a:pos x="14" y="3"/>
                </a:cxn>
              </a:cxnLst>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w="12700">
              <a:noFill/>
            </a:ln>
          </p:spPr>
          <p:txBody>
            <a:bodyPr/>
            <a:p>
              <a:endParaRPr lang="zh-CN" altLang="en-US"/>
            </a:p>
          </p:txBody>
        </p:sp>
        <p:sp>
          <p:nvSpPr>
            <p:cNvPr id="2130" name="Freeform 80"/>
            <p:cNvSpPr/>
            <p:nvPr/>
          </p:nvSpPr>
          <p:spPr>
            <a:xfrm>
              <a:off x="3866" y="3053"/>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31" name="Freeform 81"/>
            <p:cNvSpPr/>
            <p:nvPr/>
          </p:nvSpPr>
          <p:spPr>
            <a:xfrm>
              <a:off x="3862" y="3035"/>
              <a:ext cx="12" cy="14"/>
            </a:xfrm>
            <a:custGeom>
              <a:avLst/>
              <a:gdLst/>
              <a:ahLst/>
              <a:cxnLst>
                <a:cxn ang="0">
                  <a:pos x="10" y="5"/>
                </a:cxn>
                <a:cxn ang="0">
                  <a:pos x="0" y="10"/>
                </a:cxn>
                <a:cxn ang="0">
                  <a:pos x="12" y="19"/>
                </a:cxn>
                <a:cxn ang="0">
                  <a:pos x="10" y="5"/>
                </a:cxn>
              </a:cxnLst>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w="12700">
              <a:noFill/>
            </a:ln>
          </p:spPr>
          <p:txBody>
            <a:bodyPr/>
            <a:p>
              <a:endParaRPr lang="zh-CN" altLang="en-US"/>
            </a:p>
          </p:txBody>
        </p:sp>
        <p:sp>
          <p:nvSpPr>
            <p:cNvPr id="2132" name="Freeform 82"/>
            <p:cNvSpPr/>
            <p:nvPr/>
          </p:nvSpPr>
          <p:spPr>
            <a:xfrm>
              <a:off x="3850" y="2995"/>
              <a:ext cx="11" cy="19"/>
            </a:xfrm>
            <a:custGeom>
              <a:avLst/>
              <a:gdLst/>
              <a:ahLst/>
              <a:cxnLst>
                <a:cxn ang="0">
                  <a:pos x="6" y="0"/>
                </a:cxn>
                <a:cxn ang="0">
                  <a:pos x="0" y="13"/>
                </a:cxn>
                <a:cxn ang="0">
                  <a:pos x="12" y="24"/>
                </a:cxn>
                <a:cxn ang="0">
                  <a:pos x="6" y="0"/>
                </a:cxn>
              </a:cxnLst>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w="12700">
              <a:noFill/>
            </a:ln>
          </p:spPr>
          <p:txBody>
            <a:bodyPr/>
            <a:p>
              <a:endParaRPr lang="zh-CN" altLang="en-US"/>
            </a:p>
          </p:txBody>
        </p:sp>
        <p:sp>
          <p:nvSpPr>
            <p:cNvPr id="2133" name="Freeform 83"/>
            <p:cNvSpPr/>
            <p:nvPr/>
          </p:nvSpPr>
          <p:spPr>
            <a:xfrm>
              <a:off x="3852" y="3020"/>
              <a:ext cx="16" cy="13"/>
            </a:xfrm>
            <a:custGeom>
              <a:avLst/>
              <a:gdLst/>
              <a:ahLst/>
              <a:cxnLst>
                <a:cxn ang="0">
                  <a:pos x="13" y="0"/>
                </a:cxn>
                <a:cxn ang="0">
                  <a:pos x="19" y="18"/>
                </a:cxn>
                <a:cxn ang="0">
                  <a:pos x="14" y="6"/>
                </a:cxn>
                <a:cxn ang="0">
                  <a:pos x="13" y="0"/>
                </a:cxn>
              </a:cxnLst>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w="12700">
              <a:noFill/>
            </a:ln>
          </p:spPr>
          <p:txBody>
            <a:bodyPr/>
            <a:p>
              <a:endParaRPr lang="zh-CN" altLang="en-US"/>
            </a:p>
          </p:txBody>
        </p:sp>
        <p:sp>
          <p:nvSpPr>
            <p:cNvPr id="2134" name="Freeform 84"/>
            <p:cNvSpPr/>
            <p:nvPr/>
          </p:nvSpPr>
          <p:spPr>
            <a:xfrm>
              <a:off x="4688" y="3643"/>
              <a:ext cx="45" cy="60"/>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w="12700">
              <a:noFill/>
            </a:ln>
          </p:spPr>
          <p:txBody>
            <a:bodyPr/>
            <a:p>
              <a:endParaRPr lang="zh-CN" altLang="en-US"/>
            </a:p>
          </p:txBody>
        </p:sp>
        <p:sp>
          <p:nvSpPr>
            <p:cNvPr id="2135" name="Freeform 85"/>
            <p:cNvSpPr/>
            <p:nvPr/>
          </p:nvSpPr>
          <p:spPr>
            <a:xfrm>
              <a:off x="4919" y="3594"/>
              <a:ext cx="53" cy="46"/>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w="12700">
              <a:noFill/>
            </a:ln>
          </p:spPr>
          <p:txBody>
            <a:bodyPr/>
            <a:p>
              <a:endParaRPr lang="zh-CN" altLang="en-US"/>
            </a:p>
          </p:txBody>
        </p:sp>
        <p:sp>
          <p:nvSpPr>
            <p:cNvPr id="2136" name="Freeform 86"/>
            <p:cNvSpPr/>
            <p:nvPr/>
          </p:nvSpPr>
          <p:spPr>
            <a:xfrm>
              <a:off x="4759" y="3569"/>
              <a:ext cx="17" cy="23"/>
            </a:xfrm>
            <a:custGeom>
              <a:avLst/>
              <a:gdLst/>
              <a:ahLst/>
              <a:cxnLst>
                <a:cxn ang="0">
                  <a:pos x="9" y="0"/>
                </a:cxn>
                <a:cxn ang="0">
                  <a:pos x="0" y="14"/>
                </a:cxn>
                <a:cxn ang="0">
                  <a:pos x="12" y="30"/>
                </a:cxn>
                <a:cxn ang="0">
                  <a:pos x="9" y="0"/>
                </a:cxn>
              </a:cxnLst>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w="12700">
              <a:noFill/>
            </a:ln>
          </p:spPr>
          <p:txBody>
            <a:bodyPr/>
            <a:p>
              <a:endParaRPr lang="zh-CN" altLang="en-US"/>
            </a:p>
          </p:txBody>
        </p:sp>
        <p:sp>
          <p:nvSpPr>
            <p:cNvPr id="2137" name="Freeform 87"/>
            <p:cNvSpPr/>
            <p:nvPr/>
          </p:nvSpPr>
          <p:spPr>
            <a:xfrm>
              <a:off x="4751" y="3547"/>
              <a:ext cx="20" cy="17"/>
            </a:xfrm>
            <a:custGeom>
              <a:avLst/>
              <a:gdLst/>
              <a:ahLst/>
              <a:cxnLst>
                <a:cxn ang="0">
                  <a:pos x="19" y="0"/>
                </a:cxn>
                <a:cxn ang="0">
                  <a:pos x="0" y="14"/>
                </a:cxn>
                <a:cxn ang="0">
                  <a:pos x="21" y="20"/>
                </a:cxn>
                <a:cxn ang="0">
                  <a:pos x="19" y="0"/>
                </a:cxn>
              </a:cxnLst>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w="12700">
              <a:noFill/>
            </a:ln>
          </p:spPr>
          <p:txBody>
            <a:bodyPr/>
            <a:p>
              <a:endParaRPr lang="zh-CN" altLang="en-US"/>
            </a:p>
          </p:txBody>
        </p:sp>
        <p:sp>
          <p:nvSpPr>
            <p:cNvPr id="2138" name="Freeform 88"/>
            <p:cNvSpPr/>
            <p:nvPr/>
          </p:nvSpPr>
          <p:spPr>
            <a:xfrm>
              <a:off x="4598" y="3353"/>
              <a:ext cx="24" cy="33"/>
            </a:xfrm>
            <a:custGeom>
              <a:avLst/>
              <a:gdLst/>
              <a:ahLst/>
              <a:cxnLst>
                <a:cxn ang="0">
                  <a:pos x="28" y="0"/>
                </a:cxn>
                <a:cxn ang="0">
                  <a:pos x="10" y="11"/>
                </a:cxn>
                <a:cxn ang="0">
                  <a:pos x="12" y="32"/>
                </a:cxn>
                <a:cxn ang="0">
                  <a:pos x="24" y="36"/>
                </a:cxn>
                <a:cxn ang="0">
                  <a:pos x="28" y="0"/>
                </a:cxn>
              </a:cxnLst>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w="12700">
              <a:noFill/>
            </a:ln>
          </p:spPr>
          <p:txBody>
            <a:bodyPr/>
            <a:p>
              <a:endParaRPr lang="zh-CN" altLang="en-US"/>
            </a:p>
          </p:txBody>
        </p:sp>
        <p:sp>
          <p:nvSpPr>
            <p:cNvPr id="2139" name="Freeform 89"/>
            <p:cNvSpPr/>
            <p:nvPr/>
          </p:nvSpPr>
          <p:spPr>
            <a:xfrm>
              <a:off x="4632" y="3396"/>
              <a:ext cx="26" cy="33"/>
            </a:xfrm>
            <a:custGeom>
              <a:avLst/>
              <a:gdLst/>
              <a:ahLst/>
              <a:cxnLst>
                <a:cxn ang="0">
                  <a:pos x="30" y="0"/>
                </a:cxn>
                <a:cxn ang="0">
                  <a:pos x="10" y="9"/>
                </a:cxn>
                <a:cxn ang="0">
                  <a:pos x="14" y="32"/>
                </a:cxn>
                <a:cxn ang="0">
                  <a:pos x="26" y="36"/>
                </a:cxn>
                <a:cxn ang="0">
                  <a:pos x="30" y="0"/>
                </a:cxn>
              </a:cxnLst>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w="12700">
              <a:noFill/>
            </a:ln>
          </p:spPr>
          <p:txBody>
            <a:bodyPr/>
            <a:p>
              <a:endParaRPr lang="zh-CN" altLang="en-US"/>
            </a:p>
          </p:txBody>
        </p:sp>
        <p:sp>
          <p:nvSpPr>
            <p:cNvPr id="2140" name="Freeform 90"/>
            <p:cNvSpPr/>
            <p:nvPr/>
          </p:nvSpPr>
          <p:spPr>
            <a:xfrm>
              <a:off x="4659" y="3459"/>
              <a:ext cx="28" cy="28"/>
            </a:xfrm>
            <a:custGeom>
              <a:avLst/>
              <a:gdLst/>
              <a:ahLst/>
              <a:cxnLst>
                <a:cxn ang="0">
                  <a:pos x="34" y="2"/>
                </a:cxn>
                <a:cxn ang="0">
                  <a:pos x="10" y="2"/>
                </a:cxn>
                <a:cxn ang="0">
                  <a:pos x="14" y="25"/>
                </a:cxn>
                <a:cxn ang="0">
                  <a:pos x="26" y="29"/>
                </a:cxn>
                <a:cxn ang="0">
                  <a:pos x="34" y="2"/>
                </a:cxn>
              </a:cxnLst>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w="12700">
              <a:noFill/>
            </a:ln>
          </p:spPr>
          <p:txBody>
            <a:bodyPr/>
            <a:p>
              <a:endParaRPr lang="zh-CN" altLang="en-US"/>
            </a:p>
          </p:txBody>
        </p:sp>
        <p:sp>
          <p:nvSpPr>
            <p:cNvPr id="2141" name="Freeform 91"/>
            <p:cNvSpPr/>
            <p:nvPr/>
          </p:nvSpPr>
          <p:spPr>
            <a:xfrm>
              <a:off x="4693" y="3449"/>
              <a:ext cx="28" cy="26"/>
            </a:xfrm>
            <a:custGeom>
              <a:avLst/>
              <a:gdLst/>
              <a:ahLst/>
              <a:cxnLst>
                <a:cxn ang="0">
                  <a:pos x="34" y="2"/>
                </a:cxn>
                <a:cxn ang="0">
                  <a:pos x="10" y="2"/>
                </a:cxn>
                <a:cxn ang="0">
                  <a:pos x="16" y="22"/>
                </a:cxn>
                <a:cxn ang="0">
                  <a:pos x="27" y="22"/>
                </a:cxn>
                <a:cxn ang="0">
                  <a:pos x="34" y="2"/>
                </a:cxn>
              </a:cxnLst>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w="12700">
              <a:noFill/>
            </a:ln>
          </p:spPr>
          <p:txBody>
            <a:bodyPr/>
            <a:p>
              <a:endParaRPr lang="zh-CN" altLang="en-US"/>
            </a:p>
          </p:txBody>
        </p:sp>
        <p:sp>
          <p:nvSpPr>
            <p:cNvPr id="2142" name="Freeform 92"/>
            <p:cNvSpPr/>
            <p:nvPr/>
          </p:nvSpPr>
          <p:spPr>
            <a:xfrm>
              <a:off x="4683" y="3413"/>
              <a:ext cx="26" cy="20"/>
            </a:xfrm>
            <a:custGeom>
              <a:avLst/>
              <a:gdLst/>
              <a:ahLst/>
              <a:cxnLst>
                <a:cxn ang="0">
                  <a:pos x="31" y="1"/>
                </a:cxn>
                <a:cxn ang="0">
                  <a:pos x="10" y="2"/>
                </a:cxn>
                <a:cxn ang="0">
                  <a:pos x="13" y="15"/>
                </a:cxn>
                <a:cxn ang="0">
                  <a:pos x="25" y="19"/>
                </a:cxn>
                <a:cxn ang="0">
                  <a:pos x="31" y="1"/>
                </a:cxn>
              </a:cxnLst>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w="12700">
              <a:noFill/>
            </a:ln>
          </p:spPr>
          <p:txBody>
            <a:bodyPr/>
            <a:p>
              <a:endParaRPr lang="zh-CN" altLang="en-US"/>
            </a:p>
          </p:txBody>
        </p:sp>
        <p:sp>
          <p:nvSpPr>
            <p:cNvPr id="2143" name="Freeform 93"/>
            <p:cNvSpPr/>
            <p:nvPr/>
          </p:nvSpPr>
          <p:spPr>
            <a:xfrm>
              <a:off x="4657" y="3388"/>
              <a:ext cx="26" cy="35"/>
            </a:xfrm>
            <a:custGeom>
              <a:avLst/>
              <a:gdLst/>
              <a:ahLst/>
              <a:cxnLst>
                <a:cxn ang="0">
                  <a:pos x="28" y="16"/>
                </a:cxn>
                <a:cxn ang="0">
                  <a:pos x="19" y="2"/>
                </a:cxn>
                <a:cxn ang="0">
                  <a:pos x="10" y="25"/>
                </a:cxn>
                <a:cxn ang="0">
                  <a:pos x="19" y="35"/>
                </a:cxn>
                <a:cxn ang="0">
                  <a:pos x="27" y="29"/>
                </a:cxn>
                <a:cxn ang="0">
                  <a:pos x="28" y="16"/>
                </a:cxn>
              </a:cxnLst>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w="12700">
              <a:noFill/>
            </a:ln>
          </p:spPr>
          <p:txBody>
            <a:bodyPr/>
            <a:p>
              <a:endParaRPr lang="zh-CN" altLang="en-US"/>
            </a:p>
          </p:txBody>
        </p:sp>
        <p:sp>
          <p:nvSpPr>
            <p:cNvPr id="2144" name="Freeform 94"/>
            <p:cNvSpPr/>
            <p:nvPr/>
          </p:nvSpPr>
          <p:spPr>
            <a:xfrm>
              <a:off x="4625" y="3372"/>
              <a:ext cx="24" cy="26"/>
            </a:xfrm>
            <a:custGeom>
              <a:avLst/>
              <a:gdLst/>
              <a:ahLst/>
              <a:cxnLst>
                <a:cxn ang="0">
                  <a:pos x="22" y="10"/>
                </a:cxn>
                <a:cxn ang="0">
                  <a:pos x="10" y="2"/>
                </a:cxn>
                <a:cxn ang="0">
                  <a:pos x="12" y="23"/>
                </a:cxn>
                <a:cxn ang="0">
                  <a:pos x="24" y="27"/>
                </a:cxn>
                <a:cxn ang="0">
                  <a:pos x="22" y="10"/>
                </a:cxn>
              </a:cxnLst>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w="12700">
              <a:noFill/>
            </a:ln>
          </p:spPr>
          <p:txBody>
            <a:bodyPr/>
            <a:p>
              <a:endParaRPr lang="zh-CN" altLang="en-US"/>
            </a:p>
          </p:txBody>
        </p:sp>
        <p:sp>
          <p:nvSpPr>
            <p:cNvPr id="2145" name="Freeform 95"/>
            <p:cNvSpPr/>
            <p:nvPr/>
          </p:nvSpPr>
          <p:spPr>
            <a:xfrm>
              <a:off x="4665" y="3425"/>
              <a:ext cx="24" cy="26"/>
            </a:xfrm>
            <a:custGeom>
              <a:avLst/>
              <a:gdLst/>
              <a:ahLst/>
              <a:cxnLst>
                <a:cxn ang="0">
                  <a:pos x="22" y="10"/>
                </a:cxn>
                <a:cxn ang="0">
                  <a:pos x="10" y="2"/>
                </a:cxn>
                <a:cxn ang="0">
                  <a:pos x="12" y="23"/>
                </a:cxn>
                <a:cxn ang="0">
                  <a:pos x="24" y="27"/>
                </a:cxn>
                <a:cxn ang="0">
                  <a:pos x="22" y="10"/>
                </a:cxn>
              </a:cxnLst>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w="12700">
              <a:noFill/>
            </a:ln>
          </p:spPr>
          <p:txBody>
            <a:bodyPr/>
            <a:p>
              <a:endParaRPr lang="zh-CN" altLang="en-US"/>
            </a:p>
          </p:txBody>
        </p:sp>
        <p:sp>
          <p:nvSpPr>
            <p:cNvPr id="2146" name="Freeform 96"/>
            <p:cNvSpPr/>
            <p:nvPr/>
          </p:nvSpPr>
          <p:spPr>
            <a:xfrm>
              <a:off x="3055" y="2051"/>
              <a:ext cx="141" cy="108"/>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w="12700">
              <a:noFill/>
            </a:ln>
          </p:spPr>
          <p:txBody>
            <a:bodyPr/>
            <a:p>
              <a:endParaRPr lang="zh-CN" altLang="en-US"/>
            </a:p>
          </p:txBody>
        </p:sp>
        <p:sp>
          <p:nvSpPr>
            <p:cNvPr id="2147" name="Freeform 97"/>
            <p:cNvSpPr/>
            <p:nvPr/>
          </p:nvSpPr>
          <p:spPr>
            <a:xfrm>
              <a:off x="3139" y="2155"/>
              <a:ext cx="40" cy="12"/>
            </a:xfrm>
            <a:custGeom>
              <a:avLst/>
              <a:gdLst/>
              <a:ahLst/>
              <a:cxnLst>
                <a:cxn ang="0">
                  <a:pos x="24" y="0"/>
                </a:cxn>
                <a:cxn ang="0">
                  <a:pos x="12" y="2"/>
                </a:cxn>
                <a:cxn ang="0">
                  <a:pos x="32" y="16"/>
                </a:cxn>
                <a:cxn ang="0">
                  <a:pos x="44" y="14"/>
                </a:cxn>
                <a:cxn ang="0">
                  <a:pos x="24" y="0"/>
                </a:cxn>
              </a:cxnLst>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w="12700">
              <a:noFill/>
            </a:ln>
          </p:spPr>
          <p:txBody>
            <a:bodyPr/>
            <a:p>
              <a:endParaRPr lang="zh-CN" altLang="en-US"/>
            </a:p>
          </p:txBody>
        </p:sp>
        <p:sp>
          <p:nvSpPr>
            <p:cNvPr id="2148" name="Freeform 98"/>
            <p:cNvSpPr/>
            <p:nvPr/>
          </p:nvSpPr>
          <p:spPr>
            <a:xfrm>
              <a:off x="3344" y="1999"/>
              <a:ext cx="42" cy="28"/>
            </a:xfrm>
            <a:custGeom>
              <a:avLst/>
              <a:gdLst/>
              <a:ahLst/>
              <a:cxnLst>
                <a:cxn ang="0">
                  <a:pos x="57" y="4"/>
                </a:cxn>
                <a:cxn ang="0">
                  <a:pos x="25" y="24"/>
                </a:cxn>
                <a:cxn ang="0">
                  <a:pos x="11" y="34"/>
                </a:cxn>
                <a:cxn ang="0">
                  <a:pos x="9" y="4"/>
                </a:cxn>
                <a:cxn ang="0">
                  <a:pos x="21" y="0"/>
                </a:cxn>
                <a:cxn ang="0">
                  <a:pos x="57" y="4"/>
                </a:cxn>
              </a:cxnLst>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w="12700">
              <a:noFill/>
            </a:ln>
          </p:spPr>
          <p:txBody>
            <a:bodyPr/>
            <a:p>
              <a:endParaRPr lang="zh-CN" altLang="en-US"/>
            </a:p>
          </p:txBody>
        </p:sp>
        <p:sp>
          <p:nvSpPr>
            <p:cNvPr id="2149" name="Freeform 99"/>
            <p:cNvSpPr/>
            <p:nvPr/>
          </p:nvSpPr>
          <p:spPr>
            <a:xfrm>
              <a:off x="3374" y="2012"/>
              <a:ext cx="50" cy="20"/>
            </a:xfrm>
            <a:custGeom>
              <a:avLst/>
              <a:gdLst/>
              <a:ahLst/>
              <a:cxnLst>
                <a:cxn ang="0">
                  <a:pos x="29" y="0"/>
                </a:cxn>
                <a:cxn ang="0">
                  <a:pos x="11" y="6"/>
                </a:cxn>
                <a:cxn ang="0">
                  <a:pos x="57" y="26"/>
                </a:cxn>
                <a:cxn ang="0">
                  <a:pos x="63" y="24"/>
                </a:cxn>
                <a:cxn ang="0">
                  <a:pos x="29" y="0"/>
                </a:cxn>
              </a:cxnLst>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w="12700">
              <a:noFill/>
            </a:ln>
          </p:spPr>
          <p:txBody>
            <a:bodyPr/>
            <a:p>
              <a:endParaRPr lang="zh-CN" altLang="en-US"/>
            </a:p>
          </p:txBody>
        </p:sp>
        <p:sp>
          <p:nvSpPr>
            <p:cNvPr id="2150" name="Freeform 100"/>
            <p:cNvSpPr/>
            <p:nvPr/>
          </p:nvSpPr>
          <p:spPr>
            <a:xfrm>
              <a:off x="3428" y="2015"/>
              <a:ext cx="50" cy="32"/>
            </a:xfrm>
            <a:custGeom>
              <a:avLst/>
              <a:gdLst/>
              <a:ahLst/>
              <a:cxnLst>
                <a:cxn ang="0">
                  <a:pos x="50" y="9"/>
                </a:cxn>
                <a:cxn ang="0">
                  <a:pos x="26" y="9"/>
                </a:cxn>
                <a:cxn ang="0">
                  <a:pos x="10" y="9"/>
                </a:cxn>
                <a:cxn ang="0">
                  <a:pos x="8" y="35"/>
                </a:cxn>
                <a:cxn ang="0">
                  <a:pos x="32" y="43"/>
                </a:cxn>
                <a:cxn ang="0">
                  <a:pos x="62" y="27"/>
                </a:cxn>
                <a:cxn ang="0">
                  <a:pos x="50" y="9"/>
                </a:cxn>
              </a:cxnLst>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w="12700">
              <a:noFill/>
            </a:ln>
          </p:spPr>
          <p:txBody>
            <a:bodyPr/>
            <a:p>
              <a:endParaRPr lang="zh-CN" altLang="en-US"/>
            </a:p>
          </p:txBody>
        </p:sp>
        <p:sp>
          <p:nvSpPr>
            <p:cNvPr id="2151" name="Freeform 101"/>
            <p:cNvSpPr/>
            <p:nvPr/>
          </p:nvSpPr>
          <p:spPr>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w="12700">
              <a:noFill/>
            </a:ln>
          </p:spPr>
          <p:txBody>
            <a:bodyPr/>
            <a:p>
              <a:endParaRPr lang="zh-CN" altLang="en-US"/>
            </a:p>
          </p:txBody>
        </p:sp>
        <p:sp>
          <p:nvSpPr>
            <p:cNvPr id="2152" name="Freeform 102"/>
            <p:cNvSpPr/>
            <p:nvPr/>
          </p:nvSpPr>
          <p:spPr>
            <a:xfrm>
              <a:off x="3867" y="2041"/>
              <a:ext cx="46" cy="24"/>
            </a:xfrm>
            <a:custGeom>
              <a:avLst/>
              <a:gdLst/>
              <a:ahLst/>
              <a:cxnLst>
                <a:cxn ang="0">
                  <a:pos x="32" y="4"/>
                </a:cxn>
                <a:cxn ang="0">
                  <a:pos x="62" y="10"/>
                </a:cxn>
                <a:cxn ang="0">
                  <a:pos x="30" y="32"/>
                </a:cxn>
                <a:cxn ang="0">
                  <a:pos x="6" y="22"/>
                </a:cxn>
                <a:cxn ang="0">
                  <a:pos x="32" y="4"/>
                </a:cxn>
              </a:cxnLst>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w="12700">
              <a:noFill/>
            </a:ln>
          </p:spPr>
          <p:txBody>
            <a:bodyPr/>
            <a:p>
              <a:endParaRPr lang="zh-CN" altLang="en-US"/>
            </a:p>
          </p:txBody>
        </p:sp>
        <p:sp>
          <p:nvSpPr>
            <p:cNvPr id="2153" name="Freeform 103"/>
            <p:cNvSpPr/>
            <p:nvPr/>
          </p:nvSpPr>
          <p:spPr>
            <a:xfrm>
              <a:off x="3846" y="2070"/>
              <a:ext cx="37" cy="17"/>
            </a:xfrm>
            <a:custGeom>
              <a:avLst/>
              <a:gdLst/>
              <a:ahLst/>
              <a:cxnLst>
                <a:cxn ang="0">
                  <a:pos x="20" y="1"/>
                </a:cxn>
                <a:cxn ang="0">
                  <a:pos x="6" y="5"/>
                </a:cxn>
                <a:cxn ang="0">
                  <a:pos x="38" y="23"/>
                </a:cxn>
                <a:cxn ang="0">
                  <a:pos x="20" y="1"/>
                </a:cxn>
              </a:cxnLst>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w="12700">
              <a:noFill/>
            </a:ln>
          </p:spPr>
          <p:txBody>
            <a:bodyPr/>
            <a:p>
              <a:endParaRPr lang="zh-CN" altLang="en-US"/>
            </a:p>
          </p:txBody>
        </p:sp>
        <p:sp>
          <p:nvSpPr>
            <p:cNvPr id="2154" name="Freeform 104"/>
            <p:cNvSpPr/>
            <p:nvPr/>
          </p:nvSpPr>
          <p:spPr>
            <a:xfrm>
              <a:off x="4098" y="2294"/>
              <a:ext cx="76"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w="12700">
              <a:noFill/>
            </a:ln>
          </p:spPr>
          <p:txBody>
            <a:bodyPr/>
            <a:p>
              <a:endParaRPr lang="zh-CN" altLang="en-US"/>
            </a:p>
          </p:txBody>
        </p:sp>
        <p:sp>
          <p:nvSpPr>
            <p:cNvPr id="2155" name="Freeform 105"/>
            <p:cNvSpPr/>
            <p:nvPr/>
          </p:nvSpPr>
          <p:spPr>
            <a:xfrm>
              <a:off x="4159" y="2412"/>
              <a:ext cx="55" cy="78"/>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w="12700">
              <a:noFill/>
            </a:ln>
          </p:spPr>
          <p:txBody>
            <a:bodyPr/>
            <a:p>
              <a:endParaRPr lang="zh-CN" altLang="en-US"/>
            </a:p>
          </p:txBody>
        </p:sp>
        <p:sp>
          <p:nvSpPr>
            <p:cNvPr id="2156" name="Freeform 106"/>
            <p:cNvSpPr/>
            <p:nvPr/>
          </p:nvSpPr>
          <p:spPr>
            <a:xfrm>
              <a:off x="4123" y="2492"/>
              <a:ext cx="109" cy="189"/>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w="12700">
              <a:noFill/>
            </a:ln>
          </p:spPr>
          <p:txBody>
            <a:bodyPr/>
            <a:p>
              <a:endParaRPr lang="zh-CN" altLang="en-US"/>
            </a:p>
          </p:txBody>
        </p:sp>
        <p:sp>
          <p:nvSpPr>
            <p:cNvPr id="2157" name="Freeform 107"/>
            <p:cNvSpPr/>
            <p:nvPr/>
          </p:nvSpPr>
          <p:spPr>
            <a:xfrm>
              <a:off x="3062" y="1988"/>
              <a:ext cx="52" cy="30"/>
            </a:xfrm>
            <a:custGeom>
              <a:avLst/>
              <a:gdLst/>
              <a:ahLst/>
              <a:cxnLst>
                <a:cxn ang="0">
                  <a:pos x="59" y="0"/>
                </a:cxn>
                <a:cxn ang="0">
                  <a:pos x="65" y="20"/>
                </a:cxn>
                <a:cxn ang="0">
                  <a:pos x="41" y="24"/>
                </a:cxn>
                <a:cxn ang="0">
                  <a:pos x="31" y="40"/>
                </a:cxn>
                <a:cxn ang="0">
                  <a:pos x="7" y="38"/>
                </a:cxn>
                <a:cxn ang="0">
                  <a:pos x="1" y="36"/>
                </a:cxn>
                <a:cxn ang="0">
                  <a:pos x="33" y="20"/>
                </a:cxn>
                <a:cxn ang="0">
                  <a:pos x="59" y="0"/>
                </a:cxn>
              </a:cxnLst>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w="12700">
              <a:noFill/>
            </a:ln>
          </p:spPr>
          <p:txBody>
            <a:bodyPr/>
            <a:p>
              <a:endParaRPr lang="zh-CN" altLang="en-US"/>
            </a:p>
          </p:txBody>
        </p:sp>
        <p:sp>
          <p:nvSpPr>
            <p:cNvPr id="2158" name="Freeform 108"/>
            <p:cNvSpPr/>
            <p:nvPr/>
          </p:nvSpPr>
          <p:spPr>
            <a:xfrm>
              <a:off x="2955" y="1997"/>
              <a:ext cx="19" cy="22"/>
            </a:xfrm>
            <a:custGeom>
              <a:avLst/>
              <a:gdLst/>
              <a:ahLst/>
              <a:cxnLst>
                <a:cxn ang="0">
                  <a:pos x="18" y="0"/>
                </a:cxn>
                <a:cxn ang="0">
                  <a:pos x="0" y="18"/>
                </a:cxn>
                <a:cxn ang="0">
                  <a:pos x="18" y="26"/>
                </a:cxn>
                <a:cxn ang="0">
                  <a:pos x="18" y="0"/>
                </a:cxn>
              </a:cxnLst>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w="12700">
              <a:noFill/>
            </a:ln>
          </p:spPr>
          <p:txBody>
            <a:bodyPr/>
            <a:p>
              <a:endParaRPr lang="zh-CN" altLang="en-US"/>
            </a:p>
          </p:txBody>
        </p:sp>
        <p:sp>
          <p:nvSpPr>
            <p:cNvPr id="2159" name="Freeform 109"/>
            <p:cNvSpPr/>
            <p:nvPr/>
          </p:nvSpPr>
          <p:spPr>
            <a:xfrm>
              <a:off x="2979" y="1996"/>
              <a:ext cx="37" cy="27"/>
            </a:xfrm>
            <a:custGeom>
              <a:avLst/>
              <a:gdLst/>
              <a:ahLst/>
              <a:cxnLst>
                <a:cxn ang="0">
                  <a:pos x="14" y="6"/>
                </a:cxn>
                <a:cxn ang="0">
                  <a:pos x="0" y="18"/>
                </a:cxn>
                <a:cxn ang="0">
                  <a:pos x="6" y="32"/>
                </a:cxn>
                <a:cxn ang="0">
                  <a:pos x="18" y="36"/>
                </a:cxn>
                <a:cxn ang="0">
                  <a:pos x="40" y="26"/>
                </a:cxn>
                <a:cxn ang="0">
                  <a:pos x="14" y="6"/>
                </a:cxn>
              </a:cxnLst>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w="12700">
              <a:noFill/>
            </a:ln>
          </p:spPr>
          <p:txBody>
            <a:bodyPr/>
            <a:p>
              <a:endParaRPr lang="zh-CN" altLang="en-US"/>
            </a:p>
          </p:txBody>
        </p:sp>
        <p:sp>
          <p:nvSpPr>
            <p:cNvPr id="2160" name="Freeform 110"/>
            <p:cNvSpPr/>
            <p:nvPr/>
          </p:nvSpPr>
          <p:spPr>
            <a:xfrm>
              <a:off x="3040" y="1987"/>
              <a:ext cx="20" cy="16"/>
            </a:xfrm>
            <a:custGeom>
              <a:avLst/>
              <a:gdLst/>
              <a:ahLst/>
              <a:cxnLst>
                <a:cxn ang="0">
                  <a:pos x="11" y="0"/>
                </a:cxn>
                <a:cxn ang="0">
                  <a:pos x="3" y="12"/>
                </a:cxn>
                <a:cxn ang="0">
                  <a:pos x="19" y="22"/>
                </a:cxn>
                <a:cxn ang="0">
                  <a:pos x="11" y="0"/>
                </a:cxn>
              </a:cxnLst>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w="12700">
              <a:noFill/>
            </a:ln>
          </p:spPr>
          <p:txBody>
            <a:bodyPr/>
            <a:p>
              <a:endParaRPr lang="zh-CN" altLang="en-US"/>
            </a:p>
          </p:txBody>
        </p:sp>
        <p:sp>
          <p:nvSpPr>
            <p:cNvPr id="2161" name="Freeform 111"/>
            <p:cNvSpPr/>
            <p:nvPr/>
          </p:nvSpPr>
          <p:spPr>
            <a:xfrm>
              <a:off x="3022" y="2005"/>
              <a:ext cx="15" cy="13"/>
            </a:xfrm>
            <a:custGeom>
              <a:avLst/>
              <a:gdLst/>
              <a:ahLst/>
              <a:cxnLst>
                <a:cxn ang="0">
                  <a:pos x="11" y="0"/>
                </a:cxn>
                <a:cxn ang="0">
                  <a:pos x="9" y="18"/>
                </a:cxn>
                <a:cxn ang="0">
                  <a:pos x="11" y="0"/>
                </a:cxn>
              </a:cxnLst>
              <a:pathLst>
                <a:path w="20" h="18">
                  <a:moveTo>
                    <a:pt x="11" y="0"/>
                  </a:moveTo>
                  <a:cubicBezTo>
                    <a:pt x="1" y="14"/>
                    <a:pt x="0" y="9"/>
                    <a:pt x="9" y="18"/>
                  </a:cubicBezTo>
                  <a:cubicBezTo>
                    <a:pt x="20" y="14"/>
                    <a:pt x="16" y="18"/>
                    <a:pt x="11" y="0"/>
                  </a:cubicBezTo>
                  <a:close/>
                </a:path>
              </a:pathLst>
            </a:custGeom>
            <a:solidFill>
              <a:srgbClr val="FEFEFE">
                <a:alpha val="30196"/>
              </a:srgbClr>
            </a:solidFill>
            <a:ln w="12700">
              <a:noFill/>
            </a:ln>
          </p:spPr>
          <p:txBody>
            <a:bodyPr/>
            <a:p>
              <a:endParaRPr lang="zh-CN" altLang="en-US"/>
            </a:p>
          </p:txBody>
        </p:sp>
        <p:sp>
          <p:nvSpPr>
            <p:cNvPr id="2162" name="Freeform 112"/>
            <p:cNvSpPr/>
            <p:nvPr/>
          </p:nvSpPr>
          <p:spPr>
            <a:xfrm>
              <a:off x="4162" y="2021"/>
              <a:ext cx="18" cy="33"/>
            </a:xfrm>
            <a:custGeom>
              <a:avLst/>
              <a:gdLst/>
              <a:ahLst/>
              <a:cxnLst>
                <a:cxn ang="0">
                  <a:pos x="24" y="0"/>
                </a:cxn>
                <a:cxn ang="0">
                  <a:pos x="8" y="16"/>
                </a:cxn>
                <a:cxn ang="0">
                  <a:pos x="0" y="34"/>
                </a:cxn>
                <a:cxn ang="0">
                  <a:pos x="16" y="40"/>
                </a:cxn>
                <a:cxn ang="0">
                  <a:pos x="24" y="0"/>
                </a:cxn>
              </a:cxnLst>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w="12700">
              <a:noFill/>
            </a:ln>
          </p:spPr>
          <p:txBody>
            <a:bodyPr/>
            <a:p>
              <a:endParaRPr lang="zh-CN" altLang="en-US"/>
            </a:p>
          </p:txBody>
        </p:sp>
        <p:sp>
          <p:nvSpPr>
            <p:cNvPr id="2163" name="Freeform 113"/>
            <p:cNvSpPr/>
            <p:nvPr/>
          </p:nvSpPr>
          <p:spPr>
            <a:xfrm>
              <a:off x="3278" y="3473"/>
              <a:ext cx="31" cy="18"/>
            </a:xfrm>
            <a:custGeom>
              <a:avLst/>
              <a:gdLst/>
              <a:ahLst/>
              <a:cxnLst>
                <a:cxn ang="0">
                  <a:pos x="30" y="0"/>
                </a:cxn>
                <a:cxn ang="0">
                  <a:pos x="26" y="24"/>
                </a:cxn>
                <a:cxn ang="0">
                  <a:pos x="30" y="0"/>
                </a:cxn>
              </a:cxnLst>
              <a:pathLst>
                <a:path w="41" h="24">
                  <a:moveTo>
                    <a:pt x="30" y="0"/>
                  </a:moveTo>
                  <a:cubicBezTo>
                    <a:pt x="4" y="4"/>
                    <a:pt x="0" y="17"/>
                    <a:pt x="26" y="24"/>
                  </a:cubicBezTo>
                  <a:cubicBezTo>
                    <a:pt x="41" y="19"/>
                    <a:pt x="38" y="10"/>
                    <a:pt x="30" y="0"/>
                  </a:cubicBezTo>
                  <a:close/>
                </a:path>
              </a:pathLst>
            </a:custGeom>
            <a:solidFill>
              <a:srgbClr val="FEFEFE">
                <a:alpha val="30196"/>
              </a:srgbClr>
            </a:solidFill>
            <a:ln w="12700">
              <a:noFill/>
            </a:ln>
          </p:spPr>
          <p:txBody>
            <a:bodyPr/>
            <a:p>
              <a:endParaRPr lang="zh-CN" altLang="en-US"/>
            </a:p>
          </p:txBody>
        </p:sp>
        <p:sp>
          <p:nvSpPr>
            <p:cNvPr id="2164" name="Freeform 114"/>
            <p:cNvSpPr/>
            <p:nvPr/>
          </p:nvSpPr>
          <p:spPr>
            <a:xfrm>
              <a:off x="3318" y="3466"/>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65" name="Freeform 115"/>
            <p:cNvSpPr/>
            <p:nvPr/>
          </p:nvSpPr>
          <p:spPr>
            <a:xfrm>
              <a:off x="3251" y="3312"/>
              <a:ext cx="9"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66" name="Freeform 116"/>
            <p:cNvSpPr/>
            <p:nvPr/>
          </p:nvSpPr>
          <p:spPr>
            <a:xfrm>
              <a:off x="3311" y="3239"/>
              <a:ext cx="11" cy="19"/>
            </a:xfrm>
            <a:custGeom>
              <a:avLst/>
              <a:gdLst/>
              <a:ahLst/>
              <a:cxnLst>
                <a:cxn ang="0">
                  <a:pos x="6" y="0"/>
                </a:cxn>
                <a:cxn ang="0">
                  <a:pos x="0" y="13"/>
                </a:cxn>
                <a:cxn ang="0">
                  <a:pos x="12" y="24"/>
                </a:cxn>
                <a:cxn ang="0">
                  <a:pos x="6" y="0"/>
                </a:cxn>
              </a:cxnLst>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w="12700">
              <a:noFill/>
            </a:ln>
          </p:spPr>
          <p:txBody>
            <a:bodyPr/>
            <a:p>
              <a:endParaRPr lang="zh-CN" altLang="en-US"/>
            </a:p>
          </p:txBody>
        </p:sp>
        <p:sp>
          <p:nvSpPr>
            <p:cNvPr id="2167" name="Freeform 117"/>
            <p:cNvSpPr/>
            <p:nvPr/>
          </p:nvSpPr>
          <p:spPr>
            <a:xfrm>
              <a:off x="3287" y="3238"/>
              <a:ext cx="11" cy="19"/>
            </a:xfrm>
            <a:custGeom>
              <a:avLst/>
              <a:gdLst/>
              <a:ahLst/>
              <a:cxnLst>
                <a:cxn ang="0">
                  <a:pos x="6" y="0"/>
                </a:cxn>
                <a:cxn ang="0">
                  <a:pos x="0" y="13"/>
                </a:cxn>
                <a:cxn ang="0">
                  <a:pos x="12" y="24"/>
                </a:cxn>
                <a:cxn ang="0">
                  <a:pos x="6" y="0"/>
                </a:cxn>
              </a:cxnLst>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w="12700">
              <a:noFill/>
            </a:ln>
          </p:spPr>
          <p:txBody>
            <a:bodyPr/>
            <a:p>
              <a:endParaRPr lang="zh-CN" altLang="en-US"/>
            </a:p>
          </p:txBody>
        </p:sp>
        <p:sp>
          <p:nvSpPr>
            <p:cNvPr id="2168" name="Freeform 118"/>
            <p:cNvSpPr/>
            <p:nvPr/>
          </p:nvSpPr>
          <p:spPr>
            <a:xfrm>
              <a:off x="3276" y="3260"/>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69" name="Freeform 119"/>
            <p:cNvSpPr/>
            <p:nvPr/>
          </p:nvSpPr>
          <p:spPr>
            <a:xfrm>
              <a:off x="3251" y="3294"/>
              <a:ext cx="9"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70" name="Freeform 120"/>
            <p:cNvSpPr/>
            <p:nvPr/>
          </p:nvSpPr>
          <p:spPr>
            <a:xfrm>
              <a:off x="3270" y="3281"/>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71" name="Freeform 121"/>
            <p:cNvSpPr/>
            <p:nvPr/>
          </p:nvSpPr>
          <p:spPr>
            <a:xfrm>
              <a:off x="2537" y="2293"/>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72" name="Freeform 122"/>
            <p:cNvSpPr/>
            <p:nvPr/>
          </p:nvSpPr>
          <p:spPr>
            <a:xfrm>
              <a:off x="2476" y="2259"/>
              <a:ext cx="10" cy="15"/>
            </a:xfrm>
            <a:custGeom>
              <a:avLst/>
              <a:gdLst/>
              <a:ahLst/>
              <a:cxnLst>
                <a:cxn ang="0">
                  <a:pos x="10" y="5"/>
                </a:cxn>
                <a:cxn ang="0">
                  <a:pos x="1" y="11"/>
                </a:cxn>
                <a:cxn ang="0">
                  <a:pos x="9" y="20"/>
                </a:cxn>
                <a:cxn ang="0">
                  <a:pos x="10" y="5"/>
                </a:cxn>
              </a:cxnLst>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w="12700">
              <a:noFill/>
            </a:ln>
          </p:spPr>
          <p:txBody>
            <a:bodyPr/>
            <a:p>
              <a:endParaRPr lang="zh-CN" altLang="en-US"/>
            </a:p>
          </p:txBody>
        </p:sp>
        <p:sp>
          <p:nvSpPr>
            <p:cNvPr id="2173" name="Freeform 123"/>
            <p:cNvSpPr/>
            <p:nvPr/>
          </p:nvSpPr>
          <p:spPr>
            <a:xfrm>
              <a:off x="2238" y="2042"/>
              <a:ext cx="2060" cy="1644"/>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w="12700">
              <a:noFill/>
            </a:ln>
          </p:spPr>
          <p:txBody>
            <a:bodyPr/>
            <a:p>
              <a:endParaRPr lang="zh-CN" altLang="en-US"/>
            </a:p>
          </p:txBody>
        </p:sp>
      </p:grpSp>
      <p:pic>
        <p:nvPicPr>
          <p:cNvPr id="2052" name="Picture 7" descr="artplus_nature_naturalcity42_a"/>
          <p:cNvPicPr>
            <a:picLocks noChangeAspect="1"/>
          </p:cNvPicPr>
          <p:nvPr/>
        </p:nvPicPr>
        <p:blipFill>
          <a:blip r:embed="rId3"/>
          <a:stretch>
            <a:fillRect/>
          </a:stretch>
        </p:blipFill>
        <p:spPr>
          <a:xfrm>
            <a:off x="4870450" y="3167063"/>
            <a:ext cx="4425950" cy="2989262"/>
          </a:xfrm>
          <a:prstGeom prst="rect">
            <a:avLst/>
          </a:prstGeom>
          <a:noFill/>
          <a:ln w="9525">
            <a:noFill/>
          </a:ln>
        </p:spPr>
      </p:pic>
      <p:pic>
        <p:nvPicPr>
          <p:cNvPr id="2053" name="Picture 12" descr="artplus_nature_naturalcity42_i"/>
          <p:cNvPicPr>
            <a:picLocks noChangeAspect="1"/>
          </p:cNvPicPr>
          <p:nvPr/>
        </p:nvPicPr>
        <p:blipFill>
          <a:blip r:embed="rId4"/>
          <a:stretch>
            <a:fillRect/>
          </a:stretch>
        </p:blipFill>
        <p:spPr>
          <a:xfrm>
            <a:off x="6956425" y="3352800"/>
            <a:ext cx="1654175" cy="877888"/>
          </a:xfrm>
          <a:prstGeom prst="rect">
            <a:avLst/>
          </a:prstGeom>
          <a:noFill/>
          <a:ln w="9525">
            <a:noFill/>
          </a:ln>
        </p:spPr>
      </p:pic>
      <p:pic>
        <p:nvPicPr>
          <p:cNvPr id="2054" name="Picture 10" descr="artplus_nature_naturalcity42_c"/>
          <p:cNvPicPr>
            <a:picLocks noChangeAspect="1"/>
          </p:cNvPicPr>
          <p:nvPr/>
        </p:nvPicPr>
        <p:blipFill>
          <a:blip r:embed="rId5"/>
          <a:stretch>
            <a:fillRect/>
          </a:stretch>
        </p:blipFill>
        <p:spPr>
          <a:xfrm>
            <a:off x="7315200" y="3429000"/>
            <a:ext cx="1112838" cy="866775"/>
          </a:xfrm>
          <a:prstGeom prst="rect">
            <a:avLst/>
          </a:prstGeom>
          <a:noFill/>
          <a:ln w="9525">
            <a:noFill/>
          </a:ln>
        </p:spPr>
      </p:pic>
      <p:pic>
        <p:nvPicPr>
          <p:cNvPr id="2055" name="Picture 13" descr="artplus_nature_naturalcity42_f"/>
          <p:cNvPicPr>
            <a:picLocks noChangeAspect="1"/>
          </p:cNvPicPr>
          <p:nvPr/>
        </p:nvPicPr>
        <p:blipFill>
          <a:blip r:embed="rId6"/>
          <a:stretch>
            <a:fillRect/>
          </a:stretch>
        </p:blipFill>
        <p:spPr>
          <a:xfrm>
            <a:off x="4994275" y="4594225"/>
            <a:ext cx="4911725" cy="1882775"/>
          </a:xfrm>
          <a:prstGeom prst="rect">
            <a:avLst/>
          </a:prstGeom>
          <a:noFill/>
          <a:ln w="9525">
            <a:noFill/>
          </a:ln>
        </p:spPr>
      </p:pic>
      <p:pic>
        <p:nvPicPr>
          <p:cNvPr id="2056" name="Picture 9" descr="artplus_nature_naturalcity42_b"/>
          <p:cNvPicPr>
            <a:picLocks noChangeAspect="1"/>
          </p:cNvPicPr>
          <p:nvPr/>
        </p:nvPicPr>
        <p:blipFill>
          <a:blip r:embed="rId7"/>
          <a:stretch>
            <a:fillRect/>
          </a:stretch>
        </p:blipFill>
        <p:spPr>
          <a:xfrm>
            <a:off x="5195888" y="3097213"/>
            <a:ext cx="2971800" cy="571500"/>
          </a:xfrm>
          <a:prstGeom prst="rect">
            <a:avLst/>
          </a:prstGeom>
          <a:noFill/>
          <a:ln w="9525">
            <a:noFill/>
          </a:ln>
        </p:spPr>
      </p:pic>
      <p:pic>
        <p:nvPicPr>
          <p:cNvPr id="2057" name="Picture 8" descr="artplus_nature_naturalcity42_e"/>
          <p:cNvPicPr>
            <a:picLocks noChangeAspect="1"/>
          </p:cNvPicPr>
          <p:nvPr/>
        </p:nvPicPr>
        <p:blipFill>
          <a:blip r:embed="rId8"/>
          <a:stretch>
            <a:fillRect/>
          </a:stretch>
        </p:blipFill>
        <p:spPr>
          <a:xfrm>
            <a:off x="5943600" y="1993900"/>
            <a:ext cx="1546225" cy="1663700"/>
          </a:xfrm>
          <a:prstGeom prst="rect">
            <a:avLst/>
          </a:prstGeom>
          <a:noFill/>
          <a:ln w="9525">
            <a:noFill/>
          </a:ln>
        </p:spPr>
      </p:pic>
      <p:pic>
        <p:nvPicPr>
          <p:cNvPr id="2058" name="Picture 11" descr="artplus_nature_naturalcity42_d"/>
          <p:cNvPicPr>
            <a:picLocks noChangeAspect="1"/>
          </p:cNvPicPr>
          <p:nvPr/>
        </p:nvPicPr>
        <p:blipFill>
          <a:blip r:embed="rId9"/>
          <a:stretch>
            <a:fillRect/>
          </a:stretch>
        </p:blipFill>
        <p:spPr>
          <a:xfrm>
            <a:off x="5626100" y="2862263"/>
            <a:ext cx="623888" cy="579437"/>
          </a:xfrm>
          <a:prstGeom prst="rect">
            <a:avLst/>
          </a:prstGeom>
          <a:noFill/>
          <a:ln w="9525">
            <a:noFill/>
          </a:ln>
        </p:spPr>
      </p:pic>
      <p:pic>
        <p:nvPicPr>
          <p:cNvPr id="2059" name="Picture 128" descr="a1"/>
          <p:cNvPicPr>
            <a:picLocks noChangeAspect="1"/>
          </p:cNvPicPr>
          <p:nvPr userDrawn="1"/>
        </p:nvPicPr>
        <p:blipFill>
          <a:blip r:embed="rId10"/>
          <a:stretch>
            <a:fillRect/>
          </a:stretch>
        </p:blipFill>
        <p:spPr>
          <a:xfrm>
            <a:off x="914400" y="2286000"/>
            <a:ext cx="1803400" cy="2070100"/>
          </a:xfrm>
          <a:prstGeom prst="rect">
            <a:avLst/>
          </a:prstGeom>
          <a:noFill/>
          <a:ln w="9525">
            <a:noFill/>
          </a:ln>
        </p:spPr>
      </p:pic>
      <p:pic>
        <p:nvPicPr>
          <p:cNvPr id="2060" name="Picture 129" descr="b_1"/>
          <p:cNvPicPr>
            <a:picLocks noChangeAspect="1"/>
          </p:cNvPicPr>
          <p:nvPr userDrawn="1"/>
        </p:nvPicPr>
        <p:blipFill>
          <a:blip r:embed="rId11"/>
          <a:stretch>
            <a:fillRect/>
          </a:stretch>
        </p:blipFill>
        <p:spPr>
          <a:xfrm>
            <a:off x="2286000" y="3581400"/>
            <a:ext cx="1079500" cy="469900"/>
          </a:xfrm>
          <a:prstGeom prst="rect">
            <a:avLst/>
          </a:prstGeom>
          <a:noFill/>
          <a:ln w="9525">
            <a:noFill/>
          </a:ln>
        </p:spPr>
      </p:pic>
      <p:sp>
        <p:nvSpPr>
          <p:cNvPr id="4098" name="Rectangle 2"/>
          <p:cNvSpPr>
            <a:spLocks noGrp="1" noChangeArrowheads="1"/>
          </p:cNvSpPr>
          <p:nvPr>
            <p:ph type="ctrTitle"/>
          </p:nvPr>
        </p:nvSpPr>
        <p:spPr>
          <a:xfrm>
            <a:off x="304800" y="4419600"/>
            <a:ext cx="6400800" cy="1143000"/>
          </a:xfrm>
        </p:spPr>
        <p:txBody>
          <a:bodyPr/>
          <a:lstStyle>
            <a:lvl1pPr algn="l">
              <a:defRPr sz="4300">
                <a:solidFill>
                  <a:schemeClr val="bg1"/>
                </a:solidFill>
              </a:defRPr>
            </a:lvl1pPr>
          </a:lstStyle>
          <a:p>
            <a:r>
              <a:rPr lang="en-US" altLang="zh-CN"/>
              <a:t>Click to edit Master title style</a:t>
            </a:r>
            <a:endParaRPr lang="en-US" altLang="zh-CN"/>
          </a:p>
        </p:txBody>
      </p:sp>
      <p:sp>
        <p:nvSpPr>
          <p:cNvPr id="4099" name="Rectangle 3"/>
          <p:cNvSpPr>
            <a:spLocks noGrp="1" noChangeArrowheads="1"/>
          </p:cNvSpPr>
          <p:nvPr>
            <p:ph type="subTitle" idx="1"/>
          </p:nvPr>
        </p:nvSpPr>
        <p:spPr>
          <a:xfrm>
            <a:off x="304800" y="5715000"/>
            <a:ext cx="6400800" cy="381000"/>
          </a:xfrm>
        </p:spPr>
        <p:txBody>
          <a:bodyPr/>
          <a:lstStyle>
            <a:lvl1pPr marL="0" indent="0">
              <a:buFont typeface="Wingdings" panose="05000000000000000000" pitchFamily="2" charset="2"/>
              <a:buNone/>
              <a:defRPr sz="1800" b="1" i="1">
                <a:solidFill>
                  <a:schemeClr val="bg1"/>
                </a:solidFill>
              </a:defRPr>
            </a:lvl1pPr>
          </a:lstStyle>
          <a:p>
            <a:r>
              <a:rPr lang="en-US" altLang="zh-CN"/>
              <a:t>Click to edit Master subtitle style</a:t>
            </a:r>
            <a:endParaRPr lang="en-US" altLang="zh-CN"/>
          </a:p>
        </p:txBody>
      </p:sp>
      <p:sp>
        <p:nvSpPr>
          <p:cNvPr id="137" name="Rectangle 4"/>
          <p:cNvSpPr>
            <a:spLocks noGrp="1" noChangeArrowheads="1"/>
          </p:cNvSpPr>
          <p:nvPr>
            <p:ph type="dt" sz="half" idx="2"/>
          </p:nvPr>
        </p:nvSpPr>
        <p:spPr bwMode="auto">
          <a:xfrm>
            <a:off x="304800" y="6477000"/>
            <a:ext cx="2133600" cy="168275"/>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38" name="Rectangle 5"/>
          <p:cNvSpPr>
            <a:spLocks noGrp="1" noChangeArrowheads="1"/>
          </p:cNvSpPr>
          <p:nvPr>
            <p:ph type="ftr" sz="quarter" idx="3"/>
          </p:nvPr>
        </p:nvSpPr>
        <p:spPr bwMode="auto">
          <a:xfrm>
            <a:off x="6705600" y="6477000"/>
            <a:ext cx="2286000" cy="168275"/>
          </a:xfrm>
          <a:prstGeom prst="rect">
            <a:avLst/>
          </a:prstGeom>
          <a:ln>
            <a:miter lim="800000"/>
          </a:ln>
        </p:spPr>
        <p:txBody>
          <a:bodyPr vert="horz" wrap="square" lIns="91440" tIns="45720" rIns="91440" bIns="45720" numCol="1" anchor="t" anchorCtr="0" compatLnSpc="1"/>
          <a:lstStyle>
            <a:lvl1pPr algn="r">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rPr>
              <a:t>www.themegallery.com</a:t>
            </a: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39" name="Rectangle 6"/>
          <p:cNvSpPr>
            <a:spLocks noGrp="1" noChangeArrowheads="1"/>
          </p:cNvSpPr>
          <p:nvPr>
            <p:ph type="sldNum" sz="quarter" idx="4"/>
          </p:nvPr>
        </p:nvSpPr>
        <p:spPr bwMode="auto">
          <a:xfrm>
            <a:off x="3657600" y="6477000"/>
            <a:ext cx="2133600" cy="168275"/>
          </a:xfrm>
          <a:prstGeom prst="rect">
            <a:avLst/>
          </a:prstGeom>
          <a:ln>
            <a:miter lim="800000"/>
          </a:ln>
        </p:spPr>
        <p:txBody>
          <a:bodyPr vert="horz" wrap="square" lIns="91440" tIns="45720" rIns="91440" bIns="45720" numCol="1" anchor="t" anchorCtr="0" compatLnSpc="1"/>
          <a:p>
            <a:pPr algn="ctr">
              <a:buNone/>
            </a:pPr>
            <a:fld id="{9A0DB2DC-4C9A-4742-B13C-FB6460FD3503}" type="slidenum">
              <a:rPr lang="en-US" altLang="zh-CN" dirty="0"/>
            </a:fld>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4100" name="Rectangle 4"/>
          <p:cNvSpPr>
            <a:spLocks noChangeArrowheads="1"/>
          </p:cNvSpPr>
          <p:nvPr userDrawn="1"/>
        </p:nvSpPr>
        <p:spPr bwMode="ltGray">
          <a:xfrm>
            <a:off x="581343" y="942975"/>
            <a:ext cx="396000" cy="3960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endParaRPr lang="zh-CN" altLang="zh-CN" sz="2400">
              <a:ea typeface="宋体" panose="02010600030101010101" pitchFamily="2" charset="-122"/>
            </a:endParaRPr>
          </a:p>
        </p:txBody>
      </p:sp>
      <p:sp>
        <p:nvSpPr>
          <p:cNvPr id="4103" name="Rectangle 7"/>
          <p:cNvSpPr>
            <a:spLocks noChangeArrowheads="1"/>
          </p:cNvSpPr>
          <p:nvPr userDrawn="1"/>
        </p:nvSpPr>
        <p:spPr bwMode="gray">
          <a:xfrm>
            <a:off x="762000" y="803275"/>
            <a:ext cx="31750" cy="684000"/>
          </a:xfrm>
          <a:prstGeom prst="rect">
            <a:avLst/>
          </a:prstGeom>
          <a:solidFill>
            <a:srgbClr val="92D05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endParaRPr lang="zh-CN" altLang="zh-CN" sz="2400">
              <a:ea typeface="宋体" panose="02010600030101010101" pitchFamily="2" charset="-122"/>
            </a:endParaRPr>
          </a:p>
        </p:txBody>
      </p:sp>
      <p:sp>
        <p:nvSpPr>
          <p:cNvPr id="4104" name="Rectangle 8"/>
          <p:cNvSpPr>
            <a:spLocks noChangeArrowheads="1"/>
          </p:cNvSpPr>
          <p:nvPr userDrawn="1"/>
        </p:nvSpPr>
        <p:spPr bwMode="gray">
          <a:xfrm>
            <a:off x="442913" y="1136650"/>
            <a:ext cx="8352000" cy="31750"/>
          </a:xfrm>
          <a:prstGeom prst="rect">
            <a:avLst/>
          </a:prstGeom>
          <a:solidFill>
            <a:srgbClr val="92D05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algn="ctr"/>
            <a:endParaRPr lang="zh-CN" altLang="zh-CN" sz="2400">
              <a:ea typeface="宋体" panose="02010600030101010101" pitchFamily="2" charset="-122"/>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60960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60960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868363"/>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295400"/>
            <a:ext cx="8229600" cy="50292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Char char="v"/>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0.png"/><Relationship Id="rId14" Type="http://schemas.openxmlformats.org/officeDocument/2006/relationships/image" Target="../media/image9.png"/><Relationship Id="rId13" Type="http://schemas.openxmlformats.org/officeDocument/2006/relationships/image" Target="../media/image1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19" descr="1"/>
          <p:cNvPicPr>
            <a:picLocks noChangeAspect="1"/>
          </p:cNvPicPr>
          <p:nvPr userDrawn="1"/>
        </p:nvPicPr>
        <p:blipFill>
          <a:blip r:embed="rId13"/>
          <a:srcRect b="38461"/>
          <a:stretch>
            <a:fillRect/>
          </a:stretch>
        </p:blipFill>
        <p:spPr>
          <a:xfrm>
            <a:off x="0" y="6324600"/>
            <a:ext cx="9144000" cy="542925"/>
          </a:xfrm>
          <a:prstGeom prst="rect">
            <a:avLst/>
          </a:prstGeom>
          <a:noFill/>
          <a:ln w="9525">
            <a:noFill/>
          </a:ln>
        </p:spPr>
      </p:pic>
      <p:sp>
        <p:nvSpPr>
          <p:cNvPr id="1041" name="Rectangle 17"/>
          <p:cNvSpPr>
            <a:spLocks noChangeArrowheads="1"/>
          </p:cNvSpPr>
          <p:nvPr userDrawn="1"/>
        </p:nvSpPr>
        <p:spPr bwMode="gray">
          <a:xfrm>
            <a:off x="0" y="0"/>
            <a:ext cx="9144000" cy="1219200"/>
          </a:xfrm>
          <a:prstGeom prst="rect">
            <a:avLst/>
          </a:prstGeom>
          <a:gradFill rotWithShape="1">
            <a:gsLst>
              <a:gs pos="0">
                <a:schemeClr val="accent1"/>
              </a:gs>
              <a:gs pos="100000">
                <a:schemeClr val="accent1">
                  <a:gamma/>
                  <a:tint val="0"/>
                  <a:invGamma/>
                </a:schemeClr>
              </a:gs>
            </a:gsLst>
            <a:lin ang="54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8" name="Rectangle 3"/>
          <p:cNvSpPr>
            <a:spLocks noGrp="1"/>
          </p:cNvSpPr>
          <p:nvPr>
            <p:ph type="body" idx="1"/>
          </p:nvPr>
        </p:nvSpPr>
        <p:spPr>
          <a:xfrm>
            <a:off x="457200" y="1295400"/>
            <a:ext cx="8229600" cy="50292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2" name="Rectangle 4"/>
          <p:cNvSpPr>
            <a:spLocks noGrp="1" noChangeArrowheads="1"/>
          </p:cNvSpPr>
          <p:nvPr>
            <p:ph type="dt" sz="half" idx="2"/>
          </p:nvPr>
        </p:nvSpPr>
        <p:spPr bwMode="auto">
          <a:xfrm>
            <a:off x="457200" y="6537325"/>
            <a:ext cx="2133600" cy="244475"/>
          </a:xfrm>
          <a:prstGeom prst="rect">
            <a:avLst/>
          </a:prstGeom>
          <a:noFill/>
          <a:ln w="9525">
            <a:noFill/>
            <a:miter lim="800000"/>
          </a:ln>
          <a:effectLst/>
        </p:spPr>
        <p:txBody>
          <a:bodyPr vert="horz" wrap="square" lIns="91440" tIns="45720" rIns="91440" bIns="45720" numCol="1" anchor="t" anchorCtr="0" compatLnSpc="1"/>
          <a:lstStyle>
            <a:lvl1pPr>
              <a:defRPr sz="1200">
                <a:solidFill>
                  <a:schemeClr val="bg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537325"/>
            <a:ext cx="2895600" cy="244475"/>
          </a:xfrm>
          <a:prstGeom prst="rect">
            <a:avLst/>
          </a:prstGeom>
          <a:noFill/>
          <a:ln w="9525">
            <a:noFill/>
            <a:miter lim="800000"/>
          </a:ln>
          <a:effectLst/>
        </p:spPr>
        <p:txBody>
          <a:bodyPr vert="horz" wrap="square" lIns="91440" tIns="45720" rIns="91440" bIns="45720" numCol="1" anchor="t" anchorCtr="0" compatLnSpc="1"/>
          <a:lstStyle>
            <a:lvl1pPr algn="ctr">
              <a:defRPr sz="1200">
                <a:solidFill>
                  <a:schemeClr val="bg1"/>
                </a:solidFill>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537325"/>
            <a:ext cx="2133600" cy="244475"/>
          </a:xfrm>
          <a:prstGeom prst="rect">
            <a:avLst/>
          </a:prstGeom>
          <a:noFill/>
          <a:ln w="9525">
            <a:noFill/>
            <a:miter lim="800000"/>
          </a:ln>
          <a:effectLst/>
        </p:spPr>
        <p:txBody>
          <a:bodyPr vert="horz" wrap="square" lIns="91440" tIns="45720" rIns="91440" bIns="45720" numCol="1" anchor="t" anchorCtr="0" compatLnSpc="1"/>
          <a:lstStyle>
            <a:lvl1pPr algn="r">
              <a:defRPr sz="1200">
                <a:solidFill>
                  <a:schemeClr val="bg1"/>
                </a:solidFill>
              </a:defRPr>
            </a:lvl1p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
        <p:nvSpPr>
          <p:cNvPr id="1039" name="Rectangle 2"/>
          <p:cNvSpPr>
            <a:spLocks noGrp="1"/>
          </p:cNvSpPr>
          <p:nvPr>
            <p:ph type="title"/>
          </p:nvPr>
        </p:nvSpPr>
        <p:spPr>
          <a:xfrm>
            <a:off x="457200" y="228600"/>
            <a:ext cx="8229600" cy="868363"/>
          </a:xfrm>
          <a:prstGeom prst="rect">
            <a:avLst/>
          </a:prstGeom>
          <a:noFill/>
          <a:ln w="9525">
            <a:noFill/>
          </a:ln>
        </p:spPr>
        <p:txBody>
          <a:bodyPr anchor="ctr" anchorCtr="0"/>
          <a:p>
            <a:pPr lvl="0"/>
            <a:r>
              <a:rPr lang="en-US" altLang="zh-CN" dirty="0"/>
              <a:t>Click to edit Master title style</a:t>
            </a:r>
            <a:endParaRPr lang="en-US" altLang="zh-CN" dirty="0"/>
          </a:p>
        </p:txBody>
      </p:sp>
      <p:pic>
        <p:nvPicPr>
          <p:cNvPr id="1040" name="Picture 20" descr="a1"/>
          <p:cNvPicPr>
            <a:picLocks noChangeAspect="1"/>
          </p:cNvPicPr>
          <p:nvPr userDrawn="1"/>
        </p:nvPicPr>
        <p:blipFill>
          <a:blip r:embed="rId14"/>
          <a:stretch>
            <a:fillRect/>
          </a:stretch>
        </p:blipFill>
        <p:spPr>
          <a:xfrm>
            <a:off x="152400" y="0"/>
            <a:ext cx="942975" cy="1082675"/>
          </a:xfrm>
          <a:prstGeom prst="rect">
            <a:avLst/>
          </a:prstGeom>
          <a:noFill/>
          <a:ln w="9525">
            <a:noFill/>
          </a:ln>
        </p:spPr>
      </p:pic>
      <p:pic>
        <p:nvPicPr>
          <p:cNvPr id="3" name="Picture 21" descr="b_1"/>
          <p:cNvPicPr>
            <a:picLocks noChangeAspect="1"/>
          </p:cNvPicPr>
          <p:nvPr userDrawn="1"/>
        </p:nvPicPr>
        <p:blipFill>
          <a:blip r:embed="rId15"/>
          <a:stretch>
            <a:fillRect/>
          </a:stretch>
        </p:blipFill>
        <p:spPr>
          <a:xfrm>
            <a:off x="7848600" y="152400"/>
            <a:ext cx="1234440" cy="5365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hf sldNum="0" hdr="0" ftr="0" dt="0"/>
  <p:txStyles>
    <p:titleStyle>
      <a:lvl1pPr algn="ctr" rtl="0" eaLnBrk="0" fontAlgn="base" hangingPunct="0">
        <a:spcBef>
          <a:spcPct val="0"/>
        </a:spcBef>
        <a:spcAft>
          <a:spcPct val="0"/>
        </a:spcAft>
        <a:defRPr sz="4200" b="1" i="1">
          <a:solidFill>
            <a:schemeClr val="tx1"/>
          </a:solidFill>
          <a:latin typeface="+mj-lt"/>
          <a:ea typeface="+mj-ea"/>
          <a:cs typeface="+mj-cs"/>
        </a:defRPr>
      </a:lvl1pPr>
      <a:lvl2pPr algn="ctr" rtl="0" eaLnBrk="0" fontAlgn="base" hangingPunct="0">
        <a:spcBef>
          <a:spcPct val="0"/>
        </a:spcBef>
        <a:spcAft>
          <a:spcPct val="0"/>
        </a:spcAft>
        <a:defRPr sz="4200" b="1" i="1">
          <a:solidFill>
            <a:schemeClr val="tx1"/>
          </a:solidFill>
          <a:latin typeface="Arial" panose="020B0604020202020204" pitchFamily="34" charset="0"/>
        </a:defRPr>
      </a:lvl2pPr>
      <a:lvl3pPr algn="ctr" rtl="0" eaLnBrk="0" fontAlgn="base" hangingPunct="0">
        <a:spcBef>
          <a:spcPct val="0"/>
        </a:spcBef>
        <a:spcAft>
          <a:spcPct val="0"/>
        </a:spcAft>
        <a:defRPr sz="4200" b="1" i="1">
          <a:solidFill>
            <a:schemeClr val="tx1"/>
          </a:solidFill>
          <a:latin typeface="Arial" panose="020B0604020202020204" pitchFamily="34" charset="0"/>
        </a:defRPr>
      </a:lvl3pPr>
      <a:lvl4pPr algn="ctr" rtl="0" eaLnBrk="0" fontAlgn="base" hangingPunct="0">
        <a:spcBef>
          <a:spcPct val="0"/>
        </a:spcBef>
        <a:spcAft>
          <a:spcPct val="0"/>
        </a:spcAft>
        <a:defRPr sz="4200" b="1" i="1">
          <a:solidFill>
            <a:schemeClr val="tx1"/>
          </a:solidFill>
          <a:latin typeface="Arial" panose="020B0604020202020204" pitchFamily="34" charset="0"/>
        </a:defRPr>
      </a:lvl4pPr>
      <a:lvl5pPr algn="ctr" rtl="0" eaLnBrk="0" fontAlgn="base" hangingPunct="0">
        <a:spcBef>
          <a:spcPct val="0"/>
        </a:spcBef>
        <a:spcAft>
          <a:spcPct val="0"/>
        </a:spcAft>
        <a:defRPr sz="4200" b="1" i="1">
          <a:solidFill>
            <a:schemeClr val="tx1"/>
          </a:solidFill>
          <a:latin typeface="Arial" panose="020B0604020202020204" pitchFamily="34" charset="0"/>
        </a:defRPr>
      </a:lvl5pPr>
      <a:lvl6pPr marL="457200" algn="ctr" rtl="0" fontAlgn="base">
        <a:spcBef>
          <a:spcPct val="0"/>
        </a:spcBef>
        <a:spcAft>
          <a:spcPct val="0"/>
        </a:spcAft>
        <a:defRPr sz="4200" b="1" i="1">
          <a:solidFill>
            <a:schemeClr val="tx1"/>
          </a:solidFill>
          <a:latin typeface="Arial" panose="020B0604020202020204" pitchFamily="34" charset="0"/>
        </a:defRPr>
      </a:lvl6pPr>
      <a:lvl7pPr marL="914400" algn="ctr" rtl="0" fontAlgn="base">
        <a:spcBef>
          <a:spcPct val="0"/>
        </a:spcBef>
        <a:spcAft>
          <a:spcPct val="0"/>
        </a:spcAft>
        <a:defRPr sz="4200" b="1" i="1">
          <a:solidFill>
            <a:schemeClr val="tx1"/>
          </a:solidFill>
          <a:latin typeface="Arial" panose="020B0604020202020204" pitchFamily="34" charset="0"/>
        </a:defRPr>
      </a:lvl7pPr>
      <a:lvl8pPr marL="1371600" algn="ctr" rtl="0" fontAlgn="base">
        <a:spcBef>
          <a:spcPct val="0"/>
        </a:spcBef>
        <a:spcAft>
          <a:spcPct val="0"/>
        </a:spcAft>
        <a:defRPr sz="4200" b="1" i="1">
          <a:solidFill>
            <a:schemeClr val="tx1"/>
          </a:solidFill>
          <a:latin typeface="Arial" panose="020B0604020202020204" pitchFamily="34" charset="0"/>
        </a:defRPr>
      </a:lvl8pPr>
      <a:lvl9pPr marL="1828800" algn="ctr" rtl="0" fontAlgn="base">
        <a:spcBef>
          <a:spcPct val="0"/>
        </a:spcBef>
        <a:spcAft>
          <a:spcPct val="0"/>
        </a:spcAft>
        <a:defRPr sz="4200" b="1" i="1">
          <a:solidFill>
            <a:schemeClr val="tx1"/>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slide" Target="slide1.xml"/><Relationship Id="rId2" Type="http://schemas.openxmlformats.org/officeDocument/2006/relationships/slide" Target="slide5.xml"/><Relationship Id="rId1"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1.png"/><Relationship Id="rId7" Type="http://schemas.openxmlformats.org/officeDocument/2006/relationships/image" Target="../media/image20.png"/><Relationship Id="rId6" Type="http://schemas.openxmlformats.org/officeDocument/2006/relationships/image" Target="../media/image19.wmf"/><Relationship Id="rId5" Type="http://schemas.openxmlformats.org/officeDocument/2006/relationships/oleObject" Target="../embeddings/oleObject3.bin"/><Relationship Id="rId4" Type="http://schemas.openxmlformats.org/officeDocument/2006/relationships/image" Target="../media/image18.wmf"/><Relationship Id="rId3" Type="http://schemas.openxmlformats.org/officeDocument/2006/relationships/oleObject" Target="../embeddings/oleObject2.bin"/><Relationship Id="rId2" Type="http://schemas.openxmlformats.org/officeDocument/2006/relationships/image" Target="../media/image17.wmf"/><Relationship Id="rId10" Type="http://schemas.openxmlformats.org/officeDocument/2006/relationships/vmlDrawing" Target="../drawings/vmlDrawing1.vml"/><Relationship Id="rId1"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22.emf"/><Relationship Id="rId1"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jpeg"/></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8.png"/><Relationship Id="rId7" Type="http://schemas.openxmlformats.org/officeDocument/2006/relationships/image" Target="../media/image27.wmf"/><Relationship Id="rId6" Type="http://schemas.openxmlformats.org/officeDocument/2006/relationships/oleObject" Target="../embeddings/oleObject7.bin"/><Relationship Id="rId5" Type="http://schemas.openxmlformats.org/officeDocument/2006/relationships/image" Target="../media/image26.wmf"/><Relationship Id="rId4" Type="http://schemas.openxmlformats.org/officeDocument/2006/relationships/oleObject" Target="../embeddings/oleObject6.bin"/><Relationship Id="rId3" Type="http://schemas.openxmlformats.org/officeDocument/2006/relationships/image" Target="../media/image25.wmf"/><Relationship Id="rId2" Type="http://schemas.openxmlformats.org/officeDocument/2006/relationships/oleObject" Target="../embeddings/oleObject5.bin"/><Relationship Id="rId10" Type="http://schemas.openxmlformats.org/officeDocument/2006/relationships/vmlDrawing" Target="../drawings/vmlDrawing3.vml"/><Relationship Id="rId1" Type="http://schemas.openxmlformats.org/officeDocument/2006/relationships/image" Target="../media/image2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12.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31.wmf"/><Relationship Id="rId3" Type="http://schemas.openxmlformats.org/officeDocument/2006/relationships/oleObject" Target="../embeddings/oleObject9.bin"/><Relationship Id="rId2" Type="http://schemas.openxmlformats.org/officeDocument/2006/relationships/image" Target="../media/image30.wmf"/><Relationship Id="rId1" Type="http://schemas.openxmlformats.org/officeDocument/2006/relationships/oleObject" Target="../embeddings/oleObject8.bin"/></Relationships>
</file>

<file path=ppt/slides/_rels/slide13.xml.rels><?xml version="1.0" encoding="UTF-8" standalone="yes"?>
<Relationships xmlns="http://schemas.openxmlformats.org/package/2006/relationships"><Relationship Id="rId7" Type="http://schemas.openxmlformats.org/officeDocument/2006/relationships/vmlDrawing" Target="../drawings/vmlDrawing5.vml"/><Relationship Id="rId6"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33.wmf"/><Relationship Id="rId3" Type="http://schemas.openxmlformats.org/officeDocument/2006/relationships/oleObject" Target="../embeddings/oleObject11.bin"/><Relationship Id="rId2" Type="http://schemas.openxmlformats.org/officeDocument/2006/relationships/image" Target="../media/image32.wmf"/><Relationship Id="rId1" Type="http://schemas.openxmlformats.org/officeDocument/2006/relationships/oleObject" Target="../embeddings/oleObject10.bin"/></Relationships>
</file>

<file path=ppt/slides/_rels/slide14.xml.rels><?xml version="1.0" encoding="UTF-8" standalone="yes"?>
<Relationships xmlns="http://schemas.openxmlformats.org/package/2006/relationships"><Relationship Id="rId9" Type="http://schemas.openxmlformats.org/officeDocument/2006/relationships/oleObject" Target="../embeddings/oleObject16.bin"/><Relationship Id="rId8" Type="http://schemas.openxmlformats.org/officeDocument/2006/relationships/image" Target="../media/image37.wmf"/><Relationship Id="rId7" Type="http://schemas.openxmlformats.org/officeDocument/2006/relationships/oleObject" Target="../embeddings/oleObject15.bin"/><Relationship Id="rId6" Type="http://schemas.openxmlformats.org/officeDocument/2006/relationships/image" Target="../media/image36.wmf"/><Relationship Id="rId5" Type="http://schemas.openxmlformats.org/officeDocument/2006/relationships/oleObject" Target="../embeddings/oleObject14.bin"/><Relationship Id="rId4" Type="http://schemas.openxmlformats.org/officeDocument/2006/relationships/image" Target="../media/image35.wmf"/><Relationship Id="rId3" Type="http://schemas.openxmlformats.org/officeDocument/2006/relationships/oleObject" Target="../embeddings/oleObject13.bin"/><Relationship Id="rId2" Type="http://schemas.openxmlformats.org/officeDocument/2006/relationships/image" Target="../media/image34.wmf"/><Relationship Id="rId12" Type="http://schemas.openxmlformats.org/officeDocument/2006/relationships/vmlDrawing" Target="../drawings/vmlDrawing6.vml"/><Relationship Id="rId11" Type="http://schemas.openxmlformats.org/officeDocument/2006/relationships/slideLayout" Target="../slideLayouts/slideLayout2.xml"/><Relationship Id="rId10" Type="http://schemas.openxmlformats.org/officeDocument/2006/relationships/image" Target="../media/image38.wmf"/><Relationship Id="rId1" Type="http://schemas.openxmlformats.org/officeDocument/2006/relationships/oleObject" Target="../embeddings/oleObject12.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0.png"/><Relationship Id="rId1" Type="http://schemas.openxmlformats.org/officeDocument/2006/relationships/image" Target="../media/image39.png"/></Relationships>
</file>

<file path=ppt/slides/_rels/slide17.xml.rels><?xml version="1.0" encoding="UTF-8" standalone="yes"?>
<Relationships xmlns="http://schemas.openxmlformats.org/package/2006/relationships"><Relationship Id="rId9" Type="http://schemas.openxmlformats.org/officeDocument/2006/relationships/vmlDrawing" Target="../drawings/vmlDrawing7.vml"/><Relationship Id="rId8" Type="http://schemas.openxmlformats.org/officeDocument/2006/relationships/slideLayout" Target="../slideLayouts/slideLayout2.xml"/><Relationship Id="rId7" Type="http://schemas.openxmlformats.org/officeDocument/2006/relationships/image" Target="../media/image43.wmf"/><Relationship Id="rId6" Type="http://schemas.openxmlformats.org/officeDocument/2006/relationships/oleObject" Target="../embeddings/oleObject19.bin"/><Relationship Id="rId5" Type="http://schemas.openxmlformats.org/officeDocument/2006/relationships/image" Target="../media/image42.wmf"/><Relationship Id="rId4" Type="http://schemas.openxmlformats.org/officeDocument/2006/relationships/oleObject" Target="../embeddings/oleObject18.bin"/><Relationship Id="rId3" Type="http://schemas.openxmlformats.org/officeDocument/2006/relationships/image" Target="../media/image41.wmf"/><Relationship Id="rId2" Type="http://schemas.openxmlformats.org/officeDocument/2006/relationships/oleObject" Target="../embeddings/oleObject17.bin"/><Relationship Id="rId1" Type="http://schemas.openxmlformats.org/officeDocument/2006/relationships/image" Target="../media/image39.png"/></Relationships>
</file>

<file path=ppt/slides/_rels/slide18.xml.rels><?xml version="1.0" encoding="UTF-8" standalone="yes"?>
<Relationships xmlns="http://schemas.openxmlformats.org/package/2006/relationships"><Relationship Id="rId5" Type="http://schemas.openxmlformats.org/officeDocument/2006/relationships/vmlDrawing" Target="../drawings/vmlDrawing8.vml"/><Relationship Id="rId4" Type="http://schemas.openxmlformats.org/officeDocument/2006/relationships/slideLayout" Target="../slideLayouts/slideLayout2.xml"/><Relationship Id="rId3" Type="http://schemas.openxmlformats.org/officeDocument/2006/relationships/image" Target="../media/image45.wmf"/><Relationship Id="rId2" Type="http://schemas.openxmlformats.org/officeDocument/2006/relationships/oleObject" Target="../embeddings/oleObject20.bin"/><Relationship Id="rId1" Type="http://schemas.openxmlformats.org/officeDocument/2006/relationships/image" Target="../media/image44.png"/></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46.wmf"/><Relationship Id="rId1" Type="http://schemas.openxmlformats.org/officeDocument/2006/relationships/oleObject" Target="../embeddings/oleObject21.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8.png"/><Relationship Id="rId1" Type="http://schemas.openxmlformats.org/officeDocument/2006/relationships/image" Target="../media/image47.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23.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50.png"/><Relationship Id="rId1" Type="http://schemas.openxmlformats.org/officeDocument/2006/relationships/oleObject" Target="../embeddings/oleObject22.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image" Target="../media/image51.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4.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5.png"/><Relationship Id="rId1" Type="http://schemas.openxmlformats.org/officeDocument/2006/relationships/image" Target="../media/image54.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6.png"/></Relationships>
</file>

<file path=ppt/slides/_rels/slide32.xml.rels><?xml version="1.0" encoding="UTF-8" standalone="yes"?>
<Relationships xmlns="http://schemas.openxmlformats.org/package/2006/relationships"><Relationship Id="rId5" Type="http://schemas.openxmlformats.org/officeDocument/2006/relationships/vmlDrawing" Target="../drawings/vmlDrawing11.vml"/><Relationship Id="rId4" Type="http://schemas.openxmlformats.org/officeDocument/2006/relationships/slideLayout" Target="../slideLayouts/slideLayout2.xml"/><Relationship Id="rId3" Type="http://schemas.openxmlformats.org/officeDocument/2006/relationships/image" Target="../media/image58.wmf"/><Relationship Id="rId2" Type="http://schemas.openxmlformats.org/officeDocument/2006/relationships/oleObject" Target="../embeddings/oleObject23.bin"/><Relationship Id="rId1" Type="http://schemas.openxmlformats.org/officeDocument/2006/relationships/image" Target="../media/image5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7" Type="http://schemas.openxmlformats.org/officeDocument/2006/relationships/vmlDrawing" Target="../drawings/vmlDrawing12.vml"/><Relationship Id="rId6" Type="http://schemas.openxmlformats.org/officeDocument/2006/relationships/slideLayout" Target="../slideLayouts/slideLayout2.xml"/><Relationship Id="rId5" Type="http://schemas.openxmlformats.org/officeDocument/2006/relationships/image" Target="../media/image62.wmf"/><Relationship Id="rId4" Type="http://schemas.openxmlformats.org/officeDocument/2006/relationships/oleObject" Target="../embeddings/oleObject24.bin"/><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image" Target="../media/image59.png"/></Relationships>
</file>

<file path=ppt/slides/_rels/slide36.xml.rels><?xml version="1.0" encoding="UTF-8" standalone="yes"?>
<Relationships xmlns="http://schemas.openxmlformats.org/package/2006/relationships"><Relationship Id="rId6" Type="http://schemas.openxmlformats.org/officeDocument/2006/relationships/vmlDrawing" Target="../drawings/vmlDrawing13.vml"/><Relationship Id="rId5" Type="http://schemas.openxmlformats.org/officeDocument/2006/relationships/slideLayout" Target="../slideLayouts/slideLayout2.xml"/><Relationship Id="rId4" Type="http://schemas.openxmlformats.org/officeDocument/2006/relationships/oleObject" Target="../embeddings/oleObject26.bin"/><Relationship Id="rId3" Type="http://schemas.openxmlformats.org/officeDocument/2006/relationships/image" Target="../media/image63.wmf"/><Relationship Id="rId2" Type="http://schemas.openxmlformats.org/officeDocument/2006/relationships/oleObject" Target="../embeddings/oleObject25.bin"/><Relationship Id="rId1" Type="http://schemas.openxmlformats.org/officeDocument/2006/relationships/image" Target="../media/image61.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2.wav"/><Relationship Id="rId1" Type="http://schemas.openxmlformats.org/officeDocument/2006/relationships/image" Target="../media/image64.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5.png"/></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image" Target="../media/image66.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9.png"/></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image" Target="../media/image70.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3.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4.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4.png"/></Relationships>
</file>

<file path=ppt/slides/_rels/slide4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image" Target="../media/image74.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4.png"/></Relationships>
</file>

<file path=ppt/slides/_rels/slide47.xml.rels><?xml version="1.0" encoding="UTF-8" standalone="yes"?>
<Relationships xmlns="http://schemas.openxmlformats.org/package/2006/relationships"><Relationship Id="rId9" Type="http://schemas.openxmlformats.org/officeDocument/2006/relationships/image" Target="../media/image80.wmf"/><Relationship Id="rId8" Type="http://schemas.openxmlformats.org/officeDocument/2006/relationships/oleObject" Target="../embeddings/oleObject29.bin"/><Relationship Id="rId7" Type="http://schemas.openxmlformats.org/officeDocument/2006/relationships/image" Target="../media/image79.wmf"/><Relationship Id="rId6" Type="http://schemas.openxmlformats.org/officeDocument/2006/relationships/oleObject" Target="../embeddings/oleObject28.bin"/><Relationship Id="rId5" Type="http://schemas.openxmlformats.org/officeDocument/2006/relationships/image" Target="../media/image78.wmf"/><Relationship Id="rId4" Type="http://schemas.openxmlformats.org/officeDocument/2006/relationships/oleObject" Target="../embeddings/oleObject27.bin"/><Relationship Id="rId3" Type="http://schemas.openxmlformats.org/officeDocument/2006/relationships/image" Target="../media/image76.png"/><Relationship Id="rId2" Type="http://schemas.openxmlformats.org/officeDocument/2006/relationships/image" Target="../media/image75.png"/><Relationship Id="rId13" Type="http://schemas.openxmlformats.org/officeDocument/2006/relationships/vmlDrawing" Target="../drawings/vmlDrawing14.vml"/><Relationship Id="rId12" Type="http://schemas.openxmlformats.org/officeDocument/2006/relationships/slideLayout" Target="../slideLayouts/slideLayout2.xml"/><Relationship Id="rId11" Type="http://schemas.openxmlformats.org/officeDocument/2006/relationships/image" Target="../media/image81.wmf"/><Relationship Id="rId10" Type="http://schemas.openxmlformats.org/officeDocument/2006/relationships/oleObject" Target="../embeddings/oleObject30.bin"/><Relationship Id="rId1" Type="http://schemas.openxmlformats.org/officeDocument/2006/relationships/image" Target="../media/image77.png"/></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image" Target="../media/image82.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5.png"/></Relationships>
</file>

<file path=ppt/slides/_rels/slide5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5.png"/><Relationship Id="rId2" Type="http://schemas.openxmlformats.org/officeDocument/2006/relationships/image" Target="../media/image86.png"/><Relationship Id="rId1" Type="http://schemas.openxmlformats.org/officeDocument/2006/relationships/tags" Target="../tags/tag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TextBox 8"/>
          <p:cNvSpPr txBox="1">
            <a:spLocks noChangeArrowheads="1"/>
          </p:cNvSpPr>
          <p:nvPr/>
        </p:nvSpPr>
        <p:spPr bwMode="auto">
          <a:xfrm>
            <a:off x="1066800" y="2362200"/>
            <a:ext cx="6786880" cy="903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lnSpc>
                <a:spcPct val="120000"/>
              </a:lnSpc>
            </a:pPr>
            <a:r>
              <a:rPr lang="zh-CN" altLang="en-US" sz="4400" b="1" dirty="0">
                <a:solidFill>
                  <a:srgbClr val="FF0000"/>
                </a:solidFill>
                <a:latin typeface="微软雅黑" panose="020B0503020204020204" charset="-122"/>
                <a:ea typeface="微软雅黑" panose="020B0503020204020204" charset="-122"/>
              </a:rPr>
              <a:t>《数字电子技术》</a:t>
            </a:r>
            <a:endParaRPr lang="zh-CN" altLang="en-US" sz="4400" b="1" dirty="0">
              <a:solidFill>
                <a:srgbClr val="FF0000"/>
              </a:solidFill>
              <a:latin typeface="微软雅黑" panose="020B0503020204020204" charset="-122"/>
              <a:ea typeface="微软雅黑" panose="020B0503020204020204" charset="-122"/>
            </a:endParaRPr>
          </a:p>
        </p:txBody>
      </p:sp>
      <p:pic>
        <p:nvPicPr>
          <p:cNvPr id="100" name="图片 99"/>
          <p:cNvPicPr/>
          <p:nvPr/>
        </p:nvPicPr>
        <p:blipFill>
          <a:blip r:embed="rId1"/>
          <a:srcRect l="6440" t="10369" r="5160" b="7142"/>
          <a:stretch>
            <a:fillRect/>
          </a:stretch>
        </p:blipFill>
        <p:spPr>
          <a:xfrm>
            <a:off x="0" y="4953000"/>
            <a:ext cx="3024000" cy="2014855"/>
          </a:xfrm>
          <a:prstGeom prst="rect">
            <a:avLst/>
          </a:prstGeom>
          <a:noFill/>
          <a:ln w="9525">
            <a:noFill/>
          </a:ln>
        </p:spPr>
      </p:pic>
      <p:pic>
        <p:nvPicPr>
          <p:cNvPr id="2" name="图片 1"/>
          <p:cNvPicPr/>
          <p:nvPr/>
        </p:nvPicPr>
        <p:blipFill>
          <a:blip r:embed="rId2"/>
          <a:stretch>
            <a:fillRect/>
          </a:stretch>
        </p:blipFill>
        <p:spPr>
          <a:xfrm>
            <a:off x="3013710" y="4953000"/>
            <a:ext cx="3024000" cy="2026920"/>
          </a:xfrm>
          <a:prstGeom prst="rect">
            <a:avLst/>
          </a:prstGeom>
          <a:noFill/>
          <a:ln w="9525">
            <a:noFill/>
          </a:ln>
        </p:spPr>
      </p:pic>
      <p:pic>
        <p:nvPicPr>
          <p:cNvPr id="101" name="图片 100"/>
          <p:cNvPicPr/>
          <p:nvPr/>
        </p:nvPicPr>
        <p:blipFill>
          <a:blip r:embed="rId3"/>
          <a:srcRect l="11780" t="21920" r="10760" b="21160"/>
          <a:stretch>
            <a:fillRect/>
          </a:stretch>
        </p:blipFill>
        <p:spPr>
          <a:xfrm>
            <a:off x="6041390" y="4953000"/>
            <a:ext cx="3096895" cy="204343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00"/>
                                        </p:tgtEl>
                                        <p:attrNameLst>
                                          <p:attrName>style.visibility</p:attrName>
                                        </p:attrNameLst>
                                      </p:cBhvr>
                                      <p:to>
                                        <p:strVal val="visible"/>
                                      </p:to>
                                    </p:set>
                                    <p:animEffect transition="in" filter="wipe(left)">
                                      <p:cBhvr>
                                        <p:cTn id="11" dur="500"/>
                                        <p:tgtEl>
                                          <p:spTgt spid="100"/>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01"/>
                                        </p:tgtEl>
                                        <p:attrNameLst>
                                          <p:attrName>style.visibility</p:attrName>
                                        </p:attrNameLst>
                                      </p:cBhvr>
                                      <p:to>
                                        <p:strVal val="visible"/>
                                      </p:to>
                                    </p:set>
                                    <p:animEffect transition="in" filter="wipe(left)">
                                      <p:cBhvr>
                                        <p:cTn id="19" dur="5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31" name="Rectangle 9"/>
          <p:cNvSpPr>
            <a:spLocks noGrp="1"/>
          </p:cNvSpPr>
          <p:nvPr>
            <p:ph type="title"/>
          </p:nvPr>
        </p:nvSpPr>
        <p:spPr>
          <a:xfrm>
            <a:off x="304800" y="381000"/>
            <a:ext cx="8229600" cy="868363"/>
          </a:xfrm>
        </p:spPr>
        <p:txBody>
          <a:bodyPr vert="horz" wrap="square" lIns="91440" tIns="45720" rIns="91440" bIns="45720" anchor="ctr" anchorCtr="0"/>
          <a:p>
            <a:pPr eaLnBrk="1" hangingPunct="1"/>
            <a:r>
              <a:rPr lang="zh-CN" altLang="en-US" sz="3200" i="0" kern="1200" dirty="0">
                <a:solidFill>
                  <a:srgbClr val="FF0000"/>
                </a:solidFill>
                <a:latin typeface="黑体" panose="02010609060101010101" pitchFamily="49" charset="-122"/>
                <a:ea typeface="黑体" panose="02010609060101010101" pitchFamily="49" charset="-122"/>
                <a:cs typeface="+mn-cs"/>
              </a:rPr>
              <a:t>第</a:t>
            </a:r>
            <a:r>
              <a:rPr lang="en-US" altLang="zh-CN" sz="3200" i="0" kern="1200" dirty="0">
                <a:solidFill>
                  <a:srgbClr val="FF0000"/>
                </a:solidFill>
                <a:latin typeface="黑体" panose="02010609060101010101" pitchFamily="49" charset="-122"/>
                <a:ea typeface="黑体" panose="02010609060101010101" pitchFamily="49" charset="-122"/>
                <a:cs typeface="+mn-cs"/>
              </a:rPr>
              <a:t>9</a:t>
            </a:r>
            <a:r>
              <a:rPr lang="zh-CN" altLang="en-US" sz="3200" i="0" kern="1200" dirty="0">
                <a:solidFill>
                  <a:srgbClr val="FF0000"/>
                </a:solidFill>
                <a:latin typeface="黑体" panose="02010609060101010101" pitchFamily="49" charset="-122"/>
                <a:ea typeface="黑体" panose="02010609060101010101" pitchFamily="49" charset="-122"/>
                <a:cs typeface="+mn-cs"/>
              </a:rPr>
              <a:t>章</a:t>
            </a:r>
            <a:r>
              <a:rPr lang="en-US" altLang="zh-CN" sz="3200" i="0" kern="1200" dirty="0">
                <a:solidFill>
                  <a:srgbClr val="FF0000"/>
                </a:solidFill>
                <a:latin typeface="黑体" panose="02010609060101010101" pitchFamily="49" charset="-122"/>
                <a:ea typeface="黑体" panose="02010609060101010101" pitchFamily="49" charset="-122"/>
                <a:cs typeface="+mn-cs"/>
              </a:rPr>
              <a:t> D/A</a:t>
            </a:r>
            <a:r>
              <a:rPr lang="zh-CN" altLang="en-US" sz="3200" i="0" kern="1200" dirty="0">
                <a:solidFill>
                  <a:srgbClr val="FF0000"/>
                </a:solidFill>
                <a:latin typeface="黑体" panose="02010609060101010101" pitchFamily="49" charset="-122"/>
                <a:ea typeface="黑体" panose="02010609060101010101" pitchFamily="49" charset="-122"/>
                <a:cs typeface="+mn-cs"/>
              </a:rPr>
              <a:t>和</a:t>
            </a:r>
            <a:r>
              <a:rPr lang="en-US" altLang="zh-CN" sz="3200" i="0" kern="1200" dirty="0">
                <a:solidFill>
                  <a:srgbClr val="FF0000"/>
                </a:solidFill>
                <a:latin typeface="黑体" panose="02010609060101010101" pitchFamily="49" charset="-122"/>
                <a:ea typeface="黑体" panose="02010609060101010101" pitchFamily="49" charset="-122"/>
                <a:cs typeface="+mn-cs"/>
              </a:rPr>
              <a:t>A/D</a:t>
            </a:r>
            <a:r>
              <a:rPr lang="zh-CN" altLang="en-US" sz="3200" i="0" kern="1200" dirty="0">
                <a:solidFill>
                  <a:srgbClr val="FF0000"/>
                </a:solidFill>
                <a:latin typeface="黑体" panose="02010609060101010101" pitchFamily="49" charset="-122"/>
                <a:ea typeface="黑体" panose="02010609060101010101" pitchFamily="49" charset="-122"/>
                <a:cs typeface="+mn-cs"/>
              </a:rPr>
              <a:t>转换电路</a:t>
            </a:r>
            <a:endParaRPr lang="zh-CN" altLang="en-US" sz="3200" i="0" kern="1200" dirty="0">
              <a:solidFill>
                <a:srgbClr val="FF0000"/>
              </a:solidFill>
              <a:latin typeface="黑体" panose="02010609060101010101" pitchFamily="49" charset="-122"/>
              <a:ea typeface="黑体" panose="02010609060101010101" pitchFamily="49" charset="-122"/>
              <a:cs typeface="+mn-cs"/>
            </a:endParaRPr>
          </a:p>
        </p:txBody>
      </p:sp>
      <p:sp>
        <p:nvSpPr>
          <p:cNvPr id="5123" name="Line 2"/>
          <p:cNvSpPr/>
          <p:nvPr/>
        </p:nvSpPr>
        <p:spPr>
          <a:xfrm flipV="1">
            <a:off x="2671763" y="1948180"/>
            <a:ext cx="531812" cy="838200"/>
          </a:xfrm>
          <a:prstGeom prst="line">
            <a:avLst/>
          </a:prstGeom>
          <a:ln w="12700" cap="rnd" cmpd="sng">
            <a:solidFill>
              <a:srgbClr val="003366"/>
            </a:solidFill>
            <a:prstDash val="sysDot"/>
            <a:headEnd type="none" w="med" len="med"/>
            <a:tailEnd type="none" w="med" len="med"/>
          </a:ln>
        </p:spPr>
      </p:sp>
      <p:sp>
        <p:nvSpPr>
          <p:cNvPr id="5125" name="Line 3"/>
          <p:cNvSpPr/>
          <p:nvPr/>
        </p:nvSpPr>
        <p:spPr>
          <a:xfrm>
            <a:off x="2738120" y="4436110"/>
            <a:ext cx="463550" cy="612775"/>
          </a:xfrm>
          <a:prstGeom prst="line">
            <a:avLst/>
          </a:prstGeom>
          <a:ln w="12700" cap="rnd" cmpd="sng">
            <a:solidFill>
              <a:srgbClr val="003366"/>
            </a:solidFill>
            <a:prstDash val="sysDot"/>
            <a:headEnd type="none" w="med" len="med"/>
            <a:tailEnd type="none" w="med" len="med"/>
          </a:ln>
        </p:spPr>
      </p:sp>
      <p:sp>
        <p:nvSpPr>
          <p:cNvPr id="5126" name="Line 4"/>
          <p:cNvSpPr/>
          <p:nvPr/>
        </p:nvSpPr>
        <p:spPr>
          <a:xfrm>
            <a:off x="3203575" y="1948180"/>
            <a:ext cx="609600" cy="0"/>
          </a:xfrm>
          <a:prstGeom prst="line">
            <a:avLst/>
          </a:prstGeom>
          <a:ln w="12700" cap="rnd" cmpd="sng">
            <a:solidFill>
              <a:srgbClr val="003366"/>
            </a:solidFill>
            <a:prstDash val="sysDot"/>
            <a:headEnd type="none" w="med" len="med"/>
            <a:tailEnd type="none" w="med" len="med"/>
          </a:ln>
        </p:spPr>
      </p:sp>
      <p:sp>
        <p:nvSpPr>
          <p:cNvPr id="5127" name="Line 5"/>
          <p:cNvSpPr/>
          <p:nvPr/>
        </p:nvSpPr>
        <p:spPr>
          <a:xfrm>
            <a:off x="3201670" y="5048885"/>
            <a:ext cx="609600" cy="0"/>
          </a:xfrm>
          <a:prstGeom prst="line">
            <a:avLst/>
          </a:prstGeom>
          <a:ln w="12700" cap="rnd" cmpd="sng">
            <a:solidFill>
              <a:srgbClr val="003366"/>
            </a:solidFill>
            <a:prstDash val="sysDot"/>
            <a:headEnd type="none" w="med" len="med"/>
            <a:tailEnd type="none" w="med" len="med"/>
          </a:ln>
        </p:spPr>
      </p:sp>
      <p:sp>
        <p:nvSpPr>
          <p:cNvPr id="5129" name="Line 7"/>
          <p:cNvSpPr/>
          <p:nvPr/>
        </p:nvSpPr>
        <p:spPr>
          <a:xfrm>
            <a:off x="3185160" y="3460750"/>
            <a:ext cx="609600" cy="0"/>
          </a:xfrm>
          <a:prstGeom prst="line">
            <a:avLst/>
          </a:prstGeom>
          <a:ln w="12700" cap="rnd" cmpd="sng">
            <a:solidFill>
              <a:srgbClr val="003366"/>
            </a:solidFill>
            <a:prstDash val="sysDot"/>
            <a:headEnd type="none" w="med" len="med"/>
            <a:tailEnd type="none" w="med" len="med"/>
          </a:ln>
        </p:spPr>
      </p:sp>
      <p:grpSp>
        <p:nvGrpSpPr>
          <p:cNvPr id="5132" name="Group 10"/>
          <p:cNvGrpSpPr/>
          <p:nvPr/>
        </p:nvGrpSpPr>
        <p:grpSpPr>
          <a:xfrm>
            <a:off x="682625" y="2128838"/>
            <a:ext cx="2673350" cy="2671762"/>
            <a:chOff x="140" y="1419"/>
            <a:chExt cx="1684" cy="1683"/>
          </a:xfrm>
        </p:grpSpPr>
        <p:sp>
          <p:nvSpPr>
            <p:cNvPr id="7179" name="Oval 11"/>
            <p:cNvSpPr>
              <a:spLocks noChangeArrowheads="1"/>
            </p:cNvSpPr>
            <p:nvPr/>
          </p:nvSpPr>
          <p:spPr bwMode="gray">
            <a:xfrm>
              <a:off x="140" y="1419"/>
              <a:ext cx="1684" cy="1683"/>
            </a:xfrm>
            <a:prstGeom prst="ellipse">
              <a:avLst/>
            </a:prstGeom>
            <a:gradFill rotWithShape="1">
              <a:gsLst>
                <a:gs pos="0">
                  <a:schemeClr val="folHlink">
                    <a:gamma/>
                    <a:tint val="0"/>
                    <a:invGamma/>
                  </a:schemeClr>
                </a:gs>
                <a:gs pos="50000">
                  <a:schemeClr val="folHlink"/>
                </a:gs>
                <a:gs pos="100000">
                  <a:schemeClr val="folHlink">
                    <a:gamma/>
                    <a:tint val="0"/>
                    <a:invGamma/>
                  </a:schemeClr>
                </a:gs>
              </a:gsLst>
              <a:lin ang="2700000" scaled="1"/>
            </a:gradFill>
            <a:ln w="38100" algn="ctr">
              <a:noFill/>
              <a:rou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180" name="Oval 12"/>
            <p:cNvSpPr>
              <a:spLocks noChangeArrowheads="1"/>
            </p:cNvSpPr>
            <p:nvPr/>
          </p:nvSpPr>
          <p:spPr bwMode="gray">
            <a:xfrm>
              <a:off x="251" y="1528"/>
              <a:ext cx="1461" cy="1463"/>
            </a:xfrm>
            <a:prstGeom prst="ellipse">
              <a:avLst/>
            </a:prstGeom>
            <a:gradFill rotWithShape="1">
              <a:gsLst>
                <a:gs pos="0">
                  <a:schemeClr val="folHlink">
                    <a:gamma/>
                    <a:shade val="54118"/>
                    <a:invGamma/>
                  </a:schemeClr>
                </a:gs>
                <a:gs pos="50000">
                  <a:schemeClr val="folHlink"/>
                </a:gs>
                <a:gs pos="100000">
                  <a:schemeClr val="folHlink">
                    <a:gamma/>
                    <a:shade val="54118"/>
                    <a:invGamma/>
                  </a:schemeClr>
                </a:gs>
              </a:gsLst>
              <a:lin ang="189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181" name="Oval 13"/>
            <p:cNvSpPr>
              <a:spLocks noChangeArrowheads="1"/>
            </p:cNvSpPr>
            <p:nvPr/>
          </p:nvSpPr>
          <p:spPr bwMode="gray">
            <a:xfrm>
              <a:off x="258" y="1536"/>
              <a:ext cx="1461" cy="1462"/>
            </a:xfrm>
            <a:prstGeom prst="ellipse">
              <a:avLst/>
            </a:prstGeom>
            <a:gradFill rotWithShape="1">
              <a:gsLst>
                <a:gs pos="0">
                  <a:schemeClr val="folHlink">
                    <a:gamma/>
                    <a:shade val="63529"/>
                    <a:invGamma/>
                  </a:schemeClr>
                </a:gs>
                <a:gs pos="100000">
                  <a:schemeClr val="folHlink">
                    <a:alpha val="0"/>
                  </a:schemeClr>
                </a:gs>
              </a:gsLst>
              <a:lin ang="2700000" scaled="1"/>
            </a:gradFill>
            <a:ln w="38100" algn="ctr">
              <a:noFill/>
              <a:rou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60" name="Oval 14"/>
            <p:cNvSpPr/>
            <p:nvPr/>
          </p:nvSpPr>
          <p:spPr>
            <a:xfrm>
              <a:off x="323" y="1602"/>
              <a:ext cx="1317" cy="1316"/>
            </a:xfrm>
            <a:prstGeom prst="ellipse">
              <a:avLst/>
            </a:prstGeom>
            <a:solidFill>
              <a:srgbClr val="000000"/>
            </a:solidFill>
            <a:ln w="38100">
              <a:noFill/>
            </a:ln>
          </p:spPr>
          <p:txBody>
            <a:bodyPr anchor="ctr" anchorCtr="0">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5161" name="Oval 15"/>
            <p:cNvSpPr/>
            <p:nvPr/>
          </p:nvSpPr>
          <p:spPr>
            <a:xfrm>
              <a:off x="344" y="1623"/>
              <a:ext cx="1276" cy="1277"/>
            </a:xfrm>
            <a:prstGeom prst="ellipse">
              <a:avLst/>
            </a:prstGeom>
            <a:gradFill rotWithShape="1">
              <a:gsLst>
                <a:gs pos="0">
                  <a:srgbClr val="636869"/>
                </a:gs>
                <a:gs pos="100000">
                  <a:srgbClr val="D6E1E2"/>
                </a:gs>
              </a:gsLst>
              <a:lin ang="5400000" scaled="1"/>
              <a:tileRect/>
            </a:gradFill>
            <a:ln w="9525">
              <a:noFill/>
            </a:ln>
          </p:spPr>
          <p:txBody>
            <a:bodyPr vert="eaVert"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5162" name="Oval 16"/>
            <p:cNvSpPr/>
            <p:nvPr/>
          </p:nvSpPr>
          <p:spPr>
            <a:xfrm>
              <a:off x="360" y="1630"/>
              <a:ext cx="1246" cy="1246"/>
            </a:xfrm>
            <a:prstGeom prst="ellipse">
              <a:avLst/>
            </a:prstGeom>
            <a:gradFill rotWithShape="1">
              <a:gsLst>
                <a:gs pos="0">
                  <a:srgbClr val="D6E1E2">
                    <a:alpha val="0"/>
                  </a:srgbClr>
                </a:gs>
                <a:gs pos="100000">
                  <a:srgbClr val="F1F5F5"/>
                </a:gs>
              </a:gsLst>
              <a:lin ang="5400000" scaled="1"/>
              <a:tileRect/>
            </a:gradFill>
            <a:ln w="9525">
              <a:noFill/>
            </a:ln>
          </p:spPr>
          <p:txBody>
            <a:bodyPr vert="eaVert"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5163" name="Oval 17"/>
            <p:cNvSpPr/>
            <p:nvPr/>
          </p:nvSpPr>
          <p:spPr>
            <a:xfrm>
              <a:off x="374" y="1642"/>
              <a:ext cx="1184" cy="1164"/>
            </a:xfrm>
            <a:prstGeom prst="ellipse">
              <a:avLst/>
            </a:prstGeom>
            <a:gradFill rotWithShape="1">
              <a:gsLst>
                <a:gs pos="0">
                  <a:srgbClr val="AAB2B3"/>
                </a:gs>
                <a:gs pos="100000">
                  <a:srgbClr val="D6E1E2">
                    <a:alpha val="48000"/>
                  </a:srgbClr>
                </a:gs>
              </a:gsLst>
              <a:lin ang="5400000" scaled="1"/>
              <a:tileRect/>
            </a:gradFill>
            <a:ln w="9525">
              <a:noFill/>
            </a:ln>
          </p:spPr>
          <p:txBody>
            <a:bodyPr vert="eaVert"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5164" name="Oval 18"/>
            <p:cNvSpPr/>
            <p:nvPr/>
          </p:nvSpPr>
          <p:spPr>
            <a:xfrm>
              <a:off x="443" y="1675"/>
              <a:ext cx="1053" cy="945"/>
            </a:xfrm>
            <a:prstGeom prst="ellipse">
              <a:avLst/>
            </a:prstGeom>
            <a:gradFill rotWithShape="1">
              <a:gsLst>
                <a:gs pos="0">
                  <a:srgbClr val="FFFFFF"/>
                </a:gs>
                <a:gs pos="100000">
                  <a:srgbClr val="D6E1E2">
                    <a:alpha val="37999"/>
                  </a:srgbClr>
                </a:gs>
              </a:gsLst>
              <a:lin ang="5400000" scaled="1"/>
              <a:tileRect/>
            </a:gradFill>
            <a:ln w="9525">
              <a:noFill/>
            </a:ln>
          </p:spPr>
          <p:txBody>
            <a:bodyPr vert="eaVert" wrap="none" anchor="ctr"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pic>
          <p:nvPicPr>
            <p:cNvPr id="5165" name="Picture 19" descr="mark"/>
            <p:cNvPicPr>
              <a:picLocks noChangeAspect="1"/>
            </p:cNvPicPr>
            <p:nvPr/>
          </p:nvPicPr>
          <p:blipFill>
            <a:blip r:embed="rId1"/>
            <a:stretch>
              <a:fillRect/>
            </a:stretch>
          </p:blipFill>
          <p:spPr>
            <a:xfrm>
              <a:off x="452" y="1773"/>
              <a:ext cx="1011" cy="1003"/>
            </a:xfrm>
            <a:prstGeom prst="rect">
              <a:avLst/>
            </a:prstGeom>
            <a:noFill/>
            <a:ln w="9525">
              <a:noFill/>
            </a:ln>
          </p:spPr>
        </p:pic>
      </p:grpSp>
      <p:sp>
        <p:nvSpPr>
          <p:cNvPr id="5133" name="AutoShape 20"/>
          <p:cNvSpPr/>
          <p:nvPr/>
        </p:nvSpPr>
        <p:spPr>
          <a:xfrm>
            <a:off x="3806825" y="1676400"/>
            <a:ext cx="2277110"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5134" name="Rectangle 21">
            <a:hlinkClick r:id="" action="ppaction://hlinkshowjump?jump=nextslide"/>
          </p:cNvPr>
          <p:cNvSpPr/>
          <p:nvPr/>
        </p:nvSpPr>
        <p:spPr>
          <a:xfrm>
            <a:off x="4121150" y="1676400"/>
            <a:ext cx="140970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9.1 </a:t>
            </a:r>
            <a:r>
              <a:rPr lang="zh-CN" altLang="en-US" sz="2400" b="1" dirty="0">
                <a:solidFill>
                  <a:srgbClr val="000000"/>
                </a:solidFill>
                <a:latin typeface="黑体" panose="02010609060101010101" pitchFamily="49" charset="-122"/>
                <a:ea typeface="黑体" panose="02010609060101010101" pitchFamily="49" charset="-122"/>
              </a:rPr>
              <a:t>概述</a:t>
            </a:r>
            <a:endParaRPr lang="zh-CN" altLang="en-US" sz="2400" b="1" dirty="0">
              <a:solidFill>
                <a:srgbClr val="000000"/>
              </a:solidFill>
              <a:latin typeface="黑体" panose="02010609060101010101" pitchFamily="49" charset="-122"/>
              <a:ea typeface="黑体" panose="02010609060101010101" pitchFamily="49" charset="-122"/>
            </a:endParaRPr>
          </a:p>
        </p:txBody>
      </p:sp>
      <p:sp>
        <p:nvSpPr>
          <p:cNvPr id="15" name="AutoShape 22"/>
          <p:cNvSpPr/>
          <p:nvPr/>
        </p:nvSpPr>
        <p:spPr>
          <a:xfrm>
            <a:off x="3787775" y="3222625"/>
            <a:ext cx="3609340"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20" name="Rectangle 23">
            <a:hlinkClick r:id="rId2" action="ppaction://hlinksldjump"/>
          </p:cNvPr>
          <p:cNvSpPr/>
          <p:nvPr/>
        </p:nvSpPr>
        <p:spPr>
          <a:xfrm>
            <a:off x="4121150" y="3222625"/>
            <a:ext cx="3037840"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9.2 D/A</a:t>
            </a:r>
            <a:r>
              <a:rPr lang="zh-CN" altLang="en-US" sz="2400" b="1" dirty="0">
                <a:solidFill>
                  <a:srgbClr val="000000"/>
                </a:solidFill>
                <a:latin typeface="黑体" panose="02010609060101010101" pitchFamily="49" charset="-122"/>
                <a:ea typeface="黑体" panose="02010609060101010101" pitchFamily="49" charset="-122"/>
              </a:rPr>
              <a:t>转换</a:t>
            </a:r>
            <a:r>
              <a:rPr lang="zh-CN" altLang="en-US" sz="2400" b="1" dirty="0">
                <a:solidFill>
                  <a:srgbClr val="000000"/>
                </a:solidFill>
                <a:latin typeface="黑体" panose="02010609060101010101" pitchFamily="49" charset="-122"/>
                <a:ea typeface="黑体" panose="02010609060101010101" pitchFamily="49" charset="-122"/>
              </a:rPr>
              <a:t>电路</a:t>
            </a:r>
            <a:endParaRPr lang="zh-CN" altLang="en-US" sz="2400" b="1" dirty="0">
              <a:solidFill>
                <a:srgbClr val="000000"/>
              </a:solidFill>
              <a:latin typeface="黑体" panose="02010609060101010101" pitchFamily="49" charset="-122"/>
              <a:ea typeface="黑体" panose="02010609060101010101" pitchFamily="49" charset="-122"/>
            </a:endParaRPr>
          </a:p>
        </p:txBody>
      </p:sp>
      <p:sp>
        <p:nvSpPr>
          <p:cNvPr id="5139" name="Oval 26"/>
          <p:cNvSpPr/>
          <p:nvPr/>
        </p:nvSpPr>
        <p:spPr>
          <a:xfrm>
            <a:off x="3598545" y="1837055"/>
            <a:ext cx="228600" cy="228600"/>
          </a:xfrm>
          <a:prstGeom prst="ellipse">
            <a:avLst/>
          </a:prstGeom>
          <a:gradFill rotWithShape="1">
            <a:gsLst>
              <a:gs pos="0">
                <a:srgbClr val="E96E29"/>
              </a:gs>
              <a:gs pos="100000">
                <a:srgbClr val="9B491B"/>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buNone/>
            </a:pPr>
            <a:endParaRPr lang="zh-CN" altLang="en-US" sz="2400" b="1" dirty="0">
              <a:latin typeface="Arial" panose="020B0604020202020204" pitchFamily="34" charset="0"/>
            </a:endParaRPr>
          </a:p>
        </p:txBody>
      </p:sp>
      <p:sp>
        <p:nvSpPr>
          <p:cNvPr id="22" name="Oval 28"/>
          <p:cNvSpPr>
            <a:spLocks noChangeArrowheads="1"/>
          </p:cNvSpPr>
          <p:nvPr/>
        </p:nvSpPr>
        <p:spPr bwMode="gray">
          <a:xfrm>
            <a:off x="3569335" y="3352800"/>
            <a:ext cx="228600" cy="228600"/>
          </a:xfrm>
          <a:prstGeom prst="ellipse">
            <a:avLst/>
          </a:prstGeom>
          <a:gradFill rotWithShape="1">
            <a:gsLst>
              <a:gs pos="0">
                <a:schemeClr val="accent2"/>
              </a:gs>
              <a:gs pos="100000">
                <a:schemeClr val="accent2">
                  <a:gamma/>
                  <a:shade val="66667"/>
                  <a:invGamma/>
                </a:schemeClr>
              </a:gs>
            </a:gsLst>
            <a:path path="shape">
              <a:fillToRect l="50000" t="50000" r="50000" b="50000"/>
            </a:path>
          </a:gradFill>
          <a:ln w="19050">
            <a:solidFill>
              <a:srgbClr val="FFFFFF"/>
            </a:solidFill>
            <a:round/>
          </a:ln>
          <a:effectLst>
            <a:outerShdw dist="63500" dir="2212194" algn="ctr" rotWithShape="0">
              <a:schemeClr val="bg2">
                <a:alpha val="50000"/>
              </a:schemeClr>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3" name="AutoShape 29"/>
          <p:cNvSpPr/>
          <p:nvPr/>
        </p:nvSpPr>
        <p:spPr>
          <a:xfrm>
            <a:off x="3806825" y="4817110"/>
            <a:ext cx="4971415" cy="488950"/>
          </a:xfrm>
          <a:prstGeom prst="roundRect">
            <a:avLst>
              <a:gd name="adj" fmla="val 50000"/>
            </a:avLst>
          </a:prstGeom>
          <a:gradFill rotWithShape="1">
            <a:gsLst>
              <a:gs pos="0">
                <a:srgbClr val="F8F8F8"/>
              </a:gs>
              <a:gs pos="100000">
                <a:srgbClr val="BEBEBE"/>
              </a:gs>
            </a:gsLst>
            <a:lin ang="5400000" scaled="1"/>
            <a:tileRect/>
          </a:gradFill>
          <a:ln w="19050" cap="flat" cmpd="sng">
            <a:solidFill>
              <a:srgbClr val="C0C0C0"/>
            </a:solidFill>
            <a:prstDash val="solid"/>
            <a:headEnd type="none" w="med" len="med"/>
            <a:tailEnd type="none" w="med" len="med"/>
          </a:ln>
          <a:effectLst>
            <a:outerShdw dist="53882" dir="2699999" algn="ctr" rotWithShape="0">
              <a:srgbClr val="292929">
                <a:alpha val="50000"/>
              </a:srgbClr>
            </a:outerShdw>
          </a:effectLst>
        </p:spPr>
        <p:txBody>
          <a:bodyPr wrap="none" anchor="ctr" anchorCtr="0"/>
          <a:p>
            <a:pPr>
              <a:buNone/>
            </a:pPr>
            <a:endParaRPr lang="zh-CN" altLang="en-US" sz="2400" b="1" dirty="0">
              <a:latin typeface="Arial" panose="020B0604020202020204" pitchFamily="34" charset="0"/>
            </a:endParaRPr>
          </a:p>
        </p:txBody>
      </p:sp>
      <p:sp>
        <p:nvSpPr>
          <p:cNvPr id="5143" name="Rectangle 30">
            <a:hlinkClick r:id="rId3" action="ppaction://hlinksldjump"/>
          </p:cNvPr>
          <p:cNvSpPr/>
          <p:nvPr/>
        </p:nvSpPr>
        <p:spPr>
          <a:xfrm>
            <a:off x="4121150" y="4817110"/>
            <a:ext cx="3977640"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spcBef>
                <a:spcPct val="0"/>
              </a:spcBef>
              <a:buClrTx/>
              <a:buFontTx/>
              <a:buNone/>
            </a:pPr>
            <a:r>
              <a:rPr lang="en-US" altLang="zh-CN" sz="2400" b="1" dirty="0">
                <a:solidFill>
                  <a:srgbClr val="000000"/>
                </a:solidFill>
                <a:latin typeface="黑体" panose="02010609060101010101" pitchFamily="49" charset="-122"/>
                <a:ea typeface="黑体" panose="02010609060101010101" pitchFamily="49" charset="-122"/>
              </a:rPr>
              <a:t>9.3 </a:t>
            </a:r>
            <a:r>
              <a:rPr lang="en-US" altLang="zh-CN" sz="2400" b="1" dirty="0">
                <a:solidFill>
                  <a:srgbClr val="000000"/>
                </a:solidFill>
                <a:latin typeface="黑体" panose="02010609060101010101" pitchFamily="49" charset="-122"/>
                <a:ea typeface="黑体" panose="02010609060101010101" pitchFamily="49" charset="-122"/>
                <a:sym typeface="+mn-ea"/>
              </a:rPr>
              <a:t>A</a:t>
            </a:r>
            <a:r>
              <a:rPr lang="en-US" altLang="zh-CN" sz="2400" b="1" dirty="0">
                <a:solidFill>
                  <a:srgbClr val="000000"/>
                </a:solidFill>
                <a:latin typeface="黑体" panose="02010609060101010101" pitchFamily="49" charset="-122"/>
                <a:ea typeface="黑体" panose="02010609060101010101" pitchFamily="49" charset="-122"/>
                <a:sym typeface="+mn-ea"/>
              </a:rPr>
              <a:t>/D</a:t>
            </a:r>
            <a:r>
              <a:rPr lang="zh-CN" altLang="en-US" sz="2400" b="1" dirty="0">
                <a:solidFill>
                  <a:srgbClr val="000000"/>
                </a:solidFill>
                <a:latin typeface="黑体" panose="02010609060101010101" pitchFamily="49" charset="-122"/>
                <a:ea typeface="黑体" panose="02010609060101010101" pitchFamily="49" charset="-122"/>
                <a:sym typeface="+mn-ea"/>
              </a:rPr>
              <a:t>转换电路</a:t>
            </a:r>
            <a:endParaRPr lang="zh-CN" altLang="en-US" sz="2400" b="1" dirty="0">
              <a:solidFill>
                <a:srgbClr val="000000"/>
              </a:solidFill>
              <a:latin typeface="黑体" panose="02010609060101010101" pitchFamily="49" charset="-122"/>
              <a:ea typeface="黑体" panose="02010609060101010101" pitchFamily="49" charset="-122"/>
            </a:endParaRPr>
          </a:p>
        </p:txBody>
      </p:sp>
      <p:sp>
        <p:nvSpPr>
          <p:cNvPr id="5147" name="Oval 34"/>
          <p:cNvSpPr/>
          <p:nvPr/>
        </p:nvSpPr>
        <p:spPr>
          <a:xfrm>
            <a:off x="3594100" y="4947285"/>
            <a:ext cx="228600" cy="228600"/>
          </a:xfrm>
          <a:prstGeom prst="ellipse">
            <a:avLst/>
          </a:prstGeom>
          <a:gradFill rotWithShape="1">
            <a:gsLst>
              <a:gs pos="0">
                <a:srgbClr val="DCDC48"/>
              </a:gs>
              <a:gs pos="100000">
                <a:srgbClr val="93933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buNone/>
            </a:pPr>
            <a:endParaRPr lang="zh-CN" altLang="en-US" sz="2400" b="1"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544570" y="533400"/>
            <a:ext cx="202184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9.1 </a:t>
            </a:r>
            <a:r>
              <a:rPr lang="zh-CN" altLang="en-US" b="1" dirty="0">
                <a:solidFill>
                  <a:srgbClr val="FF0000"/>
                </a:solidFill>
                <a:latin typeface="黑体" panose="02010609060101010101" pitchFamily="49" charset="-122"/>
                <a:ea typeface="黑体" panose="02010609060101010101" pitchFamily="49" charset="-122"/>
              </a:rPr>
              <a:t>概述</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46085" name="文本框 46084"/>
          <p:cNvSpPr txBox="1"/>
          <p:nvPr/>
        </p:nvSpPr>
        <p:spPr>
          <a:xfrm>
            <a:off x="741045" y="1116965"/>
            <a:ext cx="8210550" cy="1198880"/>
          </a:xfrm>
          <a:prstGeom prst="rect">
            <a:avLst/>
          </a:prstGeom>
          <a:noFill/>
          <a:ln w="9525">
            <a:noFill/>
          </a:ln>
        </p:spPr>
        <p:txBody>
          <a:bodyPr>
            <a:spAutoFit/>
          </a:bodyPr>
          <a:p>
            <a:pPr algn="l">
              <a:lnSpc>
                <a:spcPct val="150000"/>
              </a:lnSpc>
              <a:spcBef>
                <a:spcPct val="50000"/>
              </a:spcBef>
            </a:pPr>
            <a:r>
              <a:rPr lang="en-US" altLang="zh-CN" sz="2400" b="1" dirty="0">
                <a:latin typeface="Times New Roman" panose="02020603050405020304" charset="0"/>
                <a:ea typeface="楷体" panose="02010609060101010101" charset="-122"/>
              </a:rPr>
              <a:t>    </a:t>
            </a:r>
            <a:r>
              <a:rPr lang="en-US" altLang="zh-CN" sz="2400" b="1" dirty="0">
                <a:solidFill>
                  <a:srgbClr val="000066"/>
                </a:solidFill>
                <a:latin typeface="Times New Roman" panose="02020603050405020304" charset="0"/>
                <a:ea typeface="楷体" panose="02010609060101010101" charset="-122"/>
              </a:rPr>
              <a:t> </a:t>
            </a:r>
            <a:r>
              <a:rPr lang="zh-CN" altLang="en-US" sz="2400" b="1" dirty="0">
                <a:solidFill>
                  <a:srgbClr val="000066"/>
                </a:solidFill>
                <a:latin typeface="Times New Roman" panose="02020603050405020304" charset="0"/>
                <a:ea typeface="楷体" panose="02010609060101010101" charset="-122"/>
              </a:rPr>
              <a:t>把数字信号转换为模拟信号的电路称为数字-模拟转换器(Digital to Analog Converter，也称为</a:t>
            </a:r>
            <a:r>
              <a:rPr lang="zh-CN" altLang="en-US" sz="2400" b="1" dirty="0">
                <a:solidFill>
                  <a:srgbClr val="FF0000"/>
                </a:solidFill>
                <a:latin typeface="Times New Roman" panose="02020603050405020304" charset="0"/>
                <a:ea typeface="楷体" panose="02010609060101010101" charset="-122"/>
              </a:rPr>
              <a:t>DAC或D/A转换器</a:t>
            </a:r>
            <a:r>
              <a:rPr lang="zh-CN" altLang="en-US" sz="2400" b="1" dirty="0">
                <a:latin typeface="Times New Roman" panose="02020603050405020304" charset="0"/>
                <a:ea typeface="楷体" panose="02010609060101010101" charset="-122"/>
              </a:rPr>
              <a:t>)</a:t>
            </a:r>
            <a:endParaRPr lang="zh-CN" altLang="en-US" sz="2400" b="1" dirty="0">
              <a:latin typeface="Times New Roman" panose="02020603050405020304" charset="0"/>
              <a:ea typeface="楷体" panose="02010609060101010101" charset="-122"/>
            </a:endParaRPr>
          </a:p>
        </p:txBody>
      </p:sp>
      <p:sp>
        <p:nvSpPr>
          <p:cNvPr id="46086" name="文本框 46085"/>
          <p:cNvSpPr txBox="1"/>
          <p:nvPr/>
        </p:nvSpPr>
        <p:spPr>
          <a:xfrm>
            <a:off x="533083" y="4123055"/>
            <a:ext cx="8208962" cy="977265"/>
          </a:xfrm>
          <a:prstGeom prst="rect">
            <a:avLst/>
          </a:prstGeom>
          <a:noFill/>
          <a:ln w="9525">
            <a:noFill/>
          </a:ln>
        </p:spPr>
        <p:txBody>
          <a:bodyPr wrap="square">
            <a:spAutoFit/>
          </a:bodyPr>
          <a:p>
            <a:pPr algn="l">
              <a:lnSpc>
                <a:spcPct val="120000"/>
              </a:lnSpc>
              <a:spcBef>
                <a:spcPts val="0"/>
              </a:spcBef>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    ——</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沟通模拟电路与数字电路的桥梁，是计算机和许多电子系统中不可或缺的接口电路。</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46088" name="矩形 46087"/>
          <p:cNvSpPr/>
          <p:nvPr/>
        </p:nvSpPr>
        <p:spPr>
          <a:xfrm>
            <a:off x="685800" y="2315845"/>
            <a:ext cx="7964170" cy="829945"/>
          </a:xfrm>
          <a:prstGeom prst="rect">
            <a:avLst/>
          </a:prstGeom>
          <a:noFill/>
          <a:ln w="9525">
            <a:noFill/>
          </a:ln>
        </p:spPr>
        <p:txBody>
          <a:bodyPr wrap="square">
            <a:spAutoFit/>
          </a:bodyPr>
          <a:p>
            <a:pPr algn="l"/>
            <a:r>
              <a:rPr lang="en-US" sz="2400" b="1">
                <a:solidFill>
                  <a:srgbClr val="000066"/>
                </a:solidFill>
                <a:latin typeface="Times New Roman" panose="02020603050405020304" charset="0"/>
                <a:ea typeface="楷体" panose="02010609060101010101" charset="-122"/>
                <a:cs typeface="Times New Roman" panose="02020603050405020304" charset="0"/>
              </a:rPr>
              <a:t>      </a:t>
            </a:r>
            <a:r>
              <a:rPr sz="2400" b="1">
                <a:solidFill>
                  <a:srgbClr val="000066"/>
                </a:solidFill>
                <a:latin typeface="Times New Roman" panose="02020603050405020304" charset="0"/>
                <a:ea typeface="楷体" panose="02010609060101010101" charset="-122"/>
                <a:cs typeface="Times New Roman" panose="02020603050405020304" charset="0"/>
              </a:rPr>
              <a:t>把模拟信号转换为数字信号的电路称为模拟-数字转换器(Analog to Digital Converter，也称为</a:t>
            </a:r>
            <a:r>
              <a:rPr sz="2400" b="1">
                <a:solidFill>
                  <a:srgbClr val="FF0000"/>
                </a:solidFill>
                <a:latin typeface="Times New Roman" panose="02020603050405020304" charset="0"/>
                <a:ea typeface="楷体" panose="02010609060101010101" charset="-122"/>
                <a:cs typeface="Times New Roman" panose="02020603050405020304" charset="0"/>
              </a:rPr>
              <a:t>ADC或A/D转换器</a:t>
            </a:r>
            <a:r>
              <a:rPr sz="2400" b="1">
                <a:solidFill>
                  <a:srgbClr val="000066"/>
                </a:solidFill>
                <a:latin typeface="Times New Roman" panose="02020603050405020304" charset="0"/>
                <a:ea typeface="楷体" panose="02010609060101010101" charset="-122"/>
                <a:cs typeface="Times New Roman" panose="02020603050405020304" charset="0"/>
              </a:rPr>
              <a:t>)</a:t>
            </a:r>
            <a:endParaRPr sz="2400" b="1">
              <a:solidFill>
                <a:srgbClr val="000066"/>
              </a:solidFill>
              <a:latin typeface="Times New Roman" panose="02020603050405020304" charset="0"/>
              <a:ea typeface="楷体" panose="02010609060101010101" charset="-122"/>
              <a:cs typeface="Times New Roman" panose="02020603050405020304" charset="0"/>
            </a:endParaRPr>
          </a:p>
        </p:txBody>
      </p:sp>
      <p:sp>
        <p:nvSpPr>
          <p:cNvPr id="46089" name="矩形 46088"/>
          <p:cNvSpPr/>
          <p:nvPr/>
        </p:nvSpPr>
        <p:spPr>
          <a:xfrm>
            <a:off x="990600" y="5334000"/>
            <a:ext cx="6948488" cy="460375"/>
          </a:xfrm>
          <a:prstGeom prst="rect">
            <a:avLst/>
          </a:prstGeom>
          <a:noFill/>
          <a:ln w="9525">
            <a:noFill/>
          </a:ln>
        </p:spPr>
        <p:txBody>
          <a:bodyPr>
            <a:spAutoFit/>
          </a:bodyPr>
          <a:p>
            <a:pPr algn="l"/>
            <a:r>
              <a:rPr lang="zh-CN" altLang="en-US" sz="2400" b="1" dirty="0">
                <a:solidFill>
                  <a:srgbClr val="0000FF"/>
                </a:solidFill>
                <a:latin typeface="Times New Roman" panose="02020603050405020304" charset="0"/>
                <a:ea typeface="楷体" panose="02010609060101010101" charset="-122"/>
                <a:sym typeface="+mn-ea"/>
              </a:rPr>
              <a:t>完整的电子系统通常是模拟－数字混合系统。</a:t>
            </a:r>
            <a:endParaRPr lang="zh-CN" altLang="en-US" sz="2400" b="1" dirty="0">
              <a:solidFill>
                <a:srgbClr val="0000FF"/>
              </a:solidFill>
              <a:latin typeface="Times New Roman" panose="02020603050405020304" charset="0"/>
              <a:ea typeface="楷体" panose="02010609060101010101" charset="-122"/>
              <a:cs typeface="Times New Roman" panose="02020603050405020304" charset="0"/>
              <a:sym typeface="+mn-ea"/>
            </a:endParaRPr>
          </a:p>
        </p:txBody>
      </p:sp>
      <p:sp>
        <p:nvSpPr>
          <p:cNvPr id="46090" name="矩形 46089"/>
          <p:cNvSpPr/>
          <p:nvPr/>
        </p:nvSpPr>
        <p:spPr>
          <a:xfrm>
            <a:off x="685483" y="3428683"/>
            <a:ext cx="5545137" cy="460375"/>
          </a:xfrm>
          <a:prstGeom prst="rect">
            <a:avLst/>
          </a:prstGeom>
          <a:noFill/>
          <a:ln w="9525">
            <a:noFill/>
          </a:ln>
        </p:spPr>
        <p:txBody>
          <a:bodyPr>
            <a:spAutoFit/>
          </a:bodyPr>
          <a:p>
            <a:pPr algn="l"/>
            <a:r>
              <a:rPr lang="en-US" altLang="zh-CN" sz="2400" b="1" dirty="0">
                <a:solidFill>
                  <a:srgbClr val="1318F3"/>
                </a:solidFill>
                <a:latin typeface="Times New Roman" panose="02020603050405020304" charset="0"/>
                <a:ea typeface="楷体" panose="02010609060101010101" charset="-122"/>
                <a:cs typeface="Times New Roman" panose="02020603050405020304" charset="0"/>
                <a:sym typeface="+mn-ea"/>
              </a:rPr>
              <a:t>D/A</a:t>
            </a:r>
            <a:r>
              <a:rPr lang="zh-CN" altLang="en-US" sz="2400" b="1" dirty="0">
                <a:solidFill>
                  <a:srgbClr val="1318F3"/>
                </a:solidFill>
                <a:latin typeface="Times New Roman" panose="02020603050405020304" charset="0"/>
                <a:ea typeface="楷体" panose="02010609060101010101" charset="-122"/>
                <a:cs typeface="Times New Roman" panose="02020603050405020304" charset="0"/>
                <a:sym typeface="+mn-ea"/>
              </a:rPr>
              <a:t>和</a:t>
            </a:r>
            <a:r>
              <a:rPr lang="en-US" altLang="zh-CN" sz="2400" b="1" dirty="0">
                <a:solidFill>
                  <a:srgbClr val="1318F3"/>
                </a:solidFill>
                <a:latin typeface="Times New Roman" panose="02020603050405020304" charset="0"/>
                <a:ea typeface="楷体" panose="02010609060101010101" charset="-122"/>
                <a:cs typeface="Times New Roman" panose="02020603050405020304" charset="0"/>
                <a:sym typeface="+mn-ea"/>
              </a:rPr>
              <a:t>A/D</a:t>
            </a:r>
            <a:r>
              <a:rPr lang="zh-CN" altLang="en-US" sz="2400" b="1" dirty="0">
                <a:solidFill>
                  <a:srgbClr val="1318F3"/>
                </a:solidFill>
                <a:latin typeface="Times New Roman" panose="02020603050405020304" charset="0"/>
                <a:ea typeface="楷体" panose="02010609060101010101" charset="-122"/>
                <a:cs typeface="Times New Roman" panose="02020603050405020304" charset="0"/>
                <a:sym typeface="+mn-ea"/>
              </a:rPr>
              <a:t>转换器的功用</a:t>
            </a:r>
            <a:endParaRPr lang="zh-CN" altLang="en-US" sz="2400" b="1" dirty="0">
              <a:solidFill>
                <a:srgbClr val="1318F3"/>
              </a:solidFill>
              <a:latin typeface="Times New Roman" panose="02020603050405020304" charset="0"/>
              <a:ea typeface="楷体" panose="02010609060101010101"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6085"/>
                                        </p:tgtEl>
                                        <p:attrNameLst>
                                          <p:attrName>style.visibility</p:attrName>
                                        </p:attrNameLst>
                                      </p:cBhvr>
                                      <p:to>
                                        <p:strVal val="visible"/>
                                      </p:to>
                                    </p:set>
                                    <p:animEffect transition="in" filter="strips(downRight)">
                                      <p:cBhvr>
                                        <p:cTn id="7" dur="500"/>
                                        <p:tgtEl>
                                          <p:spTgt spid="4608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46088"/>
                                        </p:tgtEl>
                                        <p:attrNameLst>
                                          <p:attrName>style.visibility</p:attrName>
                                        </p:attrNameLst>
                                      </p:cBhvr>
                                      <p:to>
                                        <p:strVal val="visible"/>
                                      </p:to>
                                    </p:set>
                                    <p:animEffect transition="in" filter="strips(downRight)">
                                      <p:cBhvr>
                                        <p:cTn id="12" dur="500"/>
                                        <p:tgtEl>
                                          <p:spTgt spid="46088"/>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46090"/>
                                        </p:tgtEl>
                                        <p:attrNameLst>
                                          <p:attrName>style.visibility</p:attrName>
                                        </p:attrNameLst>
                                      </p:cBhvr>
                                      <p:to>
                                        <p:strVal val="visible"/>
                                      </p:to>
                                    </p:set>
                                    <p:animEffect transition="in" filter="strips(downRight)">
                                      <p:cBhvr>
                                        <p:cTn id="17" dur="500"/>
                                        <p:tgtEl>
                                          <p:spTgt spid="46090"/>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46086"/>
                                        </p:tgtEl>
                                        <p:attrNameLst>
                                          <p:attrName>style.visibility</p:attrName>
                                        </p:attrNameLst>
                                      </p:cBhvr>
                                      <p:to>
                                        <p:strVal val="visible"/>
                                      </p:to>
                                    </p:set>
                                    <p:animEffect transition="in" filter="strips(downRight)">
                                      <p:cBhvr>
                                        <p:cTn id="22" dur="500"/>
                                        <p:tgtEl>
                                          <p:spTgt spid="46086"/>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46089"/>
                                        </p:tgtEl>
                                        <p:attrNameLst>
                                          <p:attrName>style.visibility</p:attrName>
                                        </p:attrNameLst>
                                      </p:cBhvr>
                                      <p:to>
                                        <p:strVal val="visible"/>
                                      </p:to>
                                    </p:set>
                                    <p:animEffect transition="in" filter="strips(downRight)">
                                      <p:cBhvr>
                                        <p:cTn id="27" dur="500"/>
                                        <p:tgtEl>
                                          <p:spTgt spid="460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5" grpId="0"/>
      <p:bldP spid="46086" grpId="0"/>
      <p:bldP spid="46088" grpId="0"/>
      <p:bldP spid="46089" grpId="0"/>
      <p:bldP spid="4609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0" y="5562600"/>
            <a:ext cx="9162000"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8" name="TextBox 6"/>
          <p:cNvSpPr txBox="1"/>
          <p:nvPr/>
        </p:nvSpPr>
        <p:spPr>
          <a:xfrm>
            <a:off x="3544570" y="533400"/>
            <a:ext cx="202184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9.1 </a:t>
            </a:r>
            <a:r>
              <a:rPr lang="zh-CN" altLang="en-US" b="1" dirty="0">
                <a:solidFill>
                  <a:srgbClr val="FF0000"/>
                </a:solidFill>
                <a:latin typeface="黑体" panose="02010609060101010101" pitchFamily="49" charset="-122"/>
                <a:ea typeface="黑体" panose="02010609060101010101" pitchFamily="49" charset="-122"/>
              </a:rPr>
              <a:t>概述</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22884" name="文本框 122883"/>
          <p:cNvSpPr txBox="1"/>
          <p:nvPr/>
        </p:nvSpPr>
        <p:spPr>
          <a:xfrm>
            <a:off x="762000" y="1295400"/>
            <a:ext cx="8153400" cy="523240"/>
          </a:xfrm>
          <a:prstGeom prst="rect">
            <a:avLst/>
          </a:prstGeom>
          <a:noFill/>
          <a:ln w="9525">
            <a:noFill/>
          </a:ln>
        </p:spPr>
        <p:txBody>
          <a:bodyPr lIns="90000" tIns="46800" rIns="90000" bIns="46800">
            <a:spAutoFit/>
          </a:bodyPr>
          <a:p>
            <a:r>
              <a:rPr lang="zh-CN" altLang="en-US" sz="2800" b="1" dirty="0">
                <a:solidFill>
                  <a:srgbClr val="1318F3"/>
                </a:solidFill>
                <a:latin typeface="Times New Roman" panose="02020603050405020304" charset="0"/>
                <a:ea typeface="楷体" panose="02010609060101010101" charset="-122"/>
              </a:rPr>
              <a:t>典型的数字控制系统原理框图</a:t>
            </a:r>
            <a:endParaRPr lang="zh-CN" altLang="en-US" sz="2800" b="1" dirty="0">
              <a:solidFill>
                <a:srgbClr val="1318F3"/>
              </a:solidFill>
              <a:latin typeface="Times New Roman" panose="02020603050405020304" charset="0"/>
              <a:ea typeface="楷体" panose="02010609060101010101" charset="-122"/>
            </a:endParaRPr>
          </a:p>
        </p:txBody>
      </p:sp>
      <p:pic>
        <p:nvPicPr>
          <p:cNvPr id="2" name="图片 1"/>
          <p:cNvPicPr>
            <a:picLocks noChangeAspect="1"/>
          </p:cNvPicPr>
          <p:nvPr/>
        </p:nvPicPr>
        <p:blipFill>
          <a:blip r:embed="rId1"/>
          <a:stretch>
            <a:fillRect/>
          </a:stretch>
        </p:blipFill>
        <p:spPr>
          <a:xfrm>
            <a:off x="990600" y="3505200"/>
            <a:ext cx="7078345" cy="2640330"/>
          </a:xfrm>
          <a:prstGeom prst="rect">
            <a:avLst/>
          </a:prstGeom>
        </p:spPr>
      </p:pic>
      <p:sp>
        <p:nvSpPr>
          <p:cNvPr id="174147" name="AutoShape 67"/>
          <p:cNvSpPr/>
          <p:nvPr/>
        </p:nvSpPr>
        <p:spPr>
          <a:xfrm>
            <a:off x="457200" y="1818640"/>
            <a:ext cx="2552700" cy="1201738"/>
          </a:xfrm>
          <a:prstGeom prst="wedgeRoundRectCallout">
            <a:avLst>
              <a:gd name="adj1" fmla="val 43258"/>
              <a:gd name="adj2" fmla="val 94834"/>
              <a:gd name="adj3" fmla="val 16667"/>
            </a:avLst>
          </a:prstGeom>
          <a:solidFill>
            <a:schemeClr val="bg2">
              <a:alpha val="16862"/>
            </a:schemeClr>
          </a:solidFill>
          <a:ln w="9525" cap="flat" cmpd="sng">
            <a:solidFill>
              <a:schemeClr val="accent1"/>
            </a:solidFill>
            <a:prstDash val="solid"/>
            <a:miter/>
            <a:headEnd type="none" w="med" len="med"/>
            <a:tailEnd type="none" w="med" len="med"/>
          </a:ln>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stStyle>
          <a:p>
            <a:pPr marL="0" lvl="0" indent="0" eaLnBrk="1" hangingPunct="1">
              <a:spcBef>
                <a:spcPct val="0"/>
              </a:spcBef>
              <a:buClrTx/>
              <a:buFontTx/>
              <a:buNone/>
            </a:pPr>
            <a:r>
              <a:rPr lang="zh-CN" altLang="en-US" sz="2000" b="1" dirty="0">
                <a:solidFill>
                  <a:srgbClr val="000099"/>
                </a:solidFill>
                <a:latin typeface="楷体_GB2312" panose="02010609030101010101" pitchFamily="49" charset="-122"/>
                <a:ea typeface="楷体_GB2312" panose="02010609030101010101" pitchFamily="49" charset="-122"/>
              </a:rPr>
              <a:t>将温度、压力、流量、应力等物理量转换为模拟电量。</a:t>
            </a:r>
            <a:endParaRPr lang="zh-CN" altLang="en-US" sz="2000" b="1" dirty="0">
              <a:solidFill>
                <a:srgbClr val="000099"/>
              </a:solidFill>
              <a:latin typeface="楷体_GB2312" panose="02010609030101010101" pitchFamily="49" charset="-122"/>
              <a:ea typeface="楷体_GB2312" panose="02010609030101010101" pitchFamily="49" charset="-122"/>
            </a:endParaRPr>
          </a:p>
        </p:txBody>
      </p:sp>
      <p:sp>
        <p:nvSpPr>
          <p:cNvPr id="174148" name="AutoShape 68"/>
          <p:cNvSpPr/>
          <p:nvPr/>
        </p:nvSpPr>
        <p:spPr>
          <a:xfrm>
            <a:off x="3885883" y="1828483"/>
            <a:ext cx="2520950" cy="1036637"/>
          </a:xfrm>
          <a:prstGeom prst="wedgeRoundRectCallout">
            <a:avLst>
              <a:gd name="adj1" fmla="val 30113"/>
              <a:gd name="adj2" fmla="val 114318"/>
              <a:gd name="adj3" fmla="val 16667"/>
            </a:avLst>
          </a:prstGeom>
          <a:solidFill>
            <a:schemeClr val="bg2">
              <a:alpha val="16862"/>
            </a:schemeClr>
          </a:solidFill>
          <a:ln w="9525" cap="flat" cmpd="sng">
            <a:solidFill>
              <a:schemeClr val="accent1"/>
            </a:solidFill>
            <a:prstDash val="solid"/>
            <a:miter/>
            <a:headEnd type="none" w="med" len="med"/>
            <a:tailEnd type="none" w="med" len="med"/>
          </a:ln>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stStyle>
          <a:p>
            <a:pPr marL="0" lvl="0" indent="0" eaLnBrk="1" hangingPunct="1">
              <a:spcBef>
                <a:spcPct val="0"/>
              </a:spcBef>
              <a:buClrTx/>
              <a:buFontTx/>
              <a:buNone/>
            </a:pPr>
            <a:r>
              <a:rPr lang="zh-CN" altLang="en-US" sz="2000" b="1" dirty="0">
                <a:solidFill>
                  <a:srgbClr val="000099"/>
                </a:solidFill>
                <a:latin typeface="楷体_GB2312" panose="02010609030101010101" pitchFamily="49" charset="-122"/>
                <a:ea typeface="楷体_GB2312" panose="02010609030101010101" pitchFamily="49" charset="-122"/>
              </a:rPr>
              <a:t>计算机进行数字处理（如计算、滤波）、保存等</a:t>
            </a:r>
            <a:endParaRPr lang="zh-CN" altLang="en-US" sz="2000" b="1" dirty="0">
              <a:solidFill>
                <a:srgbClr val="000099"/>
              </a:solidFill>
              <a:latin typeface="楷体_GB2312" panose="02010609030101010101" pitchFamily="49" charset="-122"/>
              <a:ea typeface="楷体_GB2312" panose="02010609030101010101" pitchFamily="49" charset="-122"/>
            </a:endParaRPr>
          </a:p>
        </p:txBody>
      </p:sp>
      <p:sp>
        <p:nvSpPr>
          <p:cNvPr id="174149" name="AutoShape 69"/>
          <p:cNvSpPr/>
          <p:nvPr/>
        </p:nvSpPr>
        <p:spPr>
          <a:xfrm>
            <a:off x="2819083" y="5409883"/>
            <a:ext cx="1982787" cy="1036637"/>
          </a:xfrm>
          <a:prstGeom prst="wedgeRoundRectCallout">
            <a:avLst>
              <a:gd name="adj1" fmla="val -62570"/>
              <a:gd name="adj2" fmla="val -81332"/>
              <a:gd name="adj3" fmla="val 16667"/>
            </a:avLst>
          </a:prstGeom>
          <a:solidFill>
            <a:schemeClr val="bg2">
              <a:alpha val="16862"/>
            </a:schemeClr>
          </a:solidFill>
          <a:ln w="9525" cap="flat" cmpd="sng">
            <a:solidFill>
              <a:schemeClr val="accent1"/>
            </a:solidFill>
            <a:prstDash val="solid"/>
            <a:miter/>
            <a:headEnd type="none" w="med" len="med"/>
            <a:tailEnd type="none" w="med" len="med"/>
          </a:ln>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stStyle>
          <a:p>
            <a:pPr marL="0" lvl="0" indent="0" algn="ctr" eaLnBrk="1" hangingPunct="1">
              <a:spcBef>
                <a:spcPct val="0"/>
              </a:spcBef>
              <a:buClrTx/>
              <a:buFontTx/>
              <a:buNone/>
            </a:pPr>
            <a:r>
              <a:rPr lang="zh-CN" altLang="en-US" sz="2000" b="1" dirty="0">
                <a:solidFill>
                  <a:srgbClr val="000099"/>
                </a:solidFill>
                <a:latin typeface="楷体_GB2312" panose="02010609030101010101" pitchFamily="49" charset="-122"/>
                <a:ea typeface="楷体_GB2312" panose="02010609030101010101" pitchFamily="49" charset="-122"/>
              </a:rPr>
              <a:t>用模拟量作为控制信号</a:t>
            </a:r>
            <a:endParaRPr lang="zh-CN" altLang="en-US" sz="2000" b="1" dirty="0">
              <a:solidFill>
                <a:srgbClr val="000099"/>
              </a:solidFill>
              <a:latin typeface="楷体_GB2312" panose="02010609030101010101" pitchFamily="49" charset="-122"/>
              <a:ea typeface="楷体_GB2312" panose="0201060903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74147"/>
                                        </p:tgtEl>
                                        <p:attrNameLst>
                                          <p:attrName>style.visibility</p:attrName>
                                        </p:attrNameLst>
                                      </p:cBhvr>
                                      <p:to>
                                        <p:strVal val="visible"/>
                                      </p:to>
                                    </p:set>
                                    <p:animEffect transition="in" filter="wipe(up)">
                                      <p:cBhvr>
                                        <p:cTn id="7" dur="500"/>
                                        <p:tgtEl>
                                          <p:spTgt spid="1741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74148"/>
                                        </p:tgtEl>
                                        <p:attrNameLst>
                                          <p:attrName>style.visibility</p:attrName>
                                        </p:attrNameLst>
                                      </p:cBhvr>
                                      <p:to>
                                        <p:strVal val="visible"/>
                                      </p:to>
                                    </p:set>
                                    <p:animEffect transition="in" filter="wipe(up)">
                                      <p:cBhvr>
                                        <p:cTn id="12" dur="500"/>
                                        <p:tgtEl>
                                          <p:spTgt spid="174148"/>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74149"/>
                                        </p:tgtEl>
                                        <p:attrNameLst>
                                          <p:attrName>style.visibility</p:attrName>
                                        </p:attrNameLst>
                                      </p:cBhvr>
                                      <p:to>
                                        <p:strVal val="visible"/>
                                      </p:to>
                                    </p:set>
                                    <p:animEffect transition="in" filter="randombar(horizontal)">
                                      <p:cBhvr>
                                        <p:cTn id="17" dur="500"/>
                                        <p:tgtEl>
                                          <p:spTgt spid="174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47" grpId="0" bldLvl="0" animBg="1"/>
      <p:bldP spid="174148" grpId="0" bldLvl="0" animBg="1"/>
      <p:bldP spid="174149"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9.2 </a:t>
            </a:r>
            <a:r>
              <a:rPr lang="zh-CN" altLang="en-US" b="1" dirty="0">
                <a:solidFill>
                  <a:srgbClr val="FF0000"/>
                </a:solidFill>
                <a:latin typeface="黑体" panose="02010609060101010101" pitchFamily="49" charset="-122"/>
                <a:ea typeface="黑体" panose="02010609060101010101" pitchFamily="49" charset="-122"/>
              </a:rPr>
              <a:t>D/A转换电路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46" name="Rectangle 2"/>
          <p:cNvSpPr>
            <a:spLocks noGrp="1"/>
          </p:cNvSpPr>
          <p:nvPr>
            <p:ph type="title"/>
          </p:nvPr>
        </p:nvSpPr>
        <p:spPr>
          <a:xfrm>
            <a:off x="762000" y="1143000"/>
            <a:ext cx="8068945"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9.2.1 </a:t>
            </a:r>
            <a:r>
              <a:rPr lang="zh-CN" altLang="en-US" sz="2800" i="0" dirty="0">
                <a:solidFill>
                  <a:srgbClr val="0070C0"/>
                </a:solidFill>
                <a:latin typeface="黑体" panose="02010609060101010101" pitchFamily="49" charset="-122"/>
                <a:ea typeface="黑体" panose="02010609060101010101" pitchFamily="49" charset="-122"/>
              </a:rPr>
              <a:t>D/A转换器的基本原理</a:t>
            </a:r>
            <a:endParaRPr lang="zh-CN" altLang="en-US" sz="2800" i="0" dirty="0">
              <a:solidFill>
                <a:srgbClr val="0070C0"/>
              </a:solidFill>
              <a:latin typeface="黑体" panose="02010609060101010101" pitchFamily="49" charset="-122"/>
              <a:ea typeface="黑体" panose="02010609060101010101" pitchFamily="49" charset="-122"/>
            </a:endParaRPr>
          </a:p>
        </p:txBody>
      </p:sp>
      <p:sp>
        <p:nvSpPr>
          <p:cNvPr id="109574" name="Rectangle 6"/>
          <p:cNvSpPr/>
          <p:nvPr/>
        </p:nvSpPr>
        <p:spPr>
          <a:xfrm>
            <a:off x="609600" y="1768475"/>
            <a:ext cx="7467600" cy="460375"/>
          </a:xfrm>
          <a:prstGeom prst="rect">
            <a:avLst/>
          </a:prstGeom>
          <a:noFill/>
          <a:ln w="9525">
            <a:noFill/>
          </a:ln>
        </p:spPr>
        <p:txBody>
          <a:bodyPr>
            <a:spAutoFit/>
          </a:bodyPr>
          <a:p>
            <a:r>
              <a:rPr lang="zh-CN" altLang="en-US" sz="2400" b="1" dirty="0">
                <a:solidFill>
                  <a:srgbClr val="1318F3"/>
                </a:solidFill>
                <a:latin typeface="Times New Roman" panose="02020603050405020304" charset="0"/>
                <a:ea typeface="楷体" panose="02010609060101010101" charset="-122"/>
                <a:cs typeface="Times New Roman" panose="02020603050405020304" charset="0"/>
              </a:rPr>
              <a:t>实现</a:t>
            </a:r>
            <a:r>
              <a:rPr lang="en-US" altLang="zh-CN" sz="2400" b="1" dirty="0">
                <a:solidFill>
                  <a:srgbClr val="1318F3"/>
                </a:solidFill>
                <a:latin typeface="Times New Roman" panose="02020603050405020304" charset="0"/>
                <a:ea typeface="楷体" panose="02010609060101010101" charset="-122"/>
                <a:cs typeface="Times New Roman" panose="02020603050405020304" charset="0"/>
              </a:rPr>
              <a:t>D/A</a:t>
            </a:r>
            <a:r>
              <a:rPr lang="zh-CN" altLang="en-US" sz="2400" b="1" dirty="0">
                <a:solidFill>
                  <a:srgbClr val="1318F3"/>
                </a:solidFill>
                <a:latin typeface="Times New Roman" panose="02020603050405020304" charset="0"/>
                <a:ea typeface="楷体" panose="02010609060101010101" charset="-122"/>
                <a:cs typeface="Times New Roman" panose="02020603050405020304" charset="0"/>
              </a:rPr>
              <a:t>转换的基本思路：</a:t>
            </a:r>
            <a:endParaRPr lang="zh-CN" altLang="en-US" sz="2400" b="1" dirty="0">
              <a:solidFill>
                <a:srgbClr val="1318F3"/>
              </a:solidFill>
              <a:latin typeface="Times New Roman" panose="02020603050405020304" charset="0"/>
              <a:ea typeface="楷体" panose="02010609060101010101" charset="-122"/>
              <a:cs typeface="Times New Roman" panose="02020603050405020304" charset="0"/>
            </a:endParaRPr>
          </a:p>
        </p:txBody>
      </p:sp>
      <p:sp>
        <p:nvSpPr>
          <p:cNvPr id="109575" name="Rectangle 7"/>
          <p:cNvSpPr/>
          <p:nvPr/>
        </p:nvSpPr>
        <p:spPr>
          <a:xfrm>
            <a:off x="611188" y="2263775"/>
            <a:ext cx="7848600" cy="885825"/>
          </a:xfrm>
          <a:prstGeom prst="rect">
            <a:avLst/>
          </a:prstGeom>
          <a:noFill/>
          <a:ln w="9525">
            <a:noFill/>
          </a:ln>
        </p:spPr>
        <p:txBody>
          <a:bodyPr>
            <a:spAutoFit/>
          </a:bodyPr>
          <a:p>
            <a:r>
              <a:rPr lang="en-US" altLang="zh-CN" sz="2600" b="1" dirty="0">
                <a:solidFill>
                  <a:srgbClr val="FF0000"/>
                </a:solidFill>
                <a:latin typeface="Times New Roman" panose="02020603050405020304" charset="0"/>
                <a:ea typeface="楷体" panose="02010609060101010101" charset="-122"/>
                <a:cs typeface="Times New Roman" panose="02020603050405020304" charset="0"/>
              </a:rPr>
              <a:t>∵</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数字量是用代码按数位组合起来表示的，每位代码都有一定的权（有权码），</a:t>
            </a:r>
            <a:endParaRPr lang="zh-CN" altLang="en-US" sz="26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09593" name="Rectangle 25"/>
          <p:cNvSpPr/>
          <p:nvPr/>
        </p:nvSpPr>
        <p:spPr>
          <a:xfrm>
            <a:off x="611188" y="3208338"/>
            <a:ext cx="7704137" cy="488950"/>
          </a:xfrm>
          <a:prstGeom prst="rect">
            <a:avLst/>
          </a:prstGeom>
          <a:noFill/>
          <a:ln w="9525">
            <a:noFill/>
          </a:ln>
        </p:spPr>
        <p:txBody>
          <a:bodyPr>
            <a:spAutoFit/>
          </a:bodyPr>
          <a:p>
            <a:r>
              <a:rPr lang="en-US" altLang="zh-CN" sz="2600" b="1" dirty="0">
                <a:solidFill>
                  <a:srgbClr val="FF0000"/>
                </a:solidFill>
                <a:latin typeface="Times New Roman" panose="02020603050405020304" charset="0"/>
                <a:ea typeface="楷体" panose="02010609060101010101" charset="-122"/>
                <a:cs typeface="Times New Roman" panose="02020603050405020304" charset="0"/>
              </a:rPr>
              <a:t>∴</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要把数字量转换成与之成正比的模拟量，</a:t>
            </a:r>
            <a:endParaRPr lang="zh-CN" altLang="en-US" sz="26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09595" name="Rectangle 27"/>
          <p:cNvSpPr/>
          <p:nvPr/>
        </p:nvSpPr>
        <p:spPr>
          <a:xfrm>
            <a:off x="827088" y="5326063"/>
            <a:ext cx="7632700" cy="885825"/>
          </a:xfrm>
          <a:prstGeom prst="rect">
            <a:avLst/>
          </a:prstGeom>
          <a:noFill/>
          <a:ln w="9525">
            <a:noFill/>
          </a:ln>
        </p:spPr>
        <p:txBody>
          <a:bodyPr>
            <a:spAutoFit/>
          </a:bodyPr>
          <a:p>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2)</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将每一位数字量转换成的模拟量相加。</a:t>
            </a:r>
            <a:endParaRPr lang="zh-CN" altLang="en-US" sz="2600" b="1" dirty="0">
              <a:solidFill>
                <a:srgbClr val="000066"/>
              </a:solidFill>
              <a:latin typeface="Times New Roman" panose="02020603050405020304" charset="0"/>
              <a:ea typeface="楷体" panose="02010609060101010101" charset="-122"/>
              <a:cs typeface="Times New Roman" panose="02020603050405020304" charset="0"/>
            </a:endParaRPr>
          </a:p>
          <a:p>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即可得到与数字量成正比的总模拟量。</a:t>
            </a:r>
            <a:endParaRPr lang="zh-CN" altLang="en-US" sz="26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09597" name="Rectangle 29"/>
          <p:cNvSpPr/>
          <p:nvPr/>
        </p:nvSpPr>
        <p:spPr>
          <a:xfrm>
            <a:off x="755650" y="3741738"/>
            <a:ext cx="2447925" cy="488950"/>
          </a:xfrm>
          <a:prstGeom prst="rect">
            <a:avLst/>
          </a:prstGeom>
          <a:noFill/>
          <a:ln w="9525">
            <a:noFill/>
          </a:ln>
        </p:spPr>
        <p:txBody>
          <a:bodyPr>
            <a:spAutoFit/>
          </a:bodyPr>
          <a:p>
            <a:r>
              <a:rPr lang="zh-CN" altLang="en-US" sz="2600" b="1" dirty="0">
                <a:solidFill>
                  <a:srgbClr val="FF0000"/>
                </a:solidFill>
                <a:latin typeface="Times New Roman" panose="02020603050405020304" charset="0"/>
                <a:ea typeface="楷体" panose="02010609060101010101" charset="-122"/>
              </a:rPr>
              <a:t>必须：</a:t>
            </a:r>
            <a:endParaRPr lang="zh-CN" altLang="en-US" sz="2600" b="1" dirty="0">
              <a:solidFill>
                <a:srgbClr val="FF0000"/>
              </a:solidFill>
              <a:latin typeface="Times New Roman" panose="02020603050405020304" charset="0"/>
              <a:ea typeface="楷体" panose="02010609060101010101" charset="-122"/>
            </a:endParaRPr>
          </a:p>
        </p:txBody>
      </p:sp>
      <p:sp>
        <p:nvSpPr>
          <p:cNvPr id="109599" name="Rectangle 31"/>
          <p:cNvSpPr/>
          <p:nvPr/>
        </p:nvSpPr>
        <p:spPr>
          <a:xfrm>
            <a:off x="827088" y="4359275"/>
            <a:ext cx="7235825" cy="891540"/>
          </a:xfrm>
          <a:prstGeom prst="rect">
            <a:avLst/>
          </a:prstGeom>
          <a:noFill/>
          <a:ln w="9525">
            <a:noFill/>
          </a:ln>
        </p:spPr>
        <p:txBody>
          <a:bodyPr>
            <a:spAutoFit/>
          </a:bodyPr>
          <a:p>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1)</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用一个解码网络来分配各位的权，将每一位代码按其权的大小转换成相应的模拟量；</a:t>
            </a:r>
            <a:endParaRPr lang="zh-CN" altLang="en-US" sz="2600" b="1" dirty="0">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9574"/>
                                        </p:tgtEl>
                                        <p:attrNameLst>
                                          <p:attrName>style.visibility</p:attrName>
                                        </p:attrNameLst>
                                      </p:cBhvr>
                                      <p:to>
                                        <p:strVal val="visible"/>
                                      </p:to>
                                    </p:set>
                                    <p:animEffect transition="in" filter="blinds(horizontal)">
                                      <p:cBhvr>
                                        <p:cTn id="7" dur="500"/>
                                        <p:tgtEl>
                                          <p:spTgt spid="10957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09575">
                                            <p:txEl>
                                              <p:charRg st="0" end="36"/>
                                            </p:txEl>
                                          </p:spTgt>
                                        </p:tgtEl>
                                        <p:attrNameLst>
                                          <p:attrName>style.visibility</p:attrName>
                                        </p:attrNameLst>
                                      </p:cBhvr>
                                      <p:to>
                                        <p:strVal val="visible"/>
                                      </p:to>
                                    </p:set>
                                    <p:animEffect transition="in" filter="checkerboard(across)">
                                      <p:cBhvr>
                                        <p:cTn id="12" dur="500"/>
                                        <p:tgtEl>
                                          <p:spTgt spid="109575">
                                            <p:txEl>
                                              <p:charRg st="0" end="3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9593"/>
                                        </p:tgtEl>
                                        <p:attrNameLst>
                                          <p:attrName>style.visibility</p:attrName>
                                        </p:attrNameLst>
                                      </p:cBhvr>
                                      <p:to>
                                        <p:strVal val="visible"/>
                                      </p:to>
                                    </p:set>
                                    <p:animEffect transition="in" filter="wipe(left)">
                                      <p:cBhvr>
                                        <p:cTn id="17" dur="500"/>
                                        <p:tgtEl>
                                          <p:spTgt spid="10959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9597"/>
                                        </p:tgtEl>
                                        <p:attrNameLst>
                                          <p:attrName>style.visibility</p:attrName>
                                        </p:attrNameLst>
                                      </p:cBhvr>
                                      <p:to>
                                        <p:strVal val="visible"/>
                                      </p:to>
                                    </p:set>
                                    <p:animEffect transition="in" filter="blinds(horizontal)">
                                      <p:cBhvr>
                                        <p:cTn id="22" dur="500"/>
                                        <p:tgtEl>
                                          <p:spTgt spid="10959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9599"/>
                                        </p:tgtEl>
                                        <p:attrNameLst>
                                          <p:attrName>style.visibility</p:attrName>
                                        </p:attrNameLst>
                                      </p:cBhvr>
                                      <p:to>
                                        <p:strVal val="visible"/>
                                      </p:to>
                                    </p:set>
                                    <p:animEffect transition="in" filter="wipe(left)">
                                      <p:cBhvr>
                                        <p:cTn id="27" dur="500"/>
                                        <p:tgtEl>
                                          <p:spTgt spid="10959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9595"/>
                                        </p:tgtEl>
                                        <p:attrNameLst>
                                          <p:attrName>style.visibility</p:attrName>
                                        </p:attrNameLst>
                                      </p:cBhvr>
                                      <p:to>
                                        <p:strVal val="visible"/>
                                      </p:to>
                                    </p:set>
                                    <p:animEffect transition="in" filter="wipe(left)">
                                      <p:cBhvr>
                                        <p:cTn id="32" dur="500"/>
                                        <p:tgtEl>
                                          <p:spTgt spid="1095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4" grpId="0"/>
      <p:bldP spid="109575" grpId="0" build="p"/>
      <p:bldP spid="109593" grpId="0"/>
      <p:bldP spid="109595" grpId="0"/>
      <p:bldP spid="109597" grpId="0"/>
      <p:bldP spid="10959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9.2 </a:t>
            </a:r>
            <a:r>
              <a:rPr lang="zh-CN" altLang="en-US" b="1" dirty="0">
                <a:solidFill>
                  <a:srgbClr val="FF0000"/>
                </a:solidFill>
                <a:latin typeface="黑体" panose="02010609060101010101" pitchFamily="49" charset="-122"/>
                <a:ea typeface="黑体" panose="02010609060101010101" pitchFamily="49" charset="-122"/>
              </a:rPr>
              <a:t>D/A转换电路</a:t>
            </a:r>
            <a:endParaRPr lang="zh-CN" altLang="en-US" b="1" dirty="0">
              <a:solidFill>
                <a:srgbClr val="FF0000"/>
              </a:solidFill>
              <a:latin typeface="黑体" panose="02010609060101010101" pitchFamily="49" charset="-122"/>
              <a:ea typeface="黑体" panose="02010609060101010101" pitchFamily="49" charset="-122"/>
            </a:endParaRPr>
          </a:p>
        </p:txBody>
      </p:sp>
      <p:grpSp>
        <p:nvGrpSpPr>
          <p:cNvPr id="14" name="组合 13"/>
          <p:cNvGrpSpPr/>
          <p:nvPr/>
        </p:nvGrpSpPr>
        <p:grpSpPr>
          <a:xfrm>
            <a:off x="685800" y="1382395"/>
            <a:ext cx="7774940" cy="989330"/>
            <a:chOff x="1077" y="2160"/>
            <a:chExt cx="12244" cy="1558"/>
          </a:xfrm>
        </p:grpSpPr>
        <p:sp>
          <p:nvSpPr>
            <p:cNvPr id="177162" name="矩形 177161"/>
            <p:cNvSpPr/>
            <p:nvPr/>
          </p:nvSpPr>
          <p:spPr>
            <a:xfrm>
              <a:off x="1077" y="2160"/>
              <a:ext cx="12245" cy="1541"/>
            </a:xfrm>
            <a:prstGeom prst="rect">
              <a:avLst/>
            </a:prstGeom>
            <a:noFill/>
            <a:ln w="28575">
              <a:noFill/>
            </a:ln>
          </p:spPr>
          <p:txBody>
            <a:bodyPr lIns="90000" tIns="46800" rIns="90000" bIns="46800">
              <a:spAutoFit/>
            </a:bodyPr>
            <a:p>
              <a:pPr>
                <a:lnSpc>
                  <a:spcPct val="120000"/>
                </a:lnSpc>
              </a:pPr>
              <a:r>
                <a:rPr lang="en-US" altLang="zh-CN" sz="2400" b="1">
                  <a:solidFill>
                    <a:srgbClr val="000066"/>
                  </a:solidFill>
                  <a:latin typeface="Times New Roman" panose="02020603050405020304" charset="0"/>
                  <a:ea typeface="楷体" panose="02010609060101010101" charset="-122"/>
                  <a:cs typeface="Times New Roman" panose="02020603050405020304" charset="0"/>
                </a:rPr>
                <a:t>    </a:t>
              </a:r>
              <a:r>
                <a:rPr sz="2400" b="1">
                  <a:solidFill>
                    <a:srgbClr val="000066"/>
                  </a:solidFill>
                  <a:latin typeface="Times New Roman" panose="02020603050405020304" charset="0"/>
                  <a:ea typeface="楷体" panose="02010609060101010101" charset="-122"/>
                  <a:cs typeface="Times New Roman" panose="02020603050405020304" charset="0"/>
                </a:rPr>
                <a:t>对于任意一个非负整数</a:t>
              </a:r>
              <a:r>
                <a:rPr sz="2400" b="1" i="1">
                  <a:solidFill>
                    <a:srgbClr val="000066"/>
                  </a:solidFill>
                  <a:latin typeface="Times New Roman" panose="02020603050405020304" charset="0"/>
                  <a:ea typeface="楷体" panose="02010609060101010101" charset="-122"/>
                  <a:cs typeface="Times New Roman" panose="02020603050405020304" charset="0"/>
                </a:rPr>
                <a:t>N</a:t>
              </a:r>
              <a:r>
                <a:rPr sz="2400" b="1">
                  <a:solidFill>
                    <a:srgbClr val="000066"/>
                  </a:solidFill>
                  <a:latin typeface="Times New Roman" panose="02020603050405020304" charset="0"/>
                  <a:ea typeface="楷体" panose="02010609060101010101" charset="-122"/>
                  <a:cs typeface="Times New Roman" panose="02020603050405020304" charset="0"/>
                </a:rPr>
                <a:t>，可以表示为二进制整数，</a:t>
              </a:r>
              <a:endParaRPr sz="2400" b="1">
                <a:solidFill>
                  <a:srgbClr val="000066"/>
                </a:solidFill>
                <a:latin typeface="Times New Roman" panose="02020603050405020304" charset="0"/>
                <a:ea typeface="楷体" panose="02010609060101010101" charset="-122"/>
                <a:cs typeface="Times New Roman" panose="02020603050405020304" charset="0"/>
              </a:endParaRPr>
            </a:p>
            <a:p>
              <a:pPr>
                <a:lnSpc>
                  <a:spcPct val="120000"/>
                </a:lnSpc>
              </a:pPr>
              <a:r>
                <a:rPr lang="en-US" sz="2400" b="1">
                  <a:solidFill>
                    <a:srgbClr val="000066"/>
                  </a:solidFill>
                  <a:latin typeface="Times New Roman" panose="02020603050405020304" charset="0"/>
                  <a:ea typeface="楷体" panose="02010609060101010101" charset="-122"/>
                  <a:cs typeface="Times New Roman" panose="02020603050405020304" charset="0"/>
                </a:rPr>
                <a:t>                                  </a:t>
              </a:r>
              <a:r>
                <a:rPr sz="2400" b="1">
                  <a:solidFill>
                    <a:srgbClr val="000066"/>
                  </a:solidFill>
                  <a:latin typeface="Times New Roman" panose="02020603050405020304" charset="0"/>
                  <a:ea typeface="楷体" panose="02010609060101010101" charset="-122"/>
                  <a:cs typeface="Times New Roman" panose="02020603050405020304" charset="0"/>
                </a:rPr>
                <a:t>转换为十进制数可以表示为：</a:t>
              </a:r>
              <a:endParaRPr sz="2400" b="1">
                <a:solidFill>
                  <a:srgbClr val="000066"/>
                </a:solidFill>
                <a:latin typeface="Times New Roman" panose="02020603050405020304" charset="0"/>
                <a:ea typeface="楷体" panose="02010609060101010101" charset="-122"/>
                <a:cs typeface="Times New Roman" panose="02020603050405020304" charset="0"/>
              </a:endParaRPr>
            </a:p>
          </p:txBody>
        </p:sp>
        <p:graphicFrame>
          <p:nvGraphicFramePr>
            <p:cNvPr id="3" name="对象 2"/>
            <p:cNvGraphicFramePr/>
            <p:nvPr/>
          </p:nvGraphicFramePr>
          <p:xfrm>
            <a:off x="1077" y="3012"/>
            <a:ext cx="4180" cy="706"/>
          </p:xfrm>
          <a:graphic>
            <a:graphicData uri="http://schemas.openxmlformats.org/presentationml/2006/ole">
              <mc:AlternateContent xmlns:mc="http://schemas.openxmlformats.org/markup-compatibility/2006">
                <mc:Choice xmlns:v="urn:schemas-microsoft-com:vml" Requires="v">
                  <p:oleObj spid="_x0000_s4" name="" r:id="rId1" imgW="1498600" imgH="228600" progId="Equation.KSEE3">
                    <p:embed/>
                  </p:oleObj>
                </mc:Choice>
                <mc:Fallback>
                  <p:oleObj name="" r:id="rId1" imgW="1498600" imgH="228600" progId="Equation.KSEE3">
                    <p:embed/>
                    <p:pic>
                      <p:nvPicPr>
                        <p:cNvPr id="0" name="图片 3"/>
                        <p:cNvPicPr/>
                        <p:nvPr/>
                      </p:nvPicPr>
                      <p:blipFill>
                        <a:blip r:embed="rId2"/>
                        <a:stretch>
                          <a:fillRect/>
                        </a:stretch>
                      </p:blipFill>
                      <p:spPr>
                        <a:xfrm>
                          <a:off x="1077" y="3012"/>
                          <a:ext cx="4180" cy="706"/>
                        </a:xfrm>
                        <a:prstGeom prst="rect">
                          <a:avLst/>
                        </a:prstGeom>
                      </p:spPr>
                    </p:pic>
                  </p:oleObj>
                </mc:Fallback>
              </mc:AlternateContent>
            </a:graphicData>
          </a:graphic>
        </p:graphicFrame>
      </p:grpSp>
      <p:graphicFrame>
        <p:nvGraphicFramePr>
          <p:cNvPr id="5" name="对象 4"/>
          <p:cNvGraphicFramePr/>
          <p:nvPr/>
        </p:nvGraphicFramePr>
        <p:xfrm>
          <a:off x="1524000" y="2452370"/>
          <a:ext cx="5569585" cy="455295"/>
        </p:xfrm>
        <a:graphic>
          <a:graphicData uri="http://schemas.openxmlformats.org/presentationml/2006/ole">
            <mc:AlternateContent xmlns:mc="http://schemas.openxmlformats.org/markup-compatibility/2006">
              <mc:Choice xmlns:v="urn:schemas-microsoft-com:vml" Requires="v">
                <p:oleObj spid="_x0000_s6" name="" r:id="rId3" imgW="4589780" imgH="435610" progId="Equation.KSEE3">
                  <p:embed/>
                </p:oleObj>
              </mc:Choice>
              <mc:Fallback>
                <p:oleObj name="" r:id="rId3" imgW="4589780" imgH="435610" progId="Equation.KSEE3">
                  <p:embed/>
                  <p:pic>
                    <p:nvPicPr>
                      <p:cNvPr id="0" name="图片 5"/>
                      <p:cNvPicPr/>
                      <p:nvPr/>
                    </p:nvPicPr>
                    <p:blipFill>
                      <a:blip r:embed="rId4"/>
                      <a:stretch>
                        <a:fillRect/>
                      </a:stretch>
                    </p:blipFill>
                    <p:spPr>
                      <a:xfrm>
                        <a:off x="1524000" y="2452370"/>
                        <a:ext cx="5569585" cy="455295"/>
                      </a:xfrm>
                      <a:prstGeom prst="rect">
                        <a:avLst/>
                      </a:prstGeom>
                    </p:spPr>
                  </p:pic>
                </p:oleObj>
              </mc:Fallback>
            </mc:AlternateContent>
          </a:graphicData>
        </a:graphic>
      </p:graphicFrame>
      <p:sp>
        <p:nvSpPr>
          <p:cNvPr id="7" name="矩形 6"/>
          <p:cNvSpPr/>
          <p:nvPr/>
        </p:nvSpPr>
        <p:spPr>
          <a:xfrm>
            <a:off x="685483" y="2895283"/>
            <a:ext cx="7775575" cy="535305"/>
          </a:xfrm>
          <a:prstGeom prst="rect">
            <a:avLst/>
          </a:prstGeom>
          <a:noFill/>
          <a:ln w="28575">
            <a:noFill/>
          </a:ln>
        </p:spPr>
        <p:txBody>
          <a:bodyPr lIns="90000" tIns="46800" rIns="90000" bIns="46800">
            <a:spAutoFit/>
          </a:bodyPr>
          <a:p>
            <a:pPr>
              <a:lnSpc>
                <a:spcPct val="120000"/>
              </a:lnSpc>
            </a:pPr>
            <a:r>
              <a:rPr sz="2400" b="1">
                <a:solidFill>
                  <a:srgbClr val="000066"/>
                </a:solidFill>
                <a:latin typeface="Times New Roman" panose="02020603050405020304" charset="0"/>
                <a:ea typeface="楷体" panose="02010609060101010101" charset="-122"/>
                <a:cs typeface="Times New Roman" panose="02020603050405020304" charset="0"/>
              </a:rPr>
              <a:t>如果输出模拟量为</a:t>
            </a:r>
            <a:r>
              <a:rPr sz="2400" b="1" i="1">
                <a:solidFill>
                  <a:srgbClr val="000066"/>
                </a:solidFill>
                <a:latin typeface="Times New Roman" panose="02020603050405020304" charset="0"/>
                <a:ea typeface="楷体" panose="02010609060101010101" charset="-122"/>
                <a:cs typeface="Times New Roman" panose="02020603050405020304" charset="0"/>
              </a:rPr>
              <a:t>v</a:t>
            </a:r>
            <a:r>
              <a:rPr sz="2400" b="1" baseline="-25000">
                <a:solidFill>
                  <a:srgbClr val="000066"/>
                </a:solidFill>
                <a:latin typeface="Times New Roman" panose="02020603050405020304" charset="0"/>
                <a:ea typeface="楷体" panose="02010609060101010101" charset="-122"/>
                <a:cs typeface="Times New Roman" panose="02020603050405020304" charset="0"/>
              </a:rPr>
              <a:t>o</a:t>
            </a:r>
            <a:r>
              <a:rPr sz="2400" b="1">
                <a:solidFill>
                  <a:srgbClr val="000066"/>
                </a:solidFill>
                <a:latin typeface="Times New Roman" panose="02020603050405020304" charset="0"/>
                <a:ea typeface="楷体" panose="02010609060101010101" charset="-122"/>
                <a:cs typeface="Times New Roman" panose="02020603050405020304" charset="0"/>
              </a:rPr>
              <a:t>(或</a:t>
            </a:r>
            <a:r>
              <a:rPr sz="2400" b="1" i="1">
                <a:solidFill>
                  <a:srgbClr val="000066"/>
                </a:solidFill>
                <a:latin typeface="Times New Roman" panose="02020603050405020304" charset="0"/>
                <a:ea typeface="楷体" panose="02010609060101010101" charset="-122"/>
                <a:cs typeface="Times New Roman" panose="02020603050405020304" charset="0"/>
              </a:rPr>
              <a:t>i</a:t>
            </a:r>
            <a:r>
              <a:rPr sz="2400" b="1" baseline="-25000">
                <a:solidFill>
                  <a:srgbClr val="000066"/>
                </a:solidFill>
                <a:latin typeface="Times New Roman" panose="02020603050405020304" charset="0"/>
                <a:ea typeface="楷体" panose="02010609060101010101" charset="-122"/>
                <a:cs typeface="Times New Roman" panose="02020603050405020304" charset="0"/>
              </a:rPr>
              <a:t>o</a:t>
            </a:r>
            <a:r>
              <a:rPr sz="2400" b="1">
                <a:solidFill>
                  <a:srgbClr val="000066"/>
                </a:solidFill>
                <a:latin typeface="Times New Roman" panose="02020603050405020304" charset="0"/>
                <a:ea typeface="楷体" panose="02010609060101010101" charset="-122"/>
                <a:cs typeface="Times New Roman" panose="02020603050405020304" charset="0"/>
              </a:rPr>
              <a:t>)，则DAC的一般表达式为：</a:t>
            </a:r>
            <a:endParaRPr sz="2400" b="1">
              <a:solidFill>
                <a:srgbClr val="000066"/>
              </a:solidFill>
              <a:latin typeface="Times New Roman" panose="02020603050405020304" charset="0"/>
              <a:ea typeface="楷体" panose="02010609060101010101" charset="-122"/>
              <a:cs typeface="Times New Roman" panose="02020603050405020304" charset="0"/>
            </a:endParaRPr>
          </a:p>
        </p:txBody>
      </p:sp>
      <p:graphicFrame>
        <p:nvGraphicFramePr>
          <p:cNvPr id="8" name="对象 7"/>
          <p:cNvGraphicFramePr/>
          <p:nvPr/>
        </p:nvGraphicFramePr>
        <p:xfrm>
          <a:off x="2303780" y="3268663"/>
          <a:ext cx="4065270" cy="966470"/>
        </p:xfrm>
        <a:graphic>
          <a:graphicData uri="http://schemas.openxmlformats.org/presentationml/2006/ole">
            <mc:AlternateContent xmlns:mc="http://schemas.openxmlformats.org/markup-compatibility/2006">
              <mc:Choice xmlns:v="urn:schemas-microsoft-com:vml" Requires="v">
                <p:oleObj spid="_x0000_s9" name="" r:id="rId5" imgW="2272030" imgH="645795" progId="Equation.KSEE3">
                  <p:embed/>
                </p:oleObj>
              </mc:Choice>
              <mc:Fallback>
                <p:oleObj name="" r:id="rId5" imgW="2272030" imgH="645795" progId="Equation.KSEE3">
                  <p:embed/>
                  <p:pic>
                    <p:nvPicPr>
                      <p:cNvPr id="0" name="图片 8"/>
                      <p:cNvPicPr/>
                      <p:nvPr/>
                    </p:nvPicPr>
                    <p:blipFill>
                      <a:blip r:embed="rId6"/>
                      <a:stretch>
                        <a:fillRect/>
                      </a:stretch>
                    </p:blipFill>
                    <p:spPr>
                      <a:xfrm>
                        <a:off x="2303780" y="3268663"/>
                        <a:ext cx="4065270" cy="966470"/>
                      </a:xfrm>
                      <a:prstGeom prst="rect">
                        <a:avLst/>
                      </a:prstGeom>
                    </p:spPr>
                  </p:pic>
                </p:oleObj>
              </mc:Fallback>
            </mc:AlternateContent>
          </a:graphicData>
        </a:graphic>
      </p:graphicFrame>
      <p:pic>
        <p:nvPicPr>
          <p:cNvPr id="10" name="图片 9"/>
          <p:cNvPicPr>
            <a:picLocks noChangeAspect="1"/>
          </p:cNvPicPr>
          <p:nvPr/>
        </p:nvPicPr>
        <p:blipFill>
          <a:blip r:embed="rId7"/>
          <a:stretch>
            <a:fillRect/>
          </a:stretch>
        </p:blipFill>
        <p:spPr>
          <a:xfrm>
            <a:off x="838200" y="4380865"/>
            <a:ext cx="2515870" cy="1539240"/>
          </a:xfrm>
          <a:prstGeom prst="rect">
            <a:avLst/>
          </a:prstGeom>
        </p:spPr>
      </p:pic>
      <p:pic>
        <p:nvPicPr>
          <p:cNvPr id="11" name="图片 10"/>
          <p:cNvPicPr>
            <a:picLocks noChangeAspect="1"/>
          </p:cNvPicPr>
          <p:nvPr/>
        </p:nvPicPr>
        <p:blipFill>
          <a:blip r:embed="rId8"/>
          <a:stretch>
            <a:fillRect/>
          </a:stretch>
        </p:blipFill>
        <p:spPr>
          <a:xfrm>
            <a:off x="4876800" y="3965575"/>
            <a:ext cx="2902585" cy="2370455"/>
          </a:xfrm>
          <a:prstGeom prst="rect">
            <a:avLst/>
          </a:prstGeom>
        </p:spPr>
      </p:pic>
      <p:sp>
        <p:nvSpPr>
          <p:cNvPr id="12" name="文本框 11"/>
          <p:cNvSpPr txBox="1"/>
          <p:nvPr/>
        </p:nvSpPr>
        <p:spPr>
          <a:xfrm>
            <a:off x="762000" y="6039485"/>
            <a:ext cx="2486660" cy="306705"/>
          </a:xfrm>
          <a:prstGeom prst="rect">
            <a:avLst/>
          </a:prstGeom>
          <a:noFill/>
          <a:ln w="9525">
            <a:noFill/>
          </a:ln>
        </p:spPr>
        <p:txBody>
          <a:bodyPr wrap="square">
            <a:spAutoFit/>
          </a:bodyPr>
          <a:p>
            <a:pPr indent="266700" algn="ctr"/>
            <a:r>
              <a:rPr lang="zh-CN" sz="1400" b="1">
                <a:ea typeface="宋体" panose="02010600030101010101" pitchFamily="2" charset="-122"/>
              </a:rPr>
              <a:t>图</a:t>
            </a:r>
            <a:r>
              <a:rPr lang="en-US" sz="1400" b="1">
                <a:latin typeface="Times New Roman" panose="02020603050405020304" charset="0"/>
              </a:rPr>
              <a:t>9-2  D/A</a:t>
            </a:r>
            <a:r>
              <a:rPr lang="zh-CN" sz="1400" b="1">
                <a:ea typeface="宋体" panose="02010600030101010101" pitchFamily="2" charset="-122"/>
              </a:rPr>
              <a:t>转换器方框图</a:t>
            </a:r>
            <a:endParaRPr lang="zh-CN" altLang="en-US" sz="1400" b="1">
              <a:ea typeface="宋体" panose="02010600030101010101" pitchFamily="2" charset="-122"/>
            </a:endParaRPr>
          </a:p>
        </p:txBody>
      </p:sp>
      <p:sp>
        <p:nvSpPr>
          <p:cNvPr id="13" name="文本框 12"/>
          <p:cNvSpPr txBox="1"/>
          <p:nvPr/>
        </p:nvSpPr>
        <p:spPr>
          <a:xfrm>
            <a:off x="4495800" y="6324600"/>
            <a:ext cx="3743325" cy="306705"/>
          </a:xfrm>
          <a:prstGeom prst="rect">
            <a:avLst/>
          </a:prstGeom>
          <a:noFill/>
          <a:ln w="9525">
            <a:noFill/>
          </a:ln>
        </p:spPr>
        <p:txBody>
          <a:bodyPr wrap="square">
            <a:spAutoFit/>
          </a:bodyPr>
          <a:p>
            <a:pPr lvl="0" indent="266700" algn="ctr">
              <a:buClrTx/>
              <a:buSzTx/>
              <a:buFontTx/>
            </a:pPr>
            <a:r>
              <a:rPr lang="zh-CN" sz="1400" b="1">
                <a:latin typeface="Times New Roman" panose="02020603050405020304" charset="0"/>
                <a:cs typeface="Times New Roman" panose="02020603050405020304" charset="0"/>
                <a:sym typeface="+mn-ea"/>
              </a:rPr>
              <a:t>图</a:t>
            </a:r>
            <a:r>
              <a:rPr lang="zh-CN" sz="1400" b="1">
                <a:latin typeface="Times New Roman" panose="02020603050405020304" charset="0"/>
                <a:cs typeface="Times New Roman" panose="02020603050405020304" charset="0"/>
                <a:sym typeface="+mn-ea"/>
              </a:rPr>
              <a:t>9</a:t>
            </a:r>
            <a:r>
              <a:rPr lang="en-US" altLang="zh-CN" sz="1400" b="1">
                <a:latin typeface="Times New Roman" panose="02020603050405020304" charset="0"/>
                <a:cs typeface="Times New Roman" panose="02020603050405020304" charset="0"/>
                <a:sym typeface="+mn-ea"/>
              </a:rPr>
              <a:t>-</a:t>
            </a:r>
            <a:r>
              <a:rPr lang="zh-CN" sz="1400" b="1">
                <a:latin typeface="Times New Roman" panose="02020603050405020304" charset="0"/>
                <a:cs typeface="Times New Roman" panose="02020603050405020304" charset="0"/>
                <a:sym typeface="+mn-ea"/>
              </a:rPr>
              <a:t>3  3</a:t>
            </a:r>
            <a:r>
              <a:rPr lang="zh-CN" sz="1400" b="1">
                <a:latin typeface="Times New Roman" panose="02020603050405020304" charset="0"/>
                <a:cs typeface="Times New Roman" panose="02020603050405020304" charset="0"/>
                <a:sym typeface="+mn-ea"/>
              </a:rPr>
              <a:t>位</a:t>
            </a:r>
            <a:r>
              <a:rPr lang="zh-CN" sz="1400" b="1">
                <a:latin typeface="Times New Roman" panose="02020603050405020304" charset="0"/>
                <a:cs typeface="Times New Roman" panose="02020603050405020304" charset="0"/>
                <a:sym typeface="+mn-ea"/>
              </a:rPr>
              <a:t>D/A</a:t>
            </a:r>
            <a:r>
              <a:rPr lang="zh-CN" sz="1400" b="1">
                <a:latin typeface="Times New Roman" panose="02020603050405020304" charset="0"/>
                <a:cs typeface="Times New Roman" panose="02020603050405020304" charset="0"/>
                <a:sym typeface="+mn-ea"/>
              </a:rPr>
              <a:t>转换器理想转换特性曲线</a:t>
            </a:r>
            <a:endParaRPr lang="zh-CN" sz="1400" b="1">
              <a:latin typeface="Times New Roman" panose="02020603050405020304" charset="0"/>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ox(i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linds(horizontal)">
                                      <p:cBhvr>
                                        <p:cTn id="27" dur="500"/>
                                        <p:tgtEl>
                                          <p:spTgt spid="10"/>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blinds(horizontal)">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blinds(horizontal)">
                                      <p:cBhvr>
                                        <p:cTn id="35" dur="500"/>
                                        <p:tgtEl>
                                          <p:spTgt spid="11"/>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blinds(horizontal)">
                                      <p:cBhvr>
                                        <p:cTn id="3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P spid="12" grpId="1"/>
      <p:bldP spid="13" grpId="0"/>
      <p:bldP spid="13"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Rectangle 3"/>
          <p:cNvSpPr>
            <a:spLocks noGrp="1"/>
          </p:cNvSpPr>
          <p:nvPr/>
        </p:nvSpPr>
        <p:spPr>
          <a:xfrm>
            <a:off x="609600" y="1116965"/>
            <a:ext cx="5795010"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1318F3"/>
                </a:solidFill>
                <a:latin typeface="Times New Roman" panose="02020603050405020304" charset="0"/>
                <a:ea typeface="楷体" panose="02010609060101010101" charset="-122"/>
                <a:cs typeface="Times New Roman" panose="02020603050405020304" charset="0"/>
              </a:rPr>
              <a:t>     </a:t>
            </a:r>
            <a:r>
              <a:rPr sz="2400" b="1" dirty="0">
                <a:solidFill>
                  <a:srgbClr val="1318F3"/>
                </a:solidFill>
                <a:latin typeface="Times New Roman" panose="02020603050405020304" charset="0"/>
                <a:ea typeface="楷体" panose="02010609060101010101" charset="-122"/>
                <a:cs typeface="Times New Roman" panose="02020603050405020304" charset="0"/>
                <a:sym typeface="+mn-ea"/>
              </a:rPr>
              <a:t>n位D/A转换器的一般组成框图</a:t>
            </a:r>
            <a:endParaRPr sz="2400" b="1" dirty="0">
              <a:solidFill>
                <a:srgbClr val="1318F3"/>
              </a:solidFill>
              <a:latin typeface="Times New Roman" panose="02020603050405020304" charset="0"/>
              <a:ea typeface="楷体" panose="02010609060101010101" charset="-122"/>
              <a:cs typeface="Times New Roman" panose="02020603050405020304" charset="0"/>
              <a:sym typeface="+mn-ea"/>
            </a:endParaRPr>
          </a:p>
        </p:txBody>
      </p:sp>
      <p:sp>
        <p:nvSpPr>
          <p:cNvPr id="2" name="TextBox 6"/>
          <p:cNvSpPr txBox="1"/>
          <p:nvPr/>
        </p:nvSpPr>
        <p:spPr>
          <a:xfrm>
            <a:off x="3403600" y="5080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9.2 </a:t>
            </a:r>
            <a:r>
              <a:rPr lang="zh-CN" altLang="en-US" b="1" dirty="0">
                <a:solidFill>
                  <a:srgbClr val="FF0000"/>
                </a:solidFill>
                <a:latin typeface="黑体" panose="02010609060101010101" pitchFamily="49" charset="-122"/>
                <a:ea typeface="黑体" panose="02010609060101010101" pitchFamily="49" charset="-122"/>
              </a:rPr>
              <a:t>D/A转换电路</a:t>
            </a:r>
            <a:endParaRPr lang="zh-CN" altLang="en-US" b="1" dirty="0">
              <a:solidFill>
                <a:srgbClr val="FF0000"/>
              </a:solidFill>
              <a:latin typeface="黑体" panose="02010609060101010101" pitchFamily="49" charset="-122"/>
              <a:ea typeface="黑体" panose="02010609060101010101" pitchFamily="49" charset="-122"/>
            </a:endParaRPr>
          </a:p>
        </p:txBody>
      </p:sp>
      <p:grpSp>
        <p:nvGrpSpPr>
          <p:cNvPr id="102415" name="Group 15"/>
          <p:cNvGrpSpPr/>
          <p:nvPr/>
        </p:nvGrpSpPr>
        <p:grpSpPr>
          <a:xfrm>
            <a:off x="274638" y="1673225"/>
            <a:ext cx="8499475" cy="2557463"/>
            <a:chOff x="224" y="1213"/>
            <a:chExt cx="5354" cy="1611"/>
          </a:xfrm>
        </p:grpSpPr>
        <p:sp>
          <p:nvSpPr>
            <p:cNvPr id="6158" name="AutoShape 13"/>
            <p:cNvSpPr/>
            <p:nvPr/>
          </p:nvSpPr>
          <p:spPr>
            <a:xfrm>
              <a:off x="224" y="1213"/>
              <a:ext cx="5354" cy="1611"/>
            </a:xfrm>
            <a:prstGeom prst="roundRect">
              <a:avLst>
                <a:gd name="adj" fmla="val 16667"/>
              </a:avLst>
            </a:prstGeom>
            <a:solidFill>
              <a:schemeClr val="bg1"/>
            </a:solidFill>
            <a:ln w="9525">
              <a:noFill/>
            </a:ln>
          </p:spPr>
          <p:txBody>
            <a:bodyPr wrap="none" anchor="ctr" anchorCtr="0"/>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stStyle>
            <a:p>
              <a:pPr marL="0" lvl="0" indent="0" eaLnBrk="1" hangingPunct="1">
                <a:spcBef>
                  <a:spcPct val="0"/>
                </a:spcBef>
                <a:buClrTx/>
                <a:buFontTx/>
                <a:buNone/>
              </a:pPr>
              <a:endParaRPr lang="zh-CN" altLang="en-US" sz="1800" b="1" dirty="0">
                <a:solidFill>
                  <a:srgbClr val="000066"/>
                </a:solidFill>
                <a:latin typeface="Times New Roman" panose="02020603050405020304" charset="0"/>
                <a:ea typeface="楷体" panose="02010609060101010101" charset="-122"/>
                <a:cs typeface="Times New Roman" panose="02020603050405020304" charset="0"/>
              </a:endParaRPr>
            </a:p>
          </p:txBody>
        </p:sp>
        <p:graphicFrame>
          <p:nvGraphicFramePr>
            <p:cNvPr id="6159" name="Object 11"/>
            <p:cNvGraphicFramePr>
              <a:graphicFrameLocks noChangeAspect="1"/>
            </p:cNvGraphicFramePr>
            <p:nvPr/>
          </p:nvGraphicFramePr>
          <p:xfrm>
            <a:off x="249" y="1259"/>
            <a:ext cx="5283" cy="1430"/>
          </p:xfrm>
          <a:graphic>
            <a:graphicData uri="http://schemas.openxmlformats.org/presentationml/2006/ole">
              <mc:AlternateContent xmlns:mc="http://schemas.openxmlformats.org/markup-compatibility/2006">
                <mc:Choice xmlns:v="urn:schemas-microsoft-com:vml" Requires="v">
                  <p:oleObj spid="_x0000_s3076" name="" r:id="rId1" imgW="5191125" imgH="1247775" progId="Word.Picture.8">
                    <p:embed/>
                  </p:oleObj>
                </mc:Choice>
                <mc:Fallback>
                  <p:oleObj name="" r:id="rId1" imgW="5191125" imgH="1247775" progId="Word.Picture.8">
                    <p:embed/>
                    <p:pic>
                      <p:nvPicPr>
                        <p:cNvPr id="0" name="图片 3075"/>
                        <p:cNvPicPr/>
                        <p:nvPr/>
                      </p:nvPicPr>
                      <p:blipFill>
                        <a:blip r:embed="rId2"/>
                        <a:srcRect l="-163"/>
                        <a:stretch>
                          <a:fillRect/>
                        </a:stretch>
                      </p:blipFill>
                      <p:spPr>
                        <a:xfrm>
                          <a:off x="249" y="1259"/>
                          <a:ext cx="5283" cy="1430"/>
                        </a:xfrm>
                        <a:prstGeom prst="rect">
                          <a:avLst/>
                        </a:prstGeom>
                        <a:noFill/>
                        <a:ln w="38100">
                          <a:noFill/>
                          <a:miter/>
                        </a:ln>
                      </p:spPr>
                    </p:pic>
                  </p:oleObj>
                </mc:Fallback>
              </mc:AlternateContent>
            </a:graphicData>
          </a:graphic>
        </p:graphicFrame>
      </p:grpSp>
      <p:sp>
        <p:nvSpPr>
          <p:cNvPr id="102417" name="Rectangle 17"/>
          <p:cNvSpPr/>
          <p:nvPr/>
        </p:nvSpPr>
        <p:spPr>
          <a:xfrm>
            <a:off x="1344613" y="6053138"/>
            <a:ext cx="6565900" cy="460375"/>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stStyle>
          <a:p>
            <a:pPr marL="0" lvl="0" indent="0" eaLnBrk="1" hangingPunct="1">
              <a:spcBef>
                <a:spcPct val="50000"/>
              </a:spcBef>
              <a:buClrTx/>
              <a:buFontTx/>
              <a:buNone/>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onotype Sorts" pitchFamily="2" charset="2"/>
              </a:rPr>
              <a:t>DAC</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onotype Sorts" pitchFamily="2" charset="2"/>
              </a:rPr>
              <a:t>的数字数据可以并行输入也可串行输入</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onotype Sorts" pitchFamily="2" charset="2"/>
            </a:endParaRPr>
          </a:p>
        </p:txBody>
      </p:sp>
      <p:sp>
        <p:nvSpPr>
          <p:cNvPr id="102424" name="AutoShape 24"/>
          <p:cNvSpPr/>
          <p:nvPr/>
        </p:nvSpPr>
        <p:spPr>
          <a:xfrm>
            <a:off x="0" y="4081463"/>
            <a:ext cx="2060575" cy="1596520"/>
          </a:xfrm>
          <a:prstGeom prst="wedgeRoundRectCallout">
            <a:avLst>
              <a:gd name="adj1" fmla="val 76347"/>
              <a:gd name="adj2" fmla="val -69213"/>
              <a:gd name="adj3" fmla="val 16667"/>
            </a:avLst>
          </a:prstGeom>
          <a:solidFill>
            <a:srgbClr val="FFFF00">
              <a:alpha val="12157"/>
            </a:srgbClr>
          </a:solidFill>
          <a:ln w="9525" cap="flat" cmpd="sng">
            <a:solidFill>
              <a:schemeClr val="accent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stStyle>
          <a:p>
            <a:pPr marL="0" lvl="0" indent="0" eaLnBrk="1" hangingPunct="1">
              <a:spcBef>
                <a:spcPct val="50000"/>
              </a:spcBef>
              <a:buClrTx/>
              <a:buFontTx/>
              <a:buNone/>
            </a:pPr>
            <a:r>
              <a:rPr lang="zh-CN" altLang="en-US" sz="2800" b="1" dirty="0">
                <a:solidFill>
                  <a:srgbClr val="000066"/>
                </a:solidFill>
                <a:latin typeface="Times New Roman" panose="02020603050405020304" charset="0"/>
                <a:ea typeface="楷体" panose="02010609060101010101" charset="-122"/>
              </a:rPr>
              <a:t>　</a:t>
            </a:r>
            <a:r>
              <a:rPr lang="zh-CN" altLang="en-US" sz="2000" b="1" dirty="0">
                <a:solidFill>
                  <a:srgbClr val="000066"/>
                </a:solidFill>
                <a:latin typeface="Times New Roman" panose="02020603050405020304" charset="0"/>
                <a:ea typeface="楷体" panose="02010609060101010101" charset="-122"/>
              </a:rPr>
              <a:t>用存放在数字寄存器中的数字量的各位数码</a:t>
            </a:r>
            <a:endParaRPr lang="zh-CN" altLang="en-US" sz="2000" b="1" dirty="0">
              <a:solidFill>
                <a:srgbClr val="000066"/>
              </a:solidFill>
              <a:latin typeface="Times New Roman" panose="02020603050405020304" charset="0"/>
              <a:ea typeface="楷体" panose="02010609060101010101" charset="-122"/>
            </a:endParaRPr>
          </a:p>
        </p:txBody>
      </p:sp>
      <p:sp>
        <p:nvSpPr>
          <p:cNvPr id="102426" name="AutoShape 26"/>
          <p:cNvSpPr/>
          <p:nvPr/>
        </p:nvSpPr>
        <p:spPr>
          <a:xfrm>
            <a:off x="2306638" y="4730750"/>
            <a:ext cx="2060575" cy="916889"/>
          </a:xfrm>
          <a:prstGeom prst="wedgeRoundRectCallout">
            <a:avLst>
              <a:gd name="adj1" fmla="val 39676"/>
              <a:gd name="adj2" fmla="val -137028"/>
              <a:gd name="adj3" fmla="val 16667"/>
            </a:avLst>
          </a:prstGeom>
          <a:solidFill>
            <a:srgbClr val="3333CC">
              <a:alpha val="12157"/>
            </a:srgbClr>
          </a:solidFill>
          <a:ln w="9525" cap="flat" cmpd="sng">
            <a:solidFill>
              <a:schemeClr val="accent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stStyle>
          <a:p>
            <a:pPr marL="0" lvl="0" indent="0" eaLnBrk="1" hangingPunct="1">
              <a:spcBef>
                <a:spcPct val="50000"/>
              </a:spcBef>
              <a:buClrTx/>
              <a:buFontTx/>
              <a:buNone/>
            </a:pPr>
            <a:r>
              <a:rPr lang="zh-CN" altLang="en-US" sz="2800" b="1" dirty="0">
                <a:solidFill>
                  <a:srgbClr val="000066"/>
                </a:solidFill>
                <a:latin typeface="Times New Roman" panose="02020603050405020304" charset="0"/>
                <a:ea typeface="楷体" panose="02010609060101010101" charset="-122"/>
              </a:rPr>
              <a:t>　</a:t>
            </a:r>
            <a:r>
              <a:rPr lang="zh-CN" altLang="en-US" sz="2000" b="1" dirty="0">
                <a:solidFill>
                  <a:srgbClr val="000066"/>
                </a:solidFill>
                <a:latin typeface="Times New Roman" panose="02020603050405020304" charset="0"/>
                <a:ea typeface="楷体" panose="02010609060101010101" charset="-122"/>
              </a:rPr>
              <a:t>由输入数字量控制</a:t>
            </a:r>
            <a:endParaRPr lang="zh-CN" altLang="en-US" sz="2000" b="1" dirty="0">
              <a:solidFill>
                <a:srgbClr val="000066"/>
              </a:solidFill>
              <a:latin typeface="Times New Roman" panose="02020603050405020304" charset="0"/>
              <a:ea typeface="楷体" panose="02010609060101010101" charset="-122"/>
            </a:endParaRPr>
          </a:p>
        </p:txBody>
      </p:sp>
      <p:sp>
        <p:nvSpPr>
          <p:cNvPr id="102427" name="AutoShape 27"/>
          <p:cNvSpPr/>
          <p:nvPr/>
        </p:nvSpPr>
        <p:spPr>
          <a:xfrm>
            <a:off x="4805363" y="5029200"/>
            <a:ext cx="2060575" cy="576832"/>
          </a:xfrm>
          <a:prstGeom prst="wedgeRoundRectCallout">
            <a:avLst>
              <a:gd name="adj1" fmla="val -2079"/>
              <a:gd name="adj2" fmla="val -251130"/>
              <a:gd name="adj3" fmla="val 16667"/>
            </a:avLst>
          </a:prstGeom>
          <a:solidFill>
            <a:srgbClr val="FF5050">
              <a:alpha val="12157"/>
            </a:srgbClr>
          </a:solidFill>
          <a:ln w="9525" cap="flat" cmpd="sng">
            <a:solidFill>
              <a:schemeClr val="accent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stStyle>
          <a:p>
            <a:pPr marL="0" lvl="0" indent="0" eaLnBrk="1" hangingPunct="1">
              <a:spcBef>
                <a:spcPct val="50000"/>
              </a:spcBef>
              <a:buClrTx/>
              <a:buFontTx/>
              <a:buNone/>
            </a:pPr>
            <a:r>
              <a:rPr lang="zh-CN" altLang="en-US" sz="2800" b="1" dirty="0">
                <a:solidFill>
                  <a:srgbClr val="000066"/>
                </a:solidFill>
                <a:latin typeface="Times New Roman" panose="02020603050405020304" charset="0"/>
                <a:ea typeface="楷体" panose="02010609060101010101" charset="-122"/>
              </a:rPr>
              <a:t>　</a:t>
            </a:r>
            <a:r>
              <a:rPr lang="zh-CN" altLang="en-US" sz="2000" b="1" dirty="0">
                <a:solidFill>
                  <a:srgbClr val="000066"/>
                </a:solidFill>
                <a:latin typeface="Times New Roman" panose="02020603050405020304" charset="0"/>
                <a:ea typeface="楷体" panose="02010609060101010101" charset="-122"/>
              </a:rPr>
              <a:t>产生权电流</a:t>
            </a:r>
            <a:endParaRPr lang="zh-CN" altLang="en-US" sz="2000" b="1" dirty="0">
              <a:solidFill>
                <a:srgbClr val="000066"/>
              </a:solidFill>
              <a:latin typeface="Times New Roman" panose="02020603050405020304" charset="0"/>
              <a:ea typeface="楷体" panose="02010609060101010101" charset="-122"/>
            </a:endParaRPr>
          </a:p>
        </p:txBody>
      </p:sp>
      <p:sp>
        <p:nvSpPr>
          <p:cNvPr id="102428" name="AutoShape 28"/>
          <p:cNvSpPr/>
          <p:nvPr/>
        </p:nvSpPr>
        <p:spPr>
          <a:xfrm>
            <a:off x="7083425" y="4524375"/>
            <a:ext cx="2060575" cy="1596520"/>
          </a:xfrm>
          <a:prstGeom prst="wedgeRoundRectCallout">
            <a:avLst>
              <a:gd name="adj1" fmla="val -64944"/>
              <a:gd name="adj2" fmla="val -86495"/>
              <a:gd name="adj3" fmla="val 16667"/>
            </a:avLst>
          </a:prstGeom>
          <a:solidFill>
            <a:srgbClr val="00CC99">
              <a:alpha val="12157"/>
            </a:srgbClr>
          </a:solidFill>
          <a:ln w="9525" cap="flat" cmpd="sng">
            <a:solidFill>
              <a:schemeClr val="accent1"/>
            </a:solidFill>
            <a:prstDash val="solid"/>
            <a:miter/>
            <a:headEnd type="none" w="med" len="med"/>
            <a:tailEnd type="none" w="med" len="med"/>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stStyle>
          <a:p>
            <a:pPr marL="0" lvl="0" indent="0" eaLnBrk="1" hangingPunct="1">
              <a:spcBef>
                <a:spcPct val="50000"/>
              </a:spcBef>
              <a:buClrTx/>
              <a:buFontTx/>
              <a:buNone/>
            </a:pPr>
            <a:r>
              <a:rPr lang="zh-CN" altLang="en-US" sz="2800" b="1" dirty="0">
                <a:solidFill>
                  <a:srgbClr val="000066"/>
                </a:solidFill>
                <a:latin typeface="Times New Roman" panose="02020603050405020304" charset="0"/>
                <a:ea typeface="楷体" panose="02010609060101010101" charset="-122"/>
              </a:rPr>
              <a:t>　</a:t>
            </a:r>
            <a:r>
              <a:rPr lang="zh-CN" altLang="en-US" sz="2000" b="1" dirty="0">
                <a:solidFill>
                  <a:srgbClr val="000066"/>
                </a:solidFill>
                <a:latin typeface="Times New Roman" panose="02020603050405020304" charset="0"/>
                <a:ea typeface="楷体" panose="02010609060101010101" charset="-122"/>
              </a:rPr>
              <a:t>将权电流相加产生与输入成正比的模拟电压</a:t>
            </a:r>
            <a:endParaRPr lang="zh-CN" altLang="en-US" sz="2000" b="1" dirty="0">
              <a:solidFill>
                <a:srgbClr val="000066"/>
              </a:solidFill>
              <a:latin typeface="Times New Roman" panose="02020603050405020304" charset="0"/>
              <a:ea typeface="楷体" panose="02010609060101010101" charset="-122"/>
            </a:endParaRPr>
          </a:p>
        </p:txBody>
      </p:sp>
      <p:sp>
        <p:nvSpPr>
          <p:cNvPr id="102429" name="Rectangle 29"/>
          <p:cNvSpPr/>
          <p:nvPr/>
        </p:nvSpPr>
        <p:spPr>
          <a:xfrm>
            <a:off x="1752600" y="2895283"/>
            <a:ext cx="1077913" cy="1079500"/>
          </a:xfrm>
          <a:prstGeom prst="rect">
            <a:avLst/>
          </a:prstGeom>
          <a:solidFill>
            <a:srgbClr val="FFFF00">
              <a:alpha val="12157"/>
            </a:srgbClr>
          </a:solidFill>
          <a:ln w="9525">
            <a:noFill/>
          </a:ln>
        </p:spPr>
        <p:txBody>
          <a:bodyPr wrap="none" anchor="ctr" anchorCtr="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stStyle>
          <a:p>
            <a:pPr marL="0" lvl="0" indent="0" eaLnBrk="1" hangingPunct="1">
              <a:spcBef>
                <a:spcPct val="0"/>
              </a:spcBef>
              <a:buClrTx/>
              <a:buFontTx/>
              <a:buNone/>
            </a:pPr>
            <a:endParaRPr lang="zh-CN" altLang="en-US" sz="18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02430" name="Rectangle 30"/>
          <p:cNvSpPr/>
          <p:nvPr/>
        </p:nvSpPr>
        <p:spPr>
          <a:xfrm>
            <a:off x="3359150" y="2974975"/>
            <a:ext cx="1146175" cy="955675"/>
          </a:xfrm>
          <a:prstGeom prst="rect">
            <a:avLst/>
          </a:prstGeom>
          <a:solidFill>
            <a:srgbClr val="3333CC">
              <a:alpha val="12157"/>
            </a:srgbClr>
          </a:solidFill>
          <a:ln w="9525">
            <a:noFill/>
          </a:ln>
        </p:spPr>
        <p:txBody>
          <a:bodyPr anchor="ctr" anchorCtr="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stStyle>
          <a:p>
            <a:pPr marL="0" lvl="0" indent="0" eaLnBrk="1" hangingPunct="1">
              <a:spcBef>
                <a:spcPct val="0"/>
              </a:spcBef>
              <a:buClrTx/>
              <a:buFontTx/>
              <a:buNone/>
            </a:pPr>
            <a:endParaRPr lang="zh-CN" altLang="en-US" sz="18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02431" name="Rectangle 31"/>
          <p:cNvSpPr/>
          <p:nvPr/>
        </p:nvSpPr>
        <p:spPr>
          <a:xfrm>
            <a:off x="5049838" y="2906713"/>
            <a:ext cx="955675" cy="996950"/>
          </a:xfrm>
          <a:prstGeom prst="rect">
            <a:avLst/>
          </a:prstGeom>
          <a:solidFill>
            <a:srgbClr val="FF5050">
              <a:alpha val="12157"/>
            </a:srgbClr>
          </a:solidFill>
          <a:ln w="9525">
            <a:noFill/>
          </a:ln>
        </p:spPr>
        <p:txBody>
          <a:bodyPr wrap="none" anchor="ctr" anchorCtr="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stStyle>
          <a:p>
            <a:pPr marL="0" lvl="0" indent="0" eaLnBrk="1" hangingPunct="1">
              <a:spcBef>
                <a:spcPct val="0"/>
              </a:spcBef>
              <a:buClrTx/>
              <a:buFontTx/>
              <a:buNone/>
            </a:pPr>
            <a:endParaRPr lang="zh-CN" altLang="en-US" sz="18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02432" name="Rectangle 32"/>
          <p:cNvSpPr/>
          <p:nvPr/>
        </p:nvSpPr>
        <p:spPr>
          <a:xfrm>
            <a:off x="6551613" y="2933700"/>
            <a:ext cx="873125" cy="996950"/>
          </a:xfrm>
          <a:prstGeom prst="rect">
            <a:avLst/>
          </a:prstGeom>
          <a:solidFill>
            <a:srgbClr val="00CC99">
              <a:alpha val="12157"/>
            </a:srgbClr>
          </a:solidFill>
          <a:ln w="9525">
            <a:noFill/>
          </a:ln>
        </p:spPr>
        <p:txBody>
          <a:bodyPr anchor="ctr" anchorCtr="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stStyle>
          <a:p>
            <a:pPr marL="0" lvl="0" indent="0" eaLnBrk="1" hangingPunct="1">
              <a:spcBef>
                <a:spcPct val="0"/>
              </a:spcBef>
              <a:buClrTx/>
              <a:buFontTx/>
              <a:buNone/>
            </a:pPr>
            <a:endParaRPr lang="zh-CN" altLang="en-US" sz="1800" b="1" dirty="0">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2415"/>
                                        </p:tgtEl>
                                        <p:attrNameLst>
                                          <p:attrName>style.visibility</p:attrName>
                                        </p:attrNameLst>
                                      </p:cBhvr>
                                      <p:to>
                                        <p:strVal val="visible"/>
                                      </p:to>
                                    </p:set>
                                    <p:animEffect transition="in" filter="wipe(left)">
                                      <p:cBhvr>
                                        <p:cTn id="7" dur="500"/>
                                        <p:tgtEl>
                                          <p:spTgt spid="10241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02429"/>
                                        </p:tgtEl>
                                        <p:attrNameLst>
                                          <p:attrName>style.visibility</p:attrName>
                                        </p:attrNameLst>
                                      </p:cBhvr>
                                      <p:to>
                                        <p:strVal val="visible"/>
                                      </p:to>
                                    </p:set>
                                    <p:animEffect transition="in" filter="box(in)">
                                      <p:cBhvr>
                                        <p:cTn id="12" dur="500"/>
                                        <p:tgtEl>
                                          <p:spTgt spid="1024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02424"/>
                                        </p:tgtEl>
                                        <p:attrNameLst>
                                          <p:attrName>style.visibility</p:attrName>
                                        </p:attrNameLst>
                                      </p:cBhvr>
                                      <p:to>
                                        <p:strVal val="visible"/>
                                      </p:to>
                                    </p:set>
                                    <p:animEffect transition="in" filter="wipe(down)">
                                      <p:cBhvr>
                                        <p:cTn id="17" dur="500"/>
                                        <p:tgtEl>
                                          <p:spTgt spid="102424"/>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02417"/>
                                        </p:tgtEl>
                                        <p:attrNameLst>
                                          <p:attrName>style.visibility</p:attrName>
                                        </p:attrNameLst>
                                      </p:cBhvr>
                                      <p:to>
                                        <p:strVal val="visible"/>
                                      </p:to>
                                    </p:set>
                                    <p:animEffect transition="in" filter="strips(downRight)">
                                      <p:cBhvr>
                                        <p:cTn id="22" dur="500"/>
                                        <p:tgtEl>
                                          <p:spTgt spid="102417"/>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02430"/>
                                        </p:tgtEl>
                                        <p:attrNameLst>
                                          <p:attrName>style.visibility</p:attrName>
                                        </p:attrNameLst>
                                      </p:cBhvr>
                                      <p:to>
                                        <p:strVal val="visible"/>
                                      </p:to>
                                    </p:set>
                                    <p:animEffect transition="in" filter="box(in)">
                                      <p:cBhvr>
                                        <p:cTn id="27" dur="500"/>
                                        <p:tgtEl>
                                          <p:spTgt spid="10243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02426"/>
                                        </p:tgtEl>
                                        <p:attrNameLst>
                                          <p:attrName>style.visibility</p:attrName>
                                        </p:attrNameLst>
                                      </p:cBhvr>
                                      <p:to>
                                        <p:strVal val="visible"/>
                                      </p:to>
                                    </p:set>
                                    <p:animEffect transition="in" filter="wipe(down)">
                                      <p:cBhvr>
                                        <p:cTn id="32" dur="500"/>
                                        <p:tgtEl>
                                          <p:spTgt spid="102426"/>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102431"/>
                                        </p:tgtEl>
                                        <p:attrNameLst>
                                          <p:attrName>style.visibility</p:attrName>
                                        </p:attrNameLst>
                                      </p:cBhvr>
                                      <p:to>
                                        <p:strVal val="visible"/>
                                      </p:to>
                                    </p:set>
                                    <p:animEffect transition="in" filter="box(in)">
                                      <p:cBhvr>
                                        <p:cTn id="37" dur="500"/>
                                        <p:tgtEl>
                                          <p:spTgt spid="10243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02427"/>
                                        </p:tgtEl>
                                        <p:attrNameLst>
                                          <p:attrName>style.visibility</p:attrName>
                                        </p:attrNameLst>
                                      </p:cBhvr>
                                      <p:to>
                                        <p:strVal val="visible"/>
                                      </p:to>
                                    </p:set>
                                    <p:animEffect transition="in" filter="wipe(down)">
                                      <p:cBhvr>
                                        <p:cTn id="42" dur="500"/>
                                        <p:tgtEl>
                                          <p:spTgt spid="102427"/>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102432"/>
                                        </p:tgtEl>
                                        <p:attrNameLst>
                                          <p:attrName>style.visibility</p:attrName>
                                        </p:attrNameLst>
                                      </p:cBhvr>
                                      <p:to>
                                        <p:strVal val="visible"/>
                                      </p:to>
                                    </p:set>
                                    <p:animEffect transition="in" filter="box(in)">
                                      <p:cBhvr>
                                        <p:cTn id="47" dur="500"/>
                                        <p:tgtEl>
                                          <p:spTgt spid="10243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102428"/>
                                        </p:tgtEl>
                                        <p:attrNameLst>
                                          <p:attrName>style.visibility</p:attrName>
                                        </p:attrNameLst>
                                      </p:cBhvr>
                                      <p:to>
                                        <p:strVal val="visible"/>
                                      </p:to>
                                    </p:set>
                                    <p:animEffect transition="in" filter="wipe(down)">
                                      <p:cBhvr>
                                        <p:cTn id="52" dur="500"/>
                                        <p:tgtEl>
                                          <p:spTgt spid="1024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17" grpId="0"/>
      <p:bldP spid="102424" grpId="0" bldLvl="0" animBg="1"/>
      <p:bldP spid="102426" grpId="0" bldLvl="0" animBg="1"/>
      <p:bldP spid="102427" grpId="0" bldLvl="0" animBg="1"/>
      <p:bldP spid="102428" grpId="0" bldLvl="0" animBg="1"/>
      <p:bldP spid="102429" grpId="0" bldLvl="0" animBg="1"/>
      <p:bldP spid="102430" grpId="0" bldLvl="0" animBg="1"/>
      <p:bldP spid="102431" grpId="0" bldLvl="0" animBg="1"/>
      <p:bldP spid="102432"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Rectangle 3"/>
          <p:cNvSpPr>
            <a:spLocks noGrp="1"/>
          </p:cNvSpPr>
          <p:nvPr/>
        </p:nvSpPr>
        <p:spPr>
          <a:xfrm>
            <a:off x="609600" y="1116965"/>
            <a:ext cx="5795010" cy="56261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latinLnBrk="0" hangingPunct="1">
              <a:lnSpc>
                <a:spcPct val="120000"/>
              </a:lnSpc>
              <a:spcBef>
                <a:spcPts val="0"/>
              </a:spcBef>
              <a:buNone/>
            </a:pPr>
            <a:r>
              <a:rPr lang="en-US" altLang="zh-CN" sz="2400" b="1" kern="1200" dirty="0">
                <a:solidFill>
                  <a:srgbClr val="1318F3"/>
                </a:solidFill>
                <a:latin typeface="Times New Roman" panose="02020603050405020304" charset="0"/>
                <a:ea typeface="楷体" panose="02010609060101010101" charset="-122"/>
                <a:cs typeface="Times New Roman" panose="02020603050405020304" charset="0"/>
              </a:rPr>
              <a:t>     </a:t>
            </a:r>
            <a:r>
              <a:rPr sz="2400" b="1" dirty="0">
                <a:solidFill>
                  <a:srgbClr val="1318F3"/>
                </a:solidFill>
                <a:latin typeface="Times New Roman" panose="02020603050405020304" charset="0"/>
                <a:ea typeface="楷体" panose="02010609060101010101" charset="-122"/>
                <a:cs typeface="Times New Roman" panose="02020603050405020304" charset="0"/>
                <a:sym typeface="+mn-ea"/>
              </a:rPr>
              <a:t>D/A转换器的</a:t>
            </a:r>
            <a:r>
              <a:rPr lang="zh-CN" sz="2400" b="1" dirty="0">
                <a:solidFill>
                  <a:srgbClr val="1318F3"/>
                </a:solidFill>
                <a:latin typeface="Times New Roman" panose="02020603050405020304" charset="0"/>
                <a:ea typeface="楷体" panose="02010609060101010101" charset="-122"/>
                <a:cs typeface="Times New Roman" panose="02020603050405020304" charset="0"/>
                <a:sym typeface="+mn-ea"/>
              </a:rPr>
              <a:t>分类</a:t>
            </a:r>
            <a:endParaRPr lang="zh-CN" sz="2400" b="1" dirty="0">
              <a:solidFill>
                <a:srgbClr val="1318F3"/>
              </a:solidFill>
              <a:latin typeface="Times New Roman" panose="02020603050405020304" charset="0"/>
              <a:ea typeface="楷体" panose="02010609060101010101" charset="-122"/>
              <a:cs typeface="Times New Roman" panose="02020603050405020304" charset="0"/>
              <a:sym typeface="+mn-ea"/>
            </a:endParaRPr>
          </a:p>
        </p:txBody>
      </p:sp>
      <p:sp>
        <p:nvSpPr>
          <p:cNvPr id="2" name="TextBox 6"/>
          <p:cNvSpPr txBox="1"/>
          <p:nvPr/>
        </p:nvSpPr>
        <p:spPr>
          <a:xfrm>
            <a:off x="3403600" y="5080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9.2 </a:t>
            </a:r>
            <a:r>
              <a:rPr lang="zh-CN" altLang="en-US" b="1" dirty="0">
                <a:solidFill>
                  <a:srgbClr val="FF0000"/>
                </a:solidFill>
                <a:latin typeface="黑体" panose="02010609060101010101" pitchFamily="49" charset="-122"/>
                <a:ea typeface="黑体" panose="02010609060101010101" pitchFamily="49" charset="-122"/>
              </a:rPr>
              <a:t>D/A转换电路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42355" name="Rectangle 19"/>
          <p:cNvSpPr/>
          <p:nvPr/>
        </p:nvSpPr>
        <p:spPr>
          <a:xfrm>
            <a:off x="609283" y="2486978"/>
            <a:ext cx="2937510" cy="460375"/>
          </a:xfrm>
          <a:prstGeom prst="rect">
            <a:avLst/>
          </a:prstGeom>
          <a:noFill/>
          <a:ln w="9525">
            <a:noFill/>
          </a:ln>
        </p:spPr>
        <p:txBody>
          <a:bodyPr wrap="none">
            <a:spAutoFit/>
          </a:bodyPr>
          <a:p>
            <a:r>
              <a:rPr lang="zh-CN" altLang="en-US" sz="2400" b="1" dirty="0">
                <a:solidFill>
                  <a:srgbClr val="1318F3"/>
                </a:solidFill>
                <a:latin typeface="Times New Roman" panose="02020603050405020304" charset="0"/>
                <a:ea typeface="楷体" panose="02010609060101010101" charset="-122"/>
              </a:rPr>
              <a:t>按解码网络的结构分</a:t>
            </a:r>
            <a:endParaRPr lang="zh-CN" altLang="en-US" sz="2400" b="1" dirty="0">
              <a:solidFill>
                <a:srgbClr val="1318F3"/>
              </a:solidFill>
              <a:latin typeface="Times New Roman" panose="02020603050405020304" charset="0"/>
              <a:ea typeface="楷体" panose="02010609060101010101" charset="-122"/>
            </a:endParaRPr>
          </a:p>
        </p:txBody>
      </p:sp>
      <p:sp>
        <p:nvSpPr>
          <p:cNvPr id="142356" name="AutoShape 20"/>
          <p:cNvSpPr/>
          <p:nvPr/>
        </p:nvSpPr>
        <p:spPr>
          <a:xfrm>
            <a:off x="3635375" y="1566863"/>
            <a:ext cx="228600" cy="2362200"/>
          </a:xfrm>
          <a:prstGeom prst="leftBrace">
            <a:avLst>
              <a:gd name="adj1" fmla="val 86111"/>
              <a:gd name="adj2" fmla="val 50000"/>
            </a:avLst>
          </a:prstGeom>
          <a:noFill/>
          <a:ln w="38100" cap="flat" cmpd="sng">
            <a:solidFill>
              <a:srgbClr val="FF00FF"/>
            </a:solidFill>
            <a:prstDash val="solid"/>
            <a:headEnd type="none" w="med" len="med"/>
            <a:tailEnd type="none" w="med" len="med"/>
          </a:ln>
        </p:spPr>
        <p:txBody>
          <a:bodyPr wrap="none" anchor="ctr" anchorCtr="0"/>
          <a:p>
            <a:endParaRPr lang="zh-CN" altLang="en-US" sz="1800" b="1" dirty="0">
              <a:latin typeface="Times New Roman" panose="02020603050405020304" charset="0"/>
              <a:ea typeface="楷体" panose="02010609060101010101" charset="-122"/>
              <a:cs typeface="Times New Roman" panose="02020603050405020304" charset="0"/>
            </a:endParaRPr>
          </a:p>
        </p:txBody>
      </p:sp>
      <p:sp>
        <p:nvSpPr>
          <p:cNvPr id="142357" name="Rectangle 21"/>
          <p:cNvSpPr/>
          <p:nvPr/>
        </p:nvSpPr>
        <p:spPr>
          <a:xfrm>
            <a:off x="3956050" y="1346200"/>
            <a:ext cx="2528570" cy="2675890"/>
          </a:xfrm>
          <a:prstGeom prst="rect">
            <a:avLst/>
          </a:prstGeom>
          <a:noFill/>
          <a:ln w="9525">
            <a:noFill/>
          </a:ln>
        </p:spPr>
        <p:txBody>
          <a:bodyPr wrap="none">
            <a:spAutoFit/>
          </a:bodyPr>
          <a:p>
            <a:pPr>
              <a:spcBef>
                <a:spcPct val="20000"/>
              </a:spcBef>
            </a:pP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权电阻网络型</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a:p>
            <a:pPr>
              <a:spcBef>
                <a:spcPct val="20000"/>
              </a:spcBef>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T</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形电阻网络型</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a:p>
            <a:pPr>
              <a:spcBef>
                <a:spcPct val="20000"/>
              </a:spcBef>
            </a:pP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倒</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T</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形电阻网络型</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a:p>
            <a:pPr>
              <a:spcBef>
                <a:spcPct val="20000"/>
              </a:spcBef>
            </a:pP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权电流型</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a:p>
            <a:pPr>
              <a:spcBef>
                <a:spcPct val="20000"/>
              </a:spcBef>
            </a:pP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权电容网络型</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a:p>
            <a:pPr>
              <a:spcBef>
                <a:spcPct val="20000"/>
              </a:spcBef>
            </a:pP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开关树型</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grpSp>
        <p:nvGrpSpPr>
          <p:cNvPr id="142358" name="Group 22"/>
          <p:cNvGrpSpPr/>
          <p:nvPr/>
        </p:nvGrpSpPr>
        <p:grpSpPr>
          <a:xfrm>
            <a:off x="6614795" y="2362200"/>
            <a:ext cx="453390" cy="236220"/>
            <a:chOff x="528" y="3552"/>
            <a:chExt cx="480" cy="288"/>
          </a:xfrm>
        </p:grpSpPr>
        <p:sp>
          <p:nvSpPr>
            <p:cNvPr id="8218" name="Line 23"/>
            <p:cNvSpPr/>
            <p:nvPr/>
          </p:nvSpPr>
          <p:spPr>
            <a:xfrm>
              <a:off x="528" y="3600"/>
              <a:ext cx="96" cy="240"/>
            </a:xfrm>
            <a:prstGeom prst="line">
              <a:avLst/>
            </a:prstGeom>
            <a:ln w="57150" cap="flat" cmpd="sng">
              <a:solidFill>
                <a:srgbClr val="FF0000"/>
              </a:solidFill>
              <a:prstDash val="solid"/>
              <a:headEnd type="none" w="med" len="med"/>
              <a:tailEnd type="none" w="med" len="med"/>
            </a:ln>
          </p:spPr>
        </p:sp>
        <p:sp>
          <p:nvSpPr>
            <p:cNvPr id="8219" name="Line 24"/>
            <p:cNvSpPr/>
            <p:nvPr/>
          </p:nvSpPr>
          <p:spPr>
            <a:xfrm flipV="1">
              <a:off x="624" y="3552"/>
              <a:ext cx="384" cy="288"/>
            </a:xfrm>
            <a:prstGeom prst="line">
              <a:avLst/>
            </a:prstGeom>
            <a:ln w="57150" cap="flat" cmpd="sng">
              <a:solidFill>
                <a:srgbClr val="FF0000"/>
              </a:solidFill>
              <a:prstDash val="solid"/>
              <a:headEnd type="none" w="med" len="med"/>
              <a:tailEnd type="none" w="med" len="med"/>
            </a:ln>
          </p:spPr>
        </p:sp>
      </p:grpSp>
      <p:grpSp>
        <p:nvGrpSpPr>
          <p:cNvPr id="142361" name="Group 25"/>
          <p:cNvGrpSpPr/>
          <p:nvPr/>
        </p:nvGrpSpPr>
        <p:grpSpPr>
          <a:xfrm>
            <a:off x="5757545" y="2745105"/>
            <a:ext cx="544830" cy="250190"/>
            <a:chOff x="528" y="3552"/>
            <a:chExt cx="480" cy="288"/>
          </a:xfrm>
        </p:grpSpPr>
        <p:sp>
          <p:nvSpPr>
            <p:cNvPr id="8216" name="Line 26"/>
            <p:cNvSpPr/>
            <p:nvPr/>
          </p:nvSpPr>
          <p:spPr>
            <a:xfrm>
              <a:off x="528" y="3600"/>
              <a:ext cx="96" cy="240"/>
            </a:xfrm>
            <a:prstGeom prst="line">
              <a:avLst/>
            </a:prstGeom>
            <a:ln w="57150" cap="flat" cmpd="sng">
              <a:solidFill>
                <a:srgbClr val="FF0000"/>
              </a:solidFill>
              <a:prstDash val="solid"/>
              <a:headEnd type="none" w="med" len="med"/>
              <a:tailEnd type="none" w="med" len="med"/>
            </a:ln>
          </p:spPr>
        </p:sp>
        <p:sp>
          <p:nvSpPr>
            <p:cNvPr id="8217" name="Line 27"/>
            <p:cNvSpPr/>
            <p:nvPr/>
          </p:nvSpPr>
          <p:spPr>
            <a:xfrm flipV="1">
              <a:off x="624" y="3552"/>
              <a:ext cx="384" cy="288"/>
            </a:xfrm>
            <a:prstGeom prst="line">
              <a:avLst/>
            </a:prstGeom>
            <a:ln w="57150" cap="flat" cmpd="sng">
              <a:solidFill>
                <a:srgbClr val="FF0000"/>
              </a:solidFill>
              <a:prstDash val="solid"/>
              <a:headEnd type="none" w="med" len="med"/>
              <a:tailEnd type="none" w="med" len="med"/>
            </a:ln>
          </p:spPr>
        </p:sp>
      </p:grpSp>
      <p:grpSp>
        <p:nvGrpSpPr>
          <p:cNvPr id="3" name="Group 22"/>
          <p:cNvGrpSpPr/>
          <p:nvPr/>
        </p:nvGrpSpPr>
        <p:grpSpPr>
          <a:xfrm>
            <a:off x="6158230" y="1487170"/>
            <a:ext cx="506730" cy="192405"/>
            <a:chOff x="528" y="3552"/>
            <a:chExt cx="480" cy="288"/>
          </a:xfrm>
        </p:grpSpPr>
        <p:sp>
          <p:nvSpPr>
            <p:cNvPr id="4" name="Line 23"/>
            <p:cNvSpPr/>
            <p:nvPr/>
          </p:nvSpPr>
          <p:spPr>
            <a:xfrm>
              <a:off x="528" y="3600"/>
              <a:ext cx="96" cy="240"/>
            </a:xfrm>
            <a:prstGeom prst="line">
              <a:avLst/>
            </a:prstGeom>
            <a:ln w="57150" cap="flat" cmpd="sng">
              <a:solidFill>
                <a:srgbClr val="FF0000"/>
              </a:solidFill>
              <a:prstDash val="solid"/>
              <a:headEnd type="none" w="med" len="med"/>
              <a:tailEnd type="none" w="med" len="med"/>
            </a:ln>
          </p:spPr>
        </p:sp>
        <p:sp>
          <p:nvSpPr>
            <p:cNvPr id="5" name="Line 24"/>
            <p:cNvSpPr/>
            <p:nvPr/>
          </p:nvSpPr>
          <p:spPr>
            <a:xfrm flipV="1">
              <a:off x="624" y="3552"/>
              <a:ext cx="384" cy="288"/>
            </a:xfrm>
            <a:prstGeom prst="line">
              <a:avLst/>
            </a:prstGeom>
            <a:ln w="57150" cap="flat" cmpd="sng">
              <a:solidFill>
                <a:srgbClr val="FF0000"/>
              </a:solidFill>
              <a:prstDash val="solid"/>
              <a:headEnd type="none" w="med" len="med"/>
              <a:tailEnd type="none" w="med" len="med"/>
            </a:ln>
          </p:spPr>
        </p:sp>
      </p:grpSp>
      <p:sp>
        <p:nvSpPr>
          <p:cNvPr id="110600" name="Rectangle 8"/>
          <p:cNvSpPr/>
          <p:nvPr/>
        </p:nvSpPr>
        <p:spPr>
          <a:xfrm>
            <a:off x="488950" y="4479925"/>
            <a:ext cx="2743200" cy="460375"/>
          </a:xfrm>
          <a:prstGeom prst="rect">
            <a:avLst/>
          </a:prstGeom>
          <a:noFill/>
          <a:ln w="9525">
            <a:noFill/>
          </a:ln>
        </p:spPr>
        <p:txBody>
          <a:bodyPr>
            <a:spAutoFit/>
          </a:bodyPr>
          <a:p>
            <a:r>
              <a:rPr lang="zh-CN" altLang="en-US" sz="2400" b="1" dirty="0">
                <a:solidFill>
                  <a:srgbClr val="1318F3"/>
                </a:solidFill>
                <a:latin typeface="Times New Roman" panose="02020603050405020304" charset="0"/>
                <a:ea typeface="楷体" panose="02010609060101010101" charset="-122"/>
              </a:rPr>
              <a:t>按模拟电子开关分</a:t>
            </a:r>
            <a:endParaRPr lang="zh-CN" altLang="en-US" sz="2400" b="1" dirty="0">
              <a:solidFill>
                <a:srgbClr val="1318F3"/>
              </a:solidFill>
              <a:latin typeface="Times New Roman" panose="02020603050405020304" charset="0"/>
              <a:ea typeface="楷体" panose="02010609060101010101" charset="-122"/>
            </a:endParaRPr>
          </a:p>
        </p:txBody>
      </p:sp>
      <p:sp>
        <p:nvSpPr>
          <p:cNvPr id="110601" name="Rectangle 9"/>
          <p:cNvSpPr/>
          <p:nvPr/>
        </p:nvSpPr>
        <p:spPr>
          <a:xfrm>
            <a:off x="3308350" y="4251325"/>
            <a:ext cx="3156585" cy="1014730"/>
          </a:xfrm>
          <a:prstGeom prst="rect">
            <a:avLst/>
          </a:prstGeom>
          <a:noFill/>
          <a:ln w="9525">
            <a:noFill/>
          </a:ln>
        </p:spPr>
        <p:txBody>
          <a:bodyPr wrap="none">
            <a:spAutoFit/>
          </a:bodyPr>
          <a:p>
            <a:pPr>
              <a:spcBef>
                <a:spcPct val="50000"/>
              </a:spcBef>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CMOS</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开关</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D/A</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转换器</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a:p>
            <a:pPr>
              <a:spcBef>
                <a:spcPct val="50000"/>
              </a:spcBef>
            </a:pP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双极型开关</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D/A</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转换器</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10602" name="AutoShape 10"/>
          <p:cNvSpPr/>
          <p:nvPr/>
        </p:nvSpPr>
        <p:spPr>
          <a:xfrm>
            <a:off x="3079750" y="4403725"/>
            <a:ext cx="152400" cy="762000"/>
          </a:xfrm>
          <a:prstGeom prst="leftBrace">
            <a:avLst>
              <a:gd name="adj1" fmla="val 41666"/>
              <a:gd name="adj2" fmla="val 50000"/>
            </a:avLst>
          </a:prstGeom>
          <a:noFill/>
          <a:ln w="28575" cap="flat" cmpd="sng">
            <a:solidFill>
              <a:srgbClr val="FF00FF"/>
            </a:solidFill>
            <a:prstDash val="solid"/>
            <a:headEnd type="none" w="med" len="med"/>
            <a:tailEnd type="none" w="med" len="med"/>
          </a:ln>
        </p:spPr>
        <p:txBody>
          <a:bodyPr wrap="none" anchor="ctr" anchorCtr="0"/>
          <a:p>
            <a:endParaRPr lang="zh-CN" altLang="en-US" sz="1800" b="1" dirty="0">
              <a:latin typeface="Times New Roman" panose="02020603050405020304" charset="0"/>
              <a:ea typeface="楷体" panose="02010609060101010101" charset="-122"/>
              <a:cs typeface="Times New Roman" panose="02020603050405020304" charset="0"/>
            </a:endParaRPr>
          </a:p>
        </p:txBody>
      </p:sp>
      <p:sp>
        <p:nvSpPr>
          <p:cNvPr id="110603" name="AutoShape 11"/>
          <p:cNvSpPr/>
          <p:nvPr/>
        </p:nvSpPr>
        <p:spPr>
          <a:xfrm>
            <a:off x="6432550" y="4632325"/>
            <a:ext cx="152400" cy="762000"/>
          </a:xfrm>
          <a:prstGeom prst="leftBrace">
            <a:avLst>
              <a:gd name="adj1" fmla="val 41666"/>
              <a:gd name="adj2" fmla="val 50000"/>
            </a:avLst>
          </a:prstGeom>
          <a:noFill/>
          <a:ln w="28575" cap="flat" cmpd="sng">
            <a:solidFill>
              <a:srgbClr val="FF00FF"/>
            </a:solidFill>
            <a:prstDash val="solid"/>
            <a:headEnd type="none" w="med" len="med"/>
            <a:tailEnd type="none" w="med" len="med"/>
          </a:ln>
        </p:spPr>
        <p:txBody>
          <a:bodyPr wrap="none" anchor="ctr" anchorCtr="0"/>
          <a:p>
            <a:endParaRPr lang="zh-CN" altLang="en-US" sz="1800" b="1" dirty="0">
              <a:latin typeface="Times New Roman" panose="02020603050405020304" charset="0"/>
              <a:ea typeface="楷体" panose="02010609060101010101" charset="-122"/>
              <a:cs typeface="Times New Roman" panose="02020603050405020304" charset="0"/>
            </a:endParaRPr>
          </a:p>
        </p:txBody>
      </p:sp>
      <p:sp>
        <p:nvSpPr>
          <p:cNvPr id="110604" name="Rectangle 12"/>
          <p:cNvSpPr/>
          <p:nvPr/>
        </p:nvSpPr>
        <p:spPr>
          <a:xfrm>
            <a:off x="6584950" y="4479925"/>
            <a:ext cx="2339975" cy="939800"/>
          </a:xfrm>
          <a:prstGeom prst="rect">
            <a:avLst/>
          </a:prstGeom>
          <a:noFill/>
          <a:ln w="9525">
            <a:noFill/>
          </a:ln>
        </p:spPr>
        <p:txBody>
          <a:bodyPr wrap="none">
            <a:spAutoFit/>
          </a:bodyPr>
          <a:p>
            <a:pPr>
              <a:spcBef>
                <a:spcPct val="30000"/>
              </a:spcBef>
            </a:pP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电流开关型</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a:p>
            <a:pPr>
              <a:spcBef>
                <a:spcPct val="30000"/>
              </a:spcBef>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ECL</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电流开关型</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10605" name="AutoShape 13"/>
          <p:cNvSpPr/>
          <p:nvPr/>
        </p:nvSpPr>
        <p:spPr>
          <a:xfrm>
            <a:off x="6051550" y="5851525"/>
            <a:ext cx="2438400" cy="914400"/>
          </a:xfrm>
          <a:prstGeom prst="wedgeRoundRectCallout">
            <a:avLst>
              <a:gd name="adj1" fmla="val -11977"/>
              <a:gd name="adj2" fmla="val -108856"/>
              <a:gd name="adj3" fmla="val 16667"/>
            </a:avLst>
          </a:prstGeom>
          <a:solidFill>
            <a:srgbClr val="CCFFFF"/>
          </a:solidFill>
          <a:ln w="9525" cap="flat" cmpd="sng">
            <a:solidFill>
              <a:srgbClr val="FF0000"/>
            </a:solidFill>
            <a:prstDash val="solid"/>
            <a:miter/>
            <a:headEnd type="none" w="med" len="med"/>
            <a:tailEnd type="none" w="med" len="med"/>
          </a:ln>
        </p:spPr>
        <p:txBody>
          <a:bodyPr/>
          <a:p>
            <a:pPr algn="ctr"/>
            <a:r>
              <a:rPr lang="zh-CN" altLang="en-US" sz="2400" b="1" dirty="0">
                <a:solidFill>
                  <a:srgbClr val="990000"/>
                </a:solidFill>
                <a:latin typeface="Times New Roman" panose="02020603050405020304" charset="0"/>
                <a:ea typeface="楷体" panose="02010609060101010101" charset="-122"/>
              </a:rPr>
              <a:t>非饱和型高速数字集成电路</a:t>
            </a:r>
            <a:endParaRPr lang="zh-CN" altLang="en-US" sz="2400" b="1" dirty="0">
              <a:solidFill>
                <a:srgbClr val="990000"/>
              </a:solidFill>
              <a:latin typeface="Times New Roman" panose="02020603050405020304" charset="0"/>
              <a:ea typeface="楷体" panose="02010609060101010101" charset="-122"/>
            </a:endParaRPr>
          </a:p>
        </p:txBody>
      </p:sp>
      <p:sp>
        <p:nvSpPr>
          <p:cNvPr id="110606" name="AutoShape 14" descr="羊皮纸"/>
          <p:cNvSpPr/>
          <p:nvPr/>
        </p:nvSpPr>
        <p:spPr>
          <a:xfrm>
            <a:off x="6302375" y="3352800"/>
            <a:ext cx="2438400" cy="457200"/>
          </a:xfrm>
          <a:prstGeom prst="wedgeRoundRectCallout">
            <a:avLst>
              <a:gd name="adj1" fmla="val -91223"/>
              <a:gd name="adj2" fmla="val 160555"/>
              <a:gd name="adj3" fmla="val 16667"/>
            </a:avLst>
          </a:prstGeom>
          <a:blipFill rotWithShape="0">
            <a:blip r:embed="rId1"/>
          </a:blipFill>
          <a:ln w="9525" cap="flat" cmpd="sng">
            <a:solidFill>
              <a:srgbClr val="FF0000"/>
            </a:solidFill>
            <a:prstDash val="solid"/>
            <a:miter/>
            <a:headEnd type="none" w="med" len="med"/>
            <a:tailEnd type="none" w="med" len="med"/>
          </a:ln>
        </p:spPr>
        <p:txBody>
          <a:bodyPr/>
          <a:p>
            <a:pPr algn="ctr"/>
            <a:r>
              <a:rPr lang="zh-CN" altLang="en-US" sz="2400" b="1" dirty="0">
                <a:solidFill>
                  <a:srgbClr val="990000"/>
                </a:solidFill>
                <a:latin typeface="Times New Roman" panose="02020603050405020304" charset="0"/>
                <a:ea typeface="楷体" panose="02010609060101010101" charset="-122"/>
              </a:rPr>
              <a:t>转换速度较低</a:t>
            </a:r>
            <a:endParaRPr lang="zh-CN" altLang="en-US" sz="2400" b="1" dirty="0">
              <a:solidFill>
                <a:srgbClr val="990000"/>
              </a:solidFill>
              <a:latin typeface="Times New Roman" panose="02020603050405020304" charset="0"/>
              <a:ea typeface="楷体" panose="02010609060101010101" charset="-122"/>
            </a:endParaRPr>
          </a:p>
        </p:txBody>
      </p:sp>
      <p:sp>
        <p:nvSpPr>
          <p:cNvPr id="110607" name="AutoShape 15" descr="羊皮纸"/>
          <p:cNvSpPr/>
          <p:nvPr/>
        </p:nvSpPr>
        <p:spPr>
          <a:xfrm>
            <a:off x="3536950" y="5622925"/>
            <a:ext cx="2438400" cy="457200"/>
          </a:xfrm>
          <a:prstGeom prst="wedgeRoundRectCallout">
            <a:avLst>
              <a:gd name="adj1" fmla="val -9440"/>
              <a:gd name="adj2" fmla="val -138194"/>
              <a:gd name="adj3" fmla="val 16667"/>
            </a:avLst>
          </a:prstGeom>
          <a:blipFill rotWithShape="0">
            <a:blip r:embed="rId1"/>
          </a:blipFill>
          <a:ln w="9525" cap="flat" cmpd="sng">
            <a:solidFill>
              <a:srgbClr val="FF0000"/>
            </a:solidFill>
            <a:prstDash val="solid"/>
            <a:miter/>
            <a:headEnd type="none" w="med" len="med"/>
            <a:tailEnd type="none" w="med" len="med"/>
          </a:ln>
        </p:spPr>
        <p:txBody>
          <a:bodyPr/>
          <a:p>
            <a:pPr algn="ctr"/>
            <a:r>
              <a:rPr lang="zh-CN" altLang="en-US" sz="2400" b="1" dirty="0">
                <a:solidFill>
                  <a:srgbClr val="990000"/>
                </a:solidFill>
                <a:latin typeface="Times New Roman" panose="02020603050405020304" charset="0"/>
                <a:ea typeface="楷体" panose="02010609060101010101" charset="-122"/>
              </a:rPr>
              <a:t>转换速度较高</a:t>
            </a:r>
            <a:endParaRPr lang="zh-CN" altLang="en-US" sz="2400" b="1" dirty="0">
              <a:solidFill>
                <a:srgbClr val="990000"/>
              </a:solidFill>
              <a:latin typeface="Times New Roman" panose="02020603050405020304" charset="0"/>
              <a:ea typeface="楷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2355"/>
                                        </p:tgtEl>
                                        <p:attrNameLst>
                                          <p:attrName>style.visibility</p:attrName>
                                        </p:attrNameLst>
                                      </p:cBhvr>
                                      <p:to>
                                        <p:strVal val="visible"/>
                                      </p:to>
                                    </p:set>
                                    <p:animEffect transition="in" filter="blinds(horizontal)">
                                      <p:cBhvr>
                                        <p:cTn id="7" dur="500"/>
                                        <p:tgtEl>
                                          <p:spTgt spid="14235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4235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142357">
                                            <p:txEl>
                                              <p:charRg st="0" end="7"/>
                                            </p:txEl>
                                          </p:spTgt>
                                        </p:tgtEl>
                                        <p:attrNameLst>
                                          <p:attrName>style.visibility</p:attrName>
                                        </p:attrNameLst>
                                      </p:cBhvr>
                                      <p:to>
                                        <p:strVal val="visible"/>
                                      </p:to>
                                    </p:set>
                                    <p:animEffect transition="in" filter="checkerboard(across)">
                                      <p:cBhvr>
                                        <p:cTn id="16" dur="500"/>
                                        <p:tgtEl>
                                          <p:spTgt spid="142357">
                                            <p:txEl>
                                              <p:charRg st="0" end="7"/>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142357">
                                            <p:txEl>
                                              <p:charRg st="7" end="15"/>
                                            </p:txEl>
                                          </p:spTgt>
                                        </p:tgtEl>
                                        <p:attrNameLst>
                                          <p:attrName>style.visibility</p:attrName>
                                        </p:attrNameLst>
                                      </p:cBhvr>
                                      <p:to>
                                        <p:strVal val="visible"/>
                                      </p:to>
                                    </p:set>
                                    <p:animEffect transition="in" filter="checkerboard(across)">
                                      <p:cBhvr>
                                        <p:cTn id="21" dur="500"/>
                                        <p:tgtEl>
                                          <p:spTgt spid="142357">
                                            <p:txEl>
                                              <p:charRg st="7" end="1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grpId="0" nodeType="clickEffect">
                                  <p:stCondLst>
                                    <p:cond delay="0"/>
                                  </p:stCondLst>
                                  <p:childTnLst>
                                    <p:set>
                                      <p:cBhvr>
                                        <p:cTn id="25" dur="1" fill="hold">
                                          <p:stCondLst>
                                            <p:cond delay="0"/>
                                          </p:stCondLst>
                                        </p:cTn>
                                        <p:tgtEl>
                                          <p:spTgt spid="142357">
                                            <p:txEl>
                                              <p:charRg st="15" end="24"/>
                                            </p:txEl>
                                          </p:spTgt>
                                        </p:tgtEl>
                                        <p:attrNameLst>
                                          <p:attrName>style.visibility</p:attrName>
                                        </p:attrNameLst>
                                      </p:cBhvr>
                                      <p:to>
                                        <p:strVal val="visible"/>
                                      </p:to>
                                    </p:set>
                                    <p:animEffect transition="in" filter="checkerboard(across)">
                                      <p:cBhvr>
                                        <p:cTn id="26" dur="500"/>
                                        <p:tgtEl>
                                          <p:spTgt spid="142357">
                                            <p:txEl>
                                              <p:charRg st="15" end="2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grpId="0" nodeType="clickEffect">
                                  <p:stCondLst>
                                    <p:cond delay="0"/>
                                  </p:stCondLst>
                                  <p:childTnLst>
                                    <p:set>
                                      <p:cBhvr>
                                        <p:cTn id="30" dur="1" fill="hold">
                                          <p:stCondLst>
                                            <p:cond delay="0"/>
                                          </p:stCondLst>
                                        </p:cTn>
                                        <p:tgtEl>
                                          <p:spTgt spid="142357">
                                            <p:txEl>
                                              <p:charRg st="24" end="29"/>
                                            </p:txEl>
                                          </p:spTgt>
                                        </p:tgtEl>
                                        <p:attrNameLst>
                                          <p:attrName>style.visibility</p:attrName>
                                        </p:attrNameLst>
                                      </p:cBhvr>
                                      <p:to>
                                        <p:strVal val="visible"/>
                                      </p:to>
                                    </p:set>
                                    <p:animEffect transition="in" filter="checkerboard(across)">
                                      <p:cBhvr>
                                        <p:cTn id="31" dur="500"/>
                                        <p:tgtEl>
                                          <p:spTgt spid="142357">
                                            <p:txEl>
                                              <p:charRg st="24" end="29"/>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grpId="0" nodeType="clickEffect">
                                  <p:stCondLst>
                                    <p:cond delay="0"/>
                                  </p:stCondLst>
                                  <p:childTnLst>
                                    <p:set>
                                      <p:cBhvr>
                                        <p:cTn id="35" dur="1" fill="hold">
                                          <p:stCondLst>
                                            <p:cond delay="0"/>
                                          </p:stCondLst>
                                        </p:cTn>
                                        <p:tgtEl>
                                          <p:spTgt spid="142357">
                                            <p:txEl>
                                              <p:charRg st="29" end="36"/>
                                            </p:txEl>
                                          </p:spTgt>
                                        </p:tgtEl>
                                        <p:attrNameLst>
                                          <p:attrName>style.visibility</p:attrName>
                                        </p:attrNameLst>
                                      </p:cBhvr>
                                      <p:to>
                                        <p:strVal val="visible"/>
                                      </p:to>
                                    </p:set>
                                    <p:animEffect transition="in" filter="checkerboard(across)">
                                      <p:cBhvr>
                                        <p:cTn id="36" dur="500"/>
                                        <p:tgtEl>
                                          <p:spTgt spid="142357">
                                            <p:txEl>
                                              <p:charRg st="29" end="36"/>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5" presetClass="entr" presetSubtype="10" fill="hold" grpId="0" nodeType="clickEffect">
                                  <p:stCondLst>
                                    <p:cond delay="0"/>
                                  </p:stCondLst>
                                  <p:childTnLst>
                                    <p:set>
                                      <p:cBhvr>
                                        <p:cTn id="40" dur="1" fill="hold">
                                          <p:stCondLst>
                                            <p:cond delay="0"/>
                                          </p:stCondLst>
                                        </p:cTn>
                                        <p:tgtEl>
                                          <p:spTgt spid="142357">
                                            <p:txEl>
                                              <p:charRg st="36" end="41"/>
                                            </p:txEl>
                                          </p:spTgt>
                                        </p:tgtEl>
                                        <p:attrNameLst>
                                          <p:attrName>style.visibility</p:attrName>
                                        </p:attrNameLst>
                                      </p:cBhvr>
                                      <p:to>
                                        <p:strVal val="visible"/>
                                      </p:to>
                                    </p:set>
                                    <p:animEffect transition="in" filter="checkerboard(across)">
                                      <p:cBhvr>
                                        <p:cTn id="41" dur="500"/>
                                        <p:tgtEl>
                                          <p:spTgt spid="142357">
                                            <p:txEl>
                                              <p:charRg st="36" end="4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499"/>
                                          </p:stCondLst>
                                        </p:cTn>
                                        <p:tgtEl>
                                          <p:spTgt spid="3"/>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499"/>
                                          </p:stCondLst>
                                        </p:cTn>
                                        <p:tgtEl>
                                          <p:spTgt spid="142358"/>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499"/>
                                          </p:stCondLst>
                                        </p:cTn>
                                        <p:tgtEl>
                                          <p:spTgt spid="142361"/>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110600"/>
                                        </p:tgtEl>
                                        <p:attrNameLst>
                                          <p:attrName>style.visibility</p:attrName>
                                        </p:attrNameLst>
                                      </p:cBhvr>
                                      <p:to>
                                        <p:strVal val="visible"/>
                                      </p:to>
                                    </p:set>
                                    <p:animEffect transition="in" filter="blinds(horizontal)">
                                      <p:cBhvr>
                                        <p:cTn id="58" dur="500"/>
                                        <p:tgtEl>
                                          <p:spTgt spid="110600"/>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11060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5" presetClass="entr" presetSubtype="10" fill="hold" grpId="0" nodeType="clickEffect">
                                  <p:stCondLst>
                                    <p:cond delay="0"/>
                                  </p:stCondLst>
                                  <p:childTnLst>
                                    <p:set>
                                      <p:cBhvr>
                                        <p:cTn id="66" dur="1" fill="hold">
                                          <p:stCondLst>
                                            <p:cond delay="0"/>
                                          </p:stCondLst>
                                        </p:cTn>
                                        <p:tgtEl>
                                          <p:spTgt spid="110601">
                                            <p:txEl>
                                              <p:charRg st="0" end="13"/>
                                            </p:txEl>
                                          </p:spTgt>
                                        </p:tgtEl>
                                        <p:attrNameLst>
                                          <p:attrName>style.visibility</p:attrName>
                                        </p:attrNameLst>
                                      </p:cBhvr>
                                      <p:to>
                                        <p:strVal val="visible"/>
                                      </p:to>
                                    </p:set>
                                    <p:animEffect transition="in" filter="checkerboard(across)">
                                      <p:cBhvr>
                                        <p:cTn id="67" dur="500"/>
                                        <p:tgtEl>
                                          <p:spTgt spid="110601">
                                            <p:txEl>
                                              <p:charRg st="0" end="1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5" presetClass="entr" presetSubtype="10" fill="hold" grpId="0" nodeType="clickEffect">
                                  <p:stCondLst>
                                    <p:cond delay="0"/>
                                  </p:stCondLst>
                                  <p:childTnLst>
                                    <p:set>
                                      <p:cBhvr>
                                        <p:cTn id="71" dur="1" fill="hold">
                                          <p:stCondLst>
                                            <p:cond delay="0"/>
                                          </p:stCondLst>
                                        </p:cTn>
                                        <p:tgtEl>
                                          <p:spTgt spid="110601">
                                            <p:txEl>
                                              <p:charRg st="13" end="25"/>
                                            </p:txEl>
                                          </p:spTgt>
                                        </p:tgtEl>
                                        <p:attrNameLst>
                                          <p:attrName>style.visibility</p:attrName>
                                        </p:attrNameLst>
                                      </p:cBhvr>
                                      <p:to>
                                        <p:strVal val="visible"/>
                                      </p:to>
                                    </p:set>
                                    <p:animEffect transition="in" filter="checkerboard(across)">
                                      <p:cBhvr>
                                        <p:cTn id="72" dur="500"/>
                                        <p:tgtEl>
                                          <p:spTgt spid="110601">
                                            <p:txEl>
                                              <p:charRg st="13" end="25"/>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499"/>
                                          </p:stCondLst>
                                        </p:cTn>
                                        <p:tgtEl>
                                          <p:spTgt spid="110603"/>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9" presetClass="entr" presetSubtype="0" fill="hold" grpId="0" nodeType="clickEffect">
                                  <p:stCondLst>
                                    <p:cond delay="0"/>
                                  </p:stCondLst>
                                  <p:childTnLst>
                                    <p:set>
                                      <p:cBhvr>
                                        <p:cTn id="80" dur="1" fill="hold">
                                          <p:stCondLst>
                                            <p:cond delay="0"/>
                                          </p:stCondLst>
                                        </p:cTn>
                                        <p:tgtEl>
                                          <p:spTgt spid="110604">
                                            <p:txEl>
                                              <p:charRg st="0" end="6"/>
                                            </p:txEl>
                                          </p:spTgt>
                                        </p:tgtEl>
                                        <p:attrNameLst>
                                          <p:attrName>style.visibility</p:attrName>
                                        </p:attrNameLst>
                                      </p:cBhvr>
                                      <p:to>
                                        <p:strVal val="visible"/>
                                      </p:to>
                                    </p:set>
                                    <p:animEffect transition="in" filter="dissolve">
                                      <p:cBhvr>
                                        <p:cTn id="81" dur="500"/>
                                        <p:tgtEl>
                                          <p:spTgt spid="110604">
                                            <p:txEl>
                                              <p:charRg st="0" end="6"/>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9" presetClass="entr" presetSubtype="0" fill="hold" grpId="0" nodeType="clickEffect">
                                  <p:stCondLst>
                                    <p:cond delay="0"/>
                                  </p:stCondLst>
                                  <p:childTnLst>
                                    <p:set>
                                      <p:cBhvr>
                                        <p:cTn id="85" dur="1" fill="hold">
                                          <p:stCondLst>
                                            <p:cond delay="0"/>
                                          </p:stCondLst>
                                        </p:cTn>
                                        <p:tgtEl>
                                          <p:spTgt spid="110604">
                                            <p:txEl>
                                              <p:charRg st="6" end="15"/>
                                            </p:txEl>
                                          </p:spTgt>
                                        </p:tgtEl>
                                        <p:attrNameLst>
                                          <p:attrName>style.visibility</p:attrName>
                                        </p:attrNameLst>
                                      </p:cBhvr>
                                      <p:to>
                                        <p:strVal val="visible"/>
                                      </p:to>
                                    </p:set>
                                    <p:animEffect transition="in" filter="dissolve">
                                      <p:cBhvr>
                                        <p:cTn id="86" dur="500"/>
                                        <p:tgtEl>
                                          <p:spTgt spid="110604">
                                            <p:txEl>
                                              <p:charRg st="6" end="15"/>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4" fill="hold" grpId="0" nodeType="clickEffect">
                                  <p:stCondLst>
                                    <p:cond delay="0"/>
                                  </p:stCondLst>
                                  <p:childTnLst>
                                    <p:set>
                                      <p:cBhvr>
                                        <p:cTn id="90" dur="1" fill="hold">
                                          <p:stCondLst>
                                            <p:cond delay="0"/>
                                          </p:stCondLst>
                                        </p:cTn>
                                        <p:tgtEl>
                                          <p:spTgt spid="110605"/>
                                        </p:tgtEl>
                                        <p:attrNameLst>
                                          <p:attrName>style.visibility</p:attrName>
                                        </p:attrNameLst>
                                      </p:cBhvr>
                                      <p:to>
                                        <p:strVal val="visible"/>
                                      </p:to>
                                    </p:set>
                                    <p:animEffect transition="in" filter="wipe(down)">
                                      <p:cBhvr>
                                        <p:cTn id="91" dur="500"/>
                                        <p:tgtEl>
                                          <p:spTgt spid="110605"/>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1" fill="hold" grpId="0" nodeType="clickEffect">
                                  <p:stCondLst>
                                    <p:cond delay="0"/>
                                  </p:stCondLst>
                                  <p:childTnLst>
                                    <p:set>
                                      <p:cBhvr>
                                        <p:cTn id="95" dur="1" fill="hold">
                                          <p:stCondLst>
                                            <p:cond delay="0"/>
                                          </p:stCondLst>
                                        </p:cTn>
                                        <p:tgtEl>
                                          <p:spTgt spid="110606"/>
                                        </p:tgtEl>
                                        <p:attrNameLst>
                                          <p:attrName>style.visibility</p:attrName>
                                        </p:attrNameLst>
                                      </p:cBhvr>
                                      <p:to>
                                        <p:strVal val="visible"/>
                                      </p:to>
                                    </p:set>
                                    <p:animEffect transition="in" filter="wipe(up)">
                                      <p:cBhvr>
                                        <p:cTn id="96" dur="500"/>
                                        <p:tgtEl>
                                          <p:spTgt spid="110606"/>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4" fill="hold" grpId="0" nodeType="clickEffect">
                                  <p:stCondLst>
                                    <p:cond delay="0"/>
                                  </p:stCondLst>
                                  <p:childTnLst>
                                    <p:set>
                                      <p:cBhvr>
                                        <p:cTn id="100" dur="1" fill="hold">
                                          <p:stCondLst>
                                            <p:cond delay="0"/>
                                          </p:stCondLst>
                                        </p:cTn>
                                        <p:tgtEl>
                                          <p:spTgt spid="110607"/>
                                        </p:tgtEl>
                                        <p:attrNameLst>
                                          <p:attrName>style.visibility</p:attrName>
                                        </p:attrNameLst>
                                      </p:cBhvr>
                                      <p:to>
                                        <p:strVal val="visible"/>
                                      </p:to>
                                    </p:set>
                                    <p:animEffect transition="in" filter="wipe(down)">
                                      <p:cBhvr>
                                        <p:cTn id="101" dur="500"/>
                                        <p:tgtEl>
                                          <p:spTgt spid="1106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55" grpId="0"/>
      <p:bldP spid="142356" grpId="0" bldLvl="0" animBg="1"/>
      <p:bldP spid="142357" grpId="0" build="p"/>
      <p:bldP spid="110600" grpId="0"/>
      <p:bldP spid="110601" grpId="0" build="p"/>
      <p:bldP spid="110602" grpId="0" bldLvl="0" animBg="1"/>
      <p:bldP spid="110603" grpId="0" bldLvl="0" animBg="1"/>
      <p:bldP spid="110604" grpId="0" build="p"/>
      <p:bldP spid="110605" grpId="0" bldLvl="0" animBg="1"/>
      <p:bldP spid="110606" grpId="0" bldLvl="0" animBg="1"/>
      <p:bldP spid="110607"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9.2 </a:t>
            </a:r>
            <a:r>
              <a:rPr lang="zh-CN" altLang="en-US" b="1" dirty="0">
                <a:solidFill>
                  <a:srgbClr val="FF0000"/>
                </a:solidFill>
                <a:latin typeface="黑体" panose="02010609060101010101" pitchFamily="49" charset="-122"/>
                <a:ea typeface="黑体" panose="02010609060101010101" pitchFamily="49" charset="-122"/>
              </a:rPr>
              <a:t>D/A转换电路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46" name="Rectangle 2"/>
          <p:cNvSpPr>
            <a:spLocks noGrp="1"/>
          </p:cNvSpPr>
          <p:nvPr>
            <p:ph type="title"/>
          </p:nvPr>
        </p:nvSpPr>
        <p:spPr>
          <a:xfrm>
            <a:off x="762000" y="1143000"/>
            <a:ext cx="8068945" cy="705485"/>
          </a:xfrm>
        </p:spPr>
        <p:txBody>
          <a:bodyPr vert="horz" wrap="square" lIns="91440" tIns="45720" rIns="91440" bIns="45720" anchor="ctr" anchorCtr="0"/>
          <a:p>
            <a:pPr algn="l" eaLnBrk="1" hangingPunct="1"/>
            <a:r>
              <a:rPr lang="en-US" altLang="zh-CN" sz="2800" i="0" dirty="0">
                <a:solidFill>
                  <a:srgbClr val="0070C0"/>
                </a:solidFill>
                <a:latin typeface="黑体" panose="02010609060101010101" pitchFamily="49" charset="-122"/>
                <a:ea typeface="黑体" panose="02010609060101010101" pitchFamily="49" charset="-122"/>
              </a:rPr>
              <a:t>9.2.2 </a:t>
            </a:r>
            <a:r>
              <a:rPr lang="zh-CN" altLang="en-US" sz="2800" i="0" dirty="0">
                <a:solidFill>
                  <a:srgbClr val="0070C0"/>
                </a:solidFill>
                <a:latin typeface="黑体" panose="02010609060101010101" pitchFamily="49" charset="-122"/>
                <a:ea typeface="黑体" panose="02010609060101010101" pitchFamily="49" charset="-122"/>
              </a:rPr>
              <a:t>权电阻网络D/A转换器</a:t>
            </a:r>
            <a:endParaRPr lang="zh-CN" altLang="en-US" sz="2800" i="0" dirty="0">
              <a:solidFill>
                <a:srgbClr val="0070C0"/>
              </a:solidFill>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1"/>
          <a:stretch>
            <a:fillRect/>
          </a:stretch>
        </p:blipFill>
        <p:spPr>
          <a:xfrm>
            <a:off x="1676400" y="1779905"/>
            <a:ext cx="4775835" cy="2579370"/>
          </a:xfrm>
          <a:prstGeom prst="rect">
            <a:avLst/>
          </a:prstGeom>
        </p:spPr>
      </p:pic>
      <p:grpSp>
        <p:nvGrpSpPr>
          <p:cNvPr id="16" name="组合 15"/>
          <p:cNvGrpSpPr/>
          <p:nvPr/>
        </p:nvGrpSpPr>
        <p:grpSpPr>
          <a:xfrm>
            <a:off x="358140" y="4267200"/>
            <a:ext cx="8506460" cy="1383665"/>
            <a:chOff x="564" y="6720"/>
            <a:chExt cx="13396" cy="2179"/>
          </a:xfrm>
        </p:grpSpPr>
        <p:sp>
          <p:nvSpPr>
            <p:cNvPr id="109599" name="Rectangle 31"/>
            <p:cNvSpPr/>
            <p:nvPr/>
          </p:nvSpPr>
          <p:spPr>
            <a:xfrm>
              <a:off x="564" y="6865"/>
              <a:ext cx="13396" cy="2034"/>
            </a:xfrm>
            <a:prstGeom prst="rect">
              <a:avLst/>
            </a:prstGeom>
            <a:noFill/>
            <a:ln w="9525">
              <a:noFill/>
            </a:ln>
          </p:spPr>
          <p:txBody>
            <a:bodyPr wrap="square">
              <a:spAutoFit/>
            </a:bodyPr>
            <a:p>
              <a:r>
                <a:rPr lang="en-US" sz="2600" b="1" i="1" dirty="0">
                  <a:solidFill>
                    <a:srgbClr val="000066"/>
                  </a:solidFill>
                  <a:latin typeface="Times New Roman" panose="02020603050405020304" charset="0"/>
                  <a:ea typeface="楷体" panose="02010609060101010101" charset="-122"/>
                  <a:cs typeface="Times New Roman" panose="02020603050405020304" charset="0"/>
                </a:rPr>
                <a:t>       </a:t>
              </a:r>
              <a:r>
                <a:rPr sz="2600" b="1" i="1" dirty="0">
                  <a:solidFill>
                    <a:srgbClr val="000066"/>
                  </a:solidFill>
                  <a:latin typeface="Times New Roman" panose="02020603050405020304" charset="0"/>
                  <a:ea typeface="楷体" panose="02010609060101010101" charset="-122"/>
                  <a:cs typeface="Times New Roman" panose="02020603050405020304" charset="0"/>
                </a:rPr>
                <a:t>D</a:t>
              </a:r>
              <a:r>
                <a:rPr sz="2600" b="1" baseline="-25000" dirty="0">
                  <a:solidFill>
                    <a:srgbClr val="000066"/>
                  </a:solidFill>
                  <a:latin typeface="Times New Roman" panose="02020603050405020304" charset="0"/>
                  <a:ea typeface="楷体" panose="02010609060101010101" charset="-122"/>
                  <a:cs typeface="Times New Roman" panose="02020603050405020304" charset="0"/>
                </a:rPr>
                <a:t>i</a:t>
              </a:r>
              <a:r>
                <a:rPr sz="2600" b="1" dirty="0">
                  <a:solidFill>
                    <a:srgbClr val="000066"/>
                  </a:solidFill>
                  <a:latin typeface="Times New Roman" panose="02020603050405020304" charset="0"/>
                  <a:ea typeface="楷体" panose="02010609060101010101" charset="-122"/>
                  <a:cs typeface="Times New Roman" panose="02020603050405020304" charset="0"/>
                </a:rPr>
                <a:t>=1时，电子开关S</a:t>
              </a:r>
              <a:r>
                <a:rPr sz="2600" b="1" baseline="-25000" dirty="0">
                  <a:solidFill>
                    <a:srgbClr val="000066"/>
                  </a:solidFill>
                  <a:latin typeface="Times New Roman" panose="02020603050405020304" charset="0"/>
                  <a:ea typeface="楷体" panose="02010609060101010101" charset="-122"/>
                  <a:cs typeface="Times New Roman" panose="02020603050405020304" charset="0"/>
                </a:rPr>
                <a:t>i</a:t>
              </a:r>
              <a:r>
                <a:rPr sz="2600" b="1" dirty="0">
                  <a:solidFill>
                    <a:srgbClr val="000066"/>
                  </a:solidFill>
                  <a:latin typeface="Times New Roman" panose="02020603050405020304" charset="0"/>
                  <a:ea typeface="楷体" panose="02010609060101010101" charset="-122"/>
                  <a:cs typeface="Times New Roman" panose="02020603050405020304" charset="0"/>
                </a:rPr>
                <a:t>接通，</a:t>
              </a:r>
              <a:r>
                <a:rPr sz="2600" b="1" i="1" dirty="0">
                  <a:solidFill>
                    <a:srgbClr val="000066"/>
                  </a:solidFill>
                  <a:latin typeface="Times New Roman" panose="02020603050405020304" charset="0"/>
                  <a:ea typeface="楷体" panose="02010609060101010101" charset="-122"/>
                  <a:cs typeface="Times New Roman" panose="02020603050405020304" charset="0"/>
                </a:rPr>
                <a:t>R</a:t>
              </a:r>
              <a:r>
                <a:rPr sz="2600" b="1" baseline="-25000" dirty="0">
                  <a:solidFill>
                    <a:srgbClr val="000066"/>
                  </a:solidFill>
                  <a:latin typeface="Times New Roman" panose="02020603050405020304" charset="0"/>
                  <a:ea typeface="楷体" panose="02010609060101010101" charset="-122"/>
                  <a:cs typeface="Times New Roman" panose="02020603050405020304" charset="0"/>
                </a:rPr>
                <a:t>i</a:t>
              </a:r>
              <a:r>
                <a:rPr sz="2600" b="1" dirty="0">
                  <a:solidFill>
                    <a:srgbClr val="000066"/>
                  </a:solidFill>
                  <a:latin typeface="Times New Roman" panose="02020603050405020304" charset="0"/>
                  <a:ea typeface="楷体" panose="02010609060101010101" charset="-122"/>
                  <a:cs typeface="Times New Roman" panose="02020603050405020304" charset="0"/>
                </a:rPr>
                <a:t>上流过的电流</a:t>
              </a:r>
              <a:r>
                <a:rPr lang="en-US" sz="2600" b="1" dirty="0">
                  <a:solidFill>
                    <a:srgbClr val="000066"/>
                  </a:solidFill>
                  <a:latin typeface="Times New Roman" panose="02020603050405020304" charset="0"/>
                  <a:ea typeface="楷体" panose="02010609060101010101" charset="-122"/>
                  <a:cs typeface="Times New Roman" panose="02020603050405020304" charset="0"/>
                </a:rPr>
                <a:t>          </a:t>
              </a:r>
              <a:r>
                <a:rPr sz="2600" b="1" dirty="0">
                  <a:solidFill>
                    <a:srgbClr val="000066"/>
                  </a:solidFill>
                  <a:latin typeface="Times New Roman" panose="02020603050405020304" charset="0"/>
                  <a:ea typeface="楷体" panose="02010609060101010101" charset="-122"/>
                  <a:cs typeface="Times New Roman" panose="02020603050405020304" charset="0"/>
                </a:rPr>
                <a:t>，令</a:t>
              </a:r>
              <a:endParaRPr sz="2600" b="1" dirty="0">
                <a:solidFill>
                  <a:srgbClr val="000066"/>
                </a:solidFill>
                <a:latin typeface="Times New Roman" panose="02020603050405020304" charset="0"/>
                <a:ea typeface="楷体" panose="02010609060101010101" charset="-122"/>
                <a:cs typeface="Times New Roman" panose="02020603050405020304" charset="0"/>
              </a:endParaRPr>
            </a:p>
            <a:p>
              <a:r>
                <a:rPr sz="2600" b="1" dirty="0">
                  <a:solidFill>
                    <a:srgbClr val="000066"/>
                  </a:solidFill>
                  <a:latin typeface="Times New Roman" panose="02020603050405020304" charset="0"/>
                  <a:ea typeface="楷体" panose="02010609060101010101" charset="-122"/>
                  <a:cs typeface="Times New Roman" panose="02020603050405020304" charset="0"/>
                </a:rPr>
                <a:t> </a:t>
              </a:r>
              <a:r>
                <a:rPr lang="en-US" sz="2600" b="1" dirty="0">
                  <a:solidFill>
                    <a:srgbClr val="000066"/>
                  </a:solidFill>
                  <a:latin typeface="Times New Roman" panose="02020603050405020304" charset="0"/>
                  <a:ea typeface="楷体" panose="02010609060101010101" charset="-122"/>
                  <a:cs typeface="Times New Roman" panose="02020603050405020304" charset="0"/>
                </a:rPr>
                <a:t>           </a:t>
              </a:r>
              <a:r>
                <a:rPr sz="2600" b="1" dirty="0">
                  <a:solidFill>
                    <a:srgbClr val="000066"/>
                  </a:solidFill>
                  <a:latin typeface="Times New Roman" panose="02020603050405020304" charset="0"/>
                  <a:ea typeface="楷体" panose="02010609060101010101" charset="-122"/>
                  <a:cs typeface="Times New Roman" panose="02020603050405020304" charset="0"/>
                </a:rPr>
                <a:t>，则有</a:t>
              </a:r>
              <a:r>
                <a:rPr lang="en-US" sz="2600" b="1" dirty="0">
                  <a:solidFill>
                    <a:srgbClr val="000066"/>
                  </a:solidFill>
                  <a:latin typeface="Times New Roman" panose="02020603050405020304" charset="0"/>
                  <a:ea typeface="楷体" panose="02010609060101010101" charset="-122"/>
                  <a:cs typeface="Times New Roman" panose="02020603050405020304" charset="0"/>
                </a:rPr>
                <a:t>             </a:t>
              </a:r>
              <a:r>
                <a:rPr sz="2600" b="1" dirty="0">
                  <a:solidFill>
                    <a:srgbClr val="000066"/>
                  </a:solidFill>
                  <a:latin typeface="Times New Roman" panose="02020603050405020304" charset="0"/>
                  <a:ea typeface="楷体" panose="02010609060101010101" charset="-122"/>
                  <a:cs typeface="Times New Roman" panose="02020603050405020304" charset="0"/>
                </a:rPr>
                <a:t>，即</a:t>
              </a:r>
              <a:r>
                <a:rPr sz="2600" b="1" i="1" dirty="0">
                  <a:solidFill>
                    <a:srgbClr val="000066"/>
                  </a:solidFill>
                  <a:latin typeface="Times New Roman" panose="02020603050405020304" charset="0"/>
                  <a:ea typeface="楷体" panose="02010609060101010101" charset="-122"/>
                  <a:cs typeface="Times New Roman" panose="02020603050405020304" charset="0"/>
                </a:rPr>
                <a:t>R</a:t>
              </a:r>
              <a:r>
                <a:rPr sz="2600" b="1" baseline="-25000" dirty="0">
                  <a:solidFill>
                    <a:srgbClr val="000066"/>
                  </a:solidFill>
                  <a:latin typeface="Times New Roman" panose="02020603050405020304" charset="0"/>
                  <a:ea typeface="楷体" panose="02010609060101010101" charset="-122"/>
                  <a:cs typeface="Times New Roman" panose="02020603050405020304" charset="0"/>
                </a:rPr>
                <a:t>i</a:t>
              </a:r>
              <a:r>
                <a:rPr sz="2600" b="1" dirty="0">
                  <a:solidFill>
                    <a:srgbClr val="000066"/>
                  </a:solidFill>
                  <a:latin typeface="Times New Roman" panose="02020603050405020304" charset="0"/>
                  <a:ea typeface="楷体" panose="02010609060101010101" charset="-122"/>
                  <a:cs typeface="Times New Roman" panose="02020603050405020304" charset="0"/>
                </a:rPr>
                <a:t>上流过对应二进制位权倍的基准电流，</a:t>
              </a:r>
              <a:r>
                <a:rPr sz="2600" b="1" i="1" dirty="0">
                  <a:solidFill>
                    <a:srgbClr val="000066"/>
                  </a:solidFill>
                  <a:latin typeface="Times New Roman" panose="02020603050405020304" charset="0"/>
                  <a:ea typeface="楷体" panose="02010609060101010101" charset="-122"/>
                  <a:cs typeface="Times New Roman" panose="02020603050405020304" charset="0"/>
                </a:rPr>
                <a:t>R</a:t>
              </a:r>
              <a:r>
                <a:rPr sz="2600" b="1" baseline="-25000" dirty="0">
                  <a:solidFill>
                    <a:srgbClr val="000066"/>
                  </a:solidFill>
                  <a:latin typeface="Times New Roman" panose="02020603050405020304" charset="0"/>
                  <a:ea typeface="楷体" panose="02010609060101010101" charset="-122"/>
                  <a:cs typeface="Times New Roman" panose="02020603050405020304" charset="0"/>
                </a:rPr>
                <a:t>i</a:t>
              </a:r>
              <a:r>
                <a:rPr sz="2600" b="1" dirty="0">
                  <a:solidFill>
                    <a:srgbClr val="000066"/>
                  </a:solidFill>
                  <a:latin typeface="Times New Roman" panose="02020603050405020304" charset="0"/>
                  <a:ea typeface="楷体" panose="02010609060101010101" charset="-122"/>
                  <a:cs typeface="Times New Roman" panose="02020603050405020304" charset="0"/>
                </a:rPr>
                <a:t>称为权电阻</a:t>
              </a:r>
              <a:r>
                <a:rPr lang="zh-CN" sz="2600" b="1" dirty="0">
                  <a:solidFill>
                    <a:srgbClr val="000066"/>
                  </a:solidFill>
                  <a:latin typeface="Times New Roman" panose="02020603050405020304" charset="0"/>
                  <a:ea typeface="楷体" panose="02010609060101010101" charset="-122"/>
                  <a:cs typeface="Times New Roman" panose="02020603050405020304" charset="0"/>
                </a:rPr>
                <a:t>。</a:t>
              </a:r>
              <a:endParaRPr lang="zh-CN" sz="2600" b="1" dirty="0">
                <a:solidFill>
                  <a:srgbClr val="000066"/>
                </a:solidFill>
                <a:latin typeface="Times New Roman" panose="02020603050405020304" charset="0"/>
                <a:ea typeface="楷体" panose="02010609060101010101" charset="-122"/>
                <a:cs typeface="Times New Roman" panose="02020603050405020304" charset="0"/>
              </a:endParaRPr>
            </a:p>
          </p:txBody>
        </p:sp>
        <p:graphicFrame>
          <p:nvGraphicFramePr>
            <p:cNvPr id="3" name="对象 2"/>
            <p:cNvGraphicFramePr/>
            <p:nvPr/>
          </p:nvGraphicFramePr>
          <p:xfrm>
            <a:off x="11280" y="6720"/>
            <a:ext cx="1438" cy="1035"/>
          </p:xfrm>
          <a:graphic>
            <a:graphicData uri="http://schemas.openxmlformats.org/presentationml/2006/ole">
              <mc:AlternateContent xmlns:mc="http://schemas.openxmlformats.org/markup-compatibility/2006">
                <mc:Choice xmlns:v="urn:schemas-microsoft-com:vml" Requires="v">
                  <p:oleObj spid="_x0000_s4" name="" r:id="rId2" imgW="850900" imgH="671195" progId="Equation.KSEE3">
                    <p:embed/>
                  </p:oleObj>
                </mc:Choice>
                <mc:Fallback>
                  <p:oleObj name="" r:id="rId2" imgW="850900" imgH="671195" progId="Equation.KSEE3">
                    <p:embed/>
                    <p:pic>
                      <p:nvPicPr>
                        <p:cNvPr id="0" name="图片 3"/>
                        <p:cNvPicPr/>
                        <p:nvPr/>
                      </p:nvPicPr>
                      <p:blipFill>
                        <a:blip r:embed="rId3"/>
                        <a:stretch>
                          <a:fillRect/>
                        </a:stretch>
                      </p:blipFill>
                      <p:spPr>
                        <a:xfrm>
                          <a:off x="11280" y="6720"/>
                          <a:ext cx="1438" cy="1035"/>
                        </a:xfrm>
                        <a:prstGeom prst="rect">
                          <a:avLst/>
                        </a:prstGeom>
                      </p:spPr>
                    </p:pic>
                  </p:oleObj>
                </mc:Fallback>
              </mc:AlternateContent>
            </a:graphicData>
          </a:graphic>
        </p:graphicFrame>
        <p:graphicFrame>
          <p:nvGraphicFramePr>
            <p:cNvPr id="5" name="对象 4"/>
            <p:cNvGraphicFramePr/>
            <p:nvPr/>
          </p:nvGraphicFramePr>
          <p:xfrm>
            <a:off x="564" y="7320"/>
            <a:ext cx="1696" cy="863"/>
          </p:xfrm>
          <a:graphic>
            <a:graphicData uri="http://schemas.openxmlformats.org/presentationml/2006/ole">
              <mc:AlternateContent xmlns:mc="http://schemas.openxmlformats.org/markup-compatibility/2006">
                <mc:Choice xmlns:v="urn:schemas-microsoft-com:vml" Requires="v">
                  <p:oleObj spid="_x0000_s6" name="" r:id="rId4" imgW="1183640" imgH="580390" progId="Equation.KSEE3">
                    <p:embed/>
                  </p:oleObj>
                </mc:Choice>
                <mc:Fallback>
                  <p:oleObj name="" r:id="rId4" imgW="1183640" imgH="580390" progId="Equation.KSEE3">
                    <p:embed/>
                    <p:pic>
                      <p:nvPicPr>
                        <p:cNvPr id="0" name="图片 5"/>
                        <p:cNvPicPr/>
                        <p:nvPr/>
                      </p:nvPicPr>
                      <p:blipFill>
                        <a:blip r:embed="rId5"/>
                        <a:stretch>
                          <a:fillRect/>
                        </a:stretch>
                      </p:blipFill>
                      <p:spPr>
                        <a:xfrm>
                          <a:off x="564" y="7320"/>
                          <a:ext cx="1696" cy="863"/>
                        </a:xfrm>
                        <a:prstGeom prst="rect">
                          <a:avLst/>
                        </a:prstGeom>
                      </p:spPr>
                    </p:pic>
                  </p:oleObj>
                </mc:Fallback>
              </mc:AlternateContent>
            </a:graphicData>
          </a:graphic>
        </p:graphicFrame>
        <p:graphicFrame>
          <p:nvGraphicFramePr>
            <p:cNvPr id="7" name="对象 6"/>
            <p:cNvGraphicFramePr/>
            <p:nvPr/>
          </p:nvGraphicFramePr>
          <p:xfrm>
            <a:off x="3720" y="7490"/>
            <a:ext cx="1738" cy="785"/>
          </p:xfrm>
          <a:graphic>
            <a:graphicData uri="http://schemas.openxmlformats.org/presentationml/2006/ole">
              <mc:AlternateContent xmlns:mc="http://schemas.openxmlformats.org/markup-compatibility/2006">
                <mc:Choice xmlns:v="urn:schemas-microsoft-com:vml" Requires="v">
                  <p:oleObj spid="_x0000_s8" name="" r:id="rId6" imgW="893445" imgH="440055" progId="Equation.KSEE3">
                    <p:embed/>
                  </p:oleObj>
                </mc:Choice>
                <mc:Fallback>
                  <p:oleObj name="" r:id="rId6" imgW="893445" imgH="440055" progId="Equation.KSEE3">
                    <p:embed/>
                    <p:pic>
                      <p:nvPicPr>
                        <p:cNvPr id="0" name="图片 7"/>
                        <p:cNvPicPr/>
                        <p:nvPr/>
                      </p:nvPicPr>
                      <p:blipFill>
                        <a:blip r:embed="rId7"/>
                        <a:stretch>
                          <a:fillRect/>
                        </a:stretch>
                      </p:blipFill>
                      <p:spPr>
                        <a:xfrm>
                          <a:off x="3720" y="7490"/>
                          <a:ext cx="1738" cy="785"/>
                        </a:xfrm>
                        <a:prstGeom prst="rect">
                          <a:avLst/>
                        </a:prstGeom>
                      </p:spPr>
                    </p:pic>
                  </p:oleObj>
                </mc:Fallback>
              </mc:AlternateContent>
            </a:graphicData>
          </a:graphic>
        </p:graphicFrame>
      </p:grpSp>
      <p:pic>
        <p:nvPicPr>
          <p:cNvPr id="17" name="图片 16"/>
          <p:cNvPicPr>
            <a:picLocks noChangeAspect="1"/>
          </p:cNvPicPr>
          <p:nvPr/>
        </p:nvPicPr>
        <p:blipFill>
          <a:blip r:embed="rId8"/>
          <a:stretch>
            <a:fillRect/>
          </a:stretch>
        </p:blipFill>
        <p:spPr>
          <a:xfrm>
            <a:off x="1524000" y="5562600"/>
            <a:ext cx="5570220" cy="7302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linds(horizontal)">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9.2 </a:t>
            </a:r>
            <a:r>
              <a:rPr lang="zh-CN" altLang="en-US" b="1" dirty="0">
                <a:solidFill>
                  <a:srgbClr val="FF0000"/>
                </a:solidFill>
                <a:latin typeface="黑体" panose="02010609060101010101" pitchFamily="49" charset="-122"/>
                <a:ea typeface="黑体" panose="02010609060101010101" pitchFamily="49" charset="-122"/>
              </a:rPr>
              <a:t>D/A转换电路</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10" name="图片 9"/>
          <p:cNvPicPr>
            <a:picLocks noChangeAspect="1"/>
          </p:cNvPicPr>
          <p:nvPr/>
        </p:nvPicPr>
        <p:blipFill>
          <a:blip r:embed="rId1"/>
          <a:stretch>
            <a:fillRect/>
          </a:stretch>
        </p:blipFill>
        <p:spPr>
          <a:xfrm>
            <a:off x="1600200" y="1447800"/>
            <a:ext cx="5570220" cy="730250"/>
          </a:xfrm>
          <a:prstGeom prst="rect">
            <a:avLst/>
          </a:prstGeom>
        </p:spPr>
      </p:pic>
      <p:sp>
        <p:nvSpPr>
          <p:cNvPr id="100" name="文本框 99"/>
          <p:cNvSpPr txBox="1"/>
          <p:nvPr/>
        </p:nvSpPr>
        <p:spPr>
          <a:xfrm>
            <a:off x="228600" y="2438400"/>
            <a:ext cx="8427720" cy="829945"/>
          </a:xfrm>
          <a:prstGeom prst="rect">
            <a:avLst/>
          </a:prstGeom>
          <a:noFill/>
          <a:ln w="9525">
            <a:noFill/>
          </a:ln>
        </p:spPr>
        <p:txBody>
          <a:bodyPr wrap="square">
            <a:spAutoFit/>
          </a:bodyPr>
          <a:p>
            <a:r>
              <a:rPr lang="en-US" altLang="zh-CN" sz="2400" b="1">
                <a:solidFill>
                  <a:srgbClr val="000066"/>
                </a:solidFill>
                <a:latin typeface="Times New Roman" panose="02020603050405020304" charset="0"/>
                <a:ea typeface="楷体" panose="02010609060101010101" charset="-122"/>
                <a:cs typeface="Times New Roman" panose="02020603050405020304" charset="0"/>
              </a:rPr>
              <a:t>      </a:t>
            </a:r>
            <a:r>
              <a:rPr lang="zh-CN" sz="2400" b="1">
                <a:solidFill>
                  <a:srgbClr val="000066"/>
                </a:solidFill>
                <a:latin typeface="Times New Roman" panose="02020603050405020304" charset="0"/>
                <a:ea typeface="楷体" panose="02010609060101010101" charset="-122"/>
                <a:cs typeface="Times New Roman" panose="02020603050405020304" charset="0"/>
              </a:rPr>
              <a:t>从式中可以看出，在</a:t>
            </a:r>
            <a:r>
              <a:rPr lang="en-US" sz="2400" b="1" i="1">
                <a:solidFill>
                  <a:srgbClr val="000066"/>
                </a:solidFill>
                <a:latin typeface="Times New Roman" panose="02020603050405020304" charset="0"/>
                <a:ea typeface="楷体" panose="02010609060101010101" charset="-122"/>
                <a:cs typeface="Times New Roman" panose="02020603050405020304" charset="0"/>
              </a:rPr>
              <a:t>V</a:t>
            </a:r>
            <a:r>
              <a:rPr lang="en-US" sz="2400" b="1" baseline="-25000">
                <a:solidFill>
                  <a:srgbClr val="000066"/>
                </a:solidFill>
                <a:latin typeface="Times New Roman" panose="02020603050405020304" charset="0"/>
                <a:ea typeface="楷体" panose="02010609060101010101" charset="-122"/>
                <a:cs typeface="Times New Roman" panose="02020603050405020304" charset="0"/>
              </a:rPr>
              <a:t>REF</a:t>
            </a:r>
            <a:r>
              <a:rPr lang="zh-CN" sz="2400" b="1">
                <a:solidFill>
                  <a:srgbClr val="000066"/>
                </a:solidFill>
                <a:latin typeface="Times New Roman" panose="02020603050405020304" charset="0"/>
                <a:ea typeface="楷体" panose="02010609060101010101" charset="-122"/>
                <a:cs typeface="Times New Roman" panose="02020603050405020304" charset="0"/>
              </a:rPr>
              <a:t>为正电压时输出电压为负值。要想得到正的输出电压，可以将</a:t>
            </a:r>
            <a:r>
              <a:rPr lang="en-US" sz="2400" b="1" i="1">
                <a:solidFill>
                  <a:srgbClr val="000066"/>
                </a:solidFill>
                <a:latin typeface="Times New Roman" panose="02020603050405020304" charset="0"/>
                <a:ea typeface="楷体" panose="02010609060101010101" charset="-122"/>
                <a:cs typeface="Times New Roman" panose="02020603050405020304" charset="0"/>
              </a:rPr>
              <a:t>V</a:t>
            </a:r>
            <a:r>
              <a:rPr lang="en-US" sz="2400" b="1" baseline="-25000">
                <a:solidFill>
                  <a:srgbClr val="000066"/>
                </a:solidFill>
                <a:latin typeface="Times New Roman" panose="02020603050405020304" charset="0"/>
                <a:ea typeface="楷体" panose="02010609060101010101" charset="-122"/>
                <a:cs typeface="Times New Roman" panose="02020603050405020304" charset="0"/>
              </a:rPr>
              <a:t>REF</a:t>
            </a:r>
            <a:r>
              <a:rPr lang="zh-CN" sz="2400" b="1">
                <a:solidFill>
                  <a:srgbClr val="000066"/>
                </a:solidFill>
                <a:latin typeface="Times New Roman" panose="02020603050405020304" charset="0"/>
                <a:ea typeface="楷体" panose="02010609060101010101" charset="-122"/>
                <a:cs typeface="Times New Roman" panose="02020603050405020304" charset="0"/>
              </a:rPr>
              <a:t>取为负值。</a:t>
            </a:r>
            <a:endParaRPr lang="zh-CN" altLang="en-US" sz="2400" b="1">
              <a:solidFill>
                <a:srgbClr val="000066"/>
              </a:solidFill>
              <a:latin typeface="Times New Roman" panose="02020603050405020304" charset="0"/>
              <a:ea typeface="楷体" panose="02010609060101010101" charset="-122"/>
              <a:cs typeface="Times New Roman" panose="02020603050405020304" charset="0"/>
            </a:endParaRPr>
          </a:p>
        </p:txBody>
      </p:sp>
      <p:sp>
        <p:nvSpPr>
          <p:cNvPr id="11" name="文本框 10"/>
          <p:cNvSpPr txBox="1"/>
          <p:nvPr/>
        </p:nvSpPr>
        <p:spPr>
          <a:xfrm>
            <a:off x="304800" y="3733800"/>
            <a:ext cx="7983855" cy="2306320"/>
          </a:xfrm>
          <a:prstGeom prst="rect">
            <a:avLst/>
          </a:prstGeom>
          <a:noFill/>
          <a:ln w="9525">
            <a:noFill/>
          </a:ln>
        </p:spPr>
        <p:txBody>
          <a:bodyPr wrap="square">
            <a:spAutoFit/>
          </a:bodyPr>
          <a:p>
            <a:pPr>
              <a:lnSpc>
                <a:spcPct val="120000"/>
              </a:lnSpc>
            </a:pPr>
            <a:r>
              <a:rPr lang="en-US" altLang="zh-CN" sz="2400" b="1">
                <a:solidFill>
                  <a:srgbClr val="000066"/>
                </a:solidFill>
                <a:latin typeface="Times New Roman" panose="02020603050405020304" charset="0"/>
                <a:ea typeface="楷体" panose="02010609060101010101" charset="-122"/>
                <a:cs typeface="Times New Roman" panose="02020603050405020304" charset="0"/>
              </a:rPr>
              <a:t>      </a:t>
            </a:r>
            <a:r>
              <a:rPr lang="zh-CN" sz="2400" b="1">
                <a:solidFill>
                  <a:srgbClr val="000066"/>
                </a:solidFill>
                <a:latin typeface="Times New Roman" panose="02020603050405020304" charset="0"/>
                <a:ea typeface="楷体" panose="02010609060101010101" charset="-122"/>
                <a:cs typeface="Times New Roman" panose="02020603050405020304" charset="0"/>
              </a:rPr>
              <a:t>该电路的</a:t>
            </a:r>
            <a:r>
              <a:rPr lang="zh-CN" sz="2400" b="1">
                <a:solidFill>
                  <a:srgbClr val="FF0000"/>
                </a:solidFill>
                <a:latin typeface="Times New Roman" panose="02020603050405020304" charset="0"/>
                <a:ea typeface="楷体" panose="02010609060101010101" charset="-122"/>
                <a:cs typeface="Times New Roman" panose="02020603050405020304" charset="0"/>
              </a:rPr>
              <a:t>优点</a:t>
            </a:r>
            <a:r>
              <a:rPr lang="zh-CN" sz="2400" b="1">
                <a:solidFill>
                  <a:srgbClr val="000066"/>
                </a:solidFill>
                <a:latin typeface="Times New Roman" panose="02020603050405020304" charset="0"/>
                <a:ea typeface="楷体" panose="02010609060101010101" charset="-122"/>
                <a:cs typeface="Times New Roman" panose="02020603050405020304" charset="0"/>
              </a:rPr>
              <a:t>是结构和原理比较简单，所用的电阻元件数也比较少。</a:t>
            </a:r>
            <a:r>
              <a:rPr lang="zh-CN" sz="2400" b="1">
                <a:solidFill>
                  <a:srgbClr val="FF0000"/>
                </a:solidFill>
                <a:latin typeface="Times New Roman" panose="02020603050405020304" charset="0"/>
                <a:ea typeface="楷体" panose="02010609060101010101" charset="-122"/>
                <a:cs typeface="Times New Roman" panose="02020603050405020304" charset="0"/>
              </a:rPr>
              <a:t>缺点</a:t>
            </a:r>
            <a:r>
              <a:rPr lang="zh-CN" sz="2400" b="1">
                <a:solidFill>
                  <a:srgbClr val="000066"/>
                </a:solidFill>
                <a:latin typeface="Times New Roman" panose="02020603050405020304" charset="0"/>
                <a:ea typeface="楷体" panose="02010609060101010101" charset="-122"/>
                <a:cs typeface="Times New Roman" panose="02020603050405020304" charset="0"/>
              </a:rPr>
              <a:t>在于各个电阻的阻值相差较大，当输入数字量位数比较多时，电阻从</a:t>
            </a:r>
            <a:r>
              <a:rPr lang="en-US" sz="2400" b="1" i="1">
                <a:solidFill>
                  <a:srgbClr val="000066"/>
                </a:solidFill>
                <a:latin typeface="Times New Roman" panose="02020603050405020304" charset="0"/>
                <a:ea typeface="楷体" panose="02010609060101010101" charset="-122"/>
                <a:cs typeface="Times New Roman" panose="02020603050405020304" charset="0"/>
              </a:rPr>
              <a:t>R</a:t>
            </a:r>
            <a:r>
              <a:rPr lang="zh-CN" sz="2400" b="1">
                <a:solidFill>
                  <a:srgbClr val="000066"/>
                </a:solidFill>
                <a:latin typeface="Times New Roman" panose="02020603050405020304" charset="0"/>
                <a:ea typeface="楷体" panose="02010609060101010101" charset="-122"/>
                <a:cs typeface="Times New Roman" panose="02020603050405020304" charset="0"/>
              </a:rPr>
              <a:t>到</a:t>
            </a:r>
            <a:r>
              <a:rPr lang="en-US" sz="2400" b="1">
                <a:solidFill>
                  <a:srgbClr val="000066"/>
                </a:solidFill>
                <a:latin typeface="Times New Roman" panose="02020603050405020304" charset="0"/>
                <a:ea typeface="楷体" panose="02010609060101010101" charset="-122"/>
                <a:cs typeface="Times New Roman" panose="02020603050405020304" charset="0"/>
              </a:rPr>
              <a:t>2</a:t>
            </a:r>
            <a:r>
              <a:rPr lang="en-US" sz="2400" b="1" i="1" baseline="30000">
                <a:solidFill>
                  <a:srgbClr val="000066"/>
                </a:solidFill>
                <a:latin typeface="Times New Roman" panose="02020603050405020304" charset="0"/>
                <a:ea typeface="楷体" panose="02010609060101010101" charset="-122"/>
                <a:cs typeface="Times New Roman" panose="02020603050405020304" charset="0"/>
              </a:rPr>
              <a:t>n</a:t>
            </a:r>
            <a:r>
              <a:rPr lang="en-US" sz="2400" b="1" baseline="30000">
                <a:solidFill>
                  <a:srgbClr val="000066"/>
                </a:solidFill>
                <a:latin typeface="Times New Roman" panose="02020603050405020304" charset="0"/>
                <a:ea typeface="楷体" panose="02010609060101010101" charset="-122"/>
                <a:cs typeface="Times New Roman" panose="02020603050405020304" charset="0"/>
              </a:rPr>
              <a:t>-1</a:t>
            </a:r>
            <a:r>
              <a:rPr lang="en-US" sz="2400" b="1" i="1">
                <a:solidFill>
                  <a:srgbClr val="000066"/>
                </a:solidFill>
                <a:latin typeface="Times New Roman" panose="02020603050405020304" charset="0"/>
                <a:ea typeface="楷体" panose="02010609060101010101" charset="-122"/>
                <a:cs typeface="Times New Roman" panose="02020603050405020304" charset="0"/>
              </a:rPr>
              <a:t>R</a:t>
            </a:r>
            <a:r>
              <a:rPr lang="zh-CN" sz="2400" b="1">
                <a:solidFill>
                  <a:srgbClr val="000066"/>
                </a:solidFill>
                <a:latin typeface="Times New Roman" panose="02020603050405020304" charset="0"/>
                <a:ea typeface="楷体" panose="02010609060101010101" charset="-122"/>
                <a:cs typeface="Times New Roman" panose="02020603050405020304" charset="0"/>
              </a:rPr>
              <a:t>成倍增大，要想在极宽的阻值范围内保证每个电阻都有很高的精度是十分困难的，因此该电路的转换精度很难保证。</a:t>
            </a:r>
            <a:endParaRPr lang="zh-CN" altLang="en-US" sz="2400" b="1">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wipe(down)">
                                      <p:cBhvr>
                                        <p:cTn id="7" dur="500"/>
                                        <p:tgtEl>
                                          <p:spTgt spid="10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P spid="100" grpId="1"/>
      <p:bldP spid="11" grpId="0"/>
      <p:bldP spid="11"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tretch>
            <a:fillRect/>
          </a:stretch>
        </p:blipFill>
        <p:spPr>
          <a:xfrm>
            <a:off x="1524000" y="1760220"/>
            <a:ext cx="6908800" cy="3440430"/>
          </a:xfrm>
          <a:prstGeom prst="rect">
            <a:avLst/>
          </a:prstGeom>
        </p:spPr>
      </p:pic>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9.2 </a:t>
            </a:r>
            <a:r>
              <a:rPr lang="zh-CN" altLang="en-US" b="1" dirty="0">
                <a:solidFill>
                  <a:srgbClr val="FF0000"/>
                </a:solidFill>
                <a:latin typeface="黑体" panose="02010609060101010101" pitchFamily="49" charset="-122"/>
                <a:ea typeface="黑体" panose="02010609060101010101" pitchFamily="49" charset="-122"/>
              </a:rPr>
              <a:t>D/A转换电路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46" name="Rectangle 2"/>
          <p:cNvSpPr>
            <a:spLocks noGrp="1"/>
          </p:cNvSpPr>
          <p:nvPr>
            <p:ph type="title"/>
          </p:nvPr>
        </p:nvSpPr>
        <p:spPr>
          <a:xfrm>
            <a:off x="914400" y="990600"/>
            <a:ext cx="8068945" cy="705485"/>
          </a:xfrm>
        </p:spPr>
        <p:txBody>
          <a:bodyPr vert="horz" wrap="square" lIns="91440" tIns="45720" rIns="91440" bIns="45720" anchor="ctr" anchorCtr="0"/>
          <a:p>
            <a:pPr algn="l" eaLnBrk="1" hangingPunct="1"/>
            <a:r>
              <a:rPr lang="en-US" altLang="zh-CN" sz="2400" i="0" dirty="0">
                <a:solidFill>
                  <a:srgbClr val="0070C0"/>
                </a:solidFill>
                <a:latin typeface="黑体" panose="02010609060101010101" pitchFamily="49" charset="-122"/>
                <a:ea typeface="黑体" panose="02010609060101010101" pitchFamily="49" charset="-122"/>
              </a:rPr>
              <a:t>9.2.3 </a:t>
            </a:r>
            <a:r>
              <a:rPr lang="zh-CN" altLang="en-US" sz="2400" i="0" dirty="0">
                <a:solidFill>
                  <a:srgbClr val="0070C0"/>
                </a:solidFill>
                <a:latin typeface="黑体" panose="02010609060101010101" pitchFamily="49" charset="-122"/>
                <a:ea typeface="黑体" panose="02010609060101010101" pitchFamily="49" charset="-122"/>
              </a:rPr>
              <a:t>倒T形电阻网络D/A转换器</a:t>
            </a:r>
            <a:endParaRPr lang="zh-CN" altLang="en-US" sz="2400" i="0" dirty="0">
              <a:solidFill>
                <a:srgbClr val="0070C0"/>
              </a:solidFill>
              <a:latin typeface="黑体" panose="02010609060101010101" pitchFamily="49" charset="-122"/>
              <a:ea typeface="黑体" panose="02010609060101010101" pitchFamily="49" charset="-122"/>
            </a:endParaRPr>
          </a:p>
        </p:txBody>
      </p:sp>
      <p:sp>
        <p:nvSpPr>
          <p:cNvPr id="3074" name="AutoShape 4"/>
          <p:cNvSpPr/>
          <p:nvPr/>
        </p:nvSpPr>
        <p:spPr>
          <a:xfrm>
            <a:off x="1376363" y="2214563"/>
            <a:ext cx="6661150" cy="3105150"/>
          </a:xfrm>
          <a:prstGeom prst="roundRect">
            <a:avLst>
              <a:gd name="adj" fmla="val 16667"/>
            </a:avLst>
          </a:prstGeom>
          <a:solidFill>
            <a:schemeClr val="bg1">
              <a:alpha val="20000"/>
            </a:schemeClr>
          </a:solidFill>
          <a:ln w="9525">
            <a:noFill/>
          </a:ln>
        </p:spPr>
        <p:txBody>
          <a:bodyPr wrap="none" anchor="ctr" anchorCtr="0"/>
          <a:p>
            <a:endParaRPr lang="zh-CN" altLang="en-US"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31077" name="Rectangle 5"/>
          <p:cNvSpPr/>
          <p:nvPr/>
        </p:nvSpPr>
        <p:spPr>
          <a:xfrm>
            <a:off x="5741988" y="2259013"/>
            <a:ext cx="1755775" cy="1395412"/>
          </a:xfrm>
          <a:prstGeom prst="rect">
            <a:avLst/>
          </a:prstGeom>
          <a:solidFill>
            <a:srgbClr val="66FF33">
              <a:alpha val="20000"/>
            </a:srgbClr>
          </a:solidFill>
          <a:ln w="9525">
            <a:noFill/>
          </a:ln>
        </p:spPr>
        <p:txBody>
          <a:bodyPr wrap="none" anchor="ctr" anchorCtr="0"/>
          <a:p>
            <a:endParaRPr lang="zh-CN" altLang="en-US"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31078" name="Rectangle 6"/>
          <p:cNvSpPr/>
          <p:nvPr/>
        </p:nvSpPr>
        <p:spPr>
          <a:xfrm>
            <a:off x="2322513" y="2785428"/>
            <a:ext cx="3328987" cy="1035050"/>
          </a:xfrm>
          <a:prstGeom prst="rect">
            <a:avLst/>
          </a:prstGeom>
          <a:solidFill>
            <a:srgbClr val="FFFF00">
              <a:alpha val="20000"/>
            </a:srgbClr>
          </a:solidFill>
          <a:ln w="9525">
            <a:noFill/>
          </a:ln>
        </p:spPr>
        <p:txBody>
          <a:bodyPr wrap="none" anchor="ctr" anchorCtr="0"/>
          <a:p>
            <a:endParaRPr lang="zh-CN" altLang="en-US"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31079" name="Rectangle 7"/>
          <p:cNvSpPr/>
          <p:nvPr/>
        </p:nvSpPr>
        <p:spPr>
          <a:xfrm>
            <a:off x="1692275" y="3924300"/>
            <a:ext cx="4094163" cy="944563"/>
          </a:xfrm>
          <a:prstGeom prst="rect">
            <a:avLst/>
          </a:prstGeom>
          <a:solidFill>
            <a:srgbClr val="99CCFF">
              <a:alpha val="20000"/>
            </a:srgbClr>
          </a:solidFill>
          <a:ln w="9525">
            <a:noFill/>
          </a:ln>
        </p:spPr>
        <p:txBody>
          <a:bodyPr wrap="none" anchor="ctr" anchorCtr="0"/>
          <a:p>
            <a:endParaRPr lang="zh-CN" altLang="en-US"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31082" name="Text Box 10"/>
          <p:cNvSpPr txBox="1"/>
          <p:nvPr/>
        </p:nvSpPr>
        <p:spPr>
          <a:xfrm>
            <a:off x="3004820" y="5200650"/>
            <a:ext cx="5891213" cy="762000"/>
          </a:xfrm>
          <a:prstGeom prst="rect">
            <a:avLst/>
          </a:prstGeom>
          <a:noFill/>
          <a:ln w="28575">
            <a:noFill/>
          </a:ln>
        </p:spPr>
        <p:txBody>
          <a:bodyPr>
            <a:spAutoFit/>
          </a:bodyPr>
          <a:p>
            <a:pPr>
              <a:spcBef>
                <a:spcPct val="50000"/>
              </a:spcBef>
            </a:pP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D</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i</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=0, S</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i</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则将电阻</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2</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R</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接地</a:t>
            </a:r>
            <a:endParaRPr lang="zh-CN" altLang="en-US" sz="2000" b="1" dirty="0">
              <a:solidFill>
                <a:srgbClr val="000066"/>
              </a:solidFill>
              <a:latin typeface="Times New Roman" panose="02020603050405020304" charset="0"/>
              <a:ea typeface="楷体" panose="02010609060101010101" charset="-122"/>
              <a:cs typeface="Times New Roman" panose="02020603050405020304" charset="0"/>
            </a:endParaRPr>
          </a:p>
          <a:p>
            <a:pPr>
              <a:spcBef>
                <a:spcPct val="20000"/>
              </a:spcBef>
            </a:pP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D</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i</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=1, S</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i</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接运算放大器反相端，电流</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I</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i</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流入求和电路</a:t>
            </a:r>
            <a:r>
              <a:rPr lang="zh-CN" altLang="en-US" sz="2000" dirty="0">
                <a:solidFill>
                  <a:srgbClr val="000066"/>
                </a:solidFill>
                <a:latin typeface="Times New Roman" panose="02020603050405020304" charset="0"/>
                <a:ea typeface="楷体" panose="02010609060101010101" charset="-122"/>
                <a:cs typeface="Times New Roman" panose="02020603050405020304" charset="0"/>
              </a:rPr>
              <a:t> </a:t>
            </a:r>
            <a:endParaRPr lang="zh-CN" altLang="en-US" sz="2000"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31083" name="AutoShape 11"/>
          <p:cNvSpPr/>
          <p:nvPr/>
        </p:nvSpPr>
        <p:spPr>
          <a:xfrm>
            <a:off x="385763" y="3473450"/>
            <a:ext cx="1350962" cy="450850"/>
          </a:xfrm>
          <a:prstGeom prst="wedgeRoundRectCallout">
            <a:avLst>
              <a:gd name="adj1" fmla="val 67157"/>
              <a:gd name="adj2" fmla="val 116551"/>
              <a:gd name="adj3" fmla="val 16667"/>
            </a:avLst>
          </a:prstGeom>
          <a:solidFill>
            <a:srgbClr val="FFFFCC">
              <a:alpha val="20000"/>
            </a:srgbClr>
          </a:solidFill>
          <a:ln w="9525" cap="flat" cmpd="sng">
            <a:solidFill>
              <a:schemeClr val="tx1"/>
            </a:solidFill>
            <a:prstDash val="solid"/>
            <a:miter/>
            <a:headEnd type="none" w="med" len="med"/>
            <a:tailEnd type="none" w="med" len="med"/>
          </a:ln>
        </p:spPr>
        <p:txBody>
          <a:bodyPr/>
          <a:p>
            <a:pPr algn="ctr"/>
            <a:r>
              <a:rPr lang="zh-CN" altLang="en-US" sz="2000" b="1" dirty="0">
                <a:solidFill>
                  <a:srgbClr val="000066"/>
                </a:solidFill>
                <a:latin typeface="Times New Roman" panose="02020603050405020304" charset="0"/>
                <a:ea typeface="楷体" panose="02010609060101010101" charset="-122"/>
              </a:rPr>
              <a:t>电阻网络</a:t>
            </a:r>
            <a:endParaRPr lang="zh-CN" altLang="en-US" sz="2000" b="1" dirty="0">
              <a:solidFill>
                <a:srgbClr val="000066"/>
              </a:solidFill>
              <a:latin typeface="Times New Roman" panose="02020603050405020304" charset="0"/>
              <a:ea typeface="楷体" panose="02010609060101010101" charset="-122"/>
            </a:endParaRPr>
          </a:p>
        </p:txBody>
      </p:sp>
      <p:sp>
        <p:nvSpPr>
          <p:cNvPr id="131084" name="AutoShape 12"/>
          <p:cNvSpPr/>
          <p:nvPr/>
        </p:nvSpPr>
        <p:spPr>
          <a:xfrm>
            <a:off x="206375" y="2438400"/>
            <a:ext cx="2025650" cy="450850"/>
          </a:xfrm>
          <a:prstGeom prst="wedgeRoundRectCallout">
            <a:avLst>
              <a:gd name="adj1" fmla="val 96866"/>
              <a:gd name="adj2" fmla="val 106690"/>
              <a:gd name="adj3" fmla="val 16667"/>
            </a:avLst>
          </a:prstGeom>
          <a:solidFill>
            <a:srgbClr val="FFFFCC">
              <a:alpha val="20000"/>
            </a:srgbClr>
          </a:solidFill>
          <a:ln w="9525" cap="flat" cmpd="sng">
            <a:solidFill>
              <a:schemeClr val="tx1"/>
            </a:solidFill>
            <a:prstDash val="solid"/>
            <a:miter/>
            <a:headEnd type="none" w="med" len="med"/>
            <a:tailEnd type="none" w="med" len="med"/>
          </a:ln>
        </p:spPr>
        <p:txBody>
          <a:bodyPr/>
          <a:p>
            <a:pPr>
              <a:spcBef>
                <a:spcPct val="50000"/>
              </a:spcBef>
            </a:pPr>
            <a:r>
              <a:rPr lang="zh-CN" altLang="en-US" sz="2000" b="1" dirty="0">
                <a:solidFill>
                  <a:srgbClr val="000066"/>
                </a:solidFill>
                <a:latin typeface="Times New Roman" panose="02020603050405020304" charset="0"/>
                <a:ea typeface="楷体" panose="02010609060101010101" charset="-122"/>
              </a:rPr>
              <a:t>模拟电子开关</a:t>
            </a:r>
            <a:endParaRPr lang="zh-CN" altLang="en-US" sz="2000" b="1" dirty="0">
              <a:solidFill>
                <a:srgbClr val="000066"/>
              </a:solidFill>
              <a:latin typeface="Times New Roman" panose="02020603050405020304" charset="0"/>
              <a:ea typeface="楷体" panose="02010609060101010101" charset="-122"/>
            </a:endParaRPr>
          </a:p>
        </p:txBody>
      </p:sp>
      <p:sp>
        <p:nvSpPr>
          <p:cNvPr id="131085" name="AutoShape 13"/>
          <p:cNvSpPr/>
          <p:nvPr/>
        </p:nvSpPr>
        <p:spPr>
          <a:xfrm>
            <a:off x="5741988" y="1493838"/>
            <a:ext cx="2339975" cy="493712"/>
          </a:xfrm>
          <a:prstGeom prst="wedgeRoundRectCallout">
            <a:avLst>
              <a:gd name="adj1" fmla="val -10653"/>
              <a:gd name="adj2" fmla="val 99519"/>
              <a:gd name="adj3" fmla="val 16667"/>
            </a:avLst>
          </a:prstGeom>
          <a:solidFill>
            <a:srgbClr val="FFFFCC">
              <a:alpha val="20000"/>
            </a:srgbClr>
          </a:solidFill>
          <a:ln w="9525" cap="flat" cmpd="sng">
            <a:solidFill>
              <a:schemeClr val="tx1"/>
            </a:solidFill>
            <a:prstDash val="solid"/>
            <a:miter/>
            <a:headEnd type="none" w="med" len="med"/>
            <a:tailEnd type="none" w="med" len="med"/>
          </a:ln>
        </p:spPr>
        <p:txBody>
          <a:bodyPr/>
          <a:p>
            <a:pPr algn="ctr">
              <a:lnSpc>
                <a:spcPct val="95000"/>
              </a:lnSpc>
              <a:spcBef>
                <a:spcPct val="50000"/>
              </a:spcBef>
            </a:pPr>
            <a:r>
              <a:rPr lang="zh-CN" altLang="en-US" sz="2000" b="1" dirty="0">
                <a:solidFill>
                  <a:srgbClr val="000066"/>
                </a:solidFill>
                <a:latin typeface="Times New Roman" panose="02020603050405020304" charset="0"/>
                <a:ea typeface="楷体" panose="02010609060101010101" charset="-122"/>
                <a:sym typeface="Monotype Sorts" pitchFamily="2" charset="2"/>
              </a:rPr>
              <a:t>求和运算放大器</a:t>
            </a:r>
            <a:endParaRPr lang="zh-CN" altLang="en-US" sz="2000" b="1" dirty="0">
              <a:solidFill>
                <a:srgbClr val="000066"/>
              </a:solidFill>
              <a:latin typeface="Times New Roman" panose="02020603050405020304" charset="0"/>
              <a:ea typeface="楷体" panose="02010609060101010101" charset="-122"/>
              <a:sym typeface="Monotype Sorts" pitchFamily="2" charset="2"/>
            </a:endParaRPr>
          </a:p>
        </p:txBody>
      </p:sp>
      <p:sp>
        <p:nvSpPr>
          <p:cNvPr id="131086" name="AutoShape 14"/>
          <p:cNvSpPr/>
          <p:nvPr/>
        </p:nvSpPr>
        <p:spPr>
          <a:xfrm>
            <a:off x="8310563" y="2332038"/>
            <a:ext cx="585787" cy="1844675"/>
          </a:xfrm>
          <a:prstGeom prst="wedgeRoundRectCallout">
            <a:avLst>
              <a:gd name="adj1" fmla="val -97968"/>
              <a:gd name="adj2" fmla="val -12306"/>
              <a:gd name="adj3" fmla="val 16667"/>
            </a:avLst>
          </a:prstGeom>
          <a:solidFill>
            <a:srgbClr val="FFFFCC">
              <a:alpha val="20000"/>
            </a:srgbClr>
          </a:solidFill>
          <a:ln w="9525" cap="flat" cmpd="sng">
            <a:solidFill>
              <a:schemeClr val="tx1"/>
            </a:solidFill>
            <a:prstDash val="solid"/>
            <a:miter/>
            <a:headEnd type="none" w="med" len="med"/>
            <a:tailEnd type="none" w="med" len="med"/>
          </a:ln>
        </p:spPr>
        <p:txBody>
          <a:bodyPr/>
          <a:p>
            <a:pPr algn="ctr">
              <a:lnSpc>
                <a:spcPct val="65000"/>
              </a:lnSpc>
            </a:pPr>
            <a:r>
              <a:rPr lang="zh-CN" altLang="en-US" sz="2000" b="1" dirty="0">
                <a:solidFill>
                  <a:srgbClr val="000066"/>
                </a:solidFill>
                <a:latin typeface="Times New Roman" panose="02020603050405020304" charset="0"/>
                <a:ea typeface="楷体" panose="02010609060101010101" charset="-122"/>
              </a:rPr>
              <a:t>输出</a:t>
            </a:r>
            <a:endParaRPr lang="zh-CN" altLang="en-US" sz="2000" b="1" dirty="0">
              <a:solidFill>
                <a:srgbClr val="000066"/>
              </a:solidFill>
              <a:latin typeface="Times New Roman" panose="02020603050405020304" charset="0"/>
              <a:ea typeface="楷体" panose="02010609060101010101" charset="-122"/>
            </a:endParaRPr>
          </a:p>
          <a:p>
            <a:pPr algn="ctr"/>
            <a:r>
              <a:rPr lang="zh-CN" altLang="en-US" sz="2000" b="1" dirty="0">
                <a:solidFill>
                  <a:srgbClr val="000066"/>
                </a:solidFill>
                <a:latin typeface="Times New Roman" panose="02020603050405020304" charset="0"/>
                <a:ea typeface="楷体" panose="02010609060101010101" charset="-122"/>
              </a:rPr>
              <a:t>模拟电压</a:t>
            </a:r>
            <a:endParaRPr lang="zh-CN" altLang="en-US" sz="2000" b="1" dirty="0">
              <a:solidFill>
                <a:srgbClr val="000066"/>
              </a:solidFill>
              <a:latin typeface="Times New Roman" panose="02020603050405020304" charset="0"/>
              <a:ea typeface="楷体" panose="02010609060101010101" charset="-122"/>
            </a:endParaRPr>
          </a:p>
        </p:txBody>
      </p:sp>
      <p:sp>
        <p:nvSpPr>
          <p:cNvPr id="131087" name="AutoShape 15"/>
          <p:cNvSpPr/>
          <p:nvPr/>
        </p:nvSpPr>
        <p:spPr>
          <a:xfrm>
            <a:off x="2366963" y="2133600"/>
            <a:ext cx="3330575" cy="315913"/>
          </a:xfrm>
          <a:prstGeom prst="roundRect">
            <a:avLst>
              <a:gd name="adj" fmla="val 16667"/>
            </a:avLst>
          </a:prstGeom>
          <a:noFill/>
          <a:ln w="28575" cap="flat" cmpd="sng">
            <a:solidFill>
              <a:srgbClr val="FF9966"/>
            </a:solidFill>
            <a:prstDash val="solid"/>
            <a:headEnd type="none" w="med" len="med"/>
            <a:tailEnd type="none" w="med" len="med"/>
          </a:ln>
        </p:spPr>
        <p:txBody>
          <a:bodyPr wrap="none" anchor="ctr" anchorCtr="0"/>
          <a:p>
            <a:endParaRPr lang="zh-CN" altLang="en-US"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31088" name="AutoShape 16"/>
          <p:cNvSpPr/>
          <p:nvPr/>
        </p:nvSpPr>
        <p:spPr>
          <a:xfrm>
            <a:off x="2320925" y="1420813"/>
            <a:ext cx="2565400" cy="450850"/>
          </a:xfrm>
          <a:prstGeom prst="wedgeRoundRectCallout">
            <a:avLst>
              <a:gd name="adj1" fmla="val 28440"/>
              <a:gd name="adj2" fmla="val 103028"/>
              <a:gd name="adj3" fmla="val 16667"/>
            </a:avLst>
          </a:prstGeom>
          <a:solidFill>
            <a:srgbClr val="FFFFCC">
              <a:alpha val="20000"/>
            </a:srgbClr>
          </a:solidFill>
          <a:ln w="9525" cap="flat" cmpd="sng">
            <a:solidFill>
              <a:schemeClr val="tx1"/>
            </a:solidFill>
            <a:prstDash val="solid"/>
            <a:miter/>
            <a:headEnd type="none" w="med" len="med"/>
            <a:tailEnd type="none" w="med" len="med"/>
          </a:ln>
        </p:spPr>
        <p:txBody>
          <a:bodyPr/>
          <a:p>
            <a:pPr>
              <a:spcBef>
                <a:spcPct val="50000"/>
              </a:spcBef>
            </a:pP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输入</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4</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位二进制数</a:t>
            </a:r>
            <a:endParaRPr lang="zh-CN" altLang="en-US" sz="20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31089" name="Rectangle 17"/>
          <p:cNvSpPr/>
          <p:nvPr/>
        </p:nvSpPr>
        <p:spPr>
          <a:xfrm>
            <a:off x="615950" y="5995988"/>
            <a:ext cx="8234363" cy="741362"/>
          </a:xfrm>
          <a:prstGeom prst="rect">
            <a:avLst/>
          </a:prstGeom>
          <a:solidFill>
            <a:srgbClr val="FFFFCC">
              <a:alpha val="20000"/>
            </a:srgbClr>
          </a:solidFill>
          <a:ln w="9525" cap="flat" cmpd="sng">
            <a:solidFill>
              <a:srgbClr val="FF0000"/>
            </a:solidFill>
            <a:prstDash val="solid"/>
            <a:miter/>
            <a:headEnd type="none" w="med" len="med"/>
            <a:tailEnd type="none" w="med" len="med"/>
          </a:ln>
        </p:spPr>
        <p:txBody>
          <a:bodyPr anchor="ctr" anchorCtr="0">
            <a:spAutoFit/>
          </a:bodyPr>
          <a:p>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根据运放线性运用时虚地的概念可知，无论模拟开关</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S</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i</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处于</a:t>
            </a:r>
            <a:endParaRPr lang="zh-CN" altLang="en-US" sz="2000" b="1" dirty="0">
              <a:solidFill>
                <a:srgbClr val="000066"/>
              </a:solidFill>
              <a:latin typeface="Times New Roman" panose="02020603050405020304" charset="0"/>
              <a:ea typeface="楷体" panose="02010609060101010101" charset="-122"/>
              <a:cs typeface="Times New Roman" panose="02020603050405020304" charset="0"/>
            </a:endParaRPr>
          </a:p>
          <a:p>
            <a:pPr>
              <a:lnSpc>
                <a:spcPct val="110000"/>
              </a:lnSpc>
            </a:pP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何种位置，与</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S</a:t>
            </a:r>
            <a:r>
              <a:rPr lang="en-US" altLang="zh-CN" sz="2000" b="1" baseline="-25000" dirty="0">
                <a:solidFill>
                  <a:srgbClr val="000066"/>
                </a:solidFill>
                <a:latin typeface="Times New Roman" panose="02020603050405020304" charset="0"/>
                <a:ea typeface="楷体" panose="02010609060101010101" charset="-122"/>
                <a:cs typeface="Times New Roman" panose="02020603050405020304" charset="0"/>
              </a:rPr>
              <a:t>i</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相连的</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2R</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电阻将接“地” 或虚地。  </a:t>
            </a:r>
            <a:endParaRPr lang="zh-CN" altLang="en-US" sz="20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31095" name="AutoShape 23"/>
          <p:cNvSpPr/>
          <p:nvPr/>
        </p:nvSpPr>
        <p:spPr>
          <a:xfrm>
            <a:off x="7089775" y="4427538"/>
            <a:ext cx="1350963" cy="450850"/>
          </a:xfrm>
          <a:prstGeom prst="wedgeRoundRectCallout">
            <a:avLst>
              <a:gd name="adj1" fmla="val -81023"/>
              <a:gd name="adj2" fmla="val -12676"/>
              <a:gd name="adj3" fmla="val 16667"/>
            </a:avLst>
          </a:prstGeom>
          <a:solidFill>
            <a:srgbClr val="FFFFCC">
              <a:alpha val="20000"/>
            </a:srgbClr>
          </a:solidFill>
          <a:ln w="9525" cap="flat" cmpd="sng">
            <a:solidFill>
              <a:schemeClr val="tx1"/>
            </a:solidFill>
            <a:prstDash val="solid"/>
            <a:miter/>
            <a:headEnd type="none" w="med" len="med"/>
            <a:tailEnd type="none" w="med" len="med"/>
          </a:ln>
        </p:spPr>
        <p:txBody>
          <a:bodyPr/>
          <a:p>
            <a:pPr algn="ctr"/>
            <a:r>
              <a:rPr lang="zh-CN" altLang="en-US" sz="2000" b="1" dirty="0">
                <a:solidFill>
                  <a:srgbClr val="000066"/>
                </a:solidFill>
                <a:latin typeface="Times New Roman" panose="02020603050405020304" charset="0"/>
                <a:ea typeface="楷体" panose="02010609060101010101" charset="-122"/>
              </a:rPr>
              <a:t>基准电压</a:t>
            </a:r>
            <a:endParaRPr lang="zh-CN" altLang="en-US" sz="2000" b="1" dirty="0">
              <a:solidFill>
                <a:srgbClr val="000066"/>
              </a:solidFill>
              <a:latin typeface="Times New Roman" panose="02020603050405020304" charset="0"/>
              <a:ea typeface="楷体" panose="02010609060101010101" charset="-122"/>
            </a:endParaRPr>
          </a:p>
        </p:txBody>
      </p:sp>
      <p:sp>
        <p:nvSpPr>
          <p:cNvPr id="131101" name="Text Box 29"/>
          <p:cNvSpPr txBox="1"/>
          <p:nvPr/>
        </p:nvSpPr>
        <p:spPr>
          <a:xfrm>
            <a:off x="304800" y="4868863"/>
            <a:ext cx="3443288" cy="1130300"/>
          </a:xfrm>
          <a:prstGeom prst="rect">
            <a:avLst/>
          </a:prstGeom>
          <a:noFill/>
          <a:ln w="28575">
            <a:noFill/>
          </a:ln>
        </p:spPr>
        <p:txBody>
          <a:bodyPr>
            <a:spAutoFit/>
          </a:bodyPr>
          <a:p>
            <a:pPr>
              <a:lnSpc>
                <a:spcPct val="80000"/>
              </a:lnSpc>
              <a:spcBef>
                <a:spcPct val="50000"/>
              </a:spcBef>
              <a:buChar char="•"/>
            </a:pPr>
            <a:r>
              <a:rPr lang="en-US" altLang="zh-CN" sz="2000" b="1" dirty="0">
                <a:solidFill>
                  <a:srgbClr val="000066"/>
                </a:solidFill>
                <a:latin typeface="Times New Roman" panose="02020603050405020304" charset="0"/>
                <a:ea typeface="楷体" panose="02010609060101010101" charset="-122"/>
                <a:cs typeface="Times New Roman" panose="02020603050405020304" charset="0"/>
                <a:sym typeface="Monotype Sorts" pitchFamily="2" charset="2"/>
              </a:rPr>
              <a:t> </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Monotype Sorts" pitchFamily="2" charset="2"/>
              </a:rPr>
              <a:t>电阻网络</a:t>
            </a:r>
            <a:endPar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Monotype Sorts" pitchFamily="2" charset="2"/>
            </a:endParaRPr>
          </a:p>
          <a:p>
            <a:pPr>
              <a:lnSpc>
                <a:spcPct val="80000"/>
              </a:lnSpc>
              <a:spcBef>
                <a:spcPct val="50000"/>
              </a:spcBef>
              <a:buChar char="•"/>
            </a:pP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Monotype Sorts" pitchFamily="2" charset="2"/>
              </a:rPr>
              <a:t> 模拟电子开关</a:t>
            </a:r>
            <a:endPar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Monotype Sorts" pitchFamily="2" charset="2"/>
            </a:endParaRPr>
          </a:p>
          <a:p>
            <a:pPr>
              <a:lnSpc>
                <a:spcPct val="80000"/>
              </a:lnSpc>
              <a:spcBef>
                <a:spcPct val="50000"/>
              </a:spcBef>
              <a:buChar char="•"/>
            </a:pP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Monotype Sorts" pitchFamily="2" charset="2"/>
              </a:rPr>
              <a:t> 求和运算放大器</a:t>
            </a:r>
            <a:endPar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Monotype Sorts" pitchFamily="2" charset="2"/>
            </a:endParaRPr>
          </a:p>
        </p:txBody>
      </p:sp>
      <p:sp>
        <p:nvSpPr>
          <p:cNvPr id="131102" name="AutoShape 30"/>
          <p:cNvSpPr/>
          <p:nvPr/>
        </p:nvSpPr>
        <p:spPr>
          <a:xfrm>
            <a:off x="5930900" y="4441825"/>
            <a:ext cx="708025" cy="315913"/>
          </a:xfrm>
          <a:prstGeom prst="roundRect">
            <a:avLst>
              <a:gd name="adj" fmla="val 16667"/>
            </a:avLst>
          </a:prstGeom>
          <a:noFill/>
          <a:ln w="28575" cap="flat" cmpd="sng">
            <a:solidFill>
              <a:srgbClr val="FF9966"/>
            </a:solidFill>
            <a:prstDash val="solid"/>
            <a:headEnd type="none" w="med" len="med"/>
            <a:tailEnd type="none" w="med" len="med"/>
          </a:ln>
        </p:spPr>
        <p:txBody>
          <a:bodyPr wrap="none" anchor="ctr" anchorCtr="0"/>
          <a:p>
            <a:endParaRPr lang="zh-CN" altLang="en-US" dirty="0">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31079"/>
                                        </p:tgtEl>
                                        <p:attrNameLst>
                                          <p:attrName>style.visibility</p:attrName>
                                        </p:attrNameLst>
                                      </p:cBhvr>
                                      <p:to>
                                        <p:strVal val="visible"/>
                                      </p:to>
                                    </p:set>
                                    <p:animEffect transition="in" filter="randombar(horizontal)">
                                      <p:cBhvr>
                                        <p:cTn id="7" dur="500"/>
                                        <p:tgtEl>
                                          <p:spTgt spid="13107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1083"/>
                                        </p:tgtEl>
                                        <p:attrNameLst>
                                          <p:attrName>style.visibility</p:attrName>
                                        </p:attrNameLst>
                                      </p:cBhvr>
                                      <p:to>
                                        <p:strVal val="visible"/>
                                      </p:to>
                                    </p:set>
                                    <p:animEffect transition="in" filter="blinds(horizontal)">
                                      <p:cBhvr>
                                        <p:cTn id="12" dur="500"/>
                                        <p:tgtEl>
                                          <p:spTgt spid="131083"/>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31102"/>
                                        </p:tgtEl>
                                        <p:attrNameLst>
                                          <p:attrName>style.visibility</p:attrName>
                                        </p:attrNameLst>
                                      </p:cBhvr>
                                      <p:to>
                                        <p:strVal val="visible"/>
                                      </p:to>
                                    </p:set>
                                    <p:animEffect transition="in" filter="randombar(horizontal)">
                                      <p:cBhvr>
                                        <p:cTn id="17" dur="500"/>
                                        <p:tgtEl>
                                          <p:spTgt spid="13110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1095"/>
                                        </p:tgtEl>
                                        <p:attrNameLst>
                                          <p:attrName>style.visibility</p:attrName>
                                        </p:attrNameLst>
                                      </p:cBhvr>
                                      <p:to>
                                        <p:strVal val="visible"/>
                                      </p:to>
                                    </p:set>
                                    <p:animEffect transition="in" filter="blinds(horizontal)">
                                      <p:cBhvr>
                                        <p:cTn id="22" dur="500"/>
                                        <p:tgtEl>
                                          <p:spTgt spid="131095"/>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131078"/>
                                        </p:tgtEl>
                                        <p:attrNameLst>
                                          <p:attrName>style.visibility</p:attrName>
                                        </p:attrNameLst>
                                      </p:cBhvr>
                                      <p:to>
                                        <p:strVal val="visible"/>
                                      </p:to>
                                    </p:set>
                                    <p:animEffect transition="in" filter="randombar(horizontal)">
                                      <p:cBhvr>
                                        <p:cTn id="27" dur="500"/>
                                        <p:tgtEl>
                                          <p:spTgt spid="13107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31084"/>
                                        </p:tgtEl>
                                        <p:attrNameLst>
                                          <p:attrName>style.visibility</p:attrName>
                                        </p:attrNameLst>
                                      </p:cBhvr>
                                      <p:to>
                                        <p:strVal val="visible"/>
                                      </p:to>
                                    </p:set>
                                    <p:animEffect transition="in" filter="blinds(horizontal)">
                                      <p:cBhvr>
                                        <p:cTn id="32" dur="500"/>
                                        <p:tgtEl>
                                          <p:spTgt spid="13108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31082"/>
                                        </p:tgtEl>
                                        <p:attrNameLst>
                                          <p:attrName>style.visibility</p:attrName>
                                        </p:attrNameLst>
                                      </p:cBhvr>
                                      <p:to>
                                        <p:strVal val="visible"/>
                                      </p:to>
                                    </p:set>
                                    <p:animEffect transition="in" filter="wipe(up)">
                                      <p:cBhvr>
                                        <p:cTn id="37" dur="500"/>
                                        <p:tgtEl>
                                          <p:spTgt spid="131082"/>
                                        </p:tgtEl>
                                      </p:cBhvr>
                                    </p:animEffect>
                                  </p:childTnLst>
                                  <p:subTnLst>
                                    <p:set>
                                      <p:cBhvr override="childStyle">
                                        <p:cTn dur="1" fill="hold" display="0" masterRel="nextClick" afterEffect="1"/>
                                        <p:tgtEl>
                                          <p:spTgt spid="131082"/>
                                        </p:tgtEl>
                                        <p:attrNameLst>
                                          <p:attrName>style.visibility</p:attrName>
                                        </p:attrNameLst>
                                      </p:cBhvr>
                                      <p:to>
                                        <p:strVal val="hidden"/>
                                      </p:to>
                                    </p:set>
                                  </p:sub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131077"/>
                                        </p:tgtEl>
                                        <p:attrNameLst>
                                          <p:attrName>style.visibility</p:attrName>
                                        </p:attrNameLst>
                                      </p:cBhvr>
                                      <p:to>
                                        <p:strVal val="visible"/>
                                      </p:to>
                                    </p:set>
                                    <p:animEffect transition="in" filter="randombar(horizontal)">
                                      <p:cBhvr>
                                        <p:cTn id="42" dur="500"/>
                                        <p:tgtEl>
                                          <p:spTgt spid="131077"/>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31085"/>
                                        </p:tgtEl>
                                        <p:attrNameLst>
                                          <p:attrName>style.visibility</p:attrName>
                                        </p:attrNameLst>
                                      </p:cBhvr>
                                      <p:to>
                                        <p:strVal val="visible"/>
                                      </p:to>
                                    </p:set>
                                    <p:animEffect transition="in" filter="blinds(horizontal)">
                                      <p:cBhvr>
                                        <p:cTn id="47" dur="500"/>
                                        <p:tgtEl>
                                          <p:spTgt spid="131085"/>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grpId="0" nodeType="clickEffect">
                                  <p:stCondLst>
                                    <p:cond delay="0"/>
                                  </p:stCondLst>
                                  <p:childTnLst>
                                    <p:set>
                                      <p:cBhvr>
                                        <p:cTn id="51" dur="1" fill="hold">
                                          <p:stCondLst>
                                            <p:cond delay="0"/>
                                          </p:stCondLst>
                                        </p:cTn>
                                        <p:tgtEl>
                                          <p:spTgt spid="131087"/>
                                        </p:tgtEl>
                                        <p:attrNameLst>
                                          <p:attrName>style.visibility</p:attrName>
                                        </p:attrNameLst>
                                      </p:cBhvr>
                                      <p:to>
                                        <p:strVal val="visible"/>
                                      </p:to>
                                    </p:set>
                                    <p:animEffect transition="in" filter="randombar(horizontal)">
                                      <p:cBhvr>
                                        <p:cTn id="52" dur="500"/>
                                        <p:tgtEl>
                                          <p:spTgt spid="131087"/>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31088"/>
                                        </p:tgtEl>
                                        <p:attrNameLst>
                                          <p:attrName>style.visibility</p:attrName>
                                        </p:attrNameLst>
                                      </p:cBhvr>
                                      <p:to>
                                        <p:strVal val="visible"/>
                                      </p:to>
                                    </p:set>
                                    <p:animEffect transition="in" filter="blinds(horizontal)">
                                      <p:cBhvr>
                                        <p:cTn id="57" dur="500"/>
                                        <p:tgtEl>
                                          <p:spTgt spid="131088"/>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31086"/>
                                        </p:tgtEl>
                                        <p:attrNameLst>
                                          <p:attrName>style.visibility</p:attrName>
                                        </p:attrNameLst>
                                      </p:cBhvr>
                                      <p:to>
                                        <p:strVal val="visible"/>
                                      </p:to>
                                    </p:set>
                                    <p:animEffect transition="in" filter="blinds(horizontal)">
                                      <p:cBhvr>
                                        <p:cTn id="62" dur="500"/>
                                        <p:tgtEl>
                                          <p:spTgt spid="131086"/>
                                        </p:tgtEl>
                                      </p:cBhvr>
                                    </p:animEffect>
                                  </p:childTnLst>
                                </p:cTn>
                              </p:par>
                            </p:childTnLst>
                          </p:cTn>
                        </p:par>
                      </p:childTnLst>
                    </p:cTn>
                  </p:par>
                  <p:par>
                    <p:cTn id="63" fill="hold">
                      <p:stCondLst>
                        <p:cond delay="indefinite"/>
                      </p:stCondLst>
                      <p:childTnLst>
                        <p:par>
                          <p:cTn id="64" fill="hold">
                            <p:stCondLst>
                              <p:cond delay="0"/>
                            </p:stCondLst>
                            <p:childTnLst>
                              <p:par>
                                <p:cTn id="65" presetID="18" presetClass="entr" presetSubtype="6" fill="hold" grpId="0" nodeType="clickEffect">
                                  <p:stCondLst>
                                    <p:cond delay="0"/>
                                  </p:stCondLst>
                                  <p:iterate type="wd">
                                    <p:tmPct val="100000"/>
                                  </p:iterate>
                                  <p:childTnLst>
                                    <p:set>
                                      <p:cBhvr>
                                        <p:cTn id="66" dur="1" fill="hold">
                                          <p:stCondLst>
                                            <p:cond delay="0"/>
                                          </p:stCondLst>
                                        </p:cTn>
                                        <p:tgtEl>
                                          <p:spTgt spid="131101"/>
                                        </p:tgtEl>
                                        <p:attrNameLst>
                                          <p:attrName>style.visibility</p:attrName>
                                        </p:attrNameLst>
                                      </p:cBhvr>
                                      <p:to>
                                        <p:strVal val="visible"/>
                                      </p:to>
                                    </p:set>
                                    <p:animEffect transition="in" filter="strips(downRight)">
                                      <p:cBhvr>
                                        <p:cTn id="67" dur="300"/>
                                        <p:tgtEl>
                                          <p:spTgt spid="131101"/>
                                        </p:tgtEl>
                                      </p:cBhvr>
                                    </p:animEffect>
                                  </p:childTnLst>
                                  <p:subTnLst>
                                    <p:set>
                                      <p:cBhvr override="childStyle">
                                        <p:cTn dur="1" fill="hold" display="0" masterRel="nextClick" afterEffect="1"/>
                                        <p:tgtEl>
                                          <p:spTgt spid="131101"/>
                                        </p:tgtEl>
                                        <p:attrNameLst>
                                          <p:attrName>style.visibility</p:attrName>
                                        </p:attrNameLst>
                                      </p:cBhvr>
                                      <p:to>
                                        <p:strVal val="hidden"/>
                                      </p:to>
                                    </p:set>
                                  </p:sub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131089"/>
                                        </p:tgtEl>
                                        <p:attrNameLst>
                                          <p:attrName>style.visibility</p:attrName>
                                        </p:attrNameLst>
                                      </p:cBhvr>
                                      <p:to>
                                        <p:strVal val="visible"/>
                                      </p:to>
                                    </p:set>
                                    <p:animEffect transition="in" filter="wipe(down)">
                                      <p:cBhvr>
                                        <p:cTn id="72" dur="500"/>
                                        <p:tgtEl>
                                          <p:spTgt spid="1310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7" grpId="0" bldLvl="0" animBg="1"/>
      <p:bldP spid="131078" grpId="0" bldLvl="0" animBg="1"/>
      <p:bldP spid="131079" grpId="0" bldLvl="0" animBg="1"/>
      <p:bldP spid="131082" grpId="0"/>
      <p:bldP spid="131083" grpId="0" bldLvl="0" animBg="1"/>
      <p:bldP spid="131084" grpId="0" bldLvl="0" animBg="1"/>
      <p:bldP spid="131085" grpId="0" bldLvl="0" animBg="1"/>
      <p:bldP spid="131086" grpId="0" bldLvl="0" animBg="1"/>
      <p:bldP spid="131087" grpId="0" bldLvl="0" animBg="1"/>
      <p:bldP spid="131088" grpId="0" bldLvl="0" animBg="1"/>
      <p:bldP spid="131095" grpId="0" bldLvl="0" animBg="1"/>
      <p:bldP spid="131101" grpId="0"/>
      <p:bldP spid="131102" grpId="0" bldLvl="0" animBg="1"/>
      <p:bldP spid="131089" grpId="0" animBg="1"/>
      <p:bldP spid="131089"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9.2 </a:t>
            </a:r>
            <a:r>
              <a:rPr lang="zh-CN" altLang="en-US" b="1" dirty="0">
                <a:solidFill>
                  <a:srgbClr val="FF0000"/>
                </a:solidFill>
                <a:latin typeface="黑体" panose="02010609060101010101" pitchFamily="49" charset="-122"/>
                <a:ea typeface="黑体" panose="02010609060101010101" pitchFamily="49" charset="-122"/>
              </a:rPr>
              <a:t>D/A转换电路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4098" name="Rectangle 42"/>
          <p:cNvSpPr/>
          <p:nvPr/>
        </p:nvSpPr>
        <p:spPr>
          <a:xfrm>
            <a:off x="596900" y="1206500"/>
            <a:ext cx="3342640" cy="398780"/>
          </a:xfrm>
          <a:prstGeom prst="rect">
            <a:avLst/>
          </a:prstGeom>
          <a:noFill/>
          <a:ln w="9525">
            <a:noFill/>
          </a:ln>
        </p:spPr>
        <p:txBody>
          <a:bodyPr wrap="none">
            <a:spAutoFit/>
          </a:bodyPr>
          <a:p>
            <a:r>
              <a:rPr lang="en-US" altLang="zh-CN" sz="2000" b="1" dirty="0">
                <a:solidFill>
                  <a:srgbClr val="000099"/>
                </a:solidFill>
                <a:latin typeface="Times New Roman" panose="02020603050405020304" charset="0"/>
                <a:ea typeface="楷体" panose="02010609060101010101" charset="-122"/>
                <a:cs typeface="Times New Roman" panose="02020603050405020304" charset="0"/>
              </a:rPr>
              <a:t>D/A</a:t>
            </a:r>
            <a:r>
              <a:rPr lang="zh-CN" altLang="en-US" sz="2000" b="1" dirty="0">
                <a:solidFill>
                  <a:srgbClr val="000099"/>
                </a:solidFill>
                <a:latin typeface="Times New Roman" panose="02020603050405020304" charset="0"/>
                <a:ea typeface="楷体" panose="02010609060101010101" charset="-122"/>
                <a:cs typeface="Times New Roman" panose="02020603050405020304" charset="0"/>
              </a:rPr>
              <a:t>转换器的倒</a:t>
            </a:r>
            <a:r>
              <a:rPr lang="en-US" altLang="zh-CN" sz="2000" b="1" dirty="0">
                <a:solidFill>
                  <a:srgbClr val="000099"/>
                </a:solidFill>
                <a:latin typeface="Times New Roman" panose="02020603050405020304" charset="0"/>
                <a:ea typeface="楷体" panose="02010609060101010101" charset="-122"/>
                <a:cs typeface="Times New Roman" panose="02020603050405020304" charset="0"/>
              </a:rPr>
              <a:t>T</a:t>
            </a:r>
            <a:r>
              <a:rPr lang="zh-CN" altLang="en-US" sz="2000" b="1" dirty="0">
                <a:solidFill>
                  <a:srgbClr val="000099"/>
                </a:solidFill>
                <a:latin typeface="Times New Roman" panose="02020603050405020304" charset="0"/>
                <a:ea typeface="楷体" panose="02010609060101010101" charset="-122"/>
                <a:cs typeface="Times New Roman" panose="02020603050405020304" charset="0"/>
              </a:rPr>
              <a:t>形电阻网络</a:t>
            </a:r>
            <a:endParaRPr lang="zh-CN" altLang="en-US" sz="2000" b="1" dirty="0">
              <a:solidFill>
                <a:srgbClr val="000099"/>
              </a:solidFill>
              <a:latin typeface="Times New Roman" panose="02020603050405020304" charset="0"/>
              <a:ea typeface="楷体" panose="02010609060101010101" charset="-122"/>
              <a:cs typeface="Times New Roman" panose="02020603050405020304" charset="0"/>
            </a:endParaRPr>
          </a:p>
        </p:txBody>
      </p:sp>
      <p:sp>
        <p:nvSpPr>
          <p:cNvPr id="132174" name="Rectangle 78"/>
          <p:cNvSpPr/>
          <p:nvPr/>
        </p:nvSpPr>
        <p:spPr>
          <a:xfrm>
            <a:off x="1706563" y="2178050"/>
            <a:ext cx="4313237" cy="396875"/>
          </a:xfrm>
          <a:prstGeom prst="rect">
            <a:avLst/>
          </a:prstGeom>
          <a:noFill/>
          <a:ln w="9525">
            <a:noFill/>
          </a:ln>
        </p:spPr>
        <p:txBody>
          <a:bodyPr wrap="none">
            <a:spAutoFit/>
          </a:bodyPr>
          <a:p>
            <a:pPr>
              <a:spcBef>
                <a:spcPct val="50000"/>
              </a:spcBef>
            </a:pPr>
            <a:r>
              <a:rPr lang="zh-CN" altLang="en-US" sz="2000" b="1" dirty="0">
                <a:solidFill>
                  <a:srgbClr val="000099"/>
                </a:solidFill>
                <a:latin typeface="Times New Roman" panose="02020603050405020304" charset="0"/>
                <a:ea typeface="楷体" panose="02010609060101010101" charset="-122"/>
                <a:cs typeface="Times New Roman" panose="02020603050405020304" charset="0"/>
              </a:rPr>
              <a:t>基准电源</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000" b="1" baseline="-30000" dirty="0">
                <a:solidFill>
                  <a:srgbClr val="000066"/>
                </a:solidFill>
                <a:latin typeface="Times New Roman" panose="02020603050405020304" charset="0"/>
                <a:ea typeface="楷体" panose="02010609060101010101" charset="-122"/>
                <a:cs typeface="Times New Roman" panose="02020603050405020304" charset="0"/>
              </a:rPr>
              <a:t>REF</a:t>
            </a:r>
            <a:r>
              <a:rPr lang="zh-CN" altLang="en-US" sz="2000" b="1" dirty="0">
                <a:solidFill>
                  <a:srgbClr val="000099"/>
                </a:solidFill>
                <a:latin typeface="Times New Roman" panose="02020603050405020304" charset="0"/>
                <a:ea typeface="楷体" panose="02010609060101010101" charset="-122"/>
                <a:cs typeface="Times New Roman" panose="02020603050405020304" charset="0"/>
              </a:rPr>
              <a:t>提供的总电流为：</a:t>
            </a:r>
            <a:r>
              <a:rPr lang="en-US" altLang="zh-CN" sz="2000" b="1" i="1" dirty="0">
                <a:solidFill>
                  <a:srgbClr val="000099"/>
                </a:solidFill>
                <a:latin typeface="Times New Roman" panose="02020603050405020304" charset="0"/>
                <a:ea typeface="楷体" panose="02010609060101010101" charset="-122"/>
                <a:cs typeface="Times New Roman" panose="02020603050405020304" charset="0"/>
              </a:rPr>
              <a:t>I </a:t>
            </a:r>
            <a:r>
              <a:rPr lang="en-US" altLang="zh-CN" sz="2000" b="1" dirty="0">
                <a:solidFill>
                  <a:srgbClr val="000099"/>
                </a:solidFill>
                <a:latin typeface="Times New Roman" panose="02020603050405020304" charset="0"/>
                <a:ea typeface="楷体" panose="02010609060101010101" charset="-122"/>
                <a:cs typeface="Times New Roman" panose="02020603050405020304" charset="0"/>
              </a:rPr>
              <a:t>=</a:t>
            </a:r>
            <a:r>
              <a:rPr lang="zh-CN" altLang="en-US" sz="2000" b="1" dirty="0">
                <a:solidFill>
                  <a:srgbClr val="000099"/>
                </a:solidFill>
                <a:latin typeface="Times New Roman" panose="02020603050405020304" charset="0"/>
                <a:ea typeface="楷体" panose="02010609060101010101" charset="-122"/>
                <a:cs typeface="Times New Roman" panose="02020603050405020304" charset="0"/>
              </a:rPr>
              <a:t>？</a:t>
            </a:r>
            <a:endParaRPr lang="zh-CN" altLang="en-US" sz="2000" b="1" dirty="0">
              <a:solidFill>
                <a:srgbClr val="000099"/>
              </a:solidFill>
              <a:latin typeface="Times New Roman" panose="02020603050405020304" charset="0"/>
              <a:ea typeface="楷体" panose="02010609060101010101" charset="-122"/>
              <a:cs typeface="Times New Roman" panose="02020603050405020304" charset="0"/>
            </a:endParaRPr>
          </a:p>
        </p:txBody>
      </p:sp>
      <p:sp>
        <p:nvSpPr>
          <p:cNvPr id="132175" name="Rectangle 79"/>
          <p:cNvSpPr/>
          <p:nvPr/>
        </p:nvSpPr>
        <p:spPr>
          <a:xfrm>
            <a:off x="1577975" y="1670050"/>
            <a:ext cx="6735763" cy="396875"/>
          </a:xfrm>
          <a:prstGeom prst="rect">
            <a:avLst/>
          </a:prstGeom>
          <a:noFill/>
          <a:ln w="9525">
            <a:noFill/>
          </a:ln>
        </p:spPr>
        <p:txBody>
          <a:bodyPr>
            <a:spAutoFit/>
          </a:bodyPr>
          <a:p>
            <a:pPr>
              <a:spcBef>
                <a:spcPct val="50000"/>
              </a:spcBef>
            </a:pPr>
            <a:r>
              <a:rPr lang="zh-CN" altLang="en-US" sz="2000" b="1" dirty="0">
                <a:solidFill>
                  <a:srgbClr val="000099"/>
                </a:solidFill>
                <a:latin typeface="Times New Roman" panose="02020603050405020304" charset="0"/>
                <a:ea typeface="楷体" panose="02010609060101010101" charset="-122"/>
                <a:cs typeface="Times New Roman" panose="02020603050405020304" charset="0"/>
              </a:rPr>
              <a:t>流过各开关支路的电流：</a:t>
            </a:r>
            <a:r>
              <a:rPr lang="en-US" altLang="zh-CN" sz="2000" b="1" i="1" dirty="0">
                <a:solidFill>
                  <a:srgbClr val="000099"/>
                </a:solidFill>
                <a:latin typeface="Times New Roman" panose="02020603050405020304" charset="0"/>
                <a:ea typeface="楷体" panose="02010609060101010101" charset="-122"/>
                <a:cs typeface="Times New Roman" panose="02020603050405020304" charset="0"/>
              </a:rPr>
              <a:t>I</a:t>
            </a:r>
            <a:r>
              <a:rPr lang="en-US" altLang="zh-CN" sz="2000" b="1" baseline="-30000" dirty="0">
                <a:solidFill>
                  <a:srgbClr val="000099"/>
                </a:solidFill>
                <a:latin typeface="Times New Roman" panose="02020603050405020304" charset="0"/>
                <a:ea typeface="楷体" panose="02010609060101010101" charset="-122"/>
                <a:cs typeface="Times New Roman" panose="02020603050405020304" charset="0"/>
              </a:rPr>
              <a:t>3</a:t>
            </a:r>
            <a:r>
              <a:rPr lang="en-US" altLang="zh-CN" sz="2000" b="1" dirty="0">
                <a:solidFill>
                  <a:srgbClr val="000099"/>
                </a:solidFill>
                <a:latin typeface="Times New Roman" panose="02020603050405020304" charset="0"/>
                <a:ea typeface="楷体" panose="02010609060101010101" charset="-122"/>
                <a:cs typeface="Times New Roman" panose="02020603050405020304" charset="0"/>
              </a:rPr>
              <a:t> =</a:t>
            </a:r>
            <a:r>
              <a:rPr lang="zh-CN" altLang="en-US" sz="2000" b="1" dirty="0">
                <a:solidFill>
                  <a:srgbClr val="000099"/>
                </a:solidFill>
                <a:latin typeface="Times New Roman" panose="02020603050405020304" charset="0"/>
                <a:ea typeface="楷体" panose="02010609060101010101" charset="-122"/>
                <a:cs typeface="Times New Roman" panose="02020603050405020304" charset="0"/>
              </a:rPr>
              <a:t>？</a:t>
            </a:r>
            <a:r>
              <a:rPr lang="en-US" altLang="zh-CN" sz="2000" b="1" i="1" dirty="0">
                <a:solidFill>
                  <a:srgbClr val="000099"/>
                </a:solidFill>
                <a:latin typeface="Times New Roman" panose="02020603050405020304" charset="0"/>
                <a:ea typeface="楷体" panose="02010609060101010101" charset="-122"/>
                <a:cs typeface="Times New Roman" panose="02020603050405020304" charset="0"/>
              </a:rPr>
              <a:t>I</a:t>
            </a:r>
            <a:r>
              <a:rPr lang="en-US" altLang="zh-CN" sz="2000" b="1" baseline="-30000" dirty="0">
                <a:solidFill>
                  <a:srgbClr val="000099"/>
                </a:solidFill>
                <a:latin typeface="Times New Roman" panose="02020603050405020304" charset="0"/>
                <a:ea typeface="楷体" panose="02010609060101010101" charset="-122"/>
                <a:cs typeface="Times New Roman" panose="02020603050405020304" charset="0"/>
              </a:rPr>
              <a:t>2</a:t>
            </a:r>
            <a:r>
              <a:rPr lang="en-US" altLang="zh-CN" sz="2000" b="1" dirty="0">
                <a:solidFill>
                  <a:srgbClr val="000099"/>
                </a:solidFill>
                <a:latin typeface="Times New Roman" panose="02020603050405020304" charset="0"/>
                <a:ea typeface="楷体" panose="02010609060101010101" charset="-122"/>
                <a:cs typeface="Times New Roman" panose="02020603050405020304" charset="0"/>
              </a:rPr>
              <a:t> =</a:t>
            </a:r>
            <a:r>
              <a:rPr lang="zh-CN" altLang="en-US" sz="2000" b="1" dirty="0">
                <a:solidFill>
                  <a:srgbClr val="000099"/>
                </a:solidFill>
                <a:latin typeface="Times New Roman" panose="02020603050405020304" charset="0"/>
                <a:ea typeface="楷体" panose="02010609060101010101" charset="-122"/>
                <a:cs typeface="Times New Roman" panose="02020603050405020304" charset="0"/>
              </a:rPr>
              <a:t>？ </a:t>
            </a:r>
            <a:r>
              <a:rPr lang="en-US" altLang="zh-CN" sz="2000" b="1" i="1" dirty="0">
                <a:solidFill>
                  <a:srgbClr val="000099"/>
                </a:solidFill>
                <a:latin typeface="Times New Roman" panose="02020603050405020304" charset="0"/>
                <a:ea typeface="楷体" panose="02010609060101010101" charset="-122"/>
                <a:cs typeface="Times New Roman" panose="02020603050405020304" charset="0"/>
              </a:rPr>
              <a:t>I</a:t>
            </a:r>
            <a:r>
              <a:rPr lang="en-US" altLang="zh-CN" sz="2000" b="1" baseline="-30000" dirty="0">
                <a:solidFill>
                  <a:srgbClr val="000099"/>
                </a:solidFill>
                <a:latin typeface="Times New Roman" panose="02020603050405020304" charset="0"/>
                <a:ea typeface="楷体" panose="02010609060101010101" charset="-122"/>
                <a:cs typeface="Times New Roman" panose="02020603050405020304" charset="0"/>
              </a:rPr>
              <a:t>1</a:t>
            </a:r>
            <a:r>
              <a:rPr lang="en-US" altLang="zh-CN" sz="2000" b="1" dirty="0">
                <a:solidFill>
                  <a:srgbClr val="000099"/>
                </a:solidFill>
                <a:latin typeface="Times New Roman" panose="02020603050405020304" charset="0"/>
                <a:ea typeface="楷体" panose="02010609060101010101" charset="-122"/>
                <a:cs typeface="Times New Roman" panose="02020603050405020304" charset="0"/>
              </a:rPr>
              <a:t> =</a:t>
            </a:r>
            <a:r>
              <a:rPr lang="zh-CN" altLang="en-US" sz="2000" b="1" dirty="0">
                <a:solidFill>
                  <a:srgbClr val="000099"/>
                </a:solidFill>
                <a:latin typeface="Times New Roman" panose="02020603050405020304" charset="0"/>
                <a:ea typeface="楷体" panose="02010609060101010101" charset="-122"/>
                <a:cs typeface="Times New Roman" panose="02020603050405020304" charset="0"/>
              </a:rPr>
              <a:t>？ </a:t>
            </a:r>
            <a:r>
              <a:rPr lang="en-US" altLang="zh-CN" sz="2000" b="1" i="1" dirty="0">
                <a:solidFill>
                  <a:srgbClr val="000099"/>
                </a:solidFill>
                <a:latin typeface="Times New Roman" panose="02020603050405020304" charset="0"/>
                <a:ea typeface="楷体" panose="02010609060101010101" charset="-122"/>
                <a:cs typeface="Times New Roman" panose="02020603050405020304" charset="0"/>
              </a:rPr>
              <a:t>I</a:t>
            </a:r>
            <a:r>
              <a:rPr lang="en-US" altLang="zh-CN" sz="2000" b="1" baseline="-30000" dirty="0">
                <a:solidFill>
                  <a:srgbClr val="000099"/>
                </a:solidFill>
                <a:latin typeface="Times New Roman" panose="02020603050405020304" charset="0"/>
                <a:ea typeface="楷体" panose="02010609060101010101" charset="-122"/>
                <a:cs typeface="Times New Roman" panose="02020603050405020304" charset="0"/>
              </a:rPr>
              <a:t>0</a:t>
            </a:r>
            <a:r>
              <a:rPr lang="en-US" altLang="zh-CN" sz="2000" b="1" dirty="0">
                <a:solidFill>
                  <a:srgbClr val="000099"/>
                </a:solidFill>
                <a:latin typeface="Times New Roman" panose="02020603050405020304" charset="0"/>
                <a:ea typeface="楷体" panose="02010609060101010101" charset="-122"/>
                <a:cs typeface="Times New Roman" panose="02020603050405020304" charset="0"/>
              </a:rPr>
              <a:t> =</a:t>
            </a:r>
            <a:r>
              <a:rPr lang="zh-CN" altLang="en-US" sz="2000" b="1" dirty="0">
                <a:solidFill>
                  <a:srgbClr val="000099"/>
                </a:solidFill>
                <a:latin typeface="Times New Roman" panose="02020603050405020304" charset="0"/>
                <a:ea typeface="楷体" panose="02010609060101010101" charset="-122"/>
                <a:cs typeface="Times New Roman" panose="02020603050405020304" charset="0"/>
              </a:rPr>
              <a:t>？</a:t>
            </a:r>
            <a:endParaRPr lang="zh-CN" altLang="en-US" sz="2000" b="1" dirty="0">
              <a:solidFill>
                <a:srgbClr val="000099"/>
              </a:solidFill>
              <a:latin typeface="Times New Roman" panose="02020603050405020304" charset="0"/>
              <a:ea typeface="楷体" panose="02010609060101010101" charset="-122"/>
              <a:cs typeface="Times New Roman" panose="02020603050405020304" charset="0"/>
            </a:endParaRPr>
          </a:p>
        </p:txBody>
      </p:sp>
      <p:graphicFrame>
        <p:nvGraphicFramePr>
          <p:cNvPr id="4101" name="Object 5"/>
          <p:cNvGraphicFramePr>
            <a:graphicFrameLocks noChangeAspect="1"/>
          </p:cNvGraphicFramePr>
          <p:nvPr/>
        </p:nvGraphicFramePr>
        <p:xfrm>
          <a:off x="857250" y="3167063"/>
          <a:ext cx="6389688" cy="2082800"/>
        </p:xfrm>
        <a:graphic>
          <a:graphicData uri="http://schemas.openxmlformats.org/presentationml/2006/ole">
            <mc:AlternateContent xmlns:mc="http://schemas.openxmlformats.org/markup-compatibility/2006">
              <mc:Choice xmlns:v="urn:schemas-microsoft-com:vml" Requires="v">
                <p:oleObj spid="_x0000_s3099" name="" r:id="rId1" imgW="2980690" imgH="972185" progId="Word.Picture.8">
                  <p:embed/>
                </p:oleObj>
              </mc:Choice>
              <mc:Fallback>
                <p:oleObj name="" r:id="rId1" imgW="2980690" imgH="972185" progId="Word.Picture.8">
                  <p:embed/>
                  <p:pic>
                    <p:nvPicPr>
                      <p:cNvPr id="0" name="图片 3098"/>
                      <p:cNvPicPr/>
                      <p:nvPr/>
                    </p:nvPicPr>
                    <p:blipFill>
                      <a:blip r:embed="rId2"/>
                      <a:stretch>
                        <a:fillRect/>
                      </a:stretch>
                    </p:blipFill>
                    <p:spPr>
                      <a:xfrm>
                        <a:off x="857250" y="3167063"/>
                        <a:ext cx="6389688" cy="2082800"/>
                      </a:xfrm>
                      <a:prstGeom prst="rect">
                        <a:avLst/>
                      </a:prstGeom>
                      <a:noFill/>
                      <a:ln w="38100">
                        <a:noFill/>
                        <a:miter/>
                      </a:ln>
                    </p:spPr>
                  </p:pic>
                </p:oleObj>
              </mc:Fallback>
            </mc:AlternateContent>
          </a:graphicData>
        </a:graphic>
      </p:graphicFrame>
      <p:sp>
        <p:nvSpPr>
          <p:cNvPr id="132126" name="AutoShape 30"/>
          <p:cNvSpPr/>
          <p:nvPr/>
        </p:nvSpPr>
        <p:spPr>
          <a:xfrm>
            <a:off x="6253163" y="4956175"/>
            <a:ext cx="315912" cy="90488"/>
          </a:xfrm>
          <a:prstGeom prst="leftArrow">
            <a:avLst>
              <a:gd name="adj1" fmla="val 50000"/>
              <a:gd name="adj2" fmla="val 87280"/>
            </a:avLst>
          </a:prstGeom>
          <a:solidFill>
            <a:srgbClr val="FF0000"/>
          </a:solidFill>
          <a:ln w="9525">
            <a:noFill/>
          </a:ln>
        </p:spPr>
        <p:txBody>
          <a:bodyPr wrap="none" anchor="ctr" anchorCtr="0"/>
          <a:p>
            <a:endParaRPr lang="zh-CN" altLang="en-US" dirty="0">
              <a:latin typeface="Times New Roman" panose="02020603050405020304" charset="0"/>
              <a:ea typeface="楷体" panose="02010609060101010101" charset="-122"/>
              <a:cs typeface="Times New Roman" panose="02020603050405020304" charset="0"/>
            </a:endParaRPr>
          </a:p>
        </p:txBody>
      </p:sp>
      <p:sp>
        <p:nvSpPr>
          <p:cNvPr id="132127" name="AutoShape 31"/>
          <p:cNvSpPr/>
          <p:nvPr/>
        </p:nvSpPr>
        <p:spPr>
          <a:xfrm>
            <a:off x="5151438" y="4987925"/>
            <a:ext cx="315912" cy="90488"/>
          </a:xfrm>
          <a:prstGeom prst="leftArrow">
            <a:avLst>
              <a:gd name="adj1" fmla="val 50000"/>
              <a:gd name="adj2" fmla="val 87280"/>
            </a:avLst>
          </a:prstGeom>
          <a:solidFill>
            <a:srgbClr val="FF0000"/>
          </a:solidFill>
          <a:ln w="9525">
            <a:noFill/>
          </a:ln>
        </p:spPr>
        <p:txBody>
          <a:bodyPr wrap="none" anchor="ctr" anchorCtr="0"/>
          <a:p>
            <a:endParaRPr lang="zh-CN" altLang="en-US" dirty="0">
              <a:latin typeface="Times New Roman" panose="02020603050405020304" charset="0"/>
              <a:ea typeface="楷体" panose="02010609060101010101" charset="-122"/>
              <a:cs typeface="Times New Roman" panose="02020603050405020304" charset="0"/>
            </a:endParaRPr>
          </a:p>
        </p:txBody>
      </p:sp>
      <p:sp>
        <p:nvSpPr>
          <p:cNvPr id="132128" name="AutoShape 32"/>
          <p:cNvSpPr/>
          <p:nvPr/>
        </p:nvSpPr>
        <p:spPr>
          <a:xfrm>
            <a:off x="3924300" y="5000625"/>
            <a:ext cx="315913" cy="90488"/>
          </a:xfrm>
          <a:prstGeom prst="leftArrow">
            <a:avLst>
              <a:gd name="adj1" fmla="val 50000"/>
              <a:gd name="adj2" fmla="val 87280"/>
            </a:avLst>
          </a:prstGeom>
          <a:solidFill>
            <a:srgbClr val="FF0000"/>
          </a:solidFill>
          <a:ln w="9525">
            <a:noFill/>
          </a:ln>
        </p:spPr>
        <p:txBody>
          <a:bodyPr wrap="none" anchor="ctr" anchorCtr="0"/>
          <a:p>
            <a:endParaRPr lang="zh-CN" altLang="en-US" dirty="0">
              <a:latin typeface="Times New Roman" panose="02020603050405020304" charset="0"/>
              <a:ea typeface="楷体" panose="02010609060101010101" charset="-122"/>
              <a:cs typeface="Times New Roman" panose="02020603050405020304" charset="0"/>
            </a:endParaRPr>
          </a:p>
        </p:txBody>
      </p:sp>
      <p:sp>
        <p:nvSpPr>
          <p:cNvPr id="132129" name="AutoShape 33"/>
          <p:cNvSpPr/>
          <p:nvPr/>
        </p:nvSpPr>
        <p:spPr>
          <a:xfrm>
            <a:off x="2720975" y="5000625"/>
            <a:ext cx="315913" cy="90488"/>
          </a:xfrm>
          <a:prstGeom prst="leftArrow">
            <a:avLst>
              <a:gd name="adj1" fmla="val 50000"/>
              <a:gd name="adj2" fmla="val 87280"/>
            </a:avLst>
          </a:prstGeom>
          <a:solidFill>
            <a:srgbClr val="FF0000"/>
          </a:solidFill>
          <a:ln w="9525">
            <a:noFill/>
          </a:ln>
        </p:spPr>
        <p:txBody>
          <a:bodyPr wrap="none" anchor="ctr" anchorCtr="0"/>
          <a:p>
            <a:endParaRPr lang="zh-CN" altLang="en-US" dirty="0">
              <a:latin typeface="Times New Roman" panose="02020603050405020304" charset="0"/>
              <a:ea typeface="楷体" panose="02010609060101010101" charset="-122"/>
              <a:cs typeface="Times New Roman" panose="02020603050405020304" charset="0"/>
            </a:endParaRPr>
          </a:p>
        </p:txBody>
      </p:sp>
      <p:sp>
        <p:nvSpPr>
          <p:cNvPr id="132130" name="AutoShape 34"/>
          <p:cNvSpPr/>
          <p:nvPr/>
        </p:nvSpPr>
        <p:spPr>
          <a:xfrm>
            <a:off x="1481138" y="5000625"/>
            <a:ext cx="315912" cy="90488"/>
          </a:xfrm>
          <a:prstGeom prst="leftArrow">
            <a:avLst>
              <a:gd name="adj1" fmla="val 50000"/>
              <a:gd name="adj2" fmla="val 87280"/>
            </a:avLst>
          </a:prstGeom>
          <a:solidFill>
            <a:srgbClr val="FF0000"/>
          </a:solidFill>
          <a:ln w="9525">
            <a:noFill/>
          </a:ln>
        </p:spPr>
        <p:txBody>
          <a:bodyPr wrap="none" anchor="ctr" anchorCtr="0"/>
          <a:p>
            <a:endParaRPr lang="zh-CN" altLang="en-US" dirty="0">
              <a:latin typeface="Times New Roman" panose="02020603050405020304" charset="0"/>
              <a:ea typeface="楷体" panose="02010609060101010101" charset="-122"/>
              <a:cs typeface="Times New Roman" panose="02020603050405020304" charset="0"/>
            </a:endParaRPr>
          </a:p>
        </p:txBody>
      </p:sp>
      <p:graphicFrame>
        <p:nvGraphicFramePr>
          <p:cNvPr id="132132" name="Object 36"/>
          <p:cNvGraphicFramePr>
            <a:graphicFrameLocks noChangeAspect="1"/>
          </p:cNvGraphicFramePr>
          <p:nvPr/>
        </p:nvGraphicFramePr>
        <p:xfrm>
          <a:off x="6697663" y="4043363"/>
          <a:ext cx="1152525" cy="739775"/>
        </p:xfrm>
        <a:graphic>
          <a:graphicData uri="http://schemas.openxmlformats.org/presentationml/2006/ole">
            <mc:AlternateContent xmlns:mc="http://schemas.openxmlformats.org/markup-compatibility/2006">
              <mc:Choice xmlns:v="urn:schemas-microsoft-com:vml" Requires="v">
                <p:oleObj spid="_x0000_s3100" name="" r:id="rId3" imgW="596900" imgH="406400" progId="Equation.DSMT4">
                  <p:embed/>
                </p:oleObj>
              </mc:Choice>
              <mc:Fallback>
                <p:oleObj name="" r:id="rId3" imgW="596900" imgH="406400" progId="Equation.DSMT4">
                  <p:embed/>
                  <p:pic>
                    <p:nvPicPr>
                      <p:cNvPr id="0" name="图片 3099"/>
                      <p:cNvPicPr/>
                      <p:nvPr/>
                    </p:nvPicPr>
                    <p:blipFill>
                      <a:blip r:embed="rId4"/>
                      <a:stretch>
                        <a:fillRect/>
                      </a:stretch>
                    </p:blipFill>
                    <p:spPr>
                      <a:xfrm>
                        <a:off x="6697663" y="4043363"/>
                        <a:ext cx="1152525" cy="739775"/>
                      </a:xfrm>
                      <a:prstGeom prst="rect">
                        <a:avLst/>
                      </a:prstGeom>
                      <a:solidFill>
                        <a:srgbClr val="FFFFCC"/>
                      </a:solidFill>
                      <a:ln w="9525" cap="flat" cmpd="sng">
                        <a:solidFill>
                          <a:srgbClr val="FF0000"/>
                        </a:solidFill>
                        <a:prstDash val="solid"/>
                        <a:miter/>
                        <a:headEnd type="none" w="med" len="med"/>
                        <a:tailEnd type="none" w="med" len="med"/>
                      </a:ln>
                    </p:spPr>
                  </p:pic>
                </p:oleObj>
              </mc:Fallback>
            </mc:AlternateContent>
          </a:graphicData>
        </a:graphic>
      </p:graphicFrame>
      <p:sp>
        <p:nvSpPr>
          <p:cNvPr id="132134" name="Rectangle 38"/>
          <p:cNvSpPr/>
          <p:nvPr/>
        </p:nvSpPr>
        <p:spPr>
          <a:xfrm>
            <a:off x="4964113" y="3556000"/>
            <a:ext cx="479425" cy="396875"/>
          </a:xfrm>
          <a:prstGeom prst="rect">
            <a:avLst/>
          </a:prstGeom>
          <a:noFill/>
          <a:ln w="9525">
            <a:noFill/>
          </a:ln>
        </p:spPr>
        <p:txBody>
          <a:bodyPr wrap="none">
            <a:spAutoFit/>
          </a:bodyPr>
          <a:p>
            <a:r>
              <a:rPr lang="en-US" altLang="zh-CN" sz="2000" b="1" i="1" dirty="0">
                <a:latin typeface="Times New Roman" panose="02020603050405020304" charset="0"/>
                <a:ea typeface="楷体" panose="02010609060101010101" charset="-122"/>
                <a:cs typeface="Times New Roman" panose="02020603050405020304" charset="0"/>
              </a:rPr>
              <a:t>I/</a:t>
            </a:r>
            <a:r>
              <a:rPr lang="en-US" altLang="zh-CN" sz="2000" b="1" dirty="0">
                <a:latin typeface="Times New Roman" panose="02020603050405020304" charset="0"/>
                <a:ea typeface="楷体" panose="02010609060101010101" charset="-122"/>
                <a:cs typeface="Times New Roman" panose="02020603050405020304" charset="0"/>
              </a:rPr>
              <a:t>4</a:t>
            </a:r>
            <a:endParaRPr lang="en-US" altLang="zh-CN" sz="2000" b="1" dirty="0">
              <a:latin typeface="Times New Roman" panose="02020603050405020304" charset="0"/>
              <a:ea typeface="楷体" panose="02010609060101010101" charset="-122"/>
              <a:cs typeface="Times New Roman" panose="02020603050405020304" charset="0"/>
            </a:endParaRPr>
          </a:p>
        </p:txBody>
      </p:sp>
      <p:sp>
        <p:nvSpPr>
          <p:cNvPr id="132135" name="Rectangle 39"/>
          <p:cNvSpPr/>
          <p:nvPr/>
        </p:nvSpPr>
        <p:spPr>
          <a:xfrm>
            <a:off x="3781425" y="3519488"/>
            <a:ext cx="881063" cy="396875"/>
          </a:xfrm>
          <a:prstGeom prst="rect">
            <a:avLst/>
          </a:prstGeom>
          <a:noFill/>
          <a:ln w="9525">
            <a:noFill/>
          </a:ln>
        </p:spPr>
        <p:txBody>
          <a:bodyPr>
            <a:spAutoFit/>
          </a:bodyPr>
          <a:p>
            <a:r>
              <a:rPr lang="en-US" altLang="zh-CN" sz="2000" b="1" i="1" dirty="0">
                <a:latin typeface="Times New Roman" panose="02020603050405020304" charset="0"/>
                <a:ea typeface="楷体" panose="02010609060101010101" charset="-122"/>
                <a:cs typeface="Times New Roman" panose="02020603050405020304" charset="0"/>
              </a:rPr>
              <a:t>I/</a:t>
            </a:r>
            <a:r>
              <a:rPr lang="en-US" altLang="zh-CN" sz="2000" b="1" dirty="0">
                <a:latin typeface="Times New Roman" panose="02020603050405020304" charset="0"/>
                <a:ea typeface="楷体" panose="02010609060101010101" charset="-122"/>
                <a:cs typeface="Times New Roman" panose="02020603050405020304" charset="0"/>
              </a:rPr>
              <a:t>8</a:t>
            </a:r>
            <a:endParaRPr lang="en-US" altLang="zh-CN" sz="2000" b="1" dirty="0">
              <a:latin typeface="Times New Roman" panose="02020603050405020304" charset="0"/>
              <a:ea typeface="楷体" panose="02010609060101010101" charset="-122"/>
              <a:cs typeface="Times New Roman" panose="02020603050405020304" charset="0"/>
            </a:endParaRPr>
          </a:p>
        </p:txBody>
      </p:sp>
      <p:sp>
        <p:nvSpPr>
          <p:cNvPr id="132136" name="Rectangle 40"/>
          <p:cNvSpPr/>
          <p:nvPr/>
        </p:nvSpPr>
        <p:spPr>
          <a:xfrm>
            <a:off x="2501900" y="3554413"/>
            <a:ext cx="606425" cy="396875"/>
          </a:xfrm>
          <a:prstGeom prst="rect">
            <a:avLst/>
          </a:prstGeom>
          <a:noFill/>
          <a:ln w="9525">
            <a:noFill/>
          </a:ln>
        </p:spPr>
        <p:txBody>
          <a:bodyPr wrap="none">
            <a:spAutoFit/>
          </a:bodyPr>
          <a:p>
            <a:r>
              <a:rPr lang="en-US" altLang="zh-CN" sz="2000" b="1" i="1" dirty="0">
                <a:latin typeface="Times New Roman" panose="02020603050405020304" charset="0"/>
                <a:ea typeface="楷体" panose="02010609060101010101" charset="-122"/>
                <a:cs typeface="Times New Roman" panose="02020603050405020304" charset="0"/>
              </a:rPr>
              <a:t>I/</a:t>
            </a:r>
            <a:r>
              <a:rPr lang="en-US" altLang="zh-CN" sz="2000" b="1" dirty="0">
                <a:latin typeface="Times New Roman" panose="02020603050405020304" charset="0"/>
                <a:ea typeface="楷体" panose="02010609060101010101" charset="-122"/>
                <a:cs typeface="Times New Roman" panose="02020603050405020304" charset="0"/>
              </a:rPr>
              <a:t>16</a:t>
            </a:r>
            <a:endParaRPr lang="en-US" altLang="zh-CN" sz="2000" b="1" dirty="0">
              <a:latin typeface="Times New Roman" panose="02020603050405020304" charset="0"/>
              <a:ea typeface="楷体" panose="02010609060101010101" charset="-122"/>
              <a:cs typeface="Times New Roman" panose="02020603050405020304" charset="0"/>
            </a:endParaRPr>
          </a:p>
        </p:txBody>
      </p:sp>
      <p:sp>
        <p:nvSpPr>
          <p:cNvPr id="132140" name="Rectangle 44"/>
          <p:cNvSpPr/>
          <p:nvPr/>
        </p:nvSpPr>
        <p:spPr>
          <a:xfrm>
            <a:off x="2133600" y="2847975"/>
            <a:ext cx="354013" cy="396875"/>
          </a:xfrm>
          <a:prstGeom prst="rect">
            <a:avLst/>
          </a:prstGeom>
          <a:noFill/>
          <a:ln w="9525">
            <a:noFill/>
          </a:ln>
        </p:spPr>
        <p:txBody>
          <a:bodyPr wrap="none">
            <a:spAutoFit/>
          </a:bodyPr>
          <a:p>
            <a:r>
              <a:rPr lang="en-US" altLang="zh-CN" sz="2000" b="1" i="1" dirty="0">
                <a:latin typeface="Times New Roman" panose="02020603050405020304" charset="0"/>
                <a:ea typeface="楷体" panose="02010609060101010101" charset="-122"/>
                <a:cs typeface="Times New Roman" panose="02020603050405020304" charset="0"/>
              </a:rPr>
              <a:t>R</a:t>
            </a:r>
            <a:endParaRPr lang="en-US" altLang="zh-CN" sz="2000" b="1" i="1" dirty="0">
              <a:latin typeface="Times New Roman" panose="02020603050405020304" charset="0"/>
              <a:ea typeface="楷体" panose="02010609060101010101" charset="-122"/>
              <a:cs typeface="Times New Roman" panose="02020603050405020304" charset="0"/>
            </a:endParaRPr>
          </a:p>
        </p:txBody>
      </p:sp>
      <p:grpSp>
        <p:nvGrpSpPr>
          <p:cNvPr id="132193" name="Group 97"/>
          <p:cNvGrpSpPr/>
          <p:nvPr/>
        </p:nvGrpSpPr>
        <p:grpSpPr>
          <a:xfrm>
            <a:off x="3400425" y="3297238"/>
            <a:ext cx="225425" cy="1935162"/>
            <a:chOff x="2142" y="1915"/>
            <a:chExt cx="142" cy="1219"/>
          </a:xfrm>
        </p:grpSpPr>
        <p:sp>
          <p:nvSpPr>
            <p:cNvPr id="4154" name="Freeform 48"/>
            <p:cNvSpPr/>
            <p:nvPr/>
          </p:nvSpPr>
          <p:spPr>
            <a:xfrm flipH="1" flipV="1">
              <a:off x="2142" y="3092"/>
              <a:ext cx="105" cy="42"/>
            </a:xfrm>
            <a:custGeom>
              <a:avLst/>
              <a:gdLst/>
              <a:ahLst/>
              <a:cxnLst>
                <a:cxn ang="0">
                  <a:pos x="0" y="0"/>
                </a:cxn>
                <a:cxn ang="0">
                  <a:pos x="0" y="41"/>
                </a:cxn>
                <a:cxn ang="0">
                  <a:pos x="104" y="21"/>
                </a:cxn>
                <a:cxn ang="0">
                  <a:pos x="0" y="0"/>
                </a:cxn>
              </a:cxnLst>
              <a:pathLst>
                <a:path w="20000" h="20000">
                  <a:moveTo>
                    <a:pt x="0" y="0"/>
                  </a:moveTo>
                  <a:lnTo>
                    <a:pt x="0" y="19600"/>
                  </a:lnTo>
                  <a:lnTo>
                    <a:pt x="19897" y="10000"/>
                  </a:lnTo>
                  <a:lnTo>
                    <a:pt x="0" y="0"/>
                  </a:lnTo>
                  <a:close/>
                </a:path>
              </a:pathLst>
            </a:custGeom>
            <a:solidFill>
              <a:srgbClr val="0000FF">
                <a:alpha val="100000"/>
              </a:srgbClr>
            </a:solidFill>
            <a:ln w="28575" cap="flat" cmpd="sng">
              <a:solidFill>
                <a:srgbClr val="0000FF">
                  <a:alpha val="100000"/>
                </a:srgbClr>
              </a:solidFill>
              <a:prstDash val="solid"/>
              <a:round/>
              <a:headEnd type="none" w="sm" len="lg"/>
              <a:tailEnd type="none" w="sm" len="lg"/>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4155" name="Line 49"/>
            <p:cNvSpPr/>
            <p:nvPr/>
          </p:nvSpPr>
          <p:spPr>
            <a:xfrm flipH="1" flipV="1">
              <a:off x="2205" y="3110"/>
              <a:ext cx="79" cy="1"/>
            </a:xfrm>
            <a:prstGeom prst="line">
              <a:avLst/>
            </a:prstGeom>
            <a:ln w="28575" cap="flat" cmpd="sng">
              <a:solidFill>
                <a:srgbClr val="0000FF"/>
              </a:solidFill>
              <a:prstDash val="solid"/>
              <a:headEnd type="none" w="sm" len="sm"/>
              <a:tailEnd type="none" w="sm" len="sm"/>
            </a:ln>
          </p:spPr>
        </p:sp>
        <p:sp>
          <p:nvSpPr>
            <p:cNvPr id="4156" name="Line 50"/>
            <p:cNvSpPr/>
            <p:nvPr/>
          </p:nvSpPr>
          <p:spPr>
            <a:xfrm>
              <a:off x="2284" y="1936"/>
              <a:ext cx="0" cy="1176"/>
            </a:xfrm>
            <a:prstGeom prst="line">
              <a:avLst/>
            </a:prstGeom>
            <a:ln w="28575" cap="flat" cmpd="sng">
              <a:solidFill>
                <a:srgbClr val="0000FF"/>
              </a:solidFill>
              <a:prstDash val="dash"/>
              <a:headEnd type="none" w="med" len="med"/>
              <a:tailEnd type="none" w="med" len="med"/>
            </a:ln>
          </p:spPr>
        </p:sp>
        <p:sp>
          <p:nvSpPr>
            <p:cNvPr id="4157" name="Freeform 51"/>
            <p:cNvSpPr/>
            <p:nvPr/>
          </p:nvSpPr>
          <p:spPr>
            <a:xfrm flipH="1" flipV="1">
              <a:off x="2142" y="1915"/>
              <a:ext cx="105" cy="42"/>
            </a:xfrm>
            <a:custGeom>
              <a:avLst/>
              <a:gdLst/>
              <a:ahLst/>
              <a:cxnLst>
                <a:cxn ang="0">
                  <a:pos x="0" y="0"/>
                </a:cxn>
                <a:cxn ang="0">
                  <a:pos x="0" y="41"/>
                </a:cxn>
                <a:cxn ang="0">
                  <a:pos x="104" y="21"/>
                </a:cxn>
                <a:cxn ang="0">
                  <a:pos x="0" y="0"/>
                </a:cxn>
              </a:cxnLst>
              <a:pathLst>
                <a:path w="20000" h="20000">
                  <a:moveTo>
                    <a:pt x="0" y="0"/>
                  </a:moveTo>
                  <a:lnTo>
                    <a:pt x="0" y="19600"/>
                  </a:lnTo>
                  <a:lnTo>
                    <a:pt x="19897" y="10000"/>
                  </a:lnTo>
                  <a:lnTo>
                    <a:pt x="0" y="0"/>
                  </a:lnTo>
                  <a:close/>
                </a:path>
              </a:pathLst>
            </a:custGeom>
            <a:solidFill>
              <a:srgbClr val="0000FF">
                <a:alpha val="100000"/>
              </a:srgbClr>
            </a:solidFill>
            <a:ln w="28575" cap="flat" cmpd="sng">
              <a:solidFill>
                <a:srgbClr val="0000FF">
                  <a:alpha val="100000"/>
                </a:srgbClr>
              </a:solidFill>
              <a:prstDash val="solid"/>
              <a:round/>
              <a:headEnd type="none" w="sm" len="lg"/>
              <a:tailEnd type="none" w="sm" len="lg"/>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4158" name="Line 52"/>
            <p:cNvSpPr/>
            <p:nvPr/>
          </p:nvSpPr>
          <p:spPr>
            <a:xfrm flipH="1" flipV="1">
              <a:off x="2205" y="1933"/>
              <a:ext cx="79" cy="1"/>
            </a:xfrm>
            <a:prstGeom prst="line">
              <a:avLst/>
            </a:prstGeom>
            <a:ln w="28575" cap="flat" cmpd="sng">
              <a:solidFill>
                <a:srgbClr val="0000FF"/>
              </a:solidFill>
              <a:prstDash val="solid"/>
              <a:headEnd type="none" w="sm" len="sm"/>
              <a:tailEnd type="none" w="sm" len="sm"/>
            </a:ln>
          </p:spPr>
        </p:sp>
      </p:grpSp>
      <p:sp>
        <p:nvSpPr>
          <p:cNvPr id="132149" name="Rectangle 53"/>
          <p:cNvSpPr/>
          <p:nvPr/>
        </p:nvSpPr>
        <p:spPr>
          <a:xfrm>
            <a:off x="3355975" y="2859088"/>
            <a:ext cx="354013" cy="396875"/>
          </a:xfrm>
          <a:prstGeom prst="rect">
            <a:avLst/>
          </a:prstGeom>
          <a:noFill/>
          <a:ln w="9525">
            <a:noFill/>
          </a:ln>
        </p:spPr>
        <p:txBody>
          <a:bodyPr wrap="none">
            <a:spAutoFit/>
          </a:bodyPr>
          <a:p>
            <a:r>
              <a:rPr lang="en-US" altLang="zh-CN" sz="2000" b="1" i="1" dirty="0">
                <a:latin typeface="Times New Roman" panose="02020603050405020304" charset="0"/>
                <a:ea typeface="楷体" panose="02010609060101010101" charset="-122"/>
                <a:cs typeface="Times New Roman" panose="02020603050405020304" charset="0"/>
              </a:rPr>
              <a:t>R</a:t>
            </a:r>
            <a:endParaRPr lang="en-US" altLang="zh-CN" sz="2000" b="1" i="1" dirty="0">
              <a:latin typeface="Times New Roman" panose="02020603050405020304" charset="0"/>
              <a:ea typeface="楷体" panose="02010609060101010101" charset="-122"/>
              <a:cs typeface="Times New Roman" panose="02020603050405020304" charset="0"/>
            </a:endParaRPr>
          </a:p>
        </p:txBody>
      </p:sp>
      <p:grpSp>
        <p:nvGrpSpPr>
          <p:cNvPr id="132194" name="Group 98"/>
          <p:cNvGrpSpPr/>
          <p:nvPr/>
        </p:nvGrpSpPr>
        <p:grpSpPr>
          <a:xfrm>
            <a:off x="4587875" y="3297238"/>
            <a:ext cx="227013" cy="1935162"/>
            <a:chOff x="2890" y="1915"/>
            <a:chExt cx="143" cy="1219"/>
          </a:xfrm>
        </p:grpSpPr>
        <p:sp>
          <p:nvSpPr>
            <p:cNvPr id="4149" name="Freeform 55"/>
            <p:cNvSpPr/>
            <p:nvPr/>
          </p:nvSpPr>
          <p:spPr>
            <a:xfrm flipH="1" flipV="1">
              <a:off x="2890" y="3092"/>
              <a:ext cx="105" cy="42"/>
            </a:xfrm>
            <a:custGeom>
              <a:avLst/>
              <a:gdLst/>
              <a:ahLst/>
              <a:cxnLst>
                <a:cxn ang="0">
                  <a:pos x="0" y="0"/>
                </a:cxn>
                <a:cxn ang="0">
                  <a:pos x="0" y="41"/>
                </a:cxn>
                <a:cxn ang="0">
                  <a:pos x="104" y="21"/>
                </a:cxn>
                <a:cxn ang="0">
                  <a:pos x="0" y="0"/>
                </a:cxn>
              </a:cxnLst>
              <a:pathLst>
                <a:path w="20000" h="20000">
                  <a:moveTo>
                    <a:pt x="0" y="0"/>
                  </a:moveTo>
                  <a:lnTo>
                    <a:pt x="0" y="19600"/>
                  </a:lnTo>
                  <a:lnTo>
                    <a:pt x="19897" y="10000"/>
                  </a:lnTo>
                  <a:lnTo>
                    <a:pt x="0" y="0"/>
                  </a:lnTo>
                  <a:close/>
                </a:path>
              </a:pathLst>
            </a:custGeom>
            <a:solidFill>
              <a:srgbClr val="0000FF">
                <a:alpha val="100000"/>
              </a:srgbClr>
            </a:solidFill>
            <a:ln w="28575" cap="flat" cmpd="sng">
              <a:solidFill>
                <a:srgbClr val="0000FF">
                  <a:alpha val="100000"/>
                </a:srgbClr>
              </a:solidFill>
              <a:prstDash val="solid"/>
              <a:round/>
              <a:headEnd type="none" w="sm" len="lg"/>
              <a:tailEnd type="none" w="sm" len="lg"/>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4150" name="Line 56"/>
            <p:cNvSpPr/>
            <p:nvPr/>
          </p:nvSpPr>
          <p:spPr>
            <a:xfrm flipH="1" flipV="1">
              <a:off x="2953" y="3110"/>
              <a:ext cx="79" cy="1"/>
            </a:xfrm>
            <a:prstGeom prst="line">
              <a:avLst/>
            </a:prstGeom>
            <a:ln w="28575" cap="flat" cmpd="sng">
              <a:solidFill>
                <a:srgbClr val="0000FF"/>
              </a:solidFill>
              <a:prstDash val="solid"/>
              <a:headEnd type="none" w="sm" len="sm"/>
              <a:tailEnd type="none" w="sm" len="sm"/>
            </a:ln>
          </p:spPr>
        </p:sp>
        <p:sp>
          <p:nvSpPr>
            <p:cNvPr id="4151" name="Line 57"/>
            <p:cNvSpPr/>
            <p:nvPr/>
          </p:nvSpPr>
          <p:spPr>
            <a:xfrm>
              <a:off x="3032" y="1936"/>
              <a:ext cx="1" cy="1176"/>
            </a:xfrm>
            <a:prstGeom prst="line">
              <a:avLst/>
            </a:prstGeom>
            <a:ln w="28575" cap="flat" cmpd="sng">
              <a:solidFill>
                <a:srgbClr val="0000FF"/>
              </a:solidFill>
              <a:prstDash val="dash"/>
              <a:headEnd type="none" w="med" len="med"/>
              <a:tailEnd type="none" w="med" len="med"/>
            </a:ln>
          </p:spPr>
        </p:sp>
        <p:sp>
          <p:nvSpPr>
            <p:cNvPr id="4152" name="Freeform 58"/>
            <p:cNvSpPr/>
            <p:nvPr/>
          </p:nvSpPr>
          <p:spPr>
            <a:xfrm flipH="1" flipV="1">
              <a:off x="2890" y="1915"/>
              <a:ext cx="105" cy="42"/>
            </a:xfrm>
            <a:custGeom>
              <a:avLst/>
              <a:gdLst/>
              <a:ahLst/>
              <a:cxnLst>
                <a:cxn ang="0">
                  <a:pos x="0" y="0"/>
                </a:cxn>
                <a:cxn ang="0">
                  <a:pos x="0" y="41"/>
                </a:cxn>
                <a:cxn ang="0">
                  <a:pos x="104" y="21"/>
                </a:cxn>
                <a:cxn ang="0">
                  <a:pos x="0" y="0"/>
                </a:cxn>
              </a:cxnLst>
              <a:pathLst>
                <a:path w="20000" h="20000">
                  <a:moveTo>
                    <a:pt x="0" y="0"/>
                  </a:moveTo>
                  <a:lnTo>
                    <a:pt x="0" y="19600"/>
                  </a:lnTo>
                  <a:lnTo>
                    <a:pt x="19897" y="10000"/>
                  </a:lnTo>
                  <a:lnTo>
                    <a:pt x="0" y="0"/>
                  </a:lnTo>
                  <a:close/>
                </a:path>
              </a:pathLst>
            </a:custGeom>
            <a:solidFill>
              <a:srgbClr val="0000FF">
                <a:alpha val="100000"/>
              </a:srgbClr>
            </a:solidFill>
            <a:ln w="28575" cap="flat" cmpd="sng">
              <a:solidFill>
                <a:srgbClr val="0000FF">
                  <a:alpha val="100000"/>
                </a:srgbClr>
              </a:solidFill>
              <a:prstDash val="solid"/>
              <a:round/>
              <a:headEnd type="none" w="sm" len="lg"/>
              <a:tailEnd type="none" w="sm" len="lg"/>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4153" name="Line 59"/>
            <p:cNvSpPr/>
            <p:nvPr/>
          </p:nvSpPr>
          <p:spPr>
            <a:xfrm flipH="1" flipV="1">
              <a:off x="2953" y="1933"/>
              <a:ext cx="79" cy="1"/>
            </a:xfrm>
            <a:prstGeom prst="line">
              <a:avLst/>
            </a:prstGeom>
            <a:ln w="28575" cap="flat" cmpd="sng">
              <a:solidFill>
                <a:srgbClr val="0000FF"/>
              </a:solidFill>
              <a:prstDash val="solid"/>
              <a:headEnd type="none" w="sm" len="sm"/>
              <a:tailEnd type="none" w="sm" len="sm"/>
            </a:ln>
          </p:spPr>
        </p:sp>
      </p:grpSp>
      <p:sp>
        <p:nvSpPr>
          <p:cNvPr id="132156" name="Rectangle 60"/>
          <p:cNvSpPr/>
          <p:nvPr/>
        </p:nvSpPr>
        <p:spPr>
          <a:xfrm>
            <a:off x="4543425" y="2859088"/>
            <a:ext cx="354013" cy="396875"/>
          </a:xfrm>
          <a:prstGeom prst="rect">
            <a:avLst/>
          </a:prstGeom>
          <a:noFill/>
          <a:ln w="9525">
            <a:noFill/>
          </a:ln>
        </p:spPr>
        <p:txBody>
          <a:bodyPr wrap="none">
            <a:spAutoFit/>
          </a:bodyPr>
          <a:p>
            <a:r>
              <a:rPr lang="en-US" altLang="zh-CN" sz="2000" b="1" i="1" dirty="0">
                <a:latin typeface="Times New Roman" panose="02020603050405020304" charset="0"/>
                <a:ea typeface="楷体" panose="02010609060101010101" charset="-122"/>
                <a:cs typeface="Times New Roman" panose="02020603050405020304" charset="0"/>
              </a:rPr>
              <a:t>R</a:t>
            </a:r>
            <a:endParaRPr lang="en-US" altLang="zh-CN" sz="2000" b="1" i="1" dirty="0">
              <a:latin typeface="Times New Roman" panose="02020603050405020304" charset="0"/>
              <a:ea typeface="楷体" panose="02010609060101010101" charset="-122"/>
              <a:cs typeface="Times New Roman" panose="02020603050405020304" charset="0"/>
            </a:endParaRPr>
          </a:p>
        </p:txBody>
      </p:sp>
      <p:grpSp>
        <p:nvGrpSpPr>
          <p:cNvPr id="132195" name="Group 99"/>
          <p:cNvGrpSpPr/>
          <p:nvPr/>
        </p:nvGrpSpPr>
        <p:grpSpPr>
          <a:xfrm>
            <a:off x="5799138" y="3248025"/>
            <a:ext cx="227012" cy="1922463"/>
            <a:chOff x="3653" y="1884"/>
            <a:chExt cx="143" cy="1211"/>
          </a:xfrm>
        </p:grpSpPr>
        <p:sp>
          <p:nvSpPr>
            <p:cNvPr id="4144" name="Freeform 62"/>
            <p:cNvSpPr/>
            <p:nvPr/>
          </p:nvSpPr>
          <p:spPr>
            <a:xfrm flipH="1" flipV="1">
              <a:off x="3653" y="3061"/>
              <a:ext cx="88" cy="34"/>
            </a:xfrm>
            <a:custGeom>
              <a:avLst/>
              <a:gdLst/>
              <a:ahLst/>
              <a:cxnLst>
                <a:cxn ang="0">
                  <a:pos x="0" y="0"/>
                </a:cxn>
                <a:cxn ang="0">
                  <a:pos x="0" y="33"/>
                </a:cxn>
                <a:cxn ang="0">
                  <a:pos x="88" y="17"/>
                </a:cxn>
                <a:cxn ang="0">
                  <a:pos x="0" y="0"/>
                </a:cxn>
              </a:cxnLst>
              <a:pathLst>
                <a:path w="20000" h="20000">
                  <a:moveTo>
                    <a:pt x="0" y="0"/>
                  </a:moveTo>
                  <a:lnTo>
                    <a:pt x="0" y="19600"/>
                  </a:lnTo>
                  <a:lnTo>
                    <a:pt x="19897" y="10000"/>
                  </a:lnTo>
                  <a:lnTo>
                    <a:pt x="0" y="0"/>
                  </a:lnTo>
                  <a:close/>
                </a:path>
              </a:pathLst>
            </a:custGeom>
            <a:solidFill>
              <a:srgbClr val="0000FF">
                <a:alpha val="100000"/>
              </a:srgbClr>
            </a:solidFill>
            <a:ln w="28575" cap="flat" cmpd="sng">
              <a:solidFill>
                <a:srgbClr val="0000FF">
                  <a:alpha val="100000"/>
                </a:srgbClr>
              </a:solidFill>
              <a:prstDash val="solid"/>
              <a:round/>
              <a:headEnd type="none" w="sm" len="lg"/>
              <a:tailEnd type="none" w="sm" len="lg"/>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4145" name="Line 63"/>
            <p:cNvSpPr/>
            <p:nvPr/>
          </p:nvSpPr>
          <p:spPr>
            <a:xfrm flipH="1" flipV="1">
              <a:off x="3716" y="3071"/>
              <a:ext cx="66" cy="1"/>
            </a:xfrm>
            <a:prstGeom prst="line">
              <a:avLst/>
            </a:prstGeom>
            <a:ln w="28575" cap="flat" cmpd="sng">
              <a:solidFill>
                <a:srgbClr val="0000FF"/>
              </a:solidFill>
              <a:prstDash val="solid"/>
              <a:headEnd type="none" w="sm" len="sm"/>
              <a:tailEnd type="none" w="sm" len="sm"/>
            </a:ln>
          </p:spPr>
        </p:sp>
        <p:sp>
          <p:nvSpPr>
            <p:cNvPr id="4146" name="Line 64"/>
            <p:cNvSpPr/>
            <p:nvPr/>
          </p:nvSpPr>
          <p:spPr>
            <a:xfrm>
              <a:off x="3795" y="2121"/>
              <a:ext cx="1" cy="952"/>
            </a:xfrm>
            <a:prstGeom prst="line">
              <a:avLst/>
            </a:prstGeom>
            <a:ln w="28575" cap="flat" cmpd="sng">
              <a:solidFill>
                <a:srgbClr val="0000FF"/>
              </a:solidFill>
              <a:prstDash val="dash"/>
              <a:headEnd type="none" w="med" len="med"/>
              <a:tailEnd type="none" w="med" len="med"/>
            </a:ln>
          </p:spPr>
        </p:sp>
        <p:sp>
          <p:nvSpPr>
            <p:cNvPr id="4147" name="Freeform 65"/>
            <p:cNvSpPr/>
            <p:nvPr/>
          </p:nvSpPr>
          <p:spPr>
            <a:xfrm flipH="1" flipV="1">
              <a:off x="3653" y="1884"/>
              <a:ext cx="88" cy="34"/>
            </a:xfrm>
            <a:custGeom>
              <a:avLst/>
              <a:gdLst/>
              <a:ahLst/>
              <a:cxnLst>
                <a:cxn ang="0">
                  <a:pos x="0" y="0"/>
                </a:cxn>
                <a:cxn ang="0">
                  <a:pos x="0" y="33"/>
                </a:cxn>
                <a:cxn ang="0">
                  <a:pos x="88" y="17"/>
                </a:cxn>
                <a:cxn ang="0">
                  <a:pos x="0" y="0"/>
                </a:cxn>
              </a:cxnLst>
              <a:pathLst>
                <a:path w="20000" h="20000">
                  <a:moveTo>
                    <a:pt x="0" y="0"/>
                  </a:moveTo>
                  <a:lnTo>
                    <a:pt x="0" y="19600"/>
                  </a:lnTo>
                  <a:lnTo>
                    <a:pt x="19897" y="10000"/>
                  </a:lnTo>
                  <a:lnTo>
                    <a:pt x="0" y="0"/>
                  </a:lnTo>
                  <a:close/>
                </a:path>
              </a:pathLst>
            </a:custGeom>
            <a:solidFill>
              <a:srgbClr val="0000FF">
                <a:alpha val="100000"/>
              </a:srgbClr>
            </a:solidFill>
            <a:ln w="28575" cap="flat" cmpd="sng">
              <a:solidFill>
                <a:srgbClr val="0000FF">
                  <a:alpha val="100000"/>
                </a:srgbClr>
              </a:solidFill>
              <a:prstDash val="solid"/>
              <a:round/>
              <a:headEnd type="none" w="sm" len="lg"/>
              <a:tailEnd type="none" w="sm" len="lg"/>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4148" name="Line 66"/>
            <p:cNvSpPr/>
            <p:nvPr/>
          </p:nvSpPr>
          <p:spPr>
            <a:xfrm flipH="1" flipV="1">
              <a:off x="3716" y="1894"/>
              <a:ext cx="66" cy="1"/>
            </a:xfrm>
            <a:prstGeom prst="line">
              <a:avLst/>
            </a:prstGeom>
            <a:ln w="28575" cap="flat" cmpd="sng">
              <a:solidFill>
                <a:srgbClr val="0000FF"/>
              </a:solidFill>
              <a:prstDash val="solid"/>
              <a:headEnd type="none" w="sm" len="sm"/>
              <a:tailEnd type="none" w="sm" len="sm"/>
            </a:ln>
          </p:spPr>
        </p:sp>
      </p:grpSp>
      <p:sp>
        <p:nvSpPr>
          <p:cNvPr id="132163" name="Rectangle 67"/>
          <p:cNvSpPr/>
          <p:nvPr/>
        </p:nvSpPr>
        <p:spPr>
          <a:xfrm>
            <a:off x="5754688" y="2797175"/>
            <a:ext cx="354012" cy="396875"/>
          </a:xfrm>
          <a:prstGeom prst="rect">
            <a:avLst/>
          </a:prstGeom>
          <a:noFill/>
          <a:ln w="9525">
            <a:noFill/>
          </a:ln>
        </p:spPr>
        <p:txBody>
          <a:bodyPr wrap="none">
            <a:spAutoFit/>
          </a:bodyPr>
          <a:p>
            <a:r>
              <a:rPr lang="en-US" altLang="zh-CN" sz="2000" b="1" i="1" dirty="0">
                <a:latin typeface="Times New Roman" panose="02020603050405020304" charset="0"/>
                <a:ea typeface="楷体" panose="02010609060101010101" charset="-122"/>
                <a:cs typeface="Times New Roman" panose="02020603050405020304" charset="0"/>
              </a:rPr>
              <a:t>R</a:t>
            </a:r>
            <a:endParaRPr lang="en-US" altLang="zh-CN" sz="2000" b="1" i="1" dirty="0">
              <a:latin typeface="Times New Roman" panose="02020603050405020304" charset="0"/>
              <a:ea typeface="楷体" panose="02010609060101010101" charset="-122"/>
              <a:cs typeface="Times New Roman" panose="02020603050405020304" charset="0"/>
            </a:endParaRPr>
          </a:p>
        </p:txBody>
      </p:sp>
      <p:sp>
        <p:nvSpPr>
          <p:cNvPr id="4118" name="AutoShape 69"/>
          <p:cNvSpPr/>
          <p:nvPr/>
        </p:nvSpPr>
        <p:spPr>
          <a:xfrm>
            <a:off x="7820025" y="4940300"/>
            <a:ext cx="88900" cy="469900"/>
          </a:xfrm>
          <a:prstGeom prst="upArrow">
            <a:avLst>
              <a:gd name="adj1" fmla="val 50000"/>
              <a:gd name="adj2" fmla="val 132142"/>
            </a:avLst>
          </a:prstGeom>
          <a:noFill/>
          <a:ln w="9525">
            <a:noFill/>
          </a:ln>
        </p:spPr>
        <p:txBody>
          <a:bodyPr wrap="none" anchor="ctr" anchorCtr="0">
            <a:spAutoFit/>
          </a:bodyPr>
          <a:p>
            <a:endParaRPr lang="zh-CN" altLang="en-US" dirty="0">
              <a:latin typeface="Times New Roman" panose="02020603050405020304" charset="0"/>
              <a:ea typeface="楷体" panose="02010609060101010101" charset="-122"/>
              <a:cs typeface="Times New Roman" panose="02020603050405020304" charset="0"/>
            </a:endParaRPr>
          </a:p>
        </p:txBody>
      </p:sp>
      <p:sp>
        <p:nvSpPr>
          <p:cNvPr id="132167" name="AutoShape 71"/>
          <p:cNvSpPr/>
          <p:nvPr/>
        </p:nvSpPr>
        <p:spPr>
          <a:xfrm>
            <a:off x="4843463" y="3965575"/>
            <a:ext cx="42862" cy="482600"/>
          </a:xfrm>
          <a:prstGeom prst="upArrow">
            <a:avLst>
              <a:gd name="adj1" fmla="val 50000"/>
              <a:gd name="adj2" fmla="val 281484"/>
            </a:avLst>
          </a:prstGeom>
          <a:solidFill>
            <a:srgbClr val="FF5050"/>
          </a:solidFill>
          <a:ln w="9525" cap="flat" cmpd="sng">
            <a:solidFill>
              <a:srgbClr val="CC3300"/>
            </a:solidFill>
            <a:prstDash val="solid"/>
            <a:miter/>
            <a:headEnd type="none" w="med" len="med"/>
            <a:tailEnd type="none" w="med" len="med"/>
          </a:ln>
        </p:spPr>
        <p:txBody>
          <a:bodyPr anchor="ctr" anchorCtr="0">
            <a:spAutoFit/>
          </a:bodyPr>
          <a:p>
            <a:endParaRPr lang="zh-CN" altLang="en-US" dirty="0">
              <a:latin typeface="Times New Roman" panose="02020603050405020304" charset="0"/>
              <a:ea typeface="楷体" panose="02010609060101010101" charset="-122"/>
              <a:cs typeface="Times New Roman" panose="02020603050405020304" charset="0"/>
            </a:endParaRPr>
          </a:p>
        </p:txBody>
      </p:sp>
      <p:sp>
        <p:nvSpPr>
          <p:cNvPr id="132170" name="AutoShape 74"/>
          <p:cNvSpPr/>
          <p:nvPr/>
        </p:nvSpPr>
        <p:spPr>
          <a:xfrm>
            <a:off x="3668713" y="3951288"/>
            <a:ext cx="42862" cy="482600"/>
          </a:xfrm>
          <a:prstGeom prst="upArrow">
            <a:avLst>
              <a:gd name="adj1" fmla="val 50000"/>
              <a:gd name="adj2" fmla="val 281484"/>
            </a:avLst>
          </a:prstGeom>
          <a:solidFill>
            <a:srgbClr val="FF5050"/>
          </a:solidFill>
          <a:ln w="9525" cap="flat" cmpd="sng">
            <a:solidFill>
              <a:srgbClr val="CC3300"/>
            </a:solidFill>
            <a:prstDash val="solid"/>
            <a:miter/>
            <a:headEnd type="none" w="med" len="med"/>
            <a:tailEnd type="none" w="med" len="med"/>
          </a:ln>
        </p:spPr>
        <p:txBody>
          <a:bodyPr anchor="ctr" anchorCtr="0">
            <a:spAutoFit/>
          </a:bodyPr>
          <a:p>
            <a:endParaRPr lang="zh-CN" altLang="en-US" dirty="0">
              <a:latin typeface="Times New Roman" panose="02020603050405020304" charset="0"/>
              <a:ea typeface="楷体" panose="02010609060101010101" charset="-122"/>
              <a:cs typeface="Times New Roman" panose="02020603050405020304" charset="0"/>
            </a:endParaRPr>
          </a:p>
        </p:txBody>
      </p:sp>
      <p:grpSp>
        <p:nvGrpSpPr>
          <p:cNvPr id="132192" name="Group 96"/>
          <p:cNvGrpSpPr/>
          <p:nvPr/>
        </p:nvGrpSpPr>
        <p:grpSpPr>
          <a:xfrm>
            <a:off x="2178050" y="3286125"/>
            <a:ext cx="323850" cy="1935163"/>
            <a:chOff x="1372" y="1908"/>
            <a:chExt cx="204" cy="1219"/>
          </a:xfrm>
        </p:grpSpPr>
        <p:sp>
          <p:nvSpPr>
            <p:cNvPr id="4138" name="Freeform 7"/>
            <p:cNvSpPr/>
            <p:nvPr/>
          </p:nvSpPr>
          <p:spPr>
            <a:xfrm flipH="1" flipV="1">
              <a:off x="1372" y="3085"/>
              <a:ext cx="105" cy="42"/>
            </a:xfrm>
            <a:custGeom>
              <a:avLst/>
              <a:gdLst/>
              <a:ahLst/>
              <a:cxnLst>
                <a:cxn ang="0">
                  <a:pos x="0" y="0"/>
                </a:cxn>
                <a:cxn ang="0">
                  <a:pos x="0" y="41"/>
                </a:cxn>
                <a:cxn ang="0">
                  <a:pos x="104" y="21"/>
                </a:cxn>
                <a:cxn ang="0">
                  <a:pos x="0" y="0"/>
                </a:cxn>
              </a:cxnLst>
              <a:pathLst>
                <a:path w="20000" h="20000">
                  <a:moveTo>
                    <a:pt x="0" y="0"/>
                  </a:moveTo>
                  <a:lnTo>
                    <a:pt x="0" y="19600"/>
                  </a:lnTo>
                  <a:lnTo>
                    <a:pt x="19897" y="10000"/>
                  </a:lnTo>
                  <a:lnTo>
                    <a:pt x="0" y="0"/>
                  </a:lnTo>
                  <a:close/>
                </a:path>
              </a:pathLst>
            </a:custGeom>
            <a:solidFill>
              <a:srgbClr val="0000FF">
                <a:alpha val="100000"/>
              </a:srgbClr>
            </a:solidFill>
            <a:ln w="28575" cap="flat" cmpd="sng">
              <a:solidFill>
                <a:srgbClr val="0000FF">
                  <a:alpha val="100000"/>
                </a:srgbClr>
              </a:solidFill>
              <a:prstDash val="solid"/>
              <a:round/>
              <a:headEnd type="none" w="sm" len="lg"/>
              <a:tailEnd type="none" w="sm" len="lg"/>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4139" name="Line 8"/>
            <p:cNvSpPr/>
            <p:nvPr/>
          </p:nvSpPr>
          <p:spPr>
            <a:xfrm flipH="1" flipV="1">
              <a:off x="1435" y="3103"/>
              <a:ext cx="79" cy="1"/>
            </a:xfrm>
            <a:prstGeom prst="line">
              <a:avLst/>
            </a:prstGeom>
            <a:ln w="28575" cap="flat" cmpd="sng">
              <a:solidFill>
                <a:srgbClr val="0000FF"/>
              </a:solidFill>
              <a:prstDash val="solid"/>
              <a:headEnd type="none" w="sm" len="sm"/>
              <a:tailEnd type="none" w="sm" len="sm"/>
            </a:ln>
          </p:spPr>
        </p:sp>
        <p:sp>
          <p:nvSpPr>
            <p:cNvPr id="4140" name="Line 9"/>
            <p:cNvSpPr/>
            <p:nvPr/>
          </p:nvSpPr>
          <p:spPr>
            <a:xfrm>
              <a:off x="1514" y="1929"/>
              <a:ext cx="0" cy="1176"/>
            </a:xfrm>
            <a:prstGeom prst="line">
              <a:avLst/>
            </a:prstGeom>
            <a:ln w="28575" cap="flat" cmpd="sng">
              <a:solidFill>
                <a:srgbClr val="0000FF"/>
              </a:solidFill>
              <a:prstDash val="dash"/>
              <a:headEnd type="none" w="med" len="med"/>
              <a:tailEnd type="none" w="med" len="med"/>
            </a:ln>
          </p:spPr>
        </p:sp>
        <p:sp>
          <p:nvSpPr>
            <p:cNvPr id="4141" name="Freeform 10"/>
            <p:cNvSpPr/>
            <p:nvPr/>
          </p:nvSpPr>
          <p:spPr>
            <a:xfrm flipH="1" flipV="1">
              <a:off x="1372" y="1908"/>
              <a:ext cx="105" cy="42"/>
            </a:xfrm>
            <a:custGeom>
              <a:avLst/>
              <a:gdLst/>
              <a:ahLst/>
              <a:cxnLst>
                <a:cxn ang="0">
                  <a:pos x="0" y="0"/>
                </a:cxn>
                <a:cxn ang="0">
                  <a:pos x="0" y="41"/>
                </a:cxn>
                <a:cxn ang="0">
                  <a:pos x="104" y="21"/>
                </a:cxn>
                <a:cxn ang="0">
                  <a:pos x="0" y="0"/>
                </a:cxn>
              </a:cxnLst>
              <a:pathLst>
                <a:path w="20000" h="20000">
                  <a:moveTo>
                    <a:pt x="0" y="0"/>
                  </a:moveTo>
                  <a:lnTo>
                    <a:pt x="0" y="19600"/>
                  </a:lnTo>
                  <a:lnTo>
                    <a:pt x="19897" y="10000"/>
                  </a:lnTo>
                  <a:lnTo>
                    <a:pt x="0" y="0"/>
                  </a:lnTo>
                  <a:close/>
                </a:path>
              </a:pathLst>
            </a:custGeom>
            <a:solidFill>
              <a:srgbClr val="0000FF">
                <a:alpha val="100000"/>
              </a:srgbClr>
            </a:solidFill>
            <a:ln w="28575" cap="flat" cmpd="sng">
              <a:solidFill>
                <a:srgbClr val="0000FF">
                  <a:alpha val="100000"/>
                </a:srgbClr>
              </a:solidFill>
              <a:prstDash val="solid"/>
              <a:round/>
              <a:headEnd type="none" w="sm" len="lg"/>
              <a:tailEnd type="none" w="sm" len="lg"/>
            </a:ln>
          </p:spPr>
          <p:txBody>
            <a:bodyPr/>
            <a:p>
              <a:endParaRPr lang="zh-CN" altLang="en-US">
                <a:latin typeface="Times New Roman" panose="02020603050405020304" charset="0"/>
                <a:ea typeface="楷体" panose="02010609060101010101" charset="-122"/>
                <a:cs typeface="Times New Roman" panose="02020603050405020304" charset="0"/>
              </a:endParaRPr>
            </a:p>
          </p:txBody>
        </p:sp>
        <p:sp>
          <p:nvSpPr>
            <p:cNvPr id="4142" name="Line 11"/>
            <p:cNvSpPr/>
            <p:nvPr/>
          </p:nvSpPr>
          <p:spPr>
            <a:xfrm flipH="1" flipV="1">
              <a:off x="1435" y="1926"/>
              <a:ext cx="79" cy="1"/>
            </a:xfrm>
            <a:prstGeom prst="line">
              <a:avLst/>
            </a:prstGeom>
            <a:ln w="28575" cap="flat" cmpd="sng">
              <a:solidFill>
                <a:srgbClr val="0000FF"/>
              </a:solidFill>
              <a:prstDash val="solid"/>
              <a:headEnd type="none" w="sm" len="sm"/>
              <a:tailEnd type="none" w="sm" len="sm"/>
            </a:ln>
          </p:spPr>
        </p:sp>
        <p:sp>
          <p:nvSpPr>
            <p:cNvPr id="4143" name="AutoShape 75"/>
            <p:cNvSpPr/>
            <p:nvPr/>
          </p:nvSpPr>
          <p:spPr>
            <a:xfrm>
              <a:off x="1549" y="2335"/>
              <a:ext cx="27" cy="304"/>
            </a:xfrm>
            <a:prstGeom prst="upArrow">
              <a:avLst>
                <a:gd name="adj1" fmla="val 50000"/>
                <a:gd name="adj2" fmla="val 281481"/>
              </a:avLst>
            </a:prstGeom>
            <a:solidFill>
              <a:srgbClr val="FF5050"/>
            </a:solidFill>
            <a:ln w="9525" cap="flat" cmpd="sng">
              <a:solidFill>
                <a:srgbClr val="CC3300"/>
              </a:solidFill>
              <a:prstDash val="solid"/>
              <a:miter/>
              <a:headEnd type="none" w="med" len="med"/>
              <a:tailEnd type="none" w="med" len="med"/>
            </a:ln>
          </p:spPr>
          <p:txBody>
            <a:bodyPr anchor="ctr" anchorCtr="0">
              <a:spAutoFit/>
            </a:bodyPr>
            <a:p>
              <a:endParaRPr lang="zh-CN" altLang="en-US" dirty="0">
                <a:latin typeface="Times New Roman" panose="02020603050405020304" charset="0"/>
                <a:ea typeface="楷体" panose="02010609060101010101" charset="-122"/>
                <a:cs typeface="Times New Roman" panose="02020603050405020304" charset="0"/>
              </a:endParaRPr>
            </a:p>
          </p:txBody>
        </p:sp>
      </p:grpSp>
      <p:sp>
        <p:nvSpPr>
          <p:cNvPr id="132172" name="AutoShape 76"/>
          <p:cNvSpPr/>
          <p:nvPr/>
        </p:nvSpPr>
        <p:spPr>
          <a:xfrm>
            <a:off x="6065838" y="3963988"/>
            <a:ext cx="42862" cy="482600"/>
          </a:xfrm>
          <a:prstGeom prst="upArrow">
            <a:avLst>
              <a:gd name="adj1" fmla="val 50000"/>
              <a:gd name="adj2" fmla="val 281484"/>
            </a:avLst>
          </a:prstGeom>
          <a:solidFill>
            <a:srgbClr val="FF5050"/>
          </a:solidFill>
          <a:ln w="9525" cap="flat" cmpd="sng">
            <a:solidFill>
              <a:srgbClr val="CC3300"/>
            </a:solidFill>
            <a:prstDash val="solid"/>
            <a:miter/>
            <a:headEnd type="none" w="med" len="med"/>
            <a:tailEnd type="none" w="med" len="med"/>
          </a:ln>
        </p:spPr>
        <p:txBody>
          <a:bodyPr anchor="ctr" anchorCtr="0">
            <a:spAutoFit/>
          </a:bodyPr>
          <a:p>
            <a:endParaRPr lang="zh-CN" altLang="en-US" dirty="0">
              <a:latin typeface="Times New Roman" panose="02020603050405020304" charset="0"/>
              <a:ea typeface="楷体" panose="02010609060101010101" charset="-122"/>
              <a:cs typeface="Times New Roman" panose="02020603050405020304" charset="0"/>
            </a:endParaRPr>
          </a:p>
        </p:txBody>
      </p:sp>
      <p:sp>
        <p:nvSpPr>
          <p:cNvPr id="132176" name="Rectangle 80"/>
          <p:cNvSpPr/>
          <p:nvPr/>
        </p:nvSpPr>
        <p:spPr>
          <a:xfrm>
            <a:off x="5078413" y="5065713"/>
            <a:ext cx="479425" cy="396875"/>
          </a:xfrm>
          <a:prstGeom prst="rect">
            <a:avLst/>
          </a:prstGeom>
          <a:noFill/>
          <a:ln w="9525">
            <a:noFill/>
          </a:ln>
        </p:spPr>
        <p:txBody>
          <a:bodyPr wrap="none">
            <a:spAutoFit/>
          </a:bodyPr>
          <a:p>
            <a:r>
              <a:rPr lang="en-US" altLang="zh-CN" sz="2000" b="1" i="1" dirty="0">
                <a:latin typeface="Times New Roman" panose="02020603050405020304" charset="0"/>
                <a:ea typeface="楷体" panose="02010609060101010101" charset="-122"/>
                <a:cs typeface="Times New Roman" panose="02020603050405020304" charset="0"/>
              </a:rPr>
              <a:t>I/</a:t>
            </a:r>
            <a:r>
              <a:rPr lang="en-US" altLang="zh-CN" sz="2000" b="1" dirty="0">
                <a:latin typeface="Times New Roman" panose="02020603050405020304" charset="0"/>
                <a:ea typeface="楷体" panose="02010609060101010101" charset="-122"/>
                <a:cs typeface="Times New Roman" panose="02020603050405020304" charset="0"/>
              </a:rPr>
              <a:t>2</a:t>
            </a:r>
            <a:endParaRPr lang="en-US" altLang="zh-CN" sz="2000" b="1" dirty="0">
              <a:latin typeface="Times New Roman" panose="02020603050405020304" charset="0"/>
              <a:ea typeface="楷体" panose="02010609060101010101" charset="-122"/>
              <a:cs typeface="Times New Roman" panose="02020603050405020304" charset="0"/>
            </a:endParaRPr>
          </a:p>
        </p:txBody>
      </p:sp>
      <p:sp>
        <p:nvSpPr>
          <p:cNvPr id="132177" name="Rectangle 81"/>
          <p:cNvSpPr/>
          <p:nvPr/>
        </p:nvSpPr>
        <p:spPr>
          <a:xfrm>
            <a:off x="3863975" y="5040313"/>
            <a:ext cx="479425" cy="396875"/>
          </a:xfrm>
          <a:prstGeom prst="rect">
            <a:avLst/>
          </a:prstGeom>
          <a:noFill/>
          <a:ln w="9525">
            <a:noFill/>
          </a:ln>
        </p:spPr>
        <p:txBody>
          <a:bodyPr wrap="none">
            <a:spAutoFit/>
          </a:bodyPr>
          <a:p>
            <a:r>
              <a:rPr lang="en-US" altLang="zh-CN" sz="2000" b="1" i="1" dirty="0">
                <a:latin typeface="Times New Roman" panose="02020603050405020304" charset="0"/>
                <a:ea typeface="楷体" panose="02010609060101010101" charset="-122"/>
                <a:cs typeface="Times New Roman" panose="02020603050405020304" charset="0"/>
              </a:rPr>
              <a:t>I/</a:t>
            </a:r>
            <a:r>
              <a:rPr lang="en-US" altLang="zh-CN" sz="2000" b="1" dirty="0">
                <a:latin typeface="Times New Roman" panose="02020603050405020304" charset="0"/>
                <a:ea typeface="楷体" panose="02010609060101010101" charset="-122"/>
                <a:cs typeface="Times New Roman" panose="02020603050405020304" charset="0"/>
              </a:rPr>
              <a:t>4</a:t>
            </a:r>
            <a:endParaRPr lang="en-US" altLang="zh-CN" sz="2000" b="1" dirty="0">
              <a:latin typeface="Times New Roman" panose="02020603050405020304" charset="0"/>
              <a:ea typeface="楷体" panose="02010609060101010101" charset="-122"/>
              <a:cs typeface="Times New Roman" panose="02020603050405020304" charset="0"/>
            </a:endParaRPr>
          </a:p>
        </p:txBody>
      </p:sp>
      <p:sp>
        <p:nvSpPr>
          <p:cNvPr id="132178" name="Rectangle 82"/>
          <p:cNvSpPr/>
          <p:nvPr/>
        </p:nvSpPr>
        <p:spPr>
          <a:xfrm>
            <a:off x="2570163" y="5064125"/>
            <a:ext cx="585787" cy="396875"/>
          </a:xfrm>
          <a:prstGeom prst="rect">
            <a:avLst/>
          </a:prstGeom>
          <a:noFill/>
          <a:ln w="9525">
            <a:noFill/>
          </a:ln>
        </p:spPr>
        <p:txBody>
          <a:bodyPr>
            <a:spAutoFit/>
          </a:bodyPr>
          <a:p>
            <a:r>
              <a:rPr lang="en-US" altLang="zh-CN" sz="2000" b="1" i="1" dirty="0">
                <a:latin typeface="Times New Roman" panose="02020603050405020304" charset="0"/>
                <a:ea typeface="楷体" panose="02010609060101010101" charset="-122"/>
                <a:cs typeface="Times New Roman" panose="02020603050405020304" charset="0"/>
              </a:rPr>
              <a:t>I/</a:t>
            </a:r>
            <a:r>
              <a:rPr lang="en-US" altLang="zh-CN" sz="2000" b="1" dirty="0">
                <a:latin typeface="Times New Roman" panose="02020603050405020304" charset="0"/>
                <a:ea typeface="楷体" panose="02010609060101010101" charset="-122"/>
                <a:cs typeface="Times New Roman" panose="02020603050405020304" charset="0"/>
              </a:rPr>
              <a:t>8</a:t>
            </a:r>
            <a:endParaRPr lang="en-US" altLang="zh-CN" sz="2000" b="1" dirty="0">
              <a:latin typeface="Times New Roman" panose="02020603050405020304" charset="0"/>
              <a:ea typeface="楷体" panose="02010609060101010101" charset="-122"/>
              <a:cs typeface="Times New Roman" panose="02020603050405020304" charset="0"/>
            </a:endParaRPr>
          </a:p>
        </p:txBody>
      </p:sp>
      <p:sp>
        <p:nvSpPr>
          <p:cNvPr id="132179" name="Rectangle 83"/>
          <p:cNvSpPr/>
          <p:nvPr/>
        </p:nvSpPr>
        <p:spPr>
          <a:xfrm>
            <a:off x="1376363" y="5075238"/>
            <a:ext cx="606425" cy="396875"/>
          </a:xfrm>
          <a:prstGeom prst="rect">
            <a:avLst/>
          </a:prstGeom>
          <a:noFill/>
          <a:ln w="9525">
            <a:noFill/>
          </a:ln>
        </p:spPr>
        <p:txBody>
          <a:bodyPr wrap="none">
            <a:spAutoFit/>
          </a:bodyPr>
          <a:p>
            <a:r>
              <a:rPr lang="en-US" altLang="zh-CN" sz="2000" b="1" i="1" dirty="0">
                <a:latin typeface="Times New Roman" panose="02020603050405020304" charset="0"/>
                <a:ea typeface="楷体" panose="02010609060101010101" charset="-122"/>
                <a:cs typeface="Times New Roman" panose="02020603050405020304" charset="0"/>
              </a:rPr>
              <a:t>I/</a:t>
            </a:r>
            <a:r>
              <a:rPr lang="en-US" altLang="zh-CN" sz="2000" b="1" dirty="0">
                <a:latin typeface="Times New Roman" panose="02020603050405020304" charset="0"/>
                <a:ea typeface="楷体" panose="02010609060101010101" charset="-122"/>
                <a:cs typeface="Times New Roman" panose="02020603050405020304" charset="0"/>
              </a:rPr>
              <a:t>16</a:t>
            </a:r>
            <a:endParaRPr lang="en-US" altLang="zh-CN" sz="2000" b="1" dirty="0">
              <a:latin typeface="Times New Roman" panose="02020603050405020304" charset="0"/>
              <a:ea typeface="楷体" panose="02010609060101010101" charset="-122"/>
              <a:cs typeface="Times New Roman" panose="02020603050405020304" charset="0"/>
            </a:endParaRPr>
          </a:p>
        </p:txBody>
      </p:sp>
      <p:sp>
        <p:nvSpPr>
          <p:cNvPr id="132180" name="Rectangle 84"/>
          <p:cNvSpPr/>
          <p:nvPr/>
        </p:nvSpPr>
        <p:spPr>
          <a:xfrm>
            <a:off x="5945188" y="3541713"/>
            <a:ext cx="1025525" cy="396875"/>
          </a:xfrm>
          <a:prstGeom prst="rect">
            <a:avLst/>
          </a:prstGeom>
          <a:noFill/>
          <a:ln w="9525">
            <a:noFill/>
          </a:ln>
        </p:spPr>
        <p:txBody>
          <a:bodyPr>
            <a:spAutoFit/>
          </a:bodyPr>
          <a:p>
            <a:r>
              <a:rPr lang="en-US" altLang="zh-CN" sz="2000" b="1" i="1" dirty="0">
                <a:latin typeface="Times New Roman" panose="02020603050405020304" charset="0"/>
                <a:ea typeface="楷体" panose="02010609060101010101" charset="-122"/>
                <a:cs typeface="Times New Roman" panose="02020603050405020304" charset="0"/>
              </a:rPr>
              <a:t>I/</a:t>
            </a:r>
            <a:r>
              <a:rPr lang="en-US" altLang="zh-CN" sz="2000" b="1" dirty="0">
                <a:latin typeface="Times New Roman" panose="02020603050405020304" charset="0"/>
                <a:ea typeface="楷体" panose="02010609060101010101" charset="-122"/>
                <a:cs typeface="Times New Roman" panose="02020603050405020304" charset="0"/>
              </a:rPr>
              <a:t>2</a:t>
            </a:r>
            <a:endParaRPr lang="en-US" altLang="zh-CN" sz="2000" b="1" dirty="0">
              <a:latin typeface="Times New Roman" panose="02020603050405020304" charset="0"/>
              <a:ea typeface="楷体" panose="02010609060101010101" charset="-122"/>
              <a:cs typeface="Times New Roman" panose="02020603050405020304" charset="0"/>
            </a:endParaRPr>
          </a:p>
        </p:txBody>
      </p:sp>
      <p:sp>
        <p:nvSpPr>
          <p:cNvPr id="4128" name="Rectangle 86"/>
          <p:cNvSpPr/>
          <p:nvPr/>
        </p:nvSpPr>
        <p:spPr>
          <a:xfrm>
            <a:off x="6072188" y="3987800"/>
            <a:ext cx="401637" cy="366713"/>
          </a:xfrm>
          <a:prstGeom prst="rect">
            <a:avLst/>
          </a:prstGeom>
          <a:noFill/>
          <a:ln w="9525">
            <a:noFill/>
          </a:ln>
        </p:spPr>
        <p:txBody>
          <a:bodyPr>
            <a:spAutoFit/>
          </a:bodyPr>
          <a:p>
            <a:pPr>
              <a:spcBef>
                <a:spcPct val="50000"/>
              </a:spcBef>
            </a:pPr>
            <a:r>
              <a:rPr lang="en-US" altLang="zh-CN" b="1" i="1" dirty="0">
                <a:latin typeface="Times New Roman" panose="02020603050405020304" charset="0"/>
                <a:ea typeface="楷体" panose="02010609060101010101" charset="-122"/>
                <a:cs typeface="Times New Roman" panose="02020603050405020304" charset="0"/>
              </a:rPr>
              <a:t>I</a:t>
            </a:r>
            <a:r>
              <a:rPr lang="en-US" altLang="zh-CN" b="1" baseline="-30000" dirty="0">
                <a:latin typeface="Times New Roman" panose="02020603050405020304" charset="0"/>
                <a:ea typeface="楷体" panose="02010609060101010101" charset="-122"/>
                <a:cs typeface="Times New Roman" panose="02020603050405020304" charset="0"/>
              </a:rPr>
              <a:t>3</a:t>
            </a:r>
            <a:endParaRPr lang="en-US" altLang="zh-CN" b="1" dirty="0">
              <a:latin typeface="Times New Roman" panose="02020603050405020304" charset="0"/>
              <a:ea typeface="楷体" panose="02010609060101010101" charset="-122"/>
              <a:cs typeface="Times New Roman" panose="02020603050405020304" charset="0"/>
            </a:endParaRPr>
          </a:p>
        </p:txBody>
      </p:sp>
      <p:sp>
        <p:nvSpPr>
          <p:cNvPr id="4129" name="Rectangle 88"/>
          <p:cNvSpPr/>
          <p:nvPr/>
        </p:nvSpPr>
        <p:spPr>
          <a:xfrm>
            <a:off x="4838700" y="4037013"/>
            <a:ext cx="401638" cy="366712"/>
          </a:xfrm>
          <a:prstGeom prst="rect">
            <a:avLst/>
          </a:prstGeom>
          <a:noFill/>
          <a:ln w="9525">
            <a:noFill/>
          </a:ln>
        </p:spPr>
        <p:txBody>
          <a:bodyPr>
            <a:spAutoFit/>
          </a:bodyPr>
          <a:p>
            <a:pPr>
              <a:spcBef>
                <a:spcPct val="50000"/>
              </a:spcBef>
            </a:pPr>
            <a:r>
              <a:rPr lang="en-US" altLang="zh-CN" b="1" i="1" dirty="0">
                <a:latin typeface="Times New Roman" panose="02020603050405020304" charset="0"/>
                <a:ea typeface="楷体" panose="02010609060101010101" charset="-122"/>
                <a:cs typeface="Times New Roman" panose="02020603050405020304" charset="0"/>
              </a:rPr>
              <a:t>I</a:t>
            </a:r>
            <a:r>
              <a:rPr lang="en-US" altLang="zh-CN" b="1" baseline="-30000" dirty="0">
                <a:latin typeface="Times New Roman" panose="02020603050405020304" charset="0"/>
                <a:ea typeface="楷体" panose="02010609060101010101" charset="-122"/>
                <a:cs typeface="Times New Roman" panose="02020603050405020304" charset="0"/>
              </a:rPr>
              <a:t>2</a:t>
            </a:r>
            <a:endParaRPr lang="en-US" altLang="zh-CN" b="1" dirty="0">
              <a:latin typeface="Times New Roman" panose="02020603050405020304" charset="0"/>
              <a:ea typeface="楷体" panose="02010609060101010101" charset="-122"/>
              <a:cs typeface="Times New Roman" panose="02020603050405020304" charset="0"/>
            </a:endParaRPr>
          </a:p>
        </p:txBody>
      </p:sp>
      <p:sp>
        <p:nvSpPr>
          <p:cNvPr id="4130" name="Rectangle 89"/>
          <p:cNvSpPr/>
          <p:nvPr/>
        </p:nvSpPr>
        <p:spPr>
          <a:xfrm>
            <a:off x="3787775" y="3983038"/>
            <a:ext cx="401638" cy="366712"/>
          </a:xfrm>
          <a:prstGeom prst="rect">
            <a:avLst/>
          </a:prstGeom>
          <a:noFill/>
          <a:ln w="9525">
            <a:noFill/>
          </a:ln>
        </p:spPr>
        <p:txBody>
          <a:bodyPr>
            <a:spAutoFit/>
          </a:bodyPr>
          <a:p>
            <a:pPr>
              <a:spcBef>
                <a:spcPct val="50000"/>
              </a:spcBef>
            </a:pPr>
            <a:r>
              <a:rPr lang="en-US" altLang="zh-CN" b="1" i="1" dirty="0">
                <a:latin typeface="Times New Roman" panose="02020603050405020304" charset="0"/>
                <a:ea typeface="楷体" panose="02010609060101010101" charset="-122"/>
                <a:cs typeface="Times New Roman" panose="02020603050405020304" charset="0"/>
              </a:rPr>
              <a:t>I</a:t>
            </a:r>
            <a:r>
              <a:rPr lang="en-US" altLang="zh-CN" b="1" baseline="-30000" dirty="0">
                <a:latin typeface="Times New Roman" panose="02020603050405020304" charset="0"/>
                <a:ea typeface="楷体" panose="02010609060101010101" charset="-122"/>
                <a:cs typeface="Times New Roman" panose="02020603050405020304" charset="0"/>
              </a:rPr>
              <a:t>1</a:t>
            </a:r>
            <a:endParaRPr lang="en-US" altLang="zh-CN" b="1" dirty="0">
              <a:latin typeface="Times New Roman" panose="02020603050405020304" charset="0"/>
              <a:ea typeface="楷体" panose="02010609060101010101" charset="-122"/>
              <a:cs typeface="Times New Roman" panose="02020603050405020304" charset="0"/>
            </a:endParaRPr>
          </a:p>
        </p:txBody>
      </p:sp>
      <p:sp>
        <p:nvSpPr>
          <p:cNvPr id="4131" name="Rectangle 90"/>
          <p:cNvSpPr/>
          <p:nvPr/>
        </p:nvSpPr>
        <p:spPr>
          <a:xfrm>
            <a:off x="2566988" y="4035425"/>
            <a:ext cx="401637" cy="366713"/>
          </a:xfrm>
          <a:prstGeom prst="rect">
            <a:avLst/>
          </a:prstGeom>
          <a:noFill/>
          <a:ln w="9525">
            <a:noFill/>
          </a:ln>
        </p:spPr>
        <p:txBody>
          <a:bodyPr>
            <a:spAutoFit/>
          </a:bodyPr>
          <a:p>
            <a:pPr>
              <a:spcBef>
                <a:spcPct val="50000"/>
              </a:spcBef>
            </a:pPr>
            <a:r>
              <a:rPr lang="en-US" altLang="zh-CN" b="1" i="1" dirty="0">
                <a:latin typeface="Times New Roman" panose="02020603050405020304" charset="0"/>
                <a:ea typeface="楷体" panose="02010609060101010101" charset="-122"/>
                <a:cs typeface="Times New Roman" panose="02020603050405020304" charset="0"/>
              </a:rPr>
              <a:t>I</a:t>
            </a:r>
            <a:r>
              <a:rPr lang="en-US" altLang="zh-CN" b="1" baseline="-30000" dirty="0">
                <a:latin typeface="Times New Roman" panose="02020603050405020304" charset="0"/>
                <a:ea typeface="楷体" panose="02010609060101010101" charset="-122"/>
                <a:cs typeface="Times New Roman" panose="02020603050405020304" charset="0"/>
              </a:rPr>
              <a:t>0</a:t>
            </a:r>
            <a:endParaRPr lang="en-US" altLang="zh-CN" b="1" dirty="0">
              <a:latin typeface="Times New Roman" panose="02020603050405020304" charset="0"/>
              <a:ea typeface="楷体" panose="02010609060101010101" charset="-122"/>
              <a:cs typeface="Times New Roman" panose="02020603050405020304" charset="0"/>
            </a:endParaRPr>
          </a:p>
        </p:txBody>
      </p:sp>
      <p:sp>
        <p:nvSpPr>
          <p:cNvPr id="132187" name="Rectangle 91"/>
          <p:cNvSpPr/>
          <p:nvPr/>
        </p:nvSpPr>
        <p:spPr>
          <a:xfrm>
            <a:off x="977900" y="5656263"/>
            <a:ext cx="6500813" cy="396875"/>
          </a:xfrm>
          <a:prstGeom prst="rect">
            <a:avLst/>
          </a:prstGeom>
          <a:noFill/>
          <a:ln w="9525">
            <a:noFill/>
          </a:ln>
        </p:spPr>
        <p:txBody>
          <a:bodyPr wrap="none">
            <a:spAutoFit/>
          </a:bodyPr>
          <a:p>
            <a:r>
              <a:rPr lang="zh-CN" altLang="en-US" sz="2000" b="1" dirty="0">
                <a:solidFill>
                  <a:srgbClr val="000099"/>
                </a:solidFill>
                <a:latin typeface="Times New Roman" panose="02020603050405020304" charset="0"/>
                <a:ea typeface="楷体" panose="02010609060101010101" charset="-122"/>
                <a:cs typeface="Times New Roman" panose="02020603050405020304" charset="0"/>
              </a:rPr>
              <a:t>流入每个</a:t>
            </a:r>
            <a:r>
              <a:rPr lang="en-US" altLang="zh-CN" sz="2000" b="1" dirty="0">
                <a:solidFill>
                  <a:srgbClr val="000099"/>
                </a:solidFill>
                <a:latin typeface="Times New Roman" panose="02020603050405020304" charset="0"/>
                <a:ea typeface="楷体" panose="02010609060101010101" charset="-122"/>
                <a:cs typeface="Times New Roman" panose="02020603050405020304" charset="0"/>
              </a:rPr>
              <a:t>2R</a:t>
            </a:r>
            <a:r>
              <a:rPr lang="zh-CN" altLang="en-US" sz="2000" b="1" dirty="0">
                <a:solidFill>
                  <a:srgbClr val="000099"/>
                </a:solidFill>
                <a:latin typeface="Times New Roman" panose="02020603050405020304" charset="0"/>
                <a:ea typeface="楷体" panose="02010609060101010101" charset="-122"/>
                <a:cs typeface="Times New Roman" panose="02020603050405020304" charset="0"/>
              </a:rPr>
              <a:t>电阻的电流从高位到低位按</a:t>
            </a:r>
            <a:r>
              <a:rPr lang="en-US" altLang="zh-CN" sz="2000" b="1" dirty="0">
                <a:solidFill>
                  <a:srgbClr val="000099"/>
                </a:solidFill>
                <a:latin typeface="Times New Roman" panose="02020603050405020304" charset="0"/>
                <a:ea typeface="楷体" panose="02010609060101010101" charset="-122"/>
                <a:cs typeface="Times New Roman" panose="02020603050405020304" charset="0"/>
              </a:rPr>
              <a:t>2</a:t>
            </a:r>
            <a:r>
              <a:rPr lang="zh-CN" altLang="en-US" sz="2000" b="1" dirty="0">
                <a:solidFill>
                  <a:srgbClr val="000099"/>
                </a:solidFill>
                <a:latin typeface="Times New Roman" panose="02020603050405020304" charset="0"/>
                <a:ea typeface="楷体" panose="02010609060101010101" charset="-122"/>
                <a:cs typeface="Times New Roman" panose="02020603050405020304" charset="0"/>
              </a:rPr>
              <a:t>的整数倍递减。</a:t>
            </a:r>
            <a:endParaRPr lang="zh-CN" altLang="en-US" sz="2000" b="1" dirty="0">
              <a:solidFill>
                <a:srgbClr val="000099"/>
              </a:solidFill>
              <a:latin typeface="Times New Roman" panose="02020603050405020304" charset="0"/>
              <a:ea typeface="楷体" panose="02010609060101010101" charset="-122"/>
              <a:cs typeface="Times New Roman" panose="02020603050405020304" charset="0"/>
            </a:endParaRPr>
          </a:p>
        </p:txBody>
      </p:sp>
      <p:sp>
        <p:nvSpPr>
          <p:cNvPr id="132203" name="Rectangle 107"/>
          <p:cNvSpPr/>
          <p:nvPr/>
        </p:nvSpPr>
        <p:spPr>
          <a:xfrm>
            <a:off x="509588" y="6145213"/>
            <a:ext cx="1741487" cy="457200"/>
          </a:xfrm>
          <a:prstGeom prst="rect">
            <a:avLst/>
          </a:prstGeom>
          <a:noFill/>
          <a:ln w="9525">
            <a:noFill/>
          </a:ln>
        </p:spPr>
        <p:txBody>
          <a:bodyPr wrap="none" anchor="ctr" anchorCtr="0">
            <a:spAutoFit/>
          </a:bodyPr>
          <a:p>
            <a:r>
              <a:rPr lang="en-US" altLang="zh-CN" sz="2400" i="1" dirty="0">
                <a:solidFill>
                  <a:srgbClr val="000066"/>
                </a:solidFill>
                <a:latin typeface="Times New Roman" panose="02020603050405020304" charset="0"/>
                <a:ea typeface="楷体" panose="02010609060101010101" charset="-122"/>
                <a:cs typeface="Times New Roman" panose="02020603050405020304" charset="0"/>
              </a:rPr>
              <a:t>I</a:t>
            </a:r>
            <a:r>
              <a:rPr lang="en-US" altLang="zh-CN" sz="2400" i="1" baseline="-25000" dirty="0">
                <a:solidFill>
                  <a:srgbClr val="000066"/>
                </a:solidFill>
                <a:latin typeface="Times New Roman" panose="02020603050405020304" charset="0"/>
                <a:ea typeface="楷体" panose="02010609060101010101" charset="-122"/>
                <a:cs typeface="Times New Roman" panose="02020603050405020304" charset="0"/>
              </a:rPr>
              <a:t>3</a:t>
            </a:r>
            <a:r>
              <a:rPr lang="en-US" altLang="zh-CN" sz="2400" dirty="0">
                <a:solidFill>
                  <a:srgbClr val="000066"/>
                </a:solidFill>
                <a:latin typeface="Times New Roman" panose="02020603050405020304" charset="0"/>
                <a:ea typeface="楷体" panose="02010609060101010101" charset="-122"/>
                <a:cs typeface="Times New Roman" panose="02020603050405020304" charset="0"/>
              </a:rPr>
              <a:t>= </a:t>
            </a:r>
            <a:r>
              <a:rPr lang="en-US" altLang="zh-CN" sz="2400"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400" baseline="-25000" dirty="0">
                <a:solidFill>
                  <a:srgbClr val="000066"/>
                </a:solidFill>
                <a:latin typeface="Times New Roman" panose="02020603050405020304" charset="0"/>
                <a:ea typeface="楷体" panose="02010609060101010101" charset="-122"/>
                <a:cs typeface="Times New Roman" panose="02020603050405020304" charset="0"/>
              </a:rPr>
              <a:t>REF </a:t>
            </a:r>
            <a:r>
              <a:rPr lang="en-US" altLang="zh-CN" sz="2400" dirty="0">
                <a:solidFill>
                  <a:srgbClr val="000066"/>
                </a:solidFill>
                <a:latin typeface="Times New Roman" panose="02020603050405020304" charset="0"/>
                <a:ea typeface="楷体" panose="02010609060101010101" charset="-122"/>
                <a:cs typeface="Times New Roman" panose="02020603050405020304" charset="0"/>
              </a:rPr>
              <a:t>/ 2</a:t>
            </a:r>
            <a:r>
              <a:rPr lang="en-US" altLang="zh-CN" sz="2400" i="1" dirty="0">
                <a:solidFill>
                  <a:srgbClr val="000066"/>
                </a:solidFill>
                <a:latin typeface="Times New Roman" panose="02020603050405020304" charset="0"/>
                <a:ea typeface="楷体" panose="02010609060101010101" charset="-122"/>
                <a:cs typeface="Times New Roman" panose="02020603050405020304" charset="0"/>
              </a:rPr>
              <a:t>R</a:t>
            </a:r>
            <a:endParaRPr lang="en-US" altLang="zh-CN" sz="28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32204" name="Rectangle 108"/>
          <p:cNvSpPr/>
          <p:nvPr/>
        </p:nvSpPr>
        <p:spPr>
          <a:xfrm>
            <a:off x="2486025" y="6170613"/>
            <a:ext cx="1741488" cy="457200"/>
          </a:xfrm>
          <a:prstGeom prst="rect">
            <a:avLst/>
          </a:prstGeom>
          <a:noFill/>
          <a:ln w="9525">
            <a:noFill/>
          </a:ln>
        </p:spPr>
        <p:txBody>
          <a:bodyPr wrap="none" anchor="ctr" anchorCtr="0">
            <a:spAutoFit/>
          </a:bodyPr>
          <a:p>
            <a:r>
              <a:rPr lang="en-US" altLang="zh-CN" sz="2400" i="1" dirty="0">
                <a:solidFill>
                  <a:srgbClr val="000066"/>
                </a:solidFill>
                <a:latin typeface="Times New Roman" panose="02020603050405020304" charset="0"/>
                <a:ea typeface="楷体" panose="02010609060101010101" charset="-122"/>
                <a:cs typeface="Times New Roman" panose="02020603050405020304" charset="0"/>
              </a:rPr>
              <a:t>I</a:t>
            </a:r>
            <a:r>
              <a:rPr lang="en-US" altLang="zh-CN" sz="2400" i="1" baseline="-25000" dirty="0">
                <a:solidFill>
                  <a:srgbClr val="000066"/>
                </a:solidFill>
                <a:latin typeface="Times New Roman" panose="02020603050405020304" charset="0"/>
                <a:ea typeface="楷体" panose="02010609060101010101" charset="-122"/>
                <a:cs typeface="Times New Roman" panose="02020603050405020304" charset="0"/>
              </a:rPr>
              <a:t>2</a:t>
            </a:r>
            <a:r>
              <a:rPr lang="en-US" altLang="zh-CN" sz="2400" dirty="0">
                <a:solidFill>
                  <a:srgbClr val="000066"/>
                </a:solidFill>
                <a:latin typeface="Times New Roman" panose="02020603050405020304" charset="0"/>
                <a:ea typeface="楷体" panose="02010609060101010101" charset="-122"/>
                <a:cs typeface="Times New Roman" panose="02020603050405020304" charset="0"/>
              </a:rPr>
              <a:t>= </a:t>
            </a:r>
            <a:r>
              <a:rPr lang="en-US" altLang="zh-CN" sz="2400"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400" baseline="-25000" dirty="0">
                <a:solidFill>
                  <a:srgbClr val="000066"/>
                </a:solidFill>
                <a:latin typeface="Times New Roman" panose="02020603050405020304" charset="0"/>
                <a:ea typeface="楷体" panose="02010609060101010101" charset="-122"/>
                <a:cs typeface="Times New Roman" panose="02020603050405020304" charset="0"/>
              </a:rPr>
              <a:t>REF </a:t>
            </a:r>
            <a:r>
              <a:rPr lang="en-US" altLang="zh-CN" sz="2400" dirty="0">
                <a:solidFill>
                  <a:srgbClr val="000066"/>
                </a:solidFill>
                <a:latin typeface="Times New Roman" panose="02020603050405020304" charset="0"/>
                <a:ea typeface="楷体" panose="02010609060101010101" charset="-122"/>
                <a:cs typeface="Times New Roman" panose="02020603050405020304" charset="0"/>
              </a:rPr>
              <a:t>/ 4</a:t>
            </a:r>
            <a:r>
              <a:rPr lang="en-US" altLang="zh-CN" sz="2400" i="1" dirty="0">
                <a:solidFill>
                  <a:srgbClr val="000066"/>
                </a:solidFill>
                <a:latin typeface="Times New Roman" panose="02020603050405020304" charset="0"/>
                <a:ea typeface="楷体" panose="02010609060101010101" charset="-122"/>
                <a:cs typeface="Times New Roman" panose="02020603050405020304" charset="0"/>
              </a:rPr>
              <a:t>R</a:t>
            </a:r>
            <a:endParaRPr lang="en-US" altLang="zh-CN" sz="28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32205" name="Rectangle 109"/>
          <p:cNvSpPr/>
          <p:nvPr/>
        </p:nvSpPr>
        <p:spPr>
          <a:xfrm>
            <a:off x="4408488" y="6210300"/>
            <a:ext cx="1741487" cy="457200"/>
          </a:xfrm>
          <a:prstGeom prst="rect">
            <a:avLst/>
          </a:prstGeom>
          <a:noFill/>
          <a:ln w="9525">
            <a:noFill/>
          </a:ln>
        </p:spPr>
        <p:txBody>
          <a:bodyPr wrap="none" anchor="ctr" anchorCtr="0">
            <a:spAutoFit/>
          </a:bodyPr>
          <a:p>
            <a:r>
              <a:rPr lang="en-US" altLang="zh-CN" sz="2400" i="1" dirty="0">
                <a:solidFill>
                  <a:srgbClr val="000066"/>
                </a:solidFill>
                <a:latin typeface="Times New Roman" panose="02020603050405020304" charset="0"/>
                <a:ea typeface="楷体" panose="02010609060101010101" charset="-122"/>
                <a:cs typeface="Times New Roman" panose="02020603050405020304" charset="0"/>
              </a:rPr>
              <a:t>I</a:t>
            </a:r>
            <a:r>
              <a:rPr lang="en-US" altLang="zh-CN" sz="2400" i="1" baseline="-25000" dirty="0">
                <a:solidFill>
                  <a:srgbClr val="000066"/>
                </a:solidFill>
                <a:latin typeface="Times New Roman" panose="02020603050405020304" charset="0"/>
                <a:ea typeface="楷体" panose="02010609060101010101" charset="-122"/>
                <a:cs typeface="Times New Roman" panose="02020603050405020304" charset="0"/>
              </a:rPr>
              <a:t>1</a:t>
            </a:r>
            <a:r>
              <a:rPr lang="en-US" altLang="zh-CN" sz="2400" dirty="0">
                <a:solidFill>
                  <a:srgbClr val="000066"/>
                </a:solidFill>
                <a:latin typeface="Times New Roman" panose="02020603050405020304" charset="0"/>
                <a:ea typeface="楷体" panose="02010609060101010101" charset="-122"/>
                <a:cs typeface="Times New Roman" panose="02020603050405020304" charset="0"/>
              </a:rPr>
              <a:t>= </a:t>
            </a:r>
            <a:r>
              <a:rPr lang="en-US" altLang="zh-CN" sz="2400"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400" baseline="-25000" dirty="0">
                <a:solidFill>
                  <a:srgbClr val="000066"/>
                </a:solidFill>
                <a:latin typeface="Times New Roman" panose="02020603050405020304" charset="0"/>
                <a:ea typeface="楷体" panose="02010609060101010101" charset="-122"/>
                <a:cs typeface="Times New Roman" panose="02020603050405020304" charset="0"/>
              </a:rPr>
              <a:t>REF </a:t>
            </a:r>
            <a:r>
              <a:rPr lang="en-US" altLang="zh-CN" sz="2400" dirty="0">
                <a:solidFill>
                  <a:srgbClr val="000066"/>
                </a:solidFill>
                <a:latin typeface="Times New Roman" panose="02020603050405020304" charset="0"/>
                <a:ea typeface="楷体" panose="02010609060101010101" charset="-122"/>
                <a:cs typeface="Times New Roman" panose="02020603050405020304" charset="0"/>
              </a:rPr>
              <a:t>/ 8</a:t>
            </a:r>
            <a:r>
              <a:rPr lang="en-US" altLang="zh-CN" sz="2400" i="1" dirty="0">
                <a:solidFill>
                  <a:srgbClr val="000066"/>
                </a:solidFill>
                <a:latin typeface="Times New Roman" panose="02020603050405020304" charset="0"/>
                <a:ea typeface="楷体" panose="02010609060101010101" charset="-122"/>
                <a:cs typeface="Times New Roman" panose="02020603050405020304" charset="0"/>
              </a:rPr>
              <a:t>R</a:t>
            </a:r>
            <a:endParaRPr lang="en-US" altLang="zh-CN" sz="28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32206" name="Rectangle 110"/>
          <p:cNvSpPr/>
          <p:nvPr/>
        </p:nvSpPr>
        <p:spPr>
          <a:xfrm>
            <a:off x="6186488" y="6210300"/>
            <a:ext cx="1893887" cy="457200"/>
          </a:xfrm>
          <a:prstGeom prst="rect">
            <a:avLst/>
          </a:prstGeom>
          <a:noFill/>
          <a:ln w="9525">
            <a:noFill/>
          </a:ln>
        </p:spPr>
        <p:txBody>
          <a:bodyPr wrap="none" anchor="ctr" anchorCtr="0">
            <a:spAutoFit/>
          </a:bodyPr>
          <a:p>
            <a:r>
              <a:rPr lang="en-US" altLang="zh-CN" sz="2400" i="1" dirty="0">
                <a:solidFill>
                  <a:srgbClr val="000066"/>
                </a:solidFill>
                <a:latin typeface="Times New Roman" panose="02020603050405020304" charset="0"/>
                <a:ea typeface="楷体" panose="02010609060101010101" charset="-122"/>
                <a:cs typeface="Times New Roman" panose="02020603050405020304" charset="0"/>
              </a:rPr>
              <a:t>I</a:t>
            </a:r>
            <a:r>
              <a:rPr lang="en-US" altLang="zh-CN" sz="2400" i="1" baseline="-25000" dirty="0">
                <a:solidFill>
                  <a:srgbClr val="000066"/>
                </a:solidFill>
                <a:latin typeface="Times New Roman" panose="02020603050405020304" charset="0"/>
                <a:ea typeface="楷体" panose="02010609060101010101" charset="-122"/>
                <a:cs typeface="Times New Roman" panose="02020603050405020304" charset="0"/>
              </a:rPr>
              <a:t>0</a:t>
            </a:r>
            <a:r>
              <a:rPr lang="en-US" altLang="zh-CN" sz="2400" dirty="0">
                <a:solidFill>
                  <a:srgbClr val="000066"/>
                </a:solidFill>
                <a:latin typeface="Times New Roman" panose="02020603050405020304" charset="0"/>
                <a:ea typeface="楷体" panose="02010609060101010101" charset="-122"/>
                <a:cs typeface="Times New Roman" panose="02020603050405020304" charset="0"/>
              </a:rPr>
              <a:t>= </a:t>
            </a:r>
            <a:r>
              <a:rPr lang="en-US" altLang="zh-CN" sz="2400" i="1" dirty="0">
                <a:solidFill>
                  <a:srgbClr val="000066"/>
                </a:solidFill>
                <a:latin typeface="Times New Roman" panose="02020603050405020304" charset="0"/>
                <a:ea typeface="楷体" panose="02010609060101010101" charset="-122"/>
                <a:cs typeface="Times New Roman" panose="02020603050405020304" charset="0"/>
              </a:rPr>
              <a:t>V</a:t>
            </a:r>
            <a:r>
              <a:rPr lang="en-US" altLang="zh-CN" sz="2400" baseline="-25000" dirty="0">
                <a:solidFill>
                  <a:srgbClr val="000066"/>
                </a:solidFill>
                <a:latin typeface="Times New Roman" panose="02020603050405020304" charset="0"/>
                <a:ea typeface="楷体" panose="02010609060101010101" charset="-122"/>
                <a:cs typeface="Times New Roman" panose="02020603050405020304" charset="0"/>
              </a:rPr>
              <a:t>REF </a:t>
            </a:r>
            <a:r>
              <a:rPr lang="en-US" altLang="zh-CN" sz="2400" dirty="0">
                <a:solidFill>
                  <a:srgbClr val="000066"/>
                </a:solidFill>
                <a:latin typeface="Times New Roman" panose="02020603050405020304" charset="0"/>
                <a:ea typeface="楷体" panose="02010609060101010101" charset="-122"/>
                <a:cs typeface="Times New Roman" panose="02020603050405020304" charset="0"/>
              </a:rPr>
              <a:t>/16 </a:t>
            </a:r>
            <a:r>
              <a:rPr lang="en-US" altLang="zh-CN" sz="2400" i="1" dirty="0">
                <a:solidFill>
                  <a:srgbClr val="000066"/>
                </a:solidFill>
                <a:latin typeface="Times New Roman" panose="02020603050405020304" charset="0"/>
                <a:ea typeface="楷体" panose="02010609060101010101" charset="-122"/>
                <a:cs typeface="Times New Roman" panose="02020603050405020304" charset="0"/>
              </a:rPr>
              <a:t>R</a:t>
            </a:r>
            <a:endParaRPr lang="en-US" altLang="zh-CN" sz="2800" b="1" dirty="0">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32175"/>
                                        </p:tgtEl>
                                        <p:attrNameLst>
                                          <p:attrName>style.visibility</p:attrName>
                                        </p:attrNameLst>
                                      </p:cBhvr>
                                      <p:to>
                                        <p:strVal val="visible"/>
                                      </p:to>
                                    </p:set>
                                    <p:animEffect transition="in" filter="strips(downRight)">
                                      <p:cBhvr>
                                        <p:cTn id="7" dur="500"/>
                                        <p:tgtEl>
                                          <p:spTgt spid="13217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32174"/>
                                        </p:tgtEl>
                                        <p:attrNameLst>
                                          <p:attrName>style.visibility</p:attrName>
                                        </p:attrNameLst>
                                      </p:cBhvr>
                                      <p:to>
                                        <p:strVal val="visible"/>
                                      </p:to>
                                    </p:set>
                                    <p:animEffect transition="in" filter="strips(downRight)">
                                      <p:cBhvr>
                                        <p:cTn id="12" dur="500"/>
                                        <p:tgtEl>
                                          <p:spTgt spid="13217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132192"/>
                                        </p:tgtEl>
                                        <p:attrNameLst>
                                          <p:attrName>style.visibility</p:attrName>
                                        </p:attrNameLst>
                                      </p:cBhvr>
                                      <p:to>
                                        <p:strVal val="visible"/>
                                      </p:to>
                                    </p:set>
                                    <p:animEffect transition="in" filter="wipe(right)">
                                      <p:cBhvr>
                                        <p:cTn id="17" dur="500"/>
                                        <p:tgtEl>
                                          <p:spTgt spid="132192"/>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13214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nodeType="clickEffect">
                                  <p:stCondLst>
                                    <p:cond delay="0"/>
                                  </p:stCondLst>
                                  <p:childTnLst>
                                    <p:set>
                                      <p:cBhvr>
                                        <p:cTn id="25" dur="1" fill="hold">
                                          <p:stCondLst>
                                            <p:cond delay="0"/>
                                          </p:stCondLst>
                                        </p:cTn>
                                        <p:tgtEl>
                                          <p:spTgt spid="132193"/>
                                        </p:tgtEl>
                                        <p:attrNameLst>
                                          <p:attrName>style.visibility</p:attrName>
                                        </p:attrNameLst>
                                      </p:cBhvr>
                                      <p:to>
                                        <p:strVal val="visible"/>
                                      </p:to>
                                    </p:set>
                                    <p:animEffect transition="in" filter="wipe(right)">
                                      <p:cBhvr>
                                        <p:cTn id="26" dur="500"/>
                                        <p:tgtEl>
                                          <p:spTgt spid="132193"/>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3214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nodeType="clickEffect">
                                  <p:stCondLst>
                                    <p:cond delay="0"/>
                                  </p:stCondLst>
                                  <p:childTnLst>
                                    <p:set>
                                      <p:cBhvr>
                                        <p:cTn id="34" dur="1" fill="hold">
                                          <p:stCondLst>
                                            <p:cond delay="0"/>
                                          </p:stCondLst>
                                        </p:cTn>
                                        <p:tgtEl>
                                          <p:spTgt spid="132194"/>
                                        </p:tgtEl>
                                        <p:attrNameLst>
                                          <p:attrName>style.visibility</p:attrName>
                                        </p:attrNameLst>
                                      </p:cBhvr>
                                      <p:to>
                                        <p:strVal val="visible"/>
                                      </p:to>
                                    </p:set>
                                    <p:animEffect transition="in" filter="wipe(right)">
                                      <p:cBhvr>
                                        <p:cTn id="35" dur="500"/>
                                        <p:tgtEl>
                                          <p:spTgt spid="132194"/>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499"/>
                                          </p:stCondLst>
                                        </p:cTn>
                                        <p:tgtEl>
                                          <p:spTgt spid="132156"/>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2" presetClass="entr" presetSubtype="2" fill="hold" nodeType="clickEffect">
                                  <p:stCondLst>
                                    <p:cond delay="0"/>
                                  </p:stCondLst>
                                  <p:childTnLst>
                                    <p:set>
                                      <p:cBhvr>
                                        <p:cTn id="43" dur="1" fill="hold">
                                          <p:stCondLst>
                                            <p:cond delay="0"/>
                                          </p:stCondLst>
                                        </p:cTn>
                                        <p:tgtEl>
                                          <p:spTgt spid="132195"/>
                                        </p:tgtEl>
                                        <p:attrNameLst>
                                          <p:attrName>style.visibility</p:attrName>
                                        </p:attrNameLst>
                                      </p:cBhvr>
                                      <p:to>
                                        <p:strVal val="visible"/>
                                      </p:to>
                                    </p:set>
                                    <p:animEffect transition="in" filter="wipe(right)">
                                      <p:cBhvr>
                                        <p:cTn id="44" dur="500"/>
                                        <p:tgtEl>
                                          <p:spTgt spid="132195"/>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499"/>
                                          </p:stCondLst>
                                        </p:cTn>
                                        <p:tgtEl>
                                          <p:spTgt spid="13216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8" presetClass="entr" presetSubtype="12" fill="hold" grpId="0" nodeType="clickEffect">
                                  <p:stCondLst>
                                    <p:cond delay="0"/>
                                  </p:stCondLst>
                                  <p:childTnLst>
                                    <p:set>
                                      <p:cBhvr>
                                        <p:cTn id="52" dur="1" fill="hold">
                                          <p:stCondLst>
                                            <p:cond delay="0"/>
                                          </p:stCondLst>
                                        </p:cTn>
                                        <p:tgtEl>
                                          <p:spTgt spid="132126"/>
                                        </p:tgtEl>
                                        <p:attrNameLst>
                                          <p:attrName>style.visibility</p:attrName>
                                        </p:attrNameLst>
                                      </p:cBhvr>
                                      <p:to>
                                        <p:strVal val="visible"/>
                                      </p:to>
                                    </p:set>
                                    <p:animEffect transition="in" filter="strips(downLeft)">
                                      <p:cBhvr>
                                        <p:cTn id="53" dur="500"/>
                                        <p:tgtEl>
                                          <p:spTgt spid="132126"/>
                                        </p:tgtEl>
                                      </p:cBhvr>
                                    </p:animEffect>
                                  </p:childTnLst>
                                </p:cTn>
                              </p:par>
                            </p:childTnLst>
                          </p:cTn>
                        </p:par>
                      </p:childTnLst>
                    </p:cTn>
                  </p:par>
                  <p:par>
                    <p:cTn id="54" fill="hold">
                      <p:stCondLst>
                        <p:cond delay="indefinite"/>
                      </p:stCondLst>
                      <p:childTnLst>
                        <p:par>
                          <p:cTn id="55" fill="hold">
                            <p:stCondLst>
                              <p:cond delay="0"/>
                            </p:stCondLst>
                            <p:childTnLst>
                              <p:par>
                                <p:cTn id="56" presetID="5" presetClass="entr" presetSubtype="10" fill="hold" nodeType="clickEffect">
                                  <p:stCondLst>
                                    <p:cond delay="0"/>
                                  </p:stCondLst>
                                  <p:childTnLst>
                                    <p:set>
                                      <p:cBhvr>
                                        <p:cTn id="57" dur="1" fill="hold">
                                          <p:stCondLst>
                                            <p:cond delay="0"/>
                                          </p:stCondLst>
                                        </p:cTn>
                                        <p:tgtEl>
                                          <p:spTgt spid="132132"/>
                                        </p:tgtEl>
                                        <p:attrNameLst>
                                          <p:attrName>style.visibility</p:attrName>
                                        </p:attrNameLst>
                                      </p:cBhvr>
                                      <p:to>
                                        <p:strVal val="visible"/>
                                      </p:to>
                                    </p:set>
                                    <p:animEffect transition="in" filter="checkerboard(across)">
                                      <p:cBhvr>
                                        <p:cTn id="58" dur="500"/>
                                        <p:tgtEl>
                                          <p:spTgt spid="132132"/>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132172"/>
                                        </p:tgtEl>
                                        <p:attrNameLst>
                                          <p:attrName>style.visibility</p:attrName>
                                        </p:attrNameLst>
                                      </p:cBhvr>
                                      <p:to>
                                        <p:strVal val="visible"/>
                                      </p:to>
                                    </p:set>
                                    <p:animEffect transition="in" filter="wipe(down)">
                                      <p:cBhvr>
                                        <p:cTn id="63" dur="500"/>
                                        <p:tgtEl>
                                          <p:spTgt spid="132172"/>
                                        </p:tgtEl>
                                      </p:cBhvr>
                                    </p:animEffect>
                                  </p:childTnLst>
                                </p:cTn>
                              </p:par>
                            </p:childTnLst>
                          </p:cTn>
                        </p:par>
                      </p:childTnLst>
                    </p:cTn>
                  </p:par>
                  <p:par>
                    <p:cTn id="64" fill="hold">
                      <p:stCondLst>
                        <p:cond delay="indefinite"/>
                      </p:stCondLst>
                      <p:childTnLst>
                        <p:par>
                          <p:cTn id="65" fill="hold">
                            <p:stCondLst>
                              <p:cond delay="0"/>
                            </p:stCondLst>
                            <p:childTnLst>
                              <p:par>
                                <p:cTn id="66" presetID="18" presetClass="entr" presetSubtype="12" fill="hold" grpId="0" nodeType="clickEffect">
                                  <p:stCondLst>
                                    <p:cond delay="0"/>
                                  </p:stCondLst>
                                  <p:childTnLst>
                                    <p:set>
                                      <p:cBhvr>
                                        <p:cTn id="67" dur="1" fill="hold">
                                          <p:stCondLst>
                                            <p:cond delay="0"/>
                                          </p:stCondLst>
                                        </p:cTn>
                                        <p:tgtEl>
                                          <p:spTgt spid="132127"/>
                                        </p:tgtEl>
                                        <p:attrNameLst>
                                          <p:attrName>style.visibility</p:attrName>
                                        </p:attrNameLst>
                                      </p:cBhvr>
                                      <p:to>
                                        <p:strVal val="visible"/>
                                      </p:to>
                                    </p:set>
                                    <p:animEffect transition="in" filter="strips(downLeft)">
                                      <p:cBhvr>
                                        <p:cTn id="68" dur="500"/>
                                        <p:tgtEl>
                                          <p:spTgt spid="132127"/>
                                        </p:tgtEl>
                                      </p:cBhvr>
                                    </p:animEffec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499"/>
                                          </p:stCondLst>
                                        </p:cTn>
                                        <p:tgtEl>
                                          <p:spTgt spid="13218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8" presetClass="entr" presetSubtype="6" fill="hold" grpId="0" nodeType="clickEffect">
                                  <p:stCondLst>
                                    <p:cond delay="0"/>
                                  </p:stCondLst>
                                  <p:childTnLst>
                                    <p:set>
                                      <p:cBhvr>
                                        <p:cTn id="76" dur="1" fill="hold">
                                          <p:stCondLst>
                                            <p:cond delay="0"/>
                                          </p:stCondLst>
                                        </p:cTn>
                                        <p:tgtEl>
                                          <p:spTgt spid="132176"/>
                                        </p:tgtEl>
                                        <p:attrNameLst>
                                          <p:attrName>style.visibility</p:attrName>
                                        </p:attrNameLst>
                                      </p:cBhvr>
                                      <p:to>
                                        <p:strVal val="visible"/>
                                      </p:to>
                                    </p:set>
                                    <p:animEffect transition="in" filter="strips(downRight)">
                                      <p:cBhvr>
                                        <p:cTn id="77" dur="500"/>
                                        <p:tgtEl>
                                          <p:spTgt spid="132176"/>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grpId="0" nodeType="clickEffect">
                                  <p:stCondLst>
                                    <p:cond delay="0"/>
                                  </p:stCondLst>
                                  <p:childTnLst>
                                    <p:set>
                                      <p:cBhvr>
                                        <p:cTn id="81" dur="1" fill="hold">
                                          <p:stCondLst>
                                            <p:cond delay="0"/>
                                          </p:stCondLst>
                                        </p:cTn>
                                        <p:tgtEl>
                                          <p:spTgt spid="132167"/>
                                        </p:tgtEl>
                                        <p:attrNameLst>
                                          <p:attrName>style.visibility</p:attrName>
                                        </p:attrNameLst>
                                      </p:cBhvr>
                                      <p:to>
                                        <p:strVal val="visible"/>
                                      </p:to>
                                    </p:set>
                                    <p:animEffect transition="in" filter="wipe(down)">
                                      <p:cBhvr>
                                        <p:cTn id="82" dur="500"/>
                                        <p:tgtEl>
                                          <p:spTgt spid="132167"/>
                                        </p:tgtEl>
                                      </p:cBhvr>
                                    </p:animEffect>
                                  </p:childTnLst>
                                </p:cTn>
                              </p:par>
                            </p:childTnLst>
                          </p:cTn>
                        </p:par>
                      </p:childTnLst>
                    </p:cTn>
                  </p:par>
                  <p:par>
                    <p:cTn id="83" fill="hold">
                      <p:stCondLst>
                        <p:cond delay="indefinite"/>
                      </p:stCondLst>
                      <p:childTnLst>
                        <p:par>
                          <p:cTn id="84" fill="hold">
                            <p:stCondLst>
                              <p:cond delay="0"/>
                            </p:stCondLst>
                            <p:childTnLst>
                              <p:par>
                                <p:cTn id="85" presetID="18" presetClass="entr" presetSubtype="12" fill="hold" grpId="0" nodeType="clickEffect">
                                  <p:stCondLst>
                                    <p:cond delay="0"/>
                                  </p:stCondLst>
                                  <p:childTnLst>
                                    <p:set>
                                      <p:cBhvr>
                                        <p:cTn id="86" dur="1" fill="hold">
                                          <p:stCondLst>
                                            <p:cond delay="0"/>
                                          </p:stCondLst>
                                        </p:cTn>
                                        <p:tgtEl>
                                          <p:spTgt spid="132128"/>
                                        </p:tgtEl>
                                        <p:attrNameLst>
                                          <p:attrName>style.visibility</p:attrName>
                                        </p:attrNameLst>
                                      </p:cBhvr>
                                      <p:to>
                                        <p:strVal val="visible"/>
                                      </p:to>
                                    </p:set>
                                    <p:animEffect transition="in" filter="strips(downLeft)">
                                      <p:cBhvr>
                                        <p:cTn id="87" dur="500"/>
                                        <p:tgtEl>
                                          <p:spTgt spid="132128"/>
                                        </p:tgtEl>
                                      </p:cBhvr>
                                    </p:animEffect>
                                  </p:childTnLst>
                                </p:cTn>
                              </p:par>
                            </p:childTnLst>
                          </p:cTn>
                        </p:par>
                      </p:childTnLst>
                    </p:cTn>
                  </p:par>
                  <p:par>
                    <p:cTn id="88" fill="hold">
                      <p:stCondLst>
                        <p:cond delay="indefinite"/>
                      </p:stCondLst>
                      <p:childTnLst>
                        <p:par>
                          <p:cTn id="89" fill="hold">
                            <p:stCondLst>
                              <p:cond delay="0"/>
                            </p:stCondLst>
                            <p:childTnLst>
                              <p:par>
                                <p:cTn id="90" presetID="18" presetClass="entr" presetSubtype="6" fill="hold" grpId="0" nodeType="clickEffect">
                                  <p:stCondLst>
                                    <p:cond delay="0"/>
                                  </p:stCondLst>
                                  <p:childTnLst>
                                    <p:set>
                                      <p:cBhvr>
                                        <p:cTn id="91" dur="1" fill="hold">
                                          <p:stCondLst>
                                            <p:cond delay="0"/>
                                          </p:stCondLst>
                                        </p:cTn>
                                        <p:tgtEl>
                                          <p:spTgt spid="132134"/>
                                        </p:tgtEl>
                                        <p:attrNameLst>
                                          <p:attrName>style.visibility</p:attrName>
                                        </p:attrNameLst>
                                      </p:cBhvr>
                                      <p:to>
                                        <p:strVal val="visible"/>
                                      </p:to>
                                    </p:set>
                                    <p:animEffect transition="in" filter="strips(downRight)">
                                      <p:cBhvr>
                                        <p:cTn id="92" dur="500"/>
                                        <p:tgtEl>
                                          <p:spTgt spid="132134"/>
                                        </p:tgtEl>
                                      </p:cBhvr>
                                    </p:animEffect>
                                  </p:childTnLst>
                                </p:cTn>
                              </p:par>
                            </p:childTnLst>
                          </p:cTn>
                        </p:par>
                      </p:childTnLst>
                    </p:cTn>
                  </p:par>
                  <p:par>
                    <p:cTn id="93" fill="hold">
                      <p:stCondLst>
                        <p:cond delay="indefinite"/>
                      </p:stCondLst>
                      <p:childTnLst>
                        <p:par>
                          <p:cTn id="94" fill="hold">
                            <p:stCondLst>
                              <p:cond delay="0"/>
                            </p:stCondLst>
                            <p:childTnLst>
                              <p:par>
                                <p:cTn id="95" presetID="18" presetClass="entr" presetSubtype="6" fill="hold" grpId="0" nodeType="clickEffect">
                                  <p:stCondLst>
                                    <p:cond delay="0"/>
                                  </p:stCondLst>
                                  <p:childTnLst>
                                    <p:set>
                                      <p:cBhvr>
                                        <p:cTn id="96" dur="1" fill="hold">
                                          <p:stCondLst>
                                            <p:cond delay="0"/>
                                          </p:stCondLst>
                                        </p:cTn>
                                        <p:tgtEl>
                                          <p:spTgt spid="132177"/>
                                        </p:tgtEl>
                                        <p:attrNameLst>
                                          <p:attrName>style.visibility</p:attrName>
                                        </p:attrNameLst>
                                      </p:cBhvr>
                                      <p:to>
                                        <p:strVal val="visible"/>
                                      </p:to>
                                    </p:set>
                                    <p:animEffect transition="in" filter="strips(downRight)">
                                      <p:cBhvr>
                                        <p:cTn id="97" dur="500"/>
                                        <p:tgtEl>
                                          <p:spTgt spid="132177"/>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4" fill="hold" grpId="0" nodeType="clickEffect">
                                  <p:stCondLst>
                                    <p:cond delay="0"/>
                                  </p:stCondLst>
                                  <p:childTnLst>
                                    <p:set>
                                      <p:cBhvr>
                                        <p:cTn id="101" dur="1" fill="hold">
                                          <p:stCondLst>
                                            <p:cond delay="0"/>
                                          </p:stCondLst>
                                        </p:cTn>
                                        <p:tgtEl>
                                          <p:spTgt spid="132170"/>
                                        </p:tgtEl>
                                        <p:attrNameLst>
                                          <p:attrName>style.visibility</p:attrName>
                                        </p:attrNameLst>
                                      </p:cBhvr>
                                      <p:to>
                                        <p:strVal val="visible"/>
                                      </p:to>
                                    </p:set>
                                    <p:animEffect transition="in" filter="wipe(down)">
                                      <p:cBhvr>
                                        <p:cTn id="102" dur="500"/>
                                        <p:tgtEl>
                                          <p:spTgt spid="132170"/>
                                        </p:tgtEl>
                                      </p:cBhvr>
                                    </p:animEffect>
                                  </p:childTnLst>
                                </p:cTn>
                              </p:par>
                            </p:childTnLst>
                          </p:cTn>
                        </p:par>
                      </p:childTnLst>
                    </p:cTn>
                  </p:par>
                  <p:par>
                    <p:cTn id="103" fill="hold">
                      <p:stCondLst>
                        <p:cond delay="indefinite"/>
                      </p:stCondLst>
                      <p:childTnLst>
                        <p:par>
                          <p:cTn id="104" fill="hold">
                            <p:stCondLst>
                              <p:cond delay="0"/>
                            </p:stCondLst>
                            <p:childTnLst>
                              <p:par>
                                <p:cTn id="105" presetID="18" presetClass="entr" presetSubtype="12" fill="hold" grpId="0" nodeType="clickEffect">
                                  <p:stCondLst>
                                    <p:cond delay="0"/>
                                  </p:stCondLst>
                                  <p:childTnLst>
                                    <p:set>
                                      <p:cBhvr>
                                        <p:cTn id="106" dur="1" fill="hold">
                                          <p:stCondLst>
                                            <p:cond delay="0"/>
                                          </p:stCondLst>
                                        </p:cTn>
                                        <p:tgtEl>
                                          <p:spTgt spid="132129"/>
                                        </p:tgtEl>
                                        <p:attrNameLst>
                                          <p:attrName>style.visibility</p:attrName>
                                        </p:attrNameLst>
                                      </p:cBhvr>
                                      <p:to>
                                        <p:strVal val="visible"/>
                                      </p:to>
                                    </p:set>
                                    <p:animEffect transition="in" filter="strips(downLeft)">
                                      <p:cBhvr>
                                        <p:cTn id="107" dur="500"/>
                                        <p:tgtEl>
                                          <p:spTgt spid="132129"/>
                                        </p:tgtEl>
                                      </p:cBhvr>
                                    </p:animEffect>
                                  </p:childTnLst>
                                </p:cTn>
                              </p:par>
                            </p:childTnLst>
                          </p:cTn>
                        </p:par>
                      </p:childTnLst>
                    </p:cTn>
                  </p:par>
                  <p:par>
                    <p:cTn id="108" fill="hold">
                      <p:stCondLst>
                        <p:cond delay="indefinite"/>
                      </p:stCondLst>
                      <p:childTnLst>
                        <p:par>
                          <p:cTn id="109" fill="hold">
                            <p:stCondLst>
                              <p:cond delay="0"/>
                            </p:stCondLst>
                            <p:childTnLst>
                              <p:par>
                                <p:cTn id="110" presetID="18" presetClass="entr" presetSubtype="6" fill="hold" grpId="0" nodeType="clickEffect">
                                  <p:stCondLst>
                                    <p:cond delay="0"/>
                                  </p:stCondLst>
                                  <p:childTnLst>
                                    <p:set>
                                      <p:cBhvr>
                                        <p:cTn id="111" dur="1" fill="hold">
                                          <p:stCondLst>
                                            <p:cond delay="0"/>
                                          </p:stCondLst>
                                        </p:cTn>
                                        <p:tgtEl>
                                          <p:spTgt spid="132135"/>
                                        </p:tgtEl>
                                        <p:attrNameLst>
                                          <p:attrName>style.visibility</p:attrName>
                                        </p:attrNameLst>
                                      </p:cBhvr>
                                      <p:to>
                                        <p:strVal val="visible"/>
                                      </p:to>
                                    </p:set>
                                    <p:animEffect transition="in" filter="strips(downRight)">
                                      <p:cBhvr>
                                        <p:cTn id="112" dur="500"/>
                                        <p:tgtEl>
                                          <p:spTgt spid="132135"/>
                                        </p:tgtEl>
                                      </p:cBhvr>
                                    </p:animEffect>
                                  </p:childTnLst>
                                </p:cTn>
                              </p:par>
                            </p:childTnLst>
                          </p:cTn>
                        </p:par>
                      </p:childTnLst>
                    </p:cTn>
                  </p:par>
                  <p:par>
                    <p:cTn id="113" fill="hold">
                      <p:stCondLst>
                        <p:cond delay="indefinite"/>
                      </p:stCondLst>
                      <p:childTnLst>
                        <p:par>
                          <p:cTn id="114" fill="hold">
                            <p:stCondLst>
                              <p:cond delay="0"/>
                            </p:stCondLst>
                            <p:childTnLst>
                              <p:par>
                                <p:cTn id="115" presetID="18" presetClass="entr" presetSubtype="6" fill="hold" grpId="0" nodeType="clickEffect">
                                  <p:stCondLst>
                                    <p:cond delay="0"/>
                                  </p:stCondLst>
                                  <p:childTnLst>
                                    <p:set>
                                      <p:cBhvr>
                                        <p:cTn id="116" dur="1" fill="hold">
                                          <p:stCondLst>
                                            <p:cond delay="0"/>
                                          </p:stCondLst>
                                        </p:cTn>
                                        <p:tgtEl>
                                          <p:spTgt spid="132178"/>
                                        </p:tgtEl>
                                        <p:attrNameLst>
                                          <p:attrName>style.visibility</p:attrName>
                                        </p:attrNameLst>
                                      </p:cBhvr>
                                      <p:to>
                                        <p:strVal val="visible"/>
                                      </p:to>
                                    </p:set>
                                    <p:animEffect transition="in" filter="strips(downRight)">
                                      <p:cBhvr>
                                        <p:cTn id="117" dur="500"/>
                                        <p:tgtEl>
                                          <p:spTgt spid="132178"/>
                                        </p:tgtEl>
                                      </p:cBhvr>
                                    </p:animEffect>
                                  </p:childTnLst>
                                </p:cTn>
                              </p:par>
                            </p:childTnLst>
                          </p:cTn>
                        </p:par>
                      </p:childTnLst>
                    </p:cTn>
                  </p:par>
                  <p:par>
                    <p:cTn id="118" fill="hold">
                      <p:stCondLst>
                        <p:cond delay="indefinite"/>
                      </p:stCondLst>
                      <p:childTnLst>
                        <p:par>
                          <p:cTn id="119" fill="hold">
                            <p:stCondLst>
                              <p:cond delay="0"/>
                            </p:stCondLst>
                            <p:childTnLst>
                              <p:par>
                                <p:cTn id="120" presetID="18" presetClass="entr" presetSubtype="12" fill="hold" grpId="0" nodeType="clickEffect">
                                  <p:stCondLst>
                                    <p:cond delay="0"/>
                                  </p:stCondLst>
                                  <p:childTnLst>
                                    <p:set>
                                      <p:cBhvr>
                                        <p:cTn id="121" dur="1" fill="hold">
                                          <p:stCondLst>
                                            <p:cond delay="0"/>
                                          </p:stCondLst>
                                        </p:cTn>
                                        <p:tgtEl>
                                          <p:spTgt spid="132130"/>
                                        </p:tgtEl>
                                        <p:attrNameLst>
                                          <p:attrName>style.visibility</p:attrName>
                                        </p:attrNameLst>
                                      </p:cBhvr>
                                      <p:to>
                                        <p:strVal val="visible"/>
                                      </p:to>
                                    </p:set>
                                    <p:animEffect transition="in" filter="strips(downLeft)">
                                      <p:cBhvr>
                                        <p:cTn id="122" dur="500"/>
                                        <p:tgtEl>
                                          <p:spTgt spid="132130"/>
                                        </p:tgtEl>
                                      </p:cBhvr>
                                    </p:animEffect>
                                  </p:childTnLst>
                                </p:cTn>
                              </p:par>
                            </p:childTnLst>
                          </p:cTn>
                        </p:par>
                      </p:childTnLst>
                    </p:cTn>
                  </p:par>
                  <p:par>
                    <p:cTn id="123" fill="hold">
                      <p:stCondLst>
                        <p:cond delay="indefinite"/>
                      </p:stCondLst>
                      <p:childTnLst>
                        <p:par>
                          <p:cTn id="124" fill="hold">
                            <p:stCondLst>
                              <p:cond delay="0"/>
                            </p:stCondLst>
                            <p:childTnLst>
                              <p:par>
                                <p:cTn id="125" presetID="18" presetClass="entr" presetSubtype="6" fill="hold" grpId="0" nodeType="clickEffect">
                                  <p:stCondLst>
                                    <p:cond delay="0"/>
                                  </p:stCondLst>
                                  <p:childTnLst>
                                    <p:set>
                                      <p:cBhvr>
                                        <p:cTn id="126" dur="1" fill="hold">
                                          <p:stCondLst>
                                            <p:cond delay="0"/>
                                          </p:stCondLst>
                                        </p:cTn>
                                        <p:tgtEl>
                                          <p:spTgt spid="132136"/>
                                        </p:tgtEl>
                                        <p:attrNameLst>
                                          <p:attrName>style.visibility</p:attrName>
                                        </p:attrNameLst>
                                      </p:cBhvr>
                                      <p:to>
                                        <p:strVal val="visible"/>
                                      </p:to>
                                    </p:set>
                                    <p:animEffect transition="in" filter="strips(downRight)">
                                      <p:cBhvr>
                                        <p:cTn id="127" dur="500"/>
                                        <p:tgtEl>
                                          <p:spTgt spid="132136"/>
                                        </p:tgtEl>
                                      </p:cBhvr>
                                    </p:animEffect>
                                  </p:childTnLst>
                                </p:cTn>
                              </p:par>
                            </p:childTnLst>
                          </p:cTn>
                        </p:par>
                      </p:childTnLst>
                    </p:cTn>
                  </p:par>
                  <p:par>
                    <p:cTn id="128" fill="hold">
                      <p:stCondLst>
                        <p:cond delay="indefinite"/>
                      </p:stCondLst>
                      <p:childTnLst>
                        <p:par>
                          <p:cTn id="129" fill="hold">
                            <p:stCondLst>
                              <p:cond delay="0"/>
                            </p:stCondLst>
                            <p:childTnLst>
                              <p:par>
                                <p:cTn id="130" presetID="18" presetClass="entr" presetSubtype="6" fill="hold" grpId="0" nodeType="clickEffect">
                                  <p:stCondLst>
                                    <p:cond delay="0"/>
                                  </p:stCondLst>
                                  <p:childTnLst>
                                    <p:set>
                                      <p:cBhvr>
                                        <p:cTn id="131" dur="1" fill="hold">
                                          <p:stCondLst>
                                            <p:cond delay="0"/>
                                          </p:stCondLst>
                                        </p:cTn>
                                        <p:tgtEl>
                                          <p:spTgt spid="132179"/>
                                        </p:tgtEl>
                                        <p:attrNameLst>
                                          <p:attrName>style.visibility</p:attrName>
                                        </p:attrNameLst>
                                      </p:cBhvr>
                                      <p:to>
                                        <p:strVal val="visible"/>
                                      </p:to>
                                    </p:set>
                                    <p:animEffect transition="in" filter="strips(downRight)">
                                      <p:cBhvr>
                                        <p:cTn id="132" dur="500"/>
                                        <p:tgtEl>
                                          <p:spTgt spid="132179"/>
                                        </p:tgtEl>
                                      </p:cBhvr>
                                    </p:animEffect>
                                  </p:childTnLst>
                                </p:cTn>
                              </p:par>
                            </p:childTnLst>
                          </p:cTn>
                        </p:par>
                      </p:childTnLst>
                    </p:cTn>
                  </p:par>
                  <p:par>
                    <p:cTn id="133" fill="hold">
                      <p:stCondLst>
                        <p:cond delay="indefinite"/>
                      </p:stCondLst>
                      <p:childTnLst>
                        <p:par>
                          <p:cTn id="134" fill="hold">
                            <p:stCondLst>
                              <p:cond delay="0"/>
                            </p:stCondLst>
                            <p:childTnLst>
                              <p:par>
                                <p:cTn id="135" presetID="18" presetClass="entr" presetSubtype="6" fill="hold" grpId="0" nodeType="clickEffect">
                                  <p:stCondLst>
                                    <p:cond delay="0"/>
                                  </p:stCondLst>
                                  <p:childTnLst>
                                    <p:set>
                                      <p:cBhvr>
                                        <p:cTn id="136" dur="1" fill="hold">
                                          <p:stCondLst>
                                            <p:cond delay="0"/>
                                          </p:stCondLst>
                                        </p:cTn>
                                        <p:tgtEl>
                                          <p:spTgt spid="132187"/>
                                        </p:tgtEl>
                                        <p:attrNameLst>
                                          <p:attrName>style.visibility</p:attrName>
                                        </p:attrNameLst>
                                      </p:cBhvr>
                                      <p:to>
                                        <p:strVal val="visible"/>
                                      </p:to>
                                    </p:set>
                                    <p:animEffect transition="in" filter="strips(downRight)">
                                      <p:cBhvr>
                                        <p:cTn id="137" dur="500"/>
                                        <p:tgtEl>
                                          <p:spTgt spid="132187"/>
                                        </p:tgtEl>
                                      </p:cBhvr>
                                    </p:animEffect>
                                  </p:childTnLst>
                                </p:cTn>
                              </p:par>
                            </p:childTnLst>
                          </p:cTn>
                        </p:par>
                      </p:childTnLst>
                    </p:cTn>
                  </p:par>
                  <p:par>
                    <p:cTn id="138" fill="hold">
                      <p:stCondLst>
                        <p:cond delay="indefinite"/>
                      </p:stCondLst>
                      <p:childTnLst>
                        <p:par>
                          <p:cTn id="139" fill="hold">
                            <p:stCondLst>
                              <p:cond delay="0"/>
                            </p:stCondLst>
                            <p:childTnLst>
                              <p:par>
                                <p:cTn id="140" presetID="18" presetClass="entr" presetSubtype="6" fill="hold" grpId="0" nodeType="clickEffect">
                                  <p:stCondLst>
                                    <p:cond delay="0"/>
                                  </p:stCondLst>
                                  <p:childTnLst>
                                    <p:set>
                                      <p:cBhvr>
                                        <p:cTn id="141" dur="1" fill="hold">
                                          <p:stCondLst>
                                            <p:cond delay="0"/>
                                          </p:stCondLst>
                                        </p:cTn>
                                        <p:tgtEl>
                                          <p:spTgt spid="132203"/>
                                        </p:tgtEl>
                                        <p:attrNameLst>
                                          <p:attrName>style.visibility</p:attrName>
                                        </p:attrNameLst>
                                      </p:cBhvr>
                                      <p:to>
                                        <p:strVal val="visible"/>
                                      </p:to>
                                    </p:set>
                                    <p:animEffect transition="in" filter="strips(downRight)">
                                      <p:cBhvr>
                                        <p:cTn id="142" dur="500"/>
                                        <p:tgtEl>
                                          <p:spTgt spid="132203"/>
                                        </p:tgtEl>
                                      </p:cBhvr>
                                    </p:animEffect>
                                  </p:childTnLst>
                                </p:cTn>
                              </p:par>
                            </p:childTnLst>
                          </p:cTn>
                        </p:par>
                      </p:childTnLst>
                    </p:cTn>
                  </p:par>
                  <p:par>
                    <p:cTn id="143" fill="hold">
                      <p:stCondLst>
                        <p:cond delay="indefinite"/>
                      </p:stCondLst>
                      <p:childTnLst>
                        <p:par>
                          <p:cTn id="144" fill="hold">
                            <p:stCondLst>
                              <p:cond delay="0"/>
                            </p:stCondLst>
                            <p:childTnLst>
                              <p:par>
                                <p:cTn id="145" presetID="18" presetClass="entr" presetSubtype="6" fill="hold" grpId="0" nodeType="clickEffect">
                                  <p:stCondLst>
                                    <p:cond delay="0"/>
                                  </p:stCondLst>
                                  <p:childTnLst>
                                    <p:set>
                                      <p:cBhvr>
                                        <p:cTn id="146" dur="1" fill="hold">
                                          <p:stCondLst>
                                            <p:cond delay="0"/>
                                          </p:stCondLst>
                                        </p:cTn>
                                        <p:tgtEl>
                                          <p:spTgt spid="132204"/>
                                        </p:tgtEl>
                                        <p:attrNameLst>
                                          <p:attrName>style.visibility</p:attrName>
                                        </p:attrNameLst>
                                      </p:cBhvr>
                                      <p:to>
                                        <p:strVal val="visible"/>
                                      </p:to>
                                    </p:set>
                                    <p:animEffect transition="in" filter="strips(downRight)">
                                      <p:cBhvr>
                                        <p:cTn id="147" dur="500"/>
                                        <p:tgtEl>
                                          <p:spTgt spid="132204"/>
                                        </p:tgtEl>
                                      </p:cBhvr>
                                    </p:animEffect>
                                  </p:childTnLst>
                                </p:cTn>
                              </p:par>
                            </p:childTnLst>
                          </p:cTn>
                        </p:par>
                      </p:childTnLst>
                    </p:cTn>
                  </p:par>
                  <p:par>
                    <p:cTn id="148" fill="hold">
                      <p:stCondLst>
                        <p:cond delay="indefinite"/>
                      </p:stCondLst>
                      <p:childTnLst>
                        <p:par>
                          <p:cTn id="149" fill="hold">
                            <p:stCondLst>
                              <p:cond delay="0"/>
                            </p:stCondLst>
                            <p:childTnLst>
                              <p:par>
                                <p:cTn id="150" presetID="18" presetClass="entr" presetSubtype="6" fill="hold" grpId="0" nodeType="clickEffect">
                                  <p:stCondLst>
                                    <p:cond delay="0"/>
                                  </p:stCondLst>
                                  <p:childTnLst>
                                    <p:set>
                                      <p:cBhvr>
                                        <p:cTn id="151" dur="1" fill="hold">
                                          <p:stCondLst>
                                            <p:cond delay="0"/>
                                          </p:stCondLst>
                                        </p:cTn>
                                        <p:tgtEl>
                                          <p:spTgt spid="132205"/>
                                        </p:tgtEl>
                                        <p:attrNameLst>
                                          <p:attrName>style.visibility</p:attrName>
                                        </p:attrNameLst>
                                      </p:cBhvr>
                                      <p:to>
                                        <p:strVal val="visible"/>
                                      </p:to>
                                    </p:set>
                                    <p:animEffect transition="in" filter="strips(downRight)">
                                      <p:cBhvr>
                                        <p:cTn id="152" dur="500"/>
                                        <p:tgtEl>
                                          <p:spTgt spid="132205"/>
                                        </p:tgtEl>
                                      </p:cBhvr>
                                    </p:animEffect>
                                  </p:childTnLst>
                                </p:cTn>
                              </p:par>
                            </p:childTnLst>
                          </p:cTn>
                        </p:par>
                      </p:childTnLst>
                    </p:cTn>
                  </p:par>
                  <p:par>
                    <p:cTn id="153" fill="hold">
                      <p:stCondLst>
                        <p:cond delay="indefinite"/>
                      </p:stCondLst>
                      <p:childTnLst>
                        <p:par>
                          <p:cTn id="154" fill="hold">
                            <p:stCondLst>
                              <p:cond delay="0"/>
                            </p:stCondLst>
                            <p:childTnLst>
                              <p:par>
                                <p:cTn id="155" presetID="18" presetClass="entr" presetSubtype="6" fill="hold" grpId="0" nodeType="clickEffect">
                                  <p:stCondLst>
                                    <p:cond delay="0"/>
                                  </p:stCondLst>
                                  <p:childTnLst>
                                    <p:set>
                                      <p:cBhvr>
                                        <p:cTn id="156" dur="1" fill="hold">
                                          <p:stCondLst>
                                            <p:cond delay="0"/>
                                          </p:stCondLst>
                                        </p:cTn>
                                        <p:tgtEl>
                                          <p:spTgt spid="132206"/>
                                        </p:tgtEl>
                                        <p:attrNameLst>
                                          <p:attrName>style.visibility</p:attrName>
                                        </p:attrNameLst>
                                      </p:cBhvr>
                                      <p:to>
                                        <p:strVal val="visible"/>
                                      </p:to>
                                    </p:set>
                                    <p:animEffect transition="in" filter="strips(downRight)">
                                      <p:cBhvr>
                                        <p:cTn id="157" dur="500"/>
                                        <p:tgtEl>
                                          <p:spTgt spid="132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74" grpId="0"/>
      <p:bldP spid="132175" grpId="0"/>
      <p:bldP spid="132126" grpId="0" bldLvl="0" animBg="1"/>
      <p:bldP spid="132127" grpId="0" bldLvl="0" animBg="1"/>
      <p:bldP spid="132128" grpId="0" bldLvl="0" animBg="1"/>
      <p:bldP spid="132129" grpId="0" bldLvl="0" animBg="1"/>
      <p:bldP spid="132130" grpId="0" bldLvl="0" animBg="1"/>
      <p:bldP spid="132134" grpId="0"/>
      <p:bldP spid="132135" grpId="0"/>
      <p:bldP spid="132136" grpId="0"/>
      <p:bldP spid="132140" grpId="0"/>
      <p:bldP spid="132149" grpId="0"/>
      <p:bldP spid="132156" grpId="0"/>
      <p:bldP spid="132163" grpId="0"/>
      <p:bldP spid="132167" grpId="0" bldLvl="0" animBg="1"/>
      <p:bldP spid="132170" grpId="0" bldLvl="0" animBg="1"/>
      <p:bldP spid="132172" grpId="0" bldLvl="0" animBg="1"/>
      <p:bldP spid="132176" grpId="0"/>
      <p:bldP spid="132177" grpId="0"/>
      <p:bldP spid="132178" grpId="0"/>
      <p:bldP spid="132179" grpId="0"/>
      <p:bldP spid="132180" grpId="0"/>
      <p:bldP spid="132187" grpId="0"/>
      <p:bldP spid="132203" grpId="0"/>
      <p:bldP spid="132204" grpId="0"/>
      <p:bldP spid="132205" grpId="0"/>
      <p:bldP spid="13220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9.2 </a:t>
            </a:r>
            <a:r>
              <a:rPr lang="zh-CN" altLang="en-US" b="1" dirty="0">
                <a:solidFill>
                  <a:srgbClr val="FF0000"/>
                </a:solidFill>
                <a:latin typeface="黑体" panose="02010609060101010101" pitchFamily="49" charset="-122"/>
                <a:ea typeface="黑体" panose="02010609060101010101" pitchFamily="49" charset="-122"/>
              </a:rPr>
              <a:t>D/A转换电路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87080" name="Text Box 40"/>
          <p:cNvSpPr txBox="1"/>
          <p:nvPr/>
        </p:nvSpPr>
        <p:spPr>
          <a:xfrm>
            <a:off x="850900" y="4278313"/>
            <a:ext cx="3025775" cy="398780"/>
          </a:xfrm>
          <a:prstGeom prst="rect">
            <a:avLst/>
          </a:prstGeom>
          <a:noFill/>
          <a:ln w="9525">
            <a:noFill/>
          </a:ln>
        </p:spPr>
        <p:txBody>
          <a:bodyPr>
            <a:spAutoFit/>
          </a:bodyPr>
          <a:p>
            <a:pPr>
              <a:spcBef>
                <a:spcPct val="50000"/>
              </a:spcBef>
            </a:pP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流入运放的总电流： </a:t>
            </a:r>
            <a:endParaRPr lang="zh-CN" altLang="en-US" sz="20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87083" name="Text Box 43"/>
          <p:cNvSpPr txBox="1"/>
          <p:nvPr/>
        </p:nvSpPr>
        <p:spPr>
          <a:xfrm>
            <a:off x="3765550" y="4259263"/>
            <a:ext cx="2741613" cy="457200"/>
          </a:xfrm>
          <a:prstGeom prst="rect">
            <a:avLst/>
          </a:prstGeom>
          <a:noFill/>
          <a:ln w="9525">
            <a:noFill/>
          </a:ln>
        </p:spPr>
        <p:txBody>
          <a:bodyPr>
            <a:spAutoFit/>
          </a:bodyPr>
          <a:p>
            <a:pPr>
              <a:spcBef>
                <a:spcPct val="50000"/>
              </a:spcBef>
            </a:pP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i</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 </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 </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I</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0 </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 </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I</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1 </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 </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I</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2 </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 </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I</a:t>
            </a:r>
            <a:r>
              <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rPr>
              <a:t>3</a:t>
            </a:r>
            <a:endParaRPr lang="en-US" altLang="zh-CN" sz="2400" b="1" baseline="-25000"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5124" name="Rectangle 74"/>
          <p:cNvSpPr/>
          <p:nvPr/>
        </p:nvSpPr>
        <p:spPr>
          <a:xfrm>
            <a:off x="0" y="3028950"/>
            <a:ext cx="9144000" cy="0"/>
          </a:xfrm>
          <a:prstGeom prst="rect">
            <a:avLst/>
          </a:prstGeom>
          <a:noFill/>
          <a:ln w="9525">
            <a:noFill/>
          </a:ln>
        </p:spPr>
        <p:txBody>
          <a:bodyPr wrap="none" anchor="ctr" anchorCtr="0">
            <a:spAutoFit/>
          </a:bodyPr>
          <a:p>
            <a:endParaRPr lang="zh-CN" altLang="en-US" dirty="0">
              <a:solidFill>
                <a:srgbClr val="000066"/>
              </a:solidFill>
              <a:latin typeface="Times New Roman" panose="02020603050405020304" charset="0"/>
              <a:ea typeface="楷体" panose="02010609060101010101" charset="-122"/>
              <a:cs typeface="Times New Roman" panose="02020603050405020304" charset="0"/>
            </a:endParaRPr>
          </a:p>
        </p:txBody>
      </p:sp>
      <p:graphicFrame>
        <p:nvGraphicFramePr>
          <p:cNvPr id="87113" name="Object 73"/>
          <p:cNvGraphicFramePr>
            <a:graphicFrameLocks noChangeAspect="1"/>
          </p:cNvGraphicFramePr>
          <p:nvPr/>
        </p:nvGraphicFramePr>
        <p:xfrm>
          <a:off x="4246563" y="4752975"/>
          <a:ext cx="3560762" cy="990600"/>
        </p:xfrm>
        <a:graphic>
          <a:graphicData uri="http://schemas.openxmlformats.org/presentationml/2006/ole">
            <mc:AlternateContent xmlns:mc="http://schemas.openxmlformats.org/markup-compatibility/2006">
              <mc:Choice xmlns:v="urn:schemas-microsoft-com:vml" Requires="v">
                <p:oleObj spid="_x0000_s3091" name="" r:id="rId1" imgW="2794000" imgH="990600" progId="Equation.3">
                  <p:embed/>
                </p:oleObj>
              </mc:Choice>
              <mc:Fallback>
                <p:oleObj name="" r:id="rId1" imgW="2794000" imgH="990600" progId="Equation.3">
                  <p:embed/>
                  <p:pic>
                    <p:nvPicPr>
                      <p:cNvPr id="0" name="图片 3090"/>
                      <p:cNvPicPr/>
                      <p:nvPr/>
                    </p:nvPicPr>
                    <p:blipFill>
                      <a:blip r:embed="rId2"/>
                      <a:stretch>
                        <a:fillRect/>
                      </a:stretch>
                    </p:blipFill>
                    <p:spPr>
                      <a:xfrm>
                        <a:off x="4246563" y="4752975"/>
                        <a:ext cx="3560762" cy="990600"/>
                      </a:xfrm>
                      <a:prstGeom prst="rect">
                        <a:avLst/>
                      </a:prstGeom>
                      <a:noFill/>
                      <a:ln w="38100">
                        <a:noFill/>
                        <a:miter/>
                      </a:ln>
                    </p:spPr>
                  </p:pic>
                </p:oleObj>
              </mc:Fallback>
            </mc:AlternateContent>
          </a:graphicData>
        </a:graphic>
      </p:graphicFrame>
      <p:sp>
        <p:nvSpPr>
          <p:cNvPr id="87122" name="Text Box 82"/>
          <p:cNvSpPr txBox="1"/>
          <p:nvPr/>
        </p:nvSpPr>
        <p:spPr>
          <a:xfrm>
            <a:off x="850900" y="5065713"/>
            <a:ext cx="3025775" cy="396875"/>
          </a:xfrm>
          <a:prstGeom prst="rect">
            <a:avLst/>
          </a:prstGeom>
          <a:noFill/>
          <a:ln w="9525">
            <a:noFill/>
          </a:ln>
        </p:spPr>
        <p:txBody>
          <a:bodyPr>
            <a:spAutoFit/>
          </a:bodyPr>
          <a:p>
            <a:pPr>
              <a:spcBef>
                <a:spcPct val="50000"/>
              </a:spcBef>
            </a:pP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输出模拟电压： </a:t>
            </a:r>
            <a:endParaRPr lang="zh-CN" altLang="en-US" sz="2000" b="1" dirty="0">
              <a:solidFill>
                <a:srgbClr val="000066"/>
              </a:solidFill>
              <a:latin typeface="Times New Roman" panose="02020603050405020304" charset="0"/>
              <a:ea typeface="楷体" panose="02010609060101010101" charset="-122"/>
              <a:cs typeface="Times New Roman" panose="02020603050405020304" charset="0"/>
            </a:endParaRPr>
          </a:p>
        </p:txBody>
      </p:sp>
      <p:graphicFrame>
        <p:nvGraphicFramePr>
          <p:cNvPr id="87127" name="Object 87"/>
          <p:cNvGraphicFramePr>
            <a:graphicFrameLocks noChangeAspect="1"/>
          </p:cNvGraphicFramePr>
          <p:nvPr/>
        </p:nvGraphicFramePr>
        <p:xfrm>
          <a:off x="3797300" y="5573713"/>
          <a:ext cx="4192588" cy="750887"/>
        </p:xfrm>
        <a:graphic>
          <a:graphicData uri="http://schemas.openxmlformats.org/presentationml/2006/ole">
            <mc:AlternateContent xmlns:mc="http://schemas.openxmlformats.org/markup-compatibility/2006">
              <mc:Choice xmlns:v="urn:schemas-microsoft-com:vml" Requires="v">
                <p:oleObj spid="_x0000_s3092" name="" r:id="rId3" imgW="3441700" imgH="622300" progId="Equation.3">
                  <p:embed/>
                </p:oleObj>
              </mc:Choice>
              <mc:Fallback>
                <p:oleObj name="" r:id="rId3" imgW="3441700" imgH="622300" progId="Equation.3">
                  <p:embed/>
                  <p:pic>
                    <p:nvPicPr>
                      <p:cNvPr id="0" name="图片 3091"/>
                      <p:cNvPicPr/>
                      <p:nvPr/>
                    </p:nvPicPr>
                    <p:blipFill>
                      <a:blip r:embed="rId4"/>
                      <a:stretch>
                        <a:fillRect/>
                      </a:stretch>
                    </p:blipFill>
                    <p:spPr>
                      <a:xfrm>
                        <a:off x="3797300" y="5573713"/>
                        <a:ext cx="4192588" cy="750887"/>
                      </a:xfrm>
                      <a:prstGeom prst="rect">
                        <a:avLst/>
                      </a:prstGeom>
                      <a:noFill/>
                      <a:ln w="38100">
                        <a:noFill/>
                        <a:miter/>
                      </a:ln>
                    </p:spPr>
                  </p:pic>
                </p:oleObj>
              </mc:Fallback>
            </mc:AlternateContent>
          </a:graphicData>
        </a:graphic>
      </p:graphicFrame>
      <p:sp>
        <p:nvSpPr>
          <p:cNvPr id="5132" name="Text Box 91"/>
          <p:cNvSpPr txBox="1"/>
          <p:nvPr/>
        </p:nvSpPr>
        <p:spPr>
          <a:xfrm>
            <a:off x="1082675" y="1162050"/>
            <a:ext cx="3584575" cy="396875"/>
          </a:xfrm>
          <a:prstGeom prst="rect">
            <a:avLst/>
          </a:prstGeom>
          <a:noFill/>
          <a:ln w="9525">
            <a:noFill/>
          </a:ln>
        </p:spPr>
        <p:txBody>
          <a:bodyPr>
            <a:spAutoFit/>
          </a:bodyPr>
          <a:p>
            <a:pPr>
              <a:spcBef>
                <a:spcPct val="50000"/>
              </a:spcBef>
            </a:pP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输出模拟电压的计算： </a:t>
            </a:r>
            <a:endParaRPr lang="zh-CN" altLang="en-US" sz="2000" b="1" dirty="0">
              <a:solidFill>
                <a:srgbClr val="000066"/>
              </a:solidFill>
              <a:latin typeface="Times New Roman" panose="02020603050405020304" charset="0"/>
              <a:ea typeface="楷体" panose="02010609060101010101" charset="-122"/>
              <a:cs typeface="Times New Roman" panose="02020603050405020304" charset="0"/>
            </a:endParaRPr>
          </a:p>
        </p:txBody>
      </p:sp>
      <p:pic>
        <p:nvPicPr>
          <p:cNvPr id="2" name="图片 1"/>
          <p:cNvPicPr>
            <a:picLocks noChangeAspect="1"/>
          </p:cNvPicPr>
          <p:nvPr/>
        </p:nvPicPr>
        <p:blipFill>
          <a:blip r:embed="rId5"/>
          <a:stretch>
            <a:fillRect/>
          </a:stretch>
        </p:blipFill>
        <p:spPr>
          <a:xfrm>
            <a:off x="2057400" y="1676400"/>
            <a:ext cx="5173980" cy="22936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87080"/>
                                        </p:tgtEl>
                                        <p:attrNameLst>
                                          <p:attrName>style.visibility</p:attrName>
                                        </p:attrNameLst>
                                      </p:cBhvr>
                                      <p:to>
                                        <p:strVal val="visible"/>
                                      </p:to>
                                    </p:set>
                                    <p:animEffect transition="in" filter="strips(downRight)">
                                      <p:cBhvr>
                                        <p:cTn id="7" dur="500"/>
                                        <p:tgtEl>
                                          <p:spTgt spid="87080"/>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87083"/>
                                        </p:tgtEl>
                                        <p:attrNameLst>
                                          <p:attrName>style.visibility</p:attrName>
                                        </p:attrNameLst>
                                      </p:cBhvr>
                                      <p:to>
                                        <p:strVal val="visible"/>
                                      </p:to>
                                    </p:set>
                                    <p:animEffect transition="in" filter="strips(downRight)">
                                      <p:cBhvr>
                                        <p:cTn id="12" dur="500"/>
                                        <p:tgtEl>
                                          <p:spTgt spid="87083"/>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87113"/>
                                        </p:tgtEl>
                                        <p:attrNameLst>
                                          <p:attrName>style.visibility</p:attrName>
                                        </p:attrNameLst>
                                      </p:cBhvr>
                                      <p:to>
                                        <p:strVal val="visible"/>
                                      </p:to>
                                    </p:set>
                                    <p:animEffect transition="in" filter="strips(downRight)">
                                      <p:cBhvr>
                                        <p:cTn id="17" dur="500"/>
                                        <p:tgtEl>
                                          <p:spTgt spid="8711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87122"/>
                                        </p:tgtEl>
                                        <p:attrNameLst>
                                          <p:attrName>style.visibility</p:attrName>
                                        </p:attrNameLst>
                                      </p:cBhvr>
                                      <p:to>
                                        <p:strVal val="visible"/>
                                      </p:to>
                                    </p:set>
                                    <p:animEffect transition="in" filter="box(in)">
                                      <p:cBhvr>
                                        <p:cTn id="22" dur="500"/>
                                        <p:tgtEl>
                                          <p:spTgt spid="87122"/>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87127"/>
                                        </p:tgtEl>
                                        <p:attrNameLst>
                                          <p:attrName>style.visibility</p:attrName>
                                        </p:attrNameLst>
                                      </p:cBhvr>
                                      <p:to>
                                        <p:strVal val="visible"/>
                                      </p:to>
                                    </p:set>
                                    <p:animEffect transition="in" filter="strips(downRight)">
                                      <p:cBhvr>
                                        <p:cTn id="27" dur="500"/>
                                        <p:tgtEl>
                                          <p:spTgt spid="87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80" grpId="0"/>
      <p:bldP spid="87083" grpId="0"/>
      <p:bldP spid="8712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9.2 </a:t>
            </a:r>
            <a:r>
              <a:rPr lang="zh-CN" altLang="en-US" b="1" dirty="0">
                <a:solidFill>
                  <a:srgbClr val="FF0000"/>
                </a:solidFill>
                <a:latin typeface="黑体" panose="02010609060101010101" pitchFamily="49" charset="-122"/>
                <a:ea typeface="黑体" panose="02010609060101010101" pitchFamily="49" charset="-122"/>
              </a:rPr>
              <a:t>D/A转换电路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24958" name="Text Box 30"/>
          <p:cNvSpPr txBox="1"/>
          <p:nvPr/>
        </p:nvSpPr>
        <p:spPr>
          <a:xfrm>
            <a:off x="993775" y="1343025"/>
            <a:ext cx="6175375" cy="398780"/>
          </a:xfrm>
          <a:prstGeom prst="rect">
            <a:avLst/>
          </a:prstGeom>
          <a:noFill/>
          <a:ln w="9525">
            <a:noFill/>
          </a:ln>
        </p:spPr>
        <p:txBody>
          <a:bodyPr>
            <a:spAutoFit/>
          </a:bodyPr>
          <a:p>
            <a:pPr>
              <a:spcBef>
                <a:spcPct val="50000"/>
              </a:spcBef>
            </a:pP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4 </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位倒</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T</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形电阻网络</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DAC</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的输出模拟电压： </a:t>
            </a:r>
            <a:endParaRPr lang="zh-CN" altLang="en-US" sz="2000" b="1" dirty="0">
              <a:solidFill>
                <a:srgbClr val="000066"/>
              </a:solidFill>
              <a:latin typeface="Times New Roman" panose="02020603050405020304" charset="0"/>
              <a:ea typeface="楷体" panose="02010609060101010101" charset="-122"/>
              <a:cs typeface="Times New Roman" panose="02020603050405020304" charset="0"/>
            </a:endParaRPr>
          </a:p>
        </p:txBody>
      </p:sp>
      <p:graphicFrame>
        <p:nvGraphicFramePr>
          <p:cNvPr id="124960" name="Object 32"/>
          <p:cNvGraphicFramePr>
            <a:graphicFrameLocks noChangeAspect="1"/>
          </p:cNvGraphicFramePr>
          <p:nvPr/>
        </p:nvGraphicFramePr>
        <p:xfrm>
          <a:off x="1363663" y="2109788"/>
          <a:ext cx="1417637" cy="457200"/>
        </p:xfrm>
        <a:graphic>
          <a:graphicData uri="http://schemas.openxmlformats.org/presentationml/2006/ole">
            <mc:AlternateContent xmlns:mc="http://schemas.openxmlformats.org/markup-compatibility/2006">
              <mc:Choice xmlns:v="urn:schemas-microsoft-com:vml" Requires="v">
                <p:oleObj spid="_x0000_s3096" name="" r:id="rId1" imgW="673100" imgH="228600" progId="Equation.DSMT4">
                  <p:embed/>
                </p:oleObj>
              </mc:Choice>
              <mc:Fallback>
                <p:oleObj name="" r:id="rId1" imgW="673100" imgH="228600" progId="Equation.DSMT4">
                  <p:embed/>
                  <p:pic>
                    <p:nvPicPr>
                      <p:cNvPr id="0" name="图片 3095"/>
                      <p:cNvPicPr/>
                      <p:nvPr/>
                    </p:nvPicPr>
                    <p:blipFill>
                      <a:blip r:embed="rId2"/>
                      <a:stretch>
                        <a:fillRect/>
                      </a:stretch>
                    </p:blipFill>
                    <p:spPr>
                      <a:xfrm>
                        <a:off x="1363663" y="2109788"/>
                        <a:ext cx="1417637" cy="457200"/>
                      </a:xfrm>
                      <a:prstGeom prst="rect">
                        <a:avLst/>
                      </a:prstGeom>
                      <a:solidFill>
                        <a:schemeClr val="bg1">
                          <a:alpha val="0"/>
                        </a:schemeClr>
                      </a:solidFill>
                      <a:ln w="38100">
                        <a:noFill/>
                        <a:miter/>
                      </a:ln>
                    </p:spPr>
                  </p:pic>
                </p:oleObj>
              </mc:Fallback>
            </mc:AlternateContent>
          </a:graphicData>
        </a:graphic>
      </p:graphicFrame>
      <p:graphicFrame>
        <p:nvGraphicFramePr>
          <p:cNvPr id="124961" name="Object 33"/>
          <p:cNvGraphicFramePr>
            <a:graphicFrameLocks noChangeAspect="1"/>
          </p:cNvGraphicFramePr>
          <p:nvPr/>
        </p:nvGraphicFramePr>
        <p:xfrm>
          <a:off x="2863850" y="1928813"/>
          <a:ext cx="3022600" cy="862012"/>
        </p:xfrm>
        <a:graphic>
          <a:graphicData uri="http://schemas.openxmlformats.org/presentationml/2006/ole">
            <mc:AlternateContent xmlns:mc="http://schemas.openxmlformats.org/markup-compatibility/2006">
              <mc:Choice xmlns:v="urn:schemas-microsoft-com:vml" Requires="v">
                <p:oleObj spid="_x0000_s3094" name="" r:id="rId3" imgW="1435100" imgH="431800" progId="Equation.DSMT4">
                  <p:embed/>
                </p:oleObj>
              </mc:Choice>
              <mc:Fallback>
                <p:oleObj name="" r:id="rId3" imgW="1435100" imgH="431800" progId="Equation.DSMT4">
                  <p:embed/>
                  <p:pic>
                    <p:nvPicPr>
                      <p:cNvPr id="0" name="图片 3093"/>
                      <p:cNvPicPr/>
                      <p:nvPr/>
                    </p:nvPicPr>
                    <p:blipFill>
                      <a:blip r:embed="rId4"/>
                      <a:stretch>
                        <a:fillRect/>
                      </a:stretch>
                    </p:blipFill>
                    <p:spPr>
                      <a:xfrm>
                        <a:off x="2863850" y="1928813"/>
                        <a:ext cx="3022600" cy="862012"/>
                      </a:xfrm>
                      <a:prstGeom prst="rect">
                        <a:avLst/>
                      </a:prstGeom>
                      <a:solidFill>
                        <a:schemeClr val="bg1">
                          <a:alpha val="0"/>
                        </a:schemeClr>
                      </a:solidFill>
                      <a:ln w="38100">
                        <a:noFill/>
                        <a:miter/>
                      </a:ln>
                    </p:spPr>
                  </p:pic>
                </p:oleObj>
              </mc:Fallback>
            </mc:AlternateContent>
          </a:graphicData>
        </a:graphic>
      </p:graphicFrame>
      <p:sp>
        <p:nvSpPr>
          <p:cNvPr id="124962" name="Text Box 34"/>
          <p:cNvSpPr txBox="1"/>
          <p:nvPr/>
        </p:nvSpPr>
        <p:spPr>
          <a:xfrm>
            <a:off x="1077913" y="2720975"/>
            <a:ext cx="5319712" cy="396875"/>
          </a:xfrm>
          <a:prstGeom prst="rect">
            <a:avLst/>
          </a:prstGeom>
          <a:noFill/>
          <a:ln w="9525">
            <a:noFill/>
          </a:ln>
        </p:spPr>
        <p:txBody>
          <a:bodyPr>
            <a:spAutoFit/>
          </a:bodyPr>
          <a:p>
            <a:pPr>
              <a:spcBef>
                <a:spcPct val="50000"/>
              </a:spcBef>
            </a:pP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n </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位倒</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T</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形电阻网络</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DAC</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有： </a:t>
            </a:r>
            <a:endParaRPr lang="zh-CN" altLang="en-US" sz="2000" b="1" dirty="0">
              <a:solidFill>
                <a:srgbClr val="000066"/>
              </a:solidFill>
              <a:latin typeface="Times New Roman" panose="02020603050405020304" charset="0"/>
              <a:ea typeface="楷体" panose="02010609060101010101" charset="-122"/>
              <a:cs typeface="Times New Roman" panose="02020603050405020304" charset="0"/>
            </a:endParaRPr>
          </a:p>
        </p:txBody>
      </p:sp>
      <p:graphicFrame>
        <p:nvGraphicFramePr>
          <p:cNvPr id="124963" name="Object 35"/>
          <p:cNvGraphicFramePr>
            <a:graphicFrameLocks noChangeAspect="1"/>
          </p:cNvGraphicFramePr>
          <p:nvPr/>
        </p:nvGraphicFramePr>
        <p:xfrm>
          <a:off x="1309688" y="3309938"/>
          <a:ext cx="3873500" cy="925512"/>
        </p:xfrm>
        <a:graphic>
          <a:graphicData uri="http://schemas.openxmlformats.org/presentationml/2006/ole">
            <mc:AlternateContent xmlns:mc="http://schemas.openxmlformats.org/markup-compatibility/2006">
              <mc:Choice xmlns:v="urn:schemas-microsoft-com:vml" Requires="v">
                <p:oleObj spid="_x0000_s3102" name="" r:id="rId5" imgW="1752600" imgH="457200" progId="Equation.DSMT4">
                  <p:embed/>
                </p:oleObj>
              </mc:Choice>
              <mc:Fallback>
                <p:oleObj name="" r:id="rId5" imgW="1752600" imgH="457200" progId="Equation.DSMT4">
                  <p:embed/>
                  <p:pic>
                    <p:nvPicPr>
                      <p:cNvPr id="0" name="图片 3101"/>
                      <p:cNvPicPr/>
                      <p:nvPr/>
                    </p:nvPicPr>
                    <p:blipFill>
                      <a:blip r:embed="rId6"/>
                      <a:stretch>
                        <a:fillRect/>
                      </a:stretch>
                    </p:blipFill>
                    <p:spPr>
                      <a:xfrm>
                        <a:off x="1309688" y="3309938"/>
                        <a:ext cx="3873500" cy="925512"/>
                      </a:xfrm>
                      <a:prstGeom prst="rect">
                        <a:avLst/>
                      </a:prstGeom>
                      <a:solidFill>
                        <a:schemeClr val="bg1">
                          <a:alpha val="0"/>
                        </a:schemeClr>
                      </a:solidFill>
                      <a:ln w="38100">
                        <a:noFill/>
                        <a:miter/>
                      </a:ln>
                    </p:spPr>
                  </p:pic>
                </p:oleObj>
              </mc:Fallback>
            </mc:AlternateContent>
          </a:graphicData>
        </a:graphic>
      </p:graphicFrame>
      <p:graphicFrame>
        <p:nvGraphicFramePr>
          <p:cNvPr id="124965" name="Object 37"/>
          <p:cNvGraphicFramePr>
            <a:graphicFrameLocks noChangeAspect="1"/>
          </p:cNvGraphicFramePr>
          <p:nvPr/>
        </p:nvGraphicFramePr>
        <p:xfrm>
          <a:off x="1698625" y="4352925"/>
          <a:ext cx="1889125" cy="825500"/>
        </p:xfrm>
        <a:graphic>
          <a:graphicData uri="http://schemas.openxmlformats.org/presentationml/2006/ole">
            <mc:AlternateContent xmlns:mc="http://schemas.openxmlformats.org/markup-compatibility/2006">
              <mc:Choice xmlns:v="urn:schemas-microsoft-com:vml" Requires="v">
                <p:oleObj spid="_x0000_s3103" name="" r:id="rId7" imgW="888365" imgH="393700" progId="Equation.DSMT4">
                  <p:embed/>
                </p:oleObj>
              </mc:Choice>
              <mc:Fallback>
                <p:oleObj name="" r:id="rId7" imgW="888365" imgH="393700" progId="Equation.DSMT4">
                  <p:embed/>
                  <p:pic>
                    <p:nvPicPr>
                      <p:cNvPr id="0" name="图片 3102"/>
                      <p:cNvPicPr/>
                      <p:nvPr/>
                    </p:nvPicPr>
                    <p:blipFill>
                      <a:blip r:embed="rId8"/>
                      <a:stretch>
                        <a:fillRect/>
                      </a:stretch>
                    </p:blipFill>
                    <p:spPr>
                      <a:xfrm>
                        <a:off x="1698625" y="4352925"/>
                        <a:ext cx="1889125" cy="825500"/>
                      </a:xfrm>
                      <a:prstGeom prst="rect">
                        <a:avLst/>
                      </a:prstGeom>
                      <a:noFill/>
                      <a:ln w="38100">
                        <a:noFill/>
                        <a:miter/>
                      </a:ln>
                    </p:spPr>
                  </p:pic>
                </p:oleObj>
              </mc:Fallback>
            </mc:AlternateContent>
          </a:graphicData>
        </a:graphic>
      </p:graphicFrame>
      <p:sp>
        <p:nvSpPr>
          <p:cNvPr id="124967" name="Text Box 39"/>
          <p:cNvSpPr txBox="1"/>
          <p:nvPr/>
        </p:nvSpPr>
        <p:spPr>
          <a:xfrm>
            <a:off x="881063" y="4568825"/>
            <a:ext cx="989012" cy="396875"/>
          </a:xfrm>
          <a:prstGeom prst="rect">
            <a:avLst/>
          </a:prstGeom>
          <a:noFill/>
          <a:ln w="9525">
            <a:noFill/>
          </a:ln>
        </p:spPr>
        <p:txBody>
          <a:bodyPr>
            <a:spAutoFit/>
          </a:bodyPr>
          <a:p>
            <a:pPr>
              <a:spcBef>
                <a:spcPct val="50000"/>
              </a:spcBef>
            </a:pPr>
            <a:r>
              <a:rPr lang="zh-CN" altLang="en-US" sz="2000" b="1" dirty="0">
                <a:solidFill>
                  <a:srgbClr val="000066"/>
                </a:solidFill>
                <a:latin typeface="Times New Roman" panose="02020603050405020304" charset="0"/>
                <a:ea typeface="楷体" panose="02010609060101010101" charset="-122"/>
              </a:rPr>
              <a:t>令：</a:t>
            </a:r>
            <a:endParaRPr lang="zh-CN" altLang="en-US" sz="2000" b="1" dirty="0">
              <a:solidFill>
                <a:srgbClr val="000066"/>
              </a:solidFill>
              <a:latin typeface="Times New Roman" panose="02020603050405020304" charset="0"/>
              <a:ea typeface="楷体" panose="02010609060101010101" charset="-122"/>
            </a:endParaRPr>
          </a:p>
        </p:txBody>
      </p:sp>
      <p:graphicFrame>
        <p:nvGraphicFramePr>
          <p:cNvPr id="124968" name="Object 40"/>
          <p:cNvGraphicFramePr>
            <a:graphicFrameLocks noChangeAspect="1"/>
          </p:cNvGraphicFramePr>
          <p:nvPr/>
        </p:nvGraphicFramePr>
        <p:xfrm>
          <a:off x="3983038" y="4327525"/>
          <a:ext cx="2660650" cy="966788"/>
        </p:xfrm>
        <a:graphic>
          <a:graphicData uri="http://schemas.openxmlformats.org/presentationml/2006/ole">
            <mc:AlternateContent xmlns:mc="http://schemas.openxmlformats.org/markup-compatibility/2006">
              <mc:Choice xmlns:v="urn:schemas-microsoft-com:vml" Requires="v">
                <p:oleObj spid="_x0000_s3104" name="" r:id="rId9" imgW="1016000" imgH="431800" progId="Equation.DSMT4">
                  <p:embed/>
                </p:oleObj>
              </mc:Choice>
              <mc:Fallback>
                <p:oleObj name="" r:id="rId9" imgW="1016000" imgH="431800" progId="Equation.DSMT4">
                  <p:embed/>
                  <p:pic>
                    <p:nvPicPr>
                      <p:cNvPr id="0" name="图片 3103"/>
                      <p:cNvPicPr/>
                      <p:nvPr/>
                    </p:nvPicPr>
                    <p:blipFill>
                      <a:blip r:embed="rId10"/>
                      <a:stretch>
                        <a:fillRect/>
                      </a:stretch>
                    </p:blipFill>
                    <p:spPr>
                      <a:xfrm>
                        <a:off x="3983038" y="4327525"/>
                        <a:ext cx="2660650" cy="966788"/>
                      </a:xfrm>
                      <a:prstGeom prst="rect">
                        <a:avLst/>
                      </a:prstGeom>
                      <a:noFill/>
                      <a:ln w="38100">
                        <a:noFill/>
                        <a:miter/>
                      </a:ln>
                    </p:spPr>
                  </p:pic>
                </p:oleObj>
              </mc:Fallback>
            </mc:AlternateContent>
          </a:graphicData>
        </a:graphic>
      </p:graphicFrame>
      <p:sp>
        <p:nvSpPr>
          <p:cNvPr id="124969" name="Text Box 41"/>
          <p:cNvSpPr txBox="1"/>
          <p:nvPr/>
        </p:nvSpPr>
        <p:spPr>
          <a:xfrm>
            <a:off x="830263" y="5251450"/>
            <a:ext cx="706437" cy="396875"/>
          </a:xfrm>
          <a:prstGeom prst="rect">
            <a:avLst/>
          </a:prstGeom>
          <a:noFill/>
          <a:ln w="9525">
            <a:noFill/>
          </a:ln>
        </p:spPr>
        <p:txBody>
          <a:bodyPr>
            <a:spAutoFit/>
          </a:bodyPr>
          <a:p>
            <a:pPr>
              <a:spcBef>
                <a:spcPct val="50000"/>
              </a:spcBef>
            </a:pPr>
            <a:r>
              <a:rPr lang="zh-CN" altLang="en-US" sz="2000" b="1" dirty="0">
                <a:solidFill>
                  <a:srgbClr val="000066"/>
                </a:solidFill>
                <a:latin typeface="Times New Roman" panose="02020603050405020304" charset="0"/>
                <a:ea typeface="楷体" panose="02010609060101010101" charset="-122"/>
              </a:rPr>
              <a:t>则</a:t>
            </a:r>
            <a:endParaRPr lang="zh-CN" altLang="en-US" sz="2000" b="1" dirty="0">
              <a:solidFill>
                <a:srgbClr val="000066"/>
              </a:solidFill>
              <a:latin typeface="Times New Roman" panose="02020603050405020304" charset="0"/>
              <a:ea typeface="楷体" panose="02010609060101010101" charset="-122"/>
            </a:endParaRPr>
          </a:p>
        </p:txBody>
      </p:sp>
      <p:sp>
        <p:nvSpPr>
          <p:cNvPr id="124970" name="Text Box 42"/>
          <p:cNvSpPr txBox="1"/>
          <p:nvPr/>
        </p:nvSpPr>
        <p:spPr>
          <a:xfrm>
            <a:off x="1641475" y="5219700"/>
            <a:ext cx="1868488" cy="396875"/>
          </a:xfrm>
          <a:prstGeom prst="rect">
            <a:avLst/>
          </a:prstGeom>
          <a:solidFill>
            <a:schemeClr val="bg1">
              <a:alpha val="0"/>
            </a:schemeClr>
          </a:solidFill>
          <a:ln w="9525">
            <a:noFill/>
          </a:ln>
        </p:spPr>
        <p:txBody>
          <a:bodyPr>
            <a:spAutoFit/>
          </a:bodyPr>
          <a:p>
            <a:pPr>
              <a:spcBef>
                <a:spcPct val="50000"/>
              </a:spcBef>
            </a:pP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sym typeface="Symbol" panose="05050102010706020507" pitchFamily="18" charset="2"/>
              </a:rPr>
              <a:t></a:t>
            </a:r>
            <a:r>
              <a:rPr lang="en-US" altLang="zh-CN" sz="2000" b="1" baseline="-30000" dirty="0">
                <a:solidFill>
                  <a:srgbClr val="000066"/>
                </a:solidFill>
                <a:latin typeface="Times New Roman" panose="02020603050405020304" charset="0"/>
                <a:ea typeface="楷体" panose="02010609060101010101" charset="-122"/>
                <a:cs typeface="Times New Roman" panose="02020603050405020304" charset="0"/>
              </a:rPr>
              <a:t>O </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 – </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K N</a:t>
            </a:r>
            <a:r>
              <a:rPr lang="en-US" altLang="zh-CN" sz="2000" b="1" baseline="-30000" dirty="0">
                <a:solidFill>
                  <a:srgbClr val="000066"/>
                </a:solidFill>
                <a:latin typeface="Times New Roman" panose="02020603050405020304" charset="0"/>
                <a:ea typeface="楷体" panose="02010609060101010101" charset="-122"/>
                <a:cs typeface="Times New Roman" panose="02020603050405020304" charset="0"/>
              </a:rPr>
              <a:t>B</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 </a:t>
            </a:r>
            <a:endParaRPr lang="en-US" altLang="zh-CN" sz="20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25009" name="Rectangle 81"/>
          <p:cNvSpPr/>
          <p:nvPr/>
        </p:nvSpPr>
        <p:spPr>
          <a:xfrm>
            <a:off x="430213" y="5794375"/>
            <a:ext cx="8713787" cy="854075"/>
          </a:xfrm>
          <a:prstGeom prst="rect">
            <a:avLst/>
          </a:prstGeom>
          <a:noFill/>
          <a:ln w="9525">
            <a:noFill/>
          </a:ln>
        </p:spPr>
        <p:txBody>
          <a:bodyPr>
            <a:spAutoFit/>
          </a:bodyPr>
          <a:p>
            <a:pPr>
              <a:lnSpc>
                <a:spcPct val="125000"/>
              </a:lnSpc>
              <a:spcBef>
                <a:spcPct val="50000"/>
              </a:spcBef>
            </a:pP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在电路中输入的每一个二进制数</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N</a:t>
            </a:r>
            <a:r>
              <a:rPr lang="en-US" altLang="zh-CN" sz="2000" b="1" baseline="-30000" dirty="0">
                <a:solidFill>
                  <a:srgbClr val="000066"/>
                </a:solidFill>
                <a:latin typeface="Times New Roman" panose="02020603050405020304" charset="0"/>
                <a:ea typeface="楷体" panose="02010609060101010101" charset="-122"/>
                <a:cs typeface="Times New Roman" panose="02020603050405020304" charset="0"/>
              </a:rPr>
              <a:t>B</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，均能得到与之成正比的模拟电压输出。 </a:t>
            </a:r>
            <a:endParaRPr lang="zh-CN" altLang="en-US" sz="2000" b="1" dirty="0">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24958"/>
                                        </p:tgtEl>
                                        <p:attrNameLst>
                                          <p:attrName>style.visibility</p:attrName>
                                        </p:attrNameLst>
                                      </p:cBhvr>
                                      <p:to>
                                        <p:strVal val="visible"/>
                                      </p:to>
                                    </p:set>
                                    <p:animEffect transition="in" filter="strips(downRight)">
                                      <p:cBhvr>
                                        <p:cTn id="7" dur="500"/>
                                        <p:tgtEl>
                                          <p:spTgt spid="124958"/>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124960"/>
                                        </p:tgtEl>
                                        <p:attrNameLst>
                                          <p:attrName>style.visibility</p:attrName>
                                        </p:attrNameLst>
                                      </p:cBhvr>
                                      <p:to>
                                        <p:strVal val="visible"/>
                                      </p:to>
                                    </p:set>
                                    <p:animEffect transition="in" filter="strips(downRight)">
                                      <p:cBhvr>
                                        <p:cTn id="12" dur="500"/>
                                        <p:tgtEl>
                                          <p:spTgt spid="124960"/>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124961"/>
                                        </p:tgtEl>
                                        <p:attrNameLst>
                                          <p:attrName>style.visibility</p:attrName>
                                        </p:attrNameLst>
                                      </p:cBhvr>
                                      <p:to>
                                        <p:strVal val="visible"/>
                                      </p:to>
                                    </p:set>
                                    <p:animEffect transition="in" filter="strips(downRight)">
                                      <p:cBhvr>
                                        <p:cTn id="17" dur="500"/>
                                        <p:tgtEl>
                                          <p:spTgt spid="124961"/>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24962"/>
                                        </p:tgtEl>
                                        <p:attrNameLst>
                                          <p:attrName>style.visibility</p:attrName>
                                        </p:attrNameLst>
                                      </p:cBhvr>
                                      <p:to>
                                        <p:strVal val="visible"/>
                                      </p:to>
                                    </p:set>
                                    <p:animEffect transition="in" filter="strips(downRight)">
                                      <p:cBhvr>
                                        <p:cTn id="22" dur="500"/>
                                        <p:tgtEl>
                                          <p:spTgt spid="124962"/>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124963"/>
                                        </p:tgtEl>
                                        <p:attrNameLst>
                                          <p:attrName>style.visibility</p:attrName>
                                        </p:attrNameLst>
                                      </p:cBhvr>
                                      <p:to>
                                        <p:strVal val="visible"/>
                                      </p:to>
                                    </p:set>
                                    <p:animEffect transition="in" filter="strips(downRight)">
                                      <p:cBhvr>
                                        <p:cTn id="27" dur="500"/>
                                        <p:tgtEl>
                                          <p:spTgt spid="124963"/>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124967"/>
                                        </p:tgtEl>
                                        <p:attrNameLst>
                                          <p:attrName>style.visibility</p:attrName>
                                        </p:attrNameLst>
                                      </p:cBhvr>
                                      <p:to>
                                        <p:strVal val="visible"/>
                                      </p:to>
                                    </p:set>
                                    <p:animEffect transition="in" filter="strips(downRight)">
                                      <p:cBhvr>
                                        <p:cTn id="32" dur="500"/>
                                        <p:tgtEl>
                                          <p:spTgt spid="124967"/>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nodeType="clickEffect">
                                  <p:stCondLst>
                                    <p:cond delay="0"/>
                                  </p:stCondLst>
                                  <p:childTnLst>
                                    <p:set>
                                      <p:cBhvr>
                                        <p:cTn id="36" dur="1" fill="hold">
                                          <p:stCondLst>
                                            <p:cond delay="0"/>
                                          </p:stCondLst>
                                        </p:cTn>
                                        <p:tgtEl>
                                          <p:spTgt spid="124965"/>
                                        </p:tgtEl>
                                        <p:attrNameLst>
                                          <p:attrName>style.visibility</p:attrName>
                                        </p:attrNameLst>
                                      </p:cBhvr>
                                      <p:to>
                                        <p:strVal val="visible"/>
                                      </p:to>
                                    </p:set>
                                    <p:animEffect transition="in" filter="strips(downRight)">
                                      <p:cBhvr>
                                        <p:cTn id="37" dur="500"/>
                                        <p:tgtEl>
                                          <p:spTgt spid="124965"/>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6" fill="hold" nodeType="clickEffect">
                                  <p:stCondLst>
                                    <p:cond delay="0"/>
                                  </p:stCondLst>
                                  <p:childTnLst>
                                    <p:set>
                                      <p:cBhvr>
                                        <p:cTn id="41" dur="1" fill="hold">
                                          <p:stCondLst>
                                            <p:cond delay="0"/>
                                          </p:stCondLst>
                                        </p:cTn>
                                        <p:tgtEl>
                                          <p:spTgt spid="124968"/>
                                        </p:tgtEl>
                                        <p:attrNameLst>
                                          <p:attrName>style.visibility</p:attrName>
                                        </p:attrNameLst>
                                      </p:cBhvr>
                                      <p:to>
                                        <p:strVal val="visible"/>
                                      </p:to>
                                    </p:set>
                                    <p:animEffect transition="in" filter="strips(downRight)">
                                      <p:cBhvr>
                                        <p:cTn id="42" dur="500"/>
                                        <p:tgtEl>
                                          <p:spTgt spid="124968"/>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6" fill="hold" grpId="0" nodeType="clickEffect">
                                  <p:stCondLst>
                                    <p:cond delay="0"/>
                                  </p:stCondLst>
                                  <p:childTnLst>
                                    <p:set>
                                      <p:cBhvr>
                                        <p:cTn id="46" dur="1" fill="hold">
                                          <p:stCondLst>
                                            <p:cond delay="0"/>
                                          </p:stCondLst>
                                        </p:cTn>
                                        <p:tgtEl>
                                          <p:spTgt spid="124969"/>
                                        </p:tgtEl>
                                        <p:attrNameLst>
                                          <p:attrName>style.visibility</p:attrName>
                                        </p:attrNameLst>
                                      </p:cBhvr>
                                      <p:to>
                                        <p:strVal val="visible"/>
                                      </p:to>
                                    </p:set>
                                    <p:animEffect transition="in" filter="strips(downRight)">
                                      <p:cBhvr>
                                        <p:cTn id="47" dur="500"/>
                                        <p:tgtEl>
                                          <p:spTgt spid="124969"/>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6" fill="hold" grpId="0" nodeType="clickEffect">
                                  <p:stCondLst>
                                    <p:cond delay="0"/>
                                  </p:stCondLst>
                                  <p:childTnLst>
                                    <p:set>
                                      <p:cBhvr>
                                        <p:cTn id="51" dur="1" fill="hold">
                                          <p:stCondLst>
                                            <p:cond delay="0"/>
                                          </p:stCondLst>
                                        </p:cTn>
                                        <p:tgtEl>
                                          <p:spTgt spid="124970"/>
                                        </p:tgtEl>
                                        <p:attrNameLst>
                                          <p:attrName>style.visibility</p:attrName>
                                        </p:attrNameLst>
                                      </p:cBhvr>
                                      <p:to>
                                        <p:strVal val="visible"/>
                                      </p:to>
                                    </p:set>
                                    <p:animEffect transition="in" filter="strips(downRight)">
                                      <p:cBhvr>
                                        <p:cTn id="52" dur="500"/>
                                        <p:tgtEl>
                                          <p:spTgt spid="124970"/>
                                        </p:tgtEl>
                                      </p:cBhvr>
                                    </p:animEffect>
                                  </p:childTnLst>
                                </p:cTn>
                              </p:par>
                            </p:childTnLst>
                          </p:cTn>
                        </p:par>
                      </p:childTnLst>
                    </p:cTn>
                  </p:par>
                  <p:par>
                    <p:cTn id="53" fill="hold">
                      <p:stCondLst>
                        <p:cond delay="indefinite"/>
                      </p:stCondLst>
                      <p:childTnLst>
                        <p:par>
                          <p:cTn id="54" fill="hold">
                            <p:stCondLst>
                              <p:cond delay="0"/>
                            </p:stCondLst>
                            <p:childTnLst>
                              <p:par>
                                <p:cTn id="55" presetID="18" presetClass="entr" presetSubtype="6" fill="hold" grpId="0" nodeType="clickEffect">
                                  <p:stCondLst>
                                    <p:cond delay="0"/>
                                  </p:stCondLst>
                                  <p:childTnLst>
                                    <p:set>
                                      <p:cBhvr>
                                        <p:cTn id="56" dur="1" fill="hold">
                                          <p:stCondLst>
                                            <p:cond delay="0"/>
                                          </p:stCondLst>
                                        </p:cTn>
                                        <p:tgtEl>
                                          <p:spTgt spid="125009"/>
                                        </p:tgtEl>
                                        <p:attrNameLst>
                                          <p:attrName>style.visibility</p:attrName>
                                        </p:attrNameLst>
                                      </p:cBhvr>
                                      <p:to>
                                        <p:strVal val="visible"/>
                                      </p:to>
                                    </p:set>
                                    <p:animEffect transition="in" filter="strips(downRight)">
                                      <p:cBhvr>
                                        <p:cTn id="57" dur="500"/>
                                        <p:tgtEl>
                                          <p:spTgt spid="1250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58" grpId="0"/>
      <p:bldP spid="124962" grpId="0"/>
      <p:bldP spid="124967" grpId="0"/>
      <p:bldP spid="124969" grpId="0"/>
      <p:bldP spid="124970" grpId="0" bldLvl="0" animBg="1"/>
      <p:bldP spid="12500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9.2 </a:t>
            </a:r>
            <a:r>
              <a:rPr lang="zh-CN" altLang="en-US" b="1" dirty="0">
                <a:solidFill>
                  <a:srgbClr val="FF0000"/>
                </a:solidFill>
                <a:latin typeface="黑体" panose="02010609060101010101" pitchFamily="49" charset="-122"/>
                <a:ea typeface="黑体" panose="02010609060101010101" pitchFamily="49" charset="-122"/>
              </a:rPr>
              <a:t>D/A转换电路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15716" name="Rectangle 4"/>
          <p:cNvSpPr/>
          <p:nvPr/>
        </p:nvSpPr>
        <p:spPr>
          <a:xfrm>
            <a:off x="900113" y="1690688"/>
            <a:ext cx="7391400" cy="491490"/>
          </a:xfrm>
          <a:prstGeom prst="rect">
            <a:avLst/>
          </a:prstGeom>
          <a:noFill/>
          <a:ln w="9525">
            <a:noFill/>
          </a:ln>
        </p:spPr>
        <p:txBody>
          <a:bodyPr>
            <a:spAutoFit/>
          </a:bodyPr>
          <a:p>
            <a:pPr>
              <a:spcBef>
                <a:spcPct val="20000"/>
              </a:spcBef>
            </a:pPr>
            <a:r>
              <a:rPr lang="zh-CN" altLang="en-US" sz="2600" b="1" dirty="0">
                <a:solidFill>
                  <a:srgbClr val="1318F3"/>
                </a:solidFill>
                <a:latin typeface="Times New Roman" panose="02020603050405020304" charset="0"/>
                <a:ea typeface="楷体" panose="02010609060101010101" charset="-122"/>
              </a:rPr>
              <a:t>为提高转换精度，对电路参数的要求</a:t>
            </a:r>
            <a:endParaRPr lang="zh-CN" altLang="en-US" sz="2600" b="1" dirty="0">
              <a:solidFill>
                <a:srgbClr val="1318F3"/>
              </a:solidFill>
              <a:latin typeface="Times New Roman" panose="02020603050405020304" charset="0"/>
              <a:ea typeface="楷体" panose="02010609060101010101" charset="-122"/>
            </a:endParaRPr>
          </a:p>
        </p:txBody>
      </p:sp>
      <p:sp>
        <p:nvSpPr>
          <p:cNvPr id="115718" name="Rectangle 6"/>
          <p:cNvSpPr/>
          <p:nvPr/>
        </p:nvSpPr>
        <p:spPr>
          <a:xfrm>
            <a:off x="755650" y="2466975"/>
            <a:ext cx="7848600" cy="2274888"/>
          </a:xfrm>
          <a:prstGeom prst="rect">
            <a:avLst/>
          </a:prstGeom>
          <a:noFill/>
          <a:ln w="9525">
            <a:noFill/>
          </a:ln>
        </p:spPr>
        <p:txBody>
          <a:bodyPr>
            <a:spAutoFit/>
          </a:bodyPr>
          <a:p>
            <a:pPr>
              <a:spcBef>
                <a:spcPct val="50000"/>
              </a:spcBef>
            </a:pP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1</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）基准电压的稳定性要好；</a:t>
            </a:r>
            <a:endParaRPr lang="zh-CN" altLang="en-US" sz="2600" b="1" dirty="0">
              <a:solidFill>
                <a:srgbClr val="000066"/>
              </a:solidFill>
              <a:latin typeface="Times New Roman" panose="02020603050405020304" charset="0"/>
              <a:ea typeface="楷体" panose="02010609060101010101" charset="-122"/>
              <a:cs typeface="Times New Roman" panose="02020603050405020304" charset="0"/>
            </a:endParaRPr>
          </a:p>
          <a:p>
            <a:pPr>
              <a:spcBef>
                <a:spcPct val="50000"/>
              </a:spcBef>
            </a:pP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2</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）倒</a:t>
            </a: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T</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形电阻网络中</a:t>
            </a: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R</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和</a:t>
            </a: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2R</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阻值比值的精度要高；</a:t>
            </a:r>
            <a:endParaRPr lang="zh-CN" altLang="en-US" sz="2600" b="1" dirty="0">
              <a:solidFill>
                <a:srgbClr val="000066"/>
              </a:solidFill>
              <a:latin typeface="Times New Roman" panose="02020603050405020304" charset="0"/>
              <a:ea typeface="楷体" panose="02010609060101010101" charset="-122"/>
              <a:cs typeface="Times New Roman" panose="02020603050405020304" charset="0"/>
            </a:endParaRPr>
          </a:p>
          <a:p>
            <a:pPr>
              <a:spcBef>
                <a:spcPct val="50000"/>
              </a:spcBef>
            </a:pP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3</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）每个模拟开关的开关电压降要相等；</a:t>
            </a:r>
            <a:endParaRPr lang="zh-CN" altLang="en-US" sz="2600" b="1" dirty="0">
              <a:solidFill>
                <a:srgbClr val="000066"/>
              </a:solidFill>
              <a:latin typeface="Times New Roman" panose="02020603050405020304" charset="0"/>
              <a:ea typeface="楷体" panose="02010609060101010101" charset="-122"/>
              <a:cs typeface="Times New Roman" panose="02020603050405020304" charset="0"/>
            </a:endParaRPr>
          </a:p>
          <a:p>
            <a:pPr>
              <a:spcBef>
                <a:spcPct val="50000"/>
              </a:spcBef>
            </a:pP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4</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）模拟开关的导通电阻应按</a:t>
            </a: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2</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的整数倍递增。</a:t>
            </a:r>
            <a:endParaRPr lang="zh-CN" altLang="en-US" sz="26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15722" name="Rectangle 10"/>
          <p:cNvSpPr/>
          <p:nvPr/>
        </p:nvSpPr>
        <p:spPr>
          <a:xfrm>
            <a:off x="855663" y="5275263"/>
            <a:ext cx="7461250" cy="488950"/>
          </a:xfrm>
          <a:prstGeom prst="rect">
            <a:avLst/>
          </a:prstGeom>
          <a:noFill/>
          <a:ln w="9525">
            <a:noFill/>
          </a:ln>
        </p:spPr>
        <p:txBody>
          <a:bodyPr>
            <a:spAutoFit/>
          </a:bodyPr>
          <a:p>
            <a:r>
              <a:rPr lang="zh-CN" altLang="en-US" sz="2600" b="1" dirty="0">
                <a:solidFill>
                  <a:srgbClr val="FF0000"/>
                </a:solidFill>
                <a:latin typeface="Times New Roman" panose="02020603050405020304" charset="0"/>
                <a:ea typeface="楷体" panose="02010609060101010101" charset="-122"/>
                <a:cs typeface="Times New Roman" panose="02020603050405020304" charset="0"/>
              </a:rPr>
              <a:t>倒</a:t>
            </a:r>
            <a:r>
              <a:rPr lang="en-US" altLang="zh-CN" sz="2600" b="1" dirty="0">
                <a:solidFill>
                  <a:srgbClr val="FF0000"/>
                </a:solidFill>
                <a:latin typeface="Times New Roman" panose="02020603050405020304" charset="0"/>
                <a:ea typeface="楷体" panose="02010609060101010101" charset="-122"/>
                <a:cs typeface="Times New Roman" panose="02020603050405020304" charset="0"/>
              </a:rPr>
              <a:t>T</a:t>
            </a:r>
            <a:r>
              <a:rPr lang="zh-CN" altLang="en-US" sz="2600" b="1" dirty="0">
                <a:solidFill>
                  <a:srgbClr val="FF0000"/>
                </a:solidFill>
                <a:latin typeface="Times New Roman" panose="02020603050405020304" charset="0"/>
                <a:ea typeface="楷体" panose="02010609060101010101" charset="-122"/>
                <a:cs typeface="Times New Roman" panose="02020603050405020304" charset="0"/>
              </a:rPr>
              <a:t>形电阻网络型</a:t>
            </a:r>
            <a:r>
              <a:rPr lang="en-US" altLang="zh-CN" sz="2600" b="1" dirty="0">
                <a:solidFill>
                  <a:srgbClr val="FF0000"/>
                </a:solidFill>
                <a:latin typeface="Times New Roman" panose="02020603050405020304" charset="0"/>
                <a:ea typeface="楷体" panose="02010609060101010101" charset="-122"/>
                <a:cs typeface="Times New Roman" panose="02020603050405020304" charset="0"/>
              </a:rPr>
              <a:t>D/A</a:t>
            </a:r>
            <a:r>
              <a:rPr lang="zh-CN" altLang="en-US" sz="2600" b="1" dirty="0">
                <a:solidFill>
                  <a:srgbClr val="FF0000"/>
                </a:solidFill>
                <a:latin typeface="Times New Roman" panose="02020603050405020304" charset="0"/>
                <a:ea typeface="楷体" panose="02010609060101010101" charset="-122"/>
                <a:cs typeface="Times New Roman" panose="02020603050405020304" charset="0"/>
              </a:rPr>
              <a:t>转换器对元件参数要求高！</a:t>
            </a:r>
            <a:endParaRPr lang="zh-CN" altLang="en-US" sz="2600" b="1" dirty="0">
              <a:solidFill>
                <a:srgbClr val="FF0000"/>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5716"/>
                                        </p:tgtEl>
                                        <p:attrNameLst>
                                          <p:attrName>style.visibility</p:attrName>
                                        </p:attrNameLst>
                                      </p:cBhvr>
                                      <p:to>
                                        <p:strVal val="visible"/>
                                      </p:to>
                                    </p:set>
                                    <p:animEffect transition="in" filter="blinds(horizontal)">
                                      <p:cBhvr>
                                        <p:cTn id="7" dur="500"/>
                                        <p:tgtEl>
                                          <p:spTgt spid="11571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5718">
                                            <p:txEl>
                                              <p:charRg st="0" end="15"/>
                                            </p:txEl>
                                          </p:spTgt>
                                        </p:tgtEl>
                                        <p:attrNameLst>
                                          <p:attrName>style.visibility</p:attrName>
                                        </p:attrNameLst>
                                      </p:cBhvr>
                                      <p:to>
                                        <p:strVal val="visible"/>
                                      </p:to>
                                    </p:set>
                                    <p:animEffect transition="in" filter="blinds(horizontal)">
                                      <p:cBhvr>
                                        <p:cTn id="12" dur="500"/>
                                        <p:tgtEl>
                                          <p:spTgt spid="115718">
                                            <p:txEl>
                                              <p:charRg st="0" end="1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5718">
                                            <p:txEl>
                                              <p:charRg st="15" end="41"/>
                                            </p:txEl>
                                          </p:spTgt>
                                        </p:tgtEl>
                                        <p:attrNameLst>
                                          <p:attrName>style.visibility</p:attrName>
                                        </p:attrNameLst>
                                      </p:cBhvr>
                                      <p:to>
                                        <p:strVal val="visible"/>
                                      </p:to>
                                    </p:set>
                                    <p:animEffect transition="in" filter="blinds(horizontal)">
                                      <p:cBhvr>
                                        <p:cTn id="17" dur="500"/>
                                        <p:tgtEl>
                                          <p:spTgt spid="115718">
                                            <p:txEl>
                                              <p:charRg st="15" end="4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5718">
                                            <p:txEl>
                                              <p:charRg st="41" end="61"/>
                                            </p:txEl>
                                          </p:spTgt>
                                        </p:tgtEl>
                                        <p:attrNameLst>
                                          <p:attrName>style.visibility</p:attrName>
                                        </p:attrNameLst>
                                      </p:cBhvr>
                                      <p:to>
                                        <p:strVal val="visible"/>
                                      </p:to>
                                    </p:set>
                                    <p:animEffect transition="in" filter="blinds(horizontal)">
                                      <p:cBhvr>
                                        <p:cTn id="22" dur="500"/>
                                        <p:tgtEl>
                                          <p:spTgt spid="115718">
                                            <p:txEl>
                                              <p:charRg st="41" end="6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5718">
                                            <p:txEl>
                                              <p:charRg st="61" end="84"/>
                                            </p:txEl>
                                          </p:spTgt>
                                        </p:tgtEl>
                                        <p:attrNameLst>
                                          <p:attrName>style.visibility</p:attrName>
                                        </p:attrNameLst>
                                      </p:cBhvr>
                                      <p:to>
                                        <p:strVal val="visible"/>
                                      </p:to>
                                    </p:set>
                                    <p:animEffect transition="in" filter="blinds(horizontal)">
                                      <p:cBhvr>
                                        <p:cTn id="27" dur="500"/>
                                        <p:tgtEl>
                                          <p:spTgt spid="115718">
                                            <p:txEl>
                                              <p:charRg st="61" end="8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15722"/>
                                        </p:tgtEl>
                                        <p:attrNameLst>
                                          <p:attrName>style.visibility</p:attrName>
                                        </p:attrNameLst>
                                      </p:cBhvr>
                                      <p:to>
                                        <p:strVal val="visible"/>
                                      </p:to>
                                    </p:set>
                                    <p:animEffect transition="in" filter="dissolve">
                                      <p:cBhvr>
                                        <p:cTn id="32" dur="500"/>
                                        <p:tgtEl>
                                          <p:spTgt spid="1157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6" grpId="0"/>
      <p:bldP spid="115718" grpId="0" build="p"/>
      <p:bldP spid="11572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9.2 </a:t>
            </a:r>
            <a:r>
              <a:rPr lang="zh-CN" altLang="en-US" b="1" dirty="0">
                <a:solidFill>
                  <a:srgbClr val="FF0000"/>
                </a:solidFill>
                <a:latin typeface="黑体" panose="02010609060101010101" pitchFamily="49" charset="-122"/>
                <a:ea typeface="黑体" panose="02010609060101010101" pitchFamily="49" charset="-122"/>
              </a:rPr>
              <a:t>D/A转换电路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46" name="Rectangle 2"/>
          <p:cNvSpPr>
            <a:spLocks noGrp="1"/>
          </p:cNvSpPr>
          <p:nvPr>
            <p:ph type="title"/>
          </p:nvPr>
        </p:nvSpPr>
        <p:spPr>
          <a:xfrm>
            <a:off x="914400" y="990600"/>
            <a:ext cx="8068945" cy="705485"/>
          </a:xfrm>
        </p:spPr>
        <p:txBody>
          <a:bodyPr vert="horz" wrap="square" lIns="91440" tIns="45720" rIns="91440" bIns="45720" anchor="ctr" anchorCtr="0"/>
          <a:p>
            <a:pPr algn="l" eaLnBrk="1" hangingPunct="1"/>
            <a:r>
              <a:rPr lang="en-US" altLang="zh-CN" sz="2400" i="0" dirty="0">
                <a:solidFill>
                  <a:srgbClr val="0070C0"/>
                </a:solidFill>
                <a:latin typeface="黑体" panose="02010609060101010101" pitchFamily="49" charset="-122"/>
                <a:ea typeface="黑体" panose="02010609060101010101" pitchFamily="49" charset="-122"/>
              </a:rPr>
              <a:t>9.2.4 </a:t>
            </a:r>
            <a:r>
              <a:rPr lang="zh-CN" altLang="en-US" sz="2400" i="0" dirty="0">
                <a:solidFill>
                  <a:srgbClr val="0070C0"/>
                </a:solidFill>
                <a:latin typeface="黑体" panose="02010609060101010101" pitchFamily="49" charset="-122"/>
                <a:ea typeface="黑体" panose="02010609060101010101" pitchFamily="49" charset="-122"/>
              </a:rPr>
              <a:t>权电流型D/A转换器</a:t>
            </a:r>
            <a:endParaRPr lang="zh-CN" altLang="en-US" sz="2400" i="0" dirty="0">
              <a:solidFill>
                <a:srgbClr val="0070C0"/>
              </a:solidFill>
              <a:latin typeface="黑体" panose="02010609060101010101" pitchFamily="49" charset="-122"/>
              <a:ea typeface="黑体" panose="02010609060101010101" pitchFamily="49" charset="-122"/>
            </a:endParaRPr>
          </a:p>
        </p:txBody>
      </p:sp>
      <p:sp>
        <p:nvSpPr>
          <p:cNvPr id="182279" name="Text Box 7"/>
          <p:cNvSpPr txBox="1"/>
          <p:nvPr/>
        </p:nvSpPr>
        <p:spPr>
          <a:xfrm>
            <a:off x="856615" y="4261485"/>
            <a:ext cx="4670425" cy="398780"/>
          </a:xfrm>
          <a:prstGeom prst="rect">
            <a:avLst/>
          </a:prstGeom>
          <a:noFill/>
          <a:ln w="9525">
            <a:noFill/>
          </a:ln>
        </p:spPr>
        <p:txBody>
          <a:bodyPr>
            <a:spAutoFit/>
          </a:bodyPr>
          <a:p>
            <a:pPr>
              <a:spcBef>
                <a:spcPct val="50000"/>
              </a:spcBef>
            </a:pP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D</a:t>
            </a:r>
            <a:r>
              <a:rPr lang="en-US" altLang="zh-CN" sz="2000" b="1" baseline="-30000" dirty="0">
                <a:solidFill>
                  <a:srgbClr val="000066"/>
                </a:solidFill>
                <a:latin typeface="Times New Roman" panose="02020603050405020304" charset="0"/>
                <a:ea typeface="楷体" panose="02010609060101010101" charset="-122"/>
                <a:cs typeface="Times New Roman" panose="02020603050405020304" charset="0"/>
              </a:rPr>
              <a:t>i </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=1</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时，开关</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S</a:t>
            </a:r>
            <a:r>
              <a:rPr lang="en-US" altLang="zh-CN" sz="2000" b="1" baseline="-30000" dirty="0">
                <a:solidFill>
                  <a:srgbClr val="000066"/>
                </a:solidFill>
                <a:latin typeface="Times New Roman" panose="02020603050405020304" charset="0"/>
                <a:ea typeface="楷体" panose="02010609060101010101" charset="-122"/>
                <a:cs typeface="Times New Roman" panose="02020603050405020304" charset="0"/>
              </a:rPr>
              <a:t>i</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接运放的反相端</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 </a:t>
            </a:r>
            <a:endParaRPr lang="en-US" altLang="zh-CN" sz="20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82280" name="Text Box 8"/>
          <p:cNvSpPr txBox="1"/>
          <p:nvPr/>
        </p:nvSpPr>
        <p:spPr>
          <a:xfrm>
            <a:off x="885190" y="4804410"/>
            <a:ext cx="4164013" cy="398780"/>
          </a:xfrm>
          <a:prstGeom prst="rect">
            <a:avLst/>
          </a:prstGeom>
          <a:noFill/>
          <a:ln w="9525">
            <a:noFill/>
          </a:ln>
        </p:spPr>
        <p:txBody>
          <a:bodyPr>
            <a:spAutoFit/>
          </a:bodyPr>
          <a:p>
            <a:pPr>
              <a:spcBef>
                <a:spcPct val="50000"/>
              </a:spcBef>
            </a:pP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D</a:t>
            </a:r>
            <a:r>
              <a:rPr lang="en-US" altLang="zh-CN" sz="2000" b="1" baseline="-30000" dirty="0">
                <a:solidFill>
                  <a:srgbClr val="000066"/>
                </a:solidFill>
                <a:latin typeface="Times New Roman" panose="02020603050405020304" charset="0"/>
                <a:ea typeface="楷体" panose="02010609060101010101" charset="-122"/>
                <a:cs typeface="Times New Roman" panose="02020603050405020304" charset="0"/>
              </a:rPr>
              <a:t>i</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rPr>
              <a:t>= 0</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时，开关</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rPr>
              <a:t>S</a:t>
            </a:r>
            <a:r>
              <a:rPr lang="en-US" altLang="zh-CN" sz="2000" b="1" baseline="-30000" dirty="0">
                <a:solidFill>
                  <a:srgbClr val="000066"/>
                </a:solidFill>
                <a:latin typeface="Times New Roman" panose="02020603050405020304" charset="0"/>
                <a:ea typeface="楷体" panose="02010609060101010101" charset="-122"/>
                <a:cs typeface="Times New Roman" panose="02020603050405020304" charset="0"/>
              </a:rPr>
              <a:t>i</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rPr>
              <a:t>接地。 </a:t>
            </a:r>
            <a:endParaRPr lang="zh-CN" altLang="en-US" sz="20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9222" name="Rectangle 12"/>
          <p:cNvSpPr/>
          <p:nvPr/>
        </p:nvSpPr>
        <p:spPr>
          <a:xfrm>
            <a:off x="0" y="3124200"/>
            <a:ext cx="9144000" cy="0"/>
          </a:xfrm>
          <a:prstGeom prst="rect">
            <a:avLst/>
          </a:prstGeom>
          <a:noFill/>
          <a:ln w="9525">
            <a:noFill/>
          </a:ln>
        </p:spPr>
        <p:txBody>
          <a:bodyPr wrap="none" anchor="ctr" anchorCtr="0">
            <a:spAutoFit/>
          </a:bodyPr>
          <a:p>
            <a:endParaRPr lang="zh-CN" altLang="en-US"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9223" name="Rectangle 17"/>
          <p:cNvSpPr/>
          <p:nvPr/>
        </p:nvSpPr>
        <p:spPr>
          <a:xfrm>
            <a:off x="0" y="2386013"/>
            <a:ext cx="9144000" cy="0"/>
          </a:xfrm>
          <a:prstGeom prst="rect">
            <a:avLst/>
          </a:prstGeom>
          <a:noFill/>
          <a:ln w="9525">
            <a:noFill/>
          </a:ln>
        </p:spPr>
        <p:txBody>
          <a:bodyPr wrap="none" anchor="ctr" anchorCtr="0">
            <a:spAutoFit/>
          </a:bodyPr>
          <a:p>
            <a:endParaRPr lang="zh-CN" altLang="en-US"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9225" name="Rectangle 18"/>
          <p:cNvSpPr/>
          <p:nvPr/>
        </p:nvSpPr>
        <p:spPr>
          <a:xfrm>
            <a:off x="606425" y="1573213"/>
            <a:ext cx="5861050" cy="460375"/>
          </a:xfrm>
          <a:prstGeom prst="rect">
            <a:avLst/>
          </a:prstGeom>
          <a:noFill/>
          <a:ln w="9525">
            <a:noFill/>
          </a:ln>
        </p:spPr>
        <p:txBody>
          <a:bodyPr>
            <a:spAutoFit/>
          </a:bodyPr>
          <a:p>
            <a:pPr>
              <a:spcBef>
                <a:spcPct val="50000"/>
              </a:spcBef>
            </a:pPr>
            <a:r>
              <a:rPr lang="en-US" altLang="zh-CN" sz="2400" b="1" dirty="0">
                <a:solidFill>
                  <a:srgbClr val="1318F3"/>
                </a:solidFill>
                <a:latin typeface="Times New Roman" panose="02020603050405020304" charset="0"/>
                <a:ea typeface="楷体" panose="02010609060101010101" charset="-122"/>
                <a:cs typeface="Times New Roman" panose="02020603050405020304" charset="0"/>
              </a:rPr>
              <a:t>4</a:t>
            </a:r>
            <a:r>
              <a:rPr lang="zh-CN" altLang="en-US" sz="2400" b="1" dirty="0">
                <a:solidFill>
                  <a:srgbClr val="1318F3"/>
                </a:solidFill>
                <a:latin typeface="Times New Roman" panose="02020603050405020304" charset="0"/>
                <a:ea typeface="楷体" panose="02010609060101010101" charset="-122"/>
                <a:cs typeface="Times New Roman" panose="02020603050405020304" charset="0"/>
              </a:rPr>
              <a:t>位权电流</a:t>
            </a:r>
            <a:r>
              <a:rPr lang="en-US" altLang="zh-CN" sz="2400" b="1" dirty="0">
                <a:solidFill>
                  <a:srgbClr val="1318F3"/>
                </a:solidFill>
                <a:latin typeface="Times New Roman" panose="02020603050405020304" charset="0"/>
                <a:ea typeface="楷体" panose="02010609060101010101" charset="-122"/>
                <a:cs typeface="Times New Roman" panose="02020603050405020304" charset="0"/>
              </a:rPr>
              <a:t>D/A</a:t>
            </a:r>
            <a:r>
              <a:rPr lang="zh-CN" altLang="en-US" sz="2400" b="1" dirty="0">
                <a:solidFill>
                  <a:srgbClr val="1318F3"/>
                </a:solidFill>
                <a:latin typeface="Times New Roman" panose="02020603050405020304" charset="0"/>
                <a:ea typeface="楷体" panose="02010609060101010101" charset="-122"/>
                <a:cs typeface="Times New Roman" panose="02020603050405020304" charset="0"/>
              </a:rPr>
              <a:t>转换器</a:t>
            </a:r>
            <a:endParaRPr lang="zh-CN" altLang="en-US" sz="2400" b="1" dirty="0">
              <a:solidFill>
                <a:srgbClr val="1318F3"/>
              </a:solidFill>
              <a:latin typeface="Times New Roman" panose="02020603050405020304" charset="0"/>
              <a:ea typeface="楷体" panose="02010609060101010101" charset="-122"/>
              <a:cs typeface="Times New Roman" panose="02020603050405020304" charset="0"/>
            </a:endParaRPr>
          </a:p>
        </p:txBody>
      </p:sp>
      <p:pic>
        <p:nvPicPr>
          <p:cNvPr id="2" name="图片 1"/>
          <p:cNvPicPr>
            <a:picLocks noChangeAspect="1"/>
          </p:cNvPicPr>
          <p:nvPr/>
        </p:nvPicPr>
        <p:blipFill>
          <a:blip r:embed="rId1"/>
          <a:stretch>
            <a:fillRect/>
          </a:stretch>
        </p:blipFill>
        <p:spPr>
          <a:xfrm>
            <a:off x="856615" y="2213610"/>
            <a:ext cx="4032885" cy="2017395"/>
          </a:xfrm>
          <a:prstGeom prst="rect">
            <a:avLst/>
          </a:prstGeom>
        </p:spPr>
      </p:pic>
      <p:pic>
        <p:nvPicPr>
          <p:cNvPr id="3" name="图片 2"/>
          <p:cNvPicPr>
            <a:picLocks noChangeAspect="1"/>
          </p:cNvPicPr>
          <p:nvPr/>
        </p:nvPicPr>
        <p:blipFill>
          <a:blip r:embed="rId2"/>
          <a:stretch>
            <a:fillRect/>
          </a:stretch>
        </p:blipFill>
        <p:spPr>
          <a:xfrm>
            <a:off x="5715000" y="2362200"/>
            <a:ext cx="2385060" cy="1830705"/>
          </a:xfrm>
          <a:prstGeom prst="rect">
            <a:avLst/>
          </a:prstGeom>
        </p:spPr>
      </p:pic>
      <p:sp>
        <p:nvSpPr>
          <p:cNvPr id="4" name="文本框 3"/>
          <p:cNvSpPr txBox="1"/>
          <p:nvPr/>
        </p:nvSpPr>
        <p:spPr>
          <a:xfrm>
            <a:off x="152400" y="5257800"/>
            <a:ext cx="8910320" cy="1014730"/>
          </a:xfrm>
          <a:prstGeom prst="rect">
            <a:avLst/>
          </a:prstGeom>
          <a:noFill/>
        </p:spPr>
        <p:txBody>
          <a:bodyPr wrap="square" rtlCol="0" anchor="t">
            <a:spAutoFit/>
          </a:bodyPr>
          <a:p>
            <a:pPr>
              <a:spcBef>
                <a:spcPct val="20000"/>
              </a:spcBef>
            </a:pPr>
            <a:r>
              <a:rPr lang="en-US" altLang="zh-CN" sz="2000" b="1" dirty="0">
                <a:solidFill>
                  <a:srgbClr val="000066"/>
                </a:solidFill>
                <a:latin typeface="Times New Roman" panose="02020603050405020304" charset="0"/>
                <a:ea typeface="楷体" panose="02010609060101010101" charset="-122"/>
                <a:cs typeface="Times New Roman" panose="02020603050405020304" charset="0"/>
                <a:sym typeface="+mn-ea"/>
              </a:rPr>
              <a:t>        </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mn-ea"/>
              </a:rPr>
              <a:t>用一组恒流源代替倒</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sym typeface="+mn-ea"/>
              </a:rPr>
              <a:t>T</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mn-ea"/>
              </a:rPr>
              <a:t>形电阻网络，恒流源从高位到低位依次为</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sym typeface="+mn-ea"/>
              </a:rPr>
              <a:t>I</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sym typeface="+mn-ea"/>
              </a:rPr>
              <a:t>/2</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mn-ea"/>
              </a:rPr>
              <a:t>、 </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sym typeface="+mn-ea"/>
              </a:rPr>
              <a:t>I</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sym typeface="+mn-ea"/>
              </a:rPr>
              <a:t>/4</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mn-ea"/>
              </a:rPr>
              <a:t>、 </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sym typeface="+mn-ea"/>
              </a:rPr>
              <a:t>I</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sym typeface="+mn-ea"/>
              </a:rPr>
              <a:t>/8</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mn-ea"/>
              </a:rPr>
              <a:t>、 </a:t>
            </a:r>
            <a:r>
              <a:rPr lang="en-US" altLang="zh-CN" sz="2000" b="1" i="1" dirty="0">
                <a:solidFill>
                  <a:srgbClr val="000066"/>
                </a:solidFill>
                <a:latin typeface="Times New Roman" panose="02020603050405020304" charset="0"/>
                <a:ea typeface="楷体" panose="02010609060101010101" charset="-122"/>
                <a:cs typeface="Times New Roman" panose="02020603050405020304" charset="0"/>
                <a:sym typeface="+mn-ea"/>
              </a:rPr>
              <a:t>I</a:t>
            </a:r>
            <a:r>
              <a:rPr lang="en-US" altLang="zh-CN" sz="2000" b="1" dirty="0">
                <a:solidFill>
                  <a:srgbClr val="000066"/>
                </a:solidFill>
                <a:latin typeface="Times New Roman" panose="02020603050405020304" charset="0"/>
                <a:ea typeface="楷体" panose="02010609060101010101" charset="-122"/>
                <a:cs typeface="Times New Roman" panose="02020603050405020304" charset="0"/>
                <a:sym typeface="+mn-ea"/>
              </a:rPr>
              <a:t>/16</a:t>
            </a:r>
            <a:r>
              <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mn-ea"/>
              </a:rPr>
              <a:t>。则，各支路权电流的大小不受开关导通电阻和压降的影响，即降低了对开关电路的要求，提高了转换精度。</a:t>
            </a:r>
            <a:endParaRPr lang="zh-CN" altLang="en-US" sz="2000" b="1" dirty="0">
              <a:solidFill>
                <a:srgbClr val="000066"/>
              </a:solidFill>
              <a:latin typeface="Times New Roman" panose="02020603050405020304" charset="0"/>
              <a:ea typeface="楷体" panose="02010609060101010101"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82279"/>
                                        </p:tgtEl>
                                        <p:attrNameLst>
                                          <p:attrName>style.visibility</p:attrName>
                                        </p:attrNameLst>
                                      </p:cBhvr>
                                      <p:to>
                                        <p:strVal val="visible"/>
                                      </p:to>
                                    </p:set>
                                    <p:animEffect transition="in" filter="box(in)">
                                      <p:cBhvr>
                                        <p:cTn id="7" dur="500"/>
                                        <p:tgtEl>
                                          <p:spTgt spid="18227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82280"/>
                                        </p:tgtEl>
                                        <p:attrNameLst>
                                          <p:attrName>style.visibility</p:attrName>
                                        </p:attrNameLst>
                                      </p:cBhvr>
                                      <p:to>
                                        <p:strVal val="visible"/>
                                      </p:to>
                                    </p:set>
                                    <p:animEffect transition="in" filter="box(in)">
                                      <p:cBhvr>
                                        <p:cTn id="12" dur="500"/>
                                        <p:tgtEl>
                                          <p:spTgt spid="18228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9" grpId="0"/>
      <p:bldP spid="182280" grpId="0"/>
      <p:bldP spid="4" grpId="0"/>
      <p:bldP spid="4"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2351405" y="1219200"/>
            <a:ext cx="4441190" cy="2221865"/>
          </a:xfrm>
          <a:prstGeom prst="rect">
            <a:avLst/>
          </a:prstGeom>
        </p:spPr>
      </p:pic>
      <p:graphicFrame>
        <p:nvGraphicFramePr>
          <p:cNvPr id="178188" name="Object 12"/>
          <p:cNvGraphicFramePr>
            <a:graphicFrameLocks noChangeAspect="1"/>
          </p:cNvGraphicFramePr>
          <p:nvPr/>
        </p:nvGraphicFramePr>
        <p:xfrm>
          <a:off x="1403350" y="3403600"/>
          <a:ext cx="5638800" cy="919163"/>
        </p:xfrm>
        <a:graphic>
          <a:graphicData uri="http://schemas.openxmlformats.org/presentationml/2006/ole">
            <mc:AlternateContent xmlns:mc="http://schemas.openxmlformats.org/markup-compatibility/2006">
              <mc:Choice xmlns:v="urn:schemas-microsoft-com:vml" Requires="v">
                <p:oleObj spid="_x0000_s3084" name="" r:id="rId2" imgW="2476500" imgH="393700" progId="Equation.3">
                  <p:embed/>
                </p:oleObj>
              </mc:Choice>
              <mc:Fallback>
                <p:oleObj name="" r:id="rId2" imgW="2476500" imgH="393700" progId="Equation.3">
                  <p:embed/>
                  <p:pic>
                    <p:nvPicPr>
                      <p:cNvPr id="0" name="图片 3083"/>
                      <p:cNvPicPr/>
                      <p:nvPr/>
                    </p:nvPicPr>
                    <p:blipFill>
                      <a:blip r:embed="rId3"/>
                      <a:stretch>
                        <a:fillRect/>
                      </a:stretch>
                    </p:blipFill>
                    <p:spPr>
                      <a:xfrm>
                        <a:off x="1403350" y="3403600"/>
                        <a:ext cx="5638800" cy="919163"/>
                      </a:xfrm>
                      <a:prstGeom prst="rect">
                        <a:avLst/>
                      </a:prstGeom>
                      <a:noFill/>
                      <a:ln w="38100">
                        <a:noFill/>
                        <a:miter/>
                      </a:ln>
                    </p:spPr>
                  </p:pic>
                </p:oleObj>
              </mc:Fallback>
            </mc:AlternateContent>
          </a:graphicData>
        </a:graphic>
      </p:graphicFrame>
      <p:graphicFrame>
        <p:nvGraphicFramePr>
          <p:cNvPr id="178189" name="Object 13"/>
          <p:cNvGraphicFramePr>
            <a:graphicFrameLocks noChangeAspect="1"/>
          </p:cNvGraphicFramePr>
          <p:nvPr/>
        </p:nvGraphicFramePr>
        <p:xfrm>
          <a:off x="2771775" y="4411663"/>
          <a:ext cx="5976938" cy="857250"/>
        </p:xfrm>
        <a:graphic>
          <a:graphicData uri="http://schemas.openxmlformats.org/presentationml/2006/ole">
            <mc:AlternateContent xmlns:mc="http://schemas.openxmlformats.org/markup-compatibility/2006">
              <mc:Choice xmlns:v="urn:schemas-microsoft-com:vml" Requires="v">
                <p:oleObj spid="_x0000_s3077" name="" r:id="rId4" imgW="2489200" imgH="355600" progId="Equation.3">
                  <p:embed/>
                </p:oleObj>
              </mc:Choice>
              <mc:Fallback>
                <p:oleObj name="" r:id="rId4" imgW="2489200" imgH="355600" progId="Equation.3">
                  <p:embed/>
                  <p:pic>
                    <p:nvPicPr>
                      <p:cNvPr id="0" name="图片 3076"/>
                      <p:cNvPicPr/>
                      <p:nvPr/>
                    </p:nvPicPr>
                    <p:blipFill>
                      <a:blip r:embed="rId5"/>
                      <a:stretch>
                        <a:fillRect/>
                      </a:stretch>
                    </p:blipFill>
                    <p:spPr>
                      <a:xfrm>
                        <a:off x="2771775" y="4411663"/>
                        <a:ext cx="5976938" cy="857250"/>
                      </a:xfrm>
                      <a:prstGeom prst="rect">
                        <a:avLst/>
                      </a:prstGeom>
                      <a:noFill/>
                      <a:ln w="38100">
                        <a:noFill/>
                        <a:miter/>
                      </a:ln>
                    </p:spPr>
                  </p:pic>
                </p:oleObj>
              </mc:Fallback>
            </mc:AlternateContent>
          </a:graphicData>
        </a:graphic>
      </p:graphicFrame>
      <p:graphicFrame>
        <p:nvGraphicFramePr>
          <p:cNvPr id="178192" name="Object 16"/>
          <p:cNvGraphicFramePr>
            <a:graphicFrameLocks noChangeAspect="1"/>
          </p:cNvGraphicFramePr>
          <p:nvPr/>
        </p:nvGraphicFramePr>
        <p:xfrm>
          <a:off x="2771775" y="5292725"/>
          <a:ext cx="2449513" cy="963613"/>
        </p:xfrm>
        <a:graphic>
          <a:graphicData uri="http://schemas.openxmlformats.org/presentationml/2006/ole">
            <mc:AlternateContent xmlns:mc="http://schemas.openxmlformats.org/markup-compatibility/2006">
              <mc:Choice xmlns:v="urn:schemas-microsoft-com:vml" Requires="v">
                <p:oleObj spid="_x0000_s3083" name="" r:id="rId6" imgW="1028065" imgH="406400" progId="Equation.3">
                  <p:embed/>
                </p:oleObj>
              </mc:Choice>
              <mc:Fallback>
                <p:oleObj name="" r:id="rId6" imgW="1028065" imgH="406400" progId="Equation.3">
                  <p:embed/>
                  <p:pic>
                    <p:nvPicPr>
                      <p:cNvPr id="0" name="图片 3082"/>
                      <p:cNvPicPr/>
                      <p:nvPr/>
                    </p:nvPicPr>
                    <p:blipFill>
                      <a:blip r:embed="rId7"/>
                      <a:stretch>
                        <a:fillRect/>
                      </a:stretch>
                    </p:blipFill>
                    <p:spPr>
                      <a:xfrm>
                        <a:off x="2771775" y="5292725"/>
                        <a:ext cx="2449513" cy="963613"/>
                      </a:xfrm>
                      <a:prstGeom prst="rect">
                        <a:avLst/>
                      </a:prstGeom>
                      <a:noFill/>
                      <a:ln w="38100">
                        <a:noFill/>
                        <a:miter/>
                      </a:ln>
                    </p:spPr>
                  </p:pic>
                </p:oleObj>
              </mc:Fallback>
            </mc:AlternateContent>
          </a:graphicData>
        </a:graphic>
      </p:graphicFrame>
      <p:sp>
        <p:nvSpPr>
          <p:cNvPr id="4"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9.2 </a:t>
            </a:r>
            <a:r>
              <a:rPr lang="zh-CN" altLang="en-US" b="1" dirty="0">
                <a:solidFill>
                  <a:srgbClr val="FF0000"/>
                </a:solidFill>
                <a:latin typeface="黑体" panose="02010609060101010101" pitchFamily="49" charset="-122"/>
                <a:ea typeface="黑体" panose="02010609060101010101" pitchFamily="49" charset="-122"/>
              </a:rPr>
              <a:t>D/A转换电路</a:t>
            </a:r>
            <a:endParaRPr lang="zh-CN" altLang="en-US" b="1" dirty="0">
              <a:solidFill>
                <a:srgbClr val="FF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78188"/>
                                        </p:tgtEl>
                                        <p:attrNameLst>
                                          <p:attrName>style.visibility</p:attrName>
                                        </p:attrNameLst>
                                      </p:cBhvr>
                                      <p:to>
                                        <p:strVal val="visible"/>
                                      </p:to>
                                    </p:set>
                                    <p:animEffect transition="in" filter="wipe(down)">
                                      <p:cBhvr>
                                        <p:cTn id="7" dur="500"/>
                                        <p:tgtEl>
                                          <p:spTgt spid="17818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78189"/>
                                        </p:tgtEl>
                                        <p:attrNameLst>
                                          <p:attrName>style.visibility</p:attrName>
                                        </p:attrNameLst>
                                      </p:cBhvr>
                                      <p:to>
                                        <p:strVal val="visible"/>
                                      </p:to>
                                    </p:set>
                                    <p:animEffect transition="in" filter="wipe(down)">
                                      <p:cBhvr>
                                        <p:cTn id="12" dur="500"/>
                                        <p:tgtEl>
                                          <p:spTgt spid="17818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78192"/>
                                        </p:tgtEl>
                                        <p:attrNameLst>
                                          <p:attrName>style.visibility</p:attrName>
                                        </p:attrNameLst>
                                      </p:cBhvr>
                                      <p:to>
                                        <p:strVal val="visible"/>
                                      </p:to>
                                    </p:set>
                                    <p:animEffect transition="in" filter="wipe(down)">
                                      <p:cBhvr>
                                        <p:cTn id="17" dur="500"/>
                                        <p:tgtEl>
                                          <p:spTgt spid="1781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914400" y="1177925"/>
            <a:ext cx="7910195" cy="4829175"/>
          </a:xfrm>
          <a:prstGeom prst="rect">
            <a:avLst/>
          </a:prstGeom>
        </p:spPr>
      </p:pic>
      <p:sp>
        <p:nvSpPr>
          <p:cNvPr id="86" name="文本框 85"/>
          <p:cNvSpPr txBox="1"/>
          <p:nvPr/>
        </p:nvSpPr>
        <p:spPr>
          <a:xfrm>
            <a:off x="-8890" y="5935980"/>
            <a:ext cx="9162000"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4"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9.2 </a:t>
            </a:r>
            <a:r>
              <a:rPr lang="zh-CN" altLang="en-US" b="1" dirty="0">
                <a:solidFill>
                  <a:srgbClr val="FF0000"/>
                </a:solidFill>
                <a:latin typeface="黑体" panose="02010609060101010101" pitchFamily="49" charset="-122"/>
                <a:ea typeface="黑体" panose="02010609060101010101" pitchFamily="49" charset="-122"/>
              </a:rPr>
              <a:t>D/A转换电路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1266" name="Rectangle 4"/>
          <p:cNvSpPr/>
          <p:nvPr/>
        </p:nvSpPr>
        <p:spPr>
          <a:xfrm>
            <a:off x="-76200" y="1635125"/>
            <a:ext cx="309880" cy="368300"/>
          </a:xfrm>
          <a:prstGeom prst="rect">
            <a:avLst/>
          </a:prstGeom>
          <a:noFill/>
          <a:ln w="9525">
            <a:noFill/>
          </a:ln>
        </p:spPr>
        <p:txBody>
          <a:bodyPr wrap="none" anchor="ctr" anchorCtr="0">
            <a:spAutoFit/>
          </a:bodyPr>
          <a:p>
            <a:endParaRPr lang="zh-CN" altLang="en-US" dirty="0">
              <a:latin typeface="Times New Roman" panose="02020603050405020304" charset="0"/>
              <a:ea typeface="楷体" panose="02010609060101010101" charset="-122"/>
              <a:cs typeface="Times New Roman" panose="02020603050405020304" charset="0"/>
            </a:endParaRPr>
          </a:p>
        </p:txBody>
      </p:sp>
      <p:sp>
        <p:nvSpPr>
          <p:cNvPr id="11267" name="Rectangle 6"/>
          <p:cNvSpPr/>
          <p:nvPr/>
        </p:nvSpPr>
        <p:spPr>
          <a:xfrm>
            <a:off x="990600" y="1177608"/>
            <a:ext cx="4079875" cy="457200"/>
          </a:xfrm>
          <a:prstGeom prst="rect">
            <a:avLst/>
          </a:prstGeom>
          <a:noFill/>
          <a:ln w="9525">
            <a:noFill/>
          </a:ln>
        </p:spPr>
        <p:txBody>
          <a:bodyPr wrap="none" anchor="ctr" anchorCtr="0">
            <a:spAutoFit/>
          </a:bodyPr>
          <a:p>
            <a:pPr algn="ctr"/>
            <a:r>
              <a:rPr lang="zh-CN" altLang="en-US" sz="2400" b="1" dirty="0">
                <a:solidFill>
                  <a:srgbClr val="1318F3"/>
                </a:solidFill>
                <a:latin typeface="Times New Roman" panose="02020603050405020304" charset="0"/>
                <a:ea typeface="楷体" panose="02010609060101010101" charset="-122"/>
                <a:cs typeface="Times New Roman" panose="02020603050405020304" charset="0"/>
              </a:rPr>
              <a:t>实际的权电流</a:t>
            </a:r>
            <a:r>
              <a:rPr lang="en-US" altLang="zh-CN" sz="2400" b="1" dirty="0">
                <a:solidFill>
                  <a:srgbClr val="1318F3"/>
                </a:solidFill>
                <a:latin typeface="Times New Roman" panose="02020603050405020304" charset="0"/>
                <a:ea typeface="楷体" panose="02010609060101010101" charset="-122"/>
                <a:cs typeface="Times New Roman" panose="02020603050405020304" charset="0"/>
              </a:rPr>
              <a:t>D/A</a:t>
            </a:r>
            <a:r>
              <a:rPr lang="zh-CN" altLang="en-US" sz="2400" b="1" dirty="0">
                <a:solidFill>
                  <a:srgbClr val="1318F3"/>
                </a:solidFill>
                <a:latin typeface="Times New Roman" panose="02020603050405020304" charset="0"/>
                <a:ea typeface="楷体" panose="02010609060101010101" charset="-122"/>
                <a:cs typeface="Times New Roman" panose="02020603050405020304" charset="0"/>
              </a:rPr>
              <a:t>转换器电路</a:t>
            </a:r>
            <a:endParaRPr lang="zh-CN" altLang="en-US" sz="2400" b="1" dirty="0">
              <a:solidFill>
                <a:srgbClr val="1318F3"/>
              </a:solidFill>
              <a:latin typeface="Times New Roman" panose="02020603050405020304" charset="0"/>
              <a:ea typeface="楷体" panose="02010609060101010101" charset="-122"/>
              <a:cs typeface="Times New Roman" panose="02020603050405020304" charset="0"/>
            </a:endParaRPr>
          </a:p>
        </p:txBody>
      </p:sp>
      <p:graphicFrame>
        <p:nvGraphicFramePr>
          <p:cNvPr id="138248" name="Object 8"/>
          <p:cNvGraphicFramePr>
            <a:graphicFrameLocks noChangeAspect="1"/>
          </p:cNvGraphicFramePr>
          <p:nvPr/>
        </p:nvGraphicFramePr>
        <p:xfrm>
          <a:off x="1658938" y="5969000"/>
          <a:ext cx="6215062" cy="889000"/>
        </p:xfrm>
        <a:graphic>
          <a:graphicData uri="http://schemas.openxmlformats.org/presentationml/2006/ole">
            <mc:AlternateContent xmlns:mc="http://schemas.openxmlformats.org/markup-compatibility/2006">
              <mc:Choice xmlns:v="urn:schemas-microsoft-com:vml" Requires="v">
                <p:oleObj spid="_x0000_s3108" name="" r:id="rId2" imgW="3200400" imgH="457200" progId="Equation.DSMT4">
                  <p:embed/>
                </p:oleObj>
              </mc:Choice>
              <mc:Fallback>
                <p:oleObj name="" r:id="rId2" imgW="3200400" imgH="457200" progId="Equation.DSMT4">
                  <p:embed/>
                  <p:pic>
                    <p:nvPicPr>
                      <p:cNvPr id="0" name="图片 3107"/>
                      <p:cNvPicPr/>
                      <p:nvPr/>
                    </p:nvPicPr>
                    <p:blipFill>
                      <a:blip r:embed="rId3"/>
                      <a:stretch>
                        <a:fillRect/>
                      </a:stretch>
                    </p:blipFill>
                    <p:spPr>
                      <a:xfrm>
                        <a:off x="1658938" y="5969000"/>
                        <a:ext cx="6215062" cy="889000"/>
                      </a:xfrm>
                      <a:prstGeom prst="rect">
                        <a:avLst/>
                      </a:prstGeom>
                      <a:solidFill>
                        <a:srgbClr val="FFFF99">
                          <a:alpha val="21960"/>
                        </a:srgbClr>
                      </a:solidFill>
                      <a:ln w="9525" cap="flat" cmpd="sng">
                        <a:solidFill>
                          <a:srgbClr val="FF0000"/>
                        </a:solidFill>
                        <a:prstDash val="solid"/>
                        <a:miter/>
                        <a:headEnd type="none" w="med" len="med"/>
                        <a:tailEnd type="none" w="med" len="med"/>
                      </a:ln>
                    </p:spPr>
                  </p:pic>
                </p:oleObj>
              </mc:Fallback>
            </mc:AlternateContent>
          </a:graphicData>
        </a:graphic>
      </p:graphicFrame>
      <p:sp>
        <p:nvSpPr>
          <p:cNvPr id="138272" name="Rectangle 32"/>
          <p:cNvSpPr/>
          <p:nvPr/>
        </p:nvSpPr>
        <p:spPr>
          <a:xfrm>
            <a:off x="3559175" y="1355725"/>
            <a:ext cx="4792663" cy="1871663"/>
          </a:xfrm>
          <a:prstGeom prst="rect">
            <a:avLst/>
          </a:prstGeom>
          <a:solidFill>
            <a:srgbClr val="6666FF">
              <a:alpha val="18823"/>
            </a:srgbClr>
          </a:solidFill>
          <a:ln w="9525">
            <a:noFill/>
          </a:ln>
        </p:spPr>
        <p:txBody>
          <a:bodyPr anchor="ctr" anchorCtr="0">
            <a:spAutoFit/>
          </a:bodyPr>
          <a:p>
            <a:endParaRPr lang="zh-CN" altLang="en-US" dirty="0">
              <a:latin typeface="Times New Roman" panose="02020603050405020304" charset="0"/>
              <a:ea typeface="楷体" panose="02010609060101010101" charset="-122"/>
              <a:cs typeface="Times New Roman" panose="02020603050405020304" charset="0"/>
            </a:endParaRPr>
          </a:p>
        </p:txBody>
      </p:sp>
      <p:sp>
        <p:nvSpPr>
          <p:cNvPr id="138273" name="Rectangle 33"/>
          <p:cNvSpPr/>
          <p:nvPr/>
        </p:nvSpPr>
        <p:spPr>
          <a:xfrm>
            <a:off x="590550" y="3303588"/>
            <a:ext cx="6870700" cy="2576512"/>
          </a:xfrm>
          <a:prstGeom prst="rect">
            <a:avLst/>
          </a:prstGeom>
          <a:solidFill>
            <a:srgbClr val="FF66FF">
              <a:alpha val="18823"/>
            </a:srgbClr>
          </a:solidFill>
          <a:ln w="9525">
            <a:noFill/>
          </a:ln>
        </p:spPr>
        <p:txBody>
          <a:bodyPr anchor="ctr" anchorCtr="0">
            <a:spAutoFit/>
          </a:bodyPr>
          <a:p>
            <a:endParaRPr lang="zh-CN" altLang="en-US" dirty="0">
              <a:latin typeface="Times New Roman" panose="02020603050405020304" charset="0"/>
              <a:ea typeface="楷体" panose="02010609060101010101" charset="-122"/>
              <a:cs typeface="Times New Roman" panose="02020603050405020304" charset="0"/>
            </a:endParaRPr>
          </a:p>
        </p:txBody>
      </p:sp>
      <p:sp>
        <p:nvSpPr>
          <p:cNvPr id="138279" name="AutoShape 39"/>
          <p:cNvSpPr/>
          <p:nvPr/>
        </p:nvSpPr>
        <p:spPr>
          <a:xfrm>
            <a:off x="527050" y="5300663"/>
            <a:ext cx="1625600" cy="493712"/>
          </a:xfrm>
          <a:prstGeom prst="wedgeRoundRectCallout">
            <a:avLst>
              <a:gd name="adj1" fmla="val 129375"/>
              <a:gd name="adj2" fmla="val -279646"/>
              <a:gd name="adj3" fmla="val 16667"/>
            </a:avLst>
          </a:prstGeom>
          <a:solidFill>
            <a:srgbClr val="FFFF99">
              <a:alpha val="18823"/>
            </a:srgbClr>
          </a:solidFill>
          <a:ln w="12700" cap="flat" cmpd="sng">
            <a:solidFill>
              <a:srgbClr val="000099"/>
            </a:solidFill>
            <a:prstDash val="solid"/>
            <a:miter/>
            <a:headEnd type="none" w="med" len="med"/>
            <a:tailEnd type="none" w="med" len="med"/>
          </a:ln>
        </p:spPr>
        <p:txBody>
          <a:bodyPr anchor="ctr" anchorCtr="0"/>
          <a:p>
            <a:pPr algn="ctr"/>
            <a:r>
              <a:rPr lang="zh-CN" altLang="en-US" sz="2000" b="1" dirty="0">
                <a:solidFill>
                  <a:srgbClr val="000099"/>
                </a:solidFill>
                <a:latin typeface="Times New Roman" panose="02020603050405020304" charset="0"/>
                <a:ea typeface="楷体" panose="02010609060101010101" charset="-122"/>
              </a:rPr>
              <a:t>电压恒定</a:t>
            </a:r>
            <a:endParaRPr lang="zh-CN" altLang="en-US" sz="2000" b="1" dirty="0">
              <a:solidFill>
                <a:srgbClr val="000099"/>
              </a:solidFill>
              <a:latin typeface="Times New Roman" panose="02020603050405020304" charset="0"/>
              <a:ea typeface="楷体" panose="02010609060101010101" charset="-122"/>
            </a:endParaRPr>
          </a:p>
        </p:txBody>
      </p:sp>
      <p:sp>
        <p:nvSpPr>
          <p:cNvPr id="138291" name="AutoShape 51"/>
          <p:cNvSpPr/>
          <p:nvPr/>
        </p:nvSpPr>
        <p:spPr>
          <a:xfrm>
            <a:off x="7300913" y="3036888"/>
            <a:ext cx="1827212" cy="866775"/>
          </a:xfrm>
          <a:prstGeom prst="wedgeRoundRectCallout">
            <a:avLst>
              <a:gd name="adj1" fmla="val -168069"/>
              <a:gd name="adj2" fmla="val 129120"/>
              <a:gd name="adj3" fmla="val 16667"/>
            </a:avLst>
          </a:prstGeom>
          <a:solidFill>
            <a:srgbClr val="FFFF99">
              <a:alpha val="41176"/>
            </a:srgbClr>
          </a:solidFill>
          <a:ln w="12700" cap="flat" cmpd="sng">
            <a:solidFill>
              <a:srgbClr val="000099"/>
            </a:solidFill>
            <a:prstDash val="solid"/>
            <a:miter/>
            <a:headEnd type="none" w="med" len="med"/>
            <a:tailEnd type="none" w="med" len="med"/>
          </a:ln>
        </p:spPr>
        <p:txBody>
          <a:bodyPr anchor="ctr" anchorCtr="0"/>
          <a:p>
            <a:pPr algn="ctr"/>
            <a:r>
              <a:rPr lang="zh-CN" altLang="en-US" sz="2000" b="1" dirty="0">
                <a:solidFill>
                  <a:srgbClr val="000099"/>
                </a:solidFill>
                <a:latin typeface="Times New Roman" panose="02020603050405020304" charset="0"/>
                <a:ea typeface="楷体" panose="02010609060101010101" charset="-122"/>
                <a:cs typeface="Times New Roman" panose="02020603050405020304" charset="0"/>
              </a:rPr>
              <a:t>各</a:t>
            </a:r>
            <a:r>
              <a:rPr lang="en-US" altLang="zh-CN" sz="2000" b="1" dirty="0">
                <a:solidFill>
                  <a:srgbClr val="000099"/>
                </a:solidFill>
                <a:latin typeface="Times New Roman" panose="02020603050405020304" charset="0"/>
                <a:ea typeface="楷体" panose="02010609060101010101" charset="-122"/>
                <a:cs typeface="Times New Roman" panose="02020603050405020304" charset="0"/>
              </a:rPr>
              <a:t>BJT</a:t>
            </a:r>
            <a:r>
              <a:rPr lang="zh-CN" altLang="en-US" sz="2000" b="1" dirty="0">
                <a:solidFill>
                  <a:srgbClr val="000099"/>
                </a:solidFill>
                <a:latin typeface="Times New Roman" panose="02020603050405020304" charset="0"/>
                <a:ea typeface="楷体" panose="02010609060101010101" charset="-122"/>
                <a:cs typeface="Times New Roman" panose="02020603050405020304" charset="0"/>
              </a:rPr>
              <a:t>的 发射结电压相等</a:t>
            </a:r>
            <a:endParaRPr lang="zh-CN" altLang="en-US" sz="2000" b="1" dirty="0">
              <a:solidFill>
                <a:srgbClr val="000099"/>
              </a:solidFill>
              <a:latin typeface="Times New Roman" panose="02020603050405020304" charset="0"/>
              <a:ea typeface="楷体" panose="02010609060101010101" charset="-122"/>
              <a:cs typeface="Times New Roman" panose="02020603050405020304" charset="0"/>
            </a:endParaRPr>
          </a:p>
        </p:txBody>
      </p:sp>
      <p:sp>
        <p:nvSpPr>
          <p:cNvPr id="138298" name="AutoShape 58"/>
          <p:cNvSpPr/>
          <p:nvPr/>
        </p:nvSpPr>
        <p:spPr>
          <a:xfrm>
            <a:off x="33020" y="2517775"/>
            <a:ext cx="2573655" cy="494030"/>
          </a:xfrm>
          <a:prstGeom prst="wedgeRoundRectCallout">
            <a:avLst>
              <a:gd name="adj1" fmla="val 356"/>
              <a:gd name="adj2" fmla="val 197588"/>
              <a:gd name="adj3" fmla="val 16667"/>
            </a:avLst>
          </a:prstGeom>
          <a:solidFill>
            <a:srgbClr val="FFCCFF">
              <a:alpha val="59999"/>
            </a:srgbClr>
          </a:solidFill>
          <a:ln w="12700" cap="flat" cmpd="sng">
            <a:solidFill>
              <a:srgbClr val="FF5050"/>
            </a:solidFill>
            <a:prstDash val="solid"/>
            <a:miter/>
            <a:headEnd type="none" w="med" len="med"/>
            <a:tailEnd type="none" w="med" len="med"/>
          </a:ln>
        </p:spPr>
        <p:txBody>
          <a:bodyPr anchor="ctr" anchorCtr="0"/>
          <a:p>
            <a:pPr algn="ctr"/>
            <a:r>
              <a:rPr lang="zh-CN" altLang="en-US" sz="2000" b="1" dirty="0">
                <a:solidFill>
                  <a:srgbClr val="000099"/>
                </a:solidFill>
                <a:latin typeface="Times New Roman" panose="02020603050405020304" charset="0"/>
                <a:ea typeface="楷体" panose="02010609060101010101" charset="-122"/>
              </a:rPr>
              <a:t>基准电流产生电路</a:t>
            </a:r>
            <a:endParaRPr lang="zh-CN" altLang="en-US" sz="2000" b="1" dirty="0">
              <a:solidFill>
                <a:srgbClr val="000099"/>
              </a:solidFill>
              <a:latin typeface="Times New Roman" panose="02020603050405020304" charset="0"/>
              <a:ea typeface="楷体" panose="02010609060101010101" charset="-122"/>
            </a:endParaRPr>
          </a:p>
        </p:txBody>
      </p:sp>
      <p:sp>
        <p:nvSpPr>
          <p:cNvPr id="11275" name="Line 59"/>
          <p:cNvSpPr/>
          <p:nvPr/>
        </p:nvSpPr>
        <p:spPr>
          <a:xfrm>
            <a:off x="4300538" y="2524125"/>
            <a:ext cx="0" cy="152400"/>
          </a:xfrm>
          <a:prstGeom prst="line">
            <a:avLst/>
          </a:prstGeom>
          <a:ln w="12700" cap="flat" cmpd="sng">
            <a:solidFill>
              <a:schemeClr val="tx1"/>
            </a:solidFill>
            <a:prstDash val="solid"/>
            <a:headEnd type="none" w="med" len="med"/>
            <a:tailEnd type="triangle" w="med" len="med"/>
          </a:ln>
        </p:spPr>
      </p:sp>
      <p:sp>
        <p:nvSpPr>
          <p:cNvPr id="138301" name="AutoShape 61"/>
          <p:cNvSpPr/>
          <p:nvPr/>
        </p:nvSpPr>
        <p:spPr>
          <a:xfrm>
            <a:off x="598488" y="3232150"/>
            <a:ext cx="3138487" cy="1817688"/>
          </a:xfrm>
          <a:prstGeom prst="roundRect">
            <a:avLst>
              <a:gd name="adj" fmla="val 16667"/>
            </a:avLst>
          </a:prstGeom>
          <a:noFill/>
          <a:ln w="28575" cap="flat" cmpd="sng">
            <a:solidFill>
              <a:srgbClr val="FF9966"/>
            </a:solidFill>
            <a:prstDash val="solid"/>
            <a:headEnd type="none" w="med" len="med"/>
            <a:tailEnd type="none" w="med" len="med"/>
          </a:ln>
        </p:spPr>
        <p:txBody>
          <a:bodyPr wrap="none" anchor="ctr" anchorCtr="0"/>
          <a:p>
            <a:endParaRPr lang="zh-CN" altLang="en-US" dirty="0">
              <a:latin typeface="Times New Roman" panose="02020603050405020304" charset="0"/>
              <a:ea typeface="楷体" panose="02010609060101010101" charset="-122"/>
              <a:cs typeface="Times New Roman" panose="02020603050405020304" charset="0"/>
            </a:endParaRPr>
          </a:p>
        </p:txBody>
      </p:sp>
      <p:sp>
        <p:nvSpPr>
          <p:cNvPr id="138313" name="Rectangle 73"/>
          <p:cNvSpPr/>
          <p:nvPr/>
        </p:nvSpPr>
        <p:spPr>
          <a:xfrm>
            <a:off x="885825" y="3654425"/>
            <a:ext cx="338138" cy="457200"/>
          </a:xfrm>
          <a:prstGeom prst="rect">
            <a:avLst/>
          </a:prstGeom>
          <a:noFill/>
          <a:ln w="9525">
            <a:noFill/>
          </a:ln>
        </p:spPr>
        <p:txBody>
          <a:bodyPr wrap="none">
            <a:spAutoFit/>
          </a:bodyPr>
          <a:p>
            <a:pPr>
              <a:spcBef>
                <a:spcPct val="50000"/>
              </a:spcBef>
            </a:pPr>
            <a:r>
              <a:rPr lang="en-US" altLang="zh-CN" sz="2400" b="1" dirty="0">
                <a:solidFill>
                  <a:srgbClr val="FF0000"/>
                </a:solidFill>
                <a:latin typeface="Times New Roman" panose="02020603050405020304" charset="0"/>
                <a:ea typeface="楷体" panose="02010609060101010101" charset="-122"/>
                <a:cs typeface="Times New Roman" panose="02020603050405020304" charset="0"/>
              </a:rPr>
              <a:t>+</a:t>
            </a:r>
            <a:endParaRPr lang="en-US" altLang="zh-CN" sz="2400" b="1" dirty="0">
              <a:solidFill>
                <a:srgbClr val="FF0000"/>
              </a:solidFill>
              <a:latin typeface="Times New Roman" panose="02020603050405020304" charset="0"/>
              <a:ea typeface="楷体" panose="02010609060101010101" charset="-122"/>
              <a:cs typeface="Times New Roman" panose="02020603050405020304" charset="0"/>
            </a:endParaRPr>
          </a:p>
        </p:txBody>
      </p:sp>
      <p:sp>
        <p:nvSpPr>
          <p:cNvPr id="138314" name="Rectangle 74"/>
          <p:cNvSpPr/>
          <p:nvPr/>
        </p:nvSpPr>
        <p:spPr>
          <a:xfrm>
            <a:off x="2847975" y="4051300"/>
            <a:ext cx="338138" cy="457200"/>
          </a:xfrm>
          <a:prstGeom prst="rect">
            <a:avLst/>
          </a:prstGeom>
          <a:noFill/>
          <a:ln w="9525">
            <a:noFill/>
          </a:ln>
        </p:spPr>
        <p:txBody>
          <a:bodyPr wrap="none">
            <a:spAutoFit/>
          </a:bodyPr>
          <a:p>
            <a:pPr>
              <a:spcBef>
                <a:spcPct val="50000"/>
              </a:spcBef>
            </a:pPr>
            <a:r>
              <a:rPr lang="en-US" altLang="zh-CN" sz="2400" b="1" dirty="0">
                <a:solidFill>
                  <a:srgbClr val="FF0000"/>
                </a:solidFill>
                <a:latin typeface="Times New Roman" panose="02020603050405020304" charset="0"/>
                <a:ea typeface="楷体" panose="02010609060101010101" charset="-122"/>
                <a:cs typeface="Times New Roman" panose="02020603050405020304" charset="0"/>
              </a:rPr>
              <a:t>+</a:t>
            </a:r>
            <a:endParaRPr lang="en-US" altLang="zh-CN" sz="2400" b="1" dirty="0">
              <a:solidFill>
                <a:srgbClr val="FF0000"/>
              </a:solidFill>
              <a:latin typeface="Times New Roman" panose="02020603050405020304" charset="0"/>
              <a:ea typeface="楷体" panose="02010609060101010101" charset="-122"/>
              <a:cs typeface="Times New Roman" panose="02020603050405020304" charset="0"/>
            </a:endParaRPr>
          </a:p>
        </p:txBody>
      </p:sp>
      <p:sp>
        <p:nvSpPr>
          <p:cNvPr id="138315" name="Line 75"/>
          <p:cNvSpPr/>
          <p:nvPr/>
        </p:nvSpPr>
        <p:spPr>
          <a:xfrm rot="-5400000">
            <a:off x="1685925" y="3552825"/>
            <a:ext cx="517525" cy="1588"/>
          </a:xfrm>
          <a:prstGeom prst="line">
            <a:avLst/>
          </a:prstGeom>
          <a:ln w="12700" cap="flat" cmpd="sng">
            <a:solidFill>
              <a:srgbClr val="FF0000"/>
            </a:solidFill>
            <a:prstDash val="solid"/>
            <a:headEnd type="none" w="med" len="med"/>
            <a:tailEnd type="triangle" w="med" len="med"/>
          </a:ln>
        </p:spPr>
      </p:sp>
      <p:sp>
        <p:nvSpPr>
          <p:cNvPr id="138316" name="Rectangle 76"/>
          <p:cNvSpPr/>
          <p:nvPr/>
        </p:nvSpPr>
        <p:spPr>
          <a:xfrm>
            <a:off x="3114675" y="3346450"/>
            <a:ext cx="338138" cy="457200"/>
          </a:xfrm>
          <a:prstGeom prst="rect">
            <a:avLst/>
          </a:prstGeom>
          <a:noFill/>
          <a:ln w="9525">
            <a:noFill/>
          </a:ln>
        </p:spPr>
        <p:txBody>
          <a:bodyPr wrap="none">
            <a:spAutoFit/>
          </a:bodyPr>
          <a:p>
            <a:pPr>
              <a:spcBef>
                <a:spcPct val="50000"/>
              </a:spcBef>
            </a:pPr>
            <a:r>
              <a:rPr lang="en-US" altLang="zh-CN" sz="2400" b="1" dirty="0">
                <a:solidFill>
                  <a:srgbClr val="FF0000"/>
                </a:solidFill>
                <a:latin typeface="Times New Roman" panose="02020603050405020304" charset="0"/>
                <a:ea typeface="楷体" panose="02010609060101010101" charset="-122"/>
                <a:cs typeface="Times New Roman" panose="02020603050405020304" charset="0"/>
              </a:rPr>
              <a:t>-</a:t>
            </a:r>
            <a:endParaRPr lang="en-US" altLang="zh-CN" sz="2400" b="1" dirty="0">
              <a:solidFill>
                <a:srgbClr val="FF0000"/>
              </a:solidFill>
              <a:latin typeface="Times New Roman" panose="02020603050405020304" charset="0"/>
              <a:ea typeface="楷体" panose="02010609060101010101" charset="-122"/>
              <a:cs typeface="Times New Roman" panose="02020603050405020304" charset="0"/>
            </a:endParaRPr>
          </a:p>
        </p:txBody>
      </p:sp>
      <p:sp>
        <p:nvSpPr>
          <p:cNvPr id="138323" name="AutoShape 83"/>
          <p:cNvSpPr/>
          <p:nvPr/>
        </p:nvSpPr>
        <p:spPr>
          <a:xfrm>
            <a:off x="1935163" y="2478088"/>
            <a:ext cx="1541462" cy="752475"/>
          </a:xfrm>
          <a:prstGeom prst="roundRect">
            <a:avLst>
              <a:gd name="adj" fmla="val 16667"/>
            </a:avLst>
          </a:prstGeom>
          <a:noFill/>
          <a:ln w="28575" cap="flat" cmpd="sng">
            <a:solidFill>
              <a:srgbClr val="FF9966"/>
            </a:solidFill>
            <a:prstDash val="solid"/>
            <a:headEnd type="none" w="med" len="med"/>
            <a:tailEnd type="none" w="med" len="med"/>
          </a:ln>
        </p:spPr>
        <p:txBody>
          <a:bodyPr wrap="none" anchor="ctr" anchorCtr="0"/>
          <a:p>
            <a:endParaRPr lang="zh-CN" altLang="en-US" dirty="0">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8272"/>
                                        </p:tgtEl>
                                        <p:attrNameLst>
                                          <p:attrName>style.visibility</p:attrName>
                                        </p:attrNameLst>
                                      </p:cBhvr>
                                      <p:to>
                                        <p:strVal val="visible"/>
                                      </p:to>
                                    </p:set>
                                    <p:animEffect transition="in" filter="wipe(up)">
                                      <p:cBhvr>
                                        <p:cTn id="7" dur="500"/>
                                        <p:tgtEl>
                                          <p:spTgt spid="138272"/>
                                        </p:tgtEl>
                                      </p:cBhvr>
                                    </p:animEffect>
                                  </p:childTnLst>
                                  <p:subTnLst>
                                    <p:set>
                                      <p:cBhvr override="childStyle">
                                        <p:cTn dur="1" fill="hold" display="0" masterRel="nextClick" afterEffect="1"/>
                                        <p:tgtEl>
                                          <p:spTgt spid="138272"/>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38273"/>
                                        </p:tgtEl>
                                        <p:attrNameLst>
                                          <p:attrName>style.visibility</p:attrName>
                                        </p:attrNameLst>
                                      </p:cBhvr>
                                      <p:to>
                                        <p:strVal val="visible"/>
                                      </p:to>
                                    </p:set>
                                    <p:animEffect transition="in" filter="wipe(up)">
                                      <p:cBhvr>
                                        <p:cTn id="12" dur="500"/>
                                        <p:tgtEl>
                                          <p:spTgt spid="138273"/>
                                        </p:tgtEl>
                                      </p:cBhvr>
                                    </p:animEffect>
                                  </p:childTnLst>
                                  <p:subTnLst>
                                    <p:set>
                                      <p:cBhvr override="childStyle">
                                        <p:cTn dur="1" fill="hold" display="0" masterRel="nextClick" afterEffect="1"/>
                                        <p:tgtEl>
                                          <p:spTgt spid="138273"/>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38301"/>
                                        </p:tgtEl>
                                        <p:attrNameLst>
                                          <p:attrName>style.visibility</p:attrName>
                                        </p:attrNameLst>
                                      </p:cBhvr>
                                      <p:to>
                                        <p:strVal val="visible"/>
                                      </p:to>
                                    </p:set>
                                    <p:animEffect transition="in" filter="randombar(horizontal)">
                                      <p:cBhvr>
                                        <p:cTn id="17" dur="500"/>
                                        <p:tgtEl>
                                          <p:spTgt spid="13830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38298"/>
                                        </p:tgtEl>
                                        <p:attrNameLst>
                                          <p:attrName>style.visibility</p:attrName>
                                        </p:attrNameLst>
                                      </p:cBhvr>
                                      <p:to>
                                        <p:strVal val="visible"/>
                                      </p:to>
                                    </p:set>
                                    <p:animEffect transition="in" filter="wipe(up)">
                                      <p:cBhvr>
                                        <p:cTn id="22" dur="500"/>
                                        <p:tgtEl>
                                          <p:spTgt spid="138298"/>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xit" presetSubtype="16" fill="hold" grpId="1" nodeType="clickEffect">
                                  <p:stCondLst>
                                    <p:cond delay="0"/>
                                  </p:stCondLst>
                                  <p:childTnLst>
                                    <p:animEffect transition="out" filter="box(in)">
                                      <p:cBhvr>
                                        <p:cTn id="26" dur="500"/>
                                        <p:tgtEl>
                                          <p:spTgt spid="138301"/>
                                        </p:tgtEl>
                                      </p:cBhvr>
                                    </p:animEffect>
                                    <p:set>
                                      <p:cBhvr>
                                        <p:cTn id="27" dur="1" fill="hold">
                                          <p:stCondLst>
                                            <p:cond delay="499"/>
                                          </p:stCondLst>
                                        </p:cTn>
                                        <p:tgtEl>
                                          <p:spTgt spid="138301"/>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4" presetClass="exit" presetSubtype="16" fill="hold" grpId="1" nodeType="clickEffect">
                                  <p:stCondLst>
                                    <p:cond delay="0"/>
                                  </p:stCondLst>
                                  <p:childTnLst>
                                    <p:animEffect transition="out" filter="box(in)">
                                      <p:cBhvr>
                                        <p:cTn id="31" dur="500"/>
                                        <p:tgtEl>
                                          <p:spTgt spid="138298"/>
                                        </p:tgtEl>
                                      </p:cBhvr>
                                    </p:animEffect>
                                    <p:set>
                                      <p:cBhvr>
                                        <p:cTn id="32" dur="1" fill="hold">
                                          <p:stCondLst>
                                            <p:cond delay="499"/>
                                          </p:stCondLst>
                                        </p:cTn>
                                        <p:tgtEl>
                                          <p:spTgt spid="138298"/>
                                        </p:tgtEl>
                                        <p:attrNameLst>
                                          <p:attrName>style.visibility</p:attrName>
                                        </p:attrNameLst>
                                      </p:cBhvr>
                                      <p:to>
                                        <p:strVal val="hidden"/>
                                      </p:to>
                                    </p:set>
                                  </p:childTnLst>
                                </p:cTn>
                              </p:par>
                            </p:childTnLst>
                          </p:cTn>
                        </p:par>
                        <p:par>
                          <p:cTn id="33" fill="hold">
                            <p:stCondLst>
                              <p:cond delay="500"/>
                            </p:stCondLst>
                            <p:childTnLst>
                              <p:par>
                                <p:cTn id="34" presetID="1" presetClass="entr" presetSubtype="0" fill="hold" grpId="0" nodeType="afterEffect">
                                  <p:stCondLst>
                                    <p:cond delay="0"/>
                                  </p:stCondLst>
                                  <p:childTnLst>
                                    <p:set>
                                      <p:cBhvr>
                                        <p:cTn id="35" dur="1" fill="hold">
                                          <p:stCondLst>
                                            <p:cond delay="499"/>
                                          </p:stCondLst>
                                        </p:cTn>
                                        <p:tgtEl>
                                          <p:spTgt spid="13831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499"/>
                                          </p:stCondLst>
                                        </p:cTn>
                                        <p:tgtEl>
                                          <p:spTgt spid="138314"/>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499"/>
                                          </p:stCondLst>
                                        </p:cTn>
                                        <p:tgtEl>
                                          <p:spTgt spid="13831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38315"/>
                                        </p:tgtEl>
                                        <p:attrNameLst>
                                          <p:attrName>style.visibility</p:attrName>
                                        </p:attrNameLst>
                                      </p:cBhvr>
                                      <p:to>
                                        <p:strVal val="visible"/>
                                      </p:to>
                                    </p:set>
                                    <p:animEffect transition="in" filter="wipe(left)">
                                      <p:cBhvr>
                                        <p:cTn id="48" dur="500"/>
                                        <p:tgtEl>
                                          <p:spTgt spid="138315"/>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3832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138279"/>
                                        </p:tgtEl>
                                        <p:attrNameLst>
                                          <p:attrName>style.visibility</p:attrName>
                                        </p:attrNameLst>
                                      </p:cBhvr>
                                      <p:to>
                                        <p:strVal val="visible"/>
                                      </p:to>
                                    </p:set>
                                    <p:animEffect transition="in" filter="wipe(up)">
                                      <p:cBhvr>
                                        <p:cTn id="57" dur="500"/>
                                        <p:tgtEl>
                                          <p:spTgt spid="13827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138291"/>
                                        </p:tgtEl>
                                        <p:attrNameLst>
                                          <p:attrName>style.visibility</p:attrName>
                                        </p:attrNameLst>
                                      </p:cBhvr>
                                      <p:to>
                                        <p:strVal val="visible"/>
                                      </p:to>
                                    </p:set>
                                    <p:animEffect transition="in" filter="wipe(up)">
                                      <p:cBhvr>
                                        <p:cTn id="62" dur="500"/>
                                        <p:tgtEl>
                                          <p:spTgt spid="138291"/>
                                        </p:tgtEl>
                                      </p:cBhvr>
                                    </p:animEffect>
                                  </p:childTnLst>
                                </p:cTn>
                              </p:par>
                            </p:childTnLst>
                          </p:cTn>
                        </p:par>
                      </p:childTnLst>
                    </p:cTn>
                  </p:par>
                  <p:par>
                    <p:cTn id="63" fill="hold">
                      <p:stCondLst>
                        <p:cond delay="indefinite"/>
                      </p:stCondLst>
                      <p:childTnLst>
                        <p:par>
                          <p:cTn id="64" fill="hold">
                            <p:stCondLst>
                              <p:cond delay="0"/>
                            </p:stCondLst>
                            <p:childTnLst>
                              <p:par>
                                <p:cTn id="65" presetID="5" presetClass="entr" presetSubtype="10" fill="hold" nodeType="clickEffect">
                                  <p:stCondLst>
                                    <p:cond delay="0"/>
                                  </p:stCondLst>
                                  <p:childTnLst>
                                    <p:set>
                                      <p:cBhvr>
                                        <p:cTn id="66" dur="1" fill="hold">
                                          <p:stCondLst>
                                            <p:cond delay="0"/>
                                          </p:stCondLst>
                                        </p:cTn>
                                        <p:tgtEl>
                                          <p:spTgt spid="138248"/>
                                        </p:tgtEl>
                                        <p:attrNameLst>
                                          <p:attrName>style.visibility</p:attrName>
                                        </p:attrNameLst>
                                      </p:cBhvr>
                                      <p:to>
                                        <p:strVal val="visible"/>
                                      </p:to>
                                    </p:set>
                                    <p:animEffect transition="in" filter="checkerboard(across)">
                                      <p:cBhvr>
                                        <p:cTn id="67" dur="500"/>
                                        <p:tgtEl>
                                          <p:spTgt spid="1382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72" grpId="0" bldLvl="0" animBg="1"/>
      <p:bldP spid="138273" grpId="0" bldLvl="0" animBg="1"/>
      <p:bldP spid="138279" grpId="0" bldLvl="0" animBg="1"/>
      <p:bldP spid="138291" grpId="0" bldLvl="0" animBg="1"/>
      <p:bldP spid="138298" grpId="0" bldLvl="0" animBg="1"/>
      <p:bldP spid="138298" grpId="1" bldLvl="0" animBg="1"/>
      <p:bldP spid="138301" grpId="0" bldLvl="0" animBg="1"/>
      <p:bldP spid="138301" grpId="1" bldLvl="0" animBg="1"/>
      <p:bldP spid="138313" grpId="0"/>
      <p:bldP spid="138314" grpId="0"/>
      <p:bldP spid="138316" grpId="0"/>
      <p:bldP spid="138323"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9.2 </a:t>
            </a:r>
            <a:r>
              <a:rPr lang="zh-CN" altLang="en-US" b="1" dirty="0">
                <a:solidFill>
                  <a:srgbClr val="FF0000"/>
                </a:solidFill>
                <a:latin typeface="黑体" panose="02010609060101010101" pitchFamily="49" charset="-122"/>
                <a:ea typeface="黑体" panose="02010609060101010101" pitchFamily="49" charset="-122"/>
              </a:rPr>
              <a:t>D/A转换电路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46" name="Rectangle 2"/>
          <p:cNvSpPr>
            <a:spLocks noGrp="1"/>
          </p:cNvSpPr>
          <p:nvPr>
            <p:ph type="title"/>
          </p:nvPr>
        </p:nvSpPr>
        <p:spPr>
          <a:xfrm>
            <a:off x="914400" y="990600"/>
            <a:ext cx="8068945" cy="705485"/>
          </a:xfrm>
        </p:spPr>
        <p:txBody>
          <a:bodyPr vert="horz" wrap="square" lIns="91440" tIns="45720" rIns="91440" bIns="45720" anchor="ctr" anchorCtr="0"/>
          <a:p>
            <a:pPr algn="l" eaLnBrk="1" hangingPunct="1"/>
            <a:r>
              <a:rPr lang="en-US" altLang="zh-CN" sz="2400" i="0" dirty="0">
                <a:solidFill>
                  <a:srgbClr val="0070C0"/>
                </a:solidFill>
                <a:latin typeface="黑体" panose="02010609060101010101" pitchFamily="49" charset="-122"/>
                <a:ea typeface="黑体" panose="02010609060101010101" pitchFamily="49" charset="-122"/>
              </a:rPr>
              <a:t>9.2.5 </a:t>
            </a:r>
            <a:r>
              <a:rPr lang="zh-CN" altLang="en-US" sz="2400" i="0" dirty="0">
                <a:solidFill>
                  <a:srgbClr val="0070C0"/>
                </a:solidFill>
                <a:latin typeface="黑体" panose="02010609060101010101" pitchFamily="49" charset="-122"/>
                <a:ea typeface="黑体" panose="02010609060101010101" pitchFamily="49" charset="-122"/>
              </a:rPr>
              <a:t>D/A转换器的主要技术指标</a:t>
            </a:r>
            <a:endParaRPr lang="zh-CN" altLang="en-US" sz="2400" i="0" dirty="0">
              <a:solidFill>
                <a:srgbClr val="0070C0"/>
              </a:solidFill>
              <a:latin typeface="黑体" panose="02010609060101010101" pitchFamily="49" charset="-122"/>
              <a:ea typeface="黑体" panose="02010609060101010101" pitchFamily="49" charset="-122"/>
            </a:endParaRPr>
          </a:p>
        </p:txBody>
      </p:sp>
      <p:sp>
        <p:nvSpPr>
          <p:cNvPr id="9223" name="Rectangle 17"/>
          <p:cNvSpPr/>
          <p:nvPr/>
        </p:nvSpPr>
        <p:spPr>
          <a:xfrm>
            <a:off x="0" y="2386013"/>
            <a:ext cx="9144000" cy="0"/>
          </a:xfrm>
          <a:prstGeom prst="rect">
            <a:avLst/>
          </a:prstGeom>
          <a:noFill/>
          <a:ln w="9525">
            <a:noFill/>
          </a:ln>
        </p:spPr>
        <p:txBody>
          <a:bodyPr wrap="none" anchor="ctr" anchorCtr="0">
            <a:spAutoFit/>
          </a:bodyPr>
          <a:p>
            <a:endParaRPr lang="zh-CN" altLang="en-US"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75109" name="Text Box 5"/>
          <p:cNvSpPr txBox="1"/>
          <p:nvPr/>
        </p:nvSpPr>
        <p:spPr>
          <a:xfrm>
            <a:off x="746125" y="1600200"/>
            <a:ext cx="3538538" cy="460375"/>
          </a:xfrm>
          <a:prstGeom prst="rect">
            <a:avLst/>
          </a:prstGeom>
          <a:noFill/>
          <a:ln w="9525">
            <a:noFill/>
          </a:ln>
        </p:spPr>
        <p:txBody>
          <a:bodyPr>
            <a:spAutoFit/>
          </a:bodyPr>
          <a:p>
            <a:r>
              <a:rPr lang="en-US" altLang="zh-CN" sz="2400" b="1" dirty="0">
                <a:solidFill>
                  <a:srgbClr val="FE09D6"/>
                </a:solidFill>
                <a:latin typeface="Times New Roman" panose="02020603050405020304" charset="0"/>
                <a:ea typeface="楷体" panose="02010609060101010101" charset="-122"/>
              </a:rPr>
              <a:t>1</a:t>
            </a:r>
            <a:r>
              <a:rPr lang="zh-CN" altLang="en-US" sz="2400" b="1" dirty="0">
                <a:solidFill>
                  <a:srgbClr val="FE09D6"/>
                </a:solidFill>
                <a:latin typeface="Times New Roman" panose="02020603050405020304" charset="0"/>
                <a:ea typeface="楷体" panose="02010609060101010101" charset="-122"/>
              </a:rPr>
              <a:t>、转换精度</a:t>
            </a:r>
            <a:endParaRPr lang="zh-CN" altLang="en-US" sz="2400" b="1" dirty="0">
              <a:solidFill>
                <a:srgbClr val="FE09D6"/>
              </a:solidFill>
              <a:latin typeface="Times New Roman" panose="02020603050405020304" charset="0"/>
              <a:ea typeface="楷体" panose="02010609060101010101" charset="-122"/>
            </a:endParaRPr>
          </a:p>
        </p:txBody>
      </p:sp>
      <p:sp>
        <p:nvSpPr>
          <p:cNvPr id="175110" name="Text Box 6"/>
          <p:cNvSpPr txBox="1"/>
          <p:nvPr/>
        </p:nvSpPr>
        <p:spPr>
          <a:xfrm>
            <a:off x="827088" y="2085975"/>
            <a:ext cx="7561262" cy="2009775"/>
          </a:xfrm>
          <a:prstGeom prst="rect">
            <a:avLst/>
          </a:prstGeom>
          <a:noFill/>
          <a:ln w="9525">
            <a:noFill/>
          </a:ln>
        </p:spPr>
        <p:txBody>
          <a:bodyPr>
            <a:spAutoFit/>
          </a:bodyPr>
          <a:p>
            <a:pPr>
              <a:lnSpc>
                <a:spcPct val="130000"/>
              </a:lnSpc>
            </a:pPr>
            <a:r>
              <a:rPr lang="zh-CN" sz="2400" b="1" dirty="0">
                <a:solidFill>
                  <a:srgbClr val="1318F3"/>
                </a:solidFill>
                <a:latin typeface="Times New Roman" panose="02020603050405020304" charset="0"/>
                <a:ea typeface="楷体" panose="02010609060101010101" charset="-122"/>
                <a:cs typeface="Times New Roman" panose="02020603050405020304" charset="0"/>
              </a:rPr>
              <a:t>（</a:t>
            </a:r>
            <a:r>
              <a:rPr lang="en-US" altLang="zh-CN" sz="2400" b="1" dirty="0">
                <a:solidFill>
                  <a:srgbClr val="1318F3"/>
                </a:solidFill>
                <a:latin typeface="Times New Roman" panose="02020603050405020304" charset="0"/>
                <a:ea typeface="楷体" panose="02010609060101010101" charset="-122"/>
                <a:cs typeface="Times New Roman" panose="02020603050405020304" charset="0"/>
              </a:rPr>
              <a:t>1</a:t>
            </a:r>
            <a:r>
              <a:rPr lang="zh-CN" sz="2400" b="1" dirty="0">
                <a:solidFill>
                  <a:srgbClr val="1318F3"/>
                </a:solidFill>
                <a:latin typeface="Times New Roman" panose="02020603050405020304" charset="0"/>
                <a:ea typeface="楷体" panose="02010609060101010101" charset="-122"/>
                <a:cs typeface="Times New Roman" panose="02020603050405020304" charset="0"/>
              </a:rPr>
              <a:t>）</a:t>
            </a:r>
            <a:r>
              <a:rPr lang="zh-CN" altLang="en-US" sz="2400" b="1" dirty="0">
                <a:solidFill>
                  <a:srgbClr val="1318F3"/>
                </a:solidFill>
                <a:latin typeface="Times New Roman" panose="02020603050405020304" charset="0"/>
                <a:ea typeface="楷体" panose="02010609060101010101" charset="-122"/>
                <a:cs typeface="Times New Roman" panose="02020603050405020304" charset="0"/>
              </a:rPr>
              <a:t>分辨率</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：用</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于表征</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D/A</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转换器对输入量微小变化的敏感程度，定义为</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D/A</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转换器模拟输出电压可能被分离的等级数。</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n</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位</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DAC</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最多有</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2</a:t>
            </a:r>
            <a:r>
              <a:rPr lang="en-US" altLang="zh-CN" sz="2400" b="1" baseline="30000" dirty="0">
                <a:solidFill>
                  <a:srgbClr val="000066"/>
                </a:solidFill>
                <a:latin typeface="Times New Roman" panose="02020603050405020304" charset="0"/>
                <a:ea typeface="楷体" panose="02010609060101010101" charset="-122"/>
                <a:cs typeface="Times New Roman" panose="02020603050405020304" charset="0"/>
              </a:rPr>
              <a:t>n</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个模拟输出电压。位数越多</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D/A</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转换器的分辨率越高。</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grpSp>
        <p:nvGrpSpPr>
          <p:cNvPr id="175117" name="Group 13"/>
          <p:cNvGrpSpPr/>
          <p:nvPr/>
        </p:nvGrpSpPr>
        <p:grpSpPr>
          <a:xfrm>
            <a:off x="900113" y="3944938"/>
            <a:ext cx="6911975" cy="2374900"/>
            <a:chOff x="567" y="2341"/>
            <a:chExt cx="4354" cy="1496"/>
          </a:xfrm>
        </p:grpSpPr>
        <p:sp>
          <p:nvSpPr>
            <p:cNvPr id="30727" name="Rectangle 11"/>
            <p:cNvSpPr/>
            <p:nvPr/>
          </p:nvSpPr>
          <p:spPr>
            <a:xfrm>
              <a:off x="567" y="2341"/>
              <a:ext cx="4354" cy="1300"/>
            </a:xfrm>
            <a:prstGeom prst="rect">
              <a:avLst/>
            </a:prstGeom>
            <a:noFill/>
            <a:ln w="9525">
              <a:noFill/>
            </a:ln>
          </p:spPr>
          <p:txBody>
            <a:bodyPr>
              <a:spAutoFit/>
            </a:bodyPr>
            <a:p>
              <a:pPr eaLnBrk="0" hangingPunct="0">
                <a:lnSpc>
                  <a:spcPct val="180000"/>
                </a:lnSpc>
              </a:pPr>
              <a:r>
                <a:rPr lang="zh-CN" altLang="en-US" sz="2400" b="1" dirty="0">
                  <a:solidFill>
                    <a:srgbClr val="FF3300"/>
                  </a:solidFill>
                  <a:latin typeface="Times New Roman" panose="02020603050405020304" charset="0"/>
                  <a:ea typeface="楷体" panose="02010609060101010101" charset="-122"/>
                  <a:cs typeface="Times New Roman" panose="02020603050405020304" charset="0"/>
                </a:rPr>
                <a:t>分辨率</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也可以用能分辨的最小输出电压与最大输出电压之比给出。</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n</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位</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D/A</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转换器的分辨率的</a:t>
              </a:r>
              <a:r>
                <a:rPr lang="zh-CN" altLang="en-US" sz="2400" b="1" dirty="0">
                  <a:solidFill>
                    <a:srgbClr val="0000FF"/>
                  </a:solidFill>
                  <a:latin typeface="Times New Roman" panose="02020603050405020304" charset="0"/>
                  <a:ea typeface="楷体" panose="02010609060101010101" charset="-122"/>
                  <a:cs typeface="Times New Roman" panose="02020603050405020304" charset="0"/>
                </a:rPr>
                <a:t>理论精度</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可表示为</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graphicFrame>
          <p:nvGraphicFramePr>
            <p:cNvPr id="30728" name="Object 12"/>
            <p:cNvGraphicFramePr>
              <a:graphicFrameLocks noChangeAspect="1"/>
            </p:cNvGraphicFramePr>
            <p:nvPr/>
          </p:nvGraphicFramePr>
          <p:xfrm>
            <a:off x="1927" y="3249"/>
            <a:ext cx="652" cy="588"/>
          </p:xfrm>
          <a:graphic>
            <a:graphicData uri="http://schemas.openxmlformats.org/presentationml/2006/ole">
              <mc:AlternateContent xmlns:mc="http://schemas.openxmlformats.org/markup-compatibility/2006">
                <mc:Choice xmlns:v="urn:schemas-microsoft-com:vml" Requires="v">
                  <p:oleObj spid="_x0000_s3111" name="" r:id="rId1" imgW="330200" imgH="330200" progId="Equation.3">
                    <p:embed/>
                  </p:oleObj>
                </mc:Choice>
                <mc:Fallback>
                  <p:oleObj name="" r:id="rId1" imgW="330200" imgH="330200" progId="Equation.3">
                    <p:embed/>
                    <p:pic>
                      <p:nvPicPr>
                        <p:cNvPr id="0" name="图片 3110"/>
                        <p:cNvPicPr/>
                        <p:nvPr/>
                      </p:nvPicPr>
                      <p:blipFill>
                        <a:blip r:embed="rId2"/>
                        <a:stretch>
                          <a:fillRect/>
                        </a:stretch>
                      </p:blipFill>
                      <p:spPr>
                        <a:xfrm>
                          <a:off x="1927" y="3249"/>
                          <a:ext cx="652" cy="588"/>
                        </a:xfrm>
                        <a:prstGeom prst="rect">
                          <a:avLst/>
                        </a:prstGeom>
                        <a:noFill/>
                        <a:ln w="38100">
                          <a:noFill/>
                          <a:miter/>
                        </a:ln>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5109"/>
                                        </p:tgtEl>
                                        <p:attrNameLst>
                                          <p:attrName>style.visibility</p:attrName>
                                        </p:attrNameLst>
                                      </p:cBhvr>
                                      <p:to>
                                        <p:strVal val="visible"/>
                                      </p:to>
                                    </p:set>
                                    <p:animEffect transition="in" filter="blinds(horizontal)">
                                      <p:cBhvr>
                                        <p:cTn id="7" dur="500"/>
                                        <p:tgtEl>
                                          <p:spTgt spid="17510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75110"/>
                                        </p:tgtEl>
                                        <p:attrNameLst>
                                          <p:attrName>style.visibility</p:attrName>
                                        </p:attrNameLst>
                                      </p:cBhvr>
                                      <p:to>
                                        <p:strVal val="visible"/>
                                      </p:to>
                                    </p:set>
                                    <p:animEffect transition="in" filter="checkerboard(across)">
                                      <p:cBhvr>
                                        <p:cTn id="12" dur="500"/>
                                        <p:tgtEl>
                                          <p:spTgt spid="1751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75117"/>
                                        </p:tgtEl>
                                        <p:attrNameLst>
                                          <p:attrName>style.visibility</p:attrName>
                                        </p:attrNameLst>
                                      </p:cBhvr>
                                      <p:to>
                                        <p:strVal val="visible"/>
                                      </p:to>
                                    </p:set>
                                    <p:animEffect transition="in" filter="wipe(down)">
                                      <p:cBhvr>
                                        <p:cTn id="17" dur="500"/>
                                        <p:tgtEl>
                                          <p:spTgt spid="175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09" grpId="0"/>
      <p:bldP spid="1751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9.2 </a:t>
            </a:r>
            <a:r>
              <a:rPr lang="zh-CN" altLang="en-US" b="1" dirty="0">
                <a:solidFill>
                  <a:srgbClr val="FF0000"/>
                </a:solidFill>
                <a:latin typeface="黑体" panose="02010609060101010101" pitchFamily="49" charset="-122"/>
                <a:ea typeface="黑体" panose="02010609060101010101" pitchFamily="49" charset="-122"/>
              </a:rPr>
              <a:t>D/A转换电路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9223" name="Rectangle 17"/>
          <p:cNvSpPr/>
          <p:nvPr/>
        </p:nvSpPr>
        <p:spPr>
          <a:xfrm>
            <a:off x="0" y="2386013"/>
            <a:ext cx="9144000" cy="0"/>
          </a:xfrm>
          <a:prstGeom prst="rect">
            <a:avLst/>
          </a:prstGeom>
          <a:noFill/>
          <a:ln w="9525">
            <a:noFill/>
          </a:ln>
        </p:spPr>
        <p:txBody>
          <a:bodyPr wrap="none" anchor="ctr" anchorCtr="0">
            <a:spAutoFit/>
          </a:bodyPr>
          <a:p>
            <a:endParaRPr lang="zh-CN" altLang="en-US"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75109" name="Text Box 5"/>
          <p:cNvSpPr txBox="1"/>
          <p:nvPr/>
        </p:nvSpPr>
        <p:spPr>
          <a:xfrm>
            <a:off x="762000" y="1524000"/>
            <a:ext cx="7479665" cy="1198880"/>
          </a:xfrm>
          <a:prstGeom prst="rect">
            <a:avLst/>
          </a:prstGeom>
          <a:noFill/>
          <a:ln w="9525">
            <a:noFill/>
          </a:ln>
        </p:spPr>
        <p:txBody>
          <a:bodyPr wrap="square">
            <a:spAutoFit/>
          </a:bodyPr>
          <a:p>
            <a:r>
              <a:rPr lang="zh-CN" sz="2400" b="1" dirty="0">
                <a:solidFill>
                  <a:srgbClr val="1318F3"/>
                </a:solidFill>
                <a:latin typeface="Times New Roman" panose="02020603050405020304" charset="0"/>
                <a:ea typeface="楷体" panose="02010609060101010101" charset="-122"/>
                <a:cs typeface="Times New Roman" panose="02020603050405020304" charset="0"/>
                <a:sym typeface="+mn-ea"/>
              </a:rPr>
              <a:t>（</a:t>
            </a:r>
            <a:r>
              <a:rPr lang="en-US" altLang="zh-CN" sz="2400" b="1" dirty="0">
                <a:solidFill>
                  <a:srgbClr val="1318F3"/>
                </a:solidFill>
                <a:latin typeface="Times New Roman" panose="02020603050405020304" charset="0"/>
                <a:ea typeface="楷体" panose="02010609060101010101" charset="-122"/>
                <a:cs typeface="Times New Roman" panose="02020603050405020304" charset="0"/>
                <a:sym typeface="+mn-ea"/>
              </a:rPr>
              <a:t>2</a:t>
            </a:r>
            <a:r>
              <a:rPr lang="zh-CN" sz="2400" b="1" dirty="0">
                <a:solidFill>
                  <a:srgbClr val="1318F3"/>
                </a:solidFill>
                <a:latin typeface="Times New Roman" panose="02020603050405020304" charset="0"/>
                <a:ea typeface="楷体" panose="02010609060101010101" charset="-122"/>
                <a:cs typeface="Times New Roman" panose="02020603050405020304" charset="0"/>
                <a:sym typeface="+mn-ea"/>
              </a:rPr>
              <a:t>）</a:t>
            </a:r>
            <a:r>
              <a:rPr lang="zh-CN" altLang="en-US" sz="2400" b="1" dirty="0">
                <a:solidFill>
                  <a:srgbClr val="1318F3"/>
                </a:solidFill>
                <a:latin typeface="Times New Roman" panose="02020603050405020304" charset="0"/>
                <a:ea typeface="楷体" panose="02010609060101010101" charset="-122"/>
                <a:cs typeface="Times New Roman" panose="02020603050405020304" charset="0"/>
                <a:sym typeface="+mn-ea"/>
              </a:rPr>
              <a:t>转换误差</a:t>
            </a:r>
            <a:r>
              <a:rPr lang="en-US" altLang="zh-CN" sz="2400" b="1" dirty="0">
                <a:solidFill>
                  <a:srgbClr val="1318F3"/>
                </a:solidFill>
                <a:latin typeface="Times New Roman" panose="02020603050405020304" charset="0"/>
                <a:ea typeface="楷体" panose="02010609060101010101" charset="-122"/>
                <a:cs typeface="Times New Roman" panose="02020603050405020304" charset="0"/>
                <a:sym typeface="+mn-ea"/>
              </a:rPr>
              <a:t>:</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     </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指对给定的数字量，</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D/A</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转换器实际值与理论值之间的最大偏差。</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endParaRPr>
          </a:p>
          <a:p>
            <a:endParaRPr lang="en-US" altLang="zh-CN" sz="2400" b="1" dirty="0">
              <a:solidFill>
                <a:srgbClr val="1318F3"/>
              </a:solidFill>
              <a:latin typeface="Times New Roman" panose="02020603050405020304" charset="0"/>
              <a:ea typeface="楷体" panose="02010609060101010101" charset="-122"/>
              <a:cs typeface="Times New Roman" panose="02020603050405020304" charset="0"/>
              <a:sym typeface="+mn-ea"/>
            </a:endParaRPr>
          </a:p>
        </p:txBody>
      </p:sp>
      <p:sp>
        <p:nvSpPr>
          <p:cNvPr id="175110" name="Text Box 6"/>
          <p:cNvSpPr txBox="1"/>
          <p:nvPr/>
        </p:nvSpPr>
        <p:spPr>
          <a:xfrm>
            <a:off x="791528" y="1600200"/>
            <a:ext cx="7561262" cy="645160"/>
          </a:xfrm>
          <a:prstGeom prst="rect">
            <a:avLst/>
          </a:prstGeom>
          <a:noFill/>
          <a:ln w="9525">
            <a:noFill/>
          </a:ln>
        </p:spPr>
        <p:txBody>
          <a:bodyPr wrap="square">
            <a:spAutoFit/>
          </a:bodyPr>
          <a:p>
            <a:pPr lvl="0" algn="l">
              <a:lnSpc>
                <a:spcPct val="150000"/>
              </a:lnSpc>
              <a:buClrTx/>
              <a:buSzTx/>
              <a:buFontTx/>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   </a:t>
            </a:r>
            <a:endPar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endParaRPr>
          </a:p>
        </p:txBody>
      </p:sp>
      <p:sp>
        <p:nvSpPr>
          <p:cNvPr id="122911" name="Rectangle 31"/>
          <p:cNvSpPr/>
          <p:nvPr/>
        </p:nvSpPr>
        <p:spPr>
          <a:xfrm>
            <a:off x="456883" y="2438083"/>
            <a:ext cx="8569325" cy="1087437"/>
          </a:xfrm>
          <a:prstGeom prst="rect">
            <a:avLst/>
          </a:prstGeom>
          <a:noFill/>
          <a:ln w="9525">
            <a:noFill/>
          </a:ln>
        </p:spPr>
        <p:txBody>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342900" lvl="0" indent="-342900">
              <a:lnSpc>
                <a:spcPct val="150000"/>
              </a:lnSpc>
              <a:spcBef>
                <a:spcPts val="0"/>
              </a:spcBef>
              <a:buNone/>
            </a:pPr>
            <a:r>
              <a:rPr lang="en-US" altLang="zh-CN" sz="2400" b="1" dirty="0">
                <a:solidFill>
                  <a:srgbClr val="000099"/>
                </a:solidFill>
                <a:latin typeface="Times New Roman" panose="02020603050405020304" charset="0"/>
                <a:ea typeface="楷体" panose="02010609060101010101" charset="-122"/>
                <a:cs typeface="Times New Roman" panose="02020603050405020304" charset="0"/>
              </a:rPr>
              <a:t>    </a:t>
            </a:r>
            <a:r>
              <a:rPr lang="zh-CN" altLang="en-US" sz="2400" b="1" dirty="0">
                <a:solidFill>
                  <a:srgbClr val="FF3300"/>
                </a:solidFill>
                <a:latin typeface="Times New Roman" panose="02020603050405020304" charset="0"/>
                <a:ea typeface="楷体" panose="02010609060101010101" charset="-122"/>
                <a:cs typeface="Times New Roman" panose="02020603050405020304" charset="0"/>
              </a:rPr>
              <a:t>产生原因：</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由于</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D/A</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转换器中各元件参数值存在误差，如基准电压不够稳定或运算放大器的零漂等各种因素的影响。</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3" name="文本框 2"/>
          <p:cNvSpPr txBox="1"/>
          <p:nvPr/>
        </p:nvSpPr>
        <p:spPr>
          <a:xfrm>
            <a:off x="914400" y="3886200"/>
            <a:ext cx="5880735" cy="2085340"/>
          </a:xfrm>
          <a:prstGeom prst="rect">
            <a:avLst/>
          </a:prstGeom>
          <a:noFill/>
        </p:spPr>
        <p:txBody>
          <a:bodyPr wrap="square" rtlCol="0" anchor="t">
            <a:spAutoFit/>
          </a:bodyPr>
          <a:p>
            <a:pPr marL="342900" lvl="0" indent="-342900" eaLnBrk="1" hangingPunct="1">
              <a:lnSpc>
                <a:spcPct val="90000"/>
              </a:lnSpc>
              <a:buNone/>
            </a:pPr>
            <a:r>
              <a:rPr lang="zh-CN" altLang="en-US" sz="2400" b="1" dirty="0">
                <a:solidFill>
                  <a:srgbClr val="1318F3"/>
                </a:solidFill>
                <a:latin typeface="Times New Roman" panose="02020603050405020304" charset="0"/>
                <a:ea typeface="楷体" panose="02010609060101010101" charset="-122"/>
                <a:cs typeface="Times New Roman" panose="02020603050405020304" charset="0"/>
                <a:sym typeface="+mn-ea"/>
              </a:rPr>
              <a:t>几种转换误差：</a:t>
            </a:r>
            <a:endParaRPr lang="zh-CN" altLang="en-US" sz="2400" b="1" dirty="0">
              <a:solidFill>
                <a:srgbClr val="1318F3"/>
              </a:solidFill>
              <a:latin typeface="Times New Roman" panose="02020603050405020304" charset="0"/>
              <a:ea typeface="楷体" panose="02010609060101010101" charset="-122"/>
              <a:cs typeface="Times New Roman" panose="02020603050405020304" charset="0"/>
            </a:endParaRPr>
          </a:p>
          <a:p>
            <a:pPr marL="342900" lvl="0" indent="-342900">
              <a:lnSpc>
                <a:spcPct val="150000"/>
              </a:lnSpc>
              <a:buNone/>
            </a:pPr>
            <a:r>
              <a:rPr lang="zh-CN" altLang="en-US" sz="2400" b="1" dirty="0">
                <a:latin typeface="Times New Roman" panose="02020603050405020304" charset="0"/>
                <a:ea typeface="楷体" panose="02010609060101010101" charset="-122"/>
                <a:cs typeface="Times New Roman" panose="02020603050405020304" charset="0"/>
                <a:sym typeface="+mn-ea"/>
              </a:rPr>
              <a:t>    </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 </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非线性误差</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a:p>
            <a:pPr marL="342900" lvl="0" indent="-342900">
              <a:lnSpc>
                <a:spcPct val="150000"/>
              </a:lnSpc>
              <a:buNone/>
            </a:pP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    </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 </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比例系数误差</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a:p>
            <a:pPr marL="342900" lvl="0" indent="-342900">
              <a:lnSpc>
                <a:spcPct val="150000"/>
              </a:lnSpc>
              <a:buNone/>
            </a:pP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    </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 </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漂移误差</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5109"/>
                                        </p:tgtEl>
                                        <p:attrNameLst>
                                          <p:attrName>style.visibility</p:attrName>
                                        </p:attrNameLst>
                                      </p:cBhvr>
                                      <p:to>
                                        <p:strVal val="visible"/>
                                      </p:to>
                                    </p:set>
                                    <p:animEffect transition="in" filter="blinds(horizontal)">
                                      <p:cBhvr>
                                        <p:cTn id="7" dur="500"/>
                                        <p:tgtEl>
                                          <p:spTgt spid="17510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75110"/>
                                        </p:tgtEl>
                                        <p:attrNameLst>
                                          <p:attrName>style.visibility</p:attrName>
                                        </p:attrNameLst>
                                      </p:cBhvr>
                                      <p:to>
                                        <p:strVal val="visible"/>
                                      </p:to>
                                    </p:set>
                                    <p:animEffect transition="in" filter="checkerboard(across)">
                                      <p:cBhvr>
                                        <p:cTn id="12" dur="500"/>
                                        <p:tgtEl>
                                          <p:spTgt spid="175110"/>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22911"/>
                                        </p:tgtEl>
                                        <p:attrNameLst>
                                          <p:attrName>style.visibility</p:attrName>
                                        </p:attrNameLst>
                                      </p:cBhvr>
                                      <p:to>
                                        <p:strVal val="visible"/>
                                      </p:to>
                                    </p:set>
                                    <p:animEffect transition="in" filter="strips(downRight)">
                                      <p:cBhvr>
                                        <p:cTn id="17" dur="500"/>
                                        <p:tgtEl>
                                          <p:spTgt spid="12291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09" grpId="0"/>
      <p:bldP spid="175110" grpId="0"/>
      <p:bldP spid="122911" grpId="0"/>
      <p:bldP spid="3" grpId="0"/>
      <p:bldP spid="3"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9.2 </a:t>
            </a:r>
            <a:r>
              <a:rPr lang="zh-CN" altLang="en-US" b="1" dirty="0">
                <a:solidFill>
                  <a:srgbClr val="FF0000"/>
                </a:solidFill>
                <a:latin typeface="黑体" panose="02010609060101010101" pitchFamily="49" charset="-122"/>
                <a:ea typeface="黑体" panose="02010609060101010101" pitchFamily="49" charset="-122"/>
              </a:rPr>
              <a:t>D/A转换电路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22892" name="Text Box 12"/>
          <p:cNvSpPr txBox="1"/>
          <p:nvPr/>
        </p:nvSpPr>
        <p:spPr>
          <a:xfrm>
            <a:off x="5410200" y="1295400"/>
            <a:ext cx="3429000" cy="1198880"/>
          </a:xfrm>
          <a:prstGeom prst="rect">
            <a:avLst/>
          </a:prstGeom>
          <a:noFill/>
          <a:ln w="9525">
            <a:noFill/>
          </a:ln>
        </p:spPr>
        <p:txBody>
          <a:bodyPr>
            <a:spAutoFit/>
          </a:bodyPr>
          <a:p>
            <a:r>
              <a:rPr lang="zh-CN" altLang="en-US" sz="2400" b="1" dirty="0">
                <a:solidFill>
                  <a:srgbClr val="1318F3"/>
                </a:solidFill>
                <a:latin typeface="Times New Roman" panose="02020603050405020304" charset="0"/>
                <a:ea typeface="楷体" panose="02010609060101010101" charset="-122"/>
                <a:cs typeface="Times New Roman" panose="02020603050405020304" charset="0"/>
              </a:rPr>
              <a:t>比例系数误差</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a:t>
            </a:r>
            <a:endParaRPr lang="en-US" altLang="zh-CN" sz="2400" b="1" dirty="0">
              <a:solidFill>
                <a:srgbClr val="000066"/>
              </a:solidFill>
              <a:latin typeface="Times New Roman" panose="02020603050405020304" charset="0"/>
              <a:ea typeface="楷体" panose="02010609060101010101" charset="-122"/>
              <a:cs typeface="Times New Roman" panose="02020603050405020304" charset="0"/>
            </a:endParaRPr>
          </a:p>
          <a:p>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基准电压偏离标准值引起的误差。</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32101" name="Rectangle 5"/>
          <p:cNvSpPr/>
          <p:nvPr/>
        </p:nvSpPr>
        <p:spPr>
          <a:xfrm>
            <a:off x="609600" y="1295400"/>
            <a:ext cx="4166235" cy="1198880"/>
          </a:xfrm>
          <a:prstGeom prst="rect">
            <a:avLst/>
          </a:prstGeom>
          <a:noFill/>
          <a:ln w="9525">
            <a:noFill/>
          </a:ln>
        </p:spPr>
        <p:txBody>
          <a:bodyPr wrap="square">
            <a:spAutoFit/>
          </a:bodyPr>
          <a:p>
            <a:r>
              <a:rPr lang="zh-CN" altLang="en-US" sz="2400" b="1" dirty="0">
                <a:solidFill>
                  <a:srgbClr val="1318F3"/>
                </a:solidFill>
                <a:latin typeface="Times New Roman" panose="02020603050405020304" charset="0"/>
                <a:ea typeface="楷体" panose="02010609060101010101" charset="-122"/>
                <a:cs typeface="Times New Roman" panose="02020603050405020304" charset="0"/>
              </a:rPr>
              <a:t>非线性误差</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因素较多（如：解码网络的模拟开关的导通压降、导通电阻不同等）</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pic>
        <p:nvPicPr>
          <p:cNvPr id="2" name="图片 1"/>
          <p:cNvPicPr>
            <a:picLocks noChangeAspect="1"/>
          </p:cNvPicPr>
          <p:nvPr/>
        </p:nvPicPr>
        <p:blipFill>
          <a:blip r:embed="rId1"/>
          <a:stretch>
            <a:fillRect/>
          </a:stretch>
        </p:blipFill>
        <p:spPr>
          <a:xfrm>
            <a:off x="685800" y="2494280"/>
            <a:ext cx="3418205" cy="3673475"/>
          </a:xfrm>
          <a:prstGeom prst="rect">
            <a:avLst/>
          </a:prstGeom>
        </p:spPr>
      </p:pic>
      <p:pic>
        <p:nvPicPr>
          <p:cNvPr id="4" name="图片 3"/>
          <p:cNvPicPr>
            <a:picLocks noChangeAspect="1"/>
          </p:cNvPicPr>
          <p:nvPr/>
        </p:nvPicPr>
        <p:blipFill>
          <a:blip r:embed="rId2"/>
          <a:stretch>
            <a:fillRect/>
          </a:stretch>
        </p:blipFill>
        <p:spPr>
          <a:xfrm>
            <a:off x="5334000" y="2672715"/>
            <a:ext cx="3225800" cy="34664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2101"/>
                                        </p:tgtEl>
                                        <p:attrNameLst>
                                          <p:attrName>style.visibility</p:attrName>
                                        </p:attrNameLst>
                                      </p:cBhvr>
                                      <p:to>
                                        <p:strVal val="visible"/>
                                      </p:to>
                                    </p:set>
                                    <p:animEffect transition="in" filter="blinds(horizontal)">
                                      <p:cBhvr>
                                        <p:cTn id="7" dur="500"/>
                                        <p:tgtEl>
                                          <p:spTgt spid="13210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22892"/>
                                        </p:tgtEl>
                                        <p:attrNameLst>
                                          <p:attrName>style.visibility</p:attrName>
                                        </p:attrNameLst>
                                      </p:cBhvr>
                                      <p:to>
                                        <p:strVal val="visible"/>
                                      </p:to>
                                    </p:set>
                                    <p:animEffect transition="in" filter="checkerboard(across)">
                                      <p:cBhvr>
                                        <p:cTn id="17" dur="500"/>
                                        <p:tgtEl>
                                          <p:spTgt spid="12289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92" grpId="0"/>
      <p:bldP spid="13210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9.2 </a:t>
            </a:r>
            <a:r>
              <a:rPr lang="zh-CN" altLang="en-US" b="1" dirty="0">
                <a:solidFill>
                  <a:srgbClr val="FF0000"/>
                </a:solidFill>
                <a:latin typeface="黑体" panose="02010609060101010101" pitchFamily="49" charset="-122"/>
                <a:ea typeface="黑体" panose="02010609060101010101" pitchFamily="49" charset="-122"/>
              </a:rPr>
              <a:t>D/A转换电路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132101" name="Rectangle 5"/>
          <p:cNvSpPr/>
          <p:nvPr/>
        </p:nvSpPr>
        <p:spPr>
          <a:xfrm>
            <a:off x="2286000" y="1295400"/>
            <a:ext cx="4166235" cy="829945"/>
          </a:xfrm>
          <a:prstGeom prst="rect">
            <a:avLst/>
          </a:prstGeom>
          <a:noFill/>
          <a:ln w="9525">
            <a:noFill/>
          </a:ln>
        </p:spPr>
        <p:txBody>
          <a:bodyPr wrap="square">
            <a:spAutoFit/>
          </a:bodyPr>
          <a:p>
            <a:r>
              <a:rPr lang="zh-CN" altLang="en-US" sz="2400" b="1" dirty="0">
                <a:solidFill>
                  <a:srgbClr val="1318F3"/>
                </a:solidFill>
                <a:latin typeface="Times New Roman" panose="02020603050405020304" charset="0"/>
                <a:ea typeface="楷体" panose="02010609060101010101" charset="-122"/>
                <a:cs typeface="Times New Roman" panose="02020603050405020304" charset="0"/>
                <a:sym typeface="+mn-ea"/>
              </a:rPr>
              <a:t>漂移误差</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由集成运放的零漂等引起的误差。</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endParaRPr>
          </a:p>
        </p:txBody>
      </p:sp>
      <p:pic>
        <p:nvPicPr>
          <p:cNvPr id="3" name="图片 2"/>
          <p:cNvPicPr>
            <a:picLocks noChangeAspect="1"/>
          </p:cNvPicPr>
          <p:nvPr/>
        </p:nvPicPr>
        <p:blipFill>
          <a:blip r:embed="rId1"/>
          <a:stretch>
            <a:fillRect/>
          </a:stretch>
        </p:blipFill>
        <p:spPr>
          <a:xfrm>
            <a:off x="2362200" y="2209800"/>
            <a:ext cx="3818255" cy="41027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9.2 </a:t>
            </a:r>
            <a:r>
              <a:rPr lang="zh-CN" altLang="en-US" b="1" dirty="0">
                <a:solidFill>
                  <a:srgbClr val="FF0000"/>
                </a:solidFill>
                <a:latin typeface="黑体" panose="02010609060101010101" pitchFamily="49" charset="-122"/>
                <a:ea typeface="黑体" panose="02010609060101010101" pitchFamily="49" charset="-122"/>
              </a:rPr>
              <a:t>D/A转换电路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9223" name="Rectangle 17"/>
          <p:cNvSpPr/>
          <p:nvPr/>
        </p:nvSpPr>
        <p:spPr>
          <a:xfrm>
            <a:off x="0" y="2386013"/>
            <a:ext cx="9144000" cy="0"/>
          </a:xfrm>
          <a:prstGeom prst="rect">
            <a:avLst/>
          </a:prstGeom>
          <a:noFill/>
          <a:ln w="9525">
            <a:noFill/>
          </a:ln>
        </p:spPr>
        <p:txBody>
          <a:bodyPr wrap="none" anchor="ctr" anchorCtr="0">
            <a:spAutoFit/>
          </a:bodyPr>
          <a:p>
            <a:endParaRPr lang="zh-CN" altLang="en-US"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75109" name="Text Box 5"/>
          <p:cNvSpPr txBox="1"/>
          <p:nvPr/>
        </p:nvSpPr>
        <p:spPr>
          <a:xfrm>
            <a:off x="1066800" y="1219200"/>
            <a:ext cx="3538538" cy="460375"/>
          </a:xfrm>
          <a:prstGeom prst="rect">
            <a:avLst/>
          </a:prstGeom>
          <a:noFill/>
          <a:ln w="9525">
            <a:noFill/>
          </a:ln>
        </p:spPr>
        <p:txBody>
          <a:bodyPr>
            <a:spAutoFit/>
          </a:bodyPr>
          <a:p>
            <a:r>
              <a:rPr lang="en-US" altLang="zh-CN" sz="2400" b="1" dirty="0">
                <a:solidFill>
                  <a:srgbClr val="FE09D6"/>
                </a:solidFill>
                <a:latin typeface="Times New Roman" panose="02020603050405020304" charset="0"/>
                <a:ea typeface="楷体" panose="02010609060101010101" charset="-122"/>
              </a:rPr>
              <a:t>2</a:t>
            </a:r>
            <a:r>
              <a:rPr lang="zh-CN" altLang="en-US" sz="2400" b="1" dirty="0">
                <a:solidFill>
                  <a:srgbClr val="FE09D6"/>
                </a:solidFill>
                <a:latin typeface="Times New Roman" panose="02020603050405020304" charset="0"/>
                <a:ea typeface="楷体" panose="02010609060101010101" charset="-122"/>
              </a:rPr>
              <a:t>、转换</a:t>
            </a:r>
            <a:r>
              <a:rPr lang="zh-CN" altLang="en-US" sz="2400" b="1" dirty="0">
                <a:solidFill>
                  <a:srgbClr val="FE09D6"/>
                </a:solidFill>
                <a:latin typeface="Times New Roman" panose="02020603050405020304" charset="0"/>
                <a:ea typeface="楷体" panose="02010609060101010101" charset="-122"/>
              </a:rPr>
              <a:t>速度</a:t>
            </a:r>
            <a:endParaRPr lang="zh-CN" altLang="en-US" sz="2400" b="1" dirty="0">
              <a:solidFill>
                <a:srgbClr val="FE09D6"/>
              </a:solidFill>
              <a:latin typeface="Times New Roman" panose="02020603050405020304" charset="0"/>
              <a:ea typeface="楷体" panose="02010609060101010101" charset="-122"/>
            </a:endParaRPr>
          </a:p>
        </p:txBody>
      </p:sp>
      <p:graphicFrame>
        <p:nvGraphicFramePr>
          <p:cNvPr id="133125" name="Object 5"/>
          <p:cNvGraphicFramePr>
            <a:graphicFrameLocks noChangeAspect="1"/>
          </p:cNvGraphicFramePr>
          <p:nvPr/>
        </p:nvGraphicFramePr>
        <p:xfrm>
          <a:off x="1981200" y="2133600"/>
          <a:ext cx="4310380" cy="3295650"/>
        </p:xfrm>
        <a:graphic>
          <a:graphicData uri="http://schemas.openxmlformats.org/presentationml/2006/ole">
            <mc:AlternateContent xmlns:mc="http://schemas.openxmlformats.org/markup-compatibility/2006">
              <mc:Choice xmlns:v="urn:schemas-microsoft-com:vml" Requires="v">
                <p:oleObj spid="_x0000_s3113" name="" r:id="rId1" imgW="18468975" imgH="14116050" progId="MSPhotoEd.3">
                  <p:embed/>
                </p:oleObj>
              </mc:Choice>
              <mc:Fallback>
                <p:oleObj name="" r:id="rId1" imgW="18468975" imgH="14116050" progId="MSPhotoEd.3">
                  <p:embed/>
                  <p:pic>
                    <p:nvPicPr>
                      <p:cNvPr id="0" name="图片 3112"/>
                      <p:cNvPicPr/>
                      <p:nvPr/>
                    </p:nvPicPr>
                    <p:blipFill>
                      <a:blip r:embed="rId2"/>
                      <a:stretch>
                        <a:fillRect/>
                      </a:stretch>
                    </p:blipFill>
                    <p:spPr>
                      <a:xfrm>
                        <a:off x="1981200" y="2133600"/>
                        <a:ext cx="4310380" cy="3295650"/>
                      </a:xfrm>
                      <a:prstGeom prst="rect">
                        <a:avLst/>
                      </a:prstGeom>
                      <a:noFill/>
                      <a:ln w="38100">
                        <a:noFill/>
                        <a:miter/>
                      </a:ln>
                    </p:spPr>
                  </p:pic>
                </p:oleObj>
              </mc:Fallback>
            </mc:AlternateContent>
          </a:graphicData>
        </a:graphic>
      </p:graphicFrame>
      <p:sp>
        <p:nvSpPr>
          <p:cNvPr id="133129" name="Rectangle 9"/>
          <p:cNvSpPr/>
          <p:nvPr/>
        </p:nvSpPr>
        <p:spPr>
          <a:xfrm>
            <a:off x="533400" y="5410200"/>
            <a:ext cx="7772400" cy="977265"/>
          </a:xfrm>
          <a:prstGeom prst="rect">
            <a:avLst/>
          </a:prstGeom>
          <a:noFill/>
          <a:ln w="9525">
            <a:noFill/>
          </a:ln>
        </p:spPr>
        <p:txBody>
          <a:bodyPr>
            <a:spAutoFit/>
          </a:bodyPr>
          <a:p>
            <a:pPr>
              <a:lnSpc>
                <a:spcPct val="120000"/>
              </a:lnSpc>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    </a:t>
            </a:r>
            <a:r>
              <a:rPr lang="zh-CN" altLang="zh-CN" sz="2400" b="1" dirty="0">
                <a:solidFill>
                  <a:srgbClr val="000066"/>
                </a:solidFill>
                <a:latin typeface="Times New Roman" panose="02020603050405020304" charset="0"/>
                <a:ea typeface="楷体" panose="02010609060101010101" charset="-122"/>
                <a:cs typeface="Times New Roman" panose="02020603050405020304" charset="0"/>
              </a:rPr>
              <a:t>输入数字量</a:t>
            </a:r>
            <a:r>
              <a:rPr lang="en-US" altLang="zh-CN" sz="2400" b="1" i="1" dirty="0">
                <a:solidFill>
                  <a:srgbClr val="000066"/>
                </a:solidFill>
                <a:latin typeface="Times New Roman" panose="02020603050405020304" charset="0"/>
                <a:ea typeface="楷体" panose="02010609060101010101" charset="-122"/>
                <a:cs typeface="Times New Roman" panose="02020603050405020304" charset="0"/>
              </a:rPr>
              <a:t>N</a:t>
            </a:r>
            <a:r>
              <a:rPr lang="en-US" altLang="zh-CN" sz="2400" b="1" baseline="-20000" dirty="0">
                <a:solidFill>
                  <a:srgbClr val="000066"/>
                </a:solidFill>
                <a:latin typeface="Times New Roman" panose="02020603050405020304" charset="0"/>
                <a:ea typeface="楷体" panose="02010609060101010101" charset="-122"/>
                <a:cs typeface="Times New Roman" panose="02020603050405020304" charset="0"/>
              </a:rPr>
              <a:t>B</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从全</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0</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转到全</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1</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时，输出电压达到规定的误差范围</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(±LSB/2)</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rPr>
              <a:t>时所需的时间。</a:t>
            </a:r>
            <a:endParaRPr lang="zh-CN" altLang="en-US"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33126" name="Rectangle 6"/>
          <p:cNvSpPr/>
          <p:nvPr/>
        </p:nvSpPr>
        <p:spPr>
          <a:xfrm>
            <a:off x="1143000" y="1679575"/>
            <a:ext cx="3691890" cy="460375"/>
          </a:xfrm>
          <a:prstGeom prst="rect">
            <a:avLst/>
          </a:prstGeom>
          <a:noFill/>
          <a:ln w="9525">
            <a:noFill/>
          </a:ln>
        </p:spPr>
        <p:txBody>
          <a:bodyPr wrap="none">
            <a:spAutoFit/>
          </a:bodyPr>
          <a:p>
            <a:r>
              <a:rPr lang="en-US" altLang="zh-CN" sz="2400" b="1" dirty="0">
                <a:solidFill>
                  <a:srgbClr val="1318F3"/>
                </a:solidFill>
                <a:latin typeface="Times New Roman" panose="02020603050405020304" charset="0"/>
                <a:ea typeface="楷体" panose="02010609060101010101" charset="-122"/>
                <a:cs typeface="Times New Roman" panose="02020603050405020304" charset="0"/>
              </a:rPr>
              <a:t>D/A</a:t>
            </a:r>
            <a:r>
              <a:rPr lang="zh-CN" altLang="zh-CN" sz="2400" b="1" dirty="0">
                <a:solidFill>
                  <a:srgbClr val="1318F3"/>
                </a:solidFill>
                <a:latin typeface="Times New Roman" panose="02020603050405020304" charset="0"/>
                <a:ea typeface="楷体" panose="02010609060101010101" charset="-122"/>
                <a:cs typeface="Times New Roman" panose="02020603050405020304" charset="0"/>
              </a:rPr>
              <a:t>转换器</a:t>
            </a:r>
            <a:r>
              <a:rPr lang="zh-CN" altLang="en-US" sz="2400" b="1" dirty="0">
                <a:solidFill>
                  <a:srgbClr val="1318F3"/>
                </a:solidFill>
                <a:latin typeface="Times New Roman" panose="02020603050405020304" charset="0"/>
                <a:ea typeface="楷体" panose="02010609060101010101" charset="-122"/>
                <a:cs typeface="Times New Roman" panose="02020603050405020304" charset="0"/>
              </a:rPr>
              <a:t>的建立时间</a:t>
            </a:r>
            <a:r>
              <a:rPr lang="en-US" altLang="zh-CN" sz="2400" b="1" dirty="0">
                <a:solidFill>
                  <a:srgbClr val="1318F3"/>
                </a:solidFill>
                <a:latin typeface="Times New Roman" panose="02020603050405020304" charset="0"/>
                <a:ea typeface="楷体" panose="02010609060101010101" charset="-122"/>
                <a:cs typeface="Times New Roman" panose="02020603050405020304" charset="0"/>
              </a:rPr>
              <a:t>(</a:t>
            </a:r>
            <a:r>
              <a:rPr lang="en-US" altLang="zh-CN" sz="2400" b="1" i="1" dirty="0">
                <a:solidFill>
                  <a:srgbClr val="1318F3"/>
                </a:solidFill>
                <a:latin typeface="Times New Roman" panose="02020603050405020304" charset="0"/>
                <a:ea typeface="楷体" panose="02010609060101010101" charset="-122"/>
                <a:cs typeface="Times New Roman" panose="02020603050405020304" charset="0"/>
              </a:rPr>
              <a:t>t</a:t>
            </a:r>
            <a:r>
              <a:rPr lang="en-US" altLang="zh-CN" sz="2400" b="1" baseline="-20000" dirty="0">
                <a:solidFill>
                  <a:srgbClr val="1318F3"/>
                </a:solidFill>
                <a:latin typeface="Times New Roman" panose="02020603050405020304" charset="0"/>
                <a:ea typeface="楷体" panose="02010609060101010101" charset="-122"/>
                <a:cs typeface="Times New Roman" panose="02020603050405020304" charset="0"/>
              </a:rPr>
              <a:t>set</a:t>
            </a:r>
            <a:r>
              <a:rPr lang="en-US" altLang="zh-CN" sz="2400" b="1" dirty="0">
                <a:solidFill>
                  <a:srgbClr val="1318F3"/>
                </a:solidFill>
                <a:latin typeface="Times New Roman" panose="02020603050405020304" charset="0"/>
                <a:ea typeface="楷体" panose="02010609060101010101" charset="-122"/>
                <a:cs typeface="Times New Roman" panose="02020603050405020304" charset="0"/>
              </a:rPr>
              <a:t>)</a:t>
            </a:r>
            <a:endParaRPr lang="en-US" altLang="zh-CN" sz="2400" b="1" dirty="0">
              <a:solidFill>
                <a:srgbClr val="1318F3"/>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3126"/>
                                        </p:tgtEl>
                                        <p:attrNameLst>
                                          <p:attrName>style.visibility</p:attrName>
                                        </p:attrNameLst>
                                      </p:cBhvr>
                                      <p:to>
                                        <p:strVal val="visible"/>
                                      </p:to>
                                    </p:set>
                                    <p:animEffect transition="in" filter="blinds(horizontal)">
                                      <p:cBhvr>
                                        <p:cTn id="7" dur="500"/>
                                        <p:tgtEl>
                                          <p:spTgt spid="13312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133125"/>
                                        </p:tgtEl>
                                        <p:attrNameLst>
                                          <p:attrName>style.visibility</p:attrName>
                                        </p:attrNameLst>
                                      </p:cBhvr>
                                      <p:to>
                                        <p:strVal val="visible"/>
                                      </p:to>
                                    </p:set>
                                    <p:animEffect transition="in" filter="slide(fromBottom)">
                                      <p:cBhvr>
                                        <p:cTn id="12" dur="500"/>
                                        <p:tgtEl>
                                          <p:spTgt spid="13312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3129"/>
                                        </p:tgtEl>
                                        <p:attrNameLst>
                                          <p:attrName>style.visibility</p:attrName>
                                        </p:attrNameLst>
                                      </p:cBhvr>
                                      <p:to>
                                        <p:strVal val="visible"/>
                                      </p:to>
                                    </p:set>
                                    <p:animEffect transition="in" filter="dissolve">
                                      <p:cBhvr>
                                        <p:cTn id="17" dur="500"/>
                                        <p:tgtEl>
                                          <p:spTgt spid="133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9" grpId="0"/>
      <p:bldP spid="13312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9.2 </a:t>
            </a:r>
            <a:r>
              <a:rPr lang="zh-CN" altLang="en-US" b="1" dirty="0">
                <a:solidFill>
                  <a:srgbClr val="FF0000"/>
                </a:solidFill>
                <a:latin typeface="黑体" panose="02010609060101010101" pitchFamily="49" charset="-122"/>
                <a:ea typeface="黑体" panose="02010609060101010101" pitchFamily="49" charset="-122"/>
              </a:rPr>
              <a:t>D/A转换电路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9223" name="Rectangle 17"/>
          <p:cNvSpPr/>
          <p:nvPr/>
        </p:nvSpPr>
        <p:spPr>
          <a:xfrm>
            <a:off x="0" y="2386013"/>
            <a:ext cx="9144000" cy="0"/>
          </a:xfrm>
          <a:prstGeom prst="rect">
            <a:avLst/>
          </a:prstGeom>
          <a:noFill/>
          <a:ln w="9525">
            <a:noFill/>
          </a:ln>
        </p:spPr>
        <p:txBody>
          <a:bodyPr wrap="none" anchor="ctr" anchorCtr="0">
            <a:spAutoFit/>
          </a:bodyPr>
          <a:p>
            <a:endParaRPr lang="zh-CN" altLang="en-US"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35172" name="Text Box 4"/>
          <p:cNvSpPr txBox="1"/>
          <p:nvPr/>
        </p:nvSpPr>
        <p:spPr>
          <a:xfrm>
            <a:off x="762000" y="2057083"/>
            <a:ext cx="7467600" cy="2009775"/>
          </a:xfrm>
          <a:prstGeom prst="rect">
            <a:avLst/>
          </a:prstGeom>
          <a:noFill/>
          <a:ln w="9525">
            <a:noFill/>
          </a:ln>
        </p:spPr>
        <p:txBody>
          <a:bodyPr>
            <a:spAutoFit/>
          </a:bodyPr>
          <a:p>
            <a:pPr>
              <a:lnSpc>
                <a:spcPct val="120000"/>
              </a:lnSpc>
            </a:pPr>
            <a:r>
              <a:rPr lang="zh-CN" altLang="en-US" sz="2600" b="1" dirty="0">
                <a:solidFill>
                  <a:srgbClr val="FF0000"/>
                </a:solidFill>
                <a:latin typeface="Times New Roman" panose="02020603050405020304" charset="0"/>
                <a:ea typeface="楷体" panose="02010609060101010101" charset="-122"/>
                <a:cs typeface="Times New Roman" panose="02020603050405020304" charset="0"/>
              </a:rPr>
              <a:t>结论：</a:t>
            </a:r>
            <a:endParaRPr lang="zh-CN" altLang="en-US" sz="2600" b="1" dirty="0">
              <a:solidFill>
                <a:srgbClr val="FF0000"/>
              </a:solidFill>
              <a:latin typeface="Times New Roman" panose="02020603050405020304" charset="0"/>
              <a:ea typeface="楷体" panose="02010609060101010101" charset="-122"/>
              <a:cs typeface="Times New Roman" panose="02020603050405020304" charset="0"/>
            </a:endParaRPr>
          </a:p>
          <a:p>
            <a:pPr>
              <a:lnSpc>
                <a:spcPct val="120000"/>
              </a:lnSpc>
            </a:pPr>
            <a:r>
              <a:rPr lang="zh-CN" altLang="en-US" sz="2600" b="1" dirty="0">
                <a:solidFill>
                  <a:schemeClr val="tx2"/>
                </a:solidFill>
                <a:latin typeface="Times New Roman" panose="02020603050405020304" charset="0"/>
                <a:ea typeface="楷体" panose="02010609060101010101" charset="-122"/>
                <a:cs typeface="Times New Roman" panose="02020603050405020304" charset="0"/>
              </a:rPr>
              <a:t>    </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要获得高精度</a:t>
            </a: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D/A</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转换器，不仅要选择位数较多的高分辨率</a:t>
            </a:r>
            <a:r>
              <a:rPr lang="en-US" altLang="zh-CN" sz="2600" b="1" dirty="0">
                <a:solidFill>
                  <a:srgbClr val="000066"/>
                </a:solidFill>
                <a:latin typeface="Times New Roman" panose="02020603050405020304" charset="0"/>
                <a:ea typeface="楷体" panose="02010609060101010101" charset="-122"/>
                <a:cs typeface="Times New Roman" panose="02020603050405020304" charset="0"/>
              </a:rPr>
              <a:t>D/A</a:t>
            </a:r>
            <a:r>
              <a:rPr lang="zh-CN" altLang="en-US" sz="2600" b="1" dirty="0">
                <a:solidFill>
                  <a:srgbClr val="000066"/>
                </a:solidFill>
                <a:latin typeface="Times New Roman" panose="02020603050405020304" charset="0"/>
                <a:ea typeface="楷体" panose="02010609060101010101" charset="-122"/>
                <a:cs typeface="Times New Roman" panose="02020603050405020304" charset="0"/>
              </a:rPr>
              <a:t>转换器，还要选用高稳定度的基准电压和低零漂的集成运放与之配合。</a:t>
            </a:r>
            <a:endParaRPr lang="zh-CN" altLang="en-US" sz="26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34820" name="Rectangle 5"/>
          <p:cNvSpPr/>
          <p:nvPr/>
        </p:nvSpPr>
        <p:spPr>
          <a:xfrm>
            <a:off x="990600" y="1143000"/>
            <a:ext cx="6096000" cy="491490"/>
          </a:xfrm>
          <a:prstGeom prst="rect">
            <a:avLst/>
          </a:prstGeom>
          <a:noFill/>
          <a:ln w="9525">
            <a:noFill/>
          </a:ln>
        </p:spPr>
        <p:txBody>
          <a:bodyPr>
            <a:spAutoFit/>
          </a:bodyPr>
          <a:p>
            <a:r>
              <a:rPr lang="zh-CN" altLang="en-US" sz="2600" b="1" dirty="0">
                <a:solidFill>
                  <a:srgbClr val="1318F3"/>
                </a:solidFill>
                <a:latin typeface="Times New Roman" panose="02020603050405020304" charset="0"/>
                <a:ea typeface="楷体" panose="02010609060101010101" charset="-122"/>
                <a:cs typeface="Times New Roman" panose="02020603050405020304" charset="0"/>
              </a:rPr>
              <a:t>转换速率</a:t>
            </a:r>
            <a:r>
              <a:rPr lang="en-US" altLang="zh-CN" sz="2600" b="1" dirty="0">
                <a:solidFill>
                  <a:srgbClr val="1318F3"/>
                </a:solidFill>
                <a:latin typeface="Times New Roman" panose="02020603050405020304" charset="0"/>
                <a:ea typeface="楷体" panose="02010609060101010101" charset="-122"/>
                <a:cs typeface="Times New Roman" panose="02020603050405020304" charset="0"/>
              </a:rPr>
              <a:t>(SR)</a:t>
            </a:r>
            <a:endParaRPr lang="en-US" altLang="zh-CN" sz="2600" b="1" dirty="0">
              <a:solidFill>
                <a:srgbClr val="1318F3"/>
              </a:solidFill>
              <a:latin typeface="Times New Roman" panose="02020603050405020304" charset="0"/>
              <a:ea typeface="楷体" panose="02010609060101010101" charset="-122"/>
              <a:cs typeface="Times New Roman" panose="02020603050405020304" charset="0"/>
            </a:endParaRPr>
          </a:p>
        </p:txBody>
      </p:sp>
      <p:sp>
        <p:nvSpPr>
          <p:cNvPr id="135174" name="Rectangle 6"/>
          <p:cNvSpPr/>
          <p:nvPr/>
        </p:nvSpPr>
        <p:spPr>
          <a:xfrm>
            <a:off x="762000" y="1599883"/>
            <a:ext cx="8077200" cy="488950"/>
          </a:xfrm>
          <a:prstGeom prst="rect">
            <a:avLst/>
          </a:prstGeom>
          <a:noFill/>
          <a:ln w="9525">
            <a:noFill/>
          </a:ln>
        </p:spPr>
        <p:txBody>
          <a:bodyPr>
            <a:spAutoFit/>
          </a:bodyPr>
          <a:p>
            <a:r>
              <a:rPr lang="zh-CN" altLang="en-US" sz="2600" b="1" dirty="0">
                <a:solidFill>
                  <a:srgbClr val="000066"/>
                </a:solidFill>
                <a:latin typeface="Times New Roman" panose="02020603050405020304" charset="0"/>
                <a:ea typeface="楷体" panose="02010609060101010101" charset="-122"/>
              </a:rPr>
              <a:t>在大信号工作状态下，用模拟电压的变化率来表示。</a:t>
            </a:r>
            <a:endParaRPr lang="zh-CN" altLang="en-US" sz="2600" b="1" dirty="0">
              <a:solidFill>
                <a:srgbClr val="000066"/>
              </a:solidFill>
              <a:latin typeface="Times New Roman" panose="02020603050405020304" charset="0"/>
              <a:ea typeface="楷体" panose="02010609060101010101" charset="-122"/>
            </a:endParaRPr>
          </a:p>
        </p:txBody>
      </p:sp>
      <p:sp>
        <p:nvSpPr>
          <p:cNvPr id="2" name="Text Box 5"/>
          <p:cNvSpPr txBox="1"/>
          <p:nvPr/>
        </p:nvSpPr>
        <p:spPr>
          <a:xfrm>
            <a:off x="457200" y="4191000"/>
            <a:ext cx="3538538" cy="460375"/>
          </a:xfrm>
          <a:prstGeom prst="rect">
            <a:avLst/>
          </a:prstGeom>
          <a:noFill/>
          <a:ln w="9525">
            <a:noFill/>
          </a:ln>
        </p:spPr>
        <p:txBody>
          <a:bodyPr>
            <a:spAutoFit/>
          </a:bodyPr>
          <a:p>
            <a:r>
              <a:rPr lang="en-US" altLang="zh-CN" sz="2400" b="1" dirty="0">
                <a:solidFill>
                  <a:srgbClr val="FE09D6"/>
                </a:solidFill>
                <a:latin typeface="Times New Roman" panose="02020603050405020304" charset="0"/>
                <a:ea typeface="楷体" panose="02010609060101010101" charset="-122"/>
              </a:rPr>
              <a:t>3</a:t>
            </a:r>
            <a:r>
              <a:rPr lang="zh-CN" altLang="en-US" sz="2400" b="1" dirty="0">
                <a:solidFill>
                  <a:srgbClr val="FE09D6"/>
                </a:solidFill>
                <a:latin typeface="Times New Roman" panose="02020603050405020304" charset="0"/>
                <a:ea typeface="楷体" panose="02010609060101010101" charset="-122"/>
              </a:rPr>
              <a:t>、温度</a:t>
            </a:r>
            <a:r>
              <a:rPr lang="zh-CN" altLang="en-US" sz="2400" b="1" dirty="0">
                <a:solidFill>
                  <a:srgbClr val="FE09D6"/>
                </a:solidFill>
                <a:latin typeface="Times New Roman" panose="02020603050405020304" charset="0"/>
                <a:ea typeface="楷体" panose="02010609060101010101" charset="-122"/>
              </a:rPr>
              <a:t>系数</a:t>
            </a:r>
            <a:endParaRPr lang="zh-CN" altLang="en-US" sz="2400" b="1" dirty="0">
              <a:solidFill>
                <a:srgbClr val="FE09D6"/>
              </a:solidFill>
              <a:latin typeface="Times New Roman" panose="02020603050405020304" charset="0"/>
              <a:ea typeface="楷体" panose="02010609060101010101" charset="-122"/>
            </a:endParaRPr>
          </a:p>
        </p:txBody>
      </p:sp>
      <p:sp>
        <p:nvSpPr>
          <p:cNvPr id="3" name="Rectangle 9"/>
          <p:cNvSpPr/>
          <p:nvPr/>
        </p:nvSpPr>
        <p:spPr>
          <a:xfrm>
            <a:off x="609600" y="4651375"/>
            <a:ext cx="7772400" cy="1420495"/>
          </a:xfrm>
          <a:prstGeom prst="rect">
            <a:avLst/>
          </a:prstGeom>
          <a:noFill/>
          <a:ln w="9525">
            <a:noFill/>
          </a:ln>
        </p:spPr>
        <p:txBody>
          <a:bodyPr>
            <a:spAutoFit/>
          </a:bodyPr>
          <a:p>
            <a:pPr>
              <a:lnSpc>
                <a:spcPct val="120000"/>
              </a:lnSpc>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    </a:t>
            </a:r>
            <a:r>
              <a:rPr sz="2400" b="1" dirty="0">
                <a:solidFill>
                  <a:srgbClr val="000066"/>
                </a:solidFill>
                <a:latin typeface="Times New Roman" panose="02020603050405020304" charset="0"/>
                <a:ea typeface="楷体" panose="02010609060101010101" charset="-122"/>
                <a:cs typeface="Times New Roman" panose="02020603050405020304" charset="0"/>
              </a:rPr>
              <a:t>温度系数是指在输入不变的情况下，输出模拟电压随温度变化产生的变化量。一般用满刻度输出条件下温度每升高1℃，输出电压变化的百分数作为温度系数。</a:t>
            </a:r>
            <a:endParaRPr sz="2400" b="1" dirty="0">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35174"/>
                                        </p:tgtEl>
                                        <p:attrNameLst>
                                          <p:attrName>style.visibility</p:attrName>
                                        </p:attrNameLst>
                                      </p:cBhvr>
                                      <p:to>
                                        <p:strVal val="visible"/>
                                      </p:to>
                                    </p:set>
                                    <p:animEffect transition="in" filter="checkerboard(across)">
                                      <p:cBhvr>
                                        <p:cTn id="7" dur="500"/>
                                        <p:tgtEl>
                                          <p:spTgt spid="13517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5172">
                                            <p:txEl>
                                              <p:charRg st="0" end="4"/>
                                            </p:txEl>
                                          </p:spTgt>
                                        </p:tgtEl>
                                        <p:attrNameLst>
                                          <p:attrName>style.visibility</p:attrName>
                                        </p:attrNameLst>
                                      </p:cBhvr>
                                      <p:to>
                                        <p:strVal val="visible"/>
                                      </p:to>
                                    </p:set>
                                    <p:animEffect transition="in" filter="dissolve">
                                      <p:cBhvr>
                                        <p:cTn id="12" dur="500"/>
                                        <p:tgtEl>
                                          <p:spTgt spid="135172">
                                            <p:txEl>
                                              <p:charRg st="0"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5172">
                                            <p:txEl>
                                              <p:charRg st="4" end="70"/>
                                            </p:txEl>
                                          </p:spTgt>
                                        </p:tgtEl>
                                        <p:attrNameLst>
                                          <p:attrName>style.visibility</p:attrName>
                                        </p:attrNameLst>
                                      </p:cBhvr>
                                      <p:to>
                                        <p:strVal val="visible"/>
                                      </p:to>
                                    </p:set>
                                    <p:animEffect transition="in" filter="dissolve">
                                      <p:cBhvr>
                                        <p:cTn id="17" dur="500"/>
                                        <p:tgtEl>
                                          <p:spTgt spid="135172">
                                            <p:txEl>
                                              <p:charRg st="4" end="7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dissolve">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2" grpId="0" build="p"/>
      <p:bldP spid="135174" grpId="0"/>
      <p:bldP spid="2" grpId="0"/>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9.2 </a:t>
            </a:r>
            <a:r>
              <a:rPr lang="zh-CN" altLang="en-US" b="1" dirty="0">
                <a:solidFill>
                  <a:srgbClr val="FF0000"/>
                </a:solidFill>
                <a:latin typeface="黑体" panose="02010609060101010101" pitchFamily="49" charset="-122"/>
                <a:ea typeface="黑体" panose="02010609060101010101" pitchFamily="49" charset="-122"/>
              </a:rPr>
              <a:t>D/A转换电路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46" name="Rectangle 2"/>
          <p:cNvSpPr>
            <a:spLocks noGrp="1"/>
          </p:cNvSpPr>
          <p:nvPr>
            <p:ph type="title"/>
          </p:nvPr>
        </p:nvSpPr>
        <p:spPr>
          <a:xfrm>
            <a:off x="914400" y="1143000"/>
            <a:ext cx="8068945" cy="705485"/>
          </a:xfrm>
        </p:spPr>
        <p:txBody>
          <a:bodyPr vert="horz" wrap="square" lIns="91440" tIns="45720" rIns="91440" bIns="45720" anchor="ctr" anchorCtr="0"/>
          <a:p>
            <a:pPr algn="l" eaLnBrk="1" hangingPunct="1"/>
            <a:r>
              <a:rPr lang="en-US" altLang="zh-CN" sz="2400" i="0" dirty="0">
                <a:solidFill>
                  <a:srgbClr val="0070C0"/>
                </a:solidFill>
                <a:latin typeface="黑体" panose="02010609060101010101" pitchFamily="49" charset="-122"/>
                <a:ea typeface="黑体" panose="02010609060101010101" pitchFamily="49" charset="-122"/>
              </a:rPr>
              <a:t>9.2.6 </a:t>
            </a:r>
            <a:r>
              <a:rPr lang="zh-CN" altLang="en-US" sz="2400" i="0" dirty="0">
                <a:solidFill>
                  <a:srgbClr val="0070C0"/>
                </a:solidFill>
                <a:latin typeface="黑体" panose="02010609060101010101" pitchFamily="49" charset="-122"/>
                <a:ea typeface="黑体" panose="02010609060101010101" pitchFamily="49" charset="-122"/>
              </a:rPr>
              <a:t>集成D/A转换器</a:t>
            </a:r>
            <a:endParaRPr lang="zh-CN" altLang="en-US" sz="2400" i="0" dirty="0">
              <a:solidFill>
                <a:srgbClr val="0070C0"/>
              </a:solidFill>
              <a:latin typeface="黑体" panose="02010609060101010101" pitchFamily="49" charset="-122"/>
              <a:ea typeface="黑体" panose="02010609060101010101" pitchFamily="49" charset="-122"/>
            </a:endParaRPr>
          </a:p>
        </p:txBody>
      </p:sp>
      <p:sp>
        <p:nvSpPr>
          <p:cNvPr id="9223" name="Rectangle 17"/>
          <p:cNvSpPr/>
          <p:nvPr/>
        </p:nvSpPr>
        <p:spPr>
          <a:xfrm>
            <a:off x="0" y="2386013"/>
            <a:ext cx="9144000" cy="0"/>
          </a:xfrm>
          <a:prstGeom prst="rect">
            <a:avLst/>
          </a:prstGeom>
          <a:noFill/>
          <a:ln w="9525">
            <a:noFill/>
          </a:ln>
        </p:spPr>
        <p:txBody>
          <a:bodyPr wrap="none" anchor="ctr" anchorCtr="0">
            <a:spAutoFit/>
          </a:bodyPr>
          <a:p>
            <a:endParaRPr lang="zh-CN" altLang="en-US"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75109" name="Text Box 5"/>
          <p:cNvSpPr txBox="1"/>
          <p:nvPr/>
        </p:nvSpPr>
        <p:spPr>
          <a:xfrm>
            <a:off x="746125" y="1905000"/>
            <a:ext cx="4893945" cy="460375"/>
          </a:xfrm>
          <a:prstGeom prst="rect">
            <a:avLst/>
          </a:prstGeom>
          <a:noFill/>
          <a:ln w="9525">
            <a:noFill/>
          </a:ln>
        </p:spPr>
        <p:txBody>
          <a:bodyPr wrap="square">
            <a:spAutoFit/>
          </a:bodyPr>
          <a:p>
            <a:r>
              <a:rPr lang="en-US" altLang="zh-CN" sz="2400" b="1" dirty="0">
                <a:solidFill>
                  <a:srgbClr val="FE09D6"/>
                </a:solidFill>
                <a:latin typeface="Times New Roman" panose="02020603050405020304" charset="0"/>
                <a:ea typeface="楷体" panose="02010609060101010101" charset="-122"/>
              </a:rPr>
              <a:t>1</a:t>
            </a:r>
            <a:r>
              <a:rPr lang="zh-CN" altLang="en-US" sz="2400" b="1" dirty="0">
                <a:solidFill>
                  <a:srgbClr val="FE09D6"/>
                </a:solidFill>
                <a:latin typeface="Times New Roman" panose="02020603050405020304" charset="0"/>
                <a:ea typeface="楷体" panose="02010609060101010101" charset="-122"/>
              </a:rPr>
              <a:t>、集成D/A转换器芯片的选择</a:t>
            </a:r>
            <a:endParaRPr lang="zh-CN" altLang="en-US" sz="2400" b="1" dirty="0">
              <a:solidFill>
                <a:srgbClr val="FE09D6"/>
              </a:solidFill>
              <a:latin typeface="Times New Roman" panose="02020603050405020304" charset="0"/>
              <a:ea typeface="楷体" panose="02010609060101010101" charset="-122"/>
            </a:endParaRPr>
          </a:p>
        </p:txBody>
      </p:sp>
      <p:sp>
        <p:nvSpPr>
          <p:cNvPr id="175110" name="Text Box 6"/>
          <p:cNvSpPr txBox="1"/>
          <p:nvPr/>
        </p:nvSpPr>
        <p:spPr>
          <a:xfrm>
            <a:off x="914083" y="2517775"/>
            <a:ext cx="7561262" cy="570865"/>
          </a:xfrm>
          <a:prstGeom prst="rect">
            <a:avLst/>
          </a:prstGeom>
          <a:noFill/>
          <a:ln w="9525">
            <a:noFill/>
          </a:ln>
        </p:spPr>
        <p:txBody>
          <a:bodyPr>
            <a:spAutoFit/>
          </a:bodyPr>
          <a:p>
            <a:pPr>
              <a:lnSpc>
                <a:spcPct val="130000"/>
              </a:lnSpc>
            </a:pPr>
            <a:r>
              <a:rPr lang="zh-CN" sz="24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1</a:t>
            </a:r>
            <a:r>
              <a:rPr lang="zh-CN" sz="2400" b="1" dirty="0">
                <a:solidFill>
                  <a:srgbClr val="000066"/>
                </a:solidFill>
                <a:latin typeface="Times New Roman" panose="02020603050405020304" charset="0"/>
                <a:ea typeface="楷体" panose="02010609060101010101" charset="-122"/>
                <a:cs typeface="Times New Roman" panose="02020603050405020304" charset="0"/>
              </a:rPr>
              <a:t>）</a:t>
            </a:r>
            <a:r>
              <a:rPr sz="2400" b="1" dirty="0">
                <a:solidFill>
                  <a:srgbClr val="000066"/>
                </a:solidFill>
                <a:latin typeface="Times New Roman" panose="02020603050405020304" charset="0"/>
                <a:ea typeface="楷体" panose="02010609060101010101" charset="-122"/>
                <a:cs typeface="Times New Roman" panose="02020603050405020304" charset="0"/>
              </a:rPr>
              <a:t>D/A转换器的转换精度。</a:t>
            </a:r>
            <a:endParaRPr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2" name="Text Box 6"/>
          <p:cNvSpPr txBox="1"/>
          <p:nvPr/>
        </p:nvSpPr>
        <p:spPr>
          <a:xfrm>
            <a:off x="914083" y="3070225"/>
            <a:ext cx="7561262" cy="570865"/>
          </a:xfrm>
          <a:prstGeom prst="rect">
            <a:avLst/>
          </a:prstGeom>
          <a:noFill/>
          <a:ln w="9525">
            <a:noFill/>
          </a:ln>
        </p:spPr>
        <p:txBody>
          <a:bodyPr>
            <a:spAutoFit/>
          </a:bodyPr>
          <a:p>
            <a:pPr>
              <a:lnSpc>
                <a:spcPct val="130000"/>
              </a:lnSpc>
            </a:pPr>
            <a:r>
              <a:rPr lang="zh-CN" sz="24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2</a:t>
            </a:r>
            <a:r>
              <a:rPr lang="zh-CN" sz="2400" b="1" dirty="0">
                <a:solidFill>
                  <a:srgbClr val="000066"/>
                </a:solidFill>
                <a:latin typeface="Times New Roman" panose="02020603050405020304" charset="0"/>
                <a:ea typeface="楷体" panose="02010609060101010101" charset="-122"/>
                <a:cs typeface="Times New Roman" panose="02020603050405020304" charset="0"/>
              </a:rPr>
              <a:t>）</a:t>
            </a:r>
            <a:r>
              <a:rPr lang="en-US" sz="2400" b="1">
                <a:solidFill>
                  <a:srgbClr val="000066"/>
                </a:solidFill>
                <a:latin typeface="Times New Roman" panose="02020603050405020304" charset="0"/>
                <a:ea typeface="楷体" panose="02010609060101010101" charset="-122"/>
                <a:cs typeface="Times New Roman" panose="02020603050405020304" charset="0"/>
                <a:sym typeface="+mn-ea"/>
              </a:rPr>
              <a:t>D/A</a:t>
            </a:r>
            <a:r>
              <a:rPr lang="zh-CN" sz="2400" b="1">
                <a:solidFill>
                  <a:srgbClr val="000066"/>
                </a:solidFill>
                <a:latin typeface="Times New Roman" panose="02020603050405020304" charset="0"/>
                <a:ea typeface="楷体" panose="02010609060101010101" charset="-122"/>
                <a:cs typeface="Times New Roman" panose="02020603050405020304" charset="0"/>
                <a:sym typeface="+mn-ea"/>
              </a:rPr>
              <a:t>转换器的转换速度</a:t>
            </a:r>
            <a:endParaRPr lang="zh-CN" sz="2400" b="1" dirty="0">
              <a:solidFill>
                <a:srgbClr val="000066"/>
              </a:solidFill>
              <a:latin typeface="Times New Roman" panose="02020603050405020304" charset="0"/>
              <a:ea typeface="楷体" panose="02010609060101010101" charset="-122"/>
              <a:cs typeface="Times New Roman" panose="02020603050405020304" charset="0"/>
              <a:sym typeface="+mn-ea"/>
            </a:endParaRPr>
          </a:p>
        </p:txBody>
      </p:sp>
      <p:sp>
        <p:nvSpPr>
          <p:cNvPr id="3" name="Text Box 6"/>
          <p:cNvSpPr txBox="1"/>
          <p:nvPr/>
        </p:nvSpPr>
        <p:spPr>
          <a:xfrm>
            <a:off x="914083" y="3622675"/>
            <a:ext cx="7561262" cy="570865"/>
          </a:xfrm>
          <a:prstGeom prst="rect">
            <a:avLst/>
          </a:prstGeom>
          <a:noFill/>
          <a:ln w="9525">
            <a:noFill/>
          </a:ln>
        </p:spPr>
        <p:txBody>
          <a:bodyPr>
            <a:spAutoFit/>
          </a:bodyPr>
          <a:p>
            <a:pPr>
              <a:lnSpc>
                <a:spcPct val="130000"/>
              </a:lnSpc>
            </a:pPr>
            <a:r>
              <a:rPr lang="zh-CN" sz="24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3</a:t>
            </a:r>
            <a:r>
              <a:rPr lang="zh-CN" sz="2400" b="1" dirty="0">
                <a:solidFill>
                  <a:srgbClr val="000066"/>
                </a:solidFill>
                <a:latin typeface="Times New Roman" panose="02020603050405020304" charset="0"/>
                <a:ea typeface="楷体" panose="02010609060101010101" charset="-122"/>
                <a:cs typeface="Times New Roman" panose="02020603050405020304" charset="0"/>
              </a:rPr>
              <a:t>）</a:t>
            </a:r>
            <a:r>
              <a:rPr sz="2400" b="1" dirty="0">
                <a:solidFill>
                  <a:srgbClr val="000066"/>
                </a:solidFill>
                <a:latin typeface="Times New Roman" panose="02020603050405020304" charset="0"/>
                <a:ea typeface="楷体" panose="02010609060101010101" charset="-122"/>
                <a:cs typeface="Times New Roman" panose="02020603050405020304" charset="0"/>
              </a:rPr>
              <a:t>输入数字量的特征。</a:t>
            </a:r>
            <a:endParaRPr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4" name="Text Box 6"/>
          <p:cNvSpPr txBox="1"/>
          <p:nvPr/>
        </p:nvSpPr>
        <p:spPr>
          <a:xfrm>
            <a:off x="914083" y="4175125"/>
            <a:ext cx="7561262" cy="570865"/>
          </a:xfrm>
          <a:prstGeom prst="rect">
            <a:avLst/>
          </a:prstGeom>
          <a:noFill/>
          <a:ln w="9525">
            <a:noFill/>
          </a:ln>
        </p:spPr>
        <p:txBody>
          <a:bodyPr>
            <a:spAutoFit/>
          </a:bodyPr>
          <a:p>
            <a:pPr>
              <a:lnSpc>
                <a:spcPct val="130000"/>
              </a:lnSpc>
            </a:pPr>
            <a:r>
              <a:rPr lang="zh-CN" sz="24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4</a:t>
            </a:r>
            <a:r>
              <a:rPr lang="zh-CN" sz="2400" b="1" dirty="0">
                <a:solidFill>
                  <a:srgbClr val="000066"/>
                </a:solidFill>
                <a:latin typeface="Times New Roman" panose="02020603050405020304" charset="0"/>
                <a:ea typeface="楷体" panose="02010609060101010101" charset="-122"/>
                <a:cs typeface="Times New Roman" panose="02020603050405020304" charset="0"/>
              </a:rPr>
              <a:t>）</a:t>
            </a:r>
            <a:r>
              <a:rPr sz="2400" b="1" dirty="0">
                <a:solidFill>
                  <a:srgbClr val="000066"/>
                </a:solidFill>
                <a:latin typeface="Times New Roman" panose="02020603050405020304" charset="0"/>
                <a:ea typeface="楷体" panose="02010609060101010101" charset="-122"/>
                <a:cs typeface="Times New Roman" panose="02020603050405020304" charset="0"/>
              </a:rPr>
              <a:t>输出模拟量的特征。</a:t>
            </a:r>
            <a:endParaRPr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5" name="Text Box 6"/>
          <p:cNvSpPr txBox="1"/>
          <p:nvPr/>
        </p:nvSpPr>
        <p:spPr>
          <a:xfrm>
            <a:off x="914083" y="4727575"/>
            <a:ext cx="7561262" cy="570865"/>
          </a:xfrm>
          <a:prstGeom prst="rect">
            <a:avLst/>
          </a:prstGeom>
          <a:noFill/>
          <a:ln w="9525">
            <a:noFill/>
          </a:ln>
        </p:spPr>
        <p:txBody>
          <a:bodyPr>
            <a:spAutoFit/>
          </a:bodyPr>
          <a:p>
            <a:pPr>
              <a:lnSpc>
                <a:spcPct val="130000"/>
              </a:lnSpc>
            </a:pPr>
            <a:r>
              <a:rPr lang="zh-CN" sz="24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5</a:t>
            </a:r>
            <a:r>
              <a:rPr lang="zh-CN" sz="2400" b="1" dirty="0">
                <a:solidFill>
                  <a:srgbClr val="000066"/>
                </a:solidFill>
                <a:latin typeface="Times New Roman" panose="02020603050405020304" charset="0"/>
                <a:ea typeface="楷体" panose="02010609060101010101" charset="-122"/>
                <a:cs typeface="Times New Roman" panose="02020603050405020304" charset="0"/>
              </a:rPr>
              <a:t>）</a:t>
            </a:r>
            <a:r>
              <a:rPr sz="2400" b="1" dirty="0">
                <a:solidFill>
                  <a:srgbClr val="000066"/>
                </a:solidFill>
                <a:latin typeface="Times New Roman" panose="02020603050405020304" charset="0"/>
                <a:ea typeface="楷体" panose="02010609060101010101" charset="-122"/>
                <a:cs typeface="Times New Roman" panose="02020603050405020304" charset="0"/>
              </a:rPr>
              <a:t>工作环境要求。</a:t>
            </a:r>
            <a:endParaRPr sz="2400" b="1" dirty="0">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5109"/>
                                        </p:tgtEl>
                                        <p:attrNameLst>
                                          <p:attrName>style.visibility</p:attrName>
                                        </p:attrNameLst>
                                      </p:cBhvr>
                                      <p:to>
                                        <p:strVal val="visible"/>
                                      </p:to>
                                    </p:set>
                                    <p:animEffect transition="in" filter="blinds(horizontal)">
                                      <p:cBhvr>
                                        <p:cTn id="7" dur="500"/>
                                        <p:tgtEl>
                                          <p:spTgt spid="17510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75110"/>
                                        </p:tgtEl>
                                        <p:attrNameLst>
                                          <p:attrName>style.visibility</p:attrName>
                                        </p:attrNameLst>
                                      </p:cBhvr>
                                      <p:to>
                                        <p:strVal val="visible"/>
                                      </p:to>
                                    </p:set>
                                    <p:animEffect transition="in" filter="checkerboard(across)">
                                      <p:cBhvr>
                                        <p:cTn id="12" dur="500"/>
                                        <p:tgtEl>
                                          <p:spTgt spid="175110"/>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checkerboard(across)">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checkerboard(across)">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checkerboard(across)">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checkerboard(across)">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09" grpId="0"/>
      <p:bldP spid="175110" grpId="0"/>
      <p:bldP spid="2" grpId="0"/>
      <p:bldP spid="3" grpId="0"/>
      <p:bldP spid="4" grpId="0"/>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9.2 </a:t>
            </a:r>
            <a:r>
              <a:rPr lang="zh-CN" altLang="en-US" b="1" dirty="0">
                <a:solidFill>
                  <a:srgbClr val="FF0000"/>
                </a:solidFill>
                <a:latin typeface="黑体" panose="02010609060101010101" pitchFamily="49" charset="-122"/>
                <a:ea typeface="黑体" panose="02010609060101010101" pitchFamily="49" charset="-122"/>
              </a:rPr>
              <a:t>D/A转换电路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9223" name="Rectangle 17"/>
          <p:cNvSpPr/>
          <p:nvPr/>
        </p:nvSpPr>
        <p:spPr>
          <a:xfrm>
            <a:off x="0" y="2386013"/>
            <a:ext cx="9144000" cy="0"/>
          </a:xfrm>
          <a:prstGeom prst="rect">
            <a:avLst/>
          </a:prstGeom>
          <a:noFill/>
          <a:ln w="9525">
            <a:noFill/>
          </a:ln>
        </p:spPr>
        <p:txBody>
          <a:bodyPr wrap="none" anchor="ctr" anchorCtr="0">
            <a:spAutoFit/>
          </a:bodyPr>
          <a:p>
            <a:endParaRPr lang="zh-CN" altLang="en-US"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175109" name="Text Box 5"/>
          <p:cNvSpPr txBox="1"/>
          <p:nvPr/>
        </p:nvSpPr>
        <p:spPr>
          <a:xfrm>
            <a:off x="762000" y="1295400"/>
            <a:ext cx="4893945" cy="460375"/>
          </a:xfrm>
          <a:prstGeom prst="rect">
            <a:avLst/>
          </a:prstGeom>
          <a:noFill/>
          <a:ln w="9525">
            <a:noFill/>
          </a:ln>
        </p:spPr>
        <p:txBody>
          <a:bodyPr wrap="square">
            <a:spAutoFit/>
          </a:bodyPr>
          <a:p>
            <a:r>
              <a:rPr lang="zh-CN" altLang="en-US" sz="2400" b="1" dirty="0">
                <a:solidFill>
                  <a:srgbClr val="FE09D6"/>
                </a:solidFill>
                <a:latin typeface="Times New Roman" panose="02020603050405020304" charset="0"/>
                <a:ea typeface="楷体" panose="02010609060101010101" charset="-122"/>
              </a:rPr>
              <a:t>2.集成D/A转换器芯片</a:t>
            </a:r>
            <a:endParaRPr lang="zh-CN" altLang="en-US" sz="2400" b="1" dirty="0">
              <a:solidFill>
                <a:srgbClr val="FE09D6"/>
              </a:solidFill>
              <a:latin typeface="Times New Roman" panose="02020603050405020304" charset="0"/>
              <a:ea typeface="楷体" panose="02010609060101010101" charset="-122"/>
            </a:endParaRPr>
          </a:p>
        </p:txBody>
      </p:sp>
      <p:sp>
        <p:nvSpPr>
          <p:cNvPr id="175110" name="Text Box 6"/>
          <p:cNvSpPr txBox="1"/>
          <p:nvPr/>
        </p:nvSpPr>
        <p:spPr>
          <a:xfrm>
            <a:off x="791845" y="1828800"/>
            <a:ext cx="7975600" cy="570865"/>
          </a:xfrm>
          <a:prstGeom prst="rect">
            <a:avLst/>
          </a:prstGeom>
          <a:noFill/>
          <a:ln w="9525">
            <a:noFill/>
          </a:ln>
        </p:spPr>
        <p:txBody>
          <a:bodyPr wrap="square">
            <a:spAutoFit/>
          </a:bodyPr>
          <a:p>
            <a:pPr>
              <a:lnSpc>
                <a:spcPct val="130000"/>
              </a:lnSpc>
            </a:pPr>
            <a:r>
              <a:rPr lang="zh-CN" sz="24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1</a:t>
            </a:r>
            <a:r>
              <a:rPr lang="zh-CN" sz="2400" b="1" dirty="0">
                <a:solidFill>
                  <a:srgbClr val="000066"/>
                </a:solidFill>
                <a:latin typeface="Times New Roman" panose="02020603050405020304" charset="0"/>
                <a:ea typeface="楷体" panose="02010609060101010101" charset="-122"/>
                <a:cs typeface="Times New Roman" panose="02020603050405020304" charset="0"/>
              </a:rPr>
              <a:t>）</a:t>
            </a:r>
            <a:r>
              <a:rPr sz="2400" b="1" dirty="0">
                <a:solidFill>
                  <a:srgbClr val="000066"/>
                </a:solidFill>
                <a:latin typeface="Times New Roman" panose="02020603050405020304" charset="0"/>
                <a:ea typeface="楷体" panose="02010609060101010101" charset="-122"/>
                <a:cs typeface="Times New Roman" panose="02020603050405020304" charset="0"/>
              </a:rPr>
              <a:t>内部只包含电阻网络（或恒流源电路）和模拟开关</a:t>
            </a:r>
            <a:endParaRPr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2" name="Text Box 6"/>
          <p:cNvSpPr txBox="1"/>
          <p:nvPr/>
        </p:nvSpPr>
        <p:spPr>
          <a:xfrm>
            <a:off x="791845" y="2372360"/>
            <a:ext cx="8246745" cy="570865"/>
          </a:xfrm>
          <a:prstGeom prst="rect">
            <a:avLst/>
          </a:prstGeom>
          <a:noFill/>
          <a:ln w="9525">
            <a:noFill/>
          </a:ln>
        </p:spPr>
        <p:txBody>
          <a:bodyPr wrap="square">
            <a:spAutoFit/>
          </a:bodyPr>
          <a:p>
            <a:pPr>
              <a:lnSpc>
                <a:spcPct val="130000"/>
              </a:lnSpc>
            </a:pPr>
            <a:r>
              <a:rPr lang="zh-CN" sz="2400" b="1" dirty="0">
                <a:solidFill>
                  <a:srgbClr val="000066"/>
                </a:solidFill>
                <a:latin typeface="Times New Roman" panose="02020603050405020304" charset="0"/>
                <a:ea typeface="楷体" panose="02010609060101010101" charset="-122"/>
                <a:cs typeface="Times New Roman" panose="02020603050405020304" charset="0"/>
              </a:rPr>
              <a:t>（</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rPr>
              <a:t>2</a:t>
            </a:r>
            <a:r>
              <a:rPr lang="zh-CN" sz="2400" b="1" dirty="0">
                <a:solidFill>
                  <a:srgbClr val="000066"/>
                </a:solidFill>
                <a:latin typeface="Times New Roman" panose="02020603050405020304" charset="0"/>
                <a:ea typeface="楷体" panose="02010609060101010101" charset="-122"/>
                <a:cs typeface="Times New Roman" panose="02020603050405020304" charset="0"/>
              </a:rPr>
              <a:t>）</a:t>
            </a:r>
            <a:r>
              <a:rPr sz="2400" b="1" dirty="0">
                <a:solidFill>
                  <a:srgbClr val="000066"/>
                </a:solidFill>
                <a:latin typeface="Times New Roman" panose="02020603050405020304" charset="0"/>
                <a:ea typeface="楷体" panose="02010609060101010101" charset="-122"/>
                <a:cs typeface="Times New Roman" panose="02020603050405020304" charset="0"/>
                <a:sym typeface="+mn-ea"/>
              </a:rPr>
              <a:t>内部包含了运算放大器以及参考电压源的发生电路</a:t>
            </a:r>
            <a:endParaRPr lang="zh-CN" sz="2400" b="1" dirty="0">
              <a:solidFill>
                <a:srgbClr val="000066"/>
              </a:solidFill>
              <a:latin typeface="Times New Roman" panose="02020603050405020304" charset="0"/>
              <a:ea typeface="楷体" panose="02010609060101010101" charset="-122"/>
              <a:cs typeface="Times New Roman" panose="02020603050405020304" charset="0"/>
              <a:sym typeface="+mn-ea"/>
            </a:endParaRPr>
          </a:p>
        </p:txBody>
      </p:sp>
      <p:sp>
        <p:nvSpPr>
          <p:cNvPr id="3" name="Text Box 6"/>
          <p:cNvSpPr txBox="1"/>
          <p:nvPr/>
        </p:nvSpPr>
        <p:spPr>
          <a:xfrm>
            <a:off x="685483" y="4114800"/>
            <a:ext cx="7561262" cy="1529715"/>
          </a:xfrm>
          <a:prstGeom prst="rect">
            <a:avLst/>
          </a:prstGeom>
          <a:noFill/>
          <a:ln w="9525">
            <a:noFill/>
          </a:ln>
        </p:spPr>
        <p:txBody>
          <a:bodyPr>
            <a:spAutoFit/>
          </a:bodyPr>
          <a:p>
            <a:pPr>
              <a:lnSpc>
                <a:spcPct val="130000"/>
              </a:lnSpc>
            </a:pPr>
            <a:r>
              <a:rPr lang="en-US" sz="2400" b="1" dirty="0">
                <a:solidFill>
                  <a:srgbClr val="000066"/>
                </a:solidFill>
                <a:latin typeface="Times New Roman" panose="02020603050405020304" charset="0"/>
                <a:ea typeface="楷体" panose="02010609060101010101" charset="-122"/>
                <a:cs typeface="Times New Roman" panose="02020603050405020304" charset="0"/>
              </a:rPr>
              <a:t>         </a:t>
            </a:r>
            <a:r>
              <a:rPr sz="2400" b="1" dirty="0">
                <a:solidFill>
                  <a:srgbClr val="000066"/>
                </a:solidFill>
                <a:latin typeface="Times New Roman" panose="02020603050405020304" charset="0"/>
                <a:ea typeface="楷体" panose="02010609060101010101" charset="-122"/>
                <a:cs typeface="Times New Roman" panose="02020603050405020304" charset="0"/>
              </a:rPr>
              <a:t>DAC0808是一种常用的8位权电流网络D/A转换器。它具有功耗低（350mW)、转换速度快(150ns)、价格低及使用方便等特点。</a:t>
            </a:r>
            <a:endParaRPr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7" name="文本框 6"/>
          <p:cNvSpPr txBox="1"/>
          <p:nvPr/>
        </p:nvSpPr>
        <p:spPr>
          <a:xfrm>
            <a:off x="533400" y="3352800"/>
            <a:ext cx="1809115" cy="460375"/>
          </a:xfrm>
          <a:prstGeom prst="rect">
            <a:avLst/>
          </a:prstGeom>
          <a:noFill/>
        </p:spPr>
        <p:txBody>
          <a:bodyPr wrap="none" rtlCol="0" anchor="t">
            <a:spAutoFit/>
          </a:bodyPr>
          <a:p>
            <a:pPr algn="l"/>
            <a:r>
              <a:rPr lang="zh-CN" altLang="en-US" sz="2400" b="1" dirty="0">
                <a:solidFill>
                  <a:srgbClr val="1318F3"/>
                </a:solidFill>
                <a:latin typeface="Times New Roman" panose="02020603050405020304" charset="0"/>
                <a:ea typeface="楷体" panose="02010609060101010101" charset="-122"/>
                <a:cs typeface="Times New Roman" panose="02020603050405020304" charset="0"/>
                <a:sym typeface="+mn-ea"/>
              </a:rPr>
              <a:t>(1)DAC0808</a:t>
            </a:r>
            <a:endParaRPr lang="zh-CN" altLang="en-US" sz="2400" b="1" dirty="0">
              <a:solidFill>
                <a:srgbClr val="1318F3"/>
              </a:solidFill>
              <a:latin typeface="Times New Roman" panose="02020603050405020304" charset="0"/>
              <a:ea typeface="楷体" panose="02010609060101010101"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5109"/>
                                        </p:tgtEl>
                                        <p:attrNameLst>
                                          <p:attrName>style.visibility</p:attrName>
                                        </p:attrNameLst>
                                      </p:cBhvr>
                                      <p:to>
                                        <p:strVal val="visible"/>
                                      </p:to>
                                    </p:set>
                                    <p:animEffect transition="in" filter="blinds(horizontal)">
                                      <p:cBhvr>
                                        <p:cTn id="7" dur="500"/>
                                        <p:tgtEl>
                                          <p:spTgt spid="17510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75110"/>
                                        </p:tgtEl>
                                        <p:attrNameLst>
                                          <p:attrName>style.visibility</p:attrName>
                                        </p:attrNameLst>
                                      </p:cBhvr>
                                      <p:to>
                                        <p:strVal val="visible"/>
                                      </p:to>
                                    </p:set>
                                    <p:animEffect transition="in" filter="checkerboard(across)">
                                      <p:cBhvr>
                                        <p:cTn id="12" dur="500"/>
                                        <p:tgtEl>
                                          <p:spTgt spid="175110"/>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checkerboard(across)">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checkerboard(across)">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09" grpId="0"/>
      <p:bldP spid="175110" grpId="0"/>
      <p:bldP spid="2" grpId="0"/>
      <p:bldP spid="3" grpId="0"/>
      <p:bldP spid="7" grpId="0"/>
      <p:bldP spid="7"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 name="文本框 85"/>
          <p:cNvSpPr txBox="1"/>
          <p:nvPr/>
        </p:nvSpPr>
        <p:spPr>
          <a:xfrm>
            <a:off x="-8890" y="5935980"/>
            <a:ext cx="9162000" cy="922020"/>
          </a:xfrm>
          <a:prstGeom prst="rect">
            <a:avLst/>
          </a:prstGeom>
          <a:solidFill>
            <a:schemeClr val="bg1"/>
          </a:solidFill>
        </p:spPr>
        <p:txBody>
          <a:bodyPr wrap="square" rtlCol="0">
            <a:spAutoFit/>
          </a:bodyPr>
          <a:p>
            <a:endParaRPr lang="zh-CN" altLang="en-US"/>
          </a:p>
          <a:p>
            <a:endParaRPr lang="zh-CN" altLang="en-US"/>
          </a:p>
          <a:p>
            <a:endParaRPr lang="zh-CN" altLang="en-US"/>
          </a:p>
        </p:txBody>
      </p:sp>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9.2 </a:t>
            </a:r>
            <a:r>
              <a:rPr lang="zh-CN" altLang="en-US" b="1" dirty="0">
                <a:solidFill>
                  <a:srgbClr val="FF0000"/>
                </a:solidFill>
                <a:latin typeface="黑体" panose="02010609060101010101" pitchFamily="49" charset="-122"/>
                <a:ea typeface="黑体" panose="02010609060101010101" pitchFamily="49" charset="-122"/>
              </a:rPr>
              <a:t>D/A转换电路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9223" name="Rectangle 17"/>
          <p:cNvSpPr/>
          <p:nvPr/>
        </p:nvSpPr>
        <p:spPr>
          <a:xfrm>
            <a:off x="0" y="2386013"/>
            <a:ext cx="9144000" cy="0"/>
          </a:xfrm>
          <a:prstGeom prst="rect">
            <a:avLst/>
          </a:prstGeom>
          <a:noFill/>
          <a:ln w="9525">
            <a:noFill/>
          </a:ln>
        </p:spPr>
        <p:txBody>
          <a:bodyPr wrap="none" anchor="ctr" anchorCtr="0">
            <a:spAutoFit/>
          </a:bodyPr>
          <a:p>
            <a:endParaRPr lang="zh-CN" altLang="en-US" dirty="0">
              <a:solidFill>
                <a:srgbClr val="000066"/>
              </a:solidFill>
              <a:latin typeface="Times New Roman" panose="02020603050405020304" charset="0"/>
              <a:ea typeface="楷体" panose="02010609060101010101" charset="-122"/>
              <a:cs typeface="Times New Roman" panose="02020603050405020304" charset="0"/>
            </a:endParaRPr>
          </a:p>
        </p:txBody>
      </p:sp>
      <p:pic>
        <p:nvPicPr>
          <p:cNvPr id="4" name="图片 3"/>
          <p:cNvPicPr>
            <a:picLocks noChangeAspect="1"/>
          </p:cNvPicPr>
          <p:nvPr/>
        </p:nvPicPr>
        <p:blipFill>
          <a:blip r:embed="rId1"/>
          <a:stretch>
            <a:fillRect/>
          </a:stretch>
        </p:blipFill>
        <p:spPr>
          <a:xfrm>
            <a:off x="546735" y="1291590"/>
            <a:ext cx="3566160" cy="3053715"/>
          </a:xfrm>
          <a:prstGeom prst="rect">
            <a:avLst/>
          </a:prstGeom>
        </p:spPr>
      </p:pic>
      <p:pic>
        <p:nvPicPr>
          <p:cNvPr id="5" name="图片 4"/>
          <p:cNvPicPr>
            <a:picLocks noChangeAspect="1"/>
          </p:cNvPicPr>
          <p:nvPr/>
        </p:nvPicPr>
        <p:blipFill>
          <a:blip r:embed="rId2"/>
          <a:stretch>
            <a:fillRect/>
          </a:stretch>
        </p:blipFill>
        <p:spPr>
          <a:xfrm>
            <a:off x="4800600" y="1358265"/>
            <a:ext cx="3609975" cy="2990850"/>
          </a:xfrm>
          <a:prstGeom prst="rect">
            <a:avLst/>
          </a:prstGeom>
        </p:spPr>
      </p:pic>
      <p:sp>
        <p:nvSpPr>
          <p:cNvPr id="100" name="文本框 99"/>
          <p:cNvSpPr txBox="1"/>
          <p:nvPr/>
        </p:nvSpPr>
        <p:spPr>
          <a:xfrm>
            <a:off x="1524000" y="4419600"/>
            <a:ext cx="1933575" cy="306705"/>
          </a:xfrm>
          <a:prstGeom prst="rect">
            <a:avLst/>
          </a:prstGeom>
          <a:noFill/>
          <a:ln w="9525">
            <a:noFill/>
          </a:ln>
        </p:spPr>
        <p:txBody>
          <a:bodyPr wrap="square">
            <a:spAutoFit/>
          </a:bodyPr>
          <a:p>
            <a:r>
              <a:rPr lang="en-US" sz="1400" b="1">
                <a:latin typeface="Times New Roman" panose="02020603050405020304" charset="0"/>
              </a:rPr>
              <a:t>DAC0808</a:t>
            </a:r>
            <a:r>
              <a:rPr lang="zh-CN" sz="1400" b="1">
                <a:ea typeface="宋体" panose="02010600030101010101" pitchFamily="2" charset="-122"/>
              </a:rPr>
              <a:t>电路结构图</a:t>
            </a:r>
            <a:endParaRPr lang="zh-CN" altLang="en-US" sz="1400" b="1">
              <a:ea typeface="宋体" panose="02010600030101010101" pitchFamily="2" charset="-122"/>
            </a:endParaRPr>
          </a:p>
        </p:txBody>
      </p:sp>
      <p:sp>
        <p:nvSpPr>
          <p:cNvPr id="6" name="文本框 5"/>
          <p:cNvSpPr txBox="1"/>
          <p:nvPr/>
        </p:nvSpPr>
        <p:spPr>
          <a:xfrm>
            <a:off x="5638800" y="4419600"/>
            <a:ext cx="1985645" cy="306705"/>
          </a:xfrm>
          <a:prstGeom prst="rect">
            <a:avLst/>
          </a:prstGeom>
          <a:noFill/>
          <a:ln w="9525">
            <a:noFill/>
          </a:ln>
        </p:spPr>
        <p:txBody>
          <a:bodyPr wrap="square">
            <a:spAutoFit/>
          </a:bodyPr>
          <a:p>
            <a:r>
              <a:rPr lang="en-US" sz="1400" b="1">
                <a:latin typeface="宋体" panose="02010600030101010101" pitchFamily="2" charset="-122"/>
              </a:rPr>
              <a:t> </a:t>
            </a:r>
            <a:r>
              <a:rPr lang="en-US" sz="1400" b="1">
                <a:latin typeface="Times New Roman" panose="02020603050405020304" charset="0"/>
              </a:rPr>
              <a:t>DAC0808</a:t>
            </a:r>
            <a:r>
              <a:rPr lang="zh-CN" sz="1400" b="1">
                <a:ea typeface="宋体" panose="02010600030101010101" pitchFamily="2" charset="-122"/>
              </a:rPr>
              <a:t>的典型应用</a:t>
            </a:r>
            <a:endParaRPr lang="zh-CN" altLang="en-US" sz="1400" b="1">
              <a:ea typeface="宋体" panose="02010600030101010101" pitchFamily="2" charset="-122"/>
            </a:endParaRPr>
          </a:p>
        </p:txBody>
      </p:sp>
      <p:sp>
        <p:nvSpPr>
          <p:cNvPr id="8" name="文本框 7"/>
          <p:cNvSpPr txBox="1"/>
          <p:nvPr/>
        </p:nvSpPr>
        <p:spPr>
          <a:xfrm>
            <a:off x="546735" y="4800600"/>
            <a:ext cx="8050530" cy="460375"/>
          </a:xfrm>
          <a:prstGeom prst="rect">
            <a:avLst/>
          </a:prstGeom>
          <a:noFill/>
          <a:ln w="9525">
            <a:noFill/>
          </a:ln>
        </p:spPr>
        <p:txBody>
          <a:bodyPr wrap="square">
            <a:spAutoFit/>
          </a:bodyPr>
          <a:p>
            <a:pPr indent="266700"/>
            <a:r>
              <a:rPr lang="zh-CN" sz="2400" b="1">
                <a:solidFill>
                  <a:srgbClr val="000066"/>
                </a:solidFill>
                <a:latin typeface="Times New Roman" panose="02020603050405020304" charset="0"/>
                <a:ea typeface="楷体" panose="02010609060101010101" charset="-122"/>
                <a:cs typeface="Times New Roman" panose="02020603050405020304" charset="0"/>
              </a:rPr>
              <a:t>在</a:t>
            </a:r>
            <a:r>
              <a:rPr lang="en-US" sz="2400" b="1" i="1">
                <a:solidFill>
                  <a:srgbClr val="000066"/>
                </a:solidFill>
                <a:latin typeface="Times New Roman" panose="02020603050405020304" charset="0"/>
                <a:ea typeface="楷体" panose="02010609060101010101" charset="-122"/>
                <a:cs typeface="Times New Roman" panose="02020603050405020304" charset="0"/>
              </a:rPr>
              <a:t>V</a:t>
            </a:r>
            <a:r>
              <a:rPr lang="en-US" sz="2400" b="1" baseline="-25000">
                <a:solidFill>
                  <a:srgbClr val="000066"/>
                </a:solidFill>
                <a:latin typeface="Times New Roman" panose="02020603050405020304" charset="0"/>
                <a:ea typeface="楷体" panose="02010609060101010101" charset="-122"/>
                <a:cs typeface="Times New Roman" panose="02020603050405020304" charset="0"/>
              </a:rPr>
              <a:t>REF</a:t>
            </a:r>
            <a:r>
              <a:rPr lang="en-US" sz="2400" b="1">
                <a:solidFill>
                  <a:srgbClr val="000066"/>
                </a:solidFill>
                <a:latin typeface="Times New Roman" panose="02020603050405020304" charset="0"/>
                <a:ea typeface="楷体" panose="02010609060101010101" charset="-122"/>
                <a:cs typeface="Times New Roman" panose="02020603050405020304" charset="0"/>
              </a:rPr>
              <a:t>=10V</a:t>
            </a:r>
            <a:r>
              <a:rPr lang="zh-CN" sz="2400" b="1">
                <a:solidFill>
                  <a:srgbClr val="000066"/>
                </a:solidFill>
                <a:latin typeface="Times New Roman" panose="02020603050405020304" charset="0"/>
                <a:ea typeface="楷体" panose="02010609060101010101" charset="-122"/>
                <a:cs typeface="Times New Roman" panose="02020603050405020304" charset="0"/>
              </a:rPr>
              <a:t>、</a:t>
            </a:r>
            <a:r>
              <a:rPr lang="en-US" sz="2400" b="1" i="1">
                <a:solidFill>
                  <a:srgbClr val="000066"/>
                </a:solidFill>
                <a:latin typeface="Times New Roman" panose="02020603050405020304" charset="0"/>
                <a:ea typeface="楷体" panose="02010609060101010101" charset="-122"/>
                <a:cs typeface="Times New Roman" panose="02020603050405020304" charset="0"/>
              </a:rPr>
              <a:t>R</a:t>
            </a:r>
            <a:r>
              <a:rPr lang="en-US" sz="2400" b="1" baseline="-25000">
                <a:solidFill>
                  <a:srgbClr val="000066"/>
                </a:solidFill>
                <a:latin typeface="Times New Roman" panose="02020603050405020304" charset="0"/>
                <a:ea typeface="楷体" panose="02010609060101010101" charset="-122"/>
                <a:cs typeface="Times New Roman" panose="02020603050405020304" charset="0"/>
              </a:rPr>
              <a:t>1</a:t>
            </a:r>
            <a:r>
              <a:rPr lang="en-US" sz="2400" b="1">
                <a:solidFill>
                  <a:srgbClr val="000066"/>
                </a:solidFill>
                <a:latin typeface="Times New Roman" panose="02020603050405020304" charset="0"/>
                <a:ea typeface="楷体" panose="02010609060101010101" charset="-122"/>
                <a:cs typeface="Times New Roman" panose="02020603050405020304" charset="0"/>
              </a:rPr>
              <a:t>=5kΩ</a:t>
            </a:r>
            <a:r>
              <a:rPr lang="zh-CN" sz="2400" b="1">
                <a:solidFill>
                  <a:srgbClr val="000066"/>
                </a:solidFill>
                <a:latin typeface="Times New Roman" panose="02020603050405020304" charset="0"/>
                <a:ea typeface="楷体" panose="02010609060101010101" charset="-122"/>
                <a:cs typeface="Times New Roman" panose="02020603050405020304" charset="0"/>
              </a:rPr>
              <a:t>、</a:t>
            </a:r>
            <a:r>
              <a:rPr lang="en-US" sz="2400" b="1" i="1">
                <a:solidFill>
                  <a:srgbClr val="000066"/>
                </a:solidFill>
                <a:latin typeface="Times New Roman" panose="02020603050405020304" charset="0"/>
                <a:ea typeface="楷体" panose="02010609060101010101" charset="-122"/>
                <a:cs typeface="Times New Roman" panose="02020603050405020304" charset="0"/>
              </a:rPr>
              <a:t>R</a:t>
            </a:r>
            <a:r>
              <a:rPr lang="en-US" sz="2400" b="1" baseline="-25000">
                <a:solidFill>
                  <a:srgbClr val="000066"/>
                </a:solidFill>
                <a:latin typeface="Times New Roman" panose="02020603050405020304" charset="0"/>
                <a:ea typeface="楷体" panose="02010609060101010101" charset="-122"/>
                <a:cs typeface="Times New Roman" panose="02020603050405020304" charset="0"/>
              </a:rPr>
              <a:t>f</a:t>
            </a:r>
            <a:r>
              <a:rPr lang="en-US" sz="2400" b="1">
                <a:solidFill>
                  <a:srgbClr val="000066"/>
                </a:solidFill>
                <a:latin typeface="Times New Roman" panose="02020603050405020304" charset="0"/>
                <a:ea typeface="楷体" panose="02010609060101010101" charset="-122"/>
                <a:cs typeface="Times New Roman" panose="02020603050405020304" charset="0"/>
              </a:rPr>
              <a:t>=5kΩ</a:t>
            </a:r>
            <a:r>
              <a:rPr lang="zh-CN" sz="2400" b="1">
                <a:solidFill>
                  <a:srgbClr val="000066"/>
                </a:solidFill>
                <a:latin typeface="Times New Roman" panose="02020603050405020304" charset="0"/>
                <a:ea typeface="楷体" panose="02010609060101010101" charset="-122"/>
                <a:cs typeface="Times New Roman" panose="02020603050405020304" charset="0"/>
              </a:rPr>
              <a:t>的情况下，输出电压为</a:t>
            </a:r>
            <a:endParaRPr lang="zh-CN" altLang="en-US" sz="2400" b="1">
              <a:solidFill>
                <a:srgbClr val="000066"/>
              </a:solidFill>
              <a:latin typeface="Times New Roman" panose="02020603050405020304" charset="0"/>
              <a:ea typeface="楷体" panose="02010609060101010101" charset="-122"/>
              <a:cs typeface="Times New Roman" panose="02020603050405020304" charset="0"/>
            </a:endParaRPr>
          </a:p>
        </p:txBody>
      </p:sp>
      <p:pic>
        <p:nvPicPr>
          <p:cNvPr id="9" name="图片 8"/>
          <p:cNvPicPr>
            <a:picLocks noChangeAspect="1"/>
          </p:cNvPicPr>
          <p:nvPr/>
        </p:nvPicPr>
        <p:blipFill>
          <a:blip r:embed="rId3"/>
          <a:stretch>
            <a:fillRect/>
          </a:stretch>
        </p:blipFill>
        <p:spPr>
          <a:xfrm>
            <a:off x="3276600" y="5257800"/>
            <a:ext cx="2019300" cy="723900"/>
          </a:xfrm>
          <a:prstGeom prst="rect">
            <a:avLst/>
          </a:prstGeom>
        </p:spPr>
      </p:pic>
      <p:sp>
        <p:nvSpPr>
          <p:cNvPr id="10" name="文本框 9"/>
          <p:cNvSpPr txBox="1"/>
          <p:nvPr/>
        </p:nvSpPr>
        <p:spPr>
          <a:xfrm>
            <a:off x="152400" y="6096000"/>
            <a:ext cx="8728710" cy="398780"/>
          </a:xfrm>
          <a:prstGeom prst="rect">
            <a:avLst/>
          </a:prstGeom>
          <a:noFill/>
          <a:ln w="9525">
            <a:noFill/>
          </a:ln>
        </p:spPr>
        <p:txBody>
          <a:bodyPr wrap="square">
            <a:spAutoFit/>
          </a:bodyPr>
          <a:p>
            <a:r>
              <a:rPr lang="zh-CN" sz="2000" b="1">
                <a:solidFill>
                  <a:srgbClr val="000066"/>
                </a:solidFill>
                <a:latin typeface="Times New Roman" panose="02020603050405020304" charset="0"/>
                <a:ea typeface="楷体" panose="02010609060101010101" charset="-122"/>
                <a:cs typeface="Times New Roman" panose="02020603050405020304" charset="0"/>
              </a:rPr>
              <a:t>当输入的数字量在全</a:t>
            </a:r>
            <a:r>
              <a:rPr lang="en-US" sz="2000" b="1">
                <a:solidFill>
                  <a:srgbClr val="000066"/>
                </a:solidFill>
                <a:latin typeface="Times New Roman" panose="02020603050405020304" charset="0"/>
                <a:ea typeface="楷体" panose="02010609060101010101" charset="-122"/>
                <a:cs typeface="Times New Roman" panose="02020603050405020304" charset="0"/>
              </a:rPr>
              <a:t>0</a:t>
            </a:r>
            <a:r>
              <a:rPr lang="zh-CN" sz="2000" b="1">
                <a:solidFill>
                  <a:srgbClr val="000066"/>
                </a:solidFill>
                <a:latin typeface="Times New Roman" panose="02020603050405020304" charset="0"/>
                <a:ea typeface="楷体" panose="02010609060101010101" charset="-122"/>
                <a:cs typeface="Times New Roman" panose="02020603050405020304" charset="0"/>
              </a:rPr>
              <a:t>和全</a:t>
            </a:r>
            <a:r>
              <a:rPr lang="en-US" sz="2000" b="1">
                <a:solidFill>
                  <a:srgbClr val="000066"/>
                </a:solidFill>
                <a:latin typeface="Times New Roman" panose="02020603050405020304" charset="0"/>
                <a:ea typeface="楷体" panose="02010609060101010101" charset="-122"/>
                <a:cs typeface="Times New Roman" panose="02020603050405020304" charset="0"/>
              </a:rPr>
              <a:t>1</a:t>
            </a:r>
            <a:r>
              <a:rPr lang="zh-CN" sz="2000" b="1">
                <a:solidFill>
                  <a:srgbClr val="000066"/>
                </a:solidFill>
                <a:latin typeface="Times New Roman" panose="02020603050405020304" charset="0"/>
                <a:ea typeface="楷体" panose="02010609060101010101" charset="-122"/>
                <a:cs typeface="Times New Roman" panose="02020603050405020304" charset="0"/>
              </a:rPr>
              <a:t>之间变化时，输出模拟电压的变化范围为</a:t>
            </a:r>
            <a:r>
              <a:rPr lang="en-US" sz="2000" b="1">
                <a:solidFill>
                  <a:srgbClr val="000066"/>
                </a:solidFill>
                <a:latin typeface="Times New Roman" panose="02020603050405020304" charset="0"/>
                <a:ea typeface="楷体" panose="02010609060101010101" charset="-122"/>
                <a:cs typeface="Times New Roman" panose="02020603050405020304" charset="0"/>
              </a:rPr>
              <a:t>0~9.96V</a:t>
            </a:r>
            <a:r>
              <a:rPr lang="zh-CN" sz="2000" b="1">
                <a:solidFill>
                  <a:srgbClr val="000066"/>
                </a:solidFill>
                <a:latin typeface="Times New Roman" panose="02020603050405020304" charset="0"/>
                <a:ea typeface="楷体" panose="02010609060101010101" charset="-122"/>
                <a:cs typeface="Times New Roman" panose="02020603050405020304" charset="0"/>
              </a:rPr>
              <a:t>。</a:t>
            </a:r>
            <a:endParaRPr lang="zh-CN" altLang="en-US" sz="2000" b="1">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9.2 </a:t>
            </a:r>
            <a:r>
              <a:rPr lang="zh-CN" altLang="en-US" b="1" dirty="0">
                <a:solidFill>
                  <a:srgbClr val="FF0000"/>
                </a:solidFill>
                <a:latin typeface="黑体" panose="02010609060101010101" pitchFamily="49" charset="-122"/>
                <a:ea typeface="黑体" panose="02010609060101010101" pitchFamily="49" charset="-122"/>
              </a:rPr>
              <a:t>D/A转换电路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9223" name="Rectangle 17"/>
          <p:cNvSpPr/>
          <p:nvPr/>
        </p:nvSpPr>
        <p:spPr>
          <a:xfrm>
            <a:off x="0" y="2386013"/>
            <a:ext cx="9144000" cy="0"/>
          </a:xfrm>
          <a:prstGeom prst="rect">
            <a:avLst/>
          </a:prstGeom>
          <a:noFill/>
          <a:ln w="9525">
            <a:noFill/>
          </a:ln>
        </p:spPr>
        <p:txBody>
          <a:bodyPr wrap="none" anchor="ctr" anchorCtr="0">
            <a:spAutoFit/>
          </a:bodyPr>
          <a:p>
            <a:endParaRPr lang="zh-CN" altLang="en-US"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3" name="Text Box 6"/>
          <p:cNvSpPr txBox="1"/>
          <p:nvPr/>
        </p:nvSpPr>
        <p:spPr>
          <a:xfrm>
            <a:off x="125095" y="1676400"/>
            <a:ext cx="8893810" cy="570865"/>
          </a:xfrm>
          <a:prstGeom prst="rect">
            <a:avLst/>
          </a:prstGeom>
          <a:noFill/>
          <a:ln w="9525">
            <a:noFill/>
          </a:ln>
        </p:spPr>
        <p:txBody>
          <a:bodyPr wrap="square">
            <a:spAutoFit/>
          </a:bodyPr>
          <a:p>
            <a:pPr>
              <a:lnSpc>
                <a:spcPct val="130000"/>
              </a:lnSpc>
            </a:pPr>
            <a:r>
              <a:rPr lang="en-US" sz="2400" b="1" dirty="0">
                <a:solidFill>
                  <a:srgbClr val="000066"/>
                </a:solidFill>
                <a:latin typeface="Times New Roman" panose="02020603050405020304" charset="0"/>
                <a:ea typeface="楷体" panose="02010609060101010101" charset="-122"/>
                <a:cs typeface="Times New Roman" panose="02020603050405020304" charset="0"/>
              </a:rPr>
              <a:t>         </a:t>
            </a:r>
            <a:r>
              <a:rPr sz="2400" b="1" dirty="0">
                <a:solidFill>
                  <a:srgbClr val="000066"/>
                </a:solidFill>
                <a:latin typeface="Times New Roman" panose="02020603050405020304" charset="0"/>
                <a:ea typeface="楷体" panose="02010609060101010101" charset="-122"/>
                <a:cs typeface="Times New Roman" panose="02020603050405020304" charset="0"/>
              </a:rPr>
              <a:t>AD7533是一种常用的10位采用倒T形电阻网络的D/A转换器</a:t>
            </a:r>
            <a:endParaRPr sz="2400" b="1"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7" name="文本框 6"/>
          <p:cNvSpPr txBox="1"/>
          <p:nvPr/>
        </p:nvSpPr>
        <p:spPr>
          <a:xfrm>
            <a:off x="990600" y="1295400"/>
            <a:ext cx="1588770" cy="460375"/>
          </a:xfrm>
          <a:prstGeom prst="rect">
            <a:avLst/>
          </a:prstGeom>
          <a:noFill/>
        </p:spPr>
        <p:txBody>
          <a:bodyPr wrap="none" rtlCol="0" anchor="t">
            <a:spAutoFit/>
          </a:bodyPr>
          <a:p>
            <a:r>
              <a:rPr lang="zh-CN" altLang="en-US" sz="2400" b="1" dirty="0">
                <a:solidFill>
                  <a:srgbClr val="1318F3"/>
                </a:solidFill>
                <a:latin typeface="Times New Roman" panose="02020603050405020304" charset="0"/>
                <a:ea typeface="楷体" panose="02010609060101010101" charset="-122"/>
                <a:cs typeface="Times New Roman" panose="02020603050405020304" charset="0"/>
                <a:sym typeface="+mn-ea"/>
              </a:rPr>
              <a:t>(</a:t>
            </a:r>
            <a:r>
              <a:rPr lang="en-US" altLang="zh-CN" sz="2400" b="1" dirty="0">
                <a:solidFill>
                  <a:srgbClr val="1318F3"/>
                </a:solidFill>
                <a:latin typeface="Times New Roman" panose="02020603050405020304" charset="0"/>
                <a:ea typeface="楷体" panose="02010609060101010101" charset="-122"/>
                <a:cs typeface="Times New Roman" panose="02020603050405020304" charset="0"/>
                <a:sym typeface="+mn-ea"/>
              </a:rPr>
              <a:t>2</a:t>
            </a:r>
            <a:r>
              <a:rPr lang="zh-CN" altLang="en-US" sz="2400" b="1" dirty="0">
                <a:solidFill>
                  <a:srgbClr val="1318F3"/>
                </a:solidFill>
                <a:latin typeface="Times New Roman" panose="02020603050405020304" charset="0"/>
                <a:ea typeface="楷体" panose="02010609060101010101" charset="-122"/>
                <a:cs typeface="Times New Roman" panose="02020603050405020304" charset="0"/>
                <a:sym typeface="+mn-ea"/>
              </a:rPr>
              <a:t>)</a:t>
            </a:r>
            <a:r>
              <a:rPr lang="zh-CN" altLang="en-US" sz="2400" b="1" dirty="0">
                <a:solidFill>
                  <a:srgbClr val="1318F3"/>
                </a:solidFill>
                <a:latin typeface="Times New Roman" panose="02020603050405020304" charset="0"/>
                <a:ea typeface="楷体" panose="02010609060101010101" charset="-122"/>
                <a:cs typeface="Times New Roman" panose="02020603050405020304" charset="0"/>
                <a:sym typeface="+mn-ea"/>
              </a:rPr>
              <a:t>A</a:t>
            </a:r>
            <a:r>
              <a:rPr lang="zh-CN" altLang="en-US" sz="2400" b="1" dirty="0">
                <a:solidFill>
                  <a:srgbClr val="1318F3"/>
                </a:solidFill>
                <a:latin typeface="Times New Roman" panose="02020603050405020304" charset="0"/>
                <a:ea typeface="楷体" panose="02010609060101010101" charset="-122"/>
                <a:cs typeface="Times New Roman" panose="02020603050405020304" charset="0"/>
                <a:sym typeface="+mn-ea"/>
              </a:rPr>
              <a:t>D</a:t>
            </a:r>
            <a:r>
              <a:rPr lang="en-US" altLang="zh-CN" sz="2400" b="1" dirty="0">
                <a:solidFill>
                  <a:srgbClr val="1318F3"/>
                </a:solidFill>
                <a:latin typeface="Times New Roman" panose="02020603050405020304" charset="0"/>
                <a:ea typeface="楷体" panose="02010609060101010101" charset="-122"/>
                <a:cs typeface="Times New Roman" panose="02020603050405020304" charset="0"/>
                <a:sym typeface="+mn-ea"/>
              </a:rPr>
              <a:t>7533</a:t>
            </a:r>
            <a:endParaRPr lang="en-US" altLang="zh-CN" sz="2400" b="1" dirty="0">
              <a:solidFill>
                <a:srgbClr val="1318F3"/>
              </a:solidFill>
              <a:latin typeface="Times New Roman" panose="02020603050405020304" charset="0"/>
              <a:ea typeface="楷体" panose="02010609060101010101" charset="-122"/>
              <a:cs typeface="Times New Roman" panose="02020603050405020304" charset="0"/>
              <a:sym typeface="+mn-ea"/>
            </a:endParaRPr>
          </a:p>
        </p:txBody>
      </p:sp>
      <p:pic>
        <p:nvPicPr>
          <p:cNvPr id="4" name="图片 3"/>
          <p:cNvPicPr>
            <a:picLocks noChangeAspect="1"/>
          </p:cNvPicPr>
          <p:nvPr/>
        </p:nvPicPr>
        <p:blipFill>
          <a:blip r:embed="rId1"/>
          <a:stretch>
            <a:fillRect/>
          </a:stretch>
        </p:blipFill>
        <p:spPr>
          <a:xfrm>
            <a:off x="1371600" y="2209800"/>
            <a:ext cx="6643370" cy="2661920"/>
          </a:xfrm>
          <a:prstGeom prst="rect">
            <a:avLst/>
          </a:prstGeom>
        </p:spPr>
      </p:pic>
      <p:sp>
        <p:nvSpPr>
          <p:cNvPr id="100" name="文本框 99"/>
          <p:cNvSpPr txBox="1"/>
          <p:nvPr/>
        </p:nvSpPr>
        <p:spPr>
          <a:xfrm>
            <a:off x="168910" y="5105400"/>
            <a:ext cx="8881745" cy="1322070"/>
          </a:xfrm>
          <a:prstGeom prst="rect">
            <a:avLst/>
          </a:prstGeom>
          <a:noFill/>
          <a:ln w="9525">
            <a:noFill/>
          </a:ln>
        </p:spPr>
        <p:txBody>
          <a:bodyPr wrap="square">
            <a:spAutoFit/>
          </a:bodyPr>
          <a:p>
            <a:r>
              <a:rPr lang="en-US" altLang="zh-CN" sz="2000" b="1">
                <a:solidFill>
                  <a:srgbClr val="000066"/>
                </a:solidFill>
                <a:latin typeface="Times New Roman" panose="02020603050405020304" charset="0"/>
                <a:ea typeface="楷体" panose="02010609060101010101" charset="-122"/>
                <a:cs typeface="Times New Roman" panose="02020603050405020304" charset="0"/>
              </a:rPr>
              <a:t>       </a:t>
            </a:r>
            <a:r>
              <a:rPr lang="zh-CN" sz="2000" b="1">
                <a:solidFill>
                  <a:srgbClr val="000066"/>
                </a:solidFill>
                <a:latin typeface="Times New Roman" panose="02020603050405020304" charset="0"/>
                <a:ea typeface="楷体" panose="02010609060101010101" charset="-122"/>
                <a:cs typeface="Times New Roman" panose="02020603050405020304" charset="0"/>
              </a:rPr>
              <a:t>虚线框内代表</a:t>
            </a:r>
            <a:r>
              <a:rPr lang="en-US" sz="2000" b="1">
                <a:solidFill>
                  <a:srgbClr val="000066"/>
                </a:solidFill>
                <a:latin typeface="Times New Roman" panose="02020603050405020304" charset="0"/>
                <a:ea typeface="楷体" panose="02010609060101010101" charset="-122"/>
                <a:cs typeface="Times New Roman" panose="02020603050405020304" charset="0"/>
              </a:rPr>
              <a:t>AD7533</a:t>
            </a:r>
            <a:r>
              <a:rPr lang="zh-CN" sz="2000" b="1">
                <a:solidFill>
                  <a:srgbClr val="000066"/>
                </a:solidFill>
                <a:latin typeface="Times New Roman" panose="02020603050405020304" charset="0"/>
                <a:ea typeface="楷体" panose="02010609060101010101" charset="-122"/>
                <a:cs typeface="Times New Roman" panose="02020603050405020304" charset="0"/>
              </a:rPr>
              <a:t>，它有</a:t>
            </a:r>
            <a:r>
              <a:rPr lang="en-US" sz="2000" b="1" i="1">
                <a:solidFill>
                  <a:srgbClr val="000066"/>
                </a:solidFill>
                <a:latin typeface="Times New Roman" panose="02020603050405020304" charset="0"/>
                <a:ea typeface="楷体" panose="02010609060101010101" charset="-122"/>
                <a:cs typeface="Times New Roman" panose="02020603050405020304" charset="0"/>
              </a:rPr>
              <a:t>D</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0</a:t>
            </a:r>
            <a:r>
              <a:rPr lang="en-US" sz="2000" b="1">
                <a:solidFill>
                  <a:srgbClr val="000066"/>
                </a:solidFill>
                <a:latin typeface="Times New Roman" panose="02020603050405020304" charset="0"/>
                <a:ea typeface="楷体" panose="02010609060101010101" charset="-122"/>
                <a:cs typeface="Times New Roman" panose="02020603050405020304" charset="0"/>
              </a:rPr>
              <a:t>~</a:t>
            </a:r>
            <a:r>
              <a:rPr lang="en-US" sz="2000" b="1" i="1">
                <a:solidFill>
                  <a:srgbClr val="000066"/>
                </a:solidFill>
                <a:latin typeface="Times New Roman" panose="02020603050405020304" charset="0"/>
                <a:ea typeface="楷体" panose="02010609060101010101" charset="-122"/>
                <a:cs typeface="Times New Roman" panose="02020603050405020304" charset="0"/>
              </a:rPr>
              <a:t>D</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9</a:t>
            </a:r>
            <a:r>
              <a:rPr lang="zh-CN" sz="2000" b="1">
                <a:solidFill>
                  <a:srgbClr val="000066"/>
                </a:solidFill>
                <a:latin typeface="Times New Roman" panose="02020603050405020304" charset="0"/>
                <a:ea typeface="楷体" panose="02010609060101010101" charset="-122"/>
                <a:cs typeface="Times New Roman" panose="02020603050405020304" charset="0"/>
              </a:rPr>
              <a:t>共</a:t>
            </a:r>
            <a:r>
              <a:rPr lang="en-US" sz="2000" b="1">
                <a:solidFill>
                  <a:srgbClr val="000066"/>
                </a:solidFill>
                <a:latin typeface="Times New Roman" panose="02020603050405020304" charset="0"/>
                <a:ea typeface="楷体" panose="02010609060101010101" charset="-122"/>
                <a:cs typeface="Times New Roman" panose="02020603050405020304" charset="0"/>
              </a:rPr>
              <a:t>10</a:t>
            </a:r>
            <a:r>
              <a:rPr lang="zh-CN" sz="2000" b="1">
                <a:solidFill>
                  <a:srgbClr val="000066"/>
                </a:solidFill>
                <a:latin typeface="Times New Roman" panose="02020603050405020304" charset="0"/>
                <a:ea typeface="楷体" panose="02010609060101010101" charset="-122"/>
                <a:cs typeface="Times New Roman" panose="02020603050405020304" charset="0"/>
              </a:rPr>
              <a:t>位二进制输入，采用</a:t>
            </a:r>
            <a:r>
              <a:rPr lang="en-US" sz="2000" b="1">
                <a:solidFill>
                  <a:srgbClr val="000066"/>
                </a:solidFill>
                <a:latin typeface="Times New Roman" panose="02020603050405020304" charset="0"/>
                <a:ea typeface="楷体" panose="02010609060101010101" charset="-122"/>
                <a:cs typeface="Times New Roman" panose="02020603050405020304" charset="0"/>
              </a:rPr>
              <a:t>CMOS</a:t>
            </a:r>
            <a:r>
              <a:rPr lang="zh-CN" sz="2000" b="1">
                <a:solidFill>
                  <a:srgbClr val="000066"/>
                </a:solidFill>
                <a:latin typeface="Times New Roman" panose="02020603050405020304" charset="0"/>
                <a:ea typeface="楷体" panose="02010609060101010101" charset="-122"/>
                <a:cs typeface="Times New Roman" panose="02020603050405020304" charset="0"/>
              </a:rPr>
              <a:t>电路构成模拟开关。使用</a:t>
            </a:r>
            <a:r>
              <a:rPr lang="en-US" sz="2000" b="1">
                <a:solidFill>
                  <a:srgbClr val="000066"/>
                </a:solidFill>
                <a:latin typeface="Times New Roman" panose="02020603050405020304" charset="0"/>
                <a:ea typeface="楷体" panose="02010609060101010101" charset="-122"/>
                <a:cs typeface="Times New Roman" panose="02020603050405020304" charset="0"/>
              </a:rPr>
              <a:t>AD7533</a:t>
            </a:r>
            <a:r>
              <a:rPr lang="zh-CN" sz="2000" b="1">
                <a:solidFill>
                  <a:srgbClr val="000066"/>
                </a:solidFill>
                <a:latin typeface="Times New Roman" panose="02020603050405020304" charset="0"/>
                <a:ea typeface="楷体" panose="02010609060101010101" charset="-122"/>
                <a:cs typeface="Times New Roman" panose="02020603050405020304" charset="0"/>
              </a:rPr>
              <a:t>时需要外加运算放大器。运算放大器的反馈电阻可以使用</a:t>
            </a:r>
            <a:r>
              <a:rPr lang="en-US" sz="2000" b="1">
                <a:solidFill>
                  <a:srgbClr val="000066"/>
                </a:solidFill>
                <a:latin typeface="Times New Roman" panose="02020603050405020304" charset="0"/>
                <a:ea typeface="楷体" panose="02010609060101010101" charset="-122"/>
                <a:cs typeface="Times New Roman" panose="02020603050405020304" charset="0"/>
              </a:rPr>
              <a:t>AD7533</a:t>
            </a:r>
            <a:r>
              <a:rPr lang="zh-CN" sz="2000" b="1">
                <a:solidFill>
                  <a:srgbClr val="000066"/>
                </a:solidFill>
                <a:latin typeface="Times New Roman" panose="02020603050405020304" charset="0"/>
                <a:ea typeface="楷体" panose="02010609060101010101" charset="-122"/>
                <a:cs typeface="Times New Roman" panose="02020603050405020304" charset="0"/>
              </a:rPr>
              <a:t>内设的反馈电阻</a:t>
            </a:r>
            <a:r>
              <a:rPr lang="en-US" sz="2000" b="1" i="1">
                <a:solidFill>
                  <a:srgbClr val="000066"/>
                </a:solidFill>
                <a:latin typeface="Times New Roman" panose="02020603050405020304" charset="0"/>
                <a:ea typeface="楷体" panose="02010609060101010101" charset="-122"/>
                <a:cs typeface="Times New Roman" panose="02020603050405020304" charset="0"/>
              </a:rPr>
              <a:t>R</a:t>
            </a:r>
            <a:r>
              <a:rPr lang="zh-CN" sz="2000" b="1">
                <a:solidFill>
                  <a:srgbClr val="000066"/>
                </a:solidFill>
                <a:latin typeface="Times New Roman" panose="02020603050405020304" charset="0"/>
                <a:ea typeface="楷体" panose="02010609060101010101" charset="-122"/>
                <a:cs typeface="Times New Roman" panose="02020603050405020304" charset="0"/>
              </a:rPr>
              <a:t>，也可以另选反馈电阻</a:t>
            </a:r>
            <a:r>
              <a:rPr lang="en-US" sz="2000" b="1" i="1">
                <a:solidFill>
                  <a:srgbClr val="000066"/>
                </a:solidFill>
                <a:latin typeface="Times New Roman" panose="02020603050405020304" charset="0"/>
                <a:ea typeface="楷体" panose="02010609060101010101" charset="-122"/>
                <a:cs typeface="Times New Roman" panose="02020603050405020304" charset="0"/>
              </a:rPr>
              <a:t>R</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f</a:t>
            </a:r>
            <a:r>
              <a:rPr lang="zh-CN" sz="2000" b="1">
                <a:solidFill>
                  <a:srgbClr val="000066"/>
                </a:solidFill>
                <a:latin typeface="Times New Roman" panose="02020603050405020304" charset="0"/>
                <a:ea typeface="楷体" panose="02010609060101010101" charset="-122"/>
                <a:cs typeface="Times New Roman" panose="02020603050405020304" charset="0"/>
              </a:rPr>
              <a:t>。外接的参考电压</a:t>
            </a:r>
            <a:r>
              <a:rPr lang="en-US" sz="2000" b="1" i="1">
                <a:solidFill>
                  <a:srgbClr val="000066"/>
                </a:solidFill>
                <a:latin typeface="Times New Roman" panose="02020603050405020304" charset="0"/>
                <a:ea typeface="楷体" panose="02010609060101010101" charset="-122"/>
                <a:cs typeface="Times New Roman" panose="02020603050405020304" charset="0"/>
              </a:rPr>
              <a:t>V</a:t>
            </a:r>
            <a:r>
              <a:rPr lang="en-US" sz="2000" b="1" baseline="-25000">
                <a:solidFill>
                  <a:srgbClr val="000066"/>
                </a:solidFill>
                <a:latin typeface="Times New Roman" panose="02020603050405020304" charset="0"/>
                <a:ea typeface="楷体" panose="02010609060101010101" charset="-122"/>
                <a:cs typeface="Times New Roman" panose="02020603050405020304" charset="0"/>
              </a:rPr>
              <a:t>REF</a:t>
            </a:r>
            <a:r>
              <a:rPr lang="zh-CN" sz="2000" b="1">
                <a:solidFill>
                  <a:srgbClr val="000066"/>
                </a:solidFill>
                <a:latin typeface="Times New Roman" panose="02020603050405020304" charset="0"/>
                <a:ea typeface="楷体" panose="02010609060101010101" charset="-122"/>
                <a:cs typeface="Times New Roman" panose="02020603050405020304" charset="0"/>
              </a:rPr>
              <a:t>必须保证有足够的稳定度，才能确保应有的转换精度。</a:t>
            </a:r>
            <a:endParaRPr lang="zh-CN" altLang="en-US" sz="2000" b="1">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0"/>
                                        </p:tgtEl>
                                        <p:attrNameLst>
                                          <p:attrName>style.visibility</p:attrName>
                                        </p:attrNameLst>
                                      </p:cBhvr>
                                      <p:to>
                                        <p:strVal val="visible"/>
                                      </p:to>
                                    </p:set>
                                    <p:animEffect transition="in" filter="blinds(horizontal)">
                                      <p:cBhvr>
                                        <p:cTn id="12"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0" grpId="0"/>
      <p:bldP spid="100"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276600" y="533400"/>
            <a:ext cx="365633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rPr>
              <a:t>9.2 </a:t>
            </a:r>
            <a:r>
              <a:rPr lang="zh-CN" altLang="en-US" b="1" dirty="0">
                <a:solidFill>
                  <a:srgbClr val="FF0000"/>
                </a:solidFill>
                <a:latin typeface="黑体" panose="02010609060101010101" pitchFamily="49" charset="-122"/>
                <a:ea typeface="黑体" panose="02010609060101010101" pitchFamily="49" charset="-122"/>
              </a:rPr>
              <a:t>D/A转换电路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9223" name="Rectangle 17"/>
          <p:cNvSpPr/>
          <p:nvPr/>
        </p:nvSpPr>
        <p:spPr>
          <a:xfrm>
            <a:off x="0" y="2386013"/>
            <a:ext cx="9144000" cy="0"/>
          </a:xfrm>
          <a:prstGeom prst="rect">
            <a:avLst/>
          </a:prstGeom>
          <a:noFill/>
          <a:ln w="9525">
            <a:noFill/>
          </a:ln>
        </p:spPr>
        <p:txBody>
          <a:bodyPr wrap="none" anchor="ctr" anchorCtr="0">
            <a:spAutoFit/>
          </a:bodyPr>
          <a:p>
            <a:endParaRPr lang="zh-CN" altLang="en-US" dirty="0">
              <a:solidFill>
                <a:srgbClr val="000066"/>
              </a:solidFill>
              <a:latin typeface="Times New Roman" panose="02020603050405020304" charset="0"/>
              <a:ea typeface="楷体" panose="02010609060101010101" charset="-122"/>
              <a:cs typeface="Times New Roman" panose="02020603050405020304" charset="0"/>
            </a:endParaRPr>
          </a:p>
        </p:txBody>
      </p:sp>
      <p:pic>
        <p:nvPicPr>
          <p:cNvPr id="4" name="图片 3"/>
          <p:cNvPicPr>
            <a:picLocks noChangeAspect="1"/>
          </p:cNvPicPr>
          <p:nvPr/>
        </p:nvPicPr>
        <p:blipFill>
          <a:blip r:embed="rId1"/>
          <a:stretch>
            <a:fillRect/>
          </a:stretch>
        </p:blipFill>
        <p:spPr>
          <a:xfrm>
            <a:off x="1371600" y="1143000"/>
            <a:ext cx="6643370" cy="2661920"/>
          </a:xfrm>
          <a:prstGeom prst="rect">
            <a:avLst/>
          </a:prstGeom>
        </p:spPr>
      </p:pic>
      <p:sp>
        <p:nvSpPr>
          <p:cNvPr id="2" name="文本框 1"/>
          <p:cNvSpPr txBox="1"/>
          <p:nvPr/>
        </p:nvSpPr>
        <p:spPr>
          <a:xfrm>
            <a:off x="43180" y="3962400"/>
            <a:ext cx="9057640" cy="1630045"/>
          </a:xfrm>
          <a:prstGeom prst="rect">
            <a:avLst/>
          </a:prstGeom>
          <a:noFill/>
          <a:ln w="9525">
            <a:noFill/>
          </a:ln>
        </p:spPr>
        <p:txBody>
          <a:bodyPr wrap="square">
            <a:spAutoFit/>
          </a:bodyPr>
          <a:p>
            <a:r>
              <a:rPr lang="en-US" altLang="zh-CN" sz="2000" b="1">
                <a:solidFill>
                  <a:srgbClr val="000066"/>
                </a:solidFill>
                <a:latin typeface="Times New Roman" panose="02020603050405020304" charset="0"/>
                <a:ea typeface="楷体" panose="02010609060101010101" charset="-122"/>
                <a:cs typeface="Times New Roman" panose="02020603050405020304" charset="0"/>
              </a:rPr>
              <a:t>       </a:t>
            </a:r>
            <a:r>
              <a:rPr lang="zh-CN" sz="2000" b="1">
                <a:solidFill>
                  <a:srgbClr val="000066"/>
                </a:solidFill>
                <a:latin typeface="Times New Roman" panose="02020603050405020304" charset="0"/>
                <a:ea typeface="楷体" panose="02010609060101010101" charset="-122"/>
                <a:cs typeface="Times New Roman" panose="02020603050405020304" charset="0"/>
              </a:rPr>
              <a:t>可以作为数字式可编程增益控制电路。</a:t>
            </a:r>
            <a:r>
              <a:rPr lang="en-US" sz="2000" b="1">
                <a:solidFill>
                  <a:srgbClr val="000066"/>
                </a:solidFill>
                <a:latin typeface="Times New Roman" panose="02020603050405020304" charset="0"/>
                <a:ea typeface="楷体" panose="02010609060101010101" charset="-122"/>
                <a:cs typeface="Times New Roman" panose="02020603050405020304" charset="0"/>
              </a:rPr>
              <a:t>AD7533</a:t>
            </a:r>
            <a:r>
              <a:rPr lang="zh-CN" sz="2000" b="1">
                <a:solidFill>
                  <a:srgbClr val="000066"/>
                </a:solidFill>
                <a:latin typeface="Times New Roman" panose="02020603050405020304" charset="0"/>
                <a:ea typeface="楷体" panose="02010609060101010101" charset="-122"/>
                <a:cs typeface="Times New Roman" panose="02020603050405020304" charset="0"/>
              </a:rPr>
              <a:t>与运放接成普通的反相比例放大电路形式。电路中</a:t>
            </a:r>
            <a:r>
              <a:rPr lang="en-US" sz="2000" b="1">
                <a:solidFill>
                  <a:srgbClr val="000066"/>
                </a:solidFill>
                <a:latin typeface="Times New Roman" panose="02020603050405020304" charset="0"/>
                <a:ea typeface="楷体" panose="02010609060101010101" charset="-122"/>
                <a:cs typeface="Times New Roman" panose="02020603050405020304" charset="0"/>
              </a:rPr>
              <a:t>AD7533</a:t>
            </a:r>
            <a:r>
              <a:rPr lang="zh-CN" sz="2000" b="1">
                <a:solidFill>
                  <a:srgbClr val="000066"/>
                </a:solidFill>
                <a:latin typeface="Times New Roman" panose="02020603050405020304" charset="0"/>
                <a:ea typeface="楷体" panose="02010609060101010101" charset="-122"/>
                <a:cs typeface="Times New Roman" panose="02020603050405020304" charset="0"/>
              </a:rPr>
              <a:t>内部的反馈电阻</a:t>
            </a:r>
            <a:r>
              <a:rPr lang="en-US" sz="2000" b="1" i="1">
                <a:solidFill>
                  <a:srgbClr val="000066"/>
                </a:solidFill>
                <a:latin typeface="Times New Roman" panose="02020603050405020304" charset="0"/>
                <a:ea typeface="楷体" panose="02010609060101010101" charset="-122"/>
                <a:cs typeface="Times New Roman" panose="02020603050405020304" charset="0"/>
              </a:rPr>
              <a:t>R</a:t>
            </a:r>
            <a:r>
              <a:rPr lang="zh-CN" sz="2000" b="1">
                <a:solidFill>
                  <a:srgbClr val="000066"/>
                </a:solidFill>
                <a:latin typeface="Times New Roman" panose="02020603050405020304" charset="0"/>
                <a:ea typeface="楷体" panose="02010609060101010101" charset="-122"/>
                <a:cs typeface="Times New Roman" panose="02020603050405020304" charset="0"/>
              </a:rPr>
              <a:t>为放大电路的输入电阻，而由数字量控制的倒</a:t>
            </a:r>
            <a:r>
              <a:rPr lang="en-US" sz="2000" b="1">
                <a:solidFill>
                  <a:srgbClr val="000066"/>
                </a:solidFill>
                <a:latin typeface="Times New Roman" panose="02020603050405020304" charset="0"/>
                <a:ea typeface="楷体" panose="02010609060101010101" charset="-122"/>
                <a:cs typeface="Times New Roman" panose="02020603050405020304" charset="0"/>
              </a:rPr>
              <a:t>T</a:t>
            </a:r>
            <a:r>
              <a:rPr lang="zh-CN" sz="2000" b="1">
                <a:solidFill>
                  <a:srgbClr val="000066"/>
                </a:solidFill>
                <a:latin typeface="Times New Roman" panose="02020603050405020304" charset="0"/>
                <a:ea typeface="楷体" panose="02010609060101010101" charset="-122"/>
                <a:cs typeface="Times New Roman" panose="02020603050405020304" charset="0"/>
              </a:rPr>
              <a:t>形电阻网络是它的反馈电阻。当输入数字量变化时，倒</a:t>
            </a:r>
            <a:r>
              <a:rPr lang="en-US" sz="2000" b="1">
                <a:solidFill>
                  <a:srgbClr val="000066"/>
                </a:solidFill>
                <a:latin typeface="Times New Roman" panose="02020603050405020304" charset="0"/>
                <a:ea typeface="楷体" panose="02010609060101010101" charset="-122"/>
                <a:cs typeface="Times New Roman" panose="02020603050405020304" charset="0"/>
              </a:rPr>
              <a:t>T</a:t>
            </a:r>
            <a:r>
              <a:rPr lang="zh-CN" sz="2000" b="1">
                <a:solidFill>
                  <a:srgbClr val="000066"/>
                </a:solidFill>
                <a:latin typeface="Times New Roman" panose="02020603050405020304" charset="0"/>
                <a:ea typeface="楷体" panose="02010609060101010101" charset="-122"/>
                <a:cs typeface="Times New Roman" panose="02020603050405020304" charset="0"/>
              </a:rPr>
              <a:t>形电阻网络的等效电阻随之改变。这样，在输入电阻一定的情况下，随着电阻网络的等效电阻变化，反相比例放大器的增益也就随之改变。</a:t>
            </a:r>
            <a:endParaRPr lang="zh-CN" altLang="en-US" sz="2000" b="1">
              <a:solidFill>
                <a:srgbClr val="000066"/>
              </a:solidFill>
              <a:latin typeface="Times New Roman" panose="02020603050405020304" charset="0"/>
              <a:ea typeface="楷体" panose="02010609060101010101" charset="-122"/>
              <a:cs typeface="Times New Roman" panose="02020603050405020304" charset="0"/>
            </a:endParaRPr>
          </a:p>
        </p:txBody>
      </p:sp>
      <p:pic>
        <p:nvPicPr>
          <p:cNvPr id="5" name="图片 4"/>
          <p:cNvPicPr>
            <a:picLocks noChangeAspect="1"/>
          </p:cNvPicPr>
          <p:nvPr/>
        </p:nvPicPr>
        <p:blipFill>
          <a:blip r:embed="rId2"/>
          <a:stretch>
            <a:fillRect/>
          </a:stretch>
        </p:blipFill>
        <p:spPr>
          <a:xfrm>
            <a:off x="2590800" y="5638800"/>
            <a:ext cx="3448050" cy="6191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1891030" y="49911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9.3 </a:t>
            </a:r>
            <a:r>
              <a:rPr lang="en-US" altLang="zh-CN" b="1" dirty="0">
                <a:solidFill>
                  <a:srgbClr val="FF0000"/>
                </a:solidFill>
                <a:latin typeface="黑体" panose="02010609060101010101" pitchFamily="49" charset="-122"/>
                <a:ea typeface="黑体" panose="02010609060101010101" pitchFamily="49" charset="-122"/>
                <a:sym typeface="+mn-ea"/>
              </a:rPr>
              <a:t>A/D转换电路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6146" name="Rectangle 2"/>
          <p:cNvSpPr>
            <a:spLocks noGrp="1"/>
          </p:cNvSpPr>
          <p:nvPr>
            <p:ph type="title"/>
          </p:nvPr>
        </p:nvSpPr>
        <p:spPr>
          <a:xfrm>
            <a:off x="848360" y="1013778"/>
            <a:ext cx="5257800" cy="868362"/>
          </a:xfrm>
        </p:spPr>
        <p:txBody>
          <a:bodyPr vert="horz" wrap="square" lIns="91440" tIns="45720" rIns="91440" bIns="45720" anchor="ctr" anchorCtr="0"/>
          <a:p>
            <a:pPr algn="l" eaLnBrk="1" hangingPunct="1"/>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9</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3</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.1</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 </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A/D转换的一般工作过程</a:t>
            </a:r>
            <a:endPar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endParaRPr>
          </a:p>
        </p:txBody>
      </p:sp>
      <p:sp>
        <p:nvSpPr>
          <p:cNvPr id="100" name="文本框 99"/>
          <p:cNvSpPr txBox="1"/>
          <p:nvPr/>
        </p:nvSpPr>
        <p:spPr>
          <a:xfrm>
            <a:off x="309245" y="1676400"/>
            <a:ext cx="8756650" cy="829945"/>
          </a:xfrm>
          <a:prstGeom prst="rect">
            <a:avLst/>
          </a:prstGeom>
          <a:noFill/>
          <a:ln w="9525">
            <a:noFill/>
          </a:ln>
        </p:spPr>
        <p:txBody>
          <a:bodyPr wrap="square">
            <a:spAutoFit/>
          </a:bodyPr>
          <a:p>
            <a:pPr indent="266700">
              <a:lnSpc>
                <a:spcPct val="100000"/>
              </a:lnSpc>
            </a:pP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A/D</a:t>
            </a:r>
            <a:r>
              <a:rPr lang="zh-CN" sz="2400" b="1">
                <a:gradFill>
                  <a:gsLst>
                    <a:gs pos="0">
                      <a:srgbClr val="012D86"/>
                    </a:gs>
                    <a:gs pos="100000">
                      <a:srgbClr val="0E2557"/>
                    </a:gs>
                  </a:gsLst>
                  <a:lin scaled="0"/>
                </a:gradFill>
                <a:ea typeface="宋体" panose="02010600030101010101" pitchFamily="2" charset="-122"/>
              </a:rPr>
              <a:t>转换是将时间和幅值均连续的模拟量，转换成时间和幅值均离散的数字量</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430082" name="直接连接符 430081"/>
          <p:cNvSpPr/>
          <p:nvPr/>
        </p:nvSpPr>
        <p:spPr>
          <a:xfrm>
            <a:off x="2197100" y="3538538"/>
            <a:ext cx="0" cy="1793875"/>
          </a:xfrm>
          <a:prstGeom prst="line">
            <a:avLst/>
          </a:prstGeom>
          <a:ln w="28575" cap="flat" cmpd="sng">
            <a:solidFill>
              <a:srgbClr val="A3B2C1"/>
            </a:solidFill>
            <a:prstDash val="solid"/>
            <a:headEnd type="none" w="med" len="med"/>
            <a:tailEnd type="triangle" w="med" len="lg"/>
          </a:ln>
        </p:spPr>
      </p:sp>
      <p:sp>
        <p:nvSpPr>
          <p:cNvPr id="430083" name="文本框 430082"/>
          <p:cNvSpPr txBox="1"/>
          <p:nvPr/>
        </p:nvSpPr>
        <p:spPr>
          <a:xfrm flipH="1">
            <a:off x="2273300" y="3795395"/>
            <a:ext cx="662305" cy="1061720"/>
          </a:xfrm>
          <a:prstGeom prst="rect">
            <a:avLst/>
          </a:prstGeom>
          <a:noFill/>
          <a:ln w="19050">
            <a:noFill/>
          </a:ln>
        </p:spPr>
        <p:txBody>
          <a:bodyPr vert="eaVert" wrap="square">
            <a:spAutoFit/>
          </a:bodyPr>
          <a:p>
            <a:pPr>
              <a:lnSpc>
                <a:spcPct val="130000"/>
              </a:lnSpc>
              <a:spcBef>
                <a:spcPct val="50000"/>
              </a:spcBef>
            </a:pPr>
            <a:r>
              <a:rPr lang="zh-CN" altLang="en-US" sz="2400" b="1" dirty="0">
                <a:solidFill>
                  <a:srgbClr val="000066"/>
                </a:solidFill>
                <a:latin typeface="楷体_GB2312" panose="02010609030101010101" pitchFamily="49" charset="-122"/>
                <a:ea typeface="楷体_GB2312" panose="02010609030101010101" pitchFamily="49" charset="-122"/>
              </a:rPr>
              <a:t>取样</a:t>
            </a:r>
            <a:endParaRPr lang="zh-CN" altLang="en-US" sz="2400" b="1" dirty="0">
              <a:solidFill>
                <a:srgbClr val="000066"/>
              </a:solidFill>
              <a:latin typeface="楷体_GB2312" panose="02010609030101010101" pitchFamily="49" charset="-122"/>
              <a:ea typeface="楷体_GB2312" panose="02010609030101010101" pitchFamily="49" charset="-122"/>
            </a:endParaRPr>
          </a:p>
        </p:txBody>
      </p:sp>
      <p:sp>
        <p:nvSpPr>
          <p:cNvPr id="430084" name="文本框 430083"/>
          <p:cNvSpPr txBox="1"/>
          <p:nvPr/>
        </p:nvSpPr>
        <p:spPr>
          <a:xfrm>
            <a:off x="900113" y="5332413"/>
            <a:ext cx="2938462" cy="570865"/>
          </a:xfrm>
          <a:prstGeom prst="rect">
            <a:avLst/>
          </a:prstGeom>
          <a:noFill/>
          <a:ln w="28575" cap="flat" cmpd="sng">
            <a:solidFill>
              <a:srgbClr val="00CC66"/>
            </a:solidFill>
            <a:prstDash val="solid"/>
            <a:miter/>
            <a:headEnd type="none" w="med" len="med"/>
            <a:tailEnd type="none" w="med" len="med"/>
          </a:ln>
        </p:spPr>
        <p:txBody>
          <a:bodyPr>
            <a:spAutoFit/>
          </a:bodyPr>
          <a:p>
            <a:pPr algn="just">
              <a:lnSpc>
                <a:spcPct val="130000"/>
              </a:lnSpc>
              <a:spcBef>
                <a:spcPct val="50000"/>
              </a:spcBef>
            </a:pPr>
            <a:r>
              <a:rPr lang="zh-CN" altLang="en-US" sz="2400" b="1" dirty="0">
                <a:solidFill>
                  <a:srgbClr val="000066"/>
                </a:solidFill>
                <a:latin typeface="楷体_GB2312" panose="02010609030101010101" pitchFamily="49" charset="-122"/>
                <a:ea typeface="楷体_GB2312" panose="02010609030101010101" pitchFamily="49" charset="-122"/>
              </a:rPr>
              <a:t>时间上离散的信号</a:t>
            </a:r>
            <a:endParaRPr lang="zh-CN" altLang="en-US" sz="2400" b="1" dirty="0">
              <a:solidFill>
                <a:srgbClr val="000066"/>
              </a:solidFill>
              <a:latin typeface="楷体_GB2312" panose="02010609030101010101" pitchFamily="49" charset="-122"/>
              <a:ea typeface="楷体_GB2312" panose="02010609030101010101" pitchFamily="49" charset="-122"/>
            </a:endParaRPr>
          </a:p>
        </p:txBody>
      </p:sp>
      <p:sp>
        <p:nvSpPr>
          <p:cNvPr id="430085" name="直接连接符 430084"/>
          <p:cNvSpPr/>
          <p:nvPr/>
        </p:nvSpPr>
        <p:spPr>
          <a:xfrm>
            <a:off x="3797300" y="5656263"/>
            <a:ext cx="1209675" cy="0"/>
          </a:xfrm>
          <a:prstGeom prst="line">
            <a:avLst/>
          </a:prstGeom>
          <a:ln w="28575" cap="flat" cmpd="sng">
            <a:solidFill>
              <a:srgbClr val="00CC66"/>
            </a:solidFill>
            <a:prstDash val="solid"/>
            <a:headEnd type="none" w="med" len="med"/>
            <a:tailEnd type="triangle" w="med" len="lg"/>
          </a:ln>
        </p:spPr>
      </p:sp>
      <p:sp>
        <p:nvSpPr>
          <p:cNvPr id="430086" name="文本框 430085"/>
          <p:cNvSpPr txBox="1"/>
          <p:nvPr/>
        </p:nvSpPr>
        <p:spPr>
          <a:xfrm>
            <a:off x="3278188" y="4802188"/>
            <a:ext cx="2000250" cy="570865"/>
          </a:xfrm>
          <a:prstGeom prst="rect">
            <a:avLst/>
          </a:prstGeom>
          <a:noFill/>
          <a:ln w="19050" cap="flat" cmpd="sng">
            <a:solidFill>
              <a:schemeClr val="bg1"/>
            </a:solidFill>
            <a:prstDash val="solid"/>
            <a:miter/>
            <a:headEnd type="none" w="med" len="med"/>
            <a:tailEnd type="none" w="med" len="med"/>
          </a:ln>
        </p:spPr>
        <p:txBody>
          <a:bodyPr lIns="0" rIns="0">
            <a:spAutoFit/>
          </a:bodyPr>
          <a:p>
            <a:pPr>
              <a:lnSpc>
                <a:spcPct val="130000"/>
              </a:lnSpc>
              <a:spcBef>
                <a:spcPct val="50000"/>
              </a:spcBef>
            </a:pPr>
            <a:r>
              <a:rPr lang="zh-CN" altLang="en-US" sz="2400" b="1" dirty="0">
                <a:solidFill>
                  <a:srgbClr val="000066"/>
                </a:solidFill>
                <a:latin typeface="楷体_GB2312" panose="02010609030101010101" pitchFamily="49" charset="-122"/>
                <a:ea typeface="楷体_GB2312" panose="02010609030101010101" pitchFamily="49" charset="-122"/>
              </a:rPr>
              <a:t>保持、量化</a:t>
            </a:r>
            <a:endParaRPr lang="zh-CN" altLang="en-US" sz="2400" b="1" dirty="0">
              <a:solidFill>
                <a:srgbClr val="000066"/>
              </a:solidFill>
              <a:latin typeface="楷体_GB2312" panose="02010609030101010101" pitchFamily="49" charset="-122"/>
              <a:ea typeface="楷体_GB2312" panose="02010609030101010101" pitchFamily="49" charset="-122"/>
            </a:endParaRPr>
          </a:p>
        </p:txBody>
      </p:sp>
      <p:sp>
        <p:nvSpPr>
          <p:cNvPr id="430087" name="文本框 430086"/>
          <p:cNvSpPr txBox="1"/>
          <p:nvPr/>
        </p:nvSpPr>
        <p:spPr>
          <a:xfrm>
            <a:off x="5024121" y="5332413"/>
            <a:ext cx="2937510" cy="570865"/>
          </a:xfrm>
          <a:prstGeom prst="rect">
            <a:avLst/>
          </a:prstGeom>
          <a:noFill/>
          <a:ln w="28575" cap="flat" cmpd="sng">
            <a:solidFill>
              <a:srgbClr val="FFCC00"/>
            </a:solidFill>
            <a:prstDash val="solid"/>
            <a:miter/>
            <a:headEnd type="none" w="med" len="med"/>
            <a:tailEnd type="none" w="med" len="med"/>
          </a:ln>
        </p:spPr>
        <p:txBody>
          <a:bodyPr wrap="none">
            <a:spAutoFit/>
          </a:bodyPr>
          <a:p>
            <a:pPr algn="just">
              <a:lnSpc>
                <a:spcPct val="130000"/>
              </a:lnSpc>
              <a:spcBef>
                <a:spcPct val="50000"/>
              </a:spcBef>
            </a:pPr>
            <a:r>
              <a:rPr lang="zh-CN" sz="2400" b="1">
                <a:gradFill>
                  <a:gsLst>
                    <a:gs pos="0">
                      <a:srgbClr val="012D86"/>
                    </a:gs>
                    <a:gs pos="100000">
                      <a:srgbClr val="0E2557"/>
                    </a:gs>
                  </a:gsLst>
                  <a:lin scaled="0"/>
                </a:gradFill>
                <a:sym typeface="+mn-ea"/>
              </a:rPr>
              <a:t>幅</a:t>
            </a:r>
            <a:r>
              <a:rPr lang="zh-CN" altLang="en-US" sz="2400" b="1" dirty="0">
                <a:solidFill>
                  <a:srgbClr val="000066"/>
                </a:solidFill>
                <a:latin typeface="楷体_GB2312" panose="02010609030101010101" pitchFamily="49" charset="-122"/>
                <a:ea typeface="楷体_GB2312" panose="02010609030101010101" pitchFamily="49" charset="-122"/>
              </a:rPr>
              <a:t>值上也离散的信号</a:t>
            </a:r>
            <a:endParaRPr lang="zh-CN" altLang="en-US" sz="2400" b="1" dirty="0">
              <a:solidFill>
                <a:srgbClr val="000066"/>
              </a:solidFill>
              <a:latin typeface="楷体_GB2312" panose="02010609030101010101" pitchFamily="49" charset="-122"/>
              <a:ea typeface="楷体_GB2312" panose="02010609030101010101" pitchFamily="49" charset="-122"/>
            </a:endParaRPr>
          </a:p>
        </p:txBody>
      </p:sp>
      <p:sp>
        <p:nvSpPr>
          <p:cNvPr id="430088" name="直接连接符 430087"/>
          <p:cNvSpPr/>
          <p:nvPr/>
        </p:nvSpPr>
        <p:spPr>
          <a:xfrm flipV="1">
            <a:off x="6432550" y="3598863"/>
            <a:ext cx="0" cy="1735137"/>
          </a:xfrm>
          <a:prstGeom prst="line">
            <a:avLst/>
          </a:prstGeom>
          <a:ln w="28575" cap="flat" cmpd="sng">
            <a:solidFill>
              <a:srgbClr val="FFCC00"/>
            </a:solidFill>
            <a:prstDash val="solid"/>
            <a:headEnd type="none" w="med" len="med"/>
            <a:tailEnd type="triangle" w="med" len="lg"/>
          </a:ln>
        </p:spPr>
      </p:sp>
      <p:sp>
        <p:nvSpPr>
          <p:cNvPr id="430089" name="文本框 430088"/>
          <p:cNvSpPr txBox="1"/>
          <p:nvPr/>
        </p:nvSpPr>
        <p:spPr>
          <a:xfrm>
            <a:off x="6552883" y="3917315"/>
            <a:ext cx="662305" cy="711200"/>
          </a:xfrm>
          <a:prstGeom prst="rect">
            <a:avLst/>
          </a:prstGeom>
          <a:solidFill>
            <a:srgbClr val="FFFFFF">
              <a:alpha val="0"/>
            </a:srgbClr>
          </a:solidFill>
          <a:ln w="19050" cap="flat" cmpd="sng">
            <a:solidFill>
              <a:schemeClr val="bg1"/>
            </a:solidFill>
            <a:prstDash val="solid"/>
            <a:miter/>
            <a:headEnd type="none" w="med" len="med"/>
            <a:tailEnd type="none" w="med" len="med"/>
          </a:ln>
        </p:spPr>
        <p:txBody>
          <a:bodyPr vert="eaVert">
            <a:spAutoFit/>
          </a:bodyPr>
          <a:p>
            <a:pPr>
              <a:lnSpc>
                <a:spcPct val="130000"/>
              </a:lnSpc>
              <a:spcBef>
                <a:spcPct val="50000"/>
              </a:spcBef>
            </a:pPr>
            <a:r>
              <a:rPr lang="zh-CN" altLang="en-US" sz="2400" b="1" dirty="0">
                <a:solidFill>
                  <a:srgbClr val="000066"/>
                </a:solidFill>
                <a:latin typeface="楷体_GB2312" panose="02010609030101010101" pitchFamily="49" charset="-122"/>
                <a:ea typeface="楷体_GB2312" panose="02010609030101010101" pitchFamily="49" charset="-122"/>
              </a:rPr>
              <a:t>编码</a:t>
            </a:r>
            <a:endParaRPr lang="zh-CN" altLang="en-US" sz="2400" b="1" dirty="0">
              <a:solidFill>
                <a:srgbClr val="000066"/>
              </a:solidFill>
              <a:latin typeface="楷体_GB2312" panose="02010609030101010101" pitchFamily="49" charset="-122"/>
              <a:ea typeface="楷体_GB2312" panose="02010609030101010101" pitchFamily="49" charset="-122"/>
            </a:endParaRPr>
          </a:p>
        </p:txBody>
      </p:sp>
      <p:grpSp>
        <p:nvGrpSpPr>
          <p:cNvPr id="430090" name="组合 430089"/>
          <p:cNvGrpSpPr/>
          <p:nvPr/>
        </p:nvGrpSpPr>
        <p:grpSpPr>
          <a:xfrm>
            <a:off x="639763" y="2398713"/>
            <a:ext cx="2938781" cy="1119188"/>
            <a:chOff x="606" y="1312"/>
            <a:chExt cx="1733" cy="705"/>
          </a:xfrm>
        </p:grpSpPr>
        <p:sp>
          <p:nvSpPr>
            <p:cNvPr id="430091" name="文本框 430090"/>
            <p:cNvSpPr txBox="1"/>
            <p:nvPr/>
          </p:nvSpPr>
          <p:spPr>
            <a:xfrm>
              <a:off x="1116" y="1657"/>
              <a:ext cx="906" cy="360"/>
            </a:xfrm>
            <a:prstGeom prst="rect">
              <a:avLst/>
            </a:prstGeom>
            <a:noFill/>
            <a:ln w="28575" cap="flat" cmpd="sng">
              <a:solidFill>
                <a:schemeClr val="accent1"/>
              </a:solidFill>
              <a:prstDash val="solid"/>
              <a:miter/>
              <a:headEnd type="none" w="med" len="med"/>
              <a:tailEnd type="none" w="med" len="med"/>
            </a:ln>
          </p:spPr>
          <p:txBody>
            <a:bodyPr>
              <a:spAutoFit/>
            </a:bodyPr>
            <a:p>
              <a:pPr algn="just">
                <a:lnSpc>
                  <a:spcPct val="130000"/>
                </a:lnSpc>
                <a:spcBef>
                  <a:spcPct val="50000"/>
                </a:spcBef>
              </a:pPr>
              <a:r>
                <a:rPr lang="zh-CN" altLang="en-US" sz="2400" b="1" dirty="0">
                  <a:solidFill>
                    <a:srgbClr val="000066"/>
                  </a:solidFill>
                  <a:latin typeface="楷体_GB2312" panose="02010609030101010101" pitchFamily="49" charset="-122"/>
                  <a:ea typeface="楷体_GB2312" panose="02010609030101010101" pitchFamily="49" charset="-122"/>
                </a:rPr>
                <a:t>模拟信号</a:t>
              </a:r>
              <a:endParaRPr lang="zh-CN" altLang="en-US" sz="2400" b="1" dirty="0">
                <a:solidFill>
                  <a:srgbClr val="000066"/>
                </a:solidFill>
                <a:latin typeface="楷体_GB2312" panose="02010609030101010101" pitchFamily="49" charset="-122"/>
                <a:ea typeface="楷体_GB2312" panose="02010609030101010101" pitchFamily="49" charset="-122"/>
              </a:endParaRPr>
            </a:p>
          </p:txBody>
        </p:sp>
        <p:sp>
          <p:nvSpPr>
            <p:cNvPr id="430092" name="文本框 430091"/>
            <p:cNvSpPr txBox="1"/>
            <p:nvPr/>
          </p:nvSpPr>
          <p:spPr>
            <a:xfrm>
              <a:off x="606" y="1312"/>
              <a:ext cx="1733" cy="360"/>
            </a:xfrm>
            <a:prstGeom prst="rect">
              <a:avLst/>
            </a:prstGeom>
            <a:noFill/>
            <a:ln w="19050">
              <a:noFill/>
            </a:ln>
          </p:spPr>
          <p:txBody>
            <a:bodyPr wrap="none">
              <a:spAutoFit/>
            </a:bodyPr>
            <a:p>
              <a:pPr algn="l">
                <a:lnSpc>
                  <a:spcPct val="130000"/>
                </a:lnSpc>
                <a:spcBef>
                  <a:spcPct val="50000"/>
                </a:spcBef>
              </a:pPr>
              <a:r>
                <a:rPr lang="en-US" altLang="zh-CN" sz="2400" b="1" dirty="0">
                  <a:solidFill>
                    <a:srgbClr val="000066"/>
                  </a:solidFill>
                  <a:latin typeface="楷体_GB2312" panose="02010609030101010101" pitchFamily="49" charset="-122"/>
                  <a:ea typeface="楷体_GB2312" panose="02010609030101010101" pitchFamily="49" charset="-122"/>
                </a:rPr>
                <a:t>  </a:t>
              </a:r>
              <a:r>
                <a:rPr lang="zh-CN" altLang="en-US" sz="2400" b="1" dirty="0">
                  <a:solidFill>
                    <a:srgbClr val="000066"/>
                  </a:solidFill>
                  <a:latin typeface="楷体_GB2312" panose="02010609030101010101" pitchFamily="49" charset="-122"/>
                  <a:ea typeface="楷体_GB2312" panose="02010609030101010101" pitchFamily="49" charset="-122"/>
                </a:rPr>
                <a:t>时间和</a:t>
              </a:r>
              <a:r>
                <a:rPr lang="zh-CN" sz="2400" b="1">
                  <a:gradFill>
                    <a:gsLst>
                      <a:gs pos="0">
                        <a:srgbClr val="012D86"/>
                      </a:gs>
                      <a:gs pos="100000">
                        <a:srgbClr val="0E2557"/>
                      </a:gs>
                    </a:gsLst>
                    <a:lin scaled="0"/>
                  </a:gradFill>
                  <a:sym typeface="+mn-ea"/>
                </a:rPr>
                <a:t>幅</a:t>
              </a:r>
              <a:r>
                <a:rPr lang="zh-CN" altLang="en-US" sz="2400" b="1" dirty="0">
                  <a:solidFill>
                    <a:srgbClr val="000066"/>
                  </a:solidFill>
                  <a:latin typeface="楷体_GB2312" panose="02010609030101010101" pitchFamily="49" charset="-122"/>
                  <a:ea typeface="楷体_GB2312" panose="02010609030101010101" pitchFamily="49" charset="-122"/>
                </a:rPr>
                <a:t>值</a:t>
              </a:r>
              <a:r>
                <a:rPr lang="zh-CN" sz="2400" b="1">
                  <a:gradFill>
                    <a:gsLst>
                      <a:gs pos="0">
                        <a:srgbClr val="012D86"/>
                      </a:gs>
                      <a:gs pos="100000">
                        <a:srgbClr val="0E2557"/>
                      </a:gs>
                    </a:gsLst>
                    <a:lin scaled="0"/>
                  </a:gradFill>
                  <a:sym typeface="+mn-ea"/>
                </a:rPr>
                <a:t>均</a:t>
              </a:r>
              <a:r>
                <a:rPr lang="zh-CN" altLang="en-US" sz="2400" b="1" dirty="0">
                  <a:solidFill>
                    <a:srgbClr val="000066"/>
                  </a:solidFill>
                  <a:latin typeface="楷体_GB2312" panose="02010609030101010101" pitchFamily="49" charset="-122"/>
                  <a:ea typeface="楷体_GB2312" panose="02010609030101010101" pitchFamily="49" charset="-122"/>
                </a:rPr>
                <a:t>连续</a:t>
              </a:r>
              <a:endParaRPr lang="zh-CN" altLang="en-US" sz="2400" b="1" dirty="0">
                <a:solidFill>
                  <a:srgbClr val="000066"/>
                </a:solidFill>
                <a:latin typeface="楷体_GB2312" panose="02010609030101010101" pitchFamily="49" charset="-122"/>
                <a:ea typeface="楷体_GB2312" panose="02010609030101010101" pitchFamily="49" charset="-122"/>
              </a:endParaRPr>
            </a:p>
          </p:txBody>
        </p:sp>
      </p:grpSp>
      <p:grpSp>
        <p:nvGrpSpPr>
          <p:cNvPr id="430093" name="组合 430092"/>
          <p:cNvGrpSpPr/>
          <p:nvPr/>
        </p:nvGrpSpPr>
        <p:grpSpPr>
          <a:xfrm>
            <a:off x="4986338" y="2514600"/>
            <a:ext cx="2784475" cy="1062038"/>
            <a:chOff x="3182" y="1348"/>
            <a:chExt cx="1754" cy="669"/>
          </a:xfrm>
        </p:grpSpPr>
        <p:sp>
          <p:nvSpPr>
            <p:cNvPr id="430094" name="文本框 430093"/>
            <p:cNvSpPr txBox="1"/>
            <p:nvPr/>
          </p:nvSpPr>
          <p:spPr>
            <a:xfrm>
              <a:off x="3722" y="1657"/>
              <a:ext cx="886" cy="360"/>
            </a:xfrm>
            <a:prstGeom prst="rect">
              <a:avLst/>
            </a:prstGeom>
            <a:noFill/>
            <a:ln w="28575" cap="flat" cmpd="sng">
              <a:solidFill>
                <a:schemeClr val="accent1"/>
              </a:solidFill>
              <a:prstDash val="solid"/>
              <a:miter/>
              <a:headEnd type="none" w="med" len="med"/>
              <a:tailEnd type="none" w="med" len="med"/>
            </a:ln>
          </p:spPr>
          <p:txBody>
            <a:bodyPr wrap="none">
              <a:spAutoFit/>
            </a:bodyPr>
            <a:p>
              <a:pPr algn="just">
                <a:lnSpc>
                  <a:spcPct val="130000"/>
                </a:lnSpc>
                <a:spcBef>
                  <a:spcPct val="50000"/>
                </a:spcBef>
              </a:pPr>
              <a:r>
                <a:rPr lang="zh-CN" altLang="en-US" sz="2400" b="1" dirty="0">
                  <a:solidFill>
                    <a:srgbClr val="000066"/>
                  </a:solidFill>
                  <a:latin typeface="楷体_GB2312" panose="02010609030101010101" pitchFamily="49" charset="-122"/>
                  <a:ea typeface="楷体_GB2312" panose="02010609030101010101" pitchFamily="49" charset="-122"/>
                </a:rPr>
                <a:t>数字信号</a:t>
              </a:r>
              <a:endParaRPr lang="zh-CN" altLang="en-US" sz="2400" b="1" dirty="0">
                <a:solidFill>
                  <a:srgbClr val="000066"/>
                </a:solidFill>
                <a:latin typeface="楷体_GB2312" panose="02010609030101010101" pitchFamily="49" charset="-122"/>
                <a:ea typeface="楷体_GB2312" panose="02010609030101010101" pitchFamily="49" charset="-122"/>
              </a:endParaRPr>
            </a:p>
          </p:txBody>
        </p:sp>
        <p:sp>
          <p:nvSpPr>
            <p:cNvPr id="430095" name="文本框 430094"/>
            <p:cNvSpPr txBox="1"/>
            <p:nvPr/>
          </p:nvSpPr>
          <p:spPr>
            <a:xfrm>
              <a:off x="3182" y="1348"/>
              <a:ext cx="1754" cy="360"/>
            </a:xfrm>
            <a:prstGeom prst="rect">
              <a:avLst/>
            </a:prstGeom>
            <a:noFill/>
            <a:ln w="19050">
              <a:noFill/>
            </a:ln>
          </p:spPr>
          <p:txBody>
            <a:bodyPr wrap="none">
              <a:spAutoFit/>
            </a:bodyPr>
            <a:p>
              <a:pPr algn="l">
                <a:lnSpc>
                  <a:spcPct val="130000"/>
                </a:lnSpc>
                <a:spcBef>
                  <a:spcPct val="50000"/>
                </a:spcBef>
              </a:pPr>
              <a:r>
                <a:rPr lang="en-US" altLang="zh-CN" sz="2400" b="1" dirty="0">
                  <a:solidFill>
                    <a:srgbClr val="000066"/>
                  </a:solidFill>
                  <a:latin typeface="楷体_GB2312" panose="02010609030101010101" pitchFamily="49" charset="-122"/>
                  <a:ea typeface="楷体_GB2312" panose="02010609030101010101" pitchFamily="49" charset="-122"/>
                </a:rPr>
                <a:t> </a:t>
              </a:r>
              <a:r>
                <a:rPr lang="zh-CN" altLang="en-US" sz="2400" b="1" dirty="0">
                  <a:solidFill>
                    <a:srgbClr val="000066"/>
                  </a:solidFill>
                  <a:latin typeface="楷体_GB2312" panose="02010609030101010101" pitchFamily="49" charset="-122"/>
                  <a:ea typeface="楷体_GB2312" panose="02010609030101010101" pitchFamily="49" charset="-122"/>
                </a:rPr>
                <a:t>时间和</a:t>
              </a:r>
              <a:r>
                <a:rPr lang="zh-CN" sz="2400" b="1">
                  <a:gradFill>
                    <a:gsLst>
                      <a:gs pos="0">
                        <a:srgbClr val="012D86"/>
                      </a:gs>
                      <a:gs pos="100000">
                        <a:srgbClr val="0E2557"/>
                      </a:gs>
                    </a:gsLst>
                    <a:lin scaled="0"/>
                  </a:gradFill>
                  <a:sym typeface="+mn-ea"/>
                </a:rPr>
                <a:t>幅</a:t>
              </a:r>
              <a:r>
                <a:rPr lang="zh-CN" altLang="en-US" sz="2400" b="1" dirty="0">
                  <a:solidFill>
                    <a:srgbClr val="000066"/>
                  </a:solidFill>
                  <a:latin typeface="楷体_GB2312" panose="02010609030101010101" pitchFamily="49" charset="-122"/>
                  <a:ea typeface="楷体_GB2312" panose="02010609030101010101" pitchFamily="49" charset="-122"/>
                </a:rPr>
                <a:t>值</a:t>
              </a:r>
              <a:r>
                <a:rPr lang="zh-CN" sz="2400" b="1">
                  <a:gradFill>
                    <a:gsLst>
                      <a:gs pos="0">
                        <a:srgbClr val="012D86"/>
                      </a:gs>
                      <a:gs pos="100000">
                        <a:srgbClr val="0E2557"/>
                      </a:gs>
                    </a:gsLst>
                    <a:lin scaled="0"/>
                  </a:gradFill>
                  <a:sym typeface="+mn-ea"/>
                </a:rPr>
                <a:t>均</a:t>
              </a:r>
              <a:r>
                <a:rPr lang="zh-CN" altLang="en-US" sz="2400" b="1" dirty="0">
                  <a:solidFill>
                    <a:srgbClr val="000066"/>
                  </a:solidFill>
                  <a:latin typeface="楷体_GB2312" panose="02010609030101010101" pitchFamily="49" charset="-122"/>
                  <a:ea typeface="楷体_GB2312" panose="02010609030101010101" pitchFamily="49" charset="-122"/>
                </a:rPr>
                <a:t>离散</a:t>
              </a:r>
              <a:endParaRPr lang="zh-CN" altLang="en-US" sz="2400" b="1" dirty="0">
                <a:solidFill>
                  <a:srgbClr val="000066"/>
                </a:solidFill>
                <a:latin typeface="楷体_GB2312" panose="02010609030101010101" pitchFamily="49" charset="-122"/>
                <a:ea typeface="楷体_GB2312" panose="02010609030101010101" pitchFamily="49" charset="-122"/>
              </a:endParaRPr>
            </a:p>
          </p:txBody>
        </p:sp>
      </p:grpSp>
      <p:sp>
        <p:nvSpPr>
          <p:cNvPr id="430096" name="右箭头 430095"/>
          <p:cNvSpPr/>
          <p:nvPr/>
        </p:nvSpPr>
        <p:spPr>
          <a:xfrm>
            <a:off x="3278188" y="3027680"/>
            <a:ext cx="2390775" cy="527050"/>
          </a:xfrm>
          <a:prstGeom prst="rightArrow">
            <a:avLst>
              <a:gd name="adj1" fmla="val 50000"/>
              <a:gd name="adj2" fmla="val 113403"/>
            </a:avLst>
          </a:prstGeom>
          <a:solidFill>
            <a:srgbClr val="92D050"/>
          </a:solidFill>
          <a:ln w="9525" cap="flat" cmpd="sng">
            <a:solidFill>
              <a:schemeClr val="accent1"/>
            </a:solidFill>
            <a:prstDash val="solid"/>
            <a:miter/>
            <a:headEnd type="none" w="med" len="med"/>
            <a:tailEnd type="none" w="med" len="med"/>
          </a:ln>
        </p:spPr>
        <p:txBody>
          <a:bodyPr>
            <a:spAutoFit/>
          </a:bodyPr>
          <a:p>
            <a:pPr algn="l">
              <a:spcBef>
                <a:spcPct val="50000"/>
              </a:spcBef>
            </a:pPr>
            <a:endParaRPr lang="en-GB" altLang="x-none" sz="1400" b="1" dirty="0">
              <a:solidFill>
                <a:srgbClr val="000066"/>
              </a:solidFill>
              <a:latin typeface="楷体_GB2312" panose="02010609030101010101" pitchFamily="49" charset="-122"/>
              <a:ea typeface="楷体_GB2312" panose="02010609030101010101" pitchFamily="49" charset="-122"/>
            </a:endParaRPr>
          </a:p>
        </p:txBody>
      </p:sp>
      <p:sp>
        <p:nvSpPr>
          <p:cNvPr id="430099" name="矩形 430098"/>
          <p:cNvSpPr/>
          <p:nvPr/>
        </p:nvSpPr>
        <p:spPr>
          <a:xfrm>
            <a:off x="476885" y="5897563"/>
            <a:ext cx="8421688" cy="639762"/>
          </a:xfrm>
          <a:prstGeom prst="rect">
            <a:avLst/>
          </a:prstGeom>
          <a:noFill/>
          <a:ln w="12700">
            <a:noFill/>
          </a:ln>
        </p:spPr>
        <p:txBody>
          <a:bodyPr>
            <a:spAutoFit/>
          </a:bodyPr>
          <a:lstStyle>
            <a:lvl1pPr marL="469900" lvl="0" indent="-46990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3000" b="1" u="none" kern="1200" baseline="0">
                <a:solidFill>
                  <a:schemeClr val="tx1"/>
                </a:solidFill>
                <a:latin typeface="Arial Narrow" panose="020B0506020202030204" pitchFamily="34" charset="0"/>
                <a:ea typeface="楷体_GB2312" panose="02010609030101010101" pitchFamily="49" charset="-122"/>
              </a:defRPr>
            </a:lvl1pPr>
            <a:lvl2pPr marL="908050" lvl="1" indent="-436245"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3000" b="1" i="0" u="none" kern="1200" baseline="0">
                <a:solidFill>
                  <a:schemeClr val="tx1"/>
                </a:solidFill>
                <a:latin typeface="Arial Narrow" panose="020B0506020202030204" pitchFamily="34" charset="0"/>
                <a:ea typeface="楷体_GB2312" panose="02010609030101010101" pitchFamily="49" charset="-122"/>
              </a:defRPr>
            </a:lvl2pPr>
            <a:lvl3pPr marL="1304925" lvl="2" indent="-39497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800" b="1" i="0" u="none" kern="1200" baseline="0">
                <a:solidFill>
                  <a:schemeClr val="tx1"/>
                </a:solidFill>
                <a:latin typeface="Arial Narrow" panose="020B0506020202030204" pitchFamily="34" charset="0"/>
                <a:ea typeface="楷体_GB2312" panose="02010609030101010101" pitchFamily="49" charset="-122"/>
              </a:defRPr>
            </a:lvl3pPr>
            <a:lvl4pPr marL="1694180" lvl="3" indent="-387350" algn="l" defTabSz="914400" rtl="0" eaLnBrk="1" fontAlgn="base" latinLnBrk="0" hangingPunct="1">
              <a:lnSpc>
                <a:spcPct val="100000"/>
              </a:lnSpc>
              <a:spcBef>
                <a:spcPct val="20000"/>
              </a:spcBef>
              <a:spcAft>
                <a:spcPct val="0"/>
              </a:spcAft>
              <a:buClr>
                <a:schemeClr val="accent2"/>
              </a:buClr>
              <a:buFont typeface="Wingdings" panose="05000000000000000000" pitchFamily="2" charset="2"/>
              <a:buChar char="n"/>
              <a:defRPr sz="2400" b="1" i="0" u="none" kern="1200" baseline="0">
                <a:solidFill>
                  <a:schemeClr val="tx1"/>
                </a:solidFill>
                <a:latin typeface="Arial Narrow" panose="020B0506020202030204" pitchFamily="34" charset="0"/>
                <a:ea typeface="楷体_GB2312" panose="02010609030101010101" pitchFamily="49" charset="-122"/>
              </a:defRPr>
            </a:lvl4pPr>
            <a:lvl5pPr marL="2094230" lvl="4" indent="-398780" algn="l" defTabSz="914400" rtl="0" eaLnBrk="1" fontAlgn="base" latinLnBrk="0" hangingPunct="1">
              <a:lnSpc>
                <a:spcPct val="100000"/>
              </a:lnSpc>
              <a:spcBef>
                <a:spcPct val="25000"/>
              </a:spcBef>
              <a:spcAft>
                <a:spcPct val="0"/>
              </a:spcAft>
              <a:buClr>
                <a:schemeClr val="accent2"/>
              </a:buClr>
              <a:buFont typeface="Wingdings" panose="05000000000000000000" pitchFamily="2" charset="2"/>
              <a:buChar char="§"/>
              <a:defRPr sz="2400" b="1" i="0" u="none" kern="1200" baseline="0">
                <a:solidFill>
                  <a:schemeClr val="tx1"/>
                </a:solidFill>
                <a:latin typeface="Arial Narrow" panose="020B0506020202030204" pitchFamily="34" charset="0"/>
                <a:ea typeface="楷体_GB2312" panose="02010609030101010101" pitchFamily="49" charset="-122"/>
              </a:defRPr>
            </a:lvl5pPr>
          </a:lstStyle>
          <a:p>
            <a:pPr marL="0" lvl="0" indent="0" algn="just">
              <a:lnSpc>
                <a:spcPct val="150000"/>
              </a:lnSpc>
              <a:buNone/>
            </a:pPr>
            <a:r>
              <a:rPr lang="en-US" altLang="zh-CN" sz="2100">
                <a:solidFill>
                  <a:schemeClr val="accent2"/>
                </a:solidFill>
              </a:rPr>
              <a:t>    </a:t>
            </a:r>
            <a:r>
              <a:rPr lang="en-US" altLang="zh-CN" sz="2400" dirty="0">
                <a:solidFill>
                  <a:srgbClr val="000099"/>
                </a:solidFill>
                <a:latin typeface="Times New Roman" panose="02020603050405020304" charset="0"/>
              </a:rPr>
              <a:t>A/D</a:t>
            </a:r>
            <a:r>
              <a:rPr lang="zh-CN" altLang="en-US" sz="2400" dirty="0">
                <a:solidFill>
                  <a:srgbClr val="000099"/>
                </a:solidFill>
                <a:latin typeface="Times New Roman" panose="02020603050405020304" charset="0"/>
              </a:rPr>
              <a:t>转换器一般要包括</a:t>
            </a:r>
            <a:r>
              <a:rPr lang="zh-CN" altLang="en-US" sz="2400" dirty="0">
                <a:solidFill>
                  <a:schemeClr val="accent2"/>
                </a:solidFill>
                <a:latin typeface="Times New Roman" panose="02020603050405020304" charset="0"/>
              </a:rPr>
              <a:t>取样， 保持，量化及编码</a:t>
            </a:r>
            <a:r>
              <a:rPr lang="en-US" altLang="zh-CN" sz="2400" dirty="0">
                <a:solidFill>
                  <a:srgbClr val="000099"/>
                </a:solidFill>
                <a:latin typeface="Times New Roman" panose="02020603050405020304" charset="0"/>
              </a:rPr>
              <a:t>4</a:t>
            </a:r>
            <a:r>
              <a:rPr lang="zh-CN" altLang="en-US" sz="2400" dirty="0">
                <a:solidFill>
                  <a:srgbClr val="000099"/>
                </a:solidFill>
                <a:latin typeface="Times New Roman" panose="02020603050405020304" charset="0"/>
              </a:rPr>
              <a:t>个过程</a:t>
            </a:r>
            <a:r>
              <a:rPr lang="zh-CN" altLang="en-US" sz="2400" dirty="0">
                <a:solidFill>
                  <a:schemeClr val="accent2"/>
                </a:solidFill>
                <a:latin typeface="Times New Roman" panose="02020603050405020304" charset="0"/>
              </a:rPr>
              <a:t>。</a:t>
            </a:r>
            <a:endParaRPr lang="zh-CN" altLang="en-US" sz="2400" dirty="0">
              <a:solidFill>
                <a:schemeClr val="accent2"/>
              </a:solidFill>
              <a:latin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30090"/>
                                        </p:tgtEl>
                                        <p:attrNameLst>
                                          <p:attrName>style.visibility</p:attrName>
                                        </p:attrNameLst>
                                      </p:cBhvr>
                                      <p:to>
                                        <p:strVal val="visible"/>
                                      </p:to>
                                    </p:set>
                                    <p:animEffect transition="in" filter="wipe(up)">
                                      <p:cBhvr>
                                        <p:cTn id="7" dur="500"/>
                                        <p:tgtEl>
                                          <p:spTgt spid="430090"/>
                                        </p:tgtEl>
                                      </p:cBhvr>
                                    </p:animEffect>
                                  </p:childTnLst>
                                </p:cTn>
                              </p:par>
                            </p:childTnLst>
                          </p:cTn>
                        </p:par>
                        <p:par>
                          <p:cTn id="8" fill="hold">
                            <p:stCondLst>
                              <p:cond delay="500"/>
                            </p:stCondLst>
                            <p:childTnLst>
                              <p:par>
                                <p:cTn id="9" presetID="22" presetClass="entr" presetSubtype="8" fill="hold" grpId="0" nodeType="afterEffect">
                                  <p:stCondLst>
                                    <p:cond delay="1000"/>
                                  </p:stCondLst>
                                  <p:childTnLst>
                                    <p:set>
                                      <p:cBhvr>
                                        <p:cTn id="10" dur="1" fill="hold">
                                          <p:stCondLst>
                                            <p:cond delay="0"/>
                                          </p:stCondLst>
                                        </p:cTn>
                                        <p:tgtEl>
                                          <p:spTgt spid="430096"/>
                                        </p:tgtEl>
                                        <p:attrNameLst>
                                          <p:attrName>style.visibility</p:attrName>
                                        </p:attrNameLst>
                                      </p:cBhvr>
                                      <p:to>
                                        <p:strVal val="visible"/>
                                      </p:to>
                                    </p:set>
                                    <p:animEffect transition="in" filter="wipe(left)">
                                      <p:cBhvr>
                                        <p:cTn id="11" dur="500"/>
                                        <p:tgtEl>
                                          <p:spTgt spid="430096"/>
                                        </p:tgtEl>
                                      </p:cBhvr>
                                    </p:animEffect>
                                  </p:childTnLst>
                                </p:cTn>
                              </p:par>
                            </p:childTnLst>
                          </p:cTn>
                        </p:par>
                        <p:par>
                          <p:cTn id="12" fill="hold">
                            <p:stCondLst>
                              <p:cond delay="2000"/>
                            </p:stCondLst>
                            <p:childTnLst>
                              <p:par>
                                <p:cTn id="13" presetID="22" presetClass="entr" presetSubtype="1" fill="hold" nodeType="afterEffect">
                                  <p:stCondLst>
                                    <p:cond delay="1000"/>
                                  </p:stCondLst>
                                  <p:childTnLst>
                                    <p:set>
                                      <p:cBhvr>
                                        <p:cTn id="14" dur="1" fill="hold">
                                          <p:stCondLst>
                                            <p:cond delay="0"/>
                                          </p:stCondLst>
                                        </p:cTn>
                                        <p:tgtEl>
                                          <p:spTgt spid="430093"/>
                                        </p:tgtEl>
                                        <p:attrNameLst>
                                          <p:attrName>style.visibility</p:attrName>
                                        </p:attrNameLst>
                                      </p:cBhvr>
                                      <p:to>
                                        <p:strVal val="visible"/>
                                      </p:to>
                                    </p:set>
                                    <p:animEffect transition="in" filter="wipe(up)">
                                      <p:cBhvr>
                                        <p:cTn id="15" dur="500"/>
                                        <p:tgtEl>
                                          <p:spTgt spid="43009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430082"/>
                                        </p:tgtEl>
                                        <p:attrNameLst>
                                          <p:attrName>style.visibility</p:attrName>
                                        </p:attrNameLst>
                                      </p:cBhvr>
                                      <p:to>
                                        <p:strVal val="visible"/>
                                      </p:to>
                                    </p:set>
                                    <p:animEffect transition="in" filter="wipe(up)">
                                      <p:cBhvr>
                                        <p:cTn id="20" dur="500"/>
                                        <p:tgtEl>
                                          <p:spTgt spid="430082"/>
                                        </p:tgtEl>
                                      </p:cBhvr>
                                    </p:animEffect>
                                  </p:childTnLst>
                                </p:cTn>
                              </p:par>
                            </p:childTnLst>
                          </p:cTn>
                        </p:par>
                        <p:par>
                          <p:cTn id="21" fill="hold">
                            <p:stCondLst>
                              <p:cond delay="500"/>
                            </p:stCondLst>
                            <p:childTnLst>
                              <p:par>
                                <p:cTn id="22" presetID="18" presetClass="entr" presetSubtype="6" fill="hold" grpId="0" nodeType="afterEffect">
                                  <p:stCondLst>
                                    <p:cond delay="1000"/>
                                  </p:stCondLst>
                                  <p:childTnLst>
                                    <p:set>
                                      <p:cBhvr>
                                        <p:cTn id="23" dur="1" fill="hold">
                                          <p:stCondLst>
                                            <p:cond delay="0"/>
                                          </p:stCondLst>
                                        </p:cTn>
                                        <p:tgtEl>
                                          <p:spTgt spid="430084"/>
                                        </p:tgtEl>
                                        <p:attrNameLst>
                                          <p:attrName>style.visibility</p:attrName>
                                        </p:attrNameLst>
                                      </p:cBhvr>
                                      <p:to>
                                        <p:strVal val="visible"/>
                                      </p:to>
                                    </p:set>
                                    <p:animEffect transition="in" filter="strips(downRight)">
                                      <p:cBhvr>
                                        <p:cTn id="24" dur="500"/>
                                        <p:tgtEl>
                                          <p:spTgt spid="430084"/>
                                        </p:tgtEl>
                                      </p:cBhvr>
                                    </p:animEffect>
                                  </p:childTnLst>
                                </p:cTn>
                              </p:par>
                            </p:childTnLst>
                          </p:cTn>
                        </p:par>
                        <p:par>
                          <p:cTn id="25" fill="hold">
                            <p:stCondLst>
                              <p:cond delay="2000"/>
                            </p:stCondLst>
                            <p:childTnLst>
                              <p:par>
                                <p:cTn id="26" presetID="1" presetClass="entr" presetSubtype="0" fill="hold" grpId="0" nodeType="afterEffect">
                                  <p:stCondLst>
                                    <p:cond delay="1500"/>
                                  </p:stCondLst>
                                  <p:childTnLst>
                                    <p:set>
                                      <p:cBhvr>
                                        <p:cTn id="27" dur="1" fill="hold">
                                          <p:stCondLst>
                                            <p:cond delay="0"/>
                                          </p:stCondLst>
                                        </p:cTn>
                                        <p:tgtEl>
                                          <p:spTgt spid="43008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30085"/>
                                        </p:tgtEl>
                                        <p:attrNameLst>
                                          <p:attrName>style.visibility</p:attrName>
                                        </p:attrNameLst>
                                      </p:cBhvr>
                                      <p:to>
                                        <p:strVal val="visible"/>
                                      </p:to>
                                    </p:set>
                                    <p:animEffect transition="in" filter="wipe(left)">
                                      <p:cBhvr>
                                        <p:cTn id="32" dur="500"/>
                                        <p:tgtEl>
                                          <p:spTgt spid="430085"/>
                                        </p:tgtEl>
                                      </p:cBhvr>
                                    </p:animEffect>
                                  </p:childTnLst>
                                </p:cTn>
                              </p:par>
                            </p:childTnLst>
                          </p:cTn>
                        </p:par>
                        <p:par>
                          <p:cTn id="33" fill="hold">
                            <p:stCondLst>
                              <p:cond delay="500"/>
                            </p:stCondLst>
                            <p:childTnLst>
                              <p:par>
                                <p:cTn id="34" presetID="18" presetClass="entr" presetSubtype="3" fill="hold" grpId="0" nodeType="afterEffect">
                                  <p:stCondLst>
                                    <p:cond delay="1000"/>
                                  </p:stCondLst>
                                  <p:childTnLst>
                                    <p:set>
                                      <p:cBhvr>
                                        <p:cTn id="35" dur="1" fill="hold">
                                          <p:stCondLst>
                                            <p:cond delay="0"/>
                                          </p:stCondLst>
                                        </p:cTn>
                                        <p:tgtEl>
                                          <p:spTgt spid="430087"/>
                                        </p:tgtEl>
                                        <p:attrNameLst>
                                          <p:attrName>style.visibility</p:attrName>
                                        </p:attrNameLst>
                                      </p:cBhvr>
                                      <p:to>
                                        <p:strVal val="visible"/>
                                      </p:to>
                                    </p:set>
                                    <p:animEffect transition="in" filter="strips(upRight)">
                                      <p:cBhvr>
                                        <p:cTn id="36" dur="500"/>
                                        <p:tgtEl>
                                          <p:spTgt spid="430087"/>
                                        </p:tgtEl>
                                      </p:cBhvr>
                                    </p:animEffect>
                                  </p:childTnLst>
                                </p:cTn>
                              </p:par>
                            </p:childTnLst>
                          </p:cTn>
                        </p:par>
                        <p:par>
                          <p:cTn id="37" fill="hold">
                            <p:stCondLst>
                              <p:cond delay="2000"/>
                            </p:stCondLst>
                            <p:childTnLst>
                              <p:par>
                                <p:cTn id="38" presetID="1" presetClass="entr" presetSubtype="0" fill="hold" grpId="0" nodeType="afterEffect">
                                  <p:stCondLst>
                                    <p:cond delay="1000"/>
                                  </p:stCondLst>
                                  <p:childTnLst>
                                    <p:set>
                                      <p:cBhvr>
                                        <p:cTn id="39" dur="1" fill="hold">
                                          <p:stCondLst>
                                            <p:cond delay="0"/>
                                          </p:stCondLst>
                                        </p:cTn>
                                        <p:tgtEl>
                                          <p:spTgt spid="430086"/>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430088"/>
                                        </p:tgtEl>
                                        <p:attrNameLst>
                                          <p:attrName>style.visibility</p:attrName>
                                        </p:attrNameLst>
                                      </p:cBhvr>
                                      <p:to>
                                        <p:strVal val="visible"/>
                                      </p:to>
                                    </p:set>
                                    <p:animEffect transition="in" filter="wipe(down)">
                                      <p:cBhvr>
                                        <p:cTn id="44" dur="500"/>
                                        <p:tgtEl>
                                          <p:spTgt spid="430088"/>
                                        </p:tgtEl>
                                      </p:cBhvr>
                                    </p:animEffect>
                                  </p:childTnLst>
                                </p:cTn>
                              </p:par>
                            </p:childTnLst>
                          </p:cTn>
                        </p:par>
                        <p:par>
                          <p:cTn id="45" fill="hold">
                            <p:stCondLst>
                              <p:cond delay="500"/>
                            </p:stCondLst>
                            <p:childTnLst>
                              <p:par>
                                <p:cTn id="46" presetID="1" presetClass="entr" presetSubtype="0" fill="hold" grpId="0" nodeType="afterEffect">
                                  <p:stCondLst>
                                    <p:cond delay="1000"/>
                                  </p:stCondLst>
                                  <p:childTnLst>
                                    <p:set>
                                      <p:cBhvr>
                                        <p:cTn id="47" dur="1" fill="hold">
                                          <p:stCondLst>
                                            <p:cond delay="0"/>
                                          </p:stCondLst>
                                        </p:cTn>
                                        <p:tgtEl>
                                          <p:spTgt spid="430089"/>
                                        </p:tgtEl>
                                        <p:attrNameLst>
                                          <p:attrName>style.visibility</p:attrName>
                                        </p:attrNameLst>
                                      </p:cBhvr>
                                      <p:to>
                                        <p:strVal val="visible"/>
                                      </p:to>
                                    </p:set>
                                  </p:childTnLst>
                                </p:cTn>
                              </p:par>
                            </p:childTnLst>
                          </p:cTn>
                        </p:par>
                        <p:par>
                          <p:cTn id="48" fill="hold">
                            <p:stCondLst>
                              <p:cond delay="1500"/>
                            </p:stCondLst>
                            <p:childTnLst>
                              <p:par>
                                <p:cTn id="49" presetID="18" presetClass="entr" presetSubtype="6" fill="hold" grpId="0" nodeType="afterEffect">
                                  <p:stCondLst>
                                    <p:cond delay="2000"/>
                                  </p:stCondLst>
                                  <p:childTnLst>
                                    <p:set>
                                      <p:cBhvr>
                                        <p:cTn id="50" dur="1" fill="hold">
                                          <p:stCondLst>
                                            <p:cond delay="0"/>
                                          </p:stCondLst>
                                        </p:cTn>
                                        <p:tgtEl>
                                          <p:spTgt spid="430099"/>
                                        </p:tgtEl>
                                        <p:attrNameLst>
                                          <p:attrName>style.visibility</p:attrName>
                                        </p:attrNameLst>
                                      </p:cBhvr>
                                      <p:to>
                                        <p:strVal val="visible"/>
                                      </p:to>
                                    </p:set>
                                    <p:animEffect transition="in" filter="strips(downRight)">
                                      <p:cBhvr>
                                        <p:cTn id="51" dur="500"/>
                                        <p:tgtEl>
                                          <p:spTgt spid="430099"/>
                                        </p:tgtEl>
                                      </p:cBhvr>
                                    </p:animEffect>
                                  </p:childTnLst>
                                  <p:subTnLst>
                                    <p:audio>
                                      <p:cMediaNode>
                                        <p:cTn display="1" masterRel="sameClick">
                                          <p:stCondLst>
                                            <p:cond evt="begin" delay="0">
                                              <p:tn val="49"/>
                                            </p:cond>
                                          </p:stCondLst>
                                          <p:endCondLst>
                                            <p:cond evt="onStopAudio" delay="0">
                                              <p:tgtEl>
                                                <p:sldTgt/>
                                              </p:tgtEl>
                                            </p:cond>
                                          </p:endCondLst>
                                        </p:cTn>
                                        <p:tgtEl>
                                          <p:sndTgt r:embed="rId1"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083" grpId="0"/>
      <p:bldP spid="430084" grpId="0" bldLvl="0" animBg="1"/>
      <p:bldP spid="430086" grpId="0" bldLvl="0" animBg="1"/>
      <p:bldP spid="430087" grpId="0" bldLvl="0" animBg="1"/>
      <p:bldP spid="430089" grpId="0" bldLvl="0" animBg="1"/>
      <p:bldP spid="430096" grpId="0" bldLvl="0" animBg="1"/>
      <p:bldP spid="43009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1891030" y="49911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9.3 </a:t>
            </a:r>
            <a:r>
              <a:rPr lang="en-US" altLang="zh-CN" b="1" dirty="0">
                <a:solidFill>
                  <a:srgbClr val="FF0000"/>
                </a:solidFill>
                <a:latin typeface="黑体" panose="02010609060101010101" pitchFamily="49" charset="-122"/>
                <a:ea typeface="黑体" panose="02010609060101010101" pitchFamily="49" charset="-122"/>
                <a:sym typeface="+mn-ea"/>
              </a:rPr>
              <a:t>A/D转换电路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2" name="文本框 1"/>
          <p:cNvSpPr txBox="1"/>
          <p:nvPr/>
        </p:nvSpPr>
        <p:spPr>
          <a:xfrm>
            <a:off x="774700" y="1241425"/>
            <a:ext cx="5080000" cy="460375"/>
          </a:xfrm>
          <a:prstGeom prst="rect">
            <a:avLst/>
          </a:prstGeom>
          <a:noFill/>
          <a:ln w="9525">
            <a:noFill/>
          </a:ln>
        </p:spPr>
        <p:txBody>
          <a:bodyPr>
            <a:spAutoFit/>
          </a:bodyPr>
          <a:p>
            <a:pPr indent="266700"/>
            <a:r>
              <a:rPr lang="en-US" sz="2400" b="1">
                <a:solidFill>
                  <a:schemeClr val="accent6">
                    <a:lumMod val="60000"/>
                    <a:lumOff val="40000"/>
                  </a:schemeClr>
                </a:solidFill>
                <a:latin typeface="Times New Roman" panose="02020603050405020304" charset="0"/>
                <a:ea typeface="宋体" panose="02010600030101010101" pitchFamily="2" charset="-122"/>
              </a:rPr>
              <a:t>1. </a:t>
            </a:r>
            <a:r>
              <a:rPr lang="zh-CN" sz="2400" b="1">
                <a:solidFill>
                  <a:schemeClr val="accent6">
                    <a:lumMod val="60000"/>
                    <a:lumOff val="40000"/>
                  </a:schemeClr>
                </a:solidFill>
                <a:ea typeface="宋体" panose="02010600030101010101" pitchFamily="2" charset="-122"/>
              </a:rPr>
              <a:t>取样与保持</a:t>
            </a:r>
            <a:endParaRPr lang="zh-CN" altLang="en-US" sz="2400" b="1">
              <a:solidFill>
                <a:schemeClr val="accent6">
                  <a:lumMod val="60000"/>
                  <a:lumOff val="40000"/>
                </a:schemeClr>
              </a:solidFill>
              <a:ea typeface="宋体" panose="02010600030101010101" pitchFamily="2" charset="-122"/>
            </a:endParaRPr>
          </a:p>
        </p:txBody>
      </p:sp>
      <p:pic>
        <p:nvPicPr>
          <p:cNvPr id="9499" name="图片 2936"/>
          <p:cNvPicPr>
            <a:picLocks noChangeAspect="1"/>
          </p:cNvPicPr>
          <p:nvPr/>
        </p:nvPicPr>
        <p:blipFill>
          <a:blip r:embed="rId1"/>
          <a:srcRect t="33054" r="66933" b="43332"/>
          <a:stretch>
            <a:fillRect/>
          </a:stretch>
        </p:blipFill>
        <p:spPr>
          <a:xfrm>
            <a:off x="6435725" y="1172210"/>
            <a:ext cx="2533650" cy="1284605"/>
          </a:xfrm>
          <a:prstGeom prst="rect">
            <a:avLst/>
          </a:prstGeom>
          <a:noFill/>
          <a:ln>
            <a:noFill/>
          </a:ln>
        </p:spPr>
      </p:pic>
      <p:sp>
        <p:nvSpPr>
          <p:cNvPr id="431107" name="文本框 431106"/>
          <p:cNvSpPr txBox="1"/>
          <p:nvPr/>
        </p:nvSpPr>
        <p:spPr>
          <a:xfrm>
            <a:off x="446405" y="1730375"/>
            <a:ext cx="4928235" cy="829945"/>
          </a:xfrm>
          <a:prstGeom prst="rect">
            <a:avLst/>
          </a:prstGeom>
          <a:noFill/>
          <a:ln w="9525">
            <a:noFill/>
          </a:ln>
        </p:spPr>
        <p:txBody>
          <a:bodyPr wrap="square">
            <a:spAutoFit/>
          </a:bodyPr>
          <a:p>
            <a:pPr algn="l">
              <a:spcBef>
                <a:spcPct val="50000"/>
              </a:spcBef>
            </a:pPr>
            <a:r>
              <a:rPr lang="zh-CN" altLang="en-US" sz="2400" b="1" dirty="0">
                <a:solidFill>
                  <a:srgbClr val="000099"/>
                </a:solidFill>
                <a:latin typeface="Times New Roman" panose="02020603050405020304" charset="0"/>
                <a:ea typeface="楷体_GB2312" panose="02010609030101010101" pitchFamily="49" charset="-122"/>
              </a:rPr>
              <a:t>取</a:t>
            </a:r>
            <a:r>
              <a:rPr lang="zh-CN" altLang="en-US" sz="2400" b="1" dirty="0">
                <a:solidFill>
                  <a:srgbClr val="000099"/>
                </a:solidFill>
                <a:latin typeface="Times New Roman" panose="02020603050405020304" charset="0"/>
                <a:ea typeface="楷体_GB2312" panose="02010609030101010101" pitchFamily="49" charset="-122"/>
              </a:rPr>
              <a:t>样是将时间上连续变化的模拟量转换为在时间上离散的模拟量</a:t>
            </a:r>
            <a:r>
              <a:rPr lang="zh-CN" altLang="en-US" sz="2400" b="1" dirty="0">
                <a:latin typeface="Times New Roman" panose="02020603050405020304" charset="0"/>
                <a:ea typeface="楷体_GB2312" panose="02010609030101010101" pitchFamily="49" charset="-122"/>
              </a:rPr>
              <a:t>。 </a:t>
            </a:r>
            <a:endParaRPr lang="zh-CN" altLang="en-US" sz="2400" b="1">
              <a:latin typeface="Times New Roman" panose="02020603050405020304" charset="0"/>
              <a:ea typeface="楷体_GB2312" panose="02010609030101010101" pitchFamily="49" charset="-122"/>
            </a:endParaRPr>
          </a:p>
        </p:txBody>
      </p:sp>
      <p:pic>
        <p:nvPicPr>
          <p:cNvPr id="3" name="图片 2936"/>
          <p:cNvPicPr>
            <a:picLocks noChangeAspect="1"/>
          </p:cNvPicPr>
          <p:nvPr/>
        </p:nvPicPr>
        <p:blipFill>
          <a:blip r:embed="rId1"/>
          <a:srcRect l="37216" b="12313"/>
          <a:stretch>
            <a:fillRect/>
          </a:stretch>
        </p:blipFill>
        <p:spPr>
          <a:xfrm>
            <a:off x="5374640" y="2713355"/>
            <a:ext cx="3701415" cy="3670935"/>
          </a:xfrm>
          <a:prstGeom prst="rect">
            <a:avLst/>
          </a:prstGeom>
          <a:noFill/>
          <a:ln>
            <a:noFill/>
          </a:ln>
        </p:spPr>
      </p:pic>
      <p:sp>
        <p:nvSpPr>
          <p:cNvPr id="431111" name="矩形 431110"/>
          <p:cNvSpPr/>
          <p:nvPr/>
        </p:nvSpPr>
        <p:spPr>
          <a:xfrm>
            <a:off x="7110095" y="2293620"/>
            <a:ext cx="1940560" cy="737235"/>
          </a:xfrm>
          <a:prstGeom prst="rect">
            <a:avLst/>
          </a:prstGeom>
          <a:noFill/>
          <a:ln w="9525">
            <a:noFill/>
          </a:ln>
        </p:spPr>
        <p:txBody>
          <a:bodyPr wrap="none" anchor="t">
            <a:spAutoFit/>
          </a:bodyPr>
          <a:p>
            <a:pPr algn="l">
              <a:lnSpc>
                <a:spcPct val="80000"/>
              </a:lnSpc>
              <a:spcBef>
                <a:spcPct val="50000"/>
              </a:spcBef>
            </a:pPr>
            <a:r>
              <a:rPr lang="en-US" altLang="zh-CN" sz="2000" b="1" i="1" dirty="0">
                <a:solidFill>
                  <a:srgbClr val="000099"/>
                </a:solidFill>
                <a:latin typeface="Times New Roman" panose="02020603050405020304" charset="0"/>
                <a:ea typeface="楷体_GB2312" panose="02010609030101010101" pitchFamily="49" charset="-122"/>
              </a:rPr>
              <a:t>S</a:t>
            </a:r>
            <a:r>
              <a:rPr lang="en-US" altLang="zh-CN" sz="2000" b="1" dirty="0">
                <a:solidFill>
                  <a:srgbClr val="000099"/>
                </a:solidFill>
                <a:latin typeface="Times New Roman" panose="02020603050405020304" charset="0"/>
                <a:ea typeface="楷体_GB2312" panose="02010609030101010101" pitchFamily="49" charset="-122"/>
              </a:rPr>
              <a:t>(</a:t>
            </a:r>
            <a:r>
              <a:rPr lang="en-US" altLang="zh-CN" sz="2000" b="1" i="1" dirty="0">
                <a:solidFill>
                  <a:srgbClr val="000099"/>
                </a:solidFill>
                <a:latin typeface="Times New Roman" panose="02020603050405020304" charset="0"/>
                <a:ea typeface="楷体_GB2312" panose="02010609030101010101" pitchFamily="49" charset="-122"/>
              </a:rPr>
              <a:t>t</a:t>
            </a:r>
            <a:r>
              <a:rPr lang="en-US" altLang="zh-CN" sz="2000" b="1" dirty="0">
                <a:solidFill>
                  <a:srgbClr val="000099"/>
                </a:solidFill>
                <a:latin typeface="Times New Roman" panose="02020603050405020304" charset="0"/>
                <a:ea typeface="楷体_GB2312" panose="02010609030101010101" pitchFamily="49" charset="-122"/>
              </a:rPr>
              <a:t>)=1:</a:t>
            </a:r>
            <a:r>
              <a:rPr lang="zh-CN" altLang="en-US" sz="2000" b="1" dirty="0">
                <a:solidFill>
                  <a:srgbClr val="000099"/>
                </a:solidFill>
                <a:latin typeface="Times New Roman" panose="02020603050405020304" charset="0"/>
                <a:ea typeface="楷体_GB2312" panose="02010609030101010101" pitchFamily="49" charset="-122"/>
              </a:rPr>
              <a:t>开关闭合</a:t>
            </a:r>
            <a:endParaRPr lang="zh-CN" altLang="en-US" sz="2000" b="1" dirty="0">
              <a:solidFill>
                <a:srgbClr val="000099"/>
              </a:solidFill>
              <a:latin typeface="Times New Roman" panose="02020603050405020304" charset="0"/>
              <a:ea typeface="楷体_GB2312" panose="02010609030101010101" pitchFamily="49" charset="-122"/>
            </a:endParaRPr>
          </a:p>
          <a:p>
            <a:pPr algn="l">
              <a:lnSpc>
                <a:spcPct val="80000"/>
              </a:lnSpc>
              <a:spcBef>
                <a:spcPct val="50000"/>
              </a:spcBef>
            </a:pPr>
            <a:r>
              <a:rPr lang="en-US" altLang="zh-CN" sz="2000" b="1" i="1" dirty="0">
                <a:solidFill>
                  <a:srgbClr val="000099"/>
                </a:solidFill>
                <a:latin typeface="Times New Roman" panose="02020603050405020304" charset="0"/>
                <a:ea typeface="楷体_GB2312" panose="02010609030101010101" pitchFamily="49" charset="-122"/>
              </a:rPr>
              <a:t>S</a:t>
            </a:r>
            <a:r>
              <a:rPr lang="en-US" altLang="zh-CN" sz="2000" b="1" dirty="0">
                <a:solidFill>
                  <a:srgbClr val="000099"/>
                </a:solidFill>
                <a:latin typeface="Times New Roman" panose="02020603050405020304" charset="0"/>
                <a:ea typeface="楷体_GB2312" panose="02010609030101010101" pitchFamily="49" charset="-122"/>
              </a:rPr>
              <a:t>(</a:t>
            </a:r>
            <a:r>
              <a:rPr lang="en-US" altLang="zh-CN" sz="2000" b="1" i="1" dirty="0">
                <a:solidFill>
                  <a:srgbClr val="000099"/>
                </a:solidFill>
                <a:latin typeface="Times New Roman" panose="02020603050405020304" charset="0"/>
                <a:ea typeface="楷体_GB2312" panose="02010609030101010101" pitchFamily="49" charset="-122"/>
              </a:rPr>
              <a:t>t</a:t>
            </a:r>
            <a:r>
              <a:rPr lang="en-US" altLang="zh-CN" sz="2000" b="1" dirty="0">
                <a:solidFill>
                  <a:srgbClr val="000099"/>
                </a:solidFill>
                <a:latin typeface="Times New Roman" panose="02020603050405020304" charset="0"/>
                <a:ea typeface="楷体_GB2312" panose="02010609030101010101" pitchFamily="49" charset="-122"/>
              </a:rPr>
              <a:t>)=0:</a:t>
            </a:r>
            <a:r>
              <a:rPr lang="zh-CN" altLang="en-US" sz="2000" b="1" dirty="0">
                <a:solidFill>
                  <a:srgbClr val="000099"/>
                </a:solidFill>
                <a:latin typeface="Times New Roman" panose="02020603050405020304" charset="0"/>
                <a:ea typeface="楷体_GB2312" panose="02010609030101010101" pitchFamily="49" charset="-122"/>
              </a:rPr>
              <a:t>开关断开</a:t>
            </a:r>
            <a:endParaRPr lang="zh-CN" altLang="en-US" sz="2000" b="1" dirty="0">
              <a:solidFill>
                <a:srgbClr val="000099"/>
              </a:solidFill>
              <a:latin typeface="Times New Roman" panose="02020603050405020304" charset="0"/>
              <a:ea typeface="楷体_GB2312" panose="02010609030101010101" pitchFamily="49" charset="-122"/>
            </a:endParaRPr>
          </a:p>
        </p:txBody>
      </p:sp>
      <p:sp>
        <p:nvSpPr>
          <p:cNvPr id="431108" name="文本框 431107"/>
          <p:cNvSpPr txBox="1"/>
          <p:nvPr/>
        </p:nvSpPr>
        <p:spPr>
          <a:xfrm>
            <a:off x="539750" y="2590800"/>
            <a:ext cx="4559300" cy="1568450"/>
          </a:xfrm>
          <a:prstGeom prst="rect">
            <a:avLst/>
          </a:prstGeom>
          <a:noFill/>
          <a:ln w="9525">
            <a:noFill/>
          </a:ln>
        </p:spPr>
        <p:txBody>
          <a:bodyPr>
            <a:spAutoFit/>
          </a:bodyPr>
          <a:p>
            <a:pPr algn="l">
              <a:spcBef>
                <a:spcPct val="50000"/>
              </a:spcBef>
            </a:pPr>
            <a:r>
              <a:rPr lang="en-US" altLang="zh-CN" sz="2400" b="1">
                <a:solidFill>
                  <a:schemeClr val="accent2"/>
                </a:solidFill>
                <a:latin typeface="Times New Roman" panose="02020603050405020304" charset="0"/>
                <a:ea typeface="楷体_GB2312" panose="02010609030101010101" pitchFamily="49" charset="-122"/>
              </a:rPr>
              <a:t>  </a:t>
            </a:r>
            <a:r>
              <a:rPr lang="zh-CN" altLang="en-US" sz="2400" b="1" dirty="0">
                <a:solidFill>
                  <a:srgbClr val="000099"/>
                </a:solidFill>
                <a:latin typeface="Times New Roman" panose="02020603050405020304" charset="0"/>
                <a:ea typeface="楷体_GB2312" panose="02010609030101010101" pitchFamily="49" charset="-122"/>
                <a:sym typeface="+mn-ea"/>
              </a:rPr>
              <a:t>取</a:t>
            </a:r>
            <a:r>
              <a:rPr lang="zh-CN" altLang="en-US" sz="2400" b="1" dirty="0">
                <a:solidFill>
                  <a:srgbClr val="000099"/>
                </a:solidFill>
                <a:latin typeface="Times New Roman" panose="02020603050405020304" charset="0"/>
                <a:ea typeface="楷体_GB2312" panose="02010609030101010101" pitchFamily="49" charset="-122"/>
              </a:rPr>
              <a:t>样信号</a:t>
            </a:r>
            <a:r>
              <a:rPr lang="en-US" altLang="zh-CN" sz="2400" b="1" i="1">
                <a:solidFill>
                  <a:srgbClr val="000099"/>
                </a:solidFill>
                <a:latin typeface="Times New Roman" panose="02020603050405020304" charset="0"/>
                <a:ea typeface="楷体_GB2312" panose="02010609030101010101" pitchFamily="49" charset="-122"/>
              </a:rPr>
              <a:t>S(t)</a:t>
            </a:r>
            <a:r>
              <a:rPr lang="zh-CN" altLang="en-US" sz="2400" b="1" dirty="0">
                <a:solidFill>
                  <a:srgbClr val="000099"/>
                </a:solidFill>
                <a:latin typeface="Times New Roman" panose="02020603050405020304" charset="0"/>
                <a:ea typeface="楷体_GB2312" panose="02010609030101010101" pitchFamily="49" charset="-122"/>
              </a:rPr>
              <a:t>的频率愈高，所</a:t>
            </a:r>
            <a:r>
              <a:rPr lang="zh-CN" altLang="en-US" sz="2400" b="1" dirty="0">
                <a:solidFill>
                  <a:srgbClr val="000099"/>
                </a:solidFill>
                <a:latin typeface="Times New Roman" panose="02020603050405020304" charset="0"/>
                <a:ea typeface="楷体_GB2312" panose="02010609030101010101" pitchFamily="49" charset="-122"/>
                <a:sym typeface="+mn-ea"/>
              </a:rPr>
              <a:t>取</a:t>
            </a:r>
            <a:r>
              <a:rPr lang="zh-CN" altLang="en-US" sz="2400" b="1" dirty="0">
                <a:solidFill>
                  <a:srgbClr val="000099"/>
                </a:solidFill>
                <a:latin typeface="Times New Roman" panose="02020603050405020304" charset="0"/>
                <a:ea typeface="楷体_GB2312" panose="02010609030101010101" pitchFamily="49" charset="-122"/>
              </a:rPr>
              <a:t>得信号经低通滤波器后愈能真实地复现输入信号。合理的</a:t>
            </a:r>
            <a:r>
              <a:rPr lang="zh-CN" altLang="en-US" sz="2400" b="1" dirty="0">
                <a:solidFill>
                  <a:srgbClr val="000099"/>
                </a:solidFill>
                <a:latin typeface="Times New Roman" panose="02020603050405020304" charset="0"/>
                <a:ea typeface="楷体_GB2312" panose="02010609030101010101" pitchFamily="49" charset="-122"/>
                <a:sym typeface="+mn-ea"/>
              </a:rPr>
              <a:t>取</a:t>
            </a:r>
            <a:r>
              <a:rPr lang="zh-CN" altLang="en-US" sz="2400" b="1" dirty="0">
                <a:solidFill>
                  <a:srgbClr val="000099"/>
                </a:solidFill>
                <a:latin typeface="Times New Roman" panose="02020603050405020304" charset="0"/>
                <a:ea typeface="楷体_GB2312" panose="02010609030101010101" pitchFamily="49" charset="-122"/>
              </a:rPr>
              <a:t>样频率由</a:t>
            </a:r>
            <a:r>
              <a:rPr lang="zh-CN" altLang="en-US" sz="2400" b="1" dirty="0">
                <a:solidFill>
                  <a:srgbClr val="000099"/>
                </a:solidFill>
                <a:latin typeface="Times New Roman" panose="02020603050405020304" charset="0"/>
                <a:ea typeface="楷体_GB2312" panose="02010609030101010101" pitchFamily="49" charset="-122"/>
                <a:sym typeface="+mn-ea"/>
              </a:rPr>
              <a:t>取</a:t>
            </a:r>
            <a:r>
              <a:rPr lang="zh-CN" altLang="en-US" sz="2400" b="1" dirty="0">
                <a:solidFill>
                  <a:srgbClr val="000099"/>
                </a:solidFill>
                <a:latin typeface="Times New Roman" panose="02020603050405020304" charset="0"/>
                <a:ea typeface="楷体_GB2312" panose="02010609030101010101" pitchFamily="49" charset="-122"/>
              </a:rPr>
              <a:t>样定理确定</a:t>
            </a:r>
            <a:r>
              <a:rPr lang="zh-CN" altLang="en-US" sz="2400" b="1" dirty="0">
                <a:solidFill>
                  <a:schemeClr val="accent2"/>
                </a:solidFill>
                <a:latin typeface="Times New Roman" panose="02020603050405020304" charset="0"/>
                <a:ea typeface="楷体_GB2312" panose="02010609030101010101" pitchFamily="49" charset="-122"/>
              </a:rPr>
              <a:t>。 </a:t>
            </a:r>
            <a:endParaRPr lang="zh-CN" altLang="en-US" sz="2400" b="1">
              <a:solidFill>
                <a:schemeClr val="accent2"/>
              </a:solidFill>
              <a:latin typeface="Times New Roman" panose="02020603050405020304" charset="0"/>
              <a:ea typeface="楷体_GB2312" panose="02010609030101010101" pitchFamily="49" charset="-122"/>
            </a:endParaRPr>
          </a:p>
        </p:txBody>
      </p:sp>
      <p:sp>
        <p:nvSpPr>
          <p:cNvPr id="431109" name="文本框 431108"/>
          <p:cNvSpPr txBox="1"/>
          <p:nvPr/>
        </p:nvSpPr>
        <p:spPr>
          <a:xfrm>
            <a:off x="466725" y="4102100"/>
            <a:ext cx="4559300" cy="1260475"/>
          </a:xfrm>
          <a:prstGeom prst="rect">
            <a:avLst/>
          </a:prstGeom>
          <a:noFill/>
          <a:ln w="9525">
            <a:noFill/>
          </a:ln>
        </p:spPr>
        <p:txBody>
          <a:bodyPr>
            <a:spAutoFit/>
          </a:bodyPr>
          <a:p>
            <a:pPr algn="l">
              <a:spcBef>
                <a:spcPct val="50000"/>
              </a:spcBef>
            </a:pPr>
            <a:r>
              <a:rPr lang="en-US" altLang="zh-CN" sz="2400" b="1">
                <a:solidFill>
                  <a:schemeClr val="accent2"/>
                </a:solidFill>
                <a:latin typeface="Times New Roman" panose="02020603050405020304" charset="0"/>
                <a:ea typeface="楷体_GB2312" panose="02010609030101010101" pitchFamily="49" charset="-122"/>
              </a:rPr>
              <a:t>  </a:t>
            </a:r>
            <a:r>
              <a:rPr lang="zh-CN" altLang="en-US" sz="2400" b="1" dirty="0">
                <a:solidFill>
                  <a:srgbClr val="FF0000"/>
                </a:solidFill>
                <a:latin typeface="Times New Roman" panose="02020603050405020304" charset="0"/>
                <a:ea typeface="楷体_GB2312" panose="02010609030101010101" pitchFamily="49" charset="-122"/>
              </a:rPr>
              <a:t>取</a:t>
            </a:r>
            <a:r>
              <a:rPr lang="zh-CN" altLang="en-US" sz="2400" b="1" dirty="0">
                <a:solidFill>
                  <a:srgbClr val="FF0000"/>
                </a:solidFill>
                <a:latin typeface="Times New Roman" panose="02020603050405020304" charset="0"/>
                <a:ea typeface="楷体_GB2312" panose="02010609030101010101" pitchFamily="49" charset="-122"/>
              </a:rPr>
              <a:t>样定理</a:t>
            </a:r>
            <a:r>
              <a:rPr lang="zh-CN" altLang="en-US" sz="2400" b="1" dirty="0">
                <a:solidFill>
                  <a:srgbClr val="000099"/>
                </a:solidFill>
                <a:latin typeface="Times New Roman" panose="02020603050405020304" charset="0"/>
                <a:ea typeface="楷体_GB2312" panose="02010609030101010101" pitchFamily="49" charset="-122"/>
              </a:rPr>
              <a:t>：设</a:t>
            </a:r>
            <a:r>
              <a:rPr lang="zh-CN" altLang="en-US" sz="2400" b="1" dirty="0">
                <a:solidFill>
                  <a:srgbClr val="000099"/>
                </a:solidFill>
                <a:latin typeface="Times New Roman" panose="02020603050405020304" charset="0"/>
                <a:ea typeface="楷体_GB2312" panose="02010609030101010101" pitchFamily="49" charset="-122"/>
                <a:sym typeface="+mn-ea"/>
              </a:rPr>
              <a:t>取</a:t>
            </a:r>
            <a:r>
              <a:rPr lang="zh-CN" altLang="en-US" sz="2400" b="1" dirty="0">
                <a:solidFill>
                  <a:srgbClr val="000099"/>
                </a:solidFill>
                <a:latin typeface="Times New Roman" panose="02020603050405020304" charset="0"/>
                <a:ea typeface="楷体_GB2312" panose="02010609030101010101" pitchFamily="49" charset="-122"/>
              </a:rPr>
              <a:t>样信号</a:t>
            </a:r>
            <a:r>
              <a:rPr lang="en-US" altLang="zh-CN" sz="2400" b="1" i="1">
                <a:solidFill>
                  <a:srgbClr val="000099"/>
                </a:solidFill>
                <a:latin typeface="Times New Roman" panose="02020603050405020304" charset="0"/>
                <a:ea typeface="楷体_GB2312" panose="02010609030101010101" pitchFamily="49" charset="-122"/>
              </a:rPr>
              <a:t>S</a:t>
            </a:r>
            <a:r>
              <a:rPr lang="en-US" altLang="zh-CN" sz="2400" b="1">
                <a:solidFill>
                  <a:srgbClr val="000099"/>
                </a:solidFill>
                <a:latin typeface="Times New Roman" panose="02020603050405020304" charset="0"/>
                <a:ea typeface="楷体_GB2312" panose="02010609030101010101" pitchFamily="49" charset="-122"/>
              </a:rPr>
              <a:t>(</a:t>
            </a:r>
            <a:r>
              <a:rPr lang="en-US" altLang="zh-CN" sz="2400" b="1" i="1">
                <a:solidFill>
                  <a:srgbClr val="000099"/>
                </a:solidFill>
                <a:latin typeface="Times New Roman" panose="02020603050405020304" charset="0"/>
                <a:ea typeface="楷体_GB2312" panose="02010609030101010101" pitchFamily="49" charset="-122"/>
              </a:rPr>
              <a:t>t</a:t>
            </a:r>
            <a:r>
              <a:rPr lang="en-US" altLang="zh-CN" sz="2400" b="1" dirty="0">
                <a:solidFill>
                  <a:srgbClr val="000099"/>
                </a:solidFill>
                <a:latin typeface="Times New Roman" panose="02020603050405020304" charset="0"/>
                <a:ea typeface="楷体_GB2312" panose="02010609030101010101" pitchFamily="49" charset="-122"/>
              </a:rPr>
              <a:t>)</a:t>
            </a:r>
            <a:r>
              <a:rPr lang="zh-CN" altLang="en-US" sz="2400" b="1" dirty="0">
                <a:solidFill>
                  <a:srgbClr val="000099"/>
                </a:solidFill>
                <a:latin typeface="Times New Roman" panose="02020603050405020304" charset="0"/>
                <a:ea typeface="楷体_GB2312" panose="02010609030101010101" pitchFamily="49" charset="-122"/>
              </a:rPr>
              <a:t>的频率为</a:t>
            </a:r>
            <a:r>
              <a:rPr lang="en-US" altLang="zh-CN" sz="2400" b="1" i="1" dirty="0" err="1">
                <a:solidFill>
                  <a:srgbClr val="000099"/>
                </a:solidFill>
                <a:latin typeface="Times New Roman" panose="02020603050405020304" charset="0"/>
                <a:ea typeface="楷体_GB2312" panose="02010609030101010101" pitchFamily="49" charset="-122"/>
              </a:rPr>
              <a:t>f</a:t>
            </a:r>
            <a:r>
              <a:rPr lang="en-US" altLang="zh-CN" sz="2400" b="1" baseline="-30000" dirty="0" err="1">
                <a:solidFill>
                  <a:srgbClr val="000099"/>
                </a:solidFill>
                <a:latin typeface="Times New Roman" panose="02020603050405020304" charset="0"/>
                <a:ea typeface="楷体_GB2312" panose="02010609030101010101" pitchFamily="49" charset="-122"/>
              </a:rPr>
              <a:t>s</a:t>
            </a:r>
            <a:r>
              <a:rPr lang="zh-CN" altLang="en-US" sz="2400" b="1" dirty="0">
                <a:solidFill>
                  <a:srgbClr val="000099"/>
                </a:solidFill>
                <a:latin typeface="Times New Roman" panose="02020603050405020304" charset="0"/>
                <a:ea typeface="楷体_GB2312" panose="02010609030101010101" pitchFamily="49" charset="-122"/>
              </a:rPr>
              <a:t>，输入模拟信号</a:t>
            </a:r>
            <a:r>
              <a:rPr lang="en-US" altLang="zh-CN" sz="2800" b="1" i="1" dirty="0">
                <a:solidFill>
                  <a:srgbClr val="000099"/>
                </a:solidFill>
                <a:latin typeface="Times New Roman" panose="02020603050405020304" charset="0"/>
                <a:ea typeface="楷体_GB2312" panose="02010609030101010101" pitchFamily="49" charset="-122"/>
                <a:sym typeface="Symbol" panose="05050102010706020507" pitchFamily="18" charset="2"/>
              </a:rPr>
              <a:t></a:t>
            </a:r>
            <a:r>
              <a:rPr lang="en-US" altLang="zh-CN" sz="2400" b="1" baseline="-30000">
                <a:solidFill>
                  <a:srgbClr val="000099"/>
                </a:solidFill>
                <a:latin typeface="Times New Roman" panose="02020603050405020304" charset="0"/>
                <a:ea typeface="楷体_GB2312" panose="02010609030101010101" pitchFamily="49" charset="-122"/>
              </a:rPr>
              <a:t>I</a:t>
            </a:r>
            <a:r>
              <a:rPr lang="en-US" altLang="zh-CN" sz="2400" b="1">
                <a:solidFill>
                  <a:srgbClr val="000099"/>
                </a:solidFill>
                <a:latin typeface="Times New Roman" panose="02020603050405020304" charset="0"/>
                <a:ea typeface="楷体_GB2312" panose="02010609030101010101" pitchFamily="49" charset="-122"/>
              </a:rPr>
              <a:t>(</a:t>
            </a:r>
            <a:r>
              <a:rPr lang="en-US" altLang="zh-CN" sz="2400" b="1" i="1">
                <a:solidFill>
                  <a:srgbClr val="000099"/>
                </a:solidFill>
                <a:latin typeface="Times New Roman" panose="02020603050405020304" charset="0"/>
                <a:ea typeface="楷体_GB2312" panose="02010609030101010101" pitchFamily="49" charset="-122"/>
              </a:rPr>
              <a:t>t</a:t>
            </a:r>
            <a:r>
              <a:rPr lang="en-US" altLang="zh-CN" sz="2400" b="1" dirty="0">
                <a:solidFill>
                  <a:srgbClr val="000099"/>
                </a:solidFill>
                <a:latin typeface="Times New Roman" panose="02020603050405020304" charset="0"/>
                <a:ea typeface="楷体_GB2312" panose="02010609030101010101" pitchFamily="49" charset="-122"/>
              </a:rPr>
              <a:t>)</a:t>
            </a:r>
            <a:r>
              <a:rPr lang="zh-CN" altLang="en-US" sz="2400" b="1" dirty="0">
                <a:solidFill>
                  <a:srgbClr val="000099"/>
                </a:solidFill>
                <a:latin typeface="Times New Roman" panose="02020603050405020304" charset="0"/>
                <a:ea typeface="楷体_GB2312" panose="02010609030101010101" pitchFamily="49" charset="-122"/>
              </a:rPr>
              <a:t>的最高频率分量的频率为</a:t>
            </a:r>
            <a:r>
              <a:rPr lang="en-US" altLang="zh-CN" sz="2400" b="1" i="1" dirty="0" err="1">
                <a:solidFill>
                  <a:srgbClr val="000099"/>
                </a:solidFill>
                <a:latin typeface="Times New Roman" panose="02020603050405020304" charset="0"/>
                <a:ea typeface="楷体_GB2312" panose="02010609030101010101" pitchFamily="49" charset="-122"/>
              </a:rPr>
              <a:t>f</a:t>
            </a:r>
            <a:r>
              <a:rPr lang="en-US" altLang="zh-CN" sz="2400" b="1" baseline="-30000" dirty="0" err="1">
                <a:solidFill>
                  <a:srgbClr val="000099"/>
                </a:solidFill>
                <a:latin typeface="Times New Roman" panose="02020603050405020304" charset="0"/>
                <a:ea typeface="楷体_GB2312" panose="02010609030101010101" pitchFamily="49" charset="-122"/>
              </a:rPr>
              <a:t>imax</a:t>
            </a:r>
            <a:r>
              <a:rPr lang="zh-CN" altLang="en-US" sz="2400" b="1">
                <a:solidFill>
                  <a:srgbClr val="000099"/>
                </a:solidFill>
                <a:latin typeface="Times New Roman" panose="02020603050405020304" charset="0"/>
                <a:ea typeface="楷体_GB2312" panose="02010609030101010101" pitchFamily="49" charset="-122"/>
              </a:rPr>
              <a:t>，</a:t>
            </a:r>
            <a:endParaRPr lang="zh-CN" altLang="en-US" sz="2400" b="1">
              <a:solidFill>
                <a:srgbClr val="000099"/>
              </a:solidFill>
              <a:latin typeface="Times New Roman" panose="02020603050405020304" charset="0"/>
              <a:ea typeface="楷体_GB2312" panose="02010609030101010101" pitchFamily="49" charset="-122"/>
            </a:endParaRPr>
          </a:p>
        </p:txBody>
      </p:sp>
      <p:sp>
        <p:nvSpPr>
          <p:cNvPr id="431110" name="文本框 431109"/>
          <p:cNvSpPr txBox="1"/>
          <p:nvPr/>
        </p:nvSpPr>
        <p:spPr>
          <a:xfrm>
            <a:off x="684213" y="5470525"/>
            <a:ext cx="4410075" cy="460375"/>
          </a:xfrm>
          <a:prstGeom prst="rect">
            <a:avLst/>
          </a:prstGeom>
          <a:noFill/>
          <a:ln w="9525">
            <a:noFill/>
          </a:ln>
        </p:spPr>
        <p:txBody>
          <a:bodyPr>
            <a:spAutoFit/>
          </a:bodyPr>
          <a:p>
            <a:pPr algn="l">
              <a:spcBef>
                <a:spcPct val="50000"/>
              </a:spcBef>
            </a:pPr>
            <a:r>
              <a:rPr lang="zh-CN" altLang="en-US" sz="2400" b="1" dirty="0">
                <a:solidFill>
                  <a:srgbClr val="000099"/>
                </a:solidFill>
                <a:latin typeface="Times New Roman" panose="02020603050405020304" charset="0"/>
                <a:ea typeface="楷体_GB2312" panose="02010609030101010101" pitchFamily="49" charset="-122"/>
              </a:rPr>
              <a:t>则   </a:t>
            </a:r>
            <a:r>
              <a:rPr lang="en-US" altLang="zh-CN" sz="2400" b="1" i="1" dirty="0" err="1">
                <a:solidFill>
                  <a:srgbClr val="FF0000"/>
                </a:solidFill>
                <a:latin typeface="Times New Roman" panose="02020603050405020304" charset="0"/>
                <a:ea typeface="楷体_GB2312" panose="02010609030101010101" pitchFamily="49" charset="-122"/>
              </a:rPr>
              <a:t>f</a:t>
            </a:r>
            <a:r>
              <a:rPr lang="en-US" altLang="zh-CN" sz="2400" b="1" baseline="-30000" dirty="0" err="1">
                <a:solidFill>
                  <a:srgbClr val="FF0000"/>
                </a:solidFill>
                <a:latin typeface="Times New Roman" panose="02020603050405020304" charset="0"/>
                <a:ea typeface="楷体_GB2312" panose="02010609030101010101" pitchFamily="49" charset="-122"/>
              </a:rPr>
              <a:t>s</a:t>
            </a:r>
            <a:r>
              <a:rPr lang="en-US" altLang="zh-CN" sz="2400" b="1" baseline="-30000">
                <a:solidFill>
                  <a:srgbClr val="FF0000"/>
                </a:solidFill>
                <a:latin typeface="Times New Roman" panose="02020603050405020304" charset="0"/>
                <a:ea typeface="楷体_GB2312" panose="02010609030101010101" pitchFamily="49" charset="-122"/>
              </a:rPr>
              <a:t> </a:t>
            </a:r>
            <a:r>
              <a:rPr lang="en-US" altLang="zh-CN" sz="2400" b="1">
                <a:solidFill>
                  <a:srgbClr val="FF0000"/>
                </a:solidFill>
                <a:latin typeface="宋体" panose="02010600030101010101" pitchFamily="2" charset="-122"/>
              </a:rPr>
              <a:t>≥</a:t>
            </a:r>
            <a:r>
              <a:rPr lang="en-US" altLang="zh-CN" sz="2400" b="1">
                <a:solidFill>
                  <a:srgbClr val="FF0000"/>
                </a:solidFill>
                <a:latin typeface="Times New Roman" panose="02020603050405020304" charset="0"/>
                <a:ea typeface="楷体_GB2312" panose="02010609030101010101" pitchFamily="49" charset="-122"/>
              </a:rPr>
              <a:t> 2</a:t>
            </a:r>
            <a:r>
              <a:rPr lang="en-US" altLang="zh-CN" sz="2400" b="1" i="1">
                <a:solidFill>
                  <a:srgbClr val="FF0000"/>
                </a:solidFill>
                <a:latin typeface="Times New Roman" panose="02020603050405020304" charset="0"/>
                <a:ea typeface="楷体_GB2312" panose="02010609030101010101" pitchFamily="49" charset="-122"/>
              </a:rPr>
              <a:t>f</a:t>
            </a:r>
            <a:r>
              <a:rPr lang="en-US" altLang="zh-CN" sz="2400" b="1" baseline="-30000">
                <a:solidFill>
                  <a:srgbClr val="FF0000"/>
                </a:solidFill>
                <a:latin typeface="Times New Roman" panose="02020603050405020304" charset="0"/>
                <a:ea typeface="楷体_GB2312" panose="02010609030101010101" pitchFamily="49" charset="-122"/>
              </a:rPr>
              <a:t>imax</a:t>
            </a:r>
            <a:r>
              <a:rPr lang="en-US" altLang="zh-CN" sz="2400" b="1" baseline="-30000">
                <a:solidFill>
                  <a:srgbClr val="000099"/>
                </a:solidFill>
                <a:latin typeface="Times New Roman" panose="02020603050405020304" charset="0"/>
                <a:ea typeface="楷体_GB2312" panose="02010609030101010101" pitchFamily="49" charset="-122"/>
              </a:rPr>
              <a:t>	</a:t>
            </a:r>
            <a:endParaRPr lang="en-US" altLang="zh-CN" sz="2400" b="1">
              <a:solidFill>
                <a:srgbClr val="000099"/>
              </a:solidFill>
              <a:latin typeface="Times New Roman" panose="02020603050405020304" charset="0"/>
              <a:ea typeface="楷体_GB2312" panose="0201060903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31107"/>
                                        </p:tgtEl>
                                        <p:attrNameLst>
                                          <p:attrName>style.visibility</p:attrName>
                                        </p:attrNameLst>
                                      </p:cBhvr>
                                      <p:to>
                                        <p:strVal val="visible"/>
                                      </p:to>
                                    </p:set>
                                    <p:animEffect transition="in" filter="strips(downRight)">
                                      <p:cBhvr>
                                        <p:cTn id="7" dur="500"/>
                                        <p:tgtEl>
                                          <p:spTgt spid="43110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949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8" presetClass="entr" presetSubtype="6" fill="hold" grpId="0" nodeType="clickEffect">
                                  <p:stCondLst>
                                    <p:cond delay="0"/>
                                  </p:stCondLst>
                                  <p:childTnLst>
                                    <p:set>
                                      <p:cBhvr>
                                        <p:cTn id="15" dur="1" fill="hold">
                                          <p:stCondLst>
                                            <p:cond delay="0"/>
                                          </p:stCondLst>
                                        </p:cTn>
                                        <p:tgtEl>
                                          <p:spTgt spid="431111"/>
                                        </p:tgtEl>
                                        <p:attrNameLst>
                                          <p:attrName>style.visibility</p:attrName>
                                        </p:attrNameLst>
                                      </p:cBhvr>
                                      <p:to>
                                        <p:strVal val="visible"/>
                                      </p:to>
                                    </p:set>
                                    <p:animEffect transition="in" filter="strips(downRight)">
                                      <p:cBhvr>
                                        <p:cTn id="16" dur="500"/>
                                        <p:tgtEl>
                                          <p:spTgt spid="431111"/>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8" presetClass="entr" presetSubtype="6" fill="hold" grpId="0" nodeType="clickEffect">
                                  <p:stCondLst>
                                    <p:cond delay="0"/>
                                  </p:stCondLst>
                                  <p:childTnLst>
                                    <p:set>
                                      <p:cBhvr>
                                        <p:cTn id="24" dur="1" fill="hold">
                                          <p:stCondLst>
                                            <p:cond delay="0"/>
                                          </p:stCondLst>
                                        </p:cTn>
                                        <p:tgtEl>
                                          <p:spTgt spid="431108"/>
                                        </p:tgtEl>
                                        <p:attrNameLst>
                                          <p:attrName>style.visibility</p:attrName>
                                        </p:attrNameLst>
                                      </p:cBhvr>
                                      <p:to>
                                        <p:strVal val="visible"/>
                                      </p:to>
                                    </p:set>
                                    <p:animEffect transition="in" filter="strips(downRight)">
                                      <p:cBhvr>
                                        <p:cTn id="25" dur="500"/>
                                        <p:tgtEl>
                                          <p:spTgt spid="431108"/>
                                        </p:tgtEl>
                                      </p:cBhvr>
                                    </p:animEffect>
                                  </p:childTnLst>
                                </p:cTn>
                              </p:par>
                            </p:childTnLst>
                          </p:cTn>
                        </p:par>
                      </p:childTnLst>
                    </p:cTn>
                  </p:par>
                  <p:par>
                    <p:cTn id="26" fill="hold">
                      <p:stCondLst>
                        <p:cond delay="indefinite"/>
                      </p:stCondLst>
                      <p:childTnLst>
                        <p:par>
                          <p:cTn id="27" fill="hold">
                            <p:stCondLst>
                              <p:cond delay="0"/>
                            </p:stCondLst>
                            <p:childTnLst>
                              <p:par>
                                <p:cTn id="28" presetID="18" presetClass="entr" presetSubtype="6" fill="hold" grpId="0" nodeType="clickEffect">
                                  <p:stCondLst>
                                    <p:cond delay="0"/>
                                  </p:stCondLst>
                                  <p:childTnLst>
                                    <p:set>
                                      <p:cBhvr>
                                        <p:cTn id="29" dur="1" fill="hold">
                                          <p:stCondLst>
                                            <p:cond delay="0"/>
                                          </p:stCondLst>
                                        </p:cTn>
                                        <p:tgtEl>
                                          <p:spTgt spid="431109"/>
                                        </p:tgtEl>
                                        <p:attrNameLst>
                                          <p:attrName>style.visibility</p:attrName>
                                        </p:attrNameLst>
                                      </p:cBhvr>
                                      <p:to>
                                        <p:strVal val="visible"/>
                                      </p:to>
                                    </p:set>
                                    <p:animEffect transition="in" filter="strips(downRight)">
                                      <p:cBhvr>
                                        <p:cTn id="30" dur="500"/>
                                        <p:tgtEl>
                                          <p:spTgt spid="431109"/>
                                        </p:tgtEl>
                                      </p:cBhvr>
                                    </p:animEffect>
                                  </p:childTnLst>
                                </p:cTn>
                              </p:par>
                            </p:childTnLst>
                          </p:cTn>
                        </p:par>
                      </p:childTnLst>
                    </p:cTn>
                  </p:par>
                  <p:par>
                    <p:cTn id="31" fill="hold">
                      <p:stCondLst>
                        <p:cond delay="indefinite"/>
                      </p:stCondLst>
                      <p:childTnLst>
                        <p:par>
                          <p:cTn id="32" fill="hold">
                            <p:stCondLst>
                              <p:cond delay="0"/>
                            </p:stCondLst>
                            <p:childTnLst>
                              <p:par>
                                <p:cTn id="33" presetID="18" presetClass="entr" presetSubtype="6" fill="hold" grpId="0" nodeType="clickEffect">
                                  <p:stCondLst>
                                    <p:cond delay="0"/>
                                  </p:stCondLst>
                                  <p:childTnLst>
                                    <p:set>
                                      <p:cBhvr>
                                        <p:cTn id="34" dur="1" fill="hold">
                                          <p:stCondLst>
                                            <p:cond delay="0"/>
                                          </p:stCondLst>
                                        </p:cTn>
                                        <p:tgtEl>
                                          <p:spTgt spid="431110"/>
                                        </p:tgtEl>
                                        <p:attrNameLst>
                                          <p:attrName>style.visibility</p:attrName>
                                        </p:attrNameLst>
                                      </p:cBhvr>
                                      <p:to>
                                        <p:strVal val="visible"/>
                                      </p:to>
                                    </p:set>
                                    <p:animEffect transition="in" filter="strips(downRight)">
                                      <p:cBhvr>
                                        <p:cTn id="35" dur="500"/>
                                        <p:tgtEl>
                                          <p:spTgt spid="431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1107" grpId="0"/>
      <p:bldP spid="431111" grpId="0"/>
      <p:bldP spid="431108" grpId="0"/>
      <p:bldP spid="431109" grpId="0"/>
      <p:bldP spid="43111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1891030" y="49911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9.3 </a:t>
            </a:r>
            <a:r>
              <a:rPr lang="en-US" altLang="zh-CN" b="1" dirty="0">
                <a:solidFill>
                  <a:srgbClr val="FF0000"/>
                </a:solidFill>
                <a:latin typeface="黑体" panose="02010609060101010101" pitchFamily="49" charset="-122"/>
                <a:ea typeface="黑体" panose="02010609060101010101" pitchFamily="49" charset="-122"/>
                <a:sym typeface="+mn-ea"/>
              </a:rPr>
              <a:t>A/D转换电路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32134" name="矩形 432133"/>
          <p:cNvSpPr/>
          <p:nvPr/>
        </p:nvSpPr>
        <p:spPr>
          <a:xfrm>
            <a:off x="904240" y="1170623"/>
            <a:ext cx="5013325" cy="460375"/>
          </a:xfrm>
          <a:prstGeom prst="rect">
            <a:avLst/>
          </a:prstGeom>
          <a:noFill/>
          <a:ln w="9525">
            <a:noFill/>
          </a:ln>
        </p:spPr>
        <p:txBody>
          <a:bodyPr>
            <a:spAutoFit/>
          </a:bodyPr>
          <a:p>
            <a:pPr algn="l">
              <a:spcBef>
                <a:spcPct val="50000"/>
              </a:spcBef>
            </a:pPr>
            <a:r>
              <a:rPr lang="zh-CN" altLang="en-US" sz="2400" b="1" dirty="0">
                <a:solidFill>
                  <a:schemeClr val="tx1"/>
                </a:solidFill>
                <a:latin typeface="Times New Roman" panose="02020603050405020304" charset="0"/>
                <a:ea typeface="楷体_GB2312" panose="02010609030101010101" pitchFamily="49" charset="-122"/>
              </a:rPr>
              <a:t>取样与保持</a:t>
            </a:r>
            <a:r>
              <a:rPr lang="zh-CN" altLang="en-US" sz="2400" b="1" dirty="0">
                <a:solidFill>
                  <a:schemeClr val="tx1"/>
                </a:solidFill>
                <a:latin typeface="Verdana" panose="020B0604030504040204" pitchFamily="34" charset="0"/>
                <a:ea typeface="楷体_GB2312" panose="02010609030101010101" pitchFamily="49" charset="-122"/>
              </a:rPr>
              <a:t>电路及工作原理</a:t>
            </a:r>
            <a:endParaRPr lang="zh-CN" altLang="en-US" sz="2400" b="1" dirty="0">
              <a:solidFill>
                <a:schemeClr val="tx1"/>
              </a:solidFill>
              <a:latin typeface="Verdana" panose="020B0604030504040204" pitchFamily="34" charset="0"/>
              <a:ea typeface="楷体_GB2312" panose="02010609030101010101" pitchFamily="49" charset="-122"/>
            </a:endParaRPr>
          </a:p>
        </p:txBody>
      </p:sp>
      <p:sp>
        <p:nvSpPr>
          <p:cNvPr id="2" name="文本框 1"/>
          <p:cNvSpPr txBox="1"/>
          <p:nvPr/>
        </p:nvSpPr>
        <p:spPr>
          <a:xfrm>
            <a:off x="293370" y="1631315"/>
            <a:ext cx="8757285" cy="1198880"/>
          </a:xfrm>
          <a:prstGeom prst="rect">
            <a:avLst/>
          </a:prstGeom>
          <a:noFill/>
        </p:spPr>
        <p:txBody>
          <a:bodyPr wrap="square" rtlCol="0" anchor="t">
            <a:spAutoFit/>
          </a:bodyPr>
          <a:p>
            <a:r>
              <a:rPr lang="zh-CN" altLang="en-US" sz="2400" b="1">
                <a:gradFill>
                  <a:gsLst>
                    <a:gs pos="0">
                      <a:srgbClr val="012D86"/>
                    </a:gs>
                    <a:gs pos="100000">
                      <a:srgbClr val="0E2557"/>
                    </a:gs>
                  </a:gsLst>
                  <a:lin scaled="0"/>
                </a:gradFill>
              </a:rPr>
              <a:t>将取样所得信号转换为数字信号需要一定的时间，为了给后续的量化与编码电路提供一个稳定值，在每次取样结束后，都需要对取样的模拟电压信号保持一段时间。</a:t>
            </a:r>
            <a:endParaRPr lang="zh-CN" altLang="en-US" sz="2400" b="1">
              <a:gradFill>
                <a:gsLst>
                  <a:gs pos="0">
                    <a:srgbClr val="012D86"/>
                  </a:gs>
                  <a:gs pos="100000">
                    <a:srgbClr val="0E2557"/>
                  </a:gs>
                </a:gsLst>
                <a:lin scaled="0"/>
              </a:gradFill>
            </a:endParaRPr>
          </a:p>
        </p:txBody>
      </p:sp>
      <p:pic>
        <p:nvPicPr>
          <p:cNvPr id="9500" name="图片 2937"/>
          <p:cNvPicPr>
            <a:picLocks noChangeAspect="1"/>
          </p:cNvPicPr>
          <p:nvPr/>
        </p:nvPicPr>
        <p:blipFill>
          <a:blip r:embed="rId1"/>
          <a:stretch>
            <a:fillRect/>
          </a:stretch>
        </p:blipFill>
        <p:spPr>
          <a:xfrm>
            <a:off x="0" y="3827780"/>
            <a:ext cx="4946650" cy="1703070"/>
          </a:xfrm>
          <a:prstGeom prst="rect">
            <a:avLst/>
          </a:prstGeom>
          <a:noFill/>
          <a:ln>
            <a:noFill/>
          </a:ln>
        </p:spPr>
      </p:pic>
      <p:graphicFrame>
        <p:nvGraphicFramePr>
          <p:cNvPr id="432130" name="对象 432129"/>
          <p:cNvGraphicFramePr/>
          <p:nvPr/>
        </p:nvGraphicFramePr>
        <p:xfrm>
          <a:off x="5199063" y="2705418"/>
          <a:ext cx="3851275" cy="3551237"/>
        </p:xfrm>
        <a:graphic>
          <a:graphicData uri="http://schemas.openxmlformats.org/presentationml/2006/ole">
            <mc:AlternateContent xmlns:mc="http://schemas.openxmlformats.org/markup-compatibility/2006">
              <mc:Choice xmlns:v="urn:schemas-microsoft-com:vml" Requires="v">
                <p:oleObj spid="_x0000_s3117" name="" r:id="rId2" imgW="2218690" imgH="1911350" progId="Word.Picture.8">
                  <p:embed/>
                </p:oleObj>
              </mc:Choice>
              <mc:Fallback>
                <p:oleObj name="" r:id="rId2" imgW="2218690" imgH="1911350" progId="Word.Picture.8">
                  <p:embed/>
                  <p:pic>
                    <p:nvPicPr>
                      <p:cNvPr id="0" name="图片 3116"/>
                      <p:cNvPicPr/>
                      <p:nvPr/>
                    </p:nvPicPr>
                    <p:blipFill>
                      <a:blip r:embed="rId3"/>
                      <a:stretch>
                        <a:fillRect/>
                      </a:stretch>
                    </p:blipFill>
                    <p:spPr>
                      <a:xfrm>
                        <a:off x="5199063" y="2705418"/>
                        <a:ext cx="3851275" cy="3551237"/>
                      </a:xfrm>
                      <a:prstGeom prst="rect">
                        <a:avLst/>
                      </a:prstGeom>
                      <a:noFill/>
                      <a:ln w="38100">
                        <a:noFill/>
                        <a:miter/>
                      </a:ln>
                    </p:spPr>
                  </p:pic>
                </p:oleObj>
              </mc:Fallback>
            </mc:AlternateContent>
          </a:graphicData>
        </a:graphic>
      </p:graphicFrame>
      <p:sp>
        <p:nvSpPr>
          <p:cNvPr id="432132" name="圆角矩形标注 432131"/>
          <p:cNvSpPr/>
          <p:nvPr/>
        </p:nvSpPr>
        <p:spPr>
          <a:xfrm flipH="1">
            <a:off x="3935095" y="2916238"/>
            <a:ext cx="1152525" cy="504825"/>
          </a:xfrm>
          <a:prstGeom prst="wedgeRoundRectCallout">
            <a:avLst>
              <a:gd name="adj1" fmla="val -109093"/>
              <a:gd name="adj2" fmla="val 141819"/>
              <a:gd name="adj3" fmla="val 16667"/>
            </a:avLst>
          </a:prstGeom>
          <a:solidFill>
            <a:schemeClr val="bg2"/>
          </a:solidFill>
          <a:ln w="9525" cap="flat" cmpd="sng">
            <a:solidFill>
              <a:schemeClr val="bg1"/>
            </a:solidFill>
            <a:prstDash val="solid"/>
            <a:miter/>
            <a:headEnd type="none" w="med" len="med"/>
            <a:tailEnd type="none" w="med" len="med"/>
          </a:ln>
        </p:spPr>
        <p:txBody>
          <a:bodyPr/>
          <a:p>
            <a:pPr>
              <a:spcBef>
                <a:spcPct val="50000"/>
              </a:spcBef>
            </a:pPr>
            <a:r>
              <a:rPr lang="zh-CN" altLang="en-US" sz="2400" dirty="0">
                <a:solidFill>
                  <a:srgbClr val="000066"/>
                </a:solidFill>
                <a:latin typeface="Times New Roman" panose="02020603050405020304" charset="0"/>
                <a:ea typeface="楷体_GB2312" panose="02010609030101010101" pitchFamily="49" charset="-122"/>
              </a:rPr>
              <a:t>采样</a:t>
            </a:r>
            <a:endParaRPr lang="zh-CN" altLang="en-US" sz="2400" dirty="0">
              <a:solidFill>
                <a:srgbClr val="000066"/>
              </a:solidFill>
              <a:latin typeface="Times New Roman" panose="02020603050405020304" charset="0"/>
              <a:ea typeface="楷体_GB2312" panose="02010609030101010101" pitchFamily="49" charset="-122"/>
            </a:endParaRPr>
          </a:p>
        </p:txBody>
      </p:sp>
      <p:sp>
        <p:nvSpPr>
          <p:cNvPr id="432133" name="圆角矩形标注 432132"/>
          <p:cNvSpPr/>
          <p:nvPr/>
        </p:nvSpPr>
        <p:spPr>
          <a:xfrm flipH="1">
            <a:off x="7069455" y="2916238"/>
            <a:ext cx="1152525" cy="444500"/>
          </a:xfrm>
          <a:prstGeom prst="wedgeRoundRectCallout">
            <a:avLst>
              <a:gd name="adj1" fmla="val 133194"/>
              <a:gd name="adj2" fmla="val 133213"/>
              <a:gd name="adj3" fmla="val 16667"/>
            </a:avLst>
          </a:prstGeom>
          <a:solidFill>
            <a:schemeClr val="bg2"/>
          </a:solidFill>
          <a:ln w="9525" cap="flat" cmpd="sng">
            <a:solidFill>
              <a:schemeClr val="bg1"/>
            </a:solidFill>
            <a:prstDash val="solid"/>
            <a:miter/>
            <a:headEnd type="none" w="med" len="med"/>
            <a:tailEnd type="none" w="med" len="med"/>
          </a:ln>
        </p:spPr>
        <p:txBody>
          <a:bodyPr/>
          <a:p>
            <a:pPr>
              <a:spcBef>
                <a:spcPct val="50000"/>
              </a:spcBef>
            </a:pPr>
            <a:r>
              <a:rPr lang="zh-CN" altLang="en-US" sz="2400" dirty="0">
                <a:solidFill>
                  <a:srgbClr val="000066"/>
                </a:solidFill>
                <a:latin typeface="Times New Roman" panose="02020603050405020304" charset="0"/>
                <a:ea typeface="楷体_GB2312" panose="02010609030101010101" pitchFamily="49" charset="-122"/>
              </a:rPr>
              <a:t>保持</a:t>
            </a:r>
            <a:endParaRPr lang="zh-CN" altLang="en-US" sz="2400" dirty="0">
              <a:solidFill>
                <a:srgbClr val="000066"/>
              </a:solidFill>
              <a:latin typeface="Times New Roman" panose="02020603050405020304" charset="0"/>
              <a:ea typeface="楷体_GB2312" panose="02010609030101010101" pitchFamily="49" charset="-122"/>
            </a:endParaRPr>
          </a:p>
        </p:txBody>
      </p:sp>
      <p:sp>
        <p:nvSpPr>
          <p:cNvPr id="100" name="文本框 99"/>
          <p:cNvSpPr txBox="1"/>
          <p:nvPr/>
        </p:nvSpPr>
        <p:spPr>
          <a:xfrm>
            <a:off x="1473835" y="5760720"/>
            <a:ext cx="2461260" cy="337185"/>
          </a:xfrm>
          <a:prstGeom prst="rect">
            <a:avLst/>
          </a:prstGeom>
          <a:noFill/>
          <a:ln w="9525">
            <a:noFill/>
          </a:ln>
        </p:spPr>
        <p:txBody>
          <a:bodyPr wrap="square">
            <a:spAutoFit/>
          </a:bodyPr>
          <a:p>
            <a:r>
              <a:rPr lang="zh-CN" sz="1600">
                <a:ea typeface="宋体" panose="02010600030101010101" pitchFamily="2" charset="-122"/>
              </a:rPr>
              <a:t>图</a:t>
            </a:r>
            <a:r>
              <a:rPr lang="en-US" sz="1600">
                <a:latin typeface="Times New Roman" panose="02020603050405020304" charset="0"/>
                <a:ea typeface="宋体" panose="02010600030101010101" pitchFamily="2" charset="-122"/>
                <a:cs typeface="Times New Roman" panose="02020603050405020304" charset="0"/>
              </a:rPr>
              <a:t>9-</a:t>
            </a:r>
            <a:r>
              <a:rPr lang="en-US" sz="1600">
                <a:latin typeface="Times New Roman" panose="02020603050405020304" charset="0"/>
                <a:ea typeface="宋体" panose="02010600030101010101" pitchFamily="2" charset="-122"/>
              </a:rPr>
              <a:t>18 </a:t>
            </a:r>
            <a:r>
              <a:rPr lang="zh-CN" sz="1600">
                <a:ea typeface="宋体" panose="02010600030101010101" pitchFamily="2" charset="-122"/>
              </a:rPr>
              <a:t>取样</a:t>
            </a:r>
            <a:r>
              <a:rPr lang="en-US" sz="1600">
                <a:latin typeface="Times New Roman" panose="02020603050405020304" charset="0"/>
                <a:ea typeface="宋体" panose="02010600030101010101" pitchFamily="2" charset="-122"/>
              </a:rPr>
              <a:t>-</a:t>
            </a:r>
            <a:r>
              <a:rPr lang="zh-CN" sz="1600">
                <a:ea typeface="宋体" panose="02010600030101010101" pitchFamily="2" charset="-122"/>
              </a:rPr>
              <a:t>保持电路</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9500"/>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childTnLst>
                                    <p:set>
                                      <p:cBhvr>
                                        <p:cTn id="14" dur="1" fill="hold">
                                          <p:stCondLst>
                                            <p:cond delay="0"/>
                                          </p:stCondLst>
                                        </p:cTn>
                                        <p:tgtEl>
                                          <p:spTgt spid="10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432130"/>
                                        </p:tgtEl>
                                        <p:attrNameLst>
                                          <p:attrName>style.visibility</p:attrName>
                                        </p:attrNameLst>
                                      </p:cBhvr>
                                      <p:to>
                                        <p:strVal val="visible"/>
                                      </p:to>
                                    </p:set>
                                    <p:animEffect transition="in" filter="wipe(left)">
                                      <p:cBhvr>
                                        <p:cTn id="19" dur="500"/>
                                        <p:tgtEl>
                                          <p:spTgt spid="432130"/>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6" fill="hold" grpId="0" nodeType="clickEffect">
                                  <p:stCondLst>
                                    <p:cond delay="0"/>
                                  </p:stCondLst>
                                  <p:childTnLst>
                                    <p:set>
                                      <p:cBhvr>
                                        <p:cTn id="23" dur="1" fill="hold">
                                          <p:stCondLst>
                                            <p:cond delay="0"/>
                                          </p:stCondLst>
                                        </p:cTn>
                                        <p:tgtEl>
                                          <p:spTgt spid="432132"/>
                                        </p:tgtEl>
                                        <p:attrNameLst>
                                          <p:attrName>style.visibility</p:attrName>
                                        </p:attrNameLst>
                                      </p:cBhvr>
                                      <p:to>
                                        <p:strVal val="visible"/>
                                      </p:to>
                                    </p:set>
                                    <p:animEffect transition="in" filter="barn(inHorizontal)">
                                      <p:cBhvr>
                                        <p:cTn id="24" dur="500"/>
                                        <p:tgtEl>
                                          <p:spTgt spid="432132"/>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6" fill="hold" grpId="0" nodeType="clickEffect">
                                  <p:stCondLst>
                                    <p:cond delay="0"/>
                                  </p:stCondLst>
                                  <p:childTnLst>
                                    <p:set>
                                      <p:cBhvr>
                                        <p:cTn id="28" dur="1" fill="hold">
                                          <p:stCondLst>
                                            <p:cond delay="0"/>
                                          </p:stCondLst>
                                        </p:cTn>
                                        <p:tgtEl>
                                          <p:spTgt spid="432133"/>
                                        </p:tgtEl>
                                        <p:attrNameLst>
                                          <p:attrName>style.visibility</p:attrName>
                                        </p:attrNameLst>
                                      </p:cBhvr>
                                      <p:to>
                                        <p:strVal val="visible"/>
                                      </p:to>
                                    </p:set>
                                    <p:animEffect transition="in" filter="barn(inHorizontal)">
                                      <p:cBhvr>
                                        <p:cTn id="29" dur="500"/>
                                        <p:tgtEl>
                                          <p:spTgt spid="432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32132" grpId="0" bldLvl="0" animBg="1"/>
      <p:bldP spid="432133" grpId="0" bldLvl="0" animBg="1"/>
      <p:bldP spid="10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1891030" y="49911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9.3 </a:t>
            </a:r>
            <a:r>
              <a:rPr lang="en-US" altLang="zh-CN" b="1" dirty="0">
                <a:solidFill>
                  <a:srgbClr val="FF0000"/>
                </a:solidFill>
                <a:latin typeface="黑体" panose="02010609060101010101" pitchFamily="49" charset="-122"/>
                <a:ea typeface="黑体" panose="02010609060101010101" pitchFamily="49" charset="-122"/>
                <a:sym typeface="+mn-ea"/>
              </a:rPr>
              <a:t>A/D转换电路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0" name="文本框 99"/>
          <p:cNvSpPr txBox="1"/>
          <p:nvPr/>
        </p:nvSpPr>
        <p:spPr>
          <a:xfrm>
            <a:off x="846455" y="1237615"/>
            <a:ext cx="5080000" cy="460375"/>
          </a:xfrm>
          <a:prstGeom prst="rect">
            <a:avLst/>
          </a:prstGeom>
          <a:noFill/>
          <a:ln w="9525">
            <a:noFill/>
          </a:ln>
        </p:spPr>
        <p:txBody>
          <a:bodyPr>
            <a:spAutoFit/>
          </a:bodyPr>
          <a:p>
            <a:r>
              <a:rPr lang="en-US" sz="2400" b="1">
                <a:solidFill>
                  <a:schemeClr val="accent6">
                    <a:lumMod val="60000"/>
                    <a:lumOff val="40000"/>
                  </a:schemeClr>
                </a:solidFill>
                <a:latin typeface="Times New Roman" panose="02020603050405020304" charset="0"/>
                <a:sym typeface="+mn-ea"/>
              </a:rPr>
              <a:t>2. </a:t>
            </a:r>
            <a:r>
              <a:rPr lang="zh-CN" sz="2400" b="1">
                <a:solidFill>
                  <a:schemeClr val="accent6">
                    <a:lumMod val="60000"/>
                    <a:lumOff val="40000"/>
                  </a:schemeClr>
                </a:solidFill>
                <a:ea typeface="宋体" panose="02010600030101010101" pitchFamily="2" charset="-122"/>
              </a:rPr>
              <a:t>量化与编码</a:t>
            </a:r>
            <a:endParaRPr lang="zh-CN" altLang="en-US" sz="2400" b="1">
              <a:solidFill>
                <a:schemeClr val="accent6">
                  <a:lumMod val="60000"/>
                  <a:lumOff val="40000"/>
                </a:schemeClr>
              </a:solidFill>
              <a:ea typeface="宋体" panose="02010600030101010101" pitchFamily="2" charset="-122"/>
            </a:endParaRPr>
          </a:p>
        </p:txBody>
      </p:sp>
      <p:sp>
        <p:nvSpPr>
          <p:cNvPr id="2" name="文本框 1"/>
          <p:cNvSpPr txBox="1"/>
          <p:nvPr/>
        </p:nvSpPr>
        <p:spPr>
          <a:xfrm>
            <a:off x="189865" y="1697990"/>
            <a:ext cx="8764270" cy="2675255"/>
          </a:xfrm>
          <a:prstGeom prst="rect">
            <a:avLst/>
          </a:prstGeom>
          <a:noFill/>
          <a:ln w="9525">
            <a:noFill/>
          </a:ln>
        </p:spPr>
        <p:txBody>
          <a:bodyPr wrap="square">
            <a:spAutoFit/>
          </a:bodyPr>
          <a:p>
            <a:pPr>
              <a:lnSpc>
                <a:spcPct val="140000"/>
              </a:lnSpc>
            </a:pPr>
            <a:r>
              <a:rPr lang="en-US" altLang="zh-CN" sz="2400" b="1">
                <a:gradFill>
                  <a:gsLst>
                    <a:gs pos="0">
                      <a:srgbClr val="012D86"/>
                    </a:gs>
                    <a:gs pos="100000">
                      <a:srgbClr val="0E2557"/>
                    </a:gs>
                  </a:gsLst>
                  <a:lin scaled="0"/>
                </a:gradFill>
                <a:ea typeface="宋体" panose="02010600030101010101" pitchFamily="2" charset="-122"/>
              </a:rPr>
              <a:t>       </a:t>
            </a:r>
            <a:r>
              <a:rPr lang="zh-CN" sz="2400" b="1">
                <a:gradFill>
                  <a:gsLst>
                    <a:gs pos="0">
                      <a:srgbClr val="012D86"/>
                    </a:gs>
                    <a:gs pos="100000">
                      <a:srgbClr val="0E2557"/>
                    </a:gs>
                  </a:gsLst>
                  <a:lin scaled="0"/>
                </a:gradFill>
                <a:ea typeface="宋体" panose="02010600030101010101" pitchFamily="2" charset="-122"/>
              </a:rPr>
              <a:t>输入的模拟信号经取样</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a:t>
            </a:r>
            <a:r>
              <a:rPr lang="zh-CN" sz="2400" b="1">
                <a:gradFill>
                  <a:gsLst>
                    <a:gs pos="0">
                      <a:srgbClr val="012D86"/>
                    </a:gs>
                    <a:gs pos="100000">
                      <a:srgbClr val="0E2557"/>
                    </a:gs>
                  </a:gsLst>
                  <a:lin scaled="0"/>
                </a:gradFill>
                <a:ea typeface="宋体" panose="02010600030101010101" pitchFamily="2" charset="-122"/>
              </a:rPr>
              <a:t>保持后，得到的是阶梯形的模拟</a:t>
            </a:r>
            <a:endParaRPr lang="zh-CN" sz="2400" b="1">
              <a:gradFill>
                <a:gsLst>
                  <a:gs pos="0">
                    <a:srgbClr val="012D86"/>
                  </a:gs>
                  <a:gs pos="100000">
                    <a:srgbClr val="0E2557"/>
                  </a:gs>
                </a:gsLst>
                <a:lin scaled="0"/>
              </a:gradFill>
              <a:ea typeface="宋体" panose="02010600030101010101" pitchFamily="2" charset="-122"/>
            </a:endParaRPr>
          </a:p>
          <a:p>
            <a:pPr>
              <a:lnSpc>
                <a:spcPct val="140000"/>
              </a:lnSpc>
            </a:pPr>
            <a:r>
              <a:rPr lang="zh-CN" sz="2400" b="1">
                <a:gradFill>
                  <a:gsLst>
                    <a:gs pos="0">
                      <a:srgbClr val="012D86"/>
                    </a:gs>
                    <a:gs pos="100000">
                      <a:srgbClr val="0E2557"/>
                    </a:gs>
                  </a:gsLst>
                  <a:lin scaled="0"/>
                </a:gradFill>
                <a:ea typeface="宋体" panose="02010600030101010101" pitchFamily="2" charset="-122"/>
              </a:rPr>
              <a:t>信号。为将阶梯形模拟信号转化为数字量，必须把取样电平表示</a:t>
            </a:r>
            <a:endParaRPr lang="zh-CN" sz="2400" b="1">
              <a:gradFill>
                <a:gsLst>
                  <a:gs pos="0">
                    <a:srgbClr val="012D86"/>
                  </a:gs>
                  <a:gs pos="100000">
                    <a:srgbClr val="0E2557"/>
                  </a:gs>
                </a:gsLst>
                <a:lin scaled="0"/>
              </a:gradFill>
              <a:ea typeface="宋体" panose="02010600030101010101" pitchFamily="2" charset="-122"/>
            </a:endParaRPr>
          </a:p>
          <a:p>
            <a:pPr>
              <a:lnSpc>
                <a:spcPct val="140000"/>
              </a:lnSpc>
            </a:pPr>
            <a:r>
              <a:rPr lang="zh-CN" sz="2400" b="1">
                <a:gradFill>
                  <a:gsLst>
                    <a:gs pos="0">
                      <a:srgbClr val="012D86"/>
                    </a:gs>
                    <a:gs pos="100000">
                      <a:srgbClr val="0E2557"/>
                    </a:gs>
                  </a:gsLst>
                  <a:lin scaled="0"/>
                </a:gradFill>
                <a:ea typeface="宋体" panose="02010600030101010101" pitchFamily="2" charset="-122"/>
              </a:rPr>
              <a:t>为某个规定的最小数量单位的整数倍，这个转化过程叫量化，量</a:t>
            </a:r>
            <a:endParaRPr lang="zh-CN" sz="2400" b="1">
              <a:gradFill>
                <a:gsLst>
                  <a:gs pos="0">
                    <a:srgbClr val="012D86"/>
                  </a:gs>
                  <a:gs pos="100000">
                    <a:srgbClr val="0E2557"/>
                  </a:gs>
                </a:gsLst>
                <a:lin scaled="0"/>
              </a:gradFill>
              <a:ea typeface="宋体" panose="02010600030101010101" pitchFamily="2" charset="-122"/>
            </a:endParaRPr>
          </a:p>
          <a:p>
            <a:pPr>
              <a:lnSpc>
                <a:spcPct val="140000"/>
              </a:lnSpc>
            </a:pPr>
            <a:r>
              <a:rPr lang="zh-CN" sz="2400" b="1">
                <a:gradFill>
                  <a:gsLst>
                    <a:gs pos="0">
                      <a:srgbClr val="012D86"/>
                    </a:gs>
                    <a:gs pos="100000">
                      <a:srgbClr val="0E2557"/>
                    </a:gs>
                  </a:gsLst>
                  <a:lin scaled="0"/>
                </a:gradFill>
                <a:ea typeface="宋体" panose="02010600030101010101" pitchFamily="2" charset="-122"/>
              </a:rPr>
              <a:t>化所取的最小数量单位叫做量化单位</a:t>
            </a:r>
            <a:r>
              <a:rPr lang="en-US" altLang="zh-CN" sz="2400" b="1">
                <a:gradFill>
                  <a:gsLst>
                    <a:gs pos="0">
                      <a:srgbClr val="012D86"/>
                    </a:gs>
                    <a:gs pos="100000">
                      <a:srgbClr val="0E2557"/>
                    </a:gs>
                  </a:gsLst>
                  <a:lin scaled="0"/>
                </a:gradFill>
                <a:ea typeface="宋体" panose="02010600030101010101" pitchFamily="2" charset="-122"/>
              </a:rPr>
              <a:t>, </a:t>
            </a:r>
            <a:r>
              <a:rPr lang="zh-CN" sz="2400" b="1">
                <a:gradFill>
                  <a:gsLst>
                    <a:gs pos="0">
                      <a:srgbClr val="012D86"/>
                    </a:gs>
                    <a:gs pos="100000">
                      <a:srgbClr val="0E2557"/>
                    </a:gs>
                  </a:gsLst>
                  <a:lin scaled="0"/>
                </a:gradFill>
                <a:ea typeface="宋体" panose="02010600030101010101" pitchFamily="2" charset="-122"/>
              </a:rPr>
              <a:t>用</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Δ</a:t>
            </a:r>
            <a:r>
              <a:rPr lang="zh-CN" sz="2400" b="1">
                <a:gradFill>
                  <a:gsLst>
                    <a:gs pos="0">
                      <a:srgbClr val="012D86"/>
                    </a:gs>
                    <a:gs pos="100000">
                      <a:srgbClr val="0E2557"/>
                    </a:gs>
                  </a:gsLst>
                  <a:lin scaled="0"/>
                </a:gradFill>
                <a:ea typeface="宋体" panose="02010600030101010101" pitchFamily="2" charset="-122"/>
              </a:rPr>
              <a:t>表示。量化单位</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Δ</a:t>
            </a:r>
            <a:r>
              <a:rPr lang="zh-CN" sz="2400" b="1">
                <a:gradFill>
                  <a:gsLst>
                    <a:gs pos="0">
                      <a:srgbClr val="012D86"/>
                    </a:gs>
                    <a:gs pos="100000">
                      <a:srgbClr val="0E2557"/>
                    </a:gs>
                  </a:gsLst>
                  <a:lin scaled="0"/>
                </a:gradFill>
                <a:ea typeface="宋体" panose="02010600030101010101" pitchFamily="2" charset="-122"/>
              </a:rPr>
              <a:t>是数</a:t>
            </a:r>
            <a:endParaRPr lang="zh-CN" sz="2400" b="1">
              <a:gradFill>
                <a:gsLst>
                  <a:gs pos="0">
                    <a:srgbClr val="012D86"/>
                  </a:gs>
                  <a:gs pos="100000">
                    <a:srgbClr val="0E2557"/>
                  </a:gs>
                </a:gsLst>
                <a:lin scaled="0"/>
              </a:gradFill>
              <a:ea typeface="宋体" panose="02010600030101010101" pitchFamily="2" charset="-122"/>
            </a:endParaRPr>
          </a:p>
          <a:p>
            <a:pPr>
              <a:lnSpc>
                <a:spcPct val="140000"/>
              </a:lnSpc>
            </a:pPr>
            <a:r>
              <a:rPr lang="zh-CN" sz="2400" b="1">
                <a:gradFill>
                  <a:gsLst>
                    <a:gs pos="0">
                      <a:srgbClr val="012D86"/>
                    </a:gs>
                    <a:gs pos="100000">
                      <a:srgbClr val="0E2557"/>
                    </a:gs>
                  </a:gsLst>
                  <a:lin scaled="0"/>
                </a:gradFill>
                <a:ea typeface="宋体" panose="02010600030101010101" pitchFamily="2" charset="-122"/>
              </a:rPr>
              <a:t>字信号最低有效位为</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1</a:t>
            </a:r>
            <a:r>
              <a:rPr lang="zh-CN" sz="2400" b="1">
                <a:gradFill>
                  <a:gsLst>
                    <a:gs pos="0">
                      <a:srgbClr val="012D86"/>
                    </a:gs>
                    <a:gs pos="100000">
                      <a:srgbClr val="0E2557"/>
                    </a:gs>
                  </a:gsLst>
                  <a:lin scaled="0"/>
                </a:gradFill>
                <a:ea typeface="宋体" panose="02010600030101010101" pitchFamily="2" charset="-122"/>
              </a:rPr>
              <a:t>时，所对应的模拟量，即</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1LSB</a:t>
            </a:r>
            <a:r>
              <a:rPr lang="zh-CN" sz="2400" b="1">
                <a:gradFill>
                  <a:gsLst>
                    <a:gs pos="0">
                      <a:srgbClr val="012D86"/>
                    </a:gs>
                    <a:gs pos="100000">
                      <a:srgbClr val="0E2557"/>
                    </a:gs>
                  </a:gsLst>
                  <a:lin scaled="0"/>
                </a:gradFill>
                <a:ea typeface="宋体" panose="02010600030101010101" pitchFamily="2" charset="-122"/>
              </a:rPr>
              <a:t>。</a:t>
            </a:r>
            <a:endParaRPr lang="zh-CN" altLang="en-US" sz="2400" b="1">
              <a:gradFill>
                <a:gsLst>
                  <a:gs pos="0">
                    <a:srgbClr val="012D86"/>
                  </a:gs>
                  <a:gs pos="100000">
                    <a:srgbClr val="0E2557"/>
                  </a:gs>
                </a:gsLst>
                <a:lin scaled="0"/>
              </a:gra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200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200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left)">
                                      <p:cBhvr>
                                        <p:cTn id="11" dur="500"/>
                                        <p:tgtEl>
                                          <p:spTgt spid="2">
                                            <p:txEl>
                                              <p:pRg st="1" end="1"/>
                                            </p:txEl>
                                          </p:spTgt>
                                        </p:tgtEl>
                                      </p:cBhvr>
                                    </p:animEffect>
                                  </p:childTnLst>
                                </p:cTn>
                              </p:par>
                            </p:childTnLst>
                          </p:cTn>
                        </p:par>
                        <p:par>
                          <p:cTn id="12" fill="hold">
                            <p:stCondLst>
                              <p:cond delay="5000"/>
                            </p:stCondLst>
                            <p:childTnLst>
                              <p:par>
                                <p:cTn id="13" presetID="22" presetClass="entr" presetSubtype="8" fill="hold" grpId="0" nodeType="afterEffect">
                                  <p:stCondLst>
                                    <p:cond delay="200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wipe(left)">
                                      <p:cBhvr>
                                        <p:cTn id="15" dur="500"/>
                                        <p:tgtEl>
                                          <p:spTgt spid="2">
                                            <p:txEl>
                                              <p:pRg st="2" end="2"/>
                                            </p:txEl>
                                          </p:spTgt>
                                        </p:tgtEl>
                                      </p:cBhvr>
                                    </p:animEffect>
                                  </p:childTnLst>
                                </p:cTn>
                              </p:par>
                            </p:childTnLst>
                          </p:cTn>
                        </p:par>
                        <p:par>
                          <p:cTn id="16" fill="hold">
                            <p:stCondLst>
                              <p:cond delay="7500"/>
                            </p:stCondLst>
                            <p:childTnLst>
                              <p:par>
                                <p:cTn id="17" presetID="22" presetClass="entr" presetSubtype="8" fill="hold" grpId="0" nodeType="afterEffect">
                                  <p:stCondLst>
                                    <p:cond delay="200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childTnLst>
                          </p:cTn>
                        </p:par>
                        <p:par>
                          <p:cTn id="20" fill="hold">
                            <p:stCondLst>
                              <p:cond delay="10000"/>
                            </p:stCondLst>
                            <p:childTnLst>
                              <p:par>
                                <p:cTn id="21" presetID="22" presetClass="entr" presetSubtype="8" fill="hold" grpId="0" nodeType="afterEffect">
                                  <p:stCondLst>
                                    <p:cond delay="200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wipe(left)">
                                      <p:cBhvr>
                                        <p:cTn id="23"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1891030" y="49911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9.3 </a:t>
            </a:r>
            <a:r>
              <a:rPr lang="en-US" altLang="zh-CN" b="1" dirty="0">
                <a:solidFill>
                  <a:srgbClr val="FF0000"/>
                </a:solidFill>
                <a:latin typeface="黑体" panose="02010609060101010101" pitchFamily="49" charset="-122"/>
                <a:ea typeface="黑体" panose="02010609060101010101" pitchFamily="49" charset="-122"/>
                <a:sym typeface="+mn-ea"/>
              </a:rPr>
              <a:t>A/D转换电路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4" name="文本框 3"/>
          <p:cNvSpPr txBox="1"/>
          <p:nvPr/>
        </p:nvSpPr>
        <p:spPr>
          <a:xfrm>
            <a:off x="427355" y="1943100"/>
            <a:ext cx="8578850" cy="1198880"/>
          </a:xfrm>
          <a:prstGeom prst="rect">
            <a:avLst/>
          </a:prstGeom>
          <a:noFill/>
          <a:ln w="9525">
            <a:noFill/>
          </a:ln>
        </p:spPr>
        <p:txBody>
          <a:bodyPr>
            <a:spAutoFit/>
          </a:bodyPr>
          <a:p>
            <a:pPr algn="l">
              <a:lnSpc>
                <a:spcPct val="150000"/>
              </a:lnSpc>
              <a:spcBef>
                <a:spcPct val="50000"/>
              </a:spcBef>
            </a:pPr>
            <a:r>
              <a:rPr lang="zh-CN" altLang="en-US" sz="2400" b="1" dirty="0">
                <a:gradFill>
                  <a:gsLst>
                    <a:gs pos="0">
                      <a:srgbClr val="012D86"/>
                    </a:gs>
                    <a:gs pos="100000">
                      <a:srgbClr val="0E2557"/>
                    </a:gs>
                  </a:gsLst>
                  <a:lin scaled="0"/>
                </a:gradFill>
                <a:latin typeface="Times New Roman" panose="02020603050405020304" charset="0"/>
                <a:ea typeface="楷体_GB2312" panose="02010609030101010101" pitchFamily="49" charset="-122"/>
              </a:rPr>
              <a:t>在量化过程中由于所采样电压不一定能被</a:t>
            </a:r>
            <a:r>
              <a:rPr lang="en-US" altLang="zh-CN" sz="2400" b="1" dirty="0">
                <a:gradFill>
                  <a:gsLst>
                    <a:gs pos="0">
                      <a:srgbClr val="012D86"/>
                    </a:gs>
                    <a:gs pos="100000">
                      <a:srgbClr val="0E2557"/>
                    </a:gs>
                  </a:gsLst>
                  <a:lin scaled="0"/>
                </a:gradFill>
                <a:latin typeface="Times New Roman" panose="02020603050405020304" charset="0"/>
                <a:ea typeface="楷体_GB2312" panose="02010609030101010101" pitchFamily="49" charset="-122"/>
                <a:sym typeface="Symbol" panose="05050102010706020507" pitchFamily="18" charset="2"/>
              </a:rPr>
              <a:t></a:t>
            </a:r>
            <a:r>
              <a:rPr lang="zh-CN" altLang="en-US" sz="2400" b="1" dirty="0">
                <a:gradFill>
                  <a:gsLst>
                    <a:gs pos="0">
                      <a:srgbClr val="012D86"/>
                    </a:gs>
                    <a:gs pos="100000">
                      <a:srgbClr val="0E2557"/>
                    </a:gs>
                  </a:gsLst>
                  <a:lin scaled="0"/>
                </a:gradFill>
                <a:latin typeface="Times New Roman" panose="02020603050405020304" charset="0"/>
                <a:ea typeface="楷体_GB2312" panose="02010609030101010101" pitchFamily="49" charset="-122"/>
              </a:rPr>
              <a:t>整除，所以量化前后一定存在误差，此误差我们称之为量化误差，用</a:t>
            </a:r>
            <a:r>
              <a:rPr lang="en-US" altLang="zh-CN" sz="2400" b="1" dirty="0">
                <a:gradFill>
                  <a:gsLst>
                    <a:gs pos="0">
                      <a:srgbClr val="012D86"/>
                    </a:gs>
                    <a:gs pos="100000">
                      <a:srgbClr val="0E2557"/>
                    </a:gs>
                  </a:gsLst>
                  <a:lin scaled="0"/>
                </a:gradFill>
                <a:latin typeface="Times New Roman" panose="02020603050405020304" charset="0"/>
                <a:ea typeface="楷体_GB2312" panose="02010609030101010101" pitchFamily="49" charset="-122"/>
                <a:sym typeface="Symbol" panose="05050102010706020507" pitchFamily="18" charset="2"/>
              </a:rPr>
              <a:t></a:t>
            </a:r>
            <a:r>
              <a:rPr lang="zh-CN" altLang="en-US" sz="2400" b="1" dirty="0">
                <a:gradFill>
                  <a:gsLst>
                    <a:gs pos="0">
                      <a:srgbClr val="012D86"/>
                    </a:gs>
                    <a:gs pos="100000">
                      <a:srgbClr val="0E2557"/>
                    </a:gs>
                  </a:gsLst>
                  <a:lin scaled="0"/>
                </a:gradFill>
                <a:latin typeface="Times New Roman" panose="02020603050405020304" charset="0"/>
                <a:ea typeface="楷体_GB2312" panose="02010609030101010101" pitchFamily="49" charset="-122"/>
              </a:rPr>
              <a:t>表示。</a:t>
            </a:r>
            <a:endParaRPr lang="zh-CN" altLang="en-US" sz="2400" b="1" dirty="0">
              <a:gradFill>
                <a:gsLst>
                  <a:gs pos="0">
                    <a:srgbClr val="012D86"/>
                  </a:gs>
                  <a:gs pos="100000">
                    <a:srgbClr val="0E2557"/>
                  </a:gs>
                </a:gsLst>
                <a:lin scaled="0"/>
              </a:gradFill>
              <a:latin typeface="Times New Roman" panose="02020603050405020304" charset="0"/>
              <a:ea typeface="楷体_GB2312" panose="02010609030101010101" pitchFamily="49" charset="-122"/>
            </a:endParaRPr>
          </a:p>
        </p:txBody>
      </p:sp>
      <p:sp>
        <p:nvSpPr>
          <p:cNvPr id="5" name="文本框 4"/>
          <p:cNvSpPr txBox="1"/>
          <p:nvPr/>
        </p:nvSpPr>
        <p:spPr>
          <a:xfrm>
            <a:off x="354013" y="3215958"/>
            <a:ext cx="8642350" cy="1198880"/>
          </a:xfrm>
          <a:prstGeom prst="rect">
            <a:avLst/>
          </a:prstGeom>
          <a:noFill/>
          <a:ln w="9525">
            <a:noFill/>
          </a:ln>
        </p:spPr>
        <p:txBody>
          <a:bodyPr>
            <a:spAutoFit/>
          </a:bodyPr>
          <a:p>
            <a:pPr algn="l">
              <a:lnSpc>
                <a:spcPct val="150000"/>
              </a:lnSpc>
              <a:spcBef>
                <a:spcPct val="50000"/>
              </a:spcBef>
            </a:pPr>
            <a:r>
              <a:rPr lang="zh-CN" altLang="en-US" sz="2400" b="1" dirty="0">
                <a:solidFill>
                  <a:srgbClr val="000066"/>
                </a:solidFill>
                <a:latin typeface="Times New Roman" panose="02020603050405020304" charset="0"/>
                <a:ea typeface="楷体_GB2312" panose="02010609030101010101" pitchFamily="49" charset="-122"/>
              </a:rPr>
              <a:t>量化误差属原理误差，它是无法消除的。</a:t>
            </a:r>
            <a:r>
              <a:rPr lang="en-US" altLang="zh-CN" sz="2400" b="1" dirty="0">
                <a:solidFill>
                  <a:srgbClr val="000066"/>
                </a:solidFill>
                <a:latin typeface="Times New Roman" panose="02020603050405020304" charset="0"/>
                <a:ea typeface="楷体_GB2312" panose="02010609030101010101" pitchFamily="49" charset="-122"/>
              </a:rPr>
              <a:t>A/D</a:t>
            </a:r>
            <a:r>
              <a:rPr lang="zh-CN" altLang="en-US" sz="2400" b="1" dirty="0">
                <a:solidFill>
                  <a:srgbClr val="000066"/>
                </a:solidFill>
                <a:latin typeface="Times New Roman" panose="02020603050405020304" charset="0"/>
                <a:ea typeface="楷体_GB2312" panose="02010609030101010101" pitchFamily="49" charset="-122"/>
              </a:rPr>
              <a:t>转换器的</a:t>
            </a:r>
            <a:r>
              <a:rPr lang="zh-CN" altLang="en-US" sz="2400" b="1" dirty="0">
                <a:solidFill>
                  <a:srgbClr val="FF0000"/>
                </a:solidFill>
                <a:latin typeface="Times New Roman" panose="02020603050405020304" charset="0"/>
                <a:ea typeface="楷体_GB2312" panose="02010609030101010101" pitchFamily="49" charset="-122"/>
              </a:rPr>
              <a:t>位数越   多</a:t>
            </a:r>
            <a:r>
              <a:rPr lang="zh-CN" altLang="en-US" sz="2400" b="1" dirty="0">
                <a:solidFill>
                  <a:srgbClr val="000066"/>
                </a:solidFill>
                <a:latin typeface="Times New Roman" panose="02020603050405020304" charset="0"/>
                <a:ea typeface="楷体_GB2312" panose="02010609030101010101" pitchFamily="49" charset="-122"/>
              </a:rPr>
              <a:t>，各离散电平之间的差值越小，</a:t>
            </a:r>
            <a:r>
              <a:rPr lang="zh-CN" altLang="en-US" sz="2400" b="1" dirty="0">
                <a:solidFill>
                  <a:srgbClr val="FF0000"/>
                </a:solidFill>
                <a:latin typeface="Times New Roman" panose="02020603050405020304" charset="0"/>
                <a:ea typeface="楷体_GB2312" panose="02010609030101010101" pitchFamily="49" charset="-122"/>
              </a:rPr>
              <a:t>量化误差越小</a:t>
            </a:r>
            <a:r>
              <a:rPr lang="zh-CN" altLang="en-US" sz="2400" b="1" dirty="0">
                <a:solidFill>
                  <a:srgbClr val="000066"/>
                </a:solidFill>
                <a:latin typeface="Times New Roman" panose="02020603050405020304" charset="0"/>
                <a:ea typeface="楷体_GB2312" panose="02010609030101010101" pitchFamily="49" charset="-122"/>
              </a:rPr>
              <a:t>。  </a:t>
            </a:r>
            <a:endParaRPr lang="zh-CN" altLang="en-US" sz="2400" b="1">
              <a:solidFill>
                <a:srgbClr val="000066"/>
              </a:solidFill>
              <a:latin typeface="Times New Roman" panose="02020603050405020304" charset="0"/>
              <a:ea typeface="楷体_GB2312" panose="02010609030101010101" pitchFamily="49" charset="-122"/>
            </a:endParaRPr>
          </a:p>
        </p:txBody>
      </p:sp>
      <p:sp>
        <p:nvSpPr>
          <p:cNvPr id="434180" name="文本框 434179"/>
          <p:cNvSpPr txBox="1"/>
          <p:nvPr/>
        </p:nvSpPr>
        <p:spPr>
          <a:xfrm>
            <a:off x="363855" y="4951730"/>
            <a:ext cx="8780145" cy="460375"/>
          </a:xfrm>
          <a:prstGeom prst="rect">
            <a:avLst/>
          </a:prstGeom>
          <a:noFill/>
          <a:ln w="9525">
            <a:noFill/>
          </a:ln>
        </p:spPr>
        <p:txBody>
          <a:bodyPr wrap="square">
            <a:spAutoFit/>
          </a:bodyPr>
          <a:p>
            <a:pPr algn="l">
              <a:spcBef>
                <a:spcPct val="50000"/>
              </a:spcBef>
            </a:pPr>
            <a:r>
              <a:rPr lang="zh-CN" altLang="en-US" sz="2400" b="1" dirty="0">
                <a:solidFill>
                  <a:srgbClr val="000066"/>
                </a:solidFill>
                <a:latin typeface="Times New Roman" panose="02020603050405020304" charset="0"/>
                <a:ea typeface="楷体_GB2312" panose="02010609030101010101" pitchFamily="49" charset="-122"/>
              </a:rPr>
              <a:t>两种近似量化方式：</a:t>
            </a:r>
            <a:r>
              <a:rPr lang="zh-CN" altLang="en-US" sz="2400" b="1" dirty="0">
                <a:solidFill>
                  <a:srgbClr val="FF0000"/>
                </a:solidFill>
                <a:latin typeface="Times New Roman" panose="02020603050405020304" charset="0"/>
                <a:ea typeface="楷体_GB2312" panose="02010609030101010101" pitchFamily="49" charset="-122"/>
              </a:rPr>
              <a:t>只舍不入</a:t>
            </a:r>
            <a:r>
              <a:rPr lang="zh-CN" altLang="en-US" sz="2400" b="1" dirty="0">
                <a:solidFill>
                  <a:srgbClr val="000066"/>
                </a:solidFill>
                <a:latin typeface="Times New Roman" panose="02020603050405020304" charset="0"/>
                <a:ea typeface="楷体_GB2312" panose="02010609030101010101" pitchFamily="49" charset="-122"/>
              </a:rPr>
              <a:t>量化方式和</a:t>
            </a:r>
            <a:r>
              <a:rPr lang="zh-CN" altLang="en-US" sz="2400" b="1" dirty="0">
                <a:solidFill>
                  <a:srgbClr val="FF0000"/>
                </a:solidFill>
                <a:latin typeface="Times New Roman" panose="02020603050405020304" charset="0"/>
                <a:ea typeface="楷体_GB2312" panose="02010609030101010101" pitchFamily="49" charset="-122"/>
              </a:rPr>
              <a:t>四舍五入</a:t>
            </a:r>
            <a:r>
              <a:rPr lang="zh-CN" altLang="en-US" sz="2400" b="1" dirty="0">
                <a:solidFill>
                  <a:srgbClr val="000066"/>
                </a:solidFill>
                <a:latin typeface="Times New Roman" panose="02020603050405020304" charset="0"/>
                <a:ea typeface="楷体_GB2312" panose="02010609030101010101" pitchFamily="49" charset="-122"/>
              </a:rPr>
              <a:t>的量化方式。 </a:t>
            </a:r>
            <a:endParaRPr lang="zh-CN" altLang="en-US" sz="2400" b="1">
              <a:solidFill>
                <a:srgbClr val="000066"/>
              </a:solidFill>
              <a:latin typeface="Times New Roman" panose="02020603050405020304" charset="0"/>
              <a:ea typeface="楷体_GB2312" panose="02010609030101010101" pitchFamily="49" charset="-122"/>
            </a:endParaRPr>
          </a:p>
        </p:txBody>
      </p:sp>
      <p:sp>
        <p:nvSpPr>
          <p:cNvPr id="6" name="矩形 5"/>
          <p:cNvSpPr/>
          <p:nvPr/>
        </p:nvSpPr>
        <p:spPr>
          <a:xfrm>
            <a:off x="630238" y="1482725"/>
            <a:ext cx="5998210" cy="460375"/>
          </a:xfrm>
          <a:prstGeom prst="rect">
            <a:avLst/>
          </a:prstGeom>
          <a:noFill/>
          <a:ln w="9525">
            <a:noFill/>
          </a:ln>
        </p:spPr>
        <p:txBody>
          <a:bodyPr wrap="none" anchor="t">
            <a:spAutoFit/>
          </a:bodyPr>
          <a:p>
            <a:pPr algn="l">
              <a:spcBef>
                <a:spcPct val="50000"/>
              </a:spcBef>
            </a:pPr>
            <a:r>
              <a:rPr lang="zh-CN" altLang="en-US" sz="2400" b="1" dirty="0">
                <a:solidFill>
                  <a:schemeClr val="tx1"/>
                </a:solidFill>
                <a:latin typeface="Times New Roman" panose="02020603050405020304" charset="0"/>
                <a:ea typeface="楷体_GB2312" panose="02010609030101010101" pitchFamily="49" charset="-122"/>
              </a:rPr>
              <a:t>量化误差</a:t>
            </a:r>
            <a:r>
              <a:rPr lang="zh-CN" altLang="en-US" sz="2400" b="1" dirty="0">
                <a:solidFill>
                  <a:srgbClr val="000066"/>
                </a:solidFill>
                <a:latin typeface="Times New Roman" panose="02020603050405020304" charset="0"/>
                <a:ea typeface="楷体_GB2312" panose="02010609030101010101" pitchFamily="49" charset="-122"/>
              </a:rPr>
              <a:t>：</a:t>
            </a:r>
            <a:r>
              <a:rPr lang="zh-CN" altLang="en-US" sz="2400" b="1" dirty="0">
                <a:gradFill>
                  <a:gsLst>
                    <a:gs pos="0">
                      <a:srgbClr val="012D86"/>
                    </a:gs>
                    <a:gs pos="100000">
                      <a:srgbClr val="0E2557"/>
                    </a:gs>
                  </a:gsLst>
                  <a:lin scaled="0"/>
                </a:gradFill>
                <a:latin typeface="Times New Roman" panose="02020603050405020304" charset="0"/>
                <a:ea typeface="楷体_GB2312" panose="02010609030101010101" pitchFamily="49" charset="-122"/>
              </a:rPr>
              <a:t>量化前的电压与量化后的电压差</a:t>
            </a:r>
            <a:endParaRPr lang="zh-CN" altLang="en-US" sz="2400" b="1" dirty="0">
              <a:gradFill>
                <a:gsLst>
                  <a:gs pos="0">
                    <a:srgbClr val="012D86"/>
                  </a:gs>
                  <a:gs pos="100000">
                    <a:srgbClr val="0E2557"/>
                  </a:gs>
                </a:gsLst>
                <a:lin scaled="0"/>
              </a:gradFill>
              <a:latin typeface="Times New Roman" panose="02020603050405020304" charset="0"/>
              <a:ea typeface="楷体_GB2312" panose="02010609030101010101" pitchFamily="49" charset="-122"/>
            </a:endParaRPr>
          </a:p>
        </p:txBody>
      </p:sp>
      <p:sp>
        <p:nvSpPr>
          <p:cNvPr id="434182" name="矩形 434181"/>
          <p:cNvSpPr/>
          <p:nvPr/>
        </p:nvSpPr>
        <p:spPr>
          <a:xfrm>
            <a:off x="354013" y="4491355"/>
            <a:ext cx="2744787" cy="460375"/>
          </a:xfrm>
          <a:prstGeom prst="rect">
            <a:avLst/>
          </a:prstGeom>
          <a:noFill/>
          <a:ln w="9525">
            <a:noFill/>
          </a:ln>
        </p:spPr>
        <p:txBody>
          <a:bodyPr>
            <a:spAutoFit/>
          </a:bodyPr>
          <a:p>
            <a:pPr algn="l">
              <a:spcBef>
                <a:spcPct val="50000"/>
              </a:spcBef>
            </a:pPr>
            <a:r>
              <a:rPr lang="zh-CN" altLang="en-US" sz="2400" b="1" dirty="0">
                <a:solidFill>
                  <a:schemeClr val="tx1"/>
                </a:solidFill>
                <a:latin typeface="Times New Roman" panose="02020603050405020304" charset="0"/>
                <a:ea typeface="楷体_GB2312" panose="02010609030101010101" pitchFamily="49" charset="-122"/>
              </a:rPr>
              <a:t>量化方式</a:t>
            </a:r>
            <a:endParaRPr lang="zh-CN" altLang="en-US" sz="2400" b="1" dirty="0">
              <a:solidFill>
                <a:schemeClr val="tx1"/>
              </a:solidFill>
              <a:latin typeface="Times New Roman" panose="02020603050405020304" charset="0"/>
              <a:ea typeface="楷体_GB2312" panose="0201060903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Righ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trips(downRigh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434182"/>
                                        </p:tgtEl>
                                        <p:attrNameLst>
                                          <p:attrName>style.visibility</p:attrName>
                                        </p:attrNameLst>
                                      </p:cBhvr>
                                      <p:to>
                                        <p:strVal val="visible"/>
                                      </p:to>
                                    </p:set>
                                    <p:animEffect transition="in" filter="strips(downRight)">
                                      <p:cBhvr>
                                        <p:cTn id="17" dur="500"/>
                                        <p:tgtEl>
                                          <p:spTgt spid="434182"/>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434180"/>
                                        </p:tgtEl>
                                        <p:attrNameLst>
                                          <p:attrName>style.visibility</p:attrName>
                                        </p:attrNameLst>
                                      </p:cBhvr>
                                      <p:to>
                                        <p:strVal val="visible"/>
                                      </p:to>
                                    </p:set>
                                    <p:animEffect transition="in" filter="strips(downRight)">
                                      <p:cBhvr>
                                        <p:cTn id="22" dur="500"/>
                                        <p:tgtEl>
                                          <p:spTgt spid="4341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434180" grpId="0"/>
      <p:bldP spid="43418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1891030" y="49911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9.3 </a:t>
            </a:r>
            <a:r>
              <a:rPr lang="en-US" altLang="zh-CN" b="1" dirty="0">
                <a:solidFill>
                  <a:srgbClr val="FF0000"/>
                </a:solidFill>
                <a:latin typeface="黑体" panose="02010609060101010101" pitchFamily="49" charset="-122"/>
                <a:ea typeface="黑体" panose="02010609060101010101" pitchFamily="49" charset="-122"/>
                <a:sym typeface="+mn-ea"/>
              </a:rPr>
              <a:t>A/D转换电路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2" name="文本框 1"/>
          <p:cNvSpPr txBox="1"/>
          <p:nvPr/>
        </p:nvSpPr>
        <p:spPr>
          <a:xfrm>
            <a:off x="956310" y="1156335"/>
            <a:ext cx="2540000" cy="460375"/>
          </a:xfrm>
          <a:prstGeom prst="rect">
            <a:avLst/>
          </a:prstGeom>
          <a:noFill/>
        </p:spPr>
        <p:txBody>
          <a:bodyPr wrap="square" rtlCol="0" anchor="t">
            <a:spAutoFit/>
          </a:bodyPr>
          <a:p>
            <a:r>
              <a:rPr lang="zh-CN" altLang="en-US" sz="2400" b="1"/>
              <a:t>①只舍不入法</a:t>
            </a:r>
            <a:endParaRPr lang="zh-CN" altLang="en-US" sz="2400" b="1"/>
          </a:p>
        </p:txBody>
      </p:sp>
      <p:sp>
        <p:nvSpPr>
          <p:cNvPr id="100" name="文本框 99"/>
          <p:cNvSpPr txBox="1"/>
          <p:nvPr/>
        </p:nvSpPr>
        <p:spPr>
          <a:xfrm>
            <a:off x="4274820" y="1245870"/>
            <a:ext cx="4869180" cy="1568450"/>
          </a:xfrm>
          <a:prstGeom prst="rect">
            <a:avLst/>
          </a:prstGeom>
          <a:noFill/>
          <a:ln w="9525">
            <a:noFill/>
          </a:ln>
        </p:spPr>
        <p:txBody>
          <a:bodyPr wrap="square">
            <a:spAutoFit/>
          </a:bodyPr>
          <a:p>
            <a:pPr>
              <a:lnSpc>
                <a:spcPct val="100000"/>
              </a:lnSpc>
            </a:pPr>
            <a:r>
              <a:rPr lang="zh-CN" sz="2400" b="1">
                <a:gradFill>
                  <a:gsLst>
                    <a:gs pos="0">
                      <a:srgbClr val="012D86"/>
                    </a:gs>
                    <a:gs pos="100000">
                      <a:srgbClr val="0E2557"/>
                    </a:gs>
                  </a:gsLst>
                  <a:lin scaled="0"/>
                </a:gradFill>
                <a:ea typeface="宋体" panose="02010600030101010101" pitchFamily="2" charset="-122"/>
              </a:rPr>
              <a:t>量化中把不足一个量化单位的部分舍弃。如输入电压</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v</a:t>
            </a:r>
            <a:r>
              <a:rPr lang="en-US" sz="24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I</a:t>
            </a:r>
            <a:r>
              <a:rPr lang="zh-CN" sz="2400" b="1">
                <a:gradFill>
                  <a:gsLst>
                    <a:gs pos="0">
                      <a:srgbClr val="012D86"/>
                    </a:gs>
                    <a:gs pos="100000">
                      <a:srgbClr val="0E2557"/>
                    </a:gs>
                  </a:gsLst>
                  <a:lin scaled="0"/>
                </a:gradFill>
                <a:ea typeface="宋体" panose="02010600030101010101" pitchFamily="2" charset="-122"/>
              </a:rPr>
              <a:t>在两个相邻的量化值之间时，即</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n</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-1)Δ≤</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v</a:t>
            </a:r>
            <a:r>
              <a:rPr lang="en-US" sz="24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I</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&lt;</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n</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Δ</a:t>
            </a:r>
            <a:r>
              <a:rPr lang="zh-CN" sz="2400" b="1">
                <a:gradFill>
                  <a:gsLst>
                    <a:gs pos="0">
                      <a:srgbClr val="012D86"/>
                    </a:gs>
                    <a:gs pos="100000">
                      <a:srgbClr val="0E2557"/>
                    </a:gs>
                  </a:gsLst>
                  <a:lin scaled="0"/>
                </a:gradFill>
                <a:ea typeface="宋体" panose="02010600030101010101" pitchFamily="2" charset="-122"/>
              </a:rPr>
              <a:t>时，取</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v</a:t>
            </a:r>
            <a:r>
              <a:rPr lang="en-US" sz="24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I</a:t>
            </a:r>
            <a:r>
              <a:rPr lang="zh-CN" sz="2400" b="1">
                <a:gradFill>
                  <a:gsLst>
                    <a:gs pos="0">
                      <a:srgbClr val="012D86"/>
                    </a:gs>
                    <a:gs pos="100000">
                      <a:srgbClr val="0E2557"/>
                    </a:gs>
                  </a:gsLst>
                  <a:lin scaled="0"/>
                </a:gradFill>
                <a:ea typeface="宋体" panose="02010600030101010101" pitchFamily="2" charset="-122"/>
              </a:rPr>
              <a:t>的量化值为</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n</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-1)Δ</a:t>
            </a:r>
            <a:r>
              <a:rPr lang="zh-CN" sz="2400" b="1">
                <a:gradFill>
                  <a:gsLst>
                    <a:gs pos="0">
                      <a:srgbClr val="012D86"/>
                    </a:gs>
                    <a:gs pos="100000">
                      <a:srgbClr val="0E2557"/>
                    </a:gs>
                  </a:gsLst>
                  <a:lin scaled="0"/>
                </a:gradFill>
                <a:ea typeface="宋体" panose="02010600030101010101" pitchFamily="2" charset="-122"/>
              </a:rPr>
              <a:t>。</a:t>
            </a:r>
            <a:endParaRPr lang="zh-CN" altLang="en-US" sz="2400" b="1">
              <a:gradFill>
                <a:gsLst>
                  <a:gs pos="0">
                    <a:srgbClr val="012D86"/>
                  </a:gs>
                  <a:gs pos="100000">
                    <a:srgbClr val="0E2557"/>
                  </a:gs>
                </a:gsLst>
                <a:lin scaled="0"/>
              </a:gradFill>
              <a:ea typeface="宋体" panose="02010600030101010101" pitchFamily="2" charset="-122"/>
            </a:endParaRPr>
          </a:p>
        </p:txBody>
      </p:sp>
      <p:sp>
        <p:nvSpPr>
          <p:cNvPr id="4" name="文本框 3"/>
          <p:cNvSpPr txBox="1"/>
          <p:nvPr/>
        </p:nvSpPr>
        <p:spPr>
          <a:xfrm>
            <a:off x="4274820" y="2832100"/>
            <a:ext cx="4649470" cy="1198880"/>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如把</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0</a:t>
            </a:r>
            <a:r>
              <a:rPr lang="zh-CN" sz="2400" b="1">
                <a:gradFill>
                  <a:gsLst>
                    <a:gs pos="0">
                      <a:srgbClr val="012D86"/>
                    </a:gs>
                    <a:gs pos="100000">
                      <a:srgbClr val="0E2557"/>
                    </a:gs>
                  </a:gsLst>
                  <a:lin scaled="0"/>
                </a:gradFill>
                <a:ea typeface="宋体" panose="02010600030101010101" pitchFamily="2" charset="-122"/>
              </a:rPr>
              <a:t>～</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+1V</a:t>
            </a:r>
            <a:r>
              <a:rPr lang="zh-CN" sz="2400" b="1">
                <a:gradFill>
                  <a:gsLst>
                    <a:gs pos="0">
                      <a:srgbClr val="012D86"/>
                    </a:gs>
                    <a:gs pos="100000">
                      <a:srgbClr val="0E2557"/>
                    </a:gs>
                  </a:gsLst>
                  <a:lin scaled="0"/>
                </a:gradFill>
                <a:ea typeface="宋体" panose="02010600030101010101" pitchFamily="2" charset="-122"/>
              </a:rPr>
              <a:t>的模拟电压信号转换成</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3</a:t>
            </a:r>
            <a:r>
              <a:rPr lang="zh-CN" sz="2400" b="1">
                <a:gradFill>
                  <a:gsLst>
                    <a:gs pos="0">
                      <a:srgbClr val="012D86"/>
                    </a:gs>
                    <a:gs pos="100000">
                      <a:srgbClr val="0E2557"/>
                    </a:gs>
                  </a:gsLst>
                  <a:lin scaled="0"/>
                </a:gradFill>
                <a:ea typeface="宋体" panose="02010600030101010101" pitchFamily="2" charset="-122"/>
              </a:rPr>
              <a:t>位二进制代码，取</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Δ=(1/8)V</a:t>
            </a:r>
            <a:r>
              <a:rPr lang="zh-CN" sz="2400" b="1">
                <a:gradFill>
                  <a:gsLst>
                    <a:gs pos="0">
                      <a:srgbClr val="012D86"/>
                    </a:gs>
                    <a:gs pos="100000">
                      <a:srgbClr val="0E2557"/>
                    </a:gs>
                  </a:gsLst>
                  <a:lin scaled="0"/>
                </a:gradFill>
                <a:ea typeface="宋体" panose="02010600030101010101" pitchFamily="2" charset="-122"/>
              </a:rPr>
              <a:t>，采取只舍不入法，规定凡数值在</a:t>
            </a:r>
            <a:endParaRPr lang="zh-CN" altLang="en-US" sz="2400" b="1">
              <a:gradFill>
                <a:gsLst>
                  <a:gs pos="0">
                    <a:srgbClr val="012D86"/>
                  </a:gs>
                  <a:gs pos="100000">
                    <a:srgbClr val="0E2557"/>
                  </a:gs>
                </a:gsLst>
                <a:lin scaled="0"/>
              </a:gradFill>
              <a:ea typeface="宋体" panose="02010600030101010101" pitchFamily="2" charset="-122"/>
            </a:endParaRPr>
          </a:p>
        </p:txBody>
      </p:sp>
      <p:grpSp>
        <p:nvGrpSpPr>
          <p:cNvPr id="7" name="组合 6"/>
          <p:cNvGrpSpPr/>
          <p:nvPr/>
        </p:nvGrpSpPr>
        <p:grpSpPr>
          <a:xfrm>
            <a:off x="4354830" y="3902075"/>
            <a:ext cx="4679315" cy="1053465"/>
            <a:chOff x="6858" y="6145"/>
            <a:chExt cx="7369" cy="1659"/>
          </a:xfrm>
        </p:grpSpPr>
        <p:pic>
          <p:nvPicPr>
            <p:cNvPr id="5" name="图片 4"/>
            <p:cNvPicPr/>
            <p:nvPr/>
          </p:nvPicPr>
          <p:blipFill>
            <a:blip r:embed="rId1"/>
            <a:stretch>
              <a:fillRect/>
            </a:stretch>
          </p:blipFill>
          <p:spPr>
            <a:xfrm>
              <a:off x="6858" y="6145"/>
              <a:ext cx="1049" cy="983"/>
            </a:xfrm>
            <a:prstGeom prst="rect">
              <a:avLst/>
            </a:prstGeom>
            <a:noFill/>
            <a:ln w="9525">
              <a:noFill/>
            </a:ln>
          </p:spPr>
        </p:pic>
        <p:sp>
          <p:nvSpPr>
            <p:cNvPr id="101" name="文本框 100"/>
            <p:cNvSpPr txBox="1"/>
            <p:nvPr/>
          </p:nvSpPr>
          <p:spPr>
            <a:xfrm>
              <a:off x="6905" y="6266"/>
              <a:ext cx="7322" cy="1539"/>
            </a:xfrm>
            <a:prstGeom prst="rect">
              <a:avLst/>
            </a:prstGeom>
            <a:noFill/>
            <a:ln w="9525">
              <a:noFill/>
            </a:ln>
          </p:spPr>
          <p:txBody>
            <a:bodyPr wrap="square">
              <a:spAutoFit/>
            </a:bodyPr>
            <a:p>
              <a:pPr>
                <a:lnSpc>
                  <a:spcPct val="120000"/>
                </a:lnSpc>
              </a:pP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V</a:t>
              </a:r>
              <a:r>
                <a:rPr lang="zh-CN" sz="2400" b="1">
                  <a:gradFill>
                    <a:gsLst>
                      <a:gs pos="0">
                        <a:srgbClr val="012D86"/>
                      </a:gs>
                      <a:gs pos="100000">
                        <a:srgbClr val="0E2557"/>
                      </a:gs>
                    </a:gsLst>
                    <a:lin scaled="0"/>
                  </a:gradFill>
                  <a:ea typeface="宋体" panose="02010600030101010101" pitchFamily="2" charset="-122"/>
                </a:rPr>
                <a:t>之间的模拟量，都当作</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0Δ</a:t>
              </a:r>
              <a:r>
                <a:rPr lang="zh-CN" sz="2400" b="1">
                  <a:gradFill>
                    <a:gsLst>
                      <a:gs pos="0">
                        <a:srgbClr val="012D86"/>
                      </a:gs>
                      <a:gs pos="100000">
                        <a:srgbClr val="0E2557"/>
                      </a:gs>
                    </a:gsLst>
                    <a:lin scaled="0"/>
                  </a:gradFill>
                  <a:ea typeface="宋体" panose="02010600030101010101" pitchFamily="2" charset="-122"/>
                </a:rPr>
                <a:t>，并用二进制码</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000</a:t>
              </a:r>
              <a:r>
                <a:rPr lang="zh-CN" sz="2400" b="1">
                  <a:gradFill>
                    <a:gsLst>
                      <a:gs pos="0">
                        <a:srgbClr val="012D86"/>
                      </a:gs>
                      <a:gs pos="100000">
                        <a:srgbClr val="0E2557"/>
                      </a:gs>
                    </a:gsLst>
                    <a:lin scaled="0"/>
                  </a:gradFill>
                  <a:ea typeface="宋体" panose="02010600030101010101" pitchFamily="2" charset="-122"/>
                </a:rPr>
                <a:t>表示；凡数值在</a:t>
              </a:r>
              <a:endParaRPr lang="zh-CN" altLang="en-US" sz="2400" b="1">
                <a:gradFill>
                  <a:gsLst>
                    <a:gs pos="0">
                      <a:srgbClr val="012D86"/>
                    </a:gs>
                    <a:gs pos="100000">
                      <a:srgbClr val="0E2557"/>
                    </a:gs>
                  </a:gsLst>
                  <a:lin scaled="0"/>
                </a:gradFill>
                <a:ea typeface="宋体" panose="02010600030101010101" pitchFamily="2" charset="-122"/>
              </a:endParaRPr>
            </a:p>
          </p:txBody>
        </p:sp>
      </p:grpSp>
      <p:grpSp>
        <p:nvGrpSpPr>
          <p:cNvPr id="8" name="组合 7"/>
          <p:cNvGrpSpPr/>
          <p:nvPr/>
        </p:nvGrpSpPr>
        <p:grpSpPr>
          <a:xfrm>
            <a:off x="4345940" y="4852670"/>
            <a:ext cx="4649470" cy="1029970"/>
            <a:chOff x="6844" y="7642"/>
            <a:chExt cx="7322" cy="1622"/>
          </a:xfrm>
        </p:grpSpPr>
        <p:pic>
          <p:nvPicPr>
            <p:cNvPr id="6" name="图片 5"/>
            <p:cNvPicPr/>
            <p:nvPr/>
          </p:nvPicPr>
          <p:blipFill>
            <a:blip r:embed="rId2"/>
            <a:stretch>
              <a:fillRect/>
            </a:stretch>
          </p:blipFill>
          <p:spPr>
            <a:xfrm>
              <a:off x="6844" y="7642"/>
              <a:ext cx="956" cy="950"/>
            </a:xfrm>
            <a:prstGeom prst="rect">
              <a:avLst/>
            </a:prstGeom>
            <a:noFill/>
            <a:ln w="9525">
              <a:noFill/>
            </a:ln>
          </p:spPr>
        </p:pic>
        <p:sp>
          <p:nvSpPr>
            <p:cNvPr id="102" name="文本框 101"/>
            <p:cNvSpPr txBox="1"/>
            <p:nvPr/>
          </p:nvSpPr>
          <p:spPr>
            <a:xfrm>
              <a:off x="6844" y="7726"/>
              <a:ext cx="7322" cy="1539"/>
            </a:xfrm>
            <a:prstGeom prst="rect">
              <a:avLst/>
            </a:prstGeom>
            <a:noFill/>
            <a:ln w="9525">
              <a:noFill/>
            </a:ln>
          </p:spPr>
          <p:txBody>
            <a:bodyPr wrap="square">
              <a:spAutoFit/>
            </a:bodyPr>
            <a:p>
              <a:pPr>
                <a:lnSpc>
                  <a:spcPct val="120000"/>
                </a:lnSpc>
              </a:pP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       V</a:t>
              </a:r>
              <a:r>
                <a:rPr lang="zh-CN" sz="2400" b="1">
                  <a:gradFill>
                    <a:gsLst>
                      <a:gs pos="0">
                        <a:srgbClr val="012D86"/>
                      </a:gs>
                      <a:gs pos="100000">
                        <a:srgbClr val="0E2557"/>
                      </a:gs>
                    </a:gsLst>
                    <a:lin scaled="0"/>
                  </a:gradFill>
                  <a:ea typeface="宋体" panose="02010600030101010101" pitchFamily="2" charset="-122"/>
                </a:rPr>
                <a:t>之间的模拟量，都当作</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1Δ</a:t>
              </a:r>
              <a:r>
                <a:rPr lang="zh-CN" sz="2400" b="1">
                  <a:gradFill>
                    <a:gsLst>
                      <a:gs pos="0">
                        <a:srgbClr val="012D86"/>
                      </a:gs>
                      <a:gs pos="100000">
                        <a:srgbClr val="0E2557"/>
                      </a:gs>
                    </a:gsLst>
                    <a:lin scaled="0"/>
                  </a:gradFill>
                  <a:ea typeface="宋体" panose="02010600030101010101" pitchFamily="2" charset="-122"/>
                </a:rPr>
                <a:t>看待，用二进制码</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001</a:t>
              </a:r>
              <a:r>
                <a:rPr lang="zh-CN" sz="2400" b="1">
                  <a:gradFill>
                    <a:gsLst>
                      <a:gs pos="0">
                        <a:srgbClr val="012D86"/>
                      </a:gs>
                      <a:gs pos="100000">
                        <a:srgbClr val="0E2557"/>
                      </a:gs>
                    </a:gsLst>
                    <a:lin scaled="0"/>
                  </a:gradFill>
                  <a:ea typeface="宋体" panose="02010600030101010101" pitchFamily="2" charset="-122"/>
                </a:rPr>
                <a:t>表示</a:t>
              </a:r>
              <a:endParaRPr lang="zh-CN" altLang="en-US" sz="2400" b="1">
                <a:gradFill>
                  <a:gsLst>
                    <a:gs pos="0">
                      <a:srgbClr val="012D86"/>
                    </a:gs>
                    <a:gs pos="100000">
                      <a:srgbClr val="0E2557"/>
                    </a:gs>
                  </a:gsLst>
                  <a:lin scaled="0"/>
                </a:gradFill>
                <a:ea typeface="宋体" panose="02010600030101010101" pitchFamily="2" charset="-122"/>
              </a:endParaRPr>
            </a:p>
          </p:txBody>
        </p:sp>
      </p:grpSp>
      <p:pic>
        <p:nvPicPr>
          <p:cNvPr id="9" name="图片 2938"/>
          <p:cNvPicPr>
            <a:picLocks noChangeAspect="1"/>
          </p:cNvPicPr>
          <p:nvPr/>
        </p:nvPicPr>
        <p:blipFill>
          <a:blip r:embed="rId3"/>
          <a:srcRect r="54212"/>
          <a:stretch>
            <a:fillRect/>
          </a:stretch>
        </p:blipFill>
        <p:spPr>
          <a:xfrm>
            <a:off x="362585" y="1724025"/>
            <a:ext cx="3727450" cy="4062730"/>
          </a:xfrm>
          <a:prstGeom prst="rect">
            <a:avLst/>
          </a:prstGeom>
          <a:noFill/>
          <a:ln>
            <a:noFill/>
          </a:ln>
        </p:spPr>
      </p:pic>
      <p:graphicFrame>
        <p:nvGraphicFramePr>
          <p:cNvPr id="435202" name="对象 435201"/>
          <p:cNvGraphicFramePr/>
          <p:nvPr/>
        </p:nvGraphicFramePr>
        <p:xfrm>
          <a:off x="5030788" y="5938838"/>
          <a:ext cx="1666875" cy="469900"/>
        </p:xfrm>
        <a:graphic>
          <a:graphicData uri="http://schemas.openxmlformats.org/presentationml/2006/ole">
            <mc:AlternateContent xmlns:mc="http://schemas.openxmlformats.org/markup-compatibility/2006">
              <mc:Choice xmlns:v="urn:schemas-microsoft-com:vml" Requires="v">
                <p:oleObj spid="_x0000_s3135" name="" r:id="rId4" imgW="1268730" imgH="355600" progId="Equation.3">
                  <p:embed/>
                </p:oleObj>
              </mc:Choice>
              <mc:Fallback>
                <p:oleObj name="" r:id="rId4" imgW="1268730" imgH="355600" progId="Equation.3">
                  <p:embed/>
                  <p:pic>
                    <p:nvPicPr>
                      <p:cNvPr id="0" name="图片 3134"/>
                      <p:cNvPicPr/>
                      <p:nvPr/>
                    </p:nvPicPr>
                    <p:blipFill>
                      <a:blip r:embed="rId5"/>
                      <a:stretch>
                        <a:fillRect/>
                      </a:stretch>
                    </p:blipFill>
                    <p:spPr>
                      <a:xfrm>
                        <a:off x="5030788" y="5938838"/>
                        <a:ext cx="1666875" cy="469900"/>
                      </a:xfrm>
                      <a:prstGeom prst="rect">
                        <a:avLst/>
                      </a:prstGeom>
                      <a:noFill/>
                      <a:ln w="38100">
                        <a:noFill/>
                        <a:miter/>
                      </a:ln>
                    </p:spPr>
                  </p:pic>
                </p:oleObj>
              </mc:Fallback>
            </mc:AlternateContent>
          </a:graphicData>
        </a:graphic>
      </p:graphicFrame>
      <p:sp>
        <p:nvSpPr>
          <p:cNvPr id="435245" name="矩形 435244"/>
          <p:cNvSpPr/>
          <p:nvPr/>
        </p:nvSpPr>
        <p:spPr>
          <a:xfrm>
            <a:off x="2475548" y="6015355"/>
            <a:ext cx="2760662" cy="460375"/>
          </a:xfrm>
          <a:prstGeom prst="rect">
            <a:avLst/>
          </a:prstGeom>
          <a:noFill/>
          <a:ln w="9525">
            <a:noFill/>
          </a:ln>
        </p:spPr>
        <p:txBody>
          <a:bodyPr>
            <a:spAutoFit/>
          </a:bodyPr>
          <a:p>
            <a:pPr algn="l">
              <a:spcBef>
                <a:spcPct val="50000"/>
              </a:spcBef>
            </a:pPr>
            <a:r>
              <a:rPr lang="zh-CN" altLang="en-US" sz="2400" b="1" dirty="0">
                <a:solidFill>
                  <a:srgbClr val="000066"/>
                </a:solidFill>
                <a:latin typeface="Times New Roman" panose="02020603050405020304" charset="0"/>
                <a:ea typeface="楷体_GB2312" panose="02010609030101010101" pitchFamily="49" charset="-122"/>
              </a:rPr>
              <a:t>最大量化误差为：</a:t>
            </a:r>
            <a:endParaRPr lang="zh-CN" altLang="en-US" sz="2400" b="1" dirty="0">
              <a:solidFill>
                <a:srgbClr val="000066"/>
              </a:solidFill>
              <a:latin typeface="Times New Roman" panose="02020603050405020304" charset="0"/>
              <a:ea typeface="楷体_GB2312" panose="02010609030101010101" pitchFamily="49" charset="-122"/>
            </a:endParaRPr>
          </a:p>
        </p:txBody>
      </p:sp>
      <p:sp>
        <p:nvSpPr>
          <p:cNvPr id="435247" name="文本框 435246"/>
          <p:cNvSpPr txBox="1"/>
          <p:nvPr/>
        </p:nvSpPr>
        <p:spPr>
          <a:xfrm>
            <a:off x="6584950" y="5915025"/>
            <a:ext cx="1117600" cy="457200"/>
          </a:xfrm>
          <a:prstGeom prst="rect">
            <a:avLst/>
          </a:prstGeom>
          <a:noFill/>
          <a:ln w="9525">
            <a:noFill/>
          </a:ln>
        </p:spPr>
        <p:txBody>
          <a:bodyPr>
            <a:spAutoFit/>
          </a:bodyPr>
          <a:p>
            <a:pPr algn="l">
              <a:spcBef>
                <a:spcPct val="50000"/>
              </a:spcBef>
            </a:pPr>
            <a:r>
              <a:rPr lang="zh-CN" altLang="en-US" sz="2400">
                <a:solidFill>
                  <a:srgbClr val="000066"/>
                </a:solidFill>
                <a:latin typeface="Times New Roman" panose="02020603050405020304" charset="0"/>
                <a:ea typeface="楷体_GB2312" panose="02010609030101010101" pitchFamily="49" charset="-122"/>
              </a:rPr>
              <a:t>＝</a:t>
            </a:r>
            <a:r>
              <a:rPr lang="en-US" altLang="zh-CN" sz="2400">
                <a:solidFill>
                  <a:srgbClr val="000066"/>
                </a:solidFill>
                <a:latin typeface="Times New Roman" panose="02020603050405020304" charset="0"/>
                <a:ea typeface="楷体_GB2312" panose="02010609030101010101" pitchFamily="49" charset="-122"/>
              </a:rPr>
              <a:t>1/8V</a:t>
            </a:r>
            <a:endParaRPr lang="en-US" altLang="zh-CN" sz="2400">
              <a:solidFill>
                <a:srgbClr val="000066"/>
              </a:solidFill>
              <a:latin typeface="Times New Roman" panose="02020603050405020304" charset="0"/>
              <a:ea typeface="楷体_GB2312" panose="0201060903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1000"/>
                                  </p:stCondLst>
                                  <p:childTnLst>
                                    <p:set>
                                      <p:cBhvr>
                                        <p:cTn id="13" dur="1" fill="hold">
                                          <p:stCondLst>
                                            <p:cond delay="0"/>
                                          </p:stCondLst>
                                        </p:cTn>
                                        <p:tgtEl>
                                          <p:spTgt spid="7"/>
                                        </p:tgtEl>
                                        <p:attrNameLst>
                                          <p:attrName>style.visibility</p:attrName>
                                        </p:attrNameLst>
                                      </p:cBhvr>
                                      <p:to>
                                        <p:strVal val="visible"/>
                                      </p:to>
                                    </p:set>
                                  </p:childTnLst>
                                </p:cTn>
                              </p:par>
                            </p:childTnLst>
                          </p:cTn>
                        </p:par>
                        <p:par>
                          <p:cTn id="14" fill="hold">
                            <p:stCondLst>
                              <p:cond delay="1000"/>
                            </p:stCondLst>
                            <p:childTnLst>
                              <p:par>
                                <p:cTn id="15" presetID="1" presetClass="entr" presetSubtype="0" fill="hold" nodeType="afterEffect">
                                  <p:stCondLst>
                                    <p:cond delay="200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8" presetClass="entr" presetSubtype="6" fill="hold" grpId="0" nodeType="clickEffect">
                                  <p:stCondLst>
                                    <p:cond delay="0"/>
                                  </p:stCondLst>
                                  <p:childTnLst>
                                    <p:set>
                                      <p:cBhvr>
                                        <p:cTn id="20" dur="1" fill="hold">
                                          <p:stCondLst>
                                            <p:cond delay="0"/>
                                          </p:stCondLst>
                                        </p:cTn>
                                        <p:tgtEl>
                                          <p:spTgt spid="435245"/>
                                        </p:tgtEl>
                                        <p:attrNameLst>
                                          <p:attrName>style.visibility</p:attrName>
                                        </p:attrNameLst>
                                      </p:cBhvr>
                                      <p:to>
                                        <p:strVal val="visible"/>
                                      </p:to>
                                    </p:set>
                                    <p:animEffect transition="in" filter="strips(downRight)">
                                      <p:cBhvr>
                                        <p:cTn id="21" dur="500"/>
                                        <p:tgtEl>
                                          <p:spTgt spid="435245"/>
                                        </p:tgtEl>
                                      </p:cBhvr>
                                    </p:animEffect>
                                  </p:childTnLst>
                                </p:cTn>
                              </p:par>
                            </p:childTnLst>
                          </p:cTn>
                        </p:par>
                        <p:par>
                          <p:cTn id="22" fill="hold">
                            <p:stCondLst>
                              <p:cond delay="500"/>
                            </p:stCondLst>
                            <p:childTnLst>
                              <p:par>
                                <p:cTn id="23" presetID="4" presetClass="entr" presetSubtype="16" fill="hold" nodeType="afterEffect">
                                  <p:stCondLst>
                                    <p:cond delay="0"/>
                                  </p:stCondLst>
                                  <p:childTnLst>
                                    <p:set>
                                      <p:cBhvr>
                                        <p:cTn id="24" dur="1" fill="hold">
                                          <p:stCondLst>
                                            <p:cond delay="0"/>
                                          </p:stCondLst>
                                        </p:cTn>
                                        <p:tgtEl>
                                          <p:spTgt spid="435202"/>
                                        </p:tgtEl>
                                        <p:attrNameLst>
                                          <p:attrName>style.visibility</p:attrName>
                                        </p:attrNameLst>
                                      </p:cBhvr>
                                      <p:to>
                                        <p:strVal val="visible"/>
                                      </p:to>
                                    </p:set>
                                    <p:animEffect transition="in" filter="box(in)">
                                      <p:cBhvr>
                                        <p:cTn id="25" dur="500"/>
                                        <p:tgtEl>
                                          <p:spTgt spid="435202"/>
                                        </p:tgtEl>
                                      </p:cBhvr>
                                    </p:animEffect>
                                  </p:childTnLst>
                                </p:cTn>
                              </p:par>
                            </p:childTnLst>
                          </p:cTn>
                        </p:par>
                        <p:par>
                          <p:cTn id="26" fill="hold">
                            <p:stCondLst>
                              <p:cond delay="1000"/>
                            </p:stCondLst>
                            <p:childTnLst>
                              <p:par>
                                <p:cTn id="27" presetID="4" presetClass="entr" presetSubtype="16" fill="hold" grpId="0" nodeType="afterEffect">
                                  <p:stCondLst>
                                    <p:cond delay="0"/>
                                  </p:stCondLst>
                                  <p:childTnLst>
                                    <p:set>
                                      <p:cBhvr>
                                        <p:cTn id="28" dur="1" fill="hold">
                                          <p:stCondLst>
                                            <p:cond delay="0"/>
                                          </p:stCondLst>
                                        </p:cTn>
                                        <p:tgtEl>
                                          <p:spTgt spid="435247"/>
                                        </p:tgtEl>
                                        <p:attrNameLst>
                                          <p:attrName>style.visibility</p:attrName>
                                        </p:attrNameLst>
                                      </p:cBhvr>
                                      <p:to>
                                        <p:strVal val="visible"/>
                                      </p:to>
                                    </p:set>
                                    <p:animEffect transition="in" filter="box(in)">
                                      <p:cBhvr>
                                        <p:cTn id="29" dur="500"/>
                                        <p:tgtEl>
                                          <p:spTgt spid="435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P spid="4" grpId="0"/>
      <p:bldP spid="435245" grpId="0"/>
      <p:bldP spid="43524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1891030" y="49911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9.3 </a:t>
            </a:r>
            <a:r>
              <a:rPr lang="en-US" altLang="zh-CN" b="1" dirty="0">
                <a:solidFill>
                  <a:srgbClr val="FF0000"/>
                </a:solidFill>
                <a:latin typeface="黑体" panose="02010609060101010101" pitchFamily="49" charset="-122"/>
                <a:ea typeface="黑体" panose="02010609060101010101" pitchFamily="49" charset="-122"/>
                <a:sym typeface="+mn-ea"/>
              </a:rPr>
              <a:t>A/D转换电路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pic>
        <p:nvPicPr>
          <p:cNvPr id="9501" name="图片 2938"/>
          <p:cNvPicPr>
            <a:picLocks noChangeAspect="1"/>
          </p:cNvPicPr>
          <p:nvPr/>
        </p:nvPicPr>
        <p:blipFill>
          <a:blip r:embed="rId1"/>
          <a:srcRect l="52728"/>
          <a:stretch>
            <a:fillRect/>
          </a:stretch>
        </p:blipFill>
        <p:spPr>
          <a:xfrm>
            <a:off x="232410" y="1969770"/>
            <a:ext cx="3789045" cy="3999230"/>
          </a:xfrm>
          <a:prstGeom prst="rect">
            <a:avLst/>
          </a:prstGeom>
          <a:noFill/>
          <a:ln>
            <a:noFill/>
          </a:ln>
        </p:spPr>
      </p:pic>
      <p:sp>
        <p:nvSpPr>
          <p:cNvPr id="2" name="文本框 1"/>
          <p:cNvSpPr txBox="1"/>
          <p:nvPr/>
        </p:nvSpPr>
        <p:spPr>
          <a:xfrm>
            <a:off x="912495" y="1233805"/>
            <a:ext cx="2540000" cy="460375"/>
          </a:xfrm>
          <a:prstGeom prst="rect">
            <a:avLst/>
          </a:prstGeom>
          <a:noFill/>
        </p:spPr>
        <p:txBody>
          <a:bodyPr wrap="square" rtlCol="0" anchor="t">
            <a:spAutoFit/>
          </a:bodyPr>
          <a:p>
            <a:r>
              <a:rPr lang="zh-CN" altLang="en-US" sz="2400" b="1"/>
              <a:t>②四舍五入法</a:t>
            </a:r>
            <a:endParaRPr lang="zh-CN" altLang="en-US" sz="2400" b="1"/>
          </a:p>
        </p:txBody>
      </p:sp>
      <p:sp>
        <p:nvSpPr>
          <p:cNvPr id="436226" name="矩形 436225"/>
          <p:cNvSpPr/>
          <p:nvPr/>
        </p:nvSpPr>
        <p:spPr>
          <a:xfrm>
            <a:off x="4254500" y="1325245"/>
            <a:ext cx="4796155" cy="1198880"/>
          </a:xfrm>
          <a:prstGeom prst="rect">
            <a:avLst/>
          </a:prstGeom>
          <a:noFill/>
          <a:ln w="9525">
            <a:noFill/>
          </a:ln>
        </p:spPr>
        <p:txBody>
          <a:bodyPr wrap="square" anchor="t">
            <a:spAutoFit/>
          </a:bodyPr>
          <a:p>
            <a:pPr algn="l">
              <a:spcBef>
                <a:spcPct val="50000"/>
              </a:spcBef>
            </a:pPr>
            <a:r>
              <a:rPr lang="zh-CN" altLang="en-US" sz="2400" b="1" dirty="0">
                <a:solidFill>
                  <a:srgbClr val="000066"/>
                </a:solidFill>
                <a:latin typeface="Times New Roman" panose="02020603050405020304" charset="0"/>
                <a:ea typeface="楷体_GB2312" panose="02010609030101010101" pitchFamily="49" charset="-122"/>
              </a:rPr>
              <a:t>量化过程将不足半个量化单位部分舍弃，对于等于或大于半个量化单位部分按一个量化单位处理。</a:t>
            </a:r>
            <a:endParaRPr lang="zh-CN" altLang="en-US" sz="2400" b="1" dirty="0">
              <a:solidFill>
                <a:srgbClr val="000066"/>
              </a:solidFill>
              <a:latin typeface="Times New Roman" panose="02020603050405020304" charset="0"/>
              <a:ea typeface="楷体_GB2312" panose="02010609030101010101" pitchFamily="49" charset="-122"/>
            </a:endParaRPr>
          </a:p>
        </p:txBody>
      </p:sp>
      <p:sp>
        <p:nvSpPr>
          <p:cNvPr id="436277" name="矩形 436276"/>
          <p:cNvSpPr/>
          <p:nvPr/>
        </p:nvSpPr>
        <p:spPr>
          <a:xfrm>
            <a:off x="4324350" y="2524125"/>
            <a:ext cx="4726305" cy="829945"/>
          </a:xfrm>
          <a:prstGeom prst="rect">
            <a:avLst/>
          </a:prstGeom>
          <a:noFill/>
          <a:ln w="9525">
            <a:noFill/>
          </a:ln>
        </p:spPr>
        <p:txBody>
          <a:bodyPr wrap="square" anchor="t">
            <a:spAutoFit/>
          </a:bodyPr>
          <a:p>
            <a:pPr algn="l">
              <a:spcBef>
                <a:spcPct val="50000"/>
              </a:spcBef>
            </a:pPr>
            <a:r>
              <a:rPr lang="zh-CN" altLang="en-US" sz="2400" b="1" dirty="0">
                <a:gradFill>
                  <a:gsLst>
                    <a:gs pos="0">
                      <a:srgbClr val="012D86"/>
                    </a:gs>
                    <a:gs pos="100000">
                      <a:srgbClr val="0E2557"/>
                    </a:gs>
                  </a:gsLst>
                  <a:lin scaled="0"/>
                </a:gradFill>
                <a:latin typeface="Times New Roman" panose="02020603050405020304" charset="0"/>
                <a:ea typeface="楷体_GB2312" panose="02010609030101010101" pitchFamily="49" charset="-122"/>
              </a:rPr>
              <a:t>例：将</a:t>
            </a:r>
            <a:r>
              <a:rPr lang="en-US" altLang="zh-CN" sz="2400" b="1" dirty="0">
                <a:gradFill>
                  <a:gsLst>
                    <a:gs pos="0">
                      <a:srgbClr val="012D86"/>
                    </a:gs>
                    <a:gs pos="100000">
                      <a:srgbClr val="0E2557"/>
                    </a:gs>
                  </a:gsLst>
                  <a:lin scaled="0"/>
                </a:gradFill>
                <a:latin typeface="Times New Roman" panose="02020603050405020304" charset="0"/>
                <a:ea typeface="楷体_GB2312" panose="02010609030101010101" pitchFamily="49" charset="-122"/>
              </a:rPr>
              <a:t>0~1V</a:t>
            </a:r>
            <a:r>
              <a:rPr lang="zh-CN" altLang="en-US" sz="2400" b="1" dirty="0">
                <a:gradFill>
                  <a:gsLst>
                    <a:gs pos="0">
                      <a:srgbClr val="012D86"/>
                    </a:gs>
                    <a:gs pos="100000">
                      <a:srgbClr val="0E2557"/>
                    </a:gs>
                  </a:gsLst>
                  <a:lin scaled="0"/>
                </a:gradFill>
                <a:latin typeface="Times New Roman" panose="02020603050405020304" charset="0"/>
                <a:ea typeface="楷体_GB2312" panose="02010609030101010101" pitchFamily="49" charset="-122"/>
              </a:rPr>
              <a:t>电压转换为</a:t>
            </a:r>
            <a:r>
              <a:rPr lang="en-US" altLang="zh-CN" sz="2400" b="1" dirty="0">
                <a:gradFill>
                  <a:gsLst>
                    <a:gs pos="0">
                      <a:srgbClr val="012D86"/>
                    </a:gs>
                    <a:gs pos="100000">
                      <a:srgbClr val="0E2557"/>
                    </a:gs>
                  </a:gsLst>
                  <a:lin scaled="0"/>
                </a:gradFill>
                <a:latin typeface="Times New Roman" panose="02020603050405020304" charset="0"/>
                <a:ea typeface="楷体_GB2312" panose="02010609030101010101" pitchFamily="49" charset="-122"/>
              </a:rPr>
              <a:t>3</a:t>
            </a:r>
            <a:r>
              <a:rPr lang="zh-CN" altLang="en-US" sz="2400" b="1" dirty="0">
                <a:gradFill>
                  <a:gsLst>
                    <a:gs pos="0">
                      <a:srgbClr val="012D86"/>
                    </a:gs>
                    <a:gs pos="100000">
                      <a:srgbClr val="0E2557"/>
                    </a:gs>
                  </a:gsLst>
                  <a:lin scaled="0"/>
                </a:gradFill>
                <a:latin typeface="Times New Roman" panose="02020603050405020304" charset="0"/>
                <a:ea typeface="楷体_GB2312" panose="02010609030101010101" pitchFamily="49" charset="-122"/>
              </a:rPr>
              <a:t>位二进制代码</a:t>
            </a:r>
            <a:endParaRPr lang="zh-CN" altLang="en-US" sz="2400" b="1" dirty="0">
              <a:gradFill>
                <a:gsLst>
                  <a:gs pos="0">
                    <a:srgbClr val="012D86"/>
                  </a:gs>
                  <a:gs pos="100000">
                    <a:srgbClr val="0E2557"/>
                  </a:gs>
                </a:gsLst>
                <a:lin scaled="0"/>
              </a:gradFill>
              <a:latin typeface="Times New Roman" panose="02020603050405020304" charset="0"/>
              <a:ea typeface="楷体_GB2312" panose="02010609030101010101" pitchFamily="49" charset="-122"/>
            </a:endParaRPr>
          </a:p>
        </p:txBody>
      </p:sp>
      <p:sp>
        <p:nvSpPr>
          <p:cNvPr id="436228" name="文本框 436227"/>
          <p:cNvSpPr txBox="1"/>
          <p:nvPr/>
        </p:nvSpPr>
        <p:spPr>
          <a:xfrm>
            <a:off x="4719638" y="3492500"/>
            <a:ext cx="2992437" cy="460375"/>
          </a:xfrm>
          <a:prstGeom prst="rect">
            <a:avLst/>
          </a:prstGeom>
          <a:noFill/>
          <a:ln w="9525">
            <a:noFill/>
          </a:ln>
        </p:spPr>
        <p:txBody>
          <a:bodyPr>
            <a:spAutoFit/>
          </a:bodyPr>
          <a:p>
            <a:pPr algn="l">
              <a:spcBef>
                <a:spcPct val="50000"/>
              </a:spcBef>
              <a:buFont typeface="Wingdings" panose="05000000000000000000" pitchFamily="2" charset="2"/>
            </a:pPr>
            <a:r>
              <a:rPr lang="zh-CN" altLang="en-US" sz="2400" b="1" dirty="0">
                <a:solidFill>
                  <a:srgbClr val="000066"/>
                </a:solidFill>
                <a:latin typeface="Times New Roman" panose="02020603050405020304" charset="0"/>
                <a:ea typeface="楷体_GB2312" panose="02010609030101010101" pitchFamily="49" charset="-122"/>
              </a:rPr>
              <a:t>最小量化单位：</a:t>
            </a:r>
            <a:endParaRPr lang="zh-CN" altLang="en-US" sz="2400" b="1" dirty="0">
              <a:solidFill>
                <a:srgbClr val="000066"/>
              </a:solidFill>
              <a:latin typeface="Times New Roman" panose="02020603050405020304" charset="0"/>
              <a:ea typeface="楷体_GB2312" panose="02010609030101010101" pitchFamily="49" charset="-122"/>
            </a:endParaRPr>
          </a:p>
        </p:txBody>
      </p:sp>
      <p:sp>
        <p:nvSpPr>
          <p:cNvPr id="436271" name="文本框 436270"/>
          <p:cNvSpPr txBox="1"/>
          <p:nvPr/>
        </p:nvSpPr>
        <p:spPr>
          <a:xfrm>
            <a:off x="4794250" y="3965575"/>
            <a:ext cx="2770188" cy="460375"/>
          </a:xfrm>
          <a:prstGeom prst="rect">
            <a:avLst/>
          </a:prstGeom>
          <a:noFill/>
          <a:ln w="19050">
            <a:noFill/>
          </a:ln>
        </p:spPr>
        <p:txBody>
          <a:bodyPr>
            <a:spAutoFit/>
          </a:bodyPr>
          <a:p>
            <a:pPr algn="l">
              <a:spcBef>
                <a:spcPct val="50000"/>
              </a:spcBef>
            </a:pPr>
            <a:r>
              <a:rPr lang="el-GR" altLang="zh-CN" sz="2400" b="1">
                <a:solidFill>
                  <a:srgbClr val="000066"/>
                </a:solidFill>
                <a:latin typeface="Times New Roman" panose="02020603050405020304" charset="0"/>
                <a:ea typeface="楷体_GB2312" panose="02010609030101010101" pitchFamily="49" charset="-122"/>
              </a:rPr>
              <a:t>Δ</a:t>
            </a:r>
            <a:r>
              <a:rPr lang="en-US" altLang="zh-CN" sz="2400" b="1" i="1">
                <a:solidFill>
                  <a:srgbClr val="000066"/>
                </a:solidFill>
                <a:latin typeface="Times New Roman" panose="02020603050405020304" charset="0"/>
                <a:ea typeface="楷体_GB2312" panose="02010609030101010101" pitchFamily="49" charset="-122"/>
              </a:rPr>
              <a:t>=</a:t>
            </a:r>
            <a:r>
              <a:rPr lang="en-US" altLang="zh-CN" sz="2400" b="1">
                <a:solidFill>
                  <a:srgbClr val="000066"/>
                </a:solidFill>
                <a:latin typeface="Times New Roman" panose="02020603050405020304" charset="0"/>
                <a:ea typeface="楷体_GB2312" panose="02010609030101010101" pitchFamily="49" charset="-122"/>
              </a:rPr>
              <a:t>1</a:t>
            </a:r>
            <a:r>
              <a:rPr lang="en-US" altLang="zh-CN" sz="2400" b="1" i="1">
                <a:solidFill>
                  <a:srgbClr val="000066"/>
                </a:solidFill>
                <a:latin typeface="Times New Roman" panose="02020603050405020304" charset="0"/>
                <a:ea typeface="楷体_GB2312" panose="02010609030101010101" pitchFamily="49" charset="-122"/>
              </a:rPr>
              <a:t>LSB=</a:t>
            </a:r>
            <a:endParaRPr lang="en-US" altLang="zh-CN" sz="2400" b="1" i="1">
              <a:solidFill>
                <a:srgbClr val="000066"/>
              </a:solidFill>
              <a:latin typeface="Times New Roman" panose="02020603050405020304" charset="0"/>
              <a:ea typeface="楷体_GB2312" panose="02010609030101010101" pitchFamily="49" charset="-122"/>
            </a:endParaRPr>
          </a:p>
        </p:txBody>
      </p:sp>
      <p:sp>
        <p:nvSpPr>
          <p:cNvPr id="436272" name="文本框 436271"/>
          <p:cNvSpPr txBox="1"/>
          <p:nvPr/>
        </p:nvSpPr>
        <p:spPr>
          <a:xfrm>
            <a:off x="5970588" y="3911600"/>
            <a:ext cx="2051050" cy="521970"/>
          </a:xfrm>
          <a:prstGeom prst="rect">
            <a:avLst/>
          </a:prstGeom>
          <a:noFill/>
          <a:ln w="19050">
            <a:noFill/>
          </a:ln>
        </p:spPr>
        <p:txBody>
          <a:bodyPr>
            <a:spAutoFit/>
          </a:bodyPr>
          <a:p>
            <a:pPr algn="l">
              <a:spcBef>
                <a:spcPct val="50000"/>
              </a:spcBef>
            </a:pPr>
            <a:r>
              <a:rPr lang="en-US" altLang="zh-CN" sz="2800" b="1">
                <a:solidFill>
                  <a:srgbClr val="000066"/>
                </a:solidFill>
                <a:latin typeface="Times New Roman" panose="02020603050405020304" charset="0"/>
                <a:ea typeface="楷体_GB2312" panose="02010609030101010101" pitchFamily="49" charset="-122"/>
              </a:rPr>
              <a:t> (</a:t>
            </a:r>
            <a:r>
              <a:rPr lang="en-US" altLang="zh-CN" sz="2400" b="1">
                <a:solidFill>
                  <a:srgbClr val="000066"/>
                </a:solidFill>
                <a:latin typeface="Times New Roman" panose="02020603050405020304" charset="0"/>
                <a:ea typeface="楷体_GB2312" panose="02010609030101010101" pitchFamily="49" charset="-122"/>
              </a:rPr>
              <a:t>2/15) V</a:t>
            </a:r>
            <a:endParaRPr lang="en-US" altLang="zh-CN" sz="2400" b="1">
              <a:solidFill>
                <a:srgbClr val="000066"/>
              </a:solidFill>
              <a:latin typeface="Times New Roman" panose="02020603050405020304" charset="0"/>
              <a:ea typeface="楷体_GB2312" panose="02010609030101010101" pitchFamily="49" charset="-122"/>
            </a:endParaRPr>
          </a:p>
        </p:txBody>
      </p:sp>
      <p:graphicFrame>
        <p:nvGraphicFramePr>
          <p:cNvPr id="436270" name="对象 436269"/>
          <p:cNvGraphicFramePr/>
          <p:nvPr/>
        </p:nvGraphicFramePr>
        <p:xfrm>
          <a:off x="4712335" y="5781675"/>
          <a:ext cx="1754188" cy="500063"/>
        </p:xfrm>
        <a:graphic>
          <a:graphicData uri="http://schemas.openxmlformats.org/presentationml/2006/ole">
            <mc:AlternateContent xmlns:mc="http://schemas.openxmlformats.org/markup-compatibility/2006">
              <mc:Choice xmlns:v="urn:schemas-microsoft-com:vml" Requires="v">
                <p:oleObj spid="_x0000_s3131" name="" r:id="rId2" imgW="926465" imgH="254000" progId="Equation.3">
                  <p:embed/>
                </p:oleObj>
              </mc:Choice>
              <mc:Fallback>
                <p:oleObj name="" r:id="rId2" imgW="926465" imgH="254000" progId="Equation.3">
                  <p:embed/>
                  <p:pic>
                    <p:nvPicPr>
                      <p:cNvPr id="0" name="图片 3130"/>
                      <p:cNvPicPr/>
                      <p:nvPr/>
                    </p:nvPicPr>
                    <p:blipFill>
                      <a:blip r:embed="rId3"/>
                      <a:stretch>
                        <a:fillRect/>
                      </a:stretch>
                    </p:blipFill>
                    <p:spPr>
                      <a:xfrm>
                        <a:off x="4712335" y="5781675"/>
                        <a:ext cx="1754188" cy="500063"/>
                      </a:xfrm>
                      <a:prstGeom prst="rect">
                        <a:avLst/>
                      </a:prstGeom>
                      <a:noFill/>
                      <a:ln w="38100">
                        <a:noFill/>
                        <a:miter/>
                      </a:ln>
                    </p:spPr>
                  </p:pic>
                </p:oleObj>
              </mc:Fallback>
            </mc:AlternateContent>
          </a:graphicData>
        </a:graphic>
      </p:graphicFrame>
      <p:grpSp>
        <p:nvGrpSpPr>
          <p:cNvPr id="436273" name="组合 436272"/>
          <p:cNvGrpSpPr/>
          <p:nvPr/>
        </p:nvGrpSpPr>
        <p:grpSpPr>
          <a:xfrm>
            <a:off x="4690110" y="4854575"/>
            <a:ext cx="2197100" cy="900113"/>
            <a:chOff x="3409" y="3273"/>
            <a:chExt cx="1384" cy="567"/>
          </a:xfrm>
        </p:grpSpPr>
        <p:graphicFrame>
          <p:nvGraphicFramePr>
            <p:cNvPr id="436274" name="对象 436273"/>
            <p:cNvGraphicFramePr/>
            <p:nvPr/>
          </p:nvGraphicFramePr>
          <p:xfrm>
            <a:off x="3409" y="3417"/>
            <a:ext cx="1105" cy="315"/>
          </p:xfrm>
          <a:graphic>
            <a:graphicData uri="http://schemas.openxmlformats.org/presentationml/2006/ole">
              <mc:AlternateContent xmlns:mc="http://schemas.openxmlformats.org/markup-compatibility/2006">
                <mc:Choice xmlns:v="urn:schemas-microsoft-com:vml" Requires="v">
                  <p:oleObj spid="_x0000_s3129" name="" r:id="rId4" imgW="926465" imgH="254000" progId="Equation.3">
                    <p:embed/>
                  </p:oleObj>
                </mc:Choice>
                <mc:Fallback>
                  <p:oleObj name="" r:id="rId4" imgW="926465" imgH="254000" progId="Equation.3">
                    <p:embed/>
                    <p:pic>
                      <p:nvPicPr>
                        <p:cNvPr id="0" name="图片 3128"/>
                        <p:cNvPicPr/>
                        <p:nvPr/>
                      </p:nvPicPr>
                      <p:blipFill>
                        <a:blip r:embed="rId3"/>
                        <a:stretch>
                          <a:fillRect/>
                        </a:stretch>
                      </p:blipFill>
                      <p:spPr>
                        <a:xfrm>
                          <a:off x="3409" y="3417"/>
                          <a:ext cx="1105" cy="315"/>
                        </a:xfrm>
                        <a:prstGeom prst="rect">
                          <a:avLst/>
                        </a:prstGeom>
                        <a:solidFill>
                          <a:schemeClr val="bg1"/>
                        </a:solidFill>
                        <a:ln w="38100">
                          <a:noFill/>
                          <a:miter/>
                        </a:ln>
                      </p:spPr>
                    </p:pic>
                  </p:oleObj>
                </mc:Fallback>
              </mc:AlternateContent>
            </a:graphicData>
          </a:graphic>
        </p:graphicFrame>
        <p:sp>
          <p:nvSpPr>
            <p:cNvPr id="436275" name="矩形 436274"/>
            <p:cNvSpPr/>
            <p:nvPr/>
          </p:nvSpPr>
          <p:spPr>
            <a:xfrm>
              <a:off x="3812" y="3273"/>
              <a:ext cx="842" cy="567"/>
            </a:xfrm>
            <a:prstGeom prst="rect">
              <a:avLst/>
            </a:prstGeom>
            <a:solidFill>
              <a:schemeClr val="bg1"/>
            </a:solidFill>
            <a:ln w="9525">
              <a:noFill/>
            </a:ln>
          </p:spPr>
          <p:txBody>
            <a:bodyPr/>
            <a:p>
              <a:endParaRPr lang="zh-CN" altLang="en-US"/>
            </a:p>
          </p:txBody>
        </p:sp>
        <p:sp>
          <p:nvSpPr>
            <p:cNvPr id="436276" name="文本框 436275"/>
            <p:cNvSpPr txBox="1"/>
            <p:nvPr/>
          </p:nvSpPr>
          <p:spPr>
            <a:xfrm>
              <a:off x="3849" y="3428"/>
              <a:ext cx="944" cy="288"/>
            </a:xfrm>
            <a:prstGeom prst="rect">
              <a:avLst/>
            </a:prstGeom>
            <a:solidFill>
              <a:srgbClr val="FFFFFF">
                <a:alpha val="0"/>
              </a:srgbClr>
            </a:solidFill>
            <a:ln w="9525">
              <a:noFill/>
            </a:ln>
          </p:spPr>
          <p:txBody>
            <a:bodyPr>
              <a:spAutoFit/>
            </a:bodyPr>
            <a:p>
              <a:pPr algn="l">
                <a:spcBef>
                  <a:spcPct val="50000"/>
                </a:spcBef>
              </a:pPr>
              <a:r>
                <a:rPr lang="zh-CN" altLang="en-US" sz="2400">
                  <a:solidFill>
                    <a:srgbClr val="000066"/>
                  </a:solidFill>
                  <a:latin typeface="Times New Roman" panose="02020603050405020304" charset="0"/>
                  <a:ea typeface="楷体_GB2312" panose="02010609030101010101" pitchFamily="49" charset="-122"/>
                </a:rPr>
                <a:t>＝</a:t>
              </a:r>
              <a:r>
                <a:rPr lang="en-US" altLang="zh-CN" sz="2400">
                  <a:solidFill>
                    <a:srgbClr val="000066"/>
                  </a:solidFill>
                  <a:latin typeface="Times New Roman" panose="02020603050405020304" charset="0"/>
                  <a:ea typeface="楷体_GB2312" panose="02010609030101010101" pitchFamily="49" charset="-122"/>
                </a:rPr>
                <a:t>1/15V</a:t>
              </a:r>
              <a:endParaRPr lang="en-US" altLang="zh-CN" sz="2400">
                <a:solidFill>
                  <a:srgbClr val="000066"/>
                </a:solidFill>
                <a:latin typeface="Times New Roman" panose="02020603050405020304" charset="0"/>
                <a:ea typeface="楷体_GB2312" panose="02010609030101010101" pitchFamily="49" charset="-122"/>
              </a:endParaRPr>
            </a:p>
          </p:txBody>
        </p:sp>
      </p:grpSp>
      <p:sp>
        <p:nvSpPr>
          <p:cNvPr id="436227" name="矩形 436226"/>
          <p:cNvSpPr/>
          <p:nvPr/>
        </p:nvSpPr>
        <p:spPr>
          <a:xfrm>
            <a:off x="4454208" y="4529455"/>
            <a:ext cx="2631440" cy="460375"/>
          </a:xfrm>
          <a:prstGeom prst="rect">
            <a:avLst/>
          </a:prstGeom>
          <a:noFill/>
          <a:ln w="9525">
            <a:noFill/>
          </a:ln>
        </p:spPr>
        <p:txBody>
          <a:bodyPr wrap="none" anchor="t">
            <a:spAutoFit/>
          </a:bodyPr>
          <a:p>
            <a:pPr algn="l">
              <a:spcBef>
                <a:spcPct val="50000"/>
              </a:spcBef>
            </a:pPr>
            <a:r>
              <a:rPr lang="zh-CN" altLang="en-US" sz="2400" b="1" dirty="0">
                <a:solidFill>
                  <a:srgbClr val="000066"/>
                </a:solidFill>
                <a:latin typeface="Times New Roman" panose="02020603050405020304" charset="0"/>
                <a:ea typeface="楷体_GB2312" panose="02010609030101010101" pitchFamily="49" charset="-122"/>
              </a:rPr>
              <a:t>最大量化误差为：</a:t>
            </a:r>
            <a:endParaRPr lang="zh-CN" altLang="en-US" sz="2400" b="1" dirty="0">
              <a:solidFill>
                <a:srgbClr val="000066"/>
              </a:solidFill>
              <a:latin typeface="Times New Roman" panose="02020603050405020304" charset="0"/>
              <a:ea typeface="楷体_GB2312" panose="0201060903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36226"/>
                                        </p:tgtEl>
                                        <p:attrNameLst>
                                          <p:attrName>style.visibility</p:attrName>
                                        </p:attrNameLst>
                                      </p:cBhvr>
                                      <p:to>
                                        <p:strVal val="visible"/>
                                      </p:to>
                                    </p:set>
                                    <p:animEffect transition="in" filter="strips(downRight)">
                                      <p:cBhvr>
                                        <p:cTn id="7" dur="500"/>
                                        <p:tgtEl>
                                          <p:spTgt spid="43622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436277"/>
                                        </p:tgtEl>
                                        <p:attrNameLst>
                                          <p:attrName>style.visibility</p:attrName>
                                        </p:attrNameLst>
                                      </p:cBhvr>
                                      <p:to>
                                        <p:strVal val="visible"/>
                                      </p:to>
                                    </p:set>
                                    <p:animEffect transition="in" filter="strips(downRight)">
                                      <p:cBhvr>
                                        <p:cTn id="12" dur="500"/>
                                        <p:tgtEl>
                                          <p:spTgt spid="436277"/>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436228"/>
                                        </p:tgtEl>
                                        <p:attrNameLst>
                                          <p:attrName>style.visibility</p:attrName>
                                        </p:attrNameLst>
                                      </p:cBhvr>
                                      <p:to>
                                        <p:strVal val="visible"/>
                                      </p:to>
                                    </p:set>
                                    <p:animEffect transition="in" filter="strips(downRight)">
                                      <p:cBhvr>
                                        <p:cTn id="17" dur="500"/>
                                        <p:tgtEl>
                                          <p:spTgt spid="436228"/>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436271"/>
                                        </p:tgtEl>
                                        <p:attrNameLst>
                                          <p:attrName>style.visibility</p:attrName>
                                        </p:attrNameLst>
                                      </p:cBhvr>
                                      <p:to>
                                        <p:strVal val="visible"/>
                                      </p:to>
                                    </p:set>
                                    <p:animEffect transition="in" filter="strips(downRight)">
                                      <p:cBhvr>
                                        <p:cTn id="22" dur="500"/>
                                        <p:tgtEl>
                                          <p:spTgt spid="436271"/>
                                        </p:tgtEl>
                                      </p:cBhvr>
                                    </p:animEffect>
                                  </p:childTnLst>
                                </p:cTn>
                              </p:par>
                            </p:childTnLst>
                          </p:cTn>
                        </p:par>
                        <p:par>
                          <p:cTn id="23" fill="hold">
                            <p:stCondLst>
                              <p:cond delay="500"/>
                            </p:stCondLst>
                            <p:childTnLst>
                              <p:par>
                                <p:cTn id="24" presetID="18" presetClass="entr" presetSubtype="6" fill="hold" grpId="0" nodeType="afterEffect">
                                  <p:stCondLst>
                                    <p:cond delay="500"/>
                                  </p:stCondLst>
                                  <p:childTnLst>
                                    <p:set>
                                      <p:cBhvr>
                                        <p:cTn id="25" dur="1" fill="hold">
                                          <p:stCondLst>
                                            <p:cond delay="0"/>
                                          </p:stCondLst>
                                        </p:cTn>
                                        <p:tgtEl>
                                          <p:spTgt spid="436272"/>
                                        </p:tgtEl>
                                        <p:attrNameLst>
                                          <p:attrName>style.visibility</p:attrName>
                                        </p:attrNameLst>
                                      </p:cBhvr>
                                      <p:to>
                                        <p:strVal val="visible"/>
                                      </p:to>
                                    </p:set>
                                    <p:animEffect transition="in" filter="strips(downRight)">
                                      <p:cBhvr>
                                        <p:cTn id="26" dur="500"/>
                                        <p:tgtEl>
                                          <p:spTgt spid="436272"/>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6" fill="hold" grpId="0" nodeType="clickEffect">
                                  <p:stCondLst>
                                    <p:cond delay="0"/>
                                  </p:stCondLst>
                                  <p:childTnLst>
                                    <p:set>
                                      <p:cBhvr>
                                        <p:cTn id="30" dur="1" fill="hold">
                                          <p:stCondLst>
                                            <p:cond delay="0"/>
                                          </p:stCondLst>
                                        </p:cTn>
                                        <p:tgtEl>
                                          <p:spTgt spid="436227"/>
                                        </p:tgtEl>
                                        <p:attrNameLst>
                                          <p:attrName>style.visibility</p:attrName>
                                        </p:attrNameLst>
                                      </p:cBhvr>
                                      <p:to>
                                        <p:strVal val="visible"/>
                                      </p:to>
                                    </p:set>
                                    <p:animEffect transition="in" filter="strips(downRight)">
                                      <p:cBhvr>
                                        <p:cTn id="31" dur="500"/>
                                        <p:tgtEl>
                                          <p:spTgt spid="436227"/>
                                        </p:tgtEl>
                                      </p:cBhvr>
                                    </p:animEffect>
                                  </p:childTnLst>
                                </p:cTn>
                              </p:par>
                            </p:childTnLst>
                          </p:cTn>
                        </p:par>
                        <p:par>
                          <p:cTn id="32" fill="hold">
                            <p:stCondLst>
                              <p:cond delay="500"/>
                            </p:stCondLst>
                            <p:childTnLst>
                              <p:par>
                                <p:cTn id="33" presetID="18" presetClass="entr" presetSubtype="6" fill="hold" nodeType="afterEffect">
                                  <p:stCondLst>
                                    <p:cond delay="500"/>
                                  </p:stCondLst>
                                  <p:childTnLst>
                                    <p:set>
                                      <p:cBhvr>
                                        <p:cTn id="34" dur="1" fill="hold">
                                          <p:stCondLst>
                                            <p:cond delay="0"/>
                                          </p:stCondLst>
                                        </p:cTn>
                                        <p:tgtEl>
                                          <p:spTgt spid="436273"/>
                                        </p:tgtEl>
                                        <p:attrNameLst>
                                          <p:attrName>style.visibility</p:attrName>
                                        </p:attrNameLst>
                                      </p:cBhvr>
                                      <p:to>
                                        <p:strVal val="visible"/>
                                      </p:to>
                                    </p:set>
                                    <p:animEffect transition="in" filter="strips(downRight)">
                                      <p:cBhvr>
                                        <p:cTn id="35" dur="500"/>
                                        <p:tgtEl>
                                          <p:spTgt spid="436273"/>
                                        </p:tgtEl>
                                      </p:cBhvr>
                                    </p:animEffect>
                                  </p:childTnLst>
                                </p:cTn>
                              </p:par>
                            </p:childTnLst>
                          </p:cTn>
                        </p:par>
                        <p:par>
                          <p:cTn id="36" fill="hold">
                            <p:stCondLst>
                              <p:cond delay="1500"/>
                            </p:stCondLst>
                            <p:childTnLst>
                              <p:par>
                                <p:cTn id="37" presetID="4" presetClass="entr" presetSubtype="16" fill="hold" nodeType="afterEffect">
                                  <p:stCondLst>
                                    <p:cond delay="1000"/>
                                  </p:stCondLst>
                                  <p:childTnLst>
                                    <p:set>
                                      <p:cBhvr>
                                        <p:cTn id="38" dur="1" fill="hold">
                                          <p:stCondLst>
                                            <p:cond delay="0"/>
                                          </p:stCondLst>
                                        </p:cTn>
                                        <p:tgtEl>
                                          <p:spTgt spid="436270"/>
                                        </p:tgtEl>
                                        <p:attrNameLst>
                                          <p:attrName>style.visibility</p:attrName>
                                        </p:attrNameLst>
                                      </p:cBhvr>
                                      <p:to>
                                        <p:strVal val="visible"/>
                                      </p:to>
                                    </p:set>
                                    <p:animEffect transition="in" filter="box(in)">
                                      <p:cBhvr>
                                        <p:cTn id="39" dur="500"/>
                                        <p:tgtEl>
                                          <p:spTgt spid="436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6226" grpId="0"/>
      <p:bldP spid="436277" grpId="0"/>
      <p:bldP spid="436228" grpId="0"/>
      <p:bldP spid="436271" grpId="0"/>
      <p:bldP spid="436272" grpId="0"/>
      <p:bldP spid="43622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1891030" y="49911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9.3 </a:t>
            </a:r>
            <a:r>
              <a:rPr lang="en-US" altLang="zh-CN" b="1" dirty="0">
                <a:solidFill>
                  <a:srgbClr val="FF0000"/>
                </a:solidFill>
                <a:latin typeface="黑体" panose="02010609060101010101" pitchFamily="49" charset="-122"/>
                <a:ea typeface="黑体" panose="02010609060101010101" pitchFamily="49" charset="-122"/>
                <a:sym typeface="+mn-ea"/>
              </a:rPr>
              <a:t>A/D转换电路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6146" name="Rectangle 2"/>
          <p:cNvSpPr>
            <a:spLocks noGrp="1"/>
          </p:cNvSpPr>
          <p:nvPr>
            <p:ph type="title"/>
          </p:nvPr>
        </p:nvSpPr>
        <p:spPr>
          <a:xfrm>
            <a:off x="848360" y="1013778"/>
            <a:ext cx="5257800" cy="868362"/>
          </a:xfrm>
        </p:spPr>
        <p:txBody>
          <a:bodyPr vert="horz" wrap="square" lIns="91440" tIns="45720" rIns="91440" bIns="45720" anchor="ctr" anchorCtr="0"/>
          <a:p>
            <a:pPr algn="l" eaLnBrk="1" hangingPunct="1"/>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9</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3</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2 </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并行比较型A/D转换器</a:t>
            </a:r>
            <a:endPar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endParaRPr>
          </a:p>
        </p:txBody>
      </p:sp>
      <p:sp>
        <p:nvSpPr>
          <p:cNvPr id="437266" name="矩形 437265"/>
          <p:cNvSpPr/>
          <p:nvPr/>
        </p:nvSpPr>
        <p:spPr>
          <a:xfrm>
            <a:off x="848043" y="1676400"/>
            <a:ext cx="2376487" cy="460375"/>
          </a:xfrm>
          <a:prstGeom prst="rect">
            <a:avLst/>
          </a:prstGeom>
          <a:solidFill>
            <a:schemeClr val="bg1"/>
          </a:solidFill>
          <a:ln w="9525">
            <a:noFill/>
          </a:ln>
        </p:spPr>
        <p:txBody>
          <a:bodyPr>
            <a:spAutoFit/>
          </a:bodyPr>
          <a:p>
            <a:pPr algn="l">
              <a:spcBef>
                <a:spcPct val="50000"/>
              </a:spcBef>
            </a:pPr>
            <a:r>
              <a:rPr lang="en-US" altLang="zh-CN" sz="2400" b="1" dirty="0">
                <a:solidFill>
                  <a:schemeClr val="tx1"/>
                </a:solidFill>
                <a:latin typeface="Times New Roman" panose="02020603050405020304" charset="0"/>
                <a:ea typeface="楷体_GB2312" panose="02010609030101010101" pitchFamily="49" charset="-122"/>
              </a:rPr>
              <a:t>(1)</a:t>
            </a:r>
            <a:r>
              <a:rPr lang="zh-CN" altLang="en-US" sz="2400" b="1" dirty="0">
                <a:solidFill>
                  <a:schemeClr val="tx1"/>
                </a:solidFill>
                <a:latin typeface="Times New Roman" panose="02020603050405020304" charset="0"/>
                <a:ea typeface="楷体_GB2312" panose="02010609030101010101" pitchFamily="49" charset="-122"/>
              </a:rPr>
              <a:t>电路组成</a:t>
            </a:r>
            <a:endParaRPr lang="zh-CN" altLang="en-US" sz="2400" b="1" dirty="0">
              <a:solidFill>
                <a:schemeClr val="tx1"/>
              </a:solidFill>
              <a:latin typeface="Times New Roman" panose="02020603050405020304" charset="0"/>
              <a:ea typeface="楷体_GB2312" panose="02010609030101010101" pitchFamily="49" charset="-122"/>
            </a:endParaRPr>
          </a:p>
        </p:txBody>
      </p:sp>
      <p:pic>
        <p:nvPicPr>
          <p:cNvPr id="9502" name="图片 2939"/>
          <p:cNvPicPr>
            <a:picLocks noChangeAspect="1"/>
          </p:cNvPicPr>
          <p:nvPr/>
        </p:nvPicPr>
        <p:blipFill>
          <a:blip r:embed="rId1"/>
          <a:stretch>
            <a:fillRect/>
          </a:stretch>
        </p:blipFill>
        <p:spPr>
          <a:xfrm>
            <a:off x="2935605" y="1676400"/>
            <a:ext cx="6115050" cy="4777105"/>
          </a:xfrm>
          <a:prstGeom prst="rect">
            <a:avLst/>
          </a:prstGeom>
          <a:noFill/>
          <a:ln>
            <a:noFill/>
          </a:ln>
        </p:spPr>
      </p:pic>
      <p:sp>
        <p:nvSpPr>
          <p:cNvPr id="437254" name="椭圆形标注 437253"/>
          <p:cNvSpPr/>
          <p:nvPr/>
        </p:nvSpPr>
        <p:spPr>
          <a:xfrm>
            <a:off x="6076950" y="5572847"/>
            <a:ext cx="2268538" cy="577994"/>
          </a:xfrm>
          <a:prstGeom prst="wedgeEllipseCallout">
            <a:avLst>
              <a:gd name="adj1" fmla="val -89860"/>
              <a:gd name="adj2" fmla="val -72949"/>
            </a:avLst>
          </a:prstGeom>
          <a:solidFill>
            <a:schemeClr val="bg2"/>
          </a:solidFill>
          <a:ln w="6350" cap="flat" cmpd="sng">
            <a:solidFill>
              <a:schemeClr val="accent1"/>
            </a:solidFill>
            <a:prstDash val="solid"/>
            <a:miter/>
            <a:headEnd type="none" w="med" len="med"/>
            <a:tailEnd type="none" w="med" len="med"/>
          </a:ln>
        </p:spPr>
        <p:txBody>
          <a:bodyPr wrap="square" lIns="0" tIns="72000" rIns="0" bIns="72000" anchor="ctr">
            <a:spAutoFit/>
          </a:bodyPr>
          <a:p>
            <a:pPr>
              <a:spcBef>
                <a:spcPct val="50000"/>
              </a:spcBef>
            </a:pPr>
            <a:r>
              <a:rPr lang="zh-CN" altLang="en-US" dirty="0">
                <a:solidFill>
                  <a:srgbClr val="000099"/>
                </a:solidFill>
                <a:latin typeface="Times New Roman" panose="02020603050405020304" charset="0"/>
                <a:ea typeface="楷体_GB2312" panose="02010609030101010101" pitchFamily="49" charset="-122"/>
              </a:rPr>
              <a:t>电压比较器</a:t>
            </a:r>
            <a:endParaRPr lang="zh-CN" altLang="en-US">
              <a:solidFill>
                <a:srgbClr val="000099"/>
              </a:solidFill>
              <a:latin typeface="Times New Roman" panose="02020603050405020304" charset="0"/>
              <a:ea typeface="楷体_GB2312" panose="02010609030101010101" pitchFamily="49" charset="-122"/>
            </a:endParaRPr>
          </a:p>
        </p:txBody>
      </p:sp>
      <p:sp>
        <p:nvSpPr>
          <p:cNvPr id="437255" name="椭圆形标注 437254"/>
          <p:cNvSpPr/>
          <p:nvPr/>
        </p:nvSpPr>
        <p:spPr>
          <a:xfrm>
            <a:off x="532448" y="4772660"/>
            <a:ext cx="1447800" cy="925513"/>
          </a:xfrm>
          <a:prstGeom prst="wedgeEllipseCallout">
            <a:avLst>
              <a:gd name="adj1" fmla="val 137171"/>
              <a:gd name="adj2" fmla="val 86463"/>
            </a:avLst>
          </a:prstGeom>
          <a:solidFill>
            <a:schemeClr val="bg2"/>
          </a:solidFill>
          <a:ln w="6350" cap="flat" cmpd="sng">
            <a:solidFill>
              <a:schemeClr val="accent1"/>
            </a:solidFill>
            <a:prstDash val="solid"/>
            <a:miter/>
            <a:headEnd type="none" w="med" len="med"/>
            <a:tailEnd type="none" w="med" len="med"/>
          </a:ln>
        </p:spPr>
        <p:txBody>
          <a:bodyPr lIns="0" tIns="72000" rIns="0" bIns="72000" anchor="ctr">
            <a:spAutoFit/>
          </a:bodyPr>
          <a:p>
            <a:pPr>
              <a:spcBef>
                <a:spcPct val="50000"/>
              </a:spcBef>
            </a:pPr>
            <a:r>
              <a:rPr lang="zh-CN" altLang="en-US" dirty="0">
                <a:solidFill>
                  <a:srgbClr val="000099"/>
                </a:solidFill>
                <a:latin typeface="Times New Roman" panose="02020603050405020304" charset="0"/>
                <a:ea typeface="楷体_GB2312" panose="02010609030101010101" pitchFamily="49" charset="-122"/>
              </a:rPr>
              <a:t>输入模拟电压</a:t>
            </a:r>
            <a:endParaRPr lang="zh-CN" altLang="en-US" dirty="0">
              <a:solidFill>
                <a:srgbClr val="000099"/>
              </a:solidFill>
              <a:latin typeface="Times New Roman" panose="02020603050405020304" charset="0"/>
              <a:ea typeface="楷体_GB2312" panose="02010609030101010101" pitchFamily="49" charset="-122"/>
            </a:endParaRPr>
          </a:p>
        </p:txBody>
      </p:sp>
      <p:sp>
        <p:nvSpPr>
          <p:cNvPr id="437256" name="椭圆形标注 437255"/>
          <p:cNvSpPr/>
          <p:nvPr/>
        </p:nvSpPr>
        <p:spPr>
          <a:xfrm>
            <a:off x="1279843" y="2908300"/>
            <a:ext cx="1512887" cy="768350"/>
          </a:xfrm>
          <a:prstGeom prst="wedgeEllipseCallout">
            <a:avLst>
              <a:gd name="adj1" fmla="val 133528"/>
              <a:gd name="adj2" fmla="val 52273"/>
            </a:avLst>
          </a:prstGeom>
          <a:solidFill>
            <a:schemeClr val="bg2"/>
          </a:solidFill>
          <a:ln w="6350" cap="flat" cmpd="sng">
            <a:solidFill>
              <a:schemeClr val="accent1"/>
            </a:solidFill>
            <a:prstDash val="solid"/>
            <a:miter/>
            <a:headEnd type="none" w="med" len="med"/>
            <a:tailEnd type="none" w="med" len="med"/>
          </a:ln>
        </p:spPr>
        <p:txBody>
          <a:bodyPr lIns="0" tIns="72000" rIns="0" bIns="72000" anchor="ctr">
            <a:spAutoFit/>
          </a:bodyPr>
          <a:p>
            <a:pPr>
              <a:lnSpc>
                <a:spcPct val="80000"/>
              </a:lnSpc>
              <a:spcBef>
                <a:spcPct val="50000"/>
              </a:spcBef>
            </a:pPr>
            <a:r>
              <a:rPr lang="zh-CN" altLang="en-US" dirty="0">
                <a:solidFill>
                  <a:srgbClr val="000099"/>
                </a:solidFill>
                <a:latin typeface="Times New Roman" panose="02020603050405020304" charset="0"/>
                <a:ea typeface="楷体_GB2312" panose="02010609030101010101" pitchFamily="49" charset="-122"/>
              </a:rPr>
              <a:t>精密电阻网络</a:t>
            </a:r>
            <a:endParaRPr lang="zh-CN" altLang="en-US">
              <a:solidFill>
                <a:srgbClr val="000099"/>
              </a:solidFill>
              <a:latin typeface="Times New Roman" panose="02020603050405020304" charset="0"/>
              <a:ea typeface="楷体_GB2312" panose="02010609030101010101" pitchFamily="49" charset="-122"/>
            </a:endParaRPr>
          </a:p>
        </p:txBody>
      </p:sp>
      <p:sp>
        <p:nvSpPr>
          <p:cNvPr id="437257" name="椭圆形标注 437256"/>
          <p:cNvSpPr/>
          <p:nvPr/>
        </p:nvSpPr>
        <p:spPr>
          <a:xfrm>
            <a:off x="1469390" y="371160"/>
            <a:ext cx="1265555" cy="838830"/>
          </a:xfrm>
          <a:prstGeom prst="wedgeEllipseCallout">
            <a:avLst>
              <a:gd name="adj1" fmla="val 91595"/>
              <a:gd name="adj2" fmla="val 118260"/>
            </a:avLst>
          </a:prstGeom>
          <a:solidFill>
            <a:schemeClr val="bg2"/>
          </a:solidFill>
          <a:ln w="6350" cap="flat" cmpd="sng">
            <a:solidFill>
              <a:schemeClr val="accent1"/>
            </a:solidFill>
            <a:prstDash val="solid"/>
            <a:miter/>
            <a:headEnd type="none" w="med" len="med"/>
            <a:tailEnd type="none" w="med" len="med"/>
          </a:ln>
        </p:spPr>
        <p:txBody>
          <a:bodyPr wrap="square" lIns="0" tIns="72000" rIns="0" bIns="72000" anchor="ctr">
            <a:spAutoFit/>
          </a:bodyPr>
          <a:p>
            <a:pPr>
              <a:lnSpc>
                <a:spcPct val="80000"/>
              </a:lnSpc>
              <a:spcBef>
                <a:spcPct val="50000"/>
              </a:spcBef>
            </a:pPr>
            <a:r>
              <a:rPr lang="zh-CN" altLang="en-US" dirty="0">
                <a:solidFill>
                  <a:srgbClr val="000099"/>
                </a:solidFill>
                <a:latin typeface="Times New Roman" panose="02020603050405020304" charset="0"/>
                <a:ea typeface="楷体_GB2312" panose="02010609030101010101" pitchFamily="49" charset="-122"/>
              </a:rPr>
              <a:t>精密参考电压</a:t>
            </a:r>
            <a:endParaRPr lang="zh-CN" altLang="en-US">
              <a:solidFill>
                <a:srgbClr val="000099"/>
              </a:solidFill>
              <a:latin typeface="Times New Roman" panose="02020603050405020304" charset="0"/>
              <a:ea typeface="楷体_GB2312" panose="02010609030101010101" pitchFamily="49" charset="-122"/>
            </a:endParaRPr>
          </a:p>
        </p:txBody>
      </p:sp>
      <p:sp>
        <p:nvSpPr>
          <p:cNvPr id="437265" name="椭圆形标注 437264"/>
          <p:cNvSpPr/>
          <p:nvPr/>
        </p:nvSpPr>
        <p:spPr>
          <a:xfrm>
            <a:off x="8032750" y="667714"/>
            <a:ext cx="1111250" cy="996292"/>
          </a:xfrm>
          <a:prstGeom prst="wedgeEllipseCallout">
            <a:avLst>
              <a:gd name="adj1" fmla="val -26514"/>
              <a:gd name="adj2" fmla="val 212937"/>
            </a:avLst>
          </a:prstGeom>
          <a:solidFill>
            <a:schemeClr val="bg2"/>
          </a:solidFill>
          <a:ln w="6350" cap="flat" cmpd="sng">
            <a:solidFill>
              <a:schemeClr val="accent1"/>
            </a:solidFill>
            <a:prstDash val="solid"/>
            <a:miter/>
            <a:headEnd type="none" w="med" len="med"/>
            <a:tailEnd type="none" w="med" len="med"/>
          </a:ln>
        </p:spPr>
        <p:txBody>
          <a:bodyPr wrap="square" lIns="0" tIns="72000" rIns="0" bIns="72000" anchor="ctr">
            <a:spAutoFit/>
          </a:bodyPr>
          <a:p>
            <a:pPr>
              <a:spcBef>
                <a:spcPct val="50000"/>
              </a:spcBef>
            </a:pPr>
            <a:r>
              <a:rPr lang="zh-CN" altLang="en-US" dirty="0">
                <a:solidFill>
                  <a:srgbClr val="000099"/>
                </a:solidFill>
                <a:latin typeface="Times New Roman" panose="02020603050405020304" charset="0"/>
                <a:ea typeface="楷体_GB2312" panose="02010609030101010101" pitchFamily="49" charset="-122"/>
              </a:rPr>
              <a:t>输出数字量</a:t>
            </a:r>
            <a:endParaRPr lang="zh-CN" altLang="en-US" dirty="0">
              <a:solidFill>
                <a:srgbClr val="000099"/>
              </a:solidFill>
              <a:latin typeface="Times New Roman" panose="02020603050405020304" charset="0"/>
              <a:ea typeface="楷体_GB2312" panose="02010609030101010101" pitchFamily="49" charset="-122"/>
            </a:endParaRPr>
          </a:p>
        </p:txBody>
      </p:sp>
      <p:sp>
        <p:nvSpPr>
          <p:cNvPr id="437258" name="文本框 437257"/>
          <p:cNvSpPr txBox="1"/>
          <p:nvPr/>
        </p:nvSpPr>
        <p:spPr>
          <a:xfrm>
            <a:off x="2792730" y="5396548"/>
            <a:ext cx="1235075" cy="385762"/>
          </a:xfrm>
          <a:prstGeom prst="rect">
            <a:avLst/>
          </a:prstGeom>
          <a:solidFill>
            <a:schemeClr val="bg1"/>
          </a:solidFill>
          <a:ln w="19050" cap="flat" cmpd="sng">
            <a:solidFill>
              <a:srgbClr val="FF0000"/>
            </a:solidFill>
            <a:prstDash val="solid"/>
            <a:miter/>
            <a:headEnd type="none" w="med" len="med"/>
            <a:tailEnd type="none" w="med" len="med"/>
          </a:ln>
        </p:spPr>
        <p:txBody>
          <a:bodyPr anchor="ctr">
            <a:spAutoFit/>
          </a:bodyPr>
          <a:p>
            <a:pPr>
              <a:spcBef>
                <a:spcPct val="50000"/>
              </a:spcBef>
            </a:pPr>
            <a:r>
              <a:rPr lang="en-US" altLang="zh-CN">
                <a:solidFill>
                  <a:srgbClr val="000099"/>
                </a:solidFill>
                <a:latin typeface="Times New Roman" panose="02020603050405020304" charset="0"/>
                <a:ea typeface="楷体_GB2312" panose="02010609030101010101" pitchFamily="49" charset="-122"/>
              </a:rPr>
              <a:t>V</a:t>
            </a:r>
            <a:r>
              <a:rPr lang="en-US" altLang="zh-CN" baseline="-25000">
                <a:solidFill>
                  <a:srgbClr val="000099"/>
                </a:solidFill>
                <a:latin typeface="Times New Roman" panose="02020603050405020304" charset="0"/>
                <a:ea typeface="楷体_GB2312" panose="02010609030101010101" pitchFamily="49" charset="-122"/>
              </a:rPr>
              <a:t>REF</a:t>
            </a:r>
            <a:r>
              <a:rPr lang="en-US" altLang="zh-CN">
                <a:solidFill>
                  <a:srgbClr val="000099"/>
                </a:solidFill>
                <a:latin typeface="Times New Roman" panose="02020603050405020304" charset="0"/>
                <a:ea typeface="楷体_GB2312" panose="02010609030101010101" pitchFamily="49" charset="-122"/>
              </a:rPr>
              <a:t>/15</a:t>
            </a:r>
            <a:endParaRPr lang="en-US" altLang="zh-CN" baseline="-25000">
              <a:solidFill>
                <a:srgbClr val="000099"/>
              </a:solidFill>
              <a:latin typeface="Times New Roman" panose="02020603050405020304" charset="0"/>
              <a:ea typeface="楷体_GB2312" panose="02010609030101010101" pitchFamily="49" charset="-122"/>
            </a:endParaRPr>
          </a:p>
        </p:txBody>
      </p:sp>
      <p:sp>
        <p:nvSpPr>
          <p:cNvPr id="437259" name="文本框 437258"/>
          <p:cNvSpPr txBox="1"/>
          <p:nvPr/>
        </p:nvSpPr>
        <p:spPr>
          <a:xfrm>
            <a:off x="2779713" y="4867275"/>
            <a:ext cx="1206500" cy="385763"/>
          </a:xfrm>
          <a:prstGeom prst="rect">
            <a:avLst/>
          </a:prstGeom>
          <a:solidFill>
            <a:schemeClr val="bg1"/>
          </a:solidFill>
          <a:ln w="19050" cap="flat" cmpd="sng">
            <a:solidFill>
              <a:srgbClr val="FF0000"/>
            </a:solidFill>
            <a:prstDash val="solid"/>
            <a:miter/>
            <a:headEnd type="none" w="med" len="med"/>
            <a:tailEnd type="none" w="med" len="med"/>
          </a:ln>
        </p:spPr>
        <p:txBody>
          <a:bodyPr anchor="ctr">
            <a:spAutoFit/>
          </a:bodyPr>
          <a:p>
            <a:pPr>
              <a:spcBef>
                <a:spcPct val="50000"/>
              </a:spcBef>
            </a:pPr>
            <a:r>
              <a:rPr lang="en-US" altLang="zh-CN">
                <a:solidFill>
                  <a:srgbClr val="000099"/>
                </a:solidFill>
                <a:latin typeface="Times New Roman" panose="02020603050405020304" charset="0"/>
                <a:ea typeface="楷体_GB2312" panose="02010609030101010101" pitchFamily="49" charset="-122"/>
              </a:rPr>
              <a:t>3V</a:t>
            </a:r>
            <a:r>
              <a:rPr lang="en-US" altLang="zh-CN" baseline="-25000">
                <a:solidFill>
                  <a:srgbClr val="000099"/>
                </a:solidFill>
                <a:latin typeface="Times New Roman" panose="02020603050405020304" charset="0"/>
                <a:ea typeface="楷体_GB2312" panose="02010609030101010101" pitchFamily="49" charset="-122"/>
              </a:rPr>
              <a:t>REF</a:t>
            </a:r>
            <a:r>
              <a:rPr lang="en-US" altLang="zh-CN">
                <a:solidFill>
                  <a:srgbClr val="000099"/>
                </a:solidFill>
                <a:latin typeface="Times New Roman" panose="02020603050405020304" charset="0"/>
                <a:ea typeface="楷体_GB2312" panose="02010609030101010101" pitchFamily="49" charset="-122"/>
              </a:rPr>
              <a:t>/15</a:t>
            </a:r>
            <a:endParaRPr lang="en-US" altLang="zh-CN" baseline="-25000">
              <a:solidFill>
                <a:srgbClr val="000099"/>
              </a:solidFill>
              <a:latin typeface="Times New Roman" panose="02020603050405020304" charset="0"/>
              <a:ea typeface="楷体_GB2312" panose="02010609030101010101" pitchFamily="49" charset="-122"/>
            </a:endParaRPr>
          </a:p>
        </p:txBody>
      </p:sp>
      <p:sp>
        <p:nvSpPr>
          <p:cNvPr id="437260" name="文本框 437259"/>
          <p:cNvSpPr txBox="1"/>
          <p:nvPr/>
        </p:nvSpPr>
        <p:spPr>
          <a:xfrm>
            <a:off x="2820353" y="3676333"/>
            <a:ext cx="1179512" cy="385762"/>
          </a:xfrm>
          <a:prstGeom prst="rect">
            <a:avLst/>
          </a:prstGeom>
          <a:solidFill>
            <a:schemeClr val="bg1"/>
          </a:solidFill>
          <a:ln w="19050" cap="flat" cmpd="sng">
            <a:solidFill>
              <a:srgbClr val="FF0000"/>
            </a:solidFill>
            <a:prstDash val="solid"/>
            <a:miter/>
            <a:headEnd type="none" w="med" len="med"/>
            <a:tailEnd type="none" w="med" len="med"/>
          </a:ln>
        </p:spPr>
        <p:txBody>
          <a:bodyPr anchor="ctr">
            <a:spAutoFit/>
          </a:bodyPr>
          <a:p>
            <a:pPr>
              <a:spcBef>
                <a:spcPct val="50000"/>
              </a:spcBef>
            </a:pPr>
            <a:r>
              <a:rPr lang="en-US" altLang="zh-CN">
                <a:solidFill>
                  <a:srgbClr val="000099"/>
                </a:solidFill>
                <a:latin typeface="Times New Roman" panose="02020603050405020304" charset="0"/>
                <a:ea typeface="楷体_GB2312" panose="02010609030101010101" pitchFamily="49" charset="-122"/>
              </a:rPr>
              <a:t>7V</a:t>
            </a:r>
            <a:r>
              <a:rPr lang="en-US" altLang="zh-CN" baseline="-25000">
                <a:solidFill>
                  <a:srgbClr val="000099"/>
                </a:solidFill>
                <a:latin typeface="Times New Roman" panose="02020603050405020304" charset="0"/>
                <a:ea typeface="楷体_GB2312" panose="02010609030101010101" pitchFamily="49" charset="-122"/>
              </a:rPr>
              <a:t>REF</a:t>
            </a:r>
            <a:r>
              <a:rPr lang="en-US" altLang="zh-CN">
                <a:solidFill>
                  <a:srgbClr val="000099"/>
                </a:solidFill>
                <a:latin typeface="Times New Roman" panose="02020603050405020304" charset="0"/>
                <a:ea typeface="楷体_GB2312" panose="02010609030101010101" pitchFamily="49" charset="-122"/>
              </a:rPr>
              <a:t>/15</a:t>
            </a:r>
            <a:endParaRPr lang="en-US" altLang="zh-CN" baseline="-25000">
              <a:solidFill>
                <a:srgbClr val="000099"/>
              </a:solidFill>
              <a:latin typeface="Times New Roman" panose="02020603050405020304" charset="0"/>
              <a:ea typeface="楷体_GB2312" panose="02010609030101010101" pitchFamily="49" charset="-122"/>
            </a:endParaRPr>
          </a:p>
        </p:txBody>
      </p:sp>
      <p:sp>
        <p:nvSpPr>
          <p:cNvPr id="437261" name="文本框 437260"/>
          <p:cNvSpPr txBox="1"/>
          <p:nvPr/>
        </p:nvSpPr>
        <p:spPr>
          <a:xfrm>
            <a:off x="2820353" y="3181350"/>
            <a:ext cx="1184275" cy="385763"/>
          </a:xfrm>
          <a:prstGeom prst="rect">
            <a:avLst/>
          </a:prstGeom>
          <a:solidFill>
            <a:schemeClr val="bg1"/>
          </a:solidFill>
          <a:ln w="19050" cap="flat" cmpd="sng">
            <a:solidFill>
              <a:srgbClr val="FF0000"/>
            </a:solidFill>
            <a:prstDash val="solid"/>
            <a:miter/>
            <a:headEnd type="none" w="med" len="med"/>
            <a:tailEnd type="none" w="med" len="med"/>
          </a:ln>
        </p:spPr>
        <p:txBody>
          <a:bodyPr anchor="ctr">
            <a:spAutoFit/>
          </a:bodyPr>
          <a:p>
            <a:pPr>
              <a:spcBef>
                <a:spcPct val="50000"/>
              </a:spcBef>
            </a:pPr>
            <a:r>
              <a:rPr lang="en-US" altLang="zh-CN">
                <a:solidFill>
                  <a:srgbClr val="000099"/>
                </a:solidFill>
                <a:latin typeface="Times New Roman" panose="02020603050405020304" charset="0"/>
                <a:ea typeface="楷体_GB2312" panose="02010609030101010101" pitchFamily="49" charset="-122"/>
              </a:rPr>
              <a:t>9V</a:t>
            </a:r>
            <a:r>
              <a:rPr lang="en-US" altLang="zh-CN" baseline="-25000">
                <a:solidFill>
                  <a:srgbClr val="000099"/>
                </a:solidFill>
                <a:latin typeface="Times New Roman" panose="02020603050405020304" charset="0"/>
                <a:ea typeface="楷体_GB2312" panose="02010609030101010101" pitchFamily="49" charset="-122"/>
              </a:rPr>
              <a:t>REF</a:t>
            </a:r>
            <a:r>
              <a:rPr lang="en-US" altLang="zh-CN">
                <a:solidFill>
                  <a:srgbClr val="000099"/>
                </a:solidFill>
                <a:latin typeface="Times New Roman" panose="02020603050405020304" charset="0"/>
                <a:ea typeface="楷体_GB2312" panose="02010609030101010101" pitchFamily="49" charset="-122"/>
              </a:rPr>
              <a:t>/15</a:t>
            </a:r>
            <a:endParaRPr lang="en-US" altLang="zh-CN" baseline="-25000">
              <a:solidFill>
                <a:srgbClr val="000099"/>
              </a:solidFill>
              <a:latin typeface="Times New Roman" panose="02020603050405020304" charset="0"/>
              <a:ea typeface="楷体_GB2312" panose="02010609030101010101" pitchFamily="49" charset="-122"/>
            </a:endParaRPr>
          </a:p>
        </p:txBody>
      </p:sp>
      <p:sp>
        <p:nvSpPr>
          <p:cNvPr id="437262" name="文本框 437261"/>
          <p:cNvSpPr txBox="1"/>
          <p:nvPr/>
        </p:nvSpPr>
        <p:spPr>
          <a:xfrm>
            <a:off x="2864168" y="2672715"/>
            <a:ext cx="1163637" cy="368300"/>
          </a:xfrm>
          <a:prstGeom prst="rect">
            <a:avLst/>
          </a:prstGeom>
          <a:solidFill>
            <a:schemeClr val="bg1"/>
          </a:solidFill>
          <a:ln w="19050" cap="flat" cmpd="sng">
            <a:solidFill>
              <a:srgbClr val="FF0000"/>
            </a:solidFill>
            <a:prstDash val="solid"/>
            <a:miter/>
            <a:headEnd type="none" w="med" len="med"/>
            <a:tailEnd type="none" w="med" len="med"/>
          </a:ln>
        </p:spPr>
        <p:txBody>
          <a:bodyPr wrap="square" anchor="ctr">
            <a:spAutoFit/>
          </a:bodyPr>
          <a:p>
            <a:pPr>
              <a:spcBef>
                <a:spcPct val="50000"/>
              </a:spcBef>
            </a:pPr>
            <a:r>
              <a:rPr lang="en-US" altLang="zh-CN">
                <a:solidFill>
                  <a:srgbClr val="000099"/>
                </a:solidFill>
                <a:latin typeface="Times New Roman" panose="02020603050405020304" charset="0"/>
                <a:ea typeface="楷体_GB2312" panose="02010609030101010101" pitchFamily="49" charset="-122"/>
              </a:rPr>
              <a:t>11V</a:t>
            </a:r>
            <a:r>
              <a:rPr lang="en-US" altLang="zh-CN" baseline="-25000">
                <a:solidFill>
                  <a:srgbClr val="000099"/>
                </a:solidFill>
                <a:latin typeface="Times New Roman" panose="02020603050405020304" charset="0"/>
                <a:ea typeface="楷体_GB2312" panose="02010609030101010101" pitchFamily="49" charset="-122"/>
              </a:rPr>
              <a:t>REF</a:t>
            </a:r>
            <a:r>
              <a:rPr lang="en-US" altLang="zh-CN">
                <a:solidFill>
                  <a:srgbClr val="000099"/>
                </a:solidFill>
                <a:latin typeface="Times New Roman" panose="02020603050405020304" charset="0"/>
                <a:ea typeface="楷体_GB2312" panose="02010609030101010101" pitchFamily="49" charset="-122"/>
              </a:rPr>
              <a:t>/15</a:t>
            </a:r>
            <a:endParaRPr lang="en-US" altLang="zh-CN" baseline="-25000">
              <a:solidFill>
                <a:srgbClr val="000099"/>
              </a:solidFill>
              <a:latin typeface="Times New Roman" panose="02020603050405020304" charset="0"/>
              <a:ea typeface="楷体_GB2312" panose="02010609030101010101" pitchFamily="49" charset="-122"/>
            </a:endParaRPr>
          </a:p>
        </p:txBody>
      </p:sp>
      <p:sp>
        <p:nvSpPr>
          <p:cNvPr id="437263" name="文本框 437262"/>
          <p:cNvSpPr txBox="1"/>
          <p:nvPr/>
        </p:nvSpPr>
        <p:spPr>
          <a:xfrm>
            <a:off x="2755900" y="4227513"/>
            <a:ext cx="1214438" cy="385762"/>
          </a:xfrm>
          <a:prstGeom prst="rect">
            <a:avLst/>
          </a:prstGeom>
          <a:solidFill>
            <a:schemeClr val="bg1"/>
          </a:solidFill>
          <a:ln w="19050" cap="flat" cmpd="sng">
            <a:solidFill>
              <a:srgbClr val="FF0000"/>
            </a:solidFill>
            <a:prstDash val="solid"/>
            <a:miter/>
            <a:headEnd type="none" w="med" len="med"/>
            <a:tailEnd type="none" w="med" len="med"/>
          </a:ln>
        </p:spPr>
        <p:txBody>
          <a:bodyPr anchor="ctr">
            <a:spAutoFit/>
          </a:bodyPr>
          <a:p>
            <a:pPr>
              <a:spcBef>
                <a:spcPct val="50000"/>
              </a:spcBef>
            </a:pPr>
            <a:r>
              <a:rPr lang="en-US" altLang="zh-CN">
                <a:solidFill>
                  <a:srgbClr val="000099"/>
                </a:solidFill>
                <a:latin typeface="Times New Roman" panose="02020603050405020304" charset="0"/>
                <a:ea typeface="楷体_GB2312" panose="02010609030101010101" pitchFamily="49" charset="-122"/>
              </a:rPr>
              <a:t>5V</a:t>
            </a:r>
            <a:r>
              <a:rPr lang="en-US" altLang="zh-CN" baseline="-25000">
                <a:solidFill>
                  <a:srgbClr val="000099"/>
                </a:solidFill>
                <a:latin typeface="Times New Roman" panose="02020603050405020304" charset="0"/>
                <a:ea typeface="楷体_GB2312" panose="02010609030101010101" pitchFamily="49" charset="-122"/>
              </a:rPr>
              <a:t>REF</a:t>
            </a:r>
            <a:r>
              <a:rPr lang="en-US" altLang="zh-CN">
                <a:solidFill>
                  <a:srgbClr val="000099"/>
                </a:solidFill>
                <a:latin typeface="Times New Roman" panose="02020603050405020304" charset="0"/>
                <a:ea typeface="楷体_GB2312" panose="02010609030101010101" pitchFamily="49" charset="-122"/>
              </a:rPr>
              <a:t>/15</a:t>
            </a:r>
            <a:endParaRPr lang="en-US" altLang="zh-CN" baseline="-25000">
              <a:solidFill>
                <a:srgbClr val="000099"/>
              </a:solidFill>
              <a:latin typeface="Times New Roman" panose="02020603050405020304" charset="0"/>
              <a:ea typeface="楷体_GB2312" panose="02010609030101010101" pitchFamily="49" charset="-122"/>
            </a:endParaRPr>
          </a:p>
        </p:txBody>
      </p:sp>
      <p:sp>
        <p:nvSpPr>
          <p:cNvPr id="437264" name="文本框 437263"/>
          <p:cNvSpPr txBox="1"/>
          <p:nvPr/>
        </p:nvSpPr>
        <p:spPr>
          <a:xfrm>
            <a:off x="2904808" y="2041843"/>
            <a:ext cx="1144587" cy="368300"/>
          </a:xfrm>
          <a:prstGeom prst="rect">
            <a:avLst/>
          </a:prstGeom>
          <a:solidFill>
            <a:schemeClr val="bg1"/>
          </a:solidFill>
          <a:ln w="19050" cap="flat" cmpd="sng">
            <a:solidFill>
              <a:srgbClr val="FF0000"/>
            </a:solidFill>
            <a:prstDash val="solid"/>
            <a:miter/>
            <a:headEnd type="none" w="med" len="med"/>
            <a:tailEnd type="none" w="med" len="med"/>
          </a:ln>
        </p:spPr>
        <p:txBody>
          <a:bodyPr wrap="square" anchor="ctr">
            <a:spAutoFit/>
          </a:bodyPr>
          <a:p>
            <a:pPr>
              <a:spcBef>
                <a:spcPct val="50000"/>
              </a:spcBef>
            </a:pPr>
            <a:r>
              <a:rPr lang="en-US" altLang="zh-CN">
                <a:solidFill>
                  <a:srgbClr val="000099"/>
                </a:solidFill>
                <a:latin typeface="Times New Roman" panose="02020603050405020304" charset="0"/>
                <a:ea typeface="楷体_GB2312" panose="02010609030101010101" pitchFamily="49" charset="-122"/>
              </a:rPr>
              <a:t>13V</a:t>
            </a:r>
            <a:r>
              <a:rPr lang="en-US" altLang="zh-CN" baseline="-25000">
                <a:solidFill>
                  <a:srgbClr val="000099"/>
                </a:solidFill>
                <a:latin typeface="Times New Roman" panose="02020603050405020304" charset="0"/>
                <a:ea typeface="楷体_GB2312" panose="02010609030101010101" pitchFamily="49" charset="-122"/>
              </a:rPr>
              <a:t>REF</a:t>
            </a:r>
            <a:r>
              <a:rPr lang="en-US" altLang="zh-CN">
                <a:solidFill>
                  <a:srgbClr val="000099"/>
                </a:solidFill>
                <a:latin typeface="Times New Roman" panose="02020603050405020304" charset="0"/>
                <a:ea typeface="楷体_GB2312" panose="02010609030101010101" pitchFamily="49" charset="-122"/>
              </a:rPr>
              <a:t>/15</a:t>
            </a:r>
            <a:endParaRPr lang="en-US" altLang="zh-CN" baseline="-25000">
              <a:solidFill>
                <a:srgbClr val="000099"/>
              </a:solidFill>
              <a:latin typeface="Times New Roman" panose="02020603050405020304" charset="0"/>
              <a:ea typeface="楷体_GB2312" panose="0201060903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37256"/>
                                        </p:tgtEl>
                                        <p:attrNameLst>
                                          <p:attrName>style.visibility</p:attrName>
                                        </p:attrNameLst>
                                      </p:cBhvr>
                                      <p:to>
                                        <p:strVal val="visible"/>
                                      </p:to>
                                    </p:set>
                                    <p:animEffect transition="in" filter="dissolve">
                                      <p:cBhvr>
                                        <p:cTn id="7" dur="500"/>
                                        <p:tgtEl>
                                          <p:spTgt spid="437256"/>
                                        </p:tgtEl>
                                      </p:cBhvr>
                                    </p:animEffect>
                                  </p:childTnLst>
                                  <p:subTnLst>
                                    <p:set>
                                      <p:cBhvr override="childStyle">
                                        <p:cTn dur="1" fill="hold" display="0" masterRel="nextClick" afterEffect="1"/>
                                        <p:tgtEl>
                                          <p:spTgt spid="437256"/>
                                        </p:tgtEl>
                                        <p:attrNameLst>
                                          <p:attrName>style.visibility</p:attrName>
                                        </p:attrNameLst>
                                      </p:cBhvr>
                                      <p:to>
                                        <p:strVal val="hidden"/>
                                      </p:to>
                                    </p:se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37257"/>
                                        </p:tgtEl>
                                        <p:attrNameLst>
                                          <p:attrName>style.visibility</p:attrName>
                                        </p:attrNameLst>
                                      </p:cBhvr>
                                      <p:to>
                                        <p:strVal val="visible"/>
                                      </p:to>
                                    </p:set>
                                    <p:animEffect transition="in" filter="dissolve">
                                      <p:cBhvr>
                                        <p:cTn id="12" dur="500"/>
                                        <p:tgtEl>
                                          <p:spTgt spid="437257"/>
                                        </p:tgtEl>
                                      </p:cBhvr>
                                    </p:animEffect>
                                  </p:childTnLst>
                                  <p:subTnLst>
                                    <p:set>
                                      <p:cBhvr override="childStyle">
                                        <p:cTn dur="1" fill="hold" display="0" masterRel="nextClick" afterEffect="1"/>
                                        <p:tgtEl>
                                          <p:spTgt spid="437257"/>
                                        </p:tgtEl>
                                        <p:attrNameLst>
                                          <p:attrName>style.visibility</p:attrName>
                                        </p:attrNameLst>
                                      </p:cBhvr>
                                      <p:to>
                                        <p:strVal val="hidden"/>
                                      </p:to>
                                    </p:set>
                                    <p:audio>
                                      <p:cMediaNode>
                                        <p:cTn display="0" masterRel="sameClick">
                                          <p:stCondLst>
                                            <p:cond evt="begin" delay="0">
                                              <p:tn val="10"/>
                                            </p:cond>
                                          </p:stCondLst>
                                          <p:endCondLst>
                                            <p:cond evt="onStopAudio" delay="0">
                                              <p:tgtEl>
                                                <p:sldTgt/>
                                              </p:tgtEl>
                                            </p:cond>
                                          </p:endCondLst>
                                        </p:cTn>
                                        <p:tgtEl>
                                          <p:sndTgt r:embed="rId2" name="CHIMES.WAV"/>
                                        </p:tgtEl>
                                      </p:cMediaNode>
                                    </p:audio>
                                  </p:sub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37255"/>
                                        </p:tgtEl>
                                        <p:attrNameLst>
                                          <p:attrName>style.visibility</p:attrName>
                                        </p:attrNameLst>
                                      </p:cBhvr>
                                      <p:to>
                                        <p:strVal val="visible"/>
                                      </p:to>
                                    </p:set>
                                    <p:animEffect transition="in" filter="dissolve">
                                      <p:cBhvr>
                                        <p:cTn id="17" dur="500"/>
                                        <p:tgtEl>
                                          <p:spTgt spid="437255"/>
                                        </p:tgtEl>
                                      </p:cBhvr>
                                    </p:animEffect>
                                  </p:childTnLst>
                                  <p:subTnLst>
                                    <p:set>
                                      <p:cBhvr override="childStyle">
                                        <p:cTn dur="1" fill="hold" display="0" masterRel="nextClick" afterEffect="1"/>
                                        <p:tgtEl>
                                          <p:spTgt spid="437255"/>
                                        </p:tgtEl>
                                        <p:attrNameLst>
                                          <p:attrName>style.visibility</p:attrName>
                                        </p:attrNameLst>
                                      </p:cBhvr>
                                      <p:to>
                                        <p:strVal val="hidden"/>
                                      </p:to>
                                    </p:set>
                                    <p:audio>
                                      <p:cMediaNode>
                                        <p:cTn display="0" masterRel="sameClick">
                                          <p:stCondLst>
                                            <p:cond evt="begin" delay="0">
                                              <p:tn val="15"/>
                                            </p:cond>
                                          </p:stCondLst>
                                          <p:endCondLst>
                                            <p:cond evt="onStopAudio" delay="0">
                                              <p:tgtEl>
                                                <p:sldTgt/>
                                              </p:tgtEl>
                                            </p:cond>
                                          </p:endCondLst>
                                        </p:cTn>
                                        <p:tgtEl>
                                          <p:sndTgt r:embed="rId2" name="CHIMES.WAV"/>
                                        </p:tgtEl>
                                      </p:cMediaNode>
                                    </p:audio>
                                  </p:sub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37254"/>
                                        </p:tgtEl>
                                        <p:attrNameLst>
                                          <p:attrName>style.visibility</p:attrName>
                                        </p:attrNameLst>
                                      </p:cBhvr>
                                      <p:to>
                                        <p:strVal val="visible"/>
                                      </p:to>
                                    </p:set>
                                    <p:animEffect transition="in" filter="dissolve">
                                      <p:cBhvr>
                                        <p:cTn id="22" dur="500"/>
                                        <p:tgtEl>
                                          <p:spTgt spid="437254"/>
                                        </p:tgtEl>
                                      </p:cBhvr>
                                    </p:animEffect>
                                  </p:childTnLst>
                                  <p:subTnLst>
                                    <p:set>
                                      <p:cBhvr override="childStyle">
                                        <p:cTn dur="1" fill="hold" display="0" masterRel="nextClick" afterEffect="1"/>
                                        <p:tgtEl>
                                          <p:spTgt spid="437254"/>
                                        </p:tgtEl>
                                        <p:attrNameLst>
                                          <p:attrName>style.visibility</p:attrName>
                                        </p:attrNameLst>
                                      </p:cBhvr>
                                      <p:to>
                                        <p:strVal val="hidden"/>
                                      </p:to>
                                    </p:set>
                                    <p:audio>
                                      <p:cMediaNode>
                                        <p:cTn display="0" masterRel="sameClick">
                                          <p:stCondLst>
                                            <p:cond evt="begin" delay="0">
                                              <p:tn val="20"/>
                                            </p:cond>
                                          </p:stCondLst>
                                          <p:endCondLst>
                                            <p:cond evt="onStopAudio" delay="0">
                                              <p:tgtEl>
                                                <p:sldTgt/>
                                              </p:tgtEl>
                                            </p:cond>
                                          </p:endCondLst>
                                        </p:cTn>
                                        <p:tgtEl>
                                          <p:sndTgt r:embed="rId2" name="CHIMES.WAV"/>
                                        </p:tgtEl>
                                      </p:cMediaNode>
                                    </p:audio>
                                  </p:sub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37265"/>
                                        </p:tgtEl>
                                        <p:attrNameLst>
                                          <p:attrName>style.visibility</p:attrName>
                                        </p:attrNameLst>
                                      </p:cBhvr>
                                      <p:to>
                                        <p:strVal val="visible"/>
                                      </p:to>
                                    </p:set>
                                    <p:animEffect transition="in" filter="dissolve">
                                      <p:cBhvr>
                                        <p:cTn id="27" dur="500"/>
                                        <p:tgtEl>
                                          <p:spTgt spid="437265"/>
                                        </p:tgtEl>
                                      </p:cBhvr>
                                    </p:animEffect>
                                  </p:childTnLst>
                                  <p:subTnLst>
                                    <p:set>
                                      <p:cBhvr override="childStyle">
                                        <p:cTn dur="1" fill="hold" display="0" masterRel="nextClick" afterEffect="1"/>
                                        <p:tgtEl>
                                          <p:spTgt spid="437265"/>
                                        </p:tgtEl>
                                        <p:attrNameLst>
                                          <p:attrName>style.visibility</p:attrName>
                                        </p:attrNameLst>
                                      </p:cBhvr>
                                      <p:to>
                                        <p:strVal val="hidden"/>
                                      </p:to>
                                    </p:set>
                                    <p:audio>
                                      <p:cMediaNode>
                                        <p:cTn display="0" masterRel="sameClick">
                                          <p:stCondLst>
                                            <p:cond evt="begin" delay="0">
                                              <p:tn val="25"/>
                                            </p:cond>
                                          </p:stCondLst>
                                          <p:endCondLst>
                                            <p:cond evt="onStopAudio" delay="0">
                                              <p:tgtEl>
                                                <p:sldTgt/>
                                              </p:tgtEl>
                                            </p:cond>
                                          </p:endCondLst>
                                        </p:cTn>
                                        <p:tgtEl>
                                          <p:sndTgt r:embed="rId2" name="CHIMES.WAV"/>
                                        </p:tgtEl>
                                      </p:cMediaNode>
                                    </p:audio>
                                  </p:sub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37258"/>
                                        </p:tgtEl>
                                        <p:attrNameLst>
                                          <p:attrName>style.visibility</p:attrName>
                                        </p:attrNameLst>
                                      </p:cBhvr>
                                      <p:to>
                                        <p:strVal val="visible"/>
                                      </p:to>
                                    </p:set>
                                    <p:animEffect transition="in" filter="wipe(left)">
                                      <p:cBhvr>
                                        <p:cTn id="32" dur="500"/>
                                        <p:tgtEl>
                                          <p:spTgt spid="437258"/>
                                        </p:tgtEl>
                                      </p:cBhvr>
                                    </p:animEffect>
                                  </p:childTnLst>
                                </p:cTn>
                              </p:par>
                            </p:childTnLst>
                          </p:cTn>
                        </p:par>
                        <p:par>
                          <p:cTn id="33" fill="hold">
                            <p:stCondLst>
                              <p:cond delay="500"/>
                            </p:stCondLst>
                            <p:childTnLst>
                              <p:par>
                                <p:cTn id="34" presetID="22" presetClass="entr" presetSubtype="8" fill="hold" grpId="0" nodeType="afterEffect">
                                  <p:stCondLst>
                                    <p:cond delay="1000"/>
                                  </p:stCondLst>
                                  <p:childTnLst>
                                    <p:set>
                                      <p:cBhvr>
                                        <p:cTn id="35" dur="1" fill="hold">
                                          <p:stCondLst>
                                            <p:cond delay="0"/>
                                          </p:stCondLst>
                                        </p:cTn>
                                        <p:tgtEl>
                                          <p:spTgt spid="437259"/>
                                        </p:tgtEl>
                                        <p:attrNameLst>
                                          <p:attrName>style.visibility</p:attrName>
                                        </p:attrNameLst>
                                      </p:cBhvr>
                                      <p:to>
                                        <p:strVal val="visible"/>
                                      </p:to>
                                    </p:set>
                                    <p:animEffect transition="in" filter="wipe(left)">
                                      <p:cBhvr>
                                        <p:cTn id="36" dur="500"/>
                                        <p:tgtEl>
                                          <p:spTgt spid="437259"/>
                                        </p:tgtEl>
                                      </p:cBhvr>
                                    </p:animEffect>
                                  </p:childTnLst>
                                </p:cTn>
                              </p:par>
                            </p:childTnLst>
                          </p:cTn>
                        </p:par>
                        <p:par>
                          <p:cTn id="37" fill="hold">
                            <p:stCondLst>
                              <p:cond delay="2000"/>
                            </p:stCondLst>
                            <p:childTnLst>
                              <p:par>
                                <p:cTn id="38" presetID="22" presetClass="entr" presetSubtype="8" fill="hold" grpId="0" nodeType="afterEffect">
                                  <p:stCondLst>
                                    <p:cond delay="1000"/>
                                  </p:stCondLst>
                                  <p:childTnLst>
                                    <p:set>
                                      <p:cBhvr>
                                        <p:cTn id="39" dur="1" fill="hold">
                                          <p:stCondLst>
                                            <p:cond delay="0"/>
                                          </p:stCondLst>
                                        </p:cTn>
                                        <p:tgtEl>
                                          <p:spTgt spid="437263"/>
                                        </p:tgtEl>
                                        <p:attrNameLst>
                                          <p:attrName>style.visibility</p:attrName>
                                        </p:attrNameLst>
                                      </p:cBhvr>
                                      <p:to>
                                        <p:strVal val="visible"/>
                                      </p:to>
                                    </p:set>
                                    <p:animEffect transition="in" filter="wipe(left)">
                                      <p:cBhvr>
                                        <p:cTn id="40" dur="500"/>
                                        <p:tgtEl>
                                          <p:spTgt spid="437263"/>
                                        </p:tgtEl>
                                      </p:cBhvr>
                                    </p:animEffect>
                                  </p:childTnLst>
                                </p:cTn>
                              </p:par>
                            </p:childTnLst>
                          </p:cTn>
                        </p:par>
                        <p:par>
                          <p:cTn id="41" fill="hold">
                            <p:stCondLst>
                              <p:cond delay="3500"/>
                            </p:stCondLst>
                            <p:childTnLst>
                              <p:par>
                                <p:cTn id="42" presetID="22" presetClass="entr" presetSubtype="8" fill="hold" grpId="0" nodeType="afterEffect">
                                  <p:stCondLst>
                                    <p:cond delay="1000"/>
                                  </p:stCondLst>
                                  <p:childTnLst>
                                    <p:set>
                                      <p:cBhvr>
                                        <p:cTn id="43" dur="1" fill="hold">
                                          <p:stCondLst>
                                            <p:cond delay="0"/>
                                          </p:stCondLst>
                                        </p:cTn>
                                        <p:tgtEl>
                                          <p:spTgt spid="437260"/>
                                        </p:tgtEl>
                                        <p:attrNameLst>
                                          <p:attrName>style.visibility</p:attrName>
                                        </p:attrNameLst>
                                      </p:cBhvr>
                                      <p:to>
                                        <p:strVal val="visible"/>
                                      </p:to>
                                    </p:set>
                                    <p:animEffect transition="in" filter="wipe(left)">
                                      <p:cBhvr>
                                        <p:cTn id="44" dur="500"/>
                                        <p:tgtEl>
                                          <p:spTgt spid="437260"/>
                                        </p:tgtEl>
                                      </p:cBhvr>
                                    </p:animEffect>
                                  </p:childTnLst>
                                </p:cTn>
                              </p:par>
                            </p:childTnLst>
                          </p:cTn>
                        </p:par>
                        <p:par>
                          <p:cTn id="45" fill="hold">
                            <p:stCondLst>
                              <p:cond delay="5000"/>
                            </p:stCondLst>
                            <p:childTnLst>
                              <p:par>
                                <p:cTn id="46" presetID="22" presetClass="entr" presetSubtype="8" fill="hold" grpId="0" nodeType="afterEffect">
                                  <p:stCondLst>
                                    <p:cond delay="1000"/>
                                  </p:stCondLst>
                                  <p:childTnLst>
                                    <p:set>
                                      <p:cBhvr>
                                        <p:cTn id="47" dur="1" fill="hold">
                                          <p:stCondLst>
                                            <p:cond delay="0"/>
                                          </p:stCondLst>
                                        </p:cTn>
                                        <p:tgtEl>
                                          <p:spTgt spid="437261"/>
                                        </p:tgtEl>
                                        <p:attrNameLst>
                                          <p:attrName>style.visibility</p:attrName>
                                        </p:attrNameLst>
                                      </p:cBhvr>
                                      <p:to>
                                        <p:strVal val="visible"/>
                                      </p:to>
                                    </p:set>
                                    <p:animEffect transition="in" filter="wipe(left)">
                                      <p:cBhvr>
                                        <p:cTn id="48" dur="500"/>
                                        <p:tgtEl>
                                          <p:spTgt spid="437261"/>
                                        </p:tgtEl>
                                      </p:cBhvr>
                                    </p:animEffect>
                                  </p:childTnLst>
                                </p:cTn>
                              </p:par>
                            </p:childTnLst>
                          </p:cTn>
                        </p:par>
                        <p:par>
                          <p:cTn id="49" fill="hold">
                            <p:stCondLst>
                              <p:cond delay="6500"/>
                            </p:stCondLst>
                            <p:childTnLst>
                              <p:par>
                                <p:cTn id="50" presetID="22" presetClass="entr" presetSubtype="8" fill="hold" grpId="0" nodeType="afterEffect">
                                  <p:stCondLst>
                                    <p:cond delay="1000"/>
                                  </p:stCondLst>
                                  <p:childTnLst>
                                    <p:set>
                                      <p:cBhvr>
                                        <p:cTn id="51" dur="1" fill="hold">
                                          <p:stCondLst>
                                            <p:cond delay="0"/>
                                          </p:stCondLst>
                                        </p:cTn>
                                        <p:tgtEl>
                                          <p:spTgt spid="437262"/>
                                        </p:tgtEl>
                                        <p:attrNameLst>
                                          <p:attrName>style.visibility</p:attrName>
                                        </p:attrNameLst>
                                      </p:cBhvr>
                                      <p:to>
                                        <p:strVal val="visible"/>
                                      </p:to>
                                    </p:set>
                                    <p:animEffect transition="in" filter="wipe(left)">
                                      <p:cBhvr>
                                        <p:cTn id="52" dur="500"/>
                                        <p:tgtEl>
                                          <p:spTgt spid="437262"/>
                                        </p:tgtEl>
                                      </p:cBhvr>
                                    </p:animEffect>
                                  </p:childTnLst>
                                </p:cTn>
                              </p:par>
                            </p:childTnLst>
                          </p:cTn>
                        </p:par>
                        <p:par>
                          <p:cTn id="53" fill="hold">
                            <p:stCondLst>
                              <p:cond delay="8000"/>
                            </p:stCondLst>
                            <p:childTnLst>
                              <p:par>
                                <p:cTn id="54" presetID="22" presetClass="entr" presetSubtype="8" fill="hold" grpId="0" nodeType="afterEffect">
                                  <p:stCondLst>
                                    <p:cond delay="1000"/>
                                  </p:stCondLst>
                                  <p:childTnLst>
                                    <p:set>
                                      <p:cBhvr>
                                        <p:cTn id="55" dur="1" fill="hold">
                                          <p:stCondLst>
                                            <p:cond delay="0"/>
                                          </p:stCondLst>
                                        </p:cTn>
                                        <p:tgtEl>
                                          <p:spTgt spid="437264"/>
                                        </p:tgtEl>
                                        <p:attrNameLst>
                                          <p:attrName>style.visibility</p:attrName>
                                        </p:attrNameLst>
                                      </p:cBhvr>
                                      <p:to>
                                        <p:strVal val="visible"/>
                                      </p:to>
                                    </p:set>
                                    <p:animEffect transition="in" filter="wipe(left)">
                                      <p:cBhvr>
                                        <p:cTn id="56" dur="500"/>
                                        <p:tgtEl>
                                          <p:spTgt spid="4372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7254" grpId="0" bldLvl="0" animBg="1"/>
      <p:bldP spid="437255" grpId="0" bldLvl="0" animBg="1"/>
      <p:bldP spid="437256" grpId="0" bldLvl="0" animBg="1"/>
      <p:bldP spid="437257" grpId="0" bldLvl="0" animBg="1"/>
      <p:bldP spid="437265" grpId="0" bldLvl="0" animBg="1"/>
      <p:bldP spid="437258" grpId="0" bldLvl="0" animBg="1"/>
      <p:bldP spid="437259" grpId="0" bldLvl="0" animBg="1"/>
      <p:bldP spid="437260" grpId="0" bldLvl="0" animBg="1"/>
      <p:bldP spid="437261" grpId="0" bldLvl="0" animBg="1"/>
      <p:bldP spid="437262" grpId="0" bldLvl="0" animBg="1"/>
      <p:bldP spid="437263" grpId="0" bldLvl="0" animBg="1"/>
      <p:bldP spid="437264"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1891030" y="49911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9.3 </a:t>
            </a:r>
            <a:r>
              <a:rPr lang="en-US" altLang="zh-CN" b="1" dirty="0">
                <a:solidFill>
                  <a:srgbClr val="FF0000"/>
                </a:solidFill>
                <a:latin typeface="黑体" panose="02010609060101010101" pitchFamily="49" charset="-122"/>
                <a:ea typeface="黑体" panose="02010609060101010101" pitchFamily="49" charset="-122"/>
                <a:sym typeface="+mn-ea"/>
              </a:rPr>
              <a:t>A/D转换电路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2" name="文本框 101"/>
          <p:cNvSpPr txBox="1"/>
          <p:nvPr/>
        </p:nvSpPr>
        <p:spPr>
          <a:xfrm>
            <a:off x="1813560" y="1196975"/>
            <a:ext cx="6408420" cy="398780"/>
          </a:xfrm>
          <a:prstGeom prst="rect">
            <a:avLst/>
          </a:prstGeom>
          <a:noFill/>
          <a:ln w="9525">
            <a:noFill/>
          </a:ln>
        </p:spPr>
        <p:txBody>
          <a:bodyPr wrap="square">
            <a:spAutoFit/>
          </a:bodyPr>
          <a:p>
            <a:r>
              <a:rPr lang="en-US" sz="2000" b="1">
                <a:latin typeface="Times New Roman" panose="02020603050405020304" charset="0"/>
                <a:ea typeface="宋体" panose="02010600030101010101" pitchFamily="2" charset="-122"/>
              </a:rPr>
              <a:t>3</a:t>
            </a:r>
            <a:r>
              <a:rPr lang="zh-CN" sz="2000" b="1">
                <a:ea typeface="宋体" panose="02010600030101010101" pitchFamily="2" charset="-122"/>
              </a:rPr>
              <a:t>位并行</a:t>
            </a:r>
            <a:r>
              <a:rPr lang="en-US" sz="2000" b="1">
                <a:latin typeface="Times New Roman" panose="02020603050405020304" charset="0"/>
                <a:ea typeface="宋体" panose="02010600030101010101" pitchFamily="2" charset="-122"/>
              </a:rPr>
              <a:t>A/D</a:t>
            </a:r>
            <a:r>
              <a:rPr lang="zh-CN" sz="2000" b="1">
                <a:ea typeface="宋体" panose="02010600030101010101" pitchFamily="2" charset="-122"/>
              </a:rPr>
              <a:t>转换器输入与输出转换关系对照表</a:t>
            </a:r>
            <a:endParaRPr lang="zh-CN" altLang="en-US" sz="2000" b="1"/>
          </a:p>
        </p:txBody>
      </p:sp>
      <p:pic>
        <p:nvPicPr>
          <p:cNvPr id="2" name="图片 1"/>
          <p:cNvPicPr>
            <a:picLocks noChangeAspect="1"/>
          </p:cNvPicPr>
          <p:nvPr/>
        </p:nvPicPr>
        <p:blipFill>
          <a:blip r:embed="rId1"/>
          <a:stretch>
            <a:fillRect/>
          </a:stretch>
        </p:blipFill>
        <p:spPr>
          <a:xfrm>
            <a:off x="882015" y="1595755"/>
            <a:ext cx="7908290" cy="49168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1891030" y="49911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9.3 </a:t>
            </a:r>
            <a:r>
              <a:rPr lang="en-US" altLang="zh-CN" b="1" dirty="0">
                <a:solidFill>
                  <a:srgbClr val="FF0000"/>
                </a:solidFill>
                <a:latin typeface="黑体" panose="02010609060101010101" pitchFamily="49" charset="-122"/>
                <a:ea typeface="黑体" panose="02010609060101010101" pitchFamily="49" charset="-122"/>
                <a:sym typeface="+mn-ea"/>
              </a:rPr>
              <a:t>A/D转换电路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2" name="文本框 101"/>
          <p:cNvSpPr txBox="1"/>
          <p:nvPr/>
        </p:nvSpPr>
        <p:spPr>
          <a:xfrm>
            <a:off x="323215" y="1167765"/>
            <a:ext cx="8728075" cy="706755"/>
          </a:xfrm>
          <a:prstGeom prst="rect">
            <a:avLst/>
          </a:prstGeom>
          <a:noFill/>
          <a:ln w="9525">
            <a:noFill/>
          </a:ln>
        </p:spPr>
        <p:txBody>
          <a:bodyPr wrap="square">
            <a:spAutoFit/>
          </a:bodyPr>
          <a:p>
            <a:pPr indent="267970"/>
            <a:r>
              <a:rPr lang="zh-CN" sz="2000" b="1">
                <a:gradFill>
                  <a:gsLst>
                    <a:gs pos="0">
                      <a:srgbClr val="012D86"/>
                    </a:gs>
                    <a:gs pos="100000">
                      <a:srgbClr val="0E2557"/>
                    </a:gs>
                  </a:gsLst>
                  <a:lin scaled="0"/>
                </a:gradFill>
                <a:ea typeface="宋体" panose="02010600030101010101" pitchFamily="2" charset="-122"/>
              </a:rPr>
              <a:t>【例</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9-</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1</a:t>
            </a:r>
            <a:r>
              <a:rPr lang="zh-CN" sz="2000" b="1">
                <a:gradFill>
                  <a:gsLst>
                    <a:gs pos="0">
                      <a:srgbClr val="012D86"/>
                    </a:gs>
                    <a:gs pos="100000">
                      <a:srgbClr val="0E2557"/>
                    </a:gs>
                  </a:gsLst>
                  <a:lin scaled="0"/>
                </a:gradFill>
                <a:ea typeface="宋体" panose="02010600030101010101" pitchFamily="2" charset="-122"/>
              </a:rPr>
              <a:t>】图</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9-</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20</a:t>
            </a:r>
            <a:r>
              <a:rPr lang="zh-CN" sz="2000" b="1">
                <a:gradFill>
                  <a:gsLst>
                    <a:gs pos="0">
                      <a:srgbClr val="012D86"/>
                    </a:gs>
                    <a:gs pos="100000">
                      <a:srgbClr val="0E2557"/>
                    </a:gs>
                  </a:gsLst>
                  <a:lin scaled="0"/>
                </a:gradFill>
                <a:ea typeface="宋体" panose="02010600030101010101" pitchFamily="2" charset="-122"/>
              </a:rPr>
              <a:t>中，已知</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V</a:t>
            </a:r>
            <a:r>
              <a:rPr 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REF</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=6V</a:t>
            </a:r>
            <a:r>
              <a:rPr lang="zh-CN" sz="2000" b="1">
                <a:gradFill>
                  <a:gsLst>
                    <a:gs pos="0">
                      <a:srgbClr val="012D86"/>
                    </a:gs>
                    <a:gs pos="100000">
                      <a:srgbClr val="0E2557"/>
                    </a:gs>
                  </a:gsLst>
                  <a:lin scaled="0"/>
                </a:gradFill>
                <a:ea typeface="宋体" panose="02010600030101010101" pitchFamily="2" charset="-122"/>
              </a:rPr>
              <a:t>，输入模拟电压</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v</a:t>
            </a:r>
            <a:r>
              <a:rPr 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I</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=3.4V</a:t>
            </a:r>
            <a:r>
              <a:rPr lang="zh-CN" sz="2000" b="1">
                <a:gradFill>
                  <a:gsLst>
                    <a:gs pos="0">
                      <a:srgbClr val="012D86"/>
                    </a:gs>
                    <a:gs pos="100000">
                      <a:srgbClr val="0E2557"/>
                    </a:gs>
                  </a:gsLst>
                  <a:lin scaled="0"/>
                </a:gradFill>
                <a:ea typeface="宋体" panose="02010600030101010101" pitchFamily="2" charset="-122"/>
              </a:rPr>
              <a:t>，试确定</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3</a:t>
            </a:r>
            <a:r>
              <a:rPr lang="zh-CN" sz="2000" b="1">
                <a:gradFill>
                  <a:gsLst>
                    <a:gs pos="0">
                      <a:srgbClr val="012D86"/>
                    </a:gs>
                    <a:gs pos="100000">
                      <a:srgbClr val="0E2557"/>
                    </a:gs>
                  </a:gsLst>
                  <a:lin scaled="0"/>
                </a:gradFill>
                <a:ea typeface="宋体" panose="02010600030101010101" pitchFamily="2" charset="-122"/>
              </a:rPr>
              <a:t>位并行比较型</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A/D</a:t>
            </a:r>
            <a:r>
              <a:rPr lang="zh-CN" sz="2000" b="1">
                <a:gradFill>
                  <a:gsLst>
                    <a:gs pos="0">
                      <a:srgbClr val="012D86"/>
                    </a:gs>
                    <a:gs pos="100000">
                      <a:srgbClr val="0E2557"/>
                    </a:gs>
                  </a:gsLst>
                  <a:lin scaled="0"/>
                </a:gradFill>
                <a:ea typeface="宋体" panose="02010600030101010101" pitchFamily="2" charset="-122"/>
              </a:rPr>
              <a:t>转换器的输出数码。</a:t>
            </a:r>
            <a:endParaRPr lang="zh-CN" altLang="en-US" sz="2000" b="1">
              <a:gradFill>
                <a:gsLst>
                  <a:gs pos="0">
                    <a:srgbClr val="012D86"/>
                  </a:gs>
                  <a:gs pos="100000">
                    <a:srgbClr val="0E2557"/>
                  </a:gs>
                </a:gsLst>
                <a:lin scaled="0"/>
              </a:gradFill>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42545" y="2019300"/>
            <a:ext cx="9101455" cy="943610"/>
          </a:xfrm>
          <a:prstGeom prst="rect">
            <a:avLst/>
          </a:prstGeom>
        </p:spPr>
      </p:pic>
      <p:pic>
        <p:nvPicPr>
          <p:cNvPr id="3" name="图片 2"/>
          <p:cNvPicPr>
            <a:picLocks noChangeAspect="1"/>
          </p:cNvPicPr>
          <p:nvPr/>
        </p:nvPicPr>
        <p:blipFill>
          <a:blip r:embed="rId2"/>
          <a:stretch>
            <a:fillRect/>
          </a:stretch>
        </p:blipFill>
        <p:spPr>
          <a:xfrm>
            <a:off x="605790" y="3107690"/>
            <a:ext cx="6547485" cy="641985"/>
          </a:xfrm>
          <a:prstGeom prst="rect">
            <a:avLst/>
          </a:prstGeom>
        </p:spPr>
      </p:pic>
      <p:pic>
        <p:nvPicPr>
          <p:cNvPr id="4" name="图片 3"/>
          <p:cNvPicPr>
            <a:picLocks noChangeAspect="1"/>
          </p:cNvPicPr>
          <p:nvPr/>
        </p:nvPicPr>
        <p:blipFill>
          <a:blip r:embed="rId3"/>
          <a:srcRect l="1331"/>
          <a:stretch>
            <a:fillRect/>
          </a:stretch>
        </p:blipFill>
        <p:spPr>
          <a:xfrm>
            <a:off x="709295" y="3858260"/>
            <a:ext cx="5733415" cy="672465"/>
          </a:xfrm>
          <a:prstGeom prst="rect">
            <a:avLst/>
          </a:prstGeom>
        </p:spPr>
      </p:pic>
      <p:sp>
        <p:nvSpPr>
          <p:cNvPr id="5" name="文本框 4"/>
          <p:cNvSpPr txBox="1"/>
          <p:nvPr/>
        </p:nvSpPr>
        <p:spPr>
          <a:xfrm>
            <a:off x="709295" y="4652010"/>
            <a:ext cx="6635750" cy="460375"/>
          </a:xfrm>
          <a:prstGeom prst="rect">
            <a:avLst/>
          </a:prstGeom>
          <a:noFill/>
          <a:ln w="9525">
            <a:noFill/>
          </a:ln>
        </p:spPr>
        <p:txBody>
          <a:bodyPr wrap="square">
            <a:spAutoFit/>
          </a:bodyPr>
          <a:p>
            <a:r>
              <a:rPr lang="zh-CN" sz="2400" b="1">
                <a:gradFill>
                  <a:gsLst>
                    <a:gs pos="0">
                      <a:srgbClr val="012D86"/>
                    </a:gs>
                    <a:gs pos="100000">
                      <a:srgbClr val="0E2557"/>
                    </a:gs>
                  </a:gsLst>
                  <a:lin scaled="0"/>
                </a:gradFill>
                <a:ea typeface="宋体" panose="02010600030101010101" pitchFamily="2" charset="-122"/>
              </a:rPr>
              <a:t>对照表</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9-</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1</a:t>
            </a:r>
            <a:r>
              <a:rPr lang="zh-CN" sz="2400" b="1">
                <a:gradFill>
                  <a:gsLst>
                    <a:gs pos="0">
                      <a:srgbClr val="012D86"/>
                    </a:gs>
                    <a:gs pos="100000">
                      <a:srgbClr val="0E2557"/>
                    </a:gs>
                  </a:gsLst>
                  <a:lin scaled="0"/>
                </a:gradFill>
                <a:ea typeface="宋体" panose="02010600030101010101" pitchFamily="2" charset="-122"/>
              </a:rPr>
              <a:t>相应范围可知输出数码为</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100</a:t>
            </a:r>
            <a:r>
              <a:rPr lang="zh-CN" sz="2400" b="1">
                <a:gradFill>
                  <a:gsLst>
                    <a:gs pos="0">
                      <a:srgbClr val="012D86"/>
                    </a:gs>
                    <a:gs pos="100000">
                      <a:srgbClr val="0E2557"/>
                    </a:gs>
                  </a:gsLst>
                  <a:lin scaled="0"/>
                </a:gradFill>
                <a:ea typeface="宋体" panose="02010600030101010101" pitchFamily="2" charset="-122"/>
              </a:rPr>
              <a:t>。</a:t>
            </a:r>
            <a:endParaRPr lang="zh-CN" altLang="en-US" sz="2400" b="1">
              <a:gradFill>
                <a:gsLst>
                  <a:gs pos="0">
                    <a:srgbClr val="012D86"/>
                  </a:gs>
                  <a:gs pos="100000">
                    <a:srgbClr val="0E2557"/>
                  </a:gs>
                </a:gsLst>
                <a:lin scaled="0"/>
              </a:gra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1891030" y="49911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9.3 </a:t>
            </a:r>
            <a:r>
              <a:rPr lang="en-US" altLang="zh-CN" b="1" dirty="0">
                <a:solidFill>
                  <a:srgbClr val="FF0000"/>
                </a:solidFill>
                <a:latin typeface="黑体" panose="02010609060101010101" pitchFamily="49" charset="-122"/>
                <a:ea typeface="黑体" panose="02010609060101010101" pitchFamily="49" charset="-122"/>
                <a:sym typeface="+mn-ea"/>
              </a:rPr>
              <a:t>A/D转换电路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6146" name="Rectangle 2"/>
          <p:cNvSpPr>
            <a:spLocks noGrp="1"/>
          </p:cNvSpPr>
          <p:nvPr>
            <p:ph type="title"/>
          </p:nvPr>
        </p:nvSpPr>
        <p:spPr>
          <a:xfrm>
            <a:off x="848360" y="1013778"/>
            <a:ext cx="5257800" cy="868362"/>
          </a:xfrm>
        </p:spPr>
        <p:txBody>
          <a:bodyPr vert="horz" wrap="square" lIns="91440" tIns="45720" rIns="91440" bIns="45720" anchor="ctr" anchorCtr="0"/>
          <a:p>
            <a:pPr algn="l" eaLnBrk="1" hangingPunct="1"/>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9</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3</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3</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 </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逐次比较型</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A/D转换器</a:t>
            </a:r>
            <a:endPar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endParaRPr>
          </a:p>
        </p:txBody>
      </p:sp>
      <p:sp>
        <p:nvSpPr>
          <p:cNvPr id="437266" name="矩形 437265"/>
          <p:cNvSpPr/>
          <p:nvPr/>
        </p:nvSpPr>
        <p:spPr>
          <a:xfrm>
            <a:off x="848043" y="1676400"/>
            <a:ext cx="2376487" cy="460375"/>
          </a:xfrm>
          <a:prstGeom prst="rect">
            <a:avLst/>
          </a:prstGeom>
          <a:solidFill>
            <a:schemeClr val="bg1"/>
          </a:solidFill>
          <a:ln w="9525">
            <a:noFill/>
          </a:ln>
        </p:spPr>
        <p:txBody>
          <a:bodyPr>
            <a:spAutoFit/>
          </a:bodyPr>
          <a:p>
            <a:pPr algn="l">
              <a:spcBef>
                <a:spcPct val="50000"/>
              </a:spcBef>
            </a:pPr>
            <a:r>
              <a:rPr lang="en-US" altLang="zh-CN" sz="2400" b="1" dirty="0">
                <a:solidFill>
                  <a:schemeClr val="tx1"/>
                </a:solidFill>
                <a:latin typeface="Times New Roman" panose="02020603050405020304" charset="0"/>
                <a:ea typeface="楷体_GB2312" panose="02010609030101010101" pitchFamily="49" charset="-122"/>
              </a:rPr>
              <a:t>(1)</a:t>
            </a:r>
            <a:r>
              <a:rPr lang="zh-CN" altLang="en-US" sz="2400" b="1" dirty="0">
                <a:solidFill>
                  <a:schemeClr val="tx1"/>
                </a:solidFill>
                <a:latin typeface="Times New Roman" panose="02020603050405020304" charset="0"/>
                <a:ea typeface="楷体_GB2312" panose="02010609030101010101" pitchFamily="49" charset="-122"/>
              </a:rPr>
              <a:t>电路组成</a:t>
            </a:r>
            <a:endParaRPr lang="zh-CN" altLang="en-US" sz="2400" b="1" dirty="0">
              <a:solidFill>
                <a:schemeClr val="tx1"/>
              </a:solidFill>
              <a:latin typeface="Times New Roman" panose="02020603050405020304" charset="0"/>
              <a:ea typeface="楷体_GB2312" panose="02010609030101010101" pitchFamily="49" charset="-122"/>
            </a:endParaRPr>
          </a:p>
        </p:txBody>
      </p:sp>
      <p:pic>
        <p:nvPicPr>
          <p:cNvPr id="9503" name="图片 2940"/>
          <p:cNvPicPr>
            <a:picLocks noChangeAspect="1"/>
          </p:cNvPicPr>
          <p:nvPr/>
        </p:nvPicPr>
        <p:blipFill>
          <a:blip r:embed="rId1"/>
          <a:stretch>
            <a:fillRect/>
          </a:stretch>
        </p:blipFill>
        <p:spPr>
          <a:xfrm>
            <a:off x="0" y="2320925"/>
            <a:ext cx="5633720" cy="2842260"/>
          </a:xfrm>
          <a:prstGeom prst="rect">
            <a:avLst/>
          </a:prstGeom>
          <a:noFill/>
          <a:ln>
            <a:noFill/>
          </a:ln>
        </p:spPr>
      </p:pic>
      <p:sp>
        <p:nvSpPr>
          <p:cNvPr id="102" name="文本框 101"/>
          <p:cNvSpPr txBox="1"/>
          <p:nvPr/>
        </p:nvSpPr>
        <p:spPr>
          <a:xfrm>
            <a:off x="5452745" y="1270635"/>
            <a:ext cx="3761740" cy="5015865"/>
          </a:xfrm>
          <a:prstGeom prst="rect">
            <a:avLst/>
          </a:prstGeom>
          <a:noFill/>
          <a:ln w="9525">
            <a:noFill/>
          </a:ln>
        </p:spPr>
        <p:txBody>
          <a:bodyPr wrap="square">
            <a:spAutoFit/>
          </a:bodyPr>
          <a:p>
            <a:r>
              <a:rPr lang="zh-CN" sz="2000" b="1">
                <a:gradFill>
                  <a:gsLst>
                    <a:gs pos="0">
                      <a:srgbClr val="012D86"/>
                    </a:gs>
                    <a:gs pos="100000">
                      <a:srgbClr val="0E2557"/>
                    </a:gs>
                  </a:gsLst>
                  <a:lin scaled="0"/>
                </a:gradFill>
                <a:ea typeface="宋体" panose="02010600030101010101" pitchFamily="2" charset="-122"/>
              </a:rPr>
              <a:t>将大小不同的参考电压与输入模拟电压逐一进行比较，比较结果用相应的二进制代码表示。转换前先将寄存器清零；启动脉冲由低电平变为高电平时开始转换，控制逻辑将寄存器的最高位置成</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1</a:t>
            </a:r>
            <a:r>
              <a:rPr lang="zh-CN" sz="2000" b="1">
                <a:gradFill>
                  <a:gsLst>
                    <a:gs pos="0">
                      <a:srgbClr val="012D86"/>
                    </a:gs>
                    <a:gs pos="100000">
                      <a:srgbClr val="0E2557"/>
                    </a:gs>
                  </a:gsLst>
                  <a:lin scaled="0"/>
                </a:gradFill>
                <a:ea typeface="宋体" panose="02010600030101010101" pitchFamily="2" charset="-122"/>
              </a:rPr>
              <a:t>，使寄存器的输出为</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100…000</a:t>
            </a:r>
            <a:r>
              <a:rPr lang="zh-CN" sz="2000" b="1">
                <a:gradFill>
                  <a:gsLst>
                    <a:gs pos="0">
                      <a:srgbClr val="012D86"/>
                    </a:gs>
                    <a:gs pos="100000">
                      <a:srgbClr val="0E2557"/>
                    </a:gs>
                  </a:gsLst>
                  <a:lin scaled="0"/>
                </a:gradFill>
                <a:ea typeface="宋体" panose="02010600030101010101" pitchFamily="2" charset="-122"/>
              </a:rPr>
              <a:t>。这个数码被</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D/A</a:t>
            </a:r>
            <a:r>
              <a:rPr lang="zh-CN" sz="2000" b="1">
                <a:gradFill>
                  <a:gsLst>
                    <a:gs pos="0">
                      <a:srgbClr val="012D86"/>
                    </a:gs>
                    <a:gs pos="100000">
                      <a:srgbClr val="0E2557"/>
                    </a:gs>
                  </a:gsLst>
                  <a:lin scaled="0"/>
                </a:gradFill>
                <a:ea typeface="宋体" panose="02010600030101010101" pitchFamily="2" charset="-122"/>
              </a:rPr>
              <a:t>转换器转换成相应的模拟电压</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v</a:t>
            </a:r>
            <a:r>
              <a:rPr 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O</a:t>
            </a:r>
            <a:r>
              <a:rPr lang="zh-CN" sz="2000" b="1">
                <a:gradFill>
                  <a:gsLst>
                    <a:gs pos="0">
                      <a:srgbClr val="012D86"/>
                    </a:gs>
                    <a:gs pos="100000">
                      <a:srgbClr val="0E2557"/>
                    </a:gs>
                  </a:gsLst>
                  <a:lin scaled="0"/>
                </a:gradFill>
                <a:ea typeface="宋体" panose="02010600030101010101" pitchFamily="2" charset="-122"/>
              </a:rPr>
              <a:t>，送到比较器与输入信号</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v</a:t>
            </a:r>
            <a:r>
              <a:rPr 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I</a:t>
            </a:r>
            <a:r>
              <a:rPr lang="zh-CN" sz="2000" b="1">
                <a:gradFill>
                  <a:gsLst>
                    <a:gs pos="0">
                      <a:srgbClr val="012D86"/>
                    </a:gs>
                    <a:gs pos="100000">
                      <a:srgbClr val="0E2557"/>
                    </a:gs>
                  </a:gsLst>
                  <a:lin scaled="0"/>
                </a:gradFill>
                <a:ea typeface="宋体" panose="02010600030101010101" pitchFamily="2" charset="-122"/>
              </a:rPr>
              <a:t>进行比较。如果</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v</a:t>
            </a:r>
            <a:r>
              <a:rPr 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O</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&gt;</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v</a:t>
            </a:r>
            <a:r>
              <a:rPr 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I</a:t>
            </a:r>
            <a:r>
              <a:rPr lang="zh-CN" sz="2000" b="1">
                <a:gradFill>
                  <a:gsLst>
                    <a:gs pos="0">
                      <a:srgbClr val="012D86"/>
                    </a:gs>
                    <a:gs pos="100000">
                      <a:srgbClr val="0E2557"/>
                    </a:gs>
                  </a:gsLst>
                  <a:lin scaled="0"/>
                </a:gradFill>
                <a:ea typeface="宋体" panose="02010600030101010101" pitchFamily="2" charset="-122"/>
              </a:rPr>
              <a:t>，说明寄存器输出数码过大，故将这个</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1</a:t>
            </a:r>
            <a:r>
              <a:rPr lang="zh-CN" sz="2000" b="1">
                <a:gradFill>
                  <a:gsLst>
                    <a:gs pos="0">
                      <a:srgbClr val="012D86"/>
                    </a:gs>
                    <a:gs pos="100000">
                      <a:srgbClr val="0E2557"/>
                    </a:gs>
                  </a:gsLst>
                  <a:lin scaled="0"/>
                </a:gradFill>
                <a:ea typeface="宋体" panose="02010600030101010101" pitchFamily="2" charset="-122"/>
              </a:rPr>
              <a:t>变成</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0</a:t>
            </a:r>
            <a:r>
              <a:rPr lang="zh-CN" sz="2000" b="1">
                <a:gradFill>
                  <a:gsLst>
                    <a:gs pos="0">
                      <a:srgbClr val="012D86"/>
                    </a:gs>
                    <a:gs pos="100000">
                      <a:srgbClr val="0E2557"/>
                    </a:gs>
                  </a:gsLst>
                  <a:lin scaled="0"/>
                </a:gradFill>
                <a:ea typeface="宋体" panose="02010600030101010101" pitchFamily="2" charset="-122"/>
              </a:rPr>
              <a:t>，同时将下一位置</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1</a:t>
            </a:r>
            <a:r>
              <a:rPr lang="zh-CN" sz="2000" b="1">
                <a:gradFill>
                  <a:gsLst>
                    <a:gs pos="0">
                      <a:srgbClr val="012D86"/>
                    </a:gs>
                    <a:gs pos="100000">
                      <a:srgbClr val="0E2557"/>
                    </a:gs>
                  </a:gsLst>
                  <a:lin scaled="0"/>
                </a:gradFill>
                <a:ea typeface="宋体" panose="02010600030101010101" pitchFamily="2" charset="-122"/>
              </a:rPr>
              <a:t>；如果</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v</a:t>
            </a:r>
            <a:r>
              <a:rPr 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O</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&lt;</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v</a:t>
            </a:r>
            <a:r>
              <a:rPr 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I</a:t>
            </a:r>
            <a:r>
              <a:rPr lang="zh-CN" sz="2000" b="1">
                <a:gradFill>
                  <a:gsLst>
                    <a:gs pos="0">
                      <a:srgbClr val="012D86"/>
                    </a:gs>
                    <a:gs pos="100000">
                      <a:srgbClr val="0E2557"/>
                    </a:gs>
                  </a:gsLst>
                  <a:lin scaled="0"/>
                </a:gradFill>
                <a:ea typeface="宋体" panose="02010600030101010101" pitchFamily="2" charset="-122"/>
              </a:rPr>
              <a:t>，说明寄存器输出数码还不够大，这一位的</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1</a:t>
            </a:r>
            <a:r>
              <a:rPr lang="zh-CN" sz="2000" b="1">
                <a:gradFill>
                  <a:gsLst>
                    <a:gs pos="0">
                      <a:srgbClr val="012D86"/>
                    </a:gs>
                    <a:gs pos="100000">
                      <a:srgbClr val="0E2557"/>
                    </a:gs>
                  </a:gsLst>
                  <a:lin scaled="0"/>
                </a:gradFill>
                <a:ea typeface="宋体" panose="02010600030101010101" pitchFamily="2" charset="-122"/>
              </a:rPr>
              <a:t>应保留，依此类推将下一位置</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1</a:t>
            </a:r>
            <a:r>
              <a:rPr lang="zh-CN" sz="2000" b="1">
                <a:gradFill>
                  <a:gsLst>
                    <a:gs pos="0">
                      <a:srgbClr val="012D86"/>
                    </a:gs>
                    <a:gs pos="100000">
                      <a:srgbClr val="0E2557"/>
                    </a:gs>
                  </a:gsLst>
                  <a:lin scaled="0"/>
                </a:gradFill>
                <a:ea typeface="宋体" panose="02010600030101010101" pitchFamily="2" charset="-122"/>
              </a:rPr>
              <a:t>进行比较，直到最低位比较完为此。</a:t>
            </a:r>
            <a:endParaRPr lang="zh-CN" altLang="en-US" sz="2000" b="1">
              <a:gradFill>
                <a:gsLst>
                  <a:gs pos="0">
                    <a:srgbClr val="012D86"/>
                  </a:gs>
                  <a:gs pos="100000">
                    <a:srgbClr val="0E2557"/>
                  </a:gs>
                </a:gsLst>
                <a:lin scaled="0"/>
              </a:gra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blinds(horizontal)">
                                      <p:cBhvr>
                                        <p:cTn id="7" dur="5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1891030" y="49911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9.3 </a:t>
            </a:r>
            <a:r>
              <a:rPr lang="en-US" altLang="zh-CN" b="1" dirty="0">
                <a:solidFill>
                  <a:srgbClr val="FF0000"/>
                </a:solidFill>
                <a:latin typeface="黑体" panose="02010609060101010101" pitchFamily="49" charset="-122"/>
                <a:ea typeface="黑体" panose="02010609060101010101" pitchFamily="49" charset="-122"/>
                <a:sym typeface="+mn-ea"/>
              </a:rPr>
              <a:t>A/D转换电路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2" name="文本框 101"/>
          <p:cNvSpPr txBox="1"/>
          <p:nvPr/>
        </p:nvSpPr>
        <p:spPr>
          <a:xfrm>
            <a:off x="648335" y="1151255"/>
            <a:ext cx="8319770" cy="1014730"/>
          </a:xfrm>
          <a:prstGeom prst="rect">
            <a:avLst/>
          </a:prstGeom>
          <a:noFill/>
          <a:ln w="9525">
            <a:noFill/>
          </a:ln>
        </p:spPr>
        <p:txBody>
          <a:bodyPr wrap="square">
            <a:spAutoFit/>
          </a:bodyPr>
          <a:p>
            <a:pPr indent="267970"/>
            <a:r>
              <a:rPr lang="zh-CN" sz="2000" b="1">
                <a:gradFill>
                  <a:gsLst>
                    <a:gs pos="0">
                      <a:srgbClr val="012D86"/>
                    </a:gs>
                    <a:gs pos="100000">
                      <a:srgbClr val="0E2557"/>
                    </a:gs>
                  </a:gsLst>
                  <a:lin scaled="0"/>
                </a:gradFill>
                <a:ea typeface="宋体" panose="02010600030101010101" pitchFamily="2" charset="-122"/>
              </a:rPr>
              <a:t>【例</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9-</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2</a:t>
            </a:r>
            <a:r>
              <a:rPr lang="zh-CN" sz="2000" b="1">
                <a:gradFill>
                  <a:gsLst>
                    <a:gs pos="0">
                      <a:srgbClr val="012D86"/>
                    </a:gs>
                    <a:gs pos="100000">
                      <a:srgbClr val="0E2557"/>
                    </a:gs>
                  </a:gsLst>
                  <a:lin scaled="0"/>
                </a:gradFill>
                <a:ea typeface="宋体" panose="02010600030101010101" pitchFamily="2" charset="-122"/>
              </a:rPr>
              <a:t>】一个四位逐次比较型</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A/D</a:t>
            </a:r>
            <a:r>
              <a:rPr lang="zh-CN" sz="2000" b="1">
                <a:gradFill>
                  <a:gsLst>
                    <a:gs pos="0">
                      <a:srgbClr val="012D86"/>
                    </a:gs>
                    <a:gs pos="100000">
                      <a:srgbClr val="0E2557"/>
                    </a:gs>
                  </a:gsLst>
                  <a:lin scaled="0"/>
                </a:gradFill>
                <a:ea typeface="宋体" panose="02010600030101010101" pitchFamily="2" charset="-122"/>
              </a:rPr>
              <a:t>转换器，输入满量程电压为</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5V</a:t>
            </a:r>
            <a:r>
              <a:rPr lang="zh-CN" sz="2000" b="1">
                <a:gradFill>
                  <a:gsLst>
                    <a:gs pos="0">
                      <a:srgbClr val="012D86"/>
                    </a:gs>
                    <a:gs pos="100000">
                      <a:srgbClr val="0E2557"/>
                    </a:gs>
                  </a:gsLst>
                  <a:lin scaled="0"/>
                </a:gradFill>
                <a:ea typeface="宋体" panose="02010600030101010101" pitchFamily="2" charset="-122"/>
              </a:rPr>
              <a:t>，输入模拟电压</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v</a:t>
            </a:r>
            <a:r>
              <a:rPr 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I</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=4.58V</a:t>
            </a:r>
            <a:r>
              <a:rPr lang="zh-CN" sz="2000" b="1">
                <a:gradFill>
                  <a:gsLst>
                    <a:gs pos="0">
                      <a:srgbClr val="012D86"/>
                    </a:gs>
                    <a:gs pos="100000">
                      <a:srgbClr val="0E2557"/>
                    </a:gs>
                  </a:gsLst>
                  <a:lin scaled="0"/>
                </a:gradFill>
                <a:ea typeface="宋体" panose="02010600030101010101" pitchFamily="2" charset="-122"/>
              </a:rPr>
              <a:t>。求：</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①</a:t>
            </a:r>
            <a:r>
              <a:rPr lang="zh-CN" sz="2000" b="1">
                <a:gradFill>
                  <a:gsLst>
                    <a:gs pos="0">
                      <a:srgbClr val="012D86"/>
                    </a:gs>
                    <a:gs pos="100000">
                      <a:srgbClr val="0E2557"/>
                    </a:gs>
                  </a:gsLst>
                  <a:lin scaled="0"/>
                </a:gradFill>
                <a:ea typeface="宋体" panose="02010600030101010101" pitchFamily="2" charset="-122"/>
              </a:rPr>
              <a:t>逐次比较型</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A/D</a:t>
            </a:r>
            <a:r>
              <a:rPr lang="zh-CN" sz="2000" b="1">
                <a:gradFill>
                  <a:gsLst>
                    <a:gs pos="0">
                      <a:srgbClr val="012D86"/>
                    </a:gs>
                    <a:gs pos="100000">
                      <a:srgbClr val="0E2557"/>
                    </a:gs>
                  </a:gsLst>
                  <a:lin scaled="0"/>
                </a:gradFill>
                <a:ea typeface="宋体" panose="02010600030101010101" pitchFamily="2" charset="-122"/>
              </a:rPr>
              <a:t>转换器的输出数码；</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②</a:t>
            </a:r>
            <a:r>
              <a:rPr lang="zh-CN" sz="2000" b="1">
                <a:gradFill>
                  <a:gsLst>
                    <a:gs pos="0">
                      <a:srgbClr val="012D86"/>
                    </a:gs>
                    <a:gs pos="100000">
                      <a:srgbClr val="0E2557"/>
                    </a:gs>
                  </a:gsLst>
                  <a:lin scaled="0"/>
                </a:gradFill>
                <a:ea typeface="宋体" panose="02010600030101010101" pitchFamily="2" charset="-122"/>
              </a:rPr>
              <a:t>转换误差是多少。</a:t>
            </a:r>
            <a:endParaRPr lang="zh-CN" altLang="en-US" sz="2000" b="1">
              <a:gradFill>
                <a:gsLst>
                  <a:gs pos="0">
                    <a:srgbClr val="012D86"/>
                  </a:gs>
                  <a:gs pos="100000">
                    <a:srgbClr val="0E2557"/>
                  </a:gs>
                </a:gsLst>
                <a:lin scaled="0"/>
              </a:gradFill>
              <a:ea typeface="宋体" panose="02010600030101010101" pitchFamily="2" charset="-122"/>
            </a:endParaRPr>
          </a:p>
        </p:txBody>
      </p:sp>
      <p:sp>
        <p:nvSpPr>
          <p:cNvPr id="2" name="文本框 1"/>
          <p:cNvSpPr txBox="1"/>
          <p:nvPr/>
        </p:nvSpPr>
        <p:spPr>
          <a:xfrm>
            <a:off x="812165" y="2054225"/>
            <a:ext cx="7992745" cy="706755"/>
          </a:xfrm>
          <a:prstGeom prst="rect">
            <a:avLst/>
          </a:prstGeom>
          <a:noFill/>
          <a:ln w="9525">
            <a:noFill/>
          </a:ln>
        </p:spPr>
        <p:txBody>
          <a:bodyPr wrap="square">
            <a:spAutoFit/>
          </a:bodyPr>
          <a:p>
            <a:pPr indent="267970"/>
            <a:r>
              <a:rPr lang="zh-CN" sz="2000" b="1">
                <a:solidFill>
                  <a:schemeClr val="accent6">
                    <a:lumMod val="60000"/>
                    <a:lumOff val="40000"/>
                  </a:schemeClr>
                </a:solidFill>
                <a:ea typeface="宋体" panose="02010600030101010101" pitchFamily="2" charset="-122"/>
              </a:rPr>
              <a:t>解</a:t>
            </a:r>
            <a:r>
              <a:rPr lang="zh-CN" sz="2000" b="1">
                <a:gradFill>
                  <a:gsLst>
                    <a:gs pos="0">
                      <a:srgbClr val="012D86"/>
                    </a:gs>
                    <a:gs pos="100000">
                      <a:srgbClr val="0E2557"/>
                    </a:gs>
                  </a:gsLst>
                  <a:lin scaled="0"/>
                </a:gradFill>
                <a:ea typeface="宋体" panose="02010600030101010101" pitchFamily="2" charset="-122"/>
              </a:rPr>
              <a:t>：</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①</a:t>
            </a:r>
            <a:r>
              <a:rPr lang="zh-CN" sz="2000" b="1">
                <a:gradFill>
                  <a:gsLst>
                    <a:gs pos="0">
                      <a:srgbClr val="012D86"/>
                    </a:gs>
                    <a:gs pos="100000">
                      <a:srgbClr val="0E2557"/>
                    </a:gs>
                  </a:gsLst>
                  <a:lin scaled="0"/>
                </a:gradFill>
                <a:ea typeface="宋体" panose="02010600030101010101" pitchFamily="2" charset="-122"/>
              </a:rPr>
              <a:t>第一步：使寄存器的状态为</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1000</a:t>
            </a:r>
            <a:r>
              <a:rPr lang="zh-CN" sz="2000" b="1">
                <a:gradFill>
                  <a:gsLst>
                    <a:gs pos="0">
                      <a:srgbClr val="012D86"/>
                    </a:gs>
                    <a:gs pos="100000">
                      <a:srgbClr val="0E2557"/>
                    </a:gs>
                  </a:gsLst>
                  <a:lin scaled="0"/>
                </a:gradFill>
                <a:ea typeface="宋体" panose="02010600030101010101" pitchFamily="2" charset="-122"/>
              </a:rPr>
              <a:t>，由式</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9-</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13)</a:t>
            </a:r>
            <a:r>
              <a:rPr lang="zh-CN" sz="2000" b="1">
                <a:gradFill>
                  <a:gsLst>
                    <a:gs pos="0">
                      <a:srgbClr val="012D86"/>
                    </a:gs>
                    <a:gs pos="100000">
                      <a:srgbClr val="0E2557"/>
                    </a:gs>
                  </a:gsLst>
                  <a:lin scaled="0"/>
                </a:gradFill>
                <a:ea typeface="宋体" panose="02010600030101010101" pitchFamily="2" charset="-122"/>
              </a:rPr>
              <a:t>可得：送入</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D/A</a:t>
            </a:r>
            <a:r>
              <a:rPr lang="zh-CN" sz="2000" b="1">
                <a:gradFill>
                  <a:gsLst>
                    <a:gs pos="0">
                      <a:srgbClr val="012D86"/>
                    </a:gs>
                    <a:gs pos="100000">
                      <a:srgbClr val="0E2557"/>
                    </a:gs>
                  </a:gsLst>
                  <a:lin scaled="0"/>
                </a:gradFill>
                <a:ea typeface="宋体" panose="02010600030101010101" pitchFamily="2" charset="-122"/>
              </a:rPr>
              <a:t>转换器得到模拟电压输出为</a:t>
            </a:r>
            <a:endParaRPr lang="zh-CN" altLang="en-US" sz="2000" b="1">
              <a:gradFill>
                <a:gsLst>
                  <a:gs pos="0">
                    <a:srgbClr val="012D86"/>
                  </a:gs>
                  <a:gs pos="100000">
                    <a:srgbClr val="0E2557"/>
                  </a:gs>
                </a:gsLst>
                <a:lin scaled="0"/>
              </a:gradFill>
              <a:ea typeface="宋体" panose="02010600030101010101" pitchFamily="2" charset="-122"/>
            </a:endParaRPr>
          </a:p>
        </p:txBody>
      </p:sp>
      <p:pic>
        <p:nvPicPr>
          <p:cNvPr id="3" name="图片 2"/>
          <p:cNvPicPr>
            <a:picLocks noChangeAspect="1"/>
          </p:cNvPicPr>
          <p:nvPr/>
        </p:nvPicPr>
        <p:blipFill>
          <a:blip r:embed="rId1"/>
          <a:srcRect t="11529"/>
          <a:stretch>
            <a:fillRect/>
          </a:stretch>
        </p:blipFill>
        <p:spPr>
          <a:xfrm>
            <a:off x="4161155" y="2458085"/>
            <a:ext cx="2895600" cy="716280"/>
          </a:xfrm>
          <a:prstGeom prst="rect">
            <a:avLst/>
          </a:prstGeom>
        </p:spPr>
      </p:pic>
      <p:sp>
        <p:nvSpPr>
          <p:cNvPr id="4" name="文本框 3"/>
          <p:cNvSpPr txBox="1"/>
          <p:nvPr/>
        </p:nvSpPr>
        <p:spPr>
          <a:xfrm>
            <a:off x="1891030" y="3174365"/>
            <a:ext cx="5080000" cy="398780"/>
          </a:xfrm>
          <a:prstGeom prst="rect">
            <a:avLst/>
          </a:prstGeom>
          <a:noFill/>
          <a:ln w="9525">
            <a:noFill/>
          </a:ln>
        </p:spPr>
        <p:txBody>
          <a:bodyPr>
            <a:spAutoFit/>
          </a:bodyPr>
          <a:p>
            <a:pPr indent="266700"/>
            <a:r>
              <a:rPr lang="zh-CN" sz="2000" b="1">
                <a:ea typeface="宋体" panose="02010600030101010101" pitchFamily="2" charset="-122"/>
              </a:rPr>
              <a:t>因为</a:t>
            </a:r>
            <a:r>
              <a:rPr lang="en-US" sz="2000" b="1" i="1">
                <a:latin typeface="Times New Roman" panose="02020603050405020304" charset="0"/>
                <a:ea typeface="宋体" panose="02010600030101010101" pitchFamily="2" charset="-122"/>
              </a:rPr>
              <a:t>v</a:t>
            </a:r>
            <a:r>
              <a:rPr lang="en-US" sz="2000" b="1" baseline="-25000">
                <a:latin typeface="Times New Roman" panose="02020603050405020304" charset="0"/>
                <a:ea typeface="宋体" panose="02010600030101010101" pitchFamily="2" charset="-122"/>
              </a:rPr>
              <a:t>O</a:t>
            </a:r>
            <a:r>
              <a:rPr lang="en-US" sz="2000" b="1">
                <a:latin typeface="Times New Roman" panose="02020603050405020304" charset="0"/>
                <a:ea typeface="宋体" panose="02010600030101010101" pitchFamily="2" charset="-122"/>
              </a:rPr>
              <a:t>&lt;</a:t>
            </a:r>
            <a:r>
              <a:rPr lang="en-US" sz="2000" b="1" i="1">
                <a:latin typeface="Times New Roman" panose="02020603050405020304" charset="0"/>
                <a:ea typeface="宋体" panose="02010600030101010101" pitchFamily="2" charset="-122"/>
              </a:rPr>
              <a:t>v</a:t>
            </a:r>
            <a:r>
              <a:rPr lang="en-US" sz="2000" b="1" baseline="-25000">
                <a:latin typeface="Times New Roman" panose="02020603050405020304" charset="0"/>
                <a:ea typeface="宋体" panose="02010600030101010101" pitchFamily="2" charset="-122"/>
              </a:rPr>
              <a:t>I</a:t>
            </a:r>
            <a:r>
              <a:rPr lang="zh-CN" sz="2000" b="1">
                <a:ea typeface="宋体" panose="02010600030101010101" pitchFamily="2" charset="-122"/>
              </a:rPr>
              <a:t>，所以寄存器最高位的</a:t>
            </a:r>
            <a:r>
              <a:rPr lang="en-US" sz="2000" b="1">
                <a:latin typeface="Times New Roman" panose="02020603050405020304" charset="0"/>
                <a:ea typeface="宋体" panose="02010600030101010101" pitchFamily="2" charset="-122"/>
              </a:rPr>
              <a:t>1</a:t>
            </a:r>
            <a:r>
              <a:rPr lang="zh-CN" sz="2000" b="1">
                <a:ea typeface="宋体" panose="02010600030101010101" pitchFamily="2" charset="-122"/>
              </a:rPr>
              <a:t>保留。</a:t>
            </a:r>
            <a:endParaRPr lang="zh-CN" altLang="en-US" sz="2000" b="1"/>
          </a:p>
        </p:txBody>
      </p:sp>
      <p:sp>
        <p:nvSpPr>
          <p:cNvPr id="5" name="文本框 4"/>
          <p:cNvSpPr txBox="1"/>
          <p:nvPr/>
        </p:nvSpPr>
        <p:spPr>
          <a:xfrm>
            <a:off x="1259205" y="3573145"/>
            <a:ext cx="7323455" cy="398780"/>
          </a:xfrm>
          <a:prstGeom prst="rect">
            <a:avLst/>
          </a:prstGeom>
          <a:noFill/>
          <a:ln w="9525">
            <a:noFill/>
          </a:ln>
        </p:spPr>
        <p:txBody>
          <a:bodyPr wrap="square">
            <a:spAutoFit/>
          </a:bodyPr>
          <a:p>
            <a:r>
              <a:rPr lang="zh-CN" sz="2000" b="1">
                <a:gradFill>
                  <a:gsLst>
                    <a:gs pos="0">
                      <a:srgbClr val="012D86"/>
                    </a:gs>
                    <a:gs pos="100000">
                      <a:srgbClr val="0E2557"/>
                    </a:gs>
                  </a:gsLst>
                  <a:lin scaled="0"/>
                </a:gradFill>
                <a:ea typeface="宋体" panose="02010600030101010101" pitchFamily="2" charset="-122"/>
              </a:rPr>
              <a:t>第二步：寄存器的状态为</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1100</a:t>
            </a:r>
            <a:r>
              <a:rPr lang="zh-CN" sz="2000" b="1">
                <a:gradFill>
                  <a:gsLst>
                    <a:gs pos="0">
                      <a:srgbClr val="012D86"/>
                    </a:gs>
                    <a:gs pos="100000">
                      <a:srgbClr val="0E2557"/>
                    </a:gs>
                  </a:gsLst>
                  <a:lin scaled="0"/>
                </a:gradFill>
                <a:ea typeface="宋体" panose="02010600030101010101" pitchFamily="2" charset="-122"/>
              </a:rPr>
              <a:t>，经</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D/A</a:t>
            </a:r>
            <a:r>
              <a:rPr lang="zh-CN" sz="2000" b="1">
                <a:gradFill>
                  <a:gsLst>
                    <a:gs pos="0">
                      <a:srgbClr val="012D86"/>
                    </a:gs>
                    <a:gs pos="100000">
                      <a:srgbClr val="0E2557"/>
                    </a:gs>
                  </a:gsLst>
                  <a:lin scaled="0"/>
                </a:gradFill>
                <a:ea typeface="宋体" panose="02010600030101010101" pitchFamily="2" charset="-122"/>
              </a:rPr>
              <a:t>转换器后输出电压</a:t>
            </a:r>
            <a:endParaRPr lang="zh-CN" altLang="en-US" sz="2000" b="1">
              <a:gradFill>
                <a:gsLst>
                  <a:gs pos="0">
                    <a:srgbClr val="012D86"/>
                  </a:gs>
                  <a:gs pos="100000">
                    <a:srgbClr val="0E2557"/>
                  </a:gs>
                </a:gsLst>
                <a:lin scaled="0"/>
              </a:gradFill>
              <a:ea typeface="宋体" panose="02010600030101010101" pitchFamily="2" charset="-122"/>
            </a:endParaRPr>
          </a:p>
        </p:txBody>
      </p:sp>
      <p:pic>
        <p:nvPicPr>
          <p:cNvPr id="6" name="图片 5"/>
          <p:cNvPicPr>
            <a:picLocks noChangeAspect="1"/>
          </p:cNvPicPr>
          <p:nvPr/>
        </p:nvPicPr>
        <p:blipFill>
          <a:blip r:embed="rId2"/>
          <a:srcRect t="9935"/>
          <a:stretch>
            <a:fillRect/>
          </a:stretch>
        </p:blipFill>
        <p:spPr>
          <a:xfrm>
            <a:off x="2952750" y="3882390"/>
            <a:ext cx="3238500" cy="875030"/>
          </a:xfrm>
          <a:prstGeom prst="rect">
            <a:avLst/>
          </a:prstGeom>
        </p:spPr>
      </p:pic>
      <p:sp>
        <p:nvSpPr>
          <p:cNvPr id="7" name="文本框 6"/>
          <p:cNvSpPr txBox="1"/>
          <p:nvPr/>
        </p:nvSpPr>
        <p:spPr>
          <a:xfrm>
            <a:off x="2268855" y="4656455"/>
            <a:ext cx="5080000" cy="398780"/>
          </a:xfrm>
          <a:prstGeom prst="rect">
            <a:avLst/>
          </a:prstGeom>
          <a:noFill/>
          <a:ln w="9525">
            <a:noFill/>
          </a:ln>
        </p:spPr>
        <p:txBody>
          <a:bodyPr>
            <a:spAutoFit/>
          </a:bodyPr>
          <a:p>
            <a:r>
              <a:rPr lang="zh-CN" sz="2000" b="1">
                <a:ea typeface="宋体" panose="02010600030101010101" pitchFamily="2" charset="-122"/>
              </a:rPr>
              <a:t>因为</a:t>
            </a:r>
            <a:r>
              <a:rPr lang="en-US" sz="2000" b="1" i="1">
                <a:latin typeface="Times New Roman" panose="02020603050405020304" charset="0"/>
                <a:ea typeface="宋体" panose="02010600030101010101" pitchFamily="2" charset="-122"/>
              </a:rPr>
              <a:t>v</a:t>
            </a:r>
            <a:r>
              <a:rPr lang="en-US" sz="2000" b="1" baseline="-25000">
                <a:latin typeface="Times New Roman" panose="02020603050405020304" charset="0"/>
                <a:ea typeface="宋体" panose="02010600030101010101" pitchFamily="2" charset="-122"/>
              </a:rPr>
              <a:t>O</a:t>
            </a:r>
            <a:r>
              <a:rPr lang="en-US" sz="2000" b="1">
                <a:latin typeface="Times New Roman" panose="02020603050405020304" charset="0"/>
                <a:ea typeface="宋体" panose="02010600030101010101" pitchFamily="2" charset="-122"/>
              </a:rPr>
              <a:t>&lt;</a:t>
            </a:r>
            <a:r>
              <a:rPr lang="en-US" sz="2000" b="1" i="1">
                <a:latin typeface="Times New Roman" panose="02020603050405020304" charset="0"/>
                <a:ea typeface="宋体" panose="02010600030101010101" pitchFamily="2" charset="-122"/>
              </a:rPr>
              <a:t>v</a:t>
            </a:r>
            <a:r>
              <a:rPr lang="en-US" sz="2000" b="1" baseline="-25000">
                <a:latin typeface="Times New Roman" panose="02020603050405020304" charset="0"/>
                <a:ea typeface="宋体" panose="02010600030101010101" pitchFamily="2" charset="-122"/>
              </a:rPr>
              <a:t>I</a:t>
            </a:r>
            <a:r>
              <a:rPr lang="zh-CN" sz="2000" b="1">
                <a:ea typeface="宋体" panose="02010600030101010101" pitchFamily="2" charset="-122"/>
              </a:rPr>
              <a:t>，所以寄存器次高位的</a:t>
            </a:r>
            <a:r>
              <a:rPr lang="en-US" sz="2000" b="1">
                <a:latin typeface="Times New Roman" panose="02020603050405020304" charset="0"/>
                <a:ea typeface="宋体" panose="02010600030101010101" pitchFamily="2" charset="-122"/>
              </a:rPr>
              <a:t>1</a:t>
            </a:r>
            <a:r>
              <a:rPr lang="zh-CN" sz="2000" b="1">
                <a:ea typeface="宋体" panose="02010600030101010101" pitchFamily="2" charset="-122"/>
              </a:rPr>
              <a:t>也保留。</a:t>
            </a:r>
            <a:endParaRPr lang="zh-CN" altLang="en-US" sz="2000" b="1"/>
          </a:p>
        </p:txBody>
      </p:sp>
      <p:sp>
        <p:nvSpPr>
          <p:cNvPr id="8" name="文本框 7"/>
          <p:cNvSpPr txBox="1"/>
          <p:nvPr/>
        </p:nvSpPr>
        <p:spPr>
          <a:xfrm>
            <a:off x="1304925" y="5055235"/>
            <a:ext cx="7663180" cy="398780"/>
          </a:xfrm>
          <a:prstGeom prst="rect">
            <a:avLst/>
          </a:prstGeom>
          <a:noFill/>
          <a:ln w="9525">
            <a:noFill/>
          </a:ln>
        </p:spPr>
        <p:txBody>
          <a:bodyPr wrap="square">
            <a:spAutoFit/>
          </a:bodyPr>
          <a:p>
            <a:r>
              <a:rPr lang="zh-CN" sz="2000" b="1">
                <a:gradFill>
                  <a:gsLst>
                    <a:gs pos="0">
                      <a:srgbClr val="012D86"/>
                    </a:gs>
                    <a:gs pos="100000">
                      <a:srgbClr val="0E2557"/>
                    </a:gs>
                  </a:gsLst>
                  <a:lin scaled="0"/>
                </a:gradFill>
                <a:ea typeface="宋体" panose="02010600030101010101" pitchFamily="2" charset="-122"/>
              </a:rPr>
              <a:t>第三步：寄存器的状态为</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1110</a:t>
            </a:r>
            <a:r>
              <a:rPr lang="zh-CN" sz="2000" b="1">
                <a:gradFill>
                  <a:gsLst>
                    <a:gs pos="0">
                      <a:srgbClr val="012D86"/>
                    </a:gs>
                    <a:gs pos="100000">
                      <a:srgbClr val="0E2557"/>
                    </a:gs>
                  </a:gsLst>
                  <a:lin scaled="0"/>
                </a:gradFill>
                <a:ea typeface="宋体" panose="02010600030101010101" pitchFamily="2" charset="-122"/>
              </a:rPr>
              <a:t>，经</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D/A</a:t>
            </a:r>
            <a:r>
              <a:rPr lang="zh-CN" sz="2000" b="1">
                <a:gradFill>
                  <a:gsLst>
                    <a:gs pos="0">
                      <a:srgbClr val="012D86"/>
                    </a:gs>
                    <a:gs pos="100000">
                      <a:srgbClr val="0E2557"/>
                    </a:gs>
                  </a:gsLst>
                  <a:lin scaled="0"/>
                </a:gradFill>
                <a:ea typeface="宋体" panose="02010600030101010101" pitchFamily="2" charset="-122"/>
              </a:rPr>
              <a:t>转换器后输出电压</a:t>
            </a:r>
            <a:endParaRPr lang="zh-CN" altLang="en-US" sz="2000" b="1">
              <a:gradFill>
                <a:gsLst>
                  <a:gs pos="0">
                    <a:srgbClr val="012D86"/>
                  </a:gs>
                  <a:gs pos="100000">
                    <a:srgbClr val="0E2557"/>
                  </a:gs>
                </a:gsLst>
                <a:lin scaled="0"/>
              </a:gradFill>
              <a:ea typeface="宋体" panose="02010600030101010101" pitchFamily="2" charset="-122"/>
            </a:endParaRPr>
          </a:p>
        </p:txBody>
      </p:sp>
      <p:pic>
        <p:nvPicPr>
          <p:cNvPr id="9" name="图片 8"/>
          <p:cNvPicPr>
            <a:picLocks noChangeAspect="1"/>
          </p:cNvPicPr>
          <p:nvPr/>
        </p:nvPicPr>
        <p:blipFill>
          <a:blip r:embed="rId3"/>
          <a:srcRect t="8056"/>
          <a:stretch>
            <a:fillRect/>
          </a:stretch>
        </p:blipFill>
        <p:spPr>
          <a:xfrm>
            <a:off x="2329815" y="5409565"/>
            <a:ext cx="3676650" cy="840740"/>
          </a:xfrm>
          <a:prstGeom prst="rect">
            <a:avLst/>
          </a:prstGeom>
        </p:spPr>
      </p:pic>
      <p:sp>
        <p:nvSpPr>
          <p:cNvPr id="10" name="文本框 9"/>
          <p:cNvSpPr txBox="1"/>
          <p:nvPr/>
        </p:nvSpPr>
        <p:spPr>
          <a:xfrm>
            <a:off x="2147570" y="6138545"/>
            <a:ext cx="5080000" cy="398780"/>
          </a:xfrm>
          <a:prstGeom prst="rect">
            <a:avLst/>
          </a:prstGeom>
          <a:noFill/>
          <a:ln w="9525">
            <a:noFill/>
          </a:ln>
        </p:spPr>
        <p:txBody>
          <a:bodyPr>
            <a:spAutoFit/>
          </a:bodyPr>
          <a:p>
            <a:r>
              <a:rPr lang="zh-CN" sz="2000" b="1">
                <a:ea typeface="宋体" panose="02010600030101010101" pitchFamily="2" charset="-122"/>
              </a:rPr>
              <a:t>因为</a:t>
            </a:r>
            <a:r>
              <a:rPr lang="en-US" sz="2000" b="1" i="1">
                <a:latin typeface="Times New Roman" panose="02020603050405020304" charset="0"/>
                <a:ea typeface="宋体" panose="02010600030101010101" pitchFamily="2" charset="-122"/>
              </a:rPr>
              <a:t>v</a:t>
            </a:r>
            <a:r>
              <a:rPr lang="en-US" sz="2000" b="1" baseline="-25000">
                <a:latin typeface="Times New Roman" panose="02020603050405020304" charset="0"/>
                <a:ea typeface="宋体" panose="02010600030101010101" pitchFamily="2" charset="-122"/>
              </a:rPr>
              <a:t>O</a:t>
            </a:r>
            <a:r>
              <a:rPr lang="en-US" sz="2000" b="1">
                <a:latin typeface="Times New Roman" panose="02020603050405020304" charset="0"/>
                <a:ea typeface="宋体" panose="02010600030101010101" pitchFamily="2" charset="-122"/>
              </a:rPr>
              <a:t>&lt;</a:t>
            </a:r>
            <a:r>
              <a:rPr lang="en-US" sz="2000" b="1" i="1">
                <a:latin typeface="Times New Roman" panose="02020603050405020304" charset="0"/>
                <a:ea typeface="宋体" panose="02010600030101010101" pitchFamily="2" charset="-122"/>
              </a:rPr>
              <a:t>v</a:t>
            </a:r>
            <a:r>
              <a:rPr lang="en-US" sz="2000" b="1" baseline="-25000">
                <a:latin typeface="Times New Roman" panose="02020603050405020304" charset="0"/>
                <a:ea typeface="宋体" panose="02010600030101010101" pitchFamily="2" charset="-122"/>
              </a:rPr>
              <a:t>I</a:t>
            </a:r>
            <a:r>
              <a:rPr lang="zh-CN" sz="2000" b="1">
                <a:ea typeface="宋体" panose="02010600030101010101" pitchFamily="2" charset="-122"/>
              </a:rPr>
              <a:t>，所以寄存器第三位的</a:t>
            </a:r>
            <a:r>
              <a:rPr lang="en-US" sz="2000" b="1">
                <a:latin typeface="Times New Roman" panose="02020603050405020304" charset="0"/>
                <a:ea typeface="宋体" panose="02010600030101010101" pitchFamily="2" charset="-122"/>
              </a:rPr>
              <a:t>1</a:t>
            </a:r>
            <a:r>
              <a:rPr lang="zh-CN" sz="2000" b="1">
                <a:ea typeface="宋体" panose="02010600030101010101" pitchFamily="2" charset="-122"/>
              </a:rPr>
              <a:t>也保留。</a:t>
            </a:r>
            <a:endParaRPr lang="zh-CN" altLang="en-US" sz="2000" b="1"/>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par>
                          <p:cTn id="12" fill="hold">
                            <p:stCondLst>
                              <p:cond delay="500"/>
                            </p:stCondLst>
                            <p:childTnLst>
                              <p:par>
                                <p:cTn id="13" presetID="1"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par>
                          <p:cTn id="19" fill="hold">
                            <p:stCondLst>
                              <p:cond delay="0"/>
                            </p:stCondLst>
                            <p:childTnLst>
                              <p:par>
                                <p:cTn id="20" presetID="22" presetClass="entr" presetSubtype="8" fill="hold" nodeType="afterEffect">
                                  <p:stCondLst>
                                    <p:cond delay="50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par>
                          <p:cTn id="23" fill="hold">
                            <p:stCondLst>
                              <p:cond delay="1000"/>
                            </p:stCondLst>
                            <p:childTnLst>
                              <p:par>
                                <p:cTn id="24" presetID="1" presetClass="entr" presetSubtype="0"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childTnLst>
                                </p:cTn>
                              </p:par>
                            </p:childTnLst>
                          </p:cTn>
                        </p:par>
                        <p:par>
                          <p:cTn id="30" fill="hold">
                            <p:stCondLst>
                              <p:cond delay="0"/>
                            </p:stCondLst>
                            <p:childTnLst>
                              <p:par>
                                <p:cTn id="31" presetID="22" presetClass="entr" presetSubtype="8" fill="hold" nodeType="after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left)">
                                      <p:cBhvr>
                                        <p:cTn id="33" dur="500"/>
                                        <p:tgtEl>
                                          <p:spTgt spid="9"/>
                                        </p:tgtEl>
                                      </p:cBhvr>
                                    </p:animEffect>
                                  </p:childTnLst>
                                </p:cTn>
                              </p:par>
                            </p:childTnLst>
                          </p:cTn>
                        </p:par>
                        <p:par>
                          <p:cTn id="34" fill="hold">
                            <p:stCondLst>
                              <p:cond delay="500"/>
                            </p:stCondLst>
                            <p:childTnLst>
                              <p:par>
                                <p:cTn id="35" presetID="1" presetClass="entr" presetSubtype="0" fill="hold" grpId="0" nodeType="after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7" grpId="0"/>
      <p:bldP spid="8" grpId="0"/>
      <p:bldP spid="5" grpId="0"/>
      <p:bldP spid="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1891030" y="49911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9.3 </a:t>
            </a:r>
            <a:r>
              <a:rPr lang="en-US" altLang="zh-CN" b="1" dirty="0">
                <a:solidFill>
                  <a:srgbClr val="FF0000"/>
                </a:solidFill>
                <a:latin typeface="黑体" panose="02010609060101010101" pitchFamily="49" charset="-122"/>
                <a:ea typeface="黑体" panose="02010609060101010101" pitchFamily="49" charset="-122"/>
                <a:sym typeface="+mn-ea"/>
              </a:rPr>
              <a:t>A/D转换电路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2" name="文本框 101"/>
          <p:cNvSpPr txBox="1"/>
          <p:nvPr/>
        </p:nvSpPr>
        <p:spPr>
          <a:xfrm>
            <a:off x="991870" y="1265555"/>
            <a:ext cx="7122160" cy="398780"/>
          </a:xfrm>
          <a:prstGeom prst="rect">
            <a:avLst/>
          </a:prstGeom>
          <a:noFill/>
          <a:ln w="9525">
            <a:noFill/>
          </a:ln>
        </p:spPr>
        <p:txBody>
          <a:bodyPr wrap="square">
            <a:spAutoFit/>
          </a:bodyPr>
          <a:p>
            <a:r>
              <a:rPr lang="zh-CN" sz="2000" b="1">
                <a:gradFill>
                  <a:gsLst>
                    <a:gs pos="0">
                      <a:srgbClr val="012D86"/>
                    </a:gs>
                    <a:gs pos="100000">
                      <a:srgbClr val="0E2557"/>
                    </a:gs>
                  </a:gsLst>
                  <a:lin scaled="0"/>
                </a:gradFill>
                <a:ea typeface="宋体" panose="02010600030101010101" pitchFamily="2" charset="-122"/>
              </a:rPr>
              <a:t>第四步：寄存器的状态为</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1111</a:t>
            </a:r>
            <a:r>
              <a:rPr lang="zh-CN" sz="2000" b="1">
                <a:gradFill>
                  <a:gsLst>
                    <a:gs pos="0">
                      <a:srgbClr val="012D86"/>
                    </a:gs>
                    <a:gs pos="100000">
                      <a:srgbClr val="0E2557"/>
                    </a:gs>
                  </a:gsLst>
                  <a:lin scaled="0"/>
                </a:gradFill>
                <a:ea typeface="宋体" panose="02010600030101010101" pitchFamily="2" charset="-122"/>
              </a:rPr>
              <a:t>，经</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D/A</a:t>
            </a:r>
            <a:r>
              <a:rPr lang="zh-CN" sz="2000" b="1">
                <a:gradFill>
                  <a:gsLst>
                    <a:gs pos="0">
                      <a:srgbClr val="012D86"/>
                    </a:gs>
                    <a:gs pos="100000">
                      <a:srgbClr val="0E2557"/>
                    </a:gs>
                  </a:gsLst>
                  <a:lin scaled="0"/>
                </a:gradFill>
                <a:ea typeface="宋体" panose="02010600030101010101" pitchFamily="2" charset="-122"/>
              </a:rPr>
              <a:t>转换器后输出电压</a:t>
            </a:r>
            <a:endParaRPr lang="zh-CN" altLang="en-US" sz="2000" b="1">
              <a:gradFill>
                <a:gsLst>
                  <a:gs pos="0">
                    <a:srgbClr val="012D86"/>
                  </a:gs>
                  <a:gs pos="100000">
                    <a:srgbClr val="0E2557"/>
                  </a:gs>
                </a:gsLst>
                <a:lin scaled="0"/>
              </a:gradFill>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1826260" y="1604010"/>
            <a:ext cx="4305300" cy="933450"/>
          </a:xfrm>
          <a:prstGeom prst="rect">
            <a:avLst/>
          </a:prstGeom>
        </p:spPr>
      </p:pic>
      <p:sp>
        <p:nvSpPr>
          <p:cNvPr id="3" name="文本框 2"/>
          <p:cNvSpPr txBox="1"/>
          <p:nvPr/>
        </p:nvSpPr>
        <p:spPr>
          <a:xfrm>
            <a:off x="658495" y="2537460"/>
            <a:ext cx="8485505" cy="891540"/>
          </a:xfrm>
          <a:prstGeom prst="rect">
            <a:avLst/>
          </a:prstGeom>
          <a:noFill/>
          <a:ln w="9525">
            <a:noFill/>
          </a:ln>
        </p:spPr>
        <p:txBody>
          <a:bodyPr wrap="square">
            <a:spAutoFit/>
          </a:bodyPr>
          <a:p>
            <a:pPr indent="266700">
              <a:lnSpc>
                <a:spcPct val="130000"/>
              </a:lnSpc>
            </a:pPr>
            <a:r>
              <a:rPr lang="en-US" altLang="zh-CN" sz="2000" b="1">
                <a:gradFill>
                  <a:gsLst>
                    <a:gs pos="0">
                      <a:srgbClr val="012D86"/>
                    </a:gs>
                    <a:gs pos="100000">
                      <a:srgbClr val="0E2557"/>
                    </a:gs>
                  </a:gsLst>
                  <a:lin scaled="0"/>
                </a:gradFill>
                <a:ea typeface="宋体" panose="02010600030101010101" pitchFamily="2" charset="-122"/>
              </a:rPr>
              <a:t>   </a:t>
            </a:r>
            <a:r>
              <a:rPr lang="zh-CN" sz="2000" b="1">
                <a:gradFill>
                  <a:gsLst>
                    <a:gs pos="0">
                      <a:srgbClr val="012D86"/>
                    </a:gs>
                    <a:gs pos="100000">
                      <a:srgbClr val="0E2557"/>
                    </a:gs>
                  </a:gsLst>
                  <a:lin scaled="0"/>
                </a:gradFill>
                <a:ea typeface="宋体" panose="02010600030101010101" pitchFamily="2" charset="-122"/>
              </a:rPr>
              <a:t>因为</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v</a:t>
            </a:r>
            <a:r>
              <a:rPr 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O&gt;</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v</a:t>
            </a:r>
            <a:r>
              <a:rPr 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I</a:t>
            </a:r>
            <a:r>
              <a:rPr lang="zh-CN" sz="2000" b="1">
                <a:gradFill>
                  <a:gsLst>
                    <a:gs pos="0">
                      <a:srgbClr val="012D86"/>
                    </a:gs>
                    <a:gs pos="100000">
                      <a:srgbClr val="0E2557"/>
                    </a:gs>
                  </a:gsLst>
                  <a:lin scaled="0"/>
                </a:gradFill>
                <a:ea typeface="宋体" panose="02010600030101010101" pitchFamily="2" charset="-122"/>
              </a:rPr>
              <a:t>，所以寄存器最低位的</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1</a:t>
            </a:r>
            <a:r>
              <a:rPr lang="zh-CN" sz="2000" b="1">
                <a:gradFill>
                  <a:gsLst>
                    <a:gs pos="0">
                      <a:srgbClr val="012D86"/>
                    </a:gs>
                    <a:gs pos="100000">
                      <a:srgbClr val="0E2557"/>
                    </a:gs>
                  </a:gsLst>
                  <a:lin scaled="0"/>
                </a:gradFill>
                <a:ea typeface="宋体" panose="02010600030101010101" pitchFamily="2" charset="-122"/>
              </a:rPr>
              <a:t>应变为</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0</a:t>
            </a:r>
            <a:r>
              <a:rPr lang="zh-CN" sz="2000" b="1">
                <a:gradFill>
                  <a:gsLst>
                    <a:gs pos="0">
                      <a:srgbClr val="012D86"/>
                    </a:gs>
                    <a:gs pos="100000">
                      <a:srgbClr val="0E2557"/>
                    </a:gs>
                  </a:gsLst>
                  <a:lin scaled="0"/>
                </a:gradFill>
                <a:ea typeface="宋体" panose="02010600030101010101" pitchFamily="2" charset="-122"/>
              </a:rPr>
              <a:t>。所以，逐次比较型</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A/D</a:t>
            </a:r>
            <a:r>
              <a:rPr lang="zh-CN" sz="2000" b="1">
                <a:gradFill>
                  <a:gsLst>
                    <a:gs pos="0">
                      <a:srgbClr val="012D86"/>
                    </a:gs>
                    <a:gs pos="100000">
                      <a:srgbClr val="0E2557"/>
                    </a:gs>
                  </a:gsLst>
                  <a:lin scaled="0"/>
                </a:gradFill>
                <a:ea typeface="宋体" panose="02010600030101010101" pitchFamily="2" charset="-122"/>
              </a:rPr>
              <a:t>转换器的输出数码为</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1110</a:t>
            </a:r>
            <a:r>
              <a:rPr lang="zh-CN" sz="2000" b="1">
                <a:gradFill>
                  <a:gsLst>
                    <a:gs pos="0">
                      <a:srgbClr val="012D86"/>
                    </a:gs>
                    <a:gs pos="100000">
                      <a:srgbClr val="0E2557"/>
                    </a:gs>
                  </a:gsLst>
                  <a:lin scaled="0"/>
                </a:gradFill>
                <a:ea typeface="宋体" panose="02010600030101010101" pitchFamily="2" charset="-122"/>
              </a:rPr>
              <a:t>。</a:t>
            </a:r>
            <a:endParaRPr lang="zh-CN" altLang="en-US" sz="2000" b="1">
              <a:gradFill>
                <a:gsLst>
                  <a:gs pos="0">
                    <a:srgbClr val="012D86"/>
                  </a:gs>
                  <a:gs pos="100000">
                    <a:srgbClr val="0E2557"/>
                  </a:gs>
                </a:gsLst>
                <a:lin scaled="0"/>
              </a:gradFill>
              <a:ea typeface="宋体" panose="02010600030101010101" pitchFamily="2" charset="-122"/>
            </a:endParaRPr>
          </a:p>
        </p:txBody>
      </p:sp>
      <p:sp>
        <p:nvSpPr>
          <p:cNvPr id="4" name="文本框 3"/>
          <p:cNvSpPr txBox="1"/>
          <p:nvPr/>
        </p:nvSpPr>
        <p:spPr>
          <a:xfrm>
            <a:off x="1051560" y="3429000"/>
            <a:ext cx="5080000" cy="398780"/>
          </a:xfrm>
          <a:prstGeom prst="rect">
            <a:avLst/>
          </a:prstGeom>
          <a:noFill/>
          <a:ln w="9525">
            <a:noFill/>
          </a:ln>
        </p:spPr>
        <p:txBody>
          <a:bodyPr>
            <a:spAutoFit/>
          </a:bodyPr>
          <a:p>
            <a:pPr indent="266700"/>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②</a:t>
            </a:r>
            <a:r>
              <a:rPr lang="zh-CN" sz="2000" b="1">
                <a:gradFill>
                  <a:gsLst>
                    <a:gs pos="0">
                      <a:srgbClr val="012D86"/>
                    </a:gs>
                    <a:gs pos="100000">
                      <a:srgbClr val="0E2557"/>
                    </a:gs>
                  </a:gsLst>
                  <a:lin scaled="0"/>
                </a:gradFill>
                <a:ea typeface="宋体" panose="02010600030101010101" pitchFamily="2" charset="-122"/>
              </a:rPr>
              <a:t>转换误差</a:t>
            </a:r>
            <a:endParaRPr lang="zh-CN" altLang="en-US" sz="2000" b="1">
              <a:gradFill>
                <a:gsLst>
                  <a:gs pos="0">
                    <a:srgbClr val="012D86"/>
                  </a:gs>
                  <a:gs pos="100000">
                    <a:srgbClr val="0E2557"/>
                  </a:gs>
                </a:gsLst>
                <a:lin scaled="0"/>
              </a:gradFill>
              <a:ea typeface="宋体" panose="02010600030101010101" pitchFamily="2" charset="-122"/>
            </a:endParaRPr>
          </a:p>
        </p:txBody>
      </p:sp>
      <p:sp>
        <p:nvSpPr>
          <p:cNvPr id="5" name="文本框 4"/>
          <p:cNvSpPr txBox="1"/>
          <p:nvPr/>
        </p:nvSpPr>
        <p:spPr>
          <a:xfrm>
            <a:off x="1051560" y="3775710"/>
            <a:ext cx="5080000" cy="460375"/>
          </a:xfrm>
          <a:prstGeom prst="rect">
            <a:avLst/>
          </a:prstGeom>
          <a:noFill/>
          <a:ln w="9525">
            <a:noFill/>
          </a:ln>
        </p:spPr>
        <p:txBody>
          <a:bodyPr>
            <a:spAutoFit/>
          </a:bodyPr>
          <a:p>
            <a:pPr algn="ct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4.58-4.38=0.2(</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V)</a:t>
            </a:r>
            <a:endParaRPr lang="en-US" altLang="en-US" sz="24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amond(in)">
                                      <p:cBhvr>
                                        <p:cTn id="12" dur="2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par>
                          <p:cTn id="17" fill="hold">
                            <p:stCondLst>
                              <p:cond delay="0"/>
                            </p:stCondLst>
                            <p:childTnLst>
                              <p:par>
                                <p:cTn id="18" presetID="22" presetClass="entr" presetSubtype="8" fill="hold" grpId="0" nodeType="afterEffect">
                                  <p:stCondLst>
                                    <p:cond delay="100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1891030" y="49911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9.3 </a:t>
            </a:r>
            <a:r>
              <a:rPr lang="en-US" altLang="zh-CN" b="1" dirty="0">
                <a:solidFill>
                  <a:srgbClr val="FF0000"/>
                </a:solidFill>
                <a:latin typeface="黑体" panose="02010609060101010101" pitchFamily="49" charset="-122"/>
                <a:ea typeface="黑体" panose="02010609060101010101" pitchFamily="49" charset="-122"/>
                <a:sym typeface="+mn-ea"/>
              </a:rPr>
              <a:t>A/D转换电路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6146" name="Rectangle 2"/>
          <p:cNvSpPr>
            <a:spLocks noGrp="1"/>
          </p:cNvSpPr>
          <p:nvPr>
            <p:ph type="title"/>
          </p:nvPr>
        </p:nvSpPr>
        <p:spPr>
          <a:xfrm>
            <a:off x="848360" y="1013778"/>
            <a:ext cx="5257800" cy="868362"/>
          </a:xfrm>
        </p:spPr>
        <p:txBody>
          <a:bodyPr vert="horz" wrap="square" lIns="91440" tIns="45720" rIns="91440" bIns="45720" anchor="ctr" anchorCtr="0"/>
          <a:p>
            <a:pPr algn="l" eaLnBrk="1" hangingPunct="1"/>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9</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3</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4</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 </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双积分</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型</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A/D转换器</a:t>
            </a:r>
            <a:endPar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endParaRPr>
          </a:p>
        </p:txBody>
      </p:sp>
      <p:pic>
        <p:nvPicPr>
          <p:cNvPr id="9504" name="图片 2941"/>
          <p:cNvPicPr>
            <a:picLocks noChangeAspect="1"/>
          </p:cNvPicPr>
          <p:nvPr/>
        </p:nvPicPr>
        <p:blipFill>
          <a:blip r:embed="rId1"/>
          <a:stretch>
            <a:fillRect/>
          </a:stretch>
        </p:blipFill>
        <p:spPr>
          <a:xfrm>
            <a:off x="604520" y="1960880"/>
            <a:ext cx="7831455" cy="4106545"/>
          </a:xfrm>
          <a:prstGeom prst="rect">
            <a:avLst/>
          </a:prstGeom>
          <a:noFill/>
          <a:ln>
            <a:noFill/>
          </a:ln>
        </p:spPr>
      </p:pic>
      <p:sp>
        <p:nvSpPr>
          <p:cNvPr id="437266" name="矩形 437265"/>
          <p:cNvSpPr/>
          <p:nvPr/>
        </p:nvSpPr>
        <p:spPr>
          <a:xfrm>
            <a:off x="848043" y="1676400"/>
            <a:ext cx="2376487" cy="460375"/>
          </a:xfrm>
          <a:prstGeom prst="rect">
            <a:avLst/>
          </a:prstGeom>
          <a:solidFill>
            <a:schemeClr val="bg1"/>
          </a:solidFill>
          <a:ln w="9525">
            <a:noFill/>
          </a:ln>
        </p:spPr>
        <p:txBody>
          <a:bodyPr>
            <a:spAutoFit/>
          </a:bodyPr>
          <a:p>
            <a:pPr algn="l">
              <a:spcBef>
                <a:spcPct val="50000"/>
              </a:spcBef>
            </a:pPr>
            <a:r>
              <a:rPr lang="en-US" altLang="zh-CN" sz="2400" b="1" dirty="0">
                <a:solidFill>
                  <a:schemeClr val="tx1"/>
                </a:solidFill>
                <a:latin typeface="Times New Roman" panose="02020603050405020304" charset="0"/>
                <a:ea typeface="楷体_GB2312" panose="02010609030101010101" pitchFamily="49" charset="-122"/>
              </a:rPr>
              <a:t>(1)</a:t>
            </a:r>
            <a:r>
              <a:rPr lang="zh-CN" altLang="en-US" sz="2400" b="1" dirty="0">
                <a:solidFill>
                  <a:schemeClr val="tx1"/>
                </a:solidFill>
                <a:latin typeface="Times New Roman" panose="02020603050405020304" charset="0"/>
                <a:ea typeface="楷体_GB2312" panose="02010609030101010101" pitchFamily="49" charset="-122"/>
              </a:rPr>
              <a:t>电路组成</a:t>
            </a:r>
            <a:endParaRPr lang="zh-CN" altLang="en-US" sz="2400" b="1" dirty="0">
              <a:solidFill>
                <a:schemeClr val="tx1"/>
              </a:solidFill>
              <a:latin typeface="Times New Roman" panose="02020603050405020304" charset="0"/>
              <a:ea typeface="楷体_GB2312" panose="0201060903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1891030" y="49911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9.3 </a:t>
            </a:r>
            <a:r>
              <a:rPr lang="en-US" altLang="zh-CN" b="1" dirty="0">
                <a:solidFill>
                  <a:srgbClr val="FF0000"/>
                </a:solidFill>
                <a:latin typeface="黑体" panose="02010609060101010101" pitchFamily="49" charset="-122"/>
                <a:ea typeface="黑体" panose="02010609060101010101" pitchFamily="49" charset="-122"/>
                <a:sym typeface="+mn-ea"/>
              </a:rPr>
              <a:t>A/D转换电路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pic>
        <p:nvPicPr>
          <p:cNvPr id="9504" name="图片 2941"/>
          <p:cNvPicPr>
            <a:picLocks noChangeAspect="1"/>
          </p:cNvPicPr>
          <p:nvPr/>
        </p:nvPicPr>
        <p:blipFill>
          <a:blip r:embed="rId1"/>
          <a:stretch>
            <a:fillRect/>
          </a:stretch>
        </p:blipFill>
        <p:spPr>
          <a:xfrm>
            <a:off x="587375" y="1488440"/>
            <a:ext cx="7831455" cy="4106545"/>
          </a:xfrm>
          <a:prstGeom prst="rect">
            <a:avLst/>
          </a:prstGeom>
          <a:noFill/>
          <a:ln>
            <a:noFill/>
          </a:ln>
        </p:spPr>
      </p:pic>
      <p:sp>
        <p:nvSpPr>
          <p:cNvPr id="449539" name="椭圆 449538"/>
          <p:cNvSpPr/>
          <p:nvPr/>
        </p:nvSpPr>
        <p:spPr>
          <a:xfrm>
            <a:off x="900113" y="4868863"/>
            <a:ext cx="269875" cy="269875"/>
          </a:xfrm>
          <a:prstGeom prst="ellipse">
            <a:avLst/>
          </a:prstGeom>
          <a:solidFill>
            <a:srgbClr val="000099"/>
          </a:solidFill>
          <a:ln w="28575">
            <a:noFill/>
          </a:ln>
        </p:spPr>
        <p:txBody>
          <a:bodyPr wrap="none" anchor="ctr"/>
          <a:p>
            <a:pPr algn="ctr"/>
            <a:r>
              <a:rPr lang="en-US" altLang="zh-CN" sz="1600">
                <a:solidFill>
                  <a:schemeClr val="bg1"/>
                </a:solidFill>
                <a:latin typeface="黑体" panose="02010609060101010101" pitchFamily="49" charset="-122"/>
                <a:ea typeface="黑体" panose="02010609060101010101" pitchFamily="49" charset="-122"/>
              </a:rPr>
              <a:t>0</a:t>
            </a:r>
            <a:endParaRPr lang="en-US" altLang="zh-CN" sz="1600">
              <a:solidFill>
                <a:schemeClr val="bg1"/>
              </a:solidFill>
              <a:latin typeface="黑体" panose="02010609060101010101" pitchFamily="49" charset="-122"/>
              <a:ea typeface="黑体" panose="02010609060101010101" pitchFamily="49" charset="-122"/>
            </a:endParaRPr>
          </a:p>
        </p:txBody>
      </p:sp>
      <p:grpSp>
        <p:nvGrpSpPr>
          <p:cNvPr id="449540" name="组合 449539"/>
          <p:cNvGrpSpPr/>
          <p:nvPr/>
        </p:nvGrpSpPr>
        <p:grpSpPr>
          <a:xfrm>
            <a:off x="1315085" y="3496945"/>
            <a:ext cx="5023485" cy="278130"/>
            <a:chOff x="697" y="2188"/>
            <a:chExt cx="3402" cy="170"/>
          </a:xfrm>
        </p:grpSpPr>
        <p:sp>
          <p:nvSpPr>
            <p:cNvPr id="449541" name="椭圆 449540"/>
            <p:cNvSpPr/>
            <p:nvPr/>
          </p:nvSpPr>
          <p:spPr>
            <a:xfrm>
              <a:off x="697" y="2188"/>
              <a:ext cx="170" cy="170"/>
            </a:xfrm>
            <a:prstGeom prst="ellipse">
              <a:avLst/>
            </a:prstGeom>
            <a:solidFill>
              <a:srgbClr val="000099"/>
            </a:solidFill>
            <a:ln w="28575">
              <a:noFill/>
            </a:ln>
          </p:spPr>
          <p:txBody>
            <a:bodyPr wrap="none" anchor="ctr"/>
            <a:p>
              <a:pPr algn="ctr"/>
              <a:r>
                <a:rPr lang="en-US" altLang="zh-CN" sz="1600">
                  <a:solidFill>
                    <a:schemeClr val="bg1"/>
                  </a:solidFill>
                  <a:latin typeface="黑体" panose="02010609060101010101" pitchFamily="49" charset="-122"/>
                  <a:ea typeface="黑体" panose="02010609060101010101" pitchFamily="49" charset="-122"/>
                </a:rPr>
                <a:t>0</a:t>
              </a:r>
              <a:endParaRPr lang="en-US" altLang="zh-CN" sz="1600">
                <a:solidFill>
                  <a:schemeClr val="bg1"/>
                </a:solidFill>
                <a:latin typeface="黑体" panose="02010609060101010101" pitchFamily="49" charset="-122"/>
                <a:ea typeface="黑体" panose="02010609060101010101" pitchFamily="49" charset="-122"/>
              </a:endParaRPr>
            </a:p>
          </p:txBody>
        </p:sp>
        <p:sp>
          <p:nvSpPr>
            <p:cNvPr id="449542" name="椭圆 449541"/>
            <p:cNvSpPr/>
            <p:nvPr/>
          </p:nvSpPr>
          <p:spPr>
            <a:xfrm>
              <a:off x="1803" y="2188"/>
              <a:ext cx="170" cy="170"/>
            </a:xfrm>
            <a:prstGeom prst="ellipse">
              <a:avLst/>
            </a:prstGeom>
            <a:solidFill>
              <a:srgbClr val="000099"/>
            </a:solidFill>
            <a:ln w="28575">
              <a:noFill/>
            </a:ln>
          </p:spPr>
          <p:txBody>
            <a:bodyPr wrap="none" anchor="ctr"/>
            <a:p>
              <a:pPr algn="ctr"/>
              <a:r>
                <a:rPr lang="en-US" altLang="zh-CN" sz="1600">
                  <a:solidFill>
                    <a:schemeClr val="bg1"/>
                  </a:solidFill>
                  <a:latin typeface="黑体" panose="02010609060101010101" pitchFamily="49" charset="-122"/>
                  <a:ea typeface="黑体" panose="02010609060101010101" pitchFamily="49" charset="-122"/>
                </a:rPr>
                <a:t>0</a:t>
              </a:r>
              <a:endParaRPr lang="en-US" altLang="zh-CN" sz="1600">
                <a:solidFill>
                  <a:schemeClr val="bg1"/>
                </a:solidFill>
                <a:latin typeface="黑体" panose="02010609060101010101" pitchFamily="49" charset="-122"/>
                <a:ea typeface="黑体" panose="02010609060101010101" pitchFamily="49" charset="-122"/>
              </a:endParaRPr>
            </a:p>
          </p:txBody>
        </p:sp>
        <p:sp>
          <p:nvSpPr>
            <p:cNvPr id="449543" name="椭圆 449542"/>
            <p:cNvSpPr/>
            <p:nvPr/>
          </p:nvSpPr>
          <p:spPr>
            <a:xfrm>
              <a:off x="2993" y="2188"/>
              <a:ext cx="170" cy="170"/>
            </a:xfrm>
            <a:prstGeom prst="ellipse">
              <a:avLst/>
            </a:prstGeom>
            <a:solidFill>
              <a:srgbClr val="000099"/>
            </a:solidFill>
            <a:ln w="28575">
              <a:noFill/>
            </a:ln>
          </p:spPr>
          <p:txBody>
            <a:bodyPr wrap="none" anchor="ctr"/>
            <a:p>
              <a:pPr algn="ctr"/>
              <a:r>
                <a:rPr lang="en-US" altLang="zh-CN" sz="1600">
                  <a:solidFill>
                    <a:schemeClr val="bg1"/>
                  </a:solidFill>
                  <a:latin typeface="黑体" panose="02010609060101010101" pitchFamily="49" charset="-122"/>
                  <a:ea typeface="黑体" panose="02010609060101010101" pitchFamily="49" charset="-122"/>
                </a:rPr>
                <a:t>0</a:t>
              </a:r>
              <a:endParaRPr lang="en-US" altLang="zh-CN" sz="1600">
                <a:solidFill>
                  <a:schemeClr val="bg1"/>
                </a:solidFill>
                <a:latin typeface="黑体" panose="02010609060101010101" pitchFamily="49" charset="-122"/>
                <a:ea typeface="黑体" panose="02010609060101010101" pitchFamily="49" charset="-122"/>
              </a:endParaRPr>
            </a:p>
          </p:txBody>
        </p:sp>
        <p:sp>
          <p:nvSpPr>
            <p:cNvPr id="449544" name="椭圆 449543"/>
            <p:cNvSpPr/>
            <p:nvPr/>
          </p:nvSpPr>
          <p:spPr>
            <a:xfrm>
              <a:off x="3929" y="2188"/>
              <a:ext cx="170" cy="170"/>
            </a:xfrm>
            <a:prstGeom prst="ellipse">
              <a:avLst/>
            </a:prstGeom>
            <a:solidFill>
              <a:srgbClr val="000099"/>
            </a:solidFill>
            <a:ln w="28575">
              <a:noFill/>
            </a:ln>
          </p:spPr>
          <p:txBody>
            <a:bodyPr wrap="none" anchor="ctr"/>
            <a:p>
              <a:pPr algn="ctr"/>
              <a:r>
                <a:rPr lang="en-US" altLang="zh-CN" sz="1600">
                  <a:solidFill>
                    <a:schemeClr val="bg1"/>
                  </a:solidFill>
                  <a:latin typeface="黑体" panose="02010609060101010101" pitchFamily="49" charset="-122"/>
                  <a:ea typeface="黑体" panose="02010609060101010101" pitchFamily="49" charset="-122"/>
                </a:rPr>
                <a:t>0</a:t>
              </a:r>
              <a:endParaRPr lang="en-US" altLang="zh-CN" sz="1600">
                <a:solidFill>
                  <a:schemeClr val="bg1"/>
                </a:solidFill>
                <a:latin typeface="黑体" panose="02010609060101010101" pitchFamily="49" charset="-122"/>
                <a:ea typeface="黑体" panose="02010609060101010101" pitchFamily="49" charset="-122"/>
              </a:endParaRPr>
            </a:p>
          </p:txBody>
        </p:sp>
      </p:grpSp>
      <p:sp>
        <p:nvSpPr>
          <p:cNvPr id="449545" name="任意多边形 449544"/>
          <p:cNvSpPr/>
          <p:nvPr/>
        </p:nvSpPr>
        <p:spPr>
          <a:xfrm flipH="1" flipV="1">
            <a:off x="3698875" y="1443038"/>
            <a:ext cx="66675" cy="422275"/>
          </a:xfrm>
          <a:custGeom>
            <a:avLst/>
            <a:gdLst>
              <a:gd name="txL" fmla="*/ 0 w 21600"/>
              <a:gd name="txT" fmla="*/ 0 h 40590"/>
              <a:gd name="txR" fmla="*/ 21600 w 21600"/>
              <a:gd name="txB" fmla="*/ 40590 h 40590"/>
            </a:gdLst>
            <a:ahLst/>
            <a:cxnLst>
              <a:cxn ang="90">
                <a:pos x="20479" y="40589"/>
              </a:cxn>
              <a:cxn ang="270">
                <a:pos x="11361" y="0"/>
              </a:cxn>
              <a:cxn ang="0">
                <a:pos x="21600" y="19019"/>
              </a:cxn>
            </a:cxnLst>
            <a:rect l="txL" t="txT" r="txR" b="txB"/>
            <a:pathLst>
              <a:path w="21600" h="40590" fill="none">
                <a:moveTo>
                  <a:pt x="20479" y="40589"/>
                </a:moveTo>
                <a:arcTo wR="21600" hR="21600" stAng="-16021500" swAng="8923735"/>
              </a:path>
              <a:path w="21600" h="40590" stroke="0">
                <a:moveTo>
                  <a:pt x="20479" y="40589"/>
                </a:moveTo>
                <a:arcTo wR="21600" hR="21600" stAng="-16021500" swAng="8923735"/>
                <a:lnTo>
                  <a:pt x="21600" y="19019"/>
                </a:lnTo>
                <a:close/>
              </a:path>
            </a:pathLst>
          </a:custGeom>
          <a:noFill/>
          <a:ln w="19050" cap="flat" cmpd="sng">
            <a:solidFill>
              <a:srgbClr val="FF0000"/>
            </a:solidFill>
            <a:prstDash val="solid"/>
            <a:headEnd type="none" w="med" len="med"/>
            <a:tailEnd type="triangle" w="med" len="med"/>
          </a:ln>
        </p:spPr>
        <p:txBody>
          <a:bodyPr/>
          <a:p>
            <a:endParaRPr lang="zh-CN" altLang="en-US"/>
          </a:p>
        </p:txBody>
      </p:sp>
      <p:sp>
        <p:nvSpPr>
          <p:cNvPr id="449546" name="任意多边形 449545"/>
          <p:cNvSpPr/>
          <p:nvPr/>
        </p:nvSpPr>
        <p:spPr>
          <a:xfrm flipH="1" flipV="1">
            <a:off x="3760788" y="1519238"/>
            <a:ext cx="66675" cy="422275"/>
          </a:xfrm>
          <a:custGeom>
            <a:avLst/>
            <a:gdLst>
              <a:gd name="txL" fmla="*/ 0 w 21600"/>
              <a:gd name="txT" fmla="*/ 0 h 40590"/>
              <a:gd name="txR" fmla="*/ 21600 w 21600"/>
              <a:gd name="txB" fmla="*/ 40590 h 40590"/>
            </a:gdLst>
            <a:ahLst/>
            <a:cxnLst>
              <a:cxn ang="90">
                <a:pos x="20479" y="40589"/>
              </a:cxn>
              <a:cxn ang="270">
                <a:pos x="11361" y="0"/>
              </a:cxn>
              <a:cxn ang="0">
                <a:pos x="21600" y="19019"/>
              </a:cxn>
            </a:cxnLst>
            <a:rect l="txL" t="txT" r="txR" b="txB"/>
            <a:pathLst>
              <a:path w="21600" h="40590" fill="none">
                <a:moveTo>
                  <a:pt x="20479" y="40589"/>
                </a:moveTo>
                <a:arcTo wR="21600" hR="21600" stAng="-16021500" swAng="8923735"/>
              </a:path>
              <a:path w="21600" h="40590" stroke="0">
                <a:moveTo>
                  <a:pt x="20479" y="40589"/>
                </a:moveTo>
                <a:arcTo wR="21600" hR="21600" stAng="-16021500" swAng="8923735"/>
                <a:lnTo>
                  <a:pt x="21600" y="19019"/>
                </a:lnTo>
                <a:close/>
              </a:path>
            </a:pathLst>
          </a:custGeom>
          <a:noFill/>
          <a:ln w="19050" cap="flat" cmpd="sng">
            <a:solidFill>
              <a:srgbClr val="FF0000"/>
            </a:solidFill>
            <a:prstDash val="solid"/>
            <a:headEnd type="triangle" w="med" len="med"/>
            <a:tailEnd type="none" w="med" len="med"/>
          </a:ln>
        </p:spPr>
        <p:txBody>
          <a:bodyPr/>
          <a:p>
            <a:endParaRPr lang="zh-CN" altLang="en-US"/>
          </a:p>
        </p:txBody>
      </p:sp>
      <p:sp>
        <p:nvSpPr>
          <p:cNvPr id="449547" name="矩形 449546"/>
          <p:cNvSpPr/>
          <p:nvPr/>
        </p:nvSpPr>
        <p:spPr>
          <a:xfrm>
            <a:off x="372428" y="5697538"/>
            <a:ext cx="8518525" cy="755650"/>
          </a:xfrm>
          <a:prstGeom prst="rect">
            <a:avLst/>
          </a:prstGeom>
          <a:solidFill>
            <a:srgbClr val="FFFFFF"/>
          </a:solidFill>
          <a:ln w="28575" cap="flat" cmpd="sng">
            <a:solidFill>
              <a:schemeClr val="accent1"/>
            </a:solidFill>
            <a:prstDash val="solid"/>
            <a:miter/>
            <a:headEnd type="none" w="med" len="med"/>
            <a:tailEnd type="none" w="med" len="med"/>
          </a:ln>
        </p:spPr>
        <p:txBody>
          <a:bodyPr wrap="square" anchor="ctr">
            <a:spAutoFit/>
          </a:bodyPr>
          <a:p>
            <a:pPr marL="457200" indent="-457200" algn="l">
              <a:lnSpc>
                <a:spcPct val="90000"/>
              </a:lnSpc>
            </a:pPr>
            <a:r>
              <a:rPr lang="en-US" altLang="zh-CN" sz="2400" b="1" i="1" dirty="0">
                <a:solidFill>
                  <a:srgbClr val="000099"/>
                </a:solidFill>
                <a:latin typeface="Times New Roman" panose="02020603050405020304" charset="0"/>
                <a:ea typeface="楷体_GB2312" panose="02010609030101010101" pitchFamily="49" charset="-122"/>
              </a:rPr>
              <a:t>     CR</a:t>
            </a:r>
            <a:r>
              <a:rPr lang="zh-CN" altLang="en-US" sz="2400" b="1" dirty="0">
                <a:solidFill>
                  <a:srgbClr val="000099"/>
                </a:solidFill>
                <a:latin typeface="Times New Roman" panose="02020603050405020304" charset="0"/>
                <a:ea typeface="楷体_GB2312" panose="02010609030101010101" pitchFamily="49" charset="-122"/>
              </a:rPr>
              <a:t>信号将计数器清零；开关</a:t>
            </a:r>
            <a:r>
              <a:rPr lang="en-US" altLang="zh-CN" sz="2400" b="1">
                <a:solidFill>
                  <a:srgbClr val="000099"/>
                </a:solidFill>
                <a:latin typeface="Times New Roman" panose="02020603050405020304" charset="0"/>
                <a:ea typeface="楷体_GB2312" panose="02010609030101010101" pitchFamily="49" charset="-122"/>
              </a:rPr>
              <a:t>S</a:t>
            </a:r>
            <a:r>
              <a:rPr lang="en-US" altLang="zh-CN" sz="2400" b="1" baseline="-25000">
                <a:solidFill>
                  <a:srgbClr val="000099"/>
                </a:solidFill>
                <a:latin typeface="Times New Roman" panose="02020603050405020304" charset="0"/>
                <a:ea typeface="楷体_GB2312" panose="02010609030101010101" pitchFamily="49" charset="-122"/>
              </a:rPr>
              <a:t>2</a:t>
            </a:r>
            <a:r>
              <a:rPr lang="zh-CN" altLang="en-US" sz="2400" b="1" dirty="0">
                <a:solidFill>
                  <a:srgbClr val="000099"/>
                </a:solidFill>
                <a:latin typeface="Times New Roman" panose="02020603050405020304" charset="0"/>
                <a:ea typeface="楷体_GB2312" panose="02010609030101010101" pitchFamily="49" charset="-122"/>
              </a:rPr>
              <a:t>闭合，待积分电容放电完毕后，断开</a:t>
            </a:r>
            <a:r>
              <a:rPr lang="en-US" altLang="zh-CN" sz="2400" b="1">
                <a:solidFill>
                  <a:srgbClr val="000099"/>
                </a:solidFill>
                <a:latin typeface="Times New Roman" panose="02020603050405020304" charset="0"/>
                <a:ea typeface="楷体_GB2312" panose="02010609030101010101" pitchFamily="49" charset="-122"/>
              </a:rPr>
              <a:t>S</a:t>
            </a:r>
            <a:r>
              <a:rPr lang="en-US" altLang="zh-CN" sz="2400" b="1" baseline="-25000">
                <a:solidFill>
                  <a:srgbClr val="000099"/>
                </a:solidFill>
                <a:latin typeface="Times New Roman" panose="02020603050405020304" charset="0"/>
                <a:ea typeface="楷体_GB2312" panose="02010609030101010101" pitchFamily="49" charset="-122"/>
              </a:rPr>
              <a:t>2 </a:t>
            </a:r>
            <a:r>
              <a:rPr lang="zh-CN" altLang="en-US" sz="2400" b="1" dirty="0">
                <a:solidFill>
                  <a:srgbClr val="000099"/>
                </a:solidFill>
                <a:latin typeface="Times New Roman" panose="02020603050405020304" charset="0"/>
                <a:ea typeface="楷体_GB2312" panose="02010609030101010101" pitchFamily="49" charset="-122"/>
              </a:rPr>
              <a:t>使电容的初始电压为</a:t>
            </a:r>
            <a:r>
              <a:rPr lang="en-US" altLang="zh-CN" sz="2400" b="1" dirty="0">
                <a:solidFill>
                  <a:srgbClr val="000099"/>
                </a:solidFill>
                <a:latin typeface="Times New Roman" panose="02020603050405020304" charset="0"/>
                <a:ea typeface="楷体_GB2312" panose="02010609030101010101" pitchFamily="49" charset="-122"/>
              </a:rPr>
              <a:t>0</a:t>
            </a:r>
            <a:r>
              <a:rPr lang="zh-CN" altLang="en-US" sz="2400" b="1" dirty="0">
                <a:solidFill>
                  <a:srgbClr val="000099"/>
                </a:solidFill>
                <a:latin typeface="Times New Roman" panose="02020603050405020304" charset="0"/>
                <a:ea typeface="楷体_GB2312" panose="02010609030101010101" pitchFamily="49" charset="-122"/>
              </a:rPr>
              <a:t>。</a:t>
            </a:r>
            <a:endParaRPr lang="zh-CN" altLang="en-US" sz="2400" b="1" dirty="0">
              <a:solidFill>
                <a:srgbClr val="000099"/>
              </a:solidFill>
              <a:latin typeface="Times New Roman" panose="02020603050405020304" charset="0"/>
              <a:ea typeface="楷体_GB2312" panose="02010609030101010101" pitchFamily="49" charset="-122"/>
            </a:endParaRPr>
          </a:p>
        </p:txBody>
      </p:sp>
      <p:sp>
        <p:nvSpPr>
          <p:cNvPr id="449548" name="矩形 449547"/>
          <p:cNvSpPr/>
          <p:nvPr/>
        </p:nvSpPr>
        <p:spPr>
          <a:xfrm>
            <a:off x="935038" y="1213803"/>
            <a:ext cx="2447925" cy="460375"/>
          </a:xfrm>
          <a:prstGeom prst="rect">
            <a:avLst/>
          </a:prstGeom>
          <a:noFill/>
          <a:ln w="9525">
            <a:noFill/>
          </a:ln>
        </p:spPr>
        <p:txBody>
          <a:bodyPr>
            <a:spAutoFit/>
          </a:bodyPr>
          <a:p>
            <a:pPr algn="l">
              <a:spcBef>
                <a:spcPct val="50000"/>
              </a:spcBef>
            </a:pPr>
            <a:r>
              <a:rPr lang="en-US" altLang="zh-CN" sz="2400" b="1" dirty="0">
                <a:solidFill>
                  <a:srgbClr val="000099"/>
                </a:solidFill>
                <a:latin typeface="Times New Roman" panose="02020603050405020304" charset="0"/>
                <a:ea typeface="楷体_GB2312" panose="02010609030101010101" pitchFamily="49" charset="-122"/>
              </a:rPr>
              <a:t>(2)</a:t>
            </a:r>
            <a:r>
              <a:rPr lang="zh-CN" altLang="en-US" sz="2400" b="1" dirty="0">
                <a:solidFill>
                  <a:srgbClr val="000099"/>
                </a:solidFill>
                <a:latin typeface="Times New Roman" panose="02020603050405020304" charset="0"/>
                <a:ea typeface="楷体_GB2312" panose="02010609030101010101" pitchFamily="49" charset="-122"/>
              </a:rPr>
              <a:t>工作原理</a:t>
            </a:r>
            <a:endParaRPr lang="en-GB" altLang="zh-CN" sz="2400" b="1">
              <a:solidFill>
                <a:srgbClr val="000099"/>
              </a:solidFill>
              <a:latin typeface="Times New Roman" panose="02020603050405020304" charset="0"/>
              <a:ea typeface="楷体_GB2312" panose="02010609030101010101" pitchFamily="49" charset="-122"/>
            </a:endParaRPr>
          </a:p>
        </p:txBody>
      </p:sp>
      <p:sp>
        <p:nvSpPr>
          <p:cNvPr id="102" name="文本框 101"/>
          <p:cNvSpPr txBox="1"/>
          <p:nvPr/>
        </p:nvSpPr>
        <p:spPr>
          <a:xfrm>
            <a:off x="935355" y="1674495"/>
            <a:ext cx="1756410" cy="460375"/>
          </a:xfrm>
          <a:prstGeom prst="rect">
            <a:avLst/>
          </a:prstGeom>
          <a:noFill/>
          <a:ln w="9525">
            <a:noFill/>
          </a:ln>
        </p:spPr>
        <p:txBody>
          <a:bodyPr wrap="square">
            <a:spAutoFit/>
          </a:bodyPr>
          <a:p>
            <a:r>
              <a:rPr lang="en-US" altLang="zh-CN" sz="2400" b="1">
                <a:gradFill>
                  <a:gsLst>
                    <a:gs pos="0">
                      <a:srgbClr val="012D86"/>
                    </a:gs>
                    <a:gs pos="100000">
                      <a:srgbClr val="0E2557"/>
                    </a:gs>
                  </a:gsLst>
                  <a:lin scaled="0"/>
                </a:gradFill>
                <a:latin typeface="楷体_GB2312" panose="02010609030101010101" pitchFamily="49" charset="-122"/>
                <a:ea typeface="楷体_GB2312" panose="02010609030101010101" pitchFamily="49" charset="-122"/>
                <a:sym typeface="+mn-ea"/>
              </a:rPr>
              <a:t>①</a:t>
            </a:r>
            <a:r>
              <a:rPr lang="zh-CN" sz="2400" b="1">
                <a:gradFill>
                  <a:gsLst>
                    <a:gs pos="0">
                      <a:srgbClr val="012D86"/>
                    </a:gs>
                    <a:gs pos="100000">
                      <a:srgbClr val="0E2557"/>
                    </a:gs>
                  </a:gsLst>
                  <a:lin scaled="0"/>
                </a:gradFill>
                <a:ea typeface="宋体" panose="02010600030101010101" pitchFamily="2" charset="-122"/>
              </a:rPr>
              <a:t>准备阶段</a:t>
            </a:r>
            <a:endParaRPr lang="zh-CN" altLang="en-US" sz="2400" b="1">
              <a:gradFill>
                <a:gsLst>
                  <a:gs pos="0">
                    <a:srgbClr val="012D86"/>
                  </a:gs>
                  <a:gs pos="100000">
                    <a:srgbClr val="0E2557"/>
                  </a:gs>
                </a:gsLst>
                <a:lin scaled="0"/>
              </a:gra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449539"/>
                                        </p:tgtEl>
                                        <p:attrNameLst>
                                          <p:attrName>style.visibility</p:attrName>
                                        </p:attrNameLst>
                                      </p:cBhvr>
                                      <p:to>
                                        <p:strVal val="visible"/>
                                      </p:to>
                                    </p:set>
                                    <p:animEffect transition="in" filter="wheel(4)">
                                      <p:cBhvr>
                                        <p:cTn id="7" dur="500"/>
                                        <p:tgtEl>
                                          <p:spTgt spid="449539"/>
                                        </p:tgtEl>
                                      </p:cBhvr>
                                    </p:animEffect>
                                  </p:childTnLst>
                                  <p:subTnLst>
                                    <p:set>
                                      <p:cBhvr override="childStyle">
                                        <p:cTn dur="1" fill="hold" display="0" masterRel="nextClick" afterEffect="1"/>
                                        <p:tgtEl>
                                          <p:spTgt spid="449539"/>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449540"/>
                                        </p:tgtEl>
                                        <p:attrNameLst>
                                          <p:attrName>style.visibility</p:attrName>
                                        </p:attrNameLst>
                                      </p:cBhvr>
                                      <p:to>
                                        <p:strVal val="visible"/>
                                      </p:to>
                                    </p:set>
                                    <p:animEffect transition="in" filter="barn(inHorizontal)">
                                      <p:cBhvr>
                                        <p:cTn id="12" dur="500"/>
                                        <p:tgtEl>
                                          <p:spTgt spid="449540"/>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449545"/>
                                        </p:tgtEl>
                                        <p:attrNameLst>
                                          <p:attrName>style.visibility</p:attrName>
                                        </p:attrNameLst>
                                      </p:cBhvr>
                                      <p:to>
                                        <p:strVal val="visible"/>
                                      </p:to>
                                    </p:set>
                                    <p:animEffect transition="in" filter="strips(upRight)">
                                      <p:cBhvr>
                                        <p:cTn id="17" dur="500"/>
                                        <p:tgtEl>
                                          <p:spTgt spid="449545"/>
                                        </p:tgtEl>
                                      </p:cBhvr>
                                    </p:animEffect>
                                  </p:childTnLst>
                                  <p:subTnLst>
                                    <p:set>
                                      <p:cBhvr override="childStyle">
                                        <p:cTn dur="1" fill="hold" display="0" masterRel="nextClick" afterEffect="1"/>
                                        <p:tgtEl>
                                          <p:spTgt spid="449545"/>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18" presetClass="entr" presetSubtype="3" fill="hold" nodeType="clickEffect">
                                  <p:stCondLst>
                                    <p:cond delay="0"/>
                                  </p:stCondLst>
                                  <p:childTnLst>
                                    <p:set>
                                      <p:cBhvr>
                                        <p:cTn id="21" dur="1" fill="hold">
                                          <p:stCondLst>
                                            <p:cond delay="0"/>
                                          </p:stCondLst>
                                        </p:cTn>
                                        <p:tgtEl>
                                          <p:spTgt spid="449546"/>
                                        </p:tgtEl>
                                        <p:attrNameLst>
                                          <p:attrName>style.visibility</p:attrName>
                                        </p:attrNameLst>
                                      </p:cBhvr>
                                      <p:to>
                                        <p:strVal val="visible"/>
                                      </p:to>
                                    </p:set>
                                    <p:animEffect transition="in" filter="strips(upRight)">
                                      <p:cBhvr>
                                        <p:cTn id="22" dur="500"/>
                                        <p:tgtEl>
                                          <p:spTgt spid="449546"/>
                                        </p:tgtEl>
                                      </p:cBhvr>
                                    </p:animEffect>
                                  </p:childTnLst>
                                  <p:subTnLst>
                                    <p:set>
                                      <p:cBhvr override="childStyle">
                                        <p:cTn dur="1" fill="hold" display="0" masterRel="nextClick" afterEffect="1"/>
                                        <p:tgtEl>
                                          <p:spTgt spid="449546"/>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449547"/>
                                        </p:tgtEl>
                                        <p:attrNameLst>
                                          <p:attrName>style.visibility</p:attrName>
                                        </p:attrNameLst>
                                      </p:cBhvr>
                                      <p:to>
                                        <p:strVal val="visible"/>
                                      </p:to>
                                    </p:set>
                                    <p:animEffect transition="in" filter="strips(downRight)">
                                      <p:cBhvr>
                                        <p:cTn id="27" dur="500"/>
                                        <p:tgtEl>
                                          <p:spTgt spid="4495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9539" grpId="0" bldLvl="0" animBg="1"/>
      <p:bldP spid="449547" grpId="0" bldLvl="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1891030" y="49911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9.3 </a:t>
            </a:r>
            <a:r>
              <a:rPr lang="en-US" altLang="zh-CN" b="1" dirty="0">
                <a:solidFill>
                  <a:srgbClr val="FF0000"/>
                </a:solidFill>
                <a:latin typeface="黑体" panose="02010609060101010101" pitchFamily="49" charset="-122"/>
                <a:ea typeface="黑体" panose="02010609060101010101" pitchFamily="49" charset="-122"/>
                <a:sym typeface="+mn-ea"/>
              </a:rPr>
              <a:t>A/D转换电路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pic>
        <p:nvPicPr>
          <p:cNvPr id="9504" name="图片 2941"/>
          <p:cNvPicPr>
            <a:picLocks noChangeAspect="1"/>
          </p:cNvPicPr>
          <p:nvPr/>
        </p:nvPicPr>
        <p:blipFill>
          <a:blip r:embed="rId1"/>
          <a:stretch>
            <a:fillRect/>
          </a:stretch>
        </p:blipFill>
        <p:spPr>
          <a:xfrm>
            <a:off x="587375" y="1488440"/>
            <a:ext cx="7831455" cy="4106545"/>
          </a:xfrm>
          <a:prstGeom prst="rect">
            <a:avLst/>
          </a:prstGeom>
          <a:noFill/>
          <a:ln>
            <a:noFill/>
          </a:ln>
        </p:spPr>
      </p:pic>
      <p:sp>
        <p:nvSpPr>
          <p:cNvPr id="450568" name="矩形 450567"/>
          <p:cNvSpPr/>
          <p:nvPr/>
        </p:nvSpPr>
        <p:spPr>
          <a:xfrm>
            <a:off x="1072198" y="1167765"/>
            <a:ext cx="2947987" cy="460375"/>
          </a:xfrm>
          <a:prstGeom prst="rect">
            <a:avLst/>
          </a:prstGeom>
          <a:noFill/>
          <a:ln w="9525">
            <a:noFill/>
          </a:ln>
        </p:spPr>
        <p:txBody>
          <a:bodyPr>
            <a:spAutoFit/>
          </a:bodyPr>
          <a:p>
            <a:pPr algn="l">
              <a:spcBef>
                <a:spcPct val="50000"/>
              </a:spcBef>
            </a:pPr>
            <a:r>
              <a:rPr lang="en-US" altLang="zh-CN" sz="2400" b="1" dirty="0">
                <a:solidFill>
                  <a:srgbClr val="000099"/>
                </a:solidFill>
                <a:latin typeface="Calibri" panose="020F0502020204030204" charset="0"/>
                <a:ea typeface="楷体_GB2312" panose="02010609030101010101" pitchFamily="49" charset="-122"/>
              </a:rPr>
              <a:t>②</a:t>
            </a:r>
            <a:r>
              <a:rPr lang="zh-CN" altLang="en-US" sz="2400" b="1" dirty="0">
                <a:solidFill>
                  <a:srgbClr val="000099"/>
                </a:solidFill>
                <a:latin typeface="Times New Roman" panose="02020603050405020304" charset="0"/>
                <a:ea typeface="楷体_GB2312" panose="02010609030101010101" pitchFamily="49" charset="-122"/>
              </a:rPr>
              <a:t>第一次积分</a:t>
            </a:r>
            <a:endParaRPr lang="zh-CN" altLang="en-US" sz="2400" b="1" dirty="0">
              <a:solidFill>
                <a:srgbClr val="000099"/>
              </a:solidFill>
              <a:latin typeface="Times New Roman" panose="02020603050405020304" charset="0"/>
              <a:ea typeface="楷体_GB2312" panose="02010609030101010101" pitchFamily="49" charset="-122"/>
            </a:endParaRPr>
          </a:p>
        </p:txBody>
      </p:sp>
      <p:pic>
        <p:nvPicPr>
          <p:cNvPr id="2" name="图片 1"/>
          <p:cNvPicPr>
            <a:picLocks noChangeAspect="1"/>
          </p:cNvPicPr>
          <p:nvPr/>
        </p:nvPicPr>
        <p:blipFill>
          <a:blip r:embed="rId2"/>
          <a:stretch>
            <a:fillRect/>
          </a:stretch>
        </p:blipFill>
        <p:spPr>
          <a:xfrm>
            <a:off x="4902200" y="1488440"/>
            <a:ext cx="2233295" cy="831215"/>
          </a:xfrm>
          <a:prstGeom prst="rect">
            <a:avLst/>
          </a:prstGeom>
        </p:spPr>
      </p:pic>
      <p:grpSp>
        <p:nvGrpSpPr>
          <p:cNvPr id="450564" name="组合 450563"/>
          <p:cNvGrpSpPr/>
          <p:nvPr/>
        </p:nvGrpSpPr>
        <p:grpSpPr>
          <a:xfrm>
            <a:off x="2881630" y="5296499"/>
            <a:ext cx="3496945" cy="398725"/>
            <a:chOff x="4492" y="3654"/>
            <a:chExt cx="964" cy="255"/>
          </a:xfrm>
        </p:grpSpPr>
        <p:sp>
          <p:nvSpPr>
            <p:cNvPr id="450565" name="左大括号 450564"/>
            <p:cNvSpPr/>
            <p:nvPr/>
          </p:nvSpPr>
          <p:spPr>
            <a:xfrm rot="16200000">
              <a:off x="4917" y="3370"/>
              <a:ext cx="114" cy="964"/>
            </a:xfrm>
            <a:prstGeom prst="leftBrace">
              <a:avLst>
                <a:gd name="adj1" fmla="val 70467"/>
                <a:gd name="adj2" fmla="val 50000"/>
              </a:avLst>
            </a:prstGeom>
            <a:noFill/>
            <a:ln w="28575" cap="flat" cmpd="sng">
              <a:solidFill>
                <a:srgbClr val="00CC66"/>
              </a:solidFill>
              <a:prstDash val="solid"/>
              <a:headEnd type="none" w="med" len="med"/>
              <a:tailEnd type="none" w="med" len="med"/>
            </a:ln>
          </p:spPr>
          <p:txBody>
            <a:bodyPr/>
            <a:p>
              <a:endParaRPr lang="zh-CN" altLang="en-US"/>
            </a:p>
          </p:txBody>
        </p:sp>
        <p:sp>
          <p:nvSpPr>
            <p:cNvPr id="450566" name="文本框 450565"/>
            <p:cNvSpPr txBox="1"/>
            <p:nvPr/>
          </p:nvSpPr>
          <p:spPr>
            <a:xfrm>
              <a:off x="4666" y="3654"/>
              <a:ext cx="510" cy="255"/>
            </a:xfrm>
            <a:prstGeom prst="rect">
              <a:avLst/>
            </a:prstGeom>
            <a:pattFill prst="pct50">
              <a:fgClr>
                <a:schemeClr val="hlink"/>
              </a:fgClr>
              <a:bgClr>
                <a:srgbClr val="FFFFFF"/>
              </a:bgClr>
            </a:pattFill>
            <a:ln w="19050" cap="flat" cmpd="sng">
              <a:solidFill>
                <a:srgbClr val="00CC66"/>
              </a:solidFill>
              <a:prstDash val="solid"/>
              <a:miter/>
              <a:headEnd type="none" w="med" len="med"/>
              <a:tailEnd type="none" w="med" len="med"/>
            </a:ln>
          </p:spPr>
          <p:txBody>
            <a:bodyPr>
              <a:spAutoFit/>
            </a:bodyPr>
            <a:p>
              <a:pPr>
                <a:spcBef>
                  <a:spcPct val="50000"/>
                </a:spcBef>
              </a:pPr>
              <a:r>
                <a:rPr lang="zh-CN" altLang="en-US" sz="2000" dirty="0">
                  <a:solidFill>
                    <a:srgbClr val="000066"/>
                  </a:solidFill>
                  <a:latin typeface="Times New Roman" panose="02020603050405020304" charset="0"/>
                  <a:ea typeface="楷体_GB2312" panose="02010609030101010101" pitchFamily="49" charset="-122"/>
                </a:rPr>
                <a:t>经过</a:t>
              </a:r>
              <a:r>
                <a:rPr lang="en-US" altLang="zh-CN" sz="2000">
                  <a:solidFill>
                    <a:srgbClr val="000066"/>
                  </a:solidFill>
                  <a:latin typeface="Times New Roman" panose="02020603050405020304" charset="0"/>
                  <a:ea typeface="楷体_GB2312" panose="02010609030101010101" pitchFamily="49" charset="-122"/>
                </a:rPr>
                <a:t>2</a:t>
              </a:r>
              <a:r>
                <a:rPr lang="en-US" altLang="zh-CN" sz="2000" i="1" baseline="30000">
                  <a:solidFill>
                    <a:srgbClr val="000066"/>
                  </a:solidFill>
                  <a:latin typeface="Times New Roman" panose="02020603050405020304" charset="0"/>
                  <a:ea typeface="楷体_GB2312" panose="02010609030101010101" pitchFamily="49" charset="-122"/>
                </a:rPr>
                <a:t>n</a:t>
              </a:r>
              <a:r>
                <a:rPr lang="zh-CN" altLang="en-US" sz="2000">
                  <a:solidFill>
                    <a:srgbClr val="000066"/>
                  </a:solidFill>
                  <a:latin typeface="Times New Roman" panose="02020603050405020304" charset="0"/>
                  <a:ea typeface="楷体_GB2312" panose="02010609030101010101" pitchFamily="49" charset="-122"/>
                </a:rPr>
                <a:t>个</a:t>
              </a:r>
              <a:r>
                <a:rPr lang="en-US" altLang="zh-CN" sz="2000">
                  <a:solidFill>
                    <a:srgbClr val="000066"/>
                  </a:solidFill>
                  <a:latin typeface="Times New Roman" panose="02020603050405020304" charset="0"/>
                  <a:ea typeface="楷体_GB2312" panose="02010609030101010101" pitchFamily="49" charset="-122"/>
                </a:rPr>
                <a:t>CP</a:t>
              </a:r>
              <a:endParaRPr lang="en-US" altLang="zh-CN" sz="2000">
                <a:solidFill>
                  <a:srgbClr val="000066"/>
                </a:solidFill>
                <a:latin typeface="Times New Roman" panose="02020603050405020304" charset="0"/>
                <a:ea typeface="楷体_GB2312" panose="02010609030101010101" pitchFamily="49" charset="-122"/>
              </a:endParaRPr>
            </a:p>
          </p:txBody>
        </p:sp>
      </p:grpSp>
      <p:grpSp>
        <p:nvGrpSpPr>
          <p:cNvPr id="450569" name="组合 450568"/>
          <p:cNvGrpSpPr/>
          <p:nvPr/>
        </p:nvGrpSpPr>
        <p:grpSpPr>
          <a:xfrm>
            <a:off x="145415" y="5695315"/>
            <a:ext cx="8824001" cy="1031875"/>
            <a:chOff x="0" y="277"/>
            <a:chExt cx="5140" cy="650"/>
          </a:xfrm>
        </p:grpSpPr>
        <p:sp>
          <p:nvSpPr>
            <p:cNvPr id="450570" name="矩形 450569"/>
            <p:cNvSpPr/>
            <p:nvPr/>
          </p:nvSpPr>
          <p:spPr>
            <a:xfrm>
              <a:off x="0" y="277"/>
              <a:ext cx="5093" cy="650"/>
            </a:xfrm>
            <a:prstGeom prst="rect">
              <a:avLst/>
            </a:prstGeom>
            <a:solidFill>
              <a:schemeClr val="bg1">
                <a:alpha val="50000"/>
              </a:schemeClr>
            </a:solidFill>
            <a:ln w="9525" cap="flat" cmpd="sng">
              <a:solidFill>
                <a:schemeClr val="accent1"/>
              </a:solidFill>
              <a:prstDash val="solid"/>
              <a:miter/>
              <a:headEnd type="none" w="med" len="med"/>
              <a:tailEnd type="none" w="med" len="med"/>
            </a:ln>
          </p:spPr>
          <p:txBody>
            <a:bodyPr/>
            <a:p>
              <a:endParaRPr lang="zh-CN" altLang="en-US" sz="2000"/>
            </a:p>
          </p:txBody>
        </p:sp>
        <p:sp>
          <p:nvSpPr>
            <p:cNvPr id="450571" name="矩形 450570"/>
            <p:cNvSpPr/>
            <p:nvPr/>
          </p:nvSpPr>
          <p:spPr>
            <a:xfrm>
              <a:off x="85" y="277"/>
              <a:ext cx="5055" cy="445"/>
            </a:xfrm>
            <a:prstGeom prst="rect">
              <a:avLst/>
            </a:prstGeom>
            <a:solidFill>
              <a:schemeClr val="bg1"/>
            </a:solidFill>
            <a:ln w="9525">
              <a:noFill/>
            </a:ln>
          </p:spPr>
          <p:txBody>
            <a:bodyPr wrap="square">
              <a:spAutoFit/>
            </a:bodyPr>
            <a:p>
              <a:pPr algn="l"/>
              <a:r>
                <a:rPr lang="en-US" altLang="zh-CN" sz="2000" b="1" i="1">
                  <a:gradFill>
                    <a:gsLst>
                      <a:gs pos="0">
                        <a:srgbClr val="012D86"/>
                      </a:gs>
                      <a:gs pos="100000">
                        <a:srgbClr val="0E2557"/>
                      </a:gs>
                    </a:gsLst>
                    <a:lin scaled="0"/>
                  </a:gradFill>
                  <a:latin typeface="Times New Roman" panose="02020603050405020304" charset="0"/>
                  <a:ea typeface="楷体_GB2312" panose="02010609030101010101" pitchFamily="49" charset="-122"/>
                </a:rPr>
                <a:t>t</a:t>
              </a:r>
              <a:r>
                <a:rPr lang="en-US" altLang="zh-CN" sz="2000" b="1">
                  <a:gradFill>
                    <a:gsLst>
                      <a:gs pos="0">
                        <a:srgbClr val="012D86"/>
                      </a:gs>
                      <a:gs pos="100000">
                        <a:srgbClr val="0E2557"/>
                      </a:gs>
                    </a:gsLst>
                    <a:lin scaled="0"/>
                  </a:gradFill>
                  <a:latin typeface="Times New Roman" panose="02020603050405020304" charset="0"/>
                  <a:ea typeface="楷体_GB2312" panose="02010609030101010101" pitchFamily="49" charset="-122"/>
                </a:rPr>
                <a:t> = </a:t>
              </a:r>
              <a:r>
                <a:rPr lang="en-US" altLang="zh-CN" sz="2000" b="1" i="1">
                  <a:gradFill>
                    <a:gsLst>
                      <a:gs pos="0">
                        <a:srgbClr val="012D86"/>
                      </a:gs>
                      <a:gs pos="100000">
                        <a:srgbClr val="0E2557"/>
                      </a:gs>
                    </a:gsLst>
                    <a:lin scaled="0"/>
                  </a:gradFill>
                  <a:latin typeface="Times New Roman" panose="02020603050405020304" charset="0"/>
                  <a:ea typeface="楷体_GB2312" panose="02010609030101010101" pitchFamily="49" charset="-122"/>
                </a:rPr>
                <a:t>t</a:t>
              </a:r>
              <a:r>
                <a:rPr lang="en-US" altLang="zh-CN" sz="2000" b="1" baseline="-25000">
                  <a:gradFill>
                    <a:gsLst>
                      <a:gs pos="0">
                        <a:srgbClr val="012D86"/>
                      </a:gs>
                      <a:gs pos="100000">
                        <a:srgbClr val="0E2557"/>
                      </a:gs>
                    </a:gsLst>
                    <a:lin scaled="0"/>
                  </a:gradFill>
                  <a:latin typeface="Times New Roman" panose="02020603050405020304" charset="0"/>
                  <a:ea typeface="楷体_GB2312" panose="02010609030101010101" pitchFamily="49" charset="-122"/>
                </a:rPr>
                <a:t>0</a:t>
              </a:r>
              <a:r>
                <a:rPr lang="zh-CN" altLang="en-US" sz="2000" b="1" dirty="0">
                  <a:gradFill>
                    <a:gsLst>
                      <a:gs pos="0">
                        <a:srgbClr val="012D86"/>
                      </a:gs>
                      <a:gs pos="100000">
                        <a:srgbClr val="0E2557"/>
                      </a:gs>
                    </a:gsLst>
                    <a:lin scaled="0"/>
                  </a:gradFill>
                  <a:latin typeface="Times New Roman" panose="02020603050405020304" charset="0"/>
                  <a:ea typeface="楷体_GB2312" panose="02010609030101010101" pitchFamily="49" charset="-122"/>
                </a:rPr>
                <a:t>时，开关</a:t>
              </a:r>
              <a:r>
                <a:rPr lang="en-US" altLang="zh-CN" sz="2000" b="1">
                  <a:gradFill>
                    <a:gsLst>
                      <a:gs pos="0">
                        <a:srgbClr val="012D86"/>
                      </a:gs>
                      <a:gs pos="100000">
                        <a:srgbClr val="0E2557"/>
                      </a:gs>
                    </a:gsLst>
                    <a:lin scaled="0"/>
                  </a:gradFill>
                  <a:latin typeface="Times New Roman" panose="02020603050405020304" charset="0"/>
                  <a:ea typeface="楷体_GB2312" panose="02010609030101010101" pitchFamily="49" charset="-122"/>
                </a:rPr>
                <a:t>S</a:t>
              </a:r>
              <a:r>
                <a:rPr lang="en-US" altLang="zh-CN" sz="2000" b="1" baseline="-25000">
                  <a:gradFill>
                    <a:gsLst>
                      <a:gs pos="0">
                        <a:srgbClr val="012D86"/>
                      </a:gs>
                      <a:gs pos="100000">
                        <a:srgbClr val="0E2557"/>
                      </a:gs>
                    </a:gsLst>
                    <a:lin scaled="0"/>
                  </a:gradFill>
                  <a:latin typeface="Times New Roman" panose="02020603050405020304" charset="0"/>
                  <a:ea typeface="楷体_GB2312" panose="02010609030101010101" pitchFamily="49" charset="-122"/>
                </a:rPr>
                <a:t>1</a:t>
              </a:r>
              <a:r>
                <a:rPr lang="zh-CN" altLang="en-US" sz="2000" b="1" dirty="0">
                  <a:gradFill>
                    <a:gsLst>
                      <a:gs pos="0">
                        <a:srgbClr val="012D86"/>
                      </a:gs>
                      <a:gs pos="100000">
                        <a:srgbClr val="0E2557"/>
                      </a:gs>
                    </a:gsLst>
                    <a:lin scaled="0"/>
                  </a:gradFill>
                  <a:latin typeface="Times New Roman" panose="02020603050405020304" charset="0"/>
                  <a:ea typeface="楷体_GB2312" panose="02010609030101010101" pitchFamily="49" charset="-122"/>
                </a:rPr>
                <a:t>与</a:t>
              </a:r>
              <a:r>
                <a:rPr lang="en-US" altLang="zh-CN" sz="2000" b="1" dirty="0">
                  <a:gradFill>
                    <a:gsLst>
                      <a:gs pos="0">
                        <a:srgbClr val="012D86"/>
                      </a:gs>
                      <a:gs pos="100000">
                        <a:srgbClr val="0E2557"/>
                      </a:gs>
                    </a:gsLst>
                    <a:lin scaled="0"/>
                  </a:gradFill>
                  <a:latin typeface="Times New Roman" panose="02020603050405020304" charset="0"/>
                  <a:ea typeface="楷体_GB2312" panose="02010609030101010101" pitchFamily="49" charset="-122"/>
                </a:rPr>
                <a:t>A</a:t>
              </a:r>
              <a:r>
                <a:rPr lang="zh-CN" altLang="en-US" sz="2000" b="1" dirty="0">
                  <a:gradFill>
                    <a:gsLst>
                      <a:gs pos="0">
                        <a:srgbClr val="012D86"/>
                      </a:gs>
                      <a:gs pos="100000">
                        <a:srgbClr val="0E2557"/>
                      </a:gs>
                    </a:gsLst>
                    <a:lin scaled="0"/>
                  </a:gradFill>
                  <a:latin typeface="Times New Roman" panose="02020603050405020304" charset="0"/>
                  <a:ea typeface="楷体_GB2312" panose="02010609030101010101" pitchFamily="49" charset="-122"/>
                </a:rPr>
                <a:t>点相接，积分器开始对</a:t>
              </a:r>
              <a:r>
                <a:rPr lang="en-US" altLang="zh-CN" sz="2000" b="1" dirty="0">
                  <a:gradFill>
                    <a:gsLst>
                      <a:gs pos="0">
                        <a:srgbClr val="012D86"/>
                      </a:gs>
                      <a:gs pos="100000">
                        <a:srgbClr val="0E2557"/>
                      </a:gs>
                    </a:gsLst>
                    <a:lin scaled="0"/>
                  </a:gradFill>
                  <a:latin typeface="Times New Roman" panose="02020603050405020304" charset="0"/>
                  <a:ea typeface="楷体_GB2312" panose="02010609030101010101" pitchFamily="49" charset="-122"/>
                  <a:sym typeface="Symbol" panose="05050102010706020507" pitchFamily="18" charset="2"/>
                </a:rPr>
                <a:t></a:t>
              </a:r>
              <a:r>
                <a:rPr lang="en-US" altLang="zh-CN" sz="2000" b="1" baseline="-25000">
                  <a:gradFill>
                    <a:gsLst>
                      <a:gs pos="0">
                        <a:srgbClr val="012D86"/>
                      </a:gs>
                      <a:gs pos="100000">
                        <a:srgbClr val="0E2557"/>
                      </a:gs>
                    </a:gsLst>
                    <a:lin scaled="0"/>
                  </a:gradFill>
                  <a:latin typeface="Times New Roman" panose="02020603050405020304" charset="0"/>
                  <a:ea typeface="楷体_GB2312" panose="02010609030101010101" pitchFamily="49" charset="-122"/>
                </a:rPr>
                <a:t>I</a:t>
              </a:r>
              <a:r>
                <a:rPr lang="zh-CN" altLang="en-US" sz="2000" b="1" dirty="0">
                  <a:gradFill>
                    <a:gsLst>
                      <a:gs pos="0">
                        <a:srgbClr val="012D86"/>
                      </a:gs>
                      <a:gs pos="100000">
                        <a:srgbClr val="0E2557"/>
                      </a:gs>
                    </a:gsLst>
                    <a:lin scaled="0"/>
                  </a:gradFill>
                  <a:latin typeface="Times New Roman" panose="02020603050405020304" charset="0"/>
                  <a:ea typeface="楷体_GB2312" panose="02010609030101010101" pitchFamily="49" charset="-122"/>
                </a:rPr>
                <a:t>积分。</a:t>
              </a:r>
              <a:r>
                <a:rPr lang="zh-CN" altLang="en-US" sz="2000" b="1" dirty="0">
                  <a:gradFill>
                    <a:gsLst>
                      <a:gs pos="0">
                        <a:srgbClr val="012D86"/>
                      </a:gs>
                      <a:gs pos="100000">
                        <a:srgbClr val="0E2557"/>
                      </a:gs>
                    </a:gsLst>
                    <a:lin scaled="0"/>
                  </a:gradFill>
                  <a:latin typeface="Times New Roman" panose="02020603050405020304" charset="0"/>
                  <a:ea typeface="楷体_GB2312" panose="02010609030101010101" pitchFamily="49" charset="-122"/>
                  <a:sym typeface="+mn-ea"/>
                </a:rPr>
                <a:t>经</a:t>
              </a:r>
              <a:r>
                <a:rPr lang="en-US" altLang="zh-CN" sz="2000" b="1">
                  <a:gradFill>
                    <a:gsLst>
                      <a:gs pos="0">
                        <a:srgbClr val="012D86"/>
                      </a:gs>
                      <a:gs pos="100000">
                        <a:srgbClr val="0E2557"/>
                      </a:gs>
                    </a:gsLst>
                    <a:lin scaled="0"/>
                  </a:gradFill>
                  <a:latin typeface="Times New Roman" panose="02020603050405020304" charset="0"/>
                  <a:ea typeface="楷体_GB2312" panose="02010609030101010101" pitchFamily="49" charset="-122"/>
                  <a:sym typeface="+mn-ea"/>
                </a:rPr>
                <a:t>2</a:t>
              </a:r>
              <a:r>
                <a:rPr lang="en-US" altLang="zh-CN" sz="2000" b="1" i="1" baseline="30000">
                  <a:gradFill>
                    <a:gsLst>
                      <a:gs pos="0">
                        <a:srgbClr val="012D86"/>
                      </a:gs>
                      <a:gs pos="100000">
                        <a:srgbClr val="0E2557"/>
                      </a:gs>
                    </a:gsLst>
                    <a:lin scaled="0"/>
                  </a:gradFill>
                  <a:latin typeface="Times New Roman" panose="02020603050405020304" charset="0"/>
                  <a:ea typeface="楷体_GB2312" panose="02010609030101010101" pitchFamily="49" charset="-122"/>
                  <a:sym typeface="+mn-ea"/>
                </a:rPr>
                <a:t>n</a:t>
              </a:r>
              <a:r>
                <a:rPr lang="zh-CN" altLang="en-US" sz="2000" b="1" dirty="0">
                  <a:gradFill>
                    <a:gsLst>
                      <a:gs pos="0">
                        <a:srgbClr val="012D86"/>
                      </a:gs>
                      <a:gs pos="100000">
                        <a:srgbClr val="0E2557"/>
                      </a:gs>
                    </a:gsLst>
                    <a:lin scaled="0"/>
                  </a:gradFill>
                  <a:latin typeface="Times New Roman" panose="02020603050405020304" charset="0"/>
                  <a:ea typeface="楷体_GB2312" panose="02010609030101010101" pitchFamily="49" charset="-122"/>
                  <a:sym typeface="+mn-ea"/>
                </a:rPr>
                <a:t>个</a:t>
              </a:r>
              <a:r>
                <a:rPr lang="en-US" altLang="zh-CN" sz="2000" b="1" i="1" dirty="0">
                  <a:gradFill>
                    <a:gsLst>
                      <a:gs pos="0">
                        <a:srgbClr val="012D86"/>
                      </a:gs>
                      <a:gs pos="100000">
                        <a:srgbClr val="0E2557"/>
                      </a:gs>
                    </a:gsLst>
                    <a:lin scaled="0"/>
                  </a:gradFill>
                  <a:latin typeface="Times New Roman" panose="02020603050405020304" charset="0"/>
                  <a:ea typeface="楷体_GB2312" panose="02010609030101010101" pitchFamily="49" charset="-122"/>
                  <a:sym typeface="+mn-ea"/>
                </a:rPr>
                <a:t>CP</a:t>
              </a:r>
              <a:r>
                <a:rPr lang="zh-CN" altLang="en-US" sz="2000" b="1" dirty="0">
                  <a:gradFill>
                    <a:gsLst>
                      <a:gs pos="0">
                        <a:srgbClr val="012D86"/>
                      </a:gs>
                      <a:gs pos="100000">
                        <a:srgbClr val="0E2557"/>
                      </a:gs>
                    </a:gsLst>
                    <a:lin scaled="0"/>
                  </a:gradFill>
                  <a:latin typeface="Times New Roman" panose="02020603050405020304" charset="0"/>
                  <a:ea typeface="楷体_GB2312" panose="02010609030101010101" pitchFamily="49" charset="-122"/>
                  <a:sym typeface="+mn-ea"/>
                </a:rPr>
                <a:t>后</a:t>
              </a:r>
              <a:r>
                <a:rPr lang="en-US" altLang="zh-CN" sz="2000" b="1" dirty="0">
                  <a:gradFill>
                    <a:gsLst>
                      <a:gs pos="0">
                        <a:srgbClr val="012D86"/>
                      </a:gs>
                      <a:gs pos="100000">
                        <a:srgbClr val="0E2557"/>
                      </a:gs>
                    </a:gsLst>
                    <a:lin scaled="0"/>
                  </a:gradFill>
                  <a:latin typeface="Times New Roman" panose="02020603050405020304" charset="0"/>
                  <a:ea typeface="楷体_GB2312" panose="02010609030101010101" pitchFamily="49" charset="-122"/>
                  <a:sym typeface="+mn-ea"/>
                </a:rPr>
                <a:t>,</a:t>
              </a:r>
              <a:r>
                <a:rPr lang="zh-CN" altLang="en-US" sz="2000" b="1" dirty="0">
                  <a:gradFill>
                    <a:gsLst>
                      <a:gs pos="0">
                        <a:srgbClr val="012D86"/>
                      </a:gs>
                      <a:gs pos="100000">
                        <a:srgbClr val="0E2557"/>
                      </a:gs>
                    </a:gsLst>
                    <a:lin scaled="0"/>
                  </a:gradFill>
                  <a:latin typeface="Times New Roman" panose="02020603050405020304" charset="0"/>
                  <a:ea typeface="楷体_GB2312" panose="02010609030101010101" pitchFamily="49" charset="-122"/>
                </a:rPr>
                <a:t>开关</a:t>
              </a:r>
              <a:r>
                <a:rPr lang="en-US" altLang="zh-CN" sz="2000" b="1">
                  <a:gradFill>
                    <a:gsLst>
                      <a:gs pos="0">
                        <a:srgbClr val="012D86"/>
                      </a:gs>
                      <a:gs pos="100000">
                        <a:srgbClr val="0E2557"/>
                      </a:gs>
                    </a:gsLst>
                    <a:lin scaled="0"/>
                  </a:gradFill>
                  <a:latin typeface="Times New Roman" panose="02020603050405020304" charset="0"/>
                  <a:ea typeface="楷体_GB2312" panose="02010609030101010101" pitchFamily="49" charset="-122"/>
                  <a:sym typeface="+mn-ea"/>
                </a:rPr>
                <a:t>S</a:t>
              </a:r>
              <a:r>
                <a:rPr lang="en-US" altLang="zh-CN" sz="2000" b="1" baseline="-25000">
                  <a:gradFill>
                    <a:gsLst>
                      <a:gs pos="0">
                        <a:srgbClr val="012D86"/>
                      </a:gs>
                      <a:gs pos="100000">
                        <a:srgbClr val="0E2557"/>
                      </a:gs>
                    </a:gsLst>
                    <a:lin scaled="0"/>
                  </a:gradFill>
                  <a:latin typeface="Times New Roman" panose="02020603050405020304" charset="0"/>
                  <a:ea typeface="楷体_GB2312" panose="02010609030101010101" pitchFamily="49" charset="-122"/>
                  <a:sym typeface="+mn-ea"/>
                </a:rPr>
                <a:t>1</a:t>
              </a:r>
              <a:r>
                <a:rPr lang="zh-CN" altLang="en-US" sz="2000" b="1" dirty="0">
                  <a:gradFill>
                    <a:gsLst>
                      <a:gs pos="0">
                        <a:srgbClr val="012D86"/>
                      </a:gs>
                      <a:gs pos="100000">
                        <a:srgbClr val="0E2557"/>
                      </a:gs>
                    </a:gsLst>
                    <a:lin scaled="0"/>
                  </a:gradFill>
                  <a:latin typeface="Times New Roman" panose="02020603050405020304" charset="0"/>
                  <a:ea typeface="楷体_GB2312" panose="02010609030101010101" pitchFamily="49" charset="-122"/>
                </a:rPr>
                <a:t>由</a:t>
              </a:r>
              <a:r>
                <a:rPr lang="en-US" altLang="zh-CN" sz="2000" b="1" dirty="0">
                  <a:gradFill>
                    <a:gsLst>
                      <a:gs pos="0">
                        <a:srgbClr val="012D86"/>
                      </a:gs>
                      <a:gs pos="100000">
                        <a:srgbClr val="0E2557"/>
                      </a:gs>
                    </a:gsLst>
                    <a:lin scaled="0"/>
                  </a:gradFill>
                  <a:latin typeface="Times New Roman" panose="02020603050405020304" charset="0"/>
                  <a:ea typeface="楷体_GB2312" panose="02010609030101010101" pitchFamily="49" charset="-122"/>
                  <a:sym typeface="+mn-ea"/>
                </a:rPr>
                <a:t>A</a:t>
              </a:r>
              <a:r>
                <a:rPr lang="zh-CN" altLang="en-US" sz="2000" b="1" dirty="0">
                  <a:gradFill>
                    <a:gsLst>
                      <a:gs pos="0">
                        <a:srgbClr val="012D86"/>
                      </a:gs>
                      <a:gs pos="100000">
                        <a:srgbClr val="0E2557"/>
                      </a:gs>
                    </a:gsLst>
                    <a:lin scaled="0"/>
                  </a:gradFill>
                  <a:latin typeface="Times New Roman" panose="02020603050405020304" charset="0"/>
                  <a:ea typeface="楷体_GB2312" panose="02010609030101010101" pitchFamily="49" charset="-122"/>
                  <a:sym typeface="+mn-ea"/>
                </a:rPr>
                <a:t>点</a:t>
              </a:r>
              <a:r>
                <a:rPr lang="zh-CN" altLang="en-US" sz="2000" b="1" dirty="0">
                  <a:gradFill>
                    <a:gsLst>
                      <a:gs pos="0">
                        <a:srgbClr val="012D86"/>
                      </a:gs>
                      <a:gs pos="100000">
                        <a:srgbClr val="0E2557"/>
                      </a:gs>
                    </a:gsLst>
                    <a:lin scaled="0"/>
                  </a:gradFill>
                  <a:latin typeface="Times New Roman" panose="02020603050405020304" charset="0"/>
                  <a:ea typeface="楷体_GB2312" panose="02010609030101010101" pitchFamily="49" charset="-122"/>
                </a:rPr>
                <a:t>转到</a:t>
              </a:r>
              <a:r>
                <a:rPr lang="en-US" altLang="zh-CN" sz="2000" b="1">
                  <a:gradFill>
                    <a:gsLst>
                      <a:gs pos="0">
                        <a:srgbClr val="012D86"/>
                      </a:gs>
                      <a:gs pos="100000">
                        <a:srgbClr val="0E2557"/>
                      </a:gs>
                    </a:gsLst>
                    <a:lin scaled="0"/>
                  </a:gradFill>
                  <a:latin typeface="Times New Roman" panose="02020603050405020304" charset="0"/>
                  <a:ea typeface="楷体_GB2312" panose="02010609030101010101" pitchFamily="49" charset="-122"/>
                </a:rPr>
                <a:t>B</a:t>
              </a:r>
              <a:r>
                <a:rPr lang="zh-CN" altLang="en-US" sz="2000" b="1">
                  <a:gradFill>
                    <a:gsLst>
                      <a:gs pos="0">
                        <a:srgbClr val="012D86"/>
                      </a:gs>
                      <a:gs pos="100000">
                        <a:srgbClr val="0E2557"/>
                      </a:gs>
                    </a:gsLst>
                    <a:lin scaled="0"/>
                  </a:gradFill>
                  <a:latin typeface="Times New Roman" panose="02020603050405020304" charset="0"/>
                  <a:ea typeface="楷体_GB2312" panose="02010609030101010101" pitchFamily="49" charset="-122"/>
                </a:rPr>
                <a:t>点</a:t>
              </a:r>
              <a:r>
                <a:rPr lang="zh-CN" altLang="en-US" sz="2000" b="1">
                  <a:gradFill>
                    <a:gsLst>
                      <a:gs pos="0">
                        <a:srgbClr val="012D86"/>
                      </a:gs>
                      <a:gs pos="100000">
                        <a:srgbClr val="0E2557"/>
                      </a:gs>
                    </a:gsLst>
                    <a:lin scaled="0"/>
                  </a:gradFill>
                  <a:latin typeface="Times New Roman" panose="02020603050405020304" charset="0"/>
                  <a:ea typeface="楷体_GB2312" panose="02010609030101010101" pitchFamily="49" charset="-122"/>
                </a:rPr>
                <a:t>，</a:t>
              </a:r>
              <a:r>
                <a:rPr lang="zh-CN" altLang="en-US" sz="2000" b="1" dirty="0">
                  <a:gradFill>
                    <a:gsLst>
                      <a:gs pos="0">
                        <a:srgbClr val="012D86"/>
                      </a:gs>
                      <a:gs pos="100000">
                        <a:srgbClr val="0E2557"/>
                      </a:gs>
                    </a:gsLst>
                    <a:lin scaled="0"/>
                  </a:gradFill>
                  <a:latin typeface="Times New Roman" panose="02020603050405020304" charset="0"/>
                  <a:ea typeface="楷体_GB2312" panose="02010609030101010101" pitchFamily="49" charset="-122"/>
                </a:rPr>
                <a:t>第一次积分时间为</a:t>
              </a:r>
              <a:r>
                <a:rPr lang="en-US" altLang="zh-CN" sz="2000" b="1">
                  <a:gradFill>
                    <a:gsLst>
                      <a:gs pos="0">
                        <a:srgbClr val="012D86"/>
                      </a:gs>
                      <a:gs pos="100000">
                        <a:srgbClr val="0E2557"/>
                      </a:gs>
                    </a:gsLst>
                    <a:lin scaled="0"/>
                  </a:gradFill>
                  <a:latin typeface="Times New Roman" panose="02020603050405020304" charset="0"/>
                  <a:ea typeface="楷体_GB2312" panose="02010609030101010101" pitchFamily="49" charset="-122"/>
                </a:rPr>
                <a:t>2</a:t>
              </a:r>
              <a:r>
                <a:rPr lang="en-US" altLang="zh-CN" sz="2000" b="1" i="1" baseline="30000">
                  <a:gradFill>
                    <a:gsLst>
                      <a:gs pos="0">
                        <a:srgbClr val="012D86"/>
                      </a:gs>
                      <a:gs pos="100000">
                        <a:srgbClr val="0E2557"/>
                      </a:gs>
                    </a:gsLst>
                    <a:lin scaled="0"/>
                  </a:gradFill>
                  <a:latin typeface="Times New Roman" panose="02020603050405020304" charset="0"/>
                  <a:ea typeface="楷体_GB2312" panose="02010609030101010101" pitchFamily="49" charset="-122"/>
                </a:rPr>
                <a:t>n</a:t>
              </a:r>
              <a:r>
                <a:rPr lang="en-US" altLang="zh-CN" sz="2000" b="1" i="1">
                  <a:gradFill>
                    <a:gsLst>
                      <a:gs pos="0">
                        <a:srgbClr val="012D86"/>
                      </a:gs>
                      <a:gs pos="100000">
                        <a:srgbClr val="0E2557"/>
                      </a:gs>
                    </a:gsLst>
                    <a:lin scaled="0"/>
                  </a:gradFill>
                  <a:latin typeface="Times New Roman" panose="02020603050405020304" charset="0"/>
                  <a:ea typeface="楷体_GB2312" panose="02010609030101010101" pitchFamily="49" charset="-122"/>
                </a:rPr>
                <a:t>T</a:t>
              </a:r>
              <a:r>
                <a:rPr lang="en-US" altLang="zh-CN" sz="2000" b="1" baseline="-25000">
                  <a:gradFill>
                    <a:gsLst>
                      <a:gs pos="0">
                        <a:srgbClr val="012D86"/>
                      </a:gs>
                      <a:gs pos="100000">
                        <a:srgbClr val="0E2557"/>
                      </a:gs>
                    </a:gsLst>
                    <a:lin scaled="0"/>
                  </a:gradFill>
                  <a:latin typeface="Times New Roman" panose="02020603050405020304" charset="0"/>
                  <a:ea typeface="楷体_GB2312" panose="02010609030101010101" pitchFamily="49" charset="-122"/>
                </a:rPr>
                <a:t>C</a:t>
              </a:r>
              <a:r>
                <a:rPr lang="zh-CN" altLang="en-US" sz="2000" b="1">
                  <a:gradFill>
                    <a:gsLst>
                      <a:gs pos="0">
                        <a:srgbClr val="012D86"/>
                      </a:gs>
                      <a:gs pos="100000">
                        <a:srgbClr val="0E2557"/>
                      </a:gs>
                    </a:gsLst>
                    <a:lin scaled="0"/>
                  </a:gradFill>
                  <a:latin typeface="Times New Roman" panose="02020603050405020304" charset="0"/>
                  <a:ea typeface="楷体_GB2312" panose="02010609030101010101" pitchFamily="49" charset="-122"/>
                  <a:sym typeface="+mn-ea"/>
                </a:rPr>
                <a:t>，</a:t>
              </a:r>
              <a:endParaRPr lang="zh-CN" altLang="en-US" sz="2000" b="1" baseline="-25000">
                <a:gradFill>
                  <a:gsLst>
                    <a:gs pos="0">
                      <a:srgbClr val="012D86"/>
                    </a:gs>
                    <a:gs pos="100000">
                      <a:srgbClr val="0E2557"/>
                    </a:gs>
                  </a:gsLst>
                  <a:lin scaled="0"/>
                </a:gradFill>
                <a:latin typeface="Times New Roman" panose="02020603050405020304" charset="0"/>
                <a:ea typeface="楷体_GB2312" panose="02010609030101010101" pitchFamily="49" charset="-122"/>
                <a:sym typeface="+mn-ea"/>
              </a:endParaRPr>
            </a:p>
          </p:txBody>
        </p:sp>
      </p:grpSp>
      <p:pic>
        <p:nvPicPr>
          <p:cNvPr id="3" name="图片 2"/>
          <p:cNvPicPr>
            <a:picLocks noChangeAspect="1"/>
          </p:cNvPicPr>
          <p:nvPr/>
        </p:nvPicPr>
        <p:blipFill>
          <a:blip r:embed="rId3"/>
          <a:stretch>
            <a:fillRect/>
          </a:stretch>
        </p:blipFill>
        <p:spPr>
          <a:xfrm>
            <a:off x="4475480" y="6050280"/>
            <a:ext cx="2369820" cy="731520"/>
          </a:xfrm>
          <a:prstGeom prst="rect">
            <a:avLst/>
          </a:prstGeom>
        </p:spPr>
      </p:pic>
      <p:sp>
        <p:nvSpPr>
          <p:cNvPr id="102" name="文本框 101"/>
          <p:cNvSpPr txBox="1"/>
          <p:nvPr/>
        </p:nvSpPr>
        <p:spPr>
          <a:xfrm>
            <a:off x="2275840" y="6328410"/>
            <a:ext cx="5080000" cy="398780"/>
          </a:xfrm>
          <a:prstGeom prst="rect">
            <a:avLst/>
          </a:prstGeom>
          <a:noFill/>
          <a:ln w="9525">
            <a:noFill/>
          </a:ln>
        </p:spPr>
        <p:txBody>
          <a:bodyPr>
            <a:spAutoFit/>
          </a:bodyPr>
          <a:p>
            <a:r>
              <a:rPr lang="zh-CN" sz="2000" b="1">
                <a:gradFill>
                  <a:gsLst>
                    <a:gs pos="0">
                      <a:srgbClr val="012D86"/>
                    </a:gs>
                    <a:gs pos="100000">
                      <a:srgbClr val="0E2557"/>
                    </a:gs>
                  </a:gsLst>
                  <a:lin scaled="0"/>
                </a:gradFill>
                <a:ea typeface="宋体" panose="02010600030101010101" pitchFamily="2" charset="-122"/>
              </a:rPr>
              <a:t>积分器的输出电压</a:t>
            </a:r>
            <a:endParaRPr lang="en-US" alt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4" fill="hold" nodeType="clickEffect">
                                  <p:stCondLst>
                                    <p:cond delay="0"/>
                                  </p:stCondLst>
                                  <p:childTnLst>
                                    <p:set>
                                      <p:cBhvr>
                                        <p:cTn id="10" dur="1" fill="hold">
                                          <p:stCondLst>
                                            <p:cond delay="0"/>
                                          </p:stCondLst>
                                        </p:cTn>
                                        <p:tgtEl>
                                          <p:spTgt spid="450564"/>
                                        </p:tgtEl>
                                        <p:attrNameLst>
                                          <p:attrName>style.visibility</p:attrName>
                                        </p:attrNameLst>
                                      </p:cBhvr>
                                      <p:to>
                                        <p:strVal val="visible"/>
                                      </p:to>
                                    </p:set>
                                    <p:animEffect transition="in" filter="slide(fromBottom)">
                                      <p:cBhvr>
                                        <p:cTn id="11" dur="500"/>
                                        <p:tgtEl>
                                          <p:spTgt spid="450564"/>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6" fill="hold" nodeType="clickEffect">
                                  <p:stCondLst>
                                    <p:cond delay="0"/>
                                  </p:stCondLst>
                                  <p:childTnLst>
                                    <p:set>
                                      <p:cBhvr>
                                        <p:cTn id="15" dur="1" fill="hold">
                                          <p:stCondLst>
                                            <p:cond delay="0"/>
                                          </p:stCondLst>
                                        </p:cTn>
                                        <p:tgtEl>
                                          <p:spTgt spid="450569"/>
                                        </p:tgtEl>
                                        <p:attrNameLst>
                                          <p:attrName>style.visibility</p:attrName>
                                        </p:attrNameLst>
                                      </p:cBhvr>
                                      <p:to>
                                        <p:strVal val="visible"/>
                                      </p:to>
                                    </p:set>
                                    <p:animEffect transition="in" filter="strips(downRight)">
                                      <p:cBhvr>
                                        <p:cTn id="16" dur="500"/>
                                        <p:tgtEl>
                                          <p:spTgt spid="450569"/>
                                        </p:tgtEl>
                                      </p:cBhvr>
                                    </p:animEffect>
                                  </p:childTnLst>
                                </p:cTn>
                              </p:par>
                            </p:childTnLst>
                          </p:cTn>
                        </p:par>
                        <p:par>
                          <p:cTn id="17" fill="hold">
                            <p:stCondLst>
                              <p:cond delay="500"/>
                            </p:stCondLst>
                            <p:childTnLst>
                              <p:par>
                                <p:cTn id="18" presetID="1" presetClass="entr" presetSubtype="0" fill="hold" grpId="0" nodeType="afterEffect">
                                  <p:stCondLst>
                                    <p:cond delay="0"/>
                                  </p:stCondLst>
                                  <p:childTnLst>
                                    <p:set>
                                      <p:cBhvr>
                                        <p:cTn id="19" dur="1" fill="hold">
                                          <p:stCondLst>
                                            <p:cond delay="0"/>
                                          </p:stCondLst>
                                        </p:cTn>
                                        <p:tgtEl>
                                          <p:spTgt spid="102"/>
                                        </p:tgtEl>
                                        <p:attrNameLst>
                                          <p:attrName>style.visibility</p:attrName>
                                        </p:attrNameLst>
                                      </p:cBhvr>
                                      <p:to>
                                        <p:strVal val="visible"/>
                                      </p:to>
                                    </p:set>
                                  </p:childTnLst>
                                </p:cTn>
                              </p:par>
                            </p:childTnLst>
                          </p:cTn>
                        </p:par>
                        <p:par>
                          <p:cTn id="20" fill="hold">
                            <p:stCondLst>
                              <p:cond delay="500"/>
                            </p:stCondLst>
                            <p:childTnLst>
                              <p:par>
                                <p:cTn id="21" presetID="1" presetClass="entr" presetSubtype="0" fill="hold" nodeType="after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1891030" y="49911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9.3 </a:t>
            </a:r>
            <a:r>
              <a:rPr lang="en-US" altLang="zh-CN" b="1" dirty="0">
                <a:solidFill>
                  <a:srgbClr val="FF0000"/>
                </a:solidFill>
                <a:latin typeface="黑体" panose="02010609060101010101" pitchFamily="49" charset="-122"/>
                <a:ea typeface="黑体" panose="02010609060101010101" pitchFamily="49" charset="-122"/>
                <a:sym typeface="+mn-ea"/>
              </a:rPr>
              <a:t>A/D转换电路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pic>
        <p:nvPicPr>
          <p:cNvPr id="9504" name="图片 2941"/>
          <p:cNvPicPr>
            <a:picLocks noChangeAspect="1"/>
          </p:cNvPicPr>
          <p:nvPr/>
        </p:nvPicPr>
        <p:blipFill>
          <a:blip r:embed="rId1"/>
          <a:stretch>
            <a:fillRect/>
          </a:stretch>
        </p:blipFill>
        <p:spPr>
          <a:xfrm>
            <a:off x="1056640" y="1323340"/>
            <a:ext cx="7030720" cy="3686810"/>
          </a:xfrm>
          <a:prstGeom prst="rect">
            <a:avLst/>
          </a:prstGeom>
          <a:noFill/>
          <a:ln>
            <a:noFill/>
          </a:ln>
        </p:spPr>
      </p:pic>
      <p:sp>
        <p:nvSpPr>
          <p:cNvPr id="451586" name="矩形 451585"/>
          <p:cNvSpPr/>
          <p:nvPr/>
        </p:nvSpPr>
        <p:spPr>
          <a:xfrm>
            <a:off x="83185" y="5086350"/>
            <a:ext cx="8967470" cy="1198880"/>
          </a:xfrm>
          <a:prstGeom prst="rect">
            <a:avLst/>
          </a:prstGeom>
          <a:solidFill>
            <a:schemeClr val="bg1">
              <a:alpha val="50000"/>
            </a:schemeClr>
          </a:solidFill>
          <a:ln w="19050" cap="flat" cmpd="sng">
            <a:solidFill>
              <a:srgbClr val="66FF33"/>
            </a:solidFill>
            <a:prstDash val="solid"/>
            <a:miter/>
            <a:headEnd type="none" w="med" len="med"/>
            <a:tailEnd type="none" w="med" len="med"/>
          </a:ln>
        </p:spPr>
        <p:txBody>
          <a:bodyPr wrap="square" anchor="ctr">
            <a:spAutoFit/>
          </a:bodyPr>
          <a:p>
            <a:pPr algn="l"/>
            <a:r>
              <a:rPr lang="en-US" altLang="zh-CN" sz="2400" b="1" i="1">
                <a:gradFill>
                  <a:gsLst>
                    <a:gs pos="0">
                      <a:srgbClr val="012D86"/>
                    </a:gs>
                    <a:gs pos="100000">
                      <a:srgbClr val="0E2557"/>
                    </a:gs>
                  </a:gsLst>
                  <a:lin scaled="0"/>
                </a:gradFill>
                <a:latin typeface="Times New Roman" panose="02020603050405020304" charset="0"/>
                <a:ea typeface="楷体_GB2312" panose="02010609030101010101" pitchFamily="49" charset="-122"/>
                <a:sym typeface="+mn-ea"/>
              </a:rPr>
              <a:t>t</a:t>
            </a:r>
            <a:r>
              <a:rPr lang="en-US" altLang="zh-CN" sz="2400" b="1">
                <a:gradFill>
                  <a:gsLst>
                    <a:gs pos="0">
                      <a:srgbClr val="012D86"/>
                    </a:gs>
                    <a:gs pos="100000">
                      <a:srgbClr val="0E2557"/>
                    </a:gs>
                  </a:gsLst>
                  <a:lin scaled="0"/>
                </a:gradFill>
                <a:latin typeface="Times New Roman" panose="02020603050405020304" charset="0"/>
                <a:ea typeface="楷体_GB2312" panose="02010609030101010101" pitchFamily="49" charset="-122"/>
                <a:sym typeface="+mn-ea"/>
              </a:rPr>
              <a:t> = </a:t>
            </a:r>
            <a:r>
              <a:rPr lang="en-US" altLang="zh-CN" sz="2400" b="1" i="1">
                <a:gradFill>
                  <a:gsLst>
                    <a:gs pos="0">
                      <a:srgbClr val="012D86"/>
                    </a:gs>
                    <a:gs pos="100000">
                      <a:srgbClr val="0E2557"/>
                    </a:gs>
                  </a:gsLst>
                  <a:lin scaled="0"/>
                </a:gradFill>
                <a:latin typeface="Times New Roman" panose="02020603050405020304" charset="0"/>
                <a:ea typeface="楷体_GB2312" panose="02010609030101010101" pitchFamily="49" charset="-122"/>
                <a:sym typeface="+mn-ea"/>
              </a:rPr>
              <a:t>t</a:t>
            </a:r>
            <a:r>
              <a:rPr lang="en-US" altLang="zh-CN" sz="2400" b="1" baseline="-25000">
                <a:gradFill>
                  <a:gsLst>
                    <a:gs pos="0">
                      <a:srgbClr val="012D86"/>
                    </a:gs>
                    <a:gs pos="100000">
                      <a:srgbClr val="0E2557"/>
                    </a:gs>
                  </a:gsLst>
                  <a:lin scaled="0"/>
                </a:gradFill>
                <a:latin typeface="Times New Roman" panose="02020603050405020304" charset="0"/>
                <a:ea typeface="楷体_GB2312" panose="02010609030101010101" pitchFamily="49" charset="-122"/>
                <a:sym typeface="+mn-ea"/>
              </a:rPr>
              <a:t>1</a:t>
            </a:r>
            <a:r>
              <a:rPr lang="zh-CN" altLang="en-US" sz="2400" b="1" dirty="0">
                <a:gradFill>
                  <a:gsLst>
                    <a:gs pos="0">
                      <a:srgbClr val="012D86"/>
                    </a:gs>
                    <a:gs pos="100000">
                      <a:srgbClr val="0E2557"/>
                    </a:gs>
                  </a:gsLst>
                  <a:lin scaled="0"/>
                </a:gradFill>
                <a:latin typeface="Times New Roman" panose="02020603050405020304" charset="0"/>
                <a:ea typeface="楷体_GB2312" panose="02010609030101010101" pitchFamily="49" charset="-122"/>
                <a:sym typeface="+mn-ea"/>
              </a:rPr>
              <a:t>时，</a:t>
            </a:r>
            <a:r>
              <a:rPr lang="en-US" altLang="zh-CN" sz="2400" b="1">
                <a:gradFill>
                  <a:gsLst>
                    <a:gs pos="0">
                      <a:srgbClr val="012D86"/>
                    </a:gs>
                    <a:gs pos="100000">
                      <a:srgbClr val="0E2557"/>
                    </a:gs>
                  </a:gsLst>
                  <a:lin scaled="0"/>
                </a:gradFill>
                <a:latin typeface="Times New Roman" panose="02020603050405020304" charset="0"/>
                <a:ea typeface="楷体_GB2312" panose="02010609030101010101" pitchFamily="49" charset="-122"/>
                <a:sym typeface="+mn-ea"/>
              </a:rPr>
              <a:t>S</a:t>
            </a:r>
            <a:r>
              <a:rPr lang="en-US" altLang="zh-CN" sz="2400" b="1" baseline="-25000">
                <a:gradFill>
                  <a:gsLst>
                    <a:gs pos="0">
                      <a:srgbClr val="012D86"/>
                    </a:gs>
                    <a:gs pos="100000">
                      <a:srgbClr val="0E2557"/>
                    </a:gs>
                  </a:gsLst>
                  <a:lin scaled="0"/>
                </a:gradFill>
                <a:latin typeface="Times New Roman" panose="02020603050405020304" charset="0"/>
                <a:ea typeface="楷体_GB2312" panose="02010609030101010101" pitchFamily="49" charset="-122"/>
                <a:sym typeface="+mn-ea"/>
              </a:rPr>
              <a:t>1</a:t>
            </a:r>
            <a:r>
              <a:rPr lang="zh-CN" altLang="en-US" sz="2400" b="1" dirty="0">
                <a:gradFill>
                  <a:gsLst>
                    <a:gs pos="0">
                      <a:srgbClr val="012D86"/>
                    </a:gs>
                    <a:gs pos="100000">
                      <a:srgbClr val="0E2557"/>
                    </a:gs>
                  </a:gsLst>
                  <a:lin scaled="0"/>
                </a:gradFill>
                <a:latin typeface="Times New Roman" panose="02020603050405020304" charset="0"/>
                <a:ea typeface="楷体_GB2312" panose="02010609030101010101" pitchFamily="49" charset="-122"/>
                <a:sym typeface="+mn-ea"/>
              </a:rPr>
              <a:t>转</a:t>
            </a:r>
            <a:r>
              <a:rPr lang="zh-CN" altLang="en-US" sz="2400" b="1" dirty="0">
                <a:gradFill>
                  <a:gsLst>
                    <a:gs pos="0">
                      <a:srgbClr val="012D86"/>
                    </a:gs>
                    <a:gs pos="100000">
                      <a:srgbClr val="0E2557"/>
                    </a:gs>
                  </a:gsLst>
                  <a:lin scaled="0"/>
                </a:gradFill>
                <a:latin typeface="Times New Roman" panose="02020603050405020304" charset="0"/>
                <a:ea typeface="楷体_GB2312" panose="02010609030101010101" pitchFamily="49" charset="-122"/>
                <a:sym typeface="+mn-ea"/>
              </a:rPr>
              <a:t>接到</a:t>
            </a:r>
            <a:r>
              <a:rPr lang="en-US" altLang="zh-CN" sz="2400" b="1" dirty="0">
                <a:gradFill>
                  <a:gsLst>
                    <a:gs pos="0">
                      <a:srgbClr val="012D86"/>
                    </a:gs>
                    <a:gs pos="100000">
                      <a:srgbClr val="0E2557"/>
                    </a:gs>
                  </a:gsLst>
                  <a:lin scaled="0"/>
                </a:gradFill>
                <a:latin typeface="Times New Roman" panose="02020603050405020304" charset="0"/>
                <a:ea typeface="楷体_GB2312" panose="02010609030101010101" pitchFamily="49" charset="-122"/>
                <a:sym typeface="+mn-ea"/>
              </a:rPr>
              <a:t>B</a:t>
            </a:r>
            <a:r>
              <a:rPr lang="zh-CN" altLang="en-US" sz="2400" b="1" dirty="0">
                <a:gradFill>
                  <a:gsLst>
                    <a:gs pos="0">
                      <a:srgbClr val="012D86"/>
                    </a:gs>
                    <a:gs pos="100000">
                      <a:srgbClr val="0E2557"/>
                    </a:gs>
                  </a:gsLst>
                  <a:lin scaled="0"/>
                </a:gradFill>
                <a:latin typeface="Times New Roman" panose="02020603050405020304" charset="0"/>
                <a:ea typeface="楷体_GB2312" panose="02010609030101010101" pitchFamily="49" charset="-122"/>
                <a:sym typeface="+mn-ea"/>
              </a:rPr>
              <a:t>点，</a:t>
            </a:r>
            <a:r>
              <a:rPr lang="en-US" altLang="zh-CN" sz="2400" b="1" i="1">
                <a:solidFill>
                  <a:srgbClr val="000099"/>
                </a:solidFill>
                <a:latin typeface="Times New Roman" panose="02020603050405020304" charset="0"/>
                <a:ea typeface="楷体_GB2312" panose="02010609030101010101" pitchFamily="49" charset="-122"/>
              </a:rPr>
              <a:t>-V</a:t>
            </a:r>
            <a:r>
              <a:rPr lang="en-US" altLang="zh-CN" sz="2400" b="1" baseline="-25000">
                <a:solidFill>
                  <a:srgbClr val="000099"/>
                </a:solidFill>
                <a:latin typeface="Times New Roman" panose="02020603050405020304" charset="0"/>
                <a:ea typeface="楷体_GB2312" panose="02010609030101010101" pitchFamily="49" charset="-122"/>
              </a:rPr>
              <a:t>REF</a:t>
            </a:r>
            <a:r>
              <a:rPr lang="zh-CN" altLang="en-US" sz="2400" b="1" dirty="0">
                <a:solidFill>
                  <a:srgbClr val="000099"/>
                </a:solidFill>
                <a:latin typeface="Times New Roman" panose="02020603050405020304" charset="0"/>
                <a:ea typeface="楷体_GB2312" panose="02010609030101010101" pitchFamily="49" charset="-122"/>
              </a:rPr>
              <a:t>加到积分器的输入端，积分器反方向进行第二次积分；当</a:t>
            </a:r>
            <a:r>
              <a:rPr lang="en-US" altLang="zh-CN" sz="2400" b="1" i="1">
                <a:solidFill>
                  <a:srgbClr val="000099"/>
                </a:solidFill>
                <a:latin typeface="Times New Roman" panose="02020603050405020304" charset="0"/>
                <a:ea typeface="楷体_GB2312" panose="02010609030101010101" pitchFamily="49" charset="-122"/>
              </a:rPr>
              <a:t>t</a:t>
            </a:r>
            <a:r>
              <a:rPr lang="en-US" altLang="zh-CN" sz="2400" b="1">
                <a:solidFill>
                  <a:srgbClr val="000099"/>
                </a:solidFill>
                <a:latin typeface="Times New Roman" panose="02020603050405020304" charset="0"/>
                <a:ea typeface="楷体_GB2312" panose="02010609030101010101" pitchFamily="49" charset="-122"/>
              </a:rPr>
              <a:t>=</a:t>
            </a:r>
            <a:r>
              <a:rPr lang="en-US" altLang="zh-CN" sz="2400" b="1" i="1">
                <a:solidFill>
                  <a:srgbClr val="000099"/>
                </a:solidFill>
                <a:latin typeface="Times New Roman" panose="02020603050405020304" charset="0"/>
                <a:ea typeface="楷体_GB2312" panose="02010609030101010101" pitchFamily="49" charset="-122"/>
              </a:rPr>
              <a:t>t</a:t>
            </a:r>
            <a:r>
              <a:rPr lang="en-US" altLang="zh-CN" sz="2400" b="1" baseline="-25000">
                <a:solidFill>
                  <a:srgbClr val="000099"/>
                </a:solidFill>
                <a:latin typeface="Times New Roman" panose="02020603050405020304" charset="0"/>
                <a:ea typeface="楷体_GB2312" panose="02010609030101010101" pitchFamily="49" charset="-122"/>
              </a:rPr>
              <a:t>2</a:t>
            </a:r>
            <a:r>
              <a:rPr lang="zh-CN" altLang="en-US" sz="2400" b="1" dirty="0">
                <a:solidFill>
                  <a:srgbClr val="000099"/>
                </a:solidFill>
                <a:latin typeface="Times New Roman" panose="02020603050405020304" charset="0"/>
                <a:ea typeface="楷体_GB2312" panose="02010609030101010101" pitchFamily="49" charset="-122"/>
              </a:rPr>
              <a:t>时积分器输出电压</a:t>
            </a:r>
            <a:r>
              <a:rPr lang="en-US" altLang="zh-CN" sz="2400" b="1" i="1" dirty="0">
                <a:solidFill>
                  <a:srgbClr val="000099"/>
                </a:solidFill>
                <a:latin typeface="Times New Roman" panose="02020603050405020304" charset="0"/>
                <a:ea typeface="楷体_GB2312" panose="02010609030101010101" pitchFamily="49" charset="-122"/>
                <a:sym typeface="Symbol" panose="05050102010706020507" pitchFamily="18" charset="2"/>
              </a:rPr>
              <a:t></a:t>
            </a:r>
            <a:r>
              <a:rPr lang="en-US" altLang="zh-CN" sz="2400" b="1" baseline="-25000">
                <a:solidFill>
                  <a:srgbClr val="000099"/>
                </a:solidFill>
                <a:latin typeface="Times New Roman" panose="02020603050405020304" charset="0"/>
                <a:ea typeface="楷体_GB2312" panose="02010609030101010101" pitchFamily="49" charset="-122"/>
              </a:rPr>
              <a:t>O</a:t>
            </a:r>
            <a:r>
              <a:rPr lang="en-US" altLang="zh-CN" sz="2400" b="1" dirty="0">
                <a:solidFill>
                  <a:srgbClr val="000099"/>
                </a:solidFill>
                <a:latin typeface="宋体" panose="02010600030101010101" pitchFamily="2" charset="-122"/>
              </a:rPr>
              <a:t>=</a:t>
            </a:r>
            <a:r>
              <a:rPr lang="en-US" altLang="zh-CN" sz="2400" b="1" dirty="0">
                <a:solidFill>
                  <a:srgbClr val="000099"/>
                </a:solidFill>
                <a:latin typeface="Times New Roman" panose="02020603050405020304" charset="0"/>
                <a:ea typeface="楷体_GB2312" panose="02010609030101010101" pitchFamily="49" charset="-122"/>
              </a:rPr>
              <a:t>0 V</a:t>
            </a:r>
            <a:r>
              <a:rPr lang="zh-CN" altLang="en-US" sz="2400" b="1" dirty="0">
                <a:solidFill>
                  <a:srgbClr val="000099"/>
                </a:solidFill>
                <a:latin typeface="Times New Roman" panose="02020603050405020304" charset="0"/>
                <a:ea typeface="楷体_GB2312" panose="02010609030101010101" pitchFamily="49" charset="-122"/>
              </a:rPr>
              <a:t>，比较器输出</a:t>
            </a:r>
            <a:r>
              <a:rPr lang="en-US" altLang="zh-CN" sz="2400" b="1" i="1" dirty="0">
                <a:solidFill>
                  <a:srgbClr val="000099"/>
                </a:solidFill>
                <a:latin typeface="Times New Roman" panose="02020603050405020304" charset="0"/>
                <a:ea typeface="楷体_GB2312" panose="02010609030101010101" pitchFamily="49" charset="-122"/>
                <a:sym typeface="Symbol" panose="05050102010706020507" pitchFamily="18" charset="2"/>
              </a:rPr>
              <a:t></a:t>
            </a:r>
            <a:r>
              <a:rPr lang="en-US" altLang="zh-CN" sz="2400" b="1" baseline="-25000">
                <a:solidFill>
                  <a:srgbClr val="000099"/>
                </a:solidFill>
                <a:latin typeface="Times New Roman" panose="02020603050405020304" charset="0"/>
                <a:ea typeface="楷体_GB2312" panose="02010609030101010101" pitchFamily="49" charset="-122"/>
              </a:rPr>
              <a:t>C</a:t>
            </a:r>
            <a:r>
              <a:rPr lang="en-US" altLang="zh-CN" sz="2400" b="1" dirty="0">
                <a:solidFill>
                  <a:srgbClr val="000099"/>
                </a:solidFill>
                <a:latin typeface="Times New Roman" panose="02020603050405020304" charset="0"/>
                <a:ea typeface="楷体_GB2312" panose="02010609030101010101" pitchFamily="49" charset="-122"/>
              </a:rPr>
              <a:t>=0</a:t>
            </a:r>
            <a:r>
              <a:rPr lang="zh-CN" altLang="en-US" sz="2400" b="1" dirty="0">
                <a:solidFill>
                  <a:srgbClr val="000099"/>
                </a:solidFill>
                <a:latin typeface="Times New Roman" panose="02020603050405020304" charset="0"/>
                <a:ea typeface="楷体_GB2312" panose="02010609030101010101" pitchFamily="49" charset="-122"/>
              </a:rPr>
              <a:t>，时钟脉冲控制门</a:t>
            </a:r>
            <a:r>
              <a:rPr lang="en-US" altLang="zh-CN" sz="2400" b="1" dirty="0">
                <a:solidFill>
                  <a:srgbClr val="000099"/>
                </a:solidFill>
                <a:latin typeface="Times New Roman" panose="02020603050405020304" charset="0"/>
                <a:ea typeface="楷体_GB2312" panose="02010609030101010101" pitchFamily="49" charset="-122"/>
              </a:rPr>
              <a:t>G</a:t>
            </a:r>
            <a:r>
              <a:rPr lang="zh-CN" altLang="en-US" sz="2400" b="1" dirty="0">
                <a:solidFill>
                  <a:srgbClr val="000099"/>
                </a:solidFill>
                <a:latin typeface="Times New Roman" panose="02020603050405020304" charset="0"/>
                <a:ea typeface="楷体_GB2312" panose="02010609030101010101" pitchFamily="49" charset="-122"/>
              </a:rPr>
              <a:t>被关闭，计数停止。</a:t>
            </a:r>
            <a:endParaRPr lang="zh-CN" altLang="en-US" sz="2400" b="1" dirty="0">
              <a:solidFill>
                <a:srgbClr val="000099"/>
              </a:solidFill>
              <a:latin typeface="Times New Roman" panose="02020603050405020304" charset="0"/>
              <a:ea typeface="楷体_GB2312" panose="02010609030101010101" pitchFamily="49" charset="-122"/>
            </a:endParaRPr>
          </a:p>
        </p:txBody>
      </p:sp>
      <p:sp>
        <p:nvSpPr>
          <p:cNvPr id="451587" name="矩形 451586"/>
          <p:cNvSpPr/>
          <p:nvPr/>
        </p:nvSpPr>
        <p:spPr>
          <a:xfrm>
            <a:off x="818833" y="1082675"/>
            <a:ext cx="3044825" cy="429895"/>
          </a:xfrm>
          <a:prstGeom prst="rect">
            <a:avLst/>
          </a:prstGeom>
          <a:noFill/>
          <a:ln w="9525">
            <a:noFill/>
          </a:ln>
        </p:spPr>
        <p:txBody>
          <a:bodyPr>
            <a:spAutoFit/>
          </a:bodyPr>
          <a:p>
            <a:pPr algn="l">
              <a:spcBef>
                <a:spcPct val="50000"/>
              </a:spcBef>
            </a:pPr>
            <a:r>
              <a:rPr lang="en-US" altLang="zh-CN" sz="2200">
                <a:solidFill>
                  <a:srgbClr val="000099"/>
                </a:solidFill>
                <a:latin typeface="Calibri" panose="020F0502020204030204" charset="0"/>
                <a:ea typeface="楷体_GB2312" panose="02010609030101010101" pitchFamily="49" charset="-122"/>
              </a:rPr>
              <a:t>③</a:t>
            </a:r>
            <a:r>
              <a:rPr lang="zh-CN" altLang="en-US" sz="2200" dirty="0">
                <a:solidFill>
                  <a:srgbClr val="000099"/>
                </a:solidFill>
                <a:latin typeface="楷体_GB2312" panose="02010609030101010101" pitchFamily="49" charset="-122"/>
                <a:ea typeface="楷体_GB2312" panose="02010609030101010101" pitchFamily="49" charset="-122"/>
              </a:rPr>
              <a:t>第二次积分：</a:t>
            </a:r>
            <a:endParaRPr lang="zh-CN" altLang="en-US" sz="2200" dirty="0">
              <a:solidFill>
                <a:srgbClr val="000099"/>
              </a:solidFill>
              <a:latin typeface="楷体_GB2312" panose="02010609030101010101" pitchFamily="49" charset="-122"/>
              <a:ea typeface="楷体_GB2312" panose="0201060903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51586"/>
                                        </p:tgtEl>
                                        <p:attrNameLst>
                                          <p:attrName>style.visibility</p:attrName>
                                        </p:attrNameLst>
                                      </p:cBhvr>
                                      <p:to>
                                        <p:strVal val="visible"/>
                                      </p:to>
                                    </p:set>
                                    <p:animEffect transition="in" filter="strips(downRight)">
                                      <p:cBhvr>
                                        <p:cTn id="7" dur="500"/>
                                        <p:tgtEl>
                                          <p:spTgt spid="4515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586" grpId="0" bldLvl="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1891030" y="49911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9.3 </a:t>
            </a:r>
            <a:r>
              <a:rPr lang="en-US" altLang="zh-CN" b="1" dirty="0">
                <a:solidFill>
                  <a:srgbClr val="FF0000"/>
                </a:solidFill>
                <a:latin typeface="黑体" panose="02010609060101010101" pitchFamily="49" charset="-122"/>
                <a:ea typeface="黑体" panose="02010609060101010101" pitchFamily="49" charset="-122"/>
                <a:sym typeface="+mn-ea"/>
              </a:rPr>
              <a:t>A/D转换电路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pic>
        <p:nvPicPr>
          <p:cNvPr id="9505" name="图片 2942"/>
          <p:cNvPicPr>
            <a:picLocks noChangeAspect="1"/>
          </p:cNvPicPr>
          <p:nvPr/>
        </p:nvPicPr>
        <p:blipFill>
          <a:blip r:embed="rId1"/>
          <a:stretch>
            <a:fillRect/>
          </a:stretch>
        </p:blipFill>
        <p:spPr>
          <a:xfrm>
            <a:off x="156210" y="1159510"/>
            <a:ext cx="3329940" cy="5231765"/>
          </a:xfrm>
          <a:prstGeom prst="rect">
            <a:avLst/>
          </a:prstGeom>
          <a:noFill/>
          <a:ln>
            <a:noFill/>
          </a:ln>
        </p:spPr>
      </p:pic>
      <p:sp>
        <p:nvSpPr>
          <p:cNvPr id="452629" name="直接连接符 452628"/>
          <p:cNvSpPr/>
          <p:nvPr/>
        </p:nvSpPr>
        <p:spPr>
          <a:xfrm>
            <a:off x="632460" y="3419475"/>
            <a:ext cx="1377315" cy="712470"/>
          </a:xfrm>
          <a:prstGeom prst="line">
            <a:avLst/>
          </a:prstGeom>
          <a:ln w="38100" cap="flat" cmpd="sng">
            <a:solidFill>
              <a:srgbClr val="FF3399"/>
            </a:solidFill>
            <a:prstDash val="solid"/>
            <a:headEnd type="none" w="med" len="med"/>
            <a:tailEnd type="none" w="med" len="med"/>
          </a:ln>
        </p:spPr>
      </p:sp>
      <p:sp>
        <p:nvSpPr>
          <p:cNvPr id="452611" name="矩形 452610"/>
          <p:cNvSpPr/>
          <p:nvPr/>
        </p:nvSpPr>
        <p:spPr>
          <a:xfrm>
            <a:off x="466090" y="1187450"/>
            <a:ext cx="1543685" cy="5266055"/>
          </a:xfrm>
          <a:prstGeom prst="rect">
            <a:avLst/>
          </a:prstGeom>
          <a:solidFill>
            <a:srgbClr val="FFFF99">
              <a:alpha val="50000"/>
            </a:srgbClr>
          </a:solidFill>
          <a:ln w="19050">
            <a:noFill/>
          </a:ln>
        </p:spPr>
        <p:txBody>
          <a:bodyPr/>
          <a:p>
            <a:endParaRPr lang="zh-CN" altLang="en-US"/>
          </a:p>
        </p:txBody>
      </p:sp>
      <p:sp>
        <p:nvSpPr>
          <p:cNvPr id="452614" name="圆角矩形标注 452613"/>
          <p:cNvSpPr/>
          <p:nvPr/>
        </p:nvSpPr>
        <p:spPr>
          <a:xfrm>
            <a:off x="156210" y="2731770"/>
            <a:ext cx="1125538" cy="361950"/>
          </a:xfrm>
          <a:prstGeom prst="wedgeRoundRectCallout">
            <a:avLst>
              <a:gd name="adj1" fmla="val 69889"/>
              <a:gd name="adj2" fmla="val 98685"/>
              <a:gd name="adj3" fmla="val 16667"/>
            </a:avLst>
          </a:prstGeom>
          <a:solidFill>
            <a:srgbClr val="FFFFFF"/>
          </a:solidFill>
          <a:ln w="19050" cap="flat" cmpd="sng">
            <a:solidFill>
              <a:schemeClr val="accent1"/>
            </a:solidFill>
            <a:prstDash val="solid"/>
            <a:miter/>
            <a:headEnd type="none" w="med" len="med"/>
            <a:tailEnd type="none" w="med" len="med"/>
          </a:ln>
        </p:spPr>
        <p:txBody>
          <a:bodyPr/>
          <a:p>
            <a:pPr>
              <a:spcBef>
                <a:spcPct val="50000"/>
              </a:spcBef>
            </a:pPr>
            <a:r>
              <a:rPr lang="en-US" altLang="zh-CN" i="1">
                <a:latin typeface="Times New Roman" panose="02020603050405020304" charset="0"/>
              </a:rPr>
              <a:t>T</a:t>
            </a:r>
            <a:r>
              <a:rPr lang="en-US" altLang="zh-CN" baseline="-25000">
                <a:latin typeface="Times New Roman" panose="02020603050405020304" charset="0"/>
              </a:rPr>
              <a:t>1</a:t>
            </a:r>
            <a:r>
              <a:rPr lang="en-US" altLang="zh-CN">
                <a:latin typeface="Times New Roman" panose="02020603050405020304" charset="0"/>
              </a:rPr>
              <a:t>=2</a:t>
            </a:r>
            <a:r>
              <a:rPr lang="en-US" altLang="zh-CN" i="1" baseline="30000">
                <a:latin typeface="Times New Roman" panose="02020603050405020304" charset="0"/>
              </a:rPr>
              <a:t>n</a:t>
            </a:r>
            <a:r>
              <a:rPr lang="en-US" altLang="zh-CN" i="1">
                <a:latin typeface="Times New Roman" panose="02020603050405020304" charset="0"/>
              </a:rPr>
              <a:t>T</a:t>
            </a:r>
            <a:r>
              <a:rPr lang="en-US" altLang="zh-CN" baseline="-25000">
                <a:latin typeface="Times New Roman" panose="02020603050405020304" charset="0"/>
              </a:rPr>
              <a:t>C</a:t>
            </a:r>
            <a:endParaRPr lang="en-US" altLang="zh-CN" baseline="-25000">
              <a:latin typeface="Times New Roman" panose="02020603050405020304" charset="0"/>
            </a:endParaRPr>
          </a:p>
          <a:p>
            <a:pPr>
              <a:spcBef>
                <a:spcPct val="50000"/>
              </a:spcBef>
            </a:pPr>
            <a:endParaRPr lang="en-US" altLang="zh-CN">
              <a:latin typeface="Times New Roman" panose="02020603050405020304" charset="0"/>
            </a:endParaRPr>
          </a:p>
        </p:txBody>
      </p:sp>
      <p:pic>
        <p:nvPicPr>
          <p:cNvPr id="2" name="图片 1"/>
          <p:cNvPicPr>
            <a:picLocks noChangeAspect="1"/>
          </p:cNvPicPr>
          <p:nvPr/>
        </p:nvPicPr>
        <p:blipFill>
          <a:blip r:embed="rId2"/>
          <a:stretch>
            <a:fillRect/>
          </a:stretch>
        </p:blipFill>
        <p:spPr>
          <a:xfrm>
            <a:off x="4655820" y="1187450"/>
            <a:ext cx="2369185" cy="882015"/>
          </a:xfrm>
          <a:prstGeom prst="rect">
            <a:avLst/>
          </a:prstGeom>
        </p:spPr>
      </p:pic>
      <p:pic>
        <p:nvPicPr>
          <p:cNvPr id="3" name="图片 2"/>
          <p:cNvPicPr>
            <a:picLocks noChangeAspect="1"/>
          </p:cNvPicPr>
          <p:nvPr/>
        </p:nvPicPr>
        <p:blipFill>
          <a:blip r:embed="rId3"/>
          <a:stretch>
            <a:fillRect/>
          </a:stretch>
        </p:blipFill>
        <p:spPr>
          <a:xfrm>
            <a:off x="4913630" y="2041525"/>
            <a:ext cx="2533015" cy="781685"/>
          </a:xfrm>
          <a:prstGeom prst="rect">
            <a:avLst/>
          </a:prstGeom>
        </p:spPr>
      </p:pic>
      <p:sp>
        <p:nvSpPr>
          <p:cNvPr id="452628" name="矩形 452627"/>
          <p:cNvSpPr/>
          <p:nvPr/>
        </p:nvSpPr>
        <p:spPr>
          <a:xfrm>
            <a:off x="2077720" y="1189355"/>
            <a:ext cx="720090" cy="5240655"/>
          </a:xfrm>
          <a:prstGeom prst="rect">
            <a:avLst/>
          </a:prstGeom>
          <a:solidFill>
            <a:schemeClr val="accent1">
              <a:alpha val="28000"/>
            </a:schemeClr>
          </a:solidFill>
          <a:ln w="9525">
            <a:noFill/>
          </a:ln>
        </p:spPr>
        <p:txBody>
          <a:bodyPr/>
          <a:p>
            <a:endParaRPr lang="zh-CN" altLang="en-US"/>
          </a:p>
        </p:txBody>
      </p:sp>
      <p:sp>
        <p:nvSpPr>
          <p:cNvPr id="452617" name="直接连接符 452616"/>
          <p:cNvSpPr/>
          <p:nvPr/>
        </p:nvSpPr>
        <p:spPr>
          <a:xfrm flipV="1">
            <a:off x="2059940" y="3448050"/>
            <a:ext cx="721360" cy="711835"/>
          </a:xfrm>
          <a:prstGeom prst="line">
            <a:avLst/>
          </a:prstGeom>
          <a:ln w="38100" cap="flat" cmpd="sng">
            <a:solidFill>
              <a:srgbClr val="00CC00"/>
            </a:solidFill>
            <a:prstDash val="solid"/>
            <a:headEnd type="none" w="med" len="med"/>
            <a:tailEnd type="none" w="med" len="med"/>
          </a:ln>
        </p:spPr>
      </p:sp>
      <p:sp>
        <p:nvSpPr>
          <p:cNvPr id="452625" name="椭圆 452624"/>
          <p:cNvSpPr/>
          <p:nvPr/>
        </p:nvSpPr>
        <p:spPr>
          <a:xfrm>
            <a:off x="2695575" y="3369628"/>
            <a:ext cx="134938" cy="134937"/>
          </a:xfrm>
          <a:prstGeom prst="ellipse">
            <a:avLst/>
          </a:prstGeom>
          <a:solidFill>
            <a:schemeClr val="accent1"/>
          </a:solidFill>
          <a:ln w="19050">
            <a:noFill/>
          </a:ln>
        </p:spPr>
        <p:txBody>
          <a:bodyPr/>
          <a:p>
            <a:endParaRPr lang="zh-CN" altLang="en-US"/>
          </a:p>
        </p:txBody>
      </p:sp>
      <p:graphicFrame>
        <p:nvGraphicFramePr>
          <p:cNvPr id="452618" name="对象 452617"/>
          <p:cNvGraphicFramePr/>
          <p:nvPr/>
        </p:nvGraphicFramePr>
        <p:xfrm>
          <a:off x="5067935" y="2840355"/>
          <a:ext cx="3313430" cy="664210"/>
        </p:xfrm>
        <a:graphic>
          <a:graphicData uri="http://schemas.openxmlformats.org/presentationml/2006/ole">
            <mc:AlternateContent xmlns:mc="http://schemas.openxmlformats.org/markup-compatibility/2006">
              <mc:Choice xmlns:v="urn:schemas-microsoft-com:vml" Requires="v">
                <p:oleObj spid="_x0000_s3156" name="" r:id="rId4" imgW="1955165" imgH="393700" progId="Equation.DSMT4">
                  <p:embed/>
                </p:oleObj>
              </mc:Choice>
              <mc:Fallback>
                <p:oleObj name="" r:id="rId4" imgW="1955165" imgH="393700" progId="Equation.DSMT4">
                  <p:embed/>
                  <p:pic>
                    <p:nvPicPr>
                      <p:cNvPr id="0" name="图片 3155"/>
                      <p:cNvPicPr/>
                      <p:nvPr/>
                    </p:nvPicPr>
                    <p:blipFill>
                      <a:blip r:embed="rId5"/>
                      <a:stretch>
                        <a:fillRect/>
                      </a:stretch>
                    </p:blipFill>
                    <p:spPr>
                      <a:xfrm>
                        <a:off x="5067935" y="2840355"/>
                        <a:ext cx="3313430" cy="664210"/>
                      </a:xfrm>
                      <a:prstGeom prst="rect">
                        <a:avLst/>
                      </a:prstGeom>
                      <a:noFill/>
                      <a:ln w="38100">
                        <a:noFill/>
                        <a:miter/>
                      </a:ln>
                    </p:spPr>
                  </p:pic>
                </p:oleObj>
              </mc:Fallback>
            </mc:AlternateContent>
          </a:graphicData>
        </a:graphic>
      </p:graphicFrame>
      <p:sp>
        <p:nvSpPr>
          <p:cNvPr id="452626" name="矩形 452625"/>
          <p:cNvSpPr/>
          <p:nvPr/>
        </p:nvSpPr>
        <p:spPr>
          <a:xfrm>
            <a:off x="3555365" y="2975452"/>
            <a:ext cx="971550" cy="368300"/>
          </a:xfrm>
          <a:prstGeom prst="rect">
            <a:avLst/>
          </a:prstGeom>
          <a:noFill/>
          <a:ln w="19050" cap="flat" cmpd="sng">
            <a:solidFill>
              <a:srgbClr val="FF0000"/>
            </a:solidFill>
            <a:prstDash val="solid"/>
            <a:miter/>
            <a:headEnd type="none" w="med" len="med"/>
            <a:tailEnd type="none" w="med" len="med"/>
          </a:ln>
        </p:spPr>
        <p:txBody>
          <a:bodyPr wrap="none" anchor="ctr">
            <a:spAutoFit/>
          </a:bodyPr>
          <a:p>
            <a:pPr algn="l"/>
            <a:r>
              <a:rPr lang="en-US" altLang="zh-CN" i="1">
                <a:latin typeface="Times New Roman" panose="02020603050405020304" charset="0"/>
              </a:rPr>
              <a:t>T</a:t>
            </a:r>
            <a:r>
              <a:rPr lang="en-US" altLang="zh-CN" baseline="-25000">
                <a:latin typeface="Times New Roman" panose="02020603050405020304" charset="0"/>
              </a:rPr>
              <a:t>2</a:t>
            </a:r>
            <a:r>
              <a:rPr lang="en-US" altLang="zh-CN">
                <a:latin typeface="Times New Roman" panose="02020603050405020304" charset="0"/>
              </a:rPr>
              <a:t>=</a:t>
            </a:r>
            <a:r>
              <a:rPr lang="en-US" altLang="zh-CN" i="1">
                <a:latin typeface="Times New Roman" panose="02020603050405020304" charset="0"/>
              </a:rPr>
              <a:t>t</a:t>
            </a:r>
            <a:r>
              <a:rPr lang="en-US" altLang="zh-CN" baseline="-25000">
                <a:latin typeface="Times New Roman" panose="02020603050405020304" charset="0"/>
              </a:rPr>
              <a:t>2</a:t>
            </a:r>
            <a:r>
              <a:rPr lang="en-US" altLang="zh-CN">
                <a:latin typeface="Times New Roman" panose="02020603050405020304" charset="0"/>
              </a:rPr>
              <a:t> </a:t>
            </a:r>
            <a:r>
              <a:rPr lang="en-US" altLang="zh-CN">
                <a:latin typeface="Times New Roman" panose="02020603050405020304" charset="0"/>
                <a:sym typeface="Symbol" panose="05050102010706020507" pitchFamily="18" charset="2"/>
              </a:rPr>
              <a:t></a:t>
            </a:r>
            <a:r>
              <a:rPr lang="en-US" altLang="zh-CN" i="1">
                <a:latin typeface="Times New Roman" panose="02020603050405020304" charset="0"/>
              </a:rPr>
              <a:t>t</a:t>
            </a:r>
            <a:r>
              <a:rPr lang="en-US" altLang="zh-CN" baseline="-25000">
                <a:latin typeface="Times New Roman" panose="02020603050405020304" charset="0"/>
                <a:sym typeface="Symbol" panose="05050102010706020507" pitchFamily="18" charset="2"/>
              </a:rPr>
              <a:t>1</a:t>
            </a:r>
            <a:r>
              <a:rPr lang="en-US" altLang="zh-CN">
                <a:latin typeface="Times New Roman" panose="02020603050405020304" charset="0"/>
                <a:sym typeface="Symbol" panose="05050102010706020507" pitchFamily="18" charset="2"/>
              </a:rPr>
              <a:t> </a:t>
            </a:r>
            <a:endParaRPr lang="en-US" altLang="zh-CN">
              <a:latin typeface="Times New Roman" panose="02020603050405020304" charset="0"/>
              <a:sym typeface="Symbol" panose="05050102010706020507" pitchFamily="18" charset="2"/>
            </a:endParaRPr>
          </a:p>
        </p:txBody>
      </p:sp>
      <p:graphicFrame>
        <p:nvGraphicFramePr>
          <p:cNvPr id="452620" name="对象 452619"/>
          <p:cNvGraphicFramePr/>
          <p:nvPr/>
        </p:nvGraphicFramePr>
        <p:xfrm>
          <a:off x="5126355" y="3504565"/>
          <a:ext cx="1898650" cy="760730"/>
        </p:xfrm>
        <a:graphic>
          <a:graphicData uri="http://schemas.openxmlformats.org/presentationml/2006/ole">
            <mc:AlternateContent xmlns:mc="http://schemas.openxmlformats.org/markup-compatibility/2006">
              <mc:Choice xmlns:v="urn:schemas-microsoft-com:vml" Requires="v">
                <p:oleObj spid="_x0000_s3159" name="" r:id="rId6" imgW="1028700" imgH="419100" progId="Equation.DSMT4">
                  <p:embed/>
                </p:oleObj>
              </mc:Choice>
              <mc:Fallback>
                <p:oleObj name="" r:id="rId6" imgW="1028700" imgH="419100" progId="Equation.DSMT4">
                  <p:embed/>
                  <p:pic>
                    <p:nvPicPr>
                      <p:cNvPr id="0" name="图片 3158"/>
                      <p:cNvPicPr/>
                      <p:nvPr/>
                    </p:nvPicPr>
                    <p:blipFill>
                      <a:blip r:embed="rId7"/>
                      <a:stretch>
                        <a:fillRect/>
                      </a:stretch>
                    </p:blipFill>
                    <p:spPr>
                      <a:xfrm>
                        <a:off x="5126355" y="3504565"/>
                        <a:ext cx="1898650" cy="760730"/>
                      </a:xfrm>
                      <a:prstGeom prst="rect">
                        <a:avLst/>
                      </a:prstGeom>
                      <a:noFill/>
                      <a:ln w="38100">
                        <a:noFill/>
                        <a:miter/>
                      </a:ln>
                    </p:spPr>
                  </p:pic>
                </p:oleObj>
              </mc:Fallback>
            </mc:AlternateContent>
          </a:graphicData>
        </a:graphic>
      </p:graphicFrame>
      <p:graphicFrame>
        <p:nvGraphicFramePr>
          <p:cNvPr id="452622" name="对象 452621"/>
          <p:cNvGraphicFramePr/>
          <p:nvPr/>
        </p:nvGraphicFramePr>
        <p:xfrm>
          <a:off x="5196205" y="4265295"/>
          <a:ext cx="1356995" cy="837565"/>
        </p:xfrm>
        <a:graphic>
          <a:graphicData uri="http://schemas.openxmlformats.org/presentationml/2006/ole">
            <mc:AlternateContent xmlns:mc="http://schemas.openxmlformats.org/markup-compatibility/2006">
              <mc:Choice xmlns:v="urn:schemas-microsoft-com:vml" Requires="v">
                <p:oleObj spid="_x0000_s3152" name="" r:id="rId8" imgW="762000" imgH="457200" progId="Equation.DSMT4">
                  <p:embed/>
                </p:oleObj>
              </mc:Choice>
              <mc:Fallback>
                <p:oleObj name="" r:id="rId8" imgW="762000" imgH="457200" progId="Equation.DSMT4">
                  <p:embed/>
                  <p:pic>
                    <p:nvPicPr>
                      <p:cNvPr id="0" name="图片 3151"/>
                      <p:cNvPicPr/>
                      <p:nvPr/>
                    </p:nvPicPr>
                    <p:blipFill>
                      <a:blip r:embed="rId9"/>
                      <a:stretch>
                        <a:fillRect/>
                      </a:stretch>
                    </p:blipFill>
                    <p:spPr>
                      <a:xfrm>
                        <a:off x="5196205" y="4265295"/>
                        <a:ext cx="1356995" cy="837565"/>
                      </a:xfrm>
                      <a:prstGeom prst="rect">
                        <a:avLst/>
                      </a:prstGeom>
                      <a:noFill/>
                      <a:ln w="38100">
                        <a:noFill/>
                        <a:miter/>
                      </a:ln>
                    </p:spPr>
                  </p:pic>
                </p:oleObj>
              </mc:Fallback>
            </mc:AlternateContent>
          </a:graphicData>
        </a:graphic>
      </p:graphicFrame>
      <p:sp>
        <p:nvSpPr>
          <p:cNvPr id="452623" name="矩形 452622"/>
          <p:cNvSpPr/>
          <p:nvPr/>
        </p:nvSpPr>
        <p:spPr>
          <a:xfrm>
            <a:off x="3652838" y="5424805"/>
            <a:ext cx="1260475" cy="385763"/>
          </a:xfrm>
          <a:prstGeom prst="rect">
            <a:avLst/>
          </a:prstGeom>
          <a:noFill/>
          <a:ln w="19050" cap="flat" cmpd="sng">
            <a:solidFill>
              <a:srgbClr val="FF0000"/>
            </a:solidFill>
            <a:prstDash val="solid"/>
            <a:miter/>
            <a:headEnd type="none" w="med" len="med"/>
            <a:tailEnd type="none" w="med" len="med"/>
          </a:ln>
        </p:spPr>
        <p:txBody>
          <a:bodyPr anchor="ctr">
            <a:spAutoFit/>
          </a:bodyPr>
          <a:p>
            <a:pPr algn="l"/>
            <a:r>
              <a:rPr lang="en-US" altLang="zh-CN">
                <a:latin typeface="Arial" panose="020B0604020202020204" pitchFamily="34" charset="0"/>
              </a:rPr>
              <a:t> </a:t>
            </a:r>
            <a:r>
              <a:rPr lang="en-US" altLang="zh-CN" i="1">
                <a:latin typeface="Times New Roman" panose="02020603050405020304" charset="0"/>
              </a:rPr>
              <a:t>T</a:t>
            </a:r>
            <a:r>
              <a:rPr lang="en-US" altLang="zh-CN" baseline="-25000">
                <a:latin typeface="Times New Roman" panose="02020603050405020304" charset="0"/>
              </a:rPr>
              <a:t>2</a:t>
            </a:r>
            <a:r>
              <a:rPr lang="en-US" altLang="zh-CN">
                <a:latin typeface="Times New Roman" panose="02020603050405020304" charset="0"/>
              </a:rPr>
              <a:t>=</a:t>
            </a:r>
            <a:r>
              <a:rPr lang="en-US" altLang="zh-CN" i="1">
                <a:latin typeface="Times New Roman" panose="02020603050405020304" charset="0"/>
                <a:sym typeface="Symbol" panose="05050102010706020507" pitchFamily="18" charset="2"/>
              </a:rPr>
              <a:t></a:t>
            </a:r>
            <a:r>
              <a:rPr lang="en-US" altLang="zh-CN" i="1" dirty="0" err="1">
                <a:latin typeface="Times New Roman" panose="02020603050405020304" charset="0"/>
              </a:rPr>
              <a:t>T</a:t>
            </a:r>
            <a:r>
              <a:rPr lang="en-US" altLang="zh-CN" baseline="-25000" dirty="0" err="1">
                <a:latin typeface="Times New Roman" panose="02020603050405020304" charset="0"/>
                <a:sym typeface="Symbol" panose="05050102010706020507" pitchFamily="18" charset="2"/>
              </a:rPr>
              <a:t>c</a:t>
            </a:r>
            <a:r>
              <a:rPr lang="en-US" altLang="zh-CN">
                <a:latin typeface="Times New Roman" panose="02020603050405020304" charset="0"/>
                <a:sym typeface="Symbol" panose="05050102010706020507" pitchFamily="18" charset="2"/>
              </a:rPr>
              <a:t> </a:t>
            </a:r>
            <a:endParaRPr lang="en-US" altLang="zh-CN">
              <a:latin typeface="Times New Roman" panose="02020603050405020304" charset="0"/>
              <a:sym typeface="Symbol" panose="05050102010706020507" pitchFamily="18" charset="2"/>
            </a:endParaRPr>
          </a:p>
        </p:txBody>
      </p:sp>
      <p:graphicFrame>
        <p:nvGraphicFramePr>
          <p:cNvPr id="452624" name="对象 452623"/>
          <p:cNvGraphicFramePr/>
          <p:nvPr/>
        </p:nvGraphicFramePr>
        <p:xfrm>
          <a:off x="5264785" y="5218430"/>
          <a:ext cx="1831340" cy="798195"/>
        </p:xfrm>
        <a:graphic>
          <a:graphicData uri="http://schemas.openxmlformats.org/presentationml/2006/ole">
            <mc:AlternateContent xmlns:mc="http://schemas.openxmlformats.org/markup-compatibility/2006">
              <mc:Choice xmlns:v="urn:schemas-microsoft-com:vml" Requires="v">
                <p:oleObj spid="_x0000_s3160" name="" r:id="rId10" imgW="1002665" imgH="457200" progId="Equation.DSMT4">
                  <p:embed/>
                </p:oleObj>
              </mc:Choice>
              <mc:Fallback>
                <p:oleObj name="" r:id="rId10" imgW="1002665" imgH="457200" progId="Equation.DSMT4">
                  <p:embed/>
                  <p:pic>
                    <p:nvPicPr>
                      <p:cNvPr id="0" name="图片 3159"/>
                      <p:cNvPicPr/>
                      <p:nvPr/>
                    </p:nvPicPr>
                    <p:blipFill>
                      <a:blip r:embed="rId11"/>
                      <a:stretch>
                        <a:fillRect/>
                      </a:stretch>
                    </p:blipFill>
                    <p:spPr>
                      <a:xfrm>
                        <a:off x="5264785" y="5218430"/>
                        <a:ext cx="1831340" cy="798195"/>
                      </a:xfrm>
                      <a:prstGeom prst="rect">
                        <a:avLst/>
                      </a:prstGeom>
                      <a:solidFill>
                        <a:srgbClr val="FFFFCC"/>
                      </a:solidFill>
                      <a:ln w="9525" cap="flat" cmpd="sng">
                        <a:solidFill>
                          <a:srgbClr val="FF0000"/>
                        </a:solidFill>
                        <a:prstDash val="solid"/>
                        <a:miter/>
                        <a:headEnd type="none" w="med" len="med"/>
                        <a:tailEnd type="none" w="med" len="med"/>
                      </a:ln>
                    </p:spPr>
                  </p:pic>
                </p:oleObj>
              </mc:Fallback>
            </mc:AlternateContent>
          </a:graphicData>
        </a:graphic>
      </p:graphicFrame>
      <p:sp>
        <p:nvSpPr>
          <p:cNvPr id="452627" name="矩形 452626"/>
          <p:cNvSpPr/>
          <p:nvPr/>
        </p:nvSpPr>
        <p:spPr>
          <a:xfrm>
            <a:off x="0" y="6430010"/>
            <a:ext cx="7753350" cy="398780"/>
          </a:xfrm>
          <a:prstGeom prst="rect">
            <a:avLst/>
          </a:prstGeom>
          <a:solidFill>
            <a:schemeClr val="bg1"/>
          </a:solidFill>
          <a:ln w="9525">
            <a:noFill/>
          </a:ln>
        </p:spPr>
        <p:txBody>
          <a:bodyPr wrap="square">
            <a:spAutoFit/>
          </a:bodyPr>
          <a:p>
            <a:pPr algn="l">
              <a:spcBef>
                <a:spcPct val="50000"/>
              </a:spcBef>
            </a:pPr>
            <a:r>
              <a:rPr lang="zh-CN" altLang="en-US" sz="2000" dirty="0">
                <a:solidFill>
                  <a:srgbClr val="000099"/>
                </a:solidFill>
                <a:latin typeface="Times New Roman" panose="02020603050405020304" charset="0"/>
                <a:ea typeface="楷体_GB2312" panose="02010609030101010101" pitchFamily="49" charset="-122"/>
              </a:rPr>
              <a:t>在计数器中所计得的数</a:t>
            </a:r>
            <a:r>
              <a:rPr lang="en-US" altLang="zh-CN" sz="2000" i="1">
                <a:solidFill>
                  <a:srgbClr val="000099"/>
                </a:solidFill>
                <a:latin typeface="Times New Roman" panose="02020603050405020304" charset="0"/>
                <a:ea typeface="楷体_GB2312" panose="02010609030101010101" pitchFamily="49" charset="-122"/>
                <a:sym typeface="Symbol" panose="05050102010706020507" pitchFamily="18" charset="2"/>
              </a:rPr>
              <a:t></a:t>
            </a:r>
            <a:r>
              <a:rPr lang="en-US" altLang="zh-CN" sz="2000">
                <a:solidFill>
                  <a:srgbClr val="000099"/>
                </a:solidFill>
                <a:latin typeface="Times New Roman" panose="02020603050405020304" charset="0"/>
                <a:ea typeface="楷体_GB2312" panose="02010609030101010101" pitchFamily="49" charset="-122"/>
              </a:rPr>
              <a:t>=</a:t>
            </a:r>
            <a:r>
              <a:rPr lang="en-US" altLang="zh-CN" sz="2000" i="1">
                <a:solidFill>
                  <a:srgbClr val="000099"/>
                </a:solidFill>
                <a:latin typeface="Times New Roman" panose="02020603050405020304" charset="0"/>
                <a:ea typeface="楷体_GB2312" panose="02010609030101010101" pitchFamily="49" charset="-122"/>
              </a:rPr>
              <a:t>Q</a:t>
            </a:r>
            <a:r>
              <a:rPr lang="en-US" altLang="zh-CN" sz="2000" baseline="-25000">
                <a:solidFill>
                  <a:srgbClr val="000099"/>
                </a:solidFill>
                <a:latin typeface="Times New Roman" panose="02020603050405020304" charset="0"/>
                <a:ea typeface="楷体_GB2312" panose="02010609030101010101" pitchFamily="49" charset="-122"/>
              </a:rPr>
              <a:t>n-1</a:t>
            </a:r>
            <a:r>
              <a:rPr lang="en-US" altLang="zh-CN" sz="2000">
                <a:solidFill>
                  <a:srgbClr val="000099"/>
                </a:solidFill>
                <a:latin typeface="Times New Roman" panose="02020603050405020304" charset="0"/>
                <a:ea typeface="楷体_GB2312" panose="02010609030101010101" pitchFamily="49" charset="-122"/>
              </a:rPr>
              <a:t>…</a:t>
            </a:r>
            <a:r>
              <a:rPr lang="en-US" altLang="zh-CN" sz="2000" i="1">
                <a:solidFill>
                  <a:srgbClr val="000099"/>
                </a:solidFill>
                <a:latin typeface="Times New Roman" panose="02020603050405020304" charset="0"/>
                <a:ea typeface="楷体_GB2312" panose="02010609030101010101" pitchFamily="49" charset="-122"/>
              </a:rPr>
              <a:t>Q</a:t>
            </a:r>
            <a:r>
              <a:rPr lang="en-US" altLang="zh-CN" sz="2000" baseline="-25000">
                <a:solidFill>
                  <a:srgbClr val="000099"/>
                </a:solidFill>
                <a:latin typeface="Times New Roman" panose="02020603050405020304" charset="0"/>
                <a:ea typeface="楷体_GB2312" panose="02010609030101010101" pitchFamily="49" charset="-122"/>
              </a:rPr>
              <a:t>1</a:t>
            </a:r>
            <a:r>
              <a:rPr lang="en-US" altLang="zh-CN" sz="2000" i="1">
                <a:solidFill>
                  <a:srgbClr val="000099"/>
                </a:solidFill>
                <a:latin typeface="Times New Roman" panose="02020603050405020304" charset="0"/>
                <a:ea typeface="楷体_GB2312" panose="02010609030101010101" pitchFamily="49" charset="-122"/>
              </a:rPr>
              <a:t>Q</a:t>
            </a:r>
            <a:r>
              <a:rPr lang="en-US" altLang="zh-CN" sz="2000" baseline="-25000">
                <a:solidFill>
                  <a:srgbClr val="000099"/>
                </a:solidFill>
                <a:latin typeface="Times New Roman" panose="02020603050405020304" charset="0"/>
                <a:ea typeface="楷体_GB2312" panose="02010609030101010101" pitchFamily="49" charset="-122"/>
              </a:rPr>
              <a:t>0</a:t>
            </a:r>
            <a:r>
              <a:rPr lang="zh-CN" altLang="en-US" sz="2000">
                <a:solidFill>
                  <a:srgbClr val="000099"/>
                </a:solidFill>
                <a:latin typeface="Times New Roman" panose="02020603050405020304" charset="0"/>
                <a:ea typeface="楷体_GB2312" panose="02010609030101010101" pitchFamily="49" charset="-122"/>
              </a:rPr>
              <a:t>，</a:t>
            </a:r>
            <a:r>
              <a:rPr lang="en-US" altLang="zh-CN" sz="2000" i="1">
                <a:solidFill>
                  <a:srgbClr val="000099"/>
                </a:solidFill>
                <a:latin typeface="Times New Roman" panose="02020603050405020304" charset="0"/>
                <a:ea typeface="楷体_GB2312" panose="02010609030101010101" pitchFamily="49" charset="-122"/>
                <a:sym typeface="Symbol" panose="05050102010706020507" pitchFamily="18" charset="2"/>
              </a:rPr>
              <a:t></a:t>
            </a:r>
            <a:r>
              <a:rPr lang="zh-CN" altLang="en-US" sz="2000" dirty="0">
                <a:solidFill>
                  <a:srgbClr val="000099"/>
                </a:solidFill>
                <a:latin typeface="Times New Roman" panose="02020603050405020304" charset="0"/>
                <a:ea typeface="楷体_GB2312" panose="02010609030101010101" pitchFamily="49" charset="-122"/>
              </a:rPr>
              <a:t>就是</a:t>
            </a:r>
            <a:r>
              <a:rPr lang="en-US" altLang="zh-CN" sz="2000" dirty="0">
                <a:solidFill>
                  <a:srgbClr val="000099"/>
                </a:solidFill>
                <a:latin typeface="Times New Roman" panose="02020603050405020304" charset="0"/>
                <a:ea typeface="楷体_GB2312" panose="02010609030101010101" pitchFamily="49" charset="-122"/>
              </a:rPr>
              <a:t>A/D</a:t>
            </a:r>
            <a:r>
              <a:rPr lang="zh-CN" altLang="en-US" sz="2000" dirty="0">
                <a:solidFill>
                  <a:srgbClr val="000099"/>
                </a:solidFill>
                <a:latin typeface="Times New Roman" panose="02020603050405020304" charset="0"/>
                <a:ea typeface="楷体_GB2312" panose="02010609030101010101" pitchFamily="49" charset="-122"/>
              </a:rPr>
              <a:t>转换器得到的结果。</a:t>
            </a:r>
            <a:endParaRPr lang="zh-CN" altLang="en-US" sz="2000" dirty="0">
              <a:solidFill>
                <a:srgbClr val="000099"/>
              </a:solidFill>
              <a:latin typeface="Times New Roman" panose="02020603050405020304" charset="0"/>
              <a:ea typeface="楷体_GB2312" panose="0201060903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52611"/>
                                        </p:tgtEl>
                                        <p:attrNameLst>
                                          <p:attrName>style.visibility</p:attrName>
                                        </p:attrNameLst>
                                      </p:cBhvr>
                                      <p:to>
                                        <p:strVal val="visible"/>
                                      </p:to>
                                    </p:set>
                                    <p:animEffect transition="in" filter="box(in)">
                                      <p:cBhvr>
                                        <p:cTn id="7" dur="500"/>
                                        <p:tgtEl>
                                          <p:spTgt spid="452611"/>
                                        </p:tgtEl>
                                      </p:cBhvr>
                                    </p:animEffect>
                                  </p:childTnLst>
                                  <p:subTnLst>
                                    <p:set>
                                      <p:cBhvr override="childStyle">
                                        <p:cTn dur="1" fill="hold" display="0" masterRel="nextClick" afterEffect="1"/>
                                        <p:tgtEl>
                                          <p:spTgt spid="452611"/>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52629"/>
                                        </p:tgtEl>
                                        <p:attrNameLst>
                                          <p:attrName>style.visibility</p:attrName>
                                        </p:attrNameLst>
                                      </p:cBhvr>
                                      <p:to>
                                        <p:strVal val="visible"/>
                                      </p:to>
                                    </p:set>
                                    <p:animEffect transition="in" filter="wipe(up)">
                                      <p:cBhvr>
                                        <p:cTn id="12" dur="500"/>
                                        <p:tgtEl>
                                          <p:spTgt spid="452629"/>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452614"/>
                                        </p:tgtEl>
                                        <p:attrNameLst>
                                          <p:attrName>style.visibility</p:attrName>
                                        </p:attrNameLst>
                                      </p:cBhvr>
                                      <p:to>
                                        <p:strVal val="visible"/>
                                      </p:to>
                                    </p:set>
                                    <p:animEffect transition="in" filter="randombar(horizontal)">
                                      <p:cBhvr>
                                        <p:cTn id="17" dur="500"/>
                                        <p:tgtEl>
                                          <p:spTgt spid="45261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452628"/>
                                        </p:tgtEl>
                                        <p:attrNameLst>
                                          <p:attrName>style.visibility</p:attrName>
                                        </p:attrNameLst>
                                      </p:cBhvr>
                                      <p:to>
                                        <p:strVal val="visible"/>
                                      </p:to>
                                    </p:set>
                                    <p:animEffect transition="in" filter="wipe(up)">
                                      <p:cBhvr>
                                        <p:cTn id="29" dur="500"/>
                                        <p:tgtEl>
                                          <p:spTgt spid="452628"/>
                                        </p:tgtEl>
                                      </p:cBhvr>
                                    </p:animEffect>
                                  </p:childTnLst>
                                  <p:subTnLst>
                                    <p:set>
                                      <p:cBhvr override="childStyle">
                                        <p:cTn dur="1" fill="hold" display="0" masterRel="nextClick" afterEffect="1"/>
                                        <p:tgtEl>
                                          <p:spTgt spid="452628"/>
                                        </p:tgtEl>
                                        <p:attrNameLst>
                                          <p:attrName>style.visibility</p:attrName>
                                        </p:attrNameLst>
                                      </p:cBhvr>
                                      <p:to>
                                        <p:strVal val="hidden"/>
                                      </p:to>
                                    </p:set>
                                  </p:subTnLst>
                                </p:cTn>
                              </p:par>
                            </p:childTnLst>
                          </p:cTn>
                        </p:par>
                      </p:childTnLst>
                    </p:cTn>
                  </p:par>
                  <p:par>
                    <p:cTn id="30" fill="hold">
                      <p:stCondLst>
                        <p:cond delay="indefinite"/>
                      </p:stCondLst>
                      <p:childTnLst>
                        <p:par>
                          <p:cTn id="31" fill="hold">
                            <p:stCondLst>
                              <p:cond delay="0"/>
                            </p:stCondLst>
                            <p:childTnLst>
                              <p:par>
                                <p:cTn id="32" presetID="18" presetClass="entr" presetSubtype="3" fill="hold" nodeType="clickEffect">
                                  <p:stCondLst>
                                    <p:cond delay="0"/>
                                  </p:stCondLst>
                                  <p:childTnLst>
                                    <p:set>
                                      <p:cBhvr>
                                        <p:cTn id="33" dur="1" fill="hold">
                                          <p:stCondLst>
                                            <p:cond delay="0"/>
                                          </p:stCondLst>
                                        </p:cTn>
                                        <p:tgtEl>
                                          <p:spTgt spid="452617"/>
                                        </p:tgtEl>
                                        <p:attrNameLst>
                                          <p:attrName>style.visibility</p:attrName>
                                        </p:attrNameLst>
                                      </p:cBhvr>
                                      <p:to>
                                        <p:strVal val="visible"/>
                                      </p:to>
                                    </p:set>
                                    <p:animEffect transition="in" filter="strips(upRight)">
                                      <p:cBhvr>
                                        <p:cTn id="34" dur="500"/>
                                        <p:tgtEl>
                                          <p:spTgt spid="452617"/>
                                        </p:tgtEl>
                                      </p:cBhvr>
                                    </p:animEffect>
                                  </p:childTnLst>
                                </p:cTn>
                              </p:par>
                            </p:childTnLst>
                          </p:cTn>
                        </p:par>
                      </p:childTnLst>
                    </p:cTn>
                  </p:par>
                  <p:par>
                    <p:cTn id="35" fill="hold">
                      <p:stCondLst>
                        <p:cond delay="indefinite"/>
                      </p:stCondLst>
                      <p:childTnLst>
                        <p:par>
                          <p:cTn id="36" fill="hold">
                            <p:stCondLst>
                              <p:cond delay="0"/>
                            </p:stCondLst>
                            <p:childTnLst>
                              <p:par>
                                <p:cTn id="37" presetID="14" presetClass="entr" presetSubtype="10" fill="hold" nodeType="clickEffect">
                                  <p:stCondLst>
                                    <p:cond delay="0"/>
                                  </p:stCondLst>
                                  <p:childTnLst>
                                    <p:set>
                                      <p:cBhvr>
                                        <p:cTn id="38" dur="1" fill="hold">
                                          <p:stCondLst>
                                            <p:cond delay="0"/>
                                          </p:stCondLst>
                                        </p:cTn>
                                        <p:tgtEl>
                                          <p:spTgt spid="452618"/>
                                        </p:tgtEl>
                                        <p:attrNameLst>
                                          <p:attrName>style.visibility</p:attrName>
                                        </p:attrNameLst>
                                      </p:cBhvr>
                                      <p:to>
                                        <p:strVal val="visible"/>
                                      </p:to>
                                    </p:set>
                                    <p:animEffect transition="in" filter="randombar(horizontal)">
                                      <p:cBhvr>
                                        <p:cTn id="39" dur="500"/>
                                        <p:tgtEl>
                                          <p:spTgt spid="452618"/>
                                        </p:tgtEl>
                                      </p:cBhvr>
                                    </p:animEffect>
                                  </p:childTnLst>
                                </p:cTn>
                              </p:par>
                            </p:childTnLst>
                          </p:cTn>
                        </p:par>
                        <p:par>
                          <p:cTn id="40" fill="hold">
                            <p:stCondLst>
                              <p:cond delay="500"/>
                            </p:stCondLst>
                            <p:childTnLst>
                              <p:par>
                                <p:cTn id="41" presetID="12" presetClass="entr" presetSubtype="4" fill="hold" nodeType="afterEffect">
                                  <p:stCondLst>
                                    <p:cond delay="0"/>
                                  </p:stCondLst>
                                  <p:childTnLst>
                                    <p:set>
                                      <p:cBhvr>
                                        <p:cTn id="42" dur="1" fill="hold">
                                          <p:stCondLst>
                                            <p:cond delay="0"/>
                                          </p:stCondLst>
                                        </p:cTn>
                                        <p:tgtEl>
                                          <p:spTgt spid="452625"/>
                                        </p:tgtEl>
                                        <p:attrNameLst>
                                          <p:attrName>style.visibility</p:attrName>
                                        </p:attrNameLst>
                                      </p:cBhvr>
                                      <p:to>
                                        <p:strVal val="visible"/>
                                      </p:to>
                                    </p:set>
                                    <p:animEffect transition="in" filter="slide(fromBottom)">
                                      <p:cBhvr>
                                        <p:cTn id="43" dur="500"/>
                                        <p:tgtEl>
                                          <p:spTgt spid="452625"/>
                                        </p:tgtEl>
                                      </p:cBhvr>
                                    </p:animEffect>
                                  </p:childTnLst>
                                </p:cTn>
                              </p:par>
                            </p:childTnLst>
                          </p:cTn>
                        </p:par>
                      </p:childTnLst>
                    </p:cTn>
                  </p:par>
                  <p:par>
                    <p:cTn id="44" fill="hold">
                      <p:stCondLst>
                        <p:cond delay="indefinite"/>
                      </p:stCondLst>
                      <p:childTnLst>
                        <p:par>
                          <p:cTn id="45" fill="hold">
                            <p:stCondLst>
                              <p:cond delay="0"/>
                            </p:stCondLst>
                            <p:childTnLst>
                              <p:par>
                                <p:cTn id="46" presetID="5" presetClass="entr" presetSubtype="10" fill="hold" grpId="0" nodeType="clickEffect">
                                  <p:stCondLst>
                                    <p:cond delay="0"/>
                                  </p:stCondLst>
                                  <p:childTnLst>
                                    <p:set>
                                      <p:cBhvr>
                                        <p:cTn id="47" dur="1" fill="hold">
                                          <p:stCondLst>
                                            <p:cond delay="0"/>
                                          </p:stCondLst>
                                        </p:cTn>
                                        <p:tgtEl>
                                          <p:spTgt spid="452626"/>
                                        </p:tgtEl>
                                        <p:attrNameLst>
                                          <p:attrName>style.visibility</p:attrName>
                                        </p:attrNameLst>
                                      </p:cBhvr>
                                      <p:to>
                                        <p:strVal val="visible"/>
                                      </p:to>
                                    </p:set>
                                    <p:animEffect transition="in" filter="checkerboard(across)">
                                      <p:cBhvr>
                                        <p:cTn id="48" dur="500"/>
                                        <p:tgtEl>
                                          <p:spTgt spid="452626"/>
                                        </p:tgtEl>
                                      </p:cBhvr>
                                    </p:animEffect>
                                  </p:childTnLst>
                                </p:cTn>
                              </p:par>
                            </p:childTnLst>
                          </p:cTn>
                        </p:par>
                      </p:childTnLst>
                    </p:cTn>
                  </p:par>
                  <p:par>
                    <p:cTn id="49" fill="hold">
                      <p:stCondLst>
                        <p:cond delay="indefinite"/>
                      </p:stCondLst>
                      <p:childTnLst>
                        <p:par>
                          <p:cTn id="50" fill="hold">
                            <p:stCondLst>
                              <p:cond delay="0"/>
                            </p:stCondLst>
                            <p:childTnLst>
                              <p:par>
                                <p:cTn id="51" presetID="14" presetClass="entr" presetSubtype="10" fill="hold" nodeType="clickEffect">
                                  <p:stCondLst>
                                    <p:cond delay="0"/>
                                  </p:stCondLst>
                                  <p:childTnLst>
                                    <p:set>
                                      <p:cBhvr>
                                        <p:cTn id="52" dur="1" fill="hold">
                                          <p:stCondLst>
                                            <p:cond delay="0"/>
                                          </p:stCondLst>
                                        </p:cTn>
                                        <p:tgtEl>
                                          <p:spTgt spid="452620"/>
                                        </p:tgtEl>
                                        <p:attrNameLst>
                                          <p:attrName>style.visibility</p:attrName>
                                        </p:attrNameLst>
                                      </p:cBhvr>
                                      <p:to>
                                        <p:strVal val="visible"/>
                                      </p:to>
                                    </p:set>
                                    <p:animEffect transition="in" filter="randombar(horizontal)">
                                      <p:cBhvr>
                                        <p:cTn id="53" dur="500"/>
                                        <p:tgtEl>
                                          <p:spTgt spid="452620"/>
                                        </p:tgtEl>
                                      </p:cBhvr>
                                    </p:animEffect>
                                  </p:childTnLst>
                                </p:cTn>
                              </p:par>
                            </p:childTnLst>
                          </p:cTn>
                        </p:par>
                      </p:childTnLst>
                    </p:cTn>
                  </p:par>
                  <p:par>
                    <p:cTn id="54" fill="hold">
                      <p:stCondLst>
                        <p:cond delay="indefinite"/>
                      </p:stCondLst>
                      <p:childTnLst>
                        <p:par>
                          <p:cTn id="55" fill="hold">
                            <p:stCondLst>
                              <p:cond delay="0"/>
                            </p:stCondLst>
                            <p:childTnLst>
                              <p:par>
                                <p:cTn id="56" presetID="14" presetClass="entr" presetSubtype="10" fill="hold" nodeType="clickEffect">
                                  <p:stCondLst>
                                    <p:cond delay="0"/>
                                  </p:stCondLst>
                                  <p:childTnLst>
                                    <p:set>
                                      <p:cBhvr>
                                        <p:cTn id="57" dur="1" fill="hold">
                                          <p:stCondLst>
                                            <p:cond delay="0"/>
                                          </p:stCondLst>
                                        </p:cTn>
                                        <p:tgtEl>
                                          <p:spTgt spid="452622"/>
                                        </p:tgtEl>
                                        <p:attrNameLst>
                                          <p:attrName>style.visibility</p:attrName>
                                        </p:attrNameLst>
                                      </p:cBhvr>
                                      <p:to>
                                        <p:strVal val="visible"/>
                                      </p:to>
                                    </p:set>
                                    <p:animEffect transition="in" filter="randombar(horizontal)">
                                      <p:cBhvr>
                                        <p:cTn id="58" dur="500"/>
                                        <p:tgtEl>
                                          <p:spTgt spid="452622"/>
                                        </p:tgtEl>
                                      </p:cBhvr>
                                    </p:animEffect>
                                  </p:childTnLst>
                                </p:cTn>
                              </p:par>
                            </p:childTnLst>
                          </p:cTn>
                        </p:par>
                      </p:childTnLst>
                    </p:cTn>
                  </p:par>
                  <p:par>
                    <p:cTn id="59" fill="hold">
                      <p:stCondLst>
                        <p:cond delay="indefinite"/>
                      </p:stCondLst>
                      <p:childTnLst>
                        <p:par>
                          <p:cTn id="60" fill="hold">
                            <p:stCondLst>
                              <p:cond delay="0"/>
                            </p:stCondLst>
                            <p:childTnLst>
                              <p:par>
                                <p:cTn id="61" presetID="5" presetClass="entr" presetSubtype="10" fill="hold" grpId="0" nodeType="clickEffect">
                                  <p:stCondLst>
                                    <p:cond delay="0"/>
                                  </p:stCondLst>
                                  <p:childTnLst>
                                    <p:set>
                                      <p:cBhvr>
                                        <p:cTn id="62" dur="1" fill="hold">
                                          <p:stCondLst>
                                            <p:cond delay="0"/>
                                          </p:stCondLst>
                                        </p:cTn>
                                        <p:tgtEl>
                                          <p:spTgt spid="452623"/>
                                        </p:tgtEl>
                                        <p:attrNameLst>
                                          <p:attrName>style.visibility</p:attrName>
                                        </p:attrNameLst>
                                      </p:cBhvr>
                                      <p:to>
                                        <p:strVal val="visible"/>
                                      </p:to>
                                    </p:set>
                                    <p:animEffect transition="in" filter="checkerboard(across)">
                                      <p:cBhvr>
                                        <p:cTn id="63" dur="500"/>
                                        <p:tgtEl>
                                          <p:spTgt spid="452623"/>
                                        </p:tgtEl>
                                      </p:cBhvr>
                                    </p:animEffect>
                                  </p:childTnLst>
                                </p:cTn>
                              </p:par>
                            </p:childTnLst>
                          </p:cTn>
                        </p:par>
                      </p:childTnLst>
                    </p:cTn>
                  </p:par>
                  <p:par>
                    <p:cTn id="64" fill="hold">
                      <p:stCondLst>
                        <p:cond delay="indefinite"/>
                      </p:stCondLst>
                      <p:childTnLst>
                        <p:par>
                          <p:cTn id="65" fill="hold">
                            <p:stCondLst>
                              <p:cond delay="0"/>
                            </p:stCondLst>
                            <p:childTnLst>
                              <p:par>
                                <p:cTn id="66" presetID="14" presetClass="entr" presetSubtype="10" fill="hold" nodeType="clickEffect">
                                  <p:stCondLst>
                                    <p:cond delay="0"/>
                                  </p:stCondLst>
                                  <p:childTnLst>
                                    <p:set>
                                      <p:cBhvr>
                                        <p:cTn id="67" dur="1" fill="hold">
                                          <p:stCondLst>
                                            <p:cond delay="0"/>
                                          </p:stCondLst>
                                        </p:cTn>
                                        <p:tgtEl>
                                          <p:spTgt spid="452624"/>
                                        </p:tgtEl>
                                        <p:attrNameLst>
                                          <p:attrName>style.visibility</p:attrName>
                                        </p:attrNameLst>
                                      </p:cBhvr>
                                      <p:to>
                                        <p:strVal val="visible"/>
                                      </p:to>
                                    </p:set>
                                    <p:animEffect transition="in" filter="randombar(horizontal)">
                                      <p:cBhvr>
                                        <p:cTn id="68" dur="500"/>
                                        <p:tgtEl>
                                          <p:spTgt spid="452624"/>
                                        </p:tgtEl>
                                      </p:cBhvr>
                                    </p:animEffect>
                                  </p:childTnLst>
                                </p:cTn>
                              </p:par>
                            </p:childTnLst>
                          </p:cTn>
                        </p:par>
                      </p:childTnLst>
                    </p:cTn>
                  </p:par>
                  <p:par>
                    <p:cTn id="69" fill="hold">
                      <p:stCondLst>
                        <p:cond delay="indefinite"/>
                      </p:stCondLst>
                      <p:childTnLst>
                        <p:par>
                          <p:cTn id="70" fill="hold">
                            <p:stCondLst>
                              <p:cond delay="0"/>
                            </p:stCondLst>
                            <p:childTnLst>
                              <p:par>
                                <p:cTn id="71" presetID="18" presetClass="entr" presetSubtype="6" fill="hold" grpId="0" nodeType="clickEffect">
                                  <p:stCondLst>
                                    <p:cond delay="0"/>
                                  </p:stCondLst>
                                  <p:childTnLst>
                                    <p:set>
                                      <p:cBhvr>
                                        <p:cTn id="72" dur="1" fill="hold">
                                          <p:stCondLst>
                                            <p:cond delay="0"/>
                                          </p:stCondLst>
                                        </p:cTn>
                                        <p:tgtEl>
                                          <p:spTgt spid="452627"/>
                                        </p:tgtEl>
                                        <p:attrNameLst>
                                          <p:attrName>style.visibility</p:attrName>
                                        </p:attrNameLst>
                                      </p:cBhvr>
                                      <p:to>
                                        <p:strVal val="visible"/>
                                      </p:to>
                                    </p:set>
                                    <p:animEffect transition="in" filter="strips(downRight)">
                                      <p:cBhvr>
                                        <p:cTn id="73" dur="500"/>
                                        <p:tgtEl>
                                          <p:spTgt spid="4526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2614" grpId="0" bldLvl="0" animBg="1"/>
      <p:bldP spid="452626" grpId="0" bldLvl="0" animBg="1"/>
      <p:bldP spid="452623" grpId="0" bldLvl="0" animBg="1"/>
      <p:bldP spid="452627" grpId="0" bldLvl="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1891030" y="49911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9.3 </a:t>
            </a:r>
            <a:r>
              <a:rPr lang="en-US" altLang="zh-CN" b="1" dirty="0">
                <a:solidFill>
                  <a:srgbClr val="FF0000"/>
                </a:solidFill>
                <a:latin typeface="黑体" panose="02010609060101010101" pitchFamily="49" charset="-122"/>
                <a:ea typeface="黑体" panose="02010609060101010101" pitchFamily="49" charset="-122"/>
                <a:sym typeface="+mn-ea"/>
              </a:rPr>
              <a:t>A/D转换电路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6146" name="Rectangle 2"/>
          <p:cNvSpPr>
            <a:spLocks noGrp="1"/>
          </p:cNvSpPr>
          <p:nvPr>
            <p:ph type="title"/>
          </p:nvPr>
        </p:nvSpPr>
        <p:spPr>
          <a:xfrm>
            <a:off x="848360" y="1013778"/>
            <a:ext cx="5257800" cy="868362"/>
          </a:xfrm>
        </p:spPr>
        <p:txBody>
          <a:bodyPr vert="horz" wrap="square" lIns="91440" tIns="45720" rIns="91440" bIns="45720" anchor="ctr" anchorCtr="0"/>
          <a:p>
            <a:pPr algn="l" eaLnBrk="1" hangingPunct="1"/>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9</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3</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5 </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A/D转换器的主要技术指标</a:t>
            </a:r>
            <a:endPar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endParaRPr>
          </a:p>
        </p:txBody>
      </p:sp>
      <p:pic>
        <p:nvPicPr>
          <p:cNvPr id="2" name="图片 1"/>
          <p:cNvPicPr>
            <a:picLocks noChangeAspect="1"/>
          </p:cNvPicPr>
          <p:nvPr/>
        </p:nvPicPr>
        <p:blipFill>
          <a:blip r:embed="rId1"/>
          <a:srcRect r="3396"/>
          <a:stretch>
            <a:fillRect/>
          </a:stretch>
        </p:blipFill>
        <p:spPr>
          <a:xfrm>
            <a:off x="848360" y="1699895"/>
            <a:ext cx="1463040" cy="381000"/>
          </a:xfrm>
          <a:prstGeom prst="rect">
            <a:avLst/>
          </a:prstGeom>
        </p:spPr>
      </p:pic>
      <p:sp>
        <p:nvSpPr>
          <p:cNvPr id="102" name="文本框 101"/>
          <p:cNvSpPr txBox="1"/>
          <p:nvPr/>
        </p:nvSpPr>
        <p:spPr>
          <a:xfrm>
            <a:off x="470535" y="2080895"/>
            <a:ext cx="8364855" cy="977265"/>
          </a:xfrm>
          <a:prstGeom prst="rect">
            <a:avLst/>
          </a:prstGeom>
          <a:noFill/>
          <a:ln w="9525">
            <a:noFill/>
          </a:ln>
        </p:spPr>
        <p:txBody>
          <a:bodyPr wrap="square">
            <a:spAutoFit/>
          </a:bodyPr>
          <a:p>
            <a:pPr indent="266700">
              <a:lnSpc>
                <a:spcPct val="120000"/>
              </a:lnSpc>
            </a:pPr>
            <a:r>
              <a:rPr lang="en-US" altLang="zh-CN" sz="2400" b="1">
                <a:gradFill>
                  <a:gsLst>
                    <a:gs pos="0">
                      <a:srgbClr val="012D86"/>
                    </a:gs>
                    <a:gs pos="100000">
                      <a:srgbClr val="0E2557"/>
                    </a:gs>
                  </a:gsLst>
                  <a:lin scaled="0"/>
                </a:gradFill>
                <a:ea typeface="宋体" panose="02010600030101010101" pitchFamily="2" charset="-122"/>
              </a:rPr>
              <a:t>    </a:t>
            </a:r>
            <a:r>
              <a:rPr lang="zh-CN" sz="2400" b="1">
                <a:gradFill>
                  <a:gsLst>
                    <a:gs pos="0">
                      <a:srgbClr val="012D86"/>
                    </a:gs>
                    <a:gs pos="100000">
                      <a:srgbClr val="0E2557"/>
                    </a:gs>
                  </a:gsLst>
                  <a:lin scaled="0"/>
                </a:gradFill>
                <a:ea typeface="宋体" panose="02010600030101010101" pitchFamily="2" charset="-122"/>
              </a:rPr>
              <a:t>分辨率是</a:t>
            </a:r>
            <a:r>
              <a:rPr lang="en-US" sz="2400" b="1">
                <a:gradFill>
                  <a:gsLst>
                    <a:gs pos="0">
                      <a:srgbClr val="012D86"/>
                    </a:gs>
                    <a:gs pos="100000">
                      <a:srgbClr val="0E2557"/>
                    </a:gs>
                  </a:gsLst>
                  <a:lin scaled="0"/>
                </a:gradFill>
                <a:latin typeface="Times New Roman" panose="02020603050405020304" charset="0"/>
                <a:ea typeface="宋体" panose="02010600030101010101" pitchFamily="2" charset="-122"/>
              </a:rPr>
              <a:t>A/D</a:t>
            </a:r>
            <a:r>
              <a:rPr lang="zh-CN" sz="2400" b="1">
                <a:gradFill>
                  <a:gsLst>
                    <a:gs pos="0">
                      <a:srgbClr val="012D86"/>
                    </a:gs>
                    <a:gs pos="100000">
                      <a:srgbClr val="0E2557"/>
                    </a:gs>
                  </a:gsLst>
                  <a:lin scaled="0"/>
                </a:gradFill>
                <a:ea typeface="宋体" panose="02010600030101010101" pitchFamily="2" charset="-122"/>
              </a:rPr>
              <a:t>转换器对输入模拟信号的分辩能力，一般用输出二进制数码的位数</a:t>
            </a:r>
            <a:r>
              <a:rPr lang="en-US" sz="2400" b="1" i="1">
                <a:gradFill>
                  <a:gsLst>
                    <a:gs pos="0">
                      <a:srgbClr val="012D86"/>
                    </a:gs>
                    <a:gs pos="100000">
                      <a:srgbClr val="0E2557"/>
                    </a:gs>
                  </a:gsLst>
                  <a:lin scaled="0"/>
                </a:gradFill>
                <a:latin typeface="Times New Roman" panose="02020603050405020304" charset="0"/>
                <a:ea typeface="宋体" panose="02010600030101010101" pitchFamily="2" charset="-122"/>
              </a:rPr>
              <a:t>n</a:t>
            </a:r>
            <a:r>
              <a:rPr lang="zh-CN" sz="2400" b="1">
                <a:gradFill>
                  <a:gsLst>
                    <a:gs pos="0">
                      <a:srgbClr val="012D86"/>
                    </a:gs>
                    <a:gs pos="100000">
                      <a:srgbClr val="0E2557"/>
                    </a:gs>
                  </a:gsLst>
                  <a:lin scaled="0"/>
                </a:gradFill>
                <a:ea typeface="宋体" panose="02010600030101010101" pitchFamily="2" charset="-122"/>
              </a:rPr>
              <a:t>来表示。</a:t>
            </a:r>
            <a:endParaRPr lang="zh-CN" altLang="en-US" sz="2400" b="1">
              <a:gradFill>
                <a:gsLst>
                  <a:gs pos="0">
                    <a:srgbClr val="012D86"/>
                  </a:gs>
                  <a:gs pos="100000">
                    <a:srgbClr val="0E2557"/>
                  </a:gs>
                </a:gsLst>
                <a:lin scaled="0"/>
              </a:gradFill>
              <a:ea typeface="宋体" panose="02010600030101010101" pitchFamily="2" charset="-122"/>
            </a:endParaRPr>
          </a:p>
        </p:txBody>
      </p:sp>
      <p:pic>
        <p:nvPicPr>
          <p:cNvPr id="3" name="图片 2"/>
          <p:cNvPicPr>
            <a:picLocks noChangeAspect="1"/>
          </p:cNvPicPr>
          <p:nvPr/>
        </p:nvPicPr>
        <p:blipFill>
          <a:blip r:embed="rId2"/>
          <a:stretch>
            <a:fillRect/>
          </a:stretch>
        </p:blipFill>
        <p:spPr>
          <a:xfrm>
            <a:off x="940435" y="3122930"/>
            <a:ext cx="1695450" cy="371475"/>
          </a:xfrm>
          <a:prstGeom prst="rect">
            <a:avLst/>
          </a:prstGeom>
        </p:spPr>
      </p:pic>
      <p:sp>
        <p:nvSpPr>
          <p:cNvPr id="454664" name="文本框 454663"/>
          <p:cNvSpPr txBox="1"/>
          <p:nvPr/>
        </p:nvSpPr>
        <p:spPr>
          <a:xfrm>
            <a:off x="470535" y="3494405"/>
            <a:ext cx="8579485" cy="977265"/>
          </a:xfrm>
          <a:prstGeom prst="rect">
            <a:avLst/>
          </a:prstGeom>
          <a:noFill/>
          <a:ln w="9525">
            <a:noFill/>
          </a:ln>
        </p:spPr>
        <p:txBody>
          <a:bodyPr wrap="square">
            <a:spAutoFit/>
          </a:bodyPr>
          <a:p>
            <a:pPr algn="l">
              <a:lnSpc>
                <a:spcPct val="120000"/>
              </a:lnSpc>
              <a:spcBef>
                <a:spcPct val="50000"/>
              </a:spcBef>
            </a:pPr>
            <a:r>
              <a:rPr lang="en-US" altLang="zh-CN" sz="2400" b="1" dirty="0">
                <a:gradFill>
                  <a:gsLst>
                    <a:gs pos="0">
                      <a:srgbClr val="012D86"/>
                    </a:gs>
                    <a:gs pos="100000">
                      <a:srgbClr val="0E2557"/>
                    </a:gs>
                  </a:gsLst>
                  <a:lin scaled="0"/>
                </a:gradFill>
                <a:latin typeface="Times New Roman" panose="02020603050405020304" charset="0"/>
                <a:ea typeface="楷体_GB2312" panose="02010609030101010101" pitchFamily="49" charset="-122"/>
              </a:rPr>
              <a:t>       </a:t>
            </a:r>
            <a:r>
              <a:rPr lang="zh-CN" altLang="en-US" sz="2400" b="1" dirty="0">
                <a:gradFill>
                  <a:gsLst>
                    <a:gs pos="0">
                      <a:srgbClr val="012D86"/>
                    </a:gs>
                    <a:gs pos="100000">
                      <a:srgbClr val="0E2557"/>
                    </a:gs>
                  </a:gsLst>
                  <a:lin scaled="0"/>
                </a:gradFill>
                <a:latin typeface="Times New Roman" panose="02020603050405020304" charset="0"/>
                <a:ea typeface="楷体_GB2312" panose="02010609030101010101" pitchFamily="49" charset="-122"/>
              </a:rPr>
              <a:t>表示</a:t>
            </a:r>
            <a:r>
              <a:rPr lang="en-US" altLang="zh-CN" sz="2400" b="1" dirty="0">
                <a:gradFill>
                  <a:gsLst>
                    <a:gs pos="0">
                      <a:srgbClr val="012D86"/>
                    </a:gs>
                    <a:gs pos="100000">
                      <a:srgbClr val="0E2557"/>
                    </a:gs>
                  </a:gsLst>
                  <a:lin scaled="0"/>
                </a:gradFill>
                <a:latin typeface="Times New Roman" panose="02020603050405020304" charset="0"/>
                <a:ea typeface="楷体_GB2312" panose="02010609030101010101" pitchFamily="49" charset="-122"/>
              </a:rPr>
              <a:t>A/D</a:t>
            </a:r>
            <a:r>
              <a:rPr lang="zh-CN" altLang="en-US" sz="2400" b="1" dirty="0">
                <a:gradFill>
                  <a:gsLst>
                    <a:gs pos="0">
                      <a:srgbClr val="012D86"/>
                    </a:gs>
                    <a:gs pos="100000">
                      <a:srgbClr val="0E2557"/>
                    </a:gs>
                  </a:gsLst>
                  <a:lin scaled="0"/>
                </a:gradFill>
                <a:latin typeface="Times New Roman" panose="02020603050405020304" charset="0"/>
                <a:ea typeface="楷体_GB2312" panose="02010609030101010101" pitchFamily="49" charset="-122"/>
              </a:rPr>
              <a:t>转换器实际输出的数字量和理论上的输出数字量之间的差别。 </a:t>
            </a:r>
            <a:endParaRPr lang="zh-CN" altLang="en-US" sz="2400" b="1" dirty="0">
              <a:gradFill>
                <a:gsLst>
                  <a:gs pos="0">
                    <a:srgbClr val="012D86"/>
                  </a:gs>
                  <a:gs pos="100000">
                    <a:srgbClr val="0E2557"/>
                  </a:gs>
                </a:gsLst>
                <a:lin scaled="0"/>
              </a:gradFill>
              <a:latin typeface="Times New Roman" panose="02020603050405020304" charset="0"/>
              <a:ea typeface="楷体_GB2312" panose="02010609030101010101" pitchFamily="49" charset="-122"/>
            </a:endParaRPr>
          </a:p>
        </p:txBody>
      </p:sp>
      <p:pic>
        <p:nvPicPr>
          <p:cNvPr id="4" name="图片 3"/>
          <p:cNvPicPr>
            <a:picLocks noChangeAspect="1"/>
          </p:cNvPicPr>
          <p:nvPr/>
        </p:nvPicPr>
        <p:blipFill>
          <a:blip r:embed="rId3"/>
          <a:stretch>
            <a:fillRect/>
          </a:stretch>
        </p:blipFill>
        <p:spPr>
          <a:xfrm>
            <a:off x="940435" y="4471670"/>
            <a:ext cx="1695450" cy="495300"/>
          </a:xfrm>
          <a:prstGeom prst="rect">
            <a:avLst/>
          </a:prstGeom>
        </p:spPr>
      </p:pic>
      <p:sp>
        <p:nvSpPr>
          <p:cNvPr id="5" name="文本框 4"/>
          <p:cNvSpPr txBox="1"/>
          <p:nvPr/>
        </p:nvSpPr>
        <p:spPr>
          <a:xfrm>
            <a:off x="471805" y="4881245"/>
            <a:ext cx="8432165" cy="1420495"/>
          </a:xfrm>
          <a:prstGeom prst="rect">
            <a:avLst/>
          </a:prstGeom>
          <a:noFill/>
        </p:spPr>
        <p:txBody>
          <a:bodyPr wrap="square" rtlCol="0" anchor="t">
            <a:spAutoFit/>
          </a:bodyPr>
          <a:p>
            <a:pPr>
              <a:lnSpc>
                <a:spcPct val="120000"/>
              </a:lnSpc>
            </a:pPr>
            <a:r>
              <a:rPr lang="en-US" altLang="zh-CN" sz="2400" b="1">
                <a:gradFill>
                  <a:gsLst>
                    <a:gs pos="0">
                      <a:srgbClr val="012D86"/>
                    </a:gs>
                    <a:gs pos="100000">
                      <a:srgbClr val="0E2557"/>
                    </a:gs>
                  </a:gsLst>
                  <a:lin scaled="0"/>
                </a:gradFill>
              </a:rPr>
              <a:t>       </a:t>
            </a:r>
            <a:r>
              <a:rPr lang="zh-CN" altLang="en-US" sz="2400" b="1">
                <a:gradFill>
                  <a:gsLst>
                    <a:gs pos="0">
                      <a:srgbClr val="012D86"/>
                    </a:gs>
                    <a:gs pos="100000">
                      <a:srgbClr val="0E2557"/>
                    </a:gs>
                  </a:gsLst>
                  <a:lin scaled="0"/>
                </a:gradFill>
              </a:rPr>
              <a:t>转换速率是指完成一次</a:t>
            </a:r>
            <a:r>
              <a:rPr lang="en-US" altLang="zh-CN" sz="2400" b="1" dirty="0">
                <a:gradFill>
                  <a:gsLst>
                    <a:gs pos="0">
                      <a:srgbClr val="012D86"/>
                    </a:gs>
                    <a:gs pos="100000">
                      <a:srgbClr val="0E2557"/>
                    </a:gs>
                  </a:gsLst>
                  <a:lin scaled="0"/>
                </a:gradFill>
                <a:latin typeface="Times New Roman" panose="02020603050405020304" charset="0"/>
                <a:ea typeface="楷体_GB2312" panose="02010609030101010101" pitchFamily="49" charset="-122"/>
                <a:sym typeface="+mn-ea"/>
              </a:rPr>
              <a:t>A/D</a:t>
            </a:r>
            <a:r>
              <a:rPr lang="zh-CN" altLang="en-US" sz="2400" b="1">
                <a:gradFill>
                  <a:gsLst>
                    <a:gs pos="0">
                      <a:srgbClr val="012D86"/>
                    </a:gs>
                    <a:gs pos="100000">
                      <a:srgbClr val="0E2557"/>
                    </a:gs>
                  </a:gsLst>
                  <a:lin scaled="0"/>
                </a:gradFill>
              </a:rPr>
              <a:t>转换需要的时间(即转换时间)。从接到转换控制信号开始，到输出端得到稳定的数字输出信号所经过的时间称为转换时间。</a:t>
            </a:r>
            <a:endParaRPr lang="zh-CN" altLang="en-US" sz="2400" b="1">
              <a:gradFill>
                <a:gsLst>
                  <a:gs pos="0">
                    <a:srgbClr val="012D86"/>
                  </a:gs>
                  <a:gs pos="100000">
                    <a:srgbClr val="0E2557"/>
                  </a:gs>
                </a:gsLst>
                <a:lin scaled="0"/>
              </a:gradFill>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6" fill="hold" grpId="0" nodeType="clickEffect">
                                  <p:stCondLst>
                                    <p:cond delay="0"/>
                                  </p:stCondLst>
                                  <p:childTnLst>
                                    <p:set>
                                      <p:cBhvr>
                                        <p:cTn id="10" dur="1" fill="hold">
                                          <p:stCondLst>
                                            <p:cond delay="0"/>
                                          </p:stCondLst>
                                        </p:cTn>
                                        <p:tgtEl>
                                          <p:spTgt spid="454664"/>
                                        </p:tgtEl>
                                        <p:attrNameLst>
                                          <p:attrName>style.visibility</p:attrName>
                                        </p:attrNameLst>
                                      </p:cBhvr>
                                      <p:to>
                                        <p:strVal val="visible"/>
                                      </p:to>
                                    </p:set>
                                    <p:animEffect transition="in" filter="strips(downRight)">
                                      <p:cBhvr>
                                        <p:cTn id="11" dur="500"/>
                                        <p:tgtEl>
                                          <p:spTgt spid="454664"/>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ox(in)">
                                      <p:cBhvr>
                                        <p:cTn id="16"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4664" grpId="0"/>
      <p:bldP spid="102" grpId="0"/>
      <p:bldP spid="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1891030" y="49911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9.3 </a:t>
            </a:r>
            <a:r>
              <a:rPr lang="en-US" altLang="zh-CN" b="1" dirty="0">
                <a:solidFill>
                  <a:srgbClr val="FF0000"/>
                </a:solidFill>
                <a:latin typeface="黑体" panose="02010609060101010101" pitchFamily="49" charset="-122"/>
                <a:ea typeface="黑体" panose="02010609060101010101" pitchFamily="49" charset="-122"/>
                <a:sym typeface="+mn-ea"/>
              </a:rPr>
              <a:t>A/D转换电路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6146" name="Rectangle 2"/>
          <p:cNvSpPr>
            <a:spLocks noGrp="1"/>
          </p:cNvSpPr>
          <p:nvPr>
            <p:ph type="title"/>
          </p:nvPr>
        </p:nvSpPr>
        <p:spPr>
          <a:xfrm>
            <a:off x="848360" y="1013778"/>
            <a:ext cx="5257800" cy="868362"/>
          </a:xfrm>
        </p:spPr>
        <p:txBody>
          <a:bodyPr vert="horz" wrap="square" lIns="91440" tIns="45720" rIns="91440" bIns="45720" anchor="ctr" anchorCtr="0"/>
          <a:p>
            <a:pPr algn="l" eaLnBrk="1" hangingPunct="1"/>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9</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3</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a:t>
            </a:r>
            <a:r>
              <a:rPr lang="en-US" altLang="zh-CN" sz="2800" i="0" dirty="0">
                <a:solidFill>
                  <a:srgbClr val="0070C0"/>
                </a:solidFill>
                <a:latin typeface="Times New Roman" panose="02020603050405020304" charset="0"/>
                <a:ea typeface="黑体" panose="02010609060101010101" pitchFamily="49" charset="-122"/>
                <a:cs typeface="Times New Roman" panose="02020603050405020304" charset="0"/>
              </a:rPr>
              <a:t>6 </a:t>
            </a:r>
            <a:r>
              <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rPr>
              <a:t>集成A/D转换器及其应用</a:t>
            </a:r>
            <a:endParaRPr lang="zh-CN" altLang="en-US" sz="2800" i="0" dirty="0">
              <a:solidFill>
                <a:srgbClr val="0070C0"/>
              </a:solidFill>
              <a:latin typeface="Times New Roman" panose="02020603050405020304" charset="0"/>
              <a:ea typeface="黑体" panose="02010609060101010101" pitchFamily="49" charset="-122"/>
              <a:cs typeface="Times New Roman" panose="02020603050405020304" charset="0"/>
            </a:endParaRPr>
          </a:p>
        </p:txBody>
      </p:sp>
      <p:sp>
        <p:nvSpPr>
          <p:cNvPr id="102" name="文本框 101"/>
          <p:cNvSpPr txBox="1"/>
          <p:nvPr/>
        </p:nvSpPr>
        <p:spPr>
          <a:xfrm>
            <a:off x="848360" y="1660525"/>
            <a:ext cx="5080000" cy="460375"/>
          </a:xfrm>
          <a:prstGeom prst="rect">
            <a:avLst/>
          </a:prstGeom>
          <a:noFill/>
          <a:ln w="9525">
            <a:noFill/>
          </a:ln>
        </p:spPr>
        <p:txBody>
          <a:bodyPr>
            <a:spAutoFit/>
          </a:bodyPr>
          <a:p>
            <a:r>
              <a:rPr lang="en-US" sz="2400" b="1">
                <a:solidFill>
                  <a:schemeClr val="accent6">
                    <a:lumMod val="60000"/>
                    <a:lumOff val="40000"/>
                  </a:schemeClr>
                </a:solidFill>
                <a:latin typeface="Times New Roman" panose="02020603050405020304" charset="0"/>
                <a:ea typeface="宋体" panose="02010600030101010101" pitchFamily="2" charset="-122"/>
              </a:rPr>
              <a:t>1.ADC0809</a:t>
            </a:r>
            <a:r>
              <a:rPr lang="zh-CN" sz="2400" b="1">
                <a:solidFill>
                  <a:schemeClr val="accent6">
                    <a:lumMod val="60000"/>
                    <a:lumOff val="40000"/>
                  </a:schemeClr>
                </a:solidFill>
                <a:ea typeface="宋体" panose="02010600030101010101" pitchFamily="2" charset="-122"/>
              </a:rPr>
              <a:t>的原理框图</a:t>
            </a:r>
            <a:endParaRPr lang="zh-CN" altLang="en-US" sz="2400" b="1">
              <a:solidFill>
                <a:schemeClr val="accent6">
                  <a:lumMod val="60000"/>
                  <a:lumOff val="40000"/>
                </a:schemeClr>
              </a:solidFill>
              <a:ea typeface="宋体" panose="02010600030101010101" pitchFamily="2" charset="-122"/>
            </a:endParaRPr>
          </a:p>
        </p:txBody>
      </p:sp>
      <p:pic>
        <p:nvPicPr>
          <p:cNvPr id="9506" name="图片 2943"/>
          <p:cNvPicPr>
            <a:picLocks noChangeAspect="1"/>
          </p:cNvPicPr>
          <p:nvPr/>
        </p:nvPicPr>
        <p:blipFill>
          <a:blip r:embed="rId1"/>
          <a:srcRect r="37083" b="7080"/>
          <a:stretch>
            <a:fillRect/>
          </a:stretch>
        </p:blipFill>
        <p:spPr>
          <a:xfrm>
            <a:off x="1470025" y="2092325"/>
            <a:ext cx="6203950" cy="436118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1891030" y="49911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9.3 </a:t>
            </a:r>
            <a:r>
              <a:rPr lang="en-US" altLang="zh-CN" b="1" dirty="0">
                <a:solidFill>
                  <a:srgbClr val="FF0000"/>
                </a:solidFill>
                <a:latin typeface="黑体" panose="02010609060101010101" pitchFamily="49" charset="-122"/>
                <a:ea typeface="黑体" panose="02010609060101010101" pitchFamily="49" charset="-122"/>
                <a:sym typeface="+mn-ea"/>
              </a:rPr>
              <a:t>A/D转换电路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2" name="文本框 101"/>
          <p:cNvSpPr txBox="1"/>
          <p:nvPr/>
        </p:nvSpPr>
        <p:spPr>
          <a:xfrm>
            <a:off x="966470" y="1205865"/>
            <a:ext cx="5080000" cy="460375"/>
          </a:xfrm>
          <a:prstGeom prst="rect">
            <a:avLst/>
          </a:prstGeom>
          <a:noFill/>
          <a:ln w="9525">
            <a:noFill/>
          </a:ln>
        </p:spPr>
        <p:txBody>
          <a:bodyPr>
            <a:spAutoFit/>
          </a:bodyPr>
          <a:p>
            <a:r>
              <a:rPr lang="en-US" sz="2400" b="1">
                <a:solidFill>
                  <a:schemeClr val="accent6">
                    <a:lumMod val="60000"/>
                    <a:lumOff val="40000"/>
                  </a:schemeClr>
                </a:solidFill>
                <a:latin typeface="Times New Roman" panose="02020603050405020304" charset="0"/>
                <a:ea typeface="黑体" panose="02010609060101010101" pitchFamily="49" charset="-122"/>
              </a:rPr>
              <a:t>2.</a:t>
            </a:r>
            <a:r>
              <a:rPr lang="en-US" sz="2400" b="1">
                <a:solidFill>
                  <a:schemeClr val="accent6">
                    <a:lumMod val="60000"/>
                    <a:lumOff val="40000"/>
                  </a:schemeClr>
                </a:solidFill>
                <a:latin typeface="Times New Roman" panose="02020603050405020304" charset="0"/>
                <a:ea typeface="宋体" panose="02010600030101010101" pitchFamily="2" charset="-122"/>
              </a:rPr>
              <a:t> ADC0809</a:t>
            </a:r>
            <a:r>
              <a:rPr lang="zh-CN" sz="2400" b="1">
                <a:solidFill>
                  <a:schemeClr val="accent6">
                    <a:lumMod val="60000"/>
                    <a:lumOff val="40000"/>
                  </a:schemeClr>
                </a:solidFill>
                <a:ea typeface="宋体" panose="02010600030101010101" pitchFamily="2" charset="-122"/>
              </a:rPr>
              <a:t>的引脚功能</a:t>
            </a:r>
            <a:endParaRPr lang="zh-CN" altLang="en-US" sz="2400" b="1">
              <a:solidFill>
                <a:schemeClr val="accent6">
                  <a:lumMod val="60000"/>
                  <a:lumOff val="40000"/>
                </a:schemeClr>
              </a:solidFill>
              <a:ea typeface="宋体" panose="02010600030101010101" pitchFamily="2" charset="-122"/>
            </a:endParaRPr>
          </a:p>
        </p:txBody>
      </p:sp>
      <p:sp>
        <p:nvSpPr>
          <p:cNvPr id="2" name="文本框 1"/>
          <p:cNvSpPr txBox="1"/>
          <p:nvPr/>
        </p:nvSpPr>
        <p:spPr>
          <a:xfrm>
            <a:off x="72390" y="1666240"/>
            <a:ext cx="5973445" cy="1014730"/>
          </a:xfrm>
          <a:prstGeom prst="rect">
            <a:avLst/>
          </a:prstGeom>
          <a:noFill/>
          <a:ln w="9525">
            <a:noFill/>
          </a:ln>
        </p:spPr>
        <p:txBody>
          <a:bodyPr wrap="square">
            <a:spAutoFit/>
          </a:bodyPr>
          <a:p>
            <a:r>
              <a:rPr lang="zh-CN" sz="2000" b="1">
                <a:gradFill>
                  <a:gsLst>
                    <a:gs pos="0">
                      <a:srgbClr val="012D86"/>
                    </a:gs>
                    <a:gs pos="100000">
                      <a:srgbClr val="0E2557"/>
                    </a:gs>
                  </a:gsLst>
                  <a:lin scaled="0"/>
                </a:gradFill>
                <a:latin typeface="Calibri" panose="020F0502020204030204" charset="0"/>
                <a:sym typeface="+mn-ea"/>
              </a:rPr>
              <a:t>①</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IN</a:t>
            </a:r>
            <a:r>
              <a:rPr 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0</a:t>
            </a:r>
            <a:r>
              <a:rPr lang="zh-CN" sz="2000" b="1">
                <a:gradFill>
                  <a:gsLst>
                    <a:gs pos="0">
                      <a:srgbClr val="012D86"/>
                    </a:gs>
                    <a:gs pos="100000">
                      <a:srgbClr val="0E2557"/>
                    </a:gs>
                  </a:gsLst>
                  <a:lin scaled="0"/>
                </a:gradFill>
                <a:ea typeface="宋体" panose="02010600030101010101" pitchFamily="2" charset="-122"/>
              </a:rPr>
              <a:t>～</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IN</a:t>
            </a:r>
            <a:r>
              <a:rPr 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7</a:t>
            </a:r>
            <a:r>
              <a:rPr lang="zh-CN" sz="2000" b="1">
                <a:gradFill>
                  <a:gsLst>
                    <a:gs pos="0">
                      <a:srgbClr val="012D86"/>
                    </a:gs>
                    <a:gs pos="100000">
                      <a:srgbClr val="0E2557"/>
                    </a:gs>
                  </a:gsLst>
                  <a:lin scaled="0"/>
                </a:gradFill>
                <a:ea typeface="宋体" panose="02010600030101010101" pitchFamily="2" charset="-122"/>
              </a:rPr>
              <a:t>：</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8</a:t>
            </a:r>
            <a:r>
              <a:rPr lang="zh-CN" sz="2000" b="1">
                <a:gradFill>
                  <a:gsLst>
                    <a:gs pos="0">
                      <a:srgbClr val="012D86"/>
                    </a:gs>
                    <a:gs pos="100000">
                      <a:srgbClr val="0E2557"/>
                    </a:gs>
                  </a:gsLst>
                  <a:lin scaled="0"/>
                </a:gradFill>
                <a:ea typeface="宋体" panose="02010600030101010101" pitchFamily="2" charset="-122"/>
              </a:rPr>
              <a:t>路模拟电压输入端，输入电压范围由参考电压</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V</a:t>
            </a:r>
            <a:r>
              <a:rPr 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REF</a:t>
            </a:r>
            <a:r>
              <a:rPr lang="zh-CN" sz="2000" b="1" baseline="-25000">
                <a:gradFill>
                  <a:gsLst>
                    <a:gs pos="0">
                      <a:srgbClr val="012D86"/>
                    </a:gs>
                    <a:gs pos="100000">
                      <a:srgbClr val="0E2557"/>
                    </a:gs>
                  </a:gsLst>
                  <a:lin scaled="0"/>
                </a:gradFill>
                <a:ea typeface="宋体" panose="02010600030101010101" pitchFamily="2" charset="-122"/>
              </a:rPr>
              <a:t>（</a:t>
            </a:r>
            <a:r>
              <a:rPr 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a:t>
            </a:r>
            <a:r>
              <a:rPr lang="zh-CN" sz="2000" b="1" baseline="-25000">
                <a:gradFill>
                  <a:gsLst>
                    <a:gs pos="0">
                      <a:srgbClr val="012D86"/>
                    </a:gs>
                    <a:gs pos="100000">
                      <a:srgbClr val="0E2557"/>
                    </a:gs>
                  </a:gsLst>
                  <a:lin scaled="0"/>
                </a:gradFill>
                <a:ea typeface="宋体" panose="02010600030101010101" pitchFamily="2" charset="-122"/>
              </a:rPr>
              <a:t>）</a:t>
            </a:r>
            <a:r>
              <a:rPr lang="zh-CN" sz="2000" b="1">
                <a:gradFill>
                  <a:gsLst>
                    <a:gs pos="0">
                      <a:srgbClr val="012D86"/>
                    </a:gs>
                    <a:gs pos="100000">
                      <a:srgbClr val="0E2557"/>
                    </a:gs>
                  </a:gsLst>
                  <a:lin scaled="0"/>
                </a:gradFill>
                <a:ea typeface="宋体" panose="02010600030101010101" pitchFamily="2" charset="-122"/>
              </a:rPr>
              <a:t>和</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V</a:t>
            </a:r>
            <a:r>
              <a:rPr 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REF</a:t>
            </a:r>
            <a:r>
              <a:rPr lang="zh-CN" sz="2000" b="1" baseline="-25000">
                <a:gradFill>
                  <a:gsLst>
                    <a:gs pos="0">
                      <a:srgbClr val="012D86"/>
                    </a:gs>
                    <a:gs pos="100000">
                      <a:srgbClr val="0E2557"/>
                    </a:gs>
                  </a:gsLst>
                  <a:lin scaled="0"/>
                </a:gradFill>
                <a:ea typeface="宋体" panose="02010600030101010101" pitchFamily="2" charset="-122"/>
              </a:rPr>
              <a:t>（</a:t>
            </a:r>
            <a:r>
              <a:rPr 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a:t>
            </a:r>
            <a:r>
              <a:rPr lang="zh-CN" sz="2000" b="1" baseline="-25000">
                <a:gradFill>
                  <a:gsLst>
                    <a:gs pos="0">
                      <a:srgbClr val="012D86"/>
                    </a:gs>
                    <a:gs pos="100000">
                      <a:srgbClr val="0E2557"/>
                    </a:gs>
                  </a:gsLst>
                  <a:lin scaled="0"/>
                </a:gradFill>
                <a:ea typeface="宋体" panose="02010600030101010101" pitchFamily="2" charset="-122"/>
              </a:rPr>
              <a:t>）</a:t>
            </a:r>
            <a:r>
              <a:rPr lang="zh-CN" sz="2000" b="1">
                <a:gradFill>
                  <a:gsLst>
                    <a:gs pos="0">
                      <a:srgbClr val="012D86"/>
                    </a:gs>
                    <a:gs pos="100000">
                      <a:srgbClr val="0E2557"/>
                    </a:gs>
                  </a:gsLst>
                  <a:lin scaled="0"/>
                </a:gradFill>
                <a:ea typeface="宋体" panose="02010600030101010101" pitchFamily="2" charset="-122"/>
              </a:rPr>
              <a:t>决定，即输入电压范围为</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V</a:t>
            </a:r>
            <a:r>
              <a:rPr 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REF</a:t>
            </a:r>
            <a:r>
              <a:rPr lang="zh-CN" sz="2000" b="1" baseline="-25000">
                <a:gradFill>
                  <a:gsLst>
                    <a:gs pos="0">
                      <a:srgbClr val="012D86"/>
                    </a:gs>
                    <a:gs pos="100000">
                      <a:srgbClr val="0E2557"/>
                    </a:gs>
                  </a:gsLst>
                  <a:lin scaled="0"/>
                </a:gradFill>
                <a:ea typeface="宋体" panose="02010600030101010101" pitchFamily="2" charset="-122"/>
              </a:rPr>
              <a:t>（</a:t>
            </a:r>
            <a:r>
              <a:rPr lang="en-US" sz="2000" b="1" baseline="-25000">
                <a:gradFill>
                  <a:gsLst>
                    <a:gs pos="0">
                      <a:srgbClr val="012D86"/>
                    </a:gs>
                    <a:gs pos="100000">
                      <a:srgbClr val="0E2557"/>
                    </a:gs>
                  </a:gsLst>
                  <a:lin scaled="0"/>
                </a:gradFill>
                <a:latin typeface="Times New Roman" panose="02020603050405020304" charset="0"/>
                <a:sym typeface="+mn-ea"/>
              </a:rPr>
              <a:t>-</a:t>
            </a:r>
            <a:r>
              <a:rPr lang="zh-CN" sz="2000" b="1" baseline="-25000">
                <a:gradFill>
                  <a:gsLst>
                    <a:gs pos="0">
                      <a:srgbClr val="012D86"/>
                    </a:gs>
                    <a:gs pos="100000">
                      <a:srgbClr val="0E2557"/>
                    </a:gs>
                  </a:gsLst>
                  <a:lin scaled="0"/>
                </a:gradFill>
                <a:ea typeface="宋体" panose="02010600030101010101" pitchFamily="2" charset="-122"/>
              </a:rPr>
              <a:t>）</a:t>
            </a:r>
            <a:r>
              <a:rPr lang="zh-CN" sz="2000" b="1">
                <a:gradFill>
                  <a:gsLst>
                    <a:gs pos="0">
                      <a:srgbClr val="012D86"/>
                    </a:gs>
                    <a:gs pos="100000">
                      <a:srgbClr val="0E2557"/>
                    </a:gs>
                  </a:gsLst>
                  <a:lin scaled="0"/>
                </a:gradFill>
                <a:ea typeface="宋体" panose="02010600030101010101" pitchFamily="2" charset="-122"/>
              </a:rPr>
              <a:t>与</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V</a:t>
            </a:r>
            <a:r>
              <a:rPr 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REF</a:t>
            </a:r>
            <a:r>
              <a:rPr lang="zh-CN" sz="2000" b="1" baseline="-25000">
                <a:gradFill>
                  <a:gsLst>
                    <a:gs pos="0">
                      <a:srgbClr val="012D86"/>
                    </a:gs>
                    <a:gs pos="100000">
                      <a:srgbClr val="0E2557"/>
                    </a:gs>
                  </a:gsLst>
                  <a:lin scaled="0"/>
                </a:gradFill>
                <a:ea typeface="宋体" panose="02010600030101010101" pitchFamily="2" charset="-122"/>
              </a:rPr>
              <a:t>（</a:t>
            </a:r>
            <a:r>
              <a:rPr lang="en-US" sz="2000" b="1" baseline="-25000">
                <a:gradFill>
                  <a:gsLst>
                    <a:gs pos="0">
                      <a:srgbClr val="012D86"/>
                    </a:gs>
                    <a:gs pos="100000">
                      <a:srgbClr val="0E2557"/>
                    </a:gs>
                  </a:gsLst>
                  <a:lin scaled="0"/>
                </a:gradFill>
                <a:latin typeface="Times New Roman" panose="02020603050405020304" charset="0"/>
                <a:sym typeface="+mn-ea"/>
              </a:rPr>
              <a:t>+</a:t>
            </a:r>
            <a:r>
              <a:rPr lang="zh-CN" sz="2000" b="1" baseline="-25000">
                <a:gradFill>
                  <a:gsLst>
                    <a:gs pos="0">
                      <a:srgbClr val="012D86"/>
                    </a:gs>
                    <a:gs pos="100000">
                      <a:srgbClr val="0E2557"/>
                    </a:gs>
                  </a:gsLst>
                  <a:lin scaled="0"/>
                </a:gradFill>
                <a:ea typeface="宋体" panose="02010600030101010101" pitchFamily="2" charset="-122"/>
              </a:rPr>
              <a:t>）</a:t>
            </a:r>
            <a:r>
              <a:rPr lang="zh-CN" sz="2000" b="1">
                <a:gradFill>
                  <a:gsLst>
                    <a:gs pos="0">
                      <a:srgbClr val="012D86"/>
                    </a:gs>
                    <a:gs pos="100000">
                      <a:srgbClr val="0E2557"/>
                    </a:gs>
                  </a:gsLst>
                  <a:lin scaled="0"/>
                </a:gradFill>
                <a:ea typeface="宋体" panose="02010600030101010101" pitchFamily="2" charset="-122"/>
              </a:rPr>
              <a:t>。</a:t>
            </a:r>
            <a:endParaRPr lang="zh-CN" altLang="en-US" sz="2000" b="1">
              <a:gradFill>
                <a:gsLst>
                  <a:gs pos="0">
                    <a:srgbClr val="012D86"/>
                  </a:gs>
                  <a:gs pos="100000">
                    <a:srgbClr val="0E2557"/>
                  </a:gs>
                </a:gsLst>
                <a:lin scaled="0"/>
              </a:gradFill>
              <a:latin typeface="Calibri" panose="020F0502020204030204" charset="0"/>
              <a:ea typeface="宋体" panose="02010600030101010101" pitchFamily="2" charset="-122"/>
            </a:endParaRPr>
          </a:p>
        </p:txBody>
      </p:sp>
      <p:sp>
        <p:nvSpPr>
          <p:cNvPr id="3" name="文本框 2"/>
          <p:cNvSpPr txBox="1"/>
          <p:nvPr>
            <p:custDataLst>
              <p:tags r:id="rId1"/>
            </p:custDataLst>
          </p:nvPr>
        </p:nvSpPr>
        <p:spPr>
          <a:xfrm>
            <a:off x="72390" y="2680970"/>
            <a:ext cx="5974080" cy="1014730"/>
          </a:xfrm>
          <a:prstGeom prst="rect">
            <a:avLst/>
          </a:prstGeom>
          <a:noFill/>
          <a:ln w="9525">
            <a:noFill/>
          </a:ln>
        </p:spPr>
        <p:txBody>
          <a:bodyPr wrap="square">
            <a:spAutoFit/>
          </a:bodyPr>
          <a:p>
            <a:r>
              <a:rPr lang="zh-CN" sz="2000" b="1">
                <a:gradFill>
                  <a:gsLst>
                    <a:gs pos="0">
                      <a:srgbClr val="012D86"/>
                    </a:gs>
                    <a:gs pos="100000">
                      <a:srgbClr val="0E2557"/>
                    </a:gs>
                  </a:gsLst>
                  <a:lin scaled="0"/>
                </a:gradFill>
                <a:latin typeface="Calibri" panose="020F0502020204030204" charset="0"/>
                <a:sym typeface="+mn-ea"/>
              </a:rPr>
              <a:t>②</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ADDA</a:t>
            </a:r>
            <a:r>
              <a:rPr lang="zh-CN" sz="2000" b="1">
                <a:gradFill>
                  <a:gsLst>
                    <a:gs pos="0">
                      <a:srgbClr val="012D86"/>
                    </a:gs>
                    <a:gs pos="100000">
                      <a:srgbClr val="0E2557"/>
                    </a:gs>
                  </a:gsLst>
                  <a:lin scaled="0"/>
                </a:gradFill>
                <a:ea typeface="宋体" panose="02010600030101010101" pitchFamily="2" charset="-122"/>
              </a:rPr>
              <a:t>、</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ADDB</a:t>
            </a:r>
            <a:r>
              <a:rPr lang="zh-CN" sz="2000" b="1">
                <a:gradFill>
                  <a:gsLst>
                    <a:gs pos="0">
                      <a:srgbClr val="012D86"/>
                    </a:gs>
                    <a:gs pos="100000">
                      <a:srgbClr val="0E2557"/>
                    </a:gs>
                  </a:gsLst>
                  <a:lin scaled="0"/>
                </a:gradFill>
                <a:ea typeface="宋体" panose="02010600030101010101" pitchFamily="2" charset="-122"/>
              </a:rPr>
              <a:t>、</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ADDC</a:t>
            </a:r>
            <a:r>
              <a:rPr lang="zh-CN" sz="2000" b="1">
                <a:gradFill>
                  <a:gsLst>
                    <a:gs pos="0">
                      <a:srgbClr val="012D86"/>
                    </a:gs>
                    <a:gs pos="100000">
                      <a:srgbClr val="0E2557"/>
                    </a:gs>
                  </a:gsLst>
                  <a:lin scaled="0"/>
                </a:gradFill>
                <a:ea typeface="宋体" panose="02010600030101010101" pitchFamily="2" charset="-122"/>
              </a:rPr>
              <a:t>：模拟通道的地址码输入端。</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ADDA</a:t>
            </a:r>
            <a:r>
              <a:rPr lang="zh-CN" sz="2000" b="1">
                <a:gradFill>
                  <a:gsLst>
                    <a:gs pos="0">
                      <a:srgbClr val="012D86"/>
                    </a:gs>
                    <a:gs pos="100000">
                      <a:srgbClr val="0E2557"/>
                    </a:gs>
                  </a:gsLst>
                  <a:lin scaled="0"/>
                </a:gradFill>
                <a:ea typeface="宋体" panose="02010600030101010101" pitchFamily="2" charset="-122"/>
              </a:rPr>
              <a:t>是最低位，</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ADDC</a:t>
            </a:r>
            <a:r>
              <a:rPr lang="zh-CN" sz="2000" b="1">
                <a:gradFill>
                  <a:gsLst>
                    <a:gs pos="0">
                      <a:srgbClr val="012D86"/>
                    </a:gs>
                    <a:gs pos="100000">
                      <a:srgbClr val="0E2557"/>
                    </a:gs>
                  </a:gsLst>
                  <a:lin scaled="0"/>
                </a:gradFill>
                <a:ea typeface="宋体" panose="02010600030101010101" pitchFamily="2" charset="-122"/>
              </a:rPr>
              <a:t>是最高位，</a:t>
            </a:r>
            <a:r>
              <a:rPr lang="en-US" sz="2000" b="1">
                <a:gradFill>
                  <a:gsLst>
                    <a:gs pos="0">
                      <a:srgbClr val="012D86"/>
                    </a:gs>
                    <a:gs pos="100000">
                      <a:srgbClr val="0E2557"/>
                    </a:gs>
                  </a:gsLst>
                  <a:lin scaled="0"/>
                </a:gradFill>
                <a:latin typeface="Times New Roman" panose="02020603050405020304" charset="0"/>
                <a:sym typeface="+mn-ea"/>
              </a:rPr>
              <a:t>ADC0809</a:t>
            </a:r>
            <a:r>
              <a:rPr lang="zh-CN" sz="2000" b="1">
                <a:gradFill>
                  <a:gsLst>
                    <a:gs pos="0">
                      <a:srgbClr val="012D86"/>
                    </a:gs>
                    <a:gs pos="100000">
                      <a:srgbClr val="0E2557"/>
                    </a:gs>
                  </a:gsLst>
                  <a:lin scaled="0"/>
                </a:gradFill>
                <a:ea typeface="宋体" panose="02010600030101010101" pitchFamily="2" charset="-122"/>
              </a:rPr>
              <a:t>地址输入与选中模拟通道的关系如表</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cs typeface="Times New Roman" panose="02020603050405020304" charset="0"/>
              </a:rPr>
              <a:t>9-</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2</a:t>
            </a:r>
            <a:r>
              <a:rPr lang="zh-CN" sz="2000" b="1">
                <a:gradFill>
                  <a:gsLst>
                    <a:gs pos="0">
                      <a:srgbClr val="012D86"/>
                    </a:gs>
                    <a:gs pos="100000">
                      <a:srgbClr val="0E2557"/>
                    </a:gs>
                  </a:gsLst>
                  <a:lin scaled="0"/>
                </a:gradFill>
                <a:ea typeface="宋体" panose="02010600030101010101" pitchFamily="2" charset="-122"/>
              </a:rPr>
              <a:t>所示。</a:t>
            </a:r>
            <a:endParaRPr lang="zh-CN" altLang="en-US" sz="2000" b="1">
              <a:gradFill>
                <a:gsLst>
                  <a:gs pos="0">
                    <a:srgbClr val="012D86"/>
                  </a:gs>
                  <a:gs pos="100000">
                    <a:srgbClr val="0E2557"/>
                  </a:gs>
                </a:gsLst>
                <a:lin scaled="0"/>
              </a:gradFill>
              <a:latin typeface="Calibri" panose="020F0502020204030204" charset="0"/>
              <a:ea typeface="宋体" panose="02010600030101010101" pitchFamily="2" charset="-122"/>
            </a:endParaRPr>
          </a:p>
        </p:txBody>
      </p:sp>
      <p:pic>
        <p:nvPicPr>
          <p:cNvPr id="4" name="图片 3"/>
          <p:cNvPicPr>
            <a:picLocks noChangeAspect="1"/>
          </p:cNvPicPr>
          <p:nvPr/>
        </p:nvPicPr>
        <p:blipFill>
          <a:blip r:embed="rId2"/>
          <a:stretch>
            <a:fillRect/>
          </a:stretch>
        </p:blipFill>
        <p:spPr>
          <a:xfrm>
            <a:off x="0" y="3989705"/>
            <a:ext cx="7170420" cy="2187575"/>
          </a:xfrm>
          <a:prstGeom prst="rect">
            <a:avLst/>
          </a:prstGeom>
        </p:spPr>
      </p:pic>
      <p:pic>
        <p:nvPicPr>
          <p:cNvPr id="9506" name="图片 2943"/>
          <p:cNvPicPr>
            <a:picLocks noChangeAspect="1"/>
          </p:cNvPicPr>
          <p:nvPr/>
        </p:nvPicPr>
        <p:blipFill>
          <a:blip r:embed="rId3"/>
          <a:srcRect l="63619" t="3557" b="13569"/>
          <a:stretch>
            <a:fillRect/>
          </a:stretch>
        </p:blipFill>
        <p:spPr>
          <a:xfrm>
            <a:off x="6221730" y="1205865"/>
            <a:ext cx="2797175" cy="303276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ox(in)">
                                      <p:cBhvr>
                                        <p:cTn id="11" dur="20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1" presetClass="entr" presetSubtype="1"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heel(1)">
                                      <p:cBhvr>
                                        <p:cTn id="16"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1891030" y="49911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9.3 </a:t>
            </a:r>
            <a:r>
              <a:rPr lang="en-US" altLang="zh-CN" b="1" dirty="0">
                <a:solidFill>
                  <a:srgbClr val="FF0000"/>
                </a:solidFill>
                <a:latin typeface="黑体" panose="02010609060101010101" pitchFamily="49" charset="-122"/>
                <a:ea typeface="黑体" panose="02010609060101010101" pitchFamily="49" charset="-122"/>
                <a:sym typeface="+mn-ea"/>
              </a:rPr>
              <a:t>A/D转换电路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2" name="文本框 101"/>
          <p:cNvSpPr txBox="1"/>
          <p:nvPr/>
        </p:nvSpPr>
        <p:spPr>
          <a:xfrm>
            <a:off x="654685" y="1082675"/>
            <a:ext cx="8327390" cy="2306955"/>
          </a:xfrm>
          <a:prstGeom prst="rect">
            <a:avLst/>
          </a:prstGeom>
          <a:noFill/>
          <a:ln w="9525">
            <a:noFill/>
          </a:ln>
        </p:spPr>
        <p:txBody>
          <a:bodyPr wrap="square">
            <a:spAutoFit/>
          </a:bodyPr>
          <a:p>
            <a:pPr>
              <a:lnSpc>
                <a:spcPct val="120000"/>
              </a:lnSpc>
            </a:pPr>
            <a:r>
              <a:rPr lang="zh-CN" sz="2000" b="1">
                <a:gradFill>
                  <a:gsLst>
                    <a:gs pos="0">
                      <a:srgbClr val="012D86"/>
                    </a:gs>
                    <a:gs pos="100000">
                      <a:srgbClr val="0E2557"/>
                    </a:gs>
                  </a:gsLst>
                  <a:lin scaled="0"/>
                </a:gradFill>
                <a:latin typeface="Calibri" panose="020F0502020204030204" charset="0"/>
                <a:sym typeface="+mn-ea"/>
              </a:rPr>
              <a:t>③</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ALE</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(Address Latch Enable)</a:t>
            </a:r>
            <a:r>
              <a:rPr lang="zh-CN" sz="2000" b="1">
                <a:gradFill>
                  <a:gsLst>
                    <a:gs pos="0">
                      <a:srgbClr val="012D86"/>
                    </a:gs>
                    <a:gs pos="100000">
                      <a:srgbClr val="0E2557"/>
                    </a:gs>
                  </a:gsLst>
                  <a:lin scaled="0"/>
                </a:gradFill>
                <a:ea typeface="宋体" panose="02010600030101010101" pitchFamily="2" charset="-122"/>
              </a:rPr>
              <a:t>：地址码锁存输入端，只有当该信号为高电平有效时，才能将地址信号锁存，并经过译码选中一路模拟电压输入。</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④START</a:t>
            </a:r>
            <a:r>
              <a:rPr lang="zh-CN" sz="2000" b="1">
                <a:gradFill>
                  <a:gsLst>
                    <a:gs pos="0">
                      <a:srgbClr val="012D86"/>
                    </a:gs>
                    <a:gs pos="100000">
                      <a:srgbClr val="0E2557"/>
                    </a:gs>
                  </a:gsLst>
                  <a:lin scaled="0"/>
                </a:gradFill>
                <a:ea typeface="宋体" panose="02010600030101010101" pitchFamily="2" charset="-122"/>
              </a:rPr>
              <a:t>：启动信号输入端，该信号的上升沿将所有内部寄存器清零，它的下降沿启动内部控制逻辑，开始进行</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A/D</a:t>
            </a:r>
            <a:r>
              <a:rPr lang="zh-CN" sz="2000" b="1">
                <a:gradFill>
                  <a:gsLst>
                    <a:gs pos="0">
                      <a:srgbClr val="012D86"/>
                    </a:gs>
                    <a:gs pos="100000">
                      <a:srgbClr val="0E2557"/>
                    </a:gs>
                  </a:gsLst>
                  <a:lin scaled="0"/>
                </a:gradFill>
                <a:ea typeface="宋体" panose="02010600030101010101" pitchFamily="2" charset="-122"/>
              </a:rPr>
              <a:t>转换。</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⑤CLOCK</a:t>
            </a:r>
            <a:r>
              <a:rPr lang="zh-CN" sz="2000" b="1">
                <a:gradFill>
                  <a:gsLst>
                    <a:gs pos="0">
                      <a:srgbClr val="012D86"/>
                    </a:gs>
                    <a:gs pos="100000">
                      <a:srgbClr val="0E2557"/>
                    </a:gs>
                  </a:gsLst>
                  <a:lin scaled="0"/>
                </a:gradFill>
                <a:ea typeface="宋体" panose="02010600030101010101" pitchFamily="2" charset="-122"/>
              </a:rPr>
              <a:t>：时钟输入端，其频率范围为</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10</a:t>
            </a:r>
            <a:r>
              <a:rPr lang="zh-CN" sz="2000" b="1">
                <a:gradFill>
                  <a:gsLst>
                    <a:gs pos="0">
                      <a:srgbClr val="012D86"/>
                    </a:gs>
                    <a:gs pos="100000">
                      <a:srgbClr val="0E2557"/>
                    </a:gs>
                  </a:gsLst>
                  <a:lin scaled="0"/>
                </a:gradFill>
                <a:ea typeface="宋体" panose="02010600030101010101" pitchFamily="2" charset="-122"/>
              </a:rPr>
              <a:t>～</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1280kHz</a:t>
            </a:r>
            <a:r>
              <a:rPr lang="zh-CN" sz="2000" b="1">
                <a:gradFill>
                  <a:gsLst>
                    <a:gs pos="0">
                      <a:srgbClr val="012D86"/>
                    </a:gs>
                    <a:gs pos="100000">
                      <a:srgbClr val="0E2557"/>
                    </a:gs>
                  </a:gsLst>
                  <a:lin scaled="0"/>
                </a:gradFill>
                <a:latin typeface="Times New Roman" panose="02020603050405020304" charset="0"/>
                <a:ea typeface="宋体" panose="02010600030101010101" pitchFamily="2" charset="-122"/>
              </a:rPr>
              <a:t>，</a:t>
            </a:r>
            <a:r>
              <a:rPr lang="zh-CN" sz="2000" b="1">
                <a:gradFill>
                  <a:gsLst>
                    <a:gs pos="0">
                      <a:srgbClr val="012D86"/>
                    </a:gs>
                    <a:gs pos="100000">
                      <a:srgbClr val="0E2557"/>
                    </a:gs>
                  </a:gsLst>
                  <a:lin scaled="0"/>
                </a:gradFill>
                <a:ea typeface="宋体" panose="02010600030101010101" pitchFamily="2" charset="-122"/>
              </a:rPr>
              <a:t>典型值为</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640 kHz</a:t>
            </a:r>
            <a:r>
              <a:rPr lang="zh-CN" sz="2000" b="1">
                <a:gradFill>
                  <a:gsLst>
                    <a:gs pos="0">
                      <a:srgbClr val="012D86"/>
                    </a:gs>
                    <a:gs pos="100000">
                      <a:srgbClr val="0E2557"/>
                    </a:gs>
                  </a:gsLst>
                  <a:lin scaled="0"/>
                </a:gradFill>
                <a:ea typeface="宋体" panose="02010600030101010101" pitchFamily="2" charset="-122"/>
              </a:rPr>
              <a:t>。当频率为</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640 kHz</a:t>
            </a:r>
            <a:r>
              <a:rPr lang="zh-CN" sz="2000" b="1">
                <a:gradFill>
                  <a:gsLst>
                    <a:gs pos="0">
                      <a:srgbClr val="012D86"/>
                    </a:gs>
                    <a:gs pos="100000">
                      <a:srgbClr val="0E2557"/>
                    </a:gs>
                  </a:gsLst>
                  <a:lin scaled="0"/>
                </a:gradFill>
                <a:ea typeface="宋体" panose="02010600030101010101" pitchFamily="2" charset="-122"/>
              </a:rPr>
              <a:t>时，转换时间为</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100μs</a:t>
            </a:r>
            <a:r>
              <a:rPr lang="zh-CN" sz="2000" b="1">
                <a:gradFill>
                  <a:gsLst>
                    <a:gs pos="0">
                      <a:srgbClr val="012D86"/>
                    </a:gs>
                    <a:gs pos="100000">
                      <a:srgbClr val="0E2557"/>
                    </a:gs>
                  </a:gsLst>
                  <a:lin scaled="0"/>
                </a:gradFill>
                <a:ea typeface="宋体" panose="02010600030101010101" pitchFamily="2" charset="-122"/>
              </a:rPr>
              <a:t>。</a:t>
            </a:r>
            <a:endParaRPr lang="zh-CN" altLang="en-US" sz="2000" b="1">
              <a:gradFill>
                <a:gsLst>
                  <a:gs pos="0">
                    <a:srgbClr val="012D86"/>
                  </a:gs>
                  <a:gs pos="100000">
                    <a:srgbClr val="0E2557"/>
                  </a:gs>
                </a:gsLst>
                <a:lin scaled="0"/>
              </a:gradFill>
              <a:ea typeface="宋体" panose="02010600030101010101" pitchFamily="2" charset="-122"/>
            </a:endParaRPr>
          </a:p>
        </p:txBody>
      </p:sp>
      <p:sp>
        <p:nvSpPr>
          <p:cNvPr id="3" name="文本框 2"/>
          <p:cNvSpPr txBox="1"/>
          <p:nvPr/>
        </p:nvSpPr>
        <p:spPr>
          <a:xfrm>
            <a:off x="654685" y="3303270"/>
            <a:ext cx="8531225" cy="2491740"/>
          </a:xfrm>
          <a:prstGeom prst="rect">
            <a:avLst/>
          </a:prstGeom>
          <a:noFill/>
          <a:ln w="9525">
            <a:noFill/>
          </a:ln>
        </p:spPr>
        <p:txBody>
          <a:bodyPr wrap="square">
            <a:spAutoFit/>
          </a:bodyPr>
          <a:p>
            <a:pPr>
              <a:lnSpc>
                <a:spcPct val="130000"/>
              </a:lnSpc>
            </a:pPr>
            <a:r>
              <a:rPr lang="zh-CN" sz="2000" b="1">
                <a:gradFill>
                  <a:gsLst>
                    <a:gs pos="0">
                      <a:srgbClr val="012D86"/>
                    </a:gs>
                    <a:gs pos="100000">
                      <a:srgbClr val="0E2557"/>
                    </a:gs>
                  </a:gsLst>
                  <a:lin scaled="0"/>
                </a:gradFill>
                <a:sym typeface="+mn-ea"/>
              </a:rPr>
              <a:t>⑥</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EOC</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(Enable Output Change)</a:t>
            </a:r>
            <a:r>
              <a:rPr lang="zh-CN" sz="2000" b="1">
                <a:gradFill>
                  <a:gsLst>
                    <a:gs pos="0">
                      <a:srgbClr val="012D86"/>
                    </a:gs>
                    <a:gs pos="100000">
                      <a:srgbClr val="0E2557"/>
                    </a:gs>
                  </a:gsLst>
                  <a:lin scaled="0"/>
                </a:gradFill>
                <a:ea typeface="宋体" panose="02010600030101010101" pitchFamily="2" charset="-122"/>
              </a:rPr>
              <a:t>：转换结束信号输出端。当从</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START</a:t>
            </a:r>
            <a:r>
              <a:rPr lang="zh-CN" sz="2000" b="1">
                <a:gradFill>
                  <a:gsLst>
                    <a:gs pos="0">
                      <a:srgbClr val="012D86"/>
                    </a:gs>
                    <a:gs pos="100000">
                      <a:srgbClr val="0E2557"/>
                    </a:gs>
                  </a:gsLst>
                  <a:lin scaled="0"/>
                </a:gradFill>
                <a:ea typeface="宋体" panose="02010600030101010101" pitchFamily="2" charset="-122"/>
              </a:rPr>
              <a:t>端输入启动脉冲信号上升沿后，</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EOC</a:t>
            </a:r>
            <a:r>
              <a:rPr lang="zh-CN" sz="2000" b="1">
                <a:gradFill>
                  <a:gsLst>
                    <a:gs pos="0">
                      <a:srgbClr val="012D86"/>
                    </a:gs>
                    <a:gs pos="100000">
                      <a:srgbClr val="0E2557"/>
                    </a:gs>
                  </a:gsLst>
                  <a:lin scaled="0"/>
                </a:gradFill>
                <a:ea typeface="宋体" panose="02010600030101010101" pitchFamily="2" charset="-122"/>
              </a:rPr>
              <a:t>输出低电平信号，表示</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A/D</a:t>
            </a:r>
            <a:r>
              <a:rPr lang="zh-CN" sz="2000" b="1">
                <a:gradFill>
                  <a:gsLst>
                    <a:gs pos="0">
                      <a:srgbClr val="012D86"/>
                    </a:gs>
                    <a:gs pos="100000">
                      <a:srgbClr val="0E2557"/>
                    </a:gs>
                  </a:gsLst>
                  <a:lin scaled="0"/>
                </a:gradFill>
                <a:ea typeface="宋体" panose="02010600030101010101" pitchFamily="2" charset="-122"/>
              </a:rPr>
              <a:t>转换器正在进行工作；当</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EOC</a:t>
            </a:r>
            <a:r>
              <a:rPr lang="zh-CN" sz="2000" b="1">
                <a:gradFill>
                  <a:gsLst>
                    <a:gs pos="0">
                      <a:srgbClr val="012D86"/>
                    </a:gs>
                    <a:gs pos="100000">
                      <a:srgbClr val="0E2557"/>
                    </a:gs>
                  </a:gsLst>
                  <a:lin scaled="0"/>
                </a:gradFill>
                <a:ea typeface="宋体" panose="02010600030101010101" pitchFamily="2" charset="-122"/>
              </a:rPr>
              <a:t>输出高电平信号时，表示</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A/D</a:t>
            </a:r>
            <a:r>
              <a:rPr lang="zh-CN" sz="2000" b="1">
                <a:gradFill>
                  <a:gsLst>
                    <a:gs pos="0">
                      <a:srgbClr val="012D86"/>
                    </a:gs>
                    <a:gs pos="100000">
                      <a:srgbClr val="0E2557"/>
                    </a:gs>
                  </a:gsLst>
                  <a:lin scaled="0"/>
                </a:gradFill>
                <a:ea typeface="宋体" panose="02010600030101010101" pitchFamily="2" charset="-122"/>
              </a:rPr>
              <a:t>转换已经完成，因此</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EOC</a:t>
            </a:r>
            <a:r>
              <a:rPr lang="zh-CN" sz="2000" b="1">
                <a:gradFill>
                  <a:gsLst>
                    <a:gs pos="0">
                      <a:srgbClr val="012D86"/>
                    </a:gs>
                    <a:gs pos="100000">
                      <a:srgbClr val="0E2557"/>
                    </a:gs>
                  </a:gsLst>
                  <a:lin scaled="0"/>
                </a:gradFill>
                <a:ea typeface="宋体" panose="02010600030101010101" pitchFamily="2" charset="-122"/>
              </a:rPr>
              <a:t>可作为向</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CPU</a:t>
            </a:r>
            <a:r>
              <a:rPr lang="zh-CN" sz="2000" b="1">
                <a:gradFill>
                  <a:gsLst>
                    <a:gs pos="0">
                      <a:srgbClr val="012D86"/>
                    </a:gs>
                    <a:gs pos="100000">
                      <a:srgbClr val="0E2557"/>
                    </a:gs>
                  </a:gsLst>
                  <a:lin scaled="0"/>
                </a:gradFill>
                <a:ea typeface="宋体" panose="02010600030101010101" pitchFamily="2" charset="-122"/>
              </a:rPr>
              <a:t>发出的中断请求信号。</a:t>
            </a:r>
            <a:endParaRPr lang="zh-CN" sz="2000" b="1">
              <a:gradFill>
                <a:gsLst>
                  <a:gs pos="0">
                    <a:srgbClr val="012D86"/>
                  </a:gs>
                  <a:gs pos="100000">
                    <a:srgbClr val="0E2557"/>
                  </a:gs>
                </a:gsLst>
                <a:lin scaled="0"/>
              </a:gradFill>
              <a:ea typeface="宋体" panose="02010600030101010101" pitchFamily="2" charset="-122"/>
            </a:endParaRPr>
          </a:p>
          <a:p>
            <a:pPr>
              <a:lnSpc>
                <a:spcPct val="130000"/>
              </a:lnSpc>
            </a:pPr>
            <a:r>
              <a:rPr lang="zh-CN" sz="2000" b="1">
                <a:gradFill>
                  <a:gsLst>
                    <a:gs pos="0">
                      <a:srgbClr val="012D86"/>
                    </a:gs>
                    <a:gs pos="100000">
                      <a:srgbClr val="0E2557"/>
                    </a:gs>
                  </a:gsLst>
                  <a:lin scaled="0"/>
                </a:gradFill>
                <a:sym typeface="+mn-ea"/>
              </a:rPr>
              <a:t>⑦</a:t>
            </a:r>
            <a:r>
              <a:rPr lang="zh-CN" sz="2000" b="1" i="1">
                <a:gradFill>
                  <a:gsLst>
                    <a:gs pos="0">
                      <a:srgbClr val="012D86"/>
                    </a:gs>
                    <a:gs pos="100000">
                      <a:srgbClr val="0E2557"/>
                    </a:gs>
                  </a:gsLst>
                  <a:lin scaled="0"/>
                </a:gradFill>
                <a:ea typeface="宋体" panose="02010600030101010101" pitchFamily="2" charset="-122"/>
              </a:rPr>
              <a:t>D</a:t>
            </a:r>
            <a:r>
              <a:rPr 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0</a:t>
            </a:r>
            <a:r>
              <a:rPr lang="zh-CN" sz="2000" b="1">
                <a:gradFill>
                  <a:gsLst>
                    <a:gs pos="0">
                      <a:srgbClr val="012D86"/>
                    </a:gs>
                    <a:gs pos="100000">
                      <a:srgbClr val="0E2557"/>
                    </a:gs>
                  </a:gsLst>
                  <a:lin scaled="0"/>
                </a:gradFill>
                <a:ea typeface="宋体" panose="02010600030101010101" pitchFamily="2" charset="-122"/>
              </a:rPr>
              <a:t>～</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D</a:t>
            </a:r>
            <a:r>
              <a:rPr 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7</a:t>
            </a:r>
            <a:r>
              <a:rPr lang="zh-CN" sz="2000" b="1">
                <a:gradFill>
                  <a:gsLst>
                    <a:gs pos="0">
                      <a:srgbClr val="012D86"/>
                    </a:gs>
                    <a:gs pos="100000">
                      <a:srgbClr val="0E2557"/>
                    </a:gs>
                  </a:gsLst>
                  <a:lin scaled="0"/>
                </a:gradFill>
                <a:ea typeface="宋体" panose="02010600030101010101" pitchFamily="2" charset="-122"/>
              </a:rPr>
              <a:t>：</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8</a:t>
            </a:r>
            <a:r>
              <a:rPr lang="zh-CN" sz="2000" b="1">
                <a:gradFill>
                  <a:gsLst>
                    <a:gs pos="0">
                      <a:srgbClr val="012D86"/>
                    </a:gs>
                    <a:gs pos="100000">
                      <a:srgbClr val="0E2557"/>
                    </a:gs>
                  </a:gsLst>
                  <a:lin scaled="0"/>
                </a:gradFill>
                <a:ea typeface="宋体" panose="02010600030101010101" pitchFamily="2" charset="-122"/>
              </a:rPr>
              <a:t>位数字信号输出端，</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D</a:t>
            </a:r>
            <a:r>
              <a:rPr 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0</a:t>
            </a:r>
            <a:r>
              <a:rPr lang="zh-CN" sz="2000" b="1">
                <a:gradFill>
                  <a:gsLst>
                    <a:gs pos="0">
                      <a:srgbClr val="012D86"/>
                    </a:gs>
                    <a:gs pos="100000">
                      <a:srgbClr val="0E2557"/>
                    </a:gs>
                  </a:gsLst>
                  <a:lin scaled="0"/>
                </a:gradFill>
                <a:ea typeface="宋体" panose="02010600030101010101" pitchFamily="2" charset="-122"/>
              </a:rPr>
              <a:t>是最低位（</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LSB</a:t>
            </a:r>
            <a:r>
              <a:rPr lang="zh-CN" sz="2000" b="1">
                <a:gradFill>
                  <a:gsLst>
                    <a:gs pos="0">
                      <a:srgbClr val="012D86"/>
                    </a:gs>
                    <a:gs pos="100000">
                      <a:srgbClr val="0E2557"/>
                    </a:gs>
                  </a:gsLst>
                  <a:lin scaled="0"/>
                </a:gradFill>
                <a:ea typeface="宋体" panose="02010600030101010101" pitchFamily="2" charset="-122"/>
              </a:rPr>
              <a:t>），</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D</a:t>
            </a:r>
            <a:r>
              <a:rPr 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7</a:t>
            </a:r>
            <a:r>
              <a:rPr lang="zh-CN" sz="2000" b="1">
                <a:gradFill>
                  <a:gsLst>
                    <a:gs pos="0">
                      <a:srgbClr val="012D86"/>
                    </a:gs>
                    <a:gs pos="100000">
                      <a:srgbClr val="0E2557"/>
                    </a:gs>
                  </a:gsLst>
                  <a:lin scaled="0"/>
                </a:gradFill>
                <a:ea typeface="宋体" panose="02010600030101010101" pitchFamily="2" charset="-122"/>
              </a:rPr>
              <a:t>为最高位（</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MSB</a:t>
            </a:r>
            <a:r>
              <a:rPr lang="zh-CN" sz="2000" b="1">
                <a:gradFill>
                  <a:gsLst>
                    <a:gs pos="0">
                      <a:srgbClr val="012D86"/>
                    </a:gs>
                    <a:gs pos="100000">
                      <a:srgbClr val="0E2557"/>
                    </a:gs>
                  </a:gsLst>
                  <a:lin scaled="0"/>
                </a:gradFill>
                <a:ea typeface="宋体" panose="02010600030101010101" pitchFamily="2" charset="-122"/>
              </a:rPr>
              <a:t>）。</a:t>
            </a:r>
            <a:endParaRPr lang="zh-CN" altLang="en-US" sz="2000" b="1">
              <a:gradFill>
                <a:gsLst>
                  <a:gs pos="0">
                    <a:srgbClr val="012D86"/>
                  </a:gs>
                  <a:gs pos="100000">
                    <a:srgbClr val="0E2557"/>
                  </a:gs>
                </a:gsLst>
                <a:lin scaled="0"/>
              </a:gra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amond(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1891030" y="49911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9.3 </a:t>
            </a:r>
            <a:r>
              <a:rPr lang="en-US" altLang="zh-CN" b="1" dirty="0">
                <a:solidFill>
                  <a:srgbClr val="FF0000"/>
                </a:solidFill>
                <a:latin typeface="黑体" panose="02010609060101010101" pitchFamily="49" charset="-122"/>
                <a:ea typeface="黑体" panose="02010609060101010101" pitchFamily="49" charset="-122"/>
                <a:sym typeface="+mn-ea"/>
              </a:rPr>
              <a:t>A/D转换电路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2" name="文本框 101"/>
          <p:cNvSpPr txBox="1"/>
          <p:nvPr/>
        </p:nvSpPr>
        <p:spPr>
          <a:xfrm>
            <a:off x="887730" y="1415415"/>
            <a:ext cx="7367905" cy="2306955"/>
          </a:xfrm>
          <a:prstGeom prst="rect">
            <a:avLst/>
          </a:prstGeom>
          <a:noFill/>
          <a:ln w="9525">
            <a:noFill/>
          </a:ln>
        </p:spPr>
        <p:txBody>
          <a:bodyPr wrap="square">
            <a:spAutoFit/>
          </a:bodyPr>
          <a:p>
            <a:pPr>
              <a:lnSpc>
                <a:spcPct val="120000"/>
              </a:lnSpc>
            </a:pPr>
            <a:r>
              <a:rPr lang="zh-CN" sz="2000" b="1">
                <a:gradFill>
                  <a:gsLst>
                    <a:gs pos="0">
                      <a:srgbClr val="012D86"/>
                    </a:gs>
                    <a:gs pos="100000">
                      <a:srgbClr val="0E2557"/>
                    </a:gs>
                  </a:gsLst>
                  <a:lin scaled="0"/>
                </a:gradFill>
                <a:sym typeface="+mn-ea"/>
              </a:rPr>
              <a:t>⑧</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OE</a:t>
            </a:r>
            <a:r>
              <a:rPr lang="zh-CN" sz="2000" b="1">
                <a:gradFill>
                  <a:gsLst>
                    <a:gs pos="0">
                      <a:srgbClr val="012D86"/>
                    </a:gs>
                    <a:gs pos="100000">
                      <a:srgbClr val="0E2557"/>
                    </a:gs>
                  </a:gsLst>
                  <a:lin scaled="0"/>
                </a:gradFill>
                <a:ea typeface="宋体" panose="02010600030101010101" pitchFamily="2" charset="-122"/>
              </a:rPr>
              <a:t>（</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Output Enable</a:t>
            </a:r>
            <a:r>
              <a:rPr lang="zh-CN" sz="2000" b="1">
                <a:gradFill>
                  <a:gsLst>
                    <a:gs pos="0">
                      <a:srgbClr val="012D86"/>
                    </a:gs>
                    <a:gs pos="100000">
                      <a:srgbClr val="0E2557"/>
                    </a:gs>
                  </a:gsLst>
                  <a:lin scaled="0"/>
                </a:gradFill>
                <a:ea typeface="宋体" panose="02010600030101010101" pitchFamily="2" charset="-122"/>
              </a:rPr>
              <a:t>）：输出使能端，高电平有效。当</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OE</a:t>
            </a:r>
            <a:r>
              <a:rPr lang="zh-CN" sz="2000" b="1">
                <a:gradFill>
                  <a:gsLst>
                    <a:gs pos="0">
                      <a:srgbClr val="012D86"/>
                    </a:gs>
                    <a:gs pos="100000">
                      <a:srgbClr val="0E2557"/>
                    </a:gs>
                  </a:gsLst>
                  <a:lin scaled="0"/>
                </a:gradFill>
                <a:ea typeface="宋体" panose="02010600030101010101" pitchFamily="2" charset="-122"/>
              </a:rPr>
              <a:t>为高电平时，三态输出缓冲器的数据送到数据总线。</a:t>
            </a:r>
            <a:endParaRPr lang="zh-CN" sz="2000" b="1">
              <a:gradFill>
                <a:gsLst>
                  <a:gs pos="0">
                    <a:srgbClr val="012D86"/>
                  </a:gs>
                  <a:gs pos="100000">
                    <a:srgbClr val="0E2557"/>
                  </a:gs>
                </a:gsLst>
                <a:lin scaled="0"/>
              </a:gradFill>
              <a:ea typeface="宋体" panose="02010600030101010101" pitchFamily="2" charset="-122"/>
            </a:endParaRPr>
          </a:p>
          <a:p>
            <a:pPr>
              <a:lnSpc>
                <a:spcPct val="120000"/>
              </a:lnSpc>
            </a:pPr>
            <a:r>
              <a:rPr lang="zh-CN" sz="2000" b="1">
                <a:gradFill>
                  <a:gsLst>
                    <a:gs pos="0">
                      <a:srgbClr val="012D86"/>
                    </a:gs>
                    <a:gs pos="100000">
                      <a:srgbClr val="0E2557"/>
                    </a:gs>
                  </a:gsLst>
                  <a:lin scaled="0"/>
                </a:gradFill>
                <a:sym typeface="+mn-ea"/>
              </a:rPr>
              <a:t>⑨</a:t>
            </a:r>
            <a:r>
              <a:rPr lang="zh-CN" sz="2000" b="1">
                <a:gradFill>
                  <a:gsLst>
                    <a:gs pos="0">
                      <a:srgbClr val="012D86"/>
                    </a:gs>
                    <a:gs pos="100000">
                      <a:srgbClr val="0E2557"/>
                    </a:gs>
                  </a:gsLst>
                  <a:lin scaled="0"/>
                </a:gradFill>
                <a:ea typeface="宋体" panose="02010600030101010101" pitchFamily="2" charset="-122"/>
              </a:rPr>
              <a:t>V</a:t>
            </a:r>
            <a:r>
              <a:rPr 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REF</a:t>
            </a:r>
            <a:r>
              <a:rPr lang="zh-CN" sz="2000" b="1" baseline="-25000">
                <a:gradFill>
                  <a:gsLst>
                    <a:gs pos="0">
                      <a:srgbClr val="012D86"/>
                    </a:gs>
                    <a:gs pos="100000">
                      <a:srgbClr val="0E2557"/>
                    </a:gs>
                  </a:gsLst>
                  <a:lin scaled="0"/>
                </a:gradFill>
                <a:ea typeface="宋体" panose="02010600030101010101" pitchFamily="2" charset="-122"/>
              </a:rPr>
              <a:t>（</a:t>
            </a:r>
            <a:r>
              <a:rPr 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a:t>
            </a:r>
            <a:r>
              <a:rPr lang="zh-CN" sz="2000" b="1" baseline="-25000">
                <a:gradFill>
                  <a:gsLst>
                    <a:gs pos="0">
                      <a:srgbClr val="012D86"/>
                    </a:gs>
                    <a:gs pos="100000">
                      <a:srgbClr val="0E2557"/>
                    </a:gs>
                  </a:gsLst>
                  <a:lin scaled="0"/>
                </a:gradFill>
                <a:ea typeface="宋体" panose="02010600030101010101" pitchFamily="2" charset="-122"/>
              </a:rPr>
              <a:t>）</a:t>
            </a:r>
            <a:r>
              <a:rPr lang="zh-CN" sz="2000" b="1">
                <a:gradFill>
                  <a:gsLst>
                    <a:gs pos="0">
                      <a:srgbClr val="012D86"/>
                    </a:gs>
                    <a:gs pos="100000">
                      <a:srgbClr val="0E2557"/>
                    </a:gs>
                  </a:gsLst>
                  <a:lin scaled="0"/>
                </a:gradFill>
                <a:ea typeface="宋体" panose="02010600030101010101" pitchFamily="2" charset="-122"/>
              </a:rPr>
              <a:t>、</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V</a:t>
            </a:r>
            <a:r>
              <a:rPr 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REF</a:t>
            </a:r>
            <a:r>
              <a:rPr lang="zh-CN" sz="2000" b="1" baseline="-25000">
                <a:gradFill>
                  <a:gsLst>
                    <a:gs pos="0">
                      <a:srgbClr val="012D86"/>
                    </a:gs>
                    <a:gs pos="100000">
                      <a:srgbClr val="0E2557"/>
                    </a:gs>
                  </a:gsLst>
                  <a:lin scaled="0"/>
                </a:gradFill>
                <a:ea typeface="宋体" panose="02010600030101010101" pitchFamily="2" charset="-122"/>
              </a:rPr>
              <a:t>（</a:t>
            </a:r>
            <a:r>
              <a:rPr 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a:t>
            </a:r>
            <a:r>
              <a:rPr lang="zh-CN" sz="2000" b="1" baseline="-25000">
                <a:gradFill>
                  <a:gsLst>
                    <a:gs pos="0">
                      <a:srgbClr val="012D86"/>
                    </a:gs>
                    <a:gs pos="100000">
                      <a:srgbClr val="0E2557"/>
                    </a:gs>
                  </a:gsLst>
                  <a:lin scaled="0"/>
                </a:gradFill>
                <a:ea typeface="宋体" panose="02010600030101010101" pitchFamily="2" charset="-122"/>
              </a:rPr>
              <a:t>）</a:t>
            </a:r>
            <a:r>
              <a:rPr lang="zh-CN" sz="2000" b="1">
                <a:gradFill>
                  <a:gsLst>
                    <a:gs pos="0">
                      <a:srgbClr val="012D86"/>
                    </a:gs>
                    <a:gs pos="100000">
                      <a:srgbClr val="0E2557"/>
                    </a:gs>
                  </a:gsLst>
                  <a:lin scaled="0"/>
                </a:gradFill>
                <a:ea typeface="宋体" panose="02010600030101010101" pitchFamily="2" charset="-122"/>
              </a:rPr>
              <a:t>：正、负参考电压输入端。可选取</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0</a:t>
            </a:r>
            <a:r>
              <a:rPr lang="zh-CN" sz="2000" b="1">
                <a:gradFill>
                  <a:gsLst>
                    <a:gs pos="0">
                      <a:srgbClr val="012D86"/>
                    </a:gs>
                    <a:gs pos="100000">
                      <a:srgbClr val="0E2557"/>
                    </a:gs>
                  </a:gsLst>
                  <a:lin scaled="0"/>
                </a:gradFill>
                <a:ea typeface="宋体" panose="02010600030101010101" pitchFamily="2" charset="-122"/>
              </a:rPr>
              <a:t>～</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5V</a:t>
            </a:r>
            <a:r>
              <a:rPr lang="zh-CN" sz="2000" b="1">
                <a:gradFill>
                  <a:gsLst>
                    <a:gs pos="0">
                      <a:srgbClr val="012D86"/>
                    </a:gs>
                    <a:gs pos="100000">
                      <a:srgbClr val="0E2557"/>
                    </a:gs>
                  </a:gsLst>
                  <a:lin scaled="0"/>
                </a:gradFill>
                <a:ea typeface="宋体" panose="02010600030101010101" pitchFamily="2" charset="-122"/>
              </a:rPr>
              <a:t>、</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±5V</a:t>
            </a:r>
            <a:r>
              <a:rPr lang="zh-CN" sz="2000" b="1">
                <a:gradFill>
                  <a:gsLst>
                    <a:gs pos="0">
                      <a:srgbClr val="012D86"/>
                    </a:gs>
                    <a:gs pos="100000">
                      <a:srgbClr val="0E2557"/>
                    </a:gs>
                  </a:gsLst>
                  <a:lin scaled="0"/>
                </a:gradFill>
                <a:ea typeface="宋体" panose="02010600030101010101" pitchFamily="2" charset="-122"/>
              </a:rPr>
              <a:t>、</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±10V</a:t>
            </a:r>
            <a:r>
              <a:rPr lang="zh-CN" sz="2000" b="1">
                <a:gradFill>
                  <a:gsLst>
                    <a:gs pos="0">
                      <a:srgbClr val="012D86"/>
                    </a:gs>
                    <a:gs pos="100000">
                      <a:srgbClr val="0E2557"/>
                    </a:gs>
                  </a:gsLst>
                  <a:lin scaled="0"/>
                </a:gradFill>
                <a:ea typeface="宋体" panose="02010600030101010101" pitchFamily="2" charset="-122"/>
              </a:rPr>
              <a:t>，典型应用时取</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V</a:t>
            </a:r>
            <a:r>
              <a:rPr 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REF</a:t>
            </a:r>
            <a:r>
              <a:rPr lang="zh-CN" sz="2000" b="1" baseline="-25000">
                <a:gradFill>
                  <a:gsLst>
                    <a:gs pos="0">
                      <a:srgbClr val="012D86"/>
                    </a:gs>
                    <a:gs pos="100000">
                      <a:srgbClr val="0E2557"/>
                    </a:gs>
                  </a:gsLst>
                  <a:lin scaled="0"/>
                </a:gradFill>
                <a:ea typeface="宋体" panose="02010600030101010101" pitchFamily="2" charset="-122"/>
              </a:rPr>
              <a:t>（</a:t>
            </a:r>
            <a:r>
              <a:rPr 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a:t>
            </a:r>
            <a:r>
              <a:rPr lang="zh-CN" sz="2000" b="1" baseline="-25000">
                <a:gradFill>
                  <a:gsLst>
                    <a:gs pos="0">
                      <a:srgbClr val="012D86"/>
                    </a:gs>
                    <a:gs pos="100000">
                      <a:srgbClr val="0E2557"/>
                    </a:gs>
                  </a:gsLst>
                  <a:lin scaled="0"/>
                </a:gradFill>
                <a:ea typeface="宋体" panose="02010600030101010101" pitchFamily="2" charset="-122"/>
              </a:rPr>
              <a:t>）</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=V</a:t>
            </a:r>
            <a:r>
              <a:rPr 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DD</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=5V</a:t>
            </a:r>
            <a:r>
              <a:rPr lang="zh-CN" sz="2000" b="1">
                <a:gradFill>
                  <a:gsLst>
                    <a:gs pos="0">
                      <a:srgbClr val="012D86"/>
                    </a:gs>
                    <a:gs pos="100000">
                      <a:srgbClr val="0E2557"/>
                    </a:gs>
                  </a:gsLst>
                  <a:lin scaled="0"/>
                </a:gradFill>
                <a:ea typeface="宋体" panose="02010600030101010101" pitchFamily="2" charset="-122"/>
              </a:rPr>
              <a:t>，</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V</a:t>
            </a:r>
            <a:r>
              <a:rPr 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REF</a:t>
            </a:r>
            <a:r>
              <a:rPr lang="zh-CN" sz="2000" b="1" baseline="-25000">
                <a:gradFill>
                  <a:gsLst>
                    <a:gs pos="0">
                      <a:srgbClr val="012D86"/>
                    </a:gs>
                    <a:gs pos="100000">
                      <a:srgbClr val="0E2557"/>
                    </a:gs>
                  </a:gsLst>
                  <a:lin scaled="0"/>
                </a:gradFill>
                <a:ea typeface="宋体" panose="02010600030101010101" pitchFamily="2" charset="-122"/>
              </a:rPr>
              <a:t>（</a:t>
            </a:r>
            <a:r>
              <a:rPr 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a:t>
            </a:r>
            <a:r>
              <a:rPr lang="zh-CN" sz="2000" b="1" baseline="-25000">
                <a:gradFill>
                  <a:gsLst>
                    <a:gs pos="0">
                      <a:srgbClr val="012D86"/>
                    </a:gs>
                    <a:gs pos="100000">
                      <a:srgbClr val="0E2557"/>
                    </a:gs>
                  </a:gsLst>
                  <a:lin scaled="0"/>
                </a:gradFill>
                <a:ea typeface="宋体" panose="02010600030101010101" pitchFamily="2" charset="-122"/>
              </a:rPr>
              <a:t>）</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=0V</a:t>
            </a:r>
            <a:r>
              <a:rPr lang="zh-CN" sz="2000" b="1">
                <a:gradFill>
                  <a:gsLst>
                    <a:gs pos="0">
                      <a:srgbClr val="012D86"/>
                    </a:gs>
                    <a:gs pos="100000">
                      <a:srgbClr val="0E2557"/>
                    </a:gs>
                  </a:gsLst>
                  <a:lin scaled="0"/>
                </a:gradFill>
                <a:ea typeface="宋体" panose="02010600030101010101" pitchFamily="2" charset="-122"/>
              </a:rPr>
              <a:t>。</a:t>
            </a:r>
            <a:r>
              <a:rPr lang="en-US" sz="2000" b="1" i="1">
                <a:gradFill>
                  <a:gsLst>
                    <a:gs pos="0">
                      <a:srgbClr val="012D86"/>
                    </a:gs>
                    <a:gs pos="100000">
                      <a:srgbClr val="0E2557"/>
                    </a:gs>
                  </a:gsLst>
                  <a:lin scaled="0"/>
                </a:gradFill>
                <a:latin typeface="Times New Roman" panose="02020603050405020304" charset="0"/>
                <a:ea typeface="宋体" panose="02010600030101010101" pitchFamily="2" charset="-122"/>
              </a:rPr>
              <a:t>V</a:t>
            </a:r>
            <a:r>
              <a:rPr lang="en-US" sz="2000" b="1" baseline="-25000">
                <a:gradFill>
                  <a:gsLst>
                    <a:gs pos="0">
                      <a:srgbClr val="012D86"/>
                    </a:gs>
                    <a:gs pos="100000">
                      <a:srgbClr val="0E2557"/>
                    </a:gs>
                  </a:gsLst>
                  <a:lin scaled="0"/>
                </a:gradFill>
                <a:latin typeface="Times New Roman" panose="02020603050405020304" charset="0"/>
                <a:ea typeface="宋体" panose="02010600030101010101" pitchFamily="2" charset="-122"/>
              </a:rPr>
              <a:t>DD</a:t>
            </a:r>
            <a:r>
              <a:rPr lang="zh-CN" sz="2000" b="1">
                <a:gradFill>
                  <a:gsLst>
                    <a:gs pos="0">
                      <a:srgbClr val="012D86"/>
                    </a:gs>
                    <a:gs pos="100000">
                      <a:srgbClr val="0E2557"/>
                    </a:gs>
                  </a:gsLst>
                  <a:lin scaled="0"/>
                </a:gradFill>
                <a:ea typeface="宋体" panose="02010600030101010101" pitchFamily="2" charset="-122"/>
              </a:rPr>
              <a:t>为</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ADC0809</a:t>
            </a:r>
            <a:r>
              <a:rPr lang="zh-CN" sz="2000" b="1">
                <a:gradFill>
                  <a:gsLst>
                    <a:gs pos="0">
                      <a:srgbClr val="012D86"/>
                    </a:gs>
                    <a:gs pos="100000">
                      <a:srgbClr val="0E2557"/>
                    </a:gs>
                  </a:gsLst>
                  <a:lin scaled="0"/>
                </a:gradFill>
                <a:ea typeface="宋体" panose="02010600030101010101" pitchFamily="2" charset="-122"/>
              </a:rPr>
              <a:t>芯片的工作电源，接</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+5V</a:t>
            </a:r>
            <a:r>
              <a:rPr lang="zh-CN" sz="2000" b="1">
                <a:gradFill>
                  <a:gsLst>
                    <a:gs pos="0">
                      <a:srgbClr val="012D86"/>
                    </a:gs>
                    <a:gs pos="100000">
                      <a:srgbClr val="0E2557"/>
                    </a:gs>
                  </a:gsLst>
                  <a:lin scaled="0"/>
                </a:gradFill>
                <a:ea typeface="宋体" panose="02010600030101010101" pitchFamily="2" charset="-122"/>
              </a:rPr>
              <a:t>，极限值</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6.5V</a:t>
            </a:r>
            <a:r>
              <a:rPr lang="zh-CN" sz="2000" b="1">
                <a:gradFill>
                  <a:gsLst>
                    <a:gs pos="0">
                      <a:srgbClr val="012D86"/>
                    </a:gs>
                    <a:gs pos="100000">
                      <a:srgbClr val="0E2557"/>
                    </a:gs>
                  </a:gsLst>
                  <a:lin scaled="0"/>
                </a:gradFill>
                <a:ea typeface="宋体" panose="02010600030101010101" pitchFamily="2" charset="-122"/>
              </a:rPr>
              <a:t>。</a:t>
            </a:r>
            <a:endParaRPr lang="zh-CN" sz="2000" b="1">
              <a:gradFill>
                <a:gsLst>
                  <a:gs pos="0">
                    <a:srgbClr val="012D86"/>
                  </a:gs>
                  <a:gs pos="100000">
                    <a:srgbClr val="0E2557"/>
                  </a:gs>
                </a:gsLst>
                <a:lin scaled="0"/>
              </a:gradFill>
              <a:ea typeface="宋体" panose="02010600030101010101" pitchFamily="2" charset="-122"/>
            </a:endParaRPr>
          </a:p>
          <a:p>
            <a:pPr>
              <a:lnSpc>
                <a:spcPct val="120000"/>
              </a:lnSpc>
            </a:pPr>
            <a:r>
              <a:rPr lang="zh-CN" sz="2000" b="1">
                <a:gradFill>
                  <a:gsLst>
                    <a:gs pos="0">
                      <a:srgbClr val="012D86"/>
                    </a:gs>
                    <a:gs pos="100000">
                      <a:srgbClr val="0E2557"/>
                    </a:gs>
                  </a:gsLst>
                  <a:lin scaled="0"/>
                </a:gradFill>
                <a:sym typeface="+mn-ea"/>
              </a:rPr>
              <a:t>⑩</a:t>
            </a:r>
            <a:r>
              <a:rPr lang="en-US" sz="2000" b="1">
                <a:gradFill>
                  <a:gsLst>
                    <a:gs pos="0">
                      <a:srgbClr val="012D86"/>
                    </a:gs>
                    <a:gs pos="100000">
                      <a:srgbClr val="0E2557"/>
                    </a:gs>
                  </a:gsLst>
                  <a:lin scaled="0"/>
                </a:gradFill>
                <a:latin typeface="Times New Roman" panose="02020603050405020304" charset="0"/>
                <a:ea typeface="宋体" panose="02010600030101010101" pitchFamily="2" charset="-122"/>
              </a:rPr>
              <a:t>GND</a:t>
            </a:r>
            <a:r>
              <a:rPr lang="zh-CN" sz="2000" b="1">
                <a:gradFill>
                  <a:gsLst>
                    <a:gs pos="0">
                      <a:srgbClr val="012D86"/>
                    </a:gs>
                    <a:gs pos="100000">
                      <a:srgbClr val="0E2557"/>
                    </a:gs>
                  </a:gsLst>
                  <a:lin scaled="0"/>
                </a:gradFill>
                <a:ea typeface="宋体" panose="02010600030101010101" pitchFamily="2" charset="-122"/>
              </a:rPr>
              <a:t>：</a:t>
            </a:r>
            <a:r>
              <a:rPr lang="zh-CN" sz="2000" b="1">
                <a:gradFill>
                  <a:gsLst>
                    <a:gs pos="0">
                      <a:srgbClr val="012D86"/>
                    </a:gs>
                    <a:gs pos="100000">
                      <a:srgbClr val="0E2557"/>
                    </a:gs>
                  </a:gsLst>
                  <a:lin scaled="0"/>
                </a:gradFill>
                <a:ea typeface="宋体" panose="02010600030101010101" pitchFamily="2" charset="-122"/>
              </a:rPr>
              <a:t>芯片接地端。</a:t>
            </a:r>
            <a:endParaRPr lang="zh-CN" altLang="en-US" sz="2000" b="1">
              <a:gradFill>
                <a:gsLst>
                  <a:gs pos="0">
                    <a:srgbClr val="012D86"/>
                  </a:gs>
                  <a:gs pos="100000">
                    <a:srgbClr val="0E2557"/>
                  </a:gs>
                </a:gsLst>
                <a:lin scaled="0"/>
              </a:gra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1891030" y="499110"/>
            <a:ext cx="559308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ctr" eaLnBrk="1" hangingPunct="1">
              <a:spcBef>
                <a:spcPct val="0"/>
              </a:spcBef>
              <a:buClrTx/>
              <a:buFontTx/>
              <a:buNone/>
            </a:pPr>
            <a:r>
              <a:rPr lang="en-US" altLang="zh-CN" b="1" dirty="0">
                <a:solidFill>
                  <a:srgbClr val="FF0000"/>
                </a:solidFill>
                <a:latin typeface="黑体" panose="02010609060101010101" pitchFamily="49" charset="-122"/>
                <a:ea typeface="黑体" panose="02010609060101010101" pitchFamily="49" charset="-122"/>
                <a:sym typeface="+mn-ea"/>
              </a:rPr>
              <a:t>9.3 </a:t>
            </a:r>
            <a:r>
              <a:rPr lang="en-US" altLang="zh-CN" b="1" dirty="0">
                <a:solidFill>
                  <a:srgbClr val="FF0000"/>
                </a:solidFill>
                <a:latin typeface="黑体" panose="02010609060101010101" pitchFamily="49" charset="-122"/>
                <a:ea typeface="黑体" panose="02010609060101010101" pitchFamily="49" charset="-122"/>
                <a:sym typeface="+mn-ea"/>
              </a:rPr>
              <a:t>A/D转换电路</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67938" name="AutoShape 2">
            <a:hlinkClick r:id="" action="ppaction://hlinkshowjump?jump=firstslide" highlightClick="1"/>
          </p:cNvPr>
          <p:cNvSpPr>
            <a:spLocks noChangeArrowheads="1"/>
          </p:cNvSpPr>
          <p:nvPr/>
        </p:nvSpPr>
        <p:spPr bwMode="auto">
          <a:xfrm>
            <a:off x="7753350" y="6453188"/>
            <a:ext cx="360363" cy="360363"/>
          </a:xfrm>
          <a:prstGeom prst="actionButtonHome">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39" name="AutoShape 3">
            <a:hlinkClick r:id="" action="ppaction://hlinkshowjump?jump=previousslide" highlightClick="1"/>
          </p:cNvPr>
          <p:cNvSpPr>
            <a:spLocks noChangeArrowheads="1"/>
          </p:cNvSpPr>
          <p:nvPr/>
        </p:nvSpPr>
        <p:spPr bwMode="auto">
          <a:xfrm>
            <a:off x="8221663" y="6453188"/>
            <a:ext cx="360363" cy="360363"/>
          </a:xfrm>
          <a:prstGeom prst="actionButtonBackPrevious">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67940" name="AutoShape 4">
            <a:hlinkClick r:id="" action="ppaction://hlinkshowjump?jump=nextslide" highlightClick="1"/>
          </p:cNvPr>
          <p:cNvSpPr>
            <a:spLocks noChangeArrowheads="1"/>
          </p:cNvSpPr>
          <p:nvPr/>
        </p:nvSpPr>
        <p:spPr bwMode="auto">
          <a:xfrm>
            <a:off x="8689975" y="6453188"/>
            <a:ext cx="360363" cy="360363"/>
          </a:xfrm>
          <a:prstGeom prst="actionButtonForwardNext">
            <a:avLst/>
          </a:prstGeom>
          <a:gradFill rotWithShape="1">
            <a:gsLst>
              <a:gs pos="0">
                <a:schemeClr val="bg1"/>
              </a:gs>
              <a:gs pos="100000">
                <a:schemeClr val="accent1"/>
              </a:gs>
            </a:gsLst>
            <a:path path="rect">
              <a:fillToRect l="50000" t="50000" r="50000" b="50000"/>
            </a:path>
          </a:gradFill>
          <a:ln w="9525">
            <a:noFill/>
            <a:miter lim="800000"/>
          </a:ln>
          <a:effectLst/>
        </p:spPr>
        <p:txBody>
          <a:bodyPr wrap="none" anchor="ctr"/>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0" lang="zh-CN" altLang="en-US" sz="3600" b="1" i="0" u="none" strike="noStrike" kern="1200" cap="none" spc="0" normalizeH="0" baseline="0" noProof="0">
              <a:ln>
                <a:noFill/>
              </a:ln>
              <a:solidFill>
                <a:srgbClr val="E2C9B6"/>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cs typeface="+mn-cs"/>
            </a:endParaRPr>
          </a:p>
        </p:txBody>
      </p:sp>
      <p:sp>
        <p:nvSpPr>
          <p:cNvPr id="102" name="文本框 101"/>
          <p:cNvSpPr txBox="1"/>
          <p:nvPr/>
        </p:nvSpPr>
        <p:spPr>
          <a:xfrm>
            <a:off x="699770" y="1171575"/>
            <a:ext cx="5080000" cy="460375"/>
          </a:xfrm>
          <a:prstGeom prst="rect">
            <a:avLst/>
          </a:prstGeom>
          <a:noFill/>
          <a:ln w="9525">
            <a:noFill/>
          </a:ln>
        </p:spPr>
        <p:txBody>
          <a:bodyPr>
            <a:spAutoFit/>
          </a:bodyPr>
          <a:p>
            <a:pPr indent="266700"/>
            <a:r>
              <a:rPr lang="en-US" sz="2400" b="1">
                <a:solidFill>
                  <a:schemeClr val="accent6">
                    <a:lumMod val="60000"/>
                    <a:lumOff val="40000"/>
                  </a:schemeClr>
                </a:solidFill>
                <a:latin typeface="Times New Roman" panose="02020603050405020304" charset="0"/>
                <a:cs typeface="楷体_GB2312" charset="0"/>
              </a:rPr>
              <a:t>3. </a:t>
            </a:r>
            <a:r>
              <a:rPr lang="en-US" sz="2400" b="1">
                <a:solidFill>
                  <a:schemeClr val="accent6">
                    <a:lumMod val="60000"/>
                    <a:lumOff val="40000"/>
                  </a:schemeClr>
                </a:solidFill>
                <a:latin typeface="Times New Roman" panose="02020603050405020304" charset="0"/>
                <a:ea typeface="宋体" panose="02010600030101010101" pitchFamily="2" charset="-122"/>
              </a:rPr>
              <a:t>ADC0809</a:t>
            </a:r>
            <a:r>
              <a:rPr lang="zh-CN" sz="2400" b="1">
                <a:solidFill>
                  <a:schemeClr val="accent6">
                    <a:lumMod val="60000"/>
                    <a:lumOff val="40000"/>
                  </a:schemeClr>
                </a:solidFill>
                <a:ea typeface="宋体" panose="02010600030101010101" pitchFamily="2" charset="-122"/>
              </a:rPr>
              <a:t>应用举列</a:t>
            </a:r>
            <a:endParaRPr lang="zh-CN" altLang="en-US" sz="2400" b="1">
              <a:solidFill>
                <a:schemeClr val="accent6">
                  <a:lumMod val="60000"/>
                  <a:lumOff val="40000"/>
                </a:schemeClr>
              </a:solidFill>
              <a:ea typeface="宋体" panose="02010600030101010101" pitchFamily="2" charset="-122"/>
            </a:endParaRPr>
          </a:p>
        </p:txBody>
      </p:sp>
      <p:pic>
        <p:nvPicPr>
          <p:cNvPr id="9507" name="图片 2944"/>
          <p:cNvPicPr>
            <a:picLocks noChangeAspect="1"/>
          </p:cNvPicPr>
          <p:nvPr/>
        </p:nvPicPr>
        <p:blipFill>
          <a:blip r:embed="rId1"/>
          <a:stretch>
            <a:fillRect/>
          </a:stretch>
        </p:blipFill>
        <p:spPr>
          <a:xfrm>
            <a:off x="829945" y="1921510"/>
            <a:ext cx="7284085" cy="3623945"/>
          </a:xfrm>
          <a:prstGeom prst="rect">
            <a:avLst/>
          </a:prstGeom>
          <a:noFill/>
          <a:ln>
            <a:noFill/>
          </a:ln>
        </p:spPr>
      </p:pic>
      <p:sp>
        <p:nvSpPr>
          <p:cNvPr id="2" name="文本框 1"/>
          <p:cNvSpPr txBox="1"/>
          <p:nvPr/>
        </p:nvSpPr>
        <p:spPr>
          <a:xfrm>
            <a:off x="3034030" y="5659755"/>
            <a:ext cx="5080000" cy="337185"/>
          </a:xfrm>
          <a:prstGeom prst="rect">
            <a:avLst/>
          </a:prstGeom>
          <a:noFill/>
          <a:ln w="9525">
            <a:noFill/>
          </a:ln>
        </p:spPr>
        <p:txBody>
          <a:bodyPr>
            <a:spAutoFit/>
          </a:bodyPr>
          <a:p>
            <a:r>
              <a:rPr lang="zh-CN" sz="1600">
                <a:ea typeface="宋体" panose="02010600030101010101" pitchFamily="2" charset="-122"/>
              </a:rPr>
              <a:t>图</a:t>
            </a:r>
            <a:r>
              <a:rPr lang="en-US" sz="1600">
                <a:latin typeface="Times New Roman" panose="02020603050405020304" charset="0"/>
                <a:ea typeface="宋体" panose="02010600030101010101" pitchFamily="2" charset="-122"/>
                <a:cs typeface="Times New Roman" panose="02020603050405020304" charset="0"/>
              </a:rPr>
              <a:t>9-</a:t>
            </a:r>
            <a:r>
              <a:rPr lang="en-US" sz="1600">
                <a:latin typeface="Times New Roman" panose="02020603050405020304" charset="0"/>
                <a:ea typeface="宋体" panose="02010600030101010101" pitchFamily="2" charset="-122"/>
              </a:rPr>
              <a:t>25 </a:t>
            </a:r>
            <a:r>
              <a:rPr lang="zh-CN" sz="1600">
                <a:ea typeface="宋体" panose="02010600030101010101" pitchFamily="2" charset="-122"/>
              </a:rPr>
              <a:t>单通道微机化数据采集系统示意图</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533400" y="1524000"/>
            <a:ext cx="8003540" cy="1402715"/>
          </a:xfrm>
        </p:spPr>
        <p:txBody>
          <a:bodyPr vert="horz" wrap="square" lIns="91440" tIns="45720" rIns="91440" bIns="45720" anchor="t" anchorCtr="0"/>
          <a:p>
            <a:pPr marL="0" indent="0" eaLnBrk="1" latinLnBrk="0" hangingPunct="1">
              <a:lnSpc>
                <a:spcPct val="120000"/>
              </a:lnSpc>
              <a:spcBef>
                <a:spcPts val="0"/>
              </a:spcBef>
              <a:buNone/>
            </a:pP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1. </a:t>
            </a:r>
            <a:r>
              <a:rPr sz="2400" b="1" kern="1200" dirty="0">
                <a:solidFill>
                  <a:srgbClr val="000066"/>
                </a:solidFill>
                <a:latin typeface="Times New Roman" panose="02020603050405020304" charset="0"/>
                <a:ea typeface="楷体" panose="02010609060101010101" charset="-122"/>
                <a:cs typeface="Times New Roman" panose="02020603050405020304" charset="0"/>
              </a:rPr>
              <a:t>数</a:t>
            </a:r>
            <a:r>
              <a:rPr lang="en-US" sz="2400" b="1" kern="1200" dirty="0">
                <a:solidFill>
                  <a:srgbClr val="000066"/>
                </a:solidFill>
                <a:latin typeface="Times New Roman" panose="02020603050405020304" charset="0"/>
                <a:ea typeface="楷体" panose="02010609060101010101" charset="-122"/>
                <a:cs typeface="Times New Roman" panose="02020603050405020304" charset="0"/>
              </a:rPr>
              <a:t>/</a:t>
            </a:r>
            <a:r>
              <a:rPr sz="2400" b="1" kern="1200" dirty="0">
                <a:solidFill>
                  <a:srgbClr val="000066"/>
                </a:solidFill>
                <a:latin typeface="Times New Roman" panose="02020603050405020304" charset="0"/>
                <a:ea typeface="楷体" panose="02010609060101010101" charset="-122"/>
                <a:cs typeface="Times New Roman" panose="02020603050405020304" charset="0"/>
              </a:rPr>
              <a:t>模转换器(</a:t>
            </a:r>
            <a:r>
              <a:rPr lang="en-US" sz="2400" b="1" kern="1200" dirty="0">
                <a:solidFill>
                  <a:srgbClr val="000066"/>
                </a:solidFill>
                <a:latin typeface="Times New Roman" panose="02020603050405020304" charset="0"/>
                <a:ea typeface="楷体" panose="02010609060101010101" charset="-122"/>
                <a:cs typeface="Times New Roman" panose="02020603050405020304" charset="0"/>
              </a:rPr>
              <a:t>DAC</a:t>
            </a:r>
            <a:r>
              <a:rPr sz="2400" b="1" kern="1200" dirty="0">
                <a:solidFill>
                  <a:srgbClr val="000066"/>
                </a:solidFill>
                <a:latin typeface="Times New Roman" panose="02020603050405020304" charset="0"/>
                <a:ea typeface="楷体" panose="02010609060101010101" charset="-122"/>
                <a:cs typeface="Times New Roman" panose="02020603050405020304" charset="0"/>
              </a:rPr>
              <a:t>)和模/ 数转换器(</a:t>
            </a:r>
            <a:r>
              <a:rPr lang="en-US" sz="2400" b="1" kern="1200" dirty="0">
                <a:solidFill>
                  <a:srgbClr val="000066"/>
                </a:solidFill>
                <a:latin typeface="Times New Roman" panose="02020603050405020304" charset="0"/>
                <a:ea typeface="楷体" panose="02010609060101010101" charset="-122"/>
                <a:cs typeface="Times New Roman" panose="02020603050405020304" charset="0"/>
              </a:rPr>
              <a:t>ADC</a:t>
            </a:r>
            <a:r>
              <a:rPr sz="2400" b="1" kern="1200" dirty="0">
                <a:solidFill>
                  <a:srgbClr val="000066"/>
                </a:solidFill>
                <a:latin typeface="Times New Roman" panose="02020603050405020304" charset="0"/>
                <a:ea typeface="楷体" panose="02010609060101010101" charset="-122"/>
                <a:cs typeface="Times New Roman" panose="02020603050405020304" charset="0"/>
              </a:rPr>
              <a:t>)是现代数字系统中不可或缺的数字电路与 模拟电路的接口电路</a:t>
            </a:r>
            <a:r>
              <a:rPr lang="zh-CN" sz="2400" b="1" kern="1200" dirty="0">
                <a:solidFill>
                  <a:srgbClr val="000066"/>
                </a:solidFill>
                <a:latin typeface="Times New Roman" panose="02020603050405020304" charset="0"/>
                <a:ea typeface="楷体" panose="02010609060101010101" charset="-122"/>
                <a:cs typeface="Times New Roman" panose="02020603050405020304" charset="0"/>
              </a:rPr>
              <a:t>。</a:t>
            </a:r>
            <a:endParaRPr lang="zh-CN" sz="2400" b="1" kern="1200"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6148" name="TextBox 6"/>
          <p:cNvSpPr txBox="1"/>
          <p:nvPr/>
        </p:nvSpPr>
        <p:spPr>
          <a:xfrm>
            <a:off x="3657600" y="533400"/>
            <a:ext cx="187579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zh-CN" altLang="en-US" b="1" dirty="0">
                <a:solidFill>
                  <a:srgbClr val="FF0000"/>
                </a:solidFill>
                <a:latin typeface="黑体" panose="02010609060101010101" pitchFamily="49" charset="-122"/>
                <a:ea typeface="黑体" panose="02010609060101010101" pitchFamily="49" charset="-122"/>
              </a:rPr>
              <a:t>本章小结</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108" name="矩形 107"/>
          <p:cNvSpPr/>
          <p:nvPr/>
        </p:nvSpPr>
        <p:spPr>
          <a:xfrm>
            <a:off x="609600" y="2667000"/>
            <a:ext cx="7856220" cy="2943860"/>
          </a:xfrm>
          <a:prstGeom prst="rect">
            <a:avLst/>
          </a:prstGeom>
          <a:noFill/>
          <a:ln w="9525">
            <a:noFill/>
          </a:ln>
        </p:spPr>
        <p:txBody>
          <a:bodyPr vert="horz" wrap="square" lIns="91440" tIns="45720" rIns="91440" bIns="45720" rtlCol="0" anchor="t" anchorCtr="0"/>
          <a:p>
            <a:pPr lvl="0" algn="l">
              <a:lnSpc>
                <a:spcPct val="120000"/>
              </a:lnSpc>
              <a:spcBef>
                <a:spcPts val="0"/>
              </a:spcBef>
              <a:buClr>
                <a:schemeClr val="folHlink"/>
              </a:buClr>
              <a:buSzTx/>
              <a:buFont typeface="Wingdings" panose="05000000000000000000" pitchFamily="2" charset="2"/>
            </a:pP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     2．</a:t>
            </a:r>
            <a:r>
              <a:rPr 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D/A</a:t>
            </a:r>
            <a:r>
              <a:rPr sz="2400" b="1" dirty="0">
                <a:solidFill>
                  <a:srgbClr val="000066"/>
                </a:solidFill>
                <a:latin typeface="Times New Roman" panose="02020603050405020304" charset="0"/>
                <a:ea typeface="楷体" panose="02010609060101010101" charset="-122"/>
                <a:cs typeface="Times New Roman" panose="02020603050405020304" charset="0"/>
                <a:sym typeface="+mn-ea"/>
              </a:rPr>
              <a:t>转换器可以将输入的二进制数字量转换成与之成正比的模拟量</a:t>
            </a:r>
            <a:r>
              <a:rPr 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a:t>
            </a:r>
            <a:r>
              <a:rPr sz="2400" b="1" dirty="0">
                <a:solidFill>
                  <a:srgbClr val="000066"/>
                </a:solidFill>
                <a:latin typeface="Times New Roman" panose="02020603050405020304" charset="0"/>
                <a:ea typeface="楷体" panose="02010609060101010101" charset="-122"/>
                <a:cs typeface="Times New Roman" panose="02020603050405020304" charset="0"/>
                <a:sym typeface="+mn-ea"/>
              </a:rPr>
              <a:t>实现其转换常见的电路有权电阻网络 </a:t>
            </a:r>
            <a:r>
              <a:rPr 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D/A</a:t>
            </a:r>
            <a:r>
              <a:rPr sz="2400" b="1" dirty="0">
                <a:solidFill>
                  <a:srgbClr val="000066"/>
                </a:solidFill>
                <a:latin typeface="Times New Roman" panose="02020603050405020304" charset="0"/>
                <a:ea typeface="楷体" panose="02010609060101010101" charset="-122"/>
                <a:cs typeface="Times New Roman" panose="02020603050405020304" charset="0"/>
                <a:sym typeface="+mn-ea"/>
              </a:rPr>
              <a:t>转换器、 倒</a:t>
            </a:r>
            <a:r>
              <a:rPr 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T</a:t>
            </a:r>
            <a:r>
              <a:rPr sz="2400" b="1" dirty="0">
                <a:solidFill>
                  <a:srgbClr val="000066"/>
                </a:solidFill>
                <a:latin typeface="Times New Roman" panose="02020603050405020304" charset="0"/>
                <a:ea typeface="楷体" panose="02010609060101010101" charset="-122"/>
                <a:cs typeface="Times New Roman" panose="02020603050405020304" charset="0"/>
                <a:sym typeface="+mn-ea"/>
              </a:rPr>
              <a:t> 型电阻网络</a:t>
            </a:r>
            <a:r>
              <a:rPr 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D/A</a:t>
            </a:r>
            <a:r>
              <a:rPr sz="2400" b="1" dirty="0">
                <a:solidFill>
                  <a:srgbClr val="000066"/>
                </a:solidFill>
                <a:latin typeface="Times New Roman" panose="02020603050405020304" charset="0"/>
                <a:ea typeface="楷体" panose="02010609060101010101" charset="-122"/>
                <a:cs typeface="Times New Roman" panose="02020603050405020304" charset="0"/>
                <a:sym typeface="+mn-ea"/>
              </a:rPr>
              <a:t>转换器和权电流网络</a:t>
            </a:r>
            <a:r>
              <a:rPr 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D/A</a:t>
            </a:r>
            <a:r>
              <a:rPr sz="2400" b="1" dirty="0">
                <a:solidFill>
                  <a:srgbClr val="000066"/>
                </a:solidFill>
                <a:latin typeface="Times New Roman" panose="02020603050405020304" charset="0"/>
                <a:ea typeface="楷体" panose="02010609060101010101" charset="-122"/>
                <a:cs typeface="Times New Roman" panose="02020603050405020304" charset="0"/>
                <a:sym typeface="+mn-ea"/>
              </a:rPr>
              <a:t>转换 器</a:t>
            </a:r>
            <a:r>
              <a:rPr 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a:t>
            </a:r>
            <a:r>
              <a:rPr sz="2400" b="1" dirty="0">
                <a:solidFill>
                  <a:srgbClr val="000066"/>
                </a:solidFill>
                <a:latin typeface="Times New Roman" panose="02020603050405020304" charset="0"/>
                <a:ea typeface="楷体" panose="02010609060101010101" charset="-122"/>
                <a:cs typeface="Times New Roman" panose="02020603050405020304" charset="0"/>
                <a:sym typeface="+mn-ea"/>
              </a:rPr>
              <a:t>其中</a:t>
            </a:r>
            <a:r>
              <a:rPr 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a:t>
            </a:r>
            <a:r>
              <a:rPr sz="2400" b="1" dirty="0">
                <a:solidFill>
                  <a:srgbClr val="000066"/>
                </a:solidFill>
                <a:latin typeface="Times New Roman" panose="02020603050405020304" charset="0"/>
                <a:ea typeface="楷体" panose="02010609060101010101" charset="-122"/>
                <a:cs typeface="Times New Roman" panose="02020603050405020304" charset="0"/>
                <a:sym typeface="+mn-ea"/>
              </a:rPr>
              <a:t>倒</a:t>
            </a:r>
            <a:r>
              <a:rPr 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T</a:t>
            </a:r>
            <a:r>
              <a:rPr sz="2400" b="1" dirty="0">
                <a:solidFill>
                  <a:srgbClr val="000066"/>
                </a:solidFill>
                <a:latin typeface="Times New Roman" panose="02020603050405020304" charset="0"/>
                <a:ea typeface="楷体" panose="02010609060101010101" charset="-122"/>
                <a:cs typeface="Times New Roman" panose="02020603050405020304" charset="0"/>
                <a:sym typeface="+mn-ea"/>
              </a:rPr>
              <a:t>型电阻网络</a:t>
            </a:r>
            <a:r>
              <a:rPr 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D/A</a:t>
            </a:r>
            <a:r>
              <a:rPr sz="2400" b="1" dirty="0">
                <a:solidFill>
                  <a:srgbClr val="000066"/>
                </a:solidFill>
                <a:latin typeface="Times New Roman" panose="02020603050405020304" charset="0"/>
                <a:ea typeface="楷体" panose="02010609060101010101" charset="-122"/>
                <a:cs typeface="Times New Roman" panose="02020603050405020304" charset="0"/>
                <a:sym typeface="+mn-ea"/>
              </a:rPr>
              <a:t>转换器速度快、 性能好</a:t>
            </a:r>
            <a:r>
              <a:rPr 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a:t>
            </a:r>
            <a:r>
              <a:rPr sz="2400" b="1" dirty="0">
                <a:solidFill>
                  <a:srgbClr val="000066"/>
                </a:solidFill>
                <a:latin typeface="Times New Roman" panose="02020603050405020304" charset="0"/>
                <a:ea typeface="楷体" panose="02010609060101010101" charset="-122"/>
                <a:cs typeface="Times New Roman" panose="02020603050405020304" charset="0"/>
                <a:sym typeface="+mn-ea"/>
              </a:rPr>
              <a:t>目前</a:t>
            </a:r>
            <a:r>
              <a:rPr 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CMOS</a:t>
            </a:r>
            <a:r>
              <a:rPr sz="2400" b="1" dirty="0">
                <a:solidFill>
                  <a:srgbClr val="000066"/>
                </a:solidFill>
                <a:latin typeface="Times New Roman" panose="02020603050405020304" charset="0"/>
                <a:ea typeface="楷体" panose="02010609060101010101" charset="-122"/>
                <a:cs typeface="Times New Roman" panose="02020603050405020304" charset="0"/>
                <a:sym typeface="+mn-ea"/>
              </a:rPr>
              <a:t>单片集成</a:t>
            </a:r>
            <a:r>
              <a:rPr 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D/A</a:t>
            </a:r>
            <a:r>
              <a:rPr sz="2400" b="1" dirty="0">
                <a:solidFill>
                  <a:srgbClr val="000066"/>
                </a:solidFill>
                <a:latin typeface="Times New Roman" panose="02020603050405020304" charset="0"/>
                <a:ea typeface="楷体" panose="02010609060101010101" charset="-122"/>
                <a:cs typeface="Times New Roman" panose="02020603050405020304" charset="0"/>
                <a:sym typeface="+mn-ea"/>
              </a:rPr>
              <a:t>转换器中主要采用倒</a:t>
            </a:r>
            <a:r>
              <a:rPr 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T</a:t>
            </a:r>
            <a:r>
              <a:rPr sz="2400" b="1" dirty="0">
                <a:solidFill>
                  <a:srgbClr val="000066"/>
                </a:solidFill>
                <a:latin typeface="Times New Roman" panose="02020603050405020304" charset="0"/>
                <a:ea typeface="楷体" panose="02010609060101010101" charset="-122"/>
                <a:cs typeface="Times New Roman" panose="02020603050405020304" charset="0"/>
                <a:sym typeface="+mn-ea"/>
              </a:rPr>
              <a:t> 型电阻网络</a:t>
            </a:r>
            <a:r>
              <a:rPr 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a:t>
            </a:r>
            <a:r>
              <a:rPr sz="2400" b="1" dirty="0">
                <a:solidFill>
                  <a:srgbClr val="000066"/>
                </a:solidFill>
                <a:latin typeface="Times New Roman" panose="02020603050405020304" charset="0"/>
                <a:ea typeface="楷体" panose="02010609060101010101" charset="-122"/>
                <a:cs typeface="Times New Roman" panose="02020603050405020304" charset="0"/>
                <a:sym typeface="+mn-ea"/>
              </a:rPr>
              <a:t>而在权电流网络</a:t>
            </a:r>
            <a:r>
              <a:rPr 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D/A</a:t>
            </a:r>
            <a:r>
              <a:rPr sz="2400" b="1" dirty="0">
                <a:solidFill>
                  <a:srgbClr val="000066"/>
                </a:solidFill>
                <a:latin typeface="Times New Roman" panose="02020603050405020304" charset="0"/>
                <a:ea typeface="楷体" panose="02010609060101010101" charset="-122"/>
                <a:cs typeface="Times New Roman" panose="02020603050405020304" charset="0"/>
                <a:sym typeface="+mn-ea"/>
              </a:rPr>
              <a:t>转换器中</a:t>
            </a:r>
            <a:r>
              <a:rPr 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a:t>
            </a:r>
            <a:r>
              <a:rPr sz="2400" b="1" dirty="0">
                <a:solidFill>
                  <a:srgbClr val="000066"/>
                </a:solidFill>
                <a:latin typeface="Times New Roman" panose="02020603050405020304" charset="0"/>
                <a:ea typeface="楷体" panose="02010609060101010101" charset="-122"/>
                <a:cs typeface="Times New Roman" panose="02020603050405020304" charset="0"/>
                <a:sym typeface="+mn-ea"/>
              </a:rPr>
              <a:t>由于恒流源电路和高速模拟开关的运用使其具有精度高、 转换快的优点</a:t>
            </a:r>
            <a:r>
              <a:rPr 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a:t>
            </a:r>
            <a:r>
              <a:rPr sz="2400" b="1" dirty="0">
                <a:solidFill>
                  <a:srgbClr val="000066"/>
                </a:solidFill>
                <a:latin typeface="Times New Roman" panose="02020603050405020304" charset="0"/>
                <a:ea typeface="楷体" panose="02010609060101010101" charset="-122"/>
                <a:cs typeface="Times New Roman" panose="02020603050405020304" charset="0"/>
                <a:sym typeface="+mn-ea"/>
              </a:rPr>
              <a:t>因此其广泛应用在双极型集成</a:t>
            </a:r>
            <a:r>
              <a:rPr 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D/A</a:t>
            </a:r>
            <a:r>
              <a:rPr sz="2400" b="1" dirty="0">
                <a:solidFill>
                  <a:srgbClr val="000066"/>
                </a:solidFill>
                <a:latin typeface="Times New Roman" panose="02020603050405020304" charset="0"/>
                <a:ea typeface="楷体" panose="02010609060101010101" charset="-122"/>
                <a:cs typeface="Times New Roman" panose="02020603050405020304" charset="0"/>
                <a:sym typeface="+mn-ea"/>
              </a:rPr>
              <a:t>转换器中</a:t>
            </a:r>
            <a:r>
              <a:rPr 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a:t>
            </a:r>
            <a:endParaRPr lang="zh-CN" sz="2400" b="1" dirty="0">
              <a:solidFill>
                <a:srgbClr val="000066"/>
              </a:solidFill>
              <a:latin typeface="Times New Roman" panose="02020603050405020304" charset="0"/>
              <a:ea typeface="楷体" panose="02010609060101010101"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blinds(horizontal)">
                                      <p:cBhvr>
                                        <p:cTn id="7" dur="500"/>
                                        <p:tgtEl>
                                          <p:spTgt spid="6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8"/>
                                        </p:tgtEl>
                                        <p:attrNameLst>
                                          <p:attrName>style.visibility</p:attrName>
                                        </p:attrNameLst>
                                      </p:cBhvr>
                                      <p:to>
                                        <p:strVal val="visible"/>
                                      </p:to>
                                    </p:set>
                                    <p:animEffect transition="in" filter="blinds(horizontal)">
                                      <p:cBhvr>
                                        <p:cTn id="12"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P spid="6147" grpId="1" build="p"/>
      <p:bldP spid="108" grpId="0"/>
      <p:bldP spid="108" grpId="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294005" y="1524000"/>
            <a:ext cx="8555355" cy="2352675"/>
          </a:xfrm>
        </p:spPr>
        <p:txBody>
          <a:bodyPr vert="horz" wrap="square" lIns="91440" tIns="45720" rIns="91440" bIns="45720" anchor="t" anchorCtr="0"/>
          <a:p>
            <a:pPr marL="0" indent="0" eaLnBrk="1" latinLnBrk="0" hangingPunct="1">
              <a:lnSpc>
                <a:spcPct val="120000"/>
              </a:lnSpc>
              <a:spcBef>
                <a:spcPts val="0"/>
              </a:spcBef>
              <a:buNone/>
            </a:pP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3</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 </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A/D</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转换器可以将输入的模拟电压转换成与之成正比的二进制数字量。 转换的过程为取样、保持、量化和编码。</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sym typeface="+mn-ea"/>
              </a:rPr>
              <a:t>A/D</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转换器可分为直接</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sym typeface="+mn-ea"/>
              </a:rPr>
              <a:t>A/D</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转换器和间接</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sym typeface="+mn-ea"/>
              </a:rPr>
              <a:t>A/D</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转换器。直接 </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sym typeface="+mn-ea"/>
              </a:rPr>
              <a:t>A/D</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转换器又可分为并联比较型</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sym typeface="+mn-ea"/>
              </a:rPr>
              <a:t>A/D</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转换器和逐次比较型 </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sym typeface="+mn-ea"/>
              </a:rPr>
              <a:t>A/D</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转换器， 其中并联比较型</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sym typeface="+mn-ea"/>
              </a:rPr>
              <a:t>A/D</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转换器转换速度快，逐次渐近型 </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sym typeface="+mn-ea"/>
              </a:rPr>
              <a:t>A/D</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转换器速度比并联比较型</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sym typeface="+mn-ea"/>
              </a:rPr>
              <a:t>A/D</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转换器慢，但比间接转换型</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sym typeface="+mn-ea"/>
              </a:rPr>
              <a:t>A/D</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转换器快。间接转换型</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sym typeface="+mn-ea"/>
              </a:rPr>
              <a:t>A/D</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转换器可分为有双积分型</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sym typeface="+mn-ea"/>
              </a:rPr>
              <a:t>A/D</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转换器和电压－频率变换型</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sym typeface="+mn-ea"/>
              </a:rPr>
              <a:t>A/D</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转换器，其中双积分型</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sym typeface="+mn-ea"/>
              </a:rPr>
              <a:t>A/D</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转换器在低速、高精度集成</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ADC</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中应用广泛</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而电压－频率变换型</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sym typeface="+mn-ea"/>
              </a:rPr>
              <a:t>A/D</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转换器精度低、速度慢、抗干扰能力强</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多用于遥测和遥控系统中。</a:t>
            </a:r>
            <a:endPar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6148" name="TextBox 6"/>
          <p:cNvSpPr txBox="1"/>
          <p:nvPr/>
        </p:nvSpPr>
        <p:spPr>
          <a:xfrm>
            <a:off x="3657600" y="533400"/>
            <a:ext cx="187579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zh-CN" altLang="en-US" b="1" dirty="0">
                <a:solidFill>
                  <a:srgbClr val="FF0000"/>
                </a:solidFill>
                <a:latin typeface="黑体" panose="02010609060101010101" pitchFamily="49" charset="-122"/>
                <a:ea typeface="黑体" panose="02010609060101010101" pitchFamily="49" charset="-122"/>
              </a:rPr>
              <a:t>本章小结</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8" name="TextBox 6"/>
          <p:cNvSpPr txBox="1"/>
          <p:nvPr/>
        </p:nvSpPr>
        <p:spPr>
          <a:xfrm>
            <a:off x="3657600" y="533400"/>
            <a:ext cx="187579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zh-CN" altLang="en-US" b="1" dirty="0">
                <a:solidFill>
                  <a:srgbClr val="FF0000"/>
                </a:solidFill>
                <a:latin typeface="黑体" panose="02010609060101010101" pitchFamily="49" charset="-122"/>
                <a:ea typeface="黑体" panose="02010609060101010101" pitchFamily="49" charset="-122"/>
              </a:rPr>
              <a:t>本章小结</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
        <p:nvSpPr>
          <p:cNvPr id="2" name="Rectangle 3"/>
          <p:cNvSpPr>
            <a:spLocks noGrp="1"/>
          </p:cNvSpPr>
          <p:nvPr/>
        </p:nvSpPr>
        <p:spPr>
          <a:xfrm>
            <a:off x="685800" y="2057400"/>
            <a:ext cx="8003540" cy="241935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eaLnBrk="1" latinLnBrk="0" hangingPunct="1">
              <a:lnSpc>
                <a:spcPct val="120000"/>
              </a:lnSpc>
              <a:spcBef>
                <a:spcPts val="0"/>
              </a:spcBef>
              <a:buNone/>
            </a:pP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4</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 </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A/D</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转换器和 </a:t>
            </a: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D/A</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转换器的主要技术参数是转换精度和转换速率。在与系统连接后，转换器的这两项指标决定了系统的精度与速度。目前， </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A/D</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转换器与</a:t>
            </a:r>
            <a:r>
              <a:rPr lang="zh-CN" altLang="en-US" sz="2400" b="1" dirty="0">
                <a:solidFill>
                  <a:srgbClr val="000066"/>
                </a:solidFill>
                <a:latin typeface="Times New Roman" panose="02020603050405020304" charset="0"/>
                <a:ea typeface="楷体" panose="02010609060101010101" charset="-122"/>
                <a:cs typeface="Times New Roman" panose="02020603050405020304" charset="0"/>
                <a:sym typeface="+mn-ea"/>
              </a:rPr>
              <a:t> </a:t>
            </a:r>
            <a:r>
              <a:rPr lang="en-US" altLang="zh-CN" sz="2400" b="1" dirty="0">
                <a:solidFill>
                  <a:srgbClr val="000066"/>
                </a:solidFill>
                <a:latin typeface="Times New Roman" panose="02020603050405020304" charset="0"/>
                <a:ea typeface="楷体" panose="02010609060101010101" charset="-122"/>
                <a:cs typeface="Times New Roman" panose="02020603050405020304" charset="0"/>
                <a:sym typeface="+mn-ea"/>
              </a:rPr>
              <a:t>D/A</a:t>
            </a:r>
            <a:r>
              <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rPr>
              <a:t>转换器的发展趋势是高速度、高分辨率及易于与微型计算机连接， 用以满足各个应用领域对信号处理的要求。</a:t>
            </a:r>
            <a:endPar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3"/>
          <p:cNvSpPr>
            <a:spLocks noGrp="1"/>
          </p:cNvSpPr>
          <p:nvPr>
            <p:ph idx="1"/>
          </p:nvPr>
        </p:nvSpPr>
        <p:spPr>
          <a:xfrm>
            <a:off x="533400" y="1981200"/>
            <a:ext cx="8003540" cy="4184650"/>
          </a:xfrm>
        </p:spPr>
        <p:txBody>
          <a:bodyPr vert="horz" wrap="square" lIns="91440" tIns="45720" rIns="91440" bIns="45720" anchor="t" anchorCtr="0"/>
          <a:p>
            <a:pPr marL="0" indent="0" algn="ctr" eaLnBrk="1" latinLnBrk="0" hangingPunct="1">
              <a:lnSpc>
                <a:spcPct val="120000"/>
              </a:lnSpc>
              <a:spcBef>
                <a:spcPts val="0"/>
              </a:spcBef>
              <a:buNone/>
            </a:pPr>
            <a:r>
              <a:rPr lang="en-US" altLang="zh-CN" b="1" kern="1200" dirty="0">
                <a:solidFill>
                  <a:srgbClr val="000066"/>
                </a:solidFill>
                <a:latin typeface="Times New Roman" panose="02020603050405020304" charset="0"/>
                <a:ea typeface="楷体" panose="02010609060101010101" charset="-122"/>
                <a:cs typeface="Times New Roman" panose="02020603050405020304" charset="0"/>
              </a:rPr>
              <a:t>P251-252</a:t>
            </a:r>
            <a:endParaRPr lang="en-US" altLang="zh-CN" b="1" kern="1200" dirty="0">
              <a:solidFill>
                <a:srgbClr val="000066"/>
              </a:solidFill>
              <a:latin typeface="Times New Roman" panose="02020603050405020304" charset="0"/>
              <a:ea typeface="楷体" panose="02010609060101010101" charset="-122"/>
              <a:cs typeface="Times New Roman" panose="02020603050405020304" charset="0"/>
            </a:endParaRPr>
          </a:p>
          <a:p>
            <a:pPr marL="0" indent="0" eaLnBrk="1" latinLnBrk="0" hangingPunct="1">
              <a:lnSpc>
                <a:spcPct val="120000"/>
              </a:lnSpc>
              <a:spcBef>
                <a:spcPts val="0"/>
              </a:spcBef>
              <a:spcAft>
                <a:spcPts val="600"/>
              </a:spcAft>
              <a:buNone/>
            </a:pPr>
            <a:r>
              <a:rPr lang="en-US" altLang="zh-CN" sz="2400" b="1" kern="1200" dirty="0">
                <a:solidFill>
                  <a:srgbClr val="000066"/>
                </a:solidFill>
                <a:latin typeface="Times New Roman" panose="02020603050405020304" charset="0"/>
                <a:ea typeface="楷体" panose="02010609060101010101" charset="-122"/>
                <a:cs typeface="Times New Roman" panose="02020603050405020304" charset="0"/>
              </a:rPr>
              <a:t>         </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rPr>
              <a:t>题</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rPr>
              <a:t>9</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rPr>
              <a:t>-3</a:t>
            </a: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rPr>
              <a:t>；</a:t>
            </a:r>
            <a:endPar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endParaRPr>
          </a:p>
          <a:p>
            <a:pPr marL="0" indent="0" eaLnBrk="1" latinLnBrk="0" hangingPunct="1">
              <a:lnSpc>
                <a:spcPct val="120000"/>
              </a:lnSpc>
              <a:spcBef>
                <a:spcPts val="0"/>
              </a:spcBef>
              <a:spcAft>
                <a:spcPts val="600"/>
              </a:spcAft>
              <a:buNone/>
            </a:pP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rPr>
              <a:t> </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rPr>
              <a:t>         </a:t>
            </a: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题</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9</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-4</a:t>
            </a: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       </a:t>
            </a:r>
            <a:endPar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endParaRPr>
          </a:p>
          <a:p>
            <a:pPr marL="0" indent="0" eaLnBrk="1" latinLnBrk="0" hangingPunct="1">
              <a:lnSpc>
                <a:spcPct val="120000"/>
              </a:lnSpc>
              <a:spcBef>
                <a:spcPts val="0"/>
              </a:spcBef>
              <a:spcAft>
                <a:spcPts val="600"/>
              </a:spcAft>
              <a:buNone/>
            </a:pP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          </a:t>
            </a: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题</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9</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-6</a:t>
            </a: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       </a:t>
            </a:r>
            <a:endPar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endParaRPr>
          </a:p>
          <a:p>
            <a:pPr marL="0" indent="0" eaLnBrk="1" latinLnBrk="0" hangingPunct="1">
              <a:lnSpc>
                <a:spcPct val="120000"/>
              </a:lnSpc>
              <a:spcBef>
                <a:spcPts val="0"/>
              </a:spcBef>
              <a:spcAft>
                <a:spcPts val="600"/>
              </a:spcAft>
              <a:buNone/>
            </a:pP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 </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         </a:t>
            </a: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题</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9</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-9</a:t>
            </a: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a:t>
            </a:r>
            <a:endPar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endParaRPr>
          </a:p>
          <a:p>
            <a:pPr marL="0" indent="0" eaLnBrk="1" latinLnBrk="0" hangingPunct="1">
              <a:lnSpc>
                <a:spcPct val="120000"/>
              </a:lnSpc>
              <a:spcBef>
                <a:spcPts val="0"/>
              </a:spcBef>
              <a:spcAft>
                <a:spcPts val="600"/>
              </a:spcAft>
              <a:buNone/>
            </a:pP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          </a:t>
            </a:r>
            <a:r>
              <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题</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9</a:t>
            </a: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-10</a:t>
            </a:r>
            <a:endPar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endParaRPr>
          </a:p>
          <a:p>
            <a:pPr marL="0" indent="0" eaLnBrk="1" latinLnBrk="0" hangingPunct="1">
              <a:lnSpc>
                <a:spcPct val="120000"/>
              </a:lnSpc>
              <a:spcBef>
                <a:spcPts val="0"/>
              </a:spcBef>
              <a:spcAft>
                <a:spcPts val="600"/>
              </a:spcAft>
              <a:buNone/>
            </a:pPr>
            <a:r>
              <a:rPr lang="en-US" altLang="zh-CN" sz="2800" b="1" kern="1200" dirty="0">
                <a:solidFill>
                  <a:srgbClr val="000066"/>
                </a:solidFill>
                <a:latin typeface="Times New Roman" panose="02020603050405020304" charset="0"/>
                <a:ea typeface="楷体" panose="02010609060101010101" charset="-122"/>
                <a:cs typeface="Times New Roman" panose="02020603050405020304" charset="0"/>
                <a:sym typeface="+mn-ea"/>
              </a:rPr>
              <a:t>          </a:t>
            </a:r>
            <a:endParaRPr lang="zh-CN" altLang="en-US" sz="2800" b="1" kern="1200" dirty="0">
              <a:solidFill>
                <a:srgbClr val="000066"/>
              </a:solidFill>
              <a:latin typeface="Times New Roman" panose="02020603050405020304" charset="0"/>
              <a:ea typeface="楷体" panose="02010609060101010101" charset="-122"/>
              <a:cs typeface="Times New Roman" panose="02020603050405020304" charset="0"/>
            </a:endParaRPr>
          </a:p>
          <a:p>
            <a:pPr marL="0" indent="0" eaLnBrk="1" latinLnBrk="0" hangingPunct="1">
              <a:lnSpc>
                <a:spcPct val="120000"/>
              </a:lnSpc>
              <a:spcBef>
                <a:spcPts val="0"/>
              </a:spcBef>
              <a:buNone/>
            </a:pPr>
            <a:endPar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endParaRPr>
          </a:p>
          <a:p>
            <a:pPr marL="0" indent="0" eaLnBrk="1" latinLnBrk="0" hangingPunct="1">
              <a:lnSpc>
                <a:spcPct val="120000"/>
              </a:lnSpc>
              <a:spcBef>
                <a:spcPts val="0"/>
              </a:spcBef>
              <a:buNone/>
            </a:pPr>
            <a:endParaRPr lang="zh-CN" altLang="en-US" sz="2400" b="1" kern="1200" dirty="0">
              <a:solidFill>
                <a:srgbClr val="000066"/>
              </a:solidFill>
              <a:latin typeface="Times New Roman" panose="02020603050405020304" charset="0"/>
              <a:ea typeface="楷体" panose="02010609060101010101" charset="-122"/>
              <a:cs typeface="Times New Roman" panose="02020603050405020304" charset="0"/>
            </a:endParaRPr>
          </a:p>
        </p:txBody>
      </p:sp>
      <p:sp>
        <p:nvSpPr>
          <p:cNvPr id="6148" name="TextBox 6"/>
          <p:cNvSpPr txBox="1"/>
          <p:nvPr/>
        </p:nvSpPr>
        <p:spPr>
          <a:xfrm>
            <a:off x="3657600" y="533400"/>
            <a:ext cx="187579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algn="l" eaLnBrk="1" hangingPunct="1">
              <a:spcBef>
                <a:spcPct val="0"/>
              </a:spcBef>
              <a:buClrTx/>
              <a:buFontTx/>
              <a:buNone/>
            </a:pPr>
            <a:r>
              <a:rPr lang="zh-CN" altLang="en-US" b="1" dirty="0">
                <a:solidFill>
                  <a:srgbClr val="FF0000"/>
                </a:solidFill>
                <a:latin typeface="黑体" panose="02010609060101010101" pitchFamily="49" charset="-122"/>
                <a:ea typeface="黑体" panose="02010609060101010101" pitchFamily="49" charset="-122"/>
              </a:rPr>
              <a:t>本章作业</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6150" name="灯片编号占位符 5"/>
          <p:cNvSpPr txBox="1">
            <a:spLocks noGrp="1"/>
          </p:cNvSpPr>
          <p:nvPr>
            <p:ph type="sldNum" sz="quarter" idx="12"/>
          </p:nvPr>
        </p:nvSpPr>
        <p:spPr>
          <a:xfrm>
            <a:off x="6553200" y="6537325"/>
            <a:ext cx="2133600" cy="244475"/>
          </a:xfrm>
        </p:spPr>
        <p:txBody>
          <a:bodyPr/>
          <a:p>
            <a:pPr marL="0" indent="0" algn="r" eaLnBrk="1" hangingPunct="1">
              <a:spcBef>
                <a:spcPct val="0"/>
              </a:spcBef>
              <a:buClrTx/>
              <a:buFontTx/>
              <a:buNone/>
            </a:pPr>
            <a:fld id="{9A0DB2DC-4C9A-4742-B13C-FB6460FD3503}" type="slidenum">
              <a:rPr lang="en-US" altLang="zh-CN" sz="1200" dirty="0">
                <a:solidFill>
                  <a:schemeClr val="bg1"/>
                </a:solidFill>
                <a:ea typeface="宋体" panose="02010600030101010101" pitchFamily="2" charset="-122"/>
              </a:rPr>
            </a:fld>
            <a:endParaRPr lang="en-US" altLang="zh-CN" sz="1200" dirty="0">
              <a:solidFill>
                <a:schemeClr val="bg1"/>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tags/tag1.xml><?xml version="1.0" encoding="utf-8"?>
<p:tagLst xmlns:p="http://schemas.openxmlformats.org/presentationml/2006/main">
  <p:tag name="KSO_WM_UNIT_DIAGRAM_MODELTYPE" val="dynamicNum"/>
  <p:tag name="KSO_WM_BEAUTIFY_FLAG" val="#wm#"/>
  <p:tag name="KSO_WM_UNIT_TYPE" val="ζ_h_f"/>
  <p:tag name="KSO_WM_UNIT_DYNMNUM_TYPE" val="1"/>
  <p:tag name="KSO_WM_DYNAMICNUM_SPEED" val="3"/>
  <p:tag name="KSO_WM_UNIT_DYNMNUM_DGM_ANIMTYPE" val="5"/>
  <p:tag name="KSO_WM_UNIT_INDEX" val="1644158790285_1_1"/>
</p:tagLst>
</file>

<file path=ppt/theme/theme1.xml><?xml version="1.0" encoding="utf-8"?>
<a:theme xmlns:a="http://schemas.openxmlformats.org/drawingml/2006/main" name="Default Design">
  <a:themeElements>
    <a:clrScheme name="Default Design 3">
      <a:dk1>
        <a:srgbClr val="080808"/>
      </a:dk1>
      <a:lt1>
        <a:srgbClr val="FFFFFF"/>
      </a:lt1>
      <a:dk2>
        <a:srgbClr val="A59A55"/>
      </a:dk2>
      <a:lt2>
        <a:srgbClr val="DDDDDD"/>
      </a:lt2>
      <a:accent1>
        <a:srgbClr val="4AB1E4"/>
      </a:accent1>
      <a:accent2>
        <a:srgbClr val="8F038F"/>
      </a:accent2>
      <a:accent3>
        <a:srgbClr val="FFFFFF"/>
      </a:accent3>
      <a:accent4>
        <a:srgbClr val="060606"/>
      </a:accent4>
      <a:accent5>
        <a:srgbClr val="B1D5EF"/>
      </a:accent5>
      <a:accent6>
        <a:srgbClr val="810281"/>
      </a:accent6>
      <a:hlink>
        <a:srgbClr val="F77A1D"/>
      </a:hlink>
      <a:folHlink>
        <a:srgbClr val="5BBE4E"/>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Default Design 1">
        <a:dk1>
          <a:srgbClr val="5F5F5F"/>
        </a:dk1>
        <a:lt1>
          <a:srgbClr val="FFFFFF"/>
        </a:lt1>
        <a:dk2>
          <a:srgbClr val="C36609"/>
        </a:dk2>
        <a:lt2>
          <a:srgbClr val="DDDDDD"/>
        </a:lt2>
        <a:accent1>
          <a:srgbClr val="D2B94E"/>
        </a:accent1>
        <a:accent2>
          <a:srgbClr val="2395B9"/>
        </a:accent2>
        <a:accent3>
          <a:srgbClr val="FFFFFF"/>
        </a:accent3>
        <a:accent4>
          <a:srgbClr val="505050"/>
        </a:accent4>
        <a:accent5>
          <a:srgbClr val="E5D9B2"/>
        </a:accent5>
        <a:accent6>
          <a:srgbClr val="1F87A7"/>
        </a:accent6>
        <a:hlink>
          <a:srgbClr val="5C984E"/>
        </a:hlink>
        <a:folHlink>
          <a:srgbClr val="B5C77B"/>
        </a:folHlink>
      </a:clrScheme>
      <a:clrMap bg1="lt1" tx1="dk1" bg2="lt2" tx2="dk2" accent1="accent1" accent2="accent2" accent3="accent3" accent4="accent4" accent5="accent5" accent6="accent6" hlink="hlink" folHlink="folHlink"/>
    </a:extraClrScheme>
    <a:extraClrScheme>
      <a:clrScheme name="Default Design 2">
        <a:dk1>
          <a:srgbClr val="5F5F5F"/>
        </a:dk1>
        <a:lt1>
          <a:srgbClr val="FFFFFF"/>
        </a:lt1>
        <a:dk2>
          <a:srgbClr val="9FC591"/>
        </a:dk2>
        <a:lt2>
          <a:srgbClr val="DDDDDD"/>
        </a:lt2>
        <a:accent1>
          <a:srgbClr val="7B82B7"/>
        </a:accent1>
        <a:accent2>
          <a:srgbClr val="8D337C"/>
        </a:accent2>
        <a:accent3>
          <a:srgbClr val="FFFFFF"/>
        </a:accent3>
        <a:accent4>
          <a:srgbClr val="505050"/>
        </a:accent4>
        <a:accent5>
          <a:srgbClr val="BFC1D8"/>
        </a:accent5>
        <a:accent6>
          <a:srgbClr val="7F2D70"/>
        </a:accent6>
        <a:hlink>
          <a:srgbClr val="CC87E1"/>
        </a:hlink>
        <a:folHlink>
          <a:srgbClr val="76C5D0"/>
        </a:folHlink>
      </a:clrScheme>
      <a:clrMap bg1="lt1" tx1="dk1" bg2="lt2" tx2="dk2" accent1="accent1" accent2="accent2" accent3="accent3" accent4="accent4" accent5="accent5" accent6="accent6" hlink="hlink" folHlink="folHlink"/>
    </a:extraClrScheme>
    <a:extraClrScheme>
      <a:clrScheme name="Default Design 3">
        <a:dk1>
          <a:srgbClr val="080808"/>
        </a:dk1>
        <a:lt1>
          <a:srgbClr val="FFFFFF"/>
        </a:lt1>
        <a:dk2>
          <a:srgbClr val="A59A55"/>
        </a:dk2>
        <a:lt2>
          <a:srgbClr val="DDDDDD"/>
        </a:lt2>
        <a:accent1>
          <a:srgbClr val="4AB1E4"/>
        </a:accent1>
        <a:accent2>
          <a:srgbClr val="8F038F"/>
        </a:accent2>
        <a:accent3>
          <a:srgbClr val="FFFFFF"/>
        </a:accent3>
        <a:accent4>
          <a:srgbClr val="060606"/>
        </a:accent4>
        <a:accent5>
          <a:srgbClr val="B1D5EF"/>
        </a:accent5>
        <a:accent6>
          <a:srgbClr val="810281"/>
        </a:accent6>
        <a:hlink>
          <a:srgbClr val="F77A1D"/>
        </a:hlink>
        <a:folHlink>
          <a:srgbClr val="5BBE4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7907</Words>
  <Application>WPS 演示</Application>
  <PresentationFormat>全屏显示(4:3)</PresentationFormat>
  <Paragraphs>732</Paragraphs>
  <Slides>57</Slides>
  <Notes>8</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30</vt:i4>
      </vt:variant>
      <vt:variant>
        <vt:lpstr>幻灯片标题</vt:lpstr>
      </vt:variant>
      <vt:variant>
        <vt:i4>57</vt:i4>
      </vt:variant>
    </vt:vector>
  </HeadingPairs>
  <TitlesOfParts>
    <vt:vector size="105" baseType="lpstr">
      <vt:lpstr>Arial</vt:lpstr>
      <vt:lpstr>宋体</vt:lpstr>
      <vt:lpstr>Wingdings</vt:lpstr>
      <vt:lpstr>Calibri</vt:lpstr>
      <vt:lpstr>微软雅黑</vt:lpstr>
      <vt:lpstr>黑体</vt:lpstr>
      <vt:lpstr>Times New Roman</vt:lpstr>
      <vt:lpstr>楷体</vt:lpstr>
      <vt:lpstr>楷体_GB2312</vt:lpstr>
      <vt:lpstr>新宋体</vt:lpstr>
      <vt:lpstr>Monotype Sorts</vt:lpstr>
      <vt:lpstr>Wingdings</vt:lpstr>
      <vt:lpstr>Arial Unicode MS</vt:lpstr>
      <vt:lpstr>Symbol</vt:lpstr>
      <vt:lpstr>Arial Narrow</vt:lpstr>
      <vt:lpstr>Verdana</vt:lpstr>
      <vt:lpstr>楷体_GB2312</vt:lpstr>
      <vt:lpstr>Default Design</vt:lpstr>
      <vt:lpstr>Equation.KSEE3</vt:lpstr>
      <vt:lpstr>Equation.3</vt:lpstr>
      <vt:lpstr>Equation.3</vt:lpstr>
      <vt:lpstr>Equation.DSMT4</vt:lpstr>
      <vt:lpstr>Equation.DSMT4</vt:lpstr>
      <vt:lpstr>Equation.DSMT4</vt:lpstr>
      <vt:lpstr>Equation.DSMT4</vt:lpstr>
      <vt:lpstr>Equation.DSMT4</vt:lpstr>
      <vt:lpstr>Equation.3</vt:lpstr>
      <vt:lpstr>Equation.3</vt:lpstr>
      <vt:lpstr>Equation.3</vt:lpstr>
      <vt:lpstr>Equation.KSEE3</vt:lpstr>
      <vt:lpstr>Equation.DSMT4</vt:lpstr>
      <vt:lpstr>Equation.3</vt:lpstr>
      <vt:lpstr>MSPhotoEd.3</vt:lpstr>
      <vt:lpstr>Word.Picture.8</vt:lpstr>
      <vt:lpstr>Equation.3</vt:lpstr>
      <vt:lpstr>Equation.3</vt:lpstr>
      <vt:lpstr>Equation.3</vt:lpstr>
      <vt:lpstr>Equation.DSMT4</vt:lpstr>
      <vt:lpstr>Equation.DSMT4</vt:lpstr>
      <vt:lpstr>Equation.DSMT4</vt:lpstr>
      <vt:lpstr>Equation.KSEE3</vt:lpstr>
      <vt:lpstr>Equation.DSMT4</vt:lpstr>
      <vt:lpstr>Word.Picture.8</vt:lpstr>
      <vt:lpstr>Equation.KSEE3</vt:lpstr>
      <vt:lpstr>Equation.KSEE3</vt:lpstr>
      <vt:lpstr>Equation.KSEE3</vt:lpstr>
      <vt:lpstr>Word.Picture.8</vt:lpstr>
      <vt:lpstr>Equation.DSMT4</vt:lpstr>
      <vt:lpstr>PowerPoint 演示文稿</vt:lpstr>
      <vt:lpstr>第9章 D/A和A/D转换电路</vt:lpstr>
      <vt:lpstr>PowerPoint 演示文稿</vt:lpstr>
      <vt:lpstr>PowerPoint 演示文稿</vt:lpstr>
      <vt:lpstr>9.2.1 D/A转换器的基本原理</vt:lpstr>
      <vt:lpstr>PowerPoint 演示文稿</vt:lpstr>
      <vt:lpstr>PowerPoint 演示文稿</vt:lpstr>
      <vt:lpstr>PowerPoint 演示文稿</vt:lpstr>
      <vt:lpstr>9.2.2 权电阻网络D/A转换器</vt:lpstr>
      <vt:lpstr>PowerPoint 演示文稿</vt:lpstr>
      <vt:lpstr>9.2.3 倒T形电阻网络D/A转换器</vt:lpstr>
      <vt:lpstr>PowerPoint 演示文稿</vt:lpstr>
      <vt:lpstr>PowerPoint 演示文稿</vt:lpstr>
      <vt:lpstr>PowerPoint 演示文稿</vt:lpstr>
      <vt:lpstr>PowerPoint 演示文稿</vt:lpstr>
      <vt:lpstr>9.2.4 权电流型D/A转换器</vt:lpstr>
      <vt:lpstr>PowerPoint 演示文稿</vt:lpstr>
      <vt:lpstr>PowerPoint 演示文稿</vt:lpstr>
      <vt:lpstr>9.2.5 D/A转换器的主要技术指标</vt:lpstr>
      <vt:lpstr>PowerPoint 演示文稿</vt:lpstr>
      <vt:lpstr>PowerPoint 演示文稿</vt:lpstr>
      <vt:lpstr>PowerPoint 演示文稿</vt:lpstr>
      <vt:lpstr>PowerPoint 演示文稿</vt:lpstr>
      <vt:lpstr>PowerPoint 演示文稿</vt:lpstr>
      <vt:lpstr>9.2.6 集成D/A转换器</vt:lpstr>
      <vt:lpstr>PowerPoint 演示文稿</vt:lpstr>
      <vt:lpstr>PowerPoint 演示文稿</vt:lpstr>
      <vt:lpstr>PowerPoint 演示文稿</vt:lpstr>
      <vt:lpstr>PowerPoint 演示文稿</vt:lpstr>
      <vt:lpstr>9.3.1 A/D转换的一般工作过程</vt:lpstr>
      <vt:lpstr>PowerPoint 演示文稿</vt:lpstr>
      <vt:lpstr>PowerPoint 演示文稿</vt:lpstr>
      <vt:lpstr>PowerPoint 演示文稿</vt:lpstr>
      <vt:lpstr>PowerPoint 演示文稿</vt:lpstr>
      <vt:lpstr>PowerPoint 演示文稿</vt:lpstr>
      <vt:lpstr>PowerPoint 演示文稿</vt:lpstr>
      <vt:lpstr>9.3.2 并行比较型A/D转换器</vt:lpstr>
      <vt:lpstr>PowerPoint 演示文稿</vt:lpstr>
      <vt:lpstr>PowerPoint 演示文稿</vt:lpstr>
      <vt:lpstr>9.3.3 逐次比较型A/D转换器</vt:lpstr>
      <vt:lpstr>PowerPoint 演示文稿</vt:lpstr>
      <vt:lpstr>PowerPoint 演示文稿</vt:lpstr>
      <vt:lpstr>9.3.4 双积分型A/D转换器</vt:lpstr>
      <vt:lpstr>PowerPoint 演示文稿</vt:lpstr>
      <vt:lpstr>PowerPoint 演示文稿</vt:lpstr>
      <vt:lpstr>PowerPoint 演示文稿</vt:lpstr>
      <vt:lpstr>PowerPoint 演示文稿</vt:lpstr>
      <vt:lpstr>9.3.5 A/D转换器的主要技术指标</vt:lpstr>
      <vt:lpstr>9.3.6 集成A/D转换器及其应用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Guild Design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ThemeGallery PowerTemplate</dc:title>
  <dc:creator>www.themegallery.com</dc:creator>
  <cp:lastModifiedBy>WPS_1632966238</cp:lastModifiedBy>
  <cp:revision>378</cp:revision>
  <dcterms:created xsi:type="dcterms:W3CDTF">2007-02-20T07:59:00Z</dcterms:created>
  <dcterms:modified xsi:type="dcterms:W3CDTF">2022-03-21T06:21:55Z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60BDCE4053A149B7A8D624618A958EB5</vt:lpwstr>
  </property>
  <property fmtid="{D5CDD505-2E9C-101B-9397-08002B2CF9AE}" pid="3" name="KSOProductBuildVer">
    <vt:lpwstr>2052-11.1.0.11365</vt:lpwstr>
  </property>
</Properties>
</file>
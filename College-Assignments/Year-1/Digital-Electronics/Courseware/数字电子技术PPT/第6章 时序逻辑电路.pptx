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handoutMasterIdLst>
    <p:handoutMasterId r:id="rId101"/>
  </p:handoutMasterIdLst>
  <p:sldIdLst>
    <p:sldId id="267" r:id="rId3"/>
    <p:sldId id="268" r:id="rId4"/>
    <p:sldId id="269" r:id="rId5"/>
    <p:sldId id="270" r:id="rId6"/>
    <p:sldId id="271" r:id="rId7"/>
    <p:sldId id="272" r:id="rId8"/>
    <p:sldId id="274" r:id="rId9"/>
    <p:sldId id="273" r:id="rId10"/>
    <p:sldId id="275" r:id="rId11"/>
    <p:sldId id="276" r:id="rId12"/>
    <p:sldId id="277" r:id="rId13"/>
    <p:sldId id="279" r:id="rId14"/>
    <p:sldId id="280" r:id="rId15"/>
    <p:sldId id="281" r:id="rId16"/>
    <p:sldId id="282" r:id="rId17"/>
    <p:sldId id="283" r:id="rId19"/>
    <p:sldId id="284" r:id="rId20"/>
    <p:sldId id="285" r:id="rId21"/>
    <p:sldId id="286" r:id="rId22"/>
    <p:sldId id="287" r:id="rId23"/>
    <p:sldId id="288" r:id="rId24"/>
    <p:sldId id="289" r:id="rId25"/>
    <p:sldId id="290" r:id="rId26"/>
    <p:sldId id="393" r:id="rId27"/>
    <p:sldId id="298" r:id="rId28"/>
    <p:sldId id="291" r:id="rId29"/>
    <p:sldId id="292" r:id="rId30"/>
    <p:sldId id="293" r:id="rId31"/>
    <p:sldId id="294" r:id="rId32"/>
    <p:sldId id="295" r:id="rId33"/>
    <p:sldId id="296" r:id="rId34"/>
    <p:sldId id="297" r:id="rId35"/>
    <p:sldId id="310" r:id="rId36"/>
    <p:sldId id="309" r:id="rId37"/>
    <p:sldId id="308" r:id="rId38"/>
    <p:sldId id="306" r:id="rId39"/>
    <p:sldId id="307" r:id="rId40"/>
    <p:sldId id="319" r:id="rId41"/>
    <p:sldId id="317" r:id="rId42"/>
    <p:sldId id="318" r:id="rId43"/>
    <p:sldId id="316" r:id="rId44"/>
    <p:sldId id="321" r:id="rId45"/>
    <p:sldId id="322" r:id="rId46"/>
    <p:sldId id="324" r:id="rId47"/>
    <p:sldId id="325" r:id="rId48"/>
    <p:sldId id="326" r:id="rId49"/>
    <p:sldId id="327" r:id="rId50"/>
    <p:sldId id="328" r:id="rId51"/>
    <p:sldId id="329" r:id="rId52"/>
    <p:sldId id="330" r:id="rId53"/>
    <p:sldId id="331" r:id="rId54"/>
    <p:sldId id="337" r:id="rId55"/>
    <p:sldId id="332" r:id="rId56"/>
    <p:sldId id="333" r:id="rId57"/>
    <p:sldId id="323" r:id="rId58"/>
    <p:sldId id="320" r:id="rId59"/>
    <p:sldId id="338" r:id="rId60"/>
    <p:sldId id="347" r:id="rId61"/>
    <p:sldId id="348" r:id="rId62"/>
    <p:sldId id="351" r:id="rId63"/>
    <p:sldId id="342" r:id="rId64"/>
    <p:sldId id="339" r:id="rId65"/>
    <p:sldId id="341" r:id="rId66"/>
    <p:sldId id="340" r:id="rId67"/>
    <p:sldId id="356" r:id="rId68"/>
    <p:sldId id="357" r:id="rId69"/>
    <p:sldId id="358" r:id="rId70"/>
    <p:sldId id="359" r:id="rId71"/>
    <p:sldId id="360" r:id="rId72"/>
    <p:sldId id="361" r:id="rId73"/>
    <p:sldId id="362" r:id="rId74"/>
    <p:sldId id="363" r:id="rId75"/>
    <p:sldId id="364" r:id="rId76"/>
    <p:sldId id="365" r:id="rId77"/>
    <p:sldId id="366" r:id="rId78"/>
    <p:sldId id="367" r:id="rId79"/>
    <p:sldId id="368" r:id="rId80"/>
    <p:sldId id="369" r:id="rId81"/>
    <p:sldId id="370" r:id="rId82"/>
    <p:sldId id="373" r:id="rId83"/>
    <p:sldId id="371" r:id="rId84"/>
    <p:sldId id="375" r:id="rId85"/>
    <p:sldId id="377" r:id="rId86"/>
    <p:sldId id="379" r:id="rId87"/>
    <p:sldId id="380" r:id="rId88"/>
    <p:sldId id="381" r:id="rId89"/>
    <p:sldId id="378" r:id="rId90"/>
    <p:sldId id="376" r:id="rId91"/>
    <p:sldId id="374" r:id="rId92"/>
    <p:sldId id="382" r:id="rId93"/>
    <p:sldId id="383" r:id="rId94"/>
    <p:sldId id="385" r:id="rId95"/>
    <p:sldId id="384" r:id="rId96"/>
    <p:sldId id="386" r:id="rId97"/>
    <p:sldId id="387" r:id="rId98"/>
    <p:sldId id="388" r:id="rId99"/>
    <p:sldId id="389" r:id="rId100"/>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92D0E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71" d="100"/>
          <a:sy n="71" d="100"/>
        </p:scale>
        <p:origin x="-756" y="-90"/>
      </p:cViewPr>
      <p:guideLst>
        <p:guide orient="horz" pos="2147"/>
        <p:guide pos="2836"/>
      </p:guideLst>
    </p:cSldViewPr>
  </p:slideViewPr>
  <p:notesTextViewPr>
    <p:cViewPr>
      <p:scale>
        <a:sx n="100" d="100"/>
        <a:sy n="100" d="100"/>
      </p:scale>
      <p:origin x="0" y="0"/>
    </p:cViewPr>
  </p:notesTextViewPr>
  <p:sorterViewPr showFormatting="0">
    <p:cViewPr>
      <p:scale>
        <a:sx n="66" d="100"/>
        <a:sy n="66" d="100"/>
      </p:scale>
      <p:origin x="0" y="696"/>
    </p:cViewPr>
  </p:sorter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4" Type="http://schemas.openxmlformats.org/officeDocument/2006/relationships/tableStyles" Target="tableStyles.xml"/><Relationship Id="rId103" Type="http://schemas.openxmlformats.org/officeDocument/2006/relationships/viewProps" Target="viewProps.xml"/><Relationship Id="rId102" Type="http://schemas.openxmlformats.org/officeDocument/2006/relationships/presProps" Target="presProps.xml"/><Relationship Id="rId101" Type="http://schemas.openxmlformats.org/officeDocument/2006/relationships/handoutMaster" Target="handoutMasters/handoutMaster1.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20.wmf"/><Relationship Id="rId4" Type="http://schemas.openxmlformats.org/officeDocument/2006/relationships/image" Target="../media/image19.wmf"/><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23.wmf"/><Relationship Id="rId7" Type="http://schemas.openxmlformats.org/officeDocument/2006/relationships/image" Target="../media/image22.wmf"/><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25.wmf"/><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7" Type="http://schemas.openxmlformats.org/officeDocument/2006/relationships/image" Target="../media/image36.wmf"/><Relationship Id="rId6"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3.wmf"/><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45.wmf"/><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emf"/><Relationship Id="rId1" Type="http://schemas.openxmlformats.org/officeDocument/2006/relationships/image" Target="../media/image82.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image" Target="../media/image8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93.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wmf"/></Relationships>
</file>

<file path=ppt/drawings/_rels/vmlDrawing13.vml.rels><?xml version="1.0" encoding="UTF-8" standalone="yes"?>
<Relationships xmlns="http://schemas.openxmlformats.org/package/2006/relationships"><Relationship Id="rId7" Type="http://schemas.openxmlformats.org/officeDocument/2006/relationships/image" Target="../media/image110.wmf"/><Relationship Id="rId6" Type="http://schemas.openxmlformats.org/officeDocument/2006/relationships/image" Target="../media/image109.wmf"/><Relationship Id="rId5" Type="http://schemas.openxmlformats.org/officeDocument/2006/relationships/image" Target="../media/image108.wmf"/><Relationship Id="rId4" Type="http://schemas.openxmlformats.org/officeDocument/2006/relationships/image" Target="../media/image107.wmf"/><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w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114.wmf"/><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11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15.wmf"/></Relationships>
</file>

<file path=ppt/drawings/_rels/vmlDrawing16.vml.rels><?xml version="1.0" encoding="UTF-8" standalone="yes"?>
<Relationships xmlns="http://schemas.openxmlformats.org/package/2006/relationships"><Relationship Id="rId4" Type="http://schemas.openxmlformats.org/officeDocument/2006/relationships/image" Target="../media/image142.wmf"/><Relationship Id="rId3" Type="http://schemas.openxmlformats.org/officeDocument/2006/relationships/image" Target="../media/image141.wmf"/><Relationship Id="rId2" Type="http://schemas.openxmlformats.org/officeDocument/2006/relationships/image" Target="../media/image140.wmf"/><Relationship Id="rId1" Type="http://schemas.openxmlformats.org/officeDocument/2006/relationships/image" Target="../media/image13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D4CE3B78-4C24-40AA-B3C7-9D99C1C50DA8}"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ea typeface="+mn-ea"/>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EBB3A8F-C92E-4D35-9C30-EEB82B447B3F}"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1" Type="http://schemas.openxmlformats.org/officeDocument/2006/relationships/image" Target="../media/image10.png"/><Relationship Id="rId10" Type="http://schemas.openxmlformats.org/officeDocument/2006/relationships/image" Target="../media/image9.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8" name="Rectangle 127"/>
          <p:cNvSpPr>
            <a:spLocks noChangeArrowheads="1"/>
          </p:cNvSpPr>
          <p:nvPr/>
        </p:nvSpPr>
        <p:spPr bwMode="gray">
          <a:xfrm>
            <a:off x="0" y="0"/>
            <a:ext cx="9144000" cy="18288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2051" name="Group 15"/>
          <p:cNvGrpSpPr/>
          <p:nvPr/>
        </p:nvGrpSpPr>
        <p:grpSpPr>
          <a:xfrm>
            <a:off x="152400" y="381000"/>
            <a:ext cx="6838950" cy="3365500"/>
            <a:chOff x="664" y="1951"/>
            <a:chExt cx="4308" cy="2120"/>
          </a:xfrm>
        </p:grpSpPr>
        <p:sp>
          <p:nvSpPr>
            <p:cNvPr id="2066" name="Freeform 16"/>
            <p:cNvSpPr/>
            <p:nvPr/>
          </p:nvSpPr>
          <p:spPr>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w="12700">
              <a:noFill/>
            </a:ln>
          </p:spPr>
          <p:txBody>
            <a:bodyPr/>
            <a:p>
              <a:endParaRPr lang="zh-CN" altLang="en-US"/>
            </a:p>
          </p:txBody>
        </p:sp>
        <p:sp>
          <p:nvSpPr>
            <p:cNvPr id="2067" name="Freeform 17"/>
            <p:cNvSpPr/>
            <p:nvPr/>
          </p:nvSpPr>
          <p:spPr>
            <a:xfrm>
              <a:off x="703" y="2230"/>
              <a:ext cx="34" cy="28"/>
            </a:xfrm>
            <a:custGeom>
              <a:avLst/>
              <a:gdLst/>
              <a:ahLst/>
              <a:cxnLst>
                <a:cxn ang="0">
                  <a:pos x="16" y="4"/>
                </a:cxn>
                <a:cxn ang="0">
                  <a:pos x="0" y="22"/>
                </a:cxn>
                <a:cxn ang="0">
                  <a:pos x="22" y="38"/>
                </a:cxn>
                <a:cxn ang="0">
                  <a:pos x="46" y="26"/>
                </a:cxn>
                <a:cxn ang="0">
                  <a:pos x="30" y="0"/>
                </a:cxn>
                <a:cxn ang="0">
                  <a:pos x="16" y="4"/>
                </a:cxn>
              </a:cxnLst>
              <a:pathLst>
                <a:path w="46" h="38">
                  <a:moveTo>
                    <a:pt x="16" y="4"/>
                  </a:moveTo>
                  <a:lnTo>
                    <a:pt x="0" y="22"/>
                  </a:lnTo>
                  <a:lnTo>
                    <a:pt x="22" y="38"/>
                  </a:lnTo>
                  <a:lnTo>
                    <a:pt x="46" y="26"/>
                  </a:lnTo>
                  <a:lnTo>
                    <a:pt x="30" y="0"/>
                  </a:lnTo>
                  <a:lnTo>
                    <a:pt x="16" y="4"/>
                  </a:lnTo>
                  <a:close/>
                </a:path>
              </a:pathLst>
            </a:custGeom>
            <a:solidFill>
              <a:srgbClr val="FEFEFE">
                <a:alpha val="30196"/>
              </a:srgbClr>
            </a:solidFill>
            <a:ln w="12700">
              <a:noFill/>
            </a:ln>
          </p:spPr>
          <p:txBody>
            <a:bodyPr/>
            <a:p>
              <a:endParaRPr lang="zh-CN" altLang="en-US"/>
            </a:p>
          </p:txBody>
        </p:sp>
        <p:sp>
          <p:nvSpPr>
            <p:cNvPr id="2068" name="Freeform 18"/>
            <p:cNvSpPr/>
            <p:nvPr/>
          </p:nvSpPr>
          <p:spPr>
            <a:xfrm>
              <a:off x="1010" y="2353"/>
              <a:ext cx="39" cy="32"/>
            </a:xfrm>
            <a:custGeom>
              <a:avLst/>
              <a:gdLst/>
              <a:ahLst/>
              <a:cxnLst>
                <a:cxn ang="0">
                  <a:pos x="12" y="0"/>
                </a:cxn>
                <a:cxn ang="0">
                  <a:pos x="26" y="44"/>
                </a:cxn>
                <a:cxn ang="0">
                  <a:pos x="42" y="42"/>
                </a:cxn>
                <a:cxn ang="0">
                  <a:pos x="38" y="16"/>
                </a:cxn>
                <a:cxn ang="0">
                  <a:pos x="26" y="2"/>
                </a:cxn>
                <a:cxn ang="0">
                  <a:pos x="12" y="0"/>
                </a:cxn>
              </a:cxnLst>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w="12700">
              <a:noFill/>
            </a:ln>
          </p:spPr>
          <p:txBody>
            <a:bodyPr/>
            <a:p>
              <a:endParaRPr lang="zh-CN" altLang="en-US"/>
            </a:p>
          </p:txBody>
        </p:sp>
        <p:sp>
          <p:nvSpPr>
            <p:cNvPr id="2069" name="Freeform 19"/>
            <p:cNvSpPr/>
            <p:nvPr/>
          </p:nvSpPr>
          <p:spPr>
            <a:xfrm>
              <a:off x="1792" y="2409"/>
              <a:ext cx="98" cy="74"/>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w="12700">
              <a:noFill/>
            </a:ln>
          </p:spPr>
          <p:txBody>
            <a:bodyPr/>
            <a:p>
              <a:endParaRPr lang="zh-CN" altLang="en-US"/>
            </a:p>
          </p:txBody>
        </p:sp>
        <p:sp>
          <p:nvSpPr>
            <p:cNvPr id="2070" name="Freeform 20"/>
            <p:cNvSpPr/>
            <p:nvPr/>
          </p:nvSpPr>
          <p:spPr>
            <a:xfrm>
              <a:off x="1318" y="2793"/>
              <a:ext cx="158" cy="84"/>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w="12700">
              <a:noFill/>
            </a:ln>
          </p:spPr>
          <p:txBody>
            <a:bodyPr/>
            <a:p>
              <a:endParaRPr lang="zh-CN" altLang="en-US"/>
            </a:p>
          </p:txBody>
        </p:sp>
        <p:sp>
          <p:nvSpPr>
            <p:cNvPr id="2071" name="Freeform 21"/>
            <p:cNvSpPr/>
            <p:nvPr/>
          </p:nvSpPr>
          <p:spPr>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w="12700">
              <a:noFill/>
            </a:ln>
          </p:spPr>
          <p:txBody>
            <a:bodyPr/>
            <a:p>
              <a:endParaRPr lang="zh-CN" altLang="en-US"/>
            </a:p>
          </p:txBody>
        </p:sp>
        <p:sp>
          <p:nvSpPr>
            <p:cNvPr id="2072" name="Freeform 22"/>
            <p:cNvSpPr/>
            <p:nvPr/>
          </p:nvSpPr>
          <p:spPr>
            <a:xfrm>
              <a:off x="1553" y="2883"/>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73" name="Freeform 23"/>
            <p:cNvSpPr/>
            <p:nvPr/>
          </p:nvSpPr>
          <p:spPr>
            <a:xfrm>
              <a:off x="1609" y="2886"/>
              <a:ext cx="12" cy="25"/>
            </a:xfrm>
            <a:custGeom>
              <a:avLst/>
              <a:gdLst/>
              <a:ahLst/>
              <a:cxnLst>
                <a:cxn ang="0">
                  <a:pos x="14" y="0"/>
                </a:cxn>
                <a:cxn ang="0">
                  <a:pos x="0" y="14"/>
                </a:cxn>
                <a:cxn ang="0">
                  <a:pos x="16" y="34"/>
                </a:cxn>
                <a:cxn ang="0">
                  <a:pos x="12" y="18"/>
                </a:cxn>
                <a:cxn ang="0">
                  <a:pos x="16" y="6"/>
                </a:cxn>
                <a:cxn ang="0">
                  <a:pos x="14" y="0"/>
                </a:cxn>
              </a:cxnLst>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w="12700">
              <a:noFill/>
            </a:ln>
          </p:spPr>
          <p:txBody>
            <a:bodyPr/>
            <a:p>
              <a:endParaRPr lang="zh-CN" altLang="en-US"/>
            </a:p>
          </p:txBody>
        </p:sp>
        <p:sp>
          <p:nvSpPr>
            <p:cNvPr id="2074" name="Freeform 24"/>
            <p:cNvSpPr/>
            <p:nvPr/>
          </p:nvSpPr>
          <p:spPr>
            <a:xfrm>
              <a:off x="1426" y="2040"/>
              <a:ext cx="180" cy="88"/>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w="12700">
              <a:noFill/>
            </a:ln>
          </p:spPr>
          <p:txBody>
            <a:bodyPr/>
            <a:p>
              <a:endParaRPr lang="zh-CN" altLang="en-US"/>
            </a:p>
          </p:txBody>
        </p:sp>
        <p:sp>
          <p:nvSpPr>
            <p:cNvPr id="2075" name="Freeform 25"/>
            <p:cNvSpPr/>
            <p:nvPr/>
          </p:nvSpPr>
          <p:spPr>
            <a:xfrm>
              <a:off x="1506" y="1999"/>
              <a:ext cx="146" cy="60"/>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w="12700">
              <a:noFill/>
            </a:ln>
          </p:spPr>
          <p:txBody>
            <a:bodyPr/>
            <a:p>
              <a:endParaRPr lang="zh-CN" altLang="en-US"/>
            </a:p>
          </p:txBody>
        </p:sp>
        <p:sp>
          <p:nvSpPr>
            <p:cNvPr id="2076" name="Freeform 26"/>
            <p:cNvSpPr/>
            <p:nvPr/>
          </p:nvSpPr>
          <p:spPr>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w="12700">
              <a:noFill/>
            </a:ln>
          </p:spPr>
          <p:txBody>
            <a:bodyPr/>
            <a:p>
              <a:endParaRPr lang="zh-CN" altLang="en-US"/>
            </a:p>
          </p:txBody>
        </p:sp>
        <p:sp>
          <p:nvSpPr>
            <p:cNvPr id="2077" name="Freeform 27"/>
            <p:cNvSpPr/>
            <p:nvPr/>
          </p:nvSpPr>
          <p:spPr>
            <a:xfrm>
              <a:off x="1709" y="1987"/>
              <a:ext cx="44" cy="37"/>
            </a:xfrm>
            <a:custGeom>
              <a:avLst/>
              <a:gdLst/>
              <a:ahLst/>
              <a:cxnLst>
                <a:cxn ang="0">
                  <a:pos x="26" y="0"/>
                </a:cxn>
                <a:cxn ang="0">
                  <a:pos x="0" y="10"/>
                </a:cxn>
                <a:cxn ang="0">
                  <a:pos x="30" y="40"/>
                </a:cxn>
                <a:cxn ang="0">
                  <a:pos x="48" y="50"/>
                </a:cxn>
                <a:cxn ang="0">
                  <a:pos x="58" y="28"/>
                </a:cxn>
                <a:cxn ang="0">
                  <a:pos x="44" y="8"/>
                </a:cxn>
                <a:cxn ang="0">
                  <a:pos x="26" y="0"/>
                </a:cxn>
              </a:cxnLst>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w="12700">
              <a:noFill/>
            </a:ln>
          </p:spPr>
          <p:txBody>
            <a:bodyPr/>
            <a:p>
              <a:endParaRPr lang="zh-CN" altLang="en-US"/>
            </a:p>
          </p:txBody>
        </p:sp>
        <p:sp>
          <p:nvSpPr>
            <p:cNvPr id="2078" name="Freeform 28"/>
            <p:cNvSpPr/>
            <p:nvPr/>
          </p:nvSpPr>
          <p:spPr>
            <a:xfrm>
              <a:off x="1625" y="2057"/>
              <a:ext cx="65" cy="42"/>
            </a:xfrm>
            <a:custGeom>
              <a:avLst/>
              <a:gdLst/>
              <a:ahLst/>
              <a:cxnLst>
                <a:cxn ang="0">
                  <a:pos x="44" y="7"/>
                </a:cxn>
                <a:cxn ang="0">
                  <a:pos x="24" y="25"/>
                </a:cxn>
                <a:cxn ang="0">
                  <a:pos x="4" y="27"/>
                </a:cxn>
                <a:cxn ang="0">
                  <a:pos x="16" y="57"/>
                </a:cxn>
                <a:cxn ang="0">
                  <a:pos x="74" y="35"/>
                </a:cxn>
                <a:cxn ang="0">
                  <a:pos x="86" y="17"/>
                </a:cxn>
                <a:cxn ang="0">
                  <a:pos x="56" y="7"/>
                </a:cxn>
                <a:cxn ang="0">
                  <a:pos x="44" y="7"/>
                </a:cxn>
              </a:cxnLst>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w="12700">
              <a:noFill/>
            </a:ln>
          </p:spPr>
          <p:txBody>
            <a:bodyPr/>
            <a:p>
              <a:endParaRPr lang="zh-CN" altLang="en-US"/>
            </a:p>
          </p:txBody>
        </p:sp>
        <p:sp>
          <p:nvSpPr>
            <p:cNvPr id="2079" name="Freeform 29"/>
            <p:cNvSpPr/>
            <p:nvPr/>
          </p:nvSpPr>
          <p:spPr>
            <a:xfrm>
              <a:off x="1693" y="2065"/>
              <a:ext cx="54" cy="25"/>
            </a:xfrm>
            <a:custGeom>
              <a:avLst/>
              <a:gdLst/>
              <a:ahLst/>
              <a:cxnLst>
                <a:cxn ang="0">
                  <a:pos x="40" y="0"/>
                </a:cxn>
                <a:cxn ang="0">
                  <a:pos x="10" y="16"/>
                </a:cxn>
                <a:cxn ang="0">
                  <a:pos x="24" y="34"/>
                </a:cxn>
                <a:cxn ang="0">
                  <a:pos x="52" y="28"/>
                </a:cxn>
                <a:cxn ang="0">
                  <a:pos x="64" y="20"/>
                </a:cxn>
                <a:cxn ang="0">
                  <a:pos x="40" y="0"/>
                </a:cxn>
              </a:cxnLst>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w="12700">
              <a:noFill/>
            </a:ln>
          </p:spPr>
          <p:txBody>
            <a:bodyPr/>
            <a:p>
              <a:endParaRPr lang="zh-CN" altLang="en-US"/>
            </a:p>
          </p:txBody>
        </p:sp>
        <p:sp>
          <p:nvSpPr>
            <p:cNvPr id="2080" name="Freeform 30"/>
            <p:cNvSpPr/>
            <p:nvPr/>
          </p:nvSpPr>
          <p:spPr>
            <a:xfrm>
              <a:off x="1664" y="2029"/>
              <a:ext cx="64" cy="34"/>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w="12700">
              <a:noFill/>
            </a:ln>
          </p:spPr>
          <p:txBody>
            <a:bodyPr/>
            <a:p>
              <a:endParaRPr lang="zh-CN" altLang="en-US"/>
            </a:p>
          </p:txBody>
        </p:sp>
        <p:sp>
          <p:nvSpPr>
            <p:cNvPr id="2081" name="Freeform 31"/>
            <p:cNvSpPr/>
            <p:nvPr/>
          </p:nvSpPr>
          <p:spPr>
            <a:xfrm>
              <a:off x="1637" y="1997"/>
              <a:ext cx="44" cy="24"/>
            </a:xfrm>
            <a:custGeom>
              <a:avLst/>
              <a:gdLst/>
              <a:ahLst/>
              <a:cxnLst>
                <a:cxn ang="0">
                  <a:pos x="16" y="4"/>
                </a:cxn>
                <a:cxn ang="0">
                  <a:pos x="0" y="18"/>
                </a:cxn>
                <a:cxn ang="0">
                  <a:pos x="20" y="28"/>
                </a:cxn>
                <a:cxn ang="0">
                  <a:pos x="28" y="20"/>
                </a:cxn>
                <a:cxn ang="0">
                  <a:pos x="52" y="12"/>
                </a:cxn>
                <a:cxn ang="0">
                  <a:pos x="44" y="0"/>
                </a:cxn>
                <a:cxn ang="0">
                  <a:pos x="16" y="4"/>
                </a:cxn>
              </a:cxnLst>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w="12700">
              <a:noFill/>
            </a:ln>
          </p:spPr>
          <p:txBody>
            <a:bodyPr/>
            <a:p>
              <a:endParaRPr lang="zh-CN" altLang="en-US"/>
            </a:p>
          </p:txBody>
        </p:sp>
        <p:sp>
          <p:nvSpPr>
            <p:cNvPr id="2082" name="Freeform 32"/>
            <p:cNvSpPr/>
            <p:nvPr/>
          </p:nvSpPr>
          <p:spPr>
            <a:xfrm>
              <a:off x="1751" y="2000"/>
              <a:ext cx="114" cy="77"/>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w="12700">
              <a:noFill/>
            </a:ln>
          </p:spPr>
          <p:txBody>
            <a:bodyPr/>
            <a:p>
              <a:endParaRPr lang="zh-CN" altLang="en-US"/>
            </a:p>
          </p:txBody>
        </p:sp>
        <p:sp>
          <p:nvSpPr>
            <p:cNvPr id="2083" name="Freeform 33"/>
            <p:cNvSpPr/>
            <p:nvPr/>
          </p:nvSpPr>
          <p:spPr>
            <a:xfrm>
              <a:off x="664" y="2245"/>
              <a:ext cx="25" cy="15"/>
            </a:xfrm>
            <a:custGeom>
              <a:avLst/>
              <a:gdLst/>
              <a:ahLst/>
              <a:cxnLst>
                <a:cxn ang="0">
                  <a:pos x="34" y="0"/>
                </a:cxn>
                <a:cxn ang="0">
                  <a:pos x="24" y="20"/>
                </a:cxn>
                <a:cxn ang="0">
                  <a:pos x="4" y="18"/>
                </a:cxn>
                <a:cxn ang="0">
                  <a:pos x="4" y="6"/>
                </a:cxn>
                <a:cxn ang="0">
                  <a:pos x="34" y="0"/>
                </a:cxn>
              </a:cxnLst>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w="12700">
              <a:noFill/>
            </a:ln>
          </p:spPr>
          <p:txBody>
            <a:bodyPr/>
            <a:p>
              <a:endParaRPr lang="zh-CN" altLang="en-US"/>
            </a:p>
          </p:txBody>
        </p:sp>
        <p:sp>
          <p:nvSpPr>
            <p:cNvPr id="2084" name="Freeform 34"/>
            <p:cNvSpPr/>
            <p:nvPr/>
          </p:nvSpPr>
          <p:spPr>
            <a:xfrm>
              <a:off x="1421" y="2756"/>
              <a:ext cx="16"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5" name="Freeform 35"/>
            <p:cNvSpPr/>
            <p:nvPr/>
          </p:nvSpPr>
          <p:spPr>
            <a:xfrm>
              <a:off x="1424" y="2781"/>
              <a:ext cx="16"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6" name="Freeform 36"/>
            <p:cNvSpPr/>
            <p:nvPr/>
          </p:nvSpPr>
          <p:spPr>
            <a:xfrm>
              <a:off x="1628" y="2913"/>
              <a:ext cx="15"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7" name="Freeform 37"/>
            <p:cNvSpPr/>
            <p:nvPr/>
          </p:nvSpPr>
          <p:spPr>
            <a:xfrm>
              <a:off x="1752" y="2429"/>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88" name="Freeform 38"/>
            <p:cNvSpPr/>
            <p:nvPr/>
          </p:nvSpPr>
          <p:spPr>
            <a:xfrm>
              <a:off x="1652" y="2224"/>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89" name="Freeform 39"/>
            <p:cNvSpPr/>
            <p:nvPr/>
          </p:nvSpPr>
          <p:spPr>
            <a:xfrm>
              <a:off x="1717" y="2045"/>
              <a:ext cx="39"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90" name="Freeform 40"/>
            <p:cNvSpPr/>
            <p:nvPr/>
          </p:nvSpPr>
          <p:spPr>
            <a:xfrm>
              <a:off x="1780" y="2153"/>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91" name="Freeform 41"/>
            <p:cNvSpPr/>
            <p:nvPr/>
          </p:nvSpPr>
          <p:spPr>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w="12700">
              <a:noFill/>
            </a:ln>
          </p:spPr>
          <p:txBody>
            <a:bodyPr/>
            <a:p>
              <a:endParaRPr lang="zh-CN" altLang="en-US"/>
            </a:p>
          </p:txBody>
        </p:sp>
        <p:sp>
          <p:nvSpPr>
            <p:cNvPr id="2092" name="Freeform 42"/>
            <p:cNvSpPr/>
            <p:nvPr/>
          </p:nvSpPr>
          <p:spPr>
            <a:xfrm>
              <a:off x="2009" y="2135"/>
              <a:ext cx="39" cy="24"/>
            </a:xfrm>
            <a:custGeom>
              <a:avLst/>
              <a:gdLst/>
              <a:ahLst/>
              <a:cxnLst>
                <a:cxn ang="0">
                  <a:pos x="34" y="0"/>
                </a:cxn>
                <a:cxn ang="0">
                  <a:pos x="8" y="20"/>
                </a:cxn>
                <a:cxn ang="0">
                  <a:pos x="24" y="32"/>
                </a:cxn>
                <a:cxn ang="0">
                  <a:pos x="42" y="30"/>
                </a:cxn>
                <a:cxn ang="0">
                  <a:pos x="34" y="0"/>
                </a:cxn>
              </a:cxnLst>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w="12700">
              <a:noFill/>
            </a:ln>
          </p:spPr>
          <p:txBody>
            <a:bodyPr/>
            <a:p>
              <a:endParaRPr lang="zh-CN" altLang="en-US"/>
            </a:p>
          </p:txBody>
        </p:sp>
        <p:sp>
          <p:nvSpPr>
            <p:cNvPr id="2093" name="Freeform 43"/>
            <p:cNvSpPr/>
            <p:nvPr/>
          </p:nvSpPr>
          <p:spPr>
            <a:xfrm>
              <a:off x="2292" y="2201"/>
              <a:ext cx="128"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w="12700">
              <a:noFill/>
            </a:ln>
          </p:spPr>
          <p:txBody>
            <a:bodyPr/>
            <a:p>
              <a:endParaRPr lang="zh-CN" altLang="en-US"/>
            </a:p>
          </p:txBody>
        </p:sp>
        <p:sp>
          <p:nvSpPr>
            <p:cNvPr id="2094" name="Freeform 44"/>
            <p:cNvSpPr/>
            <p:nvPr/>
          </p:nvSpPr>
          <p:spPr>
            <a:xfrm>
              <a:off x="2393" y="2038"/>
              <a:ext cx="39" cy="24"/>
            </a:xfrm>
            <a:custGeom>
              <a:avLst/>
              <a:gdLst/>
              <a:ahLst/>
              <a:cxnLst>
                <a:cxn ang="0">
                  <a:pos x="34" y="0"/>
                </a:cxn>
                <a:cxn ang="0">
                  <a:pos x="8" y="20"/>
                </a:cxn>
                <a:cxn ang="0">
                  <a:pos x="24" y="32"/>
                </a:cxn>
                <a:cxn ang="0">
                  <a:pos x="42" y="30"/>
                </a:cxn>
                <a:cxn ang="0">
                  <a:pos x="34" y="0"/>
                </a:cxn>
              </a:cxnLst>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w="12700">
              <a:noFill/>
            </a:ln>
          </p:spPr>
          <p:txBody>
            <a:bodyPr/>
            <a:p>
              <a:endParaRPr lang="zh-CN" altLang="en-US"/>
            </a:p>
          </p:txBody>
        </p:sp>
        <p:sp>
          <p:nvSpPr>
            <p:cNvPr id="2095" name="Freeform 45"/>
            <p:cNvSpPr/>
            <p:nvPr/>
          </p:nvSpPr>
          <p:spPr>
            <a:xfrm>
              <a:off x="2662" y="2006"/>
              <a:ext cx="155" cy="63"/>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w="12700">
              <a:noFill/>
            </a:ln>
          </p:spPr>
          <p:txBody>
            <a:bodyPr/>
            <a:p>
              <a:endParaRPr lang="zh-CN" altLang="en-US"/>
            </a:p>
          </p:txBody>
        </p:sp>
        <p:sp>
          <p:nvSpPr>
            <p:cNvPr id="2096" name="Freeform 46"/>
            <p:cNvSpPr/>
            <p:nvPr/>
          </p:nvSpPr>
          <p:spPr>
            <a:xfrm>
              <a:off x="2759" y="2039"/>
              <a:ext cx="48" cy="21"/>
            </a:xfrm>
            <a:custGeom>
              <a:avLst/>
              <a:gdLst/>
              <a:ahLst/>
              <a:cxnLst>
                <a:cxn ang="0">
                  <a:pos x="36" y="6"/>
                </a:cxn>
                <a:cxn ang="0">
                  <a:pos x="8" y="4"/>
                </a:cxn>
                <a:cxn ang="0">
                  <a:pos x="24" y="28"/>
                </a:cxn>
                <a:cxn ang="0">
                  <a:pos x="54" y="14"/>
                </a:cxn>
                <a:cxn ang="0">
                  <a:pos x="36" y="6"/>
                </a:cxn>
              </a:cxnLst>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w="12700">
              <a:noFill/>
            </a:ln>
          </p:spPr>
          <p:txBody>
            <a:bodyPr/>
            <a:p>
              <a:endParaRPr lang="zh-CN" altLang="en-US"/>
            </a:p>
          </p:txBody>
        </p:sp>
        <p:sp>
          <p:nvSpPr>
            <p:cNvPr id="2097" name="Freeform 47"/>
            <p:cNvSpPr/>
            <p:nvPr/>
          </p:nvSpPr>
          <p:spPr>
            <a:xfrm>
              <a:off x="2467" y="2311"/>
              <a:ext cx="109"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w="12700">
              <a:noFill/>
            </a:ln>
          </p:spPr>
          <p:txBody>
            <a:bodyPr/>
            <a:p>
              <a:endParaRPr lang="zh-CN" altLang="en-US"/>
            </a:p>
          </p:txBody>
        </p:sp>
        <p:sp>
          <p:nvSpPr>
            <p:cNvPr id="2098" name="Freeform 48"/>
            <p:cNvSpPr/>
            <p:nvPr/>
          </p:nvSpPr>
          <p:spPr>
            <a:xfrm>
              <a:off x="2413" y="2359"/>
              <a:ext cx="69" cy="68"/>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w="12700">
              <a:noFill/>
            </a:ln>
          </p:spPr>
          <p:txBody>
            <a:bodyPr/>
            <a:p>
              <a:endParaRPr lang="zh-CN" altLang="en-US"/>
            </a:p>
          </p:txBody>
        </p:sp>
        <p:sp>
          <p:nvSpPr>
            <p:cNvPr id="2099" name="Freeform 49"/>
            <p:cNvSpPr/>
            <p:nvPr/>
          </p:nvSpPr>
          <p:spPr>
            <a:xfrm>
              <a:off x="4099" y="3502"/>
              <a:ext cx="474" cy="495"/>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w="12700">
              <a:noFill/>
            </a:ln>
          </p:spPr>
          <p:txBody>
            <a:bodyPr/>
            <a:p>
              <a:endParaRPr lang="zh-CN" altLang="en-US"/>
            </a:p>
          </p:txBody>
        </p:sp>
        <p:sp>
          <p:nvSpPr>
            <p:cNvPr id="2100" name="Freeform 50"/>
            <p:cNvSpPr/>
            <p:nvPr/>
          </p:nvSpPr>
          <p:spPr>
            <a:xfrm>
              <a:off x="4246" y="3241"/>
              <a:ext cx="319" cy="210"/>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w="12700">
              <a:noFill/>
            </a:ln>
          </p:spPr>
          <p:txBody>
            <a:bodyPr/>
            <a:p>
              <a:endParaRPr lang="zh-CN" altLang="en-US"/>
            </a:p>
          </p:txBody>
        </p:sp>
        <p:sp>
          <p:nvSpPr>
            <p:cNvPr id="2101" name="Freeform 51"/>
            <p:cNvSpPr/>
            <p:nvPr/>
          </p:nvSpPr>
          <p:spPr>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w="12700">
              <a:noFill/>
            </a:ln>
          </p:spPr>
          <p:txBody>
            <a:bodyPr/>
            <a:p>
              <a:endParaRPr lang="zh-CN" altLang="en-US"/>
            </a:p>
          </p:txBody>
        </p:sp>
        <p:sp>
          <p:nvSpPr>
            <p:cNvPr id="2102" name="Freeform 52"/>
            <p:cNvSpPr/>
            <p:nvPr/>
          </p:nvSpPr>
          <p:spPr>
            <a:xfrm>
              <a:off x="4485" y="4013"/>
              <a:ext cx="45" cy="58"/>
            </a:xfrm>
            <a:custGeom>
              <a:avLst/>
              <a:gdLst/>
              <a:ahLst/>
              <a:cxnLst>
                <a:cxn ang="0">
                  <a:pos x="32" y="18"/>
                </a:cxn>
                <a:cxn ang="0">
                  <a:pos x="0" y="18"/>
                </a:cxn>
                <a:cxn ang="0">
                  <a:pos x="20" y="42"/>
                </a:cxn>
                <a:cxn ang="0">
                  <a:pos x="28" y="66"/>
                </a:cxn>
                <a:cxn ang="0">
                  <a:pos x="32" y="78"/>
                </a:cxn>
                <a:cxn ang="0">
                  <a:pos x="60" y="50"/>
                </a:cxn>
                <a:cxn ang="0">
                  <a:pos x="32" y="18"/>
                </a:cxn>
              </a:cxnLst>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w="12700">
              <a:noFill/>
            </a:ln>
          </p:spPr>
          <p:txBody>
            <a:bodyPr/>
            <a:p>
              <a:endParaRPr lang="zh-CN" altLang="en-US"/>
            </a:p>
          </p:txBody>
        </p:sp>
        <p:sp>
          <p:nvSpPr>
            <p:cNvPr id="2103" name="Freeform 53"/>
            <p:cNvSpPr/>
            <p:nvPr/>
          </p:nvSpPr>
          <p:spPr>
            <a:xfrm>
              <a:off x="4621" y="3923"/>
              <a:ext cx="164" cy="85"/>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w="12700">
              <a:noFill/>
            </a:ln>
          </p:spPr>
          <p:txBody>
            <a:bodyPr/>
            <a:p>
              <a:endParaRPr lang="zh-CN" altLang="en-US"/>
            </a:p>
          </p:txBody>
        </p:sp>
        <p:sp>
          <p:nvSpPr>
            <p:cNvPr id="2104" name="Freeform 54"/>
            <p:cNvSpPr/>
            <p:nvPr/>
          </p:nvSpPr>
          <p:spPr>
            <a:xfrm>
              <a:off x="4791" y="3873"/>
              <a:ext cx="104" cy="92"/>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w="12700">
              <a:noFill/>
            </a:ln>
          </p:spPr>
          <p:txBody>
            <a:bodyPr/>
            <a:p>
              <a:endParaRPr lang="zh-CN" altLang="en-US"/>
            </a:p>
          </p:txBody>
        </p:sp>
        <p:sp>
          <p:nvSpPr>
            <p:cNvPr id="2105" name="Freeform 55"/>
            <p:cNvSpPr/>
            <p:nvPr/>
          </p:nvSpPr>
          <p:spPr>
            <a:xfrm>
              <a:off x="4846" y="3832"/>
              <a:ext cx="37" cy="26"/>
            </a:xfrm>
            <a:custGeom>
              <a:avLst/>
              <a:gdLst/>
              <a:ahLst/>
              <a:cxnLst>
                <a:cxn ang="0">
                  <a:pos x="29" y="0"/>
                </a:cxn>
                <a:cxn ang="0">
                  <a:pos x="8" y="11"/>
                </a:cxn>
                <a:cxn ang="0">
                  <a:pos x="24" y="35"/>
                </a:cxn>
                <a:cxn ang="0">
                  <a:pos x="39" y="26"/>
                </a:cxn>
                <a:cxn ang="0">
                  <a:pos x="29" y="0"/>
                </a:cxn>
              </a:cxnLst>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w="12700">
              <a:noFill/>
            </a:ln>
          </p:spPr>
          <p:txBody>
            <a:bodyPr/>
            <a:p>
              <a:endParaRPr lang="zh-CN" altLang="en-US"/>
            </a:p>
          </p:txBody>
        </p:sp>
        <p:sp>
          <p:nvSpPr>
            <p:cNvPr id="2106" name="Freeform 56"/>
            <p:cNvSpPr/>
            <p:nvPr/>
          </p:nvSpPr>
          <p:spPr>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w="12700">
              <a:noFill/>
            </a:ln>
          </p:spPr>
          <p:txBody>
            <a:bodyPr/>
            <a:p>
              <a:endParaRPr lang="zh-CN" altLang="en-US"/>
            </a:p>
          </p:txBody>
        </p:sp>
        <p:sp>
          <p:nvSpPr>
            <p:cNvPr id="2107" name="Freeform 57"/>
            <p:cNvSpPr/>
            <p:nvPr/>
          </p:nvSpPr>
          <p:spPr>
            <a:xfrm>
              <a:off x="3655" y="3034"/>
              <a:ext cx="49" cy="61"/>
            </a:xfrm>
            <a:custGeom>
              <a:avLst/>
              <a:gdLst/>
              <a:ahLst/>
              <a:cxnLst>
                <a:cxn ang="0">
                  <a:pos x="29" y="0"/>
                </a:cxn>
                <a:cxn ang="0">
                  <a:pos x="25" y="60"/>
                </a:cxn>
                <a:cxn ang="0">
                  <a:pos x="29" y="76"/>
                </a:cxn>
                <a:cxn ang="0">
                  <a:pos x="41" y="80"/>
                </a:cxn>
                <a:cxn ang="0">
                  <a:pos x="57" y="76"/>
                </a:cxn>
                <a:cxn ang="0">
                  <a:pos x="29" y="0"/>
                </a:cxn>
              </a:cxnLst>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w="12700">
              <a:noFill/>
            </a:ln>
          </p:spPr>
          <p:txBody>
            <a:bodyPr/>
            <a:p>
              <a:endParaRPr lang="zh-CN" altLang="en-US"/>
            </a:p>
          </p:txBody>
        </p:sp>
        <p:sp>
          <p:nvSpPr>
            <p:cNvPr id="2108" name="Freeform 58"/>
            <p:cNvSpPr/>
            <p:nvPr/>
          </p:nvSpPr>
          <p:spPr>
            <a:xfrm>
              <a:off x="3988" y="3100"/>
              <a:ext cx="111" cy="183"/>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w="12700">
              <a:noFill/>
            </a:ln>
          </p:spPr>
          <p:txBody>
            <a:bodyPr/>
            <a:p>
              <a:endParaRPr lang="zh-CN" altLang="en-US"/>
            </a:p>
          </p:txBody>
        </p:sp>
        <p:sp>
          <p:nvSpPr>
            <p:cNvPr id="2109" name="Freeform 59"/>
            <p:cNvSpPr/>
            <p:nvPr/>
          </p:nvSpPr>
          <p:spPr>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w="12700">
              <a:noFill/>
            </a:ln>
          </p:spPr>
          <p:txBody>
            <a:bodyPr/>
            <a:p>
              <a:endParaRPr lang="zh-CN" altLang="en-US"/>
            </a:p>
          </p:txBody>
        </p:sp>
        <p:sp>
          <p:nvSpPr>
            <p:cNvPr id="2110" name="Freeform 60"/>
            <p:cNvSpPr/>
            <p:nvPr/>
          </p:nvSpPr>
          <p:spPr>
            <a:xfrm>
              <a:off x="3943" y="3153"/>
              <a:ext cx="40" cy="131"/>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w="12700">
              <a:noFill/>
            </a:ln>
          </p:spPr>
          <p:txBody>
            <a:bodyPr/>
            <a:p>
              <a:endParaRPr lang="zh-CN" altLang="en-US"/>
            </a:p>
          </p:txBody>
        </p:sp>
        <p:sp>
          <p:nvSpPr>
            <p:cNvPr id="2111" name="Freeform 61"/>
            <p:cNvSpPr/>
            <p:nvPr/>
          </p:nvSpPr>
          <p:spPr>
            <a:xfrm>
              <a:off x="3988" y="3290"/>
              <a:ext cx="65" cy="54"/>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w="12700">
              <a:noFill/>
            </a:ln>
          </p:spPr>
          <p:txBody>
            <a:bodyPr/>
            <a:p>
              <a:endParaRPr lang="zh-CN" altLang="en-US"/>
            </a:p>
          </p:txBody>
        </p:sp>
        <p:sp>
          <p:nvSpPr>
            <p:cNvPr id="2112" name="Freeform 62"/>
            <p:cNvSpPr/>
            <p:nvPr/>
          </p:nvSpPr>
          <p:spPr>
            <a:xfrm>
              <a:off x="4092" y="3195"/>
              <a:ext cx="83" cy="117"/>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w="12700">
              <a:noFill/>
            </a:ln>
          </p:spPr>
          <p:txBody>
            <a:bodyPr/>
            <a:p>
              <a:endParaRPr lang="zh-CN" altLang="en-US"/>
            </a:p>
          </p:txBody>
        </p:sp>
        <p:sp>
          <p:nvSpPr>
            <p:cNvPr id="2113" name="Freeform 63"/>
            <p:cNvSpPr/>
            <p:nvPr/>
          </p:nvSpPr>
          <p:spPr>
            <a:xfrm>
              <a:off x="4064" y="2777"/>
              <a:ext cx="22" cy="71"/>
            </a:xfrm>
            <a:custGeom>
              <a:avLst/>
              <a:gdLst/>
              <a:ahLst/>
              <a:cxnLst>
                <a:cxn ang="0">
                  <a:pos x="12" y="0"/>
                </a:cxn>
                <a:cxn ang="0">
                  <a:pos x="0" y="16"/>
                </a:cxn>
                <a:cxn ang="0">
                  <a:pos x="6" y="37"/>
                </a:cxn>
                <a:cxn ang="0">
                  <a:pos x="1" y="61"/>
                </a:cxn>
                <a:cxn ang="0">
                  <a:pos x="16" y="94"/>
                </a:cxn>
                <a:cxn ang="0">
                  <a:pos x="30" y="82"/>
                </a:cxn>
                <a:cxn ang="0">
                  <a:pos x="22" y="61"/>
                </a:cxn>
                <a:cxn ang="0">
                  <a:pos x="12" y="0"/>
                </a:cxn>
              </a:cxnLst>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w="12700">
              <a:noFill/>
            </a:ln>
          </p:spPr>
          <p:txBody>
            <a:bodyPr/>
            <a:p>
              <a:endParaRPr lang="zh-CN" altLang="en-US"/>
            </a:p>
          </p:txBody>
        </p:sp>
        <p:sp>
          <p:nvSpPr>
            <p:cNvPr id="2114" name="Freeform 64"/>
            <p:cNvSpPr/>
            <p:nvPr/>
          </p:nvSpPr>
          <p:spPr>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w="12700">
              <a:noFill/>
            </a:ln>
          </p:spPr>
          <p:txBody>
            <a:bodyPr/>
            <a:p>
              <a:endParaRPr lang="zh-CN" altLang="en-US"/>
            </a:p>
          </p:txBody>
        </p:sp>
        <p:sp>
          <p:nvSpPr>
            <p:cNvPr id="2115" name="Freeform 65"/>
            <p:cNvSpPr/>
            <p:nvPr/>
          </p:nvSpPr>
          <p:spPr>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w="12700">
              <a:noFill/>
            </a:ln>
          </p:spPr>
          <p:txBody>
            <a:bodyPr/>
            <a:p>
              <a:endParaRPr lang="zh-CN" altLang="en-US"/>
            </a:p>
          </p:txBody>
        </p:sp>
        <p:sp>
          <p:nvSpPr>
            <p:cNvPr id="2116" name="Freeform 66"/>
            <p:cNvSpPr/>
            <p:nvPr/>
          </p:nvSpPr>
          <p:spPr>
            <a:xfrm>
              <a:off x="4197" y="3193"/>
              <a:ext cx="29" cy="49"/>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w="12700">
              <a:noFill/>
            </a:ln>
          </p:spPr>
          <p:txBody>
            <a:bodyPr/>
            <a:p>
              <a:endParaRPr lang="zh-CN" altLang="en-US"/>
            </a:p>
          </p:txBody>
        </p:sp>
        <p:sp>
          <p:nvSpPr>
            <p:cNvPr id="2117" name="Freeform 67"/>
            <p:cNvSpPr/>
            <p:nvPr/>
          </p:nvSpPr>
          <p:spPr>
            <a:xfrm>
              <a:off x="4181" y="3275"/>
              <a:ext cx="18" cy="17"/>
            </a:xfrm>
            <a:custGeom>
              <a:avLst/>
              <a:gdLst/>
              <a:ahLst/>
              <a:cxnLst>
                <a:cxn ang="0">
                  <a:pos x="0" y="0"/>
                </a:cxn>
                <a:cxn ang="0">
                  <a:pos x="6" y="23"/>
                </a:cxn>
                <a:cxn ang="0">
                  <a:pos x="24" y="11"/>
                </a:cxn>
                <a:cxn ang="0">
                  <a:pos x="0" y="0"/>
                </a:cxn>
              </a:cxnLst>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w="12700">
              <a:noFill/>
            </a:ln>
          </p:spPr>
          <p:txBody>
            <a:bodyPr/>
            <a:p>
              <a:endParaRPr lang="zh-CN" altLang="en-US"/>
            </a:p>
          </p:txBody>
        </p:sp>
        <p:sp>
          <p:nvSpPr>
            <p:cNvPr id="2118" name="Freeform 68"/>
            <p:cNvSpPr/>
            <p:nvPr/>
          </p:nvSpPr>
          <p:spPr>
            <a:xfrm>
              <a:off x="4208" y="3265"/>
              <a:ext cx="45" cy="37"/>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w="12700">
              <a:noFill/>
            </a:ln>
          </p:spPr>
          <p:txBody>
            <a:bodyPr/>
            <a:p>
              <a:endParaRPr lang="zh-CN" altLang="en-US"/>
            </a:p>
          </p:txBody>
        </p:sp>
        <p:sp>
          <p:nvSpPr>
            <p:cNvPr id="2119" name="Freeform 69"/>
            <p:cNvSpPr/>
            <p:nvPr/>
          </p:nvSpPr>
          <p:spPr>
            <a:xfrm>
              <a:off x="4277" y="3335"/>
              <a:ext cx="24" cy="33"/>
            </a:xfrm>
            <a:custGeom>
              <a:avLst/>
              <a:gdLst/>
              <a:ahLst/>
              <a:cxnLst>
                <a:cxn ang="0">
                  <a:pos x="28" y="0"/>
                </a:cxn>
                <a:cxn ang="0">
                  <a:pos x="10" y="11"/>
                </a:cxn>
                <a:cxn ang="0">
                  <a:pos x="12" y="32"/>
                </a:cxn>
                <a:cxn ang="0">
                  <a:pos x="24" y="36"/>
                </a:cxn>
                <a:cxn ang="0">
                  <a:pos x="28" y="0"/>
                </a:cxn>
              </a:cxnLst>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w="12700">
              <a:noFill/>
            </a:ln>
          </p:spPr>
          <p:txBody>
            <a:bodyPr/>
            <a:p>
              <a:endParaRPr lang="zh-CN" altLang="en-US"/>
            </a:p>
          </p:txBody>
        </p:sp>
        <p:sp>
          <p:nvSpPr>
            <p:cNvPr id="2120" name="Freeform 70"/>
            <p:cNvSpPr/>
            <p:nvPr/>
          </p:nvSpPr>
          <p:spPr>
            <a:xfrm>
              <a:off x="4544" y="3293"/>
              <a:ext cx="46" cy="47"/>
            </a:xfrm>
            <a:custGeom>
              <a:avLst/>
              <a:gdLst/>
              <a:ahLst/>
              <a:cxnLst>
                <a:cxn ang="0">
                  <a:pos x="7" y="0"/>
                </a:cxn>
                <a:cxn ang="0">
                  <a:pos x="0" y="14"/>
                </a:cxn>
                <a:cxn ang="0">
                  <a:pos x="24" y="35"/>
                </a:cxn>
                <a:cxn ang="0">
                  <a:pos x="36" y="54"/>
                </a:cxn>
                <a:cxn ang="0">
                  <a:pos x="46" y="63"/>
                </a:cxn>
                <a:cxn ang="0">
                  <a:pos x="61" y="56"/>
                </a:cxn>
                <a:cxn ang="0">
                  <a:pos x="33" y="17"/>
                </a:cxn>
                <a:cxn ang="0">
                  <a:pos x="7" y="0"/>
                </a:cxn>
              </a:cxnLst>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w="12700">
              <a:noFill/>
            </a:ln>
          </p:spPr>
          <p:txBody>
            <a:bodyPr/>
            <a:p>
              <a:endParaRPr lang="zh-CN" altLang="en-US"/>
            </a:p>
          </p:txBody>
        </p:sp>
        <p:sp>
          <p:nvSpPr>
            <p:cNvPr id="2121" name="Freeform 71"/>
            <p:cNvSpPr/>
            <p:nvPr/>
          </p:nvSpPr>
          <p:spPr>
            <a:xfrm>
              <a:off x="4147" y="3352"/>
              <a:ext cx="46" cy="50"/>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w="12700">
              <a:noFill/>
            </a:ln>
          </p:spPr>
          <p:txBody>
            <a:bodyPr/>
            <a:p>
              <a:endParaRPr lang="zh-CN" altLang="en-US"/>
            </a:p>
          </p:txBody>
        </p:sp>
        <p:sp>
          <p:nvSpPr>
            <p:cNvPr id="2122" name="Freeform 72"/>
            <p:cNvSpPr/>
            <p:nvPr/>
          </p:nvSpPr>
          <p:spPr>
            <a:xfrm>
              <a:off x="4098" y="3371"/>
              <a:ext cx="32" cy="27"/>
            </a:xfrm>
            <a:custGeom>
              <a:avLst/>
              <a:gdLst/>
              <a:ahLst/>
              <a:cxnLst>
                <a:cxn ang="0">
                  <a:pos x="21" y="3"/>
                </a:cxn>
                <a:cxn ang="0">
                  <a:pos x="6" y="6"/>
                </a:cxn>
                <a:cxn ang="0">
                  <a:pos x="33" y="36"/>
                </a:cxn>
                <a:cxn ang="0">
                  <a:pos x="42" y="30"/>
                </a:cxn>
                <a:cxn ang="0">
                  <a:pos x="21" y="3"/>
                </a:cxn>
              </a:cxnLst>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w="12700">
              <a:noFill/>
            </a:ln>
          </p:spPr>
          <p:txBody>
            <a:bodyPr/>
            <a:p>
              <a:endParaRPr lang="zh-CN" altLang="en-US"/>
            </a:p>
          </p:txBody>
        </p:sp>
        <p:sp>
          <p:nvSpPr>
            <p:cNvPr id="2123" name="Freeform 73"/>
            <p:cNvSpPr/>
            <p:nvPr/>
          </p:nvSpPr>
          <p:spPr>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w="12700">
              <a:noFill/>
            </a:ln>
          </p:spPr>
          <p:txBody>
            <a:bodyPr/>
            <a:p>
              <a:endParaRPr lang="zh-CN" altLang="en-US"/>
            </a:p>
          </p:txBody>
        </p:sp>
        <p:sp>
          <p:nvSpPr>
            <p:cNvPr id="2124" name="Freeform 74"/>
            <p:cNvSpPr/>
            <p:nvPr/>
          </p:nvSpPr>
          <p:spPr>
            <a:xfrm>
              <a:off x="4111" y="3353"/>
              <a:ext cx="34" cy="24"/>
            </a:xfrm>
            <a:custGeom>
              <a:avLst/>
              <a:gdLst/>
              <a:ahLst/>
              <a:cxnLst>
                <a:cxn ang="0">
                  <a:pos x="21" y="0"/>
                </a:cxn>
                <a:cxn ang="0">
                  <a:pos x="0" y="7"/>
                </a:cxn>
                <a:cxn ang="0">
                  <a:pos x="27" y="31"/>
                </a:cxn>
                <a:cxn ang="0">
                  <a:pos x="45" y="24"/>
                </a:cxn>
                <a:cxn ang="0">
                  <a:pos x="22" y="10"/>
                </a:cxn>
                <a:cxn ang="0">
                  <a:pos x="21" y="0"/>
                </a:cxn>
              </a:cxnLst>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w="12700">
              <a:noFill/>
            </a:ln>
          </p:spPr>
          <p:txBody>
            <a:bodyPr/>
            <a:p>
              <a:endParaRPr lang="zh-CN" altLang="en-US"/>
            </a:p>
          </p:txBody>
        </p:sp>
        <p:sp>
          <p:nvSpPr>
            <p:cNvPr id="2125" name="Freeform 75"/>
            <p:cNvSpPr/>
            <p:nvPr/>
          </p:nvSpPr>
          <p:spPr>
            <a:xfrm>
              <a:off x="4062" y="3021"/>
              <a:ext cx="27" cy="55"/>
            </a:xfrm>
            <a:custGeom>
              <a:avLst/>
              <a:gdLst/>
              <a:ahLst/>
              <a:cxnLst>
                <a:cxn ang="0">
                  <a:pos x="30" y="0"/>
                </a:cxn>
                <a:cxn ang="0">
                  <a:pos x="21" y="15"/>
                </a:cxn>
                <a:cxn ang="0">
                  <a:pos x="9" y="36"/>
                </a:cxn>
                <a:cxn ang="0">
                  <a:pos x="0" y="59"/>
                </a:cxn>
                <a:cxn ang="0">
                  <a:pos x="8" y="74"/>
                </a:cxn>
                <a:cxn ang="0">
                  <a:pos x="20" y="59"/>
                </a:cxn>
                <a:cxn ang="0">
                  <a:pos x="35" y="32"/>
                </a:cxn>
                <a:cxn ang="0">
                  <a:pos x="30" y="0"/>
                </a:cxn>
              </a:cxnLst>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w="12700">
              <a:noFill/>
            </a:ln>
          </p:spPr>
          <p:txBody>
            <a:bodyPr/>
            <a:p>
              <a:endParaRPr lang="zh-CN" altLang="en-US"/>
            </a:p>
          </p:txBody>
        </p:sp>
        <p:sp>
          <p:nvSpPr>
            <p:cNvPr id="2126" name="Freeform 76"/>
            <p:cNvSpPr/>
            <p:nvPr/>
          </p:nvSpPr>
          <p:spPr>
            <a:xfrm>
              <a:off x="4113" y="3012"/>
              <a:ext cx="19" cy="55"/>
            </a:xfrm>
            <a:custGeom>
              <a:avLst/>
              <a:gdLst/>
              <a:ahLst/>
              <a:cxnLst>
                <a:cxn ang="0">
                  <a:pos x="13" y="7"/>
                </a:cxn>
                <a:cxn ang="0">
                  <a:pos x="4" y="8"/>
                </a:cxn>
                <a:cxn ang="0">
                  <a:pos x="0" y="22"/>
                </a:cxn>
                <a:cxn ang="0">
                  <a:pos x="15" y="41"/>
                </a:cxn>
                <a:cxn ang="0">
                  <a:pos x="25" y="56"/>
                </a:cxn>
                <a:cxn ang="0">
                  <a:pos x="16" y="20"/>
                </a:cxn>
                <a:cxn ang="0">
                  <a:pos x="13" y="7"/>
                </a:cxn>
              </a:cxnLst>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w="12700">
              <a:noFill/>
            </a:ln>
          </p:spPr>
          <p:txBody>
            <a:bodyPr/>
            <a:p>
              <a:endParaRPr lang="zh-CN" altLang="en-US"/>
            </a:p>
          </p:txBody>
        </p:sp>
        <p:sp>
          <p:nvSpPr>
            <p:cNvPr id="2127" name="Freeform 77"/>
            <p:cNvSpPr/>
            <p:nvPr/>
          </p:nvSpPr>
          <p:spPr>
            <a:xfrm>
              <a:off x="4135" y="2995"/>
              <a:ext cx="10" cy="25"/>
            </a:xfrm>
            <a:custGeom>
              <a:avLst/>
              <a:gdLst/>
              <a:ahLst/>
              <a:cxnLst>
                <a:cxn ang="0">
                  <a:pos x="11" y="0"/>
                </a:cxn>
                <a:cxn ang="0">
                  <a:pos x="1" y="10"/>
                </a:cxn>
                <a:cxn ang="0">
                  <a:pos x="11" y="25"/>
                </a:cxn>
                <a:cxn ang="0">
                  <a:pos x="11" y="0"/>
                </a:cxn>
              </a:cxnLst>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w="12700">
              <a:noFill/>
            </a:ln>
          </p:spPr>
          <p:txBody>
            <a:bodyPr/>
            <a:p>
              <a:endParaRPr lang="zh-CN" altLang="en-US"/>
            </a:p>
          </p:txBody>
        </p:sp>
        <p:sp>
          <p:nvSpPr>
            <p:cNvPr id="2128" name="Freeform 78"/>
            <p:cNvSpPr/>
            <p:nvPr/>
          </p:nvSpPr>
          <p:spPr>
            <a:xfrm>
              <a:off x="4145" y="3007"/>
              <a:ext cx="21" cy="48"/>
            </a:xfrm>
            <a:custGeom>
              <a:avLst/>
              <a:gdLst/>
              <a:ahLst/>
              <a:cxnLst>
                <a:cxn ang="0">
                  <a:pos x="5" y="0"/>
                </a:cxn>
                <a:cxn ang="0">
                  <a:pos x="11" y="14"/>
                </a:cxn>
                <a:cxn ang="0">
                  <a:pos x="20" y="21"/>
                </a:cxn>
                <a:cxn ang="0">
                  <a:pos x="8" y="39"/>
                </a:cxn>
                <a:cxn ang="0">
                  <a:pos x="0" y="56"/>
                </a:cxn>
                <a:cxn ang="0">
                  <a:pos x="11" y="57"/>
                </a:cxn>
                <a:cxn ang="0">
                  <a:pos x="26" y="26"/>
                </a:cxn>
                <a:cxn ang="0">
                  <a:pos x="5" y="0"/>
                </a:cxn>
              </a:cxnLst>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w="12700">
              <a:noFill/>
            </a:ln>
          </p:spPr>
          <p:txBody>
            <a:bodyPr/>
            <a:p>
              <a:endParaRPr lang="zh-CN" altLang="en-US"/>
            </a:p>
          </p:txBody>
        </p:sp>
        <p:sp>
          <p:nvSpPr>
            <p:cNvPr id="2129" name="Freeform 79"/>
            <p:cNvSpPr/>
            <p:nvPr/>
          </p:nvSpPr>
          <p:spPr>
            <a:xfrm>
              <a:off x="3876" y="3076"/>
              <a:ext cx="12" cy="27"/>
            </a:xfrm>
            <a:custGeom>
              <a:avLst/>
              <a:gdLst/>
              <a:ahLst/>
              <a:cxnLst>
                <a:cxn ang="0">
                  <a:pos x="14" y="3"/>
                </a:cxn>
                <a:cxn ang="0">
                  <a:pos x="0" y="7"/>
                </a:cxn>
                <a:cxn ang="0">
                  <a:pos x="8" y="22"/>
                </a:cxn>
                <a:cxn ang="0">
                  <a:pos x="14" y="3"/>
                </a:cxn>
              </a:cxnLst>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w="12700">
              <a:noFill/>
            </a:ln>
          </p:spPr>
          <p:txBody>
            <a:bodyPr/>
            <a:p>
              <a:endParaRPr lang="zh-CN" altLang="en-US"/>
            </a:p>
          </p:txBody>
        </p:sp>
        <p:sp>
          <p:nvSpPr>
            <p:cNvPr id="2130" name="Freeform 80"/>
            <p:cNvSpPr/>
            <p:nvPr/>
          </p:nvSpPr>
          <p:spPr>
            <a:xfrm>
              <a:off x="3866" y="3053"/>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31" name="Freeform 81"/>
            <p:cNvSpPr/>
            <p:nvPr/>
          </p:nvSpPr>
          <p:spPr>
            <a:xfrm>
              <a:off x="3862" y="3035"/>
              <a:ext cx="12" cy="14"/>
            </a:xfrm>
            <a:custGeom>
              <a:avLst/>
              <a:gdLst/>
              <a:ahLst/>
              <a:cxnLst>
                <a:cxn ang="0">
                  <a:pos x="10" y="5"/>
                </a:cxn>
                <a:cxn ang="0">
                  <a:pos x="0" y="10"/>
                </a:cxn>
                <a:cxn ang="0">
                  <a:pos x="12" y="19"/>
                </a:cxn>
                <a:cxn ang="0">
                  <a:pos x="10" y="5"/>
                </a:cxn>
              </a:cxnLst>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w="12700">
              <a:noFill/>
            </a:ln>
          </p:spPr>
          <p:txBody>
            <a:bodyPr/>
            <a:p>
              <a:endParaRPr lang="zh-CN" altLang="en-US"/>
            </a:p>
          </p:txBody>
        </p:sp>
        <p:sp>
          <p:nvSpPr>
            <p:cNvPr id="2132" name="Freeform 82"/>
            <p:cNvSpPr/>
            <p:nvPr/>
          </p:nvSpPr>
          <p:spPr>
            <a:xfrm>
              <a:off x="3850" y="2995"/>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33" name="Freeform 83"/>
            <p:cNvSpPr/>
            <p:nvPr/>
          </p:nvSpPr>
          <p:spPr>
            <a:xfrm>
              <a:off x="3852" y="3020"/>
              <a:ext cx="16" cy="13"/>
            </a:xfrm>
            <a:custGeom>
              <a:avLst/>
              <a:gdLst/>
              <a:ahLst/>
              <a:cxnLst>
                <a:cxn ang="0">
                  <a:pos x="13" y="0"/>
                </a:cxn>
                <a:cxn ang="0">
                  <a:pos x="19" y="18"/>
                </a:cxn>
                <a:cxn ang="0">
                  <a:pos x="14" y="6"/>
                </a:cxn>
                <a:cxn ang="0">
                  <a:pos x="13" y="0"/>
                </a:cxn>
              </a:cxnLst>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w="12700">
              <a:noFill/>
            </a:ln>
          </p:spPr>
          <p:txBody>
            <a:bodyPr/>
            <a:p>
              <a:endParaRPr lang="zh-CN" altLang="en-US"/>
            </a:p>
          </p:txBody>
        </p:sp>
        <p:sp>
          <p:nvSpPr>
            <p:cNvPr id="2134" name="Freeform 84"/>
            <p:cNvSpPr/>
            <p:nvPr/>
          </p:nvSpPr>
          <p:spPr>
            <a:xfrm>
              <a:off x="4688" y="3643"/>
              <a:ext cx="45" cy="60"/>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w="12700">
              <a:noFill/>
            </a:ln>
          </p:spPr>
          <p:txBody>
            <a:bodyPr/>
            <a:p>
              <a:endParaRPr lang="zh-CN" altLang="en-US"/>
            </a:p>
          </p:txBody>
        </p:sp>
        <p:sp>
          <p:nvSpPr>
            <p:cNvPr id="2135" name="Freeform 85"/>
            <p:cNvSpPr/>
            <p:nvPr/>
          </p:nvSpPr>
          <p:spPr>
            <a:xfrm>
              <a:off x="4919" y="3594"/>
              <a:ext cx="53" cy="46"/>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w="12700">
              <a:noFill/>
            </a:ln>
          </p:spPr>
          <p:txBody>
            <a:bodyPr/>
            <a:p>
              <a:endParaRPr lang="zh-CN" altLang="en-US"/>
            </a:p>
          </p:txBody>
        </p:sp>
        <p:sp>
          <p:nvSpPr>
            <p:cNvPr id="2136" name="Freeform 86"/>
            <p:cNvSpPr/>
            <p:nvPr/>
          </p:nvSpPr>
          <p:spPr>
            <a:xfrm>
              <a:off x="4759" y="3569"/>
              <a:ext cx="17" cy="23"/>
            </a:xfrm>
            <a:custGeom>
              <a:avLst/>
              <a:gdLst/>
              <a:ahLst/>
              <a:cxnLst>
                <a:cxn ang="0">
                  <a:pos x="9" y="0"/>
                </a:cxn>
                <a:cxn ang="0">
                  <a:pos x="0" y="14"/>
                </a:cxn>
                <a:cxn ang="0">
                  <a:pos x="12" y="30"/>
                </a:cxn>
                <a:cxn ang="0">
                  <a:pos x="9" y="0"/>
                </a:cxn>
              </a:cxnLst>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w="12700">
              <a:noFill/>
            </a:ln>
          </p:spPr>
          <p:txBody>
            <a:bodyPr/>
            <a:p>
              <a:endParaRPr lang="zh-CN" altLang="en-US"/>
            </a:p>
          </p:txBody>
        </p:sp>
        <p:sp>
          <p:nvSpPr>
            <p:cNvPr id="2137" name="Freeform 87"/>
            <p:cNvSpPr/>
            <p:nvPr/>
          </p:nvSpPr>
          <p:spPr>
            <a:xfrm>
              <a:off x="4751" y="3547"/>
              <a:ext cx="20" cy="17"/>
            </a:xfrm>
            <a:custGeom>
              <a:avLst/>
              <a:gdLst/>
              <a:ahLst/>
              <a:cxnLst>
                <a:cxn ang="0">
                  <a:pos x="19" y="0"/>
                </a:cxn>
                <a:cxn ang="0">
                  <a:pos x="0" y="14"/>
                </a:cxn>
                <a:cxn ang="0">
                  <a:pos x="21" y="20"/>
                </a:cxn>
                <a:cxn ang="0">
                  <a:pos x="19" y="0"/>
                </a:cxn>
              </a:cxnLst>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w="12700">
              <a:noFill/>
            </a:ln>
          </p:spPr>
          <p:txBody>
            <a:bodyPr/>
            <a:p>
              <a:endParaRPr lang="zh-CN" altLang="en-US"/>
            </a:p>
          </p:txBody>
        </p:sp>
        <p:sp>
          <p:nvSpPr>
            <p:cNvPr id="2138" name="Freeform 88"/>
            <p:cNvSpPr/>
            <p:nvPr/>
          </p:nvSpPr>
          <p:spPr>
            <a:xfrm>
              <a:off x="4598" y="3353"/>
              <a:ext cx="24" cy="33"/>
            </a:xfrm>
            <a:custGeom>
              <a:avLst/>
              <a:gdLst/>
              <a:ahLst/>
              <a:cxnLst>
                <a:cxn ang="0">
                  <a:pos x="28" y="0"/>
                </a:cxn>
                <a:cxn ang="0">
                  <a:pos x="10" y="11"/>
                </a:cxn>
                <a:cxn ang="0">
                  <a:pos x="12" y="32"/>
                </a:cxn>
                <a:cxn ang="0">
                  <a:pos x="24" y="36"/>
                </a:cxn>
                <a:cxn ang="0">
                  <a:pos x="28" y="0"/>
                </a:cxn>
              </a:cxnLst>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w="12700">
              <a:noFill/>
            </a:ln>
          </p:spPr>
          <p:txBody>
            <a:bodyPr/>
            <a:p>
              <a:endParaRPr lang="zh-CN" altLang="en-US"/>
            </a:p>
          </p:txBody>
        </p:sp>
        <p:sp>
          <p:nvSpPr>
            <p:cNvPr id="2139" name="Freeform 89"/>
            <p:cNvSpPr/>
            <p:nvPr/>
          </p:nvSpPr>
          <p:spPr>
            <a:xfrm>
              <a:off x="4632" y="3396"/>
              <a:ext cx="26" cy="33"/>
            </a:xfrm>
            <a:custGeom>
              <a:avLst/>
              <a:gdLst/>
              <a:ahLst/>
              <a:cxnLst>
                <a:cxn ang="0">
                  <a:pos x="30" y="0"/>
                </a:cxn>
                <a:cxn ang="0">
                  <a:pos x="10" y="9"/>
                </a:cxn>
                <a:cxn ang="0">
                  <a:pos x="14" y="32"/>
                </a:cxn>
                <a:cxn ang="0">
                  <a:pos x="26" y="36"/>
                </a:cxn>
                <a:cxn ang="0">
                  <a:pos x="30" y="0"/>
                </a:cxn>
              </a:cxnLst>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w="12700">
              <a:noFill/>
            </a:ln>
          </p:spPr>
          <p:txBody>
            <a:bodyPr/>
            <a:p>
              <a:endParaRPr lang="zh-CN" altLang="en-US"/>
            </a:p>
          </p:txBody>
        </p:sp>
        <p:sp>
          <p:nvSpPr>
            <p:cNvPr id="2140" name="Freeform 90"/>
            <p:cNvSpPr/>
            <p:nvPr/>
          </p:nvSpPr>
          <p:spPr>
            <a:xfrm>
              <a:off x="4659" y="3459"/>
              <a:ext cx="28" cy="28"/>
            </a:xfrm>
            <a:custGeom>
              <a:avLst/>
              <a:gdLst/>
              <a:ahLst/>
              <a:cxnLst>
                <a:cxn ang="0">
                  <a:pos x="34" y="2"/>
                </a:cxn>
                <a:cxn ang="0">
                  <a:pos x="10" y="2"/>
                </a:cxn>
                <a:cxn ang="0">
                  <a:pos x="14" y="25"/>
                </a:cxn>
                <a:cxn ang="0">
                  <a:pos x="26" y="29"/>
                </a:cxn>
                <a:cxn ang="0">
                  <a:pos x="34" y="2"/>
                </a:cxn>
              </a:cxnLst>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w="12700">
              <a:noFill/>
            </a:ln>
          </p:spPr>
          <p:txBody>
            <a:bodyPr/>
            <a:p>
              <a:endParaRPr lang="zh-CN" altLang="en-US"/>
            </a:p>
          </p:txBody>
        </p:sp>
        <p:sp>
          <p:nvSpPr>
            <p:cNvPr id="2141" name="Freeform 91"/>
            <p:cNvSpPr/>
            <p:nvPr/>
          </p:nvSpPr>
          <p:spPr>
            <a:xfrm>
              <a:off x="4693" y="3449"/>
              <a:ext cx="28" cy="26"/>
            </a:xfrm>
            <a:custGeom>
              <a:avLst/>
              <a:gdLst/>
              <a:ahLst/>
              <a:cxnLst>
                <a:cxn ang="0">
                  <a:pos x="34" y="2"/>
                </a:cxn>
                <a:cxn ang="0">
                  <a:pos x="10" y="2"/>
                </a:cxn>
                <a:cxn ang="0">
                  <a:pos x="16" y="22"/>
                </a:cxn>
                <a:cxn ang="0">
                  <a:pos x="27" y="22"/>
                </a:cxn>
                <a:cxn ang="0">
                  <a:pos x="34" y="2"/>
                </a:cxn>
              </a:cxnLst>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w="12700">
              <a:noFill/>
            </a:ln>
          </p:spPr>
          <p:txBody>
            <a:bodyPr/>
            <a:p>
              <a:endParaRPr lang="zh-CN" altLang="en-US"/>
            </a:p>
          </p:txBody>
        </p:sp>
        <p:sp>
          <p:nvSpPr>
            <p:cNvPr id="2142" name="Freeform 92"/>
            <p:cNvSpPr/>
            <p:nvPr/>
          </p:nvSpPr>
          <p:spPr>
            <a:xfrm>
              <a:off x="4683" y="3413"/>
              <a:ext cx="26" cy="20"/>
            </a:xfrm>
            <a:custGeom>
              <a:avLst/>
              <a:gdLst/>
              <a:ahLst/>
              <a:cxnLst>
                <a:cxn ang="0">
                  <a:pos x="31" y="1"/>
                </a:cxn>
                <a:cxn ang="0">
                  <a:pos x="10" y="2"/>
                </a:cxn>
                <a:cxn ang="0">
                  <a:pos x="13" y="15"/>
                </a:cxn>
                <a:cxn ang="0">
                  <a:pos x="25" y="19"/>
                </a:cxn>
                <a:cxn ang="0">
                  <a:pos x="31" y="1"/>
                </a:cxn>
              </a:cxnLst>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w="12700">
              <a:noFill/>
            </a:ln>
          </p:spPr>
          <p:txBody>
            <a:bodyPr/>
            <a:p>
              <a:endParaRPr lang="zh-CN" altLang="en-US"/>
            </a:p>
          </p:txBody>
        </p:sp>
        <p:sp>
          <p:nvSpPr>
            <p:cNvPr id="2143" name="Freeform 93"/>
            <p:cNvSpPr/>
            <p:nvPr/>
          </p:nvSpPr>
          <p:spPr>
            <a:xfrm>
              <a:off x="4657" y="3388"/>
              <a:ext cx="26" cy="35"/>
            </a:xfrm>
            <a:custGeom>
              <a:avLst/>
              <a:gdLst/>
              <a:ahLst/>
              <a:cxnLst>
                <a:cxn ang="0">
                  <a:pos x="28" y="16"/>
                </a:cxn>
                <a:cxn ang="0">
                  <a:pos x="19" y="2"/>
                </a:cxn>
                <a:cxn ang="0">
                  <a:pos x="10" y="25"/>
                </a:cxn>
                <a:cxn ang="0">
                  <a:pos x="19" y="35"/>
                </a:cxn>
                <a:cxn ang="0">
                  <a:pos x="27" y="29"/>
                </a:cxn>
                <a:cxn ang="0">
                  <a:pos x="28" y="16"/>
                </a:cxn>
              </a:cxnLst>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w="12700">
              <a:noFill/>
            </a:ln>
          </p:spPr>
          <p:txBody>
            <a:bodyPr/>
            <a:p>
              <a:endParaRPr lang="zh-CN" altLang="en-US"/>
            </a:p>
          </p:txBody>
        </p:sp>
        <p:sp>
          <p:nvSpPr>
            <p:cNvPr id="2144" name="Freeform 94"/>
            <p:cNvSpPr/>
            <p:nvPr/>
          </p:nvSpPr>
          <p:spPr>
            <a:xfrm>
              <a:off x="4625" y="3372"/>
              <a:ext cx="24" cy="26"/>
            </a:xfrm>
            <a:custGeom>
              <a:avLst/>
              <a:gdLst/>
              <a:ahLst/>
              <a:cxnLst>
                <a:cxn ang="0">
                  <a:pos x="22" y="10"/>
                </a:cxn>
                <a:cxn ang="0">
                  <a:pos x="10" y="2"/>
                </a:cxn>
                <a:cxn ang="0">
                  <a:pos x="12" y="23"/>
                </a:cxn>
                <a:cxn ang="0">
                  <a:pos x="24" y="27"/>
                </a:cxn>
                <a:cxn ang="0">
                  <a:pos x="22" y="10"/>
                </a:cxn>
              </a:cxnLst>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w="12700">
              <a:noFill/>
            </a:ln>
          </p:spPr>
          <p:txBody>
            <a:bodyPr/>
            <a:p>
              <a:endParaRPr lang="zh-CN" altLang="en-US"/>
            </a:p>
          </p:txBody>
        </p:sp>
        <p:sp>
          <p:nvSpPr>
            <p:cNvPr id="2145" name="Freeform 95"/>
            <p:cNvSpPr/>
            <p:nvPr/>
          </p:nvSpPr>
          <p:spPr>
            <a:xfrm>
              <a:off x="4665" y="3425"/>
              <a:ext cx="24" cy="26"/>
            </a:xfrm>
            <a:custGeom>
              <a:avLst/>
              <a:gdLst/>
              <a:ahLst/>
              <a:cxnLst>
                <a:cxn ang="0">
                  <a:pos x="22" y="10"/>
                </a:cxn>
                <a:cxn ang="0">
                  <a:pos x="10" y="2"/>
                </a:cxn>
                <a:cxn ang="0">
                  <a:pos x="12" y="23"/>
                </a:cxn>
                <a:cxn ang="0">
                  <a:pos x="24" y="27"/>
                </a:cxn>
                <a:cxn ang="0">
                  <a:pos x="22" y="10"/>
                </a:cxn>
              </a:cxnLst>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w="12700">
              <a:noFill/>
            </a:ln>
          </p:spPr>
          <p:txBody>
            <a:bodyPr/>
            <a:p>
              <a:endParaRPr lang="zh-CN" altLang="en-US"/>
            </a:p>
          </p:txBody>
        </p:sp>
        <p:sp>
          <p:nvSpPr>
            <p:cNvPr id="2146" name="Freeform 96"/>
            <p:cNvSpPr/>
            <p:nvPr/>
          </p:nvSpPr>
          <p:spPr>
            <a:xfrm>
              <a:off x="3055" y="2051"/>
              <a:ext cx="141" cy="108"/>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w="12700">
              <a:noFill/>
            </a:ln>
          </p:spPr>
          <p:txBody>
            <a:bodyPr/>
            <a:p>
              <a:endParaRPr lang="zh-CN" altLang="en-US"/>
            </a:p>
          </p:txBody>
        </p:sp>
        <p:sp>
          <p:nvSpPr>
            <p:cNvPr id="2147" name="Freeform 97"/>
            <p:cNvSpPr/>
            <p:nvPr/>
          </p:nvSpPr>
          <p:spPr>
            <a:xfrm>
              <a:off x="3139" y="2155"/>
              <a:ext cx="40" cy="12"/>
            </a:xfrm>
            <a:custGeom>
              <a:avLst/>
              <a:gdLst/>
              <a:ahLst/>
              <a:cxnLst>
                <a:cxn ang="0">
                  <a:pos x="24" y="0"/>
                </a:cxn>
                <a:cxn ang="0">
                  <a:pos x="12" y="2"/>
                </a:cxn>
                <a:cxn ang="0">
                  <a:pos x="32" y="16"/>
                </a:cxn>
                <a:cxn ang="0">
                  <a:pos x="44" y="14"/>
                </a:cxn>
                <a:cxn ang="0">
                  <a:pos x="24" y="0"/>
                </a:cxn>
              </a:cxnLst>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w="12700">
              <a:noFill/>
            </a:ln>
          </p:spPr>
          <p:txBody>
            <a:bodyPr/>
            <a:p>
              <a:endParaRPr lang="zh-CN" altLang="en-US"/>
            </a:p>
          </p:txBody>
        </p:sp>
        <p:sp>
          <p:nvSpPr>
            <p:cNvPr id="2148" name="Freeform 98"/>
            <p:cNvSpPr/>
            <p:nvPr/>
          </p:nvSpPr>
          <p:spPr>
            <a:xfrm>
              <a:off x="3344" y="1999"/>
              <a:ext cx="42" cy="28"/>
            </a:xfrm>
            <a:custGeom>
              <a:avLst/>
              <a:gdLst/>
              <a:ahLst/>
              <a:cxnLst>
                <a:cxn ang="0">
                  <a:pos x="57" y="4"/>
                </a:cxn>
                <a:cxn ang="0">
                  <a:pos x="25" y="24"/>
                </a:cxn>
                <a:cxn ang="0">
                  <a:pos x="11" y="34"/>
                </a:cxn>
                <a:cxn ang="0">
                  <a:pos x="9" y="4"/>
                </a:cxn>
                <a:cxn ang="0">
                  <a:pos x="21" y="0"/>
                </a:cxn>
                <a:cxn ang="0">
                  <a:pos x="57" y="4"/>
                </a:cxn>
              </a:cxnLst>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w="12700">
              <a:noFill/>
            </a:ln>
          </p:spPr>
          <p:txBody>
            <a:bodyPr/>
            <a:p>
              <a:endParaRPr lang="zh-CN" altLang="en-US"/>
            </a:p>
          </p:txBody>
        </p:sp>
        <p:sp>
          <p:nvSpPr>
            <p:cNvPr id="2149" name="Freeform 99"/>
            <p:cNvSpPr/>
            <p:nvPr/>
          </p:nvSpPr>
          <p:spPr>
            <a:xfrm>
              <a:off x="3374" y="2012"/>
              <a:ext cx="50" cy="20"/>
            </a:xfrm>
            <a:custGeom>
              <a:avLst/>
              <a:gdLst/>
              <a:ahLst/>
              <a:cxnLst>
                <a:cxn ang="0">
                  <a:pos x="29" y="0"/>
                </a:cxn>
                <a:cxn ang="0">
                  <a:pos x="11" y="6"/>
                </a:cxn>
                <a:cxn ang="0">
                  <a:pos x="57" y="26"/>
                </a:cxn>
                <a:cxn ang="0">
                  <a:pos x="63" y="24"/>
                </a:cxn>
                <a:cxn ang="0">
                  <a:pos x="29" y="0"/>
                </a:cxn>
              </a:cxnLst>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w="12700">
              <a:noFill/>
            </a:ln>
          </p:spPr>
          <p:txBody>
            <a:bodyPr/>
            <a:p>
              <a:endParaRPr lang="zh-CN" altLang="en-US"/>
            </a:p>
          </p:txBody>
        </p:sp>
        <p:sp>
          <p:nvSpPr>
            <p:cNvPr id="2150" name="Freeform 100"/>
            <p:cNvSpPr/>
            <p:nvPr/>
          </p:nvSpPr>
          <p:spPr>
            <a:xfrm>
              <a:off x="3428" y="2015"/>
              <a:ext cx="50" cy="32"/>
            </a:xfrm>
            <a:custGeom>
              <a:avLst/>
              <a:gdLst/>
              <a:ahLst/>
              <a:cxnLst>
                <a:cxn ang="0">
                  <a:pos x="50" y="9"/>
                </a:cxn>
                <a:cxn ang="0">
                  <a:pos x="26" y="9"/>
                </a:cxn>
                <a:cxn ang="0">
                  <a:pos x="10" y="9"/>
                </a:cxn>
                <a:cxn ang="0">
                  <a:pos x="8" y="35"/>
                </a:cxn>
                <a:cxn ang="0">
                  <a:pos x="32" y="43"/>
                </a:cxn>
                <a:cxn ang="0">
                  <a:pos x="62" y="27"/>
                </a:cxn>
                <a:cxn ang="0">
                  <a:pos x="50" y="9"/>
                </a:cxn>
              </a:cxnLst>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w="12700">
              <a:noFill/>
            </a:ln>
          </p:spPr>
          <p:txBody>
            <a:bodyPr/>
            <a:p>
              <a:endParaRPr lang="zh-CN" altLang="en-US"/>
            </a:p>
          </p:txBody>
        </p:sp>
        <p:sp>
          <p:nvSpPr>
            <p:cNvPr id="2151" name="Freeform 101"/>
            <p:cNvSpPr/>
            <p:nvPr/>
          </p:nvSpPr>
          <p:spPr>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w="12700">
              <a:noFill/>
            </a:ln>
          </p:spPr>
          <p:txBody>
            <a:bodyPr/>
            <a:p>
              <a:endParaRPr lang="zh-CN" altLang="en-US"/>
            </a:p>
          </p:txBody>
        </p:sp>
        <p:sp>
          <p:nvSpPr>
            <p:cNvPr id="2152" name="Freeform 102"/>
            <p:cNvSpPr/>
            <p:nvPr/>
          </p:nvSpPr>
          <p:spPr>
            <a:xfrm>
              <a:off x="3867" y="2041"/>
              <a:ext cx="46" cy="24"/>
            </a:xfrm>
            <a:custGeom>
              <a:avLst/>
              <a:gdLst/>
              <a:ahLst/>
              <a:cxnLst>
                <a:cxn ang="0">
                  <a:pos x="32" y="4"/>
                </a:cxn>
                <a:cxn ang="0">
                  <a:pos x="62" y="10"/>
                </a:cxn>
                <a:cxn ang="0">
                  <a:pos x="30" y="32"/>
                </a:cxn>
                <a:cxn ang="0">
                  <a:pos x="6" y="22"/>
                </a:cxn>
                <a:cxn ang="0">
                  <a:pos x="32" y="4"/>
                </a:cxn>
              </a:cxnLst>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w="12700">
              <a:noFill/>
            </a:ln>
          </p:spPr>
          <p:txBody>
            <a:bodyPr/>
            <a:p>
              <a:endParaRPr lang="zh-CN" altLang="en-US"/>
            </a:p>
          </p:txBody>
        </p:sp>
        <p:sp>
          <p:nvSpPr>
            <p:cNvPr id="2153" name="Freeform 103"/>
            <p:cNvSpPr/>
            <p:nvPr/>
          </p:nvSpPr>
          <p:spPr>
            <a:xfrm>
              <a:off x="3846" y="2070"/>
              <a:ext cx="37" cy="17"/>
            </a:xfrm>
            <a:custGeom>
              <a:avLst/>
              <a:gdLst/>
              <a:ahLst/>
              <a:cxnLst>
                <a:cxn ang="0">
                  <a:pos x="20" y="1"/>
                </a:cxn>
                <a:cxn ang="0">
                  <a:pos x="6" y="5"/>
                </a:cxn>
                <a:cxn ang="0">
                  <a:pos x="38" y="23"/>
                </a:cxn>
                <a:cxn ang="0">
                  <a:pos x="20" y="1"/>
                </a:cxn>
              </a:cxnLst>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w="12700">
              <a:noFill/>
            </a:ln>
          </p:spPr>
          <p:txBody>
            <a:bodyPr/>
            <a:p>
              <a:endParaRPr lang="zh-CN" altLang="en-US"/>
            </a:p>
          </p:txBody>
        </p:sp>
        <p:sp>
          <p:nvSpPr>
            <p:cNvPr id="2154" name="Freeform 104"/>
            <p:cNvSpPr/>
            <p:nvPr/>
          </p:nvSpPr>
          <p:spPr>
            <a:xfrm>
              <a:off x="4098" y="2294"/>
              <a:ext cx="76"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w="12700">
              <a:noFill/>
            </a:ln>
          </p:spPr>
          <p:txBody>
            <a:bodyPr/>
            <a:p>
              <a:endParaRPr lang="zh-CN" altLang="en-US"/>
            </a:p>
          </p:txBody>
        </p:sp>
        <p:sp>
          <p:nvSpPr>
            <p:cNvPr id="2155" name="Freeform 105"/>
            <p:cNvSpPr/>
            <p:nvPr/>
          </p:nvSpPr>
          <p:spPr>
            <a:xfrm>
              <a:off x="4159" y="2412"/>
              <a:ext cx="55" cy="78"/>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w="12700">
              <a:noFill/>
            </a:ln>
          </p:spPr>
          <p:txBody>
            <a:bodyPr/>
            <a:p>
              <a:endParaRPr lang="zh-CN" altLang="en-US"/>
            </a:p>
          </p:txBody>
        </p:sp>
        <p:sp>
          <p:nvSpPr>
            <p:cNvPr id="2156" name="Freeform 106"/>
            <p:cNvSpPr/>
            <p:nvPr/>
          </p:nvSpPr>
          <p:spPr>
            <a:xfrm>
              <a:off x="4123" y="2492"/>
              <a:ext cx="109" cy="189"/>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w="12700">
              <a:noFill/>
            </a:ln>
          </p:spPr>
          <p:txBody>
            <a:bodyPr/>
            <a:p>
              <a:endParaRPr lang="zh-CN" altLang="en-US"/>
            </a:p>
          </p:txBody>
        </p:sp>
        <p:sp>
          <p:nvSpPr>
            <p:cNvPr id="2157" name="Freeform 107"/>
            <p:cNvSpPr/>
            <p:nvPr/>
          </p:nvSpPr>
          <p:spPr>
            <a:xfrm>
              <a:off x="3062" y="1988"/>
              <a:ext cx="52" cy="30"/>
            </a:xfrm>
            <a:custGeom>
              <a:avLst/>
              <a:gdLst/>
              <a:ahLst/>
              <a:cxnLst>
                <a:cxn ang="0">
                  <a:pos x="59" y="0"/>
                </a:cxn>
                <a:cxn ang="0">
                  <a:pos x="65" y="20"/>
                </a:cxn>
                <a:cxn ang="0">
                  <a:pos x="41" y="24"/>
                </a:cxn>
                <a:cxn ang="0">
                  <a:pos x="31" y="40"/>
                </a:cxn>
                <a:cxn ang="0">
                  <a:pos x="7" y="38"/>
                </a:cxn>
                <a:cxn ang="0">
                  <a:pos x="1" y="36"/>
                </a:cxn>
                <a:cxn ang="0">
                  <a:pos x="33" y="20"/>
                </a:cxn>
                <a:cxn ang="0">
                  <a:pos x="59" y="0"/>
                </a:cxn>
              </a:cxnLst>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w="12700">
              <a:noFill/>
            </a:ln>
          </p:spPr>
          <p:txBody>
            <a:bodyPr/>
            <a:p>
              <a:endParaRPr lang="zh-CN" altLang="en-US"/>
            </a:p>
          </p:txBody>
        </p:sp>
        <p:sp>
          <p:nvSpPr>
            <p:cNvPr id="2158" name="Freeform 108"/>
            <p:cNvSpPr/>
            <p:nvPr/>
          </p:nvSpPr>
          <p:spPr>
            <a:xfrm>
              <a:off x="2955" y="1997"/>
              <a:ext cx="19" cy="22"/>
            </a:xfrm>
            <a:custGeom>
              <a:avLst/>
              <a:gdLst/>
              <a:ahLst/>
              <a:cxnLst>
                <a:cxn ang="0">
                  <a:pos x="18" y="0"/>
                </a:cxn>
                <a:cxn ang="0">
                  <a:pos x="0" y="18"/>
                </a:cxn>
                <a:cxn ang="0">
                  <a:pos x="18" y="26"/>
                </a:cxn>
                <a:cxn ang="0">
                  <a:pos x="18" y="0"/>
                </a:cxn>
              </a:cxnLst>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w="12700">
              <a:noFill/>
            </a:ln>
          </p:spPr>
          <p:txBody>
            <a:bodyPr/>
            <a:p>
              <a:endParaRPr lang="zh-CN" altLang="en-US"/>
            </a:p>
          </p:txBody>
        </p:sp>
        <p:sp>
          <p:nvSpPr>
            <p:cNvPr id="2159" name="Freeform 109"/>
            <p:cNvSpPr/>
            <p:nvPr/>
          </p:nvSpPr>
          <p:spPr>
            <a:xfrm>
              <a:off x="2979" y="1996"/>
              <a:ext cx="37" cy="27"/>
            </a:xfrm>
            <a:custGeom>
              <a:avLst/>
              <a:gdLst/>
              <a:ahLst/>
              <a:cxnLst>
                <a:cxn ang="0">
                  <a:pos x="14" y="6"/>
                </a:cxn>
                <a:cxn ang="0">
                  <a:pos x="0" y="18"/>
                </a:cxn>
                <a:cxn ang="0">
                  <a:pos x="6" y="32"/>
                </a:cxn>
                <a:cxn ang="0">
                  <a:pos x="18" y="36"/>
                </a:cxn>
                <a:cxn ang="0">
                  <a:pos x="40" y="26"/>
                </a:cxn>
                <a:cxn ang="0">
                  <a:pos x="14" y="6"/>
                </a:cxn>
              </a:cxnLst>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w="12700">
              <a:noFill/>
            </a:ln>
          </p:spPr>
          <p:txBody>
            <a:bodyPr/>
            <a:p>
              <a:endParaRPr lang="zh-CN" altLang="en-US"/>
            </a:p>
          </p:txBody>
        </p:sp>
        <p:sp>
          <p:nvSpPr>
            <p:cNvPr id="2160" name="Freeform 110"/>
            <p:cNvSpPr/>
            <p:nvPr/>
          </p:nvSpPr>
          <p:spPr>
            <a:xfrm>
              <a:off x="3040" y="1987"/>
              <a:ext cx="20" cy="16"/>
            </a:xfrm>
            <a:custGeom>
              <a:avLst/>
              <a:gdLst/>
              <a:ahLst/>
              <a:cxnLst>
                <a:cxn ang="0">
                  <a:pos x="11" y="0"/>
                </a:cxn>
                <a:cxn ang="0">
                  <a:pos x="3" y="12"/>
                </a:cxn>
                <a:cxn ang="0">
                  <a:pos x="19" y="22"/>
                </a:cxn>
                <a:cxn ang="0">
                  <a:pos x="11" y="0"/>
                </a:cxn>
              </a:cxnLst>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w="12700">
              <a:noFill/>
            </a:ln>
          </p:spPr>
          <p:txBody>
            <a:bodyPr/>
            <a:p>
              <a:endParaRPr lang="zh-CN" altLang="en-US"/>
            </a:p>
          </p:txBody>
        </p:sp>
        <p:sp>
          <p:nvSpPr>
            <p:cNvPr id="2161" name="Freeform 111"/>
            <p:cNvSpPr/>
            <p:nvPr/>
          </p:nvSpPr>
          <p:spPr>
            <a:xfrm>
              <a:off x="3022" y="2005"/>
              <a:ext cx="15" cy="13"/>
            </a:xfrm>
            <a:custGeom>
              <a:avLst/>
              <a:gdLst/>
              <a:ahLst/>
              <a:cxnLst>
                <a:cxn ang="0">
                  <a:pos x="11" y="0"/>
                </a:cxn>
                <a:cxn ang="0">
                  <a:pos x="9" y="18"/>
                </a:cxn>
                <a:cxn ang="0">
                  <a:pos x="11" y="0"/>
                </a:cxn>
              </a:cxnLst>
              <a:pathLst>
                <a:path w="20" h="18">
                  <a:moveTo>
                    <a:pt x="11" y="0"/>
                  </a:moveTo>
                  <a:cubicBezTo>
                    <a:pt x="1" y="14"/>
                    <a:pt x="0" y="9"/>
                    <a:pt x="9" y="18"/>
                  </a:cubicBezTo>
                  <a:cubicBezTo>
                    <a:pt x="20" y="14"/>
                    <a:pt x="16" y="18"/>
                    <a:pt x="11" y="0"/>
                  </a:cubicBezTo>
                  <a:close/>
                </a:path>
              </a:pathLst>
            </a:custGeom>
            <a:solidFill>
              <a:srgbClr val="FEFEFE">
                <a:alpha val="30196"/>
              </a:srgbClr>
            </a:solidFill>
            <a:ln w="12700">
              <a:noFill/>
            </a:ln>
          </p:spPr>
          <p:txBody>
            <a:bodyPr/>
            <a:p>
              <a:endParaRPr lang="zh-CN" altLang="en-US"/>
            </a:p>
          </p:txBody>
        </p:sp>
        <p:sp>
          <p:nvSpPr>
            <p:cNvPr id="2162" name="Freeform 112"/>
            <p:cNvSpPr/>
            <p:nvPr/>
          </p:nvSpPr>
          <p:spPr>
            <a:xfrm>
              <a:off x="4162" y="2021"/>
              <a:ext cx="18" cy="33"/>
            </a:xfrm>
            <a:custGeom>
              <a:avLst/>
              <a:gdLst/>
              <a:ahLst/>
              <a:cxnLst>
                <a:cxn ang="0">
                  <a:pos x="24" y="0"/>
                </a:cxn>
                <a:cxn ang="0">
                  <a:pos x="8" y="16"/>
                </a:cxn>
                <a:cxn ang="0">
                  <a:pos x="0" y="34"/>
                </a:cxn>
                <a:cxn ang="0">
                  <a:pos x="16" y="40"/>
                </a:cxn>
                <a:cxn ang="0">
                  <a:pos x="24" y="0"/>
                </a:cxn>
              </a:cxnLst>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w="12700">
              <a:noFill/>
            </a:ln>
          </p:spPr>
          <p:txBody>
            <a:bodyPr/>
            <a:p>
              <a:endParaRPr lang="zh-CN" altLang="en-US"/>
            </a:p>
          </p:txBody>
        </p:sp>
        <p:sp>
          <p:nvSpPr>
            <p:cNvPr id="2163" name="Freeform 113"/>
            <p:cNvSpPr/>
            <p:nvPr/>
          </p:nvSpPr>
          <p:spPr>
            <a:xfrm>
              <a:off x="3278" y="3473"/>
              <a:ext cx="31" cy="18"/>
            </a:xfrm>
            <a:custGeom>
              <a:avLst/>
              <a:gdLst/>
              <a:ahLst/>
              <a:cxnLst>
                <a:cxn ang="0">
                  <a:pos x="30" y="0"/>
                </a:cxn>
                <a:cxn ang="0">
                  <a:pos x="26" y="24"/>
                </a:cxn>
                <a:cxn ang="0">
                  <a:pos x="30" y="0"/>
                </a:cxn>
              </a:cxnLst>
              <a:pathLst>
                <a:path w="41" h="24">
                  <a:moveTo>
                    <a:pt x="30" y="0"/>
                  </a:moveTo>
                  <a:cubicBezTo>
                    <a:pt x="4" y="4"/>
                    <a:pt x="0" y="17"/>
                    <a:pt x="26" y="24"/>
                  </a:cubicBezTo>
                  <a:cubicBezTo>
                    <a:pt x="41" y="19"/>
                    <a:pt x="38" y="10"/>
                    <a:pt x="30" y="0"/>
                  </a:cubicBezTo>
                  <a:close/>
                </a:path>
              </a:pathLst>
            </a:custGeom>
            <a:solidFill>
              <a:srgbClr val="FEFEFE">
                <a:alpha val="30196"/>
              </a:srgbClr>
            </a:solidFill>
            <a:ln w="12700">
              <a:noFill/>
            </a:ln>
          </p:spPr>
          <p:txBody>
            <a:bodyPr/>
            <a:p>
              <a:endParaRPr lang="zh-CN" altLang="en-US"/>
            </a:p>
          </p:txBody>
        </p:sp>
        <p:sp>
          <p:nvSpPr>
            <p:cNvPr id="2164" name="Freeform 114"/>
            <p:cNvSpPr/>
            <p:nvPr/>
          </p:nvSpPr>
          <p:spPr>
            <a:xfrm>
              <a:off x="3318" y="3466"/>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5" name="Freeform 115"/>
            <p:cNvSpPr/>
            <p:nvPr/>
          </p:nvSpPr>
          <p:spPr>
            <a:xfrm>
              <a:off x="3251" y="3312"/>
              <a:ext cx="9"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6" name="Freeform 116"/>
            <p:cNvSpPr/>
            <p:nvPr/>
          </p:nvSpPr>
          <p:spPr>
            <a:xfrm>
              <a:off x="3311" y="3239"/>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67" name="Freeform 117"/>
            <p:cNvSpPr/>
            <p:nvPr/>
          </p:nvSpPr>
          <p:spPr>
            <a:xfrm>
              <a:off x="3287" y="3238"/>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68" name="Freeform 118"/>
            <p:cNvSpPr/>
            <p:nvPr/>
          </p:nvSpPr>
          <p:spPr>
            <a:xfrm>
              <a:off x="3276" y="3260"/>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9" name="Freeform 119"/>
            <p:cNvSpPr/>
            <p:nvPr/>
          </p:nvSpPr>
          <p:spPr>
            <a:xfrm>
              <a:off x="3251" y="3294"/>
              <a:ext cx="9"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0" name="Freeform 120"/>
            <p:cNvSpPr/>
            <p:nvPr/>
          </p:nvSpPr>
          <p:spPr>
            <a:xfrm>
              <a:off x="3270" y="3281"/>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1" name="Freeform 121"/>
            <p:cNvSpPr/>
            <p:nvPr/>
          </p:nvSpPr>
          <p:spPr>
            <a:xfrm>
              <a:off x="2537" y="2293"/>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2" name="Freeform 122"/>
            <p:cNvSpPr/>
            <p:nvPr/>
          </p:nvSpPr>
          <p:spPr>
            <a:xfrm>
              <a:off x="2476" y="2259"/>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3" name="Freeform 123"/>
            <p:cNvSpPr/>
            <p:nvPr/>
          </p:nvSpPr>
          <p:spPr>
            <a:xfrm>
              <a:off x="2238" y="2042"/>
              <a:ext cx="2060" cy="1644"/>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w="12700">
              <a:noFill/>
            </a:ln>
          </p:spPr>
          <p:txBody>
            <a:bodyPr/>
            <a:p>
              <a:endParaRPr lang="zh-CN" altLang="en-US"/>
            </a:p>
          </p:txBody>
        </p:sp>
      </p:grpSp>
      <p:pic>
        <p:nvPicPr>
          <p:cNvPr id="2052" name="Picture 7" descr="artplus_nature_naturalcity42_a"/>
          <p:cNvPicPr>
            <a:picLocks noChangeAspect="1"/>
          </p:cNvPicPr>
          <p:nvPr/>
        </p:nvPicPr>
        <p:blipFill>
          <a:blip r:embed="rId3"/>
          <a:stretch>
            <a:fillRect/>
          </a:stretch>
        </p:blipFill>
        <p:spPr>
          <a:xfrm>
            <a:off x="4870450" y="3167063"/>
            <a:ext cx="4425950" cy="2989262"/>
          </a:xfrm>
          <a:prstGeom prst="rect">
            <a:avLst/>
          </a:prstGeom>
          <a:noFill/>
          <a:ln w="9525">
            <a:noFill/>
          </a:ln>
        </p:spPr>
      </p:pic>
      <p:pic>
        <p:nvPicPr>
          <p:cNvPr id="2053" name="Picture 12" descr="artplus_nature_naturalcity42_i"/>
          <p:cNvPicPr>
            <a:picLocks noChangeAspect="1"/>
          </p:cNvPicPr>
          <p:nvPr/>
        </p:nvPicPr>
        <p:blipFill>
          <a:blip r:embed="rId4"/>
          <a:stretch>
            <a:fillRect/>
          </a:stretch>
        </p:blipFill>
        <p:spPr>
          <a:xfrm>
            <a:off x="6956425" y="3352800"/>
            <a:ext cx="1654175" cy="877888"/>
          </a:xfrm>
          <a:prstGeom prst="rect">
            <a:avLst/>
          </a:prstGeom>
          <a:noFill/>
          <a:ln w="9525">
            <a:noFill/>
          </a:ln>
        </p:spPr>
      </p:pic>
      <p:pic>
        <p:nvPicPr>
          <p:cNvPr id="2054" name="Picture 10" descr="artplus_nature_naturalcity42_c"/>
          <p:cNvPicPr>
            <a:picLocks noChangeAspect="1"/>
          </p:cNvPicPr>
          <p:nvPr/>
        </p:nvPicPr>
        <p:blipFill>
          <a:blip r:embed="rId5"/>
          <a:stretch>
            <a:fillRect/>
          </a:stretch>
        </p:blipFill>
        <p:spPr>
          <a:xfrm>
            <a:off x="7315200" y="3429000"/>
            <a:ext cx="1112838" cy="866775"/>
          </a:xfrm>
          <a:prstGeom prst="rect">
            <a:avLst/>
          </a:prstGeom>
          <a:noFill/>
          <a:ln w="9525">
            <a:noFill/>
          </a:ln>
        </p:spPr>
      </p:pic>
      <p:pic>
        <p:nvPicPr>
          <p:cNvPr id="2055" name="Picture 13" descr="artplus_nature_naturalcity42_f"/>
          <p:cNvPicPr>
            <a:picLocks noChangeAspect="1"/>
          </p:cNvPicPr>
          <p:nvPr/>
        </p:nvPicPr>
        <p:blipFill>
          <a:blip r:embed="rId6"/>
          <a:stretch>
            <a:fillRect/>
          </a:stretch>
        </p:blipFill>
        <p:spPr>
          <a:xfrm>
            <a:off x="4994275" y="4594225"/>
            <a:ext cx="4911725" cy="1882775"/>
          </a:xfrm>
          <a:prstGeom prst="rect">
            <a:avLst/>
          </a:prstGeom>
          <a:noFill/>
          <a:ln w="9525">
            <a:noFill/>
          </a:ln>
        </p:spPr>
      </p:pic>
      <p:pic>
        <p:nvPicPr>
          <p:cNvPr id="2056" name="Picture 9" descr="artplus_nature_naturalcity42_b"/>
          <p:cNvPicPr>
            <a:picLocks noChangeAspect="1"/>
          </p:cNvPicPr>
          <p:nvPr/>
        </p:nvPicPr>
        <p:blipFill>
          <a:blip r:embed="rId7"/>
          <a:stretch>
            <a:fillRect/>
          </a:stretch>
        </p:blipFill>
        <p:spPr>
          <a:xfrm>
            <a:off x="5195888" y="3097213"/>
            <a:ext cx="2971800" cy="571500"/>
          </a:xfrm>
          <a:prstGeom prst="rect">
            <a:avLst/>
          </a:prstGeom>
          <a:noFill/>
          <a:ln w="9525">
            <a:noFill/>
          </a:ln>
        </p:spPr>
      </p:pic>
      <p:pic>
        <p:nvPicPr>
          <p:cNvPr id="2057" name="Picture 8" descr="artplus_nature_naturalcity42_e"/>
          <p:cNvPicPr>
            <a:picLocks noChangeAspect="1"/>
          </p:cNvPicPr>
          <p:nvPr/>
        </p:nvPicPr>
        <p:blipFill>
          <a:blip r:embed="rId8"/>
          <a:stretch>
            <a:fillRect/>
          </a:stretch>
        </p:blipFill>
        <p:spPr>
          <a:xfrm>
            <a:off x="5943600" y="1993900"/>
            <a:ext cx="1546225" cy="1663700"/>
          </a:xfrm>
          <a:prstGeom prst="rect">
            <a:avLst/>
          </a:prstGeom>
          <a:noFill/>
          <a:ln w="9525">
            <a:noFill/>
          </a:ln>
        </p:spPr>
      </p:pic>
      <p:pic>
        <p:nvPicPr>
          <p:cNvPr id="2058" name="Picture 11" descr="artplus_nature_naturalcity42_d"/>
          <p:cNvPicPr>
            <a:picLocks noChangeAspect="1"/>
          </p:cNvPicPr>
          <p:nvPr/>
        </p:nvPicPr>
        <p:blipFill>
          <a:blip r:embed="rId9"/>
          <a:stretch>
            <a:fillRect/>
          </a:stretch>
        </p:blipFill>
        <p:spPr>
          <a:xfrm>
            <a:off x="5626100" y="2862263"/>
            <a:ext cx="623888" cy="579437"/>
          </a:xfrm>
          <a:prstGeom prst="rect">
            <a:avLst/>
          </a:prstGeom>
          <a:noFill/>
          <a:ln w="9525">
            <a:noFill/>
          </a:ln>
        </p:spPr>
      </p:pic>
      <p:pic>
        <p:nvPicPr>
          <p:cNvPr id="2059" name="Picture 128" descr="a1"/>
          <p:cNvPicPr>
            <a:picLocks noChangeAspect="1"/>
          </p:cNvPicPr>
          <p:nvPr userDrawn="1"/>
        </p:nvPicPr>
        <p:blipFill>
          <a:blip r:embed="rId10"/>
          <a:stretch>
            <a:fillRect/>
          </a:stretch>
        </p:blipFill>
        <p:spPr>
          <a:xfrm>
            <a:off x="914400" y="2286000"/>
            <a:ext cx="1803400" cy="2070100"/>
          </a:xfrm>
          <a:prstGeom prst="rect">
            <a:avLst/>
          </a:prstGeom>
          <a:noFill/>
          <a:ln w="9525">
            <a:noFill/>
          </a:ln>
        </p:spPr>
      </p:pic>
      <p:pic>
        <p:nvPicPr>
          <p:cNvPr id="2060" name="Picture 129" descr="b_1"/>
          <p:cNvPicPr>
            <a:picLocks noChangeAspect="1"/>
          </p:cNvPicPr>
          <p:nvPr userDrawn="1"/>
        </p:nvPicPr>
        <p:blipFill>
          <a:blip r:embed="rId11"/>
          <a:stretch>
            <a:fillRect/>
          </a:stretch>
        </p:blipFill>
        <p:spPr>
          <a:xfrm>
            <a:off x="2286000" y="3581400"/>
            <a:ext cx="1079500" cy="469900"/>
          </a:xfrm>
          <a:prstGeom prst="rect">
            <a:avLst/>
          </a:prstGeom>
          <a:noFill/>
          <a:ln w="9525">
            <a:noFill/>
          </a:ln>
        </p:spPr>
      </p:pic>
      <p:sp>
        <p:nvSpPr>
          <p:cNvPr id="4098" name="Rectangle 2"/>
          <p:cNvSpPr>
            <a:spLocks noGrp="1" noChangeArrowheads="1"/>
          </p:cNvSpPr>
          <p:nvPr>
            <p:ph type="ctrTitle"/>
          </p:nvPr>
        </p:nvSpPr>
        <p:spPr>
          <a:xfrm>
            <a:off x="304800" y="4419600"/>
            <a:ext cx="6400800" cy="1143000"/>
          </a:xfrm>
        </p:spPr>
        <p:txBody>
          <a:bodyPr/>
          <a:lstStyle>
            <a:lvl1pPr algn="l">
              <a:defRPr sz="4300">
                <a:solidFill>
                  <a:schemeClr val="bg1"/>
                </a:solidFill>
              </a:defRPr>
            </a:lvl1pPr>
          </a:lstStyle>
          <a:p>
            <a:r>
              <a:rPr lang="en-US" altLang="zh-CN"/>
              <a:t>Click to edit Master title style</a:t>
            </a:r>
            <a:endParaRPr lang="en-US" altLang="zh-CN"/>
          </a:p>
        </p:txBody>
      </p:sp>
      <p:sp>
        <p:nvSpPr>
          <p:cNvPr id="4099" name="Rectangle 3"/>
          <p:cNvSpPr>
            <a:spLocks noGrp="1" noChangeArrowheads="1"/>
          </p:cNvSpPr>
          <p:nvPr>
            <p:ph type="subTitle" idx="1"/>
          </p:nvPr>
        </p:nvSpPr>
        <p:spPr>
          <a:xfrm>
            <a:off x="304800" y="5715000"/>
            <a:ext cx="6400800" cy="381000"/>
          </a:xfrm>
        </p:spPr>
        <p:txBody>
          <a:bodyPr/>
          <a:lstStyle>
            <a:lvl1pPr marL="0" indent="0">
              <a:buFont typeface="Wingdings" panose="05000000000000000000" pitchFamily="2" charset="2"/>
              <a:buNone/>
              <a:defRPr sz="1800" b="1" i="1">
                <a:solidFill>
                  <a:schemeClr val="bg1"/>
                </a:solidFill>
              </a:defRPr>
            </a:lvl1pPr>
          </a:lstStyle>
          <a:p>
            <a:r>
              <a:rPr lang="en-US" altLang="zh-CN"/>
              <a:t>Click to edit Master subtitle style</a:t>
            </a:r>
            <a:endParaRPr lang="en-US" altLang="zh-CN"/>
          </a:p>
        </p:txBody>
      </p:sp>
      <p:sp>
        <p:nvSpPr>
          <p:cNvPr id="137" name="Rectangle 4"/>
          <p:cNvSpPr>
            <a:spLocks noGrp="1" noChangeArrowheads="1"/>
          </p:cNvSpPr>
          <p:nvPr>
            <p:ph type="dt" sz="half" idx="2"/>
          </p:nvPr>
        </p:nvSpPr>
        <p:spPr bwMode="auto">
          <a:xfrm>
            <a:off x="304800" y="6477000"/>
            <a:ext cx="2133600" cy="168275"/>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38" name="Rectangle 5"/>
          <p:cNvSpPr>
            <a:spLocks noGrp="1" noChangeArrowheads="1"/>
          </p:cNvSpPr>
          <p:nvPr>
            <p:ph type="ftr" sz="quarter" idx="3"/>
          </p:nvPr>
        </p:nvSpPr>
        <p:spPr bwMode="auto">
          <a:xfrm>
            <a:off x="6705600" y="6477000"/>
            <a:ext cx="2286000" cy="168275"/>
          </a:xfrm>
          <a:prstGeom prst="rect">
            <a:avLst/>
          </a:prstGeom>
          <a:ln>
            <a:miter lim="800000"/>
          </a:ln>
        </p:spPr>
        <p:txBody>
          <a:bodyPr vert="horz" wrap="square" lIns="91440" tIns="45720" rIns="91440" bIns="45720" numCol="1" anchor="t" anchorCtr="0" compatLnSpc="1"/>
          <a:lstStyle>
            <a:lvl1pPr algn="r">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rPr>
              <a:t>www.themegallery.com</a:t>
            </a: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39" name="Rectangle 6"/>
          <p:cNvSpPr>
            <a:spLocks noGrp="1" noChangeArrowheads="1"/>
          </p:cNvSpPr>
          <p:nvPr>
            <p:ph type="sldNum" sz="quarter" idx="4"/>
          </p:nvPr>
        </p:nvSpPr>
        <p:spPr bwMode="auto">
          <a:xfrm>
            <a:off x="3657600" y="6477000"/>
            <a:ext cx="2133600" cy="168275"/>
          </a:xfrm>
          <a:prstGeom prst="rect">
            <a:avLst/>
          </a:prstGeom>
          <a:ln>
            <a:miter lim="800000"/>
          </a:ln>
        </p:spPr>
        <p:txBody>
          <a:bodyPr vert="horz" wrap="square" lIns="91440" tIns="45720" rIns="91440" bIns="45720" numCol="1" anchor="t" anchorCtr="0" compatLnSpc="1"/>
          <a:p>
            <a:pPr algn="ctr">
              <a:buNone/>
            </a:pPr>
            <a:fld id="{9A0DB2DC-4C9A-4742-B13C-FB6460FD3503}" type="slidenum">
              <a:rPr lang="en-US" altLang="zh-CN" dirty="0"/>
            </a:fld>
            <a:endParaRPr lang="en-US" altLang="zh-CN" dirty="0"/>
          </a:p>
        </p:txBody>
      </p:sp>
    </p:spTree>
  </p:cSld>
  <p:clrMapOvr>
    <a:masterClrMapping/>
  </p:clrMapOvr>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100" name="Rectangle 4"/>
          <p:cNvSpPr>
            <a:spLocks noChangeArrowheads="1"/>
          </p:cNvSpPr>
          <p:nvPr userDrawn="1"/>
        </p:nvSpPr>
        <p:spPr bwMode="ltGray">
          <a:xfrm>
            <a:off x="581343" y="942975"/>
            <a:ext cx="396000" cy="3960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4103" name="Rectangle 7"/>
          <p:cNvSpPr>
            <a:spLocks noChangeArrowheads="1"/>
          </p:cNvSpPr>
          <p:nvPr userDrawn="1"/>
        </p:nvSpPr>
        <p:spPr bwMode="gray">
          <a:xfrm>
            <a:off x="762000" y="803275"/>
            <a:ext cx="31750" cy="684000"/>
          </a:xfrm>
          <a:prstGeom prst="rect">
            <a:avLst/>
          </a:prstGeom>
          <a:solidFill>
            <a:srgbClr val="92D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4104" name="Rectangle 8"/>
          <p:cNvSpPr>
            <a:spLocks noChangeArrowheads="1"/>
          </p:cNvSpPr>
          <p:nvPr userDrawn="1"/>
        </p:nvSpPr>
        <p:spPr bwMode="gray">
          <a:xfrm>
            <a:off x="442913" y="1136650"/>
            <a:ext cx="8352000" cy="31750"/>
          </a:xfrm>
          <a:prstGeom prst="rect">
            <a:avLst/>
          </a:prstGeom>
          <a:solidFill>
            <a:srgbClr val="92D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6096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60960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8683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295400"/>
            <a:ext cx="8229600" cy="50292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Char char="v"/>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0.png"/><Relationship Id="rId14" Type="http://schemas.openxmlformats.org/officeDocument/2006/relationships/image" Target="../media/image9.png"/><Relationship Id="rId13" Type="http://schemas.openxmlformats.org/officeDocument/2006/relationships/image" Target="../media/image1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9" descr="1"/>
          <p:cNvPicPr>
            <a:picLocks noChangeAspect="1"/>
          </p:cNvPicPr>
          <p:nvPr userDrawn="1"/>
        </p:nvPicPr>
        <p:blipFill>
          <a:blip r:embed="rId13"/>
          <a:srcRect b="38461"/>
          <a:stretch>
            <a:fillRect/>
          </a:stretch>
        </p:blipFill>
        <p:spPr>
          <a:xfrm>
            <a:off x="0" y="6324600"/>
            <a:ext cx="9144000" cy="542925"/>
          </a:xfrm>
          <a:prstGeom prst="rect">
            <a:avLst/>
          </a:prstGeom>
          <a:noFill/>
          <a:ln w="9525">
            <a:noFill/>
          </a:ln>
        </p:spPr>
      </p:pic>
      <p:sp>
        <p:nvSpPr>
          <p:cNvPr id="1041" name="Rectangle 17"/>
          <p:cNvSpPr>
            <a:spLocks noChangeArrowheads="1"/>
          </p:cNvSpPr>
          <p:nvPr userDrawn="1"/>
        </p:nvSpPr>
        <p:spPr bwMode="gray">
          <a:xfrm>
            <a:off x="0" y="0"/>
            <a:ext cx="9144000" cy="1219200"/>
          </a:xfrm>
          <a:prstGeom prst="rect">
            <a:avLst/>
          </a:prstGeom>
          <a:gradFill rotWithShape="1">
            <a:gsLst>
              <a:gs pos="0">
                <a:schemeClr val="accent1"/>
              </a:gs>
              <a:gs pos="100000">
                <a:schemeClr val="accent1">
                  <a:gamma/>
                  <a:tint val="0"/>
                  <a:invGamma/>
                </a:schemeClr>
              </a:gs>
            </a:gsLst>
            <a:lin ang="54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8" name="Rectangle 3"/>
          <p:cNvSpPr>
            <a:spLocks noGrp="1"/>
          </p:cNvSpPr>
          <p:nvPr>
            <p:ph type="body" idx="1"/>
          </p:nvPr>
        </p:nvSpPr>
        <p:spPr>
          <a:xfrm>
            <a:off x="457200" y="1295400"/>
            <a:ext cx="8229600" cy="50292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4"/>
          <p:cNvSpPr>
            <a:spLocks noGrp="1" noChangeArrowheads="1"/>
          </p:cNvSpPr>
          <p:nvPr>
            <p:ph type="dt" sz="half" idx="2"/>
          </p:nvPr>
        </p:nvSpPr>
        <p:spPr bwMode="auto">
          <a:xfrm>
            <a:off x="457200" y="6537325"/>
            <a:ext cx="2133600" cy="244475"/>
          </a:xfrm>
          <a:prstGeom prst="rect">
            <a:avLst/>
          </a:prstGeom>
          <a:noFill/>
          <a:ln w="9525">
            <a:noFill/>
            <a:miter lim="800000"/>
          </a:ln>
          <a:effectLst/>
        </p:spPr>
        <p:txBody>
          <a:bodyPr vert="horz" wrap="square" lIns="91440" tIns="45720" rIns="91440" bIns="45720" numCol="1" anchor="t" anchorCtr="0" compatLnSpc="1"/>
          <a:lstStyle>
            <a:lvl1pPr>
              <a:defRPr sz="1200">
                <a:solidFill>
                  <a:schemeClr val="bg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537325"/>
            <a:ext cx="2895600" cy="244475"/>
          </a:xfrm>
          <a:prstGeom prst="rect">
            <a:avLst/>
          </a:prstGeom>
          <a:noFill/>
          <a:ln w="9525">
            <a:noFill/>
            <a:miter lim="800000"/>
          </a:ln>
          <a:effectLst/>
        </p:spPr>
        <p:txBody>
          <a:bodyPr vert="horz" wrap="square" lIns="91440" tIns="45720" rIns="91440" bIns="45720" numCol="1" anchor="t" anchorCtr="0" compatLnSpc="1"/>
          <a:lstStyle>
            <a:lvl1pPr algn="ctr">
              <a:defRPr sz="1200">
                <a:solidFill>
                  <a:schemeClr val="bg1"/>
                </a:solidFill>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537325"/>
            <a:ext cx="2133600" cy="244475"/>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bg1"/>
                </a:solidFill>
              </a:defRPr>
            </a:lvl1p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
        <p:nvSpPr>
          <p:cNvPr id="1039" name="Rectangle 2"/>
          <p:cNvSpPr>
            <a:spLocks noGrp="1"/>
          </p:cNvSpPr>
          <p:nvPr>
            <p:ph type="title"/>
          </p:nvPr>
        </p:nvSpPr>
        <p:spPr>
          <a:xfrm>
            <a:off x="457200" y="228600"/>
            <a:ext cx="8229600" cy="868363"/>
          </a:xfrm>
          <a:prstGeom prst="rect">
            <a:avLst/>
          </a:prstGeom>
          <a:noFill/>
          <a:ln w="9525">
            <a:noFill/>
          </a:ln>
        </p:spPr>
        <p:txBody>
          <a:bodyPr anchor="ctr" anchorCtr="0"/>
          <a:p>
            <a:pPr lvl="0"/>
            <a:r>
              <a:rPr lang="en-US" altLang="zh-CN" dirty="0"/>
              <a:t>Click to edit Master title style</a:t>
            </a:r>
            <a:endParaRPr lang="en-US" altLang="zh-CN" dirty="0"/>
          </a:p>
        </p:txBody>
      </p:sp>
      <p:pic>
        <p:nvPicPr>
          <p:cNvPr id="1040" name="Picture 20" descr="a1"/>
          <p:cNvPicPr>
            <a:picLocks noChangeAspect="1"/>
          </p:cNvPicPr>
          <p:nvPr userDrawn="1"/>
        </p:nvPicPr>
        <p:blipFill>
          <a:blip r:embed="rId14"/>
          <a:stretch>
            <a:fillRect/>
          </a:stretch>
        </p:blipFill>
        <p:spPr>
          <a:xfrm>
            <a:off x="152400" y="0"/>
            <a:ext cx="942975" cy="1082675"/>
          </a:xfrm>
          <a:prstGeom prst="rect">
            <a:avLst/>
          </a:prstGeom>
          <a:noFill/>
          <a:ln w="9525">
            <a:noFill/>
          </a:ln>
        </p:spPr>
      </p:pic>
      <p:pic>
        <p:nvPicPr>
          <p:cNvPr id="3" name="Picture 21" descr="b_1"/>
          <p:cNvPicPr>
            <a:picLocks noChangeAspect="1"/>
          </p:cNvPicPr>
          <p:nvPr userDrawn="1"/>
        </p:nvPicPr>
        <p:blipFill>
          <a:blip r:embed="rId15"/>
          <a:stretch>
            <a:fillRect/>
          </a:stretch>
        </p:blipFill>
        <p:spPr>
          <a:xfrm>
            <a:off x="7848600" y="152400"/>
            <a:ext cx="1234440" cy="5365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sldNum="0" hdr="0" ftr="0" dt="0"/>
  <p:txStyles>
    <p:titleStyle>
      <a:lvl1pPr algn="ctr" rtl="0" eaLnBrk="0" fontAlgn="base" hangingPunct="0">
        <a:spcBef>
          <a:spcPct val="0"/>
        </a:spcBef>
        <a:spcAft>
          <a:spcPct val="0"/>
        </a:spcAft>
        <a:defRPr sz="4200" b="1" i="1">
          <a:solidFill>
            <a:schemeClr val="tx1"/>
          </a:solidFill>
          <a:latin typeface="+mj-lt"/>
          <a:ea typeface="+mj-ea"/>
          <a:cs typeface="+mj-cs"/>
        </a:defRPr>
      </a:lvl1pPr>
      <a:lvl2pPr algn="ctr" rtl="0" eaLnBrk="0" fontAlgn="base" hangingPunct="0">
        <a:spcBef>
          <a:spcPct val="0"/>
        </a:spcBef>
        <a:spcAft>
          <a:spcPct val="0"/>
        </a:spcAft>
        <a:defRPr sz="4200" b="1" i="1">
          <a:solidFill>
            <a:schemeClr val="tx1"/>
          </a:solidFill>
          <a:latin typeface="Arial" panose="020B0604020202020204" pitchFamily="34" charset="0"/>
        </a:defRPr>
      </a:lvl2pPr>
      <a:lvl3pPr algn="ctr" rtl="0" eaLnBrk="0" fontAlgn="base" hangingPunct="0">
        <a:spcBef>
          <a:spcPct val="0"/>
        </a:spcBef>
        <a:spcAft>
          <a:spcPct val="0"/>
        </a:spcAft>
        <a:defRPr sz="4200" b="1" i="1">
          <a:solidFill>
            <a:schemeClr val="tx1"/>
          </a:solidFill>
          <a:latin typeface="Arial" panose="020B0604020202020204" pitchFamily="34" charset="0"/>
        </a:defRPr>
      </a:lvl3pPr>
      <a:lvl4pPr algn="ctr" rtl="0" eaLnBrk="0" fontAlgn="base" hangingPunct="0">
        <a:spcBef>
          <a:spcPct val="0"/>
        </a:spcBef>
        <a:spcAft>
          <a:spcPct val="0"/>
        </a:spcAft>
        <a:defRPr sz="4200" b="1" i="1">
          <a:solidFill>
            <a:schemeClr val="tx1"/>
          </a:solidFill>
          <a:latin typeface="Arial" panose="020B0604020202020204" pitchFamily="34" charset="0"/>
        </a:defRPr>
      </a:lvl4pPr>
      <a:lvl5pPr algn="ctr" rtl="0" eaLnBrk="0" fontAlgn="base" hangingPunct="0">
        <a:spcBef>
          <a:spcPct val="0"/>
        </a:spcBef>
        <a:spcAft>
          <a:spcPct val="0"/>
        </a:spcAft>
        <a:defRPr sz="4200" b="1" i="1">
          <a:solidFill>
            <a:schemeClr val="tx1"/>
          </a:solidFill>
          <a:latin typeface="Arial" panose="020B0604020202020204" pitchFamily="34" charset="0"/>
        </a:defRPr>
      </a:lvl5pPr>
      <a:lvl6pPr marL="457200" algn="ctr" rtl="0" fontAlgn="base">
        <a:spcBef>
          <a:spcPct val="0"/>
        </a:spcBef>
        <a:spcAft>
          <a:spcPct val="0"/>
        </a:spcAft>
        <a:defRPr sz="4200" b="1" i="1">
          <a:solidFill>
            <a:schemeClr val="tx1"/>
          </a:solidFill>
          <a:latin typeface="Arial" panose="020B0604020202020204" pitchFamily="34" charset="0"/>
        </a:defRPr>
      </a:lvl6pPr>
      <a:lvl7pPr marL="914400" algn="ctr" rtl="0" fontAlgn="base">
        <a:spcBef>
          <a:spcPct val="0"/>
        </a:spcBef>
        <a:spcAft>
          <a:spcPct val="0"/>
        </a:spcAft>
        <a:defRPr sz="4200" b="1" i="1">
          <a:solidFill>
            <a:schemeClr val="tx1"/>
          </a:solidFill>
          <a:latin typeface="Arial" panose="020B0604020202020204" pitchFamily="34" charset="0"/>
        </a:defRPr>
      </a:lvl7pPr>
      <a:lvl8pPr marL="1371600" algn="ctr" rtl="0" fontAlgn="base">
        <a:spcBef>
          <a:spcPct val="0"/>
        </a:spcBef>
        <a:spcAft>
          <a:spcPct val="0"/>
        </a:spcAft>
        <a:defRPr sz="4200" b="1" i="1">
          <a:solidFill>
            <a:schemeClr val="tx1"/>
          </a:solidFill>
          <a:latin typeface="Arial" panose="020B0604020202020204" pitchFamily="34" charset="0"/>
        </a:defRPr>
      </a:lvl8pPr>
      <a:lvl9pPr marL="1828800" algn="ctr" rtl="0" fontAlgn="base">
        <a:spcBef>
          <a:spcPct val="0"/>
        </a:spcBef>
        <a:spcAft>
          <a:spcPct val="0"/>
        </a:spcAft>
        <a:defRPr sz="4200" b="1" i="1">
          <a:solidFill>
            <a:schemeClr val="tx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slide" Target="slide8.xml"/><Relationship Id="rId4" Type="http://schemas.openxmlformats.org/officeDocument/2006/relationships/slide" Target="slide79.xml"/><Relationship Id="rId3" Type="http://schemas.openxmlformats.org/officeDocument/2006/relationships/slide" Target="slide41.xml"/><Relationship Id="rId2" Type="http://schemas.openxmlformats.org/officeDocument/2006/relationships/slide" Target="slide23.xml"/><Relationship Id="rId1"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4.bin"/><Relationship Id="rId8" Type="http://schemas.openxmlformats.org/officeDocument/2006/relationships/image" Target="../media/image18.wmf"/><Relationship Id="rId7" Type="http://schemas.openxmlformats.org/officeDocument/2006/relationships/oleObject" Target="../embeddings/oleObject3.bin"/><Relationship Id="rId6" Type="http://schemas.openxmlformats.org/officeDocument/2006/relationships/image" Target="../media/image17.wmf"/><Relationship Id="rId5" Type="http://schemas.openxmlformats.org/officeDocument/2006/relationships/oleObject" Target="../embeddings/oleObject2.bin"/><Relationship Id="rId4" Type="http://schemas.openxmlformats.org/officeDocument/2006/relationships/image" Target="../media/image16.wmf"/><Relationship Id="rId3" Type="http://schemas.openxmlformats.org/officeDocument/2006/relationships/oleObject" Target="../embeddings/oleObject1.bin"/><Relationship Id="rId2" Type="http://schemas.openxmlformats.org/officeDocument/2006/relationships/image" Target="../media/image15.png"/><Relationship Id="rId14" Type="http://schemas.openxmlformats.org/officeDocument/2006/relationships/vmlDrawing" Target="../drawings/vmlDrawing1.vml"/><Relationship Id="rId13" Type="http://schemas.openxmlformats.org/officeDocument/2006/relationships/slideLayout" Target="../slideLayouts/slideLayout2.xml"/><Relationship Id="rId12" Type="http://schemas.openxmlformats.org/officeDocument/2006/relationships/image" Target="../media/image20.wmf"/><Relationship Id="rId11" Type="http://schemas.openxmlformats.org/officeDocument/2006/relationships/oleObject" Target="../embeddings/oleObject5.bin"/><Relationship Id="rId10" Type="http://schemas.openxmlformats.org/officeDocument/2006/relationships/image" Target="../media/image19.wmf"/><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9.bin"/><Relationship Id="rId8" Type="http://schemas.openxmlformats.org/officeDocument/2006/relationships/image" Target="../media/image18.wmf"/><Relationship Id="rId7" Type="http://schemas.openxmlformats.org/officeDocument/2006/relationships/oleObject" Target="../embeddings/oleObject8.bin"/><Relationship Id="rId6" Type="http://schemas.openxmlformats.org/officeDocument/2006/relationships/image" Target="../media/image17.wmf"/><Relationship Id="rId5" Type="http://schemas.openxmlformats.org/officeDocument/2006/relationships/oleObject" Target="../embeddings/oleObject7.bin"/><Relationship Id="rId4" Type="http://schemas.openxmlformats.org/officeDocument/2006/relationships/image" Target="../media/image16.wmf"/><Relationship Id="rId3" Type="http://schemas.openxmlformats.org/officeDocument/2006/relationships/oleObject" Target="../embeddings/oleObject6.bin"/><Relationship Id="rId20" Type="http://schemas.openxmlformats.org/officeDocument/2006/relationships/vmlDrawing" Target="../drawings/vmlDrawing2.vml"/><Relationship Id="rId2" Type="http://schemas.openxmlformats.org/officeDocument/2006/relationships/image" Target="../media/image15.png"/><Relationship Id="rId19" Type="http://schemas.openxmlformats.org/officeDocument/2006/relationships/slideLayout" Target="../slideLayouts/slideLayout2.xml"/><Relationship Id="rId18" Type="http://schemas.openxmlformats.org/officeDocument/2006/relationships/image" Target="../media/image23.wmf"/><Relationship Id="rId17" Type="http://schemas.openxmlformats.org/officeDocument/2006/relationships/oleObject" Target="../embeddings/oleObject13.bin"/><Relationship Id="rId16" Type="http://schemas.openxmlformats.org/officeDocument/2006/relationships/image" Target="../media/image22.wmf"/><Relationship Id="rId15" Type="http://schemas.openxmlformats.org/officeDocument/2006/relationships/oleObject" Target="../embeddings/oleObject12.bin"/><Relationship Id="rId14" Type="http://schemas.openxmlformats.org/officeDocument/2006/relationships/image" Target="../media/image21.wmf"/><Relationship Id="rId13" Type="http://schemas.openxmlformats.org/officeDocument/2006/relationships/oleObject" Target="../embeddings/oleObject11.bin"/><Relationship Id="rId12" Type="http://schemas.openxmlformats.org/officeDocument/2006/relationships/image" Target="../media/image20.wmf"/><Relationship Id="rId11" Type="http://schemas.openxmlformats.org/officeDocument/2006/relationships/oleObject" Target="../embeddings/oleObject10.bin"/><Relationship Id="rId10" Type="http://schemas.openxmlformats.org/officeDocument/2006/relationships/image" Target="../media/image19.wmf"/><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5.wmf"/><Relationship Id="rId7" Type="http://schemas.openxmlformats.org/officeDocument/2006/relationships/oleObject" Target="../embeddings/oleObject17.bin"/><Relationship Id="rId6" Type="http://schemas.openxmlformats.org/officeDocument/2006/relationships/image" Target="../media/image22.wmf"/><Relationship Id="rId5" Type="http://schemas.openxmlformats.org/officeDocument/2006/relationships/oleObject" Target="../embeddings/oleObject16.bin"/><Relationship Id="rId4" Type="http://schemas.openxmlformats.org/officeDocument/2006/relationships/image" Target="../media/image21.wmf"/><Relationship Id="rId3" Type="http://schemas.openxmlformats.org/officeDocument/2006/relationships/oleObject" Target="../embeddings/oleObject15.bin"/><Relationship Id="rId2" Type="http://schemas.openxmlformats.org/officeDocument/2006/relationships/image" Target="../media/image24.wmf"/><Relationship Id="rId10" Type="http://schemas.openxmlformats.org/officeDocument/2006/relationships/vmlDrawing" Target="../drawings/vmlDrawing3.vml"/><Relationship Id="rId1" Type="http://schemas.openxmlformats.org/officeDocument/2006/relationships/oleObject" Target="../embeddings/oleObject14.bin"/></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4.wmf"/><Relationship Id="rId1" Type="http://schemas.openxmlformats.org/officeDocument/2006/relationships/oleObject" Target="../embeddings/oleObject18.bin"/></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22.bin"/><Relationship Id="rId8" Type="http://schemas.openxmlformats.org/officeDocument/2006/relationships/image" Target="../media/image32.wmf"/><Relationship Id="rId7" Type="http://schemas.openxmlformats.org/officeDocument/2006/relationships/oleObject" Target="../embeddings/oleObject21.bin"/><Relationship Id="rId6" Type="http://schemas.openxmlformats.org/officeDocument/2006/relationships/image" Target="../media/image31.wmf"/><Relationship Id="rId5" Type="http://schemas.openxmlformats.org/officeDocument/2006/relationships/oleObject" Target="../embeddings/oleObject20.bin"/><Relationship Id="rId4" Type="http://schemas.openxmlformats.org/officeDocument/2006/relationships/image" Target="../media/image30.wmf"/><Relationship Id="rId3" Type="http://schemas.openxmlformats.org/officeDocument/2006/relationships/oleObject" Target="../embeddings/oleObject19.bin"/><Relationship Id="rId2" Type="http://schemas.openxmlformats.org/officeDocument/2006/relationships/image" Target="../media/image29.png"/><Relationship Id="rId19" Type="http://schemas.openxmlformats.org/officeDocument/2006/relationships/notesSlide" Target="../notesSlides/notesSlide1.xml"/><Relationship Id="rId18" Type="http://schemas.openxmlformats.org/officeDocument/2006/relationships/vmlDrawing" Target="../drawings/vmlDrawing5.vml"/><Relationship Id="rId17" Type="http://schemas.openxmlformats.org/officeDocument/2006/relationships/slideLayout" Target="../slideLayouts/slideLayout2.xml"/><Relationship Id="rId16" Type="http://schemas.openxmlformats.org/officeDocument/2006/relationships/image" Target="../media/image36.wmf"/><Relationship Id="rId15" Type="http://schemas.openxmlformats.org/officeDocument/2006/relationships/oleObject" Target="../embeddings/oleObject25.bin"/><Relationship Id="rId14" Type="http://schemas.openxmlformats.org/officeDocument/2006/relationships/image" Target="../media/image35.wmf"/><Relationship Id="rId13" Type="http://schemas.openxmlformats.org/officeDocument/2006/relationships/oleObject" Target="../embeddings/oleObject24.bin"/><Relationship Id="rId12" Type="http://schemas.openxmlformats.org/officeDocument/2006/relationships/image" Target="../media/image34.wmf"/><Relationship Id="rId11" Type="http://schemas.openxmlformats.org/officeDocument/2006/relationships/oleObject" Target="../embeddings/oleObject23.bin"/><Relationship Id="rId10" Type="http://schemas.openxmlformats.org/officeDocument/2006/relationships/image" Target="../media/image33.wmf"/><Relationship Id="rId1"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9.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29.bin"/><Relationship Id="rId8" Type="http://schemas.openxmlformats.org/officeDocument/2006/relationships/image" Target="../media/image28.png"/><Relationship Id="rId7" Type="http://schemas.openxmlformats.org/officeDocument/2006/relationships/image" Target="../media/image44.wmf"/><Relationship Id="rId6" Type="http://schemas.openxmlformats.org/officeDocument/2006/relationships/oleObject" Target="../embeddings/oleObject28.bin"/><Relationship Id="rId5" Type="http://schemas.openxmlformats.org/officeDocument/2006/relationships/image" Target="../media/image43.wmf"/><Relationship Id="rId4" Type="http://schemas.openxmlformats.org/officeDocument/2006/relationships/oleObject" Target="../embeddings/oleObject27.bin"/><Relationship Id="rId3" Type="http://schemas.openxmlformats.org/officeDocument/2006/relationships/image" Target="../media/image42.wmf"/><Relationship Id="rId2" Type="http://schemas.openxmlformats.org/officeDocument/2006/relationships/oleObject" Target="../embeddings/oleObject26.bin"/><Relationship Id="rId12" Type="http://schemas.openxmlformats.org/officeDocument/2006/relationships/vmlDrawing" Target="../drawings/vmlDrawing6.vml"/><Relationship Id="rId11" Type="http://schemas.openxmlformats.org/officeDocument/2006/relationships/slideLayout" Target="../slideLayouts/slideLayout2.xml"/><Relationship Id="rId10" Type="http://schemas.openxmlformats.org/officeDocument/2006/relationships/image" Target="../media/image45.wmf"/><Relationship Id="rId1" Type="http://schemas.openxmlformats.org/officeDocument/2006/relationships/image" Target="../media/image4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8.png"/><Relationship Id="rId1" Type="http://schemas.openxmlformats.org/officeDocument/2006/relationships/image" Target="../media/image4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30.xml.rels><?xml version="1.0" encoding="UTF-8" standalone="yes"?>
<Relationships xmlns="http://schemas.openxmlformats.org/package/2006/relationships"><Relationship Id="rId7" Type="http://schemas.openxmlformats.org/officeDocument/2006/relationships/vmlDrawing" Target="../drawings/vmlDrawing7.vml"/><Relationship Id="rId6"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5.wmf"/><Relationship Id="rId3" Type="http://schemas.openxmlformats.org/officeDocument/2006/relationships/oleObject" Target="../embeddings/oleObject30.bin"/><Relationship Id="rId2" Type="http://schemas.openxmlformats.org/officeDocument/2006/relationships/image" Target="../media/image54.png"/><Relationship Id="rId1" Type="http://schemas.openxmlformats.org/officeDocument/2006/relationships/image" Target="../media/image53.wmf"/></Relationships>
</file>

<file path=ppt/slides/_rels/slide31.xml.rels><?xml version="1.0" encoding="UTF-8" standalone="yes"?>
<Relationships xmlns="http://schemas.openxmlformats.org/package/2006/relationships"><Relationship Id="rId5" Type="http://schemas.openxmlformats.org/officeDocument/2006/relationships/vmlDrawing" Target="../drawings/vmlDrawing8.vml"/><Relationship Id="rId4" Type="http://schemas.openxmlformats.org/officeDocument/2006/relationships/slideLayout" Target="../slideLayouts/slideLayout2.xml"/><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oleObject" Target="../embeddings/oleObject31.bin"/></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8.png"/><Relationship Id="rId1" Type="http://schemas.openxmlformats.org/officeDocument/2006/relationships/image" Target="../media/image57.wmf"/></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0.wmf"/><Relationship Id="rId1" Type="http://schemas.openxmlformats.org/officeDocument/2006/relationships/image" Target="../media/image59.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2.png"/><Relationship Id="rId1" Type="http://schemas.openxmlformats.org/officeDocument/2006/relationships/image" Target="../media/image61.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4.png"/><Relationship Id="rId1" Type="http://schemas.openxmlformats.org/officeDocument/2006/relationships/image" Target="../media/image63.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4.png"/><Relationship Id="rId1" Type="http://schemas.openxmlformats.org/officeDocument/2006/relationships/image" Target="../media/image65.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6.wmf"/><Relationship Id="rId1" Type="http://schemas.openxmlformats.org/officeDocument/2006/relationships/image" Target="../media/image65.pn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8.png"/><Relationship Id="rId2" Type="http://schemas.openxmlformats.org/officeDocument/2006/relationships/image" Target="../media/image67.wmf"/><Relationship Id="rId1" Type="http://schemas.openxmlformats.org/officeDocument/2006/relationships/image" Target="../media/image66.wmf"/></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0.png"/><Relationship Id="rId1" Type="http://schemas.openxmlformats.org/officeDocument/2006/relationships/image" Target="../media/image6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4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wmf"/><Relationship Id="rId4" Type="http://schemas.openxmlformats.org/officeDocument/2006/relationships/image" Target="../media/image75.wmf"/><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0.png"/><Relationship Id="rId1" Type="http://schemas.openxmlformats.org/officeDocument/2006/relationships/image" Target="../media/image79.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1.png"/></Relationships>
</file>

<file path=ppt/slides/_rels/slide47.xml.rels><?xml version="1.0" encoding="UTF-8" standalone="yes"?>
<Relationships xmlns="http://schemas.openxmlformats.org/package/2006/relationships"><Relationship Id="rId9" Type="http://schemas.openxmlformats.org/officeDocument/2006/relationships/vmlDrawing" Target="../drawings/vmlDrawing9.vml"/><Relationship Id="rId8" Type="http://schemas.openxmlformats.org/officeDocument/2006/relationships/slideLayout" Target="../slideLayouts/slideLayout2.xml"/><Relationship Id="rId7" Type="http://schemas.openxmlformats.org/officeDocument/2006/relationships/image" Target="../media/image85.png"/><Relationship Id="rId6" Type="http://schemas.openxmlformats.org/officeDocument/2006/relationships/image" Target="../media/image84.wmf"/><Relationship Id="rId5" Type="http://schemas.openxmlformats.org/officeDocument/2006/relationships/oleObject" Target="../embeddings/oleObject34.bin"/><Relationship Id="rId4" Type="http://schemas.openxmlformats.org/officeDocument/2006/relationships/image" Target="../media/image83.emf"/><Relationship Id="rId3" Type="http://schemas.openxmlformats.org/officeDocument/2006/relationships/oleObject" Target="../embeddings/oleObject33.bin"/><Relationship Id="rId2" Type="http://schemas.openxmlformats.org/officeDocument/2006/relationships/image" Target="../media/image82.emf"/><Relationship Id="rId1" Type="http://schemas.openxmlformats.org/officeDocument/2006/relationships/oleObject" Target="../embeddings/oleObject32.bin"/></Relationships>
</file>

<file path=ppt/slides/_rels/slide48.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2.xml"/><Relationship Id="rId6" Type="http://schemas.openxmlformats.org/officeDocument/2006/relationships/image" Target="../media/image88.wmf"/><Relationship Id="rId5" Type="http://schemas.openxmlformats.org/officeDocument/2006/relationships/oleObject" Target="../embeddings/oleObject37.bin"/><Relationship Id="rId4" Type="http://schemas.openxmlformats.org/officeDocument/2006/relationships/image" Target="../media/image87.wmf"/><Relationship Id="rId3" Type="http://schemas.openxmlformats.org/officeDocument/2006/relationships/oleObject" Target="../embeddings/oleObject36.bin"/><Relationship Id="rId2" Type="http://schemas.openxmlformats.org/officeDocument/2006/relationships/image" Target="../media/image86.wmf"/><Relationship Id="rId1" Type="http://schemas.openxmlformats.org/officeDocument/2006/relationships/oleObject" Target="../embeddings/oleObject35.bin"/></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9.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1.png"/><Relationship Id="rId1" Type="http://schemas.openxmlformats.org/officeDocument/2006/relationships/image" Target="../media/image90.wmf"/></Relationships>
</file>

<file path=ppt/slides/_rels/slide51.xml.rels><?xml version="1.0" encoding="UTF-8" standalone="yes"?>
<Relationships xmlns="http://schemas.openxmlformats.org/package/2006/relationships"><Relationship Id="rId5" Type="http://schemas.openxmlformats.org/officeDocument/2006/relationships/vmlDrawing" Target="../drawings/vmlDrawing11.vml"/><Relationship Id="rId4" Type="http://schemas.openxmlformats.org/officeDocument/2006/relationships/slideLayout" Target="../slideLayouts/slideLayout2.xml"/><Relationship Id="rId3" Type="http://schemas.openxmlformats.org/officeDocument/2006/relationships/image" Target="../media/image93.wmf"/><Relationship Id="rId2" Type="http://schemas.openxmlformats.org/officeDocument/2006/relationships/oleObject" Target="../embeddings/oleObject38.bin"/><Relationship Id="rId1" Type="http://schemas.openxmlformats.org/officeDocument/2006/relationships/image" Target="../media/image92.png"/></Relationships>
</file>

<file path=ppt/slides/_rels/slide52.xml.rels><?xml version="1.0" encoding="UTF-8" standalone="yes"?>
<Relationships xmlns="http://schemas.openxmlformats.org/package/2006/relationships"><Relationship Id="rId8" Type="http://schemas.openxmlformats.org/officeDocument/2006/relationships/vmlDrawing" Target="../drawings/vmlDrawing12.vml"/><Relationship Id="rId7" Type="http://schemas.openxmlformats.org/officeDocument/2006/relationships/slideLayout" Target="../slideLayouts/slideLayout2.xml"/><Relationship Id="rId6" Type="http://schemas.openxmlformats.org/officeDocument/2006/relationships/image" Target="../media/image96.wmf"/><Relationship Id="rId5" Type="http://schemas.openxmlformats.org/officeDocument/2006/relationships/oleObject" Target="../embeddings/oleObject41.bin"/><Relationship Id="rId4" Type="http://schemas.openxmlformats.org/officeDocument/2006/relationships/image" Target="../media/image95.wmf"/><Relationship Id="rId3" Type="http://schemas.openxmlformats.org/officeDocument/2006/relationships/oleObject" Target="../embeddings/oleObject40.bin"/><Relationship Id="rId2" Type="http://schemas.openxmlformats.org/officeDocument/2006/relationships/image" Target="../media/image94.wmf"/><Relationship Id="rId1" Type="http://schemas.openxmlformats.org/officeDocument/2006/relationships/oleObject" Target="../embeddings/oleObject39.bin"/></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7.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8.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9.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1.png"/><Relationship Id="rId1" Type="http://schemas.openxmlformats.org/officeDocument/2006/relationships/image" Target="../media/image100.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2.png"/><Relationship Id="rId1" Type="http://schemas.openxmlformats.org/officeDocument/2006/relationships/image" Target="../media/image100.png"/></Relationships>
</file>

<file path=ppt/slides/_rels/slide58.xml.rels><?xml version="1.0" encoding="UTF-8" standalone="yes"?>
<Relationships xmlns="http://schemas.openxmlformats.org/package/2006/relationships"><Relationship Id="rId9" Type="http://schemas.openxmlformats.org/officeDocument/2006/relationships/image" Target="../media/image106.wmf"/><Relationship Id="rId8" Type="http://schemas.openxmlformats.org/officeDocument/2006/relationships/oleObject" Target="../embeddings/oleObject44.bin"/><Relationship Id="rId7" Type="http://schemas.openxmlformats.org/officeDocument/2006/relationships/image" Target="../media/image105.wmf"/><Relationship Id="rId6" Type="http://schemas.openxmlformats.org/officeDocument/2006/relationships/oleObject" Target="../embeddings/oleObject43.bin"/><Relationship Id="rId5" Type="http://schemas.openxmlformats.org/officeDocument/2006/relationships/image" Target="../media/image104.wmf"/><Relationship Id="rId4" Type="http://schemas.openxmlformats.org/officeDocument/2006/relationships/oleObject" Target="../embeddings/oleObject42.bin"/><Relationship Id="rId3" Type="http://schemas.openxmlformats.org/officeDocument/2006/relationships/image" Target="../media/image103.png"/><Relationship Id="rId2" Type="http://schemas.openxmlformats.org/officeDocument/2006/relationships/image" Target="../media/image102.png"/><Relationship Id="rId19" Type="http://schemas.openxmlformats.org/officeDocument/2006/relationships/vmlDrawing" Target="../drawings/vmlDrawing13.vml"/><Relationship Id="rId18" Type="http://schemas.openxmlformats.org/officeDocument/2006/relationships/slideLayout" Target="../slideLayouts/slideLayout2.xml"/><Relationship Id="rId17" Type="http://schemas.openxmlformats.org/officeDocument/2006/relationships/image" Target="../media/image110.wmf"/><Relationship Id="rId16" Type="http://schemas.openxmlformats.org/officeDocument/2006/relationships/oleObject" Target="../embeddings/oleObject48.bin"/><Relationship Id="rId15" Type="http://schemas.openxmlformats.org/officeDocument/2006/relationships/image" Target="../media/image109.wmf"/><Relationship Id="rId14" Type="http://schemas.openxmlformats.org/officeDocument/2006/relationships/oleObject" Target="../embeddings/oleObject47.bin"/><Relationship Id="rId13" Type="http://schemas.openxmlformats.org/officeDocument/2006/relationships/image" Target="../media/image108.wmf"/><Relationship Id="rId12" Type="http://schemas.openxmlformats.org/officeDocument/2006/relationships/oleObject" Target="../embeddings/oleObject46.bin"/><Relationship Id="rId11" Type="http://schemas.openxmlformats.org/officeDocument/2006/relationships/image" Target="../media/image107.wmf"/><Relationship Id="rId10" Type="http://schemas.openxmlformats.org/officeDocument/2006/relationships/oleObject" Target="../embeddings/oleObject45.bin"/><Relationship Id="rId1" Type="http://schemas.openxmlformats.org/officeDocument/2006/relationships/image" Target="../media/image100.png"/></Relationships>
</file>

<file path=ppt/slides/_rels/slide59.xml.rels><?xml version="1.0" encoding="UTF-8" standalone="yes"?>
<Relationships xmlns="http://schemas.openxmlformats.org/package/2006/relationships"><Relationship Id="rId9" Type="http://schemas.openxmlformats.org/officeDocument/2006/relationships/image" Target="../media/image113.wmf"/><Relationship Id="rId8" Type="http://schemas.openxmlformats.org/officeDocument/2006/relationships/oleObject" Target="../embeddings/oleObject51.bin"/><Relationship Id="rId7" Type="http://schemas.openxmlformats.org/officeDocument/2006/relationships/image" Target="../media/image112.wmf"/><Relationship Id="rId6" Type="http://schemas.openxmlformats.org/officeDocument/2006/relationships/oleObject" Target="../embeddings/oleObject50.bin"/><Relationship Id="rId5" Type="http://schemas.openxmlformats.org/officeDocument/2006/relationships/image" Target="../media/image103.png"/><Relationship Id="rId4" Type="http://schemas.openxmlformats.org/officeDocument/2006/relationships/image" Target="../media/image102.png"/><Relationship Id="rId3" Type="http://schemas.openxmlformats.org/officeDocument/2006/relationships/image" Target="../media/image111.wmf"/><Relationship Id="rId2" Type="http://schemas.openxmlformats.org/officeDocument/2006/relationships/oleObject" Target="../embeddings/oleObject49.bin"/><Relationship Id="rId13" Type="http://schemas.openxmlformats.org/officeDocument/2006/relationships/vmlDrawing" Target="../drawings/vmlDrawing14.vml"/><Relationship Id="rId12" Type="http://schemas.openxmlformats.org/officeDocument/2006/relationships/slideLayout" Target="../slideLayouts/slideLayout2.xml"/><Relationship Id="rId11" Type="http://schemas.openxmlformats.org/officeDocument/2006/relationships/image" Target="../media/image114.wmf"/><Relationship Id="rId10" Type="http://schemas.openxmlformats.org/officeDocument/2006/relationships/oleObject" Target="../embeddings/oleObject52.bin"/><Relationship Id="rId1" Type="http://schemas.openxmlformats.org/officeDocument/2006/relationships/image" Target="../media/image100.png"/></Relationships>
</file>

<file path=ppt/slides/_rels/slide60.xml.rels><?xml version="1.0" encoding="UTF-8" standalone="yes"?>
<Relationships xmlns="http://schemas.openxmlformats.org/package/2006/relationships"><Relationship Id="rId9" Type="http://schemas.openxmlformats.org/officeDocument/2006/relationships/vmlDrawing" Target="../drawings/vmlDrawing15.vml"/><Relationship Id="rId8" Type="http://schemas.openxmlformats.org/officeDocument/2006/relationships/slideLayout" Target="../slideLayouts/slideLayout2.xml"/><Relationship Id="rId7" Type="http://schemas.openxmlformats.org/officeDocument/2006/relationships/oleObject" Target="../embeddings/oleObject55.bin"/><Relationship Id="rId6" Type="http://schemas.openxmlformats.org/officeDocument/2006/relationships/oleObject" Target="../embeddings/oleObject54.bin"/><Relationship Id="rId5" Type="http://schemas.openxmlformats.org/officeDocument/2006/relationships/image" Target="../media/image103.png"/><Relationship Id="rId4" Type="http://schemas.openxmlformats.org/officeDocument/2006/relationships/image" Target="../media/image102.png"/><Relationship Id="rId3" Type="http://schemas.openxmlformats.org/officeDocument/2006/relationships/image" Target="../media/image115.wmf"/><Relationship Id="rId2" Type="http://schemas.openxmlformats.org/officeDocument/2006/relationships/oleObject" Target="../embeddings/oleObject53.bin"/><Relationship Id="rId1" Type="http://schemas.openxmlformats.org/officeDocument/2006/relationships/image" Target="../media/image100.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6.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7.png"/></Relationships>
</file>

<file path=ppt/slides/_rels/slide6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1.png"/><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image" Target="../media/image118.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3.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2.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4.jpeg"/><Relationship Id="rId1" Type="http://schemas.openxmlformats.org/officeDocument/2006/relationships/image" Target="../media/image12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5.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7.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9.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0.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2.png"/></Relationships>
</file>

<file path=ppt/slides/_rels/slide8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4.png"/><Relationship Id="rId2" Type="http://schemas.openxmlformats.org/officeDocument/2006/relationships/image" Target="../media/image102.png"/><Relationship Id="rId1" Type="http://schemas.openxmlformats.org/officeDocument/2006/relationships/image" Target="../media/image13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135.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5.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5.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6.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7.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8.png"/></Relationships>
</file>

<file path=ppt/slides/_rels/slide90.xml.rels><?xml version="1.0" encoding="UTF-8" standalone="yes"?>
<Relationships xmlns="http://schemas.openxmlformats.org/package/2006/relationships"><Relationship Id="rId9" Type="http://schemas.openxmlformats.org/officeDocument/2006/relationships/image" Target="../media/image141.wmf"/><Relationship Id="rId8" Type="http://schemas.openxmlformats.org/officeDocument/2006/relationships/oleObject" Target="../embeddings/oleObject61.bin"/><Relationship Id="rId7" Type="http://schemas.openxmlformats.org/officeDocument/2006/relationships/oleObject" Target="../embeddings/oleObject60.bin"/><Relationship Id="rId6" Type="http://schemas.openxmlformats.org/officeDocument/2006/relationships/oleObject" Target="../embeddings/oleObject59.bin"/><Relationship Id="rId5" Type="http://schemas.openxmlformats.org/officeDocument/2006/relationships/oleObject" Target="../embeddings/oleObject58.bin"/><Relationship Id="rId4" Type="http://schemas.openxmlformats.org/officeDocument/2006/relationships/image" Target="../media/image140.wmf"/><Relationship Id="rId3" Type="http://schemas.openxmlformats.org/officeDocument/2006/relationships/oleObject" Target="../embeddings/oleObject57.bin"/><Relationship Id="rId2" Type="http://schemas.openxmlformats.org/officeDocument/2006/relationships/image" Target="../media/image139.wmf"/><Relationship Id="rId13" Type="http://schemas.openxmlformats.org/officeDocument/2006/relationships/vmlDrawing" Target="../drawings/vmlDrawing16.vml"/><Relationship Id="rId12" Type="http://schemas.openxmlformats.org/officeDocument/2006/relationships/slideLayout" Target="../slideLayouts/slideLayout2.xml"/><Relationship Id="rId11" Type="http://schemas.openxmlformats.org/officeDocument/2006/relationships/image" Target="../media/image142.wmf"/><Relationship Id="rId10" Type="http://schemas.openxmlformats.org/officeDocument/2006/relationships/oleObject" Target="../embeddings/oleObject62.bin"/><Relationship Id="rId1" Type="http://schemas.openxmlformats.org/officeDocument/2006/relationships/oleObject" Target="../embeddings/oleObject56.bin"/></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8.png"/><Relationship Id="rId1" Type="http://schemas.openxmlformats.org/officeDocument/2006/relationships/image" Target="../media/image143.png"/></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4.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5.pn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Line 3"/>
          <p:cNvSpPr/>
          <p:nvPr/>
        </p:nvSpPr>
        <p:spPr>
          <a:xfrm>
            <a:off x="2835910" y="3657600"/>
            <a:ext cx="463550" cy="612775"/>
          </a:xfrm>
          <a:prstGeom prst="line">
            <a:avLst/>
          </a:prstGeom>
          <a:ln w="12700" cap="rnd" cmpd="sng">
            <a:solidFill>
              <a:srgbClr val="003366"/>
            </a:solidFill>
            <a:prstDash val="sysDot"/>
            <a:headEnd type="none" w="med" len="med"/>
            <a:tailEnd type="none" w="med" len="med"/>
          </a:ln>
        </p:spPr>
      </p:sp>
      <p:sp>
        <p:nvSpPr>
          <p:cNvPr id="5123" name="Line 2"/>
          <p:cNvSpPr/>
          <p:nvPr/>
        </p:nvSpPr>
        <p:spPr>
          <a:xfrm flipV="1">
            <a:off x="2671763" y="1948180"/>
            <a:ext cx="531812" cy="838200"/>
          </a:xfrm>
          <a:prstGeom prst="line">
            <a:avLst/>
          </a:prstGeom>
          <a:ln w="12700" cap="rnd" cmpd="sng">
            <a:solidFill>
              <a:srgbClr val="003366"/>
            </a:solidFill>
            <a:prstDash val="sysDot"/>
            <a:headEnd type="none" w="med" len="med"/>
            <a:tailEnd type="none" w="med" len="med"/>
          </a:ln>
        </p:spPr>
      </p:sp>
      <p:sp>
        <p:nvSpPr>
          <p:cNvPr id="5124" name="Line 2"/>
          <p:cNvSpPr/>
          <p:nvPr/>
        </p:nvSpPr>
        <p:spPr>
          <a:xfrm flipV="1">
            <a:off x="2895600" y="2681605"/>
            <a:ext cx="447040" cy="399415"/>
          </a:xfrm>
          <a:prstGeom prst="line">
            <a:avLst/>
          </a:prstGeom>
          <a:ln w="12700" cap="rnd" cmpd="sng">
            <a:solidFill>
              <a:srgbClr val="003366"/>
            </a:solidFill>
            <a:prstDash val="sysDot"/>
            <a:headEnd type="none" w="med" len="med"/>
            <a:tailEnd type="none" w="med" len="med"/>
          </a:ln>
        </p:spPr>
      </p:sp>
      <p:sp>
        <p:nvSpPr>
          <p:cNvPr id="5125" name="Line 3"/>
          <p:cNvSpPr/>
          <p:nvPr/>
        </p:nvSpPr>
        <p:spPr>
          <a:xfrm>
            <a:off x="2738120" y="4436110"/>
            <a:ext cx="463550" cy="612775"/>
          </a:xfrm>
          <a:prstGeom prst="line">
            <a:avLst/>
          </a:prstGeom>
          <a:ln w="12700" cap="rnd" cmpd="sng">
            <a:solidFill>
              <a:srgbClr val="003366"/>
            </a:solidFill>
            <a:prstDash val="sysDot"/>
            <a:headEnd type="none" w="med" len="med"/>
            <a:tailEnd type="none" w="med" len="med"/>
          </a:ln>
        </p:spPr>
      </p:sp>
      <p:sp>
        <p:nvSpPr>
          <p:cNvPr id="5126" name="Line 4"/>
          <p:cNvSpPr/>
          <p:nvPr/>
        </p:nvSpPr>
        <p:spPr>
          <a:xfrm>
            <a:off x="3203575" y="1948180"/>
            <a:ext cx="609600" cy="0"/>
          </a:xfrm>
          <a:prstGeom prst="line">
            <a:avLst/>
          </a:prstGeom>
          <a:ln w="12700" cap="rnd" cmpd="sng">
            <a:solidFill>
              <a:srgbClr val="003366"/>
            </a:solidFill>
            <a:prstDash val="sysDot"/>
            <a:headEnd type="none" w="med" len="med"/>
            <a:tailEnd type="none" w="med" len="med"/>
          </a:ln>
        </p:spPr>
      </p:sp>
      <p:sp>
        <p:nvSpPr>
          <p:cNvPr id="5127" name="Line 5"/>
          <p:cNvSpPr/>
          <p:nvPr/>
        </p:nvSpPr>
        <p:spPr>
          <a:xfrm>
            <a:off x="3201670" y="5048885"/>
            <a:ext cx="609600" cy="0"/>
          </a:xfrm>
          <a:prstGeom prst="line">
            <a:avLst/>
          </a:prstGeom>
          <a:ln w="12700" cap="rnd" cmpd="sng">
            <a:solidFill>
              <a:srgbClr val="003366"/>
            </a:solidFill>
            <a:prstDash val="sysDot"/>
            <a:headEnd type="none" w="med" len="med"/>
            <a:tailEnd type="none" w="med" len="med"/>
          </a:ln>
        </p:spPr>
      </p:sp>
      <p:sp>
        <p:nvSpPr>
          <p:cNvPr id="5129" name="Line 7"/>
          <p:cNvSpPr/>
          <p:nvPr/>
        </p:nvSpPr>
        <p:spPr>
          <a:xfrm>
            <a:off x="3185160" y="3460750"/>
            <a:ext cx="609600" cy="0"/>
          </a:xfrm>
          <a:prstGeom prst="line">
            <a:avLst/>
          </a:prstGeom>
          <a:ln w="12700" cap="rnd" cmpd="sng">
            <a:solidFill>
              <a:srgbClr val="003366"/>
            </a:solidFill>
            <a:prstDash val="sysDot"/>
            <a:headEnd type="none" w="med" len="med"/>
            <a:tailEnd type="none" w="med" len="med"/>
          </a:ln>
        </p:spPr>
      </p:sp>
      <p:sp>
        <p:nvSpPr>
          <p:cNvPr id="5131" name="Rectangle 9"/>
          <p:cNvSpPr>
            <a:spLocks noGrp="1"/>
          </p:cNvSpPr>
          <p:nvPr>
            <p:ph type="title"/>
          </p:nvPr>
        </p:nvSpPr>
        <p:spPr>
          <a:xfrm>
            <a:off x="394335" y="389255"/>
            <a:ext cx="8229600" cy="868363"/>
          </a:xfrm>
        </p:spPr>
        <p:txBody>
          <a:bodyPr vert="horz" wrap="square" lIns="91440" tIns="45720" rIns="91440" bIns="45720" anchor="ctr" anchorCtr="0"/>
          <a:p>
            <a:pPr eaLnBrk="1" hangingPunct="1"/>
            <a:r>
              <a:rPr lang="zh-CN" altLang="en-US" sz="3200" i="0" kern="1200" dirty="0">
                <a:solidFill>
                  <a:srgbClr val="FF0000"/>
                </a:solidFill>
                <a:latin typeface="黑体" panose="02010609060101010101" pitchFamily="49" charset="-122"/>
                <a:ea typeface="黑体" panose="02010609060101010101" pitchFamily="49" charset="-122"/>
                <a:cs typeface="+mn-cs"/>
              </a:rPr>
              <a:t>第</a:t>
            </a:r>
            <a:r>
              <a:rPr lang="en-US" altLang="zh-CN" sz="3200" i="0" kern="1200" dirty="0">
                <a:solidFill>
                  <a:srgbClr val="FF0000"/>
                </a:solidFill>
                <a:latin typeface="黑体" panose="02010609060101010101" pitchFamily="49" charset="-122"/>
                <a:ea typeface="黑体" panose="02010609060101010101" pitchFamily="49" charset="-122"/>
                <a:cs typeface="+mn-cs"/>
              </a:rPr>
              <a:t>6</a:t>
            </a:r>
            <a:r>
              <a:rPr lang="zh-CN" altLang="en-US" sz="3200" i="0" kern="1200" dirty="0">
                <a:solidFill>
                  <a:srgbClr val="FF0000"/>
                </a:solidFill>
                <a:latin typeface="黑体" panose="02010609060101010101" pitchFamily="49" charset="-122"/>
                <a:ea typeface="黑体" panose="02010609060101010101" pitchFamily="49" charset="-122"/>
                <a:cs typeface="+mn-cs"/>
              </a:rPr>
              <a:t>章</a:t>
            </a:r>
            <a:r>
              <a:rPr lang="en-US" altLang="zh-CN" sz="3200" i="0" kern="1200" dirty="0">
                <a:solidFill>
                  <a:srgbClr val="FF0000"/>
                </a:solidFill>
                <a:latin typeface="黑体" panose="02010609060101010101" pitchFamily="49" charset="-122"/>
                <a:ea typeface="黑体" panose="02010609060101010101" pitchFamily="49" charset="-122"/>
                <a:cs typeface="+mn-cs"/>
              </a:rPr>
              <a:t> </a:t>
            </a:r>
            <a:r>
              <a:rPr lang="zh-CN" altLang="en-US" sz="3200" i="0" kern="1200" dirty="0">
                <a:solidFill>
                  <a:srgbClr val="FF0000"/>
                </a:solidFill>
                <a:latin typeface="黑体" panose="02010609060101010101" pitchFamily="49" charset="-122"/>
                <a:ea typeface="黑体" panose="02010609060101010101" pitchFamily="49" charset="-122"/>
                <a:cs typeface="+mn-cs"/>
              </a:rPr>
              <a:t>时序逻辑电路</a:t>
            </a:r>
            <a:endParaRPr lang="zh-CN" altLang="en-US" sz="3200" i="0" kern="1200" dirty="0">
              <a:solidFill>
                <a:srgbClr val="FF0000"/>
              </a:solidFill>
              <a:latin typeface="黑体" panose="02010609060101010101" pitchFamily="49" charset="-122"/>
              <a:ea typeface="黑体" panose="02010609060101010101" pitchFamily="49" charset="-122"/>
              <a:cs typeface="+mn-cs"/>
            </a:endParaRPr>
          </a:p>
        </p:txBody>
      </p:sp>
      <p:grpSp>
        <p:nvGrpSpPr>
          <p:cNvPr id="5132" name="Group 10"/>
          <p:cNvGrpSpPr/>
          <p:nvPr/>
        </p:nvGrpSpPr>
        <p:grpSpPr>
          <a:xfrm>
            <a:off x="682625" y="2128838"/>
            <a:ext cx="2673350" cy="2671762"/>
            <a:chOff x="140" y="1419"/>
            <a:chExt cx="1684" cy="1683"/>
          </a:xfrm>
        </p:grpSpPr>
        <p:sp>
          <p:nvSpPr>
            <p:cNvPr id="7179" name="Oval 11"/>
            <p:cNvSpPr>
              <a:spLocks noChangeArrowheads="1"/>
            </p:cNvSpPr>
            <p:nvPr/>
          </p:nvSpPr>
          <p:spPr bwMode="gray">
            <a:xfrm>
              <a:off x="140" y="1419"/>
              <a:ext cx="1684" cy="1683"/>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80" name="Oval 12"/>
            <p:cNvSpPr>
              <a:spLocks noChangeArrowheads="1"/>
            </p:cNvSpPr>
            <p:nvPr/>
          </p:nvSpPr>
          <p:spPr bwMode="gray">
            <a:xfrm>
              <a:off x="251" y="1528"/>
              <a:ext cx="1461" cy="1463"/>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81" name="Oval 13"/>
            <p:cNvSpPr>
              <a:spLocks noChangeArrowheads="1"/>
            </p:cNvSpPr>
            <p:nvPr/>
          </p:nvSpPr>
          <p:spPr bwMode="gray">
            <a:xfrm>
              <a:off x="258" y="1536"/>
              <a:ext cx="1461" cy="1462"/>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60" name="Oval 14"/>
            <p:cNvSpPr/>
            <p:nvPr/>
          </p:nvSpPr>
          <p:spPr>
            <a:xfrm>
              <a:off x="323" y="1602"/>
              <a:ext cx="1317" cy="1316"/>
            </a:xfrm>
            <a:prstGeom prst="ellipse">
              <a:avLst/>
            </a:prstGeom>
            <a:solidFill>
              <a:srgbClr val="000000"/>
            </a:solidFill>
            <a:ln w="38100">
              <a:noFill/>
            </a:ln>
          </p:spPr>
          <p:txBody>
            <a:bodyPr anchor="ctr" anchorCtr="0">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5161" name="Oval 15"/>
            <p:cNvSpPr/>
            <p:nvPr/>
          </p:nvSpPr>
          <p:spPr>
            <a:xfrm>
              <a:off x="344" y="1623"/>
              <a:ext cx="1276" cy="1277"/>
            </a:xfrm>
            <a:prstGeom prst="ellipse">
              <a:avLst/>
            </a:prstGeom>
            <a:gradFill rotWithShape="1">
              <a:gsLst>
                <a:gs pos="0">
                  <a:srgbClr val="636869"/>
                </a:gs>
                <a:gs pos="100000">
                  <a:srgbClr val="D6E1E2"/>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5162" name="Oval 16"/>
            <p:cNvSpPr/>
            <p:nvPr/>
          </p:nvSpPr>
          <p:spPr>
            <a:xfrm>
              <a:off x="360" y="1630"/>
              <a:ext cx="1246" cy="1246"/>
            </a:xfrm>
            <a:prstGeom prst="ellipse">
              <a:avLst/>
            </a:prstGeom>
            <a:gradFill rotWithShape="1">
              <a:gsLst>
                <a:gs pos="0">
                  <a:srgbClr val="D6E1E2">
                    <a:alpha val="0"/>
                  </a:srgbClr>
                </a:gs>
                <a:gs pos="100000">
                  <a:srgbClr val="F1F5F5"/>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5163" name="Oval 17"/>
            <p:cNvSpPr/>
            <p:nvPr/>
          </p:nvSpPr>
          <p:spPr>
            <a:xfrm>
              <a:off x="374" y="1642"/>
              <a:ext cx="1184" cy="1164"/>
            </a:xfrm>
            <a:prstGeom prst="ellipse">
              <a:avLst/>
            </a:prstGeom>
            <a:gradFill rotWithShape="1">
              <a:gsLst>
                <a:gs pos="0">
                  <a:srgbClr val="AAB2B3"/>
                </a:gs>
                <a:gs pos="100000">
                  <a:srgbClr val="D6E1E2">
                    <a:alpha val="48000"/>
                  </a:srgbClr>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5164" name="Oval 18"/>
            <p:cNvSpPr/>
            <p:nvPr/>
          </p:nvSpPr>
          <p:spPr>
            <a:xfrm>
              <a:off x="443" y="1675"/>
              <a:ext cx="1053" cy="945"/>
            </a:xfrm>
            <a:prstGeom prst="ellipse">
              <a:avLst/>
            </a:prstGeom>
            <a:gradFill rotWithShape="1">
              <a:gsLst>
                <a:gs pos="0">
                  <a:srgbClr val="FFFFFF"/>
                </a:gs>
                <a:gs pos="100000">
                  <a:srgbClr val="D6E1E2">
                    <a:alpha val="37999"/>
                  </a:srgbClr>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pic>
          <p:nvPicPr>
            <p:cNvPr id="5165" name="Picture 19" descr="mark"/>
            <p:cNvPicPr>
              <a:picLocks noChangeAspect="1"/>
            </p:cNvPicPr>
            <p:nvPr/>
          </p:nvPicPr>
          <p:blipFill>
            <a:blip r:embed="rId1"/>
            <a:stretch>
              <a:fillRect/>
            </a:stretch>
          </p:blipFill>
          <p:spPr>
            <a:xfrm>
              <a:off x="452" y="1773"/>
              <a:ext cx="1011" cy="1003"/>
            </a:xfrm>
            <a:prstGeom prst="rect">
              <a:avLst/>
            </a:prstGeom>
            <a:noFill/>
            <a:ln w="9525">
              <a:noFill/>
            </a:ln>
          </p:spPr>
        </p:pic>
      </p:grpSp>
      <p:sp>
        <p:nvSpPr>
          <p:cNvPr id="5133" name="AutoShape 20"/>
          <p:cNvSpPr/>
          <p:nvPr/>
        </p:nvSpPr>
        <p:spPr>
          <a:xfrm>
            <a:off x="3806825" y="1676400"/>
            <a:ext cx="481711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34" name="Rectangle 21">
            <a:hlinkClick r:id="" action="ppaction://hlinkshowjump?jump=nextslide"/>
          </p:cNvPr>
          <p:cNvSpPr/>
          <p:nvPr/>
        </p:nvSpPr>
        <p:spPr>
          <a:xfrm>
            <a:off x="3816350" y="1676400"/>
            <a:ext cx="472313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6.1 </a:t>
            </a:r>
            <a:r>
              <a:rPr lang="zh-CN" altLang="en-US" sz="2400" b="1" dirty="0">
                <a:solidFill>
                  <a:srgbClr val="000000"/>
                </a:solidFill>
                <a:latin typeface="黑体" panose="02010609060101010101" pitchFamily="49" charset="-122"/>
                <a:ea typeface="黑体" panose="02010609060101010101" pitchFamily="49" charset="-122"/>
              </a:rPr>
              <a:t>时序逻辑电路的基本概念</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5135" name="AutoShape 22"/>
          <p:cNvSpPr/>
          <p:nvPr/>
        </p:nvSpPr>
        <p:spPr>
          <a:xfrm>
            <a:off x="3787775" y="3222625"/>
            <a:ext cx="4899025"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36" name="Rectangle 23">
            <a:hlinkClick r:id="rId2" action="ppaction://hlinksldjump"/>
          </p:cNvPr>
          <p:cNvSpPr/>
          <p:nvPr/>
        </p:nvSpPr>
        <p:spPr>
          <a:xfrm>
            <a:off x="3816350" y="3222625"/>
            <a:ext cx="482727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6.3 同步时序逻辑电路的设计</a:t>
            </a:r>
            <a:endParaRPr lang="en-US" altLang="zh-CN" sz="2400" b="1" dirty="0">
              <a:solidFill>
                <a:srgbClr val="000000"/>
              </a:solidFill>
              <a:latin typeface="黑体" panose="02010609060101010101" pitchFamily="49" charset="-122"/>
              <a:ea typeface="黑体" panose="02010609060101010101" pitchFamily="49" charset="-122"/>
            </a:endParaRPr>
          </a:p>
        </p:txBody>
      </p:sp>
      <p:sp>
        <p:nvSpPr>
          <p:cNvPr id="5137" name="AutoShape 24"/>
          <p:cNvSpPr/>
          <p:nvPr/>
        </p:nvSpPr>
        <p:spPr>
          <a:xfrm>
            <a:off x="3810000" y="4011930"/>
            <a:ext cx="4877435"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38" name="Rectangle 25">
            <a:hlinkClick r:id="rId3" action="ppaction://hlinksldjump"/>
          </p:cNvPr>
          <p:cNvSpPr/>
          <p:nvPr/>
        </p:nvSpPr>
        <p:spPr>
          <a:xfrm>
            <a:off x="3813175" y="4011930"/>
            <a:ext cx="186436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6.4 计数器</a:t>
            </a:r>
            <a:endParaRPr lang="en-US" altLang="zh-CN" sz="2400" b="1" dirty="0">
              <a:solidFill>
                <a:srgbClr val="000000"/>
              </a:solidFill>
              <a:latin typeface="黑体" panose="02010609060101010101" pitchFamily="49" charset="-122"/>
              <a:ea typeface="黑体" panose="02010609060101010101" pitchFamily="49" charset="-122"/>
            </a:endParaRPr>
          </a:p>
        </p:txBody>
      </p:sp>
      <p:sp>
        <p:nvSpPr>
          <p:cNvPr id="5139" name="Oval 26"/>
          <p:cNvSpPr/>
          <p:nvPr/>
        </p:nvSpPr>
        <p:spPr>
          <a:xfrm>
            <a:off x="3598545" y="1837055"/>
            <a:ext cx="228600" cy="228600"/>
          </a:xfrm>
          <a:prstGeom prst="ellipse">
            <a:avLst/>
          </a:prstGeom>
          <a:gradFill rotWithShape="1">
            <a:gsLst>
              <a:gs pos="0">
                <a:srgbClr val="E96E29"/>
              </a:gs>
              <a:gs pos="100000">
                <a:srgbClr val="9B491B"/>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7196" name="Oval 28"/>
          <p:cNvSpPr>
            <a:spLocks noChangeArrowheads="1"/>
          </p:cNvSpPr>
          <p:nvPr/>
        </p:nvSpPr>
        <p:spPr bwMode="gray">
          <a:xfrm>
            <a:off x="3569335" y="3352800"/>
            <a:ext cx="228600" cy="228600"/>
          </a:xfrm>
          <a:prstGeom prst="ellipse">
            <a:avLst/>
          </a:prstGeom>
          <a:gradFill rotWithShape="1">
            <a:gsLst>
              <a:gs pos="0">
                <a:schemeClr val="accent2"/>
              </a:gs>
              <a:gs pos="100000">
                <a:schemeClr val="accent2">
                  <a:gamma/>
                  <a:shade val="66667"/>
                  <a:invGamma/>
                </a:schemeClr>
              </a:gs>
            </a:gsLst>
            <a:path path="shape">
              <a:fillToRect l="50000" t="50000" r="50000" b="50000"/>
            </a:path>
          </a:gradFill>
          <a:ln w="19050">
            <a:solidFill>
              <a:srgbClr val="FFFFFF"/>
            </a:solidFill>
            <a:round/>
          </a:ln>
          <a:effectLst>
            <a:outerShdw dist="63500" dir="2212194"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42" name="AutoShape 29"/>
          <p:cNvSpPr/>
          <p:nvPr/>
        </p:nvSpPr>
        <p:spPr>
          <a:xfrm>
            <a:off x="3806825" y="4817110"/>
            <a:ext cx="481711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43" name="Rectangle 30">
            <a:hlinkClick r:id="rId4" action="ppaction://hlinksldjump"/>
          </p:cNvPr>
          <p:cNvSpPr/>
          <p:nvPr/>
        </p:nvSpPr>
        <p:spPr>
          <a:xfrm>
            <a:off x="3816350" y="4817110"/>
            <a:ext cx="429260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6.5 数码寄存器与移位寄存器</a:t>
            </a:r>
            <a:endParaRPr lang="en-US" altLang="zh-CN" sz="2400" b="1" dirty="0">
              <a:solidFill>
                <a:srgbClr val="000000"/>
              </a:solidFill>
              <a:latin typeface="黑体" panose="02010609060101010101" pitchFamily="49" charset="-122"/>
              <a:ea typeface="黑体" panose="02010609060101010101" pitchFamily="49" charset="-122"/>
            </a:endParaRPr>
          </a:p>
        </p:txBody>
      </p:sp>
      <p:sp>
        <p:nvSpPr>
          <p:cNvPr id="5147" name="Oval 34"/>
          <p:cNvSpPr/>
          <p:nvPr/>
        </p:nvSpPr>
        <p:spPr>
          <a:xfrm>
            <a:off x="3594100" y="4947285"/>
            <a:ext cx="228600" cy="228600"/>
          </a:xfrm>
          <a:prstGeom prst="ellipse">
            <a:avLst/>
          </a:prstGeom>
          <a:gradFill rotWithShape="1">
            <a:gsLst>
              <a:gs pos="0">
                <a:srgbClr val="DCDC48"/>
              </a:gs>
              <a:gs pos="100000">
                <a:srgbClr val="93933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5148" name="Line 6"/>
          <p:cNvSpPr/>
          <p:nvPr/>
        </p:nvSpPr>
        <p:spPr>
          <a:xfrm flipV="1">
            <a:off x="3352800" y="2680653"/>
            <a:ext cx="533400" cy="0"/>
          </a:xfrm>
          <a:prstGeom prst="line">
            <a:avLst/>
          </a:prstGeom>
          <a:ln w="12700" cap="rnd" cmpd="sng">
            <a:solidFill>
              <a:srgbClr val="003366"/>
            </a:solidFill>
            <a:prstDash val="sysDot"/>
            <a:headEnd type="none" w="med" len="med"/>
            <a:tailEnd type="none" w="med" len="med"/>
          </a:ln>
        </p:spPr>
      </p:sp>
      <p:sp>
        <p:nvSpPr>
          <p:cNvPr id="5149" name="AutoShape 22"/>
          <p:cNvSpPr/>
          <p:nvPr/>
        </p:nvSpPr>
        <p:spPr>
          <a:xfrm>
            <a:off x="3800475" y="2438400"/>
            <a:ext cx="482346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50" name="Rectangle 23">
            <a:hlinkClick r:id="rId5" action="ppaction://hlinksldjump"/>
          </p:cNvPr>
          <p:cNvSpPr/>
          <p:nvPr/>
        </p:nvSpPr>
        <p:spPr>
          <a:xfrm>
            <a:off x="3810000" y="2438400"/>
            <a:ext cx="483362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6.2 时序逻辑电路的一般分析方法</a:t>
            </a:r>
            <a:endParaRPr lang="en-US" altLang="zh-CN" sz="2400" b="1" dirty="0">
              <a:solidFill>
                <a:srgbClr val="000000"/>
              </a:solidFill>
              <a:latin typeface="黑体" panose="02010609060101010101" pitchFamily="49" charset="-122"/>
              <a:ea typeface="黑体" panose="02010609060101010101" pitchFamily="49" charset="-122"/>
            </a:endParaRPr>
          </a:p>
        </p:txBody>
      </p:sp>
      <p:sp>
        <p:nvSpPr>
          <p:cNvPr id="5155" name="Line 6"/>
          <p:cNvSpPr/>
          <p:nvPr/>
        </p:nvSpPr>
        <p:spPr>
          <a:xfrm flipV="1">
            <a:off x="3293110" y="4294188"/>
            <a:ext cx="533400" cy="0"/>
          </a:xfrm>
          <a:prstGeom prst="line">
            <a:avLst/>
          </a:prstGeom>
          <a:ln w="12700" cap="rnd" cmpd="sng">
            <a:solidFill>
              <a:srgbClr val="003366"/>
            </a:solidFill>
            <a:prstDash val="sysDot"/>
            <a:headEnd type="none" w="med" len="med"/>
            <a:tailEnd type="none" w="med" len="med"/>
          </a:ln>
        </p:spPr>
      </p:sp>
      <p:sp>
        <p:nvSpPr>
          <p:cNvPr id="5156" name="灯片编号占位符 4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r>
              <a:rPr lang="en-US" altLang="zh-CN" sz="1200" dirty="0">
                <a:solidFill>
                  <a:schemeClr val="bg1"/>
                </a:solidFill>
                <a:ea typeface="宋体" panose="02010600030101010101" pitchFamily="2" charset="-122"/>
              </a:rPr>
              <a:t>1</a:t>
            </a:r>
            <a:endParaRPr lang="en-US" altLang="zh-CN" sz="1200" dirty="0">
              <a:solidFill>
                <a:schemeClr val="bg1"/>
              </a:solidFill>
              <a:ea typeface="宋体" panose="02010600030101010101" pitchFamily="2" charset="-122"/>
            </a:endParaRPr>
          </a:p>
        </p:txBody>
      </p:sp>
      <p:sp>
        <p:nvSpPr>
          <p:cNvPr id="5140" name="Oval 27"/>
          <p:cNvSpPr/>
          <p:nvPr/>
        </p:nvSpPr>
        <p:spPr>
          <a:xfrm>
            <a:off x="3582035" y="2568575"/>
            <a:ext cx="228600" cy="228600"/>
          </a:xfrm>
          <a:prstGeom prst="ellipse">
            <a:avLst/>
          </a:prstGeom>
          <a:gradFill rotWithShape="1">
            <a:gsLst>
              <a:gs pos="0">
                <a:srgbClr val="DCDC48"/>
              </a:gs>
              <a:gs pos="100000">
                <a:srgbClr val="93933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5144" name="Oval 31"/>
          <p:cNvSpPr/>
          <p:nvPr/>
        </p:nvSpPr>
        <p:spPr>
          <a:xfrm>
            <a:off x="3582035" y="4176713"/>
            <a:ext cx="228600" cy="228600"/>
          </a:xfrm>
          <a:prstGeom prst="ellipse">
            <a:avLst/>
          </a:prstGeom>
          <a:gradFill rotWithShape="1">
            <a:gsLst>
              <a:gs pos="0">
                <a:srgbClr val="E96E29"/>
              </a:gs>
              <a:gs pos="100000">
                <a:srgbClr val="9B491B"/>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2" name="Oval 31"/>
          <p:cNvSpPr/>
          <p:nvPr/>
        </p:nvSpPr>
        <p:spPr>
          <a:xfrm>
            <a:off x="5624195" y="4141788"/>
            <a:ext cx="228600" cy="228600"/>
          </a:xfrm>
          <a:prstGeom prst="ellipse">
            <a:avLst/>
          </a:prstGeom>
          <a:gradFill rotWithShape="1">
            <a:gsLst>
              <a:gs pos="0">
                <a:srgbClr val="E96E29"/>
              </a:gs>
              <a:gs pos="100000">
                <a:srgbClr val="9B491B"/>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3" name="Oval 34"/>
          <p:cNvSpPr/>
          <p:nvPr/>
        </p:nvSpPr>
        <p:spPr>
          <a:xfrm>
            <a:off x="6014720" y="4142105"/>
            <a:ext cx="228600" cy="228600"/>
          </a:xfrm>
          <a:prstGeom prst="ellipse">
            <a:avLst/>
          </a:prstGeom>
          <a:gradFill rotWithShape="1">
            <a:gsLst>
              <a:gs pos="0">
                <a:srgbClr val="DCDC48"/>
              </a:gs>
              <a:gs pos="100000">
                <a:srgbClr val="93933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5" name="Oval 28"/>
          <p:cNvSpPr>
            <a:spLocks noChangeArrowheads="1"/>
          </p:cNvSpPr>
          <p:nvPr/>
        </p:nvSpPr>
        <p:spPr bwMode="gray">
          <a:xfrm>
            <a:off x="6400800" y="4142105"/>
            <a:ext cx="228600" cy="228600"/>
          </a:xfrm>
          <a:prstGeom prst="ellipse">
            <a:avLst/>
          </a:prstGeom>
          <a:gradFill rotWithShape="1">
            <a:gsLst>
              <a:gs pos="0">
                <a:schemeClr val="accent2"/>
              </a:gs>
              <a:gs pos="100000">
                <a:schemeClr val="accent2">
                  <a:gamma/>
                  <a:shade val="66667"/>
                  <a:invGamma/>
                </a:schemeClr>
              </a:gs>
            </a:gsLst>
            <a:path path="shape">
              <a:fillToRect l="50000" t="50000" r="50000" b="50000"/>
            </a:path>
          </a:gradFill>
          <a:ln w="19050">
            <a:solidFill>
              <a:srgbClr val="FFFFFF"/>
            </a:solidFill>
            <a:round/>
          </a:ln>
          <a:effectLst>
            <a:outerShdw dist="63500" dir="2212194"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Oval 31"/>
          <p:cNvSpPr/>
          <p:nvPr/>
        </p:nvSpPr>
        <p:spPr>
          <a:xfrm>
            <a:off x="6868160" y="4141788"/>
            <a:ext cx="228600" cy="228600"/>
          </a:xfrm>
          <a:prstGeom prst="ellipse">
            <a:avLst/>
          </a:prstGeom>
          <a:gradFill rotWithShape="1">
            <a:gsLst>
              <a:gs pos="0">
                <a:srgbClr val="E96E29"/>
              </a:gs>
              <a:gs pos="100000">
                <a:srgbClr val="9B491B"/>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7" name="Oval 34"/>
          <p:cNvSpPr/>
          <p:nvPr/>
        </p:nvSpPr>
        <p:spPr>
          <a:xfrm>
            <a:off x="7250430" y="4142105"/>
            <a:ext cx="228600" cy="228600"/>
          </a:xfrm>
          <a:prstGeom prst="ellipse">
            <a:avLst/>
          </a:prstGeom>
          <a:gradFill rotWithShape="1">
            <a:gsLst>
              <a:gs pos="0">
                <a:srgbClr val="DCDC48"/>
              </a:gs>
              <a:gs pos="100000">
                <a:srgbClr val="93933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8" name="Oval 28"/>
          <p:cNvSpPr>
            <a:spLocks noChangeArrowheads="1"/>
          </p:cNvSpPr>
          <p:nvPr/>
        </p:nvSpPr>
        <p:spPr bwMode="gray">
          <a:xfrm>
            <a:off x="7644765" y="4142105"/>
            <a:ext cx="228600" cy="228600"/>
          </a:xfrm>
          <a:prstGeom prst="ellipse">
            <a:avLst/>
          </a:prstGeom>
          <a:gradFill rotWithShape="1">
            <a:gsLst>
              <a:gs pos="0">
                <a:schemeClr val="accent2"/>
              </a:gs>
              <a:gs pos="100000">
                <a:schemeClr val="accent2">
                  <a:gamma/>
                  <a:shade val="66667"/>
                  <a:invGamma/>
                </a:schemeClr>
              </a:gs>
            </a:gsLst>
            <a:path path="shape">
              <a:fillToRect l="50000" t="50000" r="50000" b="50000"/>
            </a:path>
          </a:gradFill>
          <a:ln w="19050">
            <a:solidFill>
              <a:srgbClr val="FFFFFF"/>
            </a:solidFill>
            <a:round/>
          </a:ln>
          <a:effectLst>
            <a:outerShdw dist="63500" dir="2212194" algn="ctr" rotWithShape="0">
              <a:schemeClr val="bg2">
                <a:alpha val="50000"/>
              </a:schemeClr>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294765" y="49847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6.1 </a:t>
            </a:r>
            <a:r>
              <a:rPr lang="en-US" altLang="zh-CN" b="1" dirty="0">
                <a:solidFill>
                  <a:srgbClr val="FF0000"/>
                </a:solidFill>
                <a:latin typeface="黑体" panose="02010609060101010101" pitchFamily="49" charset="-122"/>
                <a:ea typeface="黑体" panose="02010609060101010101" pitchFamily="49" charset="-122"/>
                <a:sym typeface="+mn-ea"/>
              </a:rPr>
              <a:t>时序逻辑电路的基本概念</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8547" name="文本框 108546"/>
          <p:cNvSpPr txBox="1"/>
          <p:nvPr/>
        </p:nvSpPr>
        <p:spPr>
          <a:xfrm>
            <a:off x="755650" y="1733233"/>
            <a:ext cx="8137525" cy="829945"/>
          </a:xfrm>
          <a:prstGeom prst="rect">
            <a:avLst/>
          </a:prstGeom>
          <a:noFill/>
          <a:ln w="9525">
            <a:noFill/>
          </a:ln>
        </p:spPr>
        <p:txBody>
          <a:bodyPr>
            <a:spAutoFit/>
          </a:bodyPr>
          <a:p>
            <a:pPr marR="0" defTabSz="914400">
              <a:buClr>
                <a:srgbClr val="CC3300"/>
              </a:buClr>
              <a:buSzTx/>
              <a:buFont typeface="MS PGothic" panose="020B0600070205080204" pitchFamily="34" charset="-128"/>
              <a:buChar char="☞"/>
              <a:defRPr/>
            </a:pPr>
            <a:r>
              <a:rPr kumimoji="0" lang="en-US" altLang="zh-CN" sz="2400" b="1" kern="1200" cap="none" spc="0" normalizeH="0" baseline="0" noProof="1">
                <a:effectLst>
                  <a:outerShdw blurRad="38100" dist="38100" dir="2700000">
                    <a:srgbClr val="FFFFFF"/>
                  </a:outerShdw>
                </a:effectLst>
                <a:latin typeface="Times New Roman" panose="02020603050405020304" charset="0"/>
                <a:ea typeface="宋体" panose="02010600030101010101" pitchFamily="2" charset="-122"/>
                <a:cs typeface="+mn-cs"/>
              </a:rPr>
              <a:t> </a:t>
            </a:r>
            <a:r>
              <a:rPr kumimoji="0" lang="zh-CN" altLang="en-US" sz="2400" b="1" kern="1200" cap="none" spc="0" normalizeH="0" baseline="0" noProof="1">
                <a:gradFill>
                  <a:gsLst>
                    <a:gs pos="0">
                      <a:srgbClr val="012D86"/>
                    </a:gs>
                    <a:gs pos="100000">
                      <a:srgbClr val="0E2557"/>
                    </a:gs>
                  </a:gsLst>
                  <a:lin scaled="0"/>
                </a:gradFill>
                <a:effectLst>
                  <a:outerShdw blurRad="38100" dist="38100" dir="2700000">
                    <a:srgbClr val="FFFFFF"/>
                  </a:outerShdw>
                </a:effectLst>
                <a:latin typeface="Times New Roman" panose="02020603050405020304" charset="0"/>
                <a:ea typeface="宋体" panose="02010600030101010101" pitchFamily="2" charset="-122"/>
                <a:cs typeface="+mn-cs"/>
              </a:rPr>
              <a:t>电路任何时刻的输出不仅</a:t>
            </a:r>
            <a:r>
              <a:rPr kumimoji="0" lang="zh-CN" altLang="en-US" sz="2400" b="1" kern="1200" cap="none" spc="0" normalizeH="0" baseline="0" noProof="1">
                <a:gradFill>
                  <a:gsLst>
                    <a:gs pos="0">
                      <a:srgbClr val="012D86"/>
                    </a:gs>
                    <a:gs pos="100000">
                      <a:srgbClr val="0E2557"/>
                    </a:gs>
                  </a:gsLst>
                  <a:lin scaled="0"/>
                </a:gradFill>
                <a:effectLst>
                  <a:outerShdw blurRad="38100" dist="38100" dir="2700000">
                    <a:srgbClr val="FFFFFF"/>
                  </a:outerShdw>
                </a:effectLst>
                <a:ea typeface="宋体" panose="02010600030101010101" pitchFamily="2" charset="-122"/>
                <a:cs typeface="+mn-cs"/>
              </a:rPr>
              <a:t>取决于当前输入信号的状态</a:t>
            </a:r>
            <a:r>
              <a:rPr kumimoji="0" lang="zh-CN" altLang="en-US" sz="2400" b="1" kern="1200" cap="none" spc="0" normalizeH="0" baseline="0" noProof="1">
                <a:gradFill>
                  <a:gsLst>
                    <a:gs pos="0">
                      <a:srgbClr val="012D86"/>
                    </a:gs>
                    <a:gs pos="100000">
                      <a:srgbClr val="0E2557"/>
                    </a:gs>
                  </a:gsLst>
                  <a:lin scaled="0"/>
                </a:gradFill>
                <a:effectLst>
                  <a:outerShdw blurRad="38100" dist="38100" dir="2700000">
                    <a:srgbClr val="FFFFFF"/>
                  </a:outerShdw>
                </a:effectLst>
                <a:latin typeface="Arial" panose="020B0604020202020204" pitchFamily="34" charset="0"/>
                <a:ea typeface="宋体" panose="02010600030101010101" pitchFamily="2" charset="-122"/>
                <a:cs typeface="+mn-cs"/>
              </a:rPr>
              <a:t>，而且还与</a:t>
            </a:r>
            <a:r>
              <a:rPr lang="zh-CN" altLang="en-US" sz="2400" b="1">
                <a:gradFill>
                  <a:gsLst>
                    <a:gs pos="0">
                      <a:srgbClr val="012D86"/>
                    </a:gs>
                    <a:gs pos="100000">
                      <a:srgbClr val="0E2557"/>
                    </a:gs>
                  </a:gsLst>
                  <a:lin scaled="0"/>
                </a:gradFill>
                <a:effectLst>
                  <a:outerShdw blurRad="38100" dist="38100" dir="2700000">
                    <a:srgbClr val="FFFFFF"/>
                  </a:outerShdw>
                </a:effectLst>
                <a:sym typeface="+mn-ea"/>
              </a:rPr>
              <a:t>电路</a:t>
            </a:r>
            <a:r>
              <a:rPr kumimoji="0" lang="zh-CN" altLang="en-US" sz="2400" b="1" kern="1200" cap="none" spc="0" normalizeH="0" baseline="0" noProof="1">
                <a:solidFill>
                  <a:srgbClr val="FF0000"/>
                </a:solidFill>
                <a:effectLst>
                  <a:outerShdw blurRad="38100" dist="38100" dir="2700000">
                    <a:srgbClr val="000000"/>
                  </a:outerShdw>
                </a:effectLst>
                <a:latin typeface="Arial" panose="020B0604020202020204" pitchFamily="34" charset="0"/>
                <a:ea typeface="宋体" panose="02010600030101010101" pitchFamily="2" charset="-122"/>
                <a:cs typeface="+mn-cs"/>
              </a:rPr>
              <a:t>前一时刻</a:t>
            </a:r>
            <a:r>
              <a:rPr kumimoji="0" lang="zh-CN" altLang="en-US" sz="2400" b="1" kern="1200" cap="none" spc="0" normalizeH="0" baseline="0" noProof="1">
                <a:gradFill>
                  <a:gsLst>
                    <a:gs pos="0">
                      <a:srgbClr val="012D86"/>
                    </a:gs>
                    <a:gs pos="100000">
                      <a:srgbClr val="0E2557"/>
                    </a:gs>
                  </a:gsLst>
                  <a:lin scaled="0"/>
                </a:gradFill>
                <a:effectLst>
                  <a:outerShdw blurRad="38100" dist="38100" dir="2700000">
                    <a:srgbClr val="FFFFFF"/>
                  </a:outerShdw>
                </a:effectLst>
                <a:latin typeface="Arial" panose="020B0604020202020204" pitchFamily="34" charset="0"/>
                <a:ea typeface="宋体" panose="02010600030101010101" pitchFamily="2" charset="-122"/>
                <a:cs typeface="+mn-cs"/>
              </a:rPr>
              <a:t>的状态有关。</a:t>
            </a:r>
            <a:endParaRPr kumimoji="0" lang="zh-CN" altLang="en-US" sz="2400" b="1" kern="1200" cap="none" spc="0" normalizeH="0" baseline="0" noProof="1">
              <a:gradFill>
                <a:gsLst>
                  <a:gs pos="0">
                    <a:srgbClr val="012D86"/>
                  </a:gs>
                  <a:gs pos="100000">
                    <a:srgbClr val="0E2557"/>
                  </a:gs>
                </a:gsLst>
                <a:lin scaled="0"/>
              </a:gradFill>
              <a:effectLst>
                <a:outerShdw blurRad="38100" dist="38100" dir="2700000">
                  <a:srgbClr val="FFFFFF"/>
                </a:outerShdw>
              </a:effectLst>
              <a:latin typeface="Arial" panose="020B0604020202020204" pitchFamily="34" charset="0"/>
              <a:ea typeface="宋体" panose="02010600030101010101" pitchFamily="2" charset="-122"/>
              <a:cs typeface="+mn-cs"/>
            </a:endParaRPr>
          </a:p>
        </p:txBody>
      </p:sp>
      <p:sp>
        <p:nvSpPr>
          <p:cNvPr id="108591" name="文本框 108590"/>
          <p:cNvSpPr txBox="1"/>
          <p:nvPr/>
        </p:nvSpPr>
        <p:spPr>
          <a:xfrm>
            <a:off x="914400" y="1273175"/>
            <a:ext cx="2883535" cy="460375"/>
          </a:xfrm>
          <a:prstGeom prst="rect">
            <a:avLst/>
          </a:prstGeom>
          <a:noFill/>
          <a:ln w="9525">
            <a:noFill/>
          </a:ln>
        </p:spPr>
        <p:txBody>
          <a:bodyPr wrap="square">
            <a:spAutoFit/>
          </a:bodyPr>
          <a:p>
            <a:pPr marR="0" defTabSz="914400">
              <a:buClrTx/>
              <a:buSzTx/>
              <a:defRPr/>
            </a:pPr>
            <a:r>
              <a:rPr kumimoji="0" lang="zh-CN" altLang="en-US" sz="2400" b="1"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rPr>
              <a:t>定义</a:t>
            </a:r>
            <a:endParaRPr kumimoji="0" lang="zh-CN" altLang="en-US" sz="2400" b="1"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endParaRPr>
          </a:p>
        </p:txBody>
      </p:sp>
      <p:sp>
        <p:nvSpPr>
          <p:cNvPr id="108606" name="文本框 108605"/>
          <p:cNvSpPr txBox="1"/>
          <p:nvPr/>
        </p:nvSpPr>
        <p:spPr>
          <a:xfrm>
            <a:off x="1052513" y="3727450"/>
            <a:ext cx="215900" cy="365125"/>
          </a:xfrm>
          <a:prstGeom prst="rect">
            <a:avLst/>
          </a:prstGeom>
          <a:solidFill>
            <a:srgbClr val="CCECFF"/>
          </a:solidFill>
          <a:ln w="9525">
            <a:noFill/>
          </a:ln>
        </p:spPr>
        <p:txBody>
          <a:bodyPr lIns="0" tIns="0" rIns="0" bIns="0">
            <a:spAutoFit/>
          </a:bodyPr>
          <a:p>
            <a:pPr marR="0" algn="r" defTabSz="914400">
              <a:spcBef>
                <a:spcPct val="50000"/>
              </a:spcBef>
              <a:buClrTx/>
              <a:buSzTx/>
              <a:defRPr/>
            </a:pPr>
            <a:r>
              <a:rPr kumimoji="0" lang="en-US" altLang="zh-CN" sz="2400" kern="1200" cap="none" spc="0" normalizeH="0" baseline="0" noProof="1">
                <a:solidFill>
                  <a:schemeClr val="tx1"/>
                </a:solidFill>
                <a:effectLst>
                  <a:outerShdw blurRad="38100" dist="38100" dir="2700000">
                    <a:srgbClr val="000000"/>
                  </a:outerShdw>
                </a:effectLst>
                <a:latin typeface="Arial" panose="020B0604020202020204" pitchFamily="34" charset="0"/>
                <a:ea typeface="宋体" panose="02010600030101010101" pitchFamily="2" charset="-122"/>
                <a:cs typeface="+mn-cs"/>
              </a:rPr>
              <a:t>0</a:t>
            </a:r>
            <a:endParaRPr kumimoji="0" lang="en-US" altLang="zh-CN" sz="2400" kern="1200" cap="none" spc="0" normalizeH="0" baseline="0" noProof="1">
              <a:solidFill>
                <a:schemeClr val="tx1"/>
              </a:solidFill>
              <a:effectLst>
                <a:outerShdw blurRad="38100" dist="38100" dir="2700000">
                  <a:srgbClr val="000000"/>
                </a:outerShdw>
              </a:effectLst>
              <a:latin typeface="Arial" panose="020B0604020202020204" pitchFamily="34" charset="0"/>
              <a:ea typeface="宋体" panose="02010600030101010101" pitchFamily="2" charset="-122"/>
              <a:cs typeface="+mn-cs"/>
            </a:endParaRPr>
          </a:p>
        </p:txBody>
      </p:sp>
      <p:grpSp>
        <p:nvGrpSpPr>
          <p:cNvPr id="5" name="组合 4"/>
          <p:cNvGrpSpPr/>
          <p:nvPr/>
        </p:nvGrpSpPr>
        <p:grpSpPr>
          <a:xfrm>
            <a:off x="476250" y="2933700"/>
            <a:ext cx="3671570" cy="1512570"/>
            <a:chOff x="750" y="4620"/>
            <a:chExt cx="5782" cy="2382"/>
          </a:xfrm>
        </p:grpSpPr>
        <p:sp>
          <p:nvSpPr>
            <p:cNvPr id="5136" name="矩形 108548"/>
            <p:cNvSpPr/>
            <p:nvPr/>
          </p:nvSpPr>
          <p:spPr>
            <a:xfrm>
              <a:off x="2678" y="4620"/>
              <a:ext cx="1928" cy="2383"/>
            </a:xfrm>
            <a:prstGeom prst="rect">
              <a:avLst/>
            </a:prstGeom>
            <a:noFill/>
            <a:ln w="9525" cap="flat" cmpd="sng">
              <a:solidFill>
                <a:schemeClr val="tx1"/>
              </a:solidFill>
              <a:prstDash val="solid"/>
              <a:miter/>
              <a:headEnd type="none" w="med" len="med"/>
              <a:tailEnd type="none" w="med" len="med"/>
            </a:ln>
          </p:spPr>
          <p:txBody>
            <a:bodyPr/>
            <a:p>
              <a:endParaRPr lang="zh-CN" altLang="en-US" dirty="0">
                <a:latin typeface="Arial" panose="020B0604020202020204" pitchFamily="34" charset="0"/>
              </a:endParaRPr>
            </a:p>
          </p:txBody>
        </p:sp>
        <p:grpSp>
          <p:nvGrpSpPr>
            <p:cNvPr id="4" name="组合 3"/>
            <p:cNvGrpSpPr/>
            <p:nvPr/>
          </p:nvGrpSpPr>
          <p:grpSpPr>
            <a:xfrm>
              <a:off x="750" y="4620"/>
              <a:ext cx="5783" cy="2180"/>
              <a:chOff x="750" y="4620"/>
              <a:chExt cx="5783" cy="2180"/>
            </a:xfrm>
          </p:grpSpPr>
          <p:sp>
            <p:nvSpPr>
              <p:cNvPr id="5137" name="文本框 108549"/>
              <p:cNvSpPr txBox="1"/>
              <p:nvPr/>
            </p:nvSpPr>
            <p:spPr>
              <a:xfrm>
                <a:off x="2790" y="6320"/>
                <a:ext cx="793" cy="480"/>
              </a:xfrm>
              <a:prstGeom prst="rect">
                <a:avLst/>
              </a:prstGeom>
              <a:noFill/>
              <a:ln w="9525">
                <a:noFill/>
              </a:ln>
            </p:spPr>
            <p:txBody>
              <a:bodyPr lIns="0" tIns="0" rIns="0" bIns="0">
                <a:spAutoFit/>
              </a:bodyPr>
              <a:p>
                <a:pPr>
                  <a:spcBef>
                    <a:spcPct val="50000"/>
                  </a:spcBef>
                </a:pPr>
                <a:r>
                  <a:rPr lang="en-US" altLang="zh-CN" sz="2000" b="0" dirty="0">
                    <a:latin typeface="Times New Roman" panose="02020603050405020304" charset="0"/>
                  </a:rPr>
                  <a:t>CI</a:t>
                </a:r>
                <a:endParaRPr lang="en-US" altLang="zh-CN" sz="2000" b="0" dirty="0">
                  <a:latin typeface="Times New Roman" panose="02020603050405020304" charset="0"/>
                </a:endParaRPr>
              </a:p>
            </p:txBody>
          </p:sp>
          <p:sp>
            <p:nvSpPr>
              <p:cNvPr id="5138" name="文本框 108550"/>
              <p:cNvSpPr txBox="1"/>
              <p:nvPr/>
            </p:nvSpPr>
            <p:spPr>
              <a:xfrm>
                <a:off x="3813" y="6320"/>
                <a:ext cx="680" cy="480"/>
              </a:xfrm>
              <a:prstGeom prst="rect">
                <a:avLst/>
              </a:prstGeom>
              <a:noFill/>
              <a:ln w="9525">
                <a:noFill/>
              </a:ln>
            </p:spPr>
            <p:txBody>
              <a:bodyPr lIns="0" tIns="0" rIns="0" bIns="0">
                <a:spAutoFit/>
              </a:bodyPr>
              <a:p>
                <a:pPr algn="r">
                  <a:spcBef>
                    <a:spcPct val="50000"/>
                  </a:spcBef>
                </a:pPr>
                <a:r>
                  <a:rPr lang="en-US" altLang="zh-CN" sz="2000" b="0" dirty="0">
                    <a:latin typeface="Times New Roman" panose="02020603050405020304" charset="0"/>
                  </a:rPr>
                  <a:t>CO</a:t>
                </a:r>
                <a:endParaRPr lang="en-US" altLang="zh-CN" sz="2000" b="0" dirty="0">
                  <a:latin typeface="Times New Roman" panose="02020603050405020304" charset="0"/>
                </a:endParaRPr>
              </a:p>
            </p:txBody>
          </p:sp>
          <p:sp>
            <p:nvSpPr>
              <p:cNvPr id="5139" name="文本框 108551"/>
              <p:cNvSpPr txBox="1"/>
              <p:nvPr/>
            </p:nvSpPr>
            <p:spPr>
              <a:xfrm>
                <a:off x="3360" y="4960"/>
                <a:ext cx="565" cy="575"/>
              </a:xfrm>
              <a:prstGeom prst="rect">
                <a:avLst/>
              </a:prstGeom>
              <a:noFill/>
              <a:ln w="9525">
                <a:noFill/>
              </a:ln>
            </p:spPr>
            <p:txBody>
              <a:bodyPr lIns="0" tIns="0" rIns="0" bIns="0">
                <a:spAutoFit/>
              </a:bodyPr>
              <a:p>
                <a:pPr>
                  <a:spcBef>
                    <a:spcPct val="50000"/>
                  </a:spcBef>
                </a:pPr>
                <a:r>
                  <a:rPr lang="en-US" altLang="zh-CN" sz="2400" dirty="0">
                    <a:latin typeface="Times New Roman" panose="02020603050405020304" charset="0"/>
                  </a:rPr>
                  <a:t>∑</a:t>
                </a:r>
                <a:endParaRPr lang="en-US" altLang="zh-CN" sz="2400" dirty="0">
                  <a:latin typeface="Times New Roman" panose="02020603050405020304" charset="0"/>
                </a:endParaRPr>
              </a:p>
            </p:txBody>
          </p:sp>
          <p:sp>
            <p:nvSpPr>
              <p:cNvPr id="5140" name="直接连接符 108552"/>
              <p:cNvSpPr/>
              <p:nvPr/>
            </p:nvSpPr>
            <p:spPr>
              <a:xfrm>
                <a:off x="1543" y="4960"/>
                <a:ext cx="1138" cy="0"/>
              </a:xfrm>
              <a:prstGeom prst="line">
                <a:avLst/>
              </a:prstGeom>
              <a:ln w="9525" cap="flat" cmpd="sng">
                <a:solidFill>
                  <a:schemeClr val="tx1"/>
                </a:solidFill>
                <a:prstDash val="solid"/>
                <a:headEnd type="none" w="med" len="med"/>
                <a:tailEnd type="none" w="med" len="med"/>
              </a:ln>
            </p:spPr>
          </p:sp>
          <p:sp>
            <p:nvSpPr>
              <p:cNvPr id="5141" name="直接连接符 108553"/>
              <p:cNvSpPr/>
              <p:nvPr/>
            </p:nvSpPr>
            <p:spPr>
              <a:xfrm>
                <a:off x="1543" y="5640"/>
                <a:ext cx="1138" cy="0"/>
              </a:xfrm>
              <a:prstGeom prst="line">
                <a:avLst/>
              </a:prstGeom>
              <a:ln w="9525" cap="flat" cmpd="sng">
                <a:solidFill>
                  <a:schemeClr val="tx1"/>
                </a:solidFill>
                <a:prstDash val="solid"/>
                <a:headEnd type="none" w="med" len="med"/>
                <a:tailEnd type="none" w="med" len="med"/>
              </a:ln>
            </p:spPr>
          </p:sp>
          <p:sp>
            <p:nvSpPr>
              <p:cNvPr id="5142" name="直接连接符 108554"/>
              <p:cNvSpPr/>
              <p:nvPr/>
            </p:nvSpPr>
            <p:spPr>
              <a:xfrm>
                <a:off x="4605" y="5300"/>
                <a:ext cx="1135" cy="0"/>
              </a:xfrm>
              <a:prstGeom prst="line">
                <a:avLst/>
              </a:prstGeom>
              <a:ln w="9525" cap="flat" cmpd="sng">
                <a:solidFill>
                  <a:schemeClr val="tx1"/>
                </a:solidFill>
                <a:prstDash val="solid"/>
                <a:headEnd type="none" w="med" len="med"/>
                <a:tailEnd type="none" w="med" len="med"/>
              </a:ln>
            </p:spPr>
          </p:sp>
          <p:sp>
            <p:nvSpPr>
              <p:cNvPr id="5143" name="直接连接符 108555"/>
              <p:cNvSpPr/>
              <p:nvPr/>
            </p:nvSpPr>
            <p:spPr>
              <a:xfrm>
                <a:off x="2110" y="6663"/>
                <a:ext cx="568" cy="0"/>
              </a:xfrm>
              <a:prstGeom prst="line">
                <a:avLst/>
              </a:prstGeom>
              <a:ln w="9525" cap="flat" cmpd="sng">
                <a:solidFill>
                  <a:schemeClr val="tx1"/>
                </a:solidFill>
                <a:prstDash val="solid"/>
                <a:headEnd type="none" w="med" len="med"/>
                <a:tailEnd type="none" w="med" len="med"/>
              </a:ln>
            </p:spPr>
          </p:sp>
          <p:sp>
            <p:nvSpPr>
              <p:cNvPr id="5144" name="直接连接符 108556"/>
              <p:cNvSpPr/>
              <p:nvPr/>
            </p:nvSpPr>
            <p:spPr>
              <a:xfrm>
                <a:off x="4605" y="6663"/>
                <a:ext cx="568" cy="0"/>
              </a:xfrm>
              <a:prstGeom prst="line">
                <a:avLst/>
              </a:prstGeom>
              <a:ln w="9525" cap="flat" cmpd="sng">
                <a:solidFill>
                  <a:schemeClr val="tx1"/>
                </a:solidFill>
                <a:prstDash val="solid"/>
                <a:headEnd type="none" w="med" len="med"/>
                <a:tailEnd type="none" w="med" len="med"/>
              </a:ln>
            </p:spPr>
          </p:sp>
          <p:sp>
            <p:nvSpPr>
              <p:cNvPr id="5159" name="文本框 108573"/>
              <p:cNvSpPr txBox="1"/>
              <p:nvPr/>
            </p:nvSpPr>
            <p:spPr>
              <a:xfrm>
                <a:off x="750" y="4620"/>
                <a:ext cx="680" cy="480"/>
              </a:xfrm>
              <a:prstGeom prst="rect">
                <a:avLst/>
              </a:prstGeom>
              <a:noFill/>
              <a:ln w="9525">
                <a:noFill/>
              </a:ln>
            </p:spPr>
            <p:txBody>
              <a:bodyPr lIns="0" tIns="0" rIns="0" bIns="0">
                <a:spAutoFit/>
              </a:bodyPr>
              <a:p>
                <a:pPr>
                  <a:spcBef>
                    <a:spcPct val="50000"/>
                  </a:spcBef>
                </a:pPr>
                <a:r>
                  <a:rPr lang="en-US" altLang="zh-CN" sz="2000" b="0" dirty="0">
                    <a:latin typeface="Times New Roman" panose="02020603050405020304" charset="0"/>
                  </a:rPr>
                  <a:t>A</a:t>
                </a:r>
                <a:r>
                  <a:rPr lang="en-US" altLang="zh-CN" sz="2000" b="0" i="1" baseline="-25000" dirty="0">
                    <a:latin typeface="Times New Roman" panose="02020603050405020304" charset="0"/>
                  </a:rPr>
                  <a:t>i</a:t>
                </a:r>
                <a:endParaRPr lang="en-US" altLang="zh-CN" sz="2000" b="0" i="1" baseline="-25000" dirty="0">
                  <a:latin typeface="Times New Roman" panose="02020603050405020304" charset="0"/>
                </a:endParaRPr>
              </a:p>
            </p:txBody>
          </p:sp>
          <p:sp>
            <p:nvSpPr>
              <p:cNvPr id="5160" name="文本框 108574"/>
              <p:cNvSpPr txBox="1"/>
              <p:nvPr/>
            </p:nvSpPr>
            <p:spPr>
              <a:xfrm>
                <a:off x="750" y="5300"/>
                <a:ext cx="680" cy="480"/>
              </a:xfrm>
              <a:prstGeom prst="rect">
                <a:avLst/>
              </a:prstGeom>
              <a:noFill/>
              <a:ln w="9525">
                <a:noFill/>
              </a:ln>
            </p:spPr>
            <p:txBody>
              <a:bodyPr lIns="0" tIns="0" rIns="0" bIns="0">
                <a:spAutoFit/>
              </a:bodyPr>
              <a:p>
                <a:pPr>
                  <a:spcBef>
                    <a:spcPct val="50000"/>
                  </a:spcBef>
                </a:pPr>
                <a:r>
                  <a:rPr lang="en-US" altLang="zh-CN" sz="2000" b="0" dirty="0">
                    <a:latin typeface="Times New Roman" panose="02020603050405020304" charset="0"/>
                  </a:rPr>
                  <a:t>B</a:t>
                </a:r>
                <a:r>
                  <a:rPr lang="en-US" altLang="zh-CN" sz="2000" b="0" i="1" baseline="-25000" dirty="0">
                    <a:latin typeface="Times New Roman" panose="02020603050405020304" charset="0"/>
                  </a:rPr>
                  <a:t>i</a:t>
                </a:r>
                <a:endParaRPr lang="en-US" altLang="zh-CN" sz="2000" b="0" i="1" baseline="-25000" dirty="0">
                  <a:latin typeface="Times New Roman" panose="02020603050405020304" charset="0"/>
                </a:endParaRPr>
              </a:p>
            </p:txBody>
          </p:sp>
          <p:sp>
            <p:nvSpPr>
              <p:cNvPr id="5161" name="文本框 108575"/>
              <p:cNvSpPr txBox="1"/>
              <p:nvPr/>
            </p:nvSpPr>
            <p:spPr>
              <a:xfrm>
                <a:off x="5853" y="5048"/>
                <a:ext cx="680" cy="480"/>
              </a:xfrm>
              <a:prstGeom prst="rect">
                <a:avLst/>
              </a:prstGeom>
              <a:noFill/>
              <a:ln w="9525">
                <a:noFill/>
              </a:ln>
            </p:spPr>
            <p:txBody>
              <a:bodyPr lIns="0" tIns="0" rIns="0" bIns="0">
                <a:spAutoFit/>
              </a:bodyPr>
              <a:p>
                <a:pPr>
                  <a:spcBef>
                    <a:spcPct val="50000"/>
                  </a:spcBef>
                </a:pPr>
                <a:r>
                  <a:rPr lang="en-US" altLang="zh-CN" sz="2000" b="0" dirty="0">
                    <a:latin typeface="Times New Roman" panose="02020603050405020304" charset="0"/>
                  </a:rPr>
                  <a:t>S</a:t>
                </a:r>
                <a:r>
                  <a:rPr lang="en-US" altLang="zh-CN" sz="2000" b="0" i="1" baseline="-25000" dirty="0">
                    <a:latin typeface="Times New Roman" panose="02020603050405020304" charset="0"/>
                  </a:rPr>
                  <a:t>i</a:t>
                </a:r>
                <a:endParaRPr lang="en-US" altLang="zh-CN" sz="2000" b="0" i="1" baseline="-25000" dirty="0">
                  <a:latin typeface="Times New Roman" panose="02020603050405020304" charset="0"/>
                </a:endParaRPr>
              </a:p>
            </p:txBody>
          </p:sp>
          <p:sp>
            <p:nvSpPr>
              <p:cNvPr id="5162" name="文本框 108576"/>
              <p:cNvSpPr txBox="1"/>
              <p:nvPr/>
            </p:nvSpPr>
            <p:spPr>
              <a:xfrm>
                <a:off x="1430" y="6320"/>
                <a:ext cx="680" cy="480"/>
              </a:xfrm>
              <a:prstGeom prst="rect">
                <a:avLst/>
              </a:prstGeom>
              <a:noFill/>
              <a:ln w="9525">
                <a:noFill/>
              </a:ln>
            </p:spPr>
            <p:txBody>
              <a:bodyPr lIns="0" tIns="0" rIns="0" bIns="0">
                <a:spAutoFit/>
              </a:bodyPr>
              <a:p>
                <a:pPr>
                  <a:spcBef>
                    <a:spcPct val="50000"/>
                  </a:spcBef>
                </a:pPr>
                <a:r>
                  <a:rPr lang="en-US" altLang="zh-CN" sz="2000" b="0" dirty="0">
                    <a:latin typeface="Times New Roman" panose="02020603050405020304" charset="0"/>
                  </a:rPr>
                  <a:t>C</a:t>
                </a:r>
                <a:r>
                  <a:rPr lang="en-US" altLang="zh-CN" sz="2000" b="0" baseline="-25000" dirty="0">
                    <a:latin typeface="Times New Roman" panose="02020603050405020304" charset="0"/>
                  </a:rPr>
                  <a:t>i-1</a:t>
                </a:r>
                <a:endParaRPr lang="en-US" altLang="zh-CN" sz="2000" b="0" baseline="-25000" dirty="0">
                  <a:latin typeface="Times New Roman" panose="02020603050405020304" charset="0"/>
                </a:endParaRPr>
              </a:p>
            </p:txBody>
          </p:sp>
          <p:sp>
            <p:nvSpPr>
              <p:cNvPr id="5163" name="文本框 108577"/>
              <p:cNvSpPr txBox="1"/>
              <p:nvPr/>
            </p:nvSpPr>
            <p:spPr>
              <a:xfrm>
                <a:off x="5285" y="6320"/>
                <a:ext cx="680" cy="480"/>
              </a:xfrm>
              <a:prstGeom prst="rect">
                <a:avLst/>
              </a:prstGeom>
              <a:noFill/>
              <a:ln w="9525">
                <a:noFill/>
              </a:ln>
            </p:spPr>
            <p:txBody>
              <a:bodyPr lIns="0" tIns="0" rIns="0" bIns="0">
                <a:spAutoFit/>
              </a:bodyPr>
              <a:p>
                <a:pPr>
                  <a:spcBef>
                    <a:spcPct val="50000"/>
                  </a:spcBef>
                </a:pPr>
                <a:r>
                  <a:rPr lang="en-US" altLang="zh-CN" sz="2000" b="0" dirty="0">
                    <a:latin typeface="Times New Roman" panose="02020603050405020304" charset="0"/>
                  </a:rPr>
                  <a:t>C</a:t>
                </a:r>
                <a:r>
                  <a:rPr lang="en-US" altLang="zh-CN" sz="2000" b="0" baseline="-25000" dirty="0">
                    <a:latin typeface="Times New Roman" panose="02020603050405020304" charset="0"/>
                  </a:rPr>
                  <a:t>i</a:t>
                </a:r>
                <a:endParaRPr lang="en-US" altLang="zh-CN" sz="2000" b="0" baseline="-25000" dirty="0">
                  <a:latin typeface="Times New Roman" panose="02020603050405020304" charset="0"/>
                </a:endParaRPr>
              </a:p>
            </p:txBody>
          </p:sp>
        </p:grpSp>
      </p:grpSp>
      <p:sp>
        <p:nvSpPr>
          <p:cNvPr id="108593" name="文本框 108592"/>
          <p:cNvSpPr txBox="1"/>
          <p:nvPr/>
        </p:nvSpPr>
        <p:spPr>
          <a:xfrm>
            <a:off x="979488" y="2717800"/>
            <a:ext cx="215900" cy="365125"/>
          </a:xfrm>
          <a:prstGeom prst="rect">
            <a:avLst/>
          </a:prstGeom>
          <a:noFill/>
          <a:ln w="9525">
            <a:noFill/>
          </a:ln>
        </p:spPr>
        <p:txBody>
          <a:bodyPr lIns="0" tIns="0" rIns="0" bIns="0">
            <a:spAutoFit/>
          </a:bodyPr>
          <a:p>
            <a:pPr marR="0" algn="r" defTabSz="914400">
              <a:spcBef>
                <a:spcPct val="50000"/>
              </a:spcBef>
              <a:buClrTx/>
              <a:buSzTx/>
              <a:defRPr/>
            </a:pPr>
            <a:r>
              <a:rPr kumimoji="0" lang="en-US" altLang="zh-CN" sz="2400" kern="1200" cap="none" spc="0" normalizeH="0" baseline="0" noProof="1">
                <a:effectLst>
                  <a:outerShdw blurRad="38100" dist="38100" dir="2700000">
                    <a:srgbClr val="FFFFFF"/>
                  </a:outerShdw>
                </a:effectLst>
                <a:latin typeface="Arial" panose="020B0604020202020204" pitchFamily="34" charset="0"/>
                <a:ea typeface="宋体" panose="02010600030101010101" pitchFamily="2" charset="-122"/>
                <a:cs typeface="+mn-cs"/>
              </a:rPr>
              <a:t>1</a:t>
            </a:r>
            <a:endParaRPr kumimoji="0" lang="en-US" altLang="zh-CN" sz="2400" kern="1200" cap="none" spc="0" normalizeH="0" baseline="0" noProof="1">
              <a:effectLst>
                <a:outerShdw blurRad="38100" dist="38100" dir="2700000">
                  <a:srgbClr val="FFFFFF"/>
                </a:outerShdw>
              </a:effectLst>
              <a:latin typeface="Arial" panose="020B0604020202020204" pitchFamily="34" charset="0"/>
              <a:ea typeface="宋体" panose="02010600030101010101" pitchFamily="2" charset="-122"/>
              <a:cs typeface="+mn-cs"/>
            </a:endParaRPr>
          </a:p>
        </p:txBody>
      </p:sp>
      <p:sp>
        <p:nvSpPr>
          <p:cNvPr id="108596" name="文本框 108595"/>
          <p:cNvSpPr txBox="1"/>
          <p:nvPr/>
        </p:nvSpPr>
        <p:spPr>
          <a:xfrm>
            <a:off x="979488" y="3222625"/>
            <a:ext cx="215900" cy="365125"/>
          </a:xfrm>
          <a:prstGeom prst="rect">
            <a:avLst/>
          </a:prstGeom>
          <a:noFill/>
          <a:ln w="9525">
            <a:noFill/>
          </a:ln>
        </p:spPr>
        <p:txBody>
          <a:bodyPr lIns="0" tIns="0" rIns="0" bIns="0">
            <a:spAutoFit/>
          </a:bodyPr>
          <a:p>
            <a:pPr marR="0" algn="r" defTabSz="914400">
              <a:spcBef>
                <a:spcPct val="50000"/>
              </a:spcBef>
              <a:buClrTx/>
              <a:buSzTx/>
              <a:defRPr/>
            </a:pPr>
            <a:r>
              <a:rPr kumimoji="0" lang="en-US" altLang="zh-CN" sz="2400" kern="1200" cap="none" spc="0" normalizeH="0" baseline="0" noProof="1">
                <a:effectLst>
                  <a:outerShdw blurRad="38100" dist="38100" dir="2700000">
                    <a:srgbClr val="FFFFFF"/>
                  </a:outerShdw>
                </a:effectLst>
                <a:latin typeface="Arial" panose="020B0604020202020204" pitchFamily="34" charset="0"/>
                <a:ea typeface="宋体" panose="02010600030101010101" pitchFamily="2" charset="-122"/>
                <a:cs typeface="+mn-cs"/>
              </a:rPr>
              <a:t>1</a:t>
            </a:r>
            <a:endParaRPr kumimoji="0" lang="en-US" altLang="zh-CN" sz="2400" kern="1200" cap="none" spc="0" normalizeH="0" baseline="0" noProof="1">
              <a:effectLst>
                <a:outerShdw blurRad="38100" dist="38100" dir="2700000">
                  <a:srgbClr val="FFFFFF"/>
                </a:outerShdw>
              </a:effectLst>
              <a:latin typeface="Arial" panose="020B0604020202020204" pitchFamily="34" charset="0"/>
              <a:ea typeface="宋体" panose="02010600030101010101" pitchFamily="2" charset="-122"/>
              <a:cs typeface="+mn-cs"/>
            </a:endParaRPr>
          </a:p>
        </p:txBody>
      </p:sp>
      <p:sp>
        <p:nvSpPr>
          <p:cNvPr id="108597" name="文本框 108596"/>
          <p:cNvSpPr txBox="1"/>
          <p:nvPr/>
        </p:nvSpPr>
        <p:spPr>
          <a:xfrm>
            <a:off x="3429000" y="2935288"/>
            <a:ext cx="215900" cy="365125"/>
          </a:xfrm>
          <a:prstGeom prst="rect">
            <a:avLst/>
          </a:prstGeom>
          <a:noFill/>
          <a:ln w="9525">
            <a:noFill/>
          </a:ln>
        </p:spPr>
        <p:txBody>
          <a:bodyPr lIns="0" tIns="0" rIns="0" bIns="0">
            <a:spAutoFit/>
          </a:bodyPr>
          <a:p>
            <a:pPr marR="0" algn="r" defTabSz="914400">
              <a:spcBef>
                <a:spcPct val="50000"/>
              </a:spcBef>
              <a:buClrTx/>
              <a:buSzTx/>
              <a:defRPr/>
            </a:pPr>
            <a:r>
              <a:rPr kumimoji="0" lang="en-US" altLang="zh-CN" sz="2400" kern="1200" cap="none" spc="0" normalizeH="0" baseline="0" noProof="1">
                <a:effectLst>
                  <a:outerShdw blurRad="38100" dist="38100" dir="2700000">
                    <a:srgbClr val="FFFFFF"/>
                  </a:outerShdw>
                </a:effectLst>
                <a:latin typeface="Arial" panose="020B0604020202020204" pitchFamily="34" charset="0"/>
                <a:ea typeface="宋体" panose="02010600030101010101" pitchFamily="2" charset="-122"/>
                <a:cs typeface="+mn-cs"/>
              </a:rPr>
              <a:t>0</a:t>
            </a:r>
            <a:endParaRPr kumimoji="0" lang="en-US" altLang="zh-CN" sz="2400" kern="1200" cap="none" spc="0" normalizeH="0" baseline="0" noProof="1">
              <a:effectLst>
                <a:outerShdw blurRad="38100" dist="38100" dir="2700000">
                  <a:srgbClr val="FFFFFF"/>
                </a:outerShdw>
              </a:effectLst>
              <a:latin typeface="Arial" panose="020B0604020202020204" pitchFamily="34" charset="0"/>
              <a:ea typeface="宋体" panose="02010600030101010101" pitchFamily="2" charset="-122"/>
              <a:cs typeface="+mn-cs"/>
            </a:endParaRPr>
          </a:p>
        </p:txBody>
      </p:sp>
      <p:sp>
        <p:nvSpPr>
          <p:cNvPr id="108598" name="文本框 108597"/>
          <p:cNvSpPr txBox="1"/>
          <p:nvPr/>
        </p:nvSpPr>
        <p:spPr>
          <a:xfrm>
            <a:off x="3068638" y="3798888"/>
            <a:ext cx="215900" cy="365125"/>
          </a:xfrm>
          <a:prstGeom prst="rect">
            <a:avLst/>
          </a:prstGeom>
          <a:noFill/>
          <a:ln w="9525">
            <a:noFill/>
          </a:ln>
        </p:spPr>
        <p:txBody>
          <a:bodyPr lIns="0" tIns="0" rIns="0" bIns="0">
            <a:spAutoFit/>
          </a:bodyPr>
          <a:p>
            <a:pPr marR="0" algn="r" defTabSz="914400">
              <a:spcBef>
                <a:spcPct val="50000"/>
              </a:spcBef>
              <a:buClrTx/>
              <a:buSzTx/>
              <a:defRPr/>
            </a:pPr>
            <a:r>
              <a:rPr kumimoji="0" lang="en-US" altLang="zh-CN" sz="2400" kern="1200" cap="none" spc="0" normalizeH="0" baseline="0" noProof="1">
                <a:effectLst>
                  <a:outerShdw blurRad="38100" dist="38100" dir="2700000">
                    <a:srgbClr val="FFFFFF"/>
                  </a:outerShdw>
                </a:effectLst>
                <a:latin typeface="Arial" panose="020B0604020202020204" pitchFamily="34" charset="0"/>
                <a:ea typeface="宋体" panose="02010600030101010101" pitchFamily="2" charset="-122"/>
                <a:cs typeface="+mn-cs"/>
              </a:rPr>
              <a:t>1</a:t>
            </a:r>
            <a:endParaRPr kumimoji="0" lang="en-US" altLang="zh-CN" sz="2400" kern="1200" cap="none" spc="0" normalizeH="0" baseline="0" noProof="1">
              <a:effectLst>
                <a:outerShdw blurRad="38100" dist="38100" dir="2700000">
                  <a:srgbClr val="FFFFFF"/>
                </a:outerShdw>
              </a:effectLst>
              <a:latin typeface="Arial" panose="020B0604020202020204" pitchFamily="34" charset="0"/>
              <a:ea typeface="宋体" panose="02010600030101010101" pitchFamily="2" charset="-122"/>
              <a:cs typeface="+mn-cs"/>
            </a:endParaRPr>
          </a:p>
        </p:txBody>
      </p:sp>
      <p:sp>
        <p:nvSpPr>
          <p:cNvPr id="108600" name="文本框 108599"/>
          <p:cNvSpPr txBox="1"/>
          <p:nvPr/>
        </p:nvSpPr>
        <p:spPr>
          <a:xfrm>
            <a:off x="1052513" y="2784475"/>
            <a:ext cx="215900" cy="365125"/>
          </a:xfrm>
          <a:prstGeom prst="rect">
            <a:avLst/>
          </a:prstGeom>
          <a:solidFill>
            <a:srgbClr val="CCECFF"/>
          </a:solidFill>
          <a:ln w="9525">
            <a:noFill/>
          </a:ln>
        </p:spPr>
        <p:txBody>
          <a:bodyPr lIns="0" tIns="0" rIns="0" bIns="0">
            <a:spAutoFit/>
          </a:bodyPr>
          <a:p>
            <a:pPr marR="0" algn="r" defTabSz="914400">
              <a:spcBef>
                <a:spcPct val="50000"/>
              </a:spcBef>
              <a:buClrTx/>
              <a:buSzTx/>
              <a:defRPr/>
            </a:pPr>
            <a:r>
              <a:rPr kumimoji="0" lang="en-US" altLang="zh-CN" sz="2400"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rPr>
              <a:t>0</a:t>
            </a:r>
            <a:endParaRPr kumimoji="0" lang="en-US" altLang="zh-CN" sz="2400"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endParaRPr>
          </a:p>
        </p:txBody>
      </p:sp>
      <p:sp>
        <p:nvSpPr>
          <p:cNvPr id="108601" name="文本框 108600"/>
          <p:cNvSpPr txBox="1"/>
          <p:nvPr/>
        </p:nvSpPr>
        <p:spPr>
          <a:xfrm>
            <a:off x="979488" y="3151188"/>
            <a:ext cx="215900" cy="365125"/>
          </a:xfrm>
          <a:prstGeom prst="rect">
            <a:avLst/>
          </a:prstGeom>
          <a:solidFill>
            <a:srgbClr val="CCECFF"/>
          </a:solidFill>
          <a:ln w="9525">
            <a:noFill/>
          </a:ln>
        </p:spPr>
        <p:txBody>
          <a:bodyPr lIns="0" tIns="0" rIns="0" bIns="0">
            <a:spAutoFit/>
          </a:bodyPr>
          <a:p>
            <a:pPr marR="0" algn="r" defTabSz="914400">
              <a:spcBef>
                <a:spcPct val="50000"/>
              </a:spcBef>
              <a:buClrTx/>
              <a:buSzTx/>
              <a:defRPr/>
            </a:pPr>
            <a:r>
              <a:rPr kumimoji="0" lang="en-US" altLang="zh-CN" sz="2400"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rPr>
              <a:t>0</a:t>
            </a:r>
            <a:endParaRPr kumimoji="0" lang="en-US" altLang="zh-CN" sz="2400"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endParaRPr>
          </a:p>
        </p:txBody>
      </p:sp>
      <p:sp>
        <p:nvSpPr>
          <p:cNvPr id="108603" name="文本框 108602"/>
          <p:cNvSpPr txBox="1"/>
          <p:nvPr/>
        </p:nvSpPr>
        <p:spPr>
          <a:xfrm>
            <a:off x="3140075" y="3798888"/>
            <a:ext cx="215900" cy="365125"/>
          </a:xfrm>
          <a:prstGeom prst="rect">
            <a:avLst/>
          </a:prstGeom>
          <a:solidFill>
            <a:srgbClr val="CCECFF"/>
          </a:solidFill>
          <a:ln w="9525">
            <a:noFill/>
          </a:ln>
        </p:spPr>
        <p:txBody>
          <a:bodyPr lIns="0" tIns="0" rIns="0" bIns="0">
            <a:spAutoFit/>
          </a:bodyPr>
          <a:p>
            <a:pPr marR="0" algn="r" defTabSz="914400">
              <a:spcBef>
                <a:spcPct val="50000"/>
              </a:spcBef>
              <a:buClrTx/>
              <a:buSzTx/>
              <a:defRPr/>
            </a:pPr>
            <a:r>
              <a:rPr kumimoji="0" lang="en-US" altLang="zh-CN" sz="2400"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rPr>
              <a:t>0</a:t>
            </a:r>
            <a:endParaRPr kumimoji="0" lang="en-US" altLang="zh-CN" sz="2400"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endParaRPr>
          </a:p>
        </p:txBody>
      </p:sp>
      <p:sp>
        <p:nvSpPr>
          <p:cNvPr id="2" name="文本框 1"/>
          <p:cNvSpPr txBox="1"/>
          <p:nvPr/>
        </p:nvSpPr>
        <p:spPr>
          <a:xfrm>
            <a:off x="4519295" y="2783205"/>
            <a:ext cx="4167505" cy="829945"/>
          </a:xfrm>
          <a:prstGeom prst="rect">
            <a:avLst/>
          </a:prstGeom>
          <a:noFill/>
        </p:spPr>
        <p:txBody>
          <a:bodyPr wrap="square" rtlCol="0">
            <a:spAutoFit/>
          </a:bodyPr>
          <a:p>
            <a:r>
              <a:rPr lang="zh-CN" altLang="en-US" sz="2400" b="1">
                <a:gradFill>
                  <a:gsLst>
                    <a:gs pos="0">
                      <a:srgbClr val="012D86"/>
                    </a:gs>
                    <a:gs pos="100000">
                      <a:srgbClr val="0E2557"/>
                    </a:gs>
                  </a:gsLst>
                  <a:lin scaled="0"/>
                </a:gradFill>
              </a:rPr>
              <a:t>先回顾组合逻辑电路的特点，</a:t>
            </a:r>
            <a:endParaRPr lang="zh-CN" altLang="en-US" sz="2400" b="1">
              <a:gradFill>
                <a:gsLst>
                  <a:gs pos="0">
                    <a:srgbClr val="012D86"/>
                  </a:gs>
                  <a:gs pos="100000">
                    <a:srgbClr val="0E2557"/>
                  </a:gs>
                </a:gsLst>
                <a:lin scaled="0"/>
              </a:gradFill>
            </a:endParaRPr>
          </a:p>
          <a:p>
            <a:r>
              <a:rPr lang="zh-CN" altLang="en-US" sz="2400" b="1">
                <a:gradFill>
                  <a:gsLst>
                    <a:gs pos="0">
                      <a:srgbClr val="012D86"/>
                    </a:gs>
                    <a:gs pos="100000">
                      <a:srgbClr val="0E2557"/>
                    </a:gs>
                  </a:gsLst>
                  <a:lin scaled="0"/>
                </a:gradFill>
              </a:rPr>
              <a:t>以全加器为例。</a:t>
            </a:r>
            <a:endParaRPr lang="zh-CN" altLang="en-US" sz="2400" b="1">
              <a:gradFill>
                <a:gsLst>
                  <a:gs pos="0">
                    <a:srgbClr val="012D86"/>
                  </a:gs>
                  <a:gs pos="100000">
                    <a:srgbClr val="0E2557"/>
                  </a:gs>
                </a:gsLst>
                <a:lin scaled="0"/>
              </a:gradFill>
            </a:endParaRPr>
          </a:p>
        </p:txBody>
      </p:sp>
      <p:sp>
        <p:nvSpPr>
          <p:cNvPr id="3" name="文本框 2"/>
          <p:cNvSpPr txBox="1"/>
          <p:nvPr/>
        </p:nvSpPr>
        <p:spPr>
          <a:xfrm>
            <a:off x="4522470" y="3848735"/>
            <a:ext cx="4167505" cy="460375"/>
          </a:xfrm>
          <a:prstGeom prst="rect">
            <a:avLst/>
          </a:prstGeom>
          <a:noFill/>
        </p:spPr>
        <p:txBody>
          <a:bodyPr wrap="square" rtlCol="0">
            <a:spAutoFit/>
          </a:bodyPr>
          <a:p>
            <a:r>
              <a:rPr lang="zh-CN" altLang="en-US" sz="2400" b="1">
                <a:gradFill>
                  <a:gsLst>
                    <a:gs pos="0">
                      <a:srgbClr val="012D86"/>
                    </a:gs>
                    <a:gs pos="100000">
                      <a:srgbClr val="0E2557"/>
                    </a:gs>
                  </a:gsLst>
                  <a:lin scaled="0"/>
                </a:gradFill>
              </a:rPr>
              <a:t>再看时序逻辑电路的特点</a:t>
            </a:r>
            <a:endParaRPr lang="zh-CN" altLang="en-US" sz="2400" b="1">
              <a:gradFill>
                <a:gsLst>
                  <a:gs pos="0">
                    <a:srgbClr val="012D86"/>
                  </a:gs>
                  <a:gs pos="100000">
                    <a:srgbClr val="0E2557"/>
                  </a:gs>
                </a:gsLst>
                <a:lin scaled="0"/>
              </a:gradFill>
            </a:endParaRPr>
          </a:p>
        </p:txBody>
      </p:sp>
      <p:sp>
        <p:nvSpPr>
          <p:cNvPr id="6" name="文本框 5"/>
          <p:cNvSpPr txBox="1"/>
          <p:nvPr/>
        </p:nvSpPr>
        <p:spPr>
          <a:xfrm>
            <a:off x="3429000" y="2935288"/>
            <a:ext cx="215900" cy="365125"/>
          </a:xfrm>
          <a:prstGeom prst="rect">
            <a:avLst/>
          </a:prstGeom>
          <a:solidFill>
            <a:srgbClr val="CCECFF"/>
          </a:solidFill>
          <a:ln w="9525">
            <a:noFill/>
          </a:ln>
        </p:spPr>
        <p:txBody>
          <a:bodyPr lIns="0" tIns="0" rIns="0" bIns="0">
            <a:spAutoFit/>
          </a:bodyPr>
          <a:p>
            <a:pPr marR="0" algn="r" defTabSz="914400">
              <a:spcBef>
                <a:spcPct val="50000"/>
              </a:spcBef>
              <a:buClrTx/>
              <a:buSzTx/>
              <a:defRPr/>
            </a:pPr>
            <a:r>
              <a:rPr kumimoji="0" lang="en-US" altLang="zh-CN" sz="2400"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rPr>
              <a:t>0</a:t>
            </a:r>
            <a:endParaRPr kumimoji="0" lang="en-US" altLang="zh-CN" sz="2400"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8547"/>
                                        </p:tgtEl>
                                        <p:attrNameLst>
                                          <p:attrName>style.visibility</p:attrName>
                                        </p:attrNameLst>
                                      </p:cBhvr>
                                      <p:to>
                                        <p:strVal val="visible"/>
                                      </p:to>
                                    </p:set>
                                    <p:animEffect transition="in" filter="wipe(left)">
                                      <p:cBhvr>
                                        <p:cTn id="7" dur="500"/>
                                        <p:tgtEl>
                                          <p:spTgt spid="10854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afterEffect">
                                  <p:stCondLst>
                                    <p:cond delay="150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8593"/>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1000"/>
                                  </p:stCondLst>
                                  <p:childTnLst>
                                    <p:set>
                                      <p:cBhvr>
                                        <p:cTn id="21" dur="1" fill="hold">
                                          <p:stCondLst>
                                            <p:cond delay="0"/>
                                          </p:stCondLst>
                                        </p:cTn>
                                        <p:tgtEl>
                                          <p:spTgt spid="108596"/>
                                        </p:tgtEl>
                                        <p:attrNameLst>
                                          <p:attrName>style.visibility</p:attrName>
                                        </p:attrNameLst>
                                      </p:cBhvr>
                                      <p:to>
                                        <p:strVal val="visible"/>
                                      </p:to>
                                    </p:set>
                                  </p:childTnLst>
                                </p:cTn>
                              </p:par>
                            </p:childTnLst>
                          </p:cTn>
                        </p:par>
                        <p:par>
                          <p:cTn id="22" fill="hold">
                            <p:stCondLst>
                              <p:cond delay="1000"/>
                            </p:stCondLst>
                            <p:childTnLst>
                              <p:par>
                                <p:cTn id="23" presetID="1" presetClass="entr" presetSubtype="0" fill="hold" grpId="0" nodeType="afterEffect">
                                  <p:stCondLst>
                                    <p:cond delay="1000"/>
                                  </p:stCondLst>
                                  <p:childTnLst>
                                    <p:set>
                                      <p:cBhvr>
                                        <p:cTn id="24" dur="1" fill="hold">
                                          <p:stCondLst>
                                            <p:cond delay="0"/>
                                          </p:stCondLst>
                                        </p:cTn>
                                        <p:tgtEl>
                                          <p:spTgt spid="108606"/>
                                        </p:tgtEl>
                                        <p:attrNameLst>
                                          <p:attrName>style.visibility</p:attrName>
                                        </p:attrNameLst>
                                      </p:cBhvr>
                                      <p:to>
                                        <p:strVal val="visible"/>
                                      </p:to>
                                    </p:set>
                                  </p:childTnLst>
                                </p:cTn>
                              </p:par>
                            </p:childTnLst>
                          </p:cTn>
                        </p:par>
                        <p:par>
                          <p:cTn id="25" fill="hold">
                            <p:stCondLst>
                              <p:cond delay="2000"/>
                            </p:stCondLst>
                            <p:childTnLst>
                              <p:par>
                                <p:cTn id="26" presetID="1" presetClass="entr" presetSubtype="0" fill="hold" grpId="0" nodeType="afterEffect">
                                  <p:stCondLst>
                                    <p:cond delay="1500"/>
                                  </p:stCondLst>
                                  <p:childTnLst>
                                    <p:set>
                                      <p:cBhvr>
                                        <p:cTn id="27" dur="1" fill="hold">
                                          <p:stCondLst>
                                            <p:cond delay="0"/>
                                          </p:stCondLst>
                                        </p:cTn>
                                        <p:tgtEl>
                                          <p:spTgt spid="108597"/>
                                        </p:tgtEl>
                                        <p:attrNameLst>
                                          <p:attrName>style.visibility</p:attrName>
                                        </p:attrNameLst>
                                      </p:cBhvr>
                                      <p:to>
                                        <p:strVal val="visible"/>
                                      </p:to>
                                    </p:set>
                                  </p:childTnLst>
                                </p:cTn>
                              </p:par>
                            </p:childTnLst>
                          </p:cTn>
                        </p:par>
                        <p:par>
                          <p:cTn id="28" fill="hold">
                            <p:stCondLst>
                              <p:cond delay="3500"/>
                            </p:stCondLst>
                            <p:childTnLst>
                              <p:par>
                                <p:cTn id="29" presetID="1" presetClass="entr" presetSubtype="0" fill="hold" grpId="0" nodeType="afterEffect">
                                  <p:stCondLst>
                                    <p:cond delay="500"/>
                                  </p:stCondLst>
                                  <p:childTnLst>
                                    <p:set>
                                      <p:cBhvr>
                                        <p:cTn id="30" dur="1" fill="hold">
                                          <p:stCondLst>
                                            <p:cond delay="0"/>
                                          </p:stCondLst>
                                        </p:cTn>
                                        <p:tgtEl>
                                          <p:spTgt spid="10859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8600"/>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500"/>
                                  </p:stCondLst>
                                  <p:childTnLst>
                                    <p:set>
                                      <p:cBhvr>
                                        <p:cTn id="37" dur="1" fill="hold">
                                          <p:stCondLst>
                                            <p:cond delay="0"/>
                                          </p:stCondLst>
                                        </p:cTn>
                                        <p:tgtEl>
                                          <p:spTgt spid="108601"/>
                                        </p:tgtEl>
                                        <p:attrNameLst>
                                          <p:attrName>style.visibility</p:attrName>
                                        </p:attrNameLst>
                                      </p:cBhvr>
                                      <p:to>
                                        <p:strVal val="visible"/>
                                      </p:to>
                                    </p:set>
                                  </p:childTnLst>
                                </p:cTn>
                              </p:par>
                            </p:childTnLst>
                          </p:cTn>
                        </p:par>
                        <p:par>
                          <p:cTn id="38" fill="hold">
                            <p:stCondLst>
                              <p:cond delay="500"/>
                            </p:stCondLst>
                            <p:childTnLst>
                              <p:par>
                                <p:cTn id="39" presetID="1" presetClass="entr" presetSubtype="0" fill="hold" grpId="0" nodeType="afterEffect">
                                  <p:stCondLst>
                                    <p:cond delay="500"/>
                                  </p:stCondLst>
                                  <p:childTnLst>
                                    <p:set>
                                      <p:cBhvr>
                                        <p:cTn id="40" dur="1" fill="hold">
                                          <p:stCondLst>
                                            <p:cond delay="0"/>
                                          </p:stCondLst>
                                        </p:cTn>
                                        <p:tgtEl>
                                          <p:spTgt spid="6"/>
                                        </p:tgtEl>
                                        <p:attrNameLst>
                                          <p:attrName>style.visibility</p:attrName>
                                        </p:attrNameLst>
                                      </p:cBhvr>
                                      <p:to>
                                        <p:strVal val="visible"/>
                                      </p:to>
                                    </p:set>
                                  </p:childTnLst>
                                </p:cTn>
                              </p:par>
                            </p:childTnLst>
                          </p:cTn>
                        </p:par>
                        <p:par>
                          <p:cTn id="41" fill="hold">
                            <p:stCondLst>
                              <p:cond delay="1000"/>
                            </p:stCondLst>
                            <p:childTnLst>
                              <p:par>
                                <p:cTn id="42" presetID="1" presetClass="entr" presetSubtype="0" fill="hold" grpId="0" nodeType="afterEffect">
                                  <p:stCondLst>
                                    <p:cond delay="500"/>
                                  </p:stCondLst>
                                  <p:childTnLst>
                                    <p:set>
                                      <p:cBhvr>
                                        <p:cTn id="43" dur="1" fill="hold">
                                          <p:stCondLst>
                                            <p:cond delay="0"/>
                                          </p:stCondLst>
                                        </p:cTn>
                                        <p:tgtEl>
                                          <p:spTgt spid="10860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p:bldP spid="108606" grpId="0" bldLvl="0" animBg="1"/>
      <p:bldP spid="108593" grpId="0"/>
      <p:bldP spid="108596" grpId="0"/>
      <p:bldP spid="108597" grpId="0"/>
      <p:bldP spid="108598" grpId="0"/>
      <p:bldP spid="108600" grpId="0" bldLvl="0" animBg="1"/>
      <p:bldP spid="108601" grpId="0" bldLvl="0" animBg="1"/>
      <p:bldP spid="108603" grpId="0" bldLvl="0" animBg="1"/>
      <p:bldP spid="2" grpId="0"/>
      <p:bldP spid="3" grpId="0"/>
      <p:bldP spid="6"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294765" y="49847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6.1 </a:t>
            </a:r>
            <a:r>
              <a:rPr lang="en-US" altLang="zh-CN" b="1" dirty="0">
                <a:solidFill>
                  <a:srgbClr val="FF0000"/>
                </a:solidFill>
                <a:latin typeface="黑体" panose="02010609060101010101" pitchFamily="49" charset="-122"/>
                <a:ea typeface="黑体" panose="02010609060101010101" pitchFamily="49" charset="-122"/>
                <a:sym typeface="+mn-ea"/>
              </a:rPr>
              <a:t>时序逻辑电路的基本概念</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8547" name="文本框 108546"/>
          <p:cNvSpPr txBox="1"/>
          <p:nvPr/>
        </p:nvSpPr>
        <p:spPr>
          <a:xfrm>
            <a:off x="755650" y="1733233"/>
            <a:ext cx="8137525" cy="829945"/>
          </a:xfrm>
          <a:prstGeom prst="rect">
            <a:avLst/>
          </a:prstGeom>
          <a:noFill/>
          <a:ln w="9525">
            <a:noFill/>
          </a:ln>
        </p:spPr>
        <p:txBody>
          <a:bodyPr>
            <a:spAutoFit/>
          </a:bodyPr>
          <a:p>
            <a:pPr marR="0" defTabSz="914400">
              <a:buClr>
                <a:srgbClr val="CC3300"/>
              </a:buClr>
              <a:buSzTx/>
              <a:buFont typeface="MS PGothic" panose="020B0600070205080204" pitchFamily="34" charset="-128"/>
              <a:buChar char="☞"/>
              <a:defRPr/>
            </a:pPr>
            <a:r>
              <a:rPr kumimoji="0" lang="en-US" altLang="zh-CN" sz="2400" b="1" kern="1200" cap="none" spc="0" normalizeH="0" baseline="0" noProof="1">
                <a:effectLst>
                  <a:outerShdw blurRad="38100" dist="38100" dir="2700000">
                    <a:srgbClr val="FFFFFF"/>
                  </a:outerShdw>
                </a:effectLst>
                <a:latin typeface="Times New Roman" panose="02020603050405020304" charset="0"/>
                <a:ea typeface="宋体" panose="02010600030101010101" pitchFamily="2" charset="-122"/>
                <a:cs typeface="+mn-cs"/>
              </a:rPr>
              <a:t> </a:t>
            </a:r>
            <a:r>
              <a:rPr kumimoji="0" lang="zh-CN" altLang="en-US" sz="2400" b="1" kern="1200" cap="none" spc="0" normalizeH="0" baseline="0" noProof="1">
                <a:gradFill>
                  <a:gsLst>
                    <a:gs pos="0">
                      <a:srgbClr val="012D86"/>
                    </a:gs>
                    <a:gs pos="100000">
                      <a:srgbClr val="0E2557"/>
                    </a:gs>
                  </a:gsLst>
                  <a:lin scaled="0"/>
                </a:gradFill>
                <a:effectLst>
                  <a:outerShdw blurRad="38100" dist="38100" dir="2700000">
                    <a:srgbClr val="FFFFFF"/>
                  </a:outerShdw>
                </a:effectLst>
                <a:latin typeface="Times New Roman" panose="02020603050405020304" charset="0"/>
                <a:ea typeface="宋体" panose="02010600030101010101" pitchFamily="2" charset="-122"/>
                <a:cs typeface="+mn-cs"/>
              </a:rPr>
              <a:t>电路任何时刻的输出不仅</a:t>
            </a:r>
            <a:r>
              <a:rPr lang="zh-CN" altLang="en-US" sz="2400" b="1">
                <a:gradFill>
                  <a:gsLst>
                    <a:gs pos="0">
                      <a:srgbClr val="012D86"/>
                    </a:gs>
                    <a:gs pos="100000">
                      <a:srgbClr val="0E2557"/>
                    </a:gs>
                  </a:gsLst>
                  <a:lin scaled="0"/>
                </a:gradFill>
                <a:effectLst>
                  <a:outerShdw blurRad="38100" dist="38100" dir="2700000">
                    <a:srgbClr val="FFFFFF"/>
                  </a:outerShdw>
                </a:effectLst>
                <a:sym typeface="+mn-ea"/>
              </a:rPr>
              <a:t>取决于当前输入信号的状态</a:t>
            </a:r>
            <a:r>
              <a:rPr kumimoji="0" lang="zh-CN" altLang="en-US" sz="2400" b="1" kern="1200" cap="none" spc="0" normalizeH="0" baseline="0" noProof="1">
                <a:gradFill>
                  <a:gsLst>
                    <a:gs pos="0">
                      <a:srgbClr val="012D86"/>
                    </a:gs>
                    <a:gs pos="100000">
                      <a:srgbClr val="0E2557"/>
                    </a:gs>
                  </a:gsLst>
                  <a:lin scaled="0"/>
                </a:gradFill>
                <a:effectLst>
                  <a:outerShdw blurRad="38100" dist="38100" dir="2700000">
                    <a:srgbClr val="FFFFFF"/>
                  </a:outerShdw>
                </a:effectLst>
                <a:latin typeface="Arial" panose="020B0604020202020204" pitchFamily="34" charset="0"/>
                <a:ea typeface="宋体" panose="02010600030101010101" pitchFamily="2" charset="-122"/>
                <a:cs typeface="+mn-cs"/>
              </a:rPr>
              <a:t>，而且还与</a:t>
            </a:r>
            <a:r>
              <a:rPr lang="zh-CN" altLang="en-US" sz="2400" b="1">
                <a:gradFill>
                  <a:gsLst>
                    <a:gs pos="0">
                      <a:srgbClr val="012D86"/>
                    </a:gs>
                    <a:gs pos="100000">
                      <a:srgbClr val="0E2557"/>
                    </a:gs>
                  </a:gsLst>
                  <a:lin scaled="0"/>
                </a:gradFill>
                <a:effectLst>
                  <a:outerShdw blurRad="38100" dist="38100" dir="2700000">
                    <a:srgbClr val="FFFFFF"/>
                  </a:outerShdw>
                </a:effectLst>
                <a:sym typeface="+mn-ea"/>
              </a:rPr>
              <a:t>电路</a:t>
            </a:r>
            <a:r>
              <a:rPr kumimoji="0" lang="zh-CN" altLang="en-US" sz="2400" b="1" kern="1200" cap="none" spc="0" normalizeH="0" baseline="0" noProof="1">
                <a:solidFill>
                  <a:srgbClr val="FF0000"/>
                </a:solidFill>
                <a:effectLst>
                  <a:outerShdw blurRad="38100" dist="38100" dir="2700000">
                    <a:srgbClr val="000000"/>
                  </a:outerShdw>
                </a:effectLst>
                <a:latin typeface="Arial" panose="020B0604020202020204" pitchFamily="34" charset="0"/>
                <a:ea typeface="宋体" panose="02010600030101010101" pitchFamily="2" charset="-122"/>
                <a:cs typeface="+mn-cs"/>
              </a:rPr>
              <a:t>前一时刻</a:t>
            </a:r>
            <a:r>
              <a:rPr kumimoji="0" lang="zh-CN" altLang="en-US" sz="2400" b="1" kern="1200" cap="none" spc="0" normalizeH="0" baseline="0" noProof="1">
                <a:gradFill>
                  <a:gsLst>
                    <a:gs pos="0">
                      <a:srgbClr val="012D86"/>
                    </a:gs>
                    <a:gs pos="100000">
                      <a:srgbClr val="0E2557"/>
                    </a:gs>
                  </a:gsLst>
                  <a:lin scaled="0"/>
                </a:gradFill>
                <a:effectLst>
                  <a:outerShdw blurRad="38100" dist="38100" dir="2700000">
                    <a:srgbClr val="FFFFFF"/>
                  </a:outerShdw>
                </a:effectLst>
                <a:latin typeface="Arial" panose="020B0604020202020204" pitchFamily="34" charset="0"/>
                <a:ea typeface="宋体" panose="02010600030101010101" pitchFamily="2" charset="-122"/>
                <a:cs typeface="+mn-cs"/>
              </a:rPr>
              <a:t>的状态有关。</a:t>
            </a:r>
            <a:endParaRPr kumimoji="0" lang="zh-CN" altLang="en-US" sz="2400" b="1" kern="1200" cap="none" spc="0" normalizeH="0" baseline="0" noProof="1">
              <a:gradFill>
                <a:gsLst>
                  <a:gs pos="0">
                    <a:srgbClr val="012D86"/>
                  </a:gs>
                  <a:gs pos="100000">
                    <a:srgbClr val="0E2557"/>
                  </a:gs>
                </a:gsLst>
                <a:lin scaled="0"/>
              </a:gradFill>
              <a:effectLst>
                <a:outerShdw blurRad="38100" dist="38100" dir="2700000">
                  <a:srgbClr val="FFFFFF"/>
                </a:outerShdw>
              </a:effectLst>
              <a:latin typeface="Arial" panose="020B0604020202020204" pitchFamily="34" charset="0"/>
              <a:ea typeface="宋体" panose="02010600030101010101" pitchFamily="2" charset="-122"/>
              <a:cs typeface="+mn-cs"/>
            </a:endParaRPr>
          </a:p>
        </p:txBody>
      </p:sp>
      <p:sp>
        <p:nvSpPr>
          <p:cNvPr id="108591" name="文本框 108590"/>
          <p:cNvSpPr txBox="1"/>
          <p:nvPr/>
        </p:nvSpPr>
        <p:spPr>
          <a:xfrm>
            <a:off x="914400" y="1273175"/>
            <a:ext cx="2883535" cy="460375"/>
          </a:xfrm>
          <a:prstGeom prst="rect">
            <a:avLst/>
          </a:prstGeom>
          <a:noFill/>
          <a:ln w="9525">
            <a:noFill/>
          </a:ln>
        </p:spPr>
        <p:txBody>
          <a:bodyPr wrap="square">
            <a:spAutoFit/>
          </a:bodyPr>
          <a:p>
            <a:pPr marR="0" defTabSz="914400">
              <a:buClrTx/>
              <a:buSzTx/>
              <a:defRPr/>
            </a:pPr>
            <a:r>
              <a:rPr kumimoji="0" lang="zh-CN" altLang="en-US" sz="2400" b="1"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rPr>
              <a:t>定义</a:t>
            </a:r>
            <a:endParaRPr kumimoji="0" lang="zh-CN" altLang="en-US" sz="2400" b="1"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endParaRPr>
          </a:p>
        </p:txBody>
      </p:sp>
      <p:sp>
        <p:nvSpPr>
          <p:cNvPr id="153602" name="文本框 153601"/>
          <p:cNvSpPr txBox="1"/>
          <p:nvPr/>
        </p:nvSpPr>
        <p:spPr>
          <a:xfrm>
            <a:off x="827405" y="3608705"/>
            <a:ext cx="215900" cy="368935"/>
          </a:xfrm>
          <a:prstGeom prst="rect">
            <a:avLst/>
          </a:prstGeom>
          <a:solidFill>
            <a:srgbClr val="CCECFF"/>
          </a:solidFill>
          <a:ln w="9525">
            <a:noFill/>
          </a:ln>
        </p:spPr>
        <p:txBody>
          <a:bodyPr wrap="square" lIns="0" tIns="0" rIns="0" bIns="0">
            <a:spAutoFit/>
          </a:bodyPr>
          <a:p>
            <a:pPr marR="0" algn="r" defTabSz="914400">
              <a:spcBef>
                <a:spcPct val="50000"/>
              </a:spcBef>
              <a:buClrTx/>
              <a:buSzTx/>
              <a:defRPr/>
            </a:pPr>
            <a:r>
              <a:rPr kumimoji="0" lang="en-US" altLang="zh-CN" sz="2400" kern="1200" cap="none" spc="0" normalizeH="0" baseline="0" noProof="1">
                <a:solidFill>
                  <a:schemeClr val="tx1"/>
                </a:solidFill>
                <a:effectLst>
                  <a:outerShdw blurRad="38100" dist="38100" dir="2700000">
                    <a:srgbClr val="000000"/>
                  </a:outerShdw>
                </a:effectLst>
                <a:latin typeface="Arial" panose="020B0604020202020204" pitchFamily="34" charset="0"/>
                <a:ea typeface="宋体" panose="02010600030101010101" pitchFamily="2" charset="-122"/>
                <a:cs typeface="+mn-cs"/>
              </a:rPr>
              <a:t>0</a:t>
            </a:r>
            <a:endParaRPr kumimoji="0" lang="en-US" altLang="zh-CN" sz="2400" kern="1200" cap="none" spc="0" normalizeH="0" baseline="0" noProof="1">
              <a:solidFill>
                <a:schemeClr val="tx1"/>
              </a:solidFill>
              <a:effectLst>
                <a:outerShdw blurRad="38100" dist="38100" dir="2700000">
                  <a:srgbClr val="000000"/>
                </a:outerShdw>
              </a:effectLst>
              <a:latin typeface="Arial" panose="020B0604020202020204" pitchFamily="34" charset="0"/>
              <a:ea typeface="宋体" panose="02010600030101010101" pitchFamily="2" charset="-122"/>
              <a:cs typeface="+mn-cs"/>
            </a:endParaRPr>
          </a:p>
        </p:txBody>
      </p:sp>
      <p:grpSp>
        <p:nvGrpSpPr>
          <p:cNvPr id="6149" name="组合 153604"/>
          <p:cNvGrpSpPr/>
          <p:nvPr/>
        </p:nvGrpSpPr>
        <p:grpSpPr>
          <a:xfrm>
            <a:off x="323850" y="2781300"/>
            <a:ext cx="3671888" cy="3384550"/>
            <a:chOff x="204" y="1661"/>
            <a:chExt cx="2313" cy="2132"/>
          </a:xfrm>
        </p:grpSpPr>
        <p:sp>
          <p:nvSpPr>
            <p:cNvPr id="6174" name="矩形 153605"/>
            <p:cNvSpPr/>
            <p:nvPr/>
          </p:nvSpPr>
          <p:spPr>
            <a:xfrm>
              <a:off x="975" y="1661"/>
              <a:ext cx="771" cy="953"/>
            </a:xfrm>
            <a:prstGeom prst="rect">
              <a:avLst/>
            </a:prstGeom>
            <a:noFill/>
            <a:ln w="9525" cap="flat" cmpd="sng">
              <a:solidFill>
                <a:schemeClr val="tx1"/>
              </a:solidFill>
              <a:prstDash val="solid"/>
              <a:miter/>
              <a:headEnd type="none" w="med" len="med"/>
              <a:tailEnd type="none" w="med" len="med"/>
            </a:ln>
          </p:spPr>
          <p:txBody>
            <a:bodyPr/>
            <a:p>
              <a:endParaRPr lang="zh-CN" altLang="en-US" dirty="0">
                <a:latin typeface="Arial" panose="020B0604020202020204" pitchFamily="34" charset="0"/>
              </a:endParaRPr>
            </a:p>
          </p:txBody>
        </p:sp>
        <p:sp>
          <p:nvSpPr>
            <p:cNvPr id="6175" name="文本框 153606"/>
            <p:cNvSpPr txBox="1"/>
            <p:nvPr/>
          </p:nvSpPr>
          <p:spPr>
            <a:xfrm>
              <a:off x="1020" y="2341"/>
              <a:ext cx="317" cy="192"/>
            </a:xfrm>
            <a:prstGeom prst="rect">
              <a:avLst/>
            </a:prstGeom>
            <a:noFill/>
            <a:ln w="9525">
              <a:noFill/>
            </a:ln>
          </p:spPr>
          <p:txBody>
            <a:bodyPr lIns="0" tIns="0" rIns="0" bIns="0">
              <a:spAutoFit/>
            </a:bodyPr>
            <a:p>
              <a:pPr>
                <a:spcBef>
                  <a:spcPct val="50000"/>
                </a:spcBef>
              </a:pPr>
              <a:r>
                <a:rPr lang="en-US" altLang="zh-CN" sz="2000" b="0" dirty="0">
                  <a:latin typeface="Times New Roman" panose="02020603050405020304" charset="0"/>
                </a:rPr>
                <a:t>CI</a:t>
              </a:r>
              <a:endParaRPr lang="en-US" altLang="zh-CN" sz="2000" b="0" dirty="0">
                <a:latin typeface="Times New Roman" panose="02020603050405020304" charset="0"/>
              </a:endParaRPr>
            </a:p>
          </p:txBody>
        </p:sp>
        <p:sp>
          <p:nvSpPr>
            <p:cNvPr id="6176" name="文本框 153607"/>
            <p:cNvSpPr txBox="1"/>
            <p:nvPr/>
          </p:nvSpPr>
          <p:spPr>
            <a:xfrm>
              <a:off x="1429" y="2341"/>
              <a:ext cx="272" cy="192"/>
            </a:xfrm>
            <a:prstGeom prst="rect">
              <a:avLst/>
            </a:prstGeom>
            <a:noFill/>
            <a:ln w="9525">
              <a:noFill/>
            </a:ln>
          </p:spPr>
          <p:txBody>
            <a:bodyPr lIns="0" tIns="0" rIns="0" bIns="0">
              <a:spAutoFit/>
            </a:bodyPr>
            <a:p>
              <a:pPr algn="r">
                <a:spcBef>
                  <a:spcPct val="50000"/>
                </a:spcBef>
              </a:pPr>
              <a:r>
                <a:rPr lang="en-US" altLang="zh-CN" sz="2000" b="0" dirty="0">
                  <a:latin typeface="Times New Roman" panose="02020603050405020304" charset="0"/>
                </a:rPr>
                <a:t>CO</a:t>
              </a:r>
              <a:endParaRPr lang="en-US" altLang="zh-CN" sz="2000" b="0" dirty="0">
                <a:latin typeface="Times New Roman" panose="02020603050405020304" charset="0"/>
              </a:endParaRPr>
            </a:p>
          </p:txBody>
        </p:sp>
        <p:sp>
          <p:nvSpPr>
            <p:cNvPr id="6177" name="文本框 153608"/>
            <p:cNvSpPr txBox="1"/>
            <p:nvPr/>
          </p:nvSpPr>
          <p:spPr>
            <a:xfrm>
              <a:off x="1248" y="1797"/>
              <a:ext cx="226" cy="230"/>
            </a:xfrm>
            <a:prstGeom prst="rect">
              <a:avLst/>
            </a:prstGeom>
            <a:noFill/>
            <a:ln w="9525">
              <a:noFill/>
            </a:ln>
          </p:spPr>
          <p:txBody>
            <a:bodyPr lIns="0" tIns="0" rIns="0" bIns="0">
              <a:spAutoFit/>
            </a:bodyPr>
            <a:p>
              <a:pPr>
                <a:spcBef>
                  <a:spcPct val="50000"/>
                </a:spcBef>
              </a:pPr>
              <a:r>
                <a:rPr lang="en-US" altLang="zh-CN" sz="2400" dirty="0">
                  <a:latin typeface="Times New Roman" panose="02020603050405020304" charset="0"/>
                </a:rPr>
                <a:t>∑</a:t>
              </a:r>
              <a:endParaRPr lang="en-US" altLang="zh-CN" sz="2400" dirty="0">
                <a:latin typeface="Times New Roman" panose="02020603050405020304" charset="0"/>
              </a:endParaRPr>
            </a:p>
          </p:txBody>
        </p:sp>
        <p:sp>
          <p:nvSpPr>
            <p:cNvPr id="6178" name="直接连接符 153609"/>
            <p:cNvSpPr/>
            <p:nvPr/>
          </p:nvSpPr>
          <p:spPr>
            <a:xfrm>
              <a:off x="521" y="1797"/>
              <a:ext cx="455" cy="0"/>
            </a:xfrm>
            <a:prstGeom prst="line">
              <a:avLst/>
            </a:prstGeom>
            <a:ln w="9525" cap="flat" cmpd="sng">
              <a:solidFill>
                <a:schemeClr val="tx1"/>
              </a:solidFill>
              <a:prstDash val="solid"/>
              <a:headEnd type="none" w="med" len="med"/>
              <a:tailEnd type="none" w="med" len="med"/>
            </a:ln>
          </p:spPr>
        </p:sp>
        <p:sp>
          <p:nvSpPr>
            <p:cNvPr id="6179" name="直接连接符 153610"/>
            <p:cNvSpPr/>
            <p:nvPr/>
          </p:nvSpPr>
          <p:spPr>
            <a:xfrm>
              <a:off x="521" y="2069"/>
              <a:ext cx="455" cy="0"/>
            </a:xfrm>
            <a:prstGeom prst="line">
              <a:avLst/>
            </a:prstGeom>
            <a:ln w="9525" cap="flat" cmpd="sng">
              <a:solidFill>
                <a:schemeClr val="tx1"/>
              </a:solidFill>
              <a:prstDash val="solid"/>
              <a:headEnd type="none" w="med" len="med"/>
              <a:tailEnd type="none" w="med" len="med"/>
            </a:ln>
          </p:spPr>
        </p:sp>
        <p:sp>
          <p:nvSpPr>
            <p:cNvPr id="6180" name="直接连接符 153611"/>
            <p:cNvSpPr/>
            <p:nvPr/>
          </p:nvSpPr>
          <p:spPr>
            <a:xfrm>
              <a:off x="1746" y="1933"/>
              <a:ext cx="454" cy="0"/>
            </a:xfrm>
            <a:prstGeom prst="line">
              <a:avLst/>
            </a:prstGeom>
            <a:ln w="9525" cap="flat" cmpd="sng">
              <a:solidFill>
                <a:schemeClr val="tx1"/>
              </a:solidFill>
              <a:prstDash val="solid"/>
              <a:headEnd type="none" w="med" len="med"/>
              <a:tailEnd type="none" w="med" len="med"/>
            </a:ln>
          </p:spPr>
        </p:sp>
        <p:sp>
          <p:nvSpPr>
            <p:cNvPr id="6181" name="直接连接符 153612"/>
            <p:cNvSpPr/>
            <p:nvPr/>
          </p:nvSpPr>
          <p:spPr>
            <a:xfrm>
              <a:off x="748" y="2478"/>
              <a:ext cx="227" cy="0"/>
            </a:xfrm>
            <a:prstGeom prst="line">
              <a:avLst/>
            </a:prstGeom>
            <a:ln w="9525" cap="flat" cmpd="sng">
              <a:solidFill>
                <a:schemeClr val="tx1"/>
              </a:solidFill>
              <a:prstDash val="solid"/>
              <a:headEnd type="none" w="med" len="med"/>
              <a:tailEnd type="none" w="med" len="med"/>
            </a:ln>
          </p:spPr>
        </p:sp>
        <p:sp>
          <p:nvSpPr>
            <p:cNvPr id="6182" name="直接连接符 153613"/>
            <p:cNvSpPr/>
            <p:nvPr/>
          </p:nvSpPr>
          <p:spPr>
            <a:xfrm>
              <a:off x="1746" y="2478"/>
              <a:ext cx="227" cy="0"/>
            </a:xfrm>
            <a:prstGeom prst="line">
              <a:avLst/>
            </a:prstGeom>
            <a:ln w="9525" cap="flat" cmpd="sng">
              <a:solidFill>
                <a:schemeClr val="tx1"/>
              </a:solidFill>
              <a:prstDash val="solid"/>
              <a:headEnd type="none" w="med" len="med"/>
              <a:tailEnd type="none" w="med" len="med"/>
            </a:ln>
          </p:spPr>
        </p:sp>
        <p:sp>
          <p:nvSpPr>
            <p:cNvPr id="6183" name="矩形 153614"/>
            <p:cNvSpPr/>
            <p:nvPr/>
          </p:nvSpPr>
          <p:spPr>
            <a:xfrm>
              <a:off x="975" y="2840"/>
              <a:ext cx="771" cy="953"/>
            </a:xfrm>
            <a:prstGeom prst="rect">
              <a:avLst/>
            </a:prstGeom>
            <a:noFill/>
            <a:ln w="9525" cap="flat" cmpd="sng">
              <a:solidFill>
                <a:schemeClr val="tx1"/>
              </a:solidFill>
              <a:prstDash val="solid"/>
              <a:miter/>
              <a:headEnd type="none" w="med" len="med"/>
              <a:tailEnd type="none" w="med" len="med"/>
            </a:ln>
          </p:spPr>
          <p:txBody>
            <a:bodyPr/>
            <a:p>
              <a:endParaRPr lang="zh-CN" altLang="en-US" dirty="0">
                <a:latin typeface="Arial" panose="020B0604020202020204" pitchFamily="34" charset="0"/>
              </a:endParaRPr>
            </a:p>
          </p:txBody>
        </p:sp>
        <p:sp>
          <p:nvSpPr>
            <p:cNvPr id="6184" name="直接连接符 153615"/>
            <p:cNvSpPr/>
            <p:nvPr/>
          </p:nvSpPr>
          <p:spPr>
            <a:xfrm>
              <a:off x="1746" y="3339"/>
              <a:ext cx="272" cy="0"/>
            </a:xfrm>
            <a:prstGeom prst="line">
              <a:avLst/>
            </a:prstGeom>
            <a:ln w="9525" cap="flat" cmpd="sng">
              <a:solidFill>
                <a:schemeClr val="tx1"/>
              </a:solidFill>
              <a:prstDash val="solid"/>
              <a:headEnd type="none" w="med" len="med"/>
              <a:tailEnd type="none" w="med" len="med"/>
            </a:ln>
          </p:spPr>
        </p:sp>
        <p:sp>
          <p:nvSpPr>
            <p:cNvPr id="6185" name="直接连接符 153616"/>
            <p:cNvSpPr/>
            <p:nvPr/>
          </p:nvSpPr>
          <p:spPr>
            <a:xfrm>
              <a:off x="748" y="3022"/>
              <a:ext cx="227" cy="0"/>
            </a:xfrm>
            <a:prstGeom prst="line">
              <a:avLst/>
            </a:prstGeom>
            <a:ln w="9525" cap="flat" cmpd="sng">
              <a:solidFill>
                <a:schemeClr val="tx1"/>
              </a:solidFill>
              <a:prstDash val="solid"/>
              <a:headEnd type="none" w="med" len="med"/>
              <a:tailEnd type="none" w="med" len="med"/>
            </a:ln>
          </p:spPr>
        </p:sp>
        <p:sp>
          <p:nvSpPr>
            <p:cNvPr id="6186" name="直接连接符 153617"/>
            <p:cNvSpPr/>
            <p:nvPr/>
          </p:nvSpPr>
          <p:spPr>
            <a:xfrm>
              <a:off x="1746" y="3022"/>
              <a:ext cx="227" cy="0"/>
            </a:xfrm>
            <a:prstGeom prst="line">
              <a:avLst/>
            </a:prstGeom>
            <a:ln w="9525" cap="flat" cmpd="sng">
              <a:solidFill>
                <a:schemeClr val="tx1"/>
              </a:solidFill>
              <a:prstDash val="solid"/>
              <a:headEnd type="none" w="med" len="med"/>
              <a:tailEnd type="none" w="med" len="med"/>
            </a:ln>
          </p:spPr>
        </p:sp>
        <p:sp>
          <p:nvSpPr>
            <p:cNvPr id="6187" name="直接连接符 153618"/>
            <p:cNvSpPr/>
            <p:nvPr/>
          </p:nvSpPr>
          <p:spPr>
            <a:xfrm>
              <a:off x="748" y="2478"/>
              <a:ext cx="0" cy="544"/>
            </a:xfrm>
            <a:prstGeom prst="line">
              <a:avLst/>
            </a:prstGeom>
            <a:ln w="9525" cap="flat" cmpd="sng">
              <a:solidFill>
                <a:schemeClr val="tx1"/>
              </a:solidFill>
              <a:prstDash val="solid"/>
              <a:headEnd type="none" w="med" len="med"/>
              <a:tailEnd type="none" w="med" len="med"/>
            </a:ln>
          </p:spPr>
        </p:sp>
        <p:sp>
          <p:nvSpPr>
            <p:cNvPr id="6188" name="直接连接符 153619"/>
            <p:cNvSpPr/>
            <p:nvPr/>
          </p:nvSpPr>
          <p:spPr>
            <a:xfrm>
              <a:off x="1973" y="2478"/>
              <a:ext cx="0" cy="544"/>
            </a:xfrm>
            <a:prstGeom prst="line">
              <a:avLst/>
            </a:prstGeom>
            <a:ln w="9525" cap="flat" cmpd="sng">
              <a:solidFill>
                <a:schemeClr val="tx1"/>
              </a:solidFill>
              <a:prstDash val="solid"/>
              <a:headEnd type="none" w="med" len="med"/>
              <a:tailEnd type="none" w="med" len="med"/>
            </a:ln>
          </p:spPr>
        </p:sp>
        <p:sp>
          <p:nvSpPr>
            <p:cNvPr id="6189" name="文本框 153620"/>
            <p:cNvSpPr txBox="1"/>
            <p:nvPr/>
          </p:nvSpPr>
          <p:spPr>
            <a:xfrm>
              <a:off x="1519" y="3203"/>
              <a:ext cx="272" cy="230"/>
            </a:xfrm>
            <a:prstGeom prst="rect">
              <a:avLst/>
            </a:prstGeom>
            <a:noFill/>
            <a:ln w="9525">
              <a:noFill/>
            </a:ln>
          </p:spPr>
          <p:txBody>
            <a:bodyPr lIns="0" tIns="0" rIns="0" bIns="0">
              <a:spAutoFit/>
            </a:bodyPr>
            <a:p>
              <a:pPr algn="r">
                <a:spcBef>
                  <a:spcPct val="50000"/>
                </a:spcBef>
              </a:pPr>
              <a:r>
                <a:rPr lang="zh-CN" altLang="en-US" sz="2400" dirty="0">
                  <a:latin typeface="Arial" panose="020B0604020202020204" pitchFamily="34" charset="0"/>
                </a:rPr>
                <a:t>﹤</a:t>
              </a:r>
              <a:endParaRPr lang="zh-CN" altLang="en-US" sz="2400" dirty="0">
                <a:latin typeface="Arial" panose="020B0604020202020204" pitchFamily="34" charset="0"/>
              </a:endParaRPr>
            </a:p>
          </p:txBody>
        </p:sp>
        <p:sp>
          <p:nvSpPr>
            <p:cNvPr id="6190" name="椭圆 153621"/>
            <p:cNvSpPr/>
            <p:nvPr/>
          </p:nvSpPr>
          <p:spPr>
            <a:xfrm>
              <a:off x="884" y="3582"/>
              <a:ext cx="75" cy="75"/>
            </a:xfrm>
            <a:prstGeom prst="ellipse">
              <a:avLst/>
            </a:prstGeom>
            <a:noFill/>
            <a:ln w="9525" cap="flat" cmpd="sng">
              <a:solidFill>
                <a:schemeClr val="tx1"/>
              </a:solidFill>
              <a:prstDash val="solid"/>
              <a:headEnd type="none" w="med" len="med"/>
              <a:tailEnd type="none" w="med" len="med"/>
            </a:ln>
          </p:spPr>
          <p:txBody>
            <a:bodyPr/>
            <a:p>
              <a:endParaRPr lang="zh-CN" altLang="en-US" dirty="0">
                <a:latin typeface="Arial" panose="020B0604020202020204" pitchFamily="34" charset="0"/>
              </a:endParaRPr>
            </a:p>
          </p:txBody>
        </p:sp>
        <p:sp>
          <p:nvSpPr>
            <p:cNvPr id="6191" name="直接连接符 153622"/>
            <p:cNvSpPr/>
            <p:nvPr/>
          </p:nvSpPr>
          <p:spPr>
            <a:xfrm flipH="1">
              <a:off x="703" y="3612"/>
              <a:ext cx="181" cy="0"/>
            </a:xfrm>
            <a:prstGeom prst="line">
              <a:avLst/>
            </a:prstGeom>
            <a:ln w="9525" cap="flat" cmpd="sng">
              <a:solidFill>
                <a:schemeClr val="tx1"/>
              </a:solidFill>
              <a:prstDash val="solid"/>
              <a:headEnd type="none" w="med" len="med"/>
              <a:tailEnd type="none" w="med" len="med"/>
            </a:ln>
          </p:spPr>
        </p:sp>
        <p:sp>
          <p:nvSpPr>
            <p:cNvPr id="6192" name="文本框 153623"/>
            <p:cNvSpPr txBox="1"/>
            <p:nvPr/>
          </p:nvSpPr>
          <p:spPr>
            <a:xfrm>
              <a:off x="1338" y="3203"/>
              <a:ext cx="272" cy="192"/>
            </a:xfrm>
            <a:prstGeom prst="rect">
              <a:avLst/>
            </a:prstGeom>
            <a:noFill/>
            <a:ln w="9525">
              <a:noFill/>
            </a:ln>
          </p:spPr>
          <p:txBody>
            <a:bodyPr lIns="0" tIns="0" rIns="0" bIns="0">
              <a:spAutoFit/>
            </a:bodyPr>
            <a:p>
              <a:pPr algn="r">
                <a:spcBef>
                  <a:spcPct val="50000"/>
                </a:spcBef>
              </a:pPr>
              <a:r>
                <a:rPr lang="en-US" altLang="zh-CN" sz="2000" b="0" dirty="0">
                  <a:latin typeface="Times New Roman" panose="02020603050405020304" charset="0"/>
                </a:rPr>
                <a:t>Cl</a:t>
              </a:r>
              <a:endParaRPr lang="en-US" altLang="zh-CN" sz="2000" b="0" dirty="0">
                <a:latin typeface="Times New Roman" panose="02020603050405020304" charset="0"/>
              </a:endParaRPr>
            </a:p>
          </p:txBody>
        </p:sp>
        <p:sp>
          <p:nvSpPr>
            <p:cNvPr id="6193" name="文本框 153624"/>
            <p:cNvSpPr txBox="1"/>
            <p:nvPr/>
          </p:nvSpPr>
          <p:spPr>
            <a:xfrm>
              <a:off x="1429" y="2886"/>
              <a:ext cx="272" cy="192"/>
            </a:xfrm>
            <a:prstGeom prst="rect">
              <a:avLst/>
            </a:prstGeom>
            <a:noFill/>
            <a:ln w="9525">
              <a:noFill/>
            </a:ln>
          </p:spPr>
          <p:txBody>
            <a:bodyPr lIns="0" tIns="0" rIns="0" bIns="0">
              <a:spAutoFit/>
            </a:bodyPr>
            <a:p>
              <a:pPr algn="r">
                <a:spcBef>
                  <a:spcPct val="50000"/>
                </a:spcBef>
              </a:pPr>
              <a:r>
                <a:rPr lang="en-US" altLang="zh-CN" sz="2000" b="0" dirty="0">
                  <a:latin typeface="Times New Roman" panose="02020603050405020304" charset="0"/>
                </a:rPr>
                <a:t>1D</a:t>
              </a:r>
              <a:endParaRPr lang="en-US" altLang="zh-CN" sz="2000" b="0" dirty="0">
                <a:latin typeface="Times New Roman" panose="02020603050405020304" charset="0"/>
              </a:endParaRPr>
            </a:p>
          </p:txBody>
        </p:sp>
        <p:sp>
          <p:nvSpPr>
            <p:cNvPr id="6194" name="文本框 153625"/>
            <p:cNvSpPr txBox="1"/>
            <p:nvPr/>
          </p:nvSpPr>
          <p:spPr>
            <a:xfrm>
              <a:off x="431" y="2931"/>
              <a:ext cx="272" cy="192"/>
            </a:xfrm>
            <a:prstGeom prst="rect">
              <a:avLst/>
            </a:prstGeom>
            <a:noFill/>
            <a:ln w="9525">
              <a:noFill/>
            </a:ln>
          </p:spPr>
          <p:txBody>
            <a:bodyPr lIns="0" tIns="0" rIns="0" bIns="0">
              <a:spAutoFit/>
            </a:bodyPr>
            <a:p>
              <a:pPr algn="r">
                <a:spcBef>
                  <a:spcPct val="50000"/>
                </a:spcBef>
              </a:pPr>
              <a:r>
                <a:rPr lang="en-US" altLang="zh-CN" sz="2000" b="0" i="1" dirty="0">
                  <a:latin typeface="Times New Roman" panose="02020603050405020304" charset="0"/>
                </a:rPr>
                <a:t>Q</a:t>
              </a:r>
              <a:endParaRPr lang="en-US" altLang="zh-CN" sz="2000" b="0" i="1" dirty="0">
                <a:latin typeface="Times New Roman" panose="02020603050405020304" charset="0"/>
              </a:endParaRPr>
            </a:p>
          </p:txBody>
        </p:sp>
        <p:grpSp>
          <p:nvGrpSpPr>
            <p:cNvPr id="6195" name="组合 153626"/>
            <p:cNvGrpSpPr/>
            <p:nvPr/>
          </p:nvGrpSpPr>
          <p:grpSpPr>
            <a:xfrm>
              <a:off x="385" y="3521"/>
              <a:ext cx="318" cy="192"/>
              <a:chOff x="385" y="3521"/>
              <a:chExt cx="318" cy="192"/>
            </a:xfrm>
          </p:grpSpPr>
          <p:sp>
            <p:nvSpPr>
              <p:cNvPr id="6202" name="文本框 153627"/>
              <p:cNvSpPr txBox="1"/>
              <p:nvPr/>
            </p:nvSpPr>
            <p:spPr>
              <a:xfrm>
                <a:off x="385" y="3521"/>
                <a:ext cx="272" cy="192"/>
              </a:xfrm>
              <a:prstGeom prst="rect">
                <a:avLst/>
              </a:prstGeom>
              <a:noFill/>
              <a:ln w="9525">
                <a:noFill/>
              </a:ln>
            </p:spPr>
            <p:txBody>
              <a:bodyPr lIns="0" tIns="0" rIns="0" bIns="0">
                <a:spAutoFit/>
              </a:bodyPr>
              <a:p>
                <a:pPr algn="r">
                  <a:spcBef>
                    <a:spcPct val="50000"/>
                  </a:spcBef>
                </a:pPr>
                <a:r>
                  <a:rPr lang="en-US" altLang="zh-CN" sz="2000" b="0" i="1" dirty="0">
                    <a:latin typeface="Times New Roman" panose="02020603050405020304" charset="0"/>
                  </a:rPr>
                  <a:t>Q</a:t>
                </a:r>
                <a:endParaRPr lang="en-US" altLang="zh-CN" sz="2000" b="0" i="1" dirty="0">
                  <a:latin typeface="Times New Roman" panose="02020603050405020304" charset="0"/>
                </a:endParaRPr>
              </a:p>
            </p:txBody>
          </p:sp>
          <p:sp>
            <p:nvSpPr>
              <p:cNvPr id="6203" name="直接连接符 153628"/>
              <p:cNvSpPr/>
              <p:nvPr/>
            </p:nvSpPr>
            <p:spPr>
              <a:xfrm>
                <a:off x="567" y="3539"/>
                <a:ext cx="136" cy="0"/>
              </a:xfrm>
              <a:prstGeom prst="line">
                <a:avLst/>
              </a:prstGeom>
              <a:ln w="9525" cap="flat" cmpd="sng">
                <a:solidFill>
                  <a:schemeClr val="tx1"/>
                </a:solidFill>
                <a:prstDash val="solid"/>
                <a:headEnd type="none" w="med" len="med"/>
                <a:tailEnd type="none" w="med" len="med"/>
              </a:ln>
            </p:spPr>
          </p:sp>
        </p:grpSp>
        <p:sp>
          <p:nvSpPr>
            <p:cNvPr id="6196" name="文本框 153629"/>
            <p:cNvSpPr txBox="1"/>
            <p:nvPr/>
          </p:nvSpPr>
          <p:spPr>
            <a:xfrm>
              <a:off x="2018" y="3249"/>
              <a:ext cx="272" cy="192"/>
            </a:xfrm>
            <a:prstGeom prst="rect">
              <a:avLst/>
            </a:prstGeom>
            <a:noFill/>
            <a:ln w="9525">
              <a:noFill/>
            </a:ln>
          </p:spPr>
          <p:txBody>
            <a:bodyPr lIns="0" tIns="0" rIns="0" bIns="0">
              <a:spAutoFit/>
            </a:bodyPr>
            <a:p>
              <a:pPr algn="r">
                <a:spcBef>
                  <a:spcPct val="50000"/>
                </a:spcBef>
              </a:pPr>
              <a:r>
                <a:rPr lang="en-US" altLang="zh-CN" sz="2000" b="0" dirty="0">
                  <a:latin typeface="Times New Roman" panose="02020603050405020304" charset="0"/>
                </a:rPr>
                <a:t>CP</a:t>
              </a:r>
              <a:endParaRPr lang="en-US" altLang="zh-CN" sz="2000" b="0" dirty="0">
                <a:latin typeface="Times New Roman" panose="02020603050405020304" charset="0"/>
              </a:endParaRPr>
            </a:p>
          </p:txBody>
        </p:sp>
        <p:sp>
          <p:nvSpPr>
            <p:cNvPr id="6197" name="文本框 153630"/>
            <p:cNvSpPr txBox="1"/>
            <p:nvPr/>
          </p:nvSpPr>
          <p:spPr>
            <a:xfrm>
              <a:off x="204" y="1661"/>
              <a:ext cx="272" cy="192"/>
            </a:xfrm>
            <a:prstGeom prst="rect">
              <a:avLst/>
            </a:prstGeom>
            <a:noFill/>
            <a:ln w="9525">
              <a:noFill/>
            </a:ln>
          </p:spPr>
          <p:txBody>
            <a:bodyPr lIns="0" tIns="0" rIns="0" bIns="0">
              <a:spAutoFit/>
            </a:bodyPr>
            <a:p>
              <a:pPr>
                <a:spcBef>
                  <a:spcPct val="50000"/>
                </a:spcBef>
              </a:pPr>
              <a:r>
                <a:rPr lang="en-US" altLang="zh-CN" sz="2000" b="0" dirty="0">
                  <a:latin typeface="Times New Roman" panose="02020603050405020304" charset="0"/>
                </a:rPr>
                <a:t>A</a:t>
              </a:r>
              <a:r>
                <a:rPr lang="en-US" altLang="zh-CN" sz="2000" b="0" i="1" baseline="-25000" dirty="0">
                  <a:latin typeface="Times New Roman" panose="02020603050405020304" charset="0"/>
                </a:rPr>
                <a:t>i</a:t>
              </a:r>
              <a:endParaRPr lang="en-US" altLang="zh-CN" sz="2000" b="0" i="1" baseline="-25000" dirty="0">
                <a:latin typeface="Times New Roman" panose="02020603050405020304" charset="0"/>
              </a:endParaRPr>
            </a:p>
          </p:txBody>
        </p:sp>
        <p:sp>
          <p:nvSpPr>
            <p:cNvPr id="6198" name="文本框 153631"/>
            <p:cNvSpPr txBox="1"/>
            <p:nvPr/>
          </p:nvSpPr>
          <p:spPr>
            <a:xfrm>
              <a:off x="204" y="1933"/>
              <a:ext cx="272" cy="192"/>
            </a:xfrm>
            <a:prstGeom prst="rect">
              <a:avLst/>
            </a:prstGeom>
            <a:noFill/>
            <a:ln w="9525">
              <a:noFill/>
            </a:ln>
          </p:spPr>
          <p:txBody>
            <a:bodyPr lIns="0" tIns="0" rIns="0" bIns="0">
              <a:spAutoFit/>
            </a:bodyPr>
            <a:p>
              <a:pPr>
                <a:spcBef>
                  <a:spcPct val="50000"/>
                </a:spcBef>
              </a:pPr>
              <a:r>
                <a:rPr lang="en-US" altLang="zh-CN" sz="2000" b="0" dirty="0">
                  <a:latin typeface="Times New Roman" panose="02020603050405020304" charset="0"/>
                </a:rPr>
                <a:t>B</a:t>
              </a:r>
              <a:r>
                <a:rPr lang="en-US" altLang="zh-CN" sz="2000" b="0" i="1" baseline="-25000" dirty="0">
                  <a:latin typeface="Times New Roman" panose="02020603050405020304" charset="0"/>
                </a:rPr>
                <a:t>i</a:t>
              </a:r>
              <a:endParaRPr lang="en-US" altLang="zh-CN" sz="2000" b="0" i="1" baseline="-25000" dirty="0">
                <a:latin typeface="Times New Roman" panose="02020603050405020304" charset="0"/>
              </a:endParaRPr>
            </a:p>
          </p:txBody>
        </p:sp>
        <p:sp>
          <p:nvSpPr>
            <p:cNvPr id="6199" name="文本框 153632"/>
            <p:cNvSpPr txBox="1"/>
            <p:nvPr/>
          </p:nvSpPr>
          <p:spPr>
            <a:xfrm>
              <a:off x="2245" y="1832"/>
              <a:ext cx="272" cy="192"/>
            </a:xfrm>
            <a:prstGeom prst="rect">
              <a:avLst/>
            </a:prstGeom>
            <a:noFill/>
            <a:ln w="9525">
              <a:noFill/>
            </a:ln>
          </p:spPr>
          <p:txBody>
            <a:bodyPr lIns="0" tIns="0" rIns="0" bIns="0">
              <a:spAutoFit/>
            </a:bodyPr>
            <a:p>
              <a:pPr>
                <a:spcBef>
                  <a:spcPct val="50000"/>
                </a:spcBef>
              </a:pPr>
              <a:r>
                <a:rPr lang="en-US" altLang="zh-CN" sz="2000" b="0" dirty="0">
                  <a:latin typeface="Times New Roman" panose="02020603050405020304" charset="0"/>
                </a:rPr>
                <a:t>S</a:t>
              </a:r>
              <a:r>
                <a:rPr lang="en-US" altLang="zh-CN" sz="2000" b="0" i="1" baseline="-25000" dirty="0">
                  <a:latin typeface="Times New Roman" panose="02020603050405020304" charset="0"/>
                </a:rPr>
                <a:t>i</a:t>
              </a:r>
              <a:endParaRPr lang="en-US" altLang="zh-CN" sz="2000" b="0" i="1" baseline="-25000" dirty="0">
                <a:latin typeface="Times New Roman" panose="02020603050405020304" charset="0"/>
              </a:endParaRPr>
            </a:p>
          </p:txBody>
        </p:sp>
        <p:sp>
          <p:nvSpPr>
            <p:cNvPr id="6200" name="文本框 153633"/>
            <p:cNvSpPr txBox="1"/>
            <p:nvPr/>
          </p:nvSpPr>
          <p:spPr>
            <a:xfrm>
              <a:off x="476" y="2341"/>
              <a:ext cx="272" cy="192"/>
            </a:xfrm>
            <a:prstGeom prst="rect">
              <a:avLst/>
            </a:prstGeom>
            <a:noFill/>
            <a:ln w="9525">
              <a:noFill/>
            </a:ln>
          </p:spPr>
          <p:txBody>
            <a:bodyPr lIns="0" tIns="0" rIns="0" bIns="0">
              <a:spAutoFit/>
            </a:bodyPr>
            <a:p>
              <a:pPr>
                <a:spcBef>
                  <a:spcPct val="50000"/>
                </a:spcBef>
              </a:pPr>
              <a:r>
                <a:rPr lang="en-US" altLang="zh-CN" sz="2000" b="0" dirty="0">
                  <a:latin typeface="Times New Roman" panose="02020603050405020304" charset="0"/>
                </a:rPr>
                <a:t>C</a:t>
              </a:r>
              <a:r>
                <a:rPr lang="en-US" altLang="zh-CN" sz="2000" b="0" baseline="-25000" dirty="0">
                  <a:latin typeface="Times New Roman" panose="02020603050405020304" charset="0"/>
                </a:rPr>
                <a:t>i-1</a:t>
              </a:r>
              <a:endParaRPr lang="en-US" altLang="zh-CN" sz="2000" b="0" baseline="-25000" dirty="0">
                <a:latin typeface="Times New Roman" panose="02020603050405020304" charset="0"/>
              </a:endParaRPr>
            </a:p>
          </p:txBody>
        </p:sp>
        <p:sp>
          <p:nvSpPr>
            <p:cNvPr id="6201" name="文本框 153634"/>
            <p:cNvSpPr txBox="1"/>
            <p:nvPr/>
          </p:nvSpPr>
          <p:spPr>
            <a:xfrm>
              <a:off x="2018" y="2341"/>
              <a:ext cx="272" cy="192"/>
            </a:xfrm>
            <a:prstGeom prst="rect">
              <a:avLst/>
            </a:prstGeom>
            <a:noFill/>
            <a:ln w="9525">
              <a:noFill/>
            </a:ln>
          </p:spPr>
          <p:txBody>
            <a:bodyPr lIns="0" tIns="0" rIns="0" bIns="0">
              <a:spAutoFit/>
            </a:bodyPr>
            <a:p>
              <a:pPr>
                <a:spcBef>
                  <a:spcPct val="50000"/>
                </a:spcBef>
              </a:pPr>
              <a:r>
                <a:rPr lang="en-US" altLang="zh-CN" sz="2000" b="0" dirty="0">
                  <a:latin typeface="Times New Roman" panose="02020603050405020304" charset="0"/>
                </a:rPr>
                <a:t>C</a:t>
              </a:r>
              <a:r>
                <a:rPr lang="en-US" altLang="zh-CN" sz="2000" b="0" baseline="-25000" dirty="0">
                  <a:latin typeface="Times New Roman" panose="02020603050405020304" charset="0"/>
                </a:rPr>
                <a:t>i</a:t>
              </a:r>
              <a:endParaRPr lang="en-US" altLang="zh-CN" sz="2000" b="0" baseline="-25000" dirty="0">
                <a:latin typeface="Times New Roman" panose="02020603050405020304" charset="0"/>
              </a:endParaRPr>
            </a:p>
          </p:txBody>
        </p:sp>
      </p:grpSp>
      <p:sp>
        <p:nvSpPr>
          <p:cNvPr id="153636" name="文本框 153635"/>
          <p:cNvSpPr txBox="1"/>
          <p:nvPr/>
        </p:nvSpPr>
        <p:spPr>
          <a:xfrm>
            <a:off x="4211638" y="2784793"/>
            <a:ext cx="4537075" cy="1123950"/>
          </a:xfrm>
          <a:prstGeom prst="rect">
            <a:avLst/>
          </a:prstGeom>
          <a:noFill/>
          <a:ln w="9525">
            <a:noFill/>
          </a:ln>
        </p:spPr>
        <p:txBody>
          <a:bodyPr>
            <a:spAutoFit/>
          </a:bodyPr>
          <a:p>
            <a:pPr marR="0" algn="l" defTabSz="914400">
              <a:lnSpc>
                <a:spcPct val="60000"/>
              </a:lnSpc>
              <a:spcBef>
                <a:spcPct val="50000"/>
              </a:spcBef>
              <a:buClrTx/>
              <a:buSzTx/>
              <a:defRPr/>
            </a:pPr>
            <a:r>
              <a:rPr kumimoji="0" lang="zh-CN" altLang="en-US" sz="2400"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Arial" panose="020B0604020202020204" pitchFamily="34" charset="0"/>
                <a:ea typeface="宋体" panose="02010600030101010101" pitchFamily="2" charset="-122"/>
                <a:cs typeface="+mn-cs"/>
              </a:rPr>
              <a:t>时序电路通常包含组合电路</a:t>
            </a:r>
            <a:endParaRPr kumimoji="0" lang="zh-CN" altLang="en-US" sz="2400"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Arial" panose="020B0604020202020204" pitchFamily="34" charset="0"/>
              <a:ea typeface="宋体" panose="02010600030101010101" pitchFamily="2" charset="-122"/>
              <a:cs typeface="+mn-cs"/>
            </a:endParaRPr>
          </a:p>
          <a:p>
            <a:pPr marR="0" algn="l" defTabSz="914400">
              <a:lnSpc>
                <a:spcPct val="60000"/>
              </a:lnSpc>
              <a:spcBef>
                <a:spcPct val="50000"/>
              </a:spcBef>
              <a:buClrTx/>
              <a:buSzTx/>
              <a:defRPr/>
            </a:pPr>
            <a:r>
              <a:rPr kumimoji="0" lang="zh-CN" altLang="en-US" sz="2400"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Arial" panose="020B0604020202020204" pitchFamily="34" charset="0"/>
                <a:ea typeface="宋体" panose="02010600030101010101" pitchFamily="2" charset="-122"/>
                <a:cs typeface="+mn-cs"/>
              </a:rPr>
              <a:t>和存储电路两部分，存储电</a:t>
            </a:r>
            <a:endParaRPr kumimoji="0" lang="zh-CN" altLang="en-US" sz="2400"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Arial" panose="020B0604020202020204" pitchFamily="34" charset="0"/>
              <a:ea typeface="宋体" panose="02010600030101010101" pitchFamily="2" charset="-122"/>
              <a:cs typeface="+mn-cs"/>
            </a:endParaRPr>
          </a:p>
          <a:p>
            <a:pPr marR="0" algn="l" defTabSz="914400">
              <a:lnSpc>
                <a:spcPct val="60000"/>
              </a:lnSpc>
              <a:spcBef>
                <a:spcPct val="50000"/>
              </a:spcBef>
              <a:buClrTx/>
              <a:buSzTx/>
              <a:defRPr/>
            </a:pPr>
            <a:r>
              <a:rPr kumimoji="0" lang="zh-CN" altLang="en-US" sz="2400"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Arial" panose="020B0604020202020204" pitchFamily="34" charset="0"/>
                <a:ea typeface="宋体" panose="02010600030101010101" pitchFamily="2" charset="-122"/>
                <a:cs typeface="+mn-cs"/>
              </a:rPr>
              <a:t>路是必不可少的</a:t>
            </a:r>
            <a:endParaRPr kumimoji="0" lang="zh-CN" altLang="en-US" sz="2400"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Arial" panose="020B0604020202020204" pitchFamily="34" charset="0"/>
              <a:ea typeface="宋体" panose="02010600030101010101" pitchFamily="2" charset="-122"/>
              <a:cs typeface="+mn-cs"/>
            </a:endParaRPr>
          </a:p>
        </p:txBody>
      </p:sp>
      <p:sp>
        <p:nvSpPr>
          <p:cNvPr id="6151" name="文本框 153636"/>
          <p:cNvSpPr txBox="1"/>
          <p:nvPr/>
        </p:nvSpPr>
        <p:spPr>
          <a:xfrm>
            <a:off x="4211638" y="4292600"/>
            <a:ext cx="4537075" cy="366713"/>
          </a:xfrm>
          <a:prstGeom prst="rect">
            <a:avLst/>
          </a:prstGeom>
          <a:noFill/>
          <a:ln w="9525">
            <a:noFill/>
          </a:ln>
        </p:spPr>
        <p:txBody>
          <a:bodyPr>
            <a:spAutoFit/>
          </a:bodyPr>
          <a:p>
            <a:pPr>
              <a:spcBef>
                <a:spcPct val="50000"/>
              </a:spcBef>
            </a:pPr>
            <a:endParaRPr lang="zh-CN" altLang="zh-CN" b="0" dirty="0">
              <a:latin typeface="Arial" panose="020B0604020202020204" pitchFamily="34" charset="0"/>
            </a:endParaRPr>
          </a:p>
        </p:txBody>
      </p:sp>
      <p:sp>
        <p:nvSpPr>
          <p:cNvPr id="153638" name="文本框 153637"/>
          <p:cNvSpPr txBox="1"/>
          <p:nvPr/>
        </p:nvSpPr>
        <p:spPr>
          <a:xfrm>
            <a:off x="4211638" y="4298633"/>
            <a:ext cx="4537075" cy="1529715"/>
          </a:xfrm>
          <a:prstGeom prst="rect">
            <a:avLst/>
          </a:prstGeom>
          <a:noFill/>
          <a:ln w="9525">
            <a:noFill/>
          </a:ln>
        </p:spPr>
        <p:txBody>
          <a:bodyPr>
            <a:spAutoFit/>
          </a:bodyPr>
          <a:p>
            <a:pPr marR="0" algn="l" defTabSz="914400">
              <a:lnSpc>
                <a:spcPct val="60000"/>
              </a:lnSpc>
              <a:spcBef>
                <a:spcPct val="50000"/>
              </a:spcBef>
              <a:buClrTx/>
              <a:buSzTx/>
              <a:defRPr/>
            </a:pPr>
            <a:r>
              <a:rPr kumimoji="0" lang="zh-CN" altLang="en-US" sz="2400"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Arial" panose="020B0604020202020204" pitchFamily="34" charset="0"/>
                <a:ea typeface="宋体" panose="02010600030101010101" pitchFamily="2" charset="-122"/>
                <a:cs typeface="+mn-cs"/>
              </a:rPr>
              <a:t>存储电路的输出状态必须反</a:t>
            </a:r>
            <a:endParaRPr kumimoji="0" lang="zh-CN" altLang="en-US" sz="2400"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Arial" panose="020B0604020202020204" pitchFamily="34" charset="0"/>
              <a:ea typeface="宋体" panose="02010600030101010101" pitchFamily="2" charset="-122"/>
              <a:cs typeface="+mn-cs"/>
            </a:endParaRPr>
          </a:p>
          <a:p>
            <a:pPr marR="0" algn="l" defTabSz="914400">
              <a:lnSpc>
                <a:spcPct val="60000"/>
              </a:lnSpc>
              <a:spcBef>
                <a:spcPct val="50000"/>
              </a:spcBef>
              <a:buClrTx/>
              <a:buSzTx/>
              <a:defRPr/>
            </a:pPr>
            <a:r>
              <a:rPr kumimoji="0" lang="zh-CN" altLang="en-US" sz="2400"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Arial" panose="020B0604020202020204" pitchFamily="34" charset="0"/>
                <a:ea typeface="宋体" panose="02010600030101010101" pitchFamily="2" charset="-122"/>
                <a:cs typeface="+mn-cs"/>
              </a:rPr>
              <a:t>馈到组合电路的输入端，与</a:t>
            </a:r>
            <a:endParaRPr kumimoji="0" lang="zh-CN" altLang="en-US" sz="2400"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Arial" panose="020B0604020202020204" pitchFamily="34" charset="0"/>
              <a:ea typeface="宋体" panose="02010600030101010101" pitchFamily="2" charset="-122"/>
              <a:cs typeface="+mn-cs"/>
            </a:endParaRPr>
          </a:p>
          <a:p>
            <a:pPr marR="0" algn="l" defTabSz="914400">
              <a:lnSpc>
                <a:spcPct val="60000"/>
              </a:lnSpc>
              <a:spcBef>
                <a:spcPct val="50000"/>
              </a:spcBef>
              <a:buClrTx/>
              <a:buSzTx/>
              <a:defRPr/>
            </a:pPr>
            <a:r>
              <a:rPr kumimoji="0" lang="zh-CN" altLang="en-US" sz="2400"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Arial" panose="020B0604020202020204" pitchFamily="34" charset="0"/>
                <a:ea typeface="宋体" panose="02010600030101010101" pitchFamily="2" charset="-122"/>
                <a:cs typeface="+mn-cs"/>
              </a:rPr>
              <a:t>输入信号一起，共同决定组</a:t>
            </a:r>
            <a:endParaRPr kumimoji="0" lang="zh-CN" altLang="en-US" sz="2400"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Arial" panose="020B0604020202020204" pitchFamily="34" charset="0"/>
              <a:ea typeface="宋体" panose="02010600030101010101" pitchFamily="2" charset="-122"/>
              <a:cs typeface="+mn-cs"/>
            </a:endParaRPr>
          </a:p>
          <a:p>
            <a:pPr marR="0" algn="l" defTabSz="914400">
              <a:lnSpc>
                <a:spcPct val="60000"/>
              </a:lnSpc>
              <a:spcBef>
                <a:spcPct val="50000"/>
              </a:spcBef>
              <a:buClrTx/>
              <a:buSzTx/>
              <a:defRPr/>
            </a:pPr>
            <a:r>
              <a:rPr kumimoji="0" lang="zh-CN" altLang="en-US" sz="2400"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Arial" panose="020B0604020202020204" pitchFamily="34" charset="0"/>
                <a:ea typeface="宋体" panose="02010600030101010101" pitchFamily="2" charset="-122"/>
                <a:cs typeface="+mn-cs"/>
              </a:rPr>
              <a:t>合逻辑电路的输出。</a:t>
            </a:r>
            <a:endParaRPr kumimoji="0" lang="zh-CN" altLang="en-US" sz="2400"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Arial" panose="020B0604020202020204" pitchFamily="34" charset="0"/>
              <a:ea typeface="宋体" panose="02010600030101010101" pitchFamily="2" charset="-122"/>
              <a:cs typeface="+mn-cs"/>
            </a:endParaRPr>
          </a:p>
        </p:txBody>
      </p:sp>
      <p:grpSp>
        <p:nvGrpSpPr>
          <p:cNvPr id="153639" name="组合 153638"/>
          <p:cNvGrpSpPr/>
          <p:nvPr/>
        </p:nvGrpSpPr>
        <p:grpSpPr>
          <a:xfrm>
            <a:off x="1187450" y="4078288"/>
            <a:ext cx="360363" cy="863600"/>
            <a:chOff x="748" y="2478"/>
            <a:chExt cx="227" cy="544"/>
          </a:xfrm>
        </p:grpSpPr>
        <p:sp>
          <p:nvSpPr>
            <p:cNvPr id="6171" name="直接连接符 153639"/>
            <p:cNvSpPr/>
            <p:nvPr/>
          </p:nvSpPr>
          <p:spPr>
            <a:xfrm flipH="1">
              <a:off x="748" y="3022"/>
              <a:ext cx="227" cy="0"/>
            </a:xfrm>
            <a:prstGeom prst="line">
              <a:avLst/>
            </a:prstGeom>
            <a:ln w="19050" cap="flat" cmpd="sng">
              <a:solidFill>
                <a:srgbClr val="CC3300"/>
              </a:solidFill>
              <a:prstDash val="solid"/>
              <a:headEnd type="none" w="med" len="med"/>
              <a:tailEnd type="none" w="med" len="med"/>
            </a:ln>
          </p:spPr>
        </p:sp>
        <p:sp>
          <p:nvSpPr>
            <p:cNvPr id="6172" name="直接连接符 153640"/>
            <p:cNvSpPr/>
            <p:nvPr/>
          </p:nvSpPr>
          <p:spPr>
            <a:xfrm flipH="1">
              <a:off x="748" y="2478"/>
              <a:ext cx="227" cy="0"/>
            </a:xfrm>
            <a:prstGeom prst="line">
              <a:avLst/>
            </a:prstGeom>
            <a:ln w="19050" cap="flat" cmpd="sng">
              <a:solidFill>
                <a:srgbClr val="CC3300"/>
              </a:solidFill>
              <a:prstDash val="solid"/>
              <a:headEnd type="triangle" w="med" len="med"/>
              <a:tailEnd type="none" w="med" len="med"/>
            </a:ln>
          </p:spPr>
        </p:sp>
        <p:sp>
          <p:nvSpPr>
            <p:cNvPr id="6173" name="直接连接符 153641"/>
            <p:cNvSpPr/>
            <p:nvPr/>
          </p:nvSpPr>
          <p:spPr>
            <a:xfrm>
              <a:off x="748" y="2478"/>
              <a:ext cx="0" cy="544"/>
            </a:xfrm>
            <a:prstGeom prst="line">
              <a:avLst/>
            </a:prstGeom>
            <a:ln w="19050" cap="flat" cmpd="sng">
              <a:solidFill>
                <a:srgbClr val="CC3300"/>
              </a:solidFill>
              <a:prstDash val="solid"/>
              <a:headEnd type="none" w="med" len="med"/>
              <a:tailEnd type="none" w="med" len="med"/>
            </a:ln>
          </p:spPr>
        </p:sp>
      </p:grpSp>
      <p:grpSp>
        <p:nvGrpSpPr>
          <p:cNvPr id="153644" name="组合 153643"/>
          <p:cNvGrpSpPr/>
          <p:nvPr/>
        </p:nvGrpSpPr>
        <p:grpSpPr>
          <a:xfrm flipH="1">
            <a:off x="2771775" y="4078288"/>
            <a:ext cx="360363" cy="863600"/>
            <a:chOff x="748" y="2478"/>
            <a:chExt cx="227" cy="544"/>
          </a:xfrm>
        </p:grpSpPr>
        <p:sp>
          <p:nvSpPr>
            <p:cNvPr id="6168" name="直接连接符 153644"/>
            <p:cNvSpPr/>
            <p:nvPr/>
          </p:nvSpPr>
          <p:spPr>
            <a:xfrm flipH="1">
              <a:off x="748" y="3022"/>
              <a:ext cx="227" cy="0"/>
            </a:xfrm>
            <a:prstGeom prst="line">
              <a:avLst/>
            </a:prstGeom>
            <a:ln w="19050" cap="flat" cmpd="sng">
              <a:solidFill>
                <a:srgbClr val="CC3300"/>
              </a:solidFill>
              <a:prstDash val="solid"/>
              <a:headEnd type="triangle" w="med" len="med"/>
              <a:tailEnd type="none" w="med" len="med"/>
            </a:ln>
          </p:spPr>
        </p:sp>
        <p:sp>
          <p:nvSpPr>
            <p:cNvPr id="6169" name="直接连接符 153645"/>
            <p:cNvSpPr/>
            <p:nvPr/>
          </p:nvSpPr>
          <p:spPr>
            <a:xfrm flipH="1">
              <a:off x="748" y="2478"/>
              <a:ext cx="227" cy="0"/>
            </a:xfrm>
            <a:prstGeom prst="line">
              <a:avLst/>
            </a:prstGeom>
            <a:ln w="19050" cap="flat" cmpd="sng">
              <a:solidFill>
                <a:srgbClr val="CC3300"/>
              </a:solidFill>
              <a:prstDash val="solid"/>
              <a:headEnd type="none" w="med" len="med"/>
              <a:tailEnd type="none" w="med" len="med"/>
            </a:ln>
          </p:spPr>
        </p:sp>
        <p:sp>
          <p:nvSpPr>
            <p:cNvPr id="6170" name="直接连接符 153646"/>
            <p:cNvSpPr/>
            <p:nvPr/>
          </p:nvSpPr>
          <p:spPr>
            <a:xfrm>
              <a:off x="748" y="2478"/>
              <a:ext cx="0" cy="544"/>
            </a:xfrm>
            <a:prstGeom prst="line">
              <a:avLst/>
            </a:prstGeom>
            <a:ln w="19050" cap="flat" cmpd="sng">
              <a:solidFill>
                <a:srgbClr val="CC3300"/>
              </a:solidFill>
              <a:prstDash val="solid"/>
              <a:headEnd type="none" w="med" len="med"/>
              <a:tailEnd type="none" w="med" len="med"/>
            </a:ln>
          </p:spPr>
        </p:sp>
      </p:grpSp>
      <p:sp>
        <p:nvSpPr>
          <p:cNvPr id="153650" name="文本框 153649"/>
          <p:cNvSpPr txBox="1"/>
          <p:nvPr/>
        </p:nvSpPr>
        <p:spPr>
          <a:xfrm>
            <a:off x="827088" y="2565400"/>
            <a:ext cx="215900" cy="365125"/>
          </a:xfrm>
          <a:prstGeom prst="rect">
            <a:avLst/>
          </a:prstGeom>
          <a:noFill/>
          <a:ln w="9525">
            <a:noFill/>
          </a:ln>
        </p:spPr>
        <p:txBody>
          <a:bodyPr lIns="0" tIns="0" rIns="0" bIns="0">
            <a:spAutoFit/>
          </a:bodyPr>
          <a:p>
            <a:pPr marR="0" algn="r" defTabSz="914400">
              <a:spcBef>
                <a:spcPct val="50000"/>
              </a:spcBef>
              <a:buClrTx/>
              <a:buSzTx/>
              <a:defRPr/>
            </a:pPr>
            <a:r>
              <a:rPr kumimoji="0" lang="en-US" altLang="zh-CN" sz="2400" kern="1200" cap="none" spc="0" normalizeH="0" baseline="0" noProof="1">
                <a:effectLst>
                  <a:outerShdw blurRad="38100" dist="38100" dir="2700000">
                    <a:srgbClr val="FFFFFF"/>
                  </a:outerShdw>
                </a:effectLst>
                <a:latin typeface="Arial" panose="020B0604020202020204" pitchFamily="34" charset="0"/>
                <a:ea typeface="宋体" panose="02010600030101010101" pitchFamily="2" charset="-122"/>
                <a:cs typeface="+mn-cs"/>
              </a:rPr>
              <a:t>1</a:t>
            </a:r>
            <a:endParaRPr kumimoji="0" lang="en-US" altLang="zh-CN" sz="2400" kern="1200" cap="none" spc="0" normalizeH="0" baseline="0" noProof="1">
              <a:effectLst>
                <a:outerShdw blurRad="38100" dist="38100" dir="2700000">
                  <a:srgbClr val="FFFFFF"/>
                </a:outerShdw>
              </a:effectLst>
              <a:latin typeface="Arial" panose="020B0604020202020204" pitchFamily="34" charset="0"/>
              <a:ea typeface="宋体" panose="02010600030101010101" pitchFamily="2" charset="-122"/>
              <a:cs typeface="+mn-cs"/>
            </a:endParaRPr>
          </a:p>
        </p:txBody>
      </p:sp>
      <p:sp>
        <p:nvSpPr>
          <p:cNvPr id="153651" name="文本框 153650"/>
          <p:cNvSpPr txBox="1"/>
          <p:nvPr/>
        </p:nvSpPr>
        <p:spPr>
          <a:xfrm>
            <a:off x="827088" y="3070225"/>
            <a:ext cx="215900" cy="365125"/>
          </a:xfrm>
          <a:prstGeom prst="rect">
            <a:avLst/>
          </a:prstGeom>
          <a:noFill/>
          <a:ln w="9525">
            <a:noFill/>
          </a:ln>
        </p:spPr>
        <p:txBody>
          <a:bodyPr lIns="0" tIns="0" rIns="0" bIns="0">
            <a:spAutoFit/>
          </a:bodyPr>
          <a:p>
            <a:pPr marR="0" algn="r" defTabSz="914400">
              <a:spcBef>
                <a:spcPct val="50000"/>
              </a:spcBef>
              <a:buClrTx/>
              <a:buSzTx/>
              <a:defRPr/>
            </a:pPr>
            <a:r>
              <a:rPr kumimoji="0" lang="en-US" altLang="zh-CN" sz="2400" kern="1200" cap="none" spc="0" normalizeH="0" baseline="0" noProof="1">
                <a:effectLst>
                  <a:outerShdw blurRad="38100" dist="38100" dir="2700000">
                    <a:srgbClr val="FFFFFF"/>
                  </a:outerShdw>
                </a:effectLst>
                <a:latin typeface="Arial" panose="020B0604020202020204" pitchFamily="34" charset="0"/>
                <a:ea typeface="宋体" panose="02010600030101010101" pitchFamily="2" charset="-122"/>
                <a:cs typeface="+mn-cs"/>
              </a:rPr>
              <a:t>1</a:t>
            </a:r>
            <a:endParaRPr kumimoji="0" lang="en-US" altLang="zh-CN" sz="2400" kern="1200" cap="none" spc="0" normalizeH="0" baseline="0" noProof="1">
              <a:effectLst>
                <a:outerShdw blurRad="38100" dist="38100" dir="2700000">
                  <a:srgbClr val="FFFFFF"/>
                </a:outerShdw>
              </a:effectLst>
              <a:latin typeface="Arial" panose="020B0604020202020204" pitchFamily="34" charset="0"/>
              <a:ea typeface="宋体" panose="02010600030101010101" pitchFamily="2" charset="-122"/>
              <a:cs typeface="+mn-cs"/>
            </a:endParaRPr>
          </a:p>
        </p:txBody>
      </p:sp>
      <p:sp>
        <p:nvSpPr>
          <p:cNvPr id="153652" name="文本框 153651"/>
          <p:cNvSpPr txBox="1"/>
          <p:nvPr/>
        </p:nvSpPr>
        <p:spPr>
          <a:xfrm>
            <a:off x="3276600" y="2782888"/>
            <a:ext cx="215900" cy="365125"/>
          </a:xfrm>
          <a:prstGeom prst="rect">
            <a:avLst/>
          </a:prstGeom>
          <a:noFill/>
          <a:ln w="9525">
            <a:noFill/>
          </a:ln>
        </p:spPr>
        <p:txBody>
          <a:bodyPr lIns="0" tIns="0" rIns="0" bIns="0">
            <a:spAutoFit/>
          </a:bodyPr>
          <a:p>
            <a:pPr marR="0" algn="r" defTabSz="914400">
              <a:spcBef>
                <a:spcPct val="50000"/>
              </a:spcBef>
              <a:buClrTx/>
              <a:buSzTx/>
              <a:defRPr/>
            </a:pPr>
            <a:r>
              <a:rPr kumimoji="0" lang="en-US" altLang="zh-CN" sz="2400" kern="1200" cap="none" spc="0" normalizeH="0" baseline="0" noProof="1">
                <a:effectLst>
                  <a:outerShdw blurRad="38100" dist="38100" dir="2700000">
                    <a:srgbClr val="FFFFFF"/>
                  </a:outerShdw>
                </a:effectLst>
                <a:latin typeface="Arial" panose="020B0604020202020204" pitchFamily="34" charset="0"/>
                <a:ea typeface="宋体" panose="02010600030101010101" pitchFamily="2" charset="-122"/>
                <a:cs typeface="+mn-cs"/>
              </a:rPr>
              <a:t>0</a:t>
            </a:r>
            <a:endParaRPr kumimoji="0" lang="en-US" altLang="zh-CN" sz="2400" kern="1200" cap="none" spc="0" normalizeH="0" baseline="0" noProof="1">
              <a:effectLst>
                <a:outerShdw blurRad="38100" dist="38100" dir="2700000">
                  <a:srgbClr val="FFFFFF"/>
                </a:outerShdw>
              </a:effectLst>
              <a:latin typeface="Arial" panose="020B0604020202020204" pitchFamily="34" charset="0"/>
              <a:ea typeface="宋体" panose="02010600030101010101" pitchFamily="2" charset="-122"/>
              <a:cs typeface="+mn-cs"/>
            </a:endParaRPr>
          </a:p>
        </p:txBody>
      </p:sp>
      <p:sp>
        <p:nvSpPr>
          <p:cNvPr id="153653" name="文本框 153652"/>
          <p:cNvSpPr txBox="1"/>
          <p:nvPr/>
        </p:nvSpPr>
        <p:spPr>
          <a:xfrm>
            <a:off x="2916238" y="3646488"/>
            <a:ext cx="215900" cy="365125"/>
          </a:xfrm>
          <a:prstGeom prst="rect">
            <a:avLst/>
          </a:prstGeom>
          <a:noFill/>
          <a:ln w="9525">
            <a:noFill/>
          </a:ln>
        </p:spPr>
        <p:txBody>
          <a:bodyPr lIns="0" tIns="0" rIns="0" bIns="0">
            <a:spAutoFit/>
          </a:bodyPr>
          <a:p>
            <a:pPr marR="0" algn="r" defTabSz="914400">
              <a:spcBef>
                <a:spcPct val="50000"/>
              </a:spcBef>
              <a:buClrTx/>
              <a:buSzTx/>
              <a:defRPr/>
            </a:pPr>
            <a:r>
              <a:rPr kumimoji="0" lang="en-US" altLang="zh-CN" sz="2400" kern="1200" cap="none" spc="0" normalizeH="0" baseline="0" noProof="1">
                <a:effectLst>
                  <a:outerShdw blurRad="38100" dist="38100" dir="2700000">
                    <a:srgbClr val="FFFFFF"/>
                  </a:outerShdw>
                </a:effectLst>
                <a:latin typeface="Arial" panose="020B0604020202020204" pitchFamily="34" charset="0"/>
                <a:ea typeface="宋体" panose="02010600030101010101" pitchFamily="2" charset="-122"/>
                <a:cs typeface="+mn-cs"/>
              </a:rPr>
              <a:t>1</a:t>
            </a:r>
            <a:endParaRPr kumimoji="0" lang="en-US" altLang="zh-CN" sz="2400" kern="1200" cap="none" spc="0" normalizeH="0" baseline="0" noProof="1">
              <a:effectLst>
                <a:outerShdw blurRad="38100" dist="38100" dir="2700000">
                  <a:srgbClr val="FFFFFF"/>
                </a:outerShdw>
              </a:effectLst>
              <a:latin typeface="Arial" panose="020B0604020202020204" pitchFamily="34" charset="0"/>
              <a:ea typeface="宋体" panose="02010600030101010101" pitchFamily="2" charset="-122"/>
              <a:cs typeface="+mn-cs"/>
            </a:endParaRPr>
          </a:p>
        </p:txBody>
      </p:sp>
      <p:sp>
        <p:nvSpPr>
          <p:cNvPr id="153654" name="文本框 153653"/>
          <p:cNvSpPr txBox="1"/>
          <p:nvPr/>
        </p:nvSpPr>
        <p:spPr>
          <a:xfrm>
            <a:off x="1251585" y="3581400"/>
            <a:ext cx="215900" cy="368935"/>
          </a:xfrm>
          <a:prstGeom prst="rect">
            <a:avLst/>
          </a:prstGeom>
          <a:solidFill>
            <a:srgbClr val="CCECFF"/>
          </a:solidFill>
          <a:ln w="9525">
            <a:noFill/>
          </a:ln>
        </p:spPr>
        <p:txBody>
          <a:bodyPr lIns="0" tIns="0" rIns="0" bIns="0">
            <a:spAutoFit/>
          </a:bodyPr>
          <a:p>
            <a:pPr marR="0" algn="r" defTabSz="914400">
              <a:spcBef>
                <a:spcPct val="50000"/>
              </a:spcBef>
              <a:buClrTx/>
              <a:buSzTx/>
              <a:defRPr/>
            </a:pPr>
            <a:r>
              <a:rPr kumimoji="0" lang="en-US" altLang="zh-CN" sz="2400" b="1" kern="1200" cap="none" spc="0" normalizeH="0" baseline="0" noProof="1">
                <a:solidFill>
                  <a:srgbClr val="FF0000"/>
                </a:solidFill>
                <a:effectLst>
                  <a:outerShdw blurRad="38100" dist="38100" dir="2700000">
                    <a:srgbClr val="FFFFFF"/>
                  </a:outerShdw>
                </a:effectLst>
                <a:latin typeface="Times New Roman" panose="02020603050405020304" charset="0"/>
                <a:ea typeface="宋体" panose="02010600030101010101" pitchFamily="2" charset="-122"/>
                <a:cs typeface="Times New Roman" panose="02020603050405020304" charset="0"/>
              </a:rPr>
              <a:t>1</a:t>
            </a:r>
            <a:endParaRPr kumimoji="0" lang="en-US" altLang="zh-CN" sz="2400" b="1" kern="1200" cap="none" spc="0" normalizeH="0" baseline="0" noProof="1">
              <a:solidFill>
                <a:srgbClr val="FF0000"/>
              </a:solidFill>
              <a:effectLst>
                <a:outerShdw blurRad="38100" dist="38100" dir="2700000">
                  <a:srgbClr val="FFFFFF"/>
                </a:outerShdw>
              </a:effectLst>
              <a:latin typeface="Times New Roman" panose="02020603050405020304" charset="0"/>
              <a:ea typeface="宋体" panose="02010600030101010101" pitchFamily="2" charset="-122"/>
              <a:cs typeface="Times New Roman" panose="02020603050405020304" charset="0"/>
            </a:endParaRPr>
          </a:p>
        </p:txBody>
      </p:sp>
      <p:sp>
        <p:nvSpPr>
          <p:cNvPr id="153655" name="文本框 153654"/>
          <p:cNvSpPr txBox="1"/>
          <p:nvPr/>
        </p:nvSpPr>
        <p:spPr>
          <a:xfrm>
            <a:off x="863283" y="2632075"/>
            <a:ext cx="215900" cy="365125"/>
          </a:xfrm>
          <a:prstGeom prst="rect">
            <a:avLst/>
          </a:prstGeom>
          <a:solidFill>
            <a:srgbClr val="CCECFF"/>
          </a:solidFill>
          <a:ln w="9525">
            <a:noFill/>
          </a:ln>
        </p:spPr>
        <p:txBody>
          <a:bodyPr lIns="0" tIns="0" rIns="0" bIns="0">
            <a:spAutoFit/>
          </a:bodyPr>
          <a:p>
            <a:pPr marR="0" algn="r" defTabSz="914400">
              <a:spcBef>
                <a:spcPct val="50000"/>
              </a:spcBef>
              <a:buClrTx/>
              <a:buSzTx/>
              <a:defRPr/>
            </a:pPr>
            <a:r>
              <a:rPr kumimoji="0" lang="en-US" altLang="zh-CN" sz="2400"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rPr>
              <a:t>0</a:t>
            </a:r>
            <a:endParaRPr kumimoji="0" lang="en-US" altLang="zh-CN" sz="2400"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endParaRPr>
          </a:p>
        </p:txBody>
      </p:sp>
      <p:sp>
        <p:nvSpPr>
          <p:cNvPr id="153656" name="文本框 153655"/>
          <p:cNvSpPr txBox="1"/>
          <p:nvPr/>
        </p:nvSpPr>
        <p:spPr>
          <a:xfrm>
            <a:off x="827088" y="2998788"/>
            <a:ext cx="215900" cy="365125"/>
          </a:xfrm>
          <a:prstGeom prst="rect">
            <a:avLst/>
          </a:prstGeom>
          <a:solidFill>
            <a:srgbClr val="CCECFF"/>
          </a:solidFill>
          <a:ln w="9525">
            <a:noFill/>
          </a:ln>
        </p:spPr>
        <p:txBody>
          <a:bodyPr lIns="0" tIns="0" rIns="0" bIns="0">
            <a:spAutoFit/>
          </a:bodyPr>
          <a:p>
            <a:pPr marR="0" algn="r" defTabSz="914400">
              <a:spcBef>
                <a:spcPct val="50000"/>
              </a:spcBef>
              <a:buClrTx/>
              <a:buSzTx/>
              <a:defRPr/>
            </a:pPr>
            <a:r>
              <a:rPr kumimoji="0" lang="en-US" altLang="zh-CN" sz="2400"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rPr>
              <a:t>0</a:t>
            </a:r>
            <a:endParaRPr kumimoji="0" lang="en-US" altLang="zh-CN" sz="2400"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endParaRPr>
          </a:p>
        </p:txBody>
      </p:sp>
      <p:sp>
        <p:nvSpPr>
          <p:cNvPr id="153657" name="文本框 153656"/>
          <p:cNvSpPr txBox="1"/>
          <p:nvPr/>
        </p:nvSpPr>
        <p:spPr>
          <a:xfrm>
            <a:off x="3311525" y="2751138"/>
            <a:ext cx="215900" cy="365125"/>
          </a:xfrm>
          <a:prstGeom prst="rect">
            <a:avLst/>
          </a:prstGeom>
          <a:solidFill>
            <a:srgbClr val="CCECFF"/>
          </a:solidFill>
          <a:ln w="9525">
            <a:noFill/>
          </a:ln>
        </p:spPr>
        <p:txBody>
          <a:bodyPr lIns="0" tIns="0" rIns="0" bIns="0">
            <a:spAutoFit/>
          </a:bodyPr>
          <a:p>
            <a:pPr marR="0" algn="r" defTabSz="914400">
              <a:spcBef>
                <a:spcPct val="50000"/>
              </a:spcBef>
              <a:buClrTx/>
              <a:buSzTx/>
              <a:defRPr/>
            </a:pPr>
            <a:r>
              <a:rPr kumimoji="0" lang="en-US" altLang="zh-CN" sz="2400"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rPr>
              <a:t>1</a:t>
            </a:r>
            <a:endParaRPr kumimoji="0" lang="en-US" altLang="zh-CN" sz="2400"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endParaRPr>
          </a:p>
        </p:txBody>
      </p:sp>
      <p:sp>
        <p:nvSpPr>
          <p:cNvPr id="153658" name="文本框 153657"/>
          <p:cNvSpPr txBox="1"/>
          <p:nvPr/>
        </p:nvSpPr>
        <p:spPr>
          <a:xfrm>
            <a:off x="2987358" y="3713163"/>
            <a:ext cx="215900" cy="365125"/>
          </a:xfrm>
          <a:prstGeom prst="rect">
            <a:avLst/>
          </a:prstGeom>
          <a:solidFill>
            <a:srgbClr val="CCECFF"/>
          </a:solidFill>
          <a:ln w="9525">
            <a:noFill/>
          </a:ln>
        </p:spPr>
        <p:txBody>
          <a:bodyPr lIns="0" tIns="0" rIns="0" bIns="0">
            <a:spAutoFit/>
          </a:bodyPr>
          <a:p>
            <a:pPr marR="0" algn="r" defTabSz="914400">
              <a:spcBef>
                <a:spcPct val="50000"/>
              </a:spcBef>
              <a:buClrTx/>
              <a:buSzTx/>
              <a:defRPr/>
            </a:pPr>
            <a:r>
              <a:rPr kumimoji="0" lang="en-US" altLang="zh-CN" sz="2400"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rPr>
              <a:t>0</a:t>
            </a:r>
            <a:endParaRPr kumimoji="0" lang="en-US" altLang="zh-CN" sz="2400"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endParaRPr>
          </a:p>
        </p:txBody>
      </p:sp>
      <p:sp>
        <p:nvSpPr>
          <p:cNvPr id="153659" name="直接连接符 153658"/>
          <p:cNvSpPr/>
          <p:nvPr/>
        </p:nvSpPr>
        <p:spPr>
          <a:xfrm>
            <a:off x="1042988" y="3790950"/>
            <a:ext cx="215900" cy="0"/>
          </a:xfrm>
          <a:prstGeom prst="line">
            <a:avLst/>
          </a:prstGeom>
          <a:ln w="19050" cap="flat" cmpd="sng">
            <a:solidFill>
              <a:srgbClr val="FF3300"/>
            </a:solidFill>
            <a:prstDash val="soli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5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53651"/>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1000"/>
                                  </p:stCondLst>
                                  <p:childTnLst>
                                    <p:set>
                                      <p:cBhvr>
                                        <p:cTn id="12" dur="1" fill="hold">
                                          <p:stCondLst>
                                            <p:cond delay="0"/>
                                          </p:stCondLst>
                                        </p:cTn>
                                        <p:tgtEl>
                                          <p:spTgt spid="153602"/>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1000"/>
                                  </p:stCondLst>
                                  <p:childTnLst>
                                    <p:set>
                                      <p:cBhvr>
                                        <p:cTn id="15" dur="1" fill="hold">
                                          <p:stCondLst>
                                            <p:cond delay="0"/>
                                          </p:stCondLst>
                                        </p:cTn>
                                        <p:tgtEl>
                                          <p:spTgt spid="153652"/>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1500"/>
                                  </p:stCondLst>
                                  <p:childTnLst>
                                    <p:set>
                                      <p:cBhvr>
                                        <p:cTn id="18" dur="1" fill="hold">
                                          <p:stCondLst>
                                            <p:cond delay="0"/>
                                          </p:stCondLst>
                                        </p:cTn>
                                        <p:tgtEl>
                                          <p:spTgt spid="1536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1000"/>
                                  </p:stCondLst>
                                  <p:childTnLst>
                                    <p:set>
                                      <p:cBhvr>
                                        <p:cTn id="22" dur="1" fill="hold">
                                          <p:stCondLst>
                                            <p:cond delay="0"/>
                                          </p:stCondLst>
                                        </p:cTn>
                                        <p:tgtEl>
                                          <p:spTgt spid="153644"/>
                                        </p:tgtEl>
                                        <p:attrNameLst>
                                          <p:attrName>style.visibility</p:attrName>
                                        </p:attrNameLst>
                                      </p:cBhvr>
                                      <p:to>
                                        <p:strVal val="visible"/>
                                      </p:to>
                                    </p:set>
                                    <p:animEffect transition="in" filter="wipe(up)">
                                      <p:cBhvr>
                                        <p:cTn id="23" dur="2000"/>
                                        <p:tgtEl>
                                          <p:spTgt spid="153644"/>
                                        </p:tgtEl>
                                      </p:cBhvr>
                                    </p:animEffect>
                                  </p:childTnLst>
                                </p:cTn>
                              </p:par>
                            </p:childTnLst>
                          </p:cTn>
                        </p:par>
                        <p:par>
                          <p:cTn id="24" fill="hold">
                            <p:stCondLst>
                              <p:cond delay="3000"/>
                            </p:stCondLst>
                            <p:childTnLst>
                              <p:par>
                                <p:cTn id="25" presetID="22" presetClass="entr" presetSubtype="4" fill="hold" nodeType="afterEffect">
                                  <p:stCondLst>
                                    <p:cond delay="1000"/>
                                  </p:stCondLst>
                                  <p:childTnLst>
                                    <p:set>
                                      <p:cBhvr>
                                        <p:cTn id="26" dur="1" fill="hold">
                                          <p:stCondLst>
                                            <p:cond delay="0"/>
                                          </p:stCondLst>
                                        </p:cTn>
                                        <p:tgtEl>
                                          <p:spTgt spid="153639"/>
                                        </p:tgtEl>
                                        <p:attrNameLst>
                                          <p:attrName>style.visibility</p:attrName>
                                        </p:attrNameLst>
                                      </p:cBhvr>
                                      <p:to>
                                        <p:strVal val="visible"/>
                                      </p:to>
                                    </p:set>
                                    <p:animEffect transition="in" filter="wipe(down)">
                                      <p:cBhvr>
                                        <p:cTn id="27" dur="2000"/>
                                        <p:tgtEl>
                                          <p:spTgt spid="153639"/>
                                        </p:tgtEl>
                                      </p:cBhvr>
                                    </p:animEffect>
                                  </p:childTnLst>
                                </p:cTn>
                              </p:par>
                            </p:childTnLst>
                          </p:cTn>
                        </p:par>
                        <p:par>
                          <p:cTn id="28" fill="hold">
                            <p:stCondLst>
                              <p:cond delay="6000"/>
                            </p:stCondLst>
                            <p:childTnLst>
                              <p:par>
                                <p:cTn id="29" presetID="22" presetClass="entr" presetSubtype="8" fill="hold" nodeType="afterEffect">
                                  <p:stCondLst>
                                    <p:cond delay="1000"/>
                                  </p:stCondLst>
                                  <p:childTnLst>
                                    <p:set>
                                      <p:cBhvr>
                                        <p:cTn id="30" dur="1" fill="hold">
                                          <p:stCondLst>
                                            <p:cond delay="0"/>
                                          </p:stCondLst>
                                        </p:cTn>
                                        <p:tgtEl>
                                          <p:spTgt spid="153659"/>
                                        </p:tgtEl>
                                        <p:attrNameLst>
                                          <p:attrName>style.visibility</p:attrName>
                                        </p:attrNameLst>
                                      </p:cBhvr>
                                      <p:to>
                                        <p:strVal val="visible"/>
                                      </p:to>
                                    </p:set>
                                    <p:animEffect transition="in" filter="wipe(left)">
                                      <p:cBhvr>
                                        <p:cTn id="31" dur="500"/>
                                        <p:tgtEl>
                                          <p:spTgt spid="153659"/>
                                        </p:tgtEl>
                                      </p:cBhvr>
                                    </p:animEffect>
                                  </p:childTnLst>
                                </p:cTn>
                              </p:par>
                            </p:childTnLst>
                          </p:cTn>
                        </p:par>
                        <p:par>
                          <p:cTn id="32" fill="hold">
                            <p:stCondLst>
                              <p:cond delay="7500"/>
                            </p:stCondLst>
                            <p:childTnLst>
                              <p:par>
                                <p:cTn id="33" presetID="1" presetClass="entr" presetSubtype="0" fill="hold" grpId="0" nodeType="afterEffect">
                                  <p:stCondLst>
                                    <p:cond delay="1500"/>
                                  </p:stCondLst>
                                  <p:childTnLst>
                                    <p:set>
                                      <p:cBhvr>
                                        <p:cTn id="34" dur="1" fill="hold">
                                          <p:stCondLst>
                                            <p:cond delay="0"/>
                                          </p:stCondLst>
                                        </p:cTn>
                                        <p:tgtEl>
                                          <p:spTgt spid="15365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3655"/>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15365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53657"/>
                                        </p:tgtEl>
                                        <p:attrNameLst>
                                          <p:attrName>style.visibility</p:attrName>
                                        </p:attrNameLst>
                                      </p:cBhvr>
                                      <p:to>
                                        <p:strVal val="visible"/>
                                      </p:to>
                                    </p:set>
                                  </p:childTnLst>
                                </p:cTn>
                              </p:par>
                            </p:childTnLst>
                          </p:cTn>
                        </p:par>
                        <p:par>
                          <p:cTn id="46" fill="hold">
                            <p:stCondLst>
                              <p:cond delay="0"/>
                            </p:stCondLst>
                            <p:childTnLst>
                              <p:par>
                                <p:cTn id="47" presetID="1" presetClass="entr" presetSubtype="0" fill="hold" grpId="0" nodeType="afterEffect">
                                  <p:stCondLst>
                                    <p:cond delay="1000"/>
                                  </p:stCondLst>
                                  <p:childTnLst>
                                    <p:set>
                                      <p:cBhvr>
                                        <p:cTn id="48" dur="1" fill="hold">
                                          <p:stCondLst>
                                            <p:cond delay="0"/>
                                          </p:stCondLst>
                                        </p:cTn>
                                        <p:tgtEl>
                                          <p:spTgt spid="15365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53636">
                                            <p:txEl>
                                              <p:charRg st="0" end="13"/>
                                            </p:txEl>
                                          </p:spTgt>
                                        </p:tgtEl>
                                        <p:attrNameLst>
                                          <p:attrName>style.visibility</p:attrName>
                                        </p:attrNameLst>
                                      </p:cBhvr>
                                      <p:to>
                                        <p:strVal val="visible"/>
                                      </p:to>
                                    </p:set>
                                    <p:animEffect transition="in" filter="wipe(left)">
                                      <p:cBhvr>
                                        <p:cTn id="53" dur="2000"/>
                                        <p:tgtEl>
                                          <p:spTgt spid="153636">
                                            <p:txEl>
                                              <p:charRg st="0" end="13"/>
                                            </p:txEl>
                                          </p:spTgt>
                                        </p:tgtEl>
                                      </p:cBhvr>
                                    </p:animEffect>
                                  </p:childTnLst>
                                </p:cTn>
                              </p:par>
                            </p:childTnLst>
                          </p:cTn>
                        </p:par>
                        <p:par>
                          <p:cTn id="54" fill="hold">
                            <p:stCondLst>
                              <p:cond delay="2000"/>
                            </p:stCondLst>
                            <p:childTnLst>
                              <p:par>
                                <p:cTn id="55" presetID="22" presetClass="entr" presetSubtype="8" fill="hold" grpId="0" nodeType="afterEffect">
                                  <p:stCondLst>
                                    <p:cond delay="0"/>
                                  </p:stCondLst>
                                  <p:childTnLst>
                                    <p:set>
                                      <p:cBhvr>
                                        <p:cTn id="56" dur="1" fill="hold">
                                          <p:stCondLst>
                                            <p:cond delay="0"/>
                                          </p:stCondLst>
                                        </p:cTn>
                                        <p:tgtEl>
                                          <p:spTgt spid="153636">
                                            <p:txEl>
                                              <p:charRg st="13" end="26"/>
                                            </p:txEl>
                                          </p:spTgt>
                                        </p:tgtEl>
                                        <p:attrNameLst>
                                          <p:attrName>style.visibility</p:attrName>
                                        </p:attrNameLst>
                                      </p:cBhvr>
                                      <p:to>
                                        <p:strVal val="visible"/>
                                      </p:to>
                                    </p:set>
                                    <p:animEffect transition="in" filter="wipe(left)">
                                      <p:cBhvr>
                                        <p:cTn id="57" dur="2000"/>
                                        <p:tgtEl>
                                          <p:spTgt spid="153636">
                                            <p:txEl>
                                              <p:charRg st="13" end="26"/>
                                            </p:txEl>
                                          </p:spTgt>
                                        </p:tgtEl>
                                      </p:cBhvr>
                                    </p:animEffect>
                                  </p:childTnLst>
                                </p:cTn>
                              </p:par>
                            </p:childTnLst>
                          </p:cTn>
                        </p:par>
                        <p:par>
                          <p:cTn id="58" fill="hold">
                            <p:stCondLst>
                              <p:cond delay="4000"/>
                            </p:stCondLst>
                            <p:childTnLst>
                              <p:par>
                                <p:cTn id="59" presetID="22" presetClass="entr" presetSubtype="8" fill="hold" grpId="0" nodeType="afterEffect">
                                  <p:stCondLst>
                                    <p:cond delay="0"/>
                                  </p:stCondLst>
                                  <p:childTnLst>
                                    <p:set>
                                      <p:cBhvr>
                                        <p:cTn id="60" dur="1" fill="hold">
                                          <p:stCondLst>
                                            <p:cond delay="0"/>
                                          </p:stCondLst>
                                        </p:cTn>
                                        <p:tgtEl>
                                          <p:spTgt spid="153636">
                                            <p:txEl>
                                              <p:charRg st="26" end="34"/>
                                            </p:txEl>
                                          </p:spTgt>
                                        </p:tgtEl>
                                        <p:attrNameLst>
                                          <p:attrName>style.visibility</p:attrName>
                                        </p:attrNameLst>
                                      </p:cBhvr>
                                      <p:to>
                                        <p:strVal val="visible"/>
                                      </p:to>
                                    </p:set>
                                    <p:animEffect transition="in" filter="wipe(left)">
                                      <p:cBhvr>
                                        <p:cTn id="61" dur="2000"/>
                                        <p:tgtEl>
                                          <p:spTgt spid="153636">
                                            <p:txEl>
                                              <p:charRg st="26" end="34"/>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53638">
                                            <p:txEl>
                                              <p:charRg st="0" end="13"/>
                                            </p:txEl>
                                          </p:spTgt>
                                        </p:tgtEl>
                                        <p:attrNameLst>
                                          <p:attrName>style.visibility</p:attrName>
                                        </p:attrNameLst>
                                      </p:cBhvr>
                                      <p:to>
                                        <p:strVal val="visible"/>
                                      </p:to>
                                    </p:set>
                                    <p:animEffect transition="in" filter="wipe(left)">
                                      <p:cBhvr>
                                        <p:cTn id="66" dur="2000"/>
                                        <p:tgtEl>
                                          <p:spTgt spid="153638">
                                            <p:txEl>
                                              <p:charRg st="0" end="13"/>
                                            </p:txEl>
                                          </p:spTgt>
                                        </p:tgtEl>
                                      </p:cBhvr>
                                    </p:animEffect>
                                  </p:childTnLst>
                                </p:cTn>
                              </p:par>
                            </p:childTnLst>
                          </p:cTn>
                        </p:par>
                        <p:par>
                          <p:cTn id="67" fill="hold">
                            <p:stCondLst>
                              <p:cond delay="2000"/>
                            </p:stCondLst>
                            <p:childTnLst>
                              <p:par>
                                <p:cTn id="68" presetID="22" presetClass="entr" presetSubtype="8" fill="hold" grpId="0" nodeType="afterEffect">
                                  <p:stCondLst>
                                    <p:cond delay="0"/>
                                  </p:stCondLst>
                                  <p:childTnLst>
                                    <p:set>
                                      <p:cBhvr>
                                        <p:cTn id="69" dur="1" fill="hold">
                                          <p:stCondLst>
                                            <p:cond delay="0"/>
                                          </p:stCondLst>
                                        </p:cTn>
                                        <p:tgtEl>
                                          <p:spTgt spid="153638">
                                            <p:txEl>
                                              <p:charRg st="13" end="26"/>
                                            </p:txEl>
                                          </p:spTgt>
                                        </p:tgtEl>
                                        <p:attrNameLst>
                                          <p:attrName>style.visibility</p:attrName>
                                        </p:attrNameLst>
                                      </p:cBhvr>
                                      <p:to>
                                        <p:strVal val="visible"/>
                                      </p:to>
                                    </p:set>
                                    <p:animEffect transition="in" filter="wipe(left)">
                                      <p:cBhvr>
                                        <p:cTn id="70" dur="2000"/>
                                        <p:tgtEl>
                                          <p:spTgt spid="153638">
                                            <p:txEl>
                                              <p:charRg st="13" end="26"/>
                                            </p:txEl>
                                          </p:spTgt>
                                        </p:tgtEl>
                                      </p:cBhvr>
                                    </p:animEffect>
                                  </p:childTnLst>
                                </p:cTn>
                              </p:par>
                            </p:childTnLst>
                          </p:cTn>
                        </p:par>
                        <p:par>
                          <p:cTn id="71" fill="hold">
                            <p:stCondLst>
                              <p:cond delay="4000"/>
                            </p:stCondLst>
                            <p:childTnLst>
                              <p:par>
                                <p:cTn id="72" presetID="22" presetClass="entr" presetSubtype="8" fill="hold" grpId="0" nodeType="afterEffect">
                                  <p:stCondLst>
                                    <p:cond delay="0"/>
                                  </p:stCondLst>
                                  <p:childTnLst>
                                    <p:set>
                                      <p:cBhvr>
                                        <p:cTn id="73" dur="1" fill="hold">
                                          <p:stCondLst>
                                            <p:cond delay="0"/>
                                          </p:stCondLst>
                                        </p:cTn>
                                        <p:tgtEl>
                                          <p:spTgt spid="153638">
                                            <p:txEl>
                                              <p:charRg st="26" end="39"/>
                                            </p:txEl>
                                          </p:spTgt>
                                        </p:tgtEl>
                                        <p:attrNameLst>
                                          <p:attrName>style.visibility</p:attrName>
                                        </p:attrNameLst>
                                      </p:cBhvr>
                                      <p:to>
                                        <p:strVal val="visible"/>
                                      </p:to>
                                    </p:set>
                                    <p:animEffect transition="in" filter="wipe(left)">
                                      <p:cBhvr>
                                        <p:cTn id="74" dur="2000"/>
                                        <p:tgtEl>
                                          <p:spTgt spid="153638">
                                            <p:txEl>
                                              <p:charRg st="26" end="39"/>
                                            </p:txEl>
                                          </p:spTgt>
                                        </p:tgtEl>
                                      </p:cBhvr>
                                    </p:animEffect>
                                  </p:childTnLst>
                                </p:cTn>
                              </p:par>
                            </p:childTnLst>
                          </p:cTn>
                        </p:par>
                        <p:par>
                          <p:cTn id="75" fill="hold">
                            <p:stCondLst>
                              <p:cond delay="6000"/>
                            </p:stCondLst>
                            <p:childTnLst>
                              <p:par>
                                <p:cTn id="76" presetID="22" presetClass="entr" presetSubtype="8" fill="hold" grpId="0" nodeType="afterEffect">
                                  <p:stCondLst>
                                    <p:cond delay="0"/>
                                  </p:stCondLst>
                                  <p:childTnLst>
                                    <p:set>
                                      <p:cBhvr>
                                        <p:cTn id="77" dur="1" fill="hold">
                                          <p:stCondLst>
                                            <p:cond delay="0"/>
                                          </p:stCondLst>
                                        </p:cTn>
                                        <p:tgtEl>
                                          <p:spTgt spid="153638">
                                            <p:txEl>
                                              <p:charRg st="39" end="49"/>
                                            </p:txEl>
                                          </p:spTgt>
                                        </p:tgtEl>
                                        <p:attrNameLst>
                                          <p:attrName>style.visibility</p:attrName>
                                        </p:attrNameLst>
                                      </p:cBhvr>
                                      <p:to>
                                        <p:strVal val="visible"/>
                                      </p:to>
                                    </p:set>
                                    <p:animEffect transition="in" filter="wipe(left)">
                                      <p:cBhvr>
                                        <p:cTn id="78" dur="2000"/>
                                        <p:tgtEl>
                                          <p:spTgt spid="153638">
                                            <p:txEl>
                                              <p:charRg st="39" end="4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2" grpId="0" bldLvl="0" animBg="1"/>
      <p:bldP spid="153636" grpId="0" build="p"/>
      <p:bldP spid="153638" grpId="0" build="p"/>
      <p:bldP spid="153650" grpId="0"/>
      <p:bldP spid="153651" grpId="0"/>
      <p:bldP spid="153652" grpId="0"/>
      <p:bldP spid="153653" grpId="0"/>
      <p:bldP spid="153654" grpId="0" bldLvl="0" animBg="1"/>
      <p:bldP spid="153655" grpId="0" bldLvl="0" animBg="1"/>
      <p:bldP spid="153656" grpId="0" bldLvl="0" animBg="1"/>
      <p:bldP spid="153657" grpId="0" bldLvl="0" animBg="1"/>
      <p:bldP spid="153658"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762000" y="1066800"/>
            <a:ext cx="5532755" cy="868045"/>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6</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1</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.1</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时序逻辑电路的结构及特点</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294765" y="49847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6.1 </a:t>
            </a:r>
            <a:r>
              <a:rPr lang="en-US" altLang="zh-CN" b="1" dirty="0">
                <a:solidFill>
                  <a:srgbClr val="FF0000"/>
                </a:solidFill>
                <a:latin typeface="黑体" panose="02010609060101010101" pitchFamily="49" charset="-122"/>
                <a:ea typeface="黑体" panose="02010609060101010101" pitchFamily="49" charset="-122"/>
                <a:sym typeface="+mn-ea"/>
              </a:rPr>
              <a:t>时序逻辑电路的基本概念</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 name="文本框 5"/>
          <p:cNvSpPr txBox="1"/>
          <p:nvPr/>
        </p:nvSpPr>
        <p:spPr>
          <a:xfrm>
            <a:off x="843915" y="1775460"/>
            <a:ext cx="4001135" cy="460375"/>
          </a:xfrm>
          <a:prstGeom prst="rect">
            <a:avLst/>
          </a:prstGeom>
          <a:noFill/>
        </p:spPr>
        <p:txBody>
          <a:bodyPr wrap="square" rtlCol="0" anchor="t">
            <a:spAutoFit/>
          </a:bodyPr>
          <a:p>
            <a:r>
              <a:rPr lang="zh-CN" altLang="en-US" sz="2400" b="1">
                <a:gradFill>
                  <a:gsLst>
                    <a:gs pos="0">
                      <a:srgbClr val="012D86"/>
                    </a:gs>
                    <a:gs pos="100000">
                      <a:srgbClr val="0E2557"/>
                    </a:gs>
                  </a:gsLst>
                  <a:lin scaled="0"/>
                </a:gradFill>
              </a:rPr>
              <a:t>时序逻辑电路结构图</a:t>
            </a:r>
            <a:endParaRPr lang="zh-CN" altLang="en-US" sz="2400" b="1">
              <a:gradFill>
                <a:gsLst>
                  <a:gs pos="0">
                    <a:srgbClr val="012D86"/>
                  </a:gs>
                  <a:gs pos="100000">
                    <a:srgbClr val="0E2557"/>
                  </a:gs>
                </a:gsLst>
                <a:lin scaled="0"/>
              </a:gradFill>
            </a:endParaRPr>
          </a:p>
        </p:txBody>
      </p:sp>
      <p:pic>
        <p:nvPicPr>
          <p:cNvPr id="9367" name="图片 2804"/>
          <p:cNvPicPr>
            <a:picLocks noChangeAspect="1"/>
          </p:cNvPicPr>
          <p:nvPr/>
        </p:nvPicPr>
        <p:blipFill>
          <a:blip r:embed="rId1"/>
          <a:stretch>
            <a:fillRect/>
          </a:stretch>
        </p:blipFill>
        <p:spPr>
          <a:xfrm>
            <a:off x="2421255" y="2391410"/>
            <a:ext cx="4415790" cy="2749550"/>
          </a:xfrm>
          <a:prstGeom prst="rect">
            <a:avLst/>
          </a:prstGeom>
          <a:noFill/>
          <a:ln>
            <a:noFill/>
          </a:ln>
        </p:spPr>
      </p:pic>
      <p:sp>
        <p:nvSpPr>
          <p:cNvPr id="109602" name="圆角矩形标注 109601"/>
          <p:cNvSpPr/>
          <p:nvPr/>
        </p:nvSpPr>
        <p:spPr>
          <a:xfrm>
            <a:off x="340995" y="2311400"/>
            <a:ext cx="1368425" cy="911860"/>
          </a:xfrm>
          <a:prstGeom prst="wedgeRoundRectCallout">
            <a:avLst>
              <a:gd name="adj1" fmla="val 109071"/>
              <a:gd name="adj2" fmla="val -25417"/>
              <a:gd name="adj3" fmla="val 16667"/>
            </a:avLst>
          </a:prstGeom>
          <a:noFill/>
          <a:ln w="9525" cap="flat" cmpd="sng">
            <a:solidFill>
              <a:srgbClr val="FF0000"/>
            </a:solidFill>
            <a:prstDash val="solid"/>
            <a:miter/>
            <a:headEnd type="none" w="med" len="med"/>
            <a:tailEnd type="none" w="med" len="med"/>
          </a:ln>
        </p:spPr>
        <p:txBody>
          <a:bodyPr/>
          <a:p>
            <a:pPr eaLnBrk="0" hangingPunct="0"/>
            <a:r>
              <a:rPr lang="zh-CN" altLang="en-US" sz="2400" b="1" dirty="0">
                <a:gradFill>
                  <a:gsLst>
                    <a:gs pos="0">
                      <a:srgbClr val="012D86"/>
                    </a:gs>
                    <a:gs pos="100000">
                      <a:srgbClr val="0E2557"/>
                    </a:gs>
                  </a:gsLst>
                  <a:lin scaled="0"/>
                </a:gradFill>
                <a:effectLst>
                  <a:outerShdw blurRad="38100" dist="25400" dir="5400000" algn="ctr" rotWithShape="0">
                    <a:srgbClr val="6E747A">
                      <a:alpha val="43000"/>
                    </a:srgbClr>
                  </a:outerShdw>
                </a:effectLst>
                <a:latin typeface="Arial" panose="020B0604020202020204" pitchFamily="34" charset="0"/>
              </a:rPr>
              <a:t>输入逻辑变量</a:t>
            </a:r>
            <a:endParaRPr lang="zh-CN" altLang="en-US" sz="2400" b="1" dirty="0">
              <a:gradFill>
                <a:gsLst>
                  <a:gs pos="0">
                    <a:srgbClr val="012D86"/>
                  </a:gs>
                  <a:gs pos="100000">
                    <a:srgbClr val="0E2557"/>
                  </a:gs>
                </a:gsLst>
                <a:lin scaled="0"/>
              </a:gradFill>
              <a:effectLst>
                <a:outerShdw blurRad="38100" dist="25400" dir="5400000" algn="ctr" rotWithShape="0">
                  <a:srgbClr val="6E747A">
                    <a:alpha val="43000"/>
                  </a:srgbClr>
                </a:outerShdw>
              </a:effectLst>
              <a:latin typeface="Arial" panose="020B0604020202020204" pitchFamily="34" charset="0"/>
            </a:endParaRPr>
          </a:p>
        </p:txBody>
      </p:sp>
      <p:sp>
        <p:nvSpPr>
          <p:cNvPr id="109603" name="圆角矩形标注 109602"/>
          <p:cNvSpPr/>
          <p:nvPr/>
        </p:nvSpPr>
        <p:spPr>
          <a:xfrm>
            <a:off x="6654800" y="1516380"/>
            <a:ext cx="2179320" cy="533400"/>
          </a:xfrm>
          <a:prstGeom prst="wedgeRoundRectCallout">
            <a:avLst>
              <a:gd name="adj1" fmla="val -46882"/>
              <a:gd name="adj2" fmla="val 130476"/>
              <a:gd name="adj3" fmla="val 16667"/>
            </a:avLst>
          </a:prstGeom>
          <a:solidFill>
            <a:schemeClr val="bg1"/>
          </a:solidFill>
          <a:ln w="9525" cap="flat" cmpd="sng">
            <a:solidFill>
              <a:srgbClr val="FF0000"/>
            </a:solidFill>
            <a:prstDash val="solid"/>
            <a:miter/>
            <a:headEnd type="none" w="med" len="med"/>
            <a:tailEnd type="none" w="med" len="med"/>
          </a:ln>
        </p:spPr>
        <p:txBody>
          <a:bodyPr/>
          <a:p>
            <a:pPr eaLnBrk="0" hangingPunct="0"/>
            <a:r>
              <a:rPr lang="zh-CN" altLang="en-US" sz="2400" b="1" dirty="0">
                <a:gradFill>
                  <a:gsLst>
                    <a:gs pos="0">
                      <a:srgbClr val="012D86"/>
                    </a:gs>
                    <a:gs pos="100000">
                      <a:srgbClr val="0E2557"/>
                    </a:gs>
                  </a:gsLst>
                  <a:lin scaled="0"/>
                </a:gradFill>
                <a:latin typeface="Arial" panose="020B0604020202020204" pitchFamily="34" charset="0"/>
              </a:rPr>
              <a:t>输出逻辑变量</a:t>
            </a:r>
            <a:endParaRPr lang="zh-CN" altLang="en-US" sz="2400" b="1" dirty="0">
              <a:gradFill>
                <a:gsLst>
                  <a:gs pos="0">
                    <a:srgbClr val="012D86"/>
                  </a:gs>
                  <a:gs pos="100000">
                    <a:srgbClr val="0E2557"/>
                  </a:gs>
                </a:gsLst>
                <a:lin scaled="0"/>
              </a:gradFill>
              <a:latin typeface="Arial" panose="020B0604020202020204" pitchFamily="34" charset="0"/>
            </a:endParaRPr>
          </a:p>
        </p:txBody>
      </p:sp>
      <p:sp>
        <p:nvSpPr>
          <p:cNvPr id="109604" name="圆角矩形标注 109603"/>
          <p:cNvSpPr/>
          <p:nvPr/>
        </p:nvSpPr>
        <p:spPr>
          <a:xfrm>
            <a:off x="6711315" y="5353050"/>
            <a:ext cx="1676400" cy="533400"/>
          </a:xfrm>
          <a:prstGeom prst="wedgeRoundRectCallout">
            <a:avLst>
              <a:gd name="adj1" fmla="val -103863"/>
              <a:gd name="adj2" fmla="val -117499"/>
              <a:gd name="adj3" fmla="val 16667"/>
            </a:avLst>
          </a:prstGeom>
          <a:solidFill>
            <a:schemeClr val="bg1"/>
          </a:solidFill>
          <a:ln w="9525" cap="flat" cmpd="sng">
            <a:solidFill>
              <a:srgbClr val="FF0000"/>
            </a:solidFill>
            <a:prstDash val="solid"/>
            <a:miter/>
            <a:headEnd type="none" w="med" len="med"/>
            <a:tailEnd type="none" w="med" len="med"/>
          </a:ln>
        </p:spPr>
        <p:txBody>
          <a:bodyPr/>
          <a:p>
            <a:pPr eaLnBrk="0" hangingPunct="0"/>
            <a:r>
              <a:rPr lang="zh-CN" altLang="en-US" sz="2400" b="1" dirty="0">
                <a:gradFill>
                  <a:gsLst>
                    <a:gs pos="0">
                      <a:srgbClr val="012D86"/>
                    </a:gs>
                    <a:gs pos="100000">
                      <a:srgbClr val="0E2557"/>
                    </a:gs>
                  </a:gsLst>
                  <a:lin scaled="0"/>
                </a:gradFill>
                <a:latin typeface="Arial" panose="020B0604020202020204" pitchFamily="34" charset="0"/>
              </a:rPr>
              <a:t>激励变量</a:t>
            </a:r>
            <a:endParaRPr lang="zh-CN" altLang="en-US" sz="2400" b="1" dirty="0">
              <a:gradFill>
                <a:gsLst>
                  <a:gs pos="0">
                    <a:srgbClr val="012D86"/>
                  </a:gs>
                  <a:gs pos="100000">
                    <a:srgbClr val="0E2557"/>
                  </a:gs>
                </a:gsLst>
                <a:lin scaled="0"/>
              </a:gradFill>
              <a:latin typeface="Arial" panose="020B0604020202020204" pitchFamily="34" charset="0"/>
            </a:endParaRPr>
          </a:p>
        </p:txBody>
      </p:sp>
      <p:sp>
        <p:nvSpPr>
          <p:cNvPr id="109605" name="圆角矩形标注 109604"/>
          <p:cNvSpPr/>
          <p:nvPr/>
        </p:nvSpPr>
        <p:spPr>
          <a:xfrm>
            <a:off x="820738" y="5283835"/>
            <a:ext cx="1600200" cy="533400"/>
          </a:xfrm>
          <a:prstGeom prst="wedgeRoundRectCallout">
            <a:avLst>
              <a:gd name="adj1" fmla="val 115099"/>
              <a:gd name="adj2" fmla="val -107380"/>
              <a:gd name="adj3" fmla="val 16667"/>
            </a:avLst>
          </a:prstGeom>
          <a:solidFill>
            <a:schemeClr val="bg1"/>
          </a:solidFill>
          <a:ln w="9525" cap="flat" cmpd="sng">
            <a:solidFill>
              <a:srgbClr val="FF0000"/>
            </a:solidFill>
            <a:prstDash val="solid"/>
            <a:miter/>
            <a:headEnd type="none" w="med" len="med"/>
            <a:tailEnd type="none" w="med" len="med"/>
          </a:ln>
        </p:spPr>
        <p:txBody>
          <a:bodyPr/>
          <a:p>
            <a:pPr eaLnBrk="0" hangingPunct="0"/>
            <a:r>
              <a:rPr lang="zh-CN" altLang="en-US" sz="2400" b="1" dirty="0">
                <a:gradFill>
                  <a:gsLst>
                    <a:gs pos="0">
                      <a:srgbClr val="012D86"/>
                    </a:gs>
                    <a:gs pos="100000">
                      <a:srgbClr val="0E2557"/>
                    </a:gs>
                  </a:gsLst>
                  <a:lin scaled="0"/>
                </a:gradFill>
                <a:latin typeface="Arial" panose="020B0604020202020204" pitchFamily="34" charset="0"/>
              </a:rPr>
              <a:t>状态变量</a:t>
            </a:r>
            <a:endParaRPr lang="zh-CN" altLang="en-US" sz="2400" b="1" dirty="0">
              <a:gradFill>
                <a:gsLst>
                  <a:gs pos="0">
                    <a:srgbClr val="012D86"/>
                  </a:gs>
                  <a:gs pos="100000">
                    <a:srgbClr val="0E2557"/>
                  </a:gs>
                </a:gsLst>
                <a:lin scaled="0"/>
              </a:gra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8" fill="hold" grpId="0" nodeType="clickEffect">
                                  <p:stCondLst>
                                    <p:cond delay="0"/>
                                  </p:stCondLst>
                                  <p:childTnLst>
                                    <p:set>
                                      <p:cBhvr>
                                        <p:cTn id="6" dur="1" fill="hold">
                                          <p:stCondLst>
                                            <p:cond delay="0"/>
                                          </p:stCondLst>
                                        </p:cTn>
                                        <p:tgtEl>
                                          <p:spTgt spid="109602"/>
                                        </p:tgtEl>
                                        <p:attrNameLst>
                                          <p:attrName>style.visibility</p:attrName>
                                        </p:attrNameLst>
                                      </p:cBhvr>
                                      <p:to>
                                        <p:strVal val="visible"/>
                                      </p:to>
                                    </p:set>
                                    <p:anim calcmode="lin" valueType="num">
                                      <p:cBhvr additive="base">
                                        <p:cTn id="7" dur="1000" fill="hold"/>
                                        <p:tgtEl>
                                          <p:spTgt spid="109602"/>
                                        </p:tgtEl>
                                        <p:attrNameLst>
                                          <p:attrName>ppt_x</p:attrName>
                                        </p:attrNameLst>
                                      </p:cBhvr>
                                      <p:tavLst>
                                        <p:tav tm="0">
                                          <p:val>
                                            <p:strVal val="0-#ppt_w/2"/>
                                          </p:val>
                                        </p:tav>
                                        <p:tav tm="100000">
                                          <p:val>
                                            <p:strVal val="#ppt_x"/>
                                          </p:val>
                                        </p:tav>
                                      </p:tavLst>
                                    </p:anim>
                                    <p:anim calcmode="lin" valueType="num">
                                      <p:cBhvr additive="base">
                                        <p:cTn id="8" dur="1000" fill="hold"/>
                                        <p:tgtEl>
                                          <p:spTgt spid="109602"/>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09602"/>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7" presetClass="entr" presetSubtype="1" fill="hold" grpId="0" nodeType="clickEffect">
                                  <p:stCondLst>
                                    <p:cond delay="0"/>
                                  </p:stCondLst>
                                  <p:childTnLst>
                                    <p:set>
                                      <p:cBhvr>
                                        <p:cTn id="12" dur="1" fill="hold">
                                          <p:stCondLst>
                                            <p:cond delay="0"/>
                                          </p:stCondLst>
                                        </p:cTn>
                                        <p:tgtEl>
                                          <p:spTgt spid="109603"/>
                                        </p:tgtEl>
                                        <p:attrNameLst>
                                          <p:attrName>style.visibility</p:attrName>
                                        </p:attrNameLst>
                                      </p:cBhvr>
                                      <p:to>
                                        <p:strVal val="visible"/>
                                      </p:to>
                                    </p:set>
                                    <p:anim calcmode="lin" valueType="num">
                                      <p:cBhvr additive="base">
                                        <p:cTn id="13" dur="1000" fill="hold"/>
                                        <p:tgtEl>
                                          <p:spTgt spid="109603"/>
                                        </p:tgtEl>
                                        <p:attrNameLst>
                                          <p:attrName>ppt_x</p:attrName>
                                        </p:attrNameLst>
                                      </p:cBhvr>
                                      <p:tavLst>
                                        <p:tav tm="0">
                                          <p:val>
                                            <p:strVal val="#ppt_x"/>
                                          </p:val>
                                        </p:tav>
                                        <p:tav tm="100000">
                                          <p:val>
                                            <p:strVal val="#ppt_x"/>
                                          </p:val>
                                        </p:tav>
                                      </p:tavLst>
                                    </p:anim>
                                    <p:anim calcmode="lin" valueType="num">
                                      <p:cBhvr additive="base">
                                        <p:cTn id="14" dur="1000" fill="hold"/>
                                        <p:tgtEl>
                                          <p:spTgt spid="109603"/>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109603"/>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7" presetClass="entr" presetSubtype="2" fill="hold" grpId="0" nodeType="clickEffect">
                                  <p:stCondLst>
                                    <p:cond delay="0"/>
                                  </p:stCondLst>
                                  <p:childTnLst>
                                    <p:set>
                                      <p:cBhvr>
                                        <p:cTn id="18" dur="1" fill="hold">
                                          <p:stCondLst>
                                            <p:cond delay="0"/>
                                          </p:stCondLst>
                                        </p:cTn>
                                        <p:tgtEl>
                                          <p:spTgt spid="109604"/>
                                        </p:tgtEl>
                                        <p:attrNameLst>
                                          <p:attrName>style.visibility</p:attrName>
                                        </p:attrNameLst>
                                      </p:cBhvr>
                                      <p:to>
                                        <p:strVal val="visible"/>
                                      </p:to>
                                    </p:set>
                                    <p:anim calcmode="lin" valueType="num">
                                      <p:cBhvr additive="base">
                                        <p:cTn id="19" dur="1000" fill="hold"/>
                                        <p:tgtEl>
                                          <p:spTgt spid="109604"/>
                                        </p:tgtEl>
                                        <p:attrNameLst>
                                          <p:attrName>ppt_x</p:attrName>
                                        </p:attrNameLst>
                                      </p:cBhvr>
                                      <p:tavLst>
                                        <p:tav tm="0">
                                          <p:val>
                                            <p:strVal val="1+#ppt_w/2"/>
                                          </p:val>
                                        </p:tav>
                                        <p:tav tm="100000">
                                          <p:val>
                                            <p:strVal val="#ppt_x"/>
                                          </p:val>
                                        </p:tav>
                                      </p:tavLst>
                                    </p:anim>
                                    <p:anim calcmode="lin" valueType="num">
                                      <p:cBhvr additive="base">
                                        <p:cTn id="20" dur="1000" fill="hold"/>
                                        <p:tgtEl>
                                          <p:spTgt spid="109604"/>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09604"/>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7" presetClass="entr" presetSubtype="4" fill="hold" grpId="0" nodeType="clickEffect">
                                  <p:stCondLst>
                                    <p:cond delay="0"/>
                                  </p:stCondLst>
                                  <p:childTnLst>
                                    <p:set>
                                      <p:cBhvr>
                                        <p:cTn id="24" dur="1" fill="hold">
                                          <p:stCondLst>
                                            <p:cond delay="0"/>
                                          </p:stCondLst>
                                        </p:cTn>
                                        <p:tgtEl>
                                          <p:spTgt spid="109605"/>
                                        </p:tgtEl>
                                        <p:attrNameLst>
                                          <p:attrName>style.visibility</p:attrName>
                                        </p:attrNameLst>
                                      </p:cBhvr>
                                      <p:to>
                                        <p:strVal val="visible"/>
                                      </p:to>
                                    </p:set>
                                    <p:anim calcmode="lin" valueType="num">
                                      <p:cBhvr additive="base">
                                        <p:cTn id="25" dur="1000" fill="hold"/>
                                        <p:tgtEl>
                                          <p:spTgt spid="109605"/>
                                        </p:tgtEl>
                                        <p:attrNameLst>
                                          <p:attrName>ppt_x</p:attrName>
                                        </p:attrNameLst>
                                      </p:cBhvr>
                                      <p:tavLst>
                                        <p:tav tm="0">
                                          <p:val>
                                            <p:strVal val="#ppt_x"/>
                                          </p:val>
                                        </p:tav>
                                        <p:tav tm="100000">
                                          <p:val>
                                            <p:strVal val="#ppt_x"/>
                                          </p:val>
                                        </p:tav>
                                      </p:tavLst>
                                    </p:anim>
                                    <p:anim calcmode="lin" valueType="num">
                                      <p:cBhvr additive="base">
                                        <p:cTn id="26" dur="1000" fill="hold"/>
                                        <p:tgtEl>
                                          <p:spTgt spid="109605"/>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0960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602" grpId="0" bldLvl="0" animBg="1"/>
      <p:bldP spid="109603" grpId="0" bldLvl="0" animBg="1"/>
      <p:bldP spid="109604" grpId="0" bldLvl="0" animBg="1"/>
      <p:bldP spid="109605"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294765" y="49847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6.1 </a:t>
            </a:r>
            <a:r>
              <a:rPr lang="en-US" altLang="zh-CN" b="1" dirty="0">
                <a:solidFill>
                  <a:srgbClr val="FF0000"/>
                </a:solidFill>
                <a:latin typeface="黑体" panose="02010609060101010101" pitchFamily="49" charset="-122"/>
                <a:ea typeface="黑体" panose="02010609060101010101" pitchFamily="49" charset="-122"/>
                <a:sym typeface="+mn-ea"/>
              </a:rPr>
              <a:t>时序逻辑电路的基本概念</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0601" name="文本框 110600">
            <a:hlinkClick r:id="rId1" action="ppaction://hlinksldjump"/>
          </p:cNvPr>
          <p:cNvSpPr txBox="1"/>
          <p:nvPr/>
        </p:nvSpPr>
        <p:spPr>
          <a:xfrm>
            <a:off x="1123950" y="1303338"/>
            <a:ext cx="1605280" cy="521970"/>
          </a:xfrm>
          <a:prstGeom prst="rect">
            <a:avLst/>
          </a:prstGeom>
          <a:noFill/>
          <a:ln w="9525">
            <a:noFill/>
          </a:ln>
        </p:spPr>
        <p:txBody>
          <a:bodyPr wrap="none">
            <a:spAutoFit/>
          </a:bodyPr>
          <a:p>
            <a:pPr marR="0" defTabSz="914400">
              <a:buClrTx/>
              <a:buSzTx/>
              <a:defRPr/>
            </a:pPr>
            <a:r>
              <a:rPr kumimoji="0" lang="zh-CN" altLang="en-US" sz="2800"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rPr>
              <a:t>逻辑方程</a:t>
            </a:r>
            <a:endParaRPr kumimoji="0" lang="zh-CN" altLang="en-US" sz="2800" kern="1200" cap="none" spc="0" normalizeH="0" baseline="0" noProof="1">
              <a:solidFill>
                <a:srgbClr val="FF3300"/>
              </a:solidFill>
              <a:effectLst>
                <a:outerShdw blurRad="38100" dist="38100" dir="2700000">
                  <a:srgbClr val="000000"/>
                </a:outerShdw>
              </a:effectLst>
              <a:latin typeface="Arial" panose="020B0604020202020204" pitchFamily="34" charset="0"/>
              <a:ea typeface="宋体" panose="02010600030101010101" pitchFamily="2" charset="-122"/>
              <a:cs typeface="+mn-cs"/>
            </a:endParaRPr>
          </a:p>
        </p:txBody>
      </p:sp>
      <p:sp>
        <p:nvSpPr>
          <p:cNvPr id="110594" name="文本框 110593"/>
          <p:cNvSpPr txBox="1"/>
          <p:nvPr/>
        </p:nvSpPr>
        <p:spPr>
          <a:xfrm>
            <a:off x="1021080" y="2193925"/>
            <a:ext cx="2251075" cy="460375"/>
          </a:xfrm>
          <a:prstGeom prst="rect">
            <a:avLst/>
          </a:prstGeom>
          <a:noFill/>
          <a:ln w="9525">
            <a:noFill/>
          </a:ln>
        </p:spPr>
        <p:txBody>
          <a:bodyPr>
            <a:spAutoFit/>
          </a:bodyPr>
          <a:p>
            <a:pPr marR="0" defTabSz="914400">
              <a:buClr>
                <a:schemeClr val="bg1"/>
              </a:buClr>
              <a:buSzTx/>
              <a:defRPr/>
            </a:pPr>
            <a:r>
              <a:rPr kumimoji="0" lang="zh-CN" altLang="en-US" sz="2400" b="1"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Times New Roman" panose="02020603050405020304" charset="0"/>
                <a:ea typeface="宋体" panose="02010600030101010101" pitchFamily="2" charset="-122"/>
                <a:cs typeface="+mn-cs"/>
              </a:rPr>
              <a:t>输出方程：</a:t>
            </a:r>
            <a:endParaRPr kumimoji="0" lang="zh-CN" altLang="en-US" sz="2400" b="1"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Times New Roman" panose="02020603050405020304" charset="0"/>
              <a:ea typeface="宋体" panose="02010600030101010101" pitchFamily="2" charset="-122"/>
              <a:cs typeface="+mn-cs"/>
            </a:endParaRPr>
          </a:p>
        </p:txBody>
      </p:sp>
      <p:sp>
        <p:nvSpPr>
          <p:cNvPr id="110595" name="文本框 110594"/>
          <p:cNvSpPr txBox="1"/>
          <p:nvPr/>
        </p:nvSpPr>
        <p:spPr>
          <a:xfrm>
            <a:off x="2645410" y="2197100"/>
            <a:ext cx="1865630" cy="460375"/>
          </a:xfrm>
          <a:prstGeom prst="rect">
            <a:avLst/>
          </a:prstGeom>
          <a:noFill/>
          <a:ln w="9525">
            <a:noFill/>
          </a:ln>
        </p:spPr>
        <p:txBody>
          <a:bodyPr wrap="none">
            <a:spAutoFit/>
          </a:bodyPr>
          <a:p>
            <a:r>
              <a:rPr lang="en-US" altLang="zh-CN" sz="2400" b="1" i="1" dirty="0">
                <a:latin typeface="Times New Roman" panose="02020603050405020304" charset="0"/>
              </a:rPr>
              <a:t>Y</a:t>
            </a:r>
            <a:r>
              <a:rPr lang="en-US" altLang="zh-CN" sz="2400" b="1" dirty="0">
                <a:latin typeface="Times New Roman" panose="02020603050405020304" charset="0"/>
              </a:rPr>
              <a:t>= </a:t>
            </a:r>
            <a:r>
              <a:rPr lang="en-US" altLang="zh-CN" sz="2400" b="1" i="1" dirty="0">
                <a:latin typeface="Times New Roman" panose="02020603050405020304" charset="0"/>
              </a:rPr>
              <a:t>F</a:t>
            </a:r>
            <a:r>
              <a:rPr lang="en-US" altLang="zh-CN" sz="2400" b="1" dirty="0">
                <a:latin typeface="Times New Roman" panose="02020603050405020304" charset="0"/>
              </a:rPr>
              <a:t>(</a:t>
            </a:r>
            <a:r>
              <a:rPr lang="en-US" altLang="zh-CN" sz="2400" b="1" i="1" dirty="0">
                <a:latin typeface="Times New Roman" panose="02020603050405020304" charset="0"/>
              </a:rPr>
              <a:t>X</a:t>
            </a:r>
            <a:r>
              <a:rPr lang="zh-CN" altLang="en-US" sz="2400" b="1" dirty="0">
                <a:latin typeface="Times New Roman" panose="02020603050405020304" charset="0"/>
              </a:rPr>
              <a:t>，</a:t>
            </a:r>
            <a:r>
              <a:rPr lang="en-US" altLang="zh-CN" sz="2400" b="1" i="1" dirty="0">
                <a:latin typeface="Times New Roman" panose="02020603050405020304" charset="0"/>
              </a:rPr>
              <a:t>Q</a:t>
            </a:r>
            <a:r>
              <a:rPr lang="en-US" altLang="zh-CN" sz="2400" b="1" i="1" baseline="30000" dirty="0">
                <a:latin typeface="Times New Roman" panose="02020603050405020304" charset="0"/>
              </a:rPr>
              <a:t>n</a:t>
            </a:r>
            <a:r>
              <a:rPr lang="en-US" altLang="zh-CN" sz="2400" b="1" dirty="0">
                <a:latin typeface="Times New Roman" panose="02020603050405020304" charset="0"/>
              </a:rPr>
              <a:t>)</a:t>
            </a:r>
            <a:endParaRPr lang="en-US" altLang="zh-CN" sz="2400" b="1" dirty="0">
              <a:latin typeface="Times New Roman" panose="02020603050405020304" charset="0"/>
            </a:endParaRPr>
          </a:p>
        </p:txBody>
      </p:sp>
      <p:sp>
        <p:nvSpPr>
          <p:cNvPr id="110596" name="文本框 110595"/>
          <p:cNvSpPr txBox="1"/>
          <p:nvPr/>
        </p:nvSpPr>
        <p:spPr>
          <a:xfrm>
            <a:off x="1021080" y="3755390"/>
            <a:ext cx="2903538" cy="460375"/>
          </a:xfrm>
          <a:prstGeom prst="rect">
            <a:avLst/>
          </a:prstGeom>
          <a:noFill/>
          <a:ln w="9525">
            <a:noFill/>
          </a:ln>
        </p:spPr>
        <p:txBody>
          <a:bodyPr>
            <a:spAutoFit/>
          </a:bodyPr>
          <a:p>
            <a:pPr marR="0" defTabSz="914400">
              <a:buClr>
                <a:schemeClr val="bg1"/>
              </a:buClr>
              <a:buSzTx/>
              <a:defRPr/>
            </a:pPr>
            <a:r>
              <a:rPr kumimoji="0" lang="zh-CN" altLang="en-US" sz="2400" b="1"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Times New Roman" panose="02020603050405020304" charset="0"/>
                <a:ea typeface="宋体" panose="02010600030101010101" pitchFamily="2" charset="-122"/>
                <a:cs typeface="+mn-cs"/>
              </a:rPr>
              <a:t>状态方程：</a:t>
            </a:r>
            <a:endParaRPr kumimoji="0" lang="zh-CN" altLang="en-US" sz="2400" b="1"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Times New Roman" panose="02020603050405020304" charset="0"/>
              <a:ea typeface="宋体" panose="02010600030101010101" pitchFamily="2" charset="-122"/>
              <a:cs typeface="+mn-cs"/>
            </a:endParaRPr>
          </a:p>
        </p:txBody>
      </p:sp>
      <p:sp>
        <p:nvSpPr>
          <p:cNvPr id="110597" name="文本框 110596"/>
          <p:cNvSpPr txBox="1"/>
          <p:nvPr/>
        </p:nvSpPr>
        <p:spPr>
          <a:xfrm>
            <a:off x="2711450" y="3755073"/>
            <a:ext cx="2222500" cy="460375"/>
          </a:xfrm>
          <a:prstGeom prst="rect">
            <a:avLst/>
          </a:prstGeom>
          <a:noFill/>
          <a:ln w="9525">
            <a:noFill/>
          </a:ln>
        </p:spPr>
        <p:txBody>
          <a:bodyPr wrap="none">
            <a:spAutoFit/>
          </a:bodyPr>
          <a:p>
            <a:r>
              <a:rPr lang="en-US" altLang="zh-CN" sz="2400" b="1" i="1" dirty="0">
                <a:solidFill>
                  <a:srgbClr val="FF3300"/>
                </a:solidFill>
                <a:latin typeface="Times New Roman" panose="02020603050405020304" charset="0"/>
              </a:rPr>
              <a:t>Q</a:t>
            </a:r>
            <a:r>
              <a:rPr lang="en-US" altLang="zh-CN" sz="2400" b="1" i="1" baseline="30000" dirty="0">
                <a:solidFill>
                  <a:srgbClr val="FF3300"/>
                </a:solidFill>
                <a:latin typeface="Times New Roman" panose="02020603050405020304" charset="0"/>
              </a:rPr>
              <a:t>n</a:t>
            </a:r>
            <a:r>
              <a:rPr lang="en-US" altLang="zh-CN" sz="2400" b="1" baseline="30000" dirty="0">
                <a:solidFill>
                  <a:srgbClr val="FF3300"/>
                </a:solidFill>
                <a:latin typeface="Times New Roman" panose="02020603050405020304" charset="0"/>
              </a:rPr>
              <a:t>+1</a:t>
            </a:r>
            <a:r>
              <a:rPr lang="en-US" altLang="zh-CN" sz="2400" b="1" dirty="0">
                <a:solidFill>
                  <a:schemeClr val="accent2"/>
                </a:solidFill>
                <a:latin typeface="Times New Roman" panose="02020603050405020304" charset="0"/>
              </a:rPr>
              <a:t>=</a:t>
            </a:r>
            <a:r>
              <a:rPr lang="en-US" altLang="zh-CN" sz="2400" b="1" dirty="0">
                <a:latin typeface="Times New Roman" panose="02020603050405020304" charset="0"/>
              </a:rPr>
              <a:t> </a:t>
            </a:r>
            <a:r>
              <a:rPr lang="en-US" altLang="zh-CN" sz="2400" b="1" i="1" dirty="0">
                <a:latin typeface="Times New Roman" panose="02020603050405020304" charset="0"/>
              </a:rPr>
              <a:t>G</a:t>
            </a:r>
            <a:r>
              <a:rPr lang="en-US" altLang="zh-CN" sz="2400" b="1" dirty="0">
                <a:latin typeface="Times New Roman" panose="02020603050405020304" charset="0"/>
              </a:rPr>
              <a:t>(</a:t>
            </a:r>
            <a:r>
              <a:rPr lang="en-US" altLang="zh-CN" sz="2400" b="1" i="1" dirty="0">
                <a:latin typeface="Times New Roman" panose="02020603050405020304" charset="0"/>
              </a:rPr>
              <a:t>Z</a:t>
            </a:r>
            <a:r>
              <a:rPr lang="zh-CN" altLang="en-US" sz="2400" b="1" dirty="0">
                <a:latin typeface="Times New Roman" panose="02020603050405020304" charset="0"/>
              </a:rPr>
              <a:t>，</a:t>
            </a:r>
            <a:r>
              <a:rPr lang="en-US" altLang="zh-CN" sz="2400" b="1" i="1" dirty="0">
                <a:solidFill>
                  <a:srgbClr val="FF3300"/>
                </a:solidFill>
                <a:latin typeface="Times New Roman" panose="02020603050405020304" charset="0"/>
              </a:rPr>
              <a:t>Q</a:t>
            </a:r>
            <a:r>
              <a:rPr lang="en-US" altLang="zh-CN" sz="2400" b="1" i="1" baseline="30000" dirty="0">
                <a:solidFill>
                  <a:srgbClr val="FF3300"/>
                </a:solidFill>
                <a:latin typeface="Times New Roman" panose="02020603050405020304" charset="0"/>
              </a:rPr>
              <a:t>n</a:t>
            </a:r>
            <a:r>
              <a:rPr lang="en-US" altLang="zh-CN" sz="2400" b="1" dirty="0">
                <a:solidFill>
                  <a:schemeClr val="accent2"/>
                </a:solidFill>
                <a:latin typeface="Times New Roman" panose="02020603050405020304" charset="0"/>
              </a:rPr>
              <a:t>)</a:t>
            </a:r>
            <a:endParaRPr lang="en-US" altLang="zh-CN" sz="2400" b="1" dirty="0">
              <a:latin typeface="Times New Roman" panose="02020603050405020304" charset="0"/>
            </a:endParaRPr>
          </a:p>
        </p:txBody>
      </p:sp>
      <p:sp>
        <p:nvSpPr>
          <p:cNvPr id="110598" name="文本框 110597"/>
          <p:cNvSpPr txBox="1"/>
          <p:nvPr/>
        </p:nvSpPr>
        <p:spPr>
          <a:xfrm>
            <a:off x="1021080" y="2993708"/>
            <a:ext cx="1508760" cy="460375"/>
          </a:xfrm>
          <a:prstGeom prst="rect">
            <a:avLst/>
          </a:prstGeom>
          <a:noFill/>
          <a:ln w="9525">
            <a:noFill/>
          </a:ln>
        </p:spPr>
        <p:txBody>
          <a:bodyPr wrap="none">
            <a:spAutoFit/>
          </a:bodyPr>
          <a:p>
            <a:pPr marR="0" defTabSz="914400">
              <a:buClr>
                <a:schemeClr val="bg1"/>
              </a:buClr>
              <a:buSzTx/>
              <a:defRPr/>
            </a:pPr>
            <a:r>
              <a:rPr kumimoji="0" lang="zh-CN" altLang="en-US" sz="2400" b="1"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Times New Roman" panose="02020603050405020304" charset="0"/>
                <a:ea typeface="宋体" panose="02010600030101010101" pitchFamily="2" charset="-122"/>
                <a:cs typeface="+mn-cs"/>
              </a:rPr>
              <a:t>激励方程</a:t>
            </a:r>
            <a:r>
              <a:rPr kumimoji="0" lang="en-US" altLang="zh-CN" sz="2400" b="1"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Times New Roman" panose="02020603050405020304" charset="0"/>
                <a:ea typeface="宋体" panose="02010600030101010101" pitchFamily="2" charset="-122"/>
                <a:cs typeface="+mn-cs"/>
              </a:rPr>
              <a:t>:</a:t>
            </a:r>
            <a:endParaRPr kumimoji="0" lang="en-US" altLang="zh-CN" sz="2400" b="1" kern="1200" cap="none" spc="0" normalizeH="0" baseline="0" noProof="1">
              <a:gradFill>
                <a:gsLst>
                  <a:gs pos="0">
                    <a:srgbClr val="012D86"/>
                  </a:gs>
                  <a:gs pos="100000">
                    <a:srgbClr val="0E2557"/>
                  </a:gs>
                </a:gsLst>
                <a:lin scaled="0"/>
              </a:gradFill>
              <a:effectLst>
                <a:outerShdw blurRad="38100" dist="38100" dir="2700000">
                  <a:srgbClr val="000000"/>
                </a:outerShdw>
              </a:effectLst>
              <a:latin typeface="Times New Roman" panose="02020603050405020304" charset="0"/>
              <a:ea typeface="宋体" panose="02010600030101010101" pitchFamily="2" charset="-122"/>
              <a:cs typeface="+mn-cs"/>
            </a:endParaRPr>
          </a:p>
        </p:txBody>
      </p:sp>
      <p:sp>
        <p:nvSpPr>
          <p:cNvPr id="110599" name="文本框 110598"/>
          <p:cNvSpPr txBox="1"/>
          <p:nvPr/>
        </p:nvSpPr>
        <p:spPr>
          <a:xfrm>
            <a:off x="2645093" y="2993708"/>
            <a:ext cx="2256155" cy="460375"/>
          </a:xfrm>
          <a:prstGeom prst="rect">
            <a:avLst/>
          </a:prstGeom>
          <a:noFill/>
          <a:ln w="9525">
            <a:noFill/>
          </a:ln>
        </p:spPr>
        <p:txBody>
          <a:bodyPr wrap="none">
            <a:spAutoFit/>
          </a:bodyPr>
          <a:p>
            <a:r>
              <a:rPr lang="en-US" altLang="zh-CN" sz="2400" b="1" i="1" dirty="0">
                <a:latin typeface="Times New Roman" panose="02020603050405020304" charset="0"/>
              </a:rPr>
              <a:t>Z</a:t>
            </a:r>
            <a:r>
              <a:rPr lang="en-US" altLang="zh-CN" sz="2400" b="1" dirty="0">
                <a:latin typeface="Times New Roman" panose="02020603050405020304" charset="0"/>
              </a:rPr>
              <a:t>  = </a:t>
            </a:r>
            <a:r>
              <a:rPr lang="en-US" altLang="zh-CN" sz="2400" b="1" i="1" dirty="0">
                <a:latin typeface="Times New Roman" panose="02020603050405020304" charset="0"/>
              </a:rPr>
              <a:t>H</a:t>
            </a:r>
            <a:r>
              <a:rPr lang="en-US" altLang="zh-CN" sz="2400" b="1" dirty="0">
                <a:latin typeface="Times New Roman" panose="02020603050405020304" charset="0"/>
              </a:rPr>
              <a:t>(</a:t>
            </a:r>
            <a:r>
              <a:rPr lang="en-US" altLang="zh-CN" sz="2400" b="1" i="1" dirty="0">
                <a:latin typeface="Times New Roman" panose="02020603050405020304" charset="0"/>
              </a:rPr>
              <a:t>X</a:t>
            </a:r>
            <a:r>
              <a:rPr lang="zh-CN" altLang="en-US" sz="2400" b="1" dirty="0">
                <a:latin typeface="Times New Roman" panose="02020603050405020304" charset="0"/>
              </a:rPr>
              <a:t>，</a:t>
            </a:r>
            <a:r>
              <a:rPr lang="en-US" altLang="zh-CN" sz="2400" b="1" i="1" dirty="0">
                <a:latin typeface="Times New Roman" panose="02020603050405020304" charset="0"/>
              </a:rPr>
              <a:t>Q</a:t>
            </a:r>
            <a:r>
              <a:rPr lang="en-US" altLang="zh-CN" sz="2400" b="1" i="1" baseline="30000" dirty="0">
                <a:latin typeface="Times New Roman" panose="02020603050405020304" charset="0"/>
              </a:rPr>
              <a:t>n</a:t>
            </a:r>
            <a:r>
              <a:rPr lang="zh-CN" altLang="en-US" sz="2400" b="1" dirty="0">
                <a:latin typeface="Times New Roman" panose="02020603050405020304" charset="0"/>
              </a:rPr>
              <a:t>）</a:t>
            </a:r>
            <a:endParaRPr lang="zh-CN" altLang="en-US" sz="2400" b="1" dirty="0">
              <a:latin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594"/>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500"/>
                                  </p:stCondLst>
                                  <p:childTnLst>
                                    <p:set>
                                      <p:cBhvr>
                                        <p:cTn id="9" dur="1" fill="hold">
                                          <p:stCondLst>
                                            <p:cond delay="0"/>
                                          </p:stCondLst>
                                        </p:cTn>
                                        <p:tgtEl>
                                          <p:spTgt spid="110595"/>
                                        </p:tgtEl>
                                        <p:attrNameLst>
                                          <p:attrName>style.visibility</p:attrName>
                                        </p:attrNameLst>
                                      </p:cBhvr>
                                      <p:to>
                                        <p:strVal val="visible"/>
                                      </p:to>
                                    </p:set>
                                    <p:animEffect transition="in" filter="wipe(left)">
                                      <p:cBhvr>
                                        <p:cTn id="10" dur="500"/>
                                        <p:tgtEl>
                                          <p:spTgt spid="11059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0598"/>
                                        </p:tgtEl>
                                        <p:attrNameLst>
                                          <p:attrName>style.visibility</p:attrName>
                                        </p:attrNameLst>
                                      </p:cBhvr>
                                      <p:to>
                                        <p:strVal val="visible"/>
                                      </p:to>
                                    </p:set>
                                  </p:childTnLst>
                                </p:cTn>
                              </p:par>
                            </p:childTnLst>
                          </p:cTn>
                        </p:par>
                        <p:par>
                          <p:cTn id="15" fill="hold">
                            <p:stCondLst>
                              <p:cond delay="0"/>
                            </p:stCondLst>
                            <p:childTnLst>
                              <p:par>
                                <p:cTn id="16" presetID="22" presetClass="entr" presetSubtype="8" fill="hold" grpId="0" nodeType="afterEffect">
                                  <p:stCondLst>
                                    <p:cond delay="500"/>
                                  </p:stCondLst>
                                  <p:childTnLst>
                                    <p:set>
                                      <p:cBhvr>
                                        <p:cTn id="17" dur="1" fill="hold">
                                          <p:stCondLst>
                                            <p:cond delay="0"/>
                                          </p:stCondLst>
                                        </p:cTn>
                                        <p:tgtEl>
                                          <p:spTgt spid="110599"/>
                                        </p:tgtEl>
                                        <p:attrNameLst>
                                          <p:attrName>style.visibility</p:attrName>
                                        </p:attrNameLst>
                                      </p:cBhvr>
                                      <p:to>
                                        <p:strVal val="visible"/>
                                      </p:to>
                                    </p:set>
                                    <p:animEffect transition="in" filter="wipe(left)">
                                      <p:cBhvr>
                                        <p:cTn id="18" dur="500"/>
                                        <p:tgtEl>
                                          <p:spTgt spid="110599"/>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0596"/>
                                        </p:tgtEl>
                                        <p:attrNameLst>
                                          <p:attrName>style.visibility</p:attrName>
                                        </p:attrNameLst>
                                      </p:cBhvr>
                                      <p:to>
                                        <p:strVal val="visible"/>
                                      </p:to>
                                    </p:set>
                                  </p:childTnLst>
                                </p:cTn>
                              </p:par>
                            </p:childTnLst>
                          </p:cTn>
                        </p:par>
                        <p:par>
                          <p:cTn id="23" fill="hold">
                            <p:stCondLst>
                              <p:cond delay="0"/>
                            </p:stCondLst>
                            <p:childTnLst>
                              <p:par>
                                <p:cTn id="24" presetID="22" presetClass="entr" presetSubtype="8" fill="hold" grpId="0" nodeType="afterEffect">
                                  <p:stCondLst>
                                    <p:cond delay="500"/>
                                  </p:stCondLst>
                                  <p:childTnLst>
                                    <p:set>
                                      <p:cBhvr>
                                        <p:cTn id="25" dur="1" fill="hold">
                                          <p:stCondLst>
                                            <p:cond delay="0"/>
                                          </p:stCondLst>
                                        </p:cTn>
                                        <p:tgtEl>
                                          <p:spTgt spid="110597"/>
                                        </p:tgtEl>
                                        <p:attrNameLst>
                                          <p:attrName>style.visibility</p:attrName>
                                        </p:attrNameLst>
                                      </p:cBhvr>
                                      <p:to>
                                        <p:strVal val="visible"/>
                                      </p:to>
                                    </p:set>
                                    <p:animEffect transition="in" filter="wipe(left)">
                                      <p:cBhvr>
                                        <p:cTn id="26" dur="500"/>
                                        <p:tgtEl>
                                          <p:spTgt spid="1105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4" grpId="0"/>
      <p:bldP spid="110595" grpId="0"/>
      <p:bldP spid="110596" grpId="0"/>
      <p:bldP spid="110597" grpId="0"/>
      <p:bldP spid="110598" grpId="0"/>
      <p:bldP spid="11059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294765" y="49847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6.1 </a:t>
            </a:r>
            <a:r>
              <a:rPr lang="en-US" altLang="zh-CN" b="1" dirty="0">
                <a:solidFill>
                  <a:srgbClr val="FF0000"/>
                </a:solidFill>
                <a:latin typeface="黑体" panose="02010609060101010101" pitchFamily="49" charset="-122"/>
                <a:ea typeface="黑体" panose="02010609060101010101" pitchFamily="49" charset="-122"/>
                <a:sym typeface="+mn-ea"/>
              </a:rPr>
              <a:t>时序逻辑电路的基本概念</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762000" y="1066800"/>
            <a:ext cx="5532755" cy="868045"/>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6</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1</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2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时序逻辑电路的分类</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111619" name="文本框 111618"/>
          <p:cNvSpPr txBox="1"/>
          <p:nvPr/>
        </p:nvSpPr>
        <p:spPr>
          <a:xfrm>
            <a:off x="828675" y="1995488"/>
            <a:ext cx="5186680" cy="460375"/>
          </a:xfrm>
          <a:prstGeom prst="rect">
            <a:avLst/>
          </a:prstGeom>
          <a:noFill/>
          <a:ln w="9525">
            <a:noFill/>
          </a:ln>
        </p:spPr>
        <p:txBody>
          <a:bodyPr wrap="none">
            <a:spAutoFit/>
          </a:bodyPr>
          <a:p>
            <a:r>
              <a:rPr lang="en-US" altLang="zh-CN" sz="2400" b="1" dirty="0">
                <a:gradFill>
                  <a:gsLst>
                    <a:gs pos="0">
                      <a:srgbClr val="012D86"/>
                    </a:gs>
                    <a:gs pos="100000">
                      <a:srgbClr val="0E2557"/>
                    </a:gs>
                  </a:gsLst>
                  <a:lin scaled="0"/>
                </a:gradFill>
                <a:latin typeface="Times New Roman" panose="02020603050405020304" charset="0"/>
              </a:rPr>
              <a:t>1. </a:t>
            </a:r>
            <a:r>
              <a:rPr lang="zh-CN" altLang="en-US" sz="2400" b="1" dirty="0">
                <a:gradFill>
                  <a:gsLst>
                    <a:gs pos="0">
                      <a:srgbClr val="012D86"/>
                    </a:gs>
                    <a:gs pos="100000">
                      <a:srgbClr val="0E2557"/>
                    </a:gs>
                  </a:gsLst>
                  <a:lin scaled="0"/>
                </a:gradFill>
                <a:latin typeface="Times New Roman" panose="02020603050405020304" charset="0"/>
              </a:rPr>
              <a:t>输出</a:t>
            </a:r>
            <a:r>
              <a:rPr lang="en-US" altLang="zh-CN" sz="2400" b="1" i="1" dirty="0">
                <a:gradFill>
                  <a:gsLst>
                    <a:gs pos="0">
                      <a:srgbClr val="012D86"/>
                    </a:gs>
                    <a:gs pos="100000">
                      <a:srgbClr val="0E2557"/>
                    </a:gs>
                  </a:gsLst>
                  <a:lin scaled="0"/>
                </a:gradFill>
                <a:latin typeface="Times New Roman" panose="02020603050405020304" charset="0"/>
              </a:rPr>
              <a:t>Y</a:t>
            </a:r>
            <a:r>
              <a:rPr lang="zh-CN" altLang="en-US" sz="2400" b="1" dirty="0">
                <a:gradFill>
                  <a:gsLst>
                    <a:gs pos="0">
                      <a:srgbClr val="012D86"/>
                    </a:gs>
                    <a:gs pos="100000">
                      <a:srgbClr val="0E2557"/>
                    </a:gs>
                  </a:gsLst>
                  <a:lin scaled="0"/>
                </a:gradFill>
                <a:latin typeface="Times New Roman" panose="02020603050405020304" charset="0"/>
              </a:rPr>
              <a:t>与原态</a:t>
            </a:r>
            <a:r>
              <a:rPr lang="en-US" altLang="zh-CN" sz="2400" b="1" i="1" dirty="0">
                <a:gradFill>
                  <a:gsLst>
                    <a:gs pos="0">
                      <a:srgbClr val="012D86"/>
                    </a:gs>
                    <a:gs pos="100000">
                      <a:srgbClr val="0E2557"/>
                    </a:gs>
                  </a:gsLst>
                  <a:lin scaled="0"/>
                </a:gradFill>
                <a:latin typeface="Times New Roman" panose="02020603050405020304" charset="0"/>
              </a:rPr>
              <a:t>Q</a:t>
            </a:r>
            <a:r>
              <a:rPr lang="en-US" altLang="zh-CN" sz="2400" b="1" i="1" baseline="30000" dirty="0">
                <a:gradFill>
                  <a:gsLst>
                    <a:gs pos="0">
                      <a:srgbClr val="012D86"/>
                    </a:gs>
                    <a:gs pos="100000">
                      <a:srgbClr val="0E2557"/>
                    </a:gs>
                  </a:gsLst>
                  <a:lin scaled="0"/>
                </a:gradFill>
                <a:latin typeface="Times New Roman" panose="02020603050405020304" charset="0"/>
              </a:rPr>
              <a:t>n</a:t>
            </a:r>
            <a:r>
              <a:rPr lang="zh-CN" altLang="en-US" sz="2400" b="1" dirty="0">
                <a:gradFill>
                  <a:gsLst>
                    <a:gs pos="0">
                      <a:srgbClr val="012D86"/>
                    </a:gs>
                    <a:gs pos="100000">
                      <a:srgbClr val="0E2557"/>
                    </a:gs>
                  </a:gsLst>
                  <a:lin scaled="0"/>
                </a:gradFill>
                <a:latin typeface="Times New Roman" panose="02020603050405020304" charset="0"/>
              </a:rPr>
              <a:t>及输入</a:t>
            </a:r>
            <a:r>
              <a:rPr lang="en-US" altLang="zh-CN" sz="2400" b="1" i="1" dirty="0">
                <a:gradFill>
                  <a:gsLst>
                    <a:gs pos="0">
                      <a:srgbClr val="012D86"/>
                    </a:gs>
                    <a:gs pos="100000">
                      <a:srgbClr val="0E2557"/>
                    </a:gs>
                  </a:gsLst>
                  <a:lin scaled="0"/>
                </a:gradFill>
                <a:latin typeface="Times New Roman" panose="02020603050405020304" charset="0"/>
              </a:rPr>
              <a:t>X</a:t>
            </a:r>
            <a:r>
              <a:rPr lang="zh-CN" altLang="en-US" sz="2400" b="1" dirty="0">
                <a:gradFill>
                  <a:gsLst>
                    <a:gs pos="0">
                      <a:srgbClr val="012D86"/>
                    </a:gs>
                    <a:gs pos="100000">
                      <a:srgbClr val="0E2557"/>
                    </a:gs>
                  </a:gsLst>
                  <a:lin scaled="0"/>
                </a:gradFill>
                <a:latin typeface="Times New Roman" panose="02020603050405020304" charset="0"/>
              </a:rPr>
              <a:t>的关系分：</a:t>
            </a:r>
            <a:endParaRPr lang="zh-CN" altLang="en-US" sz="2400" b="1" dirty="0">
              <a:gradFill>
                <a:gsLst>
                  <a:gs pos="0">
                    <a:srgbClr val="012D86"/>
                  </a:gs>
                  <a:gs pos="100000">
                    <a:srgbClr val="0E2557"/>
                  </a:gs>
                </a:gsLst>
                <a:lin scaled="0"/>
              </a:gradFill>
              <a:latin typeface="Times New Roman" panose="02020603050405020304" charset="0"/>
            </a:endParaRPr>
          </a:p>
        </p:txBody>
      </p:sp>
      <p:sp>
        <p:nvSpPr>
          <p:cNvPr id="111620" name="文本框 111619"/>
          <p:cNvSpPr txBox="1"/>
          <p:nvPr/>
        </p:nvSpPr>
        <p:spPr>
          <a:xfrm>
            <a:off x="1333500" y="2741613"/>
            <a:ext cx="718185" cy="460375"/>
          </a:xfrm>
          <a:prstGeom prst="rect">
            <a:avLst/>
          </a:prstGeom>
          <a:noFill/>
          <a:ln w="9525">
            <a:noFill/>
          </a:ln>
        </p:spPr>
        <p:txBody>
          <a:bodyPr wrap="none">
            <a:spAutoFit/>
          </a:bodyPr>
          <a:p>
            <a:r>
              <a:rPr lang="en-US" altLang="zh-CN" sz="2400" b="1" i="1" dirty="0">
                <a:gradFill>
                  <a:gsLst>
                    <a:gs pos="0">
                      <a:srgbClr val="012D86"/>
                    </a:gs>
                    <a:gs pos="100000">
                      <a:srgbClr val="0E2557"/>
                    </a:gs>
                  </a:gsLst>
                  <a:lin scaled="0"/>
                </a:gradFill>
                <a:latin typeface="Times New Roman" panose="02020603050405020304" charset="0"/>
              </a:rPr>
              <a:t>Y</a:t>
            </a:r>
            <a:r>
              <a:rPr lang="en-US" altLang="zh-CN" sz="2400" b="1" dirty="0">
                <a:gradFill>
                  <a:gsLst>
                    <a:gs pos="0">
                      <a:srgbClr val="012D86"/>
                    </a:gs>
                    <a:gs pos="100000">
                      <a:srgbClr val="0E2557"/>
                    </a:gs>
                  </a:gsLst>
                  <a:lin scaled="0"/>
                </a:gradFill>
                <a:latin typeface="Times New Roman" panose="02020603050405020304" charset="0"/>
              </a:rPr>
              <a:t>  =</a:t>
            </a:r>
            <a:endParaRPr lang="en-US" altLang="zh-CN" sz="2400" b="1" dirty="0">
              <a:gradFill>
                <a:gsLst>
                  <a:gs pos="0">
                    <a:srgbClr val="012D86"/>
                  </a:gs>
                  <a:gs pos="100000">
                    <a:srgbClr val="0E2557"/>
                  </a:gs>
                </a:gsLst>
                <a:lin scaled="0"/>
              </a:gradFill>
              <a:latin typeface="Times New Roman" panose="02020603050405020304" charset="0"/>
            </a:endParaRPr>
          </a:p>
        </p:txBody>
      </p:sp>
      <p:sp>
        <p:nvSpPr>
          <p:cNvPr id="111621" name="左大括号 111620"/>
          <p:cNvSpPr/>
          <p:nvPr/>
        </p:nvSpPr>
        <p:spPr>
          <a:xfrm>
            <a:off x="2216150" y="2640013"/>
            <a:ext cx="76200" cy="762000"/>
          </a:xfrm>
          <a:prstGeom prst="leftBrace">
            <a:avLst>
              <a:gd name="adj1" fmla="val 83240"/>
              <a:gd name="adj2" fmla="val 50000"/>
            </a:avLst>
          </a:prstGeom>
          <a:noFill/>
          <a:ln w="38100" cap="flat" cmpd="sng">
            <a:solidFill>
              <a:srgbClr val="002060"/>
            </a:solidFill>
            <a:prstDash val="solid"/>
            <a:headEnd type="none" w="med" len="med"/>
            <a:tailEnd type="none" w="med" len="med"/>
          </a:ln>
        </p:spPr>
        <p:txBody>
          <a:bodyPr/>
          <a:p>
            <a:endParaRPr lang="zh-CN" altLang="en-US" b="1" dirty="0">
              <a:gradFill>
                <a:gsLst>
                  <a:gs pos="0">
                    <a:srgbClr val="012D86"/>
                  </a:gs>
                  <a:gs pos="100000">
                    <a:srgbClr val="0E2557"/>
                  </a:gs>
                </a:gsLst>
                <a:lin scaled="0"/>
              </a:gradFill>
              <a:latin typeface="Arial" panose="020B0604020202020204" pitchFamily="34" charset="0"/>
            </a:endParaRPr>
          </a:p>
        </p:txBody>
      </p:sp>
      <p:sp>
        <p:nvSpPr>
          <p:cNvPr id="111622" name="文本框 111621"/>
          <p:cNvSpPr txBox="1"/>
          <p:nvPr/>
        </p:nvSpPr>
        <p:spPr>
          <a:xfrm>
            <a:off x="2292350" y="2487613"/>
            <a:ext cx="919480" cy="460375"/>
          </a:xfrm>
          <a:prstGeom prst="rect">
            <a:avLst/>
          </a:prstGeom>
          <a:noFill/>
          <a:ln w="9525">
            <a:noFill/>
          </a:ln>
        </p:spPr>
        <p:txBody>
          <a:bodyPr wrap="none">
            <a:spAutoFit/>
          </a:bodyPr>
          <a:p>
            <a:r>
              <a:rPr lang="en-US" altLang="zh-CN" sz="2400" b="1" i="1" dirty="0">
                <a:gradFill>
                  <a:gsLst>
                    <a:gs pos="0">
                      <a:srgbClr val="012D86"/>
                    </a:gs>
                    <a:gs pos="100000">
                      <a:srgbClr val="0E2557"/>
                    </a:gs>
                  </a:gsLst>
                  <a:lin scaled="0"/>
                </a:gradFill>
                <a:latin typeface="Times New Roman" panose="02020603050405020304" charset="0"/>
              </a:rPr>
              <a:t>F</a:t>
            </a:r>
            <a:r>
              <a:rPr lang="en-US" altLang="zh-CN" sz="2400" b="1" dirty="0">
                <a:gradFill>
                  <a:gsLst>
                    <a:gs pos="0">
                      <a:srgbClr val="012D86"/>
                    </a:gs>
                    <a:gs pos="100000">
                      <a:srgbClr val="0E2557"/>
                    </a:gs>
                  </a:gsLst>
                  <a:lin scaled="0"/>
                </a:gradFill>
                <a:latin typeface="Times New Roman" panose="02020603050405020304" charset="0"/>
              </a:rPr>
              <a:t>(</a:t>
            </a:r>
            <a:r>
              <a:rPr lang="en-US" altLang="zh-CN" sz="2400" b="1" i="1" dirty="0">
                <a:gradFill>
                  <a:gsLst>
                    <a:gs pos="0">
                      <a:srgbClr val="012D86"/>
                    </a:gs>
                    <a:gs pos="100000">
                      <a:srgbClr val="0E2557"/>
                    </a:gs>
                  </a:gsLst>
                  <a:lin scaled="0"/>
                </a:gradFill>
                <a:latin typeface="Times New Roman" panose="02020603050405020304" charset="0"/>
              </a:rPr>
              <a:t>Q</a:t>
            </a:r>
            <a:r>
              <a:rPr lang="en-US" altLang="zh-CN" sz="2400" b="1" i="1" baseline="30000" dirty="0">
                <a:gradFill>
                  <a:gsLst>
                    <a:gs pos="0">
                      <a:srgbClr val="012D86"/>
                    </a:gs>
                    <a:gs pos="100000">
                      <a:srgbClr val="0E2557"/>
                    </a:gs>
                  </a:gsLst>
                  <a:lin scaled="0"/>
                </a:gradFill>
                <a:latin typeface="Times New Roman" panose="02020603050405020304" charset="0"/>
              </a:rPr>
              <a:t>n</a:t>
            </a:r>
            <a:r>
              <a:rPr lang="en-US" altLang="zh-CN" sz="2400" b="1" dirty="0">
                <a:gradFill>
                  <a:gsLst>
                    <a:gs pos="0">
                      <a:srgbClr val="012D86"/>
                    </a:gs>
                    <a:gs pos="100000">
                      <a:srgbClr val="0E2557"/>
                    </a:gs>
                  </a:gsLst>
                  <a:lin scaled="0"/>
                </a:gradFill>
                <a:latin typeface="Times New Roman" panose="02020603050405020304" charset="0"/>
              </a:rPr>
              <a:t>)</a:t>
            </a:r>
            <a:endParaRPr lang="en-US" altLang="zh-CN" sz="2400" b="1" dirty="0">
              <a:gradFill>
                <a:gsLst>
                  <a:gs pos="0">
                    <a:srgbClr val="012D86"/>
                  </a:gs>
                  <a:gs pos="100000">
                    <a:srgbClr val="0E2557"/>
                  </a:gs>
                </a:gsLst>
                <a:lin scaled="0"/>
              </a:gradFill>
              <a:latin typeface="Times New Roman" panose="02020603050405020304" charset="0"/>
            </a:endParaRPr>
          </a:p>
        </p:txBody>
      </p:sp>
      <p:sp>
        <p:nvSpPr>
          <p:cNvPr id="111623" name="直接连接符 111622"/>
          <p:cNvSpPr/>
          <p:nvPr/>
        </p:nvSpPr>
        <p:spPr>
          <a:xfrm>
            <a:off x="4425950" y="2716213"/>
            <a:ext cx="457200" cy="0"/>
          </a:xfrm>
          <a:prstGeom prst="line">
            <a:avLst/>
          </a:prstGeom>
          <a:ln w="76200" cap="flat" cmpd="sng">
            <a:solidFill>
              <a:srgbClr val="FF0000"/>
            </a:solidFill>
            <a:prstDash val="solid"/>
            <a:headEnd type="none" w="med" len="med"/>
            <a:tailEnd type="triangle" w="med" len="med"/>
          </a:ln>
        </p:spPr>
      </p:sp>
      <p:sp>
        <p:nvSpPr>
          <p:cNvPr id="111624" name="文本框 111623"/>
          <p:cNvSpPr txBox="1"/>
          <p:nvPr/>
        </p:nvSpPr>
        <p:spPr>
          <a:xfrm>
            <a:off x="4959350" y="2487613"/>
            <a:ext cx="3182620" cy="460375"/>
          </a:xfrm>
          <a:prstGeom prst="rect">
            <a:avLst/>
          </a:prstGeom>
          <a:noFill/>
          <a:ln w="9525">
            <a:noFill/>
          </a:ln>
        </p:spPr>
        <p:txBody>
          <a:bodyPr wrap="none">
            <a:spAutoFit/>
          </a:bodyPr>
          <a:p>
            <a:r>
              <a:rPr lang="zh-CN" altLang="en-US" sz="2400" b="1" dirty="0">
                <a:gradFill>
                  <a:gsLst>
                    <a:gs pos="0">
                      <a:srgbClr val="012D86"/>
                    </a:gs>
                    <a:gs pos="100000">
                      <a:srgbClr val="0E2557"/>
                    </a:gs>
                  </a:gsLst>
                  <a:lin scaled="0"/>
                </a:gradFill>
                <a:latin typeface="Times New Roman" panose="02020603050405020304" charset="0"/>
              </a:rPr>
              <a:t>穆尔型（</a:t>
            </a:r>
            <a:r>
              <a:rPr lang="en-US" altLang="zh-CN" sz="2400" b="1" dirty="0">
                <a:gradFill>
                  <a:gsLst>
                    <a:gs pos="0">
                      <a:srgbClr val="012D86"/>
                    </a:gs>
                    <a:gs pos="100000">
                      <a:srgbClr val="0E2557"/>
                    </a:gs>
                  </a:gsLst>
                  <a:lin scaled="0"/>
                </a:gradFill>
                <a:latin typeface="Times New Roman" panose="02020603050405020304" charset="0"/>
              </a:rPr>
              <a:t>Moore</a:t>
            </a:r>
            <a:r>
              <a:rPr lang="zh-CN" altLang="en-US" sz="2400" b="1" dirty="0">
                <a:gradFill>
                  <a:gsLst>
                    <a:gs pos="0">
                      <a:srgbClr val="012D86"/>
                    </a:gs>
                    <a:gs pos="100000">
                      <a:srgbClr val="0E2557"/>
                    </a:gs>
                  </a:gsLst>
                  <a:lin scaled="0"/>
                </a:gradFill>
                <a:latin typeface="Times New Roman" panose="02020603050405020304" charset="0"/>
              </a:rPr>
              <a:t>）电路</a:t>
            </a:r>
            <a:endParaRPr lang="zh-CN" altLang="en-US" sz="2400" b="1" dirty="0">
              <a:gradFill>
                <a:gsLst>
                  <a:gs pos="0">
                    <a:srgbClr val="012D86"/>
                  </a:gs>
                  <a:gs pos="100000">
                    <a:srgbClr val="0E2557"/>
                  </a:gs>
                </a:gsLst>
                <a:lin scaled="0"/>
              </a:gradFill>
              <a:latin typeface="Times New Roman" panose="02020603050405020304" charset="0"/>
            </a:endParaRPr>
          </a:p>
        </p:txBody>
      </p:sp>
      <p:sp>
        <p:nvSpPr>
          <p:cNvPr id="111625" name="矩形 111624"/>
          <p:cNvSpPr/>
          <p:nvPr/>
        </p:nvSpPr>
        <p:spPr>
          <a:xfrm>
            <a:off x="2216150" y="3097213"/>
            <a:ext cx="1445895" cy="460375"/>
          </a:xfrm>
          <a:prstGeom prst="rect">
            <a:avLst/>
          </a:prstGeom>
          <a:noFill/>
          <a:ln w="9525">
            <a:noFill/>
          </a:ln>
        </p:spPr>
        <p:txBody>
          <a:bodyPr wrap="none">
            <a:spAutoFit/>
          </a:bodyPr>
          <a:p>
            <a:r>
              <a:rPr lang="en-US" altLang="zh-CN" sz="2400" b="1" i="1" dirty="0">
                <a:gradFill>
                  <a:gsLst>
                    <a:gs pos="0">
                      <a:srgbClr val="012D86"/>
                    </a:gs>
                    <a:gs pos="100000">
                      <a:srgbClr val="0E2557"/>
                    </a:gs>
                  </a:gsLst>
                  <a:lin scaled="0"/>
                </a:gradFill>
                <a:latin typeface="Times New Roman" panose="02020603050405020304" charset="0"/>
              </a:rPr>
              <a:t>F</a:t>
            </a:r>
            <a:r>
              <a:rPr lang="en-US" altLang="zh-CN" sz="2400" b="1" dirty="0">
                <a:gradFill>
                  <a:gsLst>
                    <a:gs pos="0">
                      <a:srgbClr val="012D86"/>
                    </a:gs>
                    <a:gs pos="100000">
                      <a:srgbClr val="0E2557"/>
                    </a:gs>
                  </a:gsLst>
                  <a:lin scaled="0"/>
                </a:gradFill>
                <a:latin typeface="Times New Roman" panose="02020603050405020304" charset="0"/>
              </a:rPr>
              <a:t>(</a:t>
            </a:r>
            <a:r>
              <a:rPr lang="en-US" altLang="zh-CN" sz="2400" b="1" i="1" dirty="0">
                <a:gradFill>
                  <a:gsLst>
                    <a:gs pos="0">
                      <a:srgbClr val="012D86"/>
                    </a:gs>
                    <a:gs pos="100000">
                      <a:srgbClr val="0E2557"/>
                    </a:gs>
                  </a:gsLst>
                  <a:lin scaled="0"/>
                </a:gradFill>
                <a:latin typeface="Times New Roman" panose="02020603050405020304" charset="0"/>
              </a:rPr>
              <a:t>X</a:t>
            </a:r>
            <a:r>
              <a:rPr lang="zh-CN" altLang="en-US" sz="2400" b="1" dirty="0">
                <a:gradFill>
                  <a:gsLst>
                    <a:gs pos="0">
                      <a:srgbClr val="012D86"/>
                    </a:gs>
                    <a:gs pos="100000">
                      <a:srgbClr val="0E2557"/>
                    </a:gs>
                  </a:gsLst>
                  <a:lin scaled="0"/>
                </a:gradFill>
                <a:latin typeface="Times New Roman" panose="02020603050405020304" charset="0"/>
              </a:rPr>
              <a:t>，</a:t>
            </a:r>
            <a:r>
              <a:rPr lang="en-US" altLang="zh-CN" sz="2400" b="1" i="1" dirty="0">
                <a:gradFill>
                  <a:gsLst>
                    <a:gs pos="0">
                      <a:srgbClr val="012D86"/>
                    </a:gs>
                    <a:gs pos="100000">
                      <a:srgbClr val="0E2557"/>
                    </a:gs>
                  </a:gsLst>
                  <a:lin scaled="0"/>
                </a:gradFill>
                <a:latin typeface="Times New Roman" panose="02020603050405020304" charset="0"/>
              </a:rPr>
              <a:t>Q</a:t>
            </a:r>
            <a:r>
              <a:rPr lang="en-US" altLang="zh-CN" sz="2400" b="1" i="1" baseline="30000" dirty="0">
                <a:gradFill>
                  <a:gsLst>
                    <a:gs pos="0">
                      <a:srgbClr val="012D86"/>
                    </a:gs>
                    <a:gs pos="100000">
                      <a:srgbClr val="0E2557"/>
                    </a:gs>
                  </a:gsLst>
                  <a:lin scaled="0"/>
                </a:gradFill>
                <a:latin typeface="Times New Roman" panose="02020603050405020304" charset="0"/>
              </a:rPr>
              <a:t>n</a:t>
            </a:r>
            <a:r>
              <a:rPr lang="en-US" altLang="zh-CN" sz="2400" b="1" dirty="0">
                <a:gradFill>
                  <a:gsLst>
                    <a:gs pos="0">
                      <a:srgbClr val="012D86"/>
                    </a:gs>
                    <a:gs pos="100000">
                      <a:srgbClr val="0E2557"/>
                    </a:gs>
                  </a:gsLst>
                  <a:lin scaled="0"/>
                </a:gradFill>
                <a:latin typeface="Times New Roman" panose="02020603050405020304" charset="0"/>
              </a:rPr>
              <a:t>)</a:t>
            </a:r>
            <a:endParaRPr lang="en-US" altLang="zh-CN" sz="2400" b="1" dirty="0">
              <a:gradFill>
                <a:gsLst>
                  <a:gs pos="0">
                    <a:srgbClr val="012D86"/>
                  </a:gs>
                  <a:gs pos="100000">
                    <a:srgbClr val="0E2557"/>
                  </a:gs>
                </a:gsLst>
                <a:lin scaled="0"/>
              </a:gradFill>
              <a:latin typeface="Times New Roman" panose="02020603050405020304" charset="0"/>
            </a:endParaRPr>
          </a:p>
        </p:txBody>
      </p:sp>
      <p:sp>
        <p:nvSpPr>
          <p:cNvPr id="111626" name="直接连接符 111625"/>
          <p:cNvSpPr/>
          <p:nvPr/>
        </p:nvSpPr>
        <p:spPr>
          <a:xfrm>
            <a:off x="4425950" y="3327083"/>
            <a:ext cx="457200" cy="0"/>
          </a:xfrm>
          <a:prstGeom prst="line">
            <a:avLst/>
          </a:prstGeom>
          <a:ln w="76200" cap="flat" cmpd="sng">
            <a:solidFill>
              <a:srgbClr val="FF0000"/>
            </a:solidFill>
            <a:prstDash val="solid"/>
            <a:headEnd type="none" w="med" len="med"/>
            <a:tailEnd type="triangle" w="med" len="med"/>
          </a:ln>
        </p:spPr>
      </p:sp>
      <p:sp>
        <p:nvSpPr>
          <p:cNvPr id="111627" name="文本框 111626"/>
          <p:cNvSpPr txBox="1"/>
          <p:nvPr/>
        </p:nvSpPr>
        <p:spPr>
          <a:xfrm>
            <a:off x="4959350" y="3096578"/>
            <a:ext cx="2525395" cy="460375"/>
          </a:xfrm>
          <a:prstGeom prst="rect">
            <a:avLst/>
          </a:prstGeom>
          <a:noFill/>
          <a:ln w="9525">
            <a:noFill/>
          </a:ln>
        </p:spPr>
        <p:txBody>
          <a:bodyPr wrap="none">
            <a:spAutoFit/>
          </a:bodyPr>
          <a:p>
            <a:r>
              <a:rPr lang="zh-CN" altLang="en-US" sz="2400" b="1" dirty="0">
                <a:gradFill>
                  <a:gsLst>
                    <a:gs pos="0">
                      <a:srgbClr val="012D86"/>
                    </a:gs>
                    <a:gs pos="100000">
                      <a:srgbClr val="0E2557"/>
                    </a:gs>
                  </a:gsLst>
                  <a:lin scaled="0"/>
                </a:gradFill>
                <a:latin typeface="Times New Roman" panose="02020603050405020304" charset="0"/>
              </a:rPr>
              <a:t>米莱型（</a:t>
            </a:r>
            <a:r>
              <a:rPr lang="en-US" altLang="zh-CN" sz="2400" b="1" dirty="0">
                <a:gradFill>
                  <a:gsLst>
                    <a:gs pos="0">
                      <a:srgbClr val="012D86"/>
                    </a:gs>
                    <a:gs pos="100000">
                      <a:srgbClr val="0E2557"/>
                    </a:gs>
                  </a:gsLst>
                  <a:lin scaled="0"/>
                </a:gradFill>
                <a:latin typeface="Times New Roman" panose="02020603050405020304" charset="0"/>
              </a:rPr>
              <a:t>Mealy</a:t>
            </a:r>
            <a:r>
              <a:rPr lang="zh-CN" altLang="en-US" sz="2400" b="1" dirty="0">
                <a:gradFill>
                  <a:gsLst>
                    <a:gs pos="0">
                      <a:srgbClr val="012D86"/>
                    </a:gs>
                    <a:gs pos="100000">
                      <a:srgbClr val="0E2557"/>
                    </a:gs>
                  </a:gsLst>
                  <a:lin scaled="0"/>
                </a:gradFill>
                <a:latin typeface="Times New Roman" panose="02020603050405020304" charset="0"/>
              </a:rPr>
              <a:t>）</a:t>
            </a:r>
            <a:endParaRPr lang="zh-CN" altLang="en-US" sz="2400" b="1" dirty="0">
              <a:gradFill>
                <a:gsLst>
                  <a:gs pos="0">
                    <a:srgbClr val="012D86"/>
                  </a:gs>
                  <a:gs pos="100000">
                    <a:srgbClr val="0E2557"/>
                  </a:gs>
                </a:gsLst>
                <a:lin scaled="0"/>
              </a:gradFill>
              <a:latin typeface="Times New Roman" panose="02020603050405020304" charset="0"/>
            </a:endParaRPr>
          </a:p>
        </p:txBody>
      </p:sp>
      <p:sp>
        <p:nvSpPr>
          <p:cNvPr id="111628" name="文本框 111627"/>
          <p:cNvSpPr txBox="1"/>
          <p:nvPr/>
        </p:nvSpPr>
        <p:spPr>
          <a:xfrm>
            <a:off x="844550" y="3595688"/>
            <a:ext cx="4772660" cy="460375"/>
          </a:xfrm>
          <a:prstGeom prst="rect">
            <a:avLst/>
          </a:prstGeom>
          <a:noFill/>
          <a:ln w="9525">
            <a:noFill/>
          </a:ln>
        </p:spPr>
        <p:txBody>
          <a:bodyPr wrap="none">
            <a:spAutoFit/>
          </a:bodyPr>
          <a:p>
            <a:r>
              <a:rPr lang="en-US" altLang="zh-CN" sz="2400" b="1" dirty="0">
                <a:gradFill>
                  <a:gsLst>
                    <a:gs pos="0">
                      <a:srgbClr val="012D86"/>
                    </a:gs>
                    <a:gs pos="100000">
                      <a:srgbClr val="0E2557"/>
                    </a:gs>
                  </a:gsLst>
                  <a:lin scaled="0"/>
                </a:gradFill>
                <a:latin typeface="Times New Roman" panose="02020603050405020304" charset="0"/>
              </a:rPr>
              <a:t>2. </a:t>
            </a:r>
            <a:r>
              <a:rPr lang="zh-CN" altLang="en-US" sz="2400" b="1" dirty="0">
                <a:gradFill>
                  <a:gsLst>
                    <a:gs pos="0">
                      <a:srgbClr val="012D86"/>
                    </a:gs>
                    <a:gs pos="100000">
                      <a:srgbClr val="0E2557"/>
                    </a:gs>
                  </a:gsLst>
                  <a:lin scaled="0"/>
                </a:gradFill>
                <a:latin typeface="Times New Roman" panose="02020603050405020304" charset="0"/>
              </a:rPr>
              <a:t>从控制时序状态的脉冲源来分：</a:t>
            </a:r>
            <a:endParaRPr lang="zh-CN" altLang="en-US" sz="2400" b="1" dirty="0">
              <a:gradFill>
                <a:gsLst>
                  <a:gs pos="0">
                    <a:srgbClr val="012D86"/>
                  </a:gs>
                  <a:gs pos="100000">
                    <a:srgbClr val="0E2557"/>
                  </a:gs>
                </a:gsLst>
                <a:lin scaled="0"/>
              </a:gradFill>
              <a:latin typeface="Times New Roman" panose="02020603050405020304" charset="0"/>
            </a:endParaRPr>
          </a:p>
        </p:txBody>
      </p:sp>
      <p:sp>
        <p:nvSpPr>
          <p:cNvPr id="111629" name="文本框 111628"/>
          <p:cNvSpPr txBox="1"/>
          <p:nvPr/>
        </p:nvSpPr>
        <p:spPr>
          <a:xfrm>
            <a:off x="692150" y="4621213"/>
            <a:ext cx="1865313" cy="521970"/>
          </a:xfrm>
          <a:prstGeom prst="rect">
            <a:avLst/>
          </a:prstGeom>
          <a:noFill/>
          <a:ln w="9525">
            <a:noFill/>
          </a:ln>
        </p:spPr>
        <p:txBody>
          <a:bodyPr>
            <a:spAutoFit/>
          </a:bodyPr>
          <a:p>
            <a:r>
              <a:rPr lang="zh-CN" altLang="en-US" sz="2800" b="1" dirty="0">
                <a:gradFill>
                  <a:gsLst>
                    <a:gs pos="0">
                      <a:srgbClr val="012D86"/>
                    </a:gs>
                    <a:gs pos="100000">
                      <a:srgbClr val="0E2557"/>
                    </a:gs>
                  </a:gsLst>
                  <a:lin scaled="0"/>
                </a:gradFill>
                <a:latin typeface="Times New Roman" panose="02020603050405020304" charset="0"/>
              </a:rPr>
              <a:t>时序电路</a:t>
            </a:r>
            <a:endParaRPr lang="zh-CN" altLang="en-US" sz="2800" b="1" dirty="0">
              <a:gradFill>
                <a:gsLst>
                  <a:gs pos="0">
                    <a:srgbClr val="012D86"/>
                  </a:gs>
                  <a:gs pos="100000">
                    <a:srgbClr val="0E2557"/>
                  </a:gs>
                </a:gsLst>
                <a:lin scaled="0"/>
              </a:gradFill>
              <a:latin typeface="Times New Roman" panose="02020603050405020304" charset="0"/>
            </a:endParaRPr>
          </a:p>
        </p:txBody>
      </p:sp>
      <p:sp>
        <p:nvSpPr>
          <p:cNvPr id="111630" name="左大括号 111629"/>
          <p:cNvSpPr/>
          <p:nvPr/>
        </p:nvSpPr>
        <p:spPr>
          <a:xfrm>
            <a:off x="2292350" y="4316413"/>
            <a:ext cx="76200" cy="1143000"/>
          </a:xfrm>
          <a:prstGeom prst="leftBrace">
            <a:avLst>
              <a:gd name="adj1" fmla="val 125000"/>
              <a:gd name="adj2" fmla="val 50000"/>
            </a:avLst>
          </a:prstGeom>
          <a:noFill/>
          <a:ln w="38100" cap="flat" cmpd="sng">
            <a:solidFill>
              <a:srgbClr val="002060"/>
            </a:solidFill>
            <a:prstDash val="solid"/>
            <a:headEnd type="none" w="med" len="med"/>
            <a:tailEnd type="none" w="med" len="med"/>
          </a:ln>
        </p:spPr>
        <p:txBody>
          <a:bodyPr/>
          <a:p>
            <a:endParaRPr lang="zh-CN" altLang="en-US" b="1" dirty="0">
              <a:gradFill>
                <a:gsLst>
                  <a:gs pos="0">
                    <a:srgbClr val="012D86"/>
                  </a:gs>
                  <a:gs pos="100000">
                    <a:srgbClr val="0E2557"/>
                  </a:gs>
                </a:gsLst>
                <a:lin scaled="0"/>
              </a:gradFill>
              <a:latin typeface="Arial" panose="020B0604020202020204" pitchFamily="34" charset="0"/>
            </a:endParaRPr>
          </a:p>
        </p:txBody>
      </p:sp>
      <p:sp>
        <p:nvSpPr>
          <p:cNvPr id="111631" name="文本框 111630"/>
          <p:cNvSpPr txBox="1"/>
          <p:nvPr/>
        </p:nvSpPr>
        <p:spPr>
          <a:xfrm>
            <a:off x="2341563" y="4110038"/>
            <a:ext cx="1101090" cy="460375"/>
          </a:xfrm>
          <a:prstGeom prst="rect">
            <a:avLst/>
          </a:prstGeom>
          <a:noFill/>
          <a:ln w="9525">
            <a:noFill/>
          </a:ln>
        </p:spPr>
        <p:txBody>
          <a:bodyPr wrap="none">
            <a:spAutoFit/>
          </a:bodyPr>
          <a:p>
            <a:r>
              <a:rPr lang="zh-CN" altLang="en-US" sz="2400" b="1" dirty="0">
                <a:gradFill>
                  <a:gsLst>
                    <a:gs pos="0">
                      <a:srgbClr val="012D86"/>
                    </a:gs>
                    <a:gs pos="100000">
                      <a:srgbClr val="0E2557"/>
                    </a:gs>
                  </a:gsLst>
                  <a:lin scaled="0"/>
                </a:gradFill>
                <a:latin typeface="Times New Roman" panose="02020603050405020304" charset="0"/>
              </a:rPr>
              <a:t>同步：</a:t>
            </a:r>
            <a:endParaRPr lang="zh-CN" altLang="en-US" sz="2400" b="1" dirty="0">
              <a:gradFill>
                <a:gsLst>
                  <a:gs pos="0">
                    <a:srgbClr val="012D86"/>
                  </a:gs>
                  <a:gs pos="100000">
                    <a:srgbClr val="0E2557"/>
                  </a:gs>
                </a:gsLst>
                <a:lin scaled="0"/>
              </a:gradFill>
              <a:latin typeface="Times New Roman" panose="02020603050405020304" charset="0"/>
            </a:endParaRPr>
          </a:p>
        </p:txBody>
      </p:sp>
      <p:sp>
        <p:nvSpPr>
          <p:cNvPr id="111632" name="文本框 111631"/>
          <p:cNvSpPr txBox="1"/>
          <p:nvPr/>
        </p:nvSpPr>
        <p:spPr>
          <a:xfrm>
            <a:off x="2292350" y="5078413"/>
            <a:ext cx="1201738" cy="460375"/>
          </a:xfrm>
          <a:prstGeom prst="rect">
            <a:avLst/>
          </a:prstGeom>
          <a:noFill/>
          <a:ln w="9525">
            <a:noFill/>
          </a:ln>
        </p:spPr>
        <p:txBody>
          <a:bodyPr>
            <a:spAutoFit/>
          </a:bodyPr>
          <a:p>
            <a:r>
              <a:rPr lang="zh-CN" altLang="en-US" sz="2400" b="1" dirty="0">
                <a:gradFill>
                  <a:gsLst>
                    <a:gs pos="0">
                      <a:srgbClr val="012D86"/>
                    </a:gs>
                    <a:gs pos="100000">
                      <a:srgbClr val="0E2557"/>
                    </a:gs>
                  </a:gsLst>
                  <a:lin scaled="0"/>
                </a:gradFill>
                <a:latin typeface="Times New Roman" panose="02020603050405020304" charset="0"/>
              </a:rPr>
              <a:t>异步：</a:t>
            </a:r>
            <a:endParaRPr lang="zh-CN" altLang="en-US" sz="2400" b="1" dirty="0">
              <a:gradFill>
                <a:gsLst>
                  <a:gs pos="0">
                    <a:srgbClr val="012D86"/>
                  </a:gs>
                  <a:gs pos="100000">
                    <a:srgbClr val="0E2557"/>
                  </a:gs>
                </a:gsLst>
                <a:lin scaled="0"/>
              </a:gradFill>
              <a:latin typeface="Times New Roman" panose="02020603050405020304" charset="0"/>
            </a:endParaRPr>
          </a:p>
        </p:txBody>
      </p:sp>
      <p:sp>
        <p:nvSpPr>
          <p:cNvPr id="111633" name="文本框 111632"/>
          <p:cNvSpPr txBox="1"/>
          <p:nvPr/>
        </p:nvSpPr>
        <p:spPr>
          <a:xfrm>
            <a:off x="3267075" y="4103688"/>
            <a:ext cx="5045075" cy="829945"/>
          </a:xfrm>
          <a:prstGeom prst="rect">
            <a:avLst/>
          </a:prstGeom>
          <a:noFill/>
          <a:ln w="9525">
            <a:noFill/>
          </a:ln>
        </p:spPr>
        <p:txBody>
          <a:bodyPr>
            <a:spAutoFit/>
          </a:bodyPr>
          <a:p>
            <a:r>
              <a:rPr lang="zh-CN" altLang="en-US" sz="2400" b="1" dirty="0">
                <a:gradFill>
                  <a:gsLst>
                    <a:gs pos="0">
                      <a:srgbClr val="012D86"/>
                    </a:gs>
                    <a:gs pos="100000">
                      <a:srgbClr val="0E2557"/>
                    </a:gs>
                  </a:gsLst>
                  <a:lin scaled="0"/>
                </a:gradFill>
                <a:latin typeface="Times New Roman" panose="02020603050405020304" charset="0"/>
              </a:rPr>
              <a:t>存储电路里所有触发器由一个统一的时钟脉冲控制</a:t>
            </a:r>
            <a:endParaRPr lang="zh-CN" altLang="en-US" sz="2400" b="1" dirty="0">
              <a:gradFill>
                <a:gsLst>
                  <a:gs pos="0">
                    <a:srgbClr val="012D86"/>
                  </a:gs>
                  <a:gs pos="100000">
                    <a:srgbClr val="0E2557"/>
                  </a:gs>
                </a:gsLst>
                <a:lin scaled="0"/>
              </a:gradFill>
              <a:latin typeface="Times New Roman" panose="02020603050405020304" charset="0"/>
            </a:endParaRPr>
          </a:p>
        </p:txBody>
      </p:sp>
      <p:sp>
        <p:nvSpPr>
          <p:cNvPr id="111634" name="文本框 111633"/>
          <p:cNvSpPr txBox="1"/>
          <p:nvPr/>
        </p:nvSpPr>
        <p:spPr>
          <a:xfrm>
            <a:off x="3190875" y="5078413"/>
            <a:ext cx="5386070" cy="460375"/>
          </a:xfrm>
          <a:prstGeom prst="rect">
            <a:avLst/>
          </a:prstGeom>
          <a:noFill/>
          <a:ln w="9525">
            <a:noFill/>
          </a:ln>
        </p:spPr>
        <p:txBody>
          <a:bodyPr wrap="none">
            <a:spAutoFit/>
          </a:bodyPr>
          <a:p>
            <a:r>
              <a:rPr lang="zh-CN" altLang="en-US" sz="2400" b="1" dirty="0">
                <a:gradFill>
                  <a:gsLst>
                    <a:gs pos="0">
                      <a:srgbClr val="012D86"/>
                    </a:gs>
                    <a:gs pos="100000">
                      <a:srgbClr val="0E2557"/>
                    </a:gs>
                  </a:gsLst>
                  <a:lin scaled="0"/>
                </a:gradFill>
                <a:latin typeface="Times New Roman" panose="02020603050405020304" charset="0"/>
              </a:rPr>
              <a:t>触发器的状态不是在同一时刻发生变化</a:t>
            </a:r>
            <a:endParaRPr lang="zh-CN" altLang="en-US" sz="2400" b="1" dirty="0">
              <a:gradFill>
                <a:gsLst>
                  <a:gs pos="0">
                    <a:srgbClr val="012D86"/>
                  </a:gs>
                  <a:gs pos="100000">
                    <a:srgbClr val="0E2557"/>
                  </a:gs>
                </a:gsLst>
                <a:lin scaled="0"/>
              </a:gradFill>
              <a:latin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1619"/>
                                        </p:tgtEl>
                                        <p:attrNameLst>
                                          <p:attrName>style.visibility</p:attrName>
                                        </p:attrNameLst>
                                      </p:cBhvr>
                                      <p:to>
                                        <p:strVal val="visible"/>
                                      </p:to>
                                    </p:set>
                                    <p:animEffect transition="in" filter="wipe(left)">
                                      <p:cBhvr>
                                        <p:cTn id="7" dur="500"/>
                                        <p:tgtEl>
                                          <p:spTgt spid="1116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11620"/>
                                        </p:tgtEl>
                                        <p:attrNameLst>
                                          <p:attrName>style.visibility</p:attrName>
                                        </p:attrNameLst>
                                      </p:cBhvr>
                                      <p:to>
                                        <p:strVal val="visible"/>
                                      </p:to>
                                    </p:set>
                                    <p:animEffect transition="in" filter="wipe(left)">
                                      <p:cBhvr>
                                        <p:cTn id="12" dur="300"/>
                                        <p:tgtEl>
                                          <p:spTgt spid="111620"/>
                                        </p:tgtEl>
                                      </p:cBhvr>
                                    </p:animEffect>
                                  </p:childTnLst>
                                </p:cTn>
                              </p:par>
                            </p:childTnLst>
                          </p:cTn>
                        </p:par>
                        <p:par>
                          <p:cTn id="13" fill="hold">
                            <p:stCondLst>
                              <p:cond delay="1200"/>
                            </p:stCondLst>
                            <p:childTnLst>
                              <p:par>
                                <p:cTn id="14" presetID="22" presetClass="entr" presetSubtype="8" fill="hold" nodeType="afterEffect">
                                  <p:stCondLst>
                                    <p:cond delay="0"/>
                                  </p:stCondLst>
                                  <p:childTnLst>
                                    <p:set>
                                      <p:cBhvr>
                                        <p:cTn id="15" dur="1" fill="hold">
                                          <p:stCondLst>
                                            <p:cond delay="0"/>
                                          </p:stCondLst>
                                        </p:cTn>
                                        <p:tgtEl>
                                          <p:spTgt spid="111621"/>
                                        </p:tgtEl>
                                        <p:attrNameLst>
                                          <p:attrName>style.visibility</p:attrName>
                                        </p:attrNameLst>
                                      </p:cBhvr>
                                      <p:to>
                                        <p:strVal val="visible"/>
                                      </p:to>
                                    </p:set>
                                    <p:animEffect transition="in" filter="wipe(left)">
                                      <p:cBhvr>
                                        <p:cTn id="16" dur="500"/>
                                        <p:tgtEl>
                                          <p:spTgt spid="111621"/>
                                        </p:tgtEl>
                                      </p:cBhvr>
                                    </p:animEffect>
                                  </p:childTnLst>
                                </p:cTn>
                              </p:par>
                            </p:childTnLst>
                          </p:cTn>
                        </p:par>
                        <p:par>
                          <p:cTn id="17" fill="hold">
                            <p:stCondLst>
                              <p:cond delay="1700"/>
                            </p:stCondLst>
                            <p:childTnLst>
                              <p:par>
                                <p:cTn id="18" presetID="22" presetClass="entr" presetSubtype="8" fill="hold" grpId="0" nodeType="afterEffect">
                                  <p:stCondLst>
                                    <p:cond delay="1000"/>
                                  </p:stCondLst>
                                  <p:iterate type="wd">
                                    <p:tmPct val="100000"/>
                                  </p:iterate>
                                  <p:childTnLst>
                                    <p:set>
                                      <p:cBhvr>
                                        <p:cTn id="19" dur="1" fill="hold">
                                          <p:stCondLst>
                                            <p:cond delay="0"/>
                                          </p:stCondLst>
                                        </p:cTn>
                                        <p:tgtEl>
                                          <p:spTgt spid="111622"/>
                                        </p:tgtEl>
                                        <p:attrNameLst>
                                          <p:attrName>style.visibility</p:attrName>
                                        </p:attrNameLst>
                                      </p:cBhvr>
                                      <p:to>
                                        <p:strVal val="visible"/>
                                      </p:to>
                                    </p:set>
                                    <p:animEffect transition="in" filter="wipe(left)">
                                      <p:cBhvr>
                                        <p:cTn id="20" dur="300"/>
                                        <p:tgtEl>
                                          <p:spTgt spid="111622"/>
                                        </p:tgtEl>
                                      </p:cBhvr>
                                    </p:animEffect>
                                  </p:childTnLst>
                                </p:cTn>
                              </p:par>
                            </p:childTnLst>
                          </p:cTn>
                        </p:par>
                        <p:par>
                          <p:cTn id="21" fill="hold">
                            <p:stCondLst>
                              <p:cond delay="4199"/>
                            </p:stCondLst>
                            <p:childTnLst>
                              <p:par>
                                <p:cTn id="22" presetID="22" presetClass="entr" presetSubtype="8" fill="hold" nodeType="afterEffect">
                                  <p:stCondLst>
                                    <p:cond delay="500"/>
                                  </p:stCondLst>
                                  <p:childTnLst>
                                    <p:set>
                                      <p:cBhvr>
                                        <p:cTn id="23" dur="1" fill="hold">
                                          <p:stCondLst>
                                            <p:cond delay="0"/>
                                          </p:stCondLst>
                                        </p:cTn>
                                        <p:tgtEl>
                                          <p:spTgt spid="111623"/>
                                        </p:tgtEl>
                                        <p:attrNameLst>
                                          <p:attrName>style.visibility</p:attrName>
                                        </p:attrNameLst>
                                      </p:cBhvr>
                                      <p:to>
                                        <p:strVal val="visible"/>
                                      </p:to>
                                    </p:set>
                                    <p:animEffect transition="in" filter="wipe(left)">
                                      <p:cBhvr>
                                        <p:cTn id="24" dur="500"/>
                                        <p:tgtEl>
                                          <p:spTgt spid="111623"/>
                                        </p:tgtEl>
                                      </p:cBhvr>
                                    </p:animEffect>
                                  </p:childTnLst>
                                </p:cTn>
                              </p:par>
                            </p:childTnLst>
                          </p:cTn>
                        </p:par>
                        <p:par>
                          <p:cTn id="25" fill="hold">
                            <p:stCondLst>
                              <p:cond delay="5199"/>
                            </p:stCondLst>
                            <p:childTnLst>
                              <p:par>
                                <p:cTn id="26" presetID="22" presetClass="entr" presetSubtype="8" fill="hold" grpId="0" nodeType="afterEffect">
                                  <p:stCondLst>
                                    <p:cond delay="500"/>
                                  </p:stCondLst>
                                  <p:childTnLst>
                                    <p:set>
                                      <p:cBhvr>
                                        <p:cTn id="27" dur="1" fill="hold">
                                          <p:stCondLst>
                                            <p:cond delay="0"/>
                                          </p:stCondLst>
                                        </p:cTn>
                                        <p:tgtEl>
                                          <p:spTgt spid="111624"/>
                                        </p:tgtEl>
                                        <p:attrNameLst>
                                          <p:attrName>style.visibility</p:attrName>
                                        </p:attrNameLst>
                                      </p:cBhvr>
                                      <p:to>
                                        <p:strVal val="visible"/>
                                      </p:to>
                                    </p:set>
                                    <p:animEffect transition="in" filter="wipe(left)">
                                      <p:cBhvr>
                                        <p:cTn id="28" dur="500"/>
                                        <p:tgtEl>
                                          <p:spTgt spid="11162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11625"/>
                                        </p:tgtEl>
                                        <p:attrNameLst>
                                          <p:attrName>style.visibility</p:attrName>
                                        </p:attrNameLst>
                                      </p:cBhvr>
                                      <p:to>
                                        <p:strVal val="visible"/>
                                      </p:to>
                                    </p:set>
                                    <p:animEffect transition="in" filter="wipe(left)">
                                      <p:cBhvr>
                                        <p:cTn id="33" dur="500"/>
                                        <p:tgtEl>
                                          <p:spTgt spid="111625"/>
                                        </p:tgtEl>
                                      </p:cBhvr>
                                    </p:animEffect>
                                  </p:childTnLst>
                                </p:cTn>
                              </p:par>
                            </p:childTnLst>
                          </p:cTn>
                        </p:par>
                        <p:par>
                          <p:cTn id="34" fill="hold">
                            <p:stCondLst>
                              <p:cond delay="500"/>
                            </p:stCondLst>
                            <p:childTnLst>
                              <p:par>
                                <p:cTn id="35" presetID="22" presetClass="entr" presetSubtype="8" fill="hold" nodeType="afterEffect">
                                  <p:stCondLst>
                                    <p:cond delay="500"/>
                                  </p:stCondLst>
                                  <p:childTnLst>
                                    <p:set>
                                      <p:cBhvr>
                                        <p:cTn id="36" dur="1" fill="hold">
                                          <p:stCondLst>
                                            <p:cond delay="0"/>
                                          </p:stCondLst>
                                        </p:cTn>
                                        <p:tgtEl>
                                          <p:spTgt spid="111626"/>
                                        </p:tgtEl>
                                        <p:attrNameLst>
                                          <p:attrName>style.visibility</p:attrName>
                                        </p:attrNameLst>
                                      </p:cBhvr>
                                      <p:to>
                                        <p:strVal val="visible"/>
                                      </p:to>
                                    </p:set>
                                    <p:animEffect transition="in" filter="wipe(left)">
                                      <p:cBhvr>
                                        <p:cTn id="37" dur="500"/>
                                        <p:tgtEl>
                                          <p:spTgt spid="111626"/>
                                        </p:tgtEl>
                                      </p:cBhvr>
                                    </p:animEffect>
                                  </p:childTnLst>
                                </p:cTn>
                              </p:par>
                            </p:childTnLst>
                          </p:cTn>
                        </p:par>
                        <p:par>
                          <p:cTn id="38" fill="hold">
                            <p:stCondLst>
                              <p:cond delay="1500"/>
                            </p:stCondLst>
                            <p:childTnLst>
                              <p:par>
                                <p:cTn id="39" presetID="22" presetClass="entr" presetSubtype="8" fill="hold" grpId="0" nodeType="afterEffect">
                                  <p:stCondLst>
                                    <p:cond delay="500"/>
                                  </p:stCondLst>
                                  <p:childTnLst>
                                    <p:set>
                                      <p:cBhvr>
                                        <p:cTn id="40" dur="1" fill="hold">
                                          <p:stCondLst>
                                            <p:cond delay="0"/>
                                          </p:stCondLst>
                                        </p:cTn>
                                        <p:tgtEl>
                                          <p:spTgt spid="111627"/>
                                        </p:tgtEl>
                                        <p:attrNameLst>
                                          <p:attrName>style.visibility</p:attrName>
                                        </p:attrNameLst>
                                      </p:cBhvr>
                                      <p:to>
                                        <p:strVal val="visible"/>
                                      </p:to>
                                    </p:set>
                                    <p:animEffect transition="in" filter="wipe(left)">
                                      <p:cBhvr>
                                        <p:cTn id="41" dur="500"/>
                                        <p:tgtEl>
                                          <p:spTgt spid="11162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11628"/>
                                        </p:tgtEl>
                                        <p:attrNameLst>
                                          <p:attrName>style.visibility</p:attrName>
                                        </p:attrNameLst>
                                      </p:cBhvr>
                                      <p:to>
                                        <p:strVal val="visible"/>
                                      </p:to>
                                    </p:set>
                                    <p:animEffect transition="in" filter="wipe(left)">
                                      <p:cBhvr>
                                        <p:cTn id="46" dur="500"/>
                                        <p:tgtEl>
                                          <p:spTgt spid="11162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11629"/>
                                        </p:tgtEl>
                                        <p:attrNameLst>
                                          <p:attrName>style.visibility</p:attrName>
                                        </p:attrNameLst>
                                      </p:cBhvr>
                                      <p:to>
                                        <p:strVal val="visible"/>
                                      </p:to>
                                    </p:set>
                                    <p:animEffect transition="in" filter="wipe(left)">
                                      <p:cBhvr>
                                        <p:cTn id="51" dur="500"/>
                                        <p:tgtEl>
                                          <p:spTgt spid="111629"/>
                                        </p:tgtEl>
                                      </p:cBhvr>
                                    </p:animEffect>
                                  </p:childTnLst>
                                </p:cTn>
                              </p:par>
                            </p:childTnLst>
                          </p:cTn>
                        </p:par>
                        <p:par>
                          <p:cTn id="52" fill="hold">
                            <p:stCondLst>
                              <p:cond delay="500"/>
                            </p:stCondLst>
                            <p:childTnLst>
                              <p:par>
                                <p:cTn id="53" presetID="22" presetClass="entr" presetSubtype="8" fill="hold" nodeType="afterEffect">
                                  <p:stCondLst>
                                    <p:cond delay="0"/>
                                  </p:stCondLst>
                                  <p:childTnLst>
                                    <p:set>
                                      <p:cBhvr>
                                        <p:cTn id="54" dur="1" fill="hold">
                                          <p:stCondLst>
                                            <p:cond delay="0"/>
                                          </p:stCondLst>
                                        </p:cTn>
                                        <p:tgtEl>
                                          <p:spTgt spid="111630"/>
                                        </p:tgtEl>
                                        <p:attrNameLst>
                                          <p:attrName>style.visibility</p:attrName>
                                        </p:attrNameLst>
                                      </p:cBhvr>
                                      <p:to>
                                        <p:strVal val="visible"/>
                                      </p:to>
                                    </p:set>
                                    <p:animEffect transition="in" filter="wipe(left)">
                                      <p:cBhvr>
                                        <p:cTn id="55" dur="500"/>
                                        <p:tgtEl>
                                          <p:spTgt spid="111630"/>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iterate type="wd">
                                    <p:tmAbs val="300"/>
                                  </p:iterate>
                                  <p:childTnLst>
                                    <p:set>
                                      <p:cBhvr>
                                        <p:cTn id="59" dur="1" fill="hold">
                                          <p:stCondLst>
                                            <p:cond delay="299"/>
                                          </p:stCondLst>
                                        </p:cTn>
                                        <p:tgtEl>
                                          <p:spTgt spid="111631"/>
                                        </p:tgtEl>
                                        <p:attrNameLst>
                                          <p:attrName>style.visibility</p:attrName>
                                        </p:attrNameLst>
                                      </p:cBhvr>
                                      <p:to>
                                        <p:strVal val="visible"/>
                                      </p:to>
                                    </p:set>
                                  </p:childTnLst>
                                </p:cTn>
                              </p:par>
                            </p:childTnLst>
                          </p:cTn>
                        </p:par>
                        <p:par>
                          <p:cTn id="60" fill="hold">
                            <p:stCondLst>
                              <p:cond delay="900"/>
                            </p:stCondLst>
                            <p:childTnLst>
                              <p:par>
                                <p:cTn id="61" presetID="1" presetClass="entr" presetSubtype="0" fill="hold" grpId="0" nodeType="afterEffect">
                                  <p:stCondLst>
                                    <p:cond delay="0"/>
                                  </p:stCondLst>
                                  <p:iterate type="lt">
                                    <p:tmAbs val="75"/>
                                  </p:iterate>
                                  <p:childTnLst>
                                    <p:set>
                                      <p:cBhvr>
                                        <p:cTn id="62" dur="1" fill="hold">
                                          <p:stCondLst>
                                            <p:cond delay="74"/>
                                          </p:stCondLst>
                                        </p:cTn>
                                        <p:tgtEl>
                                          <p:spTgt spid="11163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163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11634"/>
                                        </p:tgtEl>
                                        <p:attrNameLst>
                                          <p:attrName>style.visibility</p:attrName>
                                        </p:attrNameLst>
                                      </p:cBhvr>
                                      <p:to>
                                        <p:strVal val="visible"/>
                                      </p:to>
                                    </p:set>
                                    <p:animEffect transition="in" filter="wipe(left)">
                                      <p:cBhvr>
                                        <p:cTn id="71" dur="500"/>
                                        <p:tgtEl>
                                          <p:spTgt spid="111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p:bldP spid="111620" grpId="0"/>
      <p:bldP spid="111622" grpId="0"/>
      <p:bldP spid="111624" grpId="0"/>
      <p:bldP spid="111625" grpId="0"/>
      <p:bldP spid="111627" grpId="0"/>
      <p:bldP spid="111628" grpId="0"/>
      <p:bldP spid="111629" grpId="0"/>
      <p:bldP spid="111631" grpId="0"/>
      <p:bldP spid="111632" grpId="0"/>
      <p:bldP spid="111633" grpId="0"/>
      <p:bldP spid="11163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294765" y="49847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6.1 </a:t>
            </a:r>
            <a:r>
              <a:rPr lang="en-US" altLang="zh-CN" b="1" dirty="0">
                <a:solidFill>
                  <a:srgbClr val="FF0000"/>
                </a:solidFill>
                <a:latin typeface="黑体" panose="02010609060101010101" pitchFamily="49" charset="-122"/>
                <a:ea typeface="黑体" panose="02010609060101010101" pitchFamily="49" charset="-122"/>
                <a:sym typeface="+mn-ea"/>
              </a:rPr>
              <a:t>时序逻辑电路的基本概念</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762000" y="1066800"/>
            <a:ext cx="5532755" cy="868045"/>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6</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1</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3</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时序逻辑电路的描述方法</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10244" name="矩形 172037"/>
          <p:cNvSpPr/>
          <p:nvPr/>
        </p:nvSpPr>
        <p:spPr>
          <a:xfrm>
            <a:off x="760413" y="1874044"/>
            <a:ext cx="2105025" cy="460375"/>
          </a:xfrm>
          <a:prstGeom prst="rect">
            <a:avLst/>
          </a:prstGeom>
          <a:noFill/>
          <a:ln w="9525">
            <a:noFill/>
          </a:ln>
        </p:spPr>
        <p:txBody>
          <a:bodyPr wrap="none" anchor="ctr">
            <a:spAutoFit/>
          </a:bodyPr>
          <a:p>
            <a:r>
              <a:rPr lang="en-US" altLang="zh-CN" sz="2400" b="1" dirty="0">
                <a:gradFill>
                  <a:gsLst>
                    <a:gs pos="0">
                      <a:srgbClr val="012D86"/>
                    </a:gs>
                    <a:gs pos="100000">
                      <a:srgbClr val="0E2557"/>
                    </a:gs>
                  </a:gsLst>
                  <a:lin scaled="0"/>
                </a:gradFill>
                <a:latin typeface="楷体_GB2312" pitchFamily="49" charset="-122"/>
                <a:ea typeface="楷体_GB2312" pitchFamily="49" charset="-122"/>
              </a:rPr>
              <a:t>1</a:t>
            </a:r>
            <a:r>
              <a:rPr lang="en-US" altLang="zh-CN" sz="2400" b="1" dirty="0">
                <a:gradFill>
                  <a:gsLst>
                    <a:gs pos="0">
                      <a:srgbClr val="012D86"/>
                    </a:gs>
                    <a:gs pos="100000">
                      <a:srgbClr val="0E2557"/>
                    </a:gs>
                  </a:gsLst>
                  <a:lin scaled="0"/>
                </a:gradFill>
                <a:latin typeface="Arial" panose="020B0604020202020204" pitchFamily="34" charset="0"/>
              </a:rPr>
              <a:t>.</a:t>
            </a:r>
            <a:r>
              <a:rPr lang="en-US" altLang="zh-CN" sz="2400" b="1" dirty="0">
                <a:gradFill>
                  <a:gsLst>
                    <a:gs pos="0">
                      <a:srgbClr val="012D86"/>
                    </a:gs>
                    <a:gs pos="100000">
                      <a:srgbClr val="0E2557"/>
                    </a:gs>
                  </a:gsLst>
                  <a:lin scaled="0"/>
                </a:gradFill>
                <a:latin typeface="楷体_GB2312" pitchFamily="49" charset="-122"/>
                <a:ea typeface="楷体_GB2312" pitchFamily="49" charset="-122"/>
              </a:rPr>
              <a:t> </a:t>
            </a:r>
            <a:r>
              <a:rPr lang="zh-CN" altLang="en-US" sz="2400" b="1" dirty="0">
                <a:gradFill>
                  <a:gsLst>
                    <a:gs pos="0">
                      <a:srgbClr val="012D86"/>
                    </a:gs>
                    <a:gs pos="100000">
                      <a:srgbClr val="0E2557"/>
                    </a:gs>
                  </a:gsLst>
                  <a:lin scaled="0"/>
                </a:gradFill>
                <a:latin typeface="楷体_GB2312" pitchFamily="49" charset="-122"/>
                <a:ea typeface="楷体_GB2312" pitchFamily="49" charset="-122"/>
              </a:rPr>
              <a:t>逻辑方程组</a:t>
            </a:r>
            <a:endParaRPr lang="zh-CN" altLang="en-US" sz="2400" b="1" dirty="0">
              <a:gradFill>
                <a:gsLst>
                  <a:gs pos="0">
                    <a:srgbClr val="012D86"/>
                  </a:gs>
                  <a:gs pos="100000">
                    <a:srgbClr val="0E2557"/>
                  </a:gs>
                </a:gsLst>
                <a:lin scaled="0"/>
              </a:gradFill>
              <a:latin typeface="楷体_GB2312" pitchFamily="49" charset="-122"/>
              <a:ea typeface="楷体_GB2312" pitchFamily="49" charset="-122"/>
            </a:endParaRPr>
          </a:p>
        </p:txBody>
      </p:sp>
      <p:sp>
        <p:nvSpPr>
          <p:cNvPr id="172039" name="文本框 172038"/>
          <p:cNvSpPr txBox="1"/>
          <p:nvPr/>
        </p:nvSpPr>
        <p:spPr>
          <a:xfrm>
            <a:off x="1182688" y="2349500"/>
            <a:ext cx="2251075" cy="460375"/>
          </a:xfrm>
          <a:prstGeom prst="rect">
            <a:avLst/>
          </a:prstGeom>
          <a:noFill/>
          <a:ln w="9525">
            <a:noFill/>
          </a:ln>
        </p:spPr>
        <p:txBody>
          <a:bodyPr>
            <a:spAutoFit/>
          </a:bodyPr>
          <a:p>
            <a:pPr marR="0" defTabSz="914400">
              <a:buClr>
                <a:schemeClr val="bg1"/>
              </a:buClr>
              <a:buSzTx/>
              <a:defRPr/>
            </a:pPr>
            <a:r>
              <a:rPr kumimoji="0" lang="zh-CN" altLang="en-US" sz="2400" b="1" kern="1200" cap="none" spc="0" normalizeH="0" baseline="0" noProof="1">
                <a:solidFill>
                  <a:srgbClr val="FF0000"/>
                </a:solidFill>
                <a:effectLst>
                  <a:outerShdw blurRad="38100" dist="38100" dir="2700000">
                    <a:srgbClr val="000000"/>
                  </a:outerShdw>
                </a:effectLst>
                <a:latin typeface="Times New Roman" panose="02020603050405020304" charset="0"/>
                <a:ea typeface="宋体" panose="02010600030101010101" pitchFamily="2" charset="-122"/>
                <a:cs typeface="+mn-cs"/>
              </a:rPr>
              <a:t>输出方程</a:t>
            </a:r>
            <a:endParaRPr kumimoji="0" lang="zh-CN" altLang="en-US" sz="2400" b="1" kern="1200" cap="none" spc="0" normalizeH="0" baseline="0" noProof="1">
              <a:solidFill>
                <a:srgbClr val="FF0000"/>
              </a:solidFill>
              <a:effectLst>
                <a:outerShdw blurRad="38100" dist="38100" dir="2700000">
                  <a:srgbClr val="000000"/>
                </a:outerShdw>
              </a:effectLst>
              <a:latin typeface="Times New Roman" panose="02020603050405020304" charset="0"/>
              <a:ea typeface="宋体" panose="02010600030101010101" pitchFamily="2" charset="-122"/>
              <a:cs typeface="+mn-cs"/>
            </a:endParaRPr>
          </a:p>
        </p:txBody>
      </p:sp>
      <p:sp>
        <p:nvSpPr>
          <p:cNvPr id="172040" name="文本框 172039"/>
          <p:cNvSpPr txBox="1"/>
          <p:nvPr/>
        </p:nvSpPr>
        <p:spPr>
          <a:xfrm>
            <a:off x="4643438" y="2349500"/>
            <a:ext cx="2903538" cy="460375"/>
          </a:xfrm>
          <a:prstGeom prst="rect">
            <a:avLst/>
          </a:prstGeom>
          <a:noFill/>
          <a:ln w="9525">
            <a:noFill/>
          </a:ln>
        </p:spPr>
        <p:txBody>
          <a:bodyPr>
            <a:spAutoFit/>
          </a:bodyPr>
          <a:p>
            <a:pPr marR="0" defTabSz="914400">
              <a:buClr>
                <a:schemeClr val="bg1"/>
              </a:buClr>
              <a:buSzTx/>
              <a:defRPr/>
            </a:pPr>
            <a:r>
              <a:rPr kumimoji="0" lang="zh-CN" altLang="en-US" sz="2400" b="1" kern="1200" cap="none" spc="0" normalizeH="0" baseline="0" noProof="1">
                <a:solidFill>
                  <a:srgbClr val="FF0000"/>
                </a:solidFill>
                <a:effectLst>
                  <a:outerShdw blurRad="38100" dist="38100" dir="2700000">
                    <a:srgbClr val="000000"/>
                  </a:outerShdw>
                </a:effectLst>
                <a:latin typeface="Times New Roman" panose="02020603050405020304" charset="0"/>
                <a:ea typeface="宋体" panose="02010600030101010101" pitchFamily="2" charset="-122"/>
                <a:cs typeface="+mn-cs"/>
              </a:rPr>
              <a:t>状态方程</a:t>
            </a:r>
            <a:endParaRPr kumimoji="0" lang="zh-CN" altLang="en-US" sz="2400" b="1" kern="1200" cap="none" spc="0" normalizeH="0" baseline="0" noProof="1">
              <a:solidFill>
                <a:srgbClr val="FF0000"/>
              </a:solidFill>
              <a:effectLst>
                <a:outerShdw blurRad="38100" dist="38100" dir="2700000">
                  <a:srgbClr val="000000"/>
                </a:outerShdw>
              </a:effectLst>
              <a:latin typeface="Times New Roman" panose="02020603050405020304" charset="0"/>
              <a:ea typeface="宋体" panose="02010600030101010101" pitchFamily="2" charset="-122"/>
              <a:cs typeface="+mn-cs"/>
            </a:endParaRPr>
          </a:p>
        </p:txBody>
      </p:sp>
      <p:sp>
        <p:nvSpPr>
          <p:cNvPr id="172041" name="文本框 172040"/>
          <p:cNvSpPr txBox="1"/>
          <p:nvPr/>
        </p:nvSpPr>
        <p:spPr>
          <a:xfrm>
            <a:off x="2916238" y="2328863"/>
            <a:ext cx="1407160" cy="460375"/>
          </a:xfrm>
          <a:prstGeom prst="rect">
            <a:avLst/>
          </a:prstGeom>
          <a:noFill/>
          <a:ln w="9525">
            <a:noFill/>
          </a:ln>
        </p:spPr>
        <p:txBody>
          <a:bodyPr wrap="none">
            <a:spAutoFit/>
          </a:bodyPr>
          <a:p>
            <a:pPr marR="0" defTabSz="914400">
              <a:buClr>
                <a:schemeClr val="bg1"/>
              </a:buClr>
              <a:buSzTx/>
              <a:defRPr/>
            </a:pPr>
            <a:r>
              <a:rPr kumimoji="0" lang="zh-CN" altLang="en-US" sz="2400" b="1" kern="1200" cap="none" spc="0" normalizeH="0" baseline="0" noProof="1">
                <a:solidFill>
                  <a:srgbClr val="FF0000"/>
                </a:solidFill>
                <a:effectLst>
                  <a:outerShdw blurRad="38100" dist="38100" dir="2700000">
                    <a:srgbClr val="000000"/>
                  </a:outerShdw>
                </a:effectLst>
                <a:latin typeface="Times New Roman" panose="02020603050405020304" charset="0"/>
                <a:ea typeface="宋体" panose="02010600030101010101" pitchFamily="2" charset="-122"/>
                <a:cs typeface="+mn-cs"/>
              </a:rPr>
              <a:t>激励方程</a:t>
            </a:r>
            <a:endParaRPr kumimoji="0" lang="zh-CN" altLang="en-US" sz="2400" b="1" kern="1200" cap="none" spc="0" normalizeH="0" baseline="0" noProof="1">
              <a:solidFill>
                <a:srgbClr val="FF0000"/>
              </a:solidFill>
              <a:effectLst>
                <a:outerShdw blurRad="38100" dist="38100" dir="2700000">
                  <a:srgbClr val="000000"/>
                </a:outerShdw>
              </a:effectLst>
              <a:latin typeface="Times New Roman" panose="02020603050405020304" charset="0"/>
              <a:ea typeface="宋体" panose="02010600030101010101" pitchFamily="2" charset="-122"/>
              <a:cs typeface="+mn-cs"/>
            </a:endParaRPr>
          </a:p>
        </p:txBody>
      </p:sp>
      <p:sp>
        <p:nvSpPr>
          <p:cNvPr id="10248" name="文本框 172050"/>
          <p:cNvSpPr txBox="1"/>
          <p:nvPr/>
        </p:nvSpPr>
        <p:spPr>
          <a:xfrm>
            <a:off x="684213" y="2997200"/>
            <a:ext cx="4752975" cy="460375"/>
          </a:xfrm>
          <a:prstGeom prst="rect">
            <a:avLst/>
          </a:prstGeom>
          <a:noFill/>
          <a:ln w="9525">
            <a:noFill/>
          </a:ln>
        </p:spPr>
        <p:txBody>
          <a:bodyPr>
            <a:spAutoFit/>
          </a:bodyPr>
          <a:p>
            <a:pPr>
              <a:spcBef>
                <a:spcPct val="50000"/>
              </a:spcBef>
            </a:pPr>
            <a:r>
              <a:rPr lang="en-US" altLang="zh-CN" sz="2400" b="1" dirty="0">
                <a:gradFill>
                  <a:gsLst>
                    <a:gs pos="0">
                      <a:srgbClr val="012D86"/>
                    </a:gs>
                    <a:gs pos="100000">
                      <a:srgbClr val="0E2557"/>
                    </a:gs>
                  </a:gsLst>
                  <a:lin scaled="0"/>
                </a:gradFill>
                <a:latin typeface="楷体_GB2312" pitchFamily="49" charset="-122"/>
                <a:ea typeface="楷体_GB2312" pitchFamily="49" charset="-122"/>
              </a:rPr>
              <a:t>2. </a:t>
            </a:r>
            <a:r>
              <a:rPr lang="zh-CN" altLang="en-US" sz="2400" b="1" dirty="0">
                <a:gradFill>
                  <a:gsLst>
                    <a:gs pos="0">
                      <a:srgbClr val="012D86"/>
                    </a:gs>
                    <a:gs pos="100000">
                      <a:srgbClr val="0E2557"/>
                    </a:gs>
                  </a:gsLst>
                  <a:lin scaled="0"/>
                </a:gradFill>
                <a:latin typeface="楷体_GB2312" pitchFamily="49" charset="-122"/>
                <a:ea typeface="楷体_GB2312" pitchFamily="49" charset="-122"/>
              </a:rPr>
              <a:t>状态转换表</a:t>
            </a:r>
            <a:endParaRPr lang="zh-CN" altLang="en-US" sz="2400" b="1" dirty="0">
              <a:gradFill>
                <a:gsLst>
                  <a:gs pos="0">
                    <a:srgbClr val="012D86"/>
                  </a:gs>
                  <a:gs pos="100000">
                    <a:srgbClr val="0E2557"/>
                  </a:gs>
                </a:gsLst>
                <a:lin scaled="0"/>
              </a:gradFill>
              <a:latin typeface="楷体_GB2312" pitchFamily="49" charset="-122"/>
              <a:ea typeface="楷体_GB2312" pitchFamily="49" charset="-122"/>
            </a:endParaRPr>
          </a:p>
        </p:txBody>
      </p:sp>
      <p:sp>
        <p:nvSpPr>
          <p:cNvPr id="10249" name="矩形 172051"/>
          <p:cNvSpPr/>
          <p:nvPr/>
        </p:nvSpPr>
        <p:spPr>
          <a:xfrm>
            <a:off x="684213" y="3644900"/>
            <a:ext cx="1562100" cy="460375"/>
          </a:xfrm>
          <a:prstGeom prst="rect">
            <a:avLst/>
          </a:prstGeom>
          <a:noFill/>
          <a:ln w="9525">
            <a:noFill/>
          </a:ln>
        </p:spPr>
        <p:txBody>
          <a:bodyPr wrap="none">
            <a:spAutoFit/>
          </a:bodyPr>
          <a:p>
            <a:r>
              <a:rPr lang="en-US" altLang="zh-CN" sz="2400" b="1" dirty="0">
                <a:gradFill>
                  <a:gsLst>
                    <a:gs pos="0">
                      <a:srgbClr val="012D86"/>
                    </a:gs>
                    <a:gs pos="100000">
                      <a:srgbClr val="0E2557"/>
                    </a:gs>
                  </a:gsLst>
                  <a:lin scaled="0"/>
                </a:gradFill>
                <a:latin typeface="楷体_GB2312" pitchFamily="49" charset="-122"/>
                <a:ea typeface="楷体_GB2312" pitchFamily="49" charset="-122"/>
              </a:rPr>
              <a:t>3. </a:t>
            </a:r>
            <a:r>
              <a:rPr lang="zh-CN" altLang="en-US" sz="2400" b="1" dirty="0">
                <a:gradFill>
                  <a:gsLst>
                    <a:gs pos="0">
                      <a:srgbClr val="012D86"/>
                    </a:gs>
                    <a:gs pos="100000">
                      <a:srgbClr val="0E2557"/>
                    </a:gs>
                  </a:gsLst>
                  <a:lin scaled="0"/>
                </a:gradFill>
                <a:latin typeface="楷体_GB2312" pitchFamily="49" charset="-122"/>
                <a:ea typeface="楷体_GB2312" pitchFamily="49" charset="-122"/>
              </a:rPr>
              <a:t>状态图</a:t>
            </a:r>
            <a:endParaRPr lang="zh-CN" altLang="en-US" sz="2400" b="1" dirty="0">
              <a:gradFill>
                <a:gsLst>
                  <a:gs pos="0">
                    <a:srgbClr val="012D86"/>
                  </a:gs>
                  <a:gs pos="100000">
                    <a:srgbClr val="0E2557"/>
                  </a:gs>
                </a:gsLst>
                <a:lin scaled="0"/>
              </a:gradFill>
              <a:latin typeface="楷体_GB2312" pitchFamily="49" charset="-122"/>
              <a:ea typeface="楷体_GB2312" pitchFamily="49" charset="-122"/>
            </a:endParaRPr>
          </a:p>
        </p:txBody>
      </p:sp>
      <p:sp>
        <p:nvSpPr>
          <p:cNvPr id="10250" name="矩形 172052"/>
          <p:cNvSpPr/>
          <p:nvPr/>
        </p:nvSpPr>
        <p:spPr>
          <a:xfrm>
            <a:off x="684530" y="4258310"/>
            <a:ext cx="2174240" cy="460375"/>
          </a:xfrm>
          <a:prstGeom prst="rect">
            <a:avLst/>
          </a:prstGeom>
          <a:noFill/>
          <a:ln w="9525">
            <a:noFill/>
          </a:ln>
        </p:spPr>
        <p:txBody>
          <a:bodyPr wrap="none">
            <a:spAutoFit/>
          </a:bodyPr>
          <a:p>
            <a:pPr algn="ctr"/>
            <a:r>
              <a:rPr lang="en-US" altLang="zh-CN" sz="2400" b="1" dirty="0">
                <a:gradFill>
                  <a:gsLst>
                    <a:gs pos="0">
                      <a:srgbClr val="012D86"/>
                    </a:gs>
                    <a:gs pos="100000">
                      <a:srgbClr val="0E2557"/>
                    </a:gs>
                  </a:gsLst>
                  <a:lin scaled="0"/>
                </a:gradFill>
                <a:latin typeface="楷体_GB2312" pitchFamily="49" charset="-122"/>
                <a:ea typeface="楷体_GB2312" pitchFamily="49" charset="-122"/>
              </a:rPr>
              <a:t>4. </a:t>
            </a:r>
            <a:r>
              <a:rPr lang="zh-CN" altLang="en-US" sz="2400" b="1" dirty="0">
                <a:gradFill>
                  <a:gsLst>
                    <a:gs pos="0">
                      <a:srgbClr val="012D86"/>
                    </a:gs>
                    <a:gs pos="100000">
                      <a:srgbClr val="0E2557"/>
                    </a:gs>
                  </a:gsLst>
                  <a:lin scaled="0"/>
                </a:gradFill>
                <a:latin typeface="楷体_GB2312" pitchFamily="49" charset="-122"/>
                <a:ea typeface="楷体_GB2312" pitchFamily="49" charset="-122"/>
              </a:rPr>
              <a:t>时序</a:t>
            </a:r>
            <a:r>
              <a:rPr lang="zh-CN" altLang="en-US" sz="2400" b="1" dirty="0">
                <a:gradFill>
                  <a:gsLst>
                    <a:gs pos="0">
                      <a:srgbClr val="012D86"/>
                    </a:gs>
                    <a:gs pos="100000">
                      <a:srgbClr val="0E2557"/>
                    </a:gs>
                  </a:gsLst>
                  <a:lin scaled="0"/>
                </a:gradFill>
                <a:latin typeface="楷体_GB2312" pitchFamily="49" charset="-122"/>
                <a:ea typeface="楷体_GB2312" pitchFamily="49" charset="-122"/>
                <a:sym typeface="+mn-ea"/>
              </a:rPr>
              <a:t>转换</a:t>
            </a:r>
            <a:r>
              <a:rPr lang="zh-CN" altLang="en-US" sz="2400" b="1" dirty="0">
                <a:gradFill>
                  <a:gsLst>
                    <a:gs pos="0">
                      <a:srgbClr val="012D86"/>
                    </a:gs>
                    <a:gs pos="100000">
                      <a:srgbClr val="0E2557"/>
                    </a:gs>
                  </a:gsLst>
                  <a:lin scaled="0"/>
                </a:gradFill>
                <a:latin typeface="楷体_GB2312" pitchFamily="49" charset="-122"/>
                <a:ea typeface="楷体_GB2312" pitchFamily="49" charset="-122"/>
              </a:rPr>
              <a:t>图</a:t>
            </a:r>
            <a:endParaRPr lang="zh-CN" altLang="en-US" sz="2400" b="1" dirty="0">
              <a:gradFill>
                <a:gsLst>
                  <a:gs pos="0">
                    <a:srgbClr val="012D86"/>
                  </a:gs>
                  <a:gs pos="100000">
                    <a:srgbClr val="0E2557"/>
                  </a:gs>
                </a:gsLst>
                <a:lin scaled="0"/>
              </a:gra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203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172041"/>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500"/>
                                  </p:stCondLst>
                                  <p:childTnLst>
                                    <p:set>
                                      <p:cBhvr>
                                        <p:cTn id="12" dur="1" fill="hold">
                                          <p:stCondLst>
                                            <p:cond delay="0"/>
                                          </p:stCondLst>
                                        </p:cTn>
                                        <p:tgtEl>
                                          <p:spTgt spid="1720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9" grpId="0"/>
      <p:bldP spid="172040" grpId="0"/>
      <p:bldP spid="17204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6.2 时序逻辑电路的一般分析方法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770255" y="981075"/>
            <a:ext cx="6847205" cy="868045"/>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6</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2</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1</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分析时序逻辑电路的一般步骤</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112645" name="文本框 112644"/>
          <p:cNvSpPr txBox="1"/>
          <p:nvPr/>
        </p:nvSpPr>
        <p:spPr>
          <a:xfrm>
            <a:off x="395605" y="1685608"/>
            <a:ext cx="8353425" cy="4780280"/>
          </a:xfrm>
          <a:prstGeom prst="rect">
            <a:avLst/>
          </a:prstGeom>
          <a:noFill/>
          <a:ln w="9525">
            <a:noFill/>
          </a:ln>
        </p:spPr>
        <p:txBody>
          <a:bodyPr>
            <a:spAutoFit/>
          </a:bodyPr>
          <a:p>
            <a:pPr marR="0" defTabSz="914400" eaLnBrk="0" hangingPunct="0">
              <a:lnSpc>
                <a:spcPct val="70000"/>
              </a:lnSpc>
              <a:spcBef>
                <a:spcPct val="50000"/>
              </a:spcBef>
              <a:buClr>
                <a:schemeClr val="bg1"/>
              </a:buClr>
              <a:buSzTx/>
              <a:defRPr/>
            </a:pPr>
            <a:r>
              <a:rPr kumimoji="0" lang="zh-CN" altLang="en-US" sz="2400" kern="1200" cap="none" spc="0" normalizeH="0" baseline="0" noProof="1">
                <a:solidFill>
                  <a:schemeClr val="accent2">
                    <a:lumMod val="60000"/>
                    <a:lumOff val="40000"/>
                  </a:schemeClr>
                </a:solidFill>
                <a:effectLst>
                  <a:outerShdw blurRad="38100" dist="38100" dir="2700000">
                    <a:srgbClr val="000000"/>
                  </a:outerShdw>
                </a:effectLst>
                <a:latin typeface="Times New Roman" panose="02020603050405020304" charset="0"/>
                <a:ea typeface="_x000B__x000C_"/>
                <a:cs typeface="+mn-cs"/>
              </a:rPr>
              <a:t>分析的任务：</a:t>
            </a:r>
            <a:r>
              <a:rPr kumimoji="0" lang="zh-CN" altLang="en-US" sz="2400" kern="1200" cap="none" spc="0" normalizeH="0" baseline="0" noProof="1">
                <a:solidFill>
                  <a:schemeClr val="accent1"/>
                </a:solidFill>
                <a:effectLst>
                  <a:outerShdw blurRad="38100" dist="38100" dir="2700000">
                    <a:srgbClr val="000000"/>
                  </a:outerShdw>
                </a:effectLst>
                <a:latin typeface="Times New Roman" panose="02020603050405020304" charset="0"/>
                <a:ea typeface="_x000B__x000C_"/>
                <a:cs typeface="+mn-cs"/>
              </a:rPr>
              <a:t> </a:t>
            </a:r>
            <a:endParaRPr kumimoji="0" lang="zh-CN" altLang="en-US" sz="2400" kern="1200" cap="none" spc="0" normalizeH="0" baseline="0" noProof="1">
              <a:effectLst>
                <a:outerShdw blurRad="38100" dist="38100" dir="2700000">
                  <a:srgbClr val="FFFFFF"/>
                </a:outerShdw>
              </a:effectLst>
              <a:latin typeface="Times New Roman" panose="02020603050405020304" charset="0"/>
              <a:ea typeface="宋体" panose="02010600030101010101" pitchFamily="2" charset="-122"/>
              <a:cs typeface="+mn-cs"/>
            </a:endParaRPr>
          </a:p>
          <a:p>
            <a:pPr marR="0" defTabSz="914400" eaLnBrk="0" hangingPunct="0">
              <a:lnSpc>
                <a:spcPct val="70000"/>
              </a:lnSpc>
              <a:spcBef>
                <a:spcPct val="50000"/>
              </a:spcBef>
              <a:buClr>
                <a:schemeClr val="bg1"/>
              </a:buClr>
              <a:buSzTx/>
              <a:defRPr/>
            </a:pPr>
            <a:r>
              <a:rPr kumimoji="0" lang="zh-CN" altLang="en-US" sz="2400" kern="1200" cap="none" spc="0" normalizeH="0" baseline="0" noProof="1">
                <a:solidFill>
                  <a:schemeClr val="accent1"/>
                </a:solidFill>
                <a:effectLst>
                  <a:outerShdw blurRad="38100" dist="38100" dir="2700000">
                    <a:srgbClr val="000000"/>
                  </a:outerShdw>
                </a:effectLst>
                <a:latin typeface="Times New Roman" panose="02020603050405020304" charset="0"/>
                <a:ea typeface="_x000B__x000C_"/>
                <a:cs typeface="+mn-cs"/>
              </a:rPr>
              <a:t>        </a:t>
            </a:r>
            <a:r>
              <a:rPr kumimoji="0" lang="zh-CN" altLang="en-US" sz="2400" b="1" kern="1200" cap="none" spc="0" normalizeH="0" baseline="0" noProof="1">
                <a:gradFill>
                  <a:gsLst>
                    <a:gs pos="0">
                      <a:srgbClr val="012D86"/>
                    </a:gs>
                    <a:gs pos="100000">
                      <a:srgbClr val="0E2557"/>
                    </a:gs>
                  </a:gsLst>
                  <a:lin scaled="0"/>
                </a:gradFill>
                <a:effectLst>
                  <a:outerShdw blurRad="38100" dist="38100" dir="2700000">
                    <a:srgbClr val="FFFFFF"/>
                  </a:outerShdw>
                </a:effectLst>
                <a:latin typeface="Times New Roman" panose="02020603050405020304" charset="0"/>
                <a:ea typeface="_x000B__x000C_"/>
                <a:cs typeface="+mn-cs"/>
              </a:rPr>
              <a:t>给定时序逻辑电路，找出其变化规律</a:t>
            </a:r>
            <a:r>
              <a:rPr kumimoji="0" lang="zh-CN" altLang="en-US" sz="2400" kern="1200" cap="none" spc="0" normalizeH="0" baseline="0" noProof="1">
                <a:solidFill>
                  <a:schemeClr val="tx2"/>
                </a:solidFill>
                <a:effectLst>
                  <a:outerShdw blurRad="38100" dist="38100" dir="2700000">
                    <a:srgbClr val="FFFFFF"/>
                  </a:outerShdw>
                </a:effectLst>
                <a:latin typeface="Times New Roman" panose="02020603050405020304" charset="0"/>
                <a:ea typeface="_x000B__x000C_"/>
                <a:cs typeface="+mn-cs"/>
              </a:rPr>
              <a:t> </a:t>
            </a:r>
            <a:endParaRPr kumimoji="0" lang="zh-CN" altLang="en-US" sz="2400" kern="1200" cap="none" spc="0" normalizeH="0" baseline="0" noProof="1">
              <a:solidFill>
                <a:schemeClr val="tx2"/>
              </a:solidFill>
              <a:effectLst>
                <a:outerShdw blurRad="38100" dist="38100" dir="2700000">
                  <a:srgbClr val="FFFFFF"/>
                </a:outerShdw>
              </a:effectLst>
              <a:latin typeface="Times New Roman" panose="02020603050405020304" charset="0"/>
              <a:ea typeface="宋体" panose="02010600030101010101" pitchFamily="2" charset="-122"/>
              <a:cs typeface="+mn-cs"/>
            </a:endParaRPr>
          </a:p>
          <a:p>
            <a:pPr marR="0" defTabSz="914400" eaLnBrk="0" hangingPunct="0">
              <a:lnSpc>
                <a:spcPct val="70000"/>
              </a:lnSpc>
              <a:spcBef>
                <a:spcPct val="50000"/>
              </a:spcBef>
              <a:buClr>
                <a:schemeClr val="bg1"/>
              </a:buClr>
              <a:buSzTx/>
              <a:defRPr/>
            </a:pPr>
            <a:r>
              <a:rPr kumimoji="0" lang="en-US" sz="2400" b="1" kern="1200" cap="none" spc="0" normalizeH="0" baseline="0" noProof="1" dirty="0">
                <a:solidFill>
                  <a:srgbClr val="FE09D6"/>
                </a:solidFill>
                <a:latin typeface="Times New Roman" panose="02020603050405020304" charset="0"/>
                <a:ea typeface="楷体_GB2312" pitchFamily="49" charset="-122"/>
                <a:cs typeface="Times New Roman" panose="02020603050405020304" charset="0"/>
              </a:rPr>
              <a:t>1. 步骤：</a:t>
            </a:r>
            <a:r>
              <a:rPr kumimoji="0" lang="zh-CN" altLang="en-US" sz="2400" kern="1200" cap="none" spc="0" normalizeH="0" baseline="0" noProof="1">
                <a:solidFill>
                  <a:schemeClr val="accent1"/>
                </a:solidFill>
                <a:effectLst>
                  <a:outerShdw blurRad="38100" dist="38100" dir="2700000">
                    <a:srgbClr val="000000"/>
                  </a:outerShdw>
                </a:effectLst>
                <a:latin typeface="Times New Roman" panose="02020603050405020304" charset="0"/>
                <a:ea typeface="_x000B__x000C_"/>
                <a:cs typeface="+mn-cs"/>
              </a:rPr>
              <a:t> </a:t>
            </a:r>
            <a:endParaRPr kumimoji="0" lang="zh-CN" altLang="en-US" sz="2400" kern="1200" cap="none" spc="0" normalizeH="0" baseline="0" noProof="1">
              <a:effectLst>
                <a:outerShdw blurRad="38100" dist="38100" dir="2700000">
                  <a:srgbClr val="FFFFFF"/>
                </a:outerShdw>
              </a:effectLst>
              <a:latin typeface="Times New Roman" panose="02020603050405020304" charset="0"/>
              <a:ea typeface="宋体" panose="02010600030101010101" pitchFamily="2" charset="-122"/>
              <a:cs typeface="+mn-cs"/>
            </a:endParaRPr>
          </a:p>
          <a:p>
            <a:pPr marL="457200" marR="0" lvl="1" indent="0" algn="l" defTabSz="914400" rtl="0" eaLnBrk="0" fontAlgn="base" latinLnBrk="0" hangingPunct="0">
              <a:lnSpc>
                <a:spcPct val="70000"/>
              </a:lnSpc>
              <a:spcBef>
                <a:spcPct val="50000"/>
              </a:spcBef>
              <a:spcAft>
                <a:spcPct val="0"/>
              </a:spcAft>
              <a:buClr>
                <a:schemeClr val="bg1"/>
              </a:buClr>
              <a:buSzTx/>
              <a:buFont typeface="Arial" panose="020B0604020202020204" pitchFamily="34" charset="0"/>
              <a:buNone/>
              <a:defRPr/>
            </a:pPr>
            <a:r>
              <a:rPr kumimoji="0" lang="en-US" altLang="zh-CN" sz="2400" b="1" i="0" u="none" strike="noStrike" kern="1200" cap="none" spc="0" normalizeH="0" baseline="0" noProof="1">
                <a:ln>
                  <a:noFill/>
                </a:ln>
                <a:gradFill>
                  <a:gsLst>
                    <a:gs pos="0">
                      <a:srgbClr val="012D86"/>
                    </a:gs>
                    <a:gs pos="100000">
                      <a:srgbClr val="0E2557"/>
                    </a:gs>
                  </a:gsLst>
                  <a:lin scaled="0"/>
                </a:gradFill>
                <a:effectLst>
                  <a:outerShdw blurRad="38100" dist="38100" dir="2700000">
                    <a:srgbClr val="FFFFFF"/>
                  </a:outerShdw>
                </a:effectLst>
                <a:uLnTx/>
                <a:uFillTx/>
                <a:latin typeface="Calibri" panose="020F0502020204030204" charset="0"/>
                <a:ea typeface="_x000B__x000C_"/>
                <a:cs typeface="+mn-cs"/>
              </a:rPr>
              <a:t>①</a:t>
            </a:r>
            <a:r>
              <a:rPr kumimoji="0" lang="zh-CN" altLang="en-US" sz="2400" b="1" i="0" u="none" strike="noStrike" kern="1200" cap="none" spc="0" normalizeH="0" baseline="0" noProof="1">
                <a:ln>
                  <a:noFill/>
                </a:ln>
                <a:gradFill>
                  <a:gsLst>
                    <a:gs pos="0">
                      <a:srgbClr val="012D86"/>
                    </a:gs>
                    <a:gs pos="100000">
                      <a:srgbClr val="0E2557"/>
                    </a:gs>
                  </a:gsLst>
                  <a:lin scaled="0"/>
                </a:gradFill>
                <a:effectLst>
                  <a:outerShdw blurRad="38100" dist="38100" dir="2700000">
                    <a:srgbClr val="FFFFFF"/>
                  </a:outerShdw>
                </a:effectLst>
                <a:uLnTx/>
                <a:uFillTx/>
                <a:latin typeface="Times New Roman" panose="02020603050405020304" charset="0"/>
                <a:ea typeface="_x000B__x000C_"/>
                <a:cs typeface="+mn-cs"/>
              </a:rPr>
              <a:t>写出激励方程</a:t>
            </a:r>
            <a:endParaRPr kumimoji="0" lang="zh-CN" altLang="en-US" sz="2400" b="1" i="0" u="none" strike="noStrike" kern="1200" cap="none" spc="0" normalizeH="0" baseline="0" noProof="1">
              <a:ln>
                <a:noFill/>
              </a:ln>
              <a:gradFill>
                <a:gsLst>
                  <a:gs pos="0">
                    <a:srgbClr val="012D86"/>
                  </a:gs>
                  <a:gs pos="100000">
                    <a:srgbClr val="0E2557"/>
                  </a:gs>
                </a:gsLst>
                <a:lin scaled="0"/>
              </a:gradFill>
              <a:effectLst>
                <a:outerShdw blurRad="38100" dist="38100" dir="2700000">
                  <a:srgbClr val="FFFFFF"/>
                </a:outerShdw>
              </a:effectLst>
              <a:uLnTx/>
              <a:uFillTx/>
              <a:latin typeface="Times New Roman" panose="02020603050405020304" charset="0"/>
              <a:ea typeface="宋体" panose="02010600030101010101" pitchFamily="2" charset="-122"/>
              <a:cs typeface="+mn-cs"/>
            </a:endParaRPr>
          </a:p>
          <a:p>
            <a:pPr marL="457200" marR="0" lvl="1" indent="0" algn="l" defTabSz="914400" rtl="0" eaLnBrk="0" fontAlgn="base" latinLnBrk="0" hangingPunct="0">
              <a:lnSpc>
                <a:spcPct val="70000"/>
              </a:lnSpc>
              <a:spcBef>
                <a:spcPct val="50000"/>
              </a:spcBef>
              <a:spcAft>
                <a:spcPct val="0"/>
              </a:spcAft>
              <a:buClr>
                <a:schemeClr val="bg1"/>
              </a:buClr>
              <a:buSzTx/>
              <a:buFont typeface="Arial" panose="020B0604020202020204" pitchFamily="34" charset="0"/>
              <a:buNone/>
              <a:defRPr/>
            </a:pPr>
            <a:r>
              <a:rPr kumimoji="0" lang="en-US" altLang="zh-CN" sz="2400" b="1" i="0" u="none" strike="noStrike" kern="1200" cap="none" spc="0" normalizeH="0" baseline="0" noProof="1">
                <a:ln>
                  <a:noFill/>
                </a:ln>
                <a:gradFill>
                  <a:gsLst>
                    <a:gs pos="0">
                      <a:srgbClr val="012D86"/>
                    </a:gs>
                    <a:gs pos="100000">
                      <a:srgbClr val="0E2557"/>
                    </a:gs>
                  </a:gsLst>
                  <a:lin scaled="0"/>
                </a:gradFill>
                <a:effectLst>
                  <a:outerShdw blurRad="38100" dist="38100" dir="2700000">
                    <a:srgbClr val="FFFFFF"/>
                  </a:outerShdw>
                </a:effectLst>
                <a:uLnTx/>
                <a:uFillTx/>
                <a:latin typeface="Calibri" panose="020F0502020204030204" charset="0"/>
                <a:ea typeface="_x000B__x000C_"/>
                <a:cs typeface="+mn-cs"/>
              </a:rPr>
              <a:t>②</a:t>
            </a:r>
            <a:r>
              <a:rPr kumimoji="0" lang="zh-CN" altLang="en-US" sz="2400" b="1" i="0" u="none" strike="noStrike" kern="1200" cap="none" spc="0" normalizeH="0" baseline="0" noProof="1">
                <a:ln>
                  <a:noFill/>
                </a:ln>
                <a:gradFill>
                  <a:gsLst>
                    <a:gs pos="0">
                      <a:srgbClr val="012D86"/>
                    </a:gs>
                    <a:gs pos="100000">
                      <a:srgbClr val="0E2557"/>
                    </a:gs>
                  </a:gsLst>
                  <a:lin scaled="0"/>
                </a:gradFill>
                <a:effectLst>
                  <a:outerShdw blurRad="38100" dist="38100" dir="2700000">
                    <a:srgbClr val="FFFFFF"/>
                  </a:outerShdw>
                </a:effectLst>
                <a:uLnTx/>
                <a:uFillTx/>
                <a:latin typeface="Times New Roman" panose="02020603050405020304" charset="0"/>
                <a:ea typeface="_x000B__x000C_"/>
                <a:cs typeface="+mn-cs"/>
              </a:rPr>
              <a:t>写出输出方程，如无输出，此方程应省略 </a:t>
            </a:r>
            <a:endParaRPr kumimoji="0" lang="zh-CN" altLang="en-US" sz="2400" b="1" i="0" u="none" strike="noStrike" kern="1200" cap="none" spc="0" normalizeH="0" baseline="0" noProof="1">
              <a:ln>
                <a:noFill/>
              </a:ln>
              <a:gradFill>
                <a:gsLst>
                  <a:gs pos="0">
                    <a:srgbClr val="012D86"/>
                  </a:gs>
                  <a:gs pos="100000">
                    <a:srgbClr val="0E2557"/>
                  </a:gs>
                </a:gsLst>
                <a:lin scaled="0"/>
              </a:gradFill>
              <a:effectLst>
                <a:outerShdw blurRad="38100" dist="38100" dir="2700000">
                  <a:srgbClr val="FFFFFF"/>
                </a:outerShdw>
              </a:effectLst>
              <a:uLnTx/>
              <a:uFillTx/>
              <a:latin typeface="Times New Roman" panose="02020603050405020304" charset="0"/>
              <a:ea typeface="_x000B__x000C_"/>
              <a:cs typeface="+mn-cs"/>
            </a:endParaRPr>
          </a:p>
          <a:p>
            <a:pPr marL="457200" marR="0" lvl="1" indent="0" algn="l" defTabSz="914400" rtl="0" eaLnBrk="0" fontAlgn="base" latinLnBrk="0" hangingPunct="0">
              <a:lnSpc>
                <a:spcPct val="70000"/>
              </a:lnSpc>
              <a:spcBef>
                <a:spcPct val="50000"/>
              </a:spcBef>
              <a:spcAft>
                <a:spcPct val="0"/>
              </a:spcAft>
              <a:buClr>
                <a:schemeClr val="bg1"/>
              </a:buClr>
              <a:buSzTx/>
              <a:buFont typeface="Arial" panose="020B0604020202020204" pitchFamily="34" charset="0"/>
              <a:buNone/>
              <a:defRPr/>
            </a:pPr>
            <a:r>
              <a:rPr lang="en-US" altLang="zh-CN" sz="2400" b="1">
                <a:ln>
                  <a:noFill/>
                </a:ln>
                <a:gradFill>
                  <a:gsLst>
                    <a:gs pos="0">
                      <a:srgbClr val="012D86"/>
                    </a:gs>
                    <a:gs pos="100000">
                      <a:srgbClr val="0E2557"/>
                    </a:gs>
                  </a:gsLst>
                  <a:lin scaled="0"/>
                </a:gradFill>
                <a:effectLst>
                  <a:outerShdw blurRad="38100" dist="38100" dir="2700000">
                    <a:srgbClr val="FFFFFF"/>
                  </a:outerShdw>
                </a:effectLst>
                <a:uLnTx/>
                <a:uFillTx/>
                <a:latin typeface="Calibri" panose="020F0502020204030204" charset="0"/>
                <a:ea typeface="_x000B__x000C_"/>
                <a:sym typeface="+mn-ea"/>
              </a:rPr>
              <a:t>③如果是异步时序逻辑电路</a:t>
            </a:r>
            <a:r>
              <a:rPr lang="zh-CN" altLang="en-US" sz="2400" b="1">
                <a:ln>
                  <a:noFill/>
                </a:ln>
                <a:gradFill>
                  <a:gsLst>
                    <a:gs pos="0">
                      <a:srgbClr val="012D86"/>
                    </a:gs>
                    <a:gs pos="100000">
                      <a:srgbClr val="0E2557"/>
                    </a:gs>
                  </a:gsLst>
                  <a:lin scaled="0"/>
                </a:gradFill>
                <a:effectLst>
                  <a:outerShdw blurRad="38100" dist="38100" dir="2700000">
                    <a:srgbClr val="FFFFFF"/>
                  </a:outerShdw>
                </a:effectLst>
                <a:uLnTx/>
                <a:uFillTx/>
                <a:latin typeface="Calibri" panose="020F0502020204030204" charset="0"/>
                <a:sym typeface="+mn-ea"/>
              </a:rPr>
              <a:t>，还应写出时钟方程</a:t>
            </a:r>
            <a:endParaRPr lang="zh-CN" altLang="en-US" sz="2400" b="1">
              <a:ln>
                <a:noFill/>
              </a:ln>
              <a:gradFill>
                <a:gsLst>
                  <a:gs pos="0">
                    <a:srgbClr val="012D86"/>
                  </a:gs>
                  <a:gs pos="100000">
                    <a:srgbClr val="0E2557"/>
                  </a:gs>
                </a:gsLst>
                <a:lin scaled="0"/>
              </a:gradFill>
              <a:effectLst>
                <a:outerShdw blurRad="38100" dist="38100" dir="2700000">
                  <a:srgbClr val="FFFFFF"/>
                </a:outerShdw>
              </a:effectLst>
              <a:uLnTx/>
              <a:uFillTx/>
              <a:latin typeface="Calibri" panose="020F0502020204030204" charset="0"/>
              <a:sym typeface="+mn-ea"/>
            </a:endParaRPr>
          </a:p>
          <a:p>
            <a:pPr marL="457200" marR="0" lvl="1" indent="0" algn="l" defTabSz="914400" rtl="0" eaLnBrk="0" fontAlgn="base" latinLnBrk="0" hangingPunct="0">
              <a:lnSpc>
                <a:spcPct val="70000"/>
              </a:lnSpc>
              <a:spcBef>
                <a:spcPct val="50000"/>
              </a:spcBef>
              <a:spcAft>
                <a:spcPct val="0"/>
              </a:spcAft>
              <a:buClr>
                <a:schemeClr val="bg1"/>
              </a:buClr>
              <a:buSzTx/>
              <a:buFont typeface="Arial" panose="020B0604020202020204" pitchFamily="34" charset="0"/>
              <a:buNone/>
              <a:defRPr/>
            </a:pPr>
            <a:r>
              <a:rPr lang="en-US" altLang="zh-CN" sz="2400" b="1">
                <a:ln>
                  <a:noFill/>
                </a:ln>
                <a:gradFill>
                  <a:gsLst>
                    <a:gs pos="0">
                      <a:srgbClr val="012D86"/>
                    </a:gs>
                    <a:gs pos="100000">
                      <a:srgbClr val="0E2557"/>
                    </a:gs>
                  </a:gsLst>
                  <a:lin scaled="0"/>
                </a:gradFill>
                <a:effectLst>
                  <a:outerShdw blurRad="38100" dist="38100" dir="2700000">
                    <a:srgbClr val="FFFFFF"/>
                  </a:outerShdw>
                </a:effectLst>
                <a:uLnTx/>
                <a:uFillTx/>
                <a:latin typeface="微软雅黑" panose="020B0503020204020204" charset="-122"/>
                <a:ea typeface="微软雅黑" panose="020B0503020204020204" charset="-122"/>
                <a:sym typeface="+mn-ea"/>
              </a:rPr>
              <a:t>④</a:t>
            </a:r>
            <a:r>
              <a:rPr kumimoji="0" lang="zh-CN" altLang="en-US" sz="2400" b="1" i="0" u="none" strike="noStrike" kern="1200" cap="none" spc="0" normalizeH="0" baseline="0" noProof="1">
                <a:ln>
                  <a:noFill/>
                </a:ln>
                <a:gradFill>
                  <a:gsLst>
                    <a:gs pos="0">
                      <a:srgbClr val="012D86"/>
                    </a:gs>
                    <a:gs pos="100000">
                      <a:srgbClr val="0E2557"/>
                    </a:gs>
                  </a:gsLst>
                  <a:lin scaled="0"/>
                </a:gradFill>
                <a:effectLst>
                  <a:outerShdw blurRad="38100" dist="38100" dir="2700000">
                    <a:srgbClr val="FFFFFF"/>
                  </a:outerShdw>
                </a:effectLst>
                <a:uLnTx/>
                <a:uFillTx/>
                <a:latin typeface="Times New Roman" panose="02020603050405020304" charset="0"/>
                <a:ea typeface="_x000B__x000C_"/>
                <a:cs typeface="+mn-cs"/>
              </a:rPr>
              <a:t>求状态方程</a:t>
            </a:r>
            <a:r>
              <a:rPr kumimoji="0" lang="zh-CN" altLang="en-US" sz="2400" b="1" i="0" u="none" strike="noStrike" kern="1200" cap="none" spc="0" normalizeH="0" baseline="0" noProof="1">
                <a:ln>
                  <a:noFill/>
                </a:ln>
                <a:solidFill>
                  <a:srgbClr val="FF0000"/>
                </a:solidFill>
                <a:effectLst>
                  <a:outerShdw blurRad="38100" dist="38100" dir="2700000">
                    <a:srgbClr val="FFFFFF"/>
                  </a:outerShdw>
                </a:effectLst>
                <a:uLnTx/>
                <a:uFillTx/>
                <a:latin typeface="Times New Roman" panose="02020603050405020304" charset="0"/>
                <a:ea typeface="_x000B__x000C_"/>
                <a:cs typeface="+mn-cs"/>
              </a:rPr>
              <a:t>（</a:t>
            </a:r>
            <a:r>
              <a:rPr kumimoji="0" lang="zh-CN" altLang="en-US" sz="2400" b="1" i="0" u="none" strike="noStrike" kern="1200" cap="none" spc="0" normalizeH="0" baseline="0" noProof="1">
                <a:ln>
                  <a:noFill/>
                </a:ln>
                <a:solidFill>
                  <a:srgbClr val="FF0066"/>
                </a:solidFill>
                <a:effectLst>
                  <a:outerShdw blurRad="38100" dist="38100" dir="2700000">
                    <a:srgbClr val="000000"/>
                  </a:outerShdw>
                </a:effectLst>
                <a:uLnTx/>
                <a:uFillTx/>
                <a:latin typeface="Times New Roman" panose="02020603050405020304" charset="0"/>
                <a:ea typeface="_x000B__x000C_"/>
                <a:cs typeface="+mn-cs"/>
              </a:rPr>
              <a:t>把</a:t>
            </a:r>
            <a:r>
              <a:rPr lang="zh-CN" altLang="en-US" sz="2400" b="1">
                <a:ln>
                  <a:noFill/>
                </a:ln>
                <a:solidFill>
                  <a:srgbClr val="FF0066"/>
                </a:solidFill>
                <a:effectLst>
                  <a:outerShdw blurRad="38100" dist="38100" dir="2700000">
                    <a:srgbClr val="000000"/>
                  </a:outerShdw>
                </a:effectLst>
                <a:uLnTx/>
                <a:uFillTx/>
                <a:latin typeface="Times New Roman" panose="02020603050405020304" charset="0"/>
                <a:ea typeface="_x000B__x000C_"/>
                <a:sym typeface="+mn-ea"/>
              </a:rPr>
              <a:t>激励</a:t>
            </a:r>
            <a:r>
              <a:rPr kumimoji="0" lang="zh-CN" altLang="en-US" sz="2400" b="1" i="0" u="none" strike="noStrike" kern="1200" cap="none" spc="0" normalizeH="0" baseline="0" noProof="1">
                <a:ln>
                  <a:noFill/>
                </a:ln>
                <a:solidFill>
                  <a:srgbClr val="FF0066"/>
                </a:solidFill>
                <a:effectLst>
                  <a:outerShdw blurRad="38100" dist="38100" dir="2700000">
                    <a:srgbClr val="000000"/>
                  </a:outerShdw>
                </a:effectLst>
                <a:uLnTx/>
                <a:uFillTx/>
                <a:latin typeface="Times New Roman" panose="02020603050405020304" charset="0"/>
                <a:ea typeface="_x000B__x000C_"/>
                <a:cs typeface="+mn-cs"/>
              </a:rPr>
              <a:t>方程代入触发器的特性方程</a:t>
            </a:r>
            <a:r>
              <a:rPr kumimoji="0" lang="zh-CN" altLang="en-US" sz="2400" b="1" i="0" u="none" strike="noStrike" kern="1200" cap="none" spc="0" normalizeH="0" baseline="0" noProof="1">
                <a:ln>
                  <a:noFill/>
                </a:ln>
                <a:solidFill>
                  <a:srgbClr val="FF0000"/>
                </a:solidFill>
                <a:effectLst>
                  <a:outerShdw blurRad="38100" dist="38100" dir="2700000">
                    <a:srgbClr val="FFFFFF"/>
                  </a:outerShdw>
                </a:effectLst>
                <a:uLnTx/>
                <a:uFillTx/>
                <a:latin typeface="Times New Roman" panose="02020603050405020304" charset="0"/>
                <a:ea typeface="_x000B__x000C_"/>
                <a:cs typeface="+mn-cs"/>
              </a:rPr>
              <a:t>）</a:t>
            </a:r>
            <a:r>
              <a:rPr kumimoji="0" lang="zh-CN" altLang="en-US" sz="2400" b="1" i="0" u="none" strike="noStrike" kern="1200" cap="none" spc="0" normalizeH="0" baseline="0" noProof="1">
                <a:ln>
                  <a:noFill/>
                </a:ln>
                <a:solidFill>
                  <a:schemeClr val="accent1"/>
                </a:solidFill>
                <a:effectLst>
                  <a:outerShdw blurRad="38100" dist="38100" dir="2700000">
                    <a:srgbClr val="000000"/>
                  </a:outerShdw>
                </a:effectLst>
                <a:uLnTx/>
                <a:uFillTx/>
                <a:latin typeface="Times New Roman" panose="02020603050405020304" charset="0"/>
                <a:ea typeface="_x000B__x000C_"/>
                <a:cs typeface="+mn-cs"/>
              </a:rPr>
              <a:t> </a:t>
            </a:r>
            <a:endParaRPr kumimoji="0" lang="zh-CN" altLang="en-US" sz="2400" b="1" i="0" u="none" strike="noStrike" kern="1200" cap="none" spc="0" normalizeH="0" baseline="0" noProof="1">
              <a:ln>
                <a:noFill/>
              </a:ln>
              <a:solidFill>
                <a:schemeClr val="tx1"/>
              </a:solidFill>
              <a:effectLst>
                <a:outerShdw blurRad="38100" dist="38100" dir="2700000">
                  <a:srgbClr val="FFFFFF"/>
                </a:outerShdw>
              </a:effectLst>
              <a:uLnTx/>
              <a:uFillTx/>
              <a:latin typeface="Times New Roman" panose="02020603050405020304" charset="0"/>
              <a:ea typeface="宋体" panose="02010600030101010101" pitchFamily="2" charset="-122"/>
              <a:cs typeface="+mn-cs"/>
            </a:endParaRPr>
          </a:p>
          <a:p>
            <a:pPr marL="457200" marR="0" lvl="1" indent="0" algn="l" defTabSz="914400" rtl="0" eaLnBrk="0" fontAlgn="base" latinLnBrk="0" hangingPunct="0">
              <a:lnSpc>
                <a:spcPct val="70000"/>
              </a:lnSpc>
              <a:spcBef>
                <a:spcPct val="50000"/>
              </a:spcBef>
              <a:spcAft>
                <a:spcPct val="0"/>
              </a:spcAft>
              <a:buClr>
                <a:schemeClr val="bg1"/>
              </a:buClr>
              <a:buSzTx/>
              <a:buFont typeface="Arial" panose="020B0604020202020204" pitchFamily="34" charset="0"/>
              <a:buNone/>
              <a:defRPr/>
            </a:pPr>
            <a:r>
              <a:rPr lang="en-US" altLang="zh-CN" sz="2400" b="1">
                <a:ln>
                  <a:noFill/>
                </a:ln>
                <a:gradFill>
                  <a:gsLst>
                    <a:gs pos="0">
                      <a:srgbClr val="012D86"/>
                    </a:gs>
                    <a:gs pos="100000">
                      <a:srgbClr val="0E2557"/>
                    </a:gs>
                  </a:gsLst>
                  <a:lin scaled="0"/>
                </a:gradFill>
                <a:effectLst>
                  <a:outerShdw blurRad="38100" dist="38100" dir="2700000">
                    <a:srgbClr val="FFFFFF"/>
                  </a:outerShdw>
                </a:effectLst>
                <a:uLnTx/>
                <a:uFillTx/>
                <a:latin typeface="微软雅黑" panose="020B0503020204020204" charset="-122"/>
                <a:ea typeface="微软雅黑" panose="020B0503020204020204" charset="-122"/>
                <a:sym typeface="+mn-ea"/>
              </a:rPr>
              <a:t>⑤</a:t>
            </a:r>
            <a:r>
              <a:rPr kumimoji="0" lang="zh-CN" altLang="en-US" sz="2400" b="1" i="0" u="none" strike="noStrike" kern="1200" cap="none" spc="0" normalizeH="0" baseline="0" noProof="1">
                <a:ln>
                  <a:noFill/>
                </a:ln>
                <a:gradFill>
                  <a:gsLst>
                    <a:gs pos="0">
                      <a:srgbClr val="012D86"/>
                    </a:gs>
                    <a:gs pos="100000">
                      <a:srgbClr val="0E2557"/>
                    </a:gs>
                  </a:gsLst>
                  <a:lin scaled="0"/>
                </a:gradFill>
                <a:effectLst>
                  <a:outerShdw blurRad="38100" dist="38100" dir="2700000">
                    <a:srgbClr val="FFFFFF"/>
                  </a:outerShdw>
                </a:effectLst>
                <a:uLnTx/>
                <a:uFillTx/>
                <a:latin typeface="Times New Roman" panose="02020603050405020304" charset="0"/>
                <a:ea typeface="_x000B__x000C_"/>
                <a:cs typeface="+mn-cs"/>
              </a:rPr>
              <a:t>计算状态转换表 </a:t>
            </a:r>
            <a:endParaRPr kumimoji="0" lang="zh-CN" altLang="en-US" sz="2400" b="1" i="0" u="none" strike="noStrike" kern="1200" cap="none" spc="0" normalizeH="0" baseline="0" noProof="1">
              <a:ln>
                <a:noFill/>
              </a:ln>
              <a:gradFill>
                <a:gsLst>
                  <a:gs pos="0">
                    <a:srgbClr val="012D86"/>
                  </a:gs>
                  <a:gs pos="100000">
                    <a:srgbClr val="0E2557"/>
                  </a:gs>
                </a:gsLst>
                <a:lin scaled="0"/>
              </a:gradFill>
              <a:effectLst>
                <a:outerShdw blurRad="38100" dist="38100" dir="2700000">
                  <a:srgbClr val="FFFFFF"/>
                </a:outerShdw>
              </a:effectLst>
              <a:uLnTx/>
              <a:uFillTx/>
              <a:latin typeface="Times New Roman" panose="02020603050405020304" charset="0"/>
              <a:ea typeface="宋体" panose="02010600030101010101" pitchFamily="2" charset="-122"/>
              <a:cs typeface="+mn-cs"/>
            </a:endParaRPr>
          </a:p>
          <a:p>
            <a:pPr marL="457200" marR="0" lvl="1" indent="0" algn="l" defTabSz="914400" rtl="0" eaLnBrk="0" fontAlgn="base" latinLnBrk="0" hangingPunct="0">
              <a:lnSpc>
                <a:spcPct val="70000"/>
              </a:lnSpc>
              <a:spcBef>
                <a:spcPct val="50000"/>
              </a:spcBef>
              <a:spcAft>
                <a:spcPct val="0"/>
              </a:spcAft>
              <a:buClr>
                <a:schemeClr val="bg1"/>
              </a:buClr>
              <a:buSzTx/>
              <a:buFont typeface="Arial" panose="020B0604020202020204" pitchFamily="34" charset="0"/>
              <a:buNone/>
              <a:defRPr/>
            </a:pPr>
            <a:r>
              <a:rPr lang="en-US" altLang="zh-CN" sz="2400" b="1">
                <a:ln>
                  <a:noFill/>
                </a:ln>
                <a:gradFill>
                  <a:gsLst>
                    <a:gs pos="0">
                      <a:srgbClr val="012D86"/>
                    </a:gs>
                    <a:gs pos="100000">
                      <a:srgbClr val="0E2557"/>
                    </a:gs>
                  </a:gsLst>
                  <a:lin scaled="0"/>
                </a:gradFill>
                <a:effectLst>
                  <a:outerShdw blurRad="38100" dist="38100" dir="2700000">
                    <a:srgbClr val="FFFFFF"/>
                  </a:outerShdw>
                </a:effectLst>
                <a:uLnTx/>
                <a:uFillTx/>
                <a:latin typeface="微软雅黑" panose="020B0503020204020204" charset="-122"/>
                <a:ea typeface="微软雅黑" panose="020B0503020204020204" charset="-122"/>
                <a:sym typeface="+mn-ea"/>
              </a:rPr>
              <a:t>⑥</a:t>
            </a:r>
            <a:r>
              <a:rPr kumimoji="0" lang="zh-CN" altLang="en-US" sz="2400" b="1" i="0" u="none" strike="noStrike" kern="1200" cap="none" spc="0" normalizeH="0" baseline="0" noProof="1">
                <a:ln>
                  <a:noFill/>
                </a:ln>
                <a:gradFill>
                  <a:gsLst>
                    <a:gs pos="0">
                      <a:srgbClr val="012D86"/>
                    </a:gs>
                    <a:gs pos="100000">
                      <a:srgbClr val="0E2557"/>
                    </a:gs>
                  </a:gsLst>
                  <a:lin scaled="0"/>
                </a:gradFill>
                <a:effectLst>
                  <a:outerShdw blurRad="38100" dist="38100" dir="2700000">
                    <a:srgbClr val="FFFFFF"/>
                  </a:outerShdw>
                </a:effectLst>
                <a:uLnTx/>
                <a:uFillTx/>
                <a:latin typeface="Times New Roman" panose="02020603050405020304" charset="0"/>
                <a:ea typeface="_x000B__x000C_"/>
                <a:cs typeface="+mn-cs"/>
              </a:rPr>
              <a:t>画状态转换图 </a:t>
            </a:r>
            <a:endParaRPr kumimoji="0" lang="zh-CN" altLang="en-US" sz="2400" b="1" i="0" u="none" strike="noStrike" kern="1200" cap="none" spc="0" normalizeH="0" baseline="0" noProof="1">
              <a:ln>
                <a:noFill/>
              </a:ln>
              <a:gradFill>
                <a:gsLst>
                  <a:gs pos="0">
                    <a:srgbClr val="012D86"/>
                  </a:gs>
                  <a:gs pos="100000">
                    <a:srgbClr val="0E2557"/>
                  </a:gs>
                </a:gsLst>
                <a:lin scaled="0"/>
              </a:gradFill>
              <a:effectLst>
                <a:outerShdw blurRad="38100" dist="38100" dir="2700000">
                  <a:srgbClr val="FFFFFF"/>
                </a:outerShdw>
              </a:effectLst>
              <a:uLnTx/>
              <a:uFillTx/>
              <a:latin typeface="Times New Roman" panose="02020603050405020304" charset="0"/>
              <a:ea typeface="宋体" panose="02010600030101010101" pitchFamily="2" charset="-122"/>
              <a:cs typeface="+mn-cs"/>
            </a:endParaRPr>
          </a:p>
          <a:p>
            <a:pPr marL="457200" marR="0" lvl="1" indent="0" algn="l" defTabSz="914400" rtl="0" eaLnBrk="0" fontAlgn="base" latinLnBrk="0" hangingPunct="0">
              <a:lnSpc>
                <a:spcPct val="70000"/>
              </a:lnSpc>
              <a:spcBef>
                <a:spcPct val="50000"/>
              </a:spcBef>
              <a:spcAft>
                <a:spcPct val="0"/>
              </a:spcAft>
              <a:buClr>
                <a:schemeClr val="bg1"/>
              </a:buClr>
              <a:buSzTx/>
              <a:buFont typeface="Arial" panose="020B0604020202020204" pitchFamily="34" charset="0"/>
              <a:buNone/>
              <a:defRPr/>
            </a:pPr>
            <a:r>
              <a:rPr lang="en-US" altLang="zh-CN" sz="2400" b="1">
                <a:ln>
                  <a:noFill/>
                </a:ln>
                <a:gradFill>
                  <a:gsLst>
                    <a:gs pos="0">
                      <a:srgbClr val="012D86"/>
                    </a:gs>
                    <a:gs pos="100000">
                      <a:srgbClr val="0E2557"/>
                    </a:gs>
                  </a:gsLst>
                  <a:lin scaled="0"/>
                </a:gradFill>
                <a:effectLst>
                  <a:outerShdw blurRad="38100" dist="38100" dir="2700000">
                    <a:srgbClr val="FFFFFF"/>
                  </a:outerShdw>
                </a:effectLst>
                <a:uLnTx/>
                <a:uFillTx/>
                <a:latin typeface="微软雅黑" panose="020B0503020204020204" charset="-122"/>
                <a:ea typeface="微软雅黑" panose="020B0503020204020204" charset="-122"/>
                <a:sym typeface="+mn-ea"/>
              </a:rPr>
              <a:t>⑦</a:t>
            </a:r>
            <a:r>
              <a:rPr kumimoji="0" lang="zh-CN" altLang="en-US" sz="2400" b="1" i="0" u="none" strike="noStrike" kern="1200" cap="none" spc="0" normalizeH="0" baseline="0" noProof="1">
                <a:ln>
                  <a:noFill/>
                </a:ln>
                <a:gradFill>
                  <a:gsLst>
                    <a:gs pos="0">
                      <a:srgbClr val="012D86"/>
                    </a:gs>
                    <a:gs pos="100000">
                      <a:srgbClr val="0E2557"/>
                    </a:gs>
                  </a:gsLst>
                  <a:lin scaled="0"/>
                </a:gradFill>
                <a:effectLst>
                  <a:outerShdw blurRad="38100" dist="38100" dir="2700000">
                    <a:srgbClr val="FFFFFF"/>
                  </a:outerShdw>
                </a:effectLst>
                <a:uLnTx/>
                <a:uFillTx/>
                <a:latin typeface="Times New Roman" panose="02020603050405020304" charset="0"/>
                <a:ea typeface="_x000B__x000C_"/>
                <a:cs typeface="+mn-cs"/>
              </a:rPr>
              <a:t>画时序图 </a:t>
            </a:r>
            <a:endParaRPr kumimoji="0" lang="zh-CN" altLang="en-US" sz="2400" b="1" i="0" u="none" strike="noStrike" kern="1200" cap="none" spc="0" normalizeH="0" baseline="0" noProof="1">
              <a:ln>
                <a:noFill/>
              </a:ln>
              <a:gradFill>
                <a:gsLst>
                  <a:gs pos="0">
                    <a:srgbClr val="012D86"/>
                  </a:gs>
                  <a:gs pos="100000">
                    <a:srgbClr val="0E2557"/>
                  </a:gs>
                </a:gsLst>
                <a:lin scaled="0"/>
              </a:gradFill>
              <a:effectLst>
                <a:outerShdw blurRad="38100" dist="38100" dir="2700000">
                  <a:srgbClr val="FFFFFF"/>
                </a:outerShdw>
              </a:effectLst>
              <a:uLnTx/>
              <a:uFillTx/>
              <a:latin typeface="Times New Roman" panose="02020603050405020304" charset="0"/>
              <a:ea typeface="宋体" panose="02010600030101010101" pitchFamily="2" charset="-122"/>
              <a:cs typeface="+mn-cs"/>
            </a:endParaRPr>
          </a:p>
          <a:p>
            <a:pPr marL="457200" marR="0" lvl="1" indent="0" algn="l" defTabSz="914400" rtl="0" eaLnBrk="0" fontAlgn="base" latinLnBrk="0" hangingPunct="0">
              <a:lnSpc>
                <a:spcPct val="70000"/>
              </a:lnSpc>
              <a:spcBef>
                <a:spcPct val="50000"/>
              </a:spcBef>
              <a:spcAft>
                <a:spcPct val="0"/>
              </a:spcAft>
              <a:buClr>
                <a:schemeClr val="bg1"/>
              </a:buClr>
              <a:buSzTx/>
              <a:buFont typeface="Arial" panose="020B0604020202020204" pitchFamily="34" charset="0"/>
              <a:buNone/>
              <a:defRPr/>
            </a:pPr>
            <a:r>
              <a:rPr lang="en-US" altLang="zh-CN" sz="2400" b="1">
                <a:ln>
                  <a:noFill/>
                </a:ln>
                <a:gradFill>
                  <a:gsLst>
                    <a:gs pos="0">
                      <a:srgbClr val="012D86"/>
                    </a:gs>
                    <a:gs pos="100000">
                      <a:srgbClr val="0E2557"/>
                    </a:gs>
                  </a:gsLst>
                  <a:lin scaled="0"/>
                </a:gradFill>
                <a:effectLst>
                  <a:outerShdw blurRad="38100" dist="38100" dir="2700000">
                    <a:srgbClr val="FFFFFF"/>
                  </a:outerShdw>
                </a:effectLst>
                <a:uLnTx/>
                <a:uFillTx/>
                <a:latin typeface="微软雅黑" panose="020B0503020204020204" charset="-122"/>
                <a:ea typeface="微软雅黑" panose="020B0503020204020204" charset="-122"/>
                <a:sym typeface="+mn-ea"/>
              </a:rPr>
              <a:t>⑧</a:t>
            </a:r>
            <a:r>
              <a:rPr kumimoji="0" lang="zh-CN" altLang="en-US" sz="2400" b="1" i="0" u="none" strike="noStrike" kern="1200" cap="none" spc="0" normalizeH="0" baseline="0" noProof="1">
                <a:ln>
                  <a:noFill/>
                </a:ln>
                <a:gradFill>
                  <a:gsLst>
                    <a:gs pos="0">
                      <a:srgbClr val="012D86"/>
                    </a:gs>
                    <a:gs pos="100000">
                      <a:srgbClr val="0E2557"/>
                    </a:gs>
                  </a:gsLst>
                  <a:lin scaled="0"/>
                </a:gradFill>
                <a:effectLst>
                  <a:outerShdw blurRad="38100" dist="38100" dir="2700000">
                    <a:srgbClr val="FFFFFF"/>
                  </a:outerShdw>
                </a:effectLst>
                <a:uLnTx/>
                <a:uFillTx/>
                <a:latin typeface="Times New Roman" panose="02020603050405020304" charset="0"/>
                <a:ea typeface="_x000B__x000C_"/>
                <a:cs typeface="+mn-cs"/>
              </a:rPr>
              <a:t>说明其逻辑功能，观察电路是否正常工作</a:t>
            </a:r>
            <a:endParaRPr kumimoji="0" lang="zh-CN" altLang="en-US" sz="2400" b="1" i="0" u="none" strike="noStrike" kern="1200" cap="none" spc="0" normalizeH="0" baseline="0" noProof="1">
              <a:ln>
                <a:noFill/>
              </a:ln>
              <a:gradFill>
                <a:gsLst>
                  <a:gs pos="0">
                    <a:srgbClr val="012D86"/>
                  </a:gs>
                  <a:gs pos="100000">
                    <a:srgbClr val="0E2557"/>
                  </a:gs>
                </a:gsLst>
                <a:lin scaled="0"/>
              </a:gradFill>
              <a:effectLst>
                <a:outerShdw blurRad="38100" dist="38100" dir="2700000">
                  <a:srgbClr val="FFFFFF"/>
                </a:outerShdw>
              </a:effectLst>
              <a:uLnTx/>
              <a:uFillTx/>
              <a:latin typeface="Times New Roman" panose="02020603050405020304" charset="0"/>
              <a:ea typeface="_x000B__x000C_"/>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45">
                                            <p:txEl>
                                              <p:charRg st="0" end="10"/>
                                            </p:txEl>
                                          </p:spTgt>
                                        </p:tgtEl>
                                        <p:attrNameLst>
                                          <p:attrName>style.visibility</p:attrName>
                                        </p:attrNameLst>
                                      </p:cBhvr>
                                      <p:to>
                                        <p:strVal val="visible"/>
                                      </p:to>
                                    </p:set>
                                    <p:animEffect transition="in" filter="wipe(left)">
                                      <p:cBhvr>
                                        <p:cTn id="7" dur="500"/>
                                        <p:tgtEl>
                                          <p:spTgt spid="112645">
                                            <p:txEl>
                                              <p:charRg st="0" end="10"/>
                                            </p:txEl>
                                          </p:spTgt>
                                        </p:tgtEl>
                                      </p:cBhvr>
                                    </p:animEffect>
                                  </p:childTnLst>
                                </p:cTn>
                              </p:par>
                            </p:childTnLst>
                          </p:cTn>
                        </p:par>
                        <p:par>
                          <p:cTn id="8" fill="hold">
                            <p:stCondLst>
                              <p:cond delay="500"/>
                            </p:stCondLst>
                            <p:childTnLst>
                              <p:par>
                                <p:cTn id="9" presetID="22" presetClass="entr" presetSubtype="8" fill="hold" grpId="0" nodeType="afterEffect">
                                  <p:stCondLst>
                                    <p:cond delay="500"/>
                                  </p:stCondLst>
                                  <p:childTnLst>
                                    <p:set>
                                      <p:cBhvr>
                                        <p:cTn id="10" dur="1" fill="hold">
                                          <p:stCondLst>
                                            <p:cond delay="0"/>
                                          </p:stCondLst>
                                        </p:cTn>
                                        <p:tgtEl>
                                          <p:spTgt spid="112645">
                                            <p:txEl>
                                              <p:charRg st="10" end="36"/>
                                            </p:txEl>
                                          </p:spTgt>
                                        </p:tgtEl>
                                        <p:attrNameLst>
                                          <p:attrName>style.visibility</p:attrName>
                                        </p:attrNameLst>
                                      </p:cBhvr>
                                      <p:to>
                                        <p:strVal val="visible"/>
                                      </p:to>
                                    </p:set>
                                    <p:animEffect transition="in" filter="wipe(left)">
                                      <p:cBhvr>
                                        <p:cTn id="11" dur="500"/>
                                        <p:tgtEl>
                                          <p:spTgt spid="112645">
                                            <p:txEl>
                                              <p:charRg st="10" end="36"/>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2645">
                                            <p:txEl>
                                              <p:charRg st="36" end="43"/>
                                            </p:txEl>
                                          </p:spTgt>
                                        </p:tgtEl>
                                        <p:attrNameLst>
                                          <p:attrName>style.visibility</p:attrName>
                                        </p:attrNameLst>
                                      </p:cBhvr>
                                      <p:to>
                                        <p:strVal val="visible"/>
                                      </p:to>
                                    </p:set>
                                    <p:animEffect transition="in" filter="wipe(left)">
                                      <p:cBhvr>
                                        <p:cTn id="16" dur="500"/>
                                        <p:tgtEl>
                                          <p:spTgt spid="112645">
                                            <p:txEl>
                                              <p:charRg st="36" end="43"/>
                                            </p:txEl>
                                          </p:spTgt>
                                        </p:tgtEl>
                                      </p:cBhvr>
                                    </p:animEffect>
                                  </p:childTnLst>
                                </p:cTn>
                              </p:par>
                            </p:childTnLst>
                          </p:cTn>
                        </p:par>
                        <p:par>
                          <p:cTn id="17" fill="hold">
                            <p:stCondLst>
                              <p:cond delay="500"/>
                            </p:stCondLst>
                            <p:childTnLst>
                              <p:par>
                                <p:cTn id="18" presetID="22" presetClass="entr" presetSubtype="8" fill="hold" grpId="0" nodeType="afterEffect">
                                  <p:stCondLst>
                                    <p:cond delay="1500"/>
                                  </p:stCondLst>
                                  <p:childTnLst>
                                    <p:set>
                                      <p:cBhvr>
                                        <p:cTn id="19" dur="1" fill="hold">
                                          <p:stCondLst>
                                            <p:cond delay="0"/>
                                          </p:stCondLst>
                                        </p:cTn>
                                        <p:tgtEl>
                                          <p:spTgt spid="112645">
                                            <p:txEl>
                                              <p:charRg st="43" end="59"/>
                                            </p:txEl>
                                          </p:spTgt>
                                        </p:tgtEl>
                                        <p:attrNameLst>
                                          <p:attrName>style.visibility</p:attrName>
                                        </p:attrNameLst>
                                      </p:cBhvr>
                                      <p:to>
                                        <p:strVal val="visible"/>
                                      </p:to>
                                    </p:set>
                                    <p:animEffect transition="in" filter="wipe(left)">
                                      <p:cBhvr>
                                        <p:cTn id="20" dur="500"/>
                                        <p:tgtEl>
                                          <p:spTgt spid="112645">
                                            <p:txEl>
                                              <p:charRg st="43" end="59"/>
                                            </p:txEl>
                                          </p:spTgt>
                                        </p:tgtEl>
                                      </p:cBhvr>
                                    </p:animEffect>
                                  </p:childTnLst>
                                </p:cTn>
                              </p:par>
                            </p:childTnLst>
                          </p:cTn>
                        </p:par>
                        <p:par>
                          <p:cTn id="21" fill="hold">
                            <p:stCondLst>
                              <p:cond delay="2500"/>
                            </p:stCondLst>
                            <p:childTnLst>
                              <p:par>
                                <p:cTn id="22" presetID="22" presetClass="entr" presetSubtype="8" fill="hold" grpId="0" nodeType="afterEffect">
                                  <p:stCondLst>
                                    <p:cond delay="1000"/>
                                  </p:stCondLst>
                                  <p:childTnLst>
                                    <p:set>
                                      <p:cBhvr>
                                        <p:cTn id="23" dur="1" fill="hold">
                                          <p:stCondLst>
                                            <p:cond delay="0"/>
                                          </p:stCondLst>
                                        </p:cTn>
                                        <p:tgtEl>
                                          <p:spTgt spid="112645">
                                            <p:txEl>
                                              <p:charRg st="59" end="69"/>
                                            </p:txEl>
                                          </p:spTgt>
                                        </p:tgtEl>
                                        <p:attrNameLst>
                                          <p:attrName>style.visibility</p:attrName>
                                        </p:attrNameLst>
                                      </p:cBhvr>
                                      <p:to>
                                        <p:strVal val="visible"/>
                                      </p:to>
                                    </p:set>
                                    <p:animEffect transition="in" filter="wipe(left)">
                                      <p:cBhvr>
                                        <p:cTn id="24" dur="500"/>
                                        <p:tgtEl>
                                          <p:spTgt spid="112645">
                                            <p:txEl>
                                              <p:charRg st="59" end="69"/>
                                            </p:txEl>
                                          </p:spTgt>
                                        </p:tgtEl>
                                      </p:cBhvr>
                                    </p:animEffect>
                                  </p:childTnLst>
                                </p:cTn>
                              </p:par>
                              <p:par>
                                <p:cTn id="25" presetID="22" presetClass="entr" presetSubtype="8" fill="hold" grpId="0" nodeType="withEffect">
                                  <p:stCondLst>
                                    <p:cond delay="1500"/>
                                  </p:stCondLst>
                                  <p:childTnLst>
                                    <p:set>
                                      <p:cBhvr>
                                        <p:cTn id="26" dur="1" fill="hold">
                                          <p:stCondLst>
                                            <p:cond delay="0"/>
                                          </p:stCondLst>
                                        </p:cTn>
                                        <p:tgtEl>
                                          <p:spTgt spid="112645">
                                            <p:txEl>
                                              <p:charRg st="5" end="5"/>
                                            </p:txEl>
                                          </p:spTgt>
                                        </p:tgtEl>
                                        <p:attrNameLst>
                                          <p:attrName>style.visibility</p:attrName>
                                        </p:attrNameLst>
                                      </p:cBhvr>
                                      <p:to>
                                        <p:strVal val="visible"/>
                                      </p:to>
                                    </p:set>
                                    <p:animEffect transition="in" filter="wipe(left)">
                                      <p:cBhvr>
                                        <p:cTn id="27" dur="500"/>
                                        <p:tgtEl>
                                          <p:spTgt spid="112645">
                                            <p:txEl>
                                              <p:charRg st="5" end="5"/>
                                            </p:txEl>
                                          </p:spTgt>
                                        </p:tgtEl>
                                      </p:cBhvr>
                                    </p:animEffect>
                                  </p:childTnLst>
                                </p:cTn>
                              </p:par>
                            </p:childTnLst>
                          </p:cTn>
                        </p:par>
                        <p:par>
                          <p:cTn id="28" fill="hold">
                            <p:stCondLst>
                              <p:cond delay="4000"/>
                            </p:stCondLst>
                            <p:childTnLst>
                              <p:par>
                                <p:cTn id="29" presetID="22" presetClass="entr" presetSubtype="8" fill="hold" grpId="0" nodeType="afterEffect">
                                  <p:stCondLst>
                                    <p:cond delay="1000"/>
                                  </p:stCondLst>
                                  <p:childTnLst>
                                    <p:set>
                                      <p:cBhvr>
                                        <p:cTn id="30" dur="1" fill="hold">
                                          <p:stCondLst>
                                            <p:cond delay="0"/>
                                          </p:stCondLst>
                                        </p:cTn>
                                        <p:tgtEl>
                                          <p:spTgt spid="112645">
                                            <p:txEl>
                                              <p:charRg st="69" end="95"/>
                                            </p:txEl>
                                          </p:spTgt>
                                        </p:tgtEl>
                                        <p:attrNameLst>
                                          <p:attrName>style.visibility</p:attrName>
                                        </p:attrNameLst>
                                      </p:cBhvr>
                                      <p:to>
                                        <p:strVal val="visible"/>
                                      </p:to>
                                    </p:set>
                                    <p:animEffect transition="in" filter="wipe(left)">
                                      <p:cBhvr>
                                        <p:cTn id="31" dur="500"/>
                                        <p:tgtEl>
                                          <p:spTgt spid="112645">
                                            <p:txEl>
                                              <p:charRg st="69" end="95"/>
                                            </p:txEl>
                                          </p:spTgt>
                                        </p:tgtEl>
                                      </p:cBhvr>
                                    </p:animEffect>
                                  </p:childTnLst>
                                </p:cTn>
                              </p:par>
                            </p:childTnLst>
                          </p:cTn>
                        </p:par>
                        <p:par>
                          <p:cTn id="32" fill="hold">
                            <p:stCondLst>
                              <p:cond delay="5500"/>
                            </p:stCondLst>
                            <p:childTnLst>
                              <p:par>
                                <p:cTn id="33" presetID="22" presetClass="entr" presetSubtype="8" fill="hold" grpId="0" nodeType="afterEffect">
                                  <p:stCondLst>
                                    <p:cond delay="1000"/>
                                  </p:stCondLst>
                                  <p:childTnLst>
                                    <p:set>
                                      <p:cBhvr>
                                        <p:cTn id="34" dur="1" fill="hold">
                                          <p:stCondLst>
                                            <p:cond delay="0"/>
                                          </p:stCondLst>
                                        </p:cTn>
                                        <p:tgtEl>
                                          <p:spTgt spid="112645">
                                            <p:txEl>
                                              <p:charRg st="95" end="106"/>
                                            </p:txEl>
                                          </p:spTgt>
                                        </p:tgtEl>
                                        <p:attrNameLst>
                                          <p:attrName>style.visibility</p:attrName>
                                        </p:attrNameLst>
                                      </p:cBhvr>
                                      <p:to>
                                        <p:strVal val="visible"/>
                                      </p:to>
                                    </p:set>
                                    <p:animEffect transition="in" filter="wipe(left)">
                                      <p:cBhvr>
                                        <p:cTn id="35" dur="500"/>
                                        <p:tgtEl>
                                          <p:spTgt spid="112645">
                                            <p:txEl>
                                              <p:charRg st="95" end="106"/>
                                            </p:txEl>
                                          </p:spTgt>
                                        </p:tgtEl>
                                      </p:cBhvr>
                                    </p:animEffect>
                                  </p:childTnLst>
                                </p:cTn>
                              </p:par>
                            </p:childTnLst>
                          </p:cTn>
                        </p:par>
                        <p:par>
                          <p:cTn id="36" fill="hold">
                            <p:stCondLst>
                              <p:cond delay="7000"/>
                            </p:stCondLst>
                            <p:childTnLst>
                              <p:par>
                                <p:cTn id="37" presetID="22" presetClass="entr" presetSubtype="8" fill="hold" grpId="0" nodeType="afterEffect">
                                  <p:stCondLst>
                                    <p:cond delay="1000"/>
                                  </p:stCondLst>
                                  <p:childTnLst>
                                    <p:set>
                                      <p:cBhvr>
                                        <p:cTn id="38" dur="1" fill="hold">
                                          <p:stCondLst>
                                            <p:cond delay="0"/>
                                          </p:stCondLst>
                                        </p:cTn>
                                        <p:tgtEl>
                                          <p:spTgt spid="112645">
                                            <p:txEl>
                                              <p:charRg st="106" end="116"/>
                                            </p:txEl>
                                          </p:spTgt>
                                        </p:tgtEl>
                                        <p:attrNameLst>
                                          <p:attrName>style.visibility</p:attrName>
                                        </p:attrNameLst>
                                      </p:cBhvr>
                                      <p:to>
                                        <p:strVal val="visible"/>
                                      </p:to>
                                    </p:set>
                                    <p:animEffect transition="in" filter="wipe(left)">
                                      <p:cBhvr>
                                        <p:cTn id="39" dur="500"/>
                                        <p:tgtEl>
                                          <p:spTgt spid="112645">
                                            <p:txEl>
                                              <p:charRg st="106" end="116"/>
                                            </p:txEl>
                                          </p:spTgt>
                                        </p:tgtEl>
                                      </p:cBhvr>
                                    </p:animEffect>
                                  </p:childTnLst>
                                </p:cTn>
                              </p:par>
                            </p:childTnLst>
                          </p:cTn>
                        </p:par>
                        <p:par>
                          <p:cTn id="40" fill="hold">
                            <p:stCondLst>
                              <p:cond delay="8500"/>
                            </p:stCondLst>
                            <p:childTnLst>
                              <p:par>
                                <p:cTn id="41" presetID="22" presetClass="entr" presetSubtype="8" fill="hold" grpId="0" nodeType="afterEffect">
                                  <p:stCondLst>
                                    <p:cond delay="1000"/>
                                  </p:stCondLst>
                                  <p:childTnLst>
                                    <p:set>
                                      <p:cBhvr>
                                        <p:cTn id="42" dur="1" fill="hold">
                                          <p:stCondLst>
                                            <p:cond delay="0"/>
                                          </p:stCondLst>
                                        </p:cTn>
                                        <p:tgtEl>
                                          <p:spTgt spid="112645">
                                            <p:txEl>
                                              <p:charRg st="116" end="124"/>
                                            </p:txEl>
                                          </p:spTgt>
                                        </p:tgtEl>
                                        <p:attrNameLst>
                                          <p:attrName>style.visibility</p:attrName>
                                        </p:attrNameLst>
                                      </p:cBhvr>
                                      <p:to>
                                        <p:strVal val="visible"/>
                                      </p:to>
                                    </p:set>
                                    <p:animEffect transition="in" filter="wipe(left)">
                                      <p:cBhvr>
                                        <p:cTn id="43" dur="500"/>
                                        <p:tgtEl>
                                          <p:spTgt spid="112645">
                                            <p:txEl>
                                              <p:charRg st="116" end="124"/>
                                            </p:txEl>
                                          </p:spTgt>
                                        </p:tgtEl>
                                      </p:cBhvr>
                                    </p:animEffect>
                                  </p:childTnLst>
                                </p:cTn>
                              </p:par>
                            </p:childTnLst>
                          </p:cTn>
                        </p:par>
                        <p:par>
                          <p:cTn id="44" fill="hold">
                            <p:stCondLst>
                              <p:cond delay="10000"/>
                            </p:stCondLst>
                            <p:childTnLst>
                              <p:par>
                                <p:cTn id="45" presetID="22" presetClass="entr" presetSubtype="8" fill="hold" grpId="0" nodeType="afterEffect">
                                  <p:stCondLst>
                                    <p:cond delay="1000"/>
                                  </p:stCondLst>
                                  <p:childTnLst>
                                    <p:set>
                                      <p:cBhvr>
                                        <p:cTn id="46" dur="1" fill="hold">
                                          <p:stCondLst>
                                            <p:cond delay="0"/>
                                          </p:stCondLst>
                                        </p:cTn>
                                        <p:tgtEl>
                                          <p:spTgt spid="112645">
                                            <p:txEl>
                                              <p:charRg st="124" end="145"/>
                                            </p:txEl>
                                          </p:spTgt>
                                        </p:tgtEl>
                                        <p:attrNameLst>
                                          <p:attrName>style.visibility</p:attrName>
                                        </p:attrNameLst>
                                      </p:cBhvr>
                                      <p:to>
                                        <p:strVal val="visible"/>
                                      </p:to>
                                    </p:set>
                                    <p:animEffect transition="in" filter="wipe(left)">
                                      <p:cBhvr>
                                        <p:cTn id="47" dur="500"/>
                                        <p:tgtEl>
                                          <p:spTgt spid="112645">
                                            <p:txEl>
                                              <p:charRg st="124" end="14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5"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6.2 时序逻辑电路的一般分析方法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762000" y="1066800"/>
            <a:ext cx="6847205" cy="868045"/>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6</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2</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1</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分析时序逻辑电路的一般步骤</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2" name="文本框 1"/>
          <p:cNvSpPr txBox="1"/>
          <p:nvPr/>
        </p:nvSpPr>
        <p:spPr>
          <a:xfrm>
            <a:off x="706120" y="1766570"/>
            <a:ext cx="2540000" cy="460375"/>
          </a:xfrm>
          <a:prstGeom prst="rect">
            <a:avLst/>
          </a:prstGeom>
          <a:noFill/>
        </p:spPr>
        <p:txBody>
          <a:bodyPr wrap="square" rtlCol="0" anchor="t">
            <a:spAutoFit/>
          </a:bodyPr>
          <a:p>
            <a:r>
              <a:rPr lang="en-US" sz="2400" b="1" dirty="0">
                <a:solidFill>
                  <a:srgbClr val="FE09D6"/>
                </a:solidFill>
                <a:latin typeface="Times New Roman" panose="02020603050405020304" charset="0"/>
                <a:ea typeface="楷体_GB2312" pitchFamily="49" charset="-122"/>
                <a:cs typeface="Times New Roman" panose="02020603050405020304" charset="0"/>
              </a:rPr>
              <a:t> 2. </a:t>
            </a:r>
            <a:r>
              <a:rPr lang="en-US" sz="2400" b="1" dirty="0">
                <a:solidFill>
                  <a:srgbClr val="FE09D6"/>
                </a:solidFill>
                <a:latin typeface="Times New Roman" panose="02020603050405020304" charset="0"/>
                <a:ea typeface="楷体_GB2312" pitchFamily="49" charset="-122"/>
                <a:cs typeface="Times New Roman" panose="02020603050405020304" charset="0"/>
              </a:rPr>
              <a:t>相关概念</a:t>
            </a:r>
            <a:endParaRPr lang="en-US" sz="2400" b="1" dirty="0">
              <a:solidFill>
                <a:srgbClr val="FE09D6"/>
              </a:solidFill>
              <a:latin typeface="Times New Roman" panose="02020603050405020304" charset="0"/>
              <a:ea typeface="楷体_GB2312" pitchFamily="49" charset="-122"/>
              <a:cs typeface="Times New Roman" panose="02020603050405020304" charset="0"/>
            </a:endParaRPr>
          </a:p>
        </p:txBody>
      </p:sp>
      <p:sp>
        <p:nvSpPr>
          <p:cNvPr id="3" name="文本框 2"/>
          <p:cNvSpPr txBox="1"/>
          <p:nvPr/>
        </p:nvSpPr>
        <p:spPr>
          <a:xfrm>
            <a:off x="762000" y="2226945"/>
            <a:ext cx="4189730" cy="460375"/>
          </a:xfrm>
          <a:prstGeom prst="rect">
            <a:avLst/>
          </a:prstGeom>
          <a:noFill/>
        </p:spPr>
        <p:txBody>
          <a:bodyPr wrap="square" rtlCol="0" anchor="t">
            <a:spAutoFit/>
          </a:bodyPr>
          <a:p>
            <a:pPr lvl="0" algn="l">
              <a:buClrTx/>
              <a:buSzTx/>
              <a:buFontTx/>
            </a:pPr>
            <a:r>
              <a:rPr lang="zh-CN" altLang="en-US" sz="2400" b="1">
                <a:gradFill>
                  <a:gsLst>
                    <a:gs pos="0">
                      <a:srgbClr val="012D86"/>
                    </a:gs>
                    <a:gs pos="100000">
                      <a:srgbClr val="0E2557"/>
                    </a:gs>
                  </a:gsLst>
                  <a:lin scaled="0"/>
                </a:gradFill>
                <a:sym typeface="+mn-ea"/>
              </a:rPr>
              <a:t>(１)有效状态和有效循环</a:t>
            </a:r>
            <a:endParaRPr lang="zh-CN" altLang="en-US" sz="2400" b="1">
              <a:gradFill>
                <a:gsLst>
                  <a:gs pos="0">
                    <a:srgbClr val="012D86"/>
                  </a:gs>
                  <a:gs pos="100000">
                    <a:srgbClr val="0E2557"/>
                  </a:gs>
                </a:gsLst>
                <a:lin scaled="0"/>
              </a:gradFill>
              <a:sym typeface="+mn-ea"/>
            </a:endParaRPr>
          </a:p>
        </p:txBody>
      </p:sp>
      <p:sp>
        <p:nvSpPr>
          <p:cNvPr id="5" name="文本框 4"/>
          <p:cNvSpPr txBox="1"/>
          <p:nvPr/>
        </p:nvSpPr>
        <p:spPr>
          <a:xfrm>
            <a:off x="739140" y="2654935"/>
            <a:ext cx="8007985" cy="829945"/>
          </a:xfrm>
          <a:prstGeom prst="rect">
            <a:avLst/>
          </a:prstGeom>
          <a:noFill/>
        </p:spPr>
        <p:txBody>
          <a:bodyPr wrap="square" rtlCol="0">
            <a:spAutoFit/>
          </a:bodyPr>
          <a:p>
            <a:pPr>
              <a:lnSpc>
                <a:spcPct val="100000"/>
              </a:lnSpc>
            </a:pPr>
            <a:r>
              <a:rPr lang="zh-CN" altLang="en-US" sz="2400" b="1">
                <a:gradFill>
                  <a:gsLst>
                    <a:gs pos="0">
                      <a:srgbClr val="012D86"/>
                    </a:gs>
                    <a:gs pos="100000">
                      <a:srgbClr val="0E2557"/>
                    </a:gs>
                  </a:gsLst>
                  <a:lin scaled="0"/>
                </a:gradFill>
              </a:rPr>
              <a:t>有效状态: 在时序逻辑电路中</a:t>
            </a:r>
            <a:r>
              <a:rPr lang="en-US" altLang="zh-CN" sz="2400" b="1">
                <a:gradFill>
                  <a:gsLst>
                    <a:gs pos="0">
                      <a:srgbClr val="012D86"/>
                    </a:gs>
                    <a:gs pos="100000">
                      <a:srgbClr val="0E2557"/>
                    </a:gs>
                  </a:gsLst>
                  <a:lin scaled="0"/>
                </a:gradFill>
              </a:rPr>
              <a:t>,</a:t>
            </a:r>
            <a:r>
              <a:rPr lang="zh-CN" altLang="en-US" sz="2400" b="1">
                <a:gradFill>
                  <a:gsLst>
                    <a:gs pos="0">
                      <a:srgbClr val="012D86"/>
                    </a:gs>
                    <a:gs pos="100000">
                      <a:srgbClr val="0E2557"/>
                    </a:gs>
                  </a:gsLst>
                  <a:lin scaled="0"/>
                </a:gradFill>
              </a:rPr>
              <a:t> 实现某个逻辑功能必须经历</a:t>
            </a:r>
            <a:endParaRPr lang="zh-CN" altLang="en-US" sz="2400" b="1">
              <a:gradFill>
                <a:gsLst>
                  <a:gs pos="0">
                    <a:srgbClr val="012D86"/>
                  </a:gs>
                  <a:gs pos="100000">
                    <a:srgbClr val="0E2557"/>
                  </a:gs>
                </a:gsLst>
                <a:lin scaled="0"/>
              </a:gradFill>
            </a:endParaRPr>
          </a:p>
          <a:p>
            <a:pPr>
              <a:lnSpc>
                <a:spcPct val="100000"/>
              </a:lnSpc>
            </a:pPr>
            <a:r>
              <a:rPr lang="zh-CN" altLang="en-US" sz="2400" b="1">
                <a:gradFill>
                  <a:gsLst>
                    <a:gs pos="0">
                      <a:srgbClr val="012D86"/>
                    </a:gs>
                    <a:gs pos="100000">
                      <a:srgbClr val="0E2557"/>
                    </a:gs>
                  </a:gsLst>
                  <a:lin scaled="0"/>
                </a:gradFill>
              </a:rPr>
              <a:t>                 的状态</a:t>
            </a:r>
            <a:r>
              <a:rPr lang="en-US" altLang="zh-CN" sz="2400" b="1">
                <a:gradFill>
                  <a:gsLst>
                    <a:gs pos="0">
                      <a:srgbClr val="012D86"/>
                    </a:gs>
                    <a:gs pos="100000">
                      <a:srgbClr val="0E2557"/>
                    </a:gs>
                  </a:gsLst>
                  <a:lin scaled="0"/>
                </a:gradFill>
              </a:rPr>
              <a:t>,</a:t>
            </a:r>
            <a:r>
              <a:rPr lang="zh-CN" altLang="en-US" sz="2400" b="1">
                <a:gradFill>
                  <a:gsLst>
                    <a:gs pos="0">
                      <a:srgbClr val="012D86"/>
                    </a:gs>
                    <a:gs pos="100000">
                      <a:srgbClr val="0E2557"/>
                    </a:gs>
                  </a:gsLst>
                  <a:lin scaled="0"/>
                </a:gradFill>
              </a:rPr>
              <a:t> 称为</a:t>
            </a:r>
            <a:r>
              <a:rPr lang="zh-CN" altLang="en-US" sz="2400" b="1">
                <a:gradFill>
                  <a:gsLst>
                    <a:gs pos="0">
                      <a:srgbClr val="012D86"/>
                    </a:gs>
                    <a:gs pos="100000">
                      <a:srgbClr val="0E2557"/>
                    </a:gs>
                  </a:gsLst>
                  <a:lin scaled="0"/>
                </a:gradFill>
                <a:sym typeface="+mn-ea"/>
              </a:rPr>
              <a:t>有</a:t>
            </a:r>
            <a:r>
              <a:rPr lang="zh-CN" altLang="en-US" sz="2400" b="1">
                <a:gradFill>
                  <a:gsLst>
                    <a:gs pos="0">
                      <a:srgbClr val="012D86"/>
                    </a:gs>
                    <a:gs pos="100000">
                      <a:srgbClr val="0E2557"/>
                    </a:gs>
                  </a:gsLst>
                  <a:lin scaled="0"/>
                </a:gradFill>
              </a:rPr>
              <a:t>效状态。</a:t>
            </a:r>
            <a:endParaRPr lang="zh-CN" altLang="en-US" sz="2400" b="1">
              <a:gradFill>
                <a:gsLst>
                  <a:gs pos="0">
                    <a:srgbClr val="012D86"/>
                  </a:gs>
                  <a:gs pos="100000">
                    <a:srgbClr val="0E2557"/>
                  </a:gs>
                </a:gsLst>
                <a:lin scaled="0"/>
              </a:gradFill>
            </a:endParaRPr>
          </a:p>
        </p:txBody>
      </p:sp>
      <p:sp>
        <p:nvSpPr>
          <p:cNvPr id="6" name="文本框 5"/>
          <p:cNvSpPr txBox="1"/>
          <p:nvPr/>
        </p:nvSpPr>
        <p:spPr>
          <a:xfrm>
            <a:off x="762000" y="3632200"/>
            <a:ext cx="8119110" cy="829945"/>
          </a:xfrm>
          <a:prstGeom prst="rect">
            <a:avLst/>
          </a:prstGeom>
          <a:noFill/>
        </p:spPr>
        <p:txBody>
          <a:bodyPr wrap="square" rtlCol="0">
            <a:spAutoFit/>
          </a:bodyPr>
          <a:p>
            <a:pPr lvl="0" algn="l">
              <a:buClrTx/>
              <a:buSzTx/>
              <a:buFontTx/>
            </a:pPr>
            <a:r>
              <a:rPr lang="zh-CN" altLang="en-US" sz="2400" b="1">
                <a:gradFill>
                  <a:gsLst>
                    <a:gs pos="0">
                      <a:srgbClr val="012D86"/>
                    </a:gs>
                    <a:gs pos="100000">
                      <a:srgbClr val="0E2557"/>
                    </a:gs>
                  </a:gsLst>
                  <a:lin scaled="0"/>
                </a:gradFill>
                <a:sym typeface="+mn-ea"/>
              </a:rPr>
              <a:t>有效循环: 在时序逻辑电路中，由有效状态形成的循环称为</a:t>
            </a:r>
            <a:endParaRPr lang="zh-CN" altLang="en-US" sz="2400" b="1">
              <a:gradFill>
                <a:gsLst>
                  <a:gs pos="0">
                    <a:srgbClr val="012D86"/>
                  </a:gs>
                  <a:gs pos="100000">
                    <a:srgbClr val="0E2557"/>
                  </a:gs>
                </a:gsLst>
                <a:lin scaled="0"/>
              </a:gradFill>
              <a:sym typeface="+mn-ea"/>
            </a:endParaRPr>
          </a:p>
          <a:p>
            <a:pPr lvl="0" algn="l">
              <a:buClrTx/>
              <a:buSzTx/>
              <a:buFontTx/>
            </a:pPr>
            <a:r>
              <a:rPr lang="zh-CN" altLang="en-US" sz="2400" b="1">
                <a:gradFill>
                  <a:gsLst>
                    <a:gs pos="0">
                      <a:srgbClr val="012D86"/>
                    </a:gs>
                    <a:gs pos="100000">
                      <a:srgbClr val="0E2557"/>
                    </a:gs>
                  </a:gsLst>
                  <a:lin scaled="0"/>
                </a:gradFill>
                <a:sym typeface="+mn-ea"/>
              </a:rPr>
              <a:t>                 有效循环。</a:t>
            </a:r>
            <a:endParaRPr lang="zh-CN" altLang="en-US" sz="2400" b="1">
              <a:gradFill>
                <a:gsLst>
                  <a:gs pos="0">
                    <a:srgbClr val="012D86"/>
                  </a:gs>
                  <a:gs pos="100000">
                    <a:srgbClr val="0E2557"/>
                  </a:gs>
                </a:gsLst>
                <a:lin scaled="0"/>
              </a:gradFill>
              <a:sym typeface="+mn-ea"/>
            </a:endParaRPr>
          </a:p>
        </p:txBody>
      </p:sp>
      <p:sp>
        <p:nvSpPr>
          <p:cNvPr id="7" name="文本框 6"/>
          <p:cNvSpPr txBox="1"/>
          <p:nvPr/>
        </p:nvSpPr>
        <p:spPr>
          <a:xfrm>
            <a:off x="739140" y="4462145"/>
            <a:ext cx="3974465" cy="460375"/>
          </a:xfrm>
          <a:prstGeom prst="rect">
            <a:avLst/>
          </a:prstGeom>
          <a:noFill/>
        </p:spPr>
        <p:txBody>
          <a:bodyPr wrap="square" rtlCol="0" anchor="t">
            <a:spAutoFit/>
          </a:bodyPr>
          <a:p>
            <a:r>
              <a:rPr lang="zh-CN" altLang="en-US" sz="2400" b="1">
                <a:solidFill>
                  <a:schemeClr val="tx1"/>
                </a:solidFill>
              </a:rPr>
              <a:t>(２)无效状态与无效循环</a:t>
            </a:r>
            <a:endParaRPr lang="zh-CN" altLang="en-US" sz="2400" b="1">
              <a:solidFill>
                <a:schemeClr val="tx1"/>
              </a:solidFill>
            </a:endParaRPr>
          </a:p>
        </p:txBody>
      </p:sp>
      <p:sp>
        <p:nvSpPr>
          <p:cNvPr id="8" name="文本框 7"/>
          <p:cNvSpPr txBox="1"/>
          <p:nvPr/>
        </p:nvSpPr>
        <p:spPr>
          <a:xfrm>
            <a:off x="762000" y="4922520"/>
            <a:ext cx="8119110" cy="829945"/>
          </a:xfrm>
          <a:prstGeom prst="rect">
            <a:avLst/>
          </a:prstGeom>
          <a:noFill/>
        </p:spPr>
        <p:txBody>
          <a:bodyPr wrap="square" rtlCol="0" anchor="t">
            <a:spAutoFit/>
          </a:bodyPr>
          <a:p>
            <a:r>
              <a:rPr lang="zh-CN" altLang="en-US" sz="2400" b="1">
                <a:gradFill>
                  <a:gsLst>
                    <a:gs pos="0">
                      <a:srgbClr val="012D86"/>
                    </a:gs>
                    <a:gs pos="100000">
                      <a:srgbClr val="0E2557"/>
                    </a:gs>
                  </a:gsLst>
                  <a:lin scaled="0"/>
                </a:gradFill>
              </a:rPr>
              <a:t>无效状态: 在时序逻辑电路中，实现某个逻辑功能不必经历</a:t>
            </a:r>
            <a:endParaRPr lang="zh-CN" altLang="en-US" sz="2400" b="1">
              <a:gradFill>
                <a:gsLst>
                  <a:gs pos="0">
                    <a:srgbClr val="012D86"/>
                  </a:gs>
                  <a:gs pos="100000">
                    <a:srgbClr val="0E2557"/>
                  </a:gs>
                </a:gsLst>
                <a:lin scaled="0"/>
              </a:gradFill>
            </a:endParaRPr>
          </a:p>
          <a:p>
            <a:r>
              <a:rPr lang="zh-CN" altLang="en-US" sz="2400" b="1">
                <a:gradFill>
                  <a:gsLst>
                    <a:gs pos="0">
                      <a:srgbClr val="012D86"/>
                    </a:gs>
                    <a:gs pos="100000">
                      <a:srgbClr val="0E2557"/>
                    </a:gs>
                  </a:gsLst>
                  <a:lin scaled="0"/>
                </a:gradFill>
              </a:rPr>
              <a:t>                 的状态称为无效状态。</a:t>
            </a:r>
            <a:endParaRPr lang="zh-CN" altLang="en-US" sz="2400" b="1">
              <a:gradFill>
                <a:gsLst>
                  <a:gs pos="0">
                    <a:srgbClr val="012D86"/>
                  </a:gs>
                  <a:gs pos="100000">
                    <a:srgbClr val="0E2557"/>
                  </a:gs>
                </a:gsLst>
                <a:lin scaled="0"/>
              </a:gradFill>
            </a:endParaRPr>
          </a:p>
        </p:txBody>
      </p:sp>
      <p:sp>
        <p:nvSpPr>
          <p:cNvPr id="9" name="文本框 8"/>
          <p:cNvSpPr txBox="1"/>
          <p:nvPr/>
        </p:nvSpPr>
        <p:spPr>
          <a:xfrm>
            <a:off x="739140" y="5752465"/>
            <a:ext cx="8228965" cy="460375"/>
          </a:xfrm>
          <a:prstGeom prst="rect">
            <a:avLst/>
          </a:prstGeom>
          <a:noFill/>
        </p:spPr>
        <p:txBody>
          <a:bodyPr wrap="square" rtlCol="0" anchor="t">
            <a:spAutoFit/>
          </a:bodyPr>
          <a:p>
            <a:r>
              <a:rPr lang="zh-CN" altLang="en-US" sz="2400" b="1">
                <a:gradFill>
                  <a:gsLst>
                    <a:gs pos="0">
                      <a:srgbClr val="012D86"/>
                    </a:gs>
                    <a:gs pos="100000">
                      <a:srgbClr val="0E2557"/>
                    </a:gs>
                  </a:gsLst>
                  <a:lin scaled="0"/>
                </a:gradFill>
              </a:rPr>
              <a:t>无效循环: 如果无效状态形成了循环，称为无效循环。</a:t>
            </a:r>
            <a:endParaRPr lang="zh-CN" altLang="en-US" sz="2400" b="1">
              <a:gradFill>
                <a:gsLst>
                  <a:gs pos="0">
                    <a:srgbClr val="012D86"/>
                  </a:gs>
                  <a:gs pos="100000">
                    <a:srgbClr val="0E2557"/>
                  </a:gs>
                </a:gsLst>
                <a:lin scaled="0"/>
              </a:gra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000" fill="hold">
                                          <p:stCondLst>
                                            <p:cond delay="0"/>
                                          </p:stCondLst>
                                        </p:cTn>
                                        <p:tgtEl>
                                          <p:spTgt spid="5">
                                            <p:txEl>
                                              <p:pRg st="0" end="0"/>
                                            </p:txEl>
                                          </p:spTgt>
                                        </p:tgtEl>
                                        <p:attrNameLst>
                                          <p:attrName>style.visibility</p:attrName>
                                        </p:attrNameLst>
                                      </p:cBhvr>
                                      <p:to>
                                        <p:strVal val="visible"/>
                                      </p:to>
                                    </p:set>
                                    <p:animEffect transition="in" filter="wipe(left)">
                                      <p:cBhvr>
                                        <p:cTn id="7" dur="1000"/>
                                        <p:tgtEl>
                                          <p:spTgt spid="5">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500"/>
                                  </p:stCondLst>
                                  <p:childTnLst>
                                    <p:set>
                                      <p:cBhvr>
                                        <p:cTn id="10" dur="1000" fill="hold">
                                          <p:stCondLst>
                                            <p:cond delay="0"/>
                                          </p:stCondLst>
                                        </p:cTn>
                                        <p:tgtEl>
                                          <p:spTgt spid="5">
                                            <p:txEl>
                                              <p:pRg st="1" end="1"/>
                                            </p:txEl>
                                          </p:spTgt>
                                        </p:tgtEl>
                                        <p:attrNameLst>
                                          <p:attrName>style.visibility</p:attrName>
                                        </p:attrNameLst>
                                      </p:cBhvr>
                                      <p:to>
                                        <p:strVal val="visible"/>
                                      </p:to>
                                    </p:set>
                                    <p:animEffect transition="in" filter="wipe(left)">
                                      <p:cBhvr>
                                        <p:cTn id="11" dur="1000"/>
                                        <p:tgtEl>
                                          <p:spTgt spid="5">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1000"/>
                                  </p:stCondLst>
                                  <p:childTnLst>
                                    <p:set>
                                      <p:cBhvr>
                                        <p:cTn id="15" dur="1000" fill="hold">
                                          <p:stCondLst>
                                            <p:cond delay="0"/>
                                          </p:stCondLst>
                                        </p:cTn>
                                        <p:tgtEl>
                                          <p:spTgt spid="6">
                                            <p:txEl>
                                              <p:pRg st="0" end="0"/>
                                            </p:txEl>
                                          </p:spTgt>
                                        </p:tgtEl>
                                        <p:attrNameLst>
                                          <p:attrName>style.visibility</p:attrName>
                                        </p:attrNameLst>
                                      </p:cBhvr>
                                      <p:to>
                                        <p:strVal val="visible"/>
                                      </p:to>
                                    </p:set>
                                    <p:animEffect transition="in" filter="wipe(left)">
                                      <p:cBhvr>
                                        <p:cTn id="16" dur="1000"/>
                                        <p:tgtEl>
                                          <p:spTgt spid="6">
                                            <p:txEl>
                                              <p:pRg st="0" end="0"/>
                                            </p:txEl>
                                          </p:spTgt>
                                        </p:tgtEl>
                                      </p:cBhvr>
                                    </p:animEffect>
                                  </p:childTnLst>
                                </p:cTn>
                              </p:par>
                            </p:childTnLst>
                          </p:cTn>
                        </p:par>
                        <p:par>
                          <p:cTn id="17" fill="hold">
                            <p:stCondLst>
                              <p:cond delay="2000"/>
                            </p:stCondLst>
                            <p:childTnLst>
                              <p:par>
                                <p:cTn id="18" presetID="22" presetClass="entr" presetSubtype="8" fill="hold" grpId="0" nodeType="afterEffect">
                                  <p:stCondLst>
                                    <p:cond delay="1000"/>
                                  </p:stCondLst>
                                  <p:childTnLst>
                                    <p:set>
                                      <p:cBhvr>
                                        <p:cTn id="19" dur="1000" fill="hold">
                                          <p:stCondLst>
                                            <p:cond delay="0"/>
                                          </p:stCondLst>
                                        </p:cTn>
                                        <p:tgtEl>
                                          <p:spTgt spid="6">
                                            <p:txEl>
                                              <p:pRg st="1" end="1"/>
                                            </p:txEl>
                                          </p:spTgt>
                                        </p:tgtEl>
                                        <p:attrNameLst>
                                          <p:attrName>style.visibility</p:attrName>
                                        </p:attrNameLst>
                                      </p:cBhvr>
                                      <p:to>
                                        <p:strVal val="visible"/>
                                      </p:to>
                                    </p:set>
                                    <p:animEffect transition="in" filter="wipe(left)">
                                      <p:cBhvr>
                                        <p:cTn id="20" dur="1000"/>
                                        <p:tgtEl>
                                          <p:spTgt spid="6">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000" fill="hold">
                                          <p:stCondLst>
                                            <p:cond delay="0"/>
                                          </p:stCondLst>
                                        </p:cTn>
                                        <p:tgtEl>
                                          <p:spTgt spid="8">
                                            <p:txEl>
                                              <p:pRg st="0" end="0"/>
                                            </p:txEl>
                                          </p:spTgt>
                                        </p:tgtEl>
                                        <p:attrNameLst>
                                          <p:attrName>style.visibility</p:attrName>
                                        </p:attrNameLst>
                                      </p:cBhvr>
                                      <p:to>
                                        <p:strVal val="visible"/>
                                      </p:to>
                                    </p:set>
                                    <p:animEffect transition="in" filter="wipe(left)">
                                      <p:cBhvr>
                                        <p:cTn id="29" dur="1000"/>
                                        <p:tgtEl>
                                          <p:spTgt spid="8">
                                            <p:txEl>
                                              <p:pRg st="0" end="0"/>
                                            </p:txEl>
                                          </p:spTgt>
                                        </p:tgtEl>
                                      </p:cBhvr>
                                    </p:animEffect>
                                  </p:childTnLst>
                                </p:cTn>
                              </p:par>
                            </p:childTnLst>
                          </p:cTn>
                        </p:par>
                        <p:par>
                          <p:cTn id="30" fill="hold">
                            <p:stCondLst>
                              <p:cond delay="1000"/>
                            </p:stCondLst>
                            <p:childTnLst>
                              <p:par>
                                <p:cTn id="31" presetID="22" presetClass="entr" presetSubtype="8" fill="hold" grpId="0" nodeType="afterEffect">
                                  <p:stCondLst>
                                    <p:cond delay="1000"/>
                                  </p:stCondLst>
                                  <p:childTnLst>
                                    <p:set>
                                      <p:cBhvr>
                                        <p:cTn id="32" dur="1000" fill="hold">
                                          <p:stCondLst>
                                            <p:cond delay="0"/>
                                          </p:stCondLst>
                                        </p:cTn>
                                        <p:tgtEl>
                                          <p:spTgt spid="8">
                                            <p:txEl>
                                              <p:pRg st="1" end="1"/>
                                            </p:txEl>
                                          </p:spTgt>
                                        </p:tgtEl>
                                        <p:attrNameLst>
                                          <p:attrName>style.visibility</p:attrName>
                                        </p:attrNameLst>
                                      </p:cBhvr>
                                      <p:to>
                                        <p:strVal val="visible"/>
                                      </p:to>
                                    </p:set>
                                    <p:animEffect transition="in" filter="wipe(left)">
                                      <p:cBhvr>
                                        <p:cTn id="33" dur="1000"/>
                                        <p:tgtEl>
                                          <p:spTgt spid="8">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000" fill="hold">
                                          <p:stCondLst>
                                            <p:cond delay="0"/>
                                          </p:stCondLst>
                                        </p:cTn>
                                        <p:tgtEl>
                                          <p:spTgt spid="9"/>
                                        </p:tgtEl>
                                        <p:attrNameLst>
                                          <p:attrName>style.visibility</p:attrName>
                                        </p:attrNameLst>
                                      </p:cBhvr>
                                      <p:to>
                                        <p:strVal val="visible"/>
                                      </p:to>
                                    </p:set>
                                    <p:animEffect transition="in" filter="wipe(left)">
                                      <p:cBhvr>
                                        <p:cTn id="38"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uiExpand="1" build="p"/>
      <p:bldP spid="7" grpId="0"/>
      <p:bldP spid="8" grpId="0" uiExpand="1" build="p"/>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294765" y="49847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6.1 </a:t>
            </a:r>
            <a:r>
              <a:rPr lang="en-US" altLang="zh-CN" b="1" dirty="0">
                <a:solidFill>
                  <a:srgbClr val="FF0000"/>
                </a:solidFill>
                <a:latin typeface="黑体" panose="02010609060101010101" pitchFamily="49" charset="-122"/>
                <a:ea typeface="黑体" panose="02010609060101010101" pitchFamily="49" charset="-122"/>
                <a:sym typeface="+mn-ea"/>
              </a:rPr>
              <a:t>时序逻辑电路的基本概念</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文本框 1"/>
          <p:cNvSpPr txBox="1"/>
          <p:nvPr/>
        </p:nvSpPr>
        <p:spPr>
          <a:xfrm>
            <a:off x="690245" y="1736090"/>
            <a:ext cx="3786505" cy="460375"/>
          </a:xfrm>
          <a:prstGeom prst="rect">
            <a:avLst/>
          </a:prstGeom>
          <a:noFill/>
        </p:spPr>
        <p:txBody>
          <a:bodyPr wrap="square" rtlCol="0" anchor="t">
            <a:spAutoFit/>
          </a:bodyPr>
          <a:p>
            <a:r>
              <a:rPr lang="zh-CN" altLang="en-US" sz="2400" b="1"/>
              <a:t>(３)能自启动与不能自启动</a:t>
            </a:r>
            <a:endParaRPr lang="zh-CN" altLang="en-US" sz="2400" b="1"/>
          </a:p>
        </p:txBody>
      </p:sp>
      <p:sp>
        <p:nvSpPr>
          <p:cNvPr id="5" name="文本框 4"/>
          <p:cNvSpPr txBox="1"/>
          <p:nvPr/>
        </p:nvSpPr>
        <p:spPr>
          <a:xfrm>
            <a:off x="629920" y="1275715"/>
            <a:ext cx="2540000" cy="460375"/>
          </a:xfrm>
          <a:prstGeom prst="rect">
            <a:avLst/>
          </a:prstGeom>
          <a:noFill/>
        </p:spPr>
        <p:txBody>
          <a:bodyPr wrap="square" rtlCol="0" anchor="t">
            <a:spAutoFit/>
          </a:bodyPr>
          <a:p>
            <a:r>
              <a:rPr lang="en-US" sz="2400" b="1" dirty="0">
                <a:solidFill>
                  <a:srgbClr val="FE09D6"/>
                </a:solidFill>
                <a:latin typeface="Times New Roman" panose="02020603050405020304" charset="0"/>
                <a:ea typeface="楷体_GB2312" pitchFamily="49" charset="-122"/>
                <a:cs typeface="Times New Roman" panose="02020603050405020304" charset="0"/>
              </a:rPr>
              <a:t> 2. </a:t>
            </a:r>
            <a:r>
              <a:rPr lang="en-US" sz="2400" b="1" dirty="0">
                <a:solidFill>
                  <a:srgbClr val="FE09D6"/>
                </a:solidFill>
                <a:latin typeface="Times New Roman" panose="02020603050405020304" charset="0"/>
                <a:ea typeface="楷体_GB2312" pitchFamily="49" charset="-122"/>
                <a:cs typeface="Times New Roman" panose="02020603050405020304" charset="0"/>
              </a:rPr>
              <a:t>相关概念</a:t>
            </a:r>
            <a:endParaRPr lang="en-US" sz="2400" b="1" dirty="0">
              <a:solidFill>
                <a:srgbClr val="FE09D6"/>
              </a:solidFill>
              <a:latin typeface="Times New Roman" panose="02020603050405020304" charset="0"/>
              <a:ea typeface="楷体_GB2312" pitchFamily="49" charset="-122"/>
              <a:cs typeface="Times New Roman" panose="02020603050405020304" charset="0"/>
            </a:endParaRPr>
          </a:p>
        </p:txBody>
      </p:sp>
      <p:sp>
        <p:nvSpPr>
          <p:cNvPr id="6" name="文本框 5"/>
          <p:cNvSpPr txBox="1"/>
          <p:nvPr/>
        </p:nvSpPr>
        <p:spPr>
          <a:xfrm>
            <a:off x="690245" y="2276475"/>
            <a:ext cx="8298815" cy="1198880"/>
          </a:xfrm>
          <a:prstGeom prst="rect">
            <a:avLst/>
          </a:prstGeom>
          <a:noFill/>
        </p:spPr>
        <p:txBody>
          <a:bodyPr wrap="square" rtlCol="0">
            <a:spAutoFit/>
          </a:bodyPr>
          <a:p>
            <a:r>
              <a:rPr lang="zh-CN" altLang="en-US" sz="2400" b="1">
                <a:gradFill>
                  <a:gsLst>
                    <a:gs pos="0">
                      <a:srgbClr val="012D86"/>
                    </a:gs>
                    <a:gs pos="100000">
                      <a:srgbClr val="0E2557"/>
                    </a:gs>
                  </a:gsLst>
                  <a:lin scaled="0"/>
                </a:gradFill>
              </a:rPr>
              <a:t>能自启动: 在时序逻辑电路中</a:t>
            </a:r>
            <a:r>
              <a:rPr lang="en-US" altLang="zh-CN" sz="2400" b="1">
                <a:gradFill>
                  <a:gsLst>
                    <a:gs pos="0">
                      <a:srgbClr val="012D86"/>
                    </a:gs>
                    <a:gs pos="100000">
                      <a:srgbClr val="0E2557"/>
                    </a:gs>
                  </a:gsLst>
                  <a:lin scaled="0"/>
                </a:gradFill>
              </a:rPr>
              <a:t>, </a:t>
            </a:r>
            <a:r>
              <a:rPr lang="zh-CN" altLang="en-US" sz="2400" b="1">
                <a:gradFill>
                  <a:gsLst>
                    <a:gs pos="0">
                      <a:srgbClr val="012D86"/>
                    </a:gs>
                    <a:gs pos="100000">
                      <a:srgbClr val="0E2557"/>
                    </a:gs>
                  </a:gsLst>
                  <a:lin scaled="0"/>
                </a:gradFill>
              </a:rPr>
              <a:t>如果无效状态经过若干个时钟</a:t>
            </a:r>
            <a:endParaRPr lang="zh-CN" altLang="en-US" sz="2400" b="1">
              <a:gradFill>
                <a:gsLst>
                  <a:gs pos="0">
                    <a:srgbClr val="012D86"/>
                  </a:gs>
                  <a:gs pos="100000">
                    <a:srgbClr val="0E2557"/>
                  </a:gs>
                </a:gsLst>
                <a:lin scaled="0"/>
              </a:gradFill>
            </a:endParaRPr>
          </a:p>
          <a:p>
            <a:r>
              <a:rPr lang="zh-CN" altLang="en-US" sz="2400" b="1">
                <a:gradFill>
                  <a:gsLst>
                    <a:gs pos="0">
                      <a:srgbClr val="012D86"/>
                    </a:gs>
                    <a:gs pos="100000">
                      <a:srgbClr val="0E2557"/>
                    </a:gs>
                  </a:gsLst>
                  <a:lin scaled="0"/>
                </a:gradFill>
              </a:rPr>
              <a:t>                 脉冲后能够进入有效循环中的某个有效状态</a:t>
            </a:r>
            <a:r>
              <a:rPr lang="en-US" altLang="zh-CN" sz="2400" b="1">
                <a:gradFill>
                  <a:gsLst>
                    <a:gs pos="0">
                      <a:srgbClr val="012D86"/>
                    </a:gs>
                    <a:gs pos="100000">
                      <a:srgbClr val="0E2557"/>
                    </a:gs>
                  </a:gsLst>
                  <a:lin scaled="0"/>
                </a:gradFill>
              </a:rPr>
              <a:t>, </a:t>
            </a:r>
            <a:r>
              <a:rPr lang="zh-CN" altLang="en-US" sz="2400" b="1">
                <a:gradFill>
                  <a:gsLst>
                    <a:gs pos="0">
                      <a:srgbClr val="012D86"/>
                    </a:gs>
                    <a:gs pos="100000">
                      <a:srgbClr val="0E2557"/>
                    </a:gs>
                  </a:gsLst>
                  <a:lin scaled="0"/>
                </a:gradFill>
              </a:rPr>
              <a:t>则这</a:t>
            </a:r>
            <a:endParaRPr lang="zh-CN" altLang="en-US" sz="2400" b="1">
              <a:gradFill>
                <a:gsLst>
                  <a:gs pos="0">
                    <a:srgbClr val="012D86"/>
                  </a:gs>
                  <a:gs pos="100000">
                    <a:srgbClr val="0E2557"/>
                  </a:gs>
                </a:gsLst>
                <a:lin scaled="0"/>
              </a:gradFill>
            </a:endParaRPr>
          </a:p>
          <a:p>
            <a:r>
              <a:rPr lang="zh-CN" altLang="en-US" sz="2400" b="1">
                <a:gradFill>
                  <a:gsLst>
                    <a:gs pos="0">
                      <a:srgbClr val="012D86"/>
                    </a:gs>
                    <a:gs pos="100000">
                      <a:srgbClr val="0E2557"/>
                    </a:gs>
                  </a:gsLst>
                  <a:lin scaled="0"/>
                </a:gradFill>
              </a:rPr>
              <a:t>                 样的电路称为能自启动的时序逻辑电路。</a:t>
            </a:r>
            <a:endParaRPr lang="zh-CN" altLang="en-US" sz="2400" b="1">
              <a:gradFill>
                <a:gsLst>
                  <a:gs pos="0">
                    <a:srgbClr val="012D86"/>
                  </a:gs>
                  <a:gs pos="100000">
                    <a:srgbClr val="0E2557"/>
                  </a:gs>
                </a:gsLst>
                <a:lin scaled="0"/>
              </a:gradFill>
            </a:endParaRPr>
          </a:p>
        </p:txBody>
      </p:sp>
      <p:sp>
        <p:nvSpPr>
          <p:cNvPr id="7" name="文本框 6"/>
          <p:cNvSpPr txBox="1"/>
          <p:nvPr/>
        </p:nvSpPr>
        <p:spPr>
          <a:xfrm>
            <a:off x="690245" y="3634740"/>
            <a:ext cx="8299450" cy="1938020"/>
          </a:xfrm>
          <a:prstGeom prst="rect">
            <a:avLst/>
          </a:prstGeom>
          <a:noFill/>
        </p:spPr>
        <p:txBody>
          <a:bodyPr wrap="square" rtlCol="0">
            <a:spAutoFit/>
          </a:bodyPr>
          <a:p>
            <a:r>
              <a:rPr lang="zh-CN" altLang="en-US" sz="2400" b="1">
                <a:gradFill>
                  <a:gsLst>
                    <a:gs pos="0">
                      <a:srgbClr val="012D86"/>
                    </a:gs>
                    <a:gs pos="100000">
                      <a:srgbClr val="0E2557"/>
                    </a:gs>
                  </a:gsLst>
                  <a:lin scaled="0"/>
                </a:gradFill>
              </a:rPr>
              <a:t>不能自启动: 在存在无效状态的时序逻辑电路中，如果出现</a:t>
            </a:r>
            <a:endParaRPr lang="zh-CN" altLang="en-US" sz="2400" b="1">
              <a:gradFill>
                <a:gsLst>
                  <a:gs pos="0">
                    <a:srgbClr val="012D86"/>
                  </a:gs>
                  <a:gs pos="100000">
                    <a:srgbClr val="0E2557"/>
                  </a:gs>
                </a:gsLst>
                <a:lin scaled="0"/>
              </a:gradFill>
            </a:endParaRPr>
          </a:p>
          <a:p>
            <a:r>
              <a:rPr lang="zh-CN" altLang="en-US" sz="2400" b="1">
                <a:gradFill>
                  <a:gsLst>
                    <a:gs pos="0">
                      <a:srgbClr val="012D86"/>
                    </a:gs>
                    <a:gs pos="100000">
                      <a:srgbClr val="0E2557"/>
                    </a:gs>
                  </a:gsLst>
                  <a:lin scaled="0"/>
                </a:gradFill>
              </a:rPr>
              <a:t>                    了无效循环，这样的电路就 称为不能自启动的</a:t>
            </a:r>
            <a:endParaRPr lang="zh-CN" altLang="en-US" sz="2400" b="1">
              <a:gradFill>
                <a:gsLst>
                  <a:gs pos="0">
                    <a:srgbClr val="012D86"/>
                  </a:gs>
                  <a:gs pos="100000">
                    <a:srgbClr val="0E2557"/>
                  </a:gs>
                </a:gsLst>
                <a:lin scaled="0"/>
              </a:gradFill>
            </a:endParaRPr>
          </a:p>
          <a:p>
            <a:r>
              <a:rPr lang="zh-CN" altLang="en-US" sz="2400" b="1">
                <a:gradFill>
                  <a:gsLst>
                    <a:gs pos="0">
                      <a:srgbClr val="012D86"/>
                    </a:gs>
                    <a:gs pos="100000">
                      <a:srgbClr val="0E2557"/>
                    </a:gs>
                  </a:gsLst>
                  <a:lin scaled="0"/>
                </a:gradFill>
              </a:rPr>
              <a:t>                     时序逻辑电路，在这种逻辑电路中，一旦由于</a:t>
            </a:r>
            <a:endParaRPr lang="zh-CN" altLang="en-US" sz="2400" b="1">
              <a:gradFill>
                <a:gsLst>
                  <a:gs pos="0">
                    <a:srgbClr val="012D86"/>
                  </a:gs>
                  <a:gs pos="100000">
                    <a:srgbClr val="0E2557"/>
                  </a:gs>
                </a:gsLst>
                <a:lin scaled="0"/>
              </a:gradFill>
            </a:endParaRPr>
          </a:p>
          <a:p>
            <a:r>
              <a:rPr lang="zh-CN" altLang="en-US" sz="2400" b="1">
                <a:gradFill>
                  <a:gsLst>
                    <a:gs pos="0">
                      <a:srgbClr val="012D86"/>
                    </a:gs>
                    <a:gs pos="100000">
                      <a:srgbClr val="0E2557"/>
                    </a:gs>
                  </a:gsLst>
                  <a:lin scaled="0"/>
                </a:gradFill>
              </a:rPr>
              <a:t>                     某种原因(例如干扰)进入无效循环，就再也回</a:t>
            </a:r>
            <a:endParaRPr lang="zh-CN" altLang="en-US" sz="2400" b="1">
              <a:gradFill>
                <a:gsLst>
                  <a:gs pos="0">
                    <a:srgbClr val="012D86"/>
                  </a:gs>
                  <a:gs pos="100000">
                    <a:srgbClr val="0E2557"/>
                  </a:gs>
                </a:gsLst>
                <a:lin scaled="0"/>
              </a:gradFill>
            </a:endParaRPr>
          </a:p>
          <a:p>
            <a:r>
              <a:rPr lang="zh-CN" altLang="en-US" sz="2400" b="1">
                <a:gradFill>
                  <a:gsLst>
                    <a:gs pos="0">
                      <a:srgbClr val="012D86"/>
                    </a:gs>
                    <a:gs pos="100000">
                      <a:srgbClr val="0E2557"/>
                    </a:gs>
                  </a:gsLst>
                  <a:lin scaled="0"/>
                </a:gradFill>
              </a:rPr>
              <a:t>                    不到有效状态了，电路也就不能正常工作了。</a:t>
            </a:r>
            <a:endParaRPr lang="zh-CN" altLang="en-US" sz="2400" b="1">
              <a:gradFill>
                <a:gsLst>
                  <a:gs pos="0">
                    <a:srgbClr val="012D86"/>
                  </a:gs>
                  <a:gs pos="100000">
                    <a:srgbClr val="0E2557"/>
                  </a:gs>
                </a:gsLst>
                <a:lin scaled="0"/>
              </a:gra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6.2 时序逻辑电路的一般分析方法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762000" y="1066800"/>
            <a:ext cx="6847205" cy="868045"/>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6</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2</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2</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同步时序逻辑电路的分析举例</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100" name="文本框 99"/>
          <p:cNvSpPr txBox="1"/>
          <p:nvPr/>
        </p:nvSpPr>
        <p:spPr>
          <a:xfrm>
            <a:off x="207010" y="1691005"/>
            <a:ext cx="8482965" cy="82994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【例</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6-</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400" b="1">
                <a:gradFill>
                  <a:gsLst>
                    <a:gs pos="0">
                      <a:srgbClr val="012D86"/>
                    </a:gs>
                    <a:gs pos="100000">
                      <a:srgbClr val="0E2557"/>
                    </a:gs>
                  </a:gsLst>
                  <a:lin scaled="0"/>
                </a:gradFill>
                <a:ea typeface="宋体" panose="02010600030101010101" pitchFamily="2" charset="-122"/>
              </a:rPr>
              <a:t>】</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zh-CN" sz="2400" b="1">
                <a:gradFill>
                  <a:gsLst>
                    <a:gs pos="0">
                      <a:srgbClr val="012D86"/>
                    </a:gs>
                    <a:gs pos="100000">
                      <a:srgbClr val="0E2557"/>
                    </a:gs>
                  </a:gsLst>
                  <a:lin scaled="0"/>
                </a:gradFill>
                <a:ea typeface="宋体" panose="02010600030101010101" pitchFamily="2" charset="-122"/>
              </a:rPr>
              <a:t>试分析图</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6-</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2</a:t>
            </a:r>
            <a:r>
              <a:rPr lang="zh-CN" sz="2400" b="1">
                <a:gradFill>
                  <a:gsLst>
                    <a:gs pos="0">
                      <a:srgbClr val="012D86"/>
                    </a:gs>
                    <a:gs pos="100000">
                      <a:srgbClr val="0E2557"/>
                    </a:gs>
                  </a:gsLst>
                  <a:lin scaled="0"/>
                </a:gradFill>
                <a:ea typeface="宋体" panose="02010600030101010101" pitchFamily="2" charset="-122"/>
              </a:rPr>
              <a:t>所示时序逻辑电路的逻辑功能，设触发器的初始状态                      。</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2" name="图片 1"/>
          <p:cNvPicPr/>
          <p:nvPr/>
        </p:nvPicPr>
        <p:blipFill>
          <a:blip r:embed="rId1"/>
          <a:stretch>
            <a:fillRect/>
          </a:stretch>
        </p:blipFill>
        <p:spPr>
          <a:xfrm>
            <a:off x="2129155" y="2029460"/>
            <a:ext cx="1881505" cy="491490"/>
          </a:xfrm>
          <a:prstGeom prst="rect">
            <a:avLst/>
          </a:prstGeom>
          <a:noFill/>
          <a:ln w="9525">
            <a:noFill/>
          </a:ln>
        </p:spPr>
      </p:pic>
      <p:pic>
        <p:nvPicPr>
          <p:cNvPr id="9368" name="图片 2805"/>
          <p:cNvPicPr>
            <a:picLocks noChangeAspect="1"/>
          </p:cNvPicPr>
          <p:nvPr/>
        </p:nvPicPr>
        <p:blipFill>
          <a:blip r:embed="rId2"/>
          <a:stretch>
            <a:fillRect/>
          </a:stretch>
        </p:blipFill>
        <p:spPr>
          <a:xfrm>
            <a:off x="3203575" y="2520950"/>
            <a:ext cx="5483225" cy="2504440"/>
          </a:xfrm>
          <a:prstGeom prst="rect">
            <a:avLst/>
          </a:prstGeom>
          <a:noFill/>
          <a:ln>
            <a:noFill/>
          </a:ln>
        </p:spPr>
      </p:pic>
      <p:grpSp>
        <p:nvGrpSpPr>
          <p:cNvPr id="10" name="组合 9"/>
          <p:cNvGrpSpPr/>
          <p:nvPr/>
        </p:nvGrpSpPr>
        <p:grpSpPr>
          <a:xfrm>
            <a:off x="3727450" y="3976370"/>
            <a:ext cx="3756660" cy="864870"/>
            <a:chOff x="3890" y="6262"/>
            <a:chExt cx="5916" cy="1362"/>
          </a:xfrm>
        </p:grpSpPr>
        <p:grpSp>
          <p:nvGrpSpPr>
            <p:cNvPr id="12383" name="组合 113736"/>
            <p:cNvGrpSpPr/>
            <p:nvPr/>
          </p:nvGrpSpPr>
          <p:grpSpPr>
            <a:xfrm rot="0">
              <a:off x="3890" y="6262"/>
              <a:ext cx="737" cy="1344"/>
              <a:chOff x="793" y="1749"/>
              <a:chExt cx="51" cy="1008"/>
            </a:xfrm>
          </p:grpSpPr>
          <p:sp>
            <p:nvSpPr>
              <p:cNvPr id="12390" name="直接连接符 113734"/>
              <p:cNvSpPr/>
              <p:nvPr/>
            </p:nvSpPr>
            <p:spPr>
              <a:xfrm>
                <a:off x="793" y="1749"/>
                <a:ext cx="0" cy="1008"/>
              </a:xfrm>
              <a:prstGeom prst="line">
                <a:avLst/>
              </a:prstGeom>
              <a:ln w="28575" cap="flat" cmpd="sng">
                <a:solidFill>
                  <a:srgbClr val="FF3300"/>
                </a:solidFill>
                <a:prstDash val="solid"/>
                <a:headEnd type="none" w="med" len="med"/>
                <a:tailEnd type="none" w="med" len="med"/>
              </a:ln>
            </p:spPr>
          </p:sp>
          <p:sp>
            <p:nvSpPr>
              <p:cNvPr id="12391" name="直接连接符 113735"/>
              <p:cNvSpPr/>
              <p:nvPr/>
            </p:nvSpPr>
            <p:spPr>
              <a:xfrm>
                <a:off x="796" y="1756"/>
                <a:ext cx="48" cy="0"/>
              </a:xfrm>
              <a:prstGeom prst="line">
                <a:avLst/>
              </a:prstGeom>
              <a:ln w="28575" cap="flat" cmpd="sng">
                <a:solidFill>
                  <a:srgbClr val="FF3300"/>
                </a:solidFill>
                <a:prstDash val="solid"/>
                <a:headEnd type="none" w="med" len="med"/>
                <a:tailEnd type="none" w="med" len="med"/>
              </a:ln>
            </p:spPr>
          </p:sp>
        </p:grpSp>
        <p:grpSp>
          <p:nvGrpSpPr>
            <p:cNvPr id="3" name="组合 113736"/>
            <p:cNvGrpSpPr/>
            <p:nvPr/>
          </p:nvGrpSpPr>
          <p:grpSpPr>
            <a:xfrm rot="0">
              <a:off x="6499" y="6271"/>
              <a:ext cx="737" cy="1344"/>
              <a:chOff x="793" y="1749"/>
              <a:chExt cx="51" cy="1008"/>
            </a:xfrm>
          </p:grpSpPr>
          <p:sp>
            <p:nvSpPr>
              <p:cNvPr id="5" name="直接连接符 113734"/>
              <p:cNvSpPr/>
              <p:nvPr/>
            </p:nvSpPr>
            <p:spPr>
              <a:xfrm>
                <a:off x="793" y="1749"/>
                <a:ext cx="0" cy="1008"/>
              </a:xfrm>
              <a:prstGeom prst="line">
                <a:avLst/>
              </a:prstGeom>
              <a:ln w="28575" cap="flat" cmpd="sng">
                <a:solidFill>
                  <a:srgbClr val="FF3300"/>
                </a:solidFill>
                <a:prstDash val="solid"/>
                <a:headEnd type="none" w="med" len="med"/>
                <a:tailEnd type="none" w="med" len="med"/>
              </a:ln>
            </p:spPr>
          </p:sp>
          <p:sp>
            <p:nvSpPr>
              <p:cNvPr id="6" name="直接连接符 113735"/>
              <p:cNvSpPr/>
              <p:nvPr/>
            </p:nvSpPr>
            <p:spPr>
              <a:xfrm>
                <a:off x="796" y="1756"/>
                <a:ext cx="48" cy="0"/>
              </a:xfrm>
              <a:prstGeom prst="line">
                <a:avLst/>
              </a:prstGeom>
              <a:ln w="28575" cap="flat" cmpd="sng">
                <a:solidFill>
                  <a:srgbClr val="FF3300"/>
                </a:solidFill>
                <a:prstDash val="solid"/>
                <a:headEnd type="none" w="med" len="med"/>
                <a:tailEnd type="none" w="med" len="med"/>
              </a:ln>
            </p:spPr>
          </p:sp>
        </p:grpSp>
        <p:grpSp>
          <p:nvGrpSpPr>
            <p:cNvPr id="7" name="组合 113736"/>
            <p:cNvGrpSpPr/>
            <p:nvPr/>
          </p:nvGrpSpPr>
          <p:grpSpPr>
            <a:xfrm rot="0">
              <a:off x="9070" y="6280"/>
              <a:ext cx="737" cy="1344"/>
              <a:chOff x="793" y="1749"/>
              <a:chExt cx="51" cy="1008"/>
            </a:xfrm>
          </p:grpSpPr>
          <p:sp>
            <p:nvSpPr>
              <p:cNvPr id="8" name="直接连接符 113734"/>
              <p:cNvSpPr/>
              <p:nvPr/>
            </p:nvSpPr>
            <p:spPr>
              <a:xfrm>
                <a:off x="793" y="1749"/>
                <a:ext cx="0" cy="1008"/>
              </a:xfrm>
              <a:prstGeom prst="line">
                <a:avLst/>
              </a:prstGeom>
              <a:ln w="28575" cap="flat" cmpd="sng">
                <a:solidFill>
                  <a:srgbClr val="FF3300"/>
                </a:solidFill>
                <a:prstDash val="solid"/>
                <a:headEnd type="none" w="med" len="med"/>
                <a:tailEnd type="none" w="med" len="med"/>
              </a:ln>
            </p:spPr>
          </p:sp>
          <p:sp>
            <p:nvSpPr>
              <p:cNvPr id="9" name="直接连接符 113735"/>
              <p:cNvSpPr/>
              <p:nvPr/>
            </p:nvSpPr>
            <p:spPr>
              <a:xfrm>
                <a:off x="796" y="1756"/>
                <a:ext cx="48" cy="0"/>
              </a:xfrm>
              <a:prstGeom prst="line">
                <a:avLst/>
              </a:prstGeom>
              <a:ln w="28575" cap="flat" cmpd="sng">
                <a:solidFill>
                  <a:srgbClr val="FF3300"/>
                </a:solidFill>
                <a:prstDash val="solid"/>
                <a:headEnd type="none" w="med" len="med"/>
                <a:tailEnd type="none" w="med" len="med"/>
              </a:ln>
            </p:spPr>
          </p:sp>
        </p:grpSp>
      </p:grpSp>
      <p:sp>
        <p:nvSpPr>
          <p:cNvPr id="113753" name="椭圆 113752"/>
          <p:cNvSpPr/>
          <p:nvPr/>
        </p:nvSpPr>
        <p:spPr>
          <a:xfrm>
            <a:off x="3912870" y="3534410"/>
            <a:ext cx="360363" cy="287338"/>
          </a:xfrm>
          <a:prstGeom prst="ellipse">
            <a:avLst/>
          </a:prstGeom>
          <a:noFill/>
          <a:ln w="28575" cap="flat" cmpd="sng">
            <a:solidFill>
              <a:srgbClr val="FF33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2377" name="直接连接符 113747"/>
          <p:cNvSpPr/>
          <p:nvPr/>
        </p:nvSpPr>
        <p:spPr>
          <a:xfrm>
            <a:off x="3790950" y="4296410"/>
            <a:ext cx="478155" cy="635"/>
          </a:xfrm>
          <a:prstGeom prst="line">
            <a:avLst/>
          </a:prstGeom>
          <a:ln w="28575" cap="flat" cmpd="sng">
            <a:solidFill>
              <a:srgbClr val="FF3300"/>
            </a:solidFill>
            <a:prstDash val="solid"/>
            <a:headEnd type="none" w="med" len="med"/>
            <a:tailEnd type="none" w="med" len="med"/>
          </a:ln>
        </p:spPr>
      </p:sp>
      <p:sp>
        <p:nvSpPr>
          <p:cNvPr id="12379" name="直接连接符 113749"/>
          <p:cNvSpPr/>
          <p:nvPr/>
        </p:nvSpPr>
        <p:spPr>
          <a:xfrm flipH="1">
            <a:off x="3790315" y="3103880"/>
            <a:ext cx="4705985" cy="635"/>
          </a:xfrm>
          <a:prstGeom prst="line">
            <a:avLst/>
          </a:prstGeom>
          <a:ln w="28575" cap="flat" cmpd="sng">
            <a:solidFill>
              <a:srgbClr val="FF3300"/>
            </a:solidFill>
            <a:prstDash val="solid"/>
            <a:headEnd type="none" w="med" len="med"/>
            <a:tailEnd type="none" w="med" len="med"/>
          </a:ln>
        </p:spPr>
      </p:sp>
      <p:sp>
        <p:nvSpPr>
          <p:cNvPr id="12380" name="直接连接符 113750"/>
          <p:cNvSpPr/>
          <p:nvPr/>
        </p:nvSpPr>
        <p:spPr>
          <a:xfrm>
            <a:off x="3810000" y="3145790"/>
            <a:ext cx="635" cy="1191895"/>
          </a:xfrm>
          <a:prstGeom prst="line">
            <a:avLst/>
          </a:prstGeom>
          <a:ln w="28575" cap="flat" cmpd="sng">
            <a:solidFill>
              <a:srgbClr val="FF3300"/>
            </a:solidFill>
            <a:prstDash val="solid"/>
            <a:headEnd type="none" w="med" len="med"/>
            <a:tailEnd type="none" w="med" len="med"/>
          </a:ln>
        </p:spPr>
      </p:sp>
      <p:sp>
        <p:nvSpPr>
          <p:cNvPr id="11" name="文本框 10"/>
          <p:cNvSpPr txBox="1"/>
          <p:nvPr/>
        </p:nvSpPr>
        <p:spPr>
          <a:xfrm>
            <a:off x="109855" y="2520950"/>
            <a:ext cx="2540000" cy="460375"/>
          </a:xfrm>
          <a:prstGeom prst="rect">
            <a:avLst/>
          </a:prstGeom>
          <a:noFill/>
        </p:spPr>
        <p:txBody>
          <a:bodyPr wrap="square" rtlCol="0" anchor="t">
            <a:spAutoFit/>
          </a:bodyPr>
          <a:p>
            <a:r>
              <a:rPr lang="zh-CN" altLang="en-US" sz="2400" b="1">
                <a:solidFill>
                  <a:schemeClr val="accent6">
                    <a:lumMod val="60000"/>
                    <a:lumOff val="40000"/>
                  </a:schemeClr>
                </a:solidFill>
              </a:rPr>
              <a:t>解</a:t>
            </a:r>
            <a:r>
              <a:rPr lang="zh-CN" altLang="en-US" sz="2400" b="1">
                <a:gradFill>
                  <a:gsLst>
                    <a:gs pos="0">
                      <a:srgbClr val="012D86"/>
                    </a:gs>
                    <a:gs pos="100000">
                      <a:srgbClr val="0E2557"/>
                    </a:gs>
                  </a:gsLst>
                  <a:lin scaled="0"/>
                </a:gradFill>
              </a:rPr>
              <a:t> (１) 写方程组</a:t>
            </a:r>
            <a:endParaRPr lang="zh-CN" altLang="en-US" sz="2400" b="1">
              <a:gradFill>
                <a:gsLst>
                  <a:gs pos="0">
                    <a:srgbClr val="012D86"/>
                  </a:gs>
                  <a:gs pos="100000">
                    <a:srgbClr val="0E2557"/>
                  </a:gs>
                </a:gsLst>
                <a:lin scaled="0"/>
              </a:gradFill>
            </a:endParaRPr>
          </a:p>
        </p:txBody>
      </p:sp>
      <p:sp>
        <p:nvSpPr>
          <p:cNvPr id="12" name="文本框 11"/>
          <p:cNvSpPr txBox="1"/>
          <p:nvPr/>
        </p:nvSpPr>
        <p:spPr>
          <a:xfrm>
            <a:off x="435610" y="4247515"/>
            <a:ext cx="2540000" cy="368300"/>
          </a:xfrm>
          <a:prstGeom prst="rect">
            <a:avLst/>
          </a:prstGeom>
          <a:noFill/>
        </p:spPr>
        <p:txBody>
          <a:bodyPr wrap="square" rtlCol="0" anchor="t">
            <a:spAutoFit/>
          </a:bodyPr>
          <a:p>
            <a:pPr>
              <a:buClrTx/>
              <a:buSzTx/>
              <a:buFontTx/>
            </a:pPr>
            <a:r>
              <a:rPr lang="zh-CN" altLang="en-US" sz="2400" b="1">
                <a:gradFill>
                  <a:gsLst>
                    <a:gs pos="0">
                      <a:srgbClr val="012D86"/>
                    </a:gs>
                    <a:gs pos="100000">
                      <a:srgbClr val="0E2557"/>
                    </a:gs>
                  </a:gsLst>
                  <a:lin scaled="0"/>
                </a:gradFill>
              </a:rPr>
              <a:t>①激励方程</a:t>
            </a:r>
            <a:endParaRPr lang="zh-CN" altLang="en-US" sz="2400" b="1">
              <a:gradFill>
                <a:gsLst>
                  <a:gs pos="0">
                    <a:srgbClr val="012D86"/>
                  </a:gs>
                  <a:gs pos="100000">
                    <a:srgbClr val="0E2557"/>
                  </a:gs>
                </a:gsLst>
                <a:lin scaled="0"/>
              </a:gradFill>
            </a:endParaRPr>
          </a:p>
        </p:txBody>
      </p:sp>
      <p:sp>
        <p:nvSpPr>
          <p:cNvPr id="113724" name="圆角矩形 113723"/>
          <p:cNvSpPr/>
          <p:nvPr/>
        </p:nvSpPr>
        <p:spPr>
          <a:xfrm>
            <a:off x="283210" y="4124325"/>
            <a:ext cx="2835910" cy="2167255"/>
          </a:xfrm>
          <a:prstGeom prst="roundRect">
            <a:avLst>
              <a:gd name="adj" fmla="val 16667"/>
            </a:avLst>
          </a:prstGeom>
          <a:noFill/>
          <a:ln w="28575" cap="flat" cmpd="sng">
            <a:solidFill>
              <a:srgbClr val="FF00FF"/>
            </a:solidFill>
            <a:prstDash val="solid"/>
            <a:headEnd type="none" w="med" len="sm"/>
            <a:tailEnd type="none" w="med" len="med"/>
          </a:ln>
        </p:spPr>
        <p:txBody>
          <a:bodyPr wrap="none" anchor="ct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sz="1800" b="1" i="0" u="none" strike="noStrike" kern="1200" cap="none" spc="0" normalizeH="0" baseline="0" noProof="1">
              <a:ln>
                <a:noFill/>
              </a:ln>
              <a:solidFill>
                <a:schemeClr val="tx1"/>
              </a:solidFill>
              <a:effectLst>
                <a:outerShdw blurRad="38100" dist="38100" dir="2700000">
                  <a:srgbClr val="FFFFFF"/>
                </a:outerShdw>
              </a:effectLst>
              <a:uLnTx/>
              <a:uFillTx/>
              <a:latin typeface="Arial" panose="020B0604020202020204" pitchFamily="34" charset="0"/>
              <a:ea typeface="宋体" panose="02010600030101010101" pitchFamily="2" charset="-122"/>
              <a:cs typeface="+mn-cs"/>
            </a:endParaRPr>
          </a:p>
        </p:txBody>
      </p:sp>
      <p:graphicFrame>
        <p:nvGraphicFramePr>
          <p:cNvPr id="13" name="对象 87"/>
          <p:cNvGraphicFramePr>
            <a:graphicFrameLocks noChangeAspect="1"/>
          </p:cNvGraphicFramePr>
          <p:nvPr/>
        </p:nvGraphicFramePr>
        <p:xfrm>
          <a:off x="507365" y="4711700"/>
          <a:ext cx="741045" cy="417195"/>
        </p:xfrm>
        <a:graphic>
          <a:graphicData uri="http://schemas.openxmlformats.org/presentationml/2006/ole">
            <mc:AlternateContent xmlns:mc="http://schemas.openxmlformats.org/markup-compatibility/2006">
              <mc:Choice xmlns:v="urn:schemas-microsoft-com:vml" Requires="v">
                <p:oleObj spid="_x0000_s3076" name="" r:id="rId3" imgW="405765" imgH="228600" progId="Equation.DSMT4">
                  <p:embed/>
                </p:oleObj>
              </mc:Choice>
              <mc:Fallback>
                <p:oleObj name="" r:id="rId3" imgW="405765" imgH="228600" progId="Equation.DSMT4">
                  <p:embed/>
                  <p:pic>
                    <p:nvPicPr>
                      <p:cNvPr id="0" name="图片 3075"/>
                      <p:cNvPicPr/>
                      <p:nvPr/>
                    </p:nvPicPr>
                    <p:blipFill>
                      <a:blip r:embed="rId4"/>
                      <a:stretch>
                        <a:fillRect/>
                      </a:stretch>
                    </p:blipFill>
                    <p:spPr>
                      <a:xfrm>
                        <a:off x="507365" y="4711700"/>
                        <a:ext cx="741045" cy="417195"/>
                      </a:xfrm>
                      <a:prstGeom prst="rect">
                        <a:avLst/>
                      </a:prstGeom>
                      <a:noFill/>
                      <a:ln w="38100">
                        <a:noFill/>
                        <a:miter/>
                      </a:ln>
                    </p:spPr>
                  </p:pic>
                </p:oleObj>
              </mc:Fallback>
            </mc:AlternateContent>
          </a:graphicData>
        </a:graphic>
      </p:graphicFrame>
      <p:graphicFrame>
        <p:nvGraphicFramePr>
          <p:cNvPr id="14" name="对象 87"/>
          <p:cNvGraphicFramePr>
            <a:graphicFrameLocks noChangeAspect="1"/>
          </p:cNvGraphicFramePr>
          <p:nvPr/>
        </p:nvGraphicFramePr>
        <p:xfrm>
          <a:off x="1385570" y="4677410"/>
          <a:ext cx="1348740" cy="441960"/>
        </p:xfrm>
        <a:graphic>
          <a:graphicData uri="http://schemas.openxmlformats.org/presentationml/2006/ole">
            <mc:AlternateContent xmlns:mc="http://schemas.openxmlformats.org/markup-compatibility/2006">
              <mc:Choice xmlns:v="urn:schemas-microsoft-com:vml" Requires="v">
                <p:oleObj spid="_x0000_s15" name="" r:id="rId5" imgW="736600" imgH="241300" progId="Equation.DSMT4">
                  <p:embed/>
                </p:oleObj>
              </mc:Choice>
              <mc:Fallback>
                <p:oleObj name="" r:id="rId5" imgW="736600" imgH="241300" progId="Equation.DSMT4">
                  <p:embed/>
                  <p:pic>
                    <p:nvPicPr>
                      <p:cNvPr id="0" name="图片 13"/>
                      <p:cNvPicPr/>
                      <p:nvPr/>
                    </p:nvPicPr>
                    <p:blipFill>
                      <a:blip r:embed="rId6"/>
                      <a:stretch>
                        <a:fillRect/>
                      </a:stretch>
                    </p:blipFill>
                    <p:spPr>
                      <a:xfrm>
                        <a:off x="1385570" y="4677410"/>
                        <a:ext cx="1348740" cy="441960"/>
                      </a:xfrm>
                      <a:prstGeom prst="rect">
                        <a:avLst/>
                      </a:prstGeom>
                      <a:noFill/>
                      <a:ln w="38100">
                        <a:noFill/>
                        <a:miter/>
                      </a:ln>
                    </p:spPr>
                  </p:pic>
                </p:oleObj>
              </mc:Fallback>
            </mc:AlternateContent>
          </a:graphicData>
        </a:graphic>
      </p:graphicFrame>
      <p:graphicFrame>
        <p:nvGraphicFramePr>
          <p:cNvPr id="16" name="对象 87"/>
          <p:cNvGraphicFramePr>
            <a:graphicFrameLocks noChangeAspect="1"/>
          </p:cNvGraphicFramePr>
          <p:nvPr/>
        </p:nvGraphicFramePr>
        <p:xfrm>
          <a:off x="481965" y="5136515"/>
          <a:ext cx="903605" cy="474345"/>
        </p:xfrm>
        <a:graphic>
          <a:graphicData uri="http://schemas.openxmlformats.org/presentationml/2006/ole">
            <mc:AlternateContent xmlns:mc="http://schemas.openxmlformats.org/markup-compatibility/2006">
              <mc:Choice xmlns:v="urn:schemas-microsoft-com:vml" Requires="v">
                <p:oleObj spid="_x0000_s17" name="" r:id="rId7" imgW="508000" imgH="266700" progId="Equation.DSMT4">
                  <p:embed/>
                </p:oleObj>
              </mc:Choice>
              <mc:Fallback>
                <p:oleObj name="" r:id="rId7" imgW="508000" imgH="266700" progId="Equation.DSMT4">
                  <p:embed/>
                  <p:pic>
                    <p:nvPicPr>
                      <p:cNvPr id="0" name="图片 15"/>
                      <p:cNvPicPr/>
                      <p:nvPr/>
                    </p:nvPicPr>
                    <p:blipFill>
                      <a:blip r:embed="rId8"/>
                      <a:stretch>
                        <a:fillRect/>
                      </a:stretch>
                    </p:blipFill>
                    <p:spPr>
                      <a:xfrm>
                        <a:off x="481965" y="5136515"/>
                        <a:ext cx="903605" cy="474345"/>
                      </a:xfrm>
                      <a:prstGeom prst="rect">
                        <a:avLst/>
                      </a:prstGeom>
                      <a:noFill/>
                      <a:ln w="38100">
                        <a:noFill/>
                        <a:miter/>
                      </a:ln>
                    </p:spPr>
                  </p:pic>
                </p:oleObj>
              </mc:Fallback>
            </mc:AlternateContent>
          </a:graphicData>
        </a:graphic>
      </p:graphicFrame>
      <p:sp>
        <p:nvSpPr>
          <p:cNvPr id="18" name="直接连接符 113750"/>
          <p:cNvSpPr/>
          <p:nvPr/>
        </p:nvSpPr>
        <p:spPr>
          <a:xfrm>
            <a:off x="8686165" y="3204845"/>
            <a:ext cx="635" cy="1132205"/>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sp>
      <p:sp>
        <p:nvSpPr>
          <p:cNvPr id="19" name="直接连接符 113747"/>
          <p:cNvSpPr/>
          <p:nvPr/>
        </p:nvSpPr>
        <p:spPr>
          <a:xfrm>
            <a:off x="8447405" y="4336415"/>
            <a:ext cx="203835" cy="635"/>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sp>
      <p:sp>
        <p:nvSpPr>
          <p:cNvPr id="20" name="直接连接符 113749"/>
          <p:cNvSpPr/>
          <p:nvPr/>
        </p:nvSpPr>
        <p:spPr>
          <a:xfrm flipH="1">
            <a:off x="5636260" y="3197225"/>
            <a:ext cx="3065145" cy="635"/>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sp>
      <p:sp>
        <p:nvSpPr>
          <p:cNvPr id="21" name="直接连接符 113750"/>
          <p:cNvSpPr/>
          <p:nvPr/>
        </p:nvSpPr>
        <p:spPr>
          <a:xfrm>
            <a:off x="5671820" y="3197860"/>
            <a:ext cx="635" cy="478790"/>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sp>
      <p:sp>
        <p:nvSpPr>
          <p:cNvPr id="22" name="直接连接符 113747"/>
          <p:cNvSpPr/>
          <p:nvPr/>
        </p:nvSpPr>
        <p:spPr>
          <a:xfrm>
            <a:off x="5672455" y="3676015"/>
            <a:ext cx="296545" cy="635"/>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sp>
      <p:graphicFrame>
        <p:nvGraphicFramePr>
          <p:cNvPr id="23" name="对象 87"/>
          <p:cNvGraphicFramePr>
            <a:graphicFrameLocks noChangeAspect="1"/>
          </p:cNvGraphicFramePr>
          <p:nvPr/>
        </p:nvGraphicFramePr>
        <p:xfrm>
          <a:off x="1385570" y="5136515"/>
          <a:ext cx="1377315" cy="498475"/>
        </p:xfrm>
        <a:graphic>
          <a:graphicData uri="http://schemas.openxmlformats.org/presentationml/2006/ole">
            <mc:AlternateContent xmlns:mc="http://schemas.openxmlformats.org/markup-compatibility/2006">
              <mc:Choice xmlns:v="urn:schemas-microsoft-com:vml" Requires="v">
                <p:oleObj spid="_x0000_s24" name="" r:id="rId9" imgW="736600" imgH="266700" progId="Equation.DSMT4">
                  <p:embed/>
                </p:oleObj>
              </mc:Choice>
              <mc:Fallback>
                <p:oleObj name="" r:id="rId9" imgW="736600" imgH="266700" progId="Equation.DSMT4">
                  <p:embed/>
                  <p:pic>
                    <p:nvPicPr>
                      <p:cNvPr id="0" name="图片 15"/>
                      <p:cNvPicPr/>
                      <p:nvPr/>
                    </p:nvPicPr>
                    <p:blipFill>
                      <a:blip r:embed="rId10"/>
                      <a:stretch>
                        <a:fillRect/>
                      </a:stretch>
                    </p:blipFill>
                    <p:spPr>
                      <a:xfrm>
                        <a:off x="1385570" y="5136515"/>
                        <a:ext cx="1377315" cy="498475"/>
                      </a:xfrm>
                      <a:prstGeom prst="rect">
                        <a:avLst/>
                      </a:prstGeom>
                      <a:noFill/>
                      <a:ln w="38100">
                        <a:noFill/>
                        <a:miter/>
                      </a:ln>
                    </p:spPr>
                  </p:pic>
                </p:oleObj>
              </mc:Fallback>
            </mc:AlternateContent>
          </a:graphicData>
        </a:graphic>
      </p:graphicFrame>
      <p:sp>
        <p:nvSpPr>
          <p:cNvPr id="25" name="直接连接符 113747"/>
          <p:cNvSpPr/>
          <p:nvPr/>
        </p:nvSpPr>
        <p:spPr>
          <a:xfrm>
            <a:off x="5125720" y="4337050"/>
            <a:ext cx="778510" cy="635"/>
          </a:xfrm>
          <a:prstGeom prst="line">
            <a:avLst/>
          </a:prstGeom>
          <a:ln w="28575" cap="flat" cmpd="sng">
            <a:solidFill>
              <a:srgbClr val="00B050"/>
            </a:solidFill>
            <a:prstDash val="solid"/>
            <a:headEnd type="none" w="med" len="med"/>
            <a:tailEnd type="none" w="med" len="med"/>
          </a:ln>
        </p:spPr>
      </p:sp>
      <p:graphicFrame>
        <p:nvGraphicFramePr>
          <p:cNvPr id="26" name="对象 87"/>
          <p:cNvGraphicFramePr>
            <a:graphicFrameLocks noChangeAspect="1"/>
          </p:cNvGraphicFramePr>
          <p:nvPr/>
        </p:nvGraphicFramePr>
        <p:xfrm>
          <a:off x="465455" y="5634990"/>
          <a:ext cx="2510155" cy="537845"/>
        </p:xfrm>
        <a:graphic>
          <a:graphicData uri="http://schemas.openxmlformats.org/presentationml/2006/ole">
            <mc:AlternateContent xmlns:mc="http://schemas.openxmlformats.org/markup-compatibility/2006">
              <mc:Choice xmlns:v="urn:schemas-microsoft-com:vml" Requires="v">
                <p:oleObj spid="_x0000_s27" name="" r:id="rId11" imgW="1244600" imgH="266700" progId="Equation.DSMT4">
                  <p:embed/>
                </p:oleObj>
              </mc:Choice>
              <mc:Fallback>
                <p:oleObj name="" r:id="rId11" imgW="1244600" imgH="266700" progId="Equation.DSMT4">
                  <p:embed/>
                  <p:pic>
                    <p:nvPicPr>
                      <p:cNvPr id="0" name="图片 15"/>
                      <p:cNvPicPr/>
                      <p:nvPr/>
                    </p:nvPicPr>
                    <p:blipFill>
                      <a:blip r:embed="rId12"/>
                      <a:stretch>
                        <a:fillRect/>
                      </a:stretch>
                    </p:blipFill>
                    <p:spPr>
                      <a:xfrm>
                        <a:off x="465455" y="5634990"/>
                        <a:ext cx="2510155" cy="537845"/>
                      </a:xfrm>
                      <a:prstGeom prst="rect">
                        <a:avLst/>
                      </a:prstGeom>
                      <a:noFill/>
                      <a:ln w="38100">
                        <a:noFill/>
                        <a:miter/>
                      </a:ln>
                    </p:spPr>
                  </p:pic>
                </p:oleObj>
              </mc:Fallback>
            </mc:AlternateContent>
          </a:graphicData>
        </a:graphic>
      </p:graphicFrame>
      <p:sp>
        <p:nvSpPr>
          <p:cNvPr id="28" name="文本框 27"/>
          <p:cNvSpPr txBox="1"/>
          <p:nvPr/>
        </p:nvSpPr>
        <p:spPr>
          <a:xfrm>
            <a:off x="102870" y="2973070"/>
            <a:ext cx="3707130" cy="1014730"/>
          </a:xfrm>
          <a:prstGeom prst="rect">
            <a:avLst/>
          </a:prstGeom>
          <a:noFill/>
        </p:spPr>
        <p:txBody>
          <a:bodyPr wrap="square" rtlCol="0">
            <a:spAutoFit/>
          </a:bodyPr>
          <a:p>
            <a:r>
              <a:rPr lang="zh-CN" altLang="en-US" sz="2000" b="1">
                <a:gradFill>
                  <a:gsLst>
                    <a:gs pos="0">
                      <a:srgbClr val="012D86"/>
                    </a:gs>
                    <a:gs pos="100000">
                      <a:srgbClr val="0E2557"/>
                    </a:gs>
                  </a:gsLst>
                  <a:lin scaled="0"/>
                </a:gradFill>
              </a:rPr>
              <a:t>电路为同步时序逻辑电路，不必写时钟方程。电路无输出信号，</a:t>
            </a:r>
            <a:r>
              <a:rPr lang="zh-CN" altLang="en-US" sz="2000" b="1">
                <a:gradFill>
                  <a:gsLst>
                    <a:gs pos="0">
                      <a:srgbClr val="012D86"/>
                    </a:gs>
                    <a:gs pos="100000">
                      <a:srgbClr val="0E2557"/>
                    </a:gs>
                  </a:gsLst>
                  <a:lin scaled="0"/>
                </a:gradFill>
                <a:sym typeface="+mn-ea"/>
              </a:rPr>
              <a:t>不必写</a:t>
            </a:r>
            <a:r>
              <a:rPr lang="zh-CN" altLang="en-US" sz="2000" b="1">
                <a:gradFill>
                  <a:gsLst>
                    <a:gs pos="0">
                      <a:srgbClr val="012D86"/>
                    </a:gs>
                    <a:gs pos="100000">
                      <a:srgbClr val="0E2557"/>
                    </a:gs>
                  </a:gsLst>
                  <a:lin scaled="0"/>
                </a:gradFill>
              </a:rPr>
              <a:t>输出方程。</a:t>
            </a:r>
            <a:endParaRPr lang="zh-CN" altLang="en-US" sz="2000" b="1">
              <a:gradFill>
                <a:gsLst>
                  <a:gs pos="0">
                    <a:srgbClr val="012D86"/>
                  </a:gs>
                  <a:gs pos="100000">
                    <a:srgbClr val="0E2557"/>
                  </a:gs>
                </a:gsLst>
                <a:lin scaled="0"/>
              </a:gra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par>
                          <p:cTn id="12" fill="hold">
                            <p:stCondLst>
                              <p:cond delay="500"/>
                            </p:stCondLst>
                            <p:childTnLst>
                              <p:par>
                                <p:cTn id="13" presetID="1" presetClass="entr" presetSubtype="0" fill="hold" grpId="0" nodeType="afterEffect">
                                  <p:stCondLst>
                                    <p:cond delay="500"/>
                                  </p:stCondLst>
                                  <p:childTnLst>
                                    <p:set>
                                      <p:cBhvr>
                                        <p:cTn id="14" dur="1" fill="hold">
                                          <p:stCondLst>
                                            <p:cond delay="0"/>
                                          </p:stCondLst>
                                        </p:cTn>
                                        <p:tgtEl>
                                          <p:spTgt spid="28"/>
                                        </p:tgtEl>
                                        <p:attrNameLst>
                                          <p:attrName>style.visibility</p:attrName>
                                        </p:attrNameLst>
                                      </p:cBhvr>
                                      <p:to>
                                        <p:strVal val="visible"/>
                                      </p:to>
                                    </p:set>
                                  </p:childTnLst>
                                </p:cTn>
                              </p:par>
                            </p:childTnLst>
                          </p:cTn>
                        </p:par>
                        <p:par>
                          <p:cTn id="15" fill="hold">
                            <p:stCondLst>
                              <p:cond delay="1000"/>
                            </p:stCondLst>
                            <p:childTnLst>
                              <p:par>
                                <p:cTn id="16" presetID="1" presetClass="entr" presetSubtype="0" fill="hold" grpId="0" nodeType="afterEffect">
                                  <p:stCondLst>
                                    <p:cond delay="0"/>
                                  </p:stCondLst>
                                  <p:childTnLst>
                                    <p:set>
                                      <p:cBhvr>
                                        <p:cTn id="17" dur="1" fill="hold">
                                          <p:stCondLst>
                                            <p:cond delay="0"/>
                                          </p:stCondLst>
                                        </p:cTn>
                                        <p:tgtEl>
                                          <p:spTgt spid="113724"/>
                                        </p:tgtEl>
                                        <p:attrNameLst>
                                          <p:attrName>style.visibility</p:attrName>
                                        </p:attrNameLst>
                                      </p:cBhvr>
                                      <p:to>
                                        <p:strVal val="visible"/>
                                      </p:to>
                                    </p:set>
                                  </p:childTnLst>
                                </p:cTn>
                              </p:par>
                            </p:childTnLst>
                          </p:cTn>
                        </p:par>
                        <p:par>
                          <p:cTn id="18" fill="hold">
                            <p:stCondLst>
                              <p:cond delay="1000"/>
                            </p:stCondLst>
                            <p:childTnLst>
                              <p:par>
                                <p:cTn id="19" presetID="1"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nodeType="clickEffect">
                                  <p:stCondLst>
                                    <p:cond delay="0"/>
                                  </p:stCondLst>
                                  <p:childTnLst>
                                    <p:set>
                                      <p:cBhvr>
                                        <p:cTn id="24" dur="500" fill="hold">
                                          <p:stCondLst>
                                            <p:cond delay="0"/>
                                          </p:stCondLst>
                                        </p:cTn>
                                        <p:tgtEl>
                                          <p:spTgt spid="113753"/>
                                        </p:tgtEl>
                                        <p:attrNameLst>
                                          <p:attrName>style.visibility</p:attrName>
                                        </p:attrNameLst>
                                      </p:cBhvr>
                                      <p:to>
                                        <p:strVal val="visible"/>
                                      </p:to>
                                    </p:set>
                                    <p:animEffect transition="in" filter="diamond(in)">
                                      <p:cBhvr>
                                        <p:cTn id="25" dur="500"/>
                                        <p:tgtEl>
                                          <p:spTgt spid="113753"/>
                                        </p:tgtEl>
                                      </p:cBhvr>
                                    </p:animEffect>
                                  </p:childTnLst>
                                </p:cTn>
                              </p:par>
                            </p:childTnLst>
                          </p:cTn>
                        </p:par>
                        <p:par>
                          <p:cTn id="26" fill="hold">
                            <p:stCondLst>
                              <p:cond delay="500"/>
                            </p:stCondLst>
                            <p:childTnLst>
                              <p:par>
                                <p:cTn id="27" presetID="1" presetClass="entr" presetSubtype="0" fill="hold" nodeType="afterEffect">
                                  <p:stCondLst>
                                    <p:cond delay="150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2" fill="hold" nodeType="clickEffect">
                                  <p:stCondLst>
                                    <p:cond delay="0"/>
                                  </p:stCondLst>
                                  <p:childTnLst>
                                    <p:set>
                                      <p:cBhvr>
                                        <p:cTn id="32" dur="1" fill="hold">
                                          <p:stCondLst>
                                            <p:cond delay="0"/>
                                          </p:stCondLst>
                                        </p:cTn>
                                        <p:tgtEl>
                                          <p:spTgt spid="12379"/>
                                        </p:tgtEl>
                                        <p:attrNameLst>
                                          <p:attrName>style.visibility</p:attrName>
                                        </p:attrNameLst>
                                      </p:cBhvr>
                                      <p:to>
                                        <p:strVal val="visible"/>
                                      </p:to>
                                    </p:set>
                                    <p:animEffect transition="in" filter="wipe(right)">
                                      <p:cBhvr>
                                        <p:cTn id="33" dur="500"/>
                                        <p:tgtEl>
                                          <p:spTgt spid="12379"/>
                                        </p:tgtEl>
                                      </p:cBhvr>
                                    </p:animEffect>
                                  </p:childTnLst>
                                </p:cTn>
                              </p:par>
                            </p:childTnLst>
                          </p:cTn>
                        </p:par>
                        <p:par>
                          <p:cTn id="34" fill="hold">
                            <p:stCondLst>
                              <p:cond delay="500"/>
                            </p:stCondLst>
                            <p:childTnLst>
                              <p:par>
                                <p:cTn id="35" presetID="22" presetClass="entr" presetSubtype="1" fill="hold" nodeType="afterEffect">
                                  <p:stCondLst>
                                    <p:cond delay="1000"/>
                                  </p:stCondLst>
                                  <p:childTnLst>
                                    <p:set>
                                      <p:cBhvr>
                                        <p:cTn id="36" dur="1" fill="hold">
                                          <p:stCondLst>
                                            <p:cond delay="0"/>
                                          </p:stCondLst>
                                        </p:cTn>
                                        <p:tgtEl>
                                          <p:spTgt spid="12380"/>
                                        </p:tgtEl>
                                        <p:attrNameLst>
                                          <p:attrName>style.visibility</p:attrName>
                                        </p:attrNameLst>
                                      </p:cBhvr>
                                      <p:to>
                                        <p:strVal val="visible"/>
                                      </p:to>
                                    </p:set>
                                    <p:animEffect transition="in" filter="wipe(up)">
                                      <p:cBhvr>
                                        <p:cTn id="37" dur="500"/>
                                        <p:tgtEl>
                                          <p:spTgt spid="12380"/>
                                        </p:tgtEl>
                                      </p:cBhvr>
                                    </p:animEffect>
                                  </p:childTnLst>
                                </p:cTn>
                              </p:par>
                            </p:childTnLst>
                          </p:cTn>
                        </p:par>
                        <p:par>
                          <p:cTn id="38" fill="hold">
                            <p:stCondLst>
                              <p:cond delay="2000"/>
                            </p:stCondLst>
                            <p:childTnLst>
                              <p:par>
                                <p:cTn id="39" presetID="22" presetClass="entr" presetSubtype="8" fill="hold" nodeType="afterEffect">
                                  <p:stCondLst>
                                    <p:cond delay="0"/>
                                  </p:stCondLst>
                                  <p:childTnLst>
                                    <p:set>
                                      <p:cBhvr>
                                        <p:cTn id="40" dur="1000" fill="hold">
                                          <p:stCondLst>
                                            <p:cond delay="0"/>
                                          </p:stCondLst>
                                        </p:cTn>
                                        <p:tgtEl>
                                          <p:spTgt spid="12377"/>
                                        </p:tgtEl>
                                        <p:attrNameLst>
                                          <p:attrName>style.visibility</p:attrName>
                                        </p:attrNameLst>
                                      </p:cBhvr>
                                      <p:to>
                                        <p:strVal val="visible"/>
                                      </p:to>
                                    </p:set>
                                    <p:animEffect transition="in" filter="wipe(left)">
                                      <p:cBhvr>
                                        <p:cTn id="41" dur="1000"/>
                                        <p:tgtEl>
                                          <p:spTgt spid="12377"/>
                                        </p:tgtEl>
                                      </p:cBhvr>
                                    </p:animEffect>
                                  </p:childTnLst>
                                </p:cTn>
                              </p:par>
                            </p:childTnLst>
                          </p:cTn>
                        </p:par>
                        <p:par>
                          <p:cTn id="42" fill="hold">
                            <p:stCondLst>
                              <p:cond delay="3000"/>
                            </p:stCondLst>
                            <p:childTnLst>
                              <p:par>
                                <p:cTn id="43" presetID="22" presetClass="entr" presetSubtype="8" fill="hold" nodeType="afterEffect">
                                  <p:stCondLst>
                                    <p:cond delay="50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wipe(left)">
                                      <p:cBhvr>
                                        <p:cTn id="50" dur="500"/>
                                        <p:tgtEl>
                                          <p:spTgt spid="19"/>
                                        </p:tgtEl>
                                      </p:cBhvr>
                                    </p:animEffect>
                                  </p:childTnLst>
                                </p:cTn>
                              </p:par>
                            </p:childTnLst>
                          </p:cTn>
                        </p:par>
                        <p:par>
                          <p:cTn id="51" fill="hold">
                            <p:stCondLst>
                              <p:cond delay="500"/>
                            </p:stCondLst>
                            <p:childTnLst>
                              <p:par>
                                <p:cTn id="52" presetID="22" presetClass="entr" presetSubtype="4" fill="hold" nodeType="afterEffect">
                                  <p:stCondLst>
                                    <p:cond delay="0"/>
                                  </p:stCondLst>
                                  <p:childTnLst>
                                    <p:set>
                                      <p:cBhvr>
                                        <p:cTn id="53" dur="1000" fill="hold">
                                          <p:stCondLst>
                                            <p:cond delay="0"/>
                                          </p:stCondLst>
                                        </p:cTn>
                                        <p:tgtEl>
                                          <p:spTgt spid="18"/>
                                        </p:tgtEl>
                                        <p:attrNameLst>
                                          <p:attrName>style.visibility</p:attrName>
                                        </p:attrNameLst>
                                      </p:cBhvr>
                                      <p:to>
                                        <p:strVal val="visible"/>
                                      </p:to>
                                    </p:set>
                                    <p:animEffect transition="in" filter="wipe(down)">
                                      <p:cBhvr>
                                        <p:cTn id="54" dur="1000"/>
                                        <p:tgtEl>
                                          <p:spTgt spid="18"/>
                                        </p:tgtEl>
                                      </p:cBhvr>
                                    </p:animEffect>
                                  </p:childTnLst>
                                </p:cTn>
                              </p:par>
                            </p:childTnLst>
                          </p:cTn>
                        </p:par>
                        <p:par>
                          <p:cTn id="55" fill="hold">
                            <p:stCondLst>
                              <p:cond delay="1500"/>
                            </p:stCondLst>
                            <p:childTnLst>
                              <p:par>
                                <p:cTn id="56" presetID="22" presetClass="entr" presetSubtype="2" fill="hold" nodeType="afterEffect">
                                  <p:stCondLst>
                                    <p:cond delay="1000"/>
                                  </p:stCondLst>
                                  <p:childTnLst>
                                    <p:set>
                                      <p:cBhvr>
                                        <p:cTn id="57" dur="1" fill="hold">
                                          <p:stCondLst>
                                            <p:cond delay="0"/>
                                          </p:stCondLst>
                                        </p:cTn>
                                        <p:tgtEl>
                                          <p:spTgt spid="20"/>
                                        </p:tgtEl>
                                        <p:attrNameLst>
                                          <p:attrName>style.visibility</p:attrName>
                                        </p:attrNameLst>
                                      </p:cBhvr>
                                      <p:to>
                                        <p:strVal val="visible"/>
                                      </p:to>
                                    </p:set>
                                    <p:animEffect transition="in" filter="wipe(right)">
                                      <p:cBhvr>
                                        <p:cTn id="58" dur="500"/>
                                        <p:tgtEl>
                                          <p:spTgt spid="20"/>
                                        </p:tgtEl>
                                      </p:cBhvr>
                                    </p:animEffect>
                                  </p:childTnLst>
                                </p:cTn>
                              </p:par>
                            </p:childTnLst>
                          </p:cTn>
                        </p:par>
                        <p:par>
                          <p:cTn id="59" fill="hold">
                            <p:stCondLst>
                              <p:cond delay="3000"/>
                            </p:stCondLst>
                            <p:childTnLst>
                              <p:par>
                                <p:cTn id="60" presetID="22" presetClass="entr" presetSubtype="1" fill="hold" nodeType="afterEffect">
                                  <p:stCondLst>
                                    <p:cond delay="0"/>
                                  </p:stCondLst>
                                  <p:childTnLst>
                                    <p:set>
                                      <p:cBhvr>
                                        <p:cTn id="61" dur="1000" fill="hold">
                                          <p:stCondLst>
                                            <p:cond delay="0"/>
                                          </p:stCondLst>
                                        </p:cTn>
                                        <p:tgtEl>
                                          <p:spTgt spid="21"/>
                                        </p:tgtEl>
                                        <p:attrNameLst>
                                          <p:attrName>style.visibility</p:attrName>
                                        </p:attrNameLst>
                                      </p:cBhvr>
                                      <p:to>
                                        <p:strVal val="visible"/>
                                      </p:to>
                                    </p:set>
                                    <p:animEffect transition="in" filter="wipe(up)">
                                      <p:cBhvr>
                                        <p:cTn id="62" dur="1000"/>
                                        <p:tgtEl>
                                          <p:spTgt spid="21"/>
                                        </p:tgtEl>
                                      </p:cBhvr>
                                    </p:animEffect>
                                  </p:childTnLst>
                                </p:cTn>
                              </p:par>
                            </p:childTnLst>
                          </p:cTn>
                        </p:par>
                        <p:par>
                          <p:cTn id="63" fill="hold">
                            <p:stCondLst>
                              <p:cond delay="4000"/>
                            </p:stCondLst>
                            <p:childTnLst>
                              <p:par>
                                <p:cTn id="64" presetID="22" presetClass="entr" presetSubtype="8" fill="hold" nodeType="afterEffect">
                                  <p:stCondLst>
                                    <p:cond delay="0"/>
                                  </p:stCondLst>
                                  <p:childTnLst>
                                    <p:set>
                                      <p:cBhvr>
                                        <p:cTn id="65" dur="500" fill="hold">
                                          <p:stCondLst>
                                            <p:cond delay="0"/>
                                          </p:stCondLst>
                                        </p:cTn>
                                        <p:tgtEl>
                                          <p:spTgt spid="22"/>
                                        </p:tgtEl>
                                        <p:attrNameLst>
                                          <p:attrName>style.visibility</p:attrName>
                                        </p:attrNameLst>
                                      </p:cBhvr>
                                      <p:to>
                                        <p:strVal val="visible"/>
                                      </p:to>
                                    </p:set>
                                    <p:animEffect transition="in" filter="wipe(left)">
                                      <p:cBhvr>
                                        <p:cTn id="66" dur="500"/>
                                        <p:tgtEl>
                                          <p:spTgt spid="22"/>
                                        </p:tgtEl>
                                      </p:cBhvr>
                                    </p:animEffect>
                                  </p:childTnLst>
                                </p:cTn>
                              </p:par>
                            </p:childTnLst>
                          </p:cTn>
                        </p:par>
                        <p:par>
                          <p:cTn id="67" fill="hold">
                            <p:stCondLst>
                              <p:cond delay="4500"/>
                            </p:stCondLst>
                            <p:childTnLst>
                              <p:par>
                                <p:cTn id="68" presetID="22" presetClass="entr" presetSubtype="8" fill="hold" nodeType="afterEffect">
                                  <p:stCondLst>
                                    <p:cond delay="500"/>
                                  </p:stCondLst>
                                  <p:childTnLst>
                                    <p:set>
                                      <p:cBhvr>
                                        <p:cTn id="69" dur="1" fill="hold">
                                          <p:stCondLst>
                                            <p:cond delay="0"/>
                                          </p:stCondLst>
                                        </p:cTn>
                                        <p:tgtEl>
                                          <p:spTgt spid="16"/>
                                        </p:tgtEl>
                                        <p:attrNameLst>
                                          <p:attrName>style.visibility</p:attrName>
                                        </p:attrNameLst>
                                      </p:cBhvr>
                                      <p:to>
                                        <p:strVal val="visible"/>
                                      </p:to>
                                    </p:set>
                                    <p:animEffect transition="in" filter="wipe(left)">
                                      <p:cBhvr>
                                        <p:cTn id="70" dur="500"/>
                                        <p:tgtEl>
                                          <p:spTgt spid="16"/>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000" fill="hold">
                                          <p:stCondLst>
                                            <p:cond delay="0"/>
                                          </p:stCondLst>
                                        </p:cTn>
                                        <p:tgtEl>
                                          <p:spTgt spid="25"/>
                                        </p:tgtEl>
                                        <p:attrNameLst>
                                          <p:attrName>style.visibility</p:attrName>
                                        </p:attrNameLst>
                                      </p:cBhvr>
                                      <p:to>
                                        <p:strVal val="visible"/>
                                      </p:to>
                                    </p:set>
                                    <p:animEffect transition="in" filter="wipe(left)">
                                      <p:cBhvr>
                                        <p:cTn id="75" dur="1000"/>
                                        <p:tgtEl>
                                          <p:spTgt spid="25"/>
                                        </p:tgtEl>
                                      </p:cBhvr>
                                    </p:animEffect>
                                  </p:childTnLst>
                                </p:cTn>
                              </p:par>
                            </p:childTnLst>
                          </p:cTn>
                        </p:par>
                        <p:par>
                          <p:cTn id="76" fill="hold">
                            <p:stCondLst>
                              <p:cond delay="1000"/>
                            </p:stCondLst>
                            <p:childTnLst>
                              <p:par>
                                <p:cTn id="77" presetID="22" presetClass="entr" presetSubtype="8" fill="hold" nodeType="afterEffect">
                                  <p:stCondLst>
                                    <p:cond delay="500"/>
                                  </p:stCondLst>
                                  <p:childTnLst>
                                    <p:set>
                                      <p:cBhvr>
                                        <p:cTn id="78" dur="1" fill="hold">
                                          <p:stCondLst>
                                            <p:cond delay="0"/>
                                          </p:stCondLst>
                                        </p:cTn>
                                        <p:tgtEl>
                                          <p:spTgt spid="23"/>
                                        </p:tgtEl>
                                        <p:attrNameLst>
                                          <p:attrName>style.visibility</p:attrName>
                                        </p:attrNameLst>
                                      </p:cBhvr>
                                      <p:to>
                                        <p:strVal val="visible"/>
                                      </p:to>
                                    </p:set>
                                    <p:animEffect transition="in" filter="wipe(left)">
                                      <p:cBhvr>
                                        <p:cTn id="79" dur="500"/>
                                        <p:tgtEl>
                                          <p:spTgt spid="23"/>
                                        </p:tgtEl>
                                      </p:cBhvr>
                                    </p:animEffect>
                                  </p:childTnLst>
                                </p:cTn>
                              </p:par>
                            </p:childTnLst>
                          </p:cTn>
                        </p:par>
                        <p:par>
                          <p:cTn id="80" fill="hold">
                            <p:stCondLst>
                              <p:cond delay="2000"/>
                            </p:stCondLst>
                            <p:childTnLst>
                              <p:par>
                                <p:cTn id="81" presetID="22" presetClass="entr" presetSubtype="8" fill="hold" nodeType="afterEffect">
                                  <p:stCondLst>
                                    <p:cond delay="1500"/>
                                  </p:stCondLst>
                                  <p:childTnLst>
                                    <p:set>
                                      <p:cBhvr>
                                        <p:cTn id="82" dur="1" fill="hold">
                                          <p:stCondLst>
                                            <p:cond delay="0"/>
                                          </p:stCondLst>
                                        </p:cTn>
                                        <p:tgtEl>
                                          <p:spTgt spid="26"/>
                                        </p:tgtEl>
                                        <p:attrNameLst>
                                          <p:attrName>style.visibility</p:attrName>
                                        </p:attrNameLst>
                                      </p:cBhvr>
                                      <p:to>
                                        <p:strVal val="visible"/>
                                      </p:to>
                                    </p:set>
                                    <p:animEffect transition="in" filter="wipe(left)">
                                      <p:cBhvr>
                                        <p:cTn id="8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724" grpId="0" bldLvl="0" animBg="1"/>
      <p:bldP spid="12" grpId="0"/>
      <p:bldP spid="11" grpId="0"/>
      <p:bldP spid="2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6.2 时序逻辑电路的一般分析方法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762000" y="1066800"/>
            <a:ext cx="6847205" cy="868045"/>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6</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2</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2</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同步时序逻辑电路的分析举例</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100" name="文本框 99"/>
          <p:cNvSpPr txBox="1"/>
          <p:nvPr/>
        </p:nvSpPr>
        <p:spPr>
          <a:xfrm>
            <a:off x="207010" y="1691005"/>
            <a:ext cx="8482965" cy="82994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【例</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6-</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400" b="1">
                <a:gradFill>
                  <a:gsLst>
                    <a:gs pos="0">
                      <a:srgbClr val="012D86"/>
                    </a:gs>
                    <a:gs pos="100000">
                      <a:srgbClr val="0E2557"/>
                    </a:gs>
                  </a:gsLst>
                  <a:lin scaled="0"/>
                </a:gradFill>
                <a:ea typeface="宋体" panose="02010600030101010101" pitchFamily="2" charset="-122"/>
              </a:rPr>
              <a:t>】</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zh-CN" sz="2400" b="1">
                <a:gradFill>
                  <a:gsLst>
                    <a:gs pos="0">
                      <a:srgbClr val="012D86"/>
                    </a:gs>
                    <a:gs pos="100000">
                      <a:srgbClr val="0E2557"/>
                    </a:gs>
                  </a:gsLst>
                  <a:lin scaled="0"/>
                </a:gradFill>
                <a:ea typeface="宋体" panose="02010600030101010101" pitchFamily="2" charset="-122"/>
              </a:rPr>
              <a:t>试分析图</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6-</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2</a:t>
            </a:r>
            <a:r>
              <a:rPr lang="zh-CN" sz="2400" b="1">
                <a:gradFill>
                  <a:gsLst>
                    <a:gs pos="0">
                      <a:srgbClr val="012D86"/>
                    </a:gs>
                    <a:gs pos="100000">
                      <a:srgbClr val="0E2557"/>
                    </a:gs>
                  </a:gsLst>
                  <a:lin scaled="0"/>
                </a:gradFill>
                <a:ea typeface="宋体" panose="02010600030101010101" pitchFamily="2" charset="-122"/>
              </a:rPr>
              <a:t>所示时序逻辑电路的逻辑功能，设触发器的初始状态                      。</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2" name="图片 1"/>
          <p:cNvPicPr/>
          <p:nvPr/>
        </p:nvPicPr>
        <p:blipFill>
          <a:blip r:embed="rId1"/>
          <a:stretch>
            <a:fillRect/>
          </a:stretch>
        </p:blipFill>
        <p:spPr>
          <a:xfrm>
            <a:off x="2129155" y="2029460"/>
            <a:ext cx="1881505" cy="491490"/>
          </a:xfrm>
          <a:prstGeom prst="rect">
            <a:avLst/>
          </a:prstGeom>
          <a:noFill/>
          <a:ln w="9525">
            <a:noFill/>
          </a:ln>
        </p:spPr>
      </p:pic>
      <p:pic>
        <p:nvPicPr>
          <p:cNvPr id="9368" name="图片 2805"/>
          <p:cNvPicPr>
            <a:picLocks noChangeAspect="1"/>
          </p:cNvPicPr>
          <p:nvPr/>
        </p:nvPicPr>
        <p:blipFill>
          <a:blip r:embed="rId2"/>
          <a:stretch>
            <a:fillRect/>
          </a:stretch>
        </p:blipFill>
        <p:spPr>
          <a:xfrm>
            <a:off x="3203575" y="2520950"/>
            <a:ext cx="5483225" cy="2504440"/>
          </a:xfrm>
          <a:prstGeom prst="rect">
            <a:avLst/>
          </a:prstGeom>
          <a:noFill/>
          <a:ln>
            <a:noFill/>
          </a:ln>
        </p:spPr>
      </p:pic>
      <p:grpSp>
        <p:nvGrpSpPr>
          <p:cNvPr id="10" name="组合 9"/>
          <p:cNvGrpSpPr/>
          <p:nvPr/>
        </p:nvGrpSpPr>
        <p:grpSpPr>
          <a:xfrm>
            <a:off x="3727450" y="3976370"/>
            <a:ext cx="3756660" cy="864870"/>
            <a:chOff x="3890" y="6262"/>
            <a:chExt cx="5916" cy="1362"/>
          </a:xfrm>
        </p:grpSpPr>
        <p:grpSp>
          <p:nvGrpSpPr>
            <p:cNvPr id="12383" name="组合 113736"/>
            <p:cNvGrpSpPr/>
            <p:nvPr/>
          </p:nvGrpSpPr>
          <p:grpSpPr>
            <a:xfrm rot="0">
              <a:off x="3890" y="6262"/>
              <a:ext cx="737" cy="1344"/>
              <a:chOff x="793" y="1749"/>
              <a:chExt cx="51" cy="1008"/>
            </a:xfrm>
          </p:grpSpPr>
          <p:sp>
            <p:nvSpPr>
              <p:cNvPr id="12390" name="直接连接符 113734"/>
              <p:cNvSpPr/>
              <p:nvPr/>
            </p:nvSpPr>
            <p:spPr>
              <a:xfrm>
                <a:off x="793" y="1749"/>
                <a:ext cx="0" cy="1008"/>
              </a:xfrm>
              <a:prstGeom prst="line">
                <a:avLst/>
              </a:prstGeom>
              <a:ln w="28575" cap="flat" cmpd="sng">
                <a:solidFill>
                  <a:srgbClr val="FF3300"/>
                </a:solidFill>
                <a:prstDash val="solid"/>
                <a:headEnd type="none" w="med" len="med"/>
                <a:tailEnd type="none" w="med" len="med"/>
              </a:ln>
            </p:spPr>
          </p:sp>
          <p:sp>
            <p:nvSpPr>
              <p:cNvPr id="12391" name="直接连接符 113735"/>
              <p:cNvSpPr/>
              <p:nvPr/>
            </p:nvSpPr>
            <p:spPr>
              <a:xfrm>
                <a:off x="796" y="1756"/>
                <a:ext cx="48" cy="0"/>
              </a:xfrm>
              <a:prstGeom prst="line">
                <a:avLst/>
              </a:prstGeom>
              <a:ln w="28575" cap="flat" cmpd="sng">
                <a:solidFill>
                  <a:srgbClr val="FF3300"/>
                </a:solidFill>
                <a:prstDash val="solid"/>
                <a:headEnd type="none" w="med" len="med"/>
                <a:tailEnd type="none" w="med" len="med"/>
              </a:ln>
            </p:spPr>
          </p:sp>
        </p:grpSp>
        <p:grpSp>
          <p:nvGrpSpPr>
            <p:cNvPr id="3" name="组合 113736"/>
            <p:cNvGrpSpPr/>
            <p:nvPr/>
          </p:nvGrpSpPr>
          <p:grpSpPr>
            <a:xfrm rot="0">
              <a:off x="6499" y="6271"/>
              <a:ext cx="737" cy="1344"/>
              <a:chOff x="793" y="1749"/>
              <a:chExt cx="51" cy="1008"/>
            </a:xfrm>
          </p:grpSpPr>
          <p:sp>
            <p:nvSpPr>
              <p:cNvPr id="5" name="直接连接符 113734"/>
              <p:cNvSpPr/>
              <p:nvPr/>
            </p:nvSpPr>
            <p:spPr>
              <a:xfrm>
                <a:off x="793" y="1749"/>
                <a:ext cx="0" cy="1008"/>
              </a:xfrm>
              <a:prstGeom prst="line">
                <a:avLst/>
              </a:prstGeom>
              <a:ln w="28575" cap="flat" cmpd="sng">
                <a:solidFill>
                  <a:srgbClr val="FF3300"/>
                </a:solidFill>
                <a:prstDash val="solid"/>
                <a:headEnd type="none" w="med" len="med"/>
                <a:tailEnd type="none" w="med" len="med"/>
              </a:ln>
            </p:spPr>
          </p:sp>
          <p:sp>
            <p:nvSpPr>
              <p:cNvPr id="6" name="直接连接符 113735"/>
              <p:cNvSpPr/>
              <p:nvPr/>
            </p:nvSpPr>
            <p:spPr>
              <a:xfrm>
                <a:off x="796" y="1756"/>
                <a:ext cx="48" cy="0"/>
              </a:xfrm>
              <a:prstGeom prst="line">
                <a:avLst/>
              </a:prstGeom>
              <a:ln w="28575" cap="flat" cmpd="sng">
                <a:solidFill>
                  <a:srgbClr val="FF3300"/>
                </a:solidFill>
                <a:prstDash val="solid"/>
                <a:headEnd type="none" w="med" len="med"/>
                <a:tailEnd type="none" w="med" len="med"/>
              </a:ln>
            </p:spPr>
          </p:sp>
        </p:grpSp>
        <p:grpSp>
          <p:nvGrpSpPr>
            <p:cNvPr id="7" name="组合 113736"/>
            <p:cNvGrpSpPr/>
            <p:nvPr/>
          </p:nvGrpSpPr>
          <p:grpSpPr>
            <a:xfrm rot="0">
              <a:off x="9070" y="6280"/>
              <a:ext cx="737" cy="1344"/>
              <a:chOff x="793" y="1749"/>
              <a:chExt cx="51" cy="1008"/>
            </a:xfrm>
          </p:grpSpPr>
          <p:sp>
            <p:nvSpPr>
              <p:cNvPr id="8" name="直接连接符 113734"/>
              <p:cNvSpPr/>
              <p:nvPr/>
            </p:nvSpPr>
            <p:spPr>
              <a:xfrm>
                <a:off x="793" y="1749"/>
                <a:ext cx="0" cy="1008"/>
              </a:xfrm>
              <a:prstGeom prst="line">
                <a:avLst/>
              </a:prstGeom>
              <a:ln w="28575" cap="flat" cmpd="sng">
                <a:solidFill>
                  <a:srgbClr val="FF3300"/>
                </a:solidFill>
                <a:prstDash val="solid"/>
                <a:headEnd type="none" w="med" len="med"/>
                <a:tailEnd type="none" w="med" len="med"/>
              </a:ln>
            </p:spPr>
          </p:sp>
          <p:sp>
            <p:nvSpPr>
              <p:cNvPr id="9" name="直接连接符 113735"/>
              <p:cNvSpPr/>
              <p:nvPr/>
            </p:nvSpPr>
            <p:spPr>
              <a:xfrm>
                <a:off x="796" y="1756"/>
                <a:ext cx="48" cy="0"/>
              </a:xfrm>
              <a:prstGeom prst="line">
                <a:avLst/>
              </a:prstGeom>
              <a:ln w="28575" cap="flat" cmpd="sng">
                <a:solidFill>
                  <a:srgbClr val="FF3300"/>
                </a:solidFill>
                <a:prstDash val="solid"/>
                <a:headEnd type="none" w="med" len="med"/>
                <a:tailEnd type="none" w="med" len="med"/>
              </a:ln>
            </p:spPr>
          </p:sp>
        </p:grpSp>
      </p:grpSp>
      <p:sp>
        <p:nvSpPr>
          <p:cNvPr id="113753" name="椭圆 113752"/>
          <p:cNvSpPr/>
          <p:nvPr/>
        </p:nvSpPr>
        <p:spPr>
          <a:xfrm>
            <a:off x="3912870" y="3534410"/>
            <a:ext cx="360363" cy="287338"/>
          </a:xfrm>
          <a:prstGeom prst="ellipse">
            <a:avLst/>
          </a:prstGeom>
          <a:noFill/>
          <a:ln w="28575" cap="flat" cmpd="sng">
            <a:solidFill>
              <a:srgbClr val="FF33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12377" name="直接连接符 113747"/>
          <p:cNvSpPr/>
          <p:nvPr/>
        </p:nvSpPr>
        <p:spPr>
          <a:xfrm>
            <a:off x="3790950" y="4296410"/>
            <a:ext cx="478155" cy="635"/>
          </a:xfrm>
          <a:prstGeom prst="line">
            <a:avLst/>
          </a:prstGeom>
          <a:ln w="28575" cap="flat" cmpd="sng">
            <a:solidFill>
              <a:srgbClr val="FF3300"/>
            </a:solidFill>
            <a:prstDash val="solid"/>
            <a:headEnd type="none" w="med" len="med"/>
            <a:tailEnd type="none" w="med" len="med"/>
          </a:ln>
        </p:spPr>
      </p:sp>
      <p:sp>
        <p:nvSpPr>
          <p:cNvPr id="12379" name="直接连接符 113749"/>
          <p:cNvSpPr/>
          <p:nvPr/>
        </p:nvSpPr>
        <p:spPr>
          <a:xfrm flipH="1">
            <a:off x="3790315" y="3103880"/>
            <a:ext cx="4705985" cy="635"/>
          </a:xfrm>
          <a:prstGeom prst="line">
            <a:avLst/>
          </a:prstGeom>
          <a:ln w="28575" cap="flat" cmpd="sng">
            <a:solidFill>
              <a:srgbClr val="FF3300"/>
            </a:solidFill>
            <a:prstDash val="solid"/>
            <a:headEnd type="none" w="med" len="med"/>
            <a:tailEnd type="none" w="med" len="med"/>
          </a:ln>
        </p:spPr>
      </p:sp>
      <p:sp>
        <p:nvSpPr>
          <p:cNvPr id="12380" name="直接连接符 113750"/>
          <p:cNvSpPr/>
          <p:nvPr/>
        </p:nvSpPr>
        <p:spPr>
          <a:xfrm>
            <a:off x="3810000" y="3145790"/>
            <a:ext cx="635" cy="1191895"/>
          </a:xfrm>
          <a:prstGeom prst="line">
            <a:avLst/>
          </a:prstGeom>
          <a:ln w="28575" cap="flat" cmpd="sng">
            <a:solidFill>
              <a:srgbClr val="FF3300"/>
            </a:solidFill>
            <a:prstDash val="solid"/>
            <a:headEnd type="none" w="med" len="med"/>
            <a:tailEnd type="none" w="med" len="med"/>
          </a:ln>
        </p:spPr>
      </p:sp>
      <p:sp>
        <p:nvSpPr>
          <p:cNvPr id="11" name="文本框 10"/>
          <p:cNvSpPr txBox="1"/>
          <p:nvPr/>
        </p:nvSpPr>
        <p:spPr>
          <a:xfrm>
            <a:off x="109855" y="2520950"/>
            <a:ext cx="2540000" cy="460375"/>
          </a:xfrm>
          <a:prstGeom prst="rect">
            <a:avLst/>
          </a:prstGeom>
          <a:noFill/>
        </p:spPr>
        <p:txBody>
          <a:bodyPr wrap="square" rtlCol="0" anchor="t">
            <a:spAutoFit/>
          </a:bodyPr>
          <a:p>
            <a:r>
              <a:rPr lang="zh-CN" altLang="en-US" sz="2400" b="1">
                <a:solidFill>
                  <a:schemeClr val="accent6">
                    <a:lumMod val="60000"/>
                    <a:lumOff val="40000"/>
                  </a:schemeClr>
                </a:solidFill>
              </a:rPr>
              <a:t>解</a:t>
            </a:r>
            <a:r>
              <a:rPr lang="zh-CN" altLang="en-US" sz="2400" b="1">
                <a:gradFill>
                  <a:gsLst>
                    <a:gs pos="0">
                      <a:srgbClr val="012D86"/>
                    </a:gs>
                    <a:gs pos="100000">
                      <a:srgbClr val="0E2557"/>
                    </a:gs>
                  </a:gsLst>
                  <a:lin scaled="0"/>
                </a:gradFill>
              </a:rPr>
              <a:t> (１) 写方程组</a:t>
            </a:r>
            <a:endParaRPr lang="zh-CN" altLang="en-US" sz="2400" b="1">
              <a:gradFill>
                <a:gsLst>
                  <a:gs pos="0">
                    <a:srgbClr val="012D86"/>
                  </a:gs>
                  <a:gs pos="100000">
                    <a:srgbClr val="0E2557"/>
                  </a:gs>
                </a:gsLst>
                <a:lin scaled="0"/>
              </a:gradFill>
            </a:endParaRPr>
          </a:p>
        </p:txBody>
      </p:sp>
      <p:sp>
        <p:nvSpPr>
          <p:cNvPr id="12" name="文本框 11"/>
          <p:cNvSpPr txBox="1"/>
          <p:nvPr/>
        </p:nvSpPr>
        <p:spPr>
          <a:xfrm>
            <a:off x="435610" y="3104515"/>
            <a:ext cx="2540000" cy="368300"/>
          </a:xfrm>
          <a:prstGeom prst="rect">
            <a:avLst/>
          </a:prstGeom>
          <a:noFill/>
        </p:spPr>
        <p:txBody>
          <a:bodyPr wrap="square" rtlCol="0" anchor="t">
            <a:spAutoFit/>
          </a:bodyPr>
          <a:p>
            <a:pPr>
              <a:buClrTx/>
              <a:buSzTx/>
              <a:buFontTx/>
            </a:pPr>
            <a:r>
              <a:rPr lang="zh-CN" altLang="en-US" sz="2400" b="1">
                <a:gradFill>
                  <a:gsLst>
                    <a:gs pos="0">
                      <a:srgbClr val="012D86"/>
                    </a:gs>
                    <a:gs pos="100000">
                      <a:srgbClr val="0E2557"/>
                    </a:gs>
                  </a:gsLst>
                  <a:lin scaled="0"/>
                </a:gradFill>
              </a:rPr>
              <a:t>①激励方程</a:t>
            </a:r>
            <a:endParaRPr lang="zh-CN" altLang="en-US" sz="2400" b="1">
              <a:gradFill>
                <a:gsLst>
                  <a:gs pos="0">
                    <a:srgbClr val="012D86"/>
                  </a:gs>
                  <a:gs pos="100000">
                    <a:srgbClr val="0E2557"/>
                  </a:gs>
                </a:gsLst>
                <a:lin scaled="0"/>
              </a:gradFill>
            </a:endParaRPr>
          </a:p>
        </p:txBody>
      </p:sp>
      <p:sp>
        <p:nvSpPr>
          <p:cNvPr id="113724" name="圆角矩形 113723"/>
          <p:cNvSpPr/>
          <p:nvPr/>
        </p:nvSpPr>
        <p:spPr>
          <a:xfrm>
            <a:off x="287655" y="3104515"/>
            <a:ext cx="2835910" cy="1925320"/>
          </a:xfrm>
          <a:prstGeom prst="roundRect">
            <a:avLst>
              <a:gd name="adj" fmla="val 16667"/>
            </a:avLst>
          </a:prstGeom>
          <a:noFill/>
          <a:ln w="28575" cap="flat" cmpd="sng">
            <a:solidFill>
              <a:srgbClr val="FF00FF"/>
            </a:solidFill>
            <a:prstDash val="solid"/>
            <a:headEnd type="none" w="med" len="sm"/>
            <a:tailEnd type="none" w="med" len="med"/>
          </a:ln>
        </p:spPr>
        <p:txBody>
          <a:bodyPr wrap="none" anchor="ct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sz="1800" b="1" i="0" u="none" strike="noStrike" kern="1200" cap="none" spc="0" normalizeH="0" baseline="0" noProof="1">
              <a:ln>
                <a:noFill/>
              </a:ln>
              <a:solidFill>
                <a:schemeClr val="tx1"/>
              </a:solidFill>
              <a:effectLst>
                <a:outerShdw blurRad="38100" dist="38100" dir="2700000">
                  <a:srgbClr val="FFFFFF"/>
                </a:outerShdw>
              </a:effectLst>
              <a:uLnTx/>
              <a:uFillTx/>
              <a:latin typeface="Arial" panose="020B0604020202020204" pitchFamily="34" charset="0"/>
              <a:ea typeface="宋体" panose="02010600030101010101" pitchFamily="2" charset="-122"/>
              <a:cs typeface="+mn-cs"/>
            </a:endParaRPr>
          </a:p>
        </p:txBody>
      </p:sp>
      <p:graphicFrame>
        <p:nvGraphicFramePr>
          <p:cNvPr id="13" name="对象 87"/>
          <p:cNvGraphicFramePr>
            <a:graphicFrameLocks noChangeAspect="1"/>
          </p:cNvGraphicFramePr>
          <p:nvPr/>
        </p:nvGraphicFramePr>
        <p:xfrm>
          <a:off x="507365" y="3568700"/>
          <a:ext cx="741045" cy="417195"/>
        </p:xfrm>
        <a:graphic>
          <a:graphicData uri="http://schemas.openxmlformats.org/presentationml/2006/ole">
            <mc:AlternateContent xmlns:mc="http://schemas.openxmlformats.org/markup-compatibility/2006">
              <mc:Choice xmlns:v="urn:schemas-microsoft-com:vml" Requires="v">
                <p:oleObj spid="_x0000_s3076" name="" r:id="rId3" imgW="405765" imgH="228600" progId="Equation.DSMT4">
                  <p:embed/>
                </p:oleObj>
              </mc:Choice>
              <mc:Fallback>
                <p:oleObj name="" r:id="rId3" imgW="405765" imgH="228600" progId="Equation.DSMT4">
                  <p:embed/>
                  <p:pic>
                    <p:nvPicPr>
                      <p:cNvPr id="0" name="图片 3075"/>
                      <p:cNvPicPr/>
                      <p:nvPr/>
                    </p:nvPicPr>
                    <p:blipFill>
                      <a:blip r:embed="rId4"/>
                      <a:stretch>
                        <a:fillRect/>
                      </a:stretch>
                    </p:blipFill>
                    <p:spPr>
                      <a:xfrm>
                        <a:off x="507365" y="3568700"/>
                        <a:ext cx="741045" cy="417195"/>
                      </a:xfrm>
                      <a:prstGeom prst="rect">
                        <a:avLst/>
                      </a:prstGeom>
                      <a:noFill/>
                      <a:ln w="38100">
                        <a:noFill/>
                        <a:miter/>
                      </a:ln>
                    </p:spPr>
                  </p:pic>
                </p:oleObj>
              </mc:Fallback>
            </mc:AlternateContent>
          </a:graphicData>
        </a:graphic>
      </p:graphicFrame>
      <p:graphicFrame>
        <p:nvGraphicFramePr>
          <p:cNvPr id="14" name="对象 87"/>
          <p:cNvGraphicFramePr>
            <a:graphicFrameLocks noChangeAspect="1"/>
          </p:cNvGraphicFramePr>
          <p:nvPr/>
        </p:nvGraphicFramePr>
        <p:xfrm>
          <a:off x="1385570" y="3534410"/>
          <a:ext cx="1348740" cy="441960"/>
        </p:xfrm>
        <a:graphic>
          <a:graphicData uri="http://schemas.openxmlformats.org/presentationml/2006/ole">
            <mc:AlternateContent xmlns:mc="http://schemas.openxmlformats.org/markup-compatibility/2006">
              <mc:Choice xmlns:v="urn:schemas-microsoft-com:vml" Requires="v">
                <p:oleObj spid="_x0000_s15" name="" r:id="rId5" imgW="736600" imgH="241300" progId="Equation.DSMT4">
                  <p:embed/>
                </p:oleObj>
              </mc:Choice>
              <mc:Fallback>
                <p:oleObj name="" r:id="rId5" imgW="736600" imgH="241300" progId="Equation.DSMT4">
                  <p:embed/>
                  <p:pic>
                    <p:nvPicPr>
                      <p:cNvPr id="0" name="图片 13"/>
                      <p:cNvPicPr/>
                      <p:nvPr/>
                    </p:nvPicPr>
                    <p:blipFill>
                      <a:blip r:embed="rId6"/>
                      <a:stretch>
                        <a:fillRect/>
                      </a:stretch>
                    </p:blipFill>
                    <p:spPr>
                      <a:xfrm>
                        <a:off x="1385570" y="3534410"/>
                        <a:ext cx="1348740" cy="441960"/>
                      </a:xfrm>
                      <a:prstGeom prst="rect">
                        <a:avLst/>
                      </a:prstGeom>
                      <a:noFill/>
                      <a:ln w="38100">
                        <a:noFill/>
                        <a:miter/>
                      </a:ln>
                    </p:spPr>
                  </p:pic>
                </p:oleObj>
              </mc:Fallback>
            </mc:AlternateContent>
          </a:graphicData>
        </a:graphic>
      </p:graphicFrame>
      <p:graphicFrame>
        <p:nvGraphicFramePr>
          <p:cNvPr id="16" name="对象 87"/>
          <p:cNvGraphicFramePr>
            <a:graphicFrameLocks noChangeAspect="1"/>
          </p:cNvGraphicFramePr>
          <p:nvPr/>
        </p:nvGraphicFramePr>
        <p:xfrm>
          <a:off x="481965" y="3993515"/>
          <a:ext cx="903605" cy="474345"/>
        </p:xfrm>
        <a:graphic>
          <a:graphicData uri="http://schemas.openxmlformats.org/presentationml/2006/ole">
            <mc:AlternateContent xmlns:mc="http://schemas.openxmlformats.org/markup-compatibility/2006">
              <mc:Choice xmlns:v="urn:schemas-microsoft-com:vml" Requires="v">
                <p:oleObj spid="_x0000_s17" name="" r:id="rId7" imgW="508000" imgH="266700" progId="Equation.DSMT4">
                  <p:embed/>
                </p:oleObj>
              </mc:Choice>
              <mc:Fallback>
                <p:oleObj name="" r:id="rId7" imgW="508000" imgH="266700" progId="Equation.DSMT4">
                  <p:embed/>
                  <p:pic>
                    <p:nvPicPr>
                      <p:cNvPr id="0" name="图片 15"/>
                      <p:cNvPicPr/>
                      <p:nvPr/>
                    </p:nvPicPr>
                    <p:blipFill>
                      <a:blip r:embed="rId8"/>
                      <a:stretch>
                        <a:fillRect/>
                      </a:stretch>
                    </p:blipFill>
                    <p:spPr>
                      <a:xfrm>
                        <a:off x="481965" y="3993515"/>
                        <a:ext cx="903605" cy="474345"/>
                      </a:xfrm>
                      <a:prstGeom prst="rect">
                        <a:avLst/>
                      </a:prstGeom>
                      <a:noFill/>
                      <a:ln w="38100">
                        <a:noFill/>
                        <a:miter/>
                      </a:ln>
                    </p:spPr>
                  </p:pic>
                </p:oleObj>
              </mc:Fallback>
            </mc:AlternateContent>
          </a:graphicData>
        </a:graphic>
      </p:graphicFrame>
      <p:sp>
        <p:nvSpPr>
          <p:cNvPr id="18" name="直接连接符 113750"/>
          <p:cNvSpPr/>
          <p:nvPr/>
        </p:nvSpPr>
        <p:spPr>
          <a:xfrm>
            <a:off x="8686165" y="3145155"/>
            <a:ext cx="635" cy="1191895"/>
          </a:xfrm>
          <a:prstGeom prst="line">
            <a:avLst/>
          </a:prstGeom>
          <a:ln w="28575" cap="flat" cmpd="sng">
            <a:solidFill>
              <a:srgbClr val="002060">
                <a:alpha val="82000"/>
              </a:srgbClr>
            </a:solidFill>
            <a:prstDash val="solid"/>
            <a:headEnd type="none" w="med" len="med"/>
            <a:tailEnd type="none" w="med" len="med"/>
          </a:ln>
        </p:spPr>
      </p:sp>
      <p:sp>
        <p:nvSpPr>
          <p:cNvPr id="19" name="直接连接符 113747"/>
          <p:cNvSpPr/>
          <p:nvPr/>
        </p:nvSpPr>
        <p:spPr>
          <a:xfrm>
            <a:off x="8447405" y="4336415"/>
            <a:ext cx="203835" cy="635"/>
          </a:xfrm>
          <a:prstGeom prst="line">
            <a:avLst/>
          </a:prstGeom>
          <a:ln w="28575" cap="flat" cmpd="sng">
            <a:solidFill>
              <a:srgbClr val="002060">
                <a:alpha val="82000"/>
              </a:srgbClr>
            </a:solidFill>
            <a:prstDash val="solid"/>
            <a:headEnd type="none" w="med" len="med"/>
            <a:tailEnd type="none" w="med" len="med"/>
          </a:ln>
        </p:spPr>
      </p:sp>
      <p:sp>
        <p:nvSpPr>
          <p:cNvPr id="20" name="直接连接符 113749"/>
          <p:cNvSpPr/>
          <p:nvPr/>
        </p:nvSpPr>
        <p:spPr>
          <a:xfrm flipH="1">
            <a:off x="5636260" y="3197225"/>
            <a:ext cx="3065145" cy="635"/>
          </a:xfrm>
          <a:prstGeom prst="line">
            <a:avLst/>
          </a:prstGeom>
          <a:ln w="28575" cap="flat" cmpd="sng">
            <a:solidFill>
              <a:srgbClr val="002060">
                <a:alpha val="82000"/>
              </a:srgbClr>
            </a:solidFill>
            <a:prstDash val="solid"/>
            <a:headEnd type="none" w="med" len="med"/>
            <a:tailEnd type="none" w="med" len="med"/>
          </a:ln>
        </p:spPr>
      </p:sp>
      <p:sp>
        <p:nvSpPr>
          <p:cNvPr id="21" name="直接连接符 113750"/>
          <p:cNvSpPr/>
          <p:nvPr/>
        </p:nvSpPr>
        <p:spPr>
          <a:xfrm>
            <a:off x="5671820" y="3197860"/>
            <a:ext cx="635" cy="478790"/>
          </a:xfrm>
          <a:prstGeom prst="line">
            <a:avLst/>
          </a:prstGeom>
          <a:ln w="28575" cap="flat" cmpd="sng">
            <a:solidFill>
              <a:srgbClr val="002060">
                <a:alpha val="82000"/>
              </a:srgbClr>
            </a:solidFill>
            <a:prstDash val="solid"/>
            <a:headEnd type="none" w="med" len="med"/>
            <a:tailEnd type="none" w="med" len="med"/>
          </a:ln>
        </p:spPr>
      </p:sp>
      <p:sp>
        <p:nvSpPr>
          <p:cNvPr id="22" name="直接连接符 113747"/>
          <p:cNvSpPr/>
          <p:nvPr/>
        </p:nvSpPr>
        <p:spPr>
          <a:xfrm>
            <a:off x="5706110" y="3676015"/>
            <a:ext cx="262890" cy="635"/>
          </a:xfrm>
          <a:prstGeom prst="line">
            <a:avLst/>
          </a:prstGeom>
          <a:ln w="28575" cap="flat" cmpd="sng">
            <a:solidFill>
              <a:srgbClr val="002060">
                <a:alpha val="82000"/>
              </a:srgbClr>
            </a:solidFill>
            <a:prstDash val="solid"/>
            <a:headEnd type="none" w="med" len="med"/>
            <a:tailEnd type="none" w="med" len="med"/>
          </a:ln>
        </p:spPr>
      </p:sp>
      <p:graphicFrame>
        <p:nvGraphicFramePr>
          <p:cNvPr id="23" name="对象 87"/>
          <p:cNvGraphicFramePr>
            <a:graphicFrameLocks noChangeAspect="1"/>
          </p:cNvGraphicFramePr>
          <p:nvPr/>
        </p:nvGraphicFramePr>
        <p:xfrm>
          <a:off x="1385570" y="3993515"/>
          <a:ext cx="1377315" cy="498475"/>
        </p:xfrm>
        <a:graphic>
          <a:graphicData uri="http://schemas.openxmlformats.org/presentationml/2006/ole">
            <mc:AlternateContent xmlns:mc="http://schemas.openxmlformats.org/markup-compatibility/2006">
              <mc:Choice xmlns:v="urn:schemas-microsoft-com:vml" Requires="v">
                <p:oleObj spid="_x0000_s24" name="" r:id="rId9" imgW="736600" imgH="266700" progId="Equation.DSMT4">
                  <p:embed/>
                </p:oleObj>
              </mc:Choice>
              <mc:Fallback>
                <p:oleObj name="" r:id="rId9" imgW="736600" imgH="266700" progId="Equation.DSMT4">
                  <p:embed/>
                  <p:pic>
                    <p:nvPicPr>
                      <p:cNvPr id="0" name="图片 15"/>
                      <p:cNvPicPr/>
                      <p:nvPr/>
                    </p:nvPicPr>
                    <p:blipFill>
                      <a:blip r:embed="rId10"/>
                      <a:stretch>
                        <a:fillRect/>
                      </a:stretch>
                    </p:blipFill>
                    <p:spPr>
                      <a:xfrm>
                        <a:off x="1385570" y="3993515"/>
                        <a:ext cx="1377315" cy="498475"/>
                      </a:xfrm>
                      <a:prstGeom prst="rect">
                        <a:avLst/>
                      </a:prstGeom>
                      <a:noFill/>
                      <a:ln w="38100">
                        <a:noFill/>
                        <a:miter/>
                      </a:ln>
                    </p:spPr>
                  </p:pic>
                </p:oleObj>
              </mc:Fallback>
            </mc:AlternateContent>
          </a:graphicData>
        </a:graphic>
      </p:graphicFrame>
      <p:sp>
        <p:nvSpPr>
          <p:cNvPr id="25" name="直接连接符 113747"/>
          <p:cNvSpPr/>
          <p:nvPr/>
        </p:nvSpPr>
        <p:spPr>
          <a:xfrm>
            <a:off x="5194300" y="4337050"/>
            <a:ext cx="709930" cy="635"/>
          </a:xfrm>
          <a:prstGeom prst="line">
            <a:avLst/>
          </a:prstGeom>
          <a:ln w="28575" cap="flat" cmpd="sng">
            <a:solidFill>
              <a:srgbClr val="00B050"/>
            </a:solidFill>
            <a:prstDash val="solid"/>
            <a:headEnd type="none" w="med" len="med"/>
            <a:tailEnd type="none" w="med" len="med"/>
          </a:ln>
        </p:spPr>
      </p:sp>
      <p:graphicFrame>
        <p:nvGraphicFramePr>
          <p:cNvPr id="26" name="对象 87"/>
          <p:cNvGraphicFramePr>
            <a:graphicFrameLocks noChangeAspect="1"/>
          </p:cNvGraphicFramePr>
          <p:nvPr/>
        </p:nvGraphicFramePr>
        <p:xfrm>
          <a:off x="450850" y="4414520"/>
          <a:ext cx="2510155" cy="537845"/>
        </p:xfrm>
        <a:graphic>
          <a:graphicData uri="http://schemas.openxmlformats.org/presentationml/2006/ole">
            <mc:AlternateContent xmlns:mc="http://schemas.openxmlformats.org/markup-compatibility/2006">
              <mc:Choice xmlns:v="urn:schemas-microsoft-com:vml" Requires="v">
                <p:oleObj spid="_x0000_s27" name="" r:id="rId11" imgW="1244600" imgH="266700" progId="Equation.DSMT4">
                  <p:embed/>
                </p:oleObj>
              </mc:Choice>
              <mc:Fallback>
                <p:oleObj name="" r:id="rId11" imgW="1244600" imgH="266700" progId="Equation.DSMT4">
                  <p:embed/>
                  <p:pic>
                    <p:nvPicPr>
                      <p:cNvPr id="0" name="图片 15"/>
                      <p:cNvPicPr/>
                      <p:nvPr/>
                    </p:nvPicPr>
                    <p:blipFill>
                      <a:blip r:embed="rId12"/>
                      <a:stretch>
                        <a:fillRect/>
                      </a:stretch>
                    </p:blipFill>
                    <p:spPr>
                      <a:xfrm>
                        <a:off x="450850" y="4414520"/>
                        <a:ext cx="2510155" cy="537845"/>
                      </a:xfrm>
                      <a:prstGeom prst="rect">
                        <a:avLst/>
                      </a:prstGeom>
                      <a:noFill/>
                      <a:ln w="38100">
                        <a:noFill/>
                        <a:miter/>
                      </a:ln>
                    </p:spPr>
                  </p:pic>
                </p:oleObj>
              </mc:Fallback>
            </mc:AlternateContent>
          </a:graphicData>
        </a:graphic>
      </p:graphicFrame>
      <p:sp>
        <p:nvSpPr>
          <p:cNvPr id="14432" name="圆角矩形 166006"/>
          <p:cNvSpPr/>
          <p:nvPr/>
        </p:nvSpPr>
        <p:spPr>
          <a:xfrm>
            <a:off x="3203575" y="2432050"/>
            <a:ext cx="5847080" cy="2740025"/>
          </a:xfrm>
          <a:prstGeom prst="roundRect">
            <a:avLst>
              <a:gd name="adj" fmla="val 16667"/>
            </a:avLst>
          </a:prstGeom>
          <a:solidFill>
            <a:schemeClr val="bg1"/>
          </a:solidFill>
          <a:ln w="28575" cap="flat" cmpd="sng">
            <a:solidFill>
              <a:schemeClr val="accent6">
                <a:lumMod val="60000"/>
                <a:lumOff val="40000"/>
              </a:schemeClr>
            </a:solidFill>
            <a:prstDash val="solid"/>
            <a:headEnd type="none" w="med" len="sm"/>
            <a:tailEnd type="none" w="med" len="med"/>
          </a:ln>
        </p:spPr>
        <p:txBody>
          <a:bodyPr/>
          <a:p>
            <a:endParaRPr lang="zh-CN" altLang="en-US" dirty="0">
              <a:latin typeface="Arial" panose="020B0604020202020204" pitchFamily="34" charset="0"/>
            </a:endParaRPr>
          </a:p>
        </p:txBody>
      </p:sp>
      <p:sp>
        <p:nvSpPr>
          <p:cNvPr id="29" name="文本框 28"/>
          <p:cNvSpPr txBox="1"/>
          <p:nvPr/>
        </p:nvSpPr>
        <p:spPr>
          <a:xfrm>
            <a:off x="3547110" y="2520950"/>
            <a:ext cx="5154295" cy="829945"/>
          </a:xfrm>
          <a:prstGeom prst="rect">
            <a:avLst/>
          </a:prstGeom>
          <a:noFill/>
        </p:spPr>
        <p:txBody>
          <a:bodyPr wrap="square" rtlCol="0" anchor="t">
            <a:spAutoFit/>
          </a:bodyPr>
          <a:p>
            <a:r>
              <a:rPr lang="zh-CN" altLang="en-US" sz="2400" b="1">
                <a:gradFill>
                  <a:gsLst>
                    <a:gs pos="0">
                      <a:srgbClr val="012D86"/>
                    </a:gs>
                    <a:gs pos="100000">
                      <a:srgbClr val="0E2557"/>
                    </a:gs>
                  </a:gsLst>
                  <a:lin scaled="0"/>
                </a:gradFill>
              </a:rPr>
              <a:t>②状态方程</a:t>
            </a:r>
            <a:r>
              <a:rPr lang="zh-CN" altLang="en-US" sz="2400" b="1" dirty="0">
                <a:gradFill>
                  <a:gsLst>
                    <a:gs pos="0">
                      <a:srgbClr val="012D86"/>
                    </a:gs>
                    <a:gs pos="100000">
                      <a:srgbClr val="0E2557"/>
                    </a:gs>
                  </a:gsLst>
                  <a:lin scaled="0"/>
                </a:gradFill>
                <a:sym typeface="+mn-ea"/>
              </a:rPr>
              <a:t>（把</a:t>
            </a:r>
            <a:r>
              <a:rPr lang="zh-CN" altLang="en-US" sz="2400" b="1">
                <a:gradFill>
                  <a:gsLst>
                    <a:gs pos="0">
                      <a:srgbClr val="012D86"/>
                    </a:gs>
                    <a:gs pos="100000">
                      <a:srgbClr val="0E2557"/>
                    </a:gs>
                  </a:gsLst>
                  <a:lin scaled="0"/>
                </a:gradFill>
                <a:sym typeface="+mn-ea"/>
              </a:rPr>
              <a:t>激励</a:t>
            </a:r>
            <a:r>
              <a:rPr lang="zh-CN" altLang="en-US" sz="2400" b="1" dirty="0">
                <a:gradFill>
                  <a:gsLst>
                    <a:gs pos="0">
                      <a:srgbClr val="012D86"/>
                    </a:gs>
                    <a:gs pos="100000">
                      <a:srgbClr val="0E2557"/>
                    </a:gs>
                  </a:gsLst>
                  <a:lin scaled="0"/>
                </a:gradFill>
                <a:sym typeface="+mn-ea"/>
              </a:rPr>
              <a:t>方程代入触发器的特性方程）</a:t>
            </a:r>
            <a:endParaRPr lang="zh-CN" altLang="en-US" sz="2400" b="1" dirty="0">
              <a:gradFill>
                <a:gsLst>
                  <a:gs pos="0">
                    <a:srgbClr val="012D86"/>
                  </a:gs>
                  <a:gs pos="100000">
                    <a:srgbClr val="0E2557"/>
                  </a:gs>
                </a:gsLst>
                <a:lin scaled="0"/>
              </a:gradFill>
              <a:sym typeface="+mn-ea"/>
            </a:endParaRPr>
          </a:p>
        </p:txBody>
      </p:sp>
      <p:graphicFrame>
        <p:nvGraphicFramePr>
          <p:cNvPr id="30" name="对象 88"/>
          <p:cNvGraphicFramePr>
            <a:graphicFrameLocks noChangeAspect="1"/>
          </p:cNvGraphicFramePr>
          <p:nvPr/>
        </p:nvGraphicFramePr>
        <p:xfrm>
          <a:off x="3547110" y="3954780"/>
          <a:ext cx="2320925" cy="459740"/>
        </p:xfrm>
        <a:graphic>
          <a:graphicData uri="http://schemas.openxmlformats.org/presentationml/2006/ole">
            <mc:AlternateContent xmlns:mc="http://schemas.openxmlformats.org/markup-compatibility/2006">
              <mc:Choice xmlns:v="urn:schemas-microsoft-com:vml" Requires="v">
                <p:oleObj spid="_x0000_s31" name="" r:id="rId13" imgW="1346200" imgH="266700" progId="Equation.DSMT4">
                  <p:embed/>
                </p:oleObj>
              </mc:Choice>
              <mc:Fallback>
                <p:oleObj name="" r:id="rId13" imgW="1346200" imgH="266700" progId="Equation.DSMT4">
                  <p:embed/>
                  <p:pic>
                    <p:nvPicPr>
                      <p:cNvPr id="0" name="图片 28"/>
                      <p:cNvPicPr/>
                      <p:nvPr/>
                    </p:nvPicPr>
                    <p:blipFill>
                      <a:blip r:embed="rId14"/>
                      <a:stretch>
                        <a:fillRect/>
                      </a:stretch>
                    </p:blipFill>
                    <p:spPr>
                      <a:xfrm>
                        <a:off x="3547110" y="3954780"/>
                        <a:ext cx="2320925" cy="459740"/>
                      </a:xfrm>
                      <a:prstGeom prst="rect">
                        <a:avLst/>
                      </a:prstGeom>
                      <a:noFill/>
                      <a:ln w="38100">
                        <a:noFill/>
                        <a:miter/>
                      </a:ln>
                    </p:spPr>
                  </p:pic>
                </p:oleObj>
              </mc:Fallback>
            </mc:AlternateContent>
          </a:graphicData>
        </a:graphic>
      </p:graphicFrame>
      <p:graphicFrame>
        <p:nvGraphicFramePr>
          <p:cNvPr id="32" name="对象 88"/>
          <p:cNvGraphicFramePr>
            <a:graphicFrameLocks noChangeAspect="1"/>
          </p:cNvGraphicFramePr>
          <p:nvPr/>
        </p:nvGraphicFramePr>
        <p:xfrm>
          <a:off x="3590925" y="3310890"/>
          <a:ext cx="2117090" cy="511175"/>
        </p:xfrm>
        <a:graphic>
          <a:graphicData uri="http://schemas.openxmlformats.org/presentationml/2006/ole">
            <mc:AlternateContent xmlns:mc="http://schemas.openxmlformats.org/markup-compatibility/2006">
              <mc:Choice xmlns:v="urn:schemas-microsoft-com:vml" Requires="v">
                <p:oleObj spid="_x0000_s33" name="" r:id="rId15" imgW="1104900" imgH="266700" progId="Equation.DSMT4">
                  <p:embed/>
                </p:oleObj>
              </mc:Choice>
              <mc:Fallback>
                <p:oleObj name="" r:id="rId15" imgW="1104900" imgH="266700" progId="Equation.DSMT4">
                  <p:embed/>
                  <p:pic>
                    <p:nvPicPr>
                      <p:cNvPr id="0" name="图片 30"/>
                      <p:cNvPicPr/>
                      <p:nvPr/>
                    </p:nvPicPr>
                    <p:blipFill>
                      <a:blip r:embed="rId16"/>
                      <a:stretch>
                        <a:fillRect/>
                      </a:stretch>
                    </p:blipFill>
                    <p:spPr>
                      <a:xfrm>
                        <a:off x="3590925" y="3310890"/>
                        <a:ext cx="2117090" cy="511175"/>
                      </a:xfrm>
                      <a:prstGeom prst="rect">
                        <a:avLst/>
                      </a:prstGeom>
                      <a:noFill/>
                      <a:ln w="38100">
                        <a:noFill/>
                        <a:miter/>
                      </a:ln>
                    </p:spPr>
                  </p:pic>
                </p:oleObj>
              </mc:Fallback>
            </mc:AlternateContent>
          </a:graphicData>
        </a:graphic>
      </p:graphicFrame>
      <p:graphicFrame>
        <p:nvGraphicFramePr>
          <p:cNvPr id="34" name="对象 88"/>
          <p:cNvGraphicFramePr>
            <a:graphicFrameLocks noChangeAspect="1"/>
          </p:cNvGraphicFramePr>
          <p:nvPr/>
        </p:nvGraphicFramePr>
        <p:xfrm>
          <a:off x="3590925" y="4467860"/>
          <a:ext cx="2901950" cy="483870"/>
        </p:xfrm>
        <a:graphic>
          <a:graphicData uri="http://schemas.openxmlformats.org/presentationml/2006/ole">
            <mc:AlternateContent xmlns:mc="http://schemas.openxmlformats.org/markup-compatibility/2006">
              <mc:Choice xmlns:v="urn:schemas-microsoft-com:vml" Requires="v">
                <p:oleObj spid="_x0000_s35" name="" r:id="rId17" imgW="1600200" imgH="266700" progId="Equation.DSMT4">
                  <p:embed/>
                </p:oleObj>
              </mc:Choice>
              <mc:Fallback>
                <p:oleObj name="" r:id="rId17" imgW="1600200" imgH="266700" progId="Equation.DSMT4">
                  <p:embed/>
                  <p:pic>
                    <p:nvPicPr>
                      <p:cNvPr id="0" name="图片 32"/>
                      <p:cNvPicPr/>
                      <p:nvPr/>
                    </p:nvPicPr>
                    <p:blipFill>
                      <a:blip r:embed="rId18"/>
                      <a:stretch>
                        <a:fillRect/>
                      </a:stretch>
                    </p:blipFill>
                    <p:spPr>
                      <a:xfrm>
                        <a:off x="3590925" y="4467860"/>
                        <a:ext cx="2901950" cy="48387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left)">
                                      <p:cBhvr>
                                        <p:cTn id="11" dur="500"/>
                                        <p:tgtEl>
                                          <p:spTgt spid="3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left)">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wipe(left)">
                                      <p:cBhvr>
                                        <p:cTn id="2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6.2 时序逻辑电路的一般分析方法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6" name="文本框 35"/>
          <p:cNvSpPr txBox="1"/>
          <p:nvPr/>
        </p:nvSpPr>
        <p:spPr>
          <a:xfrm>
            <a:off x="792480" y="1268730"/>
            <a:ext cx="2540000" cy="460375"/>
          </a:xfrm>
          <a:prstGeom prst="rect">
            <a:avLst/>
          </a:prstGeom>
          <a:noFill/>
        </p:spPr>
        <p:txBody>
          <a:bodyPr wrap="square" rtlCol="0" anchor="t">
            <a:spAutoFit/>
          </a:bodyPr>
          <a:p>
            <a:r>
              <a:rPr lang="zh-CN" altLang="en-US" sz="2400" b="1"/>
              <a:t>(２)画状态转换表</a:t>
            </a:r>
            <a:endParaRPr lang="zh-CN" altLang="en-US" sz="2400" b="1"/>
          </a:p>
        </p:txBody>
      </p:sp>
      <p:graphicFrame>
        <p:nvGraphicFramePr>
          <p:cNvPr id="38" name="对象 37"/>
          <p:cNvGraphicFramePr/>
          <p:nvPr/>
        </p:nvGraphicFramePr>
        <p:xfrm>
          <a:off x="421005" y="1790700"/>
          <a:ext cx="4786630" cy="4302125"/>
        </p:xfrm>
        <a:graphic>
          <a:graphicData uri="http://schemas.openxmlformats.org/presentationml/2006/ole">
            <mc:AlternateContent xmlns:mc="http://schemas.openxmlformats.org/markup-compatibility/2006">
              <mc:Choice xmlns:v="urn:schemas-microsoft-com:vml" Requires="v">
                <p:oleObj spid="_x0000_s39" name="" r:id="rId1" imgW="4533900" imgH="3924300" progId="Paint.Picture">
                  <p:embed/>
                </p:oleObj>
              </mc:Choice>
              <mc:Fallback>
                <p:oleObj name="" r:id="rId1" imgW="4533900" imgH="3924300" progId="Paint.Picture">
                  <p:embed/>
                  <p:pic>
                    <p:nvPicPr>
                      <p:cNvPr id="0" name="图片 38"/>
                      <p:cNvPicPr/>
                      <p:nvPr/>
                    </p:nvPicPr>
                    <p:blipFill>
                      <a:blip r:embed="rId2"/>
                      <a:stretch>
                        <a:fillRect/>
                      </a:stretch>
                    </p:blipFill>
                    <p:spPr>
                      <a:xfrm>
                        <a:off x="421005" y="1790700"/>
                        <a:ext cx="4786630" cy="4302125"/>
                      </a:xfrm>
                      <a:prstGeom prst="rect">
                        <a:avLst/>
                      </a:prstGeom>
                    </p:spPr>
                  </p:pic>
                </p:oleObj>
              </mc:Fallback>
            </mc:AlternateContent>
          </a:graphicData>
        </a:graphic>
      </p:graphicFrame>
      <p:graphicFrame>
        <p:nvGraphicFramePr>
          <p:cNvPr id="40" name="对象 88"/>
          <p:cNvGraphicFramePr>
            <a:graphicFrameLocks noChangeAspect="1"/>
          </p:cNvGraphicFramePr>
          <p:nvPr/>
        </p:nvGraphicFramePr>
        <p:xfrm>
          <a:off x="5636260" y="5255895"/>
          <a:ext cx="2320925" cy="459740"/>
        </p:xfrm>
        <a:graphic>
          <a:graphicData uri="http://schemas.openxmlformats.org/presentationml/2006/ole">
            <mc:AlternateContent xmlns:mc="http://schemas.openxmlformats.org/markup-compatibility/2006">
              <mc:Choice xmlns:v="urn:schemas-microsoft-com:vml" Requires="v">
                <p:oleObj spid="_x0000_s41" name="" r:id="rId3" imgW="1346200" imgH="266700" progId="Equation.DSMT4">
                  <p:embed/>
                </p:oleObj>
              </mc:Choice>
              <mc:Fallback>
                <p:oleObj name="" r:id="rId3" imgW="1346200" imgH="266700" progId="Equation.DSMT4">
                  <p:embed/>
                  <p:pic>
                    <p:nvPicPr>
                      <p:cNvPr id="0" name="图片 28"/>
                      <p:cNvPicPr/>
                      <p:nvPr/>
                    </p:nvPicPr>
                    <p:blipFill>
                      <a:blip r:embed="rId4"/>
                      <a:stretch>
                        <a:fillRect/>
                      </a:stretch>
                    </p:blipFill>
                    <p:spPr>
                      <a:xfrm>
                        <a:off x="5636260" y="5255895"/>
                        <a:ext cx="2320925" cy="459740"/>
                      </a:xfrm>
                      <a:prstGeom prst="rect">
                        <a:avLst/>
                      </a:prstGeom>
                      <a:noFill/>
                      <a:ln w="38100">
                        <a:noFill/>
                        <a:miter/>
                      </a:ln>
                    </p:spPr>
                  </p:pic>
                </p:oleObj>
              </mc:Fallback>
            </mc:AlternateContent>
          </a:graphicData>
        </a:graphic>
      </p:graphicFrame>
      <p:graphicFrame>
        <p:nvGraphicFramePr>
          <p:cNvPr id="42" name="对象 88"/>
          <p:cNvGraphicFramePr>
            <a:graphicFrameLocks noChangeAspect="1"/>
          </p:cNvGraphicFramePr>
          <p:nvPr/>
        </p:nvGraphicFramePr>
        <p:xfrm>
          <a:off x="5636260" y="4685665"/>
          <a:ext cx="2117090" cy="511175"/>
        </p:xfrm>
        <a:graphic>
          <a:graphicData uri="http://schemas.openxmlformats.org/presentationml/2006/ole">
            <mc:AlternateContent xmlns:mc="http://schemas.openxmlformats.org/markup-compatibility/2006">
              <mc:Choice xmlns:v="urn:schemas-microsoft-com:vml" Requires="v">
                <p:oleObj spid="_x0000_s43" name="" r:id="rId5" imgW="1104900" imgH="266700" progId="Equation.DSMT4">
                  <p:embed/>
                </p:oleObj>
              </mc:Choice>
              <mc:Fallback>
                <p:oleObj name="" r:id="rId5" imgW="1104900" imgH="266700" progId="Equation.DSMT4">
                  <p:embed/>
                  <p:pic>
                    <p:nvPicPr>
                      <p:cNvPr id="0" name="图片 30"/>
                      <p:cNvPicPr/>
                      <p:nvPr/>
                    </p:nvPicPr>
                    <p:blipFill>
                      <a:blip r:embed="rId6"/>
                      <a:stretch>
                        <a:fillRect/>
                      </a:stretch>
                    </p:blipFill>
                    <p:spPr>
                      <a:xfrm>
                        <a:off x="5636260" y="4685665"/>
                        <a:ext cx="2117090" cy="511175"/>
                      </a:xfrm>
                      <a:prstGeom prst="rect">
                        <a:avLst/>
                      </a:prstGeom>
                      <a:noFill/>
                      <a:ln w="38100">
                        <a:noFill/>
                        <a:miter/>
                      </a:ln>
                    </p:spPr>
                  </p:pic>
                </p:oleObj>
              </mc:Fallback>
            </mc:AlternateContent>
          </a:graphicData>
        </a:graphic>
      </p:graphicFrame>
      <p:graphicFrame>
        <p:nvGraphicFramePr>
          <p:cNvPr id="44" name="对象 88"/>
          <p:cNvGraphicFramePr>
            <a:graphicFrameLocks noChangeAspect="1"/>
          </p:cNvGraphicFramePr>
          <p:nvPr/>
        </p:nvGraphicFramePr>
        <p:xfrm>
          <a:off x="5713730" y="5816600"/>
          <a:ext cx="1150620" cy="438150"/>
        </p:xfrm>
        <a:graphic>
          <a:graphicData uri="http://schemas.openxmlformats.org/presentationml/2006/ole">
            <mc:AlternateContent xmlns:mc="http://schemas.openxmlformats.org/markup-compatibility/2006">
              <mc:Choice xmlns:v="urn:schemas-microsoft-com:vml" Requires="v">
                <p:oleObj spid="_x0000_s45" name="" r:id="rId7" imgW="634365" imgH="241300" progId="Equation.DSMT4">
                  <p:embed/>
                </p:oleObj>
              </mc:Choice>
              <mc:Fallback>
                <p:oleObj name="" r:id="rId7" imgW="634365" imgH="241300" progId="Equation.DSMT4">
                  <p:embed/>
                  <p:pic>
                    <p:nvPicPr>
                      <p:cNvPr id="0" name="图片 32"/>
                      <p:cNvPicPr/>
                      <p:nvPr/>
                    </p:nvPicPr>
                    <p:blipFill>
                      <a:blip r:embed="rId8"/>
                      <a:stretch>
                        <a:fillRect/>
                      </a:stretch>
                    </p:blipFill>
                    <p:spPr>
                      <a:xfrm>
                        <a:off x="5713730" y="5816600"/>
                        <a:ext cx="1150620" cy="438150"/>
                      </a:xfrm>
                      <a:prstGeom prst="rect">
                        <a:avLst/>
                      </a:prstGeom>
                      <a:noFill/>
                      <a:ln w="38100">
                        <a:noFill/>
                        <a:miter/>
                      </a:ln>
                    </p:spPr>
                  </p:pic>
                </p:oleObj>
              </mc:Fallback>
            </mc:AlternateContent>
          </a:graphicData>
        </a:graphic>
      </p:graphicFrame>
      <p:sp>
        <p:nvSpPr>
          <p:cNvPr id="46" name="文本框 45"/>
          <p:cNvSpPr txBox="1"/>
          <p:nvPr/>
        </p:nvSpPr>
        <p:spPr>
          <a:xfrm>
            <a:off x="5377815" y="1270635"/>
            <a:ext cx="3766185" cy="3415030"/>
          </a:xfrm>
          <a:prstGeom prst="rect">
            <a:avLst/>
          </a:prstGeom>
          <a:noFill/>
        </p:spPr>
        <p:txBody>
          <a:bodyPr wrap="square" rtlCol="0">
            <a:spAutoFit/>
          </a:bodyPr>
          <a:p>
            <a:r>
              <a:rPr lang="zh-CN" altLang="en-US" sz="2400" b="1">
                <a:gradFill>
                  <a:gsLst>
                    <a:gs pos="0">
                      <a:srgbClr val="012D86"/>
                    </a:gs>
                    <a:gs pos="100000">
                      <a:srgbClr val="0E2557"/>
                    </a:gs>
                  </a:gsLst>
                  <a:lin scaled="0"/>
                </a:gradFill>
              </a:rPr>
              <a:t>列出电路输入信号和触发器现态的所有取值组合，代入相应的状态方程，求得相应的触发器次态及输出，就可以列出电路的状态转换表。在该电路中没有出现单独的输入信号，输出信号，所以，状态转换表只有两栏</a:t>
            </a:r>
            <a:r>
              <a:rPr lang="en-US" altLang="zh-CN" sz="2400" b="1">
                <a:gradFill>
                  <a:gsLst>
                    <a:gs pos="0">
                      <a:srgbClr val="012D86"/>
                    </a:gs>
                    <a:gs pos="100000">
                      <a:srgbClr val="0E2557"/>
                    </a:gs>
                  </a:gsLst>
                  <a:lin scaled="0"/>
                </a:gradFill>
              </a:rPr>
              <a:t>.</a:t>
            </a:r>
            <a:endParaRPr lang="en-US" altLang="zh-CN" sz="2400" b="1">
              <a:gradFill>
                <a:gsLst>
                  <a:gs pos="0">
                    <a:srgbClr val="012D86"/>
                  </a:gs>
                  <a:gs pos="100000">
                    <a:srgbClr val="0E2557"/>
                  </a:gs>
                </a:gsLst>
                <a:lin scaled="0"/>
              </a:gra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wipe(left)">
                                      <p:cBhvr>
                                        <p:cTn id="11" dur="500"/>
                                        <p:tgtEl>
                                          <p:spTgt spid="42"/>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wipe(left)">
                                      <p:cBhvr>
                                        <p:cTn id="15" dur="500"/>
                                        <p:tgtEl>
                                          <p:spTgt spid="40"/>
                                        </p:tgtEl>
                                      </p:cBhvr>
                                    </p:animEffect>
                                  </p:childTnLst>
                                </p:cTn>
                              </p:par>
                            </p:childTnLst>
                          </p:cTn>
                        </p:par>
                        <p:par>
                          <p:cTn id="16" fill="hold">
                            <p:stCondLst>
                              <p:cond delay="1000"/>
                            </p:stCondLst>
                            <p:childTnLst>
                              <p:par>
                                <p:cTn id="17" presetID="22" presetClass="entr" presetSubtype="8" fill="hold" nodeType="after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wipe(left)">
                                      <p:cBhvr>
                                        <p:cTn id="19" dur="500"/>
                                        <p:tgtEl>
                                          <p:spTgt spid="44"/>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6.2 时序逻辑电路的一般分析方法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6" name="文本框 35"/>
          <p:cNvSpPr txBox="1"/>
          <p:nvPr/>
        </p:nvSpPr>
        <p:spPr>
          <a:xfrm>
            <a:off x="792480" y="1268730"/>
            <a:ext cx="2540000" cy="460375"/>
          </a:xfrm>
          <a:prstGeom prst="rect">
            <a:avLst/>
          </a:prstGeom>
          <a:noFill/>
        </p:spPr>
        <p:txBody>
          <a:bodyPr wrap="square" rtlCol="0" anchor="t">
            <a:spAutoFit/>
          </a:bodyPr>
          <a:p>
            <a:r>
              <a:rPr lang="zh-CN" altLang="en-US" sz="2400" b="1"/>
              <a:t>(２)画状态转换表</a:t>
            </a:r>
            <a:endParaRPr lang="zh-CN" altLang="en-US" sz="2400" b="1"/>
          </a:p>
        </p:txBody>
      </p:sp>
      <p:graphicFrame>
        <p:nvGraphicFramePr>
          <p:cNvPr id="38" name="对象 37"/>
          <p:cNvGraphicFramePr/>
          <p:nvPr/>
        </p:nvGraphicFramePr>
        <p:xfrm>
          <a:off x="19050" y="1814195"/>
          <a:ext cx="4297680" cy="4302125"/>
        </p:xfrm>
        <a:graphic>
          <a:graphicData uri="http://schemas.openxmlformats.org/presentationml/2006/ole">
            <mc:AlternateContent xmlns:mc="http://schemas.openxmlformats.org/markup-compatibility/2006">
              <mc:Choice xmlns:v="urn:schemas-microsoft-com:vml" Requires="v">
                <p:oleObj spid="_x0000_s39" name="" r:id="rId1" imgW="4533900" imgH="3924300" progId="Paint.Picture">
                  <p:embed/>
                </p:oleObj>
              </mc:Choice>
              <mc:Fallback>
                <p:oleObj name="" r:id="rId1" imgW="4533900" imgH="3924300" progId="Paint.Picture">
                  <p:embed/>
                  <p:pic>
                    <p:nvPicPr>
                      <p:cNvPr id="0" name="图片 38"/>
                      <p:cNvPicPr/>
                      <p:nvPr/>
                    </p:nvPicPr>
                    <p:blipFill>
                      <a:blip r:embed="rId2"/>
                      <a:stretch>
                        <a:fillRect/>
                      </a:stretch>
                    </p:blipFill>
                    <p:spPr>
                      <a:xfrm>
                        <a:off x="19050" y="1814195"/>
                        <a:ext cx="4297680" cy="4302125"/>
                      </a:xfrm>
                      <a:prstGeom prst="rect">
                        <a:avLst/>
                      </a:prstGeom>
                    </p:spPr>
                  </p:pic>
                </p:oleObj>
              </mc:Fallback>
            </mc:AlternateContent>
          </a:graphicData>
        </a:graphic>
      </p:graphicFrame>
      <p:sp>
        <p:nvSpPr>
          <p:cNvPr id="388157" name="燕尾形 388156"/>
          <p:cNvSpPr/>
          <p:nvPr/>
        </p:nvSpPr>
        <p:spPr>
          <a:xfrm>
            <a:off x="1940243" y="2901950"/>
            <a:ext cx="454025" cy="152400"/>
          </a:xfrm>
          <a:prstGeom prst="chevron">
            <a:avLst>
              <a:gd name="adj" fmla="val 74479"/>
            </a:avLst>
          </a:prstGeom>
          <a:solidFill>
            <a:srgbClr val="FF9966"/>
          </a:solidFill>
          <a:ln w="9525">
            <a:noFill/>
          </a:ln>
        </p:spPr>
        <p:txBody>
          <a:bodyPr/>
          <a:p>
            <a:endParaRPr lang="zh-CN" altLang="en-US"/>
          </a:p>
        </p:txBody>
      </p:sp>
      <p:sp>
        <p:nvSpPr>
          <p:cNvPr id="30" name="燕尾形 29"/>
          <p:cNvSpPr/>
          <p:nvPr/>
        </p:nvSpPr>
        <p:spPr>
          <a:xfrm>
            <a:off x="1940243" y="4101465"/>
            <a:ext cx="454025" cy="152400"/>
          </a:xfrm>
          <a:prstGeom prst="chevron">
            <a:avLst>
              <a:gd name="adj" fmla="val 74479"/>
            </a:avLst>
          </a:prstGeom>
          <a:solidFill>
            <a:srgbClr val="FF9966"/>
          </a:solidFill>
          <a:ln w="9525">
            <a:noFill/>
          </a:ln>
        </p:spPr>
        <p:txBody>
          <a:bodyPr/>
          <a:p>
            <a:endParaRPr lang="zh-CN" altLang="en-US"/>
          </a:p>
        </p:txBody>
      </p:sp>
      <p:sp>
        <p:nvSpPr>
          <p:cNvPr id="31" name="燕尾形 30"/>
          <p:cNvSpPr/>
          <p:nvPr/>
        </p:nvSpPr>
        <p:spPr>
          <a:xfrm>
            <a:off x="1897698" y="5707380"/>
            <a:ext cx="454025" cy="152400"/>
          </a:xfrm>
          <a:prstGeom prst="chevron">
            <a:avLst>
              <a:gd name="adj" fmla="val 74479"/>
            </a:avLst>
          </a:prstGeom>
          <a:solidFill>
            <a:srgbClr val="FF9966"/>
          </a:solidFill>
          <a:ln w="9525">
            <a:noFill/>
          </a:ln>
        </p:spPr>
        <p:txBody>
          <a:bodyPr/>
          <a:p>
            <a:endParaRPr lang="zh-CN" altLang="en-US"/>
          </a:p>
        </p:txBody>
      </p:sp>
      <p:sp>
        <p:nvSpPr>
          <p:cNvPr id="32" name="燕尾形 31"/>
          <p:cNvSpPr/>
          <p:nvPr/>
        </p:nvSpPr>
        <p:spPr>
          <a:xfrm>
            <a:off x="1897698" y="5283835"/>
            <a:ext cx="454025" cy="152400"/>
          </a:xfrm>
          <a:prstGeom prst="chevron">
            <a:avLst>
              <a:gd name="adj" fmla="val 74479"/>
            </a:avLst>
          </a:prstGeom>
          <a:solidFill>
            <a:srgbClr val="FF9966"/>
          </a:solidFill>
          <a:ln w="9525">
            <a:noFill/>
          </a:ln>
        </p:spPr>
        <p:txBody>
          <a:bodyPr/>
          <a:p>
            <a:endParaRPr lang="zh-CN" altLang="en-US"/>
          </a:p>
        </p:txBody>
      </p:sp>
      <p:sp>
        <p:nvSpPr>
          <p:cNvPr id="388159" name="燕尾形 388158"/>
          <p:cNvSpPr/>
          <p:nvPr/>
        </p:nvSpPr>
        <p:spPr>
          <a:xfrm>
            <a:off x="1897698" y="4894580"/>
            <a:ext cx="539750" cy="180975"/>
          </a:xfrm>
          <a:prstGeom prst="chevron">
            <a:avLst>
              <a:gd name="adj" fmla="val 74561"/>
            </a:avLst>
          </a:prstGeom>
          <a:solidFill>
            <a:srgbClr val="00CC66"/>
          </a:solidFill>
          <a:ln w="9525">
            <a:noFill/>
          </a:ln>
        </p:spPr>
        <p:txBody>
          <a:bodyPr/>
          <a:p>
            <a:endParaRPr lang="zh-CN" altLang="en-US"/>
          </a:p>
        </p:txBody>
      </p:sp>
      <p:sp>
        <p:nvSpPr>
          <p:cNvPr id="2" name="文本框 1"/>
          <p:cNvSpPr txBox="1"/>
          <p:nvPr/>
        </p:nvSpPr>
        <p:spPr>
          <a:xfrm>
            <a:off x="4802505" y="1153160"/>
            <a:ext cx="2540000" cy="460375"/>
          </a:xfrm>
          <a:prstGeom prst="rect">
            <a:avLst/>
          </a:prstGeom>
          <a:noFill/>
        </p:spPr>
        <p:txBody>
          <a:bodyPr wrap="square" rtlCol="0" anchor="t">
            <a:spAutoFit/>
          </a:bodyPr>
          <a:p>
            <a:r>
              <a:rPr lang="zh-CN" altLang="en-US" sz="2400" b="1"/>
              <a:t>(３)画状态转换图</a:t>
            </a:r>
            <a:endParaRPr lang="zh-CN" altLang="en-US" sz="2400" b="1"/>
          </a:p>
        </p:txBody>
      </p:sp>
      <p:pic>
        <p:nvPicPr>
          <p:cNvPr id="9369" name="图片 2806"/>
          <p:cNvPicPr>
            <a:picLocks noChangeAspect="1"/>
          </p:cNvPicPr>
          <p:nvPr/>
        </p:nvPicPr>
        <p:blipFill>
          <a:blip r:embed="rId3"/>
          <a:stretch>
            <a:fillRect/>
          </a:stretch>
        </p:blipFill>
        <p:spPr>
          <a:xfrm>
            <a:off x="4802505" y="1613535"/>
            <a:ext cx="4038600" cy="1363980"/>
          </a:xfrm>
          <a:prstGeom prst="rect">
            <a:avLst/>
          </a:prstGeom>
          <a:noFill/>
          <a:ln>
            <a:noFill/>
          </a:ln>
        </p:spPr>
      </p:pic>
      <p:sp>
        <p:nvSpPr>
          <p:cNvPr id="5" name="文本框 4"/>
          <p:cNvSpPr txBox="1"/>
          <p:nvPr/>
        </p:nvSpPr>
        <p:spPr>
          <a:xfrm>
            <a:off x="4802505" y="2977515"/>
            <a:ext cx="2041525" cy="460375"/>
          </a:xfrm>
          <a:prstGeom prst="rect">
            <a:avLst/>
          </a:prstGeom>
          <a:noFill/>
        </p:spPr>
        <p:txBody>
          <a:bodyPr wrap="square" rtlCol="0" anchor="t">
            <a:spAutoFit/>
          </a:bodyPr>
          <a:p>
            <a:r>
              <a:rPr lang="zh-CN" altLang="en-US" sz="2400" b="1"/>
              <a:t>(４)画时序图</a:t>
            </a:r>
            <a:endParaRPr lang="zh-CN" altLang="en-US" sz="2400" b="1"/>
          </a:p>
        </p:txBody>
      </p:sp>
      <p:pic>
        <p:nvPicPr>
          <p:cNvPr id="9370" name="图片 2807"/>
          <p:cNvPicPr>
            <a:picLocks noChangeAspect="1"/>
          </p:cNvPicPr>
          <p:nvPr/>
        </p:nvPicPr>
        <p:blipFill>
          <a:blip r:embed="rId4"/>
          <a:stretch>
            <a:fillRect/>
          </a:stretch>
        </p:blipFill>
        <p:spPr>
          <a:xfrm>
            <a:off x="4705985" y="3437890"/>
            <a:ext cx="3983990" cy="2054225"/>
          </a:xfrm>
          <a:prstGeom prst="rect">
            <a:avLst/>
          </a:prstGeom>
          <a:noFill/>
          <a:ln>
            <a:noFill/>
          </a:ln>
        </p:spPr>
      </p:pic>
      <p:sp>
        <p:nvSpPr>
          <p:cNvPr id="6" name="文本框 5"/>
          <p:cNvSpPr txBox="1"/>
          <p:nvPr/>
        </p:nvSpPr>
        <p:spPr>
          <a:xfrm>
            <a:off x="4907915" y="5553710"/>
            <a:ext cx="2540000" cy="460375"/>
          </a:xfrm>
          <a:prstGeom prst="rect">
            <a:avLst/>
          </a:prstGeom>
          <a:noFill/>
        </p:spPr>
        <p:txBody>
          <a:bodyPr wrap="square" rtlCol="0" anchor="t">
            <a:spAutoFit/>
          </a:bodyPr>
          <a:p>
            <a:r>
              <a:rPr lang="zh-CN" altLang="en-US" sz="2400" b="1"/>
              <a:t>(５)逻辑功能分析</a:t>
            </a:r>
            <a:endParaRPr lang="zh-CN" altLang="en-US" sz="2400" b="1"/>
          </a:p>
        </p:txBody>
      </p:sp>
      <p:sp>
        <p:nvSpPr>
          <p:cNvPr id="7" name="文本框 6"/>
          <p:cNvSpPr txBox="1"/>
          <p:nvPr/>
        </p:nvSpPr>
        <p:spPr>
          <a:xfrm>
            <a:off x="3900805" y="5993130"/>
            <a:ext cx="5149850" cy="460375"/>
          </a:xfrm>
          <a:prstGeom prst="rect">
            <a:avLst/>
          </a:prstGeom>
          <a:noFill/>
        </p:spPr>
        <p:txBody>
          <a:bodyPr wrap="square" rtlCol="0">
            <a:spAutoFit/>
          </a:bodyPr>
          <a:p>
            <a:r>
              <a:rPr lang="zh-CN" altLang="en-US" sz="2400" b="1">
                <a:gradFill>
                  <a:gsLst>
                    <a:gs pos="0">
                      <a:srgbClr val="012D86"/>
                    </a:gs>
                    <a:gs pos="100000">
                      <a:srgbClr val="0E2557"/>
                    </a:gs>
                  </a:gsLst>
                  <a:lin scaled="0"/>
                </a:gradFill>
              </a:rPr>
              <a:t>逻辑功能：能够自启动的模五计数器。</a:t>
            </a:r>
            <a:endParaRPr lang="zh-CN" altLang="en-US" sz="2400" b="1">
              <a:gradFill>
                <a:gsLst>
                  <a:gs pos="0">
                    <a:srgbClr val="012D86"/>
                  </a:gs>
                  <a:gs pos="100000">
                    <a:srgbClr val="0E2557"/>
                  </a:gs>
                </a:gsLst>
                <a:lin scaled="0"/>
              </a:gra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388157"/>
                                        </p:tgtEl>
                                        <p:attrNameLst>
                                          <p:attrName>style.visibility</p:attrName>
                                        </p:attrNameLst>
                                      </p:cBhvr>
                                      <p:to>
                                        <p:strVal val="visible"/>
                                      </p:to>
                                    </p:set>
                                    <p:animEffect transition="in" filter="wipe(left)">
                                      <p:cBhvr>
                                        <p:cTn id="11" dur="500"/>
                                        <p:tgtEl>
                                          <p:spTgt spid="38815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left)">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left)">
                                      <p:cBhvr>
                                        <p:cTn id="21" dur="500"/>
                                        <p:tgtEl>
                                          <p:spTgt spid="3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wipe(left)">
                                      <p:cBhvr>
                                        <p:cTn id="26" dur="500"/>
                                        <p:tgtEl>
                                          <p:spTgt spid="3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88159"/>
                                        </p:tgtEl>
                                        <p:attrNameLst>
                                          <p:attrName>style.visibility</p:attrName>
                                        </p:attrNameLst>
                                      </p:cBhvr>
                                      <p:to>
                                        <p:strVal val="visible"/>
                                      </p:to>
                                    </p:set>
                                    <p:animEffect transition="in" filter="wipe(left)">
                                      <p:cBhvr>
                                        <p:cTn id="31" dur="500"/>
                                        <p:tgtEl>
                                          <p:spTgt spid="388159"/>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936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937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57" grpId="0" bldLvl="0" animBg="1"/>
      <p:bldP spid="30" grpId="0" bldLvl="0" animBg="1"/>
      <p:bldP spid="31" grpId="0" bldLvl="0" animBg="1"/>
      <p:bldP spid="32" grpId="0" bldLvl="0" animBg="1"/>
      <p:bldP spid="388159" grpId="0" bldLvl="0" animBg="1"/>
      <p:bldP spid="2" grpId="0"/>
      <p:bldP spid="5" grpId="0"/>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6.2 时序逻辑电路的一般分析方法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762000" y="989965"/>
            <a:ext cx="6847205" cy="868045"/>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6</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2</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2</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同步时序逻辑电路的分析举例</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12" name="文本框 11"/>
          <p:cNvSpPr txBox="1"/>
          <p:nvPr/>
        </p:nvSpPr>
        <p:spPr>
          <a:xfrm>
            <a:off x="748030" y="4726940"/>
            <a:ext cx="2540000" cy="368300"/>
          </a:xfrm>
          <a:prstGeom prst="rect">
            <a:avLst/>
          </a:prstGeom>
          <a:noFill/>
        </p:spPr>
        <p:txBody>
          <a:bodyPr wrap="square" rtlCol="0" anchor="t">
            <a:spAutoFit/>
          </a:bodyPr>
          <a:p>
            <a:pPr>
              <a:buClrTx/>
              <a:buSzTx/>
              <a:buFontTx/>
            </a:pPr>
            <a:r>
              <a:rPr lang="zh-CN" altLang="en-US" sz="2400" b="1">
                <a:gradFill>
                  <a:gsLst>
                    <a:gs pos="0">
                      <a:srgbClr val="012D86"/>
                    </a:gs>
                    <a:gs pos="100000">
                      <a:srgbClr val="0E2557"/>
                    </a:gs>
                  </a:gsLst>
                  <a:lin scaled="0"/>
                </a:gradFill>
              </a:rPr>
              <a:t>①激励方程</a:t>
            </a:r>
            <a:endParaRPr lang="zh-CN" altLang="en-US" sz="2400" b="1">
              <a:gradFill>
                <a:gsLst>
                  <a:gs pos="0">
                    <a:srgbClr val="012D86"/>
                  </a:gs>
                  <a:gs pos="100000">
                    <a:srgbClr val="0E2557"/>
                  </a:gs>
                </a:gsLst>
                <a:lin scaled="0"/>
              </a:gradFill>
            </a:endParaRPr>
          </a:p>
        </p:txBody>
      </p:sp>
      <p:sp>
        <p:nvSpPr>
          <p:cNvPr id="3" name="文本框 2"/>
          <p:cNvSpPr txBox="1"/>
          <p:nvPr/>
        </p:nvSpPr>
        <p:spPr>
          <a:xfrm>
            <a:off x="-115570" y="1612900"/>
            <a:ext cx="9237345" cy="398780"/>
          </a:xfrm>
          <a:prstGeom prst="rect">
            <a:avLst/>
          </a:prstGeom>
          <a:noFill/>
          <a:ln w="9525">
            <a:noFill/>
          </a:ln>
        </p:spPr>
        <p:txBody>
          <a:bodyPr wrap="square">
            <a:spAutoFit/>
          </a:bodyPr>
          <a:p>
            <a:pPr indent="267970"/>
            <a:r>
              <a:rPr lang="zh-CN" sz="2000" b="1">
                <a:gradFill>
                  <a:gsLst>
                    <a:gs pos="0">
                      <a:srgbClr val="012D86"/>
                    </a:gs>
                    <a:gs pos="100000">
                      <a:srgbClr val="0E2557"/>
                    </a:gs>
                  </a:gsLst>
                  <a:lin scaled="0"/>
                </a:gradFill>
                <a:ea typeface="宋体" panose="02010600030101010101" pitchFamily="2" charset="-122"/>
              </a:rPr>
              <a:t>【例</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6-</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2</a:t>
            </a:r>
            <a:r>
              <a:rPr lang="zh-CN" sz="2000" b="1">
                <a:gradFill>
                  <a:gsLst>
                    <a:gs pos="0">
                      <a:srgbClr val="012D86"/>
                    </a:gs>
                    <a:gs pos="100000">
                      <a:srgbClr val="0E2557"/>
                    </a:gs>
                  </a:gsLst>
                  <a:lin scaled="0"/>
                </a:gradFill>
                <a:ea typeface="宋体" panose="02010600030101010101" pitchFamily="2" charset="-122"/>
              </a:rPr>
              <a:t>】</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zh-CN" sz="2000" b="1">
                <a:gradFill>
                  <a:gsLst>
                    <a:gs pos="0">
                      <a:srgbClr val="012D86"/>
                    </a:gs>
                    <a:gs pos="100000">
                      <a:srgbClr val="0E2557"/>
                    </a:gs>
                  </a:gsLst>
                  <a:lin scaled="0"/>
                </a:gradFill>
                <a:ea typeface="宋体" panose="02010600030101010101" pitchFamily="2" charset="-122"/>
              </a:rPr>
              <a:t>分析图</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6-</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5</a:t>
            </a:r>
            <a:r>
              <a:rPr lang="zh-CN" sz="2000" b="1">
                <a:gradFill>
                  <a:gsLst>
                    <a:gs pos="0">
                      <a:srgbClr val="012D86"/>
                    </a:gs>
                    <a:gs pos="100000">
                      <a:srgbClr val="0E2557"/>
                    </a:gs>
                  </a:gsLst>
                  <a:lin scaled="0"/>
                </a:gradFill>
                <a:ea typeface="宋体" panose="02010600030101010101" pitchFamily="2" charset="-122"/>
              </a:rPr>
              <a:t>所示电路的逻辑功能，设触发器的初始状态                   。</a:t>
            </a:r>
            <a:endParaRPr lang="zh-CN" altLang="en-US" sz="2000" b="1">
              <a:gradFill>
                <a:gsLst>
                  <a:gs pos="0">
                    <a:srgbClr val="012D86"/>
                  </a:gs>
                  <a:gs pos="100000">
                    <a:srgbClr val="0E2557"/>
                  </a:gs>
                </a:gsLst>
                <a:lin scaled="0"/>
              </a:gradFill>
              <a:ea typeface="宋体" panose="02010600030101010101" pitchFamily="2" charset="-122"/>
            </a:endParaRPr>
          </a:p>
        </p:txBody>
      </p:sp>
      <p:pic>
        <p:nvPicPr>
          <p:cNvPr id="5" name="图片 4"/>
          <p:cNvPicPr/>
          <p:nvPr/>
        </p:nvPicPr>
        <p:blipFill>
          <a:blip r:embed="rId1"/>
          <a:stretch>
            <a:fillRect/>
          </a:stretch>
        </p:blipFill>
        <p:spPr>
          <a:xfrm>
            <a:off x="7343140" y="1635125"/>
            <a:ext cx="1334135" cy="393700"/>
          </a:xfrm>
          <a:prstGeom prst="rect">
            <a:avLst/>
          </a:prstGeom>
          <a:noFill/>
          <a:ln w="9525">
            <a:noFill/>
          </a:ln>
        </p:spPr>
      </p:pic>
      <p:pic>
        <p:nvPicPr>
          <p:cNvPr id="9371" name="图片 2808"/>
          <p:cNvPicPr>
            <a:picLocks noChangeAspect="1"/>
          </p:cNvPicPr>
          <p:nvPr/>
        </p:nvPicPr>
        <p:blipFill>
          <a:blip r:embed="rId2"/>
          <a:stretch>
            <a:fillRect/>
          </a:stretch>
        </p:blipFill>
        <p:spPr>
          <a:xfrm>
            <a:off x="2342515" y="2028825"/>
            <a:ext cx="6708140" cy="2243455"/>
          </a:xfrm>
          <a:prstGeom prst="rect">
            <a:avLst/>
          </a:prstGeom>
          <a:noFill/>
          <a:ln>
            <a:noFill/>
          </a:ln>
        </p:spPr>
      </p:pic>
      <p:sp>
        <p:nvSpPr>
          <p:cNvPr id="113724" name="圆角矩形 113723"/>
          <p:cNvSpPr/>
          <p:nvPr/>
        </p:nvSpPr>
        <p:spPr>
          <a:xfrm>
            <a:off x="668655" y="4726305"/>
            <a:ext cx="3660775" cy="1734820"/>
          </a:xfrm>
          <a:prstGeom prst="roundRect">
            <a:avLst>
              <a:gd name="adj" fmla="val 16667"/>
            </a:avLst>
          </a:prstGeom>
          <a:noFill/>
          <a:ln w="28575" cap="flat" cmpd="sng">
            <a:solidFill>
              <a:srgbClr val="FF00FF"/>
            </a:solidFill>
            <a:prstDash val="solid"/>
            <a:headEnd type="none" w="med" len="sm"/>
            <a:tailEnd type="none" w="med" len="med"/>
          </a:ln>
        </p:spPr>
        <p:txBody>
          <a:bodyPr wrap="none" anchor="ct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sz="1800" b="1" i="0" u="none" strike="noStrike" kern="1200" cap="none" spc="0" normalizeH="0" baseline="0" noProof="1">
              <a:ln>
                <a:noFill/>
              </a:ln>
              <a:solidFill>
                <a:schemeClr val="tx1"/>
              </a:solidFill>
              <a:effectLst>
                <a:outerShdw blurRad="38100" dist="38100" dir="2700000">
                  <a:srgbClr val="FFFFFF"/>
                </a:outerShdw>
              </a:effectLst>
              <a:uLnTx/>
              <a:uFillTx/>
              <a:latin typeface="Arial" panose="020B0604020202020204" pitchFamily="34" charset="0"/>
              <a:ea typeface="宋体" panose="02010600030101010101" pitchFamily="2" charset="-122"/>
              <a:cs typeface="+mn-cs"/>
            </a:endParaRPr>
          </a:p>
        </p:txBody>
      </p:sp>
      <p:sp>
        <p:nvSpPr>
          <p:cNvPr id="11" name="文本框 10"/>
          <p:cNvSpPr txBox="1"/>
          <p:nvPr/>
        </p:nvSpPr>
        <p:spPr>
          <a:xfrm>
            <a:off x="287655" y="4197985"/>
            <a:ext cx="2540000" cy="460375"/>
          </a:xfrm>
          <a:prstGeom prst="rect">
            <a:avLst/>
          </a:prstGeom>
          <a:noFill/>
        </p:spPr>
        <p:txBody>
          <a:bodyPr wrap="square" rtlCol="0" anchor="t">
            <a:spAutoFit/>
          </a:bodyPr>
          <a:p>
            <a:r>
              <a:rPr lang="zh-CN" altLang="en-US" sz="2400" b="1">
                <a:gradFill>
                  <a:gsLst>
                    <a:gs pos="0">
                      <a:srgbClr val="012D86"/>
                    </a:gs>
                    <a:gs pos="100000">
                      <a:srgbClr val="0E2557"/>
                    </a:gs>
                  </a:gsLst>
                  <a:lin scaled="0"/>
                </a:gradFill>
              </a:rPr>
              <a:t>解 (１) 写方程组</a:t>
            </a:r>
            <a:endParaRPr lang="zh-CN" altLang="en-US" sz="2400" b="1">
              <a:gradFill>
                <a:gsLst>
                  <a:gs pos="0">
                    <a:srgbClr val="012D86"/>
                  </a:gs>
                  <a:gs pos="100000">
                    <a:srgbClr val="0E2557"/>
                  </a:gs>
                </a:gsLst>
                <a:lin scaled="0"/>
              </a:gradFill>
            </a:endParaRPr>
          </a:p>
        </p:txBody>
      </p:sp>
      <p:sp>
        <p:nvSpPr>
          <p:cNvPr id="157770" name="直接连接符 157769"/>
          <p:cNvSpPr/>
          <p:nvPr/>
        </p:nvSpPr>
        <p:spPr>
          <a:xfrm>
            <a:off x="4320540" y="2964815"/>
            <a:ext cx="408305" cy="635"/>
          </a:xfrm>
          <a:prstGeom prst="line">
            <a:avLst/>
          </a:prstGeom>
          <a:ln w="28575" cap="flat" cmpd="sng">
            <a:solidFill>
              <a:srgbClr val="FF0000"/>
            </a:solidFill>
            <a:prstDash val="solid"/>
            <a:headEnd type="none" w="med" len="med"/>
            <a:tailEnd type="none" w="med" len="med"/>
          </a:ln>
        </p:spPr>
      </p:sp>
      <p:grpSp>
        <p:nvGrpSpPr>
          <p:cNvPr id="157781" name="组合 157780"/>
          <p:cNvGrpSpPr/>
          <p:nvPr/>
        </p:nvGrpSpPr>
        <p:grpSpPr>
          <a:xfrm>
            <a:off x="3369945" y="2435225"/>
            <a:ext cx="426085" cy="409575"/>
            <a:chOff x="1066" y="2523"/>
            <a:chExt cx="317" cy="317"/>
          </a:xfrm>
        </p:grpSpPr>
        <p:sp>
          <p:nvSpPr>
            <p:cNvPr id="18513" name="直接连接符 157781"/>
            <p:cNvSpPr/>
            <p:nvPr/>
          </p:nvSpPr>
          <p:spPr>
            <a:xfrm>
              <a:off x="1202" y="2523"/>
              <a:ext cx="0" cy="317"/>
            </a:xfrm>
            <a:prstGeom prst="line">
              <a:avLst/>
            </a:prstGeom>
            <a:ln w="28575" cap="flat" cmpd="sng">
              <a:solidFill>
                <a:srgbClr val="FF0000"/>
              </a:solidFill>
              <a:prstDash val="solid"/>
              <a:headEnd type="oval" w="med" len="med"/>
              <a:tailEnd type="none" w="med" len="med"/>
            </a:ln>
          </p:spPr>
        </p:sp>
        <p:sp>
          <p:nvSpPr>
            <p:cNvPr id="18514" name="直接连接符 157782"/>
            <p:cNvSpPr/>
            <p:nvPr/>
          </p:nvSpPr>
          <p:spPr>
            <a:xfrm>
              <a:off x="1202" y="2840"/>
              <a:ext cx="181" cy="0"/>
            </a:xfrm>
            <a:prstGeom prst="line">
              <a:avLst/>
            </a:prstGeom>
            <a:ln w="28575" cap="flat" cmpd="sng">
              <a:solidFill>
                <a:srgbClr val="FF0000"/>
              </a:solidFill>
              <a:prstDash val="solid"/>
              <a:headEnd type="none" w="med" len="med"/>
              <a:tailEnd type="none" w="med" len="med"/>
            </a:ln>
          </p:spPr>
        </p:sp>
        <p:sp>
          <p:nvSpPr>
            <p:cNvPr id="18515" name="直接连接符 157783"/>
            <p:cNvSpPr/>
            <p:nvPr/>
          </p:nvSpPr>
          <p:spPr>
            <a:xfrm>
              <a:off x="1066" y="2523"/>
              <a:ext cx="136" cy="0"/>
            </a:xfrm>
            <a:prstGeom prst="line">
              <a:avLst/>
            </a:prstGeom>
            <a:ln w="28575" cap="flat" cmpd="sng">
              <a:solidFill>
                <a:srgbClr val="FF0000"/>
              </a:solidFill>
              <a:prstDash val="solid"/>
              <a:headEnd type="none" w="med" len="med"/>
              <a:tailEnd type="none" w="med" len="med"/>
            </a:ln>
          </p:spPr>
        </p:sp>
      </p:grpSp>
      <p:graphicFrame>
        <p:nvGraphicFramePr>
          <p:cNvPr id="157806" name="对象 157805"/>
          <p:cNvGraphicFramePr/>
          <p:nvPr/>
        </p:nvGraphicFramePr>
        <p:xfrm>
          <a:off x="747395" y="5158740"/>
          <a:ext cx="1503045" cy="539750"/>
        </p:xfrm>
        <a:graphic>
          <a:graphicData uri="http://schemas.openxmlformats.org/presentationml/2006/ole">
            <mc:AlternateContent xmlns:mc="http://schemas.openxmlformats.org/markup-compatibility/2006">
              <mc:Choice xmlns:v="urn:schemas-microsoft-com:vml" Requires="v">
                <p:oleObj spid="_x0000_s3106" name="" r:id="rId3" imgW="698500" imgH="279400" progId="Equation.3">
                  <p:embed/>
                </p:oleObj>
              </mc:Choice>
              <mc:Fallback>
                <p:oleObj name="" r:id="rId3" imgW="698500" imgH="279400" progId="Equation.3">
                  <p:embed/>
                  <p:pic>
                    <p:nvPicPr>
                      <p:cNvPr id="0" name="图片 3105"/>
                      <p:cNvPicPr/>
                      <p:nvPr/>
                    </p:nvPicPr>
                    <p:blipFill>
                      <a:blip r:embed="rId4"/>
                      <a:stretch>
                        <a:fillRect/>
                      </a:stretch>
                    </p:blipFill>
                    <p:spPr>
                      <a:xfrm>
                        <a:off x="747395" y="5158740"/>
                        <a:ext cx="1503045" cy="539750"/>
                      </a:xfrm>
                      <a:prstGeom prst="rect">
                        <a:avLst/>
                      </a:prstGeom>
                      <a:noFill/>
                      <a:ln w="38100">
                        <a:noFill/>
                        <a:miter/>
                      </a:ln>
                    </p:spPr>
                  </p:pic>
                </p:oleObj>
              </mc:Fallback>
            </mc:AlternateContent>
          </a:graphicData>
        </a:graphic>
      </p:graphicFrame>
      <p:grpSp>
        <p:nvGrpSpPr>
          <p:cNvPr id="157771" name="组合 157770"/>
          <p:cNvGrpSpPr/>
          <p:nvPr/>
        </p:nvGrpSpPr>
        <p:grpSpPr>
          <a:xfrm>
            <a:off x="3544570" y="3073400"/>
            <a:ext cx="4637405" cy="1198880"/>
            <a:chOff x="1202" y="3022"/>
            <a:chExt cx="3674" cy="952"/>
          </a:xfrm>
        </p:grpSpPr>
        <p:sp>
          <p:nvSpPr>
            <p:cNvPr id="18519" name="直接连接符 157771"/>
            <p:cNvSpPr/>
            <p:nvPr/>
          </p:nvSpPr>
          <p:spPr>
            <a:xfrm>
              <a:off x="1202" y="3022"/>
              <a:ext cx="181" cy="0"/>
            </a:xfrm>
            <a:prstGeom prst="line">
              <a:avLst/>
            </a:prstGeom>
            <a:ln w="28575" cap="flat" cmpd="sng">
              <a:solidFill>
                <a:srgbClr val="FF0000"/>
              </a:solidFill>
              <a:prstDash val="solid"/>
              <a:headEnd type="none" w="med" len="med"/>
              <a:tailEnd type="none" w="med" len="med"/>
            </a:ln>
          </p:spPr>
        </p:sp>
        <p:sp>
          <p:nvSpPr>
            <p:cNvPr id="18520" name="直接连接符 157772"/>
            <p:cNvSpPr/>
            <p:nvPr/>
          </p:nvSpPr>
          <p:spPr>
            <a:xfrm>
              <a:off x="1202" y="3022"/>
              <a:ext cx="0" cy="952"/>
            </a:xfrm>
            <a:prstGeom prst="line">
              <a:avLst/>
            </a:prstGeom>
            <a:ln w="28575" cap="flat" cmpd="sng">
              <a:solidFill>
                <a:srgbClr val="FF0000"/>
              </a:solidFill>
              <a:prstDash val="solid"/>
              <a:headEnd type="none" w="med" len="med"/>
              <a:tailEnd type="none" w="med" len="med"/>
            </a:ln>
          </p:spPr>
        </p:sp>
        <p:sp>
          <p:nvSpPr>
            <p:cNvPr id="18521" name="直接连接符 157773"/>
            <p:cNvSpPr/>
            <p:nvPr/>
          </p:nvSpPr>
          <p:spPr>
            <a:xfrm>
              <a:off x="1202" y="3974"/>
              <a:ext cx="3674" cy="0"/>
            </a:xfrm>
            <a:prstGeom prst="line">
              <a:avLst/>
            </a:prstGeom>
            <a:ln w="28575" cap="flat" cmpd="sng">
              <a:solidFill>
                <a:srgbClr val="FF0000"/>
              </a:solidFill>
              <a:prstDash val="solid"/>
              <a:headEnd type="none" w="med" len="med"/>
              <a:tailEnd type="none" w="med" len="med"/>
            </a:ln>
          </p:spPr>
        </p:sp>
        <p:sp>
          <p:nvSpPr>
            <p:cNvPr id="18522" name="直接连接符 157774"/>
            <p:cNvSpPr/>
            <p:nvPr/>
          </p:nvSpPr>
          <p:spPr>
            <a:xfrm>
              <a:off x="4740" y="3385"/>
              <a:ext cx="136" cy="0"/>
            </a:xfrm>
            <a:prstGeom prst="line">
              <a:avLst/>
            </a:prstGeom>
            <a:ln w="28575" cap="flat" cmpd="sng">
              <a:solidFill>
                <a:srgbClr val="FF0000"/>
              </a:solidFill>
              <a:prstDash val="solid"/>
              <a:headEnd type="none" w="med" len="med"/>
              <a:tailEnd type="none" w="med" len="med"/>
            </a:ln>
          </p:spPr>
        </p:sp>
        <p:sp>
          <p:nvSpPr>
            <p:cNvPr id="18523" name="直接连接符 157775"/>
            <p:cNvSpPr/>
            <p:nvPr/>
          </p:nvSpPr>
          <p:spPr>
            <a:xfrm>
              <a:off x="4876" y="3385"/>
              <a:ext cx="0" cy="589"/>
            </a:xfrm>
            <a:prstGeom prst="line">
              <a:avLst/>
            </a:prstGeom>
            <a:ln w="28575" cap="flat" cmpd="sng">
              <a:solidFill>
                <a:srgbClr val="FF0000"/>
              </a:solidFill>
              <a:prstDash val="solid"/>
              <a:headEnd type="none" w="med" len="med"/>
              <a:tailEnd type="none" w="med" len="med"/>
            </a:ln>
          </p:spPr>
        </p:sp>
      </p:grpSp>
      <p:grpSp>
        <p:nvGrpSpPr>
          <p:cNvPr id="157785" name="组合 157784"/>
          <p:cNvGrpSpPr/>
          <p:nvPr/>
        </p:nvGrpSpPr>
        <p:grpSpPr>
          <a:xfrm>
            <a:off x="2641600" y="2327275"/>
            <a:ext cx="1131570" cy="1085215"/>
            <a:chOff x="476" y="2432"/>
            <a:chExt cx="907" cy="862"/>
          </a:xfrm>
        </p:grpSpPr>
        <p:sp>
          <p:nvSpPr>
            <p:cNvPr id="18511" name="直接连接符 157785"/>
            <p:cNvSpPr/>
            <p:nvPr/>
          </p:nvSpPr>
          <p:spPr>
            <a:xfrm>
              <a:off x="476" y="3294"/>
              <a:ext cx="907" cy="0"/>
            </a:xfrm>
            <a:prstGeom prst="line">
              <a:avLst/>
            </a:prstGeom>
            <a:ln w="28575" cap="flat" cmpd="sng">
              <a:solidFill>
                <a:srgbClr val="0000FF"/>
              </a:solidFill>
              <a:prstDash val="solid"/>
              <a:headEnd type="none" w="med" len="med"/>
              <a:tailEnd type="none" w="med" len="med"/>
            </a:ln>
          </p:spPr>
        </p:sp>
        <p:sp>
          <p:nvSpPr>
            <p:cNvPr id="18512" name="直接连接符 157786"/>
            <p:cNvSpPr/>
            <p:nvPr/>
          </p:nvSpPr>
          <p:spPr>
            <a:xfrm>
              <a:off x="476" y="2432"/>
              <a:ext cx="0" cy="862"/>
            </a:xfrm>
            <a:prstGeom prst="line">
              <a:avLst/>
            </a:prstGeom>
            <a:ln w="28575" cap="flat" cmpd="sng">
              <a:solidFill>
                <a:srgbClr val="0000FF"/>
              </a:solidFill>
              <a:prstDash val="solid"/>
              <a:headEnd type="oval" w="med" len="med"/>
              <a:tailEnd type="none" w="med" len="med"/>
            </a:ln>
          </p:spPr>
        </p:sp>
      </p:grpSp>
      <p:sp>
        <p:nvSpPr>
          <p:cNvPr id="157788" name="直接连接符 157787"/>
          <p:cNvSpPr/>
          <p:nvPr/>
        </p:nvSpPr>
        <p:spPr>
          <a:xfrm>
            <a:off x="4290060" y="3555365"/>
            <a:ext cx="455930" cy="635"/>
          </a:xfrm>
          <a:prstGeom prst="line">
            <a:avLst/>
          </a:prstGeom>
          <a:ln w="28575" cap="flat" cmpd="sng">
            <a:solidFill>
              <a:srgbClr val="0000FF"/>
            </a:solidFill>
            <a:prstDash val="solid"/>
            <a:headEnd type="none" w="med" len="med"/>
            <a:tailEnd type="none" w="med" len="med"/>
          </a:ln>
        </p:spPr>
      </p:sp>
      <p:sp>
        <p:nvSpPr>
          <p:cNvPr id="157789" name="直接连接符 157788"/>
          <p:cNvSpPr/>
          <p:nvPr/>
        </p:nvSpPr>
        <p:spPr>
          <a:xfrm>
            <a:off x="3536315" y="3664268"/>
            <a:ext cx="287338" cy="0"/>
          </a:xfrm>
          <a:prstGeom prst="line">
            <a:avLst/>
          </a:prstGeom>
          <a:ln w="28575" cap="flat" cmpd="sng">
            <a:solidFill>
              <a:srgbClr val="0000FF"/>
            </a:solidFill>
            <a:prstDash val="solid"/>
            <a:headEnd type="oval" w="med" len="med"/>
            <a:tailEnd type="none" w="med" len="med"/>
          </a:ln>
        </p:spPr>
      </p:sp>
      <p:graphicFrame>
        <p:nvGraphicFramePr>
          <p:cNvPr id="157807" name="对象 157806"/>
          <p:cNvGraphicFramePr/>
          <p:nvPr/>
        </p:nvGraphicFramePr>
        <p:xfrm>
          <a:off x="2619375" y="5079683"/>
          <a:ext cx="1586865" cy="615315"/>
        </p:xfrm>
        <a:graphic>
          <a:graphicData uri="http://schemas.openxmlformats.org/presentationml/2006/ole">
            <mc:AlternateContent xmlns:mc="http://schemas.openxmlformats.org/markup-compatibility/2006">
              <mc:Choice xmlns:v="urn:schemas-microsoft-com:vml" Requires="v">
                <p:oleObj spid="_x0000_s3107" name="" r:id="rId5" imgW="723900" imgH="279400" progId="Equation.3">
                  <p:embed/>
                </p:oleObj>
              </mc:Choice>
              <mc:Fallback>
                <p:oleObj name="" r:id="rId5" imgW="723900" imgH="279400" progId="Equation.3">
                  <p:embed/>
                  <p:pic>
                    <p:nvPicPr>
                      <p:cNvPr id="0" name="图片 3106"/>
                      <p:cNvPicPr/>
                      <p:nvPr/>
                    </p:nvPicPr>
                    <p:blipFill>
                      <a:blip r:embed="rId6"/>
                      <a:stretch>
                        <a:fillRect/>
                      </a:stretch>
                    </p:blipFill>
                    <p:spPr>
                      <a:xfrm>
                        <a:off x="2619375" y="5079683"/>
                        <a:ext cx="1586865" cy="615315"/>
                      </a:xfrm>
                      <a:prstGeom prst="rect">
                        <a:avLst/>
                      </a:prstGeom>
                      <a:noFill/>
                      <a:ln w="38100">
                        <a:noFill/>
                        <a:miter/>
                      </a:ln>
                    </p:spPr>
                  </p:pic>
                </p:oleObj>
              </mc:Fallback>
            </mc:AlternateContent>
          </a:graphicData>
        </a:graphic>
      </p:graphicFrame>
      <p:grpSp>
        <p:nvGrpSpPr>
          <p:cNvPr id="157799" name="组合 157798"/>
          <p:cNvGrpSpPr/>
          <p:nvPr/>
        </p:nvGrpSpPr>
        <p:grpSpPr>
          <a:xfrm>
            <a:off x="3369945" y="2435860"/>
            <a:ext cx="3605530" cy="394335"/>
            <a:chOff x="1066" y="2523"/>
            <a:chExt cx="2857" cy="317"/>
          </a:xfrm>
        </p:grpSpPr>
        <p:sp>
          <p:nvSpPr>
            <p:cNvPr id="18505" name="直接连接符 157799"/>
            <p:cNvSpPr/>
            <p:nvPr/>
          </p:nvSpPr>
          <p:spPr>
            <a:xfrm>
              <a:off x="1066" y="2523"/>
              <a:ext cx="1950" cy="0"/>
            </a:xfrm>
            <a:prstGeom prst="line">
              <a:avLst/>
            </a:prstGeom>
            <a:ln w="28575" cap="flat" cmpd="sng">
              <a:solidFill>
                <a:srgbClr val="00B0F0"/>
              </a:solidFill>
              <a:prstDash val="solid"/>
              <a:headEnd type="none" w="med" len="med"/>
              <a:tailEnd type="none" w="med" len="med"/>
            </a:ln>
          </p:spPr>
        </p:sp>
        <p:sp>
          <p:nvSpPr>
            <p:cNvPr id="18506" name="直接连接符 157800"/>
            <p:cNvSpPr/>
            <p:nvPr/>
          </p:nvSpPr>
          <p:spPr>
            <a:xfrm>
              <a:off x="3016" y="2840"/>
              <a:ext cx="907" cy="0"/>
            </a:xfrm>
            <a:prstGeom prst="line">
              <a:avLst/>
            </a:prstGeom>
            <a:ln w="28575" cap="flat" cmpd="sng">
              <a:solidFill>
                <a:srgbClr val="00B0F0"/>
              </a:solidFill>
              <a:prstDash val="solid"/>
              <a:headEnd type="oval" w="med" len="med"/>
              <a:tailEnd type="none" w="med" len="med"/>
            </a:ln>
          </p:spPr>
        </p:sp>
        <p:sp>
          <p:nvSpPr>
            <p:cNvPr id="18507" name="直接连接符 157801"/>
            <p:cNvSpPr/>
            <p:nvPr/>
          </p:nvSpPr>
          <p:spPr>
            <a:xfrm>
              <a:off x="3016" y="2523"/>
              <a:ext cx="0" cy="317"/>
            </a:xfrm>
            <a:prstGeom prst="line">
              <a:avLst/>
            </a:prstGeom>
            <a:ln w="28575" cap="flat" cmpd="sng">
              <a:solidFill>
                <a:srgbClr val="00B0F0"/>
              </a:solidFill>
              <a:prstDash val="solid"/>
              <a:headEnd type="none" w="med" len="med"/>
              <a:tailEnd type="none" w="med" len="med"/>
            </a:ln>
          </p:spPr>
        </p:sp>
      </p:grpSp>
      <p:sp>
        <p:nvSpPr>
          <p:cNvPr id="157803" name="直接连接符 157802"/>
          <p:cNvSpPr/>
          <p:nvPr/>
        </p:nvSpPr>
        <p:spPr>
          <a:xfrm>
            <a:off x="5645785" y="2997200"/>
            <a:ext cx="1296035" cy="635"/>
          </a:xfrm>
          <a:prstGeom prst="line">
            <a:avLst/>
          </a:prstGeom>
          <a:ln w="28575" cap="flat" cmpd="sng">
            <a:solidFill>
              <a:srgbClr val="00B0F0"/>
            </a:solidFill>
            <a:prstDash val="solid"/>
            <a:headEnd type="none" w="med" len="med"/>
            <a:tailEnd type="none" w="med" len="med"/>
          </a:ln>
        </p:spPr>
      </p:sp>
      <p:graphicFrame>
        <p:nvGraphicFramePr>
          <p:cNvPr id="157808" name="对象 157807"/>
          <p:cNvGraphicFramePr/>
          <p:nvPr/>
        </p:nvGraphicFramePr>
        <p:xfrm>
          <a:off x="734219" y="5845334"/>
          <a:ext cx="1279525" cy="504190"/>
        </p:xfrm>
        <a:graphic>
          <a:graphicData uri="http://schemas.openxmlformats.org/presentationml/2006/ole">
            <mc:AlternateContent xmlns:mc="http://schemas.openxmlformats.org/markup-compatibility/2006">
              <mc:Choice xmlns:v="urn:schemas-microsoft-com:vml" Requires="v">
                <p:oleObj spid="_x0000_s3109" name="" r:id="rId7" imgW="584200" imgH="228600" progId="Equation.3">
                  <p:embed/>
                </p:oleObj>
              </mc:Choice>
              <mc:Fallback>
                <p:oleObj name="" r:id="rId7" imgW="584200" imgH="228600" progId="Equation.3">
                  <p:embed/>
                  <p:pic>
                    <p:nvPicPr>
                      <p:cNvPr id="0" name="图片 3108"/>
                      <p:cNvPicPr/>
                      <p:nvPr/>
                    </p:nvPicPr>
                    <p:blipFill>
                      <a:blip r:embed="rId8"/>
                      <a:stretch>
                        <a:fillRect/>
                      </a:stretch>
                    </p:blipFill>
                    <p:spPr>
                      <a:xfrm>
                        <a:off x="734219" y="5845334"/>
                        <a:ext cx="1279525" cy="504190"/>
                      </a:xfrm>
                      <a:prstGeom prst="rect">
                        <a:avLst/>
                      </a:prstGeom>
                      <a:noFill/>
                      <a:ln w="38100">
                        <a:noFill/>
                        <a:miter/>
                      </a:ln>
                    </p:spPr>
                  </p:pic>
                </p:oleObj>
              </mc:Fallback>
            </mc:AlternateContent>
          </a:graphicData>
        </a:graphic>
      </p:graphicFrame>
      <p:sp>
        <p:nvSpPr>
          <p:cNvPr id="6" name="直接连接符 5"/>
          <p:cNvSpPr/>
          <p:nvPr/>
        </p:nvSpPr>
        <p:spPr>
          <a:xfrm>
            <a:off x="6553200" y="3529965"/>
            <a:ext cx="455930" cy="635"/>
          </a:xfrm>
          <a:prstGeom prst="line">
            <a:avLst/>
          </a:prstGeom>
          <a:ln w="28575" cap="flat" cmpd="sng">
            <a:solidFill>
              <a:srgbClr val="00B050"/>
            </a:solidFill>
            <a:prstDash val="solid"/>
            <a:headEnd type="none" w="med" len="med"/>
            <a:tailEnd type="none" w="med" len="med"/>
          </a:ln>
        </p:spPr>
      </p:sp>
      <p:graphicFrame>
        <p:nvGraphicFramePr>
          <p:cNvPr id="157809" name="对象 157808"/>
          <p:cNvGraphicFramePr/>
          <p:nvPr/>
        </p:nvGraphicFramePr>
        <p:xfrm>
          <a:off x="2603342" y="5753736"/>
          <a:ext cx="1560830" cy="615315"/>
        </p:xfrm>
        <a:graphic>
          <a:graphicData uri="http://schemas.openxmlformats.org/presentationml/2006/ole">
            <mc:AlternateContent xmlns:mc="http://schemas.openxmlformats.org/markup-compatibility/2006">
              <mc:Choice xmlns:v="urn:schemas-microsoft-com:vml" Requires="v">
                <p:oleObj spid="_x0000_s3110" name="" r:id="rId9" imgW="711200" imgH="279400" progId="Equation.3">
                  <p:embed/>
                </p:oleObj>
              </mc:Choice>
              <mc:Fallback>
                <p:oleObj name="" r:id="rId9" imgW="711200" imgH="279400" progId="Equation.3">
                  <p:embed/>
                  <p:pic>
                    <p:nvPicPr>
                      <p:cNvPr id="0" name="图片 3109"/>
                      <p:cNvPicPr/>
                      <p:nvPr/>
                    </p:nvPicPr>
                    <p:blipFill>
                      <a:blip r:embed="rId10"/>
                      <a:stretch>
                        <a:fillRect/>
                      </a:stretch>
                    </p:blipFill>
                    <p:spPr>
                      <a:xfrm>
                        <a:off x="2603342" y="5753736"/>
                        <a:ext cx="1560830" cy="615315"/>
                      </a:xfrm>
                      <a:prstGeom prst="rect">
                        <a:avLst/>
                      </a:prstGeom>
                      <a:noFill/>
                      <a:ln w="38100">
                        <a:noFill/>
                        <a:miter/>
                      </a:ln>
                    </p:spPr>
                  </p:pic>
                </p:oleObj>
              </mc:Fallback>
            </mc:AlternateContent>
          </a:graphicData>
        </a:graphic>
      </p:graphicFrame>
      <p:sp>
        <p:nvSpPr>
          <p:cNvPr id="157810" name="文本框 157809"/>
          <p:cNvSpPr txBox="1"/>
          <p:nvPr/>
        </p:nvSpPr>
        <p:spPr>
          <a:xfrm>
            <a:off x="5851525" y="4903788"/>
            <a:ext cx="2387600" cy="460375"/>
          </a:xfrm>
          <a:prstGeom prst="rect">
            <a:avLst/>
          </a:prstGeom>
          <a:noFill/>
          <a:ln w="9525">
            <a:noFill/>
          </a:ln>
        </p:spPr>
        <p:txBody>
          <a:bodyPr>
            <a:spAutoFit/>
          </a:bodyPr>
          <a:p>
            <a:pPr eaLnBrk="0" hangingPunct="0">
              <a:spcBef>
                <a:spcPct val="50000"/>
              </a:spcBef>
            </a:pPr>
            <a:r>
              <a:rPr sz="2400" b="1" dirty="0">
                <a:gradFill>
                  <a:gsLst>
                    <a:gs pos="0">
                      <a:srgbClr val="012D86"/>
                    </a:gs>
                    <a:gs pos="100000">
                      <a:srgbClr val="0E2557"/>
                    </a:gs>
                  </a:gsLst>
                  <a:lin scaled="0"/>
                </a:gradFill>
              </a:rPr>
              <a:t>②</a:t>
            </a:r>
            <a:r>
              <a:rPr lang="zh-CN" altLang="en-US" sz="2400" b="1" dirty="0">
                <a:gradFill>
                  <a:gsLst>
                    <a:gs pos="0">
                      <a:srgbClr val="012D86"/>
                    </a:gs>
                    <a:gs pos="100000">
                      <a:srgbClr val="0E2557"/>
                    </a:gs>
                  </a:gsLst>
                  <a:lin scaled="0"/>
                </a:gradFill>
                <a:latin typeface="Arial" panose="020B0604020202020204" pitchFamily="34" charset="0"/>
              </a:rPr>
              <a:t>写输出方程</a:t>
            </a:r>
            <a:endParaRPr lang="zh-CN" altLang="en-US" sz="2400" b="1" dirty="0">
              <a:gradFill>
                <a:gsLst>
                  <a:gs pos="0">
                    <a:srgbClr val="012D86"/>
                  </a:gs>
                  <a:gs pos="100000">
                    <a:srgbClr val="0E2557"/>
                  </a:gs>
                </a:gsLst>
                <a:lin scaled="0"/>
              </a:gradFill>
              <a:latin typeface="Arial" panose="020B0604020202020204" pitchFamily="34" charset="0"/>
            </a:endParaRPr>
          </a:p>
        </p:txBody>
      </p:sp>
      <p:sp>
        <p:nvSpPr>
          <p:cNvPr id="157811" name="圆角矩形 157810"/>
          <p:cNvSpPr/>
          <p:nvPr/>
        </p:nvSpPr>
        <p:spPr>
          <a:xfrm>
            <a:off x="5635625" y="4759325"/>
            <a:ext cx="2879725" cy="1657350"/>
          </a:xfrm>
          <a:prstGeom prst="roundRect">
            <a:avLst>
              <a:gd name="adj" fmla="val 16667"/>
            </a:avLst>
          </a:prstGeom>
          <a:noFill/>
          <a:ln w="28575" cap="flat" cmpd="sng">
            <a:solidFill>
              <a:srgbClr val="006600"/>
            </a:solidFill>
            <a:prstDash val="solid"/>
            <a:headEnd type="none" w="med" len="sm"/>
            <a:tailEnd type="none" w="med" len="med"/>
          </a:ln>
        </p:spPr>
        <p:txBody>
          <a:bodyPr/>
          <a:p>
            <a:endParaRPr lang="zh-CN" altLang="en-US" dirty="0">
              <a:latin typeface="Arial" panose="020B0604020202020204" pitchFamily="34" charset="0"/>
            </a:endParaRPr>
          </a:p>
        </p:txBody>
      </p:sp>
      <p:graphicFrame>
        <p:nvGraphicFramePr>
          <p:cNvPr id="2" name="对象 329"/>
          <p:cNvGraphicFramePr>
            <a:graphicFrameLocks noChangeAspect="1"/>
          </p:cNvGraphicFramePr>
          <p:nvPr/>
        </p:nvGraphicFramePr>
        <p:xfrm>
          <a:off x="6284595" y="5420995"/>
          <a:ext cx="1521460" cy="498475"/>
        </p:xfrm>
        <a:graphic>
          <a:graphicData uri="http://schemas.openxmlformats.org/presentationml/2006/ole">
            <mc:AlternateContent xmlns:mc="http://schemas.openxmlformats.org/markup-compatibility/2006">
              <mc:Choice xmlns:v="urn:schemas-microsoft-com:vml" Requires="v">
                <p:oleObj spid="_x0000_s7" name="" r:id="rId11" imgW="736600" imgH="241300" progId="Equation.KSEE3">
                  <p:embed/>
                </p:oleObj>
              </mc:Choice>
              <mc:Fallback>
                <p:oleObj name="" r:id="rId11" imgW="736600" imgH="241300" progId="Equation.KSEE3">
                  <p:embed/>
                  <p:pic>
                    <p:nvPicPr>
                      <p:cNvPr id="0" name="图片 6"/>
                      <p:cNvPicPr/>
                      <p:nvPr/>
                    </p:nvPicPr>
                    <p:blipFill>
                      <a:blip r:embed="rId12"/>
                      <a:stretch>
                        <a:fillRect/>
                      </a:stretch>
                    </p:blipFill>
                    <p:spPr>
                      <a:xfrm>
                        <a:off x="6284595" y="5420995"/>
                        <a:ext cx="1521460" cy="498475"/>
                      </a:xfrm>
                      <a:prstGeom prst="rect">
                        <a:avLst/>
                      </a:prstGeom>
                      <a:noFill/>
                      <a:ln w="38100">
                        <a:noFill/>
                        <a:miter/>
                      </a:ln>
                    </p:spPr>
                  </p:pic>
                </p:oleObj>
              </mc:Fallback>
            </mc:AlternateContent>
          </a:graphicData>
        </a:graphic>
      </p:graphicFrame>
      <p:grpSp>
        <p:nvGrpSpPr>
          <p:cNvPr id="157813" name="组合 157812"/>
          <p:cNvGrpSpPr/>
          <p:nvPr/>
        </p:nvGrpSpPr>
        <p:grpSpPr>
          <a:xfrm>
            <a:off x="119380" y="2011680"/>
            <a:ext cx="8930640" cy="2630170"/>
            <a:chOff x="249" y="1888"/>
            <a:chExt cx="5648" cy="1905"/>
          </a:xfrm>
        </p:grpSpPr>
        <p:sp>
          <p:nvSpPr>
            <p:cNvPr id="18503" name="矩形 157813"/>
            <p:cNvSpPr/>
            <p:nvPr/>
          </p:nvSpPr>
          <p:spPr>
            <a:xfrm>
              <a:off x="249" y="1888"/>
              <a:ext cx="5648" cy="1905"/>
            </a:xfrm>
            <a:prstGeom prst="rect">
              <a:avLst/>
            </a:prstGeom>
            <a:solidFill>
              <a:schemeClr val="bg1"/>
            </a:solidFill>
            <a:ln w="9525">
              <a:noFill/>
            </a:ln>
          </p:spPr>
          <p:txBody>
            <a:bodyPr/>
            <a:p>
              <a:endParaRPr lang="zh-CN" altLang="en-US" dirty="0">
                <a:latin typeface="Arial" panose="020B0604020202020204" pitchFamily="34" charset="0"/>
              </a:endParaRPr>
            </a:p>
          </p:txBody>
        </p:sp>
        <p:sp>
          <p:nvSpPr>
            <p:cNvPr id="18504" name="圆角矩形 157814"/>
            <p:cNvSpPr/>
            <p:nvPr/>
          </p:nvSpPr>
          <p:spPr>
            <a:xfrm>
              <a:off x="589" y="1933"/>
              <a:ext cx="5171" cy="1769"/>
            </a:xfrm>
            <a:prstGeom prst="roundRect">
              <a:avLst>
                <a:gd name="adj" fmla="val 16667"/>
              </a:avLst>
            </a:prstGeom>
            <a:solidFill>
              <a:schemeClr val="bg1"/>
            </a:solidFill>
            <a:ln w="28575" cap="flat" cmpd="sng">
              <a:solidFill>
                <a:schemeClr val="tx2"/>
              </a:solidFill>
              <a:prstDash val="solid"/>
              <a:headEnd type="none" w="med" len="sm"/>
              <a:tailEnd type="none" w="med" len="med"/>
            </a:ln>
          </p:spPr>
          <p:txBody>
            <a:bodyPr/>
            <a:p>
              <a:endParaRPr lang="zh-CN" altLang="en-US" dirty="0">
                <a:latin typeface="Arial" panose="020B0604020202020204" pitchFamily="34" charset="0"/>
              </a:endParaRPr>
            </a:p>
          </p:txBody>
        </p:sp>
      </p:grpSp>
      <p:sp>
        <p:nvSpPr>
          <p:cNvPr id="8" name="文本框 7"/>
          <p:cNvSpPr txBox="1"/>
          <p:nvPr/>
        </p:nvSpPr>
        <p:spPr>
          <a:xfrm>
            <a:off x="854710" y="2205990"/>
            <a:ext cx="5080000" cy="460375"/>
          </a:xfrm>
          <a:prstGeom prst="rect">
            <a:avLst/>
          </a:prstGeom>
          <a:noFill/>
          <a:ln w="9525">
            <a:noFill/>
          </a:ln>
        </p:spPr>
        <p:txBody>
          <a:bodyPr>
            <a:spAutoFit/>
          </a:bodyPr>
          <a:p>
            <a:pPr indent="266700"/>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③ </a:t>
            </a:r>
            <a:r>
              <a:rPr lang="zh-CN" sz="2400" b="1">
                <a:gradFill>
                  <a:gsLst>
                    <a:gs pos="0">
                      <a:srgbClr val="012D86"/>
                    </a:gs>
                    <a:gs pos="100000">
                      <a:srgbClr val="0E2557"/>
                    </a:gs>
                  </a:gsLst>
                  <a:lin scaled="0"/>
                </a:gradFill>
                <a:ea typeface="宋体" panose="02010600030101010101" pitchFamily="2" charset="-122"/>
              </a:rPr>
              <a:t>状态方程</a:t>
            </a:r>
            <a:endParaRPr lang="zh-CN" altLang="en-US" sz="2400" b="1">
              <a:gradFill>
                <a:gsLst>
                  <a:gs pos="0">
                    <a:srgbClr val="012D86"/>
                  </a:gs>
                  <a:gs pos="100000">
                    <a:srgbClr val="0E2557"/>
                  </a:gs>
                </a:gsLst>
                <a:lin scaled="0"/>
              </a:gradFill>
              <a:ea typeface="宋体" panose="02010600030101010101" pitchFamily="2" charset="-122"/>
            </a:endParaRPr>
          </a:p>
        </p:txBody>
      </p:sp>
      <p:graphicFrame>
        <p:nvGraphicFramePr>
          <p:cNvPr id="157816" name="对象 157815"/>
          <p:cNvGraphicFramePr/>
          <p:nvPr/>
        </p:nvGraphicFramePr>
        <p:xfrm>
          <a:off x="1617980" y="2729230"/>
          <a:ext cx="6783705" cy="579120"/>
        </p:xfrm>
        <a:graphic>
          <a:graphicData uri="http://schemas.openxmlformats.org/presentationml/2006/ole">
            <mc:AlternateContent xmlns:mc="http://schemas.openxmlformats.org/markup-compatibility/2006">
              <mc:Choice xmlns:v="urn:schemas-microsoft-com:vml" Requires="v">
                <p:oleObj spid="_x0000_s3111" name="" r:id="rId13" imgW="2691765" imgH="241300" progId="Equation.3">
                  <p:embed/>
                </p:oleObj>
              </mc:Choice>
              <mc:Fallback>
                <p:oleObj name="" r:id="rId13" imgW="2691765" imgH="241300" progId="Equation.3">
                  <p:embed/>
                  <p:pic>
                    <p:nvPicPr>
                      <p:cNvPr id="0" name="图片 3110"/>
                      <p:cNvPicPr/>
                      <p:nvPr/>
                    </p:nvPicPr>
                    <p:blipFill>
                      <a:blip r:embed="rId14">
                        <a:clrChange>
                          <a:clrFrom>
                            <a:srgbClr val="000000"/>
                          </a:clrFrom>
                          <a:clrTo>
                            <a:srgbClr val="0000FF"/>
                          </a:clrTo>
                        </a:clrChange>
                      </a:blip>
                      <a:stretch>
                        <a:fillRect/>
                      </a:stretch>
                    </p:blipFill>
                    <p:spPr>
                      <a:xfrm>
                        <a:off x="1617980" y="2729230"/>
                        <a:ext cx="6783705" cy="579120"/>
                      </a:xfrm>
                      <a:prstGeom prst="rect">
                        <a:avLst/>
                      </a:prstGeom>
                      <a:noFill/>
                      <a:ln w="38100">
                        <a:noFill/>
                        <a:miter/>
                      </a:ln>
                    </p:spPr>
                  </p:pic>
                </p:oleObj>
              </mc:Fallback>
            </mc:AlternateContent>
          </a:graphicData>
        </a:graphic>
      </p:graphicFrame>
      <p:graphicFrame>
        <p:nvGraphicFramePr>
          <p:cNvPr id="157817" name="对象 157816"/>
          <p:cNvGraphicFramePr/>
          <p:nvPr/>
        </p:nvGraphicFramePr>
        <p:xfrm>
          <a:off x="1617980" y="3529965"/>
          <a:ext cx="4093845" cy="608330"/>
        </p:xfrm>
        <a:graphic>
          <a:graphicData uri="http://schemas.openxmlformats.org/presentationml/2006/ole">
            <mc:AlternateContent xmlns:mc="http://schemas.openxmlformats.org/markup-compatibility/2006">
              <mc:Choice xmlns:v="urn:schemas-microsoft-com:vml" Requires="v">
                <p:oleObj spid="_x0000_s3108" name="" r:id="rId15" imgW="1574800" imgH="266700" progId="Equation.3">
                  <p:embed/>
                </p:oleObj>
              </mc:Choice>
              <mc:Fallback>
                <p:oleObj name="" r:id="rId15" imgW="1574800" imgH="266700" progId="Equation.3">
                  <p:embed/>
                  <p:pic>
                    <p:nvPicPr>
                      <p:cNvPr id="0" name="图片 3107"/>
                      <p:cNvPicPr/>
                      <p:nvPr/>
                    </p:nvPicPr>
                    <p:blipFill>
                      <a:blip r:embed="rId16"/>
                      <a:stretch>
                        <a:fillRect/>
                      </a:stretch>
                    </p:blipFill>
                    <p:spPr>
                      <a:xfrm>
                        <a:off x="1617980" y="3529965"/>
                        <a:ext cx="4093845" cy="60833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72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157770"/>
                                        </p:tgtEl>
                                        <p:attrNameLst>
                                          <p:attrName>style.visibility</p:attrName>
                                        </p:attrNameLst>
                                      </p:cBhvr>
                                      <p:to>
                                        <p:strVal val="visible"/>
                                      </p:to>
                                    </p:set>
                                    <p:animEffect transition="in" filter="wipe(left)">
                                      <p:cBhvr>
                                        <p:cTn id="14" dur="500"/>
                                        <p:tgtEl>
                                          <p:spTgt spid="157770"/>
                                        </p:tgtEl>
                                      </p:cBhvr>
                                    </p:animEffect>
                                  </p:childTnLst>
                                </p:cTn>
                              </p:par>
                            </p:childTnLst>
                          </p:cTn>
                        </p:par>
                        <p:par>
                          <p:cTn id="15" fill="hold">
                            <p:stCondLst>
                              <p:cond delay="500"/>
                            </p:stCondLst>
                            <p:childTnLst>
                              <p:par>
                                <p:cTn id="16" presetID="22" presetClass="entr" presetSubtype="8" fill="hold" nodeType="afterEffect">
                                  <p:stCondLst>
                                    <p:cond delay="500"/>
                                  </p:stCondLst>
                                  <p:childTnLst>
                                    <p:set>
                                      <p:cBhvr>
                                        <p:cTn id="17" dur="1" fill="hold">
                                          <p:stCondLst>
                                            <p:cond delay="0"/>
                                          </p:stCondLst>
                                        </p:cTn>
                                        <p:tgtEl>
                                          <p:spTgt spid="157781"/>
                                        </p:tgtEl>
                                        <p:attrNameLst>
                                          <p:attrName>style.visibility</p:attrName>
                                        </p:attrNameLst>
                                      </p:cBhvr>
                                      <p:to>
                                        <p:strVal val="visible"/>
                                      </p:to>
                                    </p:set>
                                    <p:animEffect transition="in" filter="wipe(left)">
                                      <p:cBhvr>
                                        <p:cTn id="18" dur="1000"/>
                                        <p:tgtEl>
                                          <p:spTgt spid="157781"/>
                                        </p:tgtEl>
                                      </p:cBhvr>
                                    </p:animEffect>
                                  </p:childTnLst>
                                </p:cTn>
                              </p:par>
                            </p:childTnLst>
                          </p:cTn>
                        </p:par>
                        <p:par>
                          <p:cTn id="19" fill="hold">
                            <p:stCondLst>
                              <p:cond delay="2000"/>
                            </p:stCondLst>
                            <p:childTnLst>
                              <p:par>
                                <p:cTn id="20" presetID="22" presetClass="entr" presetSubtype="2" fill="hold" nodeType="afterEffect">
                                  <p:stCondLst>
                                    <p:cond delay="500"/>
                                  </p:stCondLst>
                                  <p:childTnLst>
                                    <p:set>
                                      <p:cBhvr>
                                        <p:cTn id="21" dur="1" fill="hold">
                                          <p:stCondLst>
                                            <p:cond delay="0"/>
                                          </p:stCondLst>
                                        </p:cTn>
                                        <p:tgtEl>
                                          <p:spTgt spid="157771"/>
                                        </p:tgtEl>
                                        <p:attrNameLst>
                                          <p:attrName>style.visibility</p:attrName>
                                        </p:attrNameLst>
                                      </p:cBhvr>
                                      <p:to>
                                        <p:strVal val="visible"/>
                                      </p:to>
                                    </p:set>
                                    <p:animEffect transition="in" filter="wipe(right)">
                                      <p:cBhvr>
                                        <p:cTn id="22" dur="1000"/>
                                        <p:tgtEl>
                                          <p:spTgt spid="157771"/>
                                        </p:tgtEl>
                                      </p:cBhvr>
                                    </p:animEffect>
                                  </p:childTnLst>
                                </p:cTn>
                              </p:par>
                            </p:childTnLst>
                          </p:cTn>
                        </p:par>
                        <p:par>
                          <p:cTn id="23" fill="hold">
                            <p:stCondLst>
                              <p:cond delay="3500"/>
                            </p:stCondLst>
                            <p:childTnLst>
                              <p:par>
                                <p:cTn id="24" presetID="22" presetClass="entr" presetSubtype="8" fill="hold" nodeType="afterEffect">
                                  <p:stCondLst>
                                    <p:cond delay="1000"/>
                                  </p:stCondLst>
                                  <p:childTnLst>
                                    <p:set>
                                      <p:cBhvr>
                                        <p:cTn id="25" dur="2000" fill="hold">
                                          <p:stCondLst>
                                            <p:cond delay="0"/>
                                          </p:stCondLst>
                                        </p:cTn>
                                        <p:tgtEl>
                                          <p:spTgt spid="157806"/>
                                        </p:tgtEl>
                                        <p:attrNameLst>
                                          <p:attrName>style.visibility</p:attrName>
                                        </p:attrNameLst>
                                      </p:cBhvr>
                                      <p:to>
                                        <p:strVal val="visible"/>
                                      </p:to>
                                    </p:set>
                                    <p:animEffect transition="in" filter="wipe(left)">
                                      <p:cBhvr>
                                        <p:cTn id="26" dur="2000"/>
                                        <p:tgtEl>
                                          <p:spTgt spid="15780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57788"/>
                                        </p:tgtEl>
                                        <p:attrNameLst>
                                          <p:attrName>style.visibility</p:attrName>
                                        </p:attrNameLst>
                                      </p:cBhvr>
                                      <p:to>
                                        <p:strVal val="visible"/>
                                      </p:to>
                                    </p:set>
                                    <p:animEffect transition="in" filter="wipe(left)">
                                      <p:cBhvr>
                                        <p:cTn id="31" dur="1000"/>
                                        <p:tgtEl>
                                          <p:spTgt spid="157788"/>
                                        </p:tgtEl>
                                      </p:cBhvr>
                                    </p:animEffect>
                                  </p:childTnLst>
                                </p:cTn>
                              </p:par>
                            </p:childTnLst>
                          </p:cTn>
                        </p:par>
                        <p:par>
                          <p:cTn id="32" fill="hold">
                            <p:stCondLst>
                              <p:cond delay="1000"/>
                            </p:stCondLst>
                            <p:childTnLst>
                              <p:par>
                                <p:cTn id="33" presetID="22" presetClass="entr" presetSubtype="8" fill="hold" nodeType="afterEffect">
                                  <p:stCondLst>
                                    <p:cond delay="500"/>
                                  </p:stCondLst>
                                  <p:childTnLst>
                                    <p:set>
                                      <p:cBhvr>
                                        <p:cTn id="34" dur="1" fill="hold">
                                          <p:stCondLst>
                                            <p:cond delay="0"/>
                                          </p:stCondLst>
                                        </p:cTn>
                                        <p:tgtEl>
                                          <p:spTgt spid="157785"/>
                                        </p:tgtEl>
                                        <p:attrNameLst>
                                          <p:attrName>style.visibility</p:attrName>
                                        </p:attrNameLst>
                                      </p:cBhvr>
                                      <p:to>
                                        <p:strVal val="visible"/>
                                      </p:to>
                                    </p:set>
                                    <p:animEffect transition="in" filter="wipe(left)">
                                      <p:cBhvr>
                                        <p:cTn id="35" dur="1000"/>
                                        <p:tgtEl>
                                          <p:spTgt spid="157785"/>
                                        </p:tgtEl>
                                      </p:cBhvr>
                                    </p:animEffect>
                                  </p:childTnLst>
                                </p:cTn>
                              </p:par>
                            </p:childTnLst>
                          </p:cTn>
                        </p:par>
                        <p:par>
                          <p:cTn id="36" fill="hold">
                            <p:stCondLst>
                              <p:cond delay="2500"/>
                            </p:stCondLst>
                            <p:childTnLst>
                              <p:par>
                                <p:cTn id="37" presetID="22" presetClass="entr" presetSubtype="8" fill="hold" nodeType="afterEffect">
                                  <p:stCondLst>
                                    <p:cond delay="500"/>
                                  </p:stCondLst>
                                  <p:childTnLst>
                                    <p:set>
                                      <p:cBhvr>
                                        <p:cTn id="38" dur="1" fill="hold">
                                          <p:stCondLst>
                                            <p:cond delay="0"/>
                                          </p:stCondLst>
                                        </p:cTn>
                                        <p:tgtEl>
                                          <p:spTgt spid="157789"/>
                                        </p:tgtEl>
                                        <p:attrNameLst>
                                          <p:attrName>style.visibility</p:attrName>
                                        </p:attrNameLst>
                                      </p:cBhvr>
                                      <p:to>
                                        <p:strVal val="visible"/>
                                      </p:to>
                                    </p:set>
                                    <p:animEffect transition="in" filter="wipe(left)">
                                      <p:cBhvr>
                                        <p:cTn id="39" dur="1000"/>
                                        <p:tgtEl>
                                          <p:spTgt spid="157789"/>
                                        </p:tgtEl>
                                      </p:cBhvr>
                                    </p:animEffect>
                                  </p:childTnLst>
                                </p:cTn>
                              </p:par>
                            </p:childTnLst>
                          </p:cTn>
                        </p:par>
                        <p:par>
                          <p:cTn id="40" fill="hold">
                            <p:stCondLst>
                              <p:cond delay="4000"/>
                            </p:stCondLst>
                            <p:childTnLst>
                              <p:par>
                                <p:cTn id="41" presetID="22" presetClass="entr" presetSubtype="8" fill="hold" nodeType="afterEffect">
                                  <p:stCondLst>
                                    <p:cond delay="1000"/>
                                  </p:stCondLst>
                                  <p:childTnLst>
                                    <p:set>
                                      <p:cBhvr>
                                        <p:cTn id="42" dur="1000" fill="hold">
                                          <p:stCondLst>
                                            <p:cond delay="0"/>
                                          </p:stCondLst>
                                        </p:cTn>
                                        <p:tgtEl>
                                          <p:spTgt spid="157807"/>
                                        </p:tgtEl>
                                        <p:attrNameLst>
                                          <p:attrName>style.visibility</p:attrName>
                                        </p:attrNameLst>
                                      </p:cBhvr>
                                      <p:to>
                                        <p:strVal val="visible"/>
                                      </p:to>
                                    </p:set>
                                    <p:animEffect transition="in" filter="wipe(left)">
                                      <p:cBhvr>
                                        <p:cTn id="43" dur="1000"/>
                                        <p:tgtEl>
                                          <p:spTgt spid="15780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57799"/>
                                        </p:tgtEl>
                                        <p:attrNameLst>
                                          <p:attrName>style.visibility</p:attrName>
                                        </p:attrNameLst>
                                      </p:cBhvr>
                                      <p:to>
                                        <p:strVal val="visible"/>
                                      </p:to>
                                    </p:set>
                                    <p:animEffect transition="in" filter="wipe(left)">
                                      <p:cBhvr>
                                        <p:cTn id="48" dur="1000"/>
                                        <p:tgtEl>
                                          <p:spTgt spid="157799"/>
                                        </p:tgtEl>
                                      </p:cBhvr>
                                    </p:animEffect>
                                  </p:childTnLst>
                                </p:cTn>
                              </p:par>
                            </p:childTnLst>
                          </p:cTn>
                        </p:par>
                        <p:par>
                          <p:cTn id="49" fill="hold">
                            <p:stCondLst>
                              <p:cond delay="1000"/>
                            </p:stCondLst>
                            <p:childTnLst>
                              <p:par>
                                <p:cTn id="50" presetID="22" presetClass="entr" presetSubtype="8" fill="hold" nodeType="afterEffect">
                                  <p:stCondLst>
                                    <p:cond delay="0"/>
                                  </p:stCondLst>
                                  <p:childTnLst>
                                    <p:set>
                                      <p:cBhvr>
                                        <p:cTn id="51" dur="2000" fill="hold">
                                          <p:stCondLst>
                                            <p:cond delay="0"/>
                                          </p:stCondLst>
                                        </p:cTn>
                                        <p:tgtEl>
                                          <p:spTgt spid="157803"/>
                                        </p:tgtEl>
                                        <p:attrNameLst>
                                          <p:attrName>style.visibility</p:attrName>
                                        </p:attrNameLst>
                                      </p:cBhvr>
                                      <p:to>
                                        <p:strVal val="visible"/>
                                      </p:to>
                                    </p:set>
                                    <p:animEffect transition="in" filter="wipe(left)">
                                      <p:cBhvr>
                                        <p:cTn id="52" dur="2000"/>
                                        <p:tgtEl>
                                          <p:spTgt spid="157803"/>
                                        </p:tgtEl>
                                      </p:cBhvr>
                                    </p:animEffect>
                                  </p:childTnLst>
                                </p:cTn>
                              </p:par>
                            </p:childTnLst>
                          </p:cTn>
                        </p:par>
                        <p:par>
                          <p:cTn id="53" fill="hold">
                            <p:stCondLst>
                              <p:cond delay="3000"/>
                            </p:stCondLst>
                            <p:childTnLst>
                              <p:par>
                                <p:cTn id="54" presetID="22" presetClass="entr" presetSubtype="8" fill="hold" nodeType="afterEffect">
                                  <p:stCondLst>
                                    <p:cond delay="1000"/>
                                  </p:stCondLst>
                                  <p:childTnLst>
                                    <p:set>
                                      <p:cBhvr>
                                        <p:cTn id="55" dur="1000" fill="hold">
                                          <p:stCondLst>
                                            <p:cond delay="0"/>
                                          </p:stCondLst>
                                        </p:cTn>
                                        <p:tgtEl>
                                          <p:spTgt spid="157808"/>
                                        </p:tgtEl>
                                        <p:attrNameLst>
                                          <p:attrName>style.visibility</p:attrName>
                                        </p:attrNameLst>
                                      </p:cBhvr>
                                      <p:to>
                                        <p:strVal val="visible"/>
                                      </p:to>
                                    </p:set>
                                    <p:animEffect transition="in" filter="wipe(left)">
                                      <p:cBhvr>
                                        <p:cTn id="56" dur="1000"/>
                                        <p:tgtEl>
                                          <p:spTgt spid="15780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6"/>
                                        </p:tgtEl>
                                        <p:attrNameLst>
                                          <p:attrName>style.visibility</p:attrName>
                                        </p:attrNameLst>
                                      </p:cBhvr>
                                      <p:to>
                                        <p:strVal val="visible"/>
                                      </p:to>
                                    </p:set>
                                    <p:animEffect transition="in" filter="wipe(left)">
                                      <p:cBhvr>
                                        <p:cTn id="61" dur="1000"/>
                                        <p:tgtEl>
                                          <p:spTgt spid="6"/>
                                        </p:tgtEl>
                                      </p:cBhvr>
                                    </p:animEffect>
                                  </p:childTnLst>
                                </p:cTn>
                              </p:par>
                            </p:childTnLst>
                          </p:cTn>
                        </p:par>
                        <p:par>
                          <p:cTn id="62" fill="hold">
                            <p:stCondLst>
                              <p:cond delay="1000"/>
                            </p:stCondLst>
                            <p:childTnLst>
                              <p:par>
                                <p:cTn id="63" presetID="22" presetClass="entr" presetSubtype="8" fill="hold" nodeType="afterEffect">
                                  <p:stCondLst>
                                    <p:cond delay="1000"/>
                                  </p:stCondLst>
                                  <p:childTnLst>
                                    <p:set>
                                      <p:cBhvr>
                                        <p:cTn id="64" dur="1" fill="hold">
                                          <p:stCondLst>
                                            <p:cond delay="0"/>
                                          </p:stCondLst>
                                        </p:cTn>
                                        <p:tgtEl>
                                          <p:spTgt spid="157809"/>
                                        </p:tgtEl>
                                        <p:attrNameLst>
                                          <p:attrName>style.visibility</p:attrName>
                                        </p:attrNameLst>
                                      </p:cBhvr>
                                      <p:to>
                                        <p:strVal val="visible"/>
                                      </p:to>
                                    </p:set>
                                    <p:animEffect transition="in" filter="wipe(left)">
                                      <p:cBhvr>
                                        <p:cTn id="65" dur="500"/>
                                        <p:tgtEl>
                                          <p:spTgt spid="157809"/>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157811"/>
                                        </p:tgtEl>
                                        <p:attrNameLst>
                                          <p:attrName>style.visibility</p:attrName>
                                        </p:attrNameLst>
                                      </p:cBhvr>
                                      <p:to>
                                        <p:strVal val="visible"/>
                                      </p:to>
                                    </p:set>
                                  </p:childTnLst>
                                </p:cTn>
                              </p:par>
                            </p:childTnLst>
                          </p:cTn>
                        </p:par>
                        <p:par>
                          <p:cTn id="70" fill="hold">
                            <p:stCondLst>
                              <p:cond delay="0"/>
                            </p:stCondLst>
                            <p:childTnLst>
                              <p:par>
                                <p:cTn id="71" presetID="1" presetClass="entr" presetSubtype="0" fill="hold" nodeType="afterEffect">
                                  <p:stCondLst>
                                    <p:cond delay="1000"/>
                                  </p:stCondLst>
                                  <p:childTnLst>
                                    <p:set>
                                      <p:cBhvr>
                                        <p:cTn id="72" dur="1" fill="hold">
                                          <p:stCondLst>
                                            <p:cond delay="0"/>
                                          </p:stCondLst>
                                        </p:cTn>
                                        <p:tgtEl>
                                          <p:spTgt spid="157810"/>
                                        </p:tgtEl>
                                        <p:attrNameLst>
                                          <p:attrName>style.visibility</p:attrName>
                                        </p:attrNameLst>
                                      </p:cBhvr>
                                      <p:to>
                                        <p:strVal val="visible"/>
                                      </p:to>
                                    </p:set>
                                  </p:childTnLst>
                                </p:cTn>
                              </p:par>
                            </p:childTnLst>
                          </p:cTn>
                        </p:par>
                        <p:par>
                          <p:cTn id="73" fill="hold">
                            <p:stCondLst>
                              <p:cond delay="1000"/>
                            </p:stCondLst>
                            <p:childTnLst>
                              <p:par>
                                <p:cTn id="74" presetID="22" presetClass="entr" presetSubtype="8" fill="hold" nodeType="afterEffect">
                                  <p:stCondLst>
                                    <p:cond delay="2000"/>
                                  </p:stCondLst>
                                  <p:childTnLst>
                                    <p:set>
                                      <p:cBhvr>
                                        <p:cTn id="75" dur="1" fill="hold">
                                          <p:stCondLst>
                                            <p:cond delay="0"/>
                                          </p:stCondLst>
                                        </p:cTn>
                                        <p:tgtEl>
                                          <p:spTgt spid="2"/>
                                        </p:tgtEl>
                                        <p:attrNameLst>
                                          <p:attrName>style.visibility</p:attrName>
                                        </p:attrNameLst>
                                      </p:cBhvr>
                                      <p:to>
                                        <p:strVal val="visible"/>
                                      </p:to>
                                    </p:set>
                                    <p:animEffect transition="in" filter="wipe(left)">
                                      <p:cBhvr>
                                        <p:cTn id="76" dur="500"/>
                                        <p:tgtEl>
                                          <p:spTgt spid="2"/>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57813"/>
                                        </p:tgtEl>
                                        <p:attrNameLst>
                                          <p:attrName>style.visibility</p:attrName>
                                        </p:attrNameLst>
                                      </p:cBhvr>
                                      <p:to>
                                        <p:strVal val="visible"/>
                                      </p:to>
                                    </p:set>
                                  </p:childTnLst>
                                </p:cTn>
                              </p:par>
                            </p:childTnLst>
                          </p:cTn>
                        </p:par>
                        <p:par>
                          <p:cTn id="81" fill="hold">
                            <p:stCondLst>
                              <p:cond delay="0"/>
                            </p:stCondLst>
                            <p:childTnLst>
                              <p:par>
                                <p:cTn id="82" presetID="1" presetClass="entr" presetSubtype="0" fill="hold" grpId="0" nodeType="afterEffect">
                                  <p:stCondLst>
                                    <p:cond delay="1000"/>
                                  </p:stCondLst>
                                  <p:childTnLst>
                                    <p:set>
                                      <p:cBhvr>
                                        <p:cTn id="83" dur="1" fill="hold">
                                          <p:stCondLst>
                                            <p:cond delay="0"/>
                                          </p:stCondLst>
                                        </p:cTn>
                                        <p:tgtEl>
                                          <p:spTgt spid="8"/>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500"/>
                                  </p:stCondLst>
                                  <p:childTnLst>
                                    <p:set>
                                      <p:cBhvr>
                                        <p:cTn id="87" dur="2000" fill="hold">
                                          <p:stCondLst>
                                            <p:cond delay="0"/>
                                          </p:stCondLst>
                                        </p:cTn>
                                        <p:tgtEl>
                                          <p:spTgt spid="157816"/>
                                        </p:tgtEl>
                                        <p:attrNameLst>
                                          <p:attrName>style.visibility</p:attrName>
                                        </p:attrNameLst>
                                      </p:cBhvr>
                                      <p:to>
                                        <p:strVal val="visible"/>
                                      </p:to>
                                    </p:set>
                                    <p:animEffect transition="in" filter="wipe(left)">
                                      <p:cBhvr>
                                        <p:cTn id="88" dur="2000"/>
                                        <p:tgtEl>
                                          <p:spTgt spid="157816"/>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500"/>
                                  </p:stCondLst>
                                  <p:childTnLst>
                                    <p:set>
                                      <p:cBhvr>
                                        <p:cTn id="92" dur="2000" fill="hold">
                                          <p:stCondLst>
                                            <p:cond delay="0"/>
                                          </p:stCondLst>
                                        </p:cTn>
                                        <p:tgtEl>
                                          <p:spTgt spid="157817"/>
                                        </p:tgtEl>
                                        <p:attrNameLst>
                                          <p:attrName>style.visibility</p:attrName>
                                        </p:attrNameLst>
                                      </p:cBhvr>
                                      <p:to>
                                        <p:strVal val="visible"/>
                                      </p:to>
                                    </p:set>
                                    <p:animEffect transition="in" filter="wipe(left)">
                                      <p:cBhvr>
                                        <p:cTn id="93" dur="2000"/>
                                        <p:tgtEl>
                                          <p:spTgt spid="1578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724" grpId="0" bldLvl="0" animBg="1"/>
      <p:bldP spid="12"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6.2 时序逻辑电路的一般分析方法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6" name="文本框 35"/>
          <p:cNvSpPr txBox="1"/>
          <p:nvPr/>
        </p:nvSpPr>
        <p:spPr>
          <a:xfrm>
            <a:off x="792480" y="1268730"/>
            <a:ext cx="2540000" cy="460375"/>
          </a:xfrm>
          <a:prstGeom prst="rect">
            <a:avLst/>
          </a:prstGeom>
          <a:noFill/>
        </p:spPr>
        <p:txBody>
          <a:bodyPr wrap="square" rtlCol="0" anchor="t">
            <a:spAutoFit/>
          </a:bodyPr>
          <a:p>
            <a:r>
              <a:rPr lang="zh-CN" altLang="en-US" sz="2400" b="1"/>
              <a:t>(２)画状态转换表</a:t>
            </a:r>
            <a:endParaRPr lang="zh-CN" altLang="en-US" sz="2400" b="1"/>
          </a:p>
        </p:txBody>
      </p:sp>
      <p:sp>
        <p:nvSpPr>
          <p:cNvPr id="46" name="文本框 45"/>
          <p:cNvSpPr txBox="1"/>
          <p:nvPr/>
        </p:nvSpPr>
        <p:spPr>
          <a:xfrm>
            <a:off x="393700" y="1729105"/>
            <a:ext cx="8500745" cy="829945"/>
          </a:xfrm>
          <a:prstGeom prst="rect">
            <a:avLst/>
          </a:prstGeom>
          <a:noFill/>
        </p:spPr>
        <p:txBody>
          <a:bodyPr wrap="square" rtlCol="0">
            <a:spAutoFit/>
          </a:bodyPr>
          <a:p>
            <a:r>
              <a:rPr lang="zh-CN" altLang="en-US" sz="2400" b="1">
                <a:gradFill>
                  <a:gsLst>
                    <a:gs pos="0">
                      <a:srgbClr val="012D86"/>
                    </a:gs>
                    <a:gs pos="100000">
                      <a:srgbClr val="0E2557"/>
                    </a:gs>
                  </a:gsLst>
                  <a:lin scaled="0"/>
                </a:gradFill>
              </a:rPr>
              <a:t>将输入</a:t>
            </a:r>
            <a:r>
              <a:rPr lang="zh-CN" altLang="en-US" sz="2400" b="1" i="1">
                <a:gradFill>
                  <a:gsLst>
                    <a:gs pos="0">
                      <a:srgbClr val="012D86"/>
                    </a:gs>
                    <a:gs pos="100000">
                      <a:srgbClr val="0E2557"/>
                    </a:gs>
                  </a:gsLst>
                  <a:lin scaled="0"/>
                </a:gradFill>
                <a:latin typeface="Times New Roman" panose="02020603050405020304" charset="0"/>
              </a:rPr>
              <a:t>Ｘ</a:t>
            </a:r>
            <a:r>
              <a:rPr lang="zh-CN" altLang="en-US" sz="2400" b="1">
                <a:gradFill>
                  <a:gsLst>
                    <a:gs pos="0">
                      <a:srgbClr val="012D86"/>
                    </a:gs>
                    <a:gs pos="100000">
                      <a:srgbClr val="0E2557"/>
                    </a:gs>
                  </a:gsLst>
                  <a:lin scaled="0"/>
                </a:gradFill>
              </a:rPr>
              <a:t>和现态每一组取值代入上述状态方程和输出方程</a:t>
            </a:r>
            <a:r>
              <a:rPr lang="en-US" altLang="zh-CN" sz="2400" b="1">
                <a:gradFill>
                  <a:gsLst>
                    <a:gs pos="0">
                      <a:srgbClr val="012D86"/>
                    </a:gs>
                    <a:gs pos="100000">
                      <a:srgbClr val="0E2557"/>
                    </a:gs>
                  </a:gsLst>
                  <a:lin scaled="0"/>
                </a:gradFill>
              </a:rPr>
              <a:t>,</a:t>
            </a:r>
            <a:r>
              <a:rPr lang="zh-CN" altLang="en-US" sz="2400" b="1">
                <a:gradFill>
                  <a:gsLst>
                    <a:gs pos="0">
                      <a:srgbClr val="012D86"/>
                    </a:gs>
                    <a:gs pos="100000">
                      <a:srgbClr val="0E2557"/>
                    </a:gs>
                  </a:gsLst>
                  <a:lin scaled="0"/>
                </a:gradFill>
              </a:rPr>
              <a:t>求出次态和输出结果</a:t>
            </a:r>
            <a:r>
              <a:rPr lang="en-US" altLang="zh-CN" sz="2400" b="1">
                <a:gradFill>
                  <a:gsLst>
                    <a:gs pos="0">
                      <a:srgbClr val="012D86"/>
                    </a:gs>
                    <a:gs pos="100000">
                      <a:srgbClr val="0E2557"/>
                    </a:gs>
                  </a:gsLst>
                  <a:lin scaled="0"/>
                </a:gradFill>
              </a:rPr>
              <a:t>,</a:t>
            </a:r>
            <a:r>
              <a:rPr lang="zh-CN" altLang="en-US" sz="2400" b="1">
                <a:gradFill>
                  <a:gsLst>
                    <a:gs pos="0">
                      <a:srgbClr val="012D86"/>
                    </a:gs>
                    <a:gs pos="100000">
                      <a:srgbClr val="0E2557"/>
                    </a:gs>
                  </a:gsLst>
                  <a:lin scaled="0"/>
                </a:gradFill>
              </a:rPr>
              <a:t> 列出状态转换表。</a:t>
            </a:r>
            <a:endParaRPr lang="zh-CN" altLang="en-US" sz="2400" b="1">
              <a:gradFill>
                <a:gsLst>
                  <a:gs pos="0">
                    <a:srgbClr val="012D86"/>
                  </a:gs>
                  <a:gs pos="100000">
                    <a:srgbClr val="0E2557"/>
                  </a:gs>
                </a:gsLst>
                <a:lin scaled="0"/>
              </a:gradFill>
            </a:endParaRPr>
          </a:p>
        </p:txBody>
      </p:sp>
      <p:pic>
        <p:nvPicPr>
          <p:cNvPr id="2" name="图片 1"/>
          <p:cNvPicPr>
            <a:picLocks noChangeAspect="1"/>
          </p:cNvPicPr>
          <p:nvPr/>
        </p:nvPicPr>
        <p:blipFill>
          <a:blip r:embed="rId1"/>
          <a:stretch>
            <a:fillRect/>
          </a:stretch>
        </p:blipFill>
        <p:spPr>
          <a:xfrm>
            <a:off x="144145" y="2696845"/>
            <a:ext cx="8542655" cy="31286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6.2 时序逻辑电路的一般分析方法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6" name="文本框 35"/>
          <p:cNvSpPr txBox="1"/>
          <p:nvPr/>
        </p:nvSpPr>
        <p:spPr>
          <a:xfrm>
            <a:off x="792480" y="1268730"/>
            <a:ext cx="2540000" cy="460375"/>
          </a:xfrm>
          <a:prstGeom prst="rect">
            <a:avLst/>
          </a:prstGeom>
          <a:noFill/>
        </p:spPr>
        <p:txBody>
          <a:bodyPr wrap="square" rtlCol="0" anchor="t">
            <a:spAutoFit/>
          </a:bodyPr>
          <a:p>
            <a:r>
              <a:rPr lang="zh-CN" altLang="en-US" sz="2400" b="1"/>
              <a:t>(２)画状态转换表</a:t>
            </a:r>
            <a:endParaRPr lang="zh-CN" altLang="en-US" sz="2400" b="1"/>
          </a:p>
        </p:txBody>
      </p:sp>
      <p:sp>
        <p:nvSpPr>
          <p:cNvPr id="3" name="文本框 2"/>
          <p:cNvSpPr txBox="1"/>
          <p:nvPr/>
        </p:nvSpPr>
        <p:spPr>
          <a:xfrm>
            <a:off x="341630" y="1729105"/>
            <a:ext cx="8460740" cy="1014730"/>
          </a:xfrm>
          <a:prstGeom prst="rect">
            <a:avLst/>
          </a:prstGeom>
          <a:noFill/>
        </p:spPr>
        <p:txBody>
          <a:bodyPr wrap="square" rtlCol="0" anchor="t">
            <a:spAutoFit/>
          </a:bodyPr>
          <a:p>
            <a:r>
              <a:rPr lang="en-US" altLang="zh-CN" sz="2000" b="1">
                <a:gradFill>
                  <a:gsLst>
                    <a:gs pos="0">
                      <a:srgbClr val="012D86"/>
                    </a:gs>
                    <a:gs pos="100000">
                      <a:srgbClr val="0E2557"/>
                    </a:gs>
                  </a:gsLst>
                  <a:lin scaled="0"/>
                </a:gradFill>
              </a:rPr>
              <a:t>       </a:t>
            </a:r>
            <a:r>
              <a:rPr lang="zh-CN" altLang="en-US" sz="2000" b="1">
                <a:gradFill>
                  <a:gsLst>
                    <a:gs pos="0">
                      <a:srgbClr val="012D86"/>
                    </a:gs>
                    <a:gs pos="100000">
                      <a:srgbClr val="0E2557"/>
                    </a:gs>
                  </a:gsLst>
                  <a:lin scaled="0"/>
                </a:gradFill>
              </a:rPr>
              <a:t>将表</a:t>
            </a:r>
            <a:r>
              <a:rPr lang="zh-CN" altLang="en-US" sz="2000" b="1">
                <a:gradFill>
                  <a:gsLst>
                    <a:gs pos="0">
                      <a:srgbClr val="012D86"/>
                    </a:gs>
                    <a:gs pos="100000">
                      <a:srgbClr val="0E2557"/>
                    </a:gs>
                  </a:gsLst>
                  <a:lin scaled="0"/>
                </a:gradFill>
                <a:latin typeface="Times New Roman" panose="02020603050405020304" charset="0"/>
                <a:cs typeface="Times New Roman" panose="02020603050405020304" charset="0"/>
              </a:rPr>
              <a:t>６</a:t>
            </a:r>
            <a:r>
              <a:rPr lang="en-US" altLang="zh-CN" sz="2000" b="1">
                <a:gradFill>
                  <a:gsLst>
                    <a:gs pos="0">
                      <a:srgbClr val="012D86"/>
                    </a:gs>
                    <a:gs pos="100000">
                      <a:srgbClr val="0E2557"/>
                    </a:gs>
                  </a:gsLst>
                  <a:lin scaled="0"/>
                </a:gradFill>
                <a:latin typeface="Times New Roman" panose="02020603050405020304" charset="0"/>
                <a:cs typeface="Times New Roman" panose="02020603050405020304" charset="0"/>
              </a:rPr>
              <a:t>-</a:t>
            </a:r>
            <a:r>
              <a:rPr lang="zh-CN" altLang="en-US" sz="2000" b="1">
                <a:gradFill>
                  <a:gsLst>
                    <a:gs pos="0">
                      <a:srgbClr val="012D86"/>
                    </a:gs>
                    <a:gs pos="100000">
                      <a:srgbClr val="0E2557"/>
                    </a:gs>
                  </a:gsLst>
                  <a:lin scaled="0"/>
                </a:gradFill>
                <a:latin typeface="Times New Roman" panose="02020603050405020304" charset="0"/>
                <a:cs typeface="Times New Roman" panose="02020603050405020304" charset="0"/>
              </a:rPr>
              <a:t>２</a:t>
            </a:r>
            <a:r>
              <a:rPr lang="zh-CN" altLang="en-US" sz="2000" b="1">
                <a:gradFill>
                  <a:gsLst>
                    <a:gs pos="0">
                      <a:srgbClr val="012D86"/>
                    </a:gs>
                    <a:gs pos="100000">
                      <a:srgbClr val="0E2557"/>
                    </a:gs>
                  </a:gsLst>
                  <a:lin scaled="0"/>
                </a:gradFill>
              </a:rPr>
              <a:t>变形为表６</a:t>
            </a:r>
            <a:r>
              <a:rPr lang="en-US" altLang="zh-CN" sz="2000" b="1">
                <a:gradFill>
                  <a:gsLst>
                    <a:gs pos="0">
                      <a:srgbClr val="012D86"/>
                    </a:gs>
                    <a:gs pos="100000">
                      <a:srgbClr val="0E2557"/>
                    </a:gs>
                  </a:gsLst>
                  <a:lin scaled="0"/>
                </a:gradFill>
              </a:rPr>
              <a:t>-</a:t>
            </a:r>
            <a:r>
              <a:rPr lang="zh-CN" altLang="en-US" sz="2000" b="1">
                <a:gradFill>
                  <a:gsLst>
                    <a:gs pos="0">
                      <a:srgbClr val="012D86"/>
                    </a:gs>
                    <a:gs pos="100000">
                      <a:srgbClr val="0E2557"/>
                    </a:gs>
                  </a:gsLst>
                  <a:lin scaled="0"/>
                </a:gradFill>
              </a:rPr>
              <a:t>３所示的形式，输入</a:t>
            </a:r>
            <a:r>
              <a:rPr lang="zh-CN" altLang="en-US" sz="2000" b="1" i="1">
                <a:gradFill>
                  <a:gsLst>
                    <a:gs pos="0">
                      <a:srgbClr val="012D86"/>
                    </a:gs>
                    <a:gs pos="100000">
                      <a:srgbClr val="0E2557"/>
                    </a:gs>
                  </a:gsLst>
                  <a:lin scaled="0"/>
                </a:gradFill>
              </a:rPr>
              <a:t>Ｘ</a:t>
            </a:r>
            <a:r>
              <a:rPr lang="zh-CN" altLang="en-US" sz="2000" b="1">
                <a:gradFill>
                  <a:gsLst>
                    <a:gs pos="0">
                      <a:srgbClr val="012D86"/>
                    </a:gs>
                    <a:gs pos="100000">
                      <a:srgbClr val="0E2557"/>
                    </a:gs>
                  </a:gsLst>
                  <a:lin scaled="0"/>
                </a:gradFill>
              </a:rPr>
              <a:t>单独一组，现态分成另一组，表的旁边分别标注输入</a:t>
            </a:r>
            <a:r>
              <a:rPr lang="zh-CN" altLang="en-US" sz="2000" b="1" i="1">
                <a:gradFill>
                  <a:gsLst>
                    <a:gs pos="0">
                      <a:srgbClr val="012D86"/>
                    </a:gs>
                    <a:gs pos="100000">
                      <a:srgbClr val="0E2557"/>
                    </a:gs>
                  </a:gsLst>
                  <a:lin scaled="0"/>
                </a:gradFill>
              </a:rPr>
              <a:t>Ｘ</a:t>
            </a:r>
            <a:r>
              <a:rPr lang="zh-CN" altLang="en-US" sz="2000" b="1">
                <a:gradFill>
                  <a:gsLst>
                    <a:gs pos="0">
                      <a:srgbClr val="012D86"/>
                    </a:gs>
                    <a:gs pos="100000">
                      <a:srgbClr val="0E2557"/>
                    </a:gs>
                  </a:gsLst>
                  <a:lin scaled="0"/>
                </a:gradFill>
              </a:rPr>
              <a:t>和现态取值组合，二者交叉对应的小方块中的值为该输入和</a:t>
            </a:r>
            <a:r>
              <a:rPr lang="zh-CN" altLang="en-US" sz="2000" b="1" i="1">
                <a:gradFill>
                  <a:gsLst>
                    <a:gs pos="0">
                      <a:srgbClr val="012D86"/>
                    </a:gs>
                    <a:gs pos="100000">
                      <a:srgbClr val="0E2557"/>
                    </a:gs>
                  </a:gsLst>
                  <a:lin scaled="0"/>
                </a:gradFill>
              </a:rPr>
              <a:t>Ｘ</a:t>
            </a:r>
            <a:r>
              <a:rPr lang="zh-CN" altLang="en-US" sz="2000" b="1">
                <a:gradFill>
                  <a:gsLst>
                    <a:gs pos="0">
                      <a:srgbClr val="012D86"/>
                    </a:gs>
                    <a:gs pos="100000">
                      <a:srgbClr val="0E2557"/>
                    </a:gs>
                  </a:gsLst>
                  <a:lin scaled="0"/>
                </a:gradFill>
              </a:rPr>
              <a:t>作用下产生的次态及输出。</a:t>
            </a:r>
            <a:endParaRPr lang="zh-CN" altLang="en-US" sz="2000" b="1">
              <a:gradFill>
                <a:gsLst>
                  <a:gs pos="0">
                    <a:srgbClr val="012D86"/>
                  </a:gs>
                  <a:gs pos="100000">
                    <a:srgbClr val="0E2557"/>
                  </a:gs>
                </a:gsLst>
                <a:lin scaled="0"/>
              </a:gradFill>
            </a:endParaRPr>
          </a:p>
        </p:txBody>
      </p:sp>
      <p:pic>
        <p:nvPicPr>
          <p:cNvPr id="11" name="图片 2"/>
          <p:cNvPicPr>
            <a:picLocks noChangeAspect="1"/>
          </p:cNvPicPr>
          <p:nvPr/>
        </p:nvPicPr>
        <p:blipFill>
          <a:blip r:embed="rId1"/>
          <a:stretch>
            <a:fillRect/>
          </a:stretch>
        </p:blipFill>
        <p:spPr>
          <a:xfrm>
            <a:off x="118110" y="2743835"/>
            <a:ext cx="8571865" cy="2781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500"/>
                                  </p:stCondLst>
                                  <p:childTnLst>
                                    <p:set>
                                      <p:cBhvr>
                                        <p:cTn id="9"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6.2 时序逻辑电路的一般分析方法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文本框 1"/>
          <p:cNvSpPr txBox="1"/>
          <p:nvPr/>
        </p:nvSpPr>
        <p:spPr>
          <a:xfrm>
            <a:off x="1012190" y="1139825"/>
            <a:ext cx="2540000" cy="460375"/>
          </a:xfrm>
          <a:prstGeom prst="rect">
            <a:avLst/>
          </a:prstGeom>
          <a:noFill/>
        </p:spPr>
        <p:txBody>
          <a:bodyPr wrap="square" rtlCol="0" anchor="t">
            <a:spAutoFit/>
          </a:bodyPr>
          <a:p>
            <a:r>
              <a:rPr lang="zh-CN" altLang="en-US" sz="2400" b="1"/>
              <a:t>(３)画状态转换图</a:t>
            </a:r>
            <a:endParaRPr lang="zh-CN" altLang="en-US" sz="2400" b="1"/>
          </a:p>
        </p:txBody>
      </p:sp>
      <p:pic>
        <p:nvPicPr>
          <p:cNvPr id="9372" name="图片 2809"/>
          <p:cNvPicPr>
            <a:picLocks noChangeAspect="1"/>
          </p:cNvPicPr>
          <p:nvPr/>
        </p:nvPicPr>
        <p:blipFill>
          <a:blip r:embed="rId1"/>
          <a:stretch>
            <a:fillRect/>
          </a:stretch>
        </p:blipFill>
        <p:spPr>
          <a:xfrm>
            <a:off x="2208530" y="3702050"/>
            <a:ext cx="3952875" cy="2751455"/>
          </a:xfrm>
          <a:prstGeom prst="rect">
            <a:avLst/>
          </a:prstGeom>
          <a:noFill/>
          <a:ln>
            <a:noFill/>
          </a:ln>
        </p:spPr>
      </p:pic>
      <p:pic>
        <p:nvPicPr>
          <p:cNvPr id="5" name="图片 2"/>
          <p:cNvPicPr>
            <a:picLocks noChangeAspect="1"/>
          </p:cNvPicPr>
          <p:nvPr/>
        </p:nvPicPr>
        <p:blipFill>
          <a:blip r:embed="rId2"/>
          <a:srcRect l="-437" t="12900" r="437" b="4612"/>
          <a:stretch>
            <a:fillRect/>
          </a:stretch>
        </p:blipFill>
        <p:spPr>
          <a:xfrm>
            <a:off x="663575" y="1514475"/>
            <a:ext cx="7711440" cy="20637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6.2 时序逻辑电路的一般分析方法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780415" y="1172845"/>
            <a:ext cx="2041525" cy="460375"/>
          </a:xfrm>
          <a:prstGeom prst="rect">
            <a:avLst/>
          </a:prstGeom>
          <a:noFill/>
        </p:spPr>
        <p:txBody>
          <a:bodyPr wrap="square" rtlCol="0" anchor="t">
            <a:spAutoFit/>
          </a:bodyPr>
          <a:p>
            <a:r>
              <a:rPr lang="zh-CN" altLang="en-US" sz="2400" b="1"/>
              <a:t>(４)画时序图</a:t>
            </a:r>
            <a:endParaRPr lang="zh-CN" altLang="en-US" sz="2400" b="1"/>
          </a:p>
        </p:txBody>
      </p:sp>
      <p:sp>
        <p:nvSpPr>
          <p:cNvPr id="6" name="文本框 5"/>
          <p:cNvSpPr txBox="1"/>
          <p:nvPr/>
        </p:nvSpPr>
        <p:spPr>
          <a:xfrm>
            <a:off x="1234440" y="5046345"/>
            <a:ext cx="2540000" cy="460375"/>
          </a:xfrm>
          <a:prstGeom prst="rect">
            <a:avLst/>
          </a:prstGeom>
          <a:noFill/>
        </p:spPr>
        <p:txBody>
          <a:bodyPr wrap="square" rtlCol="0" anchor="t">
            <a:spAutoFit/>
          </a:bodyPr>
          <a:p>
            <a:r>
              <a:rPr lang="zh-CN" altLang="en-US" sz="2400" b="1"/>
              <a:t>(５)逻辑功能分析</a:t>
            </a:r>
            <a:endParaRPr lang="zh-CN" altLang="en-US" sz="2400" b="1"/>
          </a:p>
        </p:txBody>
      </p:sp>
      <p:sp>
        <p:nvSpPr>
          <p:cNvPr id="7" name="文本框 6"/>
          <p:cNvSpPr txBox="1"/>
          <p:nvPr/>
        </p:nvSpPr>
        <p:spPr>
          <a:xfrm>
            <a:off x="1234440" y="5649595"/>
            <a:ext cx="5149850" cy="460375"/>
          </a:xfrm>
          <a:prstGeom prst="rect">
            <a:avLst/>
          </a:prstGeom>
          <a:noFill/>
        </p:spPr>
        <p:txBody>
          <a:bodyPr wrap="square" rtlCol="0">
            <a:spAutoFit/>
          </a:bodyPr>
          <a:p>
            <a:r>
              <a:rPr lang="zh-CN" altLang="en-US" sz="2400" b="1">
                <a:gradFill>
                  <a:gsLst>
                    <a:gs pos="0">
                      <a:srgbClr val="012D86"/>
                    </a:gs>
                    <a:gs pos="100000">
                      <a:srgbClr val="0E2557"/>
                    </a:gs>
                  </a:gsLst>
                  <a:lin scaled="0"/>
                </a:gradFill>
              </a:rPr>
              <a:t>逻辑功能：</a:t>
            </a:r>
            <a:r>
              <a:rPr lang="en-US" altLang="zh-CN" sz="2400">
                <a:solidFill>
                  <a:srgbClr val="0000FF"/>
                </a:solidFill>
                <a:effectLst>
                  <a:outerShdw blurRad="38100" dist="38100" dir="2700000">
                    <a:srgbClr val="000000"/>
                  </a:outerShdw>
                </a:effectLst>
                <a:sym typeface="+mn-ea"/>
              </a:rPr>
              <a:t>1001</a:t>
            </a:r>
            <a:r>
              <a:rPr lang="zh-CN" altLang="en-US" sz="2400">
                <a:solidFill>
                  <a:srgbClr val="0000FF"/>
                </a:solidFill>
                <a:effectLst>
                  <a:outerShdw blurRad="38100" dist="38100" dir="2700000">
                    <a:srgbClr val="000000"/>
                  </a:outerShdw>
                </a:effectLst>
                <a:sym typeface="+mn-ea"/>
              </a:rPr>
              <a:t>序列检测器</a:t>
            </a:r>
            <a:endParaRPr lang="zh-CN" altLang="en-US" sz="2400" b="1">
              <a:gradFill>
                <a:gsLst>
                  <a:gs pos="0">
                    <a:srgbClr val="012D86"/>
                  </a:gs>
                  <a:gs pos="100000">
                    <a:srgbClr val="0E2557"/>
                  </a:gs>
                </a:gsLst>
                <a:lin scaled="0"/>
              </a:gradFill>
            </a:endParaRPr>
          </a:p>
        </p:txBody>
      </p:sp>
      <p:pic>
        <p:nvPicPr>
          <p:cNvPr id="9373" name="图片 2810"/>
          <p:cNvPicPr>
            <a:picLocks noChangeAspect="1"/>
          </p:cNvPicPr>
          <p:nvPr/>
        </p:nvPicPr>
        <p:blipFill>
          <a:blip r:embed="rId1"/>
          <a:stretch>
            <a:fillRect/>
          </a:stretch>
        </p:blipFill>
        <p:spPr>
          <a:xfrm>
            <a:off x="2666365" y="2252345"/>
            <a:ext cx="4665980" cy="2555875"/>
          </a:xfrm>
          <a:prstGeom prst="rect">
            <a:avLst/>
          </a:prstGeom>
          <a:noFill/>
          <a:ln>
            <a:noFill/>
          </a:ln>
        </p:spPr>
      </p:pic>
      <p:sp>
        <p:nvSpPr>
          <p:cNvPr id="8" name="文本框 7"/>
          <p:cNvSpPr txBox="1"/>
          <p:nvPr/>
        </p:nvSpPr>
        <p:spPr>
          <a:xfrm>
            <a:off x="1234440" y="1633220"/>
            <a:ext cx="5006340" cy="460375"/>
          </a:xfrm>
          <a:prstGeom prst="rect">
            <a:avLst/>
          </a:prstGeom>
          <a:noFill/>
        </p:spPr>
        <p:txBody>
          <a:bodyPr wrap="square" rtlCol="0" anchor="t">
            <a:spAutoFit/>
          </a:bodyPr>
          <a:p>
            <a:r>
              <a:rPr lang="zh-CN" altLang="en-US" sz="2400" b="1">
                <a:gradFill>
                  <a:gsLst>
                    <a:gs pos="0">
                      <a:srgbClr val="012D86"/>
                    </a:gs>
                    <a:gs pos="100000">
                      <a:srgbClr val="0E2557"/>
                    </a:gs>
                  </a:gsLst>
                  <a:lin scaled="0"/>
                </a:gradFill>
              </a:rPr>
              <a:t>假设输入 </a:t>
            </a:r>
            <a:r>
              <a:rPr lang="zh-CN" altLang="en-US" sz="2400" b="1" i="1">
                <a:gradFill>
                  <a:gsLst>
                    <a:gs pos="0">
                      <a:srgbClr val="012D86"/>
                    </a:gs>
                    <a:gs pos="100000">
                      <a:srgbClr val="0E2557"/>
                    </a:gs>
                  </a:gsLst>
                  <a:lin scaled="0"/>
                </a:gradFill>
              </a:rPr>
              <a:t>Ｘ</a:t>
            </a:r>
            <a:r>
              <a:rPr lang="zh-CN" altLang="en-US" sz="2400" b="1">
                <a:gradFill>
                  <a:gsLst>
                    <a:gs pos="0">
                      <a:srgbClr val="012D86"/>
                    </a:gs>
                    <a:gs pos="100000">
                      <a:srgbClr val="0E2557"/>
                    </a:gs>
                  </a:gsLst>
                  <a:lin scaled="0"/>
                </a:gradFill>
              </a:rPr>
              <a:t> ＝ ０１００１１０１</a:t>
            </a:r>
            <a:endParaRPr lang="zh-CN" altLang="en-US" sz="2400" b="1">
              <a:gradFill>
                <a:gsLst>
                  <a:gs pos="0">
                    <a:srgbClr val="012D86"/>
                  </a:gs>
                  <a:gs pos="100000">
                    <a:srgbClr val="0E2557"/>
                  </a:gs>
                </a:gsLst>
                <a:lin scaled="0"/>
              </a:gra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2000" fill="hold">
                                          <p:stCondLst>
                                            <p:cond delay="0"/>
                                          </p:stCondLst>
                                        </p:cTn>
                                        <p:tgtEl>
                                          <p:spTgt spid="8"/>
                                        </p:tgtEl>
                                        <p:attrNameLst>
                                          <p:attrName>style.visibility</p:attrName>
                                        </p:attrNameLst>
                                      </p:cBhvr>
                                      <p:to>
                                        <p:strVal val="visible"/>
                                      </p:to>
                                    </p:set>
                                    <p:animEffect transition="in" filter="wipe(left)">
                                      <p:cBhvr>
                                        <p:cTn id="7" dur="2000"/>
                                        <p:tgtEl>
                                          <p:spTgt spid="8"/>
                                        </p:tgtEl>
                                      </p:cBhvr>
                                    </p:animEffect>
                                  </p:childTnLst>
                                </p:cTn>
                              </p:par>
                            </p:childTnLst>
                          </p:cTn>
                        </p:par>
                        <p:par>
                          <p:cTn id="8" fill="hold">
                            <p:stCondLst>
                              <p:cond delay="2000"/>
                            </p:stCondLst>
                            <p:childTnLst>
                              <p:par>
                                <p:cTn id="9" presetID="1" presetClass="entr" presetSubtype="0" fill="hold" nodeType="afterEffect">
                                  <p:stCondLst>
                                    <p:cond delay="1500"/>
                                  </p:stCondLst>
                                  <p:childTnLst>
                                    <p:set>
                                      <p:cBhvr>
                                        <p:cTn id="10" dur="1" fill="hold">
                                          <p:stCondLst>
                                            <p:cond delay="0"/>
                                          </p:stCondLst>
                                        </p:cTn>
                                        <p:tgtEl>
                                          <p:spTgt spid="93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100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6.2 时序逻辑电路的一般分析方法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762000" y="1066800"/>
            <a:ext cx="6847205" cy="868045"/>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6</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2</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3</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异步</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时序逻辑电路的分析举例</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100" name="文本框 99"/>
          <p:cNvSpPr txBox="1"/>
          <p:nvPr/>
        </p:nvSpPr>
        <p:spPr>
          <a:xfrm>
            <a:off x="207010" y="1691005"/>
            <a:ext cx="8482965" cy="706755"/>
          </a:xfrm>
          <a:prstGeom prst="rect">
            <a:avLst/>
          </a:prstGeom>
          <a:noFill/>
          <a:ln w="9525">
            <a:noFill/>
          </a:ln>
        </p:spPr>
        <p:txBody>
          <a:bodyPr wrap="square">
            <a:spAutoFit/>
          </a:bodyPr>
          <a:p>
            <a:r>
              <a:rPr lang="zh-CN" sz="2000" b="1">
                <a:gradFill>
                  <a:gsLst>
                    <a:gs pos="0">
                      <a:srgbClr val="012D86"/>
                    </a:gs>
                    <a:gs pos="100000">
                      <a:srgbClr val="0E2557"/>
                    </a:gs>
                  </a:gsLst>
                  <a:lin scaled="0"/>
                </a:gradFill>
                <a:ea typeface="宋体" panose="02010600030101010101" pitchFamily="2" charset="-122"/>
              </a:rPr>
              <a:t>【例</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6-</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3</a:t>
            </a:r>
            <a:r>
              <a:rPr lang="zh-CN" sz="2000" b="1">
                <a:gradFill>
                  <a:gsLst>
                    <a:gs pos="0">
                      <a:srgbClr val="012D86"/>
                    </a:gs>
                    <a:gs pos="100000">
                      <a:srgbClr val="0E2557"/>
                    </a:gs>
                  </a:gsLst>
                  <a:lin scaled="0"/>
                </a:gradFill>
                <a:ea typeface="宋体" panose="02010600030101010101" pitchFamily="2" charset="-122"/>
              </a:rPr>
              <a:t>】</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zh-CN" sz="2000" b="1">
                <a:gradFill>
                  <a:gsLst>
                    <a:gs pos="0">
                      <a:srgbClr val="012D86"/>
                    </a:gs>
                    <a:gs pos="100000">
                      <a:srgbClr val="0E2557"/>
                    </a:gs>
                  </a:gsLst>
                  <a:lin scaled="0"/>
                </a:gradFill>
                <a:ea typeface="宋体" panose="02010600030101010101" pitchFamily="2" charset="-122"/>
              </a:rPr>
              <a:t>试分析图</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6-</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8</a:t>
            </a:r>
            <a:r>
              <a:rPr lang="zh-CN" sz="2000" b="1">
                <a:gradFill>
                  <a:gsLst>
                    <a:gs pos="0">
                      <a:srgbClr val="012D86"/>
                    </a:gs>
                    <a:gs pos="100000">
                      <a:srgbClr val="0E2557"/>
                    </a:gs>
                  </a:gsLst>
                  <a:lin scaled="0"/>
                </a:gradFill>
                <a:ea typeface="宋体" panose="02010600030101010101" pitchFamily="2" charset="-122"/>
              </a:rPr>
              <a:t>所示时序逻辑电路的逻辑功能，设触发器的初始状态                   。</a:t>
            </a:r>
            <a:endParaRPr lang="zh-CN" altLang="en-US" sz="2000" b="1">
              <a:gradFill>
                <a:gsLst>
                  <a:gs pos="0">
                    <a:srgbClr val="012D86"/>
                  </a:gs>
                  <a:gs pos="100000">
                    <a:srgbClr val="0E2557"/>
                  </a:gs>
                </a:gsLst>
                <a:lin scaled="0"/>
              </a:gradFill>
              <a:ea typeface="宋体" panose="02010600030101010101" pitchFamily="2" charset="-122"/>
            </a:endParaRPr>
          </a:p>
        </p:txBody>
      </p:sp>
      <p:pic>
        <p:nvPicPr>
          <p:cNvPr id="9374" name="图片 2811"/>
          <p:cNvPicPr>
            <a:picLocks noChangeAspect="1"/>
          </p:cNvPicPr>
          <p:nvPr/>
        </p:nvPicPr>
        <p:blipFill>
          <a:blip r:embed="rId1"/>
          <a:stretch>
            <a:fillRect/>
          </a:stretch>
        </p:blipFill>
        <p:spPr>
          <a:xfrm>
            <a:off x="2153920" y="2091690"/>
            <a:ext cx="5455285" cy="1730375"/>
          </a:xfrm>
          <a:prstGeom prst="rect">
            <a:avLst/>
          </a:prstGeom>
          <a:noFill/>
          <a:ln>
            <a:noFill/>
          </a:ln>
        </p:spPr>
      </p:pic>
      <p:sp>
        <p:nvSpPr>
          <p:cNvPr id="101" name="文本框 100"/>
          <p:cNvSpPr txBox="1"/>
          <p:nvPr/>
        </p:nvSpPr>
        <p:spPr>
          <a:xfrm>
            <a:off x="3999865" y="3981450"/>
            <a:ext cx="2123440" cy="337185"/>
          </a:xfrm>
          <a:prstGeom prst="rect">
            <a:avLst/>
          </a:prstGeom>
          <a:noFill/>
          <a:ln w="9525">
            <a:noFill/>
          </a:ln>
        </p:spPr>
        <p:txBody>
          <a:bodyPr wrap="square">
            <a:spAutoFit/>
          </a:bodyPr>
          <a:p>
            <a:r>
              <a:rPr lang="zh-CN" sz="1600" b="1">
                <a:ea typeface="宋体" panose="02010600030101010101" pitchFamily="2" charset="-122"/>
              </a:rPr>
              <a:t>图</a:t>
            </a:r>
            <a:r>
              <a:rPr lang="en-US" sz="1600" b="1">
                <a:latin typeface="Times New Roman" panose="02020603050405020304" charset="0"/>
                <a:ea typeface="宋体" panose="02010600030101010101" pitchFamily="2" charset="-122"/>
                <a:cs typeface="Times New Roman" panose="02020603050405020304" charset="0"/>
              </a:rPr>
              <a:t>6-</a:t>
            </a:r>
            <a:r>
              <a:rPr lang="en-US" sz="1600" b="1">
                <a:latin typeface="Times New Roman" panose="02020603050405020304" charset="0"/>
                <a:ea typeface="宋体" panose="02010600030101010101" pitchFamily="2" charset="-122"/>
              </a:rPr>
              <a:t>8 </a:t>
            </a:r>
            <a:r>
              <a:rPr lang="zh-CN" sz="1600" b="1">
                <a:ea typeface="宋体" panose="02010600030101010101" pitchFamily="2" charset="-122"/>
              </a:rPr>
              <a:t>例</a:t>
            </a:r>
            <a:r>
              <a:rPr lang="en-US" sz="1600" b="1">
                <a:latin typeface="Times New Roman" panose="02020603050405020304" charset="0"/>
                <a:ea typeface="宋体" panose="02010600030101010101" pitchFamily="2" charset="-122"/>
                <a:cs typeface="Times New Roman" panose="02020603050405020304" charset="0"/>
              </a:rPr>
              <a:t>6-</a:t>
            </a:r>
            <a:r>
              <a:rPr lang="en-US" sz="1600" b="1">
                <a:latin typeface="Times New Roman" panose="02020603050405020304" charset="0"/>
                <a:ea typeface="宋体" panose="02010600030101010101" pitchFamily="2" charset="-122"/>
              </a:rPr>
              <a:t>3</a:t>
            </a:r>
            <a:r>
              <a:rPr lang="zh-CN" sz="1600" b="1">
                <a:ea typeface="宋体" panose="02010600030101010101" pitchFamily="2" charset="-122"/>
              </a:rPr>
              <a:t>逻辑电路</a:t>
            </a:r>
            <a:endParaRPr lang="zh-CN" altLang="en-US" sz="1600" b="1"/>
          </a:p>
        </p:txBody>
      </p:sp>
      <p:sp>
        <p:nvSpPr>
          <p:cNvPr id="157810" name="文本框 157809"/>
          <p:cNvSpPr txBox="1"/>
          <p:nvPr/>
        </p:nvSpPr>
        <p:spPr>
          <a:xfrm>
            <a:off x="207010" y="4864418"/>
            <a:ext cx="2387600" cy="460375"/>
          </a:xfrm>
          <a:prstGeom prst="rect">
            <a:avLst/>
          </a:prstGeom>
          <a:noFill/>
          <a:ln w="9525">
            <a:noFill/>
          </a:ln>
        </p:spPr>
        <p:txBody>
          <a:bodyPr>
            <a:spAutoFit/>
          </a:bodyPr>
          <a:p>
            <a:pPr eaLnBrk="0" hangingPunct="0">
              <a:spcBef>
                <a:spcPct val="50000"/>
              </a:spcBef>
            </a:pPr>
            <a:r>
              <a:rPr lang="zh-CN" altLang="en-US" sz="2400" b="1">
                <a:gradFill>
                  <a:gsLst>
                    <a:gs pos="0">
                      <a:srgbClr val="012D86"/>
                    </a:gs>
                    <a:gs pos="100000">
                      <a:srgbClr val="0E2557"/>
                    </a:gs>
                  </a:gsLst>
                  <a:lin scaled="0"/>
                </a:gradFill>
                <a:sym typeface="+mn-ea"/>
              </a:rPr>
              <a:t>①</a:t>
            </a:r>
            <a:r>
              <a:rPr lang="zh-CN" altLang="en-US" sz="2400" b="1" dirty="0">
                <a:gradFill>
                  <a:gsLst>
                    <a:gs pos="0">
                      <a:srgbClr val="012D86"/>
                    </a:gs>
                    <a:gs pos="100000">
                      <a:srgbClr val="0E2557"/>
                    </a:gs>
                  </a:gsLst>
                  <a:lin scaled="0"/>
                </a:gradFill>
                <a:latin typeface="Arial" panose="020B0604020202020204" pitchFamily="34" charset="0"/>
              </a:rPr>
              <a:t>写输出方程</a:t>
            </a:r>
            <a:endParaRPr lang="zh-CN" altLang="en-US" sz="2400" b="1" dirty="0">
              <a:gradFill>
                <a:gsLst>
                  <a:gs pos="0">
                    <a:srgbClr val="012D86"/>
                  </a:gs>
                  <a:gs pos="100000">
                    <a:srgbClr val="0E2557"/>
                  </a:gs>
                </a:gsLst>
                <a:lin scaled="0"/>
              </a:gradFill>
              <a:latin typeface="Arial" panose="020B0604020202020204" pitchFamily="34" charset="0"/>
            </a:endParaRPr>
          </a:p>
        </p:txBody>
      </p:sp>
      <p:sp>
        <p:nvSpPr>
          <p:cNvPr id="157811" name="圆角矩形 157810"/>
          <p:cNvSpPr/>
          <p:nvPr/>
        </p:nvSpPr>
        <p:spPr>
          <a:xfrm>
            <a:off x="207010" y="4780280"/>
            <a:ext cx="2270125" cy="1554480"/>
          </a:xfrm>
          <a:prstGeom prst="roundRect">
            <a:avLst>
              <a:gd name="adj" fmla="val 16667"/>
            </a:avLst>
          </a:prstGeom>
          <a:noFill/>
          <a:ln w="28575" cap="flat" cmpd="sng">
            <a:solidFill>
              <a:schemeClr val="accent6">
                <a:lumMod val="60000"/>
                <a:lumOff val="40000"/>
              </a:schemeClr>
            </a:solidFill>
            <a:prstDash val="solid"/>
            <a:headEnd type="none" w="med" len="sm"/>
            <a:tailEnd type="none" w="med" len="med"/>
          </a:ln>
        </p:spPr>
        <p:txBody>
          <a:bodyPr/>
          <a:p>
            <a:endParaRPr lang="zh-CN" altLang="en-US" dirty="0">
              <a:latin typeface="Arial" panose="020B0604020202020204" pitchFamily="34" charset="0"/>
            </a:endParaRPr>
          </a:p>
        </p:txBody>
      </p:sp>
      <p:sp>
        <p:nvSpPr>
          <p:cNvPr id="31" name="文本框 30"/>
          <p:cNvSpPr txBox="1"/>
          <p:nvPr/>
        </p:nvSpPr>
        <p:spPr>
          <a:xfrm>
            <a:off x="3082290" y="4780915"/>
            <a:ext cx="2540000" cy="460375"/>
          </a:xfrm>
          <a:prstGeom prst="rect">
            <a:avLst/>
          </a:prstGeom>
          <a:noFill/>
        </p:spPr>
        <p:txBody>
          <a:bodyPr wrap="square" rtlCol="0" anchor="t">
            <a:spAutoFit/>
          </a:bodyPr>
          <a:p>
            <a:pPr>
              <a:buClrTx/>
              <a:buSzTx/>
              <a:buFontTx/>
            </a:pPr>
            <a:r>
              <a:rPr sz="2400" b="1" dirty="0">
                <a:gradFill>
                  <a:gsLst>
                    <a:gs pos="0">
                      <a:srgbClr val="012D86"/>
                    </a:gs>
                    <a:gs pos="100000">
                      <a:srgbClr val="0E2557"/>
                    </a:gs>
                  </a:gsLst>
                  <a:lin scaled="0"/>
                </a:gradFill>
                <a:sym typeface="+mn-ea"/>
              </a:rPr>
              <a:t>②</a:t>
            </a:r>
            <a:r>
              <a:rPr lang="zh-CN" altLang="en-US" sz="2400" b="1">
                <a:gradFill>
                  <a:gsLst>
                    <a:gs pos="0">
                      <a:srgbClr val="012D86"/>
                    </a:gs>
                    <a:gs pos="100000">
                      <a:srgbClr val="0E2557"/>
                    </a:gs>
                  </a:gsLst>
                  <a:lin scaled="0"/>
                </a:gradFill>
              </a:rPr>
              <a:t>激励方程</a:t>
            </a:r>
            <a:endParaRPr lang="zh-CN" altLang="en-US" sz="2400" b="1">
              <a:gradFill>
                <a:gsLst>
                  <a:gs pos="0">
                    <a:srgbClr val="012D86"/>
                  </a:gs>
                  <a:gs pos="100000">
                    <a:srgbClr val="0E2557"/>
                  </a:gs>
                </a:gsLst>
                <a:lin scaled="0"/>
              </a:gradFill>
            </a:endParaRPr>
          </a:p>
        </p:txBody>
      </p:sp>
      <p:sp>
        <p:nvSpPr>
          <p:cNvPr id="32" name="圆角矩形 31"/>
          <p:cNvSpPr/>
          <p:nvPr/>
        </p:nvSpPr>
        <p:spPr>
          <a:xfrm>
            <a:off x="3002915" y="4780280"/>
            <a:ext cx="2619375" cy="1555115"/>
          </a:xfrm>
          <a:prstGeom prst="roundRect">
            <a:avLst>
              <a:gd name="adj" fmla="val 16667"/>
            </a:avLst>
          </a:prstGeom>
          <a:noFill/>
          <a:ln w="28575" cap="flat" cmpd="sng">
            <a:solidFill>
              <a:srgbClr val="FF00FF"/>
            </a:solidFill>
            <a:prstDash val="solid"/>
            <a:headEnd type="none" w="med" len="sm"/>
            <a:tailEnd type="none" w="med" len="med"/>
          </a:ln>
        </p:spPr>
        <p:txBody>
          <a:bodyPr wrap="none" anchor="ct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sz="1800" b="1" i="0" u="none" strike="noStrike" kern="1200" cap="none" spc="0" normalizeH="0" baseline="0" noProof="1">
              <a:ln>
                <a:noFill/>
              </a:ln>
              <a:solidFill>
                <a:schemeClr val="tx1"/>
              </a:solidFill>
              <a:effectLst>
                <a:outerShdw blurRad="38100" dist="38100" dir="2700000">
                  <a:srgbClr val="FFFFFF"/>
                </a:outerShdw>
              </a:effectLst>
              <a:uLnTx/>
              <a:uFillTx/>
              <a:latin typeface="Arial" panose="020B0604020202020204" pitchFamily="34" charset="0"/>
              <a:ea typeface="宋体" panose="02010600030101010101" pitchFamily="2" charset="-122"/>
              <a:cs typeface="+mn-cs"/>
            </a:endParaRPr>
          </a:p>
        </p:txBody>
      </p:sp>
      <p:graphicFrame>
        <p:nvGraphicFramePr>
          <p:cNvPr id="1073743032" name="对象 1073743031"/>
          <p:cNvGraphicFramePr>
            <a:graphicFrameLocks noChangeAspect="1"/>
          </p:cNvGraphicFramePr>
          <p:nvPr/>
        </p:nvGraphicFramePr>
        <p:xfrm>
          <a:off x="633730" y="5462270"/>
          <a:ext cx="1292225" cy="514350"/>
        </p:xfrm>
        <a:graphic>
          <a:graphicData uri="http://schemas.openxmlformats.org/presentationml/2006/ole">
            <mc:AlternateContent xmlns:mc="http://schemas.openxmlformats.org/markup-compatibility/2006">
              <mc:Choice xmlns:v="urn:schemas-microsoft-com:vml" Requires="v">
                <p:oleObj spid="_x0000_s33" name="" r:id="rId2" imgW="673100" imgH="266700" progId="Equation.DSMT4">
                  <p:embed/>
                </p:oleObj>
              </mc:Choice>
              <mc:Fallback>
                <p:oleObj name="" r:id="rId2" imgW="673100" imgH="266700" progId="Equation.DSMT4">
                  <p:embed/>
                  <p:pic>
                    <p:nvPicPr>
                      <p:cNvPr id="0" name="图片 32"/>
                      <p:cNvPicPr/>
                      <p:nvPr/>
                    </p:nvPicPr>
                    <p:blipFill>
                      <a:blip r:embed="rId3"/>
                      <a:stretch>
                        <a:fillRect/>
                      </a:stretch>
                    </p:blipFill>
                    <p:spPr>
                      <a:xfrm>
                        <a:off x="633730" y="5462270"/>
                        <a:ext cx="1292225" cy="514350"/>
                      </a:xfrm>
                      <a:prstGeom prst="rect">
                        <a:avLst/>
                      </a:prstGeom>
                      <a:noFill/>
                      <a:ln w="38100">
                        <a:noFill/>
                        <a:miter/>
                      </a:ln>
                    </p:spPr>
                  </p:pic>
                </p:oleObj>
              </mc:Fallback>
            </mc:AlternateContent>
          </a:graphicData>
        </a:graphic>
      </p:graphicFrame>
      <p:sp>
        <p:nvSpPr>
          <p:cNvPr id="34" name="圆角矩形 33"/>
          <p:cNvSpPr/>
          <p:nvPr/>
        </p:nvSpPr>
        <p:spPr>
          <a:xfrm>
            <a:off x="6458585" y="4801870"/>
            <a:ext cx="2496820" cy="1533525"/>
          </a:xfrm>
          <a:prstGeom prst="roundRect">
            <a:avLst>
              <a:gd name="adj" fmla="val 16667"/>
            </a:avLst>
          </a:prstGeom>
          <a:noFill/>
          <a:ln w="28575" cap="flat" cmpd="sng">
            <a:solidFill>
              <a:srgbClr val="FF00FF"/>
            </a:solidFill>
            <a:prstDash val="solid"/>
            <a:headEnd type="none" w="med" len="sm"/>
            <a:tailEnd type="none" w="med" len="med"/>
          </a:ln>
        </p:spPr>
        <p:txBody>
          <a:bodyPr wrap="none" anchor="ct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sz="1800" b="1" i="0" u="none" strike="noStrike" kern="1200" cap="none" spc="0" normalizeH="0" baseline="0" noProof="1">
              <a:ln>
                <a:noFill/>
              </a:ln>
              <a:solidFill>
                <a:schemeClr val="tx1"/>
              </a:solidFill>
              <a:effectLst>
                <a:outerShdw blurRad="38100" dist="38100" dir="2700000">
                  <a:srgbClr val="FFFFFF"/>
                </a:outerShdw>
              </a:effectLst>
              <a:uLnTx/>
              <a:uFillTx/>
              <a:latin typeface="Arial" panose="020B0604020202020204" pitchFamily="34" charset="0"/>
              <a:ea typeface="宋体" panose="02010600030101010101" pitchFamily="2" charset="-122"/>
              <a:cs typeface="+mn-cs"/>
            </a:endParaRPr>
          </a:p>
        </p:txBody>
      </p:sp>
      <p:graphicFrame>
        <p:nvGraphicFramePr>
          <p:cNvPr id="1073743033" name="对象 1073743032"/>
          <p:cNvGraphicFramePr>
            <a:graphicFrameLocks noChangeAspect="1"/>
          </p:cNvGraphicFramePr>
          <p:nvPr/>
        </p:nvGraphicFramePr>
        <p:xfrm>
          <a:off x="3654425" y="5196840"/>
          <a:ext cx="1062355" cy="1044575"/>
        </p:xfrm>
        <a:graphic>
          <a:graphicData uri="http://schemas.openxmlformats.org/presentationml/2006/ole">
            <mc:AlternateContent xmlns:mc="http://schemas.openxmlformats.org/markup-compatibility/2006">
              <mc:Choice xmlns:v="urn:schemas-microsoft-com:vml" Requires="v">
                <p:oleObj spid="_x0000_s35" name="" r:id="rId4" imgW="584200" imgH="546100" progId="">
                  <p:embed/>
                </p:oleObj>
              </mc:Choice>
              <mc:Fallback>
                <p:oleObj name="" r:id="rId4" imgW="584200" imgH="546100" progId="">
                  <p:embed/>
                  <p:pic>
                    <p:nvPicPr>
                      <p:cNvPr id="0" name="图片 34"/>
                      <p:cNvPicPr/>
                      <p:nvPr/>
                    </p:nvPicPr>
                    <p:blipFill>
                      <a:blip r:embed="rId5"/>
                      <a:stretch>
                        <a:fillRect/>
                      </a:stretch>
                    </p:blipFill>
                    <p:spPr>
                      <a:xfrm>
                        <a:off x="3654425" y="5196840"/>
                        <a:ext cx="1062355" cy="1044575"/>
                      </a:xfrm>
                      <a:prstGeom prst="rect">
                        <a:avLst/>
                      </a:prstGeom>
                      <a:noFill/>
                      <a:ln w="38100">
                        <a:noFill/>
                        <a:miter/>
                      </a:ln>
                    </p:spPr>
                  </p:pic>
                </p:oleObj>
              </mc:Fallback>
            </mc:AlternateContent>
          </a:graphicData>
        </a:graphic>
      </p:graphicFrame>
      <p:sp>
        <p:nvSpPr>
          <p:cNvPr id="36" name="文本框 35"/>
          <p:cNvSpPr txBox="1"/>
          <p:nvPr/>
        </p:nvSpPr>
        <p:spPr>
          <a:xfrm>
            <a:off x="6511925" y="4831715"/>
            <a:ext cx="2481580" cy="460375"/>
          </a:xfrm>
          <a:prstGeom prst="rect">
            <a:avLst/>
          </a:prstGeom>
          <a:noFill/>
          <a:ln w="9525">
            <a:noFill/>
          </a:ln>
        </p:spPr>
        <p:txBody>
          <a:bodyPr wrap="square">
            <a:spAutoFit/>
          </a:bodyPr>
          <a:p>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③ </a:t>
            </a:r>
            <a:r>
              <a:rPr lang="zh-CN" sz="2400" b="1">
                <a:gradFill>
                  <a:gsLst>
                    <a:gs pos="0">
                      <a:srgbClr val="012D86"/>
                    </a:gs>
                    <a:gs pos="100000">
                      <a:srgbClr val="0E2557"/>
                    </a:gs>
                  </a:gsLst>
                  <a:lin scaled="0"/>
                </a:gradFill>
                <a:ea typeface="宋体" panose="02010600030101010101" pitchFamily="2" charset="-122"/>
              </a:rPr>
              <a:t>时钟脉冲方程</a:t>
            </a:r>
            <a:endParaRPr lang="zh-CN" altLang="en-US" sz="2400" b="1">
              <a:gradFill>
                <a:gsLst>
                  <a:gs pos="0">
                    <a:srgbClr val="012D86"/>
                  </a:gs>
                  <a:gs pos="100000">
                    <a:srgbClr val="0E2557"/>
                  </a:gs>
                </a:gsLst>
                <a:lin scaled="0"/>
              </a:gradFill>
              <a:ea typeface="宋体" panose="02010600030101010101" pitchFamily="2" charset="-122"/>
            </a:endParaRPr>
          </a:p>
        </p:txBody>
      </p:sp>
      <p:graphicFrame>
        <p:nvGraphicFramePr>
          <p:cNvPr id="1073743034" name="对象 1073743033"/>
          <p:cNvGraphicFramePr>
            <a:graphicFrameLocks noChangeAspect="1"/>
          </p:cNvGraphicFramePr>
          <p:nvPr/>
        </p:nvGraphicFramePr>
        <p:xfrm>
          <a:off x="6991350" y="5292090"/>
          <a:ext cx="1229995" cy="923290"/>
        </p:xfrm>
        <a:graphic>
          <a:graphicData uri="http://schemas.openxmlformats.org/presentationml/2006/ole">
            <mc:AlternateContent xmlns:mc="http://schemas.openxmlformats.org/markup-compatibility/2006">
              <mc:Choice xmlns:v="urn:schemas-microsoft-com:vml" Requires="v">
                <p:oleObj spid="_x0000_s37" name="" r:id="rId6" imgW="647700" imgH="482600" progId="">
                  <p:embed/>
                </p:oleObj>
              </mc:Choice>
              <mc:Fallback>
                <p:oleObj name="" r:id="rId6" imgW="647700" imgH="482600" progId="">
                  <p:embed/>
                  <p:pic>
                    <p:nvPicPr>
                      <p:cNvPr id="0" name="图片 36"/>
                      <p:cNvPicPr/>
                      <p:nvPr/>
                    </p:nvPicPr>
                    <p:blipFill>
                      <a:blip r:embed="rId7"/>
                      <a:stretch>
                        <a:fillRect/>
                      </a:stretch>
                    </p:blipFill>
                    <p:spPr>
                      <a:xfrm>
                        <a:off x="6991350" y="5292090"/>
                        <a:ext cx="1229995" cy="923290"/>
                      </a:xfrm>
                      <a:prstGeom prst="rect">
                        <a:avLst/>
                      </a:prstGeom>
                      <a:noFill/>
                      <a:ln w="38100">
                        <a:noFill/>
                        <a:miter/>
                      </a:ln>
                    </p:spPr>
                  </p:pic>
                </p:oleObj>
              </mc:Fallback>
            </mc:AlternateContent>
          </a:graphicData>
        </a:graphic>
      </p:graphicFrame>
      <p:grpSp>
        <p:nvGrpSpPr>
          <p:cNvPr id="157813" name="组合 157812"/>
          <p:cNvGrpSpPr/>
          <p:nvPr/>
        </p:nvGrpSpPr>
        <p:grpSpPr>
          <a:xfrm>
            <a:off x="2154555" y="2011680"/>
            <a:ext cx="5598795" cy="2630170"/>
            <a:chOff x="249" y="1888"/>
            <a:chExt cx="5648" cy="1905"/>
          </a:xfrm>
        </p:grpSpPr>
        <p:sp>
          <p:nvSpPr>
            <p:cNvPr id="18503" name="矩形 157813"/>
            <p:cNvSpPr/>
            <p:nvPr/>
          </p:nvSpPr>
          <p:spPr>
            <a:xfrm>
              <a:off x="249" y="1888"/>
              <a:ext cx="5648" cy="1905"/>
            </a:xfrm>
            <a:prstGeom prst="rect">
              <a:avLst/>
            </a:prstGeom>
            <a:solidFill>
              <a:schemeClr val="bg1"/>
            </a:solidFill>
            <a:ln w="9525">
              <a:noFill/>
            </a:ln>
          </p:spPr>
          <p:txBody>
            <a:bodyPr/>
            <a:p>
              <a:endParaRPr lang="zh-CN" altLang="en-US" dirty="0">
                <a:latin typeface="Arial" panose="020B0604020202020204" pitchFamily="34" charset="0"/>
              </a:endParaRPr>
            </a:p>
          </p:txBody>
        </p:sp>
        <p:sp>
          <p:nvSpPr>
            <p:cNvPr id="18504" name="圆角矩形 157814"/>
            <p:cNvSpPr/>
            <p:nvPr/>
          </p:nvSpPr>
          <p:spPr>
            <a:xfrm>
              <a:off x="968" y="1956"/>
              <a:ext cx="3849" cy="1769"/>
            </a:xfrm>
            <a:prstGeom prst="roundRect">
              <a:avLst>
                <a:gd name="adj" fmla="val 16667"/>
              </a:avLst>
            </a:prstGeom>
            <a:solidFill>
              <a:schemeClr val="bg1"/>
            </a:solidFill>
            <a:ln w="28575" cap="flat" cmpd="sng">
              <a:solidFill>
                <a:schemeClr val="tx2"/>
              </a:solidFill>
              <a:prstDash val="solid"/>
              <a:headEnd type="none" w="med" len="sm"/>
              <a:tailEnd type="none" w="med" len="med"/>
            </a:ln>
          </p:spPr>
          <p:txBody>
            <a:bodyPr/>
            <a:p>
              <a:endParaRPr lang="zh-CN" altLang="en-US" dirty="0">
                <a:latin typeface="Arial" panose="020B0604020202020204" pitchFamily="34" charset="0"/>
              </a:endParaRPr>
            </a:p>
          </p:txBody>
        </p:sp>
      </p:grpSp>
      <p:pic>
        <p:nvPicPr>
          <p:cNvPr id="29" name="图片 28"/>
          <p:cNvPicPr/>
          <p:nvPr/>
        </p:nvPicPr>
        <p:blipFill>
          <a:blip r:embed="rId8"/>
          <a:stretch>
            <a:fillRect/>
          </a:stretch>
        </p:blipFill>
        <p:spPr>
          <a:xfrm>
            <a:off x="545465" y="1993900"/>
            <a:ext cx="1273810" cy="403860"/>
          </a:xfrm>
          <a:prstGeom prst="rect">
            <a:avLst/>
          </a:prstGeom>
          <a:noFill/>
          <a:ln w="9525">
            <a:noFill/>
          </a:ln>
        </p:spPr>
      </p:pic>
      <p:sp>
        <p:nvSpPr>
          <p:cNvPr id="30" name="文本框 29"/>
          <p:cNvSpPr txBox="1"/>
          <p:nvPr/>
        </p:nvSpPr>
        <p:spPr>
          <a:xfrm>
            <a:off x="54610" y="4181475"/>
            <a:ext cx="2540000" cy="460375"/>
          </a:xfrm>
          <a:prstGeom prst="rect">
            <a:avLst/>
          </a:prstGeom>
          <a:noFill/>
        </p:spPr>
        <p:txBody>
          <a:bodyPr wrap="square" rtlCol="0" anchor="t">
            <a:spAutoFit/>
          </a:bodyPr>
          <a:p>
            <a:r>
              <a:rPr lang="zh-CN" altLang="en-US" sz="2400" b="1">
                <a:solidFill>
                  <a:schemeClr val="accent6">
                    <a:lumMod val="60000"/>
                    <a:lumOff val="40000"/>
                  </a:schemeClr>
                </a:solidFill>
              </a:rPr>
              <a:t>解 </a:t>
            </a:r>
            <a:r>
              <a:rPr lang="zh-CN" altLang="en-US" sz="2400" b="1">
                <a:gradFill>
                  <a:gsLst>
                    <a:gs pos="0">
                      <a:srgbClr val="012D86"/>
                    </a:gs>
                    <a:gs pos="100000">
                      <a:srgbClr val="0E2557"/>
                    </a:gs>
                  </a:gsLst>
                  <a:lin scaled="0"/>
                </a:gradFill>
              </a:rPr>
              <a:t>(１) 写方程组</a:t>
            </a:r>
            <a:endParaRPr lang="zh-CN" altLang="en-US" sz="2400" b="1">
              <a:gradFill>
                <a:gsLst>
                  <a:gs pos="0">
                    <a:srgbClr val="012D86"/>
                  </a:gs>
                  <a:gs pos="100000">
                    <a:srgbClr val="0E2557"/>
                  </a:gs>
                </a:gsLst>
                <a:lin scaled="0"/>
              </a:gradFill>
            </a:endParaRPr>
          </a:p>
        </p:txBody>
      </p:sp>
      <p:graphicFrame>
        <p:nvGraphicFramePr>
          <p:cNvPr id="1073743035" name="对象 1073743034"/>
          <p:cNvGraphicFramePr>
            <a:graphicFrameLocks noChangeAspect="1"/>
          </p:cNvGraphicFramePr>
          <p:nvPr/>
        </p:nvGraphicFramePr>
        <p:xfrm>
          <a:off x="3310255" y="2853690"/>
          <a:ext cx="2084070" cy="1149985"/>
        </p:xfrm>
        <a:graphic>
          <a:graphicData uri="http://schemas.openxmlformats.org/presentationml/2006/ole">
            <mc:AlternateContent xmlns:mc="http://schemas.openxmlformats.org/markup-compatibility/2006">
              <mc:Choice xmlns:v="urn:schemas-microsoft-com:vml" Requires="v">
                <p:oleObj spid="_x0000_s38" name="" r:id="rId9" imgW="1015365" imgH="546100" progId="">
                  <p:embed/>
                </p:oleObj>
              </mc:Choice>
              <mc:Fallback>
                <p:oleObj name="" r:id="rId9" imgW="1015365" imgH="546100" progId="">
                  <p:embed/>
                  <p:pic>
                    <p:nvPicPr>
                      <p:cNvPr id="0" name="图片 37"/>
                      <p:cNvPicPr/>
                      <p:nvPr/>
                    </p:nvPicPr>
                    <p:blipFill>
                      <a:blip r:embed="rId10"/>
                      <a:stretch>
                        <a:fillRect/>
                      </a:stretch>
                    </p:blipFill>
                    <p:spPr>
                      <a:xfrm>
                        <a:off x="3310255" y="2853690"/>
                        <a:ext cx="2084070" cy="1149985"/>
                      </a:xfrm>
                      <a:prstGeom prst="rect">
                        <a:avLst/>
                      </a:prstGeom>
                      <a:noFill/>
                      <a:ln w="38100">
                        <a:noFill/>
                        <a:miter/>
                      </a:ln>
                    </p:spPr>
                  </p:pic>
                </p:oleObj>
              </mc:Fallback>
            </mc:AlternateContent>
          </a:graphicData>
        </a:graphic>
      </p:graphicFrame>
      <p:sp>
        <p:nvSpPr>
          <p:cNvPr id="39" name="文本框 38"/>
          <p:cNvSpPr txBox="1"/>
          <p:nvPr/>
        </p:nvSpPr>
        <p:spPr>
          <a:xfrm>
            <a:off x="2867025" y="2267585"/>
            <a:ext cx="2596515" cy="460375"/>
          </a:xfrm>
          <a:prstGeom prst="rect">
            <a:avLst/>
          </a:prstGeom>
          <a:noFill/>
          <a:ln w="9525">
            <a:noFill/>
          </a:ln>
        </p:spPr>
        <p:txBody>
          <a:bodyPr wrap="square">
            <a:spAutoFit/>
          </a:bodyPr>
          <a:p>
            <a:pPr indent="266700"/>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④ </a:t>
            </a:r>
            <a:r>
              <a:rPr lang="zh-CN" sz="2400" b="1">
                <a:gradFill>
                  <a:gsLst>
                    <a:gs pos="0">
                      <a:srgbClr val="012D86"/>
                    </a:gs>
                    <a:gs pos="100000">
                      <a:srgbClr val="0E2557"/>
                    </a:gs>
                  </a:gsLst>
                  <a:lin scaled="0"/>
                </a:gradFill>
                <a:ea typeface="宋体" panose="02010600030101010101" pitchFamily="2" charset="-122"/>
              </a:rPr>
              <a:t>状态方程</a:t>
            </a:r>
            <a:endParaRPr lang="zh-CN" altLang="en-US" sz="2400" b="1">
              <a:gradFill>
                <a:gsLst>
                  <a:gs pos="0">
                    <a:srgbClr val="012D86"/>
                  </a:gs>
                  <a:gs pos="100000">
                    <a:srgbClr val="0E2557"/>
                  </a:gs>
                </a:gsLst>
                <a:lin scaled="0"/>
              </a:gra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781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157810"/>
                                        </p:tgtEl>
                                        <p:attrNameLst>
                                          <p:attrName>style.visibility</p:attrName>
                                        </p:attrNameLst>
                                      </p:cBhvr>
                                      <p:to>
                                        <p:strVal val="visible"/>
                                      </p:to>
                                    </p:set>
                                  </p:childTnLst>
                                </p:cTn>
                              </p:par>
                            </p:childTnLst>
                          </p:cTn>
                        </p:par>
                        <p:par>
                          <p:cTn id="10" fill="hold">
                            <p:stCondLst>
                              <p:cond delay="1000"/>
                            </p:stCondLst>
                            <p:childTnLst>
                              <p:par>
                                <p:cTn id="11" presetID="22" presetClass="entr" presetSubtype="8" fill="hold" nodeType="afterEffect">
                                  <p:stCondLst>
                                    <p:cond delay="1000"/>
                                  </p:stCondLst>
                                  <p:childTnLst>
                                    <p:set>
                                      <p:cBhvr>
                                        <p:cTn id="12" dur="1" fill="hold">
                                          <p:stCondLst>
                                            <p:cond delay="0"/>
                                          </p:stCondLst>
                                        </p:cTn>
                                        <p:tgtEl>
                                          <p:spTgt spid="1073743032"/>
                                        </p:tgtEl>
                                        <p:attrNameLst>
                                          <p:attrName>style.visibility</p:attrName>
                                        </p:attrNameLst>
                                      </p:cBhvr>
                                      <p:to>
                                        <p:strVal val="visible"/>
                                      </p:to>
                                    </p:set>
                                    <p:animEffect transition="in" filter="wipe(left)">
                                      <p:cBhvr>
                                        <p:cTn id="13" dur="500"/>
                                        <p:tgtEl>
                                          <p:spTgt spid="107374303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2"/>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1500"/>
                                  </p:stCondLst>
                                  <p:childTnLst>
                                    <p:set>
                                      <p:cBhvr>
                                        <p:cTn id="23" dur="1" fill="hold">
                                          <p:stCondLst>
                                            <p:cond delay="0"/>
                                          </p:stCondLst>
                                        </p:cTn>
                                        <p:tgtEl>
                                          <p:spTgt spid="107374303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4"/>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0" nodeType="afterEffect">
                                  <p:stCondLst>
                                    <p:cond delay="1500"/>
                                  </p:stCondLst>
                                  <p:childTnLst>
                                    <p:set>
                                      <p:cBhvr>
                                        <p:cTn id="30" dur="1" fill="hold">
                                          <p:stCondLst>
                                            <p:cond delay="0"/>
                                          </p:stCondLst>
                                        </p:cTn>
                                        <p:tgtEl>
                                          <p:spTgt spid="36"/>
                                        </p:tgtEl>
                                        <p:attrNameLst>
                                          <p:attrName>style.visibility</p:attrName>
                                        </p:attrNameLst>
                                      </p:cBhvr>
                                      <p:to>
                                        <p:strVal val="visible"/>
                                      </p:to>
                                    </p:set>
                                  </p:childTnLst>
                                </p:cTn>
                              </p:par>
                            </p:childTnLst>
                          </p:cTn>
                        </p:par>
                        <p:par>
                          <p:cTn id="31" fill="hold">
                            <p:stCondLst>
                              <p:cond delay="1500"/>
                            </p:stCondLst>
                            <p:childTnLst>
                              <p:par>
                                <p:cTn id="32" presetID="1" presetClass="entr" presetSubtype="0" fill="hold" nodeType="afterEffect">
                                  <p:stCondLst>
                                    <p:cond delay="1000"/>
                                  </p:stCondLst>
                                  <p:childTnLst>
                                    <p:set>
                                      <p:cBhvr>
                                        <p:cTn id="33" dur="1" fill="hold">
                                          <p:stCondLst>
                                            <p:cond delay="0"/>
                                          </p:stCondLst>
                                        </p:cTn>
                                        <p:tgtEl>
                                          <p:spTgt spid="107374303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57813"/>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1000"/>
                                  </p:stCondLst>
                                  <p:childTnLst>
                                    <p:set>
                                      <p:cBhvr>
                                        <p:cTn id="40" dur="1" fill="hold">
                                          <p:stCondLst>
                                            <p:cond delay="0"/>
                                          </p:stCondLst>
                                        </p:cTn>
                                        <p:tgtEl>
                                          <p:spTgt spid="3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1000"/>
                                  </p:stCondLst>
                                  <p:childTnLst>
                                    <p:set>
                                      <p:cBhvr>
                                        <p:cTn id="44" dur="1" fill="hold">
                                          <p:stCondLst>
                                            <p:cond delay="0"/>
                                          </p:stCondLst>
                                        </p:cTn>
                                        <p:tgtEl>
                                          <p:spTgt spid="10737430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ldLvl="0" animBg="1"/>
      <p:bldP spid="31" grpId="0"/>
      <p:bldP spid="34" grpId="0" bldLvl="0" animBg="1"/>
      <p:bldP spid="39" grpId="0"/>
      <p:bldP spid="3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6.2 时序逻辑电路的一般分析方法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6" name="文本框 35"/>
          <p:cNvSpPr txBox="1"/>
          <p:nvPr/>
        </p:nvSpPr>
        <p:spPr>
          <a:xfrm>
            <a:off x="792480" y="1268730"/>
            <a:ext cx="2540000" cy="460375"/>
          </a:xfrm>
          <a:prstGeom prst="rect">
            <a:avLst/>
          </a:prstGeom>
          <a:noFill/>
        </p:spPr>
        <p:txBody>
          <a:bodyPr wrap="square" rtlCol="0" anchor="t">
            <a:spAutoFit/>
          </a:bodyPr>
          <a:p>
            <a:r>
              <a:rPr lang="zh-CN" altLang="en-US" sz="2400" b="1"/>
              <a:t>(２)画状态转换表</a:t>
            </a:r>
            <a:endParaRPr lang="zh-CN" altLang="en-US" sz="2400" b="1"/>
          </a:p>
        </p:txBody>
      </p:sp>
      <p:pic>
        <p:nvPicPr>
          <p:cNvPr id="3" name="图片 2"/>
          <p:cNvPicPr>
            <a:picLocks noChangeAspect="1"/>
          </p:cNvPicPr>
          <p:nvPr/>
        </p:nvPicPr>
        <p:blipFill>
          <a:blip r:embed="rId1"/>
          <a:stretch>
            <a:fillRect/>
          </a:stretch>
        </p:blipFill>
        <p:spPr>
          <a:xfrm>
            <a:off x="99060" y="1867535"/>
            <a:ext cx="8696325" cy="2021205"/>
          </a:xfrm>
          <a:prstGeom prst="rect">
            <a:avLst/>
          </a:prstGeom>
        </p:spPr>
      </p:pic>
      <p:sp>
        <p:nvSpPr>
          <p:cNvPr id="101" name="文本框 100"/>
          <p:cNvSpPr txBox="1"/>
          <p:nvPr/>
        </p:nvSpPr>
        <p:spPr>
          <a:xfrm>
            <a:off x="285750" y="4033520"/>
            <a:ext cx="8322310" cy="829945"/>
          </a:xfrm>
          <a:prstGeom prst="rect">
            <a:avLst/>
          </a:prstGeom>
          <a:noFill/>
          <a:ln w="9525">
            <a:noFill/>
          </a:ln>
        </p:spPr>
        <p:txBody>
          <a:bodyPr wrap="square">
            <a:spAutoFit/>
          </a:bodyPr>
          <a:p>
            <a:r>
              <a:rPr lang="en-US" altLang="zh-CN" sz="2400" b="1">
                <a:gradFill>
                  <a:gsLst>
                    <a:gs pos="0">
                      <a:srgbClr val="012D86"/>
                    </a:gs>
                    <a:gs pos="100000">
                      <a:srgbClr val="0E2557"/>
                    </a:gs>
                  </a:gsLst>
                  <a:lin scaled="0"/>
                </a:gradFill>
                <a:ea typeface="宋体" panose="02010600030101010101" pitchFamily="2" charset="-122"/>
              </a:rPr>
              <a:t>       </a:t>
            </a:r>
            <a:r>
              <a:rPr lang="zh-CN" sz="2400" b="1">
                <a:gradFill>
                  <a:gsLst>
                    <a:gs pos="0">
                      <a:srgbClr val="012D86"/>
                    </a:gs>
                    <a:gs pos="100000">
                      <a:srgbClr val="0E2557"/>
                    </a:gs>
                  </a:gsLst>
                  <a:lin scaled="0"/>
                </a:gradFill>
                <a:ea typeface="宋体" panose="02010600030101010101" pitchFamily="2" charset="-122"/>
              </a:rPr>
              <a:t>表中各触发器的时钟端有上升沿作用时，用</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a:t>
            </a:r>
            <a:r>
              <a:rPr lang="zh-CN" sz="2400" b="1">
                <a:gradFill>
                  <a:gsLst>
                    <a:gs pos="0">
                      <a:srgbClr val="012D86"/>
                    </a:gs>
                    <a:gs pos="100000">
                      <a:srgbClr val="0E2557"/>
                    </a:gs>
                  </a:gsLst>
                  <a:lin scaled="0"/>
                </a:gradFill>
                <a:ea typeface="宋体" panose="02010600030101010101" pitchFamily="2" charset="-122"/>
              </a:rPr>
              <a:t>表示；无上升沿作用时，用</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a:t>
            </a:r>
            <a:r>
              <a:rPr lang="zh-CN" sz="2400" b="1">
                <a:gradFill>
                  <a:gsLst>
                    <a:gs pos="0">
                      <a:srgbClr val="012D86"/>
                    </a:gs>
                    <a:gs pos="100000">
                      <a:srgbClr val="0E2557"/>
                    </a:gs>
                  </a:gsLst>
                  <a:lin scaled="0"/>
                </a:gradFill>
                <a:ea typeface="宋体" panose="02010600030101010101" pitchFamily="2" charset="-122"/>
              </a:rPr>
              <a:t>﹣</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a:t>
            </a:r>
            <a:r>
              <a:rPr lang="zh-CN" sz="2400" b="1">
                <a:gradFill>
                  <a:gsLst>
                    <a:gs pos="0">
                      <a:srgbClr val="012D86"/>
                    </a:gs>
                    <a:gs pos="100000">
                      <a:srgbClr val="0E2557"/>
                    </a:gs>
                  </a:gsLst>
                  <a:lin scaled="0"/>
                </a:gradFill>
                <a:ea typeface="宋体" panose="02010600030101010101" pitchFamily="2" charset="-122"/>
              </a:rPr>
              <a:t>表示。</a:t>
            </a:r>
            <a:endParaRPr lang="zh-CN" altLang="en-US" sz="2400" b="1">
              <a:gradFill>
                <a:gsLst>
                  <a:gs pos="0">
                    <a:srgbClr val="012D86"/>
                  </a:gs>
                  <a:gs pos="100000">
                    <a:srgbClr val="0E2557"/>
                  </a:gs>
                </a:gsLst>
                <a:lin scaled="0"/>
              </a:gra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6.2 时序逻辑电路的一般分析方法</a:t>
            </a:r>
            <a:endParaRPr lang="en-US" alt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pic>
        <p:nvPicPr>
          <p:cNvPr id="9375" name="图片 2812"/>
          <p:cNvPicPr>
            <a:picLocks noChangeAspect="1"/>
          </p:cNvPicPr>
          <p:nvPr/>
        </p:nvPicPr>
        <p:blipFill>
          <a:blip r:embed="rId1"/>
          <a:stretch>
            <a:fillRect/>
          </a:stretch>
        </p:blipFill>
        <p:spPr>
          <a:xfrm>
            <a:off x="434340" y="1736725"/>
            <a:ext cx="3876040" cy="1927225"/>
          </a:xfrm>
          <a:prstGeom prst="rect">
            <a:avLst/>
          </a:prstGeom>
          <a:noFill/>
          <a:ln>
            <a:noFill/>
          </a:ln>
        </p:spPr>
      </p:pic>
      <p:sp>
        <p:nvSpPr>
          <p:cNvPr id="2" name="文本框 1"/>
          <p:cNvSpPr txBox="1"/>
          <p:nvPr/>
        </p:nvSpPr>
        <p:spPr>
          <a:xfrm>
            <a:off x="718820" y="1182370"/>
            <a:ext cx="2540000" cy="460375"/>
          </a:xfrm>
          <a:prstGeom prst="rect">
            <a:avLst/>
          </a:prstGeom>
          <a:noFill/>
        </p:spPr>
        <p:txBody>
          <a:bodyPr wrap="square" rtlCol="0" anchor="t">
            <a:spAutoFit/>
          </a:bodyPr>
          <a:p>
            <a:r>
              <a:rPr lang="zh-CN" altLang="en-US" sz="2400" b="1"/>
              <a:t>(３)画状态转换图</a:t>
            </a:r>
            <a:endParaRPr lang="zh-CN" altLang="en-US" sz="2400" b="1"/>
          </a:p>
        </p:txBody>
      </p:sp>
      <p:sp>
        <p:nvSpPr>
          <p:cNvPr id="101" name="文本框 100"/>
          <p:cNvSpPr txBox="1"/>
          <p:nvPr/>
        </p:nvSpPr>
        <p:spPr>
          <a:xfrm>
            <a:off x="1439545" y="3801745"/>
            <a:ext cx="2303780" cy="337185"/>
          </a:xfrm>
          <a:prstGeom prst="rect">
            <a:avLst/>
          </a:prstGeom>
          <a:noFill/>
          <a:ln w="9525">
            <a:noFill/>
          </a:ln>
        </p:spPr>
        <p:txBody>
          <a:bodyPr wrap="square">
            <a:spAutoFit/>
          </a:bodyPr>
          <a:p>
            <a:r>
              <a:rPr lang="zh-CN" sz="1600" b="1">
                <a:ea typeface="宋体" panose="02010600030101010101" pitchFamily="2" charset="-122"/>
              </a:rPr>
              <a:t>图</a:t>
            </a:r>
            <a:r>
              <a:rPr lang="en-US" sz="1600" b="1">
                <a:latin typeface="Times New Roman" panose="02020603050405020304" charset="0"/>
                <a:ea typeface="宋体" panose="02010600030101010101" pitchFamily="2" charset="-122"/>
                <a:cs typeface="Times New Roman" panose="02020603050405020304" charset="0"/>
              </a:rPr>
              <a:t>6-</a:t>
            </a:r>
            <a:r>
              <a:rPr lang="en-US" sz="1600" b="1">
                <a:latin typeface="Times New Roman" panose="02020603050405020304" charset="0"/>
                <a:ea typeface="宋体" panose="02010600030101010101" pitchFamily="2" charset="-122"/>
              </a:rPr>
              <a:t>9 </a:t>
            </a:r>
            <a:r>
              <a:rPr lang="zh-CN" sz="1600" b="1">
                <a:ea typeface="宋体" panose="02010600030101010101" pitchFamily="2" charset="-122"/>
              </a:rPr>
              <a:t>例</a:t>
            </a:r>
            <a:r>
              <a:rPr lang="en-US" sz="1600" b="1">
                <a:latin typeface="Times New Roman" panose="02020603050405020304" charset="0"/>
                <a:ea typeface="宋体" panose="02010600030101010101" pitchFamily="2" charset="-122"/>
                <a:cs typeface="Times New Roman" panose="02020603050405020304" charset="0"/>
              </a:rPr>
              <a:t>6-</a:t>
            </a:r>
            <a:r>
              <a:rPr lang="en-US" sz="1600" b="1">
                <a:latin typeface="Times New Roman" panose="02020603050405020304" charset="0"/>
                <a:ea typeface="宋体" panose="02010600030101010101" pitchFamily="2" charset="-122"/>
              </a:rPr>
              <a:t>3</a:t>
            </a:r>
            <a:r>
              <a:rPr lang="zh-CN" sz="1600" b="1">
                <a:solidFill>
                  <a:srgbClr val="000000"/>
                </a:solidFill>
                <a:ea typeface="宋体" panose="02010600030101010101" pitchFamily="2" charset="-122"/>
              </a:rPr>
              <a:t>状态转换图</a:t>
            </a:r>
            <a:endParaRPr lang="zh-CN" altLang="en-US" sz="1600" b="1"/>
          </a:p>
        </p:txBody>
      </p:sp>
      <p:sp>
        <p:nvSpPr>
          <p:cNvPr id="3" name="文本框 2"/>
          <p:cNvSpPr txBox="1"/>
          <p:nvPr/>
        </p:nvSpPr>
        <p:spPr>
          <a:xfrm>
            <a:off x="5322570" y="1182370"/>
            <a:ext cx="2041525" cy="460375"/>
          </a:xfrm>
          <a:prstGeom prst="rect">
            <a:avLst/>
          </a:prstGeom>
          <a:noFill/>
        </p:spPr>
        <p:txBody>
          <a:bodyPr wrap="square" rtlCol="0" anchor="t">
            <a:spAutoFit/>
          </a:bodyPr>
          <a:p>
            <a:r>
              <a:rPr lang="zh-CN" altLang="en-US" sz="2400" b="1"/>
              <a:t>(４)画时序图</a:t>
            </a:r>
            <a:endParaRPr lang="zh-CN" altLang="en-US" sz="2400" b="1"/>
          </a:p>
        </p:txBody>
      </p:sp>
      <p:sp>
        <p:nvSpPr>
          <p:cNvPr id="6" name="文本框 5"/>
          <p:cNvSpPr txBox="1"/>
          <p:nvPr/>
        </p:nvSpPr>
        <p:spPr>
          <a:xfrm>
            <a:off x="950595" y="4478655"/>
            <a:ext cx="2540000" cy="460375"/>
          </a:xfrm>
          <a:prstGeom prst="rect">
            <a:avLst/>
          </a:prstGeom>
          <a:noFill/>
        </p:spPr>
        <p:txBody>
          <a:bodyPr wrap="square" rtlCol="0" anchor="t">
            <a:spAutoFit/>
          </a:bodyPr>
          <a:p>
            <a:r>
              <a:rPr lang="zh-CN" altLang="en-US" sz="2400" b="1"/>
              <a:t>(５)逻辑功能分析</a:t>
            </a:r>
            <a:endParaRPr lang="zh-CN" altLang="en-US" sz="2400" b="1"/>
          </a:p>
        </p:txBody>
      </p:sp>
      <p:sp>
        <p:nvSpPr>
          <p:cNvPr id="7" name="文本框 6"/>
          <p:cNvSpPr txBox="1"/>
          <p:nvPr/>
        </p:nvSpPr>
        <p:spPr>
          <a:xfrm>
            <a:off x="950595" y="5090795"/>
            <a:ext cx="7943850" cy="829945"/>
          </a:xfrm>
          <a:prstGeom prst="rect">
            <a:avLst/>
          </a:prstGeom>
          <a:noFill/>
        </p:spPr>
        <p:txBody>
          <a:bodyPr wrap="square" rtlCol="0">
            <a:spAutoFit/>
          </a:bodyPr>
          <a:p>
            <a:r>
              <a:rPr lang="zh-CN" altLang="en-US" sz="2400" b="1">
                <a:gradFill>
                  <a:gsLst>
                    <a:gs pos="0">
                      <a:srgbClr val="012D86"/>
                    </a:gs>
                    <a:gs pos="100000">
                      <a:srgbClr val="0E2557"/>
                    </a:gs>
                  </a:gsLst>
                  <a:lin scaled="0"/>
                </a:gradFill>
              </a:rPr>
              <a:t>逻辑功能：</a:t>
            </a:r>
            <a:r>
              <a:rPr sz="2400">
                <a:solidFill>
                  <a:srgbClr val="0000FF"/>
                </a:solidFill>
                <a:effectLst>
                  <a:outerShdw blurRad="38100" dist="38100" dir="2700000">
                    <a:srgbClr val="000000"/>
                  </a:outerShdw>
                </a:effectLst>
                <a:sym typeface="+mn-ea"/>
              </a:rPr>
              <a:t>电路是一个异步四进制减法计数器，其中</a:t>
            </a:r>
            <a:r>
              <a:rPr sz="2400" i="1">
                <a:solidFill>
                  <a:srgbClr val="0000FF"/>
                </a:solidFill>
                <a:effectLst>
                  <a:outerShdw blurRad="38100" dist="38100" dir="2700000">
                    <a:srgbClr val="000000"/>
                  </a:outerShdw>
                </a:effectLst>
                <a:latin typeface="Times New Roman" panose="02020603050405020304" charset="0"/>
                <a:cs typeface="Times New Roman" panose="02020603050405020304" charset="0"/>
                <a:sym typeface="+mn-ea"/>
              </a:rPr>
              <a:t>Y</a:t>
            </a:r>
            <a:r>
              <a:rPr sz="2400">
                <a:solidFill>
                  <a:srgbClr val="0000FF"/>
                </a:solidFill>
                <a:effectLst>
                  <a:outerShdw blurRad="38100" dist="38100" dir="2700000">
                    <a:srgbClr val="000000"/>
                  </a:outerShdw>
                </a:effectLst>
                <a:sym typeface="+mn-ea"/>
              </a:rPr>
              <a:t>是借位信号。</a:t>
            </a:r>
            <a:endParaRPr sz="2400">
              <a:solidFill>
                <a:srgbClr val="0000FF"/>
              </a:solidFill>
              <a:effectLst>
                <a:outerShdw blurRad="38100" dist="38100" dir="2700000">
                  <a:srgbClr val="000000"/>
                </a:outerShdw>
              </a:effectLst>
              <a:sym typeface="+mn-ea"/>
            </a:endParaRPr>
          </a:p>
        </p:txBody>
      </p:sp>
      <p:pic>
        <p:nvPicPr>
          <p:cNvPr id="9376" name="图片 2813"/>
          <p:cNvPicPr>
            <a:picLocks noChangeAspect="1"/>
          </p:cNvPicPr>
          <p:nvPr/>
        </p:nvPicPr>
        <p:blipFill>
          <a:blip r:embed="rId2"/>
          <a:stretch>
            <a:fillRect/>
          </a:stretch>
        </p:blipFill>
        <p:spPr>
          <a:xfrm>
            <a:off x="4690745" y="1692910"/>
            <a:ext cx="4203065" cy="1873885"/>
          </a:xfrm>
          <a:prstGeom prst="rect">
            <a:avLst/>
          </a:prstGeom>
          <a:noFill/>
          <a:ln>
            <a:noFill/>
          </a:ln>
        </p:spPr>
      </p:pic>
      <p:sp>
        <p:nvSpPr>
          <p:cNvPr id="8" name="文本框 7"/>
          <p:cNvSpPr txBox="1"/>
          <p:nvPr/>
        </p:nvSpPr>
        <p:spPr>
          <a:xfrm>
            <a:off x="6141720" y="3724275"/>
            <a:ext cx="2440940" cy="337185"/>
          </a:xfrm>
          <a:prstGeom prst="rect">
            <a:avLst/>
          </a:prstGeom>
          <a:noFill/>
          <a:ln w="9525">
            <a:noFill/>
          </a:ln>
        </p:spPr>
        <p:txBody>
          <a:bodyPr wrap="square">
            <a:spAutoFit/>
          </a:bodyPr>
          <a:p>
            <a:r>
              <a:rPr lang="zh-CN" sz="1600" b="1">
                <a:ea typeface="宋体" panose="02010600030101010101" pitchFamily="2" charset="-122"/>
              </a:rPr>
              <a:t>图</a:t>
            </a:r>
            <a:r>
              <a:rPr lang="en-US" sz="1600" b="1">
                <a:latin typeface="Times New Roman" panose="02020603050405020304" charset="0"/>
                <a:ea typeface="宋体" panose="02010600030101010101" pitchFamily="2" charset="-122"/>
                <a:cs typeface="Times New Roman" panose="02020603050405020304" charset="0"/>
              </a:rPr>
              <a:t>6-</a:t>
            </a:r>
            <a:r>
              <a:rPr lang="en-US" sz="1600" b="1">
                <a:latin typeface="Times New Roman" panose="02020603050405020304" charset="0"/>
                <a:ea typeface="宋体" panose="02010600030101010101" pitchFamily="2" charset="-122"/>
              </a:rPr>
              <a:t>10 </a:t>
            </a:r>
            <a:r>
              <a:rPr lang="zh-CN" sz="1600" b="1">
                <a:ea typeface="宋体" panose="02010600030101010101" pitchFamily="2" charset="-122"/>
              </a:rPr>
              <a:t>例</a:t>
            </a:r>
            <a:r>
              <a:rPr lang="en-US" sz="1600" b="1">
                <a:latin typeface="Times New Roman" panose="02020603050405020304" charset="0"/>
                <a:ea typeface="宋体" panose="02010600030101010101" pitchFamily="2" charset="-122"/>
                <a:cs typeface="Times New Roman" panose="02020603050405020304" charset="0"/>
              </a:rPr>
              <a:t>6-</a:t>
            </a:r>
            <a:r>
              <a:rPr lang="en-US" sz="1600" b="1">
                <a:latin typeface="Times New Roman" panose="02020603050405020304" charset="0"/>
                <a:ea typeface="宋体" panose="02010600030101010101" pitchFamily="2" charset="-122"/>
              </a:rPr>
              <a:t>3</a:t>
            </a:r>
            <a:r>
              <a:rPr lang="zh-CN" sz="1600" b="1">
                <a:ea typeface="宋体" panose="02010600030101010101" pitchFamily="2" charset="-122"/>
              </a:rPr>
              <a:t>时序图</a:t>
            </a:r>
            <a:endParaRPr lang="zh-CN" altLang="en-US" sz="16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7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0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1500"/>
                                  </p:stCondLst>
                                  <p:childTnLst>
                                    <p:set>
                                      <p:cBhvr>
                                        <p:cTn id="16" dur="1" fill="hold">
                                          <p:stCondLst>
                                            <p:cond delay="0"/>
                                          </p:stCondLst>
                                        </p:cTn>
                                        <p:tgtEl>
                                          <p:spTgt spid="9376"/>
                                        </p:tgtEl>
                                        <p:attrNameLst>
                                          <p:attrName>style.visibility</p:attrName>
                                        </p:attrNameLst>
                                      </p:cBhvr>
                                      <p:to>
                                        <p:strVal val="visible"/>
                                      </p:to>
                                    </p:set>
                                  </p:childTnLst>
                                </p:cTn>
                              </p:par>
                            </p:childTnLst>
                          </p:cTn>
                        </p:par>
                        <p:par>
                          <p:cTn id="17" fill="hold">
                            <p:stCondLst>
                              <p:cond delay="1500"/>
                            </p:stCondLst>
                            <p:childTnLst>
                              <p:par>
                                <p:cTn id="18" presetID="1"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100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3" grpId="0"/>
      <p:bldP spid="101"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6.3 </a:t>
            </a:r>
            <a:r>
              <a:rPr lang="zh-CN" altLang="en-US" b="1" dirty="0">
                <a:solidFill>
                  <a:srgbClr val="FF0000"/>
                </a:solidFill>
                <a:latin typeface="黑体" panose="02010609060101010101" pitchFamily="49" charset="-122"/>
                <a:ea typeface="黑体" panose="02010609060101010101" pitchFamily="49" charset="-122"/>
                <a:sym typeface="+mn-ea"/>
              </a:rPr>
              <a:t>同步</a:t>
            </a:r>
            <a:r>
              <a:rPr lang="en-US" altLang="zh-CN" b="1" dirty="0">
                <a:solidFill>
                  <a:srgbClr val="FF0000"/>
                </a:solidFill>
                <a:latin typeface="黑体" panose="02010609060101010101" pitchFamily="49" charset="-122"/>
                <a:ea typeface="黑体" panose="02010609060101010101" pitchFamily="49" charset="-122"/>
                <a:sym typeface="+mn-ea"/>
              </a:rPr>
              <a:t>时序逻辑电路的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762000" y="989965"/>
            <a:ext cx="6847205" cy="868045"/>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6</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3</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1</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同步时序逻辑电路的设计方法</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2" name="文本框 1"/>
          <p:cNvSpPr txBox="1"/>
          <p:nvPr/>
        </p:nvSpPr>
        <p:spPr>
          <a:xfrm>
            <a:off x="822325" y="1680210"/>
            <a:ext cx="5029835" cy="460375"/>
          </a:xfrm>
          <a:prstGeom prst="rect">
            <a:avLst/>
          </a:prstGeom>
          <a:noFill/>
        </p:spPr>
        <p:txBody>
          <a:bodyPr wrap="square" rtlCol="0" anchor="t">
            <a:spAutoFit/>
            <a:scene3d>
              <a:camera prst="orthographicFront"/>
              <a:lightRig rig="threePt" dir="t"/>
            </a:scene3d>
          </a:bodyPr>
          <a:p>
            <a:r>
              <a:rPr lang="zh-CN" altLang="en-US" sz="2400" dirty="0">
                <a:ln w="22225">
                  <a:solidFill>
                    <a:schemeClr val="accent2"/>
                  </a:solidFill>
                  <a:prstDash val="solid"/>
                </a:ln>
                <a:solidFill>
                  <a:schemeClr val="accent6">
                    <a:lumMod val="60000"/>
                    <a:lumOff val="40000"/>
                  </a:schemeClr>
                </a:solidFill>
                <a:effectLst/>
                <a:latin typeface="Times New Roman" panose="02020603050405020304" charset="0"/>
                <a:sym typeface="+mn-ea"/>
              </a:rPr>
              <a:t>设计同步时序逻辑电路的一般步骤：</a:t>
            </a:r>
            <a:endParaRPr lang="zh-CN" altLang="en-US" sz="2400" dirty="0">
              <a:ln w="22225">
                <a:solidFill>
                  <a:schemeClr val="accent2"/>
                </a:solidFill>
                <a:prstDash val="solid"/>
              </a:ln>
              <a:solidFill>
                <a:schemeClr val="accent6">
                  <a:lumMod val="60000"/>
                  <a:lumOff val="40000"/>
                </a:schemeClr>
              </a:solidFill>
              <a:effectLst/>
              <a:latin typeface="Times New Roman" panose="02020603050405020304" charset="0"/>
              <a:sym typeface="+mn-ea"/>
            </a:endParaRPr>
          </a:p>
        </p:txBody>
      </p:sp>
      <p:sp>
        <p:nvSpPr>
          <p:cNvPr id="366617" name="矩形 366616"/>
          <p:cNvSpPr/>
          <p:nvPr/>
        </p:nvSpPr>
        <p:spPr>
          <a:xfrm>
            <a:off x="755650" y="1965008"/>
            <a:ext cx="7343775" cy="626745"/>
          </a:xfrm>
          <a:prstGeom prst="rect">
            <a:avLst/>
          </a:prstGeom>
          <a:noFill/>
          <a:ln w="9525">
            <a:noFill/>
          </a:ln>
        </p:spPr>
        <p:txBody>
          <a:bodyPr>
            <a:spAutoFit/>
          </a:bodyPr>
          <a:p>
            <a:pPr algn="l">
              <a:lnSpc>
                <a:spcPct val="145000"/>
              </a:lnSpc>
              <a:buClr>
                <a:schemeClr val="tx1"/>
              </a:buClr>
            </a:pPr>
            <a:r>
              <a:rPr lang="en-US" altLang="zh-CN" sz="2400" b="1">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(1</a:t>
            </a:r>
            <a:r>
              <a:rPr lang="en-US" altLang="zh-CN" sz="2400" b="1">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rPr>
              <a:t>)</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rPr>
              <a:t>根据给定的逻辑功能建立原始状态图和原始状态表；</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endParaRPr>
          </a:p>
        </p:txBody>
      </p:sp>
      <p:grpSp>
        <p:nvGrpSpPr>
          <p:cNvPr id="366628" name="组合 366627"/>
          <p:cNvGrpSpPr/>
          <p:nvPr/>
        </p:nvGrpSpPr>
        <p:grpSpPr>
          <a:xfrm>
            <a:off x="298451" y="2523489"/>
            <a:ext cx="8988425" cy="4540252"/>
            <a:chOff x="144" y="522"/>
            <a:chExt cx="5662" cy="2860"/>
          </a:xfrm>
        </p:grpSpPr>
        <p:sp>
          <p:nvSpPr>
            <p:cNvPr id="366624" name="矩形 366623"/>
            <p:cNvSpPr/>
            <p:nvPr/>
          </p:nvSpPr>
          <p:spPr>
            <a:xfrm>
              <a:off x="144" y="522"/>
              <a:ext cx="5416" cy="1313"/>
            </a:xfrm>
            <a:prstGeom prst="rect">
              <a:avLst/>
            </a:prstGeom>
            <a:noFill/>
            <a:ln w="9525">
              <a:noFill/>
            </a:ln>
          </p:spPr>
          <p:txBody>
            <a:bodyPr wrap="none" anchor="ctr">
              <a:spAutoFit/>
            </a:bodyPr>
            <a:p>
              <a:pPr marL="914400" lvl="1" indent="-457200" algn="l">
                <a:lnSpc>
                  <a:spcPct val="135000"/>
                </a:lnSpc>
                <a:buNone/>
              </a:pPr>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rPr>
                <a:t>①分析时序逻辑电路的输入条件和结果</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rPr>
                <a:t>，取输入条件为输入</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endParaRPr>
            </a:p>
            <a:p>
              <a:pPr marL="0" lvl="1" indent="-457200" algn="l">
                <a:lnSpc>
                  <a:spcPct val="135000"/>
                </a:lnSpc>
                <a:buNone/>
              </a:pP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rPr>
                <a:t>变量，取结果为输出变量</a:t>
              </a:r>
              <a:r>
                <a:rPr lang="zh-CN" altLang="en-US" sz="2400" b="1" dirty="0">
                  <a:solidFill>
                    <a:srgbClr val="FF0000"/>
                  </a:solidFill>
                  <a:effectLst>
                    <a:outerShdw blurRad="38100" dist="38100" dir="2700000" algn="tl">
                      <a:srgbClr val="000000">
                        <a:alpha val="43137"/>
                      </a:srgbClr>
                    </a:outerShdw>
                  </a:effectLst>
                  <a:latin typeface="楷体_GB2312" pitchFamily="49" charset="-122"/>
                  <a:ea typeface="楷体_GB2312" pitchFamily="49" charset="-122"/>
                </a:rPr>
                <a:t>（确定输入变量、输出变量）</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sym typeface="+mn-ea"/>
                </a:rPr>
                <a:t>。确定</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sym typeface="+mn-ea"/>
              </a:endParaRPr>
            </a:p>
            <a:p>
              <a:pPr marL="0" lvl="1" indent="-457200" algn="l">
                <a:lnSpc>
                  <a:spcPct val="135000"/>
                </a:lnSpc>
                <a:buNone/>
              </a:pP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sym typeface="+mn-ea"/>
                </a:rPr>
                <a:t>有多少种输入信息的历史情况，每种历史情况由相应的电路状</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sym typeface="+mn-ea"/>
              </a:endParaRPr>
            </a:p>
            <a:p>
              <a:pPr marL="0" lvl="1" indent="-457200" algn="l">
                <a:lnSpc>
                  <a:spcPct val="135000"/>
                </a:lnSpc>
                <a:buNone/>
              </a:pP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sym typeface="+mn-ea"/>
                </a:rPr>
                <a:t>态记忆，而确定原始状态图的状态数。</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sym typeface="+mn-ea"/>
              </a:endParaRPr>
            </a:p>
          </p:txBody>
        </p:sp>
        <p:sp>
          <p:nvSpPr>
            <p:cNvPr id="366625" name="矩形 366624"/>
            <p:cNvSpPr/>
            <p:nvPr/>
          </p:nvSpPr>
          <p:spPr>
            <a:xfrm>
              <a:off x="190" y="1755"/>
              <a:ext cx="5616" cy="1627"/>
            </a:xfrm>
            <a:prstGeom prst="rect">
              <a:avLst/>
            </a:prstGeom>
            <a:noFill/>
            <a:ln w="9525">
              <a:noFill/>
            </a:ln>
          </p:spPr>
          <p:txBody>
            <a:bodyPr wrap="square" anchor="ctr">
              <a:spAutoFit/>
            </a:bodyPr>
            <a:p>
              <a:pPr indent="266700" algn="l" eaLnBrk="0" hangingPunct="0">
                <a:lnSpc>
                  <a:spcPct val="135000"/>
                </a:lnSpc>
              </a:pPr>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宋体" panose="02010600030101010101" pitchFamily="2" charset="-122"/>
                  <a:cs typeface="Times New Roman" panose="02020603050405020304" charset="0"/>
                </a:rPr>
                <a:t>②把每一个状态作为电路当时所处的现态</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宋体" panose="02010600030101010101" pitchFamily="2" charset="-122"/>
                  <a:cs typeface="Times New Roman" panose="02020603050405020304" charset="0"/>
                </a:rPr>
                <a:t>，根据设计要求和输入情况，确定该时刻的输出和下一时刻电路的状态，以箭头表示状态转换的方向，</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在箭头旁注明状态转换前的输入变量取值和输出值</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charset="0"/>
                  <a:ea typeface="楷体_GB2312" pitchFamily="49" charset="-122"/>
                </a:rPr>
                <a:t>（</a:t>
              </a:r>
              <a:r>
                <a:rPr lang="zh-CN" altLang="en-US" sz="2400" b="1" dirty="0">
                  <a:solidFill>
                    <a:srgbClr val="FF0000"/>
                  </a:solidFill>
                  <a:effectLst>
                    <a:outerShdw blurRad="38100" dist="38100" dir="2700000" algn="tl">
                      <a:srgbClr val="000000">
                        <a:alpha val="43137"/>
                      </a:srgbClr>
                    </a:outerShdw>
                  </a:effectLst>
                  <a:latin typeface="楷体_GB2312" pitchFamily="49" charset="-122"/>
                  <a:ea typeface="楷体_GB2312" pitchFamily="49" charset="-122"/>
                  <a:sym typeface="+mn-ea"/>
                </a:rPr>
                <a:t>原始状态图</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charset="0"/>
                  <a:ea typeface="楷体_GB2312" pitchFamily="49" charset="-122"/>
                </a:rPr>
                <a:t>）</a:t>
              </a:r>
              <a:endParaRPr lang="zh-CN" altLang="en-US" sz="2400" b="1" dirty="0">
                <a:solidFill>
                  <a:srgbClr val="FF0000"/>
                </a:solidFill>
                <a:effectLst>
                  <a:outerShdw blurRad="38100" dist="38100" dir="2700000" algn="tl">
                    <a:srgbClr val="000000">
                      <a:alpha val="43137"/>
                    </a:srgbClr>
                  </a:outerShdw>
                </a:effectLst>
                <a:latin typeface="Times New Roman" panose="02020603050405020304" charset="0"/>
                <a:ea typeface="楷体_GB2312" pitchFamily="49" charset="-122"/>
              </a:endParaRPr>
            </a:p>
            <a:p>
              <a:pPr indent="266700" algn="l" eaLnBrk="0" hangingPunct="0">
                <a:lnSpc>
                  <a:spcPct val="135000"/>
                </a:lnSpc>
              </a:pPr>
              <a:endParaRPr lang="zh-CN" altLang="en-US" sz="2400" b="1" dirty="0">
                <a:solidFill>
                  <a:srgbClr val="000066"/>
                </a:solidFill>
                <a:effectLst>
                  <a:outerShdw blurRad="38100" dist="38100" dir="2700000" algn="tl">
                    <a:srgbClr val="000000">
                      <a:alpha val="43137"/>
                    </a:srgbClr>
                  </a:outerShdw>
                </a:effectLst>
                <a:latin typeface="Times New Roman" panose="02020603050405020304" charset="0"/>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66628"/>
                                        </p:tgtEl>
                                        <p:attrNameLst>
                                          <p:attrName>style.visibility</p:attrName>
                                        </p:attrNameLst>
                                      </p:cBhvr>
                                      <p:to>
                                        <p:strVal val="visible"/>
                                      </p:to>
                                    </p:set>
                                    <p:animEffect transition="in" filter="wipe(up)">
                                      <p:cBhvr>
                                        <p:cTn id="7" dur="500"/>
                                        <p:tgtEl>
                                          <p:spTgt spid="366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6.3 </a:t>
            </a:r>
            <a:r>
              <a:rPr lang="zh-CN" altLang="en-US" b="1" dirty="0">
                <a:solidFill>
                  <a:srgbClr val="FF0000"/>
                </a:solidFill>
                <a:latin typeface="黑体" panose="02010609060101010101" pitchFamily="49" charset="-122"/>
                <a:ea typeface="黑体" panose="02010609060101010101" pitchFamily="49" charset="-122"/>
                <a:sym typeface="+mn-ea"/>
              </a:rPr>
              <a:t>同步</a:t>
            </a:r>
            <a:r>
              <a:rPr lang="en-US" altLang="zh-CN" b="1" dirty="0">
                <a:solidFill>
                  <a:srgbClr val="FF0000"/>
                </a:solidFill>
                <a:latin typeface="黑体" panose="02010609060101010101" pitchFamily="49" charset="-122"/>
                <a:ea typeface="黑体" panose="02010609060101010101" pitchFamily="49" charset="-122"/>
                <a:sym typeface="+mn-ea"/>
              </a:rPr>
              <a:t>时序逻辑电路的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66618" name="矩形 366617"/>
          <p:cNvSpPr/>
          <p:nvPr/>
        </p:nvSpPr>
        <p:spPr>
          <a:xfrm>
            <a:off x="727710" y="2020888"/>
            <a:ext cx="5435600" cy="626745"/>
          </a:xfrm>
          <a:prstGeom prst="rect">
            <a:avLst/>
          </a:prstGeom>
          <a:noFill/>
          <a:ln w="9525">
            <a:noFill/>
          </a:ln>
        </p:spPr>
        <p:txBody>
          <a:bodyPr>
            <a:spAutoFit/>
          </a:bodyPr>
          <a:p>
            <a:pPr algn="l">
              <a:lnSpc>
                <a:spcPct val="145000"/>
              </a:lnSpc>
              <a:buClr>
                <a:schemeClr val="tx1"/>
              </a:buClr>
            </a:pPr>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(2)</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状态化简</a:t>
            </a:r>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画出最简状态图 ；</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endParaRPr>
          </a:p>
        </p:txBody>
      </p:sp>
      <p:sp>
        <p:nvSpPr>
          <p:cNvPr id="366619" name="矩形 366618"/>
          <p:cNvSpPr/>
          <p:nvPr/>
        </p:nvSpPr>
        <p:spPr>
          <a:xfrm>
            <a:off x="727393" y="2771775"/>
            <a:ext cx="6916420" cy="460375"/>
          </a:xfrm>
          <a:prstGeom prst="rect">
            <a:avLst/>
          </a:prstGeom>
          <a:noFill/>
          <a:ln w="9525">
            <a:noFill/>
          </a:ln>
        </p:spPr>
        <p:txBody>
          <a:bodyPr wrap="none" anchor="t">
            <a:spAutoFit/>
          </a:bodyPr>
          <a:p>
            <a:pPr algn="l"/>
            <a:r>
              <a:rPr lang="zh-CN" altLang="en-US" sz="2400" b="1" dirty="0">
                <a:solidFill>
                  <a:srgbClr val="FF0000"/>
                </a:solidFill>
                <a:effectLst>
                  <a:outerShdw blurRad="38100" dist="38100" dir="2700000" algn="tl">
                    <a:srgbClr val="000000">
                      <a:alpha val="43137"/>
                    </a:srgbClr>
                  </a:outerShdw>
                </a:effectLst>
                <a:latin typeface="Tahoma" panose="020B0604030504040204" pitchFamily="34" charset="0"/>
                <a:ea typeface="楷体_GB2312" pitchFamily="49" charset="-122"/>
              </a:rPr>
              <a:t>合并等价状态</a:t>
            </a:r>
            <a:r>
              <a:rPr lang="zh-CN" altLang="en-US" sz="2400" b="1" dirty="0">
                <a:solidFill>
                  <a:srgbClr val="000066"/>
                </a:solidFill>
                <a:effectLst>
                  <a:outerShdw blurRad="38100" dist="38100" dir="2700000" algn="tl">
                    <a:srgbClr val="000000">
                      <a:alpha val="43137"/>
                    </a:srgbClr>
                  </a:outerShdw>
                </a:effectLst>
                <a:latin typeface="Tahoma" panose="020B0604030504040204" pitchFamily="34" charset="0"/>
                <a:ea typeface="楷体_GB2312" pitchFamily="49" charset="-122"/>
              </a:rPr>
              <a:t>，</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ahoma" panose="020B0604030504040204" pitchFamily="34" charset="0"/>
                <a:ea typeface="楷体_GB2312" pitchFamily="49" charset="-122"/>
              </a:rPr>
              <a:t>消去多余状态的过程称为状态化简</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ahoma" panose="020B0604030504040204" pitchFamily="34" charset="0"/>
              <a:ea typeface="楷体_GB2312" pitchFamily="49" charset="-122"/>
            </a:endParaRPr>
          </a:p>
        </p:txBody>
      </p:sp>
      <p:sp>
        <p:nvSpPr>
          <p:cNvPr id="366620" name="矩形 366619"/>
          <p:cNvSpPr/>
          <p:nvPr/>
        </p:nvSpPr>
        <p:spPr>
          <a:xfrm>
            <a:off x="727710" y="3292475"/>
            <a:ext cx="8129905" cy="1050290"/>
          </a:xfrm>
          <a:prstGeom prst="rect">
            <a:avLst/>
          </a:prstGeom>
          <a:noFill/>
          <a:ln w="9525">
            <a:noFill/>
          </a:ln>
        </p:spPr>
        <p:txBody>
          <a:bodyPr wrap="square" anchor="t">
            <a:spAutoFit/>
          </a:bodyPr>
          <a:p>
            <a:pPr algn="l">
              <a:lnSpc>
                <a:spcPct val="130000"/>
              </a:lnSpc>
            </a:pPr>
            <a:r>
              <a:rPr lang="zh-CN" altLang="en-US" sz="2400" b="1" dirty="0">
                <a:solidFill>
                  <a:srgbClr val="FF0000"/>
                </a:solidFill>
                <a:effectLst>
                  <a:outerShdw blurRad="38100" dist="38100" dir="2700000" algn="tl">
                    <a:srgbClr val="000000">
                      <a:alpha val="43137"/>
                    </a:srgbClr>
                  </a:outerShdw>
                </a:effectLst>
                <a:latin typeface="Tahoma" panose="020B0604030504040204" pitchFamily="34" charset="0"/>
                <a:ea typeface="楷体_GB2312" pitchFamily="49" charset="-122"/>
              </a:rPr>
              <a:t>等价状态：</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ahoma" panose="020B0604030504040204" pitchFamily="34" charset="0"/>
                <a:ea typeface="楷体_GB2312" pitchFamily="49" charset="-122"/>
              </a:rPr>
              <a:t>在相同的输入下有相同的输出，并转换到同一个次态去的两个状态称为等价状态。</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ahoma" panose="020B0604030504040204" pitchFamily="34" charset="0"/>
              <a:ea typeface="楷体_GB2312" pitchFamily="49" charset="-122"/>
            </a:endParaRPr>
          </a:p>
        </p:txBody>
      </p:sp>
      <p:sp>
        <p:nvSpPr>
          <p:cNvPr id="366625" name="矩形 366624"/>
          <p:cNvSpPr/>
          <p:nvPr/>
        </p:nvSpPr>
        <p:spPr>
          <a:xfrm>
            <a:off x="457200" y="1431608"/>
            <a:ext cx="8915400" cy="589280"/>
          </a:xfrm>
          <a:prstGeom prst="rect">
            <a:avLst/>
          </a:prstGeom>
          <a:noFill/>
          <a:ln w="9525">
            <a:noFill/>
          </a:ln>
        </p:spPr>
        <p:txBody>
          <a:bodyPr wrap="square" anchor="ctr">
            <a:spAutoFit/>
          </a:bodyPr>
          <a:p>
            <a:pPr indent="266700" algn="l" eaLnBrk="0" hangingPunct="0">
              <a:lnSpc>
                <a:spcPct val="135000"/>
              </a:lnSpc>
            </a:pPr>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宋体" panose="02010600030101010101" pitchFamily="2" charset="-122"/>
                <a:cs typeface="Times New Roman" panose="02020603050405020304" charset="0"/>
              </a:rPr>
              <a:t>③</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根据原始状态图建立</a:t>
            </a:r>
            <a:r>
              <a:rPr lang="zh-CN" altLang="en-US" sz="2400" b="1" dirty="0">
                <a:solidFill>
                  <a:srgbClr val="FF0000"/>
                </a:solidFill>
                <a:effectLst>
                  <a:outerShdw blurRad="38100" dist="38100" dir="2700000" algn="tl">
                    <a:srgbClr val="000000">
                      <a:alpha val="43137"/>
                    </a:srgbClr>
                  </a:outerShdw>
                </a:effectLst>
                <a:latin typeface="Times New Roman" panose="02020603050405020304" charset="0"/>
                <a:ea typeface="楷体_GB2312" pitchFamily="49" charset="-122"/>
              </a:rPr>
              <a:t>原始状态表</a:t>
            </a:r>
            <a:r>
              <a:rPr lang="zh-CN" altLang="en-US" sz="2400" b="1" dirty="0">
                <a:solidFill>
                  <a:srgbClr val="000066"/>
                </a:solidFill>
                <a:effectLst>
                  <a:outerShdw blurRad="38100" dist="38100" dir="2700000" algn="tl">
                    <a:srgbClr val="000000">
                      <a:alpha val="43137"/>
                    </a:srgbClr>
                  </a:outerShdw>
                </a:effectLst>
                <a:latin typeface="Times New Roman" panose="02020603050405020304" charset="0"/>
                <a:ea typeface="楷体_GB2312" pitchFamily="49" charset="-122"/>
              </a:rPr>
              <a:t>。</a:t>
            </a:r>
            <a:endParaRPr lang="zh-CN" altLang="en-US" sz="2400" b="1" dirty="0">
              <a:solidFill>
                <a:srgbClr val="000066"/>
              </a:solidFill>
              <a:effectLst>
                <a:outerShdw blurRad="38100" dist="38100" dir="2700000" algn="tl">
                  <a:srgbClr val="000000">
                    <a:alpha val="43137"/>
                  </a:srgbClr>
                </a:outerShdw>
              </a:effectLst>
              <a:latin typeface="Times New Roman" panose="02020603050405020304" charset="0"/>
              <a:ea typeface="楷体_GB2312" pitchFamily="49" charset="-122"/>
            </a:endParaRPr>
          </a:p>
        </p:txBody>
      </p:sp>
      <p:sp>
        <p:nvSpPr>
          <p:cNvPr id="3" name="标题 2"/>
          <p:cNvSpPr/>
          <p:nvPr>
            <p:ph type="title"/>
          </p:nvPr>
        </p:nvSpPr>
        <p:spPr/>
        <p:txBody>
          <a:bodyPr/>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66618"/>
                                        </p:tgtEl>
                                        <p:attrNameLst>
                                          <p:attrName>style.visibility</p:attrName>
                                        </p:attrNameLst>
                                      </p:cBhvr>
                                      <p:to>
                                        <p:strVal val="visible"/>
                                      </p:to>
                                    </p:set>
                                    <p:animEffect transition="in" filter="strips(downRight)">
                                      <p:cBhvr>
                                        <p:cTn id="7" dur="500"/>
                                        <p:tgtEl>
                                          <p:spTgt spid="36661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66619"/>
                                        </p:tgtEl>
                                        <p:attrNameLst>
                                          <p:attrName>style.visibility</p:attrName>
                                        </p:attrNameLst>
                                      </p:cBhvr>
                                      <p:to>
                                        <p:strVal val="visible"/>
                                      </p:to>
                                    </p:set>
                                    <p:animEffect transition="in" filter="strips(downRight)">
                                      <p:cBhvr>
                                        <p:cTn id="12" dur="500"/>
                                        <p:tgtEl>
                                          <p:spTgt spid="3666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66620"/>
                                        </p:tgtEl>
                                        <p:attrNameLst>
                                          <p:attrName>style.visibility</p:attrName>
                                        </p:attrNameLst>
                                      </p:cBhvr>
                                      <p:to>
                                        <p:strVal val="visible"/>
                                      </p:to>
                                    </p:set>
                                    <p:animEffect transition="in" filter="wipe(up)">
                                      <p:cBhvr>
                                        <p:cTn id="17" dur="500"/>
                                        <p:tgtEl>
                                          <p:spTgt spid="366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618" grpId="0"/>
      <p:bldP spid="366619" grpId="0"/>
      <p:bldP spid="3666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6.3 </a:t>
            </a:r>
            <a:r>
              <a:rPr lang="zh-CN" altLang="en-US" b="1" dirty="0">
                <a:solidFill>
                  <a:srgbClr val="FF0000"/>
                </a:solidFill>
                <a:latin typeface="黑体" panose="02010609060101010101" pitchFamily="49" charset="-122"/>
                <a:ea typeface="黑体" panose="02010609060101010101" pitchFamily="49" charset="-122"/>
                <a:sym typeface="+mn-ea"/>
              </a:rPr>
              <a:t>同步</a:t>
            </a:r>
            <a:r>
              <a:rPr lang="en-US" altLang="zh-CN" b="1" dirty="0">
                <a:solidFill>
                  <a:srgbClr val="FF0000"/>
                </a:solidFill>
                <a:latin typeface="黑体" panose="02010609060101010101" pitchFamily="49" charset="-122"/>
                <a:ea typeface="黑体" panose="02010609060101010101" pitchFamily="49" charset="-122"/>
                <a:sym typeface="+mn-ea"/>
              </a:rPr>
              <a:t>时序逻辑电路的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67650" name="矩形 367649"/>
          <p:cNvSpPr/>
          <p:nvPr/>
        </p:nvSpPr>
        <p:spPr>
          <a:xfrm>
            <a:off x="973455" y="1343343"/>
            <a:ext cx="4657725" cy="460375"/>
          </a:xfrm>
          <a:prstGeom prst="rect">
            <a:avLst/>
          </a:prstGeom>
          <a:noFill/>
          <a:ln w="9525">
            <a:noFill/>
          </a:ln>
        </p:spPr>
        <p:txBody>
          <a:bodyPr>
            <a:spAutoFit/>
          </a:bodyPr>
          <a:p>
            <a:pPr algn="l" eaLnBrk="0" hangingPunct="0"/>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(3)</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状态</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sym typeface="+mn-ea"/>
              </a:rPr>
              <a:t>分配</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（状态</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sym typeface="+mn-ea"/>
              </a:rPr>
              <a:t>编码</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endParaRPr>
          </a:p>
        </p:txBody>
      </p:sp>
      <p:sp>
        <p:nvSpPr>
          <p:cNvPr id="367651" name="矩形 367650"/>
          <p:cNvSpPr/>
          <p:nvPr/>
        </p:nvSpPr>
        <p:spPr>
          <a:xfrm>
            <a:off x="898843" y="3778885"/>
            <a:ext cx="3457575" cy="460375"/>
          </a:xfrm>
          <a:prstGeom prst="rect">
            <a:avLst/>
          </a:prstGeom>
          <a:noFill/>
          <a:ln w="9525">
            <a:noFill/>
          </a:ln>
        </p:spPr>
        <p:txBody>
          <a:bodyPr>
            <a:spAutoFit/>
          </a:bodyPr>
          <a:p>
            <a:pPr algn="l" eaLnBrk="0" hangingPunct="0"/>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(4)</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选择触发器的类型；</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endParaRPr>
          </a:p>
        </p:txBody>
      </p:sp>
      <p:sp>
        <p:nvSpPr>
          <p:cNvPr id="367652" name="矩形 367651"/>
          <p:cNvSpPr/>
          <p:nvPr/>
        </p:nvSpPr>
        <p:spPr>
          <a:xfrm>
            <a:off x="883920" y="5535930"/>
            <a:ext cx="4823460" cy="460375"/>
          </a:xfrm>
          <a:prstGeom prst="rect">
            <a:avLst/>
          </a:prstGeom>
          <a:noFill/>
          <a:ln w="9525">
            <a:noFill/>
          </a:ln>
        </p:spPr>
        <p:txBody>
          <a:bodyPr wrap="none" anchor="t">
            <a:spAutoFit/>
          </a:bodyPr>
          <a:p>
            <a:pPr algn="l" eaLnBrk="0" hangingPunct="0"/>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(7)</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画出逻辑图并检查自启动能力。</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endParaRPr>
          </a:p>
        </p:txBody>
      </p:sp>
      <p:sp>
        <p:nvSpPr>
          <p:cNvPr id="367657" name="矩形 367656"/>
          <p:cNvSpPr/>
          <p:nvPr/>
        </p:nvSpPr>
        <p:spPr>
          <a:xfrm>
            <a:off x="936943" y="1891030"/>
            <a:ext cx="5080000" cy="460375"/>
          </a:xfrm>
          <a:prstGeom prst="rect">
            <a:avLst/>
          </a:prstGeom>
          <a:noFill/>
          <a:ln w="9525">
            <a:noFill/>
          </a:ln>
        </p:spPr>
        <p:txBody>
          <a:bodyPr wrap="none" anchor="t">
            <a:spAutoFit/>
          </a:bodyPr>
          <a:p>
            <a:pPr algn="l" eaLnBrk="0" hangingPunct="0"/>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给每个状态赋以二进制代码的过程。</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endParaRPr>
          </a:p>
        </p:txBody>
      </p:sp>
      <p:sp>
        <p:nvSpPr>
          <p:cNvPr id="367658" name="矩形 367657"/>
          <p:cNvSpPr/>
          <p:nvPr/>
        </p:nvSpPr>
        <p:spPr>
          <a:xfrm>
            <a:off x="936943" y="2466023"/>
            <a:ext cx="4467860" cy="460375"/>
          </a:xfrm>
          <a:prstGeom prst="rect">
            <a:avLst/>
          </a:prstGeom>
          <a:noFill/>
          <a:ln w="9525">
            <a:noFill/>
          </a:ln>
        </p:spPr>
        <p:txBody>
          <a:bodyPr wrap="none" anchor="t">
            <a:spAutoFit/>
          </a:bodyPr>
          <a:p>
            <a:pPr algn="l" eaLnBrk="0" hangingPunct="0"/>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根据状态数确定触发器的个数，</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endParaRPr>
          </a:p>
        </p:txBody>
      </p:sp>
      <p:sp>
        <p:nvSpPr>
          <p:cNvPr id="367659" name="矩形 367658"/>
          <p:cNvSpPr/>
          <p:nvPr/>
        </p:nvSpPr>
        <p:spPr>
          <a:xfrm>
            <a:off x="900430" y="4310698"/>
            <a:ext cx="6732588" cy="460375"/>
          </a:xfrm>
          <a:prstGeom prst="rect">
            <a:avLst/>
          </a:prstGeom>
          <a:noFill/>
          <a:ln w="9525">
            <a:noFill/>
          </a:ln>
        </p:spPr>
        <p:txBody>
          <a:bodyPr>
            <a:spAutoFit/>
          </a:bodyPr>
          <a:p>
            <a:pPr algn="l" eaLnBrk="0" hangingPunct="0"/>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(5)</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求电路的输出方程 ；</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endParaRPr>
          </a:p>
        </p:txBody>
      </p:sp>
      <p:grpSp>
        <p:nvGrpSpPr>
          <p:cNvPr id="367661" name="组合 367660"/>
          <p:cNvGrpSpPr/>
          <p:nvPr/>
        </p:nvGrpSpPr>
        <p:grpSpPr>
          <a:xfrm>
            <a:off x="1116013" y="3129597"/>
            <a:ext cx="7150100" cy="558801"/>
            <a:chOff x="703" y="2115"/>
            <a:chExt cx="4504" cy="352"/>
          </a:xfrm>
        </p:grpSpPr>
        <p:sp>
          <p:nvSpPr>
            <p:cNvPr id="367655" name="矩形 367654"/>
            <p:cNvSpPr/>
            <p:nvPr/>
          </p:nvSpPr>
          <p:spPr>
            <a:xfrm>
              <a:off x="1973" y="2115"/>
              <a:ext cx="3234" cy="290"/>
            </a:xfrm>
            <a:prstGeom prst="rect">
              <a:avLst/>
            </a:prstGeom>
            <a:noFill/>
            <a:ln w="9525">
              <a:noFill/>
            </a:ln>
          </p:spPr>
          <p:txBody>
            <a:bodyPr wrap="square">
              <a:spAutoFit/>
            </a:bodyPr>
            <a:p>
              <a:pPr algn="l" eaLnBrk="0" hangingPunct="0"/>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a:t>
              </a:r>
              <a:r>
                <a:rPr lang="en-US" altLang="zh-CN" sz="2400" b="1" i="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M</a:t>
              </a:r>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状态数</a:t>
              </a:r>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 </a:t>
              </a:r>
              <a:r>
                <a:rPr lang="en-US" altLang="zh-CN" sz="2400" b="1" i="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n</a:t>
              </a:r>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触发器的个数）</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endParaRPr>
            </a:p>
          </p:txBody>
        </p:sp>
        <p:sp>
          <p:nvSpPr>
            <p:cNvPr id="367656" name="矩形 367655"/>
            <p:cNvSpPr/>
            <p:nvPr/>
          </p:nvSpPr>
          <p:spPr>
            <a:xfrm>
              <a:off x="935" y="2411"/>
              <a:ext cx="162" cy="56"/>
            </a:xfrm>
            <a:prstGeom prst="rect">
              <a:avLst/>
            </a:prstGeom>
            <a:solidFill>
              <a:schemeClr val="bg1"/>
            </a:solidFill>
            <a:ln w="9525" cap="flat" cmpd="sng">
              <a:solidFill>
                <a:schemeClr val="bg1"/>
              </a:solidFill>
              <a:prstDash val="solid"/>
              <a:miter/>
              <a:headEnd type="none" w="med" len="med"/>
              <a:tailEnd type="none" w="med" len="med"/>
            </a:ln>
          </p:spPr>
          <p:txBody>
            <a:bodyPr/>
            <a:p>
              <a:endParaRPr lang="zh-CN" altLang="en-US" sz="2400" b="1">
                <a:effectLst>
                  <a:outerShdw blurRad="38100" dist="38100" dir="2700000" algn="tl">
                    <a:srgbClr val="000000">
                      <a:alpha val="43137"/>
                    </a:srgbClr>
                  </a:outerShdw>
                </a:effectLst>
              </a:endParaRPr>
            </a:p>
          </p:txBody>
        </p:sp>
        <p:sp>
          <p:nvSpPr>
            <p:cNvPr id="367660" name="矩形 367659"/>
            <p:cNvSpPr/>
            <p:nvPr/>
          </p:nvSpPr>
          <p:spPr>
            <a:xfrm>
              <a:off x="703" y="2115"/>
              <a:ext cx="1321" cy="290"/>
            </a:xfrm>
            <a:prstGeom prst="rect">
              <a:avLst/>
            </a:prstGeom>
            <a:noFill/>
            <a:ln w="9525">
              <a:noFill/>
            </a:ln>
          </p:spPr>
          <p:txBody>
            <a:bodyPr anchor="ctr">
              <a:spAutoFit/>
            </a:bodyPr>
            <a:p>
              <a:pPr algn="l"/>
              <a:r>
                <a:rPr lang="en-US" altLang="zh-CN" sz="2400" b="1">
                  <a:solidFill>
                    <a:srgbClr val="FF0000"/>
                  </a:solidFill>
                  <a:effectLst>
                    <a:outerShdw blurRad="38100" dist="38100" dir="2700000" algn="tl">
                      <a:srgbClr val="000000">
                        <a:alpha val="43137"/>
                      </a:srgbClr>
                    </a:outerShdw>
                  </a:effectLst>
                  <a:latin typeface="Times New Roman" panose="02020603050405020304" charset="0"/>
                </a:rPr>
                <a:t>2</a:t>
              </a:r>
              <a:r>
                <a:rPr lang="en-US" altLang="zh-CN" sz="2400" b="1" i="1" baseline="30000">
                  <a:solidFill>
                    <a:srgbClr val="FF0000"/>
                  </a:solidFill>
                  <a:effectLst>
                    <a:outerShdw blurRad="38100" dist="38100" dir="2700000" algn="tl">
                      <a:srgbClr val="000000">
                        <a:alpha val="43137"/>
                      </a:srgbClr>
                    </a:outerShdw>
                  </a:effectLst>
                  <a:latin typeface="Times New Roman" panose="02020603050405020304" charset="0"/>
                </a:rPr>
                <a:t>n</a:t>
              </a:r>
              <a:r>
                <a:rPr lang="en-US" altLang="zh-CN" sz="2400" b="1" baseline="30000">
                  <a:solidFill>
                    <a:srgbClr val="FF0000"/>
                  </a:solidFill>
                  <a:effectLst>
                    <a:outerShdw blurRad="38100" dist="38100" dir="2700000" algn="tl">
                      <a:srgbClr val="000000">
                        <a:alpha val="43137"/>
                      </a:srgbClr>
                    </a:outerShdw>
                  </a:effectLst>
                  <a:latin typeface="Times New Roman" panose="02020603050405020304" charset="0"/>
                </a:rPr>
                <a:t>-1</a:t>
              </a:r>
              <a:r>
                <a:rPr lang="en-US" altLang="zh-CN" sz="2400" b="1">
                  <a:solidFill>
                    <a:srgbClr val="FF0000"/>
                  </a:solidFill>
                  <a:effectLst>
                    <a:outerShdw blurRad="38100" dist="38100" dir="2700000" algn="tl">
                      <a:srgbClr val="000000">
                        <a:alpha val="43137"/>
                      </a:srgbClr>
                    </a:outerShdw>
                  </a:effectLst>
                  <a:latin typeface="Times New Roman" panose="02020603050405020304" charset="0"/>
                </a:rPr>
                <a:t>&lt;</a:t>
              </a:r>
              <a:r>
                <a:rPr lang="en-US" altLang="zh-CN" sz="2400" b="1" i="1">
                  <a:solidFill>
                    <a:srgbClr val="FF0000"/>
                  </a:solidFill>
                  <a:effectLst>
                    <a:outerShdw blurRad="38100" dist="38100" dir="2700000" algn="tl">
                      <a:srgbClr val="000000">
                        <a:alpha val="43137"/>
                      </a:srgbClr>
                    </a:outerShdw>
                  </a:effectLst>
                  <a:latin typeface="Times New Roman" panose="02020603050405020304" charset="0"/>
                </a:rPr>
                <a:t>M</a:t>
              </a:r>
              <a:r>
                <a:rPr lang="en-US" altLang="zh-CN" sz="2400" b="1">
                  <a:solidFill>
                    <a:srgbClr val="FF0000"/>
                  </a:solidFill>
                  <a:effectLst>
                    <a:outerShdw blurRad="38100" dist="38100" dir="2700000" algn="tl">
                      <a:srgbClr val="000000">
                        <a:alpha val="43137"/>
                      </a:srgbClr>
                    </a:outerShdw>
                  </a:effectLst>
                  <a:latin typeface="Times New Roman" panose="02020603050405020304" charset="0"/>
                </a:rPr>
                <a:t>≤2</a:t>
              </a:r>
              <a:r>
                <a:rPr lang="en-US" altLang="zh-CN" sz="2400" b="1" i="1" baseline="30000">
                  <a:solidFill>
                    <a:srgbClr val="FF0000"/>
                  </a:solidFill>
                  <a:effectLst>
                    <a:outerShdw blurRad="38100" dist="38100" dir="2700000" algn="tl">
                      <a:srgbClr val="000000">
                        <a:alpha val="43137"/>
                      </a:srgbClr>
                    </a:outerShdw>
                  </a:effectLst>
                  <a:latin typeface="Times New Roman" panose="02020603050405020304" charset="0"/>
                </a:rPr>
                <a:t>n</a:t>
              </a:r>
              <a:r>
                <a:rPr lang="en-US" altLang="zh-CN" sz="2400" b="1" baseline="30000">
                  <a:effectLst>
                    <a:outerShdw blurRad="38100" dist="38100" dir="2700000" algn="tl">
                      <a:srgbClr val="000000">
                        <a:alpha val="43137"/>
                      </a:srgbClr>
                    </a:outerShdw>
                  </a:effectLst>
                  <a:latin typeface="Times New Roman" panose="02020603050405020304" charset="0"/>
                </a:rPr>
                <a:t> </a:t>
              </a:r>
              <a:endParaRPr lang="en-US" altLang="zh-CN" sz="2400" b="1" baseline="30000">
                <a:effectLst>
                  <a:outerShdw blurRad="38100" dist="38100" dir="2700000" algn="tl">
                    <a:srgbClr val="000000">
                      <a:alpha val="43137"/>
                    </a:srgbClr>
                  </a:outerShdw>
                </a:effectLst>
                <a:latin typeface="Times New Roman" panose="02020603050405020304" charset="0"/>
              </a:endParaRPr>
            </a:p>
          </p:txBody>
        </p:sp>
      </p:grpSp>
      <p:sp>
        <p:nvSpPr>
          <p:cNvPr id="2" name="矩形 1"/>
          <p:cNvSpPr/>
          <p:nvPr/>
        </p:nvSpPr>
        <p:spPr>
          <a:xfrm>
            <a:off x="875030" y="4894898"/>
            <a:ext cx="6732588" cy="460375"/>
          </a:xfrm>
          <a:prstGeom prst="rect">
            <a:avLst/>
          </a:prstGeom>
          <a:noFill/>
          <a:ln w="9525">
            <a:noFill/>
          </a:ln>
        </p:spPr>
        <p:txBody>
          <a:bodyPr>
            <a:spAutoFit/>
          </a:bodyPr>
          <a:p>
            <a:pPr algn="l" eaLnBrk="0" hangingPunct="0"/>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(6)</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求状态方程和</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sym typeface="+mn-ea"/>
              </a:rPr>
              <a:t>激励方程</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rPr>
              <a:t> ；</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67657"/>
                                        </p:tgtEl>
                                        <p:attrNameLst>
                                          <p:attrName>style.visibility</p:attrName>
                                        </p:attrNameLst>
                                      </p:cBhvr>
                                      <p:to>
                                        <p:strVal val="visible"/>
                                      </p:to>
                                    </p:set>
                                    <p:animEffect transition="in" filter="strips(downRight)">
                                      <p:cBhvr>
                                        <p:cTn id="7" dur="500"/>
                                        <p:tgtEl>
                                          <p:spTgt spid="36765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67658"/>
                                        </p:tgtEl>
                                        <p:attrNameLst>
                                          <p:attrName>style.visibility</p:attrName>
                                        </p:attrNameLst>
                                      </p:cBhvr>
                                      <p:to>
                                        <p:strVal val="visible"/>
                                      </p:to>
                                    </p:set>
                                    <p:animEffect transition="in" filter="strips(downRight)">
                                      <p:cBhvr>
                                        <p:cTn id="12" dur="500"/>
                                        <p:tgtEl>
                                          <p:spTgt spid="36765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367661"/>
                                        </p:tgtEl>
                                        <p:attrNameLst>
                                          <p:attrName>style.visibility</p:attrName>
                                        </p:attrNameLst>
                                      </p:cBhvr>
                                      <p:to>
                                        <p:strVal val="visible"/>
                                      </p:to>
                                    </p:set>
                                    <p:animEffect transition="in" filter="strips(downRight)">
                                      <p:cBhvr>
                                        <p:cTn id="17" dur="500"/>
                                        <p:tgtEl>
                                          <p:spTgt spid="367661"/>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367651"/>
                                        </p:tgtEl>
                                        <p:attrNameLst>
                                          <p:attrName>style.visibility</p:attrName>
                                        </p:attrNameLst>
                                      </p:cBhvr>
                                      <p:to>
                                        <p:strVal val="visible"/>
                                      </p:to>
                                    </p:set>
                                    <p:animEffect transition="in" filter="strips(downRight)">
                                      <p:cBhvr>
                                        <p:cTn id="22" dur="500"/>
                                        <p:tgtEl>
                                          <p:spTgt spid="367651"/>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367659"/>
                                        </p:tgtEl>
                                        <p:attrNameLst>
                                          <p:attrName>style.visibility</p:attrName>
                                        </p:attrNameLst>
                                      </p:cBhvr>
                                      <p:to>
                                        <p:strVal val="visible"/>
                                      </p:to>
                                    </p:set>
                                    <p:animEffect transition="in" filter="strips(downRight)">
                                      <p:cBhvr>
                                        <p:cTn id="27" dur="500"/>
                                        <p:tgtEl>
                                          <p:spTgt spid="367659"/>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367652"/>
                                        </p:tgtEl>
                                        <p:attrNameLst>
                                          <p:attrName>style.visibility</p:attrName>
                                        </p:attrNameLst>
                                      </p:cBhvr>
                                      <p:to>
                                        <p:strVal val="visible"/>
                                      </p:to>
                                    </p:set>
                                    <p:animEffect transition="in" filter="strips(downRight)">
                                      <p:cBhvr>
                                        <p:cTn id="32" dur="500"/>
                                        <p:tgtEl>
                                          <p:spTgt spid="367652"/>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Right)">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51" grpId="0"/>
      <p:bldP spid="367652" grpId="0"/>
      <p:bldP spid="367657" grpId="0"/>
      <p:bldP spid="367658" grpId="0"/>
      <p:bldP spid="367659" grpId="0"/>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6.3 </a:t>
            </a:r>
            <a:r>
              <a:rPr lang="zh-CN" altLang="en-US" b="1" dirty="0">
                <a:solidFill>
                  <a:srgbClr val="FF0000"/>
                </a:solidFill>
                <a:latin typeface="黑体" panose="02010609060101010101" pitchFamily="49" charset="-122"/>
                <a:ea typeface="黑体" panose="02010609060101010101" pitchFamily="49" charset="-122"/>
                <a:sym typeface="+mn-ea"/>
              </a:rPr>
              <a:t>同步</a:t>
            </a:r>
            <a:r>
              <a:rPr lang="en-US" altLang="zh-CN" b="1" dirty="0">
                <a:solidFill>
                  <a:srgbClr val="FF0000"/>
                </a:solidFill>
                <a:latin typeface="黑体" panose="02010609060101010101" pitchFamily="49" charset="-122"/>
                <a:ea typeface="黑体" panose="02010609060101010101" pitchFamily="49" charset="-122"/>
                <a:sym typeface="+mn-ea"/>
              </a:rPr>
              <a:t>时序逻辑电路的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762000" y="989965"/>
            <a:ext cx="6847205" cy="868045"/>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6</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3</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2</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同步时序逻辑电路设计举例</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100" name="文本框 99"/>
          <p:cNvSpPr txBox="1"/>
          <p:nvPr/>
        </p:nvSpPr>
        <p:spPr>
          <a:xfrm>
            <a:off x="260985" y="1601470"/>
            <a:ext cx="8216900"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【例</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6-</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4</a:t>
            </a:r>
            <a:r>
              <a:rPr lang="zh-CN" sz="2400" b="1">
                <a:gradFill>
                  <a:gsLst>
                    <a:gs pos="0">
                      <a:srgbClr val="012D86"/>
                    </a:gs>
                    <a:gs pos="100000">
                      <a:srgbClr val="0E2557"/>
                    </a:gs>
                  </a:gsLst>
                  <a:lin scaled="0"/>
                </a:gradFill>
                <a:ea typeface="宋体" panose="02010600030101010101" pitchFamily="2" charset="-122"/>
              </a:rPr>
              <a:t>】</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zh-CN" sz="2400" b="1">
                <a:gradFill>
                  <a:gsLst>
                    <a:gs pos="0">
                      <a:srgbClr val="012D86"/>
                    </a:gs>
                    <a:gs pos="100000">
                      <a:srgbClr val="0E2557"/>
                    </a:gs>
                  </a:gsLst>
                  <a:lin scaled="0"/>
                </a:gradFill>
                <a:ea typeface="宋体" panose="02010600030101010101" pitchFamily="2" charset="-122"/>
              </a:rPr>
              <a:t>试设计一个同步五进制加法计数器。</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2" name="文本框 1"/>
          <p:cNvSpPr txBox="1"/>
          <p:nvPr/>
        </p:nvSpPr>
        <p:spPr>
          <a:xfrm>
            <a:off x="329565" y="1985645"/>
            <a:ext cx="8721090" cy="460375"/>
          </a:xfrm>
          <a:prstGeom prst="rect">
            <a:avLst/>
          </a:prstGeom>
          <a:noFill/>
          <a:ln w="9525">
            <a:noFill/>
          </a:ln>
        </p:spPr>
        <p:txBody>
          <a:bodyPr wrap="square">
            <a:spAutoFit/>
          </a:bodyPr>
          <a:p>
            <a:r>
              <a:rPr lang="zh-CN" sz="2400" b="1">
                <a:solidFill>
                  <a:schemeClr val="accent6">
                    <a:lumMod val="60000"/>
                    <a:lumOff val="40000"/>
                  </a:schemeClr>
                </a:solidFill>
                <a:ea typeface="宋体" panose="02010600030101010101" pitchFamily="2" charset="-122"/>
              </a:rPr>
              <a:t>解：</a:t>
            </a:r>
            <a:r>
              <a:rPr lang="en-US" sz="2400" b="1">
                <a:solidFill>
                  <a:schemeClr val="tx1"/>
                </a:solidFill>
                <a:latin typeface="Times New Roman" panose="02020603050405020304" charset="0"/>
                <a:ea typeface="宋体" panose="02010600030101010101" pitchFamily="2" charset="-122"/>
              </a:rPr>
              <a:t>(1) </a:t>
            </a:r>
            <a:r>
              <a:rPr lang="zh-CN" sz="2400" b="1">
                <a:solidFill>
                  <a:schemeClr val="tx1"/>
                </a:solidFill>
                <a:ea typeface="宋体" panose="02010600030101010101" pitchFamily="2" charset="-122"/>
              </a:rPr>
              <a:t>逻辑抽象，根据设计要求，设定状态，画出原始状态图</a:t>
            </a:r>
            <a:endParaRPr lang="zh-CN" altLang="en-US" sz="2400" b="1">
              <a:solidFill>
                <a:schemeClr val="tx1"/>
              </a:solidFill>
              <a:ea typeface="宋体" panose="02010600030101010101" pitchFamily="2" charset="-122"/>
            </a:endParaRPr>
          </a:p>
        </p:txBody>
      </p:sp>
      <p:sp>
        <p:nvSpPr>
          <p:cNvPr id="3" name="文本框 2"/>
          <p:cNvSpPr txBox="1"/>
          <p:nvPr/>
        </p:nvSpPr>
        <p:spPr>
          <a:xfrm>
            <a:off x="440055" y="2447925"/>
            <a:ext cx="8499475" cy="829945"/>
          </a:xfrm>
          <a:prstGeom prst="rect">
            <a:avLst/>
          </a:prstGeom>
          <a:noFill/>
          <a:ln w="9525">
            <a:noFill/>
          </a:ln>
        </p:spPr>
        <p:txBody>
          <a:bodyPr wrap="square">
            <a:spAutoFit/>
          </a:bodyPr>
          <a:p>
            <a:pPr>
              <a:lnSpc>
                <a:spcPct val="100000"/>
              </a:lnSpc>
            </a:pPr>
            <a:r>
              <a:rPr lang="en-US" altLang="zh-CN" sz="2400" b="1">
                <a:gradFill>
                  <a:gsLst>
                    <a:gs pos="0">
                      <a:srgbClr val="012D86"/>
                    </a:gs>
                    <a:gs pos="100000">
                      <a:srgbClr val="0E2557"/>
                    </a:gs>
                  </a:gsLst>
                  <a:lin scaled="0"/>
                </a:gradFill>
                <a:ea typeface="宋体" panose="02010600030101010101" pitchFamily="2" charset="-122"/>
              </a:rPr>
              <a:t>       </a:t>
            </a:r>
            <a:r>
              <a:rPr lang="zh-CN" sz="2400" b="1">
                <a:gradFill>
                  <a:gsLst>
                    <a:gs pos="0">
                      <a:srgbClr val="012D86"/>
                    </a:gs>
                    <a:gs pos="100000">
                      <a:srgbClr val="0E2557"/>
                    </a:gs>
                  </a:gsLst>
                  <a:lin scaled="0"/>
                </a:gradFill>
                <a:ea typeface="宋体" panose="02010600030101010101" pitchFamily="2" charset="-122"/>
              </a:rPr>
              <a:t>该电路是对时钟信号进行计数，没有输入变量；取进位信号</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Z</a:t>
            </a:r>
            <a:r>
              <a:rPr lang="zh-CN" sz="2400" b="1">
                <a:gradFill>
                  <a:gsLst>
                    <a:gs pos="0">
                      <a:srgbClr val="012D86"/>
                    </a:gs>
                    <a:gs pos="100000">
                      <a:srgbClr val="0E2557"/>
                    </a:gs>
                  </a:gsLst>
                  <a:lin scaled="0"/>
                </a:gradFill>
                <a:ea typeface="宋体" panose="02010600030101010101" pitchFamily="2" charset="-122"/>
              </a:rPr>
              <a:t>作为输出变量。</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5" name="文本框 4"/>
          <p:cNvSpPr txBox="1"/>
          <p:nvPr/>
        </p:nvSpPr>
        <p:spPr>
          <a:xfrm>
            <a:off x="440055" y="3201670"/>
            <a:ext cx="8499475" cy="1198880"/>
          </a:xfrm>
          <a:prstGeom prst="rect">
            <a:avLst/>
          </a:prstGeom>
          <a:noFill/>
        </p:spPr>
        <p:txBody>
          <a:bodyPr wrap="square" rtlCol="0" anchor="t">
            <a:spAutoFit/>
          </a:bodyPr>
          <a:p>
            <a:pPr>
              <a:lnSpc>
                <a:spcPct val="100000"/>
              </a:lnSpc>
            </a:pPr>
            <a:r>
              <a:rPr lang="en-US" altLang="zh-CN" sz="2400" b="1">
                <a:gradFill>
                  <a:gsLst>
                    <a:gs pos="0">
                      <a:srgbClr val="012D86"/>
                    </a:gs>
                    <a:gs pos="100000">
                      <a:srgbClr val="0E2557"/>
                    </a:gs>
                  </a:gsLst>
                  <a:lin scaled="0"/>
                </a:gradFill>
              </a:rPr>
              <a:t>      </a:t>
            </a:r>
            <a:r>
              <a:rPr lang="zh-CN" altLang="en-US" sz="2400" b="1">
                <a:gradFill>
                  <a:gsLst>
                    <a:gs pos="0">
                      <a:srgbClr val="012D86"/>
                    </a:gs>
                    <a:gs pos="100000">
                      <a:srgbClr val="0E2557"/>
                    </a:gs>
                  </a:gsLst>
                  <a:lin scaled="0"/>
                </a:gradFill>
              </a:rPr>
              <a:t>五进制加法计数 应有</a:t>
            </a:r>
            <a:r>
              <a:rPr lang="en-US" altLang="zh-CN" sz="2400" b="1">
                <a:gradFill>
                  <a:gsLst>
                    <a:gs pos="0">
                      <a:srgbClr val="012D86"/>
                    </a:gs>
                    <a:gs pos="100000">
                      <a:srgbClr val="0E2557"/>
                    </a:gs>
                  </a:gsLst>
                  <a:lin scaled="0"/>
                </a:gradFill>
              </a:rPr>
              <a:t>5</a:t>
            </a:r>
            <a:r>
              <a:rPr lang="zh-CN" altLang="en-US" sz="2400" b="1">
                <a:gradFill>
                  <a:gsLst>
                    <a:gs pos="0">
                      <a:srgbClr val="012D86"/>
                    </a:gs>
                    <a:gs pos="100000">
                      <a:srgbClr val="0E2557"/>
                    </a:gs>
                  </a:gsLst>
                  <a:lin scaled="0"/>
                </a:gradFill>
              </a:rPr>
              <a:t>个状态，用</a:t>
            </a:r>
            <a:r>
              <a:rPr lang="zh-CN" altLang="en-US" sz="2400" b="1" i="1">
                <a:gradFill>
                  <a:gsLst>
                    <a:gs pos="0">
                      <a:srgbClr val="012D86"/>
                    </a:gs>
                    <a:gs pos="100000">
                      <a:srgbClr val="0E2557"/>
                    </a:gs>
                  </a:gsLst>
                  <a:lin scaled="0"/>
                </a:gradFill>
              </a:rPr>
              <a:t>Ｓ</a:t>
            </a:r>
            <a:r>
              <a:rPr lang="en-US" altLang="zh-CN" sz="2400" b="1" baseline="-25000">
                <a:gradFill>
                  <a:gsLst>
                    <a:gs pos="0">
                      <a:srgbClr val="012D86"/>
                    </a:gs>
                    <a:gs pos="100000">
                      <a:srgbClr val="0E2557"/>
                    </a:gs>
                  </a:gsLst>
                  <a:lin scaled="0"/>
                </a:gradFill>
              </a:rPr>
              <a:t>0</a:t>
            </a:r>
            <a:r>
              <a:rPr lang="zh-CN" altLang="en-US" sz="2400" b="1">
                <a:gradFill>
                  <a:gsLst>
                    <a:gs pos="0">
                      <a:srgbClr val="012D86"/>
                    </a:gs>
                    <a:gs pos="100000">
                      <a:srgbClr val="0E2557"/>
                    </a:gs>
                  </a:gsLst>
                  <a:lin scaled="0"/>
                </a:gradFill>
              </a:rPr>
              <a:t> </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a:t>
            </a:r>
            <a:r>
              <a:rPr lang="zh-CN" altLang="en-US" sz="2400" b="1" i="1">
                <a:gradFill>
                  <a:gsLst>
                    <a:gs pos="0">
                      <a:srgbClr val="012D86"/>
                    </a:gs>
                    <a:gs pos="100000">
                      <a:srgbClr val="0E2557"/>
                    </a:gs>
                  </a:gsLst>
                  <a:lin scaled="0"/>
                </a:gradFill>
              </a:rPr>
              <a:t>Ｓ</a:t>
            </a:r>
            <a:r>
              <a:rPr lang="en-US" altLang="zh-CN" sz="2400" b="1" baseline="-25000">
                <a:gradFill>
                  <a:gsLst>
                    <a:gs pos="0">
                      <a:srgbClr val="012D86"/>
                    </a:gs>
                    <a:gs pos="100000">
                      <a:srgbClr val="0E2557"/>
                    </a:gs>
                  </a:gsLst>
                  <a:lin scaled="0"/>
                </a:gradFill>
              </a:rPr>
              <a:t>4</a:t>
            </a:r>
            <a:r>
              <a:rPr lang="zh-CN" altLang="en-US" sz="2400" b="1">
                <a:gradFill>
                  <a:gsLst>
                    <a:gs pos="0">
                      <a:srgbClr val="012D86"/>
                    </a:gs>
                    <a:gs pos="100000">
                      <a:srgbClr val="0E2557"/>
                    </a:gs>
                  </a:gsLst>
                  <a:lin scaled="0"/>
                </a:gradFill>
              </a:rPr>
              <a:t>分别记忆０</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a:t>
            </a:r>
            <a:r>
              <a:rPr lang="zh-CN" altLang="en-US" sz="2400" b="1">
                <a:gradFill>
                  <a:gsLst>
                    <a:gs pos="0">
                      <a:srgbClr val="012D86"/>
                    </a:gs>
                    <a:gs pos="100000">
                      <a:srgbClr val="0E2557"/>
                    </a:gs>
                  </a:gsLst>
                  <a:lin scaled="0"/>
                </a:gradFill>
              </a:rPr>
              <a:t>４这５个状态，在</a:t>
            </a:r>
            <a:r>
              <a:rPr lang="zh-CN" altLang="en-US" sz="2400" b="1" i="1">
                <a:gradFill>
                  <a:gsLst>
                    <a:gs pos="0">
                      <a:srgbClr val="012D86"/>
                    </a:gs>
                    <a:gs pos="100000">
                      <a:srgbClr val="0E2557"/>
                    </a:gs>
                  </a:gsLst>
                  <a:lin scaled="0"/>
                </a:gradFill>
              </a:rPr>
              <a:t>Ｓ</a:t>
            </a:r>
            <a:r>
              <a:rPr lang="en-US" altLang="zh-CN" sz="2400" b="1" baseline="-25000">
                <a:gradFill>
                  <a:gsLst>
                    <a:gs pos="0">
                      <a:srgbClr val="012D86"/>
                    </a:gs>
                    <a:gs pos="100000">
                      <a:srgbClr val="0E2557"/>
                    </a:gs>
                  </a:gsLst>
                  <a:lin scaled="0"/>
                </a:gradFill>
              </a:rPr>
              <a:t>4</a:t>
            </a:r>
            <a:r>
              <a:rPr lang="zh-CN" altLang="en-US" sz="2400" b="1">
                <a:gradFill>
                  <a:gsLst>
                    <a:gs pos="0">
                      <a:srgbClr val="012D86"/>
                    </a:gs>
                    <a:gs pos="100000">
                      <a:srgbClr val="0E2557"/>
                    </a:gs>
                  </a:gsLst>
                  <a:lin scaled="0"/>
                </a:gradFill>
              </a:rPr>
              <a:t>时再来一个时钟脉冲就会回到初始状态</a:t>
            </a:r>
            <a:r>
              <a:rPr lang="zh-CN" altLang="en-US" sz="2400" b="1" i="1">
                <a:gradFill>
                  <a:gsLst>
                    <a:gs pos="0">
                      <a:srgbClr val="012D86"/>
                    </a:gs>
                    <a:gs pos="100000">
                      <a:srgbClr val="0E2557"/>
                    </a:gs>
                  </a:gsLst>
                  <a:lin scaled="0"/>
                </a:gradFill>
              </a:rPr>
              <a:t>Ｓ</a:t>
            </a:r>
            <a:r>
              <a:rPr lang="en-US" altLang="zh-CN" sz="2400" b="1" baseline="-25000">
                <a:gradFill>
                  <a:gsLst>
                    <a:gs pos="0">
                      <a:srgbClr val="012D86"/>
                    </a:gs>
                    <a:gs pos="100000">
                      <a:srgbClr val="0E2557"/>
                    </a:gs>
                  </a:gsLst>
                  <a:lin scaled="0"/>
                </a:gradFill>
              </a:rPr>
              <a:t>0</a:t>
            </a:r>
            <a:r>
              <a:rPr lang="zh-CN" altLang="en-US" sz="2400" b="1">
                <a:gradFill>
                  <a:gsLst>
                    <a:gs pos="0">
                      <a:srgbClr val="012D86"/>
                    </a:gs>
                    <a:gs pos="100000">
                      <a:srgbClr val="0E2557"/>
                    </a:gs>
                  </a:gsLst>
                  <a:lin scaled="0"/>
                </a:gradFill>
              </a:rPr>
              <a:t> ，完成一次循环，此时输出</a:t>
            </a:r>
            <a:r>
              <a:rPr lang="zh-CN" altLang="en-US" sz="2400" b="1" i="1">
                <a:gradFill>
                  <a:gsLst>
                    <a:gs pos="0">
                      <a:srgbClr val="012D86"/>
                    </a:gs>
                    <a:gs pos="100000">
                      <a:srgbClr val="0E2557"/>
                    </a:gs>
                  </a:gsLst>
                  <a:lin scaled="0"/>
                </a:gradFill>
              </a:rPr>
              <a:t>Ｚ</a:t>
            </a:r>
            <a:r>
              <a:rPr lang="zh-CN" altLang="en-US" sz="2400" b="1">
                <a:gradFill>
                  <a:gsLst>
                    <a:gs pos="0">
                      <a:srgbClr val="012D86"/>
                    </a:gs>
                    <a:gs pos="100000">
                      <a:srgbClr val="0E2557"/>
                    </a:gs>
                  </a:gsLst>
                  <a:lin scaled="0"/>
                </a:gradFill>
              </a:rPr>
              <a:t>为</a:t>
            </a:r>
            <a:r>
              <a:rPr lang="en-US" altLang="zh-CN" sz="2400" b="1">
                <a:gradFill>
                  <a:gsLst>
                    <a:gs pos="0">
                      <a:srgbClr val="012D86"/>
                    </a:gs>
                    <a:gs pos="100000">
                      <a:srgbClr val="0E2557"/>
                    </a:gs>
                  </a:gsLst>
                  <a:lin scaled="0"/>
                </a:gradFill>
              </a:rPr>
              <a:t>1</a:t>
            </a:r>
            <a:r>
              <a:rPr lang="zh-CN" altLang="en-US" sz="2400" b="1">
                <a:gradFill>
                  <a:gsLst>
                    <a:gs pos="0">
                      <a:srgbClr val="012D86"/>
                    </a:gs>
                    <a:gs pos="100000">
                      <a:srgbClr val="0E2557"/>
                    </a:gs>
                  </a:gsLst>
                  <a:lin scaled="0"/>
                </a:gradFill>
              </a:rPr>
              <a:t>，其他情况输出</a:t>
            </a:r>
            <a:r>
              <a:rPr lang="zh-CN" altLang="en-US" sz="2400" b="1" i="1">
                <a:gradFill>
                  <a:gsLst>
                    <a:gs pos="0">
                      <a:srgbClr val="012D86"/>
                    </a:gs>
                    <a:gs pos="100000">
                      <a:srgbClr val="0E2557"/>
                    </a:gs>
                  </a:gsLst>
                  <a:lin scaled="0"/>
                </a:gradFill>
              </a:rPr>
              <a:t>Ｚ</a:t>
            </a:r>
            <a:r>
              <a:rPr lang="zh-CN" altLang="en-US" sz="2400" b="1">
                <a:gradFill>
                  <a:gsLst>
                    <a:gs pos="0">
                      <a:srgbClr val="012D86"/>
                    </a:gs>
                    <a:gs pos="100000">
                      <a:srgbClr val="0E2557"/>
                    </a:gs>
                  </a:gsLst>
                  <a:lin scaled="0"/>
                </a:gradFill>
              </a:rPr>
              <a:t>为０。</a:t>
            </a:r>
            <a:endParaRPr lang="zh-CN" altLang="en-US" sz="2400" b="1">
              <a:gradFill>
                <a:gsLst>
                  <a:gs pos="0">
                    <a:srgbClr val="012D86"/>
                  </a:gs>
                  <a:gs pos="100000">
                    <a:srgbClr val="0E2557"/>
                  </a:gs>
                </a:gsLst>
                <a:lin scaled="0"/>
              </a:gradFill>
            </a:endParaRPr>
          </a:p>
        </p:txBody>
      </p:sp>
      <p:pic>
        <p:nvPicPr>
          <p:cNvPr id="9377" name="图片 2814"/>
          <p:cNvPicPr>
            <a:picLocks noChangeAspect="1"/>
          </p:cNvPicPr>
          <p:nvPr/>
        </p:nvPicPr>
        <p:blipFill>
          <a:blip r:embed="rId1"/>
          <a:stretch>
            <a:fillRect/>
          </a:stretch>
        </p:blipFill>
        <p:spPr>
          <a:xfrm>
            <a:off x="4558030" y="4297680"/>
            <a:ext cx="3195320" cy="2037715"/>
          </a:xfrm>
          <a:prstGeom prst="rect">
            <a:avLst/>
          </a:prstGeom>
          <a:noFill/>
          <a:ln>
            <a:noFill/>
          </a:ln>
        </p:spPr>
      </p:pic>
      <p:sp>
        <p:nvSpPr>
          <p:cNvPr id="9" name="矩形 8"/>
          <p:cNvSpPr/>
          <p:nvPr/>
        </p:nvSpPr>
        <p:spPr>
          <a:xfrm>
            <a:off x="505460" y="5055870"/>
            <a:ext cx="3440430" cy="521970"/>
          </a:xfrm>
          <a:prstGeom prst="rect">
            <a:avLst/>
          </a:prstGeom>
          <a:noFill/>
          <a:ln w="9525">
            <a:noFill/>
          </a:ln>
        </p:spPr>
        <p:txBody>
          <a:bodyPr lIns="92075" tIns="46038" rIns="92075" bIns="46038">
            <a:scene3d>
              <a:camera prst="orthographicFront"/>
              <a:lightRig rig="threePt" dir="t"/>
            </a:scene3d>
          </a:bodyPr>
          <a:p>
            <a:pPr marL="342900" indent="-342900">
              <a:spcBef>
                <a:spcPct val="20000"/>
              </a:spcBef>
            </a:pPr>
            <a:r>
              <a:rPr lang="zh-CN" altLang="en-US" sz="2400" dirty="0">
                <a:gradFill>
                  <a:gsLst>
                    <a:gs pos="0">
                      <a:srgbClr val="012D86"/>
                    </a:gs>
                    <a:gs pos="100000">
                      <a:srgbClr val="0E2557"/>
                    </a:gs>
                  </a:gsLst>
                  <a:lin scaled="0"/>
                </a:gradFill>
                <a:effectLst>
                  <a:outerShdw blurRad="38100" dist="19050" dir="2700000" algn="tl" rotWithShape="0">
                    <a:schemeClr val="dk1">
                      <a:alpha val="40000"/>
                    </a:schemeClr>
                  </a:outerShdw>
                </a:effectLst>
                <a:latin typeface="宋体" panose="02010600030101010101" pitchFamily="2" charset="-122"/>
              </a:rPr>
              <a:t>该状态图无须化简</a:t>
            </a:r>
            <a:endParaRPr lang="zh-CN" altLang="en-US" sz="2400" dirty="0">
              <a:gradFill>
                <a:gsLst>
                  <a:gs pos="0">
                    <a:srgbClr val="012D86"/>
                  </a:gs>
                  <a:gs pos="100000">
                    <a:srgbClr val="0E2557"/>
                  </a:gs>
                </a:gsLst>
                <a:lin scaled="0"/>
              </a:gradFill>
              <a:effectLst>
                <a:outerShdw blurRad="38100" dist="19050" dir="2700000" algn="tl" rotWithShape="0">
                  <a:schemeClr val="dk1">
                    <a:alpha val="40000"/>
                  </a:schemeClr>
                </a:outerShdw>
              </a:effectLst>
              <a:latin typeface="宋体" panose="02010600030101010101" pitchFamily="2" charset="-122"/>
            </a:endParaRPr>
          </a:p>
        </p:txBody>
      </p:sp>
      <p:sp>
        <p:nvSpPr>
          <p:cNvPr id="11" name="文本框 10"/>
          <p:cNvSpPr txBox="1"/>
          <p:nvPr/>
        </p:nvSpPr>
        <p:spPr>
          <a:xfrm>
            <a:off x="551815" y="4507865"/>
            <a:ext cx="3347085" cy="460375"/>
          </a:xfrm>
          <a:prstGeom prst="rect">
            <a:avLst/>
          </a:prstGeom>
          <a:noFill/>
        </p:spPr>
        <p:txBody>
          <a:bodyPr wrap="square" rtlCol="0" anchor="t">
            <a:spAutoFit/>
          </a:bodyPr>
          <a:p>
            <a:r>
              <a:rPr lang="zh-CN" altLang="en-US" sz="2400" b="1">
                <a:gradFill>
                  <a:gsLst>
                    <a:gs pos="0">
                      <a:srgbClr val="012D86"/>
                    </a:gs>
                    <a:gs pos="100000">
                      <a:srgbClr val="0E2557"/>
                    </a:gs>
                  </a:gsLst>
                  <a:lin scaled="0"/>
                </a:gradFill>
              </a:rPr>
              <a:t>画出原始状态转换图</a:t>
            </a:r>
            <a:endParaRPr lang="zh-CN" altLang="en-US" sz="2400" b="1">
              <a:gradFill>
                <a:gsLst>
                  <a:gs pos="0">
                    <a:srgbClr val="012D86"/>
                  </a:gs>
                  <a:gs pos="100000">
                    <a:srgbClr val="0E2557"/>
                  </a:gs>
                </a:gsLst>
                <a:lin scaled="0"/>
              </a:gra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37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9" grpId="0"/>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6.3 </a:t>
            </a:r>
            <a:r>
              <a:rPr lang="zh-CN" altLang="en-US" b="1" dirty="0">
                <a:solidFill>
                  <a:srgbClr val="FF0000"/>
                </a:solidFill>
                <a:latin typeface="黑体" panose="02010609060101010101" pitchFamily="49" charset="-122"/>
                <a:ea typeface="黑体" panose="02010609060101010101" pitchFamily="49" charset="-122"/>
                <a:sym typeface="+mn-ea"/>
              </a:rPr>
              <a:t>同步</a:t>
            </a:r>
            <a:r>
              <a:rPr lang="en-US" altLang="zh-CN" b="1" dirty="0">
                <a:solidFill>
                  <a:srgbClr val="FF0000"/>
                </a:solidFill>
                <a:latin typeface="黑体" panose="02010609060101010101" pitchFamily="49" charset="-122"/>
                <a:ea typeface="黑体" panose="02010609060101010101" pitchFamily="49" charset="-122"/>
                <a:sym typeface="+mn-ea"/>
              </a:rPr>
              <a:t>时序逻辑电路的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0" name="文本框 99"/>
          <p:cNvSpPr txBox="1"/>
          <p:nvPr/>
        </p:nvSpPr>
        <p:spPr>
          <a:xfrm>
            <a:off x="940435" y="1171575"/>
            <a:ext cx="5080000" cy="460375"/>
          </a:xfrm>
          <a:prstGeom prst="rect">
            <a:avLst/>
          </a:prstGeom>
          <a:noFill/>
          <a:ln w="9525">
            <a:noFill/>
          </a:ln>
        </p:spPr>
        <p:txBody>
          <a:bodyPr>
            <a:spAutoFit/>
          </a:bodyPr>
          <a:p>
            <a:r>
              <a:rPr lang="en-US" sz="2400" b="1">
                <a:latin typeface="Times New Roman" panose="02020603050405020304" charset="0"/>
                <a:sym typeface="+mn-ea"/>
              </a:rPr>
              <a:t>(2)</a:t>
            </a:r>
            <a:r>
              <a:rPr lang="zh-CN" sz="2400" b="1">
                <a:ea typeface="宋体" panose="02010600030101010101" pitchFamily="2" charset="-122"/>
              </a:rPr>
              <a:t>状态分配和</a:t>
            </a:r>
            <a:r>
              <a:rPr lang="zh-CN" sz="2400" b="1">
                <a:latin typeface="Times New Roman" panose="02020603050405020304" charset="0"/>
                <a:ea typeface="宋体" panose="02010600030101010101" pitchFamily="2" charset="-122"/>
              </a:rPr>
              <a:t>列</a:t>
            </a:r>
            <a:r>
              <a:rPr lang="zh-CN" sz="2400" b="1">
                <a:ea typeface="宋体" panose="02010600030101010101" pitchFamily="2" charset="-122"/>
              </a:rPr>
              <a:t>状态转换表</a:t>
            </a:r>
            <a:endParaRPr lang="zh-CN" altLang="en-US" sz="2400" b="1"/>
          </a:p>
        </p:txBody>
      </p:sp>
      <p:sp>
        <p:nvSpPr>
          <p:cNvPr id="2" name="文本框 1"/>
          <p:cNvSpPr txBox="1"/>
          <p:nvPr/>
        </p:nvSpPr>
        <p:spPr>
          <a:xfrm>
            <a:off x="622935" y="1631950"/>
            <a:ext cx="8285480" cy="1420495"/>
          </a:xfrm>
          <a:prstGeom prst="rect">
            <a:avLst/>
          </a:prstGeom>
          <a:noFill/>
          <a:ln w="9525">
            <a:noFill/>
          </a:ln>
        </p:spPr>
        <p:txBody>
          <a:bodyPr wrap="square">
            <a:spAutoFit/>
          </a:bodyPr>
          <a:p>
            <a:pPr>
              <a:lnSpc>
                <a:spcPct val="120000"/>
              </a:lnSpc>
            </a:pPr>
            <a:r>
              <a:rPr lang="en-US" altLang="zh-CN" sz="2400" b="1">
                <a:gradFill>
                  <a:gsLst>
                    <a:gs pos="0">
                      <a:srgbClr val="012D86"/>
                    </a:gs>
                    <a:gs pos="100000">
                      <a:srgbClr val="0E2557"/>
                    </a:gs>
                  </a:gsLst>
                  <a:lin scaled="0"/>
                </a:gradFill>
                <a:ea typeface="宋体" panose="02010600030101010101" pitchFamily="2" charset="-122"/>
              </a:rPr>
              <a:t>       </a:t>
            </a:r>
            <a:r>
              <a:rPr lang="zh-CN" sz="2400" b="1">
                <a:gradFill>
                  <a:gsLst>
                    <a:gs pos="0">
                      <a:srgbClr val="012D86"/>
                    </a:gs>
                    <a:gs pos="100000">
                      <a:srgbClr val="0E2557"/>
                    </a:gs>
                  </a:gsLst>
                  <a:lin scaled="0"/>
                </a:gradFill>
                <a:ea typeface="宋体" panose="02010600030101010101" pitchFamily="2" charset="-122"/>
              </a:rPr>
              <a:t>五进制计数器有</a:t>
            </a:r>
            <a:r>
              <a:rPr lang="en-US" sz="2400" b="1">
                <a:solidFill>
                  <a:srgbClr val="FF0000"/>
                </a:solidFill>
                <a:latin typeface="Times New Roman" panose="02020603050405020304" charset="0"/>
                <a:ea typeface="宋体" panose="02010600030101010101" pitchFamily="2" charset="-122"/>
              </a:rPr>
              <a:t>5</a:t>
            </a:r>
            <a:r>
              <a:rPr lang="zh-CN" sz="2400" b="1">
                <a:gradFill>
                  <a:gsLst>
                    <a:gs pos="0">
                      <a:srgbClr val="012D86"/>
                    </a:gs>
                    <a:gs pos="100000">
                      <a:srgbClr val="0E2557"/>
                    </a:gs>
                  </a:gsLst>
                  <a:lin scaled="0"/>
                </a:gradFill>
                <a:ea typeface="宋体" panose="02010600030101010101" pitchFamily="2" charset="-122"/>
              </a:rPr>
              <a:t>个状态，应当用</a:t>
            </a:r>
            <a:r>
              <a:rPr lang="en-US" sz="2400" b="1">
                <a:solidFill>
                  <a:srgbClr val="FF0000"/>
                </a:solidFill>
                <a:latin typeface="Times New Roman" panose="02020603050405020304" charset="0"/>
                <a:ea typeface="宋体" panose="02010600030101010101" pitchFamily="2" charset="-122"/>
              </a:rPr>
              <a:t>3</a:t>
            </a:r>
            <a:r>
              <a:rPr lang="zh-CN" sz="2400" b="1">
                <a:gradFill>
                  <a:gsLst>
                    <a:gs pos="0">
                      <a:srgbClr val="012D86"/>
                    </a:gs>
                    <a:gs pos="100000">
                      <a:srgbClr val="0E2557"/>
                    </a:gs>
                  </a:gsLst>
                  <a:lin scaled="0"/>
                </a:gradFill>
                <a:ea typeface="宋体" panose="02010600030101010101" pitchFamily="2" charset="-122"/>
              </a:rPr>
              <a:t>个触发器来记忆，用</a:t>
            </a:r>
            <a:endParaRPr lang="zh-CN" sz="2400" b="1">
              <a:gradFill>
                <a:gsLst>
                  <a:gs pos="0">
                    <a:srgbClr val="012D86"/>
                  </a:gs>
                  <a:gs pos="100000">
                    <a:srgbClr val="0E2557"/>
                  </a:gs>
                </a:gsLst>
                <a:lin scaled="0"/>
              </a:gradFill>
              <a:ea typeface="宋体" panose="02010600030101010101" pitchFamily="2" charset="-122"/>
            </a:endParaRPr>
          </a:p>
          <a:p>
            <a:pPr>
              <a:lnSpc>
                <a:spcPct val="120000"/>
              </a:lnSpc>
            </a:pP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Q</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2</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Q</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Q</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400" b="1">
                <a:gradFill>
                  <a:gsLst>
                    <a:gs pos="0">
                      <a:srgbClr val="012D86"/>
                    </a:gs>
                    <a:gs pos="100000">
                      <a:srgbClr val="0E2557"/>
                    </a:gs>
                  </a:gsLst>
                  <a:lin scaled="0"/>
                </a:gradFill>
                <a:ea typeface="宋体" panose="02010600030101010101" pitchFamily="2" charset="-122"/>
              </a:rPr>
              <a:t>表示。选择</a:t>
            </a:r>
            <a:r>
              <a:rPr lang="en-US" sz="2400" b="1">
                <a:solidFill>
                  <a:srgbClr val="FF0000"/>
                </a:solidFill>
                <a:latin typeface="Times New Roman" panose="02020603050405020304" charset="0"/>
                <a:ea typeface="宋体" panose="02010600030101010101" pitchFamily="2" charset="-122"/>
              </a:rPr>
              <a:t>000~100</a:t>
            </a:r>
            <a:r>
              <a:rPr lang="zh-CN" sz="2400" b="1">
                <a:gradFill>
                  <a:gsLst>
                    <a:gs pos="0">
                      <a:srgbClr val="012D86"/>
                    </a:gs>
                    <a:gs pos="100000">
                      <a:srgbClr val="0E2557"/>
                    </a:gs>
                  </a:gsLst>
                  <a:lin scaled="0"/>
                </a:gradFill>
                <a:ea typeface="宋体" panose="02010600030101010101" pitchFamily="2" charset="-122"/>
              </a:rPr>
              <a:t>五个自然二进制数作为</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S</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S</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4</a:t>
            </a:r>
            <a:r>
              <a:rPr lang="zh-CN" sz="2400" b="1">
                <a:gradFill>
                  <a:gsLst>
                    <a:gs pos="0">
                      <a:srgbClr val="012D86"/>
                    </a:gs>
                    <a:gs pos="100000">
                      <a:srgbClr val="0E2557"/>
                    </a:gs>
                  </a:gsLst>
                  <a:lin scaled="0"/>
                </a:gradFill>
                <a:ea typeface="宋体" panose="02010600030101010101" pitchFamily="2" charset="-122"/>
              </a:rPr>
              <a:t>的编</a:t>
            </a:r>
            <a:endParaRPr lang="zh-CN" sz="2400" b="1">
              <a:gradFill>
                <a:gsLst>
                  <a:gs pos="0">
                    <a:srgbClr val="012D86"/>
                  </a:gs>
                  <a:gs pos="100000">
                    <a:srgbClr val="0E2557"/>
                  </a:gs>
                </a:gsLst>
                <a:lin scaled="0"/>
              </a:gradFill>
              <a:ea typeface="宋体" panose="02010600030101010101" pitchFamily="2" charset="-122"/>
            </a:endParaRPr>
          </a:p>
          <a:p>
            <a:pPr>
              <a:lnSpc>
                <a:spcPct val="120000"/>
              </a:lnSpc>
            </a:pPr>
            <a:r>
              <a:rPr lang="zh-CN" sz="2400" b="1">
                <a:gradFill>
                  <a:gsLst>
                    <a:gs pos="0">
                      <a:srgbClr val="012D86"/>
                    </a:gs>
                    <a:gs pos="100000">
                      <a:srgbClr val="0E2557"/>
                    </a:gs>
                  </a:gsLst>
                  <a:lin scaled="0"/>
                </a:gradFill>
                <a:ea typeface="宋体" panose="02010600030101010101" pitchFamily="2" charset="-122"/>
              </a:rPr>
              <a:t>码</a:t>
            </a:r>
            <a:r>
              <a:rPr lang="zh-CN" sz="2400" b="1">
                <a:gradFill>
                  <a:gsLst>
                    <a:gs pos="0">
                      <a:srgbClr val="012D86"/>
                    </a:gs>
                    <a:gs pos="100000">
                      <a:srgbClr val="0E2557"/>
                    </a:gs>
                  </a:gsLst>
                  <a:lin scaled="0"/>
                </a:gradFill>
                <a:latin typeface="Times New Roman" panose="02020603050405020304" charset="0"/>
                <a:ea typeface="宋体" panose="02010600030101010101" pitchFamily="2" charset="-122"/>
              </a:rPr>
              <a:t>，得</a:t>
            </a:r>
            <a:r>
              <a:rPr lang="zh-CN" sz="2400" b="1">
                <a:gradFill>
                  <a:gsLst>
                    <a:gs pos="0">
                      <a:srgbClr val="012D86"/>
                    </a:gs>
                    <a:gs pos="100000">
                      <a:srgbClr val="0E2557"/>
                    </a:gs>
                  </a:gsLst>
                  <a:lin scaled="0"/>
                </a:gradFill>
                <a:ea typeface="宋体" panose="02010600030101010101" pitchFamily="2" charset="-122"/>
              </a:rPr>
              <a:t>编码后的状态转换图。</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9378" name="图片 2815"/>
          <p:cNvPicPr>
            <a:picLocks noChangeAspect="1"/>
          </p:cNvPicPr>
          <p:nvPr/>
        </p:nvPicPr>
        <p:blipFill>
          <a:blip r:embed="rId1"/>
          <a:stretch>
            <a:fillRect/>
          </a:stretch>
        </p:blipFill>
        <p:spPr>
          <a:xfrm>
            <a:off x="3065780" y="3332480"/>
            <a:ext cx="2954655" cy="239966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000" fill="hold">
                                          <p:stCondLst>
                                            <p:cond delay="0"/>
                                          </p:stCondLst>
                                        </p:cTn>
                                        <p:tgtEl>
                                          <p:spTgt spid="2">
                                            <p:txEl>
                                              <p:pRg st="0" end="0"/>
                                            </p:txEl>
                                          </p:spTgt>
                                        </p:tgtEl>
                                        <p:attrNameLst>
                                          <p:attrName>style.visibility</p:attrName>
                                        </p:attrNameLst>
                                      </p:cBhvr>
                                      <p:to>
                                        <p:strVal val="visible"/>
                                      </p:to>
                                    </p:set>
                                    <p:animEffect transition="in" filter="wipe(left)">
                                      <p:cBhvr>
                                        <p:cTn id="7" dur="1000"/>
                                        <p:tgtEl>
                                          <p:spTgt spid="2">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1500"/>
                                  </p:stCondLst>
                                  <p:childTnLst>
                                    <p:set>
                                      <p:cBhvr>
                                        <p:cTn id="10" dur="1000" fill="hold">
                                          <p:stCondLst>
                                            <p:cond delay="0"/>
                                          </p:stCondLst>
                                        </p:cTn>
                                        <p:tgtEl>
                                          <p:spTgt spid="2">
                                            <p:txEl>
                                              <p:pRg st="1" end="1"/>
                                            </p:txEl>
                                          </p:spTgt>
                                        </p:tgtEl>
                                        <p:attrNameLst>
                                          <p:attrName>style.visibility</p:attrName>
                                        </p:attrNameLst>
                                      </p:cBhvr>
                                      <p:to>
                                        <p:strVal val="visible"/>
                                      </p:to>
                                    </p:set>
                                    <p:animEffect transition="in" filter="wipe(left)">
                                      <p:cBhvr>
                                        <p:cTn id="11" dur="1000"/>
                                        <p:tgtEl>
                                          <p:spTgt spid="2">
                                            <p:txEl>
                                              <p:pRg st="1" end="1"/>
                                            </p:txEl>
                                          </p:spTgt>
                                        </p:tgtEl>
                                      </p:cBhvr>
                                    </p:animEffect>
                                  </p:childTnLst>
                                </p:cTn>
                              </p:par>
                            </p:childTnLst>
                          </p:cTn>
                        </p:par>
                        <p:par>
                          <p:cTn id="12" fill="hold">
                            <p:stCondLst>
                              <p:cond delay="3500"/>
                            </p:stCondLst>
                            <p:childTnLst>
                              <p:par>
                                <p:cTn id="13" presetID="22" presetClass="entr" presetSubtype="8" fill="hold" grpId="0" nodeType="afterEffect">
                                  <p:stCondLst>
                                    <p:cond delay="1500"/>
                                  </p:stCondLst>
                                  <p:childTnLst>
                                    <p:set>
                                      <p:cBhvr>
                                        <p:cTn id="14" dur="1000" fill="hold">
                                          <p:stCondLst>
                                            <p:cond delay="0"/>
                                          </p:stCondLst>
                                        </p:cTn>
                                        <p:tgtEl>
                                          <p:spTgt spid="2">
                                            <p:txEl>
                                              <p:pRg st="2" end="2"/>
                                            </p:txEl>
                                          </p:spTgt>
                                        </p:tgtEl>
                                        <p:attrNameLst>
                                          <p:attrName>style.visibility</p:attrName>
                                        </p:attrNameLst>
                                      </p:cBhvr>
                                      <p:to>
                                        <p:strVal val="visible"/>
                                      </p:to>
                                    </p:set>
                                    <p:animEffect transition="in" filter="wipe(left)">
                                      <p:cBhvr>
                                        <p:cTn id="15" dur="1000"/>
                                        <p:tgtEl>
                                          <p:spTgt spid="2">
                                            <p:txEl>
                                              <p:pRg st="2" end="2"/>
                                            </p:txEl>
                                          </p:spTgt>
                                        </p:tgtEl>
                                      </p:cBhvr>
                                    </p:animEffect>
                                  </p:childTnLst>
                                </p:cTn>
                              </p:par>
                            </p:childTnLst>
                          </p:cTn>
                        </p:par>
                        <p:par>
                          <p:cTn id="16" fill="hold">
                            <p:stCondLst>
                              <p:cond delay="6000"/>
                            </p:stCondLst>
                            <p:childTnLst>
                              <p:par>
                                <p:cTn id="17" presetID="1" presetClass="entr" presetSubtype="0" fill="hold" nodeType="afterEffect">
                                  <p:stCondLst>
                                    <p:cond delay="1500"/>
                                  </p:stCondLst>
                                  <p:childTnLst>
                                    <p:set>
                                      <p:cBhvr>
                                        <p:cTn id="18" dur="1" fill="hold">
                                          <p:stCondLst>
                                            <p:cond delay="0"/>
                                          </p:stCondLst>
                                        </p:cTn>
                                        <p:tgtEl>
                                          <p:spTgt spid="93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6.3 </a:t>
            </a:r>
            <a:r>
              <a:rPr lang="zh-CN" altLang="en-US" b="1" dirty="0">
                <a:solidFill>
                  <a:srgbClr val="FF0000"/>
                </a:solidFill>
                <a:latin typeface="黑体" panose="02010609060101010101" pitchFamily="49" charset="-122"/>
                <a:ea typeface="黑体" panose="02010609060101010101" pitchFamily="49" charset="-122"/>
                <a:sym typeface="+mn-ea"/>
              </a:rPr>
              <a:t>同步</a:t>
            </a:r>
            <a:r>
              <a:rPr lang="en-US" altLang="zh-CN" b="1" dirty="0">
                <a:solidFill>
                  <a:srgbClr val="FF0000"/>
                </a:solidFill>
                <a:latin typeface="黑体" panose="02010609060101010101" pitchFamily="49" charset="-122"/>
                <a:ea typeface="黑体" panose="02010609060101010101" pitchFamily="49" charset="-122"/>
                <a:sym typeface="+mn-ea"/>
              </a:rPr>
              <a:t>时序逻辑电路的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文本框 1"/>
          <p:cNvSpPr txBox="1"/>
          <p:nvPr/>
        </p:nvSpPr>
        <p:spPr>
          <a:xfrm>
            <a:off x="956310" y="1199515"/>
            <a:ext cx="2540000" cy="460375"/>
          </a:xfrm>
          <a:prstGeom prst="rect">
            <a:avLst/>
          </a:prstGeom>
          <a:noFill/>
        </p:spPr>
        <p:txBody>
          <a:bodyPr wrap="square" rtlCol="0" anchor="t">
            <a:spAutoFit/>
          </a:bodyPr>
          <a:p>
            <a:r>
              <a:rPr lang="zh-CN" altLang="en-US" sz="2400" b="1">
                <a:gradFill>
                  <a:gsLst>
                    <a:gs pos="0">
                      <a:srgbClr val="012D86"/>
                    </a:gs>
                    <a:gs pos="100000">
                      <a:srgbClr val="0E2557"/>
                    </a:gs>
                  </a:gsLst>
                  <a:lin scaled="0"/>
                </a:gradFill>
              </a:rPr>
              <a:t>状态转换表</a:t>
            </a:r>
            <a:endParaRPr lang="zh-CN" altLang="en-US" sz="2400" b="1">
              <a:gradFill>
                <a:gsLst>
                  <a:gs pos="0">
                    <a:srgbClr val="012D86"/>
                  </a:gs>
                  <a:gs pos="100000">
                    <a:srgbClr val="0E2557"/>
                  </a:gs>
                </a:gsLst>
                <a:lin scaled="0"/>
              </a:gradFill>
            </a:endParaRPr>
          </a:p>
        </p:txBody>
      </p:sp>
      <p:pic>
        <p:nvPicPr>
          <p:cNvPr id="3" name="图片 2"/>
          <p:cNvPicPr>
            <a:picLocks noChangeAspect="1"/>
          </p:cNvPicPr>
          <p:nvPr/>
        </p:nvPicPr>
        <p:blipFill>
          <a:blip r:embed="rId1"/>
          <a:stretch>
            <a:fillRect/>
          </a:stretch>
        </p:blipFill>
        <p:spPr>
          <a:xfrm>
            <a:off x="-1270" y="1659890"/>
            <a:ext cx="9008110" cy="2402840"/>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6.3 </a:t>
            </a:r>
            <a:r>
              <a:rPr lang="zh-CN" altLang="en-US" b="1" dirty="0">
                <a:solidFill>
                  <a:srgbClr val="FF0000"/>
                </a:solidFill>
                <a:latin typeface="黑体" panose="02010609060101010101" pitchFamily="49" charset="-122"/>
                <a:ea typeface="黑体" panose="02010609060101010101" pitchFamily="49" charset="-122"/>
                <a:sym typeface="+mn-ea"/>
              </a:rPr>
              <a:t>同步</a:t>
            </a:r>
            <a:r>
              <a:rPr lang="en-US" altLang="zh-CN" b="1" dirty="0">
                <a:solidFill>
                  <a:srgbClr val="FF0000"/>
                </a:solidFill>
                <a:latin typeface="黑体" panose="02010609060101010101" pitchFamily="49" charset="-122"/>
                <a:ea typeface="黑体" panose="02010609060101010101" pitchFamily="49" charset="-122"/>
                <a:sym typeface="+mn-ea"/>
              </a:rPr>
              <a:t>时序逻辑电路的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0" name="文本框 99"/>
          <p:cNvSpPr txBox="1"/>
          <p:nvPr/>
        </p:nvSpPr>
        <p:spPr>
          <a:xfrm>
            <a:off x="1034415" y="1196340"/>
            <a:ext cx="5080000" cy="460375"/>
          </a:xfrm>
          <a:prstGeom prst="rect">
            <a:avLst/>
          </a:prstGeom>
          <a:noFill/>
          <a:ln w="9525">
            <a:noFill/>
          </a:ln>
        </p:spPr>
        <p:txBody>
          <a:bodyPr>
            <a:spAutoFit/>
          </a:bodyPr>
          <a:p>
            <a:r>
              <a:rPr lang="en-US" sz="2400" b="1">
                <a:latin typeface="Times New Roman" panose="02020603050405020304" charset="0"/>
                <a:sym typeface="+mn-ea"/>
              </a:rPr>
              <a:t>(3)</a:t>
            </a:r>
            <a:r>
              <a:rPr lang="zh-CN" sz="2400" b="1">
                <a:ea typeface="宋体" panose="02010600030101010101" pitchFamily="2" charset="-122"/>
              </a:rPr>
              <a:t>求状态方程和输出方程</a:t>
            </a:r>
            <a:endParaRPr lang="zh-CN" altLang="en-US" sz="2400" b="1">
              <a:ea typeface="宋体" panose="02010600030101010101" pitchFamily="2" charset="-122"/>
            </a:endParaRPr>
          </a:p>
        </p:txBody>
      </p:sp>
      <p:pic>
        <p:nvPicPr>
          <p:cNvPr id="9379" name="图片 2816"/>
          <p:cNvPicPr>
            <a:picLocks noChangeAspect="1"/>
          </p:cNvPicPr>
          <p:nvPr/>
        </p:nvPicPr>
        <p:blipFill>
          <a:blip r:embed="rId1"/>
          <a:stretch>
            <a:fillRect/>
          </a:stretch>
        </p:blipFill>
        <p:spPr>
          <a:xfrm>
            <a:off x="1238250" y="2432685"/>
            <a:ext cx="6184265" cy="3742690"/>
          </a:xfrm>
          <a:prstGeom prst="rect">
            <a:avLst/>
          </a:prstGeom>
          <a:noFill/>
          <a:ln>
            <a:noFill/>
          </a:ln>
        </p:spPr>
      </p:pic>
      <p:sp>
        <p:nvSpPr>
          <p:cNvPr id="2" name="文本框 1"/>
          <p:cNvSpPr txBox="1"/>
          <p:nvPr/>
        </p:nvSpPr>
        <p:spPr>
          <a:xfrm>
            <a:off x="455295" y="1602740"/>
            <a:ext cx="8595360" cy="829945"/>
          </a:xfrm>
          <a:prstGeom prst="rect">
            <a:avLst/>
          </a:prstGeom>
          <a:noFill/>
        </p:spPr>
        <p:txBody>
          <a:bodyPr wrap="square" rtlCol="0" anchor="t">
            <a:spAutoFit/>
          </a:bodyPr>
          <a:p>
            <a:r>
              <a:rPr lang="en-US" altLang="zh-CN" sz="2400" b="1">
                <a:gradFill>
                  <a:gsLst>
                    <a:gs pos="0">
                      <a:srgbClr val="012D86"/>
                    </a:gs>
                    <a:gs pos="100000">
                      <a:srgbClr val="0E2557"/>
                    </a:gs>
                  </a:gsLst>
                  <a:lin scaled="0"/>
                </a:gradFill>
              </a:rPr>
              <a:t>       </a:t>
            </a:r>
            <a:r>
              <a:rPr lang="zh-CN" altLang="en-US" sz="2400" b="1">
                <a:gradFill>
                  <a:gsLst>
                    <a:gs pos="0">
                      <a:srgbClr val="012D86"/>
                    </a:gs>
                    <a:gs pos="100000">
                      <a:srgbClr val="0E2557"/>
                    </a:gs>
                  </a:gsLst>
                  <a:lin scaled="0"/>
                </a:gradFill>
              </a:rPr>
              <a:t>根据状态转换表，可以画出各触发器次态的卡诺图和输出</a:t>
            </a:r>
            <a:r>
              <a:rPr lang="en-US" altLang="zh-CN" sz="2400" b="1" i="1">
                <a:gradFill>
                  <a:gsLst>
                    <a:gs pos="0">
                      <a:srgbClr val="012D86"/>
                    </a:gs>
                    <a:gs pos="100000">
                      <a:srgbClr val="0E2557"/>
                    </a:gs>
                  </a:gsLst>
                  <a:lin scaled="0"/>
                </a:gradFill>
                <a:latin typeface="Times New Roman" panose="02020603050405020304" charset="0"/>
                <a:cs typeface="Times New Roman" panose="02020603050405020304" charset="0"/>
              </a:rPr>
              <a:t>Z</a:t>
            </a:r>
            <a:r>
              <a:rPr lang="zh-CN" altLang="en-US" sz="2400" b="1">
                <a:gradFill>
                  <a:gsLst>
                    <a:gs pos="0">
                      <a:srgbClr val="012D86"/>
                    </a:gs>
                    <a:gs pos="100000">
                      <a:srgbClr val="0E2557"/>
                    </a:gs>
                  </a:gsLst>
                  <a:lin scaled="0"/>
                </a:gradFill>
              </a:rPr>
              <a:t>的卡诺图</a:t>
            </a:r>
            <a:endParaRPr lang="zh-CN" altLang="en-US" sz="2400" b="1">
              <a:gradFill>
                <a:gsLst>
                  <a:gs pos="0">
                    <a:srgbClr val="012D86"/>
                  </a:gs>
                  <a:gs pos="100000">
                    <a:srgbClr val="0E2557"/>
                  </a:gs>
                </a:gsLst>
                <a:lin scaled="0"/>
              </a:gradFill>
            </a:endParaRPr>
          </a:p>
        </p:txBody>
      </p:sp>
      <p:sp>
        <p:nvSpPr>
          <p:cNvPr id="3" name="文本框 2"/>
          <p:cNvSpPr txBox="1"/>
          <p:nvPr/>
        </p:nvSpPr>
        <p:spPr>
          <a:xfrm>
            <a:off x="1962785" y="6200775"/>
            <a:ext cx="5080000" cy="337185"/>
          </a:xfrm>
          <a:prstGeom prst="rect">
            <a:avLst/>
          </a:prstGeom>
          <a:noFill/>
          <a:ln w="9525">
            <a:noFill/>
          </a:ln>
        </p:spPr>
        <p:txBody>
          <a:bodyPr>
            <a:spAutoFit/>
          </a:bodyPr>
          <a:p>
            <a:pPr algn="ctr"/>
            <a:r>
              <a:rPr lang="zh-CN" sz="1600">
                <a:ea typeface="宋体" panose="02010600030101010101" pitchFamily="2" charset="-122"/>
              </a:rPr>
              <a:t>图</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13 </a:t>
            </a:r>
            <a:r>
              <a:rPr lang="zh-CN" sz="1600">
                <a:ea typeface="宋体" panose="02010600030101010101" pitchFamily="2" charset="-122"/>
              </a:rPr>
              <a:t>例</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4</a:t>
            </a:r>
            <a:r>
              <a:rPr lang="zh-CN" sz="1600">
                <a:ea typeface="宋体" panose="02010600030101010101" pitchFamily="2" charset="-122"/>
              </a:rPr>
              <a:t>各触发器次态卡诺图和输出卡诺图</a:t>
            </a:r>
            <a:endParaRPr lang="zh-CN" altLang="en-US"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79"/>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6.3 </a:t>
            </a:r>
            <a:r>
              <a:rPr lang="zh-CN" altLang="en-US" b="1" dirty="0">
                <a:solidFill>
                  <a:srgbClr val="FF0000"/>
                </a:solidFill>
                <a:latin typeface="黑体" panose="02010609060101010101" pitchFamily="49" charset="-122"/>
                <a:ea typeface="黑体" panose="02010609060101010101" pitchFamily="49" charset="-122"/>
                <a:sym typeface="+mn-ea"/>
              </a:rPr>
              <a:t>同步</a:t>
            </a:r>
            <a:r>
              <a:rPr lang="en-US" altLang="zh-CN" b="1" dirty="0">
                <a:solidFill>
                  <a:srgbClr val="FF0000"/>
                </a:solidFill>
                <a:latin typeface="黑体" panose="02010609060101010101" pitchFamily="49" charset="-122"/>
                <a:ea typeface="黑体" panose="02010609060101010101" pitchFamily="49" charset="-122"/>
                <a:sym typeface="+mn-ea"/>
              </a:rPr>
              <a:t>时序逻辑电路的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191494" name="组合 191493"/>
          <p:cNvGrpSpPr/>
          <p:nvPr/>
        </p:nvGrpSpPr>
        <p:grpSpPr>
          <a:xfrm>
            <a:off x="613728" y="1645285"/>
            <a:ext cx="2795587" cy="2189163"/>
            <a:chOff x="2496" y="2486"/>
            <a:chExt cx="1761" cy="1379"/>
          </a:xfrm>
        </p:grpSpPr>
        <p:sp>
          <p:nvSpPr>
            <p:cNvPr id="27661" name="直接连接符 191494"/>
            <p:cNvSpPr/>
            <p:nvPr/>
          </p:nvSpPr>
          <p:spPr>
            <a:xfrm>
              <a:off x="3087" y="2854"/>
              <a:ext cx="237" cy="1"/>
            </a:xfrm>
            <a:prstGeom prst="line">
              <a:avLst/>
            </a:prstGeom>
            <a:ln w="12700" cap="flat" cmpd="sng">
              <a:solidFill>
                <a:srgbClr val="000000"/>
              </a:solidFill>
              <a:prstDash val="solid"/>
              <a:headEnd type="none" w="med" len="med"/>
              <a:tailEnd type="none" w="med" len="med"/>
            </a:ln>
          </p:spPr>
        </p:sp>
        <p:sp>
          <p:nvSpPr>
            <p:cNvPr id="27662" name="直接连接符 191495"/>
            <p:cNvSpPr/>
            <p:nvPr/>
          </p:nvSpPr>
          <p:spPr>
            <a:xfrm>
              <a:off x="4020" y="2854"/>
              <a:ext cx="237" cy="1"/>
            </a:xfrm>
            <a:prstGeom prst="line">
              <a:avLst/>
            </a:prstGeom>
            <a:ln w="12700" cap="flat" cmpd="sng">
              <a:solidFill>
                <a:srgbClr val="000000"/>
              </a:solidFill>
              <a:prstDash val="solid"/>
              <a:headEnd type="none" w="med" len="med"/>
              <a:tailEnd type="none" w="med" len="med"/>
            </a:ln>
          </p:spPr>
        </p:sp>
        <p:sp>
          <p:nvSpPr>
            <p:cNvPr id="27663" name="直接连接符 191496"/>
            <p:cNvSpPr/>
            <p:nvPr/>
          </p:nvSpPr>
          <p:spPr>
            <a:xfrm>
              <a:off x="3087" y="3226"/>
              <a:ext cx="237" cy="1"/>
            </a:xfrm>
            <a:prstGeom prst="line">
              <a:avLst/>
            </a:prstGeom>
            <a:ln w="12700" cap="flat" cmpd="sng">
              <a:solidFill>
                <a:srgbClr val="000000"/>
              </a:solidFill>
              <a:prstDash val="solid"/>
              <a:headEnd type="none" w="med" len="med"/>
              <a:tailEnd type="none" w="med" len="med"/>
            </a:ln>
          </p:spPr>
        </p:sp>
        <p:sp>
          <p:nvSpPr>
            <p:cNvPr id="27664" name="直接连接符 191497"/>
            <p:cNvSpPr/>
            <p:nvPr/>
          </p:nvSpPr>
          <p:spPr>
            <a:xfrm>
              <a:off x="3340" y="3226"/>
              <a:ext cx="237" cy="1"/>
            </a:xfrm>
            <a:prstGeom prst="line">
              <a:avLst/>
            </a:prstGeom>
            <a:ln w="12700" cap="flat" cmpd="sng">
              <a:solidFill>
                <a:srgbClr val="000000"/>
              </a:solidFill>
              <a:prstDash val="solid"/>
              <a:headEnd type="none" w="med" len="med"/>
              <a:tailEnd type="none" w="med" len="med"/>
            </a:ln>
          </p:spPr>
        </p:sp>
        <p:sp>
          <p:nvSpPr>
            <p:cNvPr id="27665" name="矩形 191498"/>
            <p:cNvSpPr/>
            <p:nvPr/>
          </p:nvSpPr>
          <p:spPr>
            <a:xfrm>
              <a:off x="3020" y="3579"/>
              <a:ext cx="67" cy="145"/>
            </a:xfrm>
            <a:prstGeom prst="rect">
              <a:avLst/>
            </a:prstGeom>
            <a:noFill/>
            <a:ln w="9525">
              <a:noFill/>
            </a:ln>
          </p:spPr>
          <p:txBody>
            <a:bodyPr wrap="none" lIns="0" tIns="0" rIns="0" bIns="0">
              <a:spAutoFit/>
            </a:bodyPr>
            <a:p>
              <a:r>
                <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rPr>
                <a:t>n</a:t>
              </a:r>
              <a:endPar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66" name="矩形 191499"/>
            <p:cNvSpPr/>
            <p:nvPr/>
          </p:nvSpPr>
          <p:spPr>
            <a:xfrm>
              <a:off x="3496" y="3245"/>
              <a:ext cx="67" cy="145"/>
            </a:xfrm>
            <a:prstGeom prst="rect">
              <a:avLst/>
            </a:prstGeom>
            <a:noFill/>
            <a:ln w="9525">
              <a:noFill/>
            </a:ln>
          </p:spPr>
          <p:txBody>
            <a:bodyPr wrap="none" lIns="0" tIns="0" rIns="0" bIns="0">
              <a:spAutoFit/>
            </a:bodyPr>
            <a:p>
              <a:r>
                <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rPr>
                <a:t>n</a:t>
              </a:r>
              <a:endPar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67" name="矩形 191500"/>
            <p:cNvSpPr/>
            <p:nvPr/>
          </p:nvSpPr>
          <p:spPr>
            <a:xfrm>
              <a:off x="3243" y="3245"/>
              <a:ext cx="67" cy="145"/>
            </a:xfrm>
            <a:prstGeom prst="rect">
              <a:avLst/>
            </a:prstGeom>
            <a:noFill/>
            <a:ln w="9525">
              <a:noFill/>
            </a:ln>
          </p:spPr>
          <p:txBody>
            <a:bodyPr wrap="none" lIns="0" tIns="0" rIns="0" bIns="0">
              <a:spAutoFit/>
            </a:bodyPr>
            <a:p>
              <a:r>
                <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rPr>
                <a:t>n</a:t>
              </a:r>
              <a:endPar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68" name="矩形 191501"/>
            <p:cNvSpPr/>
            <p:nvPr/>
          </p:nvSpPr>
          <p:spPr>
            <a:xfrm>
              <a:off x="2662" y="3245"/>
              <a:ext cx="67" cy="145"/>
            </a:xfrm>
            <a:prstGeom prst="rect">
              <a:avLst/>
            </a:prstGeom>
            <a:noFill/>
            <a:ln w="9525">
              <a:noFill/>
            </a:ln>
          </p:spPr>
          <p:txBody>
            <a:bodyPr wrap="none" lIns="0" tIns="0" rIns="0" bIns="0">
              <a:spAutoFit/>
            </a:bodyPr>
            <a:p>
              <a:r>
                <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rPr>
                <a:t>n</a:t>
              </a:r>
              <a:endPar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69" name="矩形 191502"/>
            <p:cNvSpPr/>
            <p:nvPr/>
          </p:nvSpPr>
          <p:spPr>
            <a:xfrm>
              <a:off x="4177" y="2872"/>
              <a:ext cx="67" cy="145"/>
            </a:xfrm>
            <a:prstGeom prst="rect">
              <a:avLst/>
            </a:prstGeom>
            <a:noFill/>
            <a:ln w="9525">
              <a:noFill/>
            </a:ln>
          </p:spPr>
          <p:txBody>
            <a:bodyPr wrap="none" lIns="0" tIns="0" rIns="0" bIns="0">
              <a:spAutoFit/>
            </a:bodyPr>
            <a:p>
              <a:r>
                <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rPr>
                <a:t>n</a:t>
              </a:r>
              <a:endPar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70" name="矩形 191503"/>
            <p:cNvSpPr/>
            <p:nvPr/>
          </p:nvSpPr>
          <p:spPr>
            <a:xfrm>
              <a:off x="3924" y="2872"/>
              <a:ext cx="67" cy="145"/>
            </a:xfrm>
            <a:prstGeom prst="rect">
              <a:avLst/>
            </a:prstGeom>
            <a:noFill/>
            <a:ln w="9525">
              <a:noFill/>
            </a:ln>
          </p:spPr>
          <p:txBody>
            <a:bodyPr wrap="none" lIns="0" tIns="0" rIns="0" bIns="0">
              <a:spAutoFit/>
            </a:bodyPr>
            <a:p>
              <a:r>
                <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rPr>
                <a:t>n</a:t>
              </a:r>
              <a:endPar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71" name="矩形 191504"/>
            <p:cNvSpPr/>
            <p:nvPr/>
          </p:nvSpPr>
          <p:spPr>
            <a:xfrm>
              <a:off x="3481" y="2872"/>
              <a:ext cx="67" cy="145"/>
            </a:xfrm>
            <a:prstGeom prst="rect">
              <a:avLst/>
            </a:prstGeom>
            <a:noFill/>
            <a:ln w="9525">
              <a:noFill/>
            </a:ln>
          </p:spPr>
          <p:txBody>
            <a:bodyPr wrap="none" lIns="0" tIns="0" rIns="0" bIns="0">
              <a:spAutoFit/>
            </a:bodyPr>
            <a:p>
              <a:r>
                <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rPr>
                <a:t>n</a:t>
              </a:r>
              <a:endPar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72" name="矩形 191505"/>
            <p:cNvSpPr/>
            <p:nvPr/>
          </p:nvSpPr>
          <p:spPr>
            <a:xfrm>
              <a:off x="3243" y="2872"/>
              <a:ext cx="67" cy="145"/>
            </a:xfrm>
            <a:prstGeom prst="rect">
              <a:avLst/>
            </a:prstGeom>
            <a:noFill/>
            <a:ln w="9525">
              <a:noFill/>
            </a:ln>
          </p:spPr>
          <p:txBody>
            <a:bodyPr wrap="none" lIns="0" tIns="0" rIns="0" bIns="0">
              <a:spAutoFit/>
            </a:bodyPr>
            <a:p>
              <a:r>
                <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rPr>
                <a:t>n</a:t>
              </a:r>
              <a:endPar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73" name="矩形 191506"/>
            <p:cNvSpPr/>
            <p:nvPr/>
          </p:nvSpPr>
          <p:spPr>
            <a:xfrm>
              <a:off x="2662" y="2872"/>
              <a:ext cx="67" cy="145"/>
            </a:xfrm>
            <a:prstGeom prst="rect">
              <a:avLst/>
            </a:prstGeom>
            <a:noFill/>
            <a:ln w="9525">
              <a:noFill/>
            </a:ln>
          </p:spPr>
          <p:txBody>
            <a:bodyPr wrap="none" lIns="0" tIns="0" rIns="0" bIns="0">
              <a:spAutoFit/>
            </a:bodyPr>
            <a:p>
              <a:r>
                <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rPr>
                <a:t>n</a:t>
              </a:r>
              <a:endPar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74" name="矩形 191507"/>
            <p:cNvSpPr/>
            <p:nvPr/>
          </p:nvSpPr>
          <p:spPr>
            <a:xfrm>
              <a:off x="3481" y="2500"/>
              <a:ext cx="67" cy="145"/>
            </a:xfrm>
            <a:prstGeom prst="rect">
              <a:avLst/>
            </a:prstGeom>
            <a:noFill/>
            <a:ln w="9525">
              <a:noFill/>
            </a:ln>
          </p:spPr>
          <p:txBody>
            <a:bodyPr wrap="none" lIns="0" tIns="0" rIns="0" bIns="0">
              <a:spAutoFit/>
            </a:bodyPr>
            <a:p>
              <a:r>
                <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rPr>
                <a:t>n</a:t>
              </a:r>
              <a:endPar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75" name="矩形 191508"/>
            <p:cNvSpPr/>
            <p:nvPr/>
          </p:nvSpPr>
          <p:spPr>
            <a:xfrm>
              <a:off x="3243" y="2500"/>
              <a:ext cx="67" cy="145"/>
            </a:xfrm>
            <a:prstGeom prst="rect">
              <a:avLst/>
            </a:prstGeom>
            <a:noFill/>
            <a:ln w="9525">
              <a:noFill/>
            </a:ln>
          </p:spPr>
          <p:txBody>
            <a:bodyPr wrap="none" lIns="0" tIns="0" rIns="0" bIns="0">
              <a:spAutoFit/>
            </a:bodyPr>
            <a:p>
              <a:r>
                <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rPr>
                <a:t>n</a:t>
              </a:r>
              <a:endPar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76" name="矩形 191509"/>
            <p:cNvSpPr/>
            <p:nvPr/>
          </p:nvSpPr>
          <p:spPr>
            <a:xfrm>
              <a:off x="2662" y="2500"/>
              <a:ext cx="67" cy="145"/>
            </a:xfrm>
            <a:prstGeom prst="rect">
              <a:avLst/>
            </a:prstGeom>
            <a:noFill/>
            <a:ln w="9525">
              <a:noFill/>
            </a:ln>
          </p:spPr>
          <p:txBody>
            <a:bodyPr wrap="none" lIns="0" tIns="0" rIns="0" bIns="0">
              <a:spAutoFit/>
            </a:bodyPr>
            <a:p>
              <a:r>
                <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rPr>
                <a:t>n</a:t>
              </a:r>
              <a:endParaRPr lang="en-US" altLang="zh-CN" sz="1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77" name="矩形 191510"/>
            <p:cNvSpPr/>
            <p:nvPr/>
          </p:nvSpPr>
          <p:spPr>
            <a:xfrm>
              <a:off x="2854" y="3595"/>
              <a:ext cx="144" cy="242"/>
            </a:xfrm>
            <a:prstGeom prst="rect">
              <a:avLst/>
            </a:prstGeom>
            <a:noFill/>
            <a:ln w="9525">
              <a:noFill/>
            </a:ln>
          </p:spPr>
          <p:txBody>
            <a:bodyPr wrap="none" lIns="0" tIns="0" rIns="0" bIns="0">
              <a:spAutoFit/>
            </a:bodyPr>
            <a:p>
              <a:r>
                <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rPr>
                <a:t>Q</a:t>
              </a:r>
              <a:endPar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78" name="矩形 191511"/>
            <p:cNvSpPr/>
            <p:nvPr/>
          </p:nvSpPr>
          <p:spPr>
            <a:xfrm>
              <a:off x="2496" y="3595"/>
              <a:ext cx="122" cy="242"/>
            </a:xfrm>
            <a:prstGeom prst="rect">
              <a:avLst/>
            </a:prstGeom>
            <a:noFill/>
            <a:ln w="9525">
              <a:noFill/>
            </a:ln>
          </p:spPr>
          <p:txBody>
            <a:bodyPr wrap="none" lIns="0" tIns="0" rIns="0" bIns="0">
              <a:spAutoFit/>
            </a:bodyPr>
            <a:p>
              <a:r>
                <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rPr>
                <a:t>Z</a:t>
              </a:r>
              <a:endPar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79" name="矩形 191512"/>
            <p:cNvSpPr/>
            <p:nvPr/>
          </p:nvSpPr>
          <p:spPr>
            <a:xfrm>
              <a:off x="3330" y="3261"/>
              <a:ext cx="144" cy="242"/>
            </a:xfrm>
            <a:prstGeom prst="rect">
              <a:avLst/>
            </a:prstGeom>
            <a:noFill/>
            <a:ln w="9525">
              <a:noFill/>
            </a:ln>
          </p:spPr>
          <p:txBody>
            <a:bodyPr wrap="none" lIns="0" tIns="0" rIns="0" bIns="0">
              <a:spAutoFit/>
            </a:bodyPr>
            <a:p>
              <a:r>
                <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rPr>
                <a:t>Q</a:t>
              </a:r>
              <a:endPar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80" name="矩形 191513"/>
            <p:cNvSpPr/>
            <p:nvPr/>
          </p:nvSpPr>
          <p:spPr>
            <a:xfrm>
              <a:off x="3077" y="3261"/>
              <a:ext cx="144" cy="242"/>
            </a:xfrm>
            <a:prstGeom prst="rect">
              <a:avLst/>
            </a:prstGeom>
            <a:noFill/>
            <a:ln w="9525">
              <a:noFill/>
            </a:ln>
          </p:spPr>
          <p:txBody>
            <a:bodyPr wrap="none" lIns="0" tIns="0" rIns="0" bIns="0">
              <a:spAutoFit/>
            </a:bodyPr>
            <a:p>
              <a:r>
                <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rPr>
                <a:t>Q</a:t>
              </a:r>
              <a:endPar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81" name="矩形 191514"/>
            <p:cNvSpPr/>
            <p:nvPr/>
          </p:nvSpPr>
          <p:spPr>
            <a:xfrm>
              <a:off x="2496" y="3261"/>
              <a:ext cx="144" cy="242"/>
            </a:xfrm>
            <a:prstGeom prst="rect">
              <a:avLst/>
            </a:prstGeom>
            <a:noFill/>
            <a:ln w="9525">
              <a:noFill/>
            </a:ln>
          </p:spPr>
          <p:txBody>
            <a:bodyPr wrap="none" lIns="0" tIns="0" rIns="0" bIns="0">
              <a:spAutoFit/>
            </a:bodyPr>
            <a:p>
              <a:r>
                <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rPr>
                <a:t>Q</a:t>
              </a:r>
              <a:endPar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82" name="矩形 191515"/>
            <p:cNvSpPr/>
            <p:nvPr/>
          </p:nvSpPr>
          <p:spPr>
            <a:xfrm>
              <a:off x="4011" y="2888"/>
              <a:ext cx="144" cy="242"/>
            </a:xfrm>
            <a:prstGeom prst="rect">
              <a:avLst/>
            </a:prstGeom>
            <a:noFill/>
            <a:ln w="9525">
              <a:noFill/>
            </a:ln>
          </p:spPr>
          <p:txBody>
            <a:bodyPr wrap="none" lIns="0" tIns="0" rIns="0" bIns="0">
              <a:spAutoFit/>
            </a:bodyPr>
            <a:p>
              <a:r>
                <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rPr>
                <a:t>Q</a:t>
              </a:r>
              <a:endPar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83" name="矩形 191516"/>
            <p:cNvSpPr/>
            <p:nvPr/>
          </p:nvSpPr>
          <p:spPr>
            <a:xfrm>
              <a:off x="3757" y="2888"/>
              <a:ext cx="144" cy="242"/>
            </a:xfrm>
            <a:prstGeom prst="rect">
              <a:avLst/>
            </a:prstGeom>
            <a:noFill/>
            <a:ln w="9525">
              <a:noFill/>
            </a:ln>
          </p:spPr>
          <p:txBody>
            <a:bodyPr wrap="none" lIns="0" tIns="0" rIns="0" bIns="0">
              <a:spAutoFit/>
            </a:bodyPr>
            <a:p>
              <a:r>
                <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rPr>
                <a:t>Q</a:t>
              </a:r>
              <a:endPar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84" name="矩形 191517"/>
            <p:cNvSpPr/>
            <p:nvPr/>
          </p:nvSpPr>
          <p:spPr>
            <a:xfrm>
              <a:off x="3315" y="2888"/>
              <a:ext cx="144" cy="242"/>
            </a:xfrm>
            <a:prstGeom prst="rect">
              <a:avLst/>
            </a:prstGeom>
            <a:noFill/>
            <a:ln w="9525">
              <a:noFill/>
            </a:ln>
          </p:spPr>
          <p:txBody>
            <a:bodyPr wrap="none" lIns="0" tIns="0" rIns="0" bIns="0">
              <a:spAutoFit/>
            </a:bodyPr>
            <a:p>
              <a:r>
                <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rPr>
                <a:t>Q</a:t>
              </a:r>
              <a:endPar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85" name="矩形 191518"/>
            <p:cNvSpPr/>
            <p:nvPr/>
          </p:nvSpPr>
          <p:spPr>
            <a:xfrm>
              <a:off x="3077" y="2888"/>
              <a:ext cx="144" cy="242"/>
            </a:xfrm>
            <a:prstGeom prst="rect">
              <a:avLst/>
            </a:prstGeom>
            <a:noFill/>
            <a:ln w="9525">
              <a:noFill/>
            </a:ln>
          </p:spPr>
          <p:txBody>
            <a:bodyPr wrap="none" lIns="0" tIns="0" rIns="0" bIns="0">
              <a:spAutoFit/>
            </a:bodyPr>
            <a:p>
              <a:r>
                <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rPr>
                <a:t>Q</a:t>
              </a:r>
              <a:endPar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86" name="矩形 191519"/>
            <p:cNvSpPr/>
            <p:nvPr/>
          </p:nvSpPr>
          <p:spPr>
            <a:xfrm>
              <a:off x="2496" y="2888"/>
              <a:ext cx="144" cy="242"/>
            </a:xfrm>
            <a:prstGeom prst="rect">
              <a:avLst/>
            </a:prstGeom>
            <a:noFill/>
            <a:ln w="9525">
              <a:noFill/>
            </a:ln>
          </p:spPr>
          <p:txBody>
            <a:bodyPr wrap="none" lIns="0" tIns="0" rIns="0" bIns="0">
              <a:spAutoFit/>
            </a:bodyPr>
            <a:p>
              <a:r>
                <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rPr>
                <a:t>Q</a:t>
              </a:r>
              <a:endPar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87" name="矩形 191520"/>
            <p:cNvSpPr/>
            <p:nvPr/>
          </p:nvSpPr>
          <p:spPr>
            <a:xfrm>
              <a:off x="3315" y="2516"/>
              <a:ext cx="144" cy="242"/>
            </a:xfrm>
            <a:prstGeom prst="rect">
              <a:avLst/>
            </a:prstGeom>
            <a:noFill/>
            <a:ln w="9525">
              <a:noFill/>
            </a:ln>
          </p:spPr>
          <p:txBody>
            <a:bodyPr wrap="none" lIns="0" tIns="0" rIns="0" bIns="0">
              <a:spAutoFit/>
            </a:bodyPr>
            <a:p>
              <a:r>
                <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rPr>
                <a:t>Q</a:t>
              </a:r>
              <a:endPar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88" name="矩形 191521"/>
            <p:cNvSpPr/>
            <p:nvPr/>
          </p:nvSpPr>
          <p:spPr>
            <a:xfrm>
              <a:off x="3077" y="2516"/>
              <a:ext cx="144" cy="242"/>
            </a:xfrm>
            <a:prstGeom prst="rect">
              <a:avLst/>
            </a:prstGeom>
            <a:noFill/>
            <a:ln w="9525">
              <a:noFill/>
            </a:ln>
          </p:spPr>
          <p:txBody>
            <a:bodyPr wrap="none" lIns="0" tIns="0" rIns="0" bIns="0">
              <a:spAutoFit/>
            </a:bodyPr>
            <a:p>
              <a:r>
                <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rPr>
                <a:t>Q</a:t>
              </a:r>
              <a:endPar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89" name="矩形 191522"/>
            <p:cNvSpPr/>
            <p:nvPr/>
          </p:nvSpPr>
          <p:spPr>
            <a:xfrm>
              <a:off x="2496" y="2516"/>
              <a:ext cx="144" cy="242"/>
            </a:xfrm>
            <a:prstGeom prst="rect">
              <a:avLst/>
            </a:prstGeom>
            <a:noFill/>
            <a:ln w="9525">
              <a:noFill/>
            </a:ln>
          </p:spPr>
          <p:txBody>
            <a:bodyPr wrap="none" lIns="0" tIns="0" rIns="0" bIns="0">
              <a:spAutoFit/>
            </a:bodyPr>
            <a:p>
              <a:r>
                <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rPr>
                <a:t>Q</a:t>
              </a:r>
              <a:endParaRPr lang="en-US" altLang="zh-CN" sz="2500" i="1"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90" name="矩形 191523"/>
            <p:cNvSpPr/>
            <p:nvPr/>
          </p:nvSpPr>
          <p:spPr>
            <a:xfrm>
              <a:off x="3002" y="3720"/>
              <a:ext cx="60" cy="145"/>
            </a:xfrm>
            <a:prstGeom prst="rect">
              <a:avLst/>
            </a:prstGeom>
            <a:noFill/>
            <a:ln w="9525">
              <a:noFill/>
            </a:ln>
          </p:spPr>
          <p:txBody>
            <a:bodyPr wrap="none" lIns="0" tIns="0" rIns="0" bIns="0">
              <a:spAutoFit/>
            </a:bodyPr>
            <a:p>
              <a:r>
                <a:rPr lang="en-US" altLang="zh-CN" sz="1500" dirty="0">
                  <a:solidFill>
                    <a:srgbClr val="000000"/>
                  </a:solidFill>
                  <a:effectLst>
                    <a:outerShdw blurRad="38100" dist="38100" dir="2700000" algn="tl">
                      <a:srgbClr val="000000">
                        <a:alpha val="43137"/>
                      </a:srgbClr>
                    </a:outerShdw>
                  </a:effectLst>
                  <a:latin typeface="Times New Roman" panose="02020603050405020304" charset="0"/>
                </a:rPr>
                <a:t>2</a:t>
              </a:r>
              <a:endParaRPr lang="en-US" altLang="zh-CN" sz="1500"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91" name="矩形 191524"/>
            <p:cNvSpPr/>
            <p:nvPr/>
          </p:nvSpPr>
          <p:spPr>
            <a:xfrm>
              <a:off x="3477" y="3385"/>
              <a:ext cx="60" cy="145"/>
            </a:xfrm>
            <a:prstGeom prst="rect">
              <a:avLst/>
            </a:prstGeom>
            <a:noFill/>
            <a:ln w="9525">
              <a:noFill/>
            </a:ln>
          </p:spPr>
          <p:txBody>
            <a:bodyPr wrap="none" lIns="0" tIns="0" rIns="0" bIns="0">
              <a:spAutoFit/>
            </a:bodyPr>
            <a:p>
              <a:r>
                <a:rPr lang="en-US" altLang="zh-CN" sz="1500" dirty="0">
                  <a:solidFill>
                    <a:srgbClr val="000000"/>
                  </a:solidFill>
                  <a:effectLst>
                    <a:outerShdw blurRad="38100" dist="38100" dir="2700000" algn="tl">
                      <a:srgbClr val="000000">
                        <a:alpha val="43137"/>
                      </a:srgbClr>
                    </a:outerShdw>
                  </a:effectLst>
                  <a:latin typeface="Times New Roman" panose="02020603050405020304" charset="0"/>
                </a:rPr>
                <a:t>0</a:t>
              </a:r>
              <a:endParaRPr lang="en-US" altLang="zh-CN" sz="1500"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92" name="矩形 191525"/>
            <p:cNvSpPr/>
            <p:nvPr/>
          </p:nvSpPr>
          <p:spPr>
            <a:xfrm>
              <a:off x="3226" y="3385"/>
              <a:ext cx="60" cy="145"/>
            </a:xfrm>
            <a:prstGeom prst="rect">
              <a:avLst/>
            </a:prstGeom>
            <a:noFill/>
            <a:ln w="9525">
              <a:noFill/>
            </a:ln>
          </p:spPr>
          <p:txBody>
            <a:bodyPr wrap="none" lIns="0" tIns="0" rIns="0" bIns="0">
              <a:spAutoFit/>
            </a:bodyPr>
            <a:p>
              <a:r>
                <a:rPr lang="en-US" altLang="zh-CN" sz="1500" dirty="0">
                  <a:solidFill>
                    <a:srgbClr val="000000"/>
                  </a:solidFill>
                  <a:effectLst>
                    <a:outerShdw blurRad="38100" dist="38100" dir="2700000" algn="tl">
                      <a:srgbClr val="000000">
                        <a:alpha val="43137"/>
                      </a:srgbClr>
                    </a:outerShdw>
                  </a:effectLst>
                  <a:latin typeface="Times New Roman" panose="02020603050405020304" charset="0"/>
                </a:rPr>
                <a:t>2</a:t>
              </a:r>
              <a:endParaRPr lang="en-US" altLang="zh-CN" sz="1500"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93" name="矩形 191526"/>
            <p:cNvSpPr/>
            <p:nvPr/>
          </p:nvSpPr>
          <p:spPr>
            <a:xfrm>
              <a:off x="2789" y="3244"/>
              <a:ext cx="60" cy="145"/>
            </a:xfrm>
            <a:prstGeom prst="rect">
              <a:avLst/>
            </a:prstGeom>
            <a:noFill/>
            <a:ln w="9525">
              <a:noFill/>
            </a:ln>
          </p:spPr>
          <p:txBody>
            <a:bodyPr wrap="none" lIns="0" tIns="0" rIns="0" bIns="0">
              <a:spAutoFit/>
            </a:bodyPr>
            <a:p>
              <a:r>
                <a:rPr lang="en-US" altLang="zh-CN" sz="1500" dirty="0">
                  <a:solidFill>
                    <a:srgbClr val="000000"/>
                  </a:solidFill>
                  <a:effectLst>
                    <a:outerShdw blurRad="38100" dist="38100" dir="2700000" algn="tl">
                      <a:srgbClr val="000000">
                        <a:alpha val="43137"/>
                      </a:srgbClr>
                    </a:outerShdw>
                  </a:effectLst>
                  <a:latin typeface="Times New Roman" panose="02020603050405020304" charset="0"/>
                </a:rPr>
                <a:t>1</a:t>
              </a:r>
              <a:endParaRPr lang="en-US" altLang="zh-CN" sz="1500"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94" name="矩形 191527"/>
            <p:cNvSpPr/>
            <p:nvPr/>
          </p:nvSpPr>
          <p:spPr>
            <a:xfrm>
              <a:off x="2643" y="3385"/>
              <a:ext cx="60" cy="145"/>
            </a:xfrm>
            <a:prstGeom prst="rect">
              <a:avLst/>
            </a:prstGeom>
            <a:noFill/>
            <a:ln w="9525">
              <a:noFill/>
            </a:ln>
          </p:spPr>
          <p:txBody>
            <a:bodyPr wrap="none" lIns="0" tIns="0" rIns="0" bIns="0">
              <a:spAutoFit/>
            </a:bodyPr>
            <a:p>
              <a:r>
                <a:rPr lang="en-US" altLang="zh-CN" sz="1500" dirty="0">
                  <a:solidFill>
                    <a:srgbClr val="000000"/>
                  </a:solidFill>
                  <a:effectLst>
                    <a:outerShdw blurRad="38100" dist="38100" dir="2700000" algn="tl">
                      <a:srgbClr val="000000">
                        <a:alpha val="43137"/>
                      </a:srgbClr>
                    </a:outerShdw>
                  </a:effectLst>
                  <a:latin typeface="Times New Roman" panose="02020603050405020304" charset="0"/>
                </a:rPr>
                <a:t>0</a:t>
              </a:r>
              <a:endParaRPr lang="en-US" altLang="zh-CN" sz="1500"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95" name="矩形 191528"/>
            <p:cNvSpPr/>
            <p:nvPr/>
          </p:nvSpPr>
          <p:spPr>
            <a:xfrm>
              <a:off x="4157" y="3013"/>
              <a:ext cx="60" cy="145"/>
            </a:xfrm>
            <a:prstGeom prst="rect">
              <a:avLst/>
            </a:prstGeom>
            <a:noFill/>
            <a:ln w="9525">
              <a:noFill/>
            </a:ln>
          </p:spPr>
          <p:txBody>
            <a:bodyPr wrap="none" lIns="0" tIns="0" rIns="0" bIns="0">
              <a:spAutoFit/>
            </a:bodyPr>
            <a:p>
              <a:r>
                <a:rPr lang="en-US" altLang="zh-CN" sz="1500" dirty="0">
                  <a:solidFill>
                    <a:srgbClr val="000000"/>
                  </a:solidFill>
                  <a:effectLst>
                    <a:outerShdw blurRad="38100" dist="38100" dir="2700000" algn="tl">
                      <a:srgbClr val="000000">
                        <a:alpha val="43137"/>
                      </a:srgbClr>
                    </a:outerShdw>
                  </a:effectLst>
                  <a:latin typeface="Times New Roman" panose="02020603050405020304" charset="0"/>
                </a:rPr>
                <a:t>0</a:t>
              </a:r>
              <a:endParaRPr lang="en-US" altLang="zh-CN" sz="1500"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96" name="矩形 191529"/>
            <p:cNvSpPr/>
            <p:nvPr/>
          </p:nvSpPr>
          <p:spPr>
            <a:xfrm>
              <a:off x="3893" y="3013"/>
              <a:ext cx="60" cy="145"/>
            </a:xfrm>
            <a:prstGeom prst="rect">
              <a:avLst/>
            </a:prstGeom>
            <a:noFill/>
            <a:ln w="9525">
              <a:noFill/>
            </a:ln>
          </p:spPr>
          <p:txBody>
            <a:bodyPr wrap="none" lIns="0" tIns="0" rIns="0" bIns="0">
              <a:spAutoFit/>
            </a:bodyPr>
            <a:p>
              <a:r>
                <a:rPr lang="en-US" altLang="zh-CN" sz="1500" dirty="0">
                  <a:solidFill>
                    <a:srgbClr val="000000"/>
                  </a:solidFill>
                  <a:effectLst>
                    <a:outerShdw blurRad="38100" dist="38100" dir="2700000" algn="tl">
                      <a:srgbClr val="000000">
                        <a:alpha val="43137"/>
                      </a:srgbClr>
                    </a:outerShdw>
                  </a:effectLst>
                  <a:latin typeface="Times New Roman" panose="02020603050405020304" charset="0"/>
                </a:rPr>
                <a:t>1</a:t>
              </a:r>
              <a:endParaRPr lang="en-US" altLang="zh-CN" sz="1500"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97" name="矩形 191530"/>
            <p:cNvSpPr/>
            <p:nvPr/>
          </p:nvSpPr>
          <p:spPr>
            <a:xfrm>
              <a:off x="3461" y="3013"/>
              <a:ext cx="60" cy="145"/>
            </a:xfrm>
            <a:prstGeom prst="rect">
              <a:avLst/>
            </a:prstGeom>
            <a:noFill/>
            <a:ln w="9525">
              <a:noFill/>
            </a:ln>
          </p:spPr>
          <p:txBody>
            <a:bodyPr wrap="none" lIns="0" tIns="0" rIns="0" bIns="0">
              <a:spAutoFit/>
            </a:bodyPr>
            <a:p>
              <a:r>
                <a:rPr lang="en-US" altLang="zh-CN" sz="1500" dirty="0">
                  <a:solidFill>
                    <a:srgbClr val="000000"/>
                  </a:solidFill>
                  <a:effectLst>
                    <a:outerShdw blurRad="38100" dist="38100" dir="2700000" algn="tl">
                      <a:srgbClr val="000000">
                        <a:alpha val="43137"/>
                      </a:srgbClr>
                    </a:outerShdw>
                  </a:effectLst>
                  <a:latin typeface="Times New Roman" panose="02020603050405020304" charset="0"/>
                </a:rPr>
                <a:t>0</a:t>
              </a:r>
              <a:endParaRPr lang="en-US" altLang="zh-CN" sz="1500"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98" name="矩形 191531"/>
            <p:cNvSpPr/>
            <p:nvPr/>
          </p:nvSpPr>
          <p:spPr>
            <a:xfrm>
              <a:off x="3213" y="3013"/>
              <a:ext cx="60" cy="145"/>
            </a:xfrm>
            <a:prstGeom prst="rect">
              <a:avLst/>
            </a:prstGeom>
            <a:noFill/>
            <a:ln w="9525">
              <a:noFill/>
            </a:ln>
          </p:spPr>
          <p:txBody>
            <a:bodyPr wrap="none" lIns="0" tIns="0" rIns="0" bIns="0">
              <a:spAutoFit/>
            </a:bodyPr>
            <a:p>
              <a:r>
                <a:rPr lang="en-US" altLang="zh-CN" sz="1500" dirty="0">
                  <a:solidFill>
                    <a:srgbClr val="000000"/>
                  </a:solidFill>
                  <a:effectLst>
                    <a:outerShdw blurRad="38100" dist="38100" dir="2700000" algn="tl">
                      <a:srgbClr val="000000">
                        <a:alpha val="43137"/>
                      </a:srgbClr>
                    </a:outerShdw>
                  </a:effectLst>
                  <a:latin typeface="Times New Roman" panose="02020603050405020304" charset="0"/>
                </a:rPr>
                <a:t>1</a:t>
              </a:r>
              <a:endParaRPr lang="en-US" altLang="zh-CN" sz="1500"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699" name="矩形 191532"/>
            <p:cNvSpPr/>
            <p:nvPr/>
          </p:nvSpPr>
          <p:spPr>
            <a:xfrm>
              <a:off x="2789" y="2871"/>
              <a:ext cx="60" cy="145"/>
            </a:xfrm>
            <a:prstGeom prst="rect">
              <a:avLst/>
            </a:prstGeom>
            <a:noFill/>
            <a:ln w="9525">
              <a:noFill/>
            </a:ln>
          </p:spPr>
          <p:txBody>
            <a:bodyPr wrap="none" lIns="0" tIns="0" rIns="0" bIns="0">
              <a:spAutoFit/>
            </a:bodyPr>
            <a:p>
              <a:r>
                <a:rPr lang="en-US" altLang="zh-CN" sz="1500" dirty="0">
                  <a:solidFill>
                    <a:srgbClr val="000000"/>
                  </a:solidFill>
                  <a:effectLst>
                    <a:outerShdw blurRad="38100" dist="38100" dir="2700000" algn="tl">
                      <a:srgbClr val="000000">
                        <a:alpha val="43137"/>
                      </a:srgbClr>
                    </a:outerShdw>
                  </a:effectLst>
                  <a:latin typeface="Times New Roman" panose="02020603050405020304" charset="0"/>
                </a:rPr>
                <a:t>1</a:t>
              </a:r>
              <a:endParaRPr lang="en-US" altLang="zh-CN" sz="1500"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700" name="矩形 191533"/>
            <p:cNvSpPr/>
            <p:nvPr/>
          </p:nvSpPr>
          <p:spPr>
            <a:xfrm>
              <a:off x="2632" y="3013"/>
              <a:ext cx="60" cy="145"/>
            </a:xfrm>
            <a:prstGeom prst="rect">
              <a:avLst/>
            </a:prstGeom>
            <a:noFill/>
            <a:ln w="9525">
              <a:noFill/>
            </a:ln>
          </p:spPr>
          <p:txBody>
            <a:bodyPr wrap="none" lIns="0" tIns="0" rIns="0" bIns="0">
              <a:spAutoFit/>
            </a:bodyPr>
            <a:p>
              <a:r>
                <a:rPr lang="en-US" altLang="zh-CN" sz="1500" dirty="0">
                  <a:solidFill>
                    <a:srgbClr val="000000"/>
                  </a:solidFill>
                  <a:effectLst>
                    <a:outerShdw blurRad="38100" dist="38100" dir="2700000" algn="tl">
                      <a:srgbClr val="000000">
                        <a:alpha val="43137"/>
                      </a:srgbClr>
                    </a:outerShdw>
                  </a:effectLst>
                  <a:latin typeface="Times New Roman" panose="02020603050405020304" charset="0"/>
                </a:rPr>
                <a:t>1</a:t>
              </a:r>
              <a:endParaRPr lang="en-US" altLang="zh-CN" sz="1500"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701" name="矩形 191534"/>
            <p:cNvSpPr/>
            <p:nvPr/>
          </p:nvSpPr>
          <p:spPr>
            <a:xfrm>
              <a:off x="3461" y="2640"/>
              <a:ext cx="60" cy="145"/>
            </a:xfrm>
            <a:prstGeom prst="rect">
              <a:avLst/>
            </a:prstGeom>
            <a:noFill/>
            <a:ln w="9525">
              <a:noFill/>
            </a:ln>
          </p:spPr>
          <p:txBody>
            <a:bodyPr wrap="none" lIns="0" tIns="0" rIns="0" bIns="0">
              <a:spAutoFit/>
            </a:bodyPr>
            <a:p>
              <a:r>
                <a:rPr lang="en-US" altLang="zh-CN" sz="1500" dirty="0">
                  <a:solidFill>
                    <a:srgbClr val="000000"/>
                  </a:solidFill>
                  <a:effectLst>
                    <a:outerShdw blurRad="38100" dist="38100" dir="2700000" algn="tl">
                      <a:srgbClr val="000000">
                        <a:alpha val="43137"/>
                      </a:srgbClr>
                    </a:outerShdw>
                  </a:effectLst>
                  <a:latin typeface="Times New Roman" panose="02020603050405020304" charset="0"/>
                </a:rPr>
                <a:t>0</a:t>
              </a:r>
              <a:endParaRPr lang="en-US" altLang="zh-CN" sz="1500"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702" name="矩形 191535"/>
            <p:cNvSpPr/>
            <p:nvPr/>
          </p:nvSpPr>
          <p:spPr>
            <a:xfrm>
              <a:off x="3213" y="2640"/>
              <a:ext cx="60" cy="145"/>
            </a:xfrm>
            <a:prstGeom prst="rect">
              <a:avLst/>
            </a:prstGeom>
            <a:noFill/>
            <a:ln w="9525">
              <a:noFill/>
            </a:ln>
          </p:spPr>
          <p:txBody>
            <a:bodyPr wrap="none" lIns="0" tIns="0" rIns="0" bIns="0">
              <a:spAutoFit/>
            </a:bodyPr>
            <a:p>
              <a:r>
                <a:rPr lang="en-US" altLang="zh-CN" sz="1500" dirty="0">
                  <a:solidFill>
                    <a:srgbClr val="000000"/>
                  </a:solidFill>
                  <a:effectLst>
                    <a:outerShdw blurRad="38100" dist="38100" dir="2700000" algn="tl">
                      <a:srgbClr val="000000">
                        <a:alpha val="43137"/>
                      </a:srgbClr>
                    </a:outerShdw>
                  </a:effectLst>
                  <a:latin typeface="Times New Roman" panose="02020603050405020304" charset="0"/>
                </a:rPr>
                <a:t>1</a:t>
              </a:r>
              <a:endParaRPr lang="en-US" altLang="zh-CN" sz="1500"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703" name="矩形 191536"/>
            <p:cNvSpPr/>
            <p:nvPr/>
          </p:nvSpPr>
          <p:spPr>
            <a:xfrm>
              <a:off x="2789" y="2499"/>
              <a:ext cx="60" cy="145"/>
            </a:xfrm>
            <a:prstGeom prst="rect">
              <a:avLst/>
            </a:prstGeom>
            <a:noFill/>
            <a:ln w="9525">
              <a:noFill/>
            </a:ln>
          </p:spPr>
          <p:txBody>
            <a:bodyPr wrap="none" lIns="0" tIns="0" rIns="0" bIns="0">
              <a:spAutoFit/>
            </a:bodyPr>
            <a:p>
              <a:r>
                <a:rPr lang="en-US" altLang="zh-CN" sz="1500" dirty="0">
                  <a:solidFill>
                    <a:srgbClr val="000000"/>
                  </a:solidFill>
                  <a:effectLst>
                    <a:outerShdw blurRad="38100" dist="38100" dir="2700000" algn="tl">
                      <a:srgbClr val="000000">
                        <a:alpha val="43137"/>
                      </a:srgbClr>
                    </a:outerShdw>
                  </a:effectLst>
                  <a:latin typeface="Times New Roman" panose="02020603050405020304" charset="0"/>
                </a:rPr>
                <a:t>1</a:t>
              </a:r>
              <a:endParaRPr lang="en-US" altLang="zh-CN" sz="1500"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704" name="矩形 191537"/>
            <p:cNvSpPr/>
            <p:nvPr/>
          </p:nvSpPr>
          <p:spPr>
            <a:xfrm>
              <a:off x="2645" y="2640"/>
              <a:ext cx="60" cy="145"/>
            </a:xfrm>
            <a:prstGeom prst="rect">
              <a:avLst/>
            </a:prstGeom>
            <a:noFill/>
            <a:ln w="9525">
              <a:noFill/>
            </a:ln>
          </p:spPr>
          <p:txBody>
            <a:bodyPr wrap="none" lIns="0" tIns="0" rIns="0" bIns="0">
              <a:spAutoFit/>
            </a:bodyPr>
            <a:p>
              <a:r>
                <a:rPr lang="en-US" altLang="zh-CN" sz="1500" dirty="0">
                  <a:solidFill>
                    <a:srgbClr val="000000"/>
                  </a:solidFill>
                  <a:effectLst>
                    <a:outerShdw blurRad="38100" dist="38100" dir="2700000" algn="tl">
                      <a:srgbClr val="000000">
                        <a:alpha val="43137"/>
                      </a:srgbClr>
                    </a:outerShdw>
                  </a:effectLst>
                  <a:latin typeface="Times New Roman" panose="02020603050405020304" charset="0"/>
                </a:rPr>
                <a:t>2</a:t>
              </a:r>
              <a:endParaRPr lang="en-US" altLang="zh-CN" sz="1500" dirty="0">
                <a:solidFill>
                  <a:srgbClr val="000000"/>
                </a:solidFill>
                <a:effectLst>
                  <a:outerShdw blurRad="38100" dist="38100" dir="2700000" algn="tl">
                    <a:srgbClr val="000000">
                      <a:alpha val="43137"/>
                    </a:srgbClr>
                  </a:outerShdw>
                </a:effectLst>
                <a:latin typeface="Times New Roman" panose="02020603050405020304" charset="0"/>
              </a:endParaRPr>
            </a:p>
          </p:txBody>
        </p:sp>
        <p:sp>
          <p:nvSpPr>
            <p:cNvPr id="27705" name="矩形 191538"/>
            <p:cNvSpPr/>
            <p:nvPr/>
          </p:nvSpPr>
          <p:spPr>
            <a:xfrm>
              <a:off x="2696" y="3571"/>
              <a:ext cx="110" cy="242"/>
            </a:xfrm>
            <a:prstGeom prst="rect">
              <a:avLst/>
            </a:prstGeom>
            <a:noFill/>
            <a:ln w="9525">
              <a:noFill/>
            </a:ln>
          </p:spPr>
          <p:txBody>
            <a:bodyPr wrap="none" lIns="0" tIns="0" rIns="0" bIns="0">
              <a:spAutoFit/>
            </a:bodyPr>
            <a:p>
              <a:r>
                <a:rPr lang="en-US" altLang="zh-CN" sz="2500" dirty="0">
                  <a:solidFill>
                    <a:srgbClr val="000000"/>
                  </a:solidFill>
                  <a:effectLst>
                    <a:outerShdw blurRad="38100" dist="38100" dir="2700000" algn="tl">
                      <a:srgbClr val="000000">
                        <a:alpha val="43137"/>
                      </a:srgbClr>
                    </a:outerShdw>
                  </a:effectLst>
                  <a:latin typeface="Symbol" panose="05050102010706020507" pitchFamily="18" charset="2"/>
                </a:rPr>
                <a:t>=</a:t>
              </a:r>
              <a:endParaRPr lang="en-US" altLang="zh-CN" sz="2500" dirty="0">
                <a:solidFill>
                  <a:srgbClr val="000000"/>
                </a:solidFill>
                <a:effectLst>
                  <a:outerShdw blurRad="38100" dist="38100" dir="2700000" algn="tl">
                    <a:srgbClr val="000000">
                      <a:alpha val="43137"/>
                    </a:srgbClr>
                  </a:outerShdw>
                </a:effectLst>
                <a:latin typeface="Symbol" panose="05050102010706020507" pitchFamily="18" charset="2"/>
              </a:endParaRPr>
            </a:p>
          </p:txBody>
        </p:sp>
        <p:sp>
          <p:nvSpPr>
            <p:cNvPr id="27706" name="矩形 191539"/>
            <p:cNvSpPr/>
            <p:nvPr/>
          </p:nvSpPr>
          <p:spPr>
            <a:xfrm>
              <a:off x="2919" y="3237"/>
              <a:ext cx="110" cy="242"/>
            </a:xfrm>
            <a:prstGeom prst="rect">
              <a:avLst/>
            </a:prstGeom>
            <a:noFill/>
            <a:ln w="9525">
              <a:noFill/>
            </a:ln>
          </p:spPr>
          <p:txBody>
            <a:bodyPr wrap="none" lIns="0" tIns="0" rIns="0" bIns="0">
              <a:spAutoFit/>
            </a:bodyPr>
            <a:p>
              <a:r>
                <a:rPr lang="en-US" altLang="zh-CN" sz="2500" dirty="0">
                  <a:solidFill>
                    <a:srgbClr val="000000"/>
                  </a:solidFill>
                  <a:effectLst>
                    <a:outerShdw blurRad="38100" dist="38100" dir="2700000" algn="tl">
                      <a:srgbClr val="000000">
                        <a:alpha val="43137"/>
                      </a:srgbClr>
                    </a:outerShdw>
                  </a:effectLst>
                  <a:latin typeface="Symbol" panose="05050102010706020507" pitchFamily="18" charset="2"/>
                </a:rPr>
                <a:t>=</a:t>
              </a:r>
              <a:endParaRPr lang="en-US" altLang="zh-CN" sz="2500" dirty="0">
                <a:solidFill>
                  <a:srgbClr val="000000"/>
                </a:solidFill>
                <a:effectLst>
                  <a:outerShdw blurRad="38100" dist="38100" dir="2700000" algn="tl">
                    <a:srgbClr val="000000">
                      <a:alpha val="43137"/>
                    </a:srgbClr>
                  </a:outerShdw>
                </a:effectLst>
                <a:latin typeface="Symbol" panose="05050102010706020507" pitchFamily="18" charset="2"/>
              </a:endParaRPr>
            </a:p>
          </p:txBody>
        </p:sp>
        <p:sp>
          <p:nvSpPr>
            <p:cNvPr id="27707" name="矩形 191540"/>
            <p:cNvSpPr/>
            <p:nvPr/>
          </p:nvSpPr>
          <p:spPr>
            <a:xfrm>
              <a:off x="3609" y="2864"/>
              <a:ext cx="110" cy="242"/>
            </a:xfrm>
            <a:prstGeom prst="rect">
              <a:avLst/>
            </a:prstGeom>
            <a:noFill/>
            <a:ln w="9525">
              <a:noFill/>
            </a:ln>
          </p:spPr>
          <p:txBody>
            <a:bodyPr wrap="none" lIns="0" tIns="0" rIns="0" bIns="0">
              <a:spAutoFit/>
            </a:bodyPr>
            <a:p>
              <a:r>
                <a:rPr lang="en-US" altLang="zh-CN" sz="2500" dirty="0">
                  <a:solidFill>
                    <a:srgbClr val="000000"/>
                  </a:solidFill>
                  <a:effectLst>
                    <a:outerShdw blurRad="38100" dist="38100" dir="2700000" algn="tl">
                      <a:srgbClr val="000000">
                        <a:alpha val="43137"/>
                      </a:srgbClr>
                    </a:outerShdw>
                  </a:effectLst>
                  <a:latin typeface="Symbol" panose="05050102010706020507" pitchFamily="18" charset="2"/>
                </a:rPr>
                <a:t>+</a:t>
              </a:r>
              <a:endParaRPr lang="en-US" altLang="zh-CN" sz="2500" dirty="0">
                <a:solidFill>
                  <a:srgbClr val="000000"/>
                </a:solidFill>
                <a:effectLst>
                  <a:outerShdw blurRad="38100" dist="38100" dir="2700000" algn="tl">
                    <a:srgbClr val="000000">
                      <a:alpha val="43137"/>
                    </a:srgbClr>
                  </a:outerShdw>
                </a:effectLst>
                <a:latin typeface="Symbol" panose="05050102010706020507" pitchFamily="18" charset="2"/>
              </a:endParaRPr>
            </a:p>
          </p:txBody>
        </p:sp>
        <p:sp>
          <p:nvSpPr>
            <p:cNvPr id="27708" name="矩形 191541"/>
            <p:cNvSpPr/>
            <p:nvPr/>
          </p:nvSpPr>
          <p:spPr>
            <a:xfrm>
              <a:off x="2919" y="2864"/>
              <a:ext cx="110" cy="242"/>
            </a:xfrm>
            <a:prstGeom prst="rect">
              <a:avLst/>
            </a:prstGeom>
            <a:noFill/>
            <a:ln w="9525">
              <a:noFill/>
            </a:ln>
          </p:spPr>
          <p:txBody>
            <a:bodyPr wrap="none" lIns="0" tIns="0" rIns="0" bIns="0">
              <a:spAutoFit/>
            </a:bodyPr>
            <a:p>
              <a:r>
                <a:rPr lang="en-US" altLang="zh-CN" sz="2500" dirty="0">
                  <a:solidFill>
                    <a:srgbClr val="000000"/>
                  </a:solidFill>
                  <a:effectLst>
                    <a:outerShdw blurRad="38100" dist="38100" dir="2700000" algn="tl">
                      <a:srgbClr val="000000">
                        <a:alpha val="43137"/>
                      </a:srgbClr>
                    </a:outerShdw>
                  </a:effectLst>
                  <a:latin typeface="Symbol" panose="05050102010706020507" pitchFamily="18" charset="2"/>
                </a:rPr>
                <a:t>=</a:t>
              </a:r>
              <a:endParaRPr lang="en-US" altLang="zh-CN" sz="2500" dirty="0">
                <a:solidFill>
                  <a:srgbClr val="000000"/>
                </a:solidFill>
                <a:effectLst>
                  <a:outerShdw blurRad="38100" dist="38100" dir="2700000" algn="tl">
                    <a:srgbClr val="000000">
                      <a:alpha val="43137"/>
                    </a:srgbClr>
                  </a:outerShdw>
                </a:effectLst>
                <a:latin typeface="Symbol" panose="05050102010706020507" pitchFamily="18" charset="2"/>
              </a:endParaRPr>
            </a:p>
          </p:txBody>
        </p:sp>
        <p:sp>
          <p:nvSpPr>
            <p:cNvPr id="27709" name="矩形 191542"/>
            <p:cNvSpPr/>
            <p:nvPr/>
          </p:nvSpPr>
          <p:spPr>
            <a:xfrm>
              <a:off x="2919" y="2492"/>
              <a:ext cx="110" cy="242"/>
            </a:xfrm>
            <a:prstGeom prst="rect">
              <a:avLst/>
            </a:prstGeom>
            <a:noFill/>
            <a:ln w="9525">
              <a:noFill/>
            </a:ln>
          </p:spPr>
          <p:txBody>
            <a:bodyPr wrap="none" lIns="0" tIns="0" rIns="0" bIns="0">
              <a:spAutoFit/>
            </a:bodyPr>
            <a:p>
              <a:r>
                <a:rPr lang="en-US" altLang="zh-CN" sz="2500" dirty="0">
                  <a:solidFill>
                    <a:srgbClr val="000000"/>
                  </a:solidFill>
                  <a:effectLst>
                    <a:outerShdw blurRad="38100" dist="38100" dir="2700000" algn="tl">
                      <a:srgbClr val="000000">
                        <a:alpha val="43137"/>
                      </a:srgbClr>
                    </a:outerShdw>
                  </a:effectLst>
                  <a:latin typeface="Symbol" panose="05050102010706020507" pitchFamily="18" charset="2"/>
                </a:rPr>
                <a:t>=</a:t>
              </a:r>
              <a:endParaRPr lang="en-US" altLang="zh-CN" sz="2500" dirty="0">
                <a:solidFill>
                  <a:srgbClr val="000000"/>
                </a:solidFill>
                <a:effectLst>
                  <a:outerShdw blurRad="38100" dist="38100" dir="2700000" algn="tl">
                    <a:srgbClr val="000000">
                      <a:alpha val="43137"/>
                    </a:srgbClr>
                  </a:outerShdw>
                </a:effectLst>
                <a:latin typeface="Symbol" panose="05050102010706020507" pitchFamily="18" charset="2"/>
              </a:endParaRPr>
            </a:p>
          </p:txBody>
        </p:sp>
        <p:sp>
          <p:nvSpPr>
            <p:cNvPr id="27710" name="矩形 191543"/>
            <p:cNvSpPr/>
            <p:nvPr/>
          </p:nvSpPr>
          <p:spPr>
            <a:xfrm>
              <a:off x="2729" y="3231"/>
              <a:ext cx="66" cy="145"/>
            </a:xfrm>
            <a:prstGeom prst="rect">
              <a:avLst/>
            </a:prstGeom>
            <a:noFill/>
            <a:ln w="9525">
              <a:noFill/>
            </a:ln>
          </p:spPr>
          <p:txBody>
            <a:bodyPr wrap="none" lIns="0" tIns="0" rIns="0" bIns="0">
              <a:spAutoFit/>
            </a:bodyPr>
            <a:p>
              <a:r>
                <a:rPr lang="en-US" altLang="zh-CN" sz="1500" dirty="0">
                  <a:solidFill>
                    <a:srgbClr val="000000"/>
                  </a:solidFill>
                  <a:effectLst>
                    <a:outerShdw blurRad="38100" dist="38100" dir="2700000" algn="tl">
                      <a:srgbClr val="000000">
                        <a:alpha val="43137"/>
                      </a:srgbClr>
                    </a:outerShdw>
                  </a:effectLst>
                  <a:latin typeface="Symbol" panose="05050102010706020507" pitchFamily="18" charset="2"/>
                </a:rPr>
                <a:t>+</a:t>
              </a:r>
              <a:endParaRPr lang="en-US" altLang="zh-CN" sz="1500" dirty="0">
                <a:solidFill>
                  <a:srgbClr val="000000"/>
                </a:solidFill>
                <a:effectLst>
                  <a:outerShdw blurRad="38100" dist="38100" dir="2700000" algn="tl">
                    <a:srgbClr val="000000">
                      <a:alpha val="43137"/>
                    </a:srgbClr>
                  </a:outerShdw>
                </a:effectLst>
                <a:latin typeface="Symbol" panose="05050102010706020507" pitchFamily="18" charset="2"/>
              </a:endParaRPr>
            </a:p>
          </p:txBody>
        </p:sp>
        <p:sp>
          <p:nvSpPr>
            <p:cNvPr id="27711" name="矩形 191544"/>
            <p:cNvSpPr/>
            <p:nvPr/>
          </p:nvSpPr>
          <p:spPr>
            <a:xfrm>
              <a:off x="2729" y="2858"/>
              <a:ext cx="66" cy="145"/>
            </a:xfrm>
            <a:prstGeom prst="rect">
              <a:avLst/>
            </a:prstGeom>
            <a:noFill/>
            <a:ln w="9525">
              <a:noFill/>
            </a:ln>
          </p:spPr>
          <p:txBody>
            <a:bodyPr wrap="none" lIns="0" tIns="0" rIns="0" bIns="0">
              <a:spAutoFit/>
            </a:bodyPr>
            <a:p>
              <a:r>
                <a:rPr lang="en-US" altLang="zh-CN" sz="1500" dirty="0">
                  <a:solidFill>
                    <a:srgbClr val="000000"/>
                  </a:solidFill>
                  <a:effectLst>
                    <a:outerShdw blurRad="38100" dist="38100" dir="2700000" algn="tl">
                      <a:srgbClr val="000000">
                        <a:alpha val="43137"/>
                      </a:srgbClr>
                    </a:outerShdw>
                  </a:effectLst>
                  <a:latin typeface="Symbol" panose="05050102010706020507" pitchFamily="18" charset="2"/>
                </a:rPr>
                <a:t>+</a:t>
              </a:r>
              <a:endParaRPr lang="en-US" altLang="zh-CN" sz="1500" dirty="0">
                <a:solidFill>
                  <a:srgbClr val="000000"/>
                </a:solidFill>
                <a:effectLst>
                  <a:outerShdw blurRad="38100" dist="38100" dir="2700000" algn="tl">
                    <a:srgbClr val="000000">
                      <a:alpha val="43137"/>
                    </a:srgbClr>
                  </a:outerShdw>
                </a:effectLst>
                <a:latin typeface="Symbol" panose="05050102010706020507" pitchFamily="18" charset="2"/>
              </a:endParaRPr>
            </a:p>
          </p:txBody>
        </p:sp>
        <p:sp>
          <p:nvSpPr>
            <p:cNvPr id="27712" name="矩形 191545"/>
            <p:cNvSpPr/>
            <p:nvPr/>
          </p:nvSpPr>
          <p:spPr>
            <a:xfrm>
              <a:off x="2729" y="2486"/>
              <a:ext cx="66" cy="145"/>
            </a:xfrm>
            <a:prstGeom prst="rect">
              <a:avLst/>
            </a:prstGeom>
            <a:noFill/>
            <a:ln w="9525">
              <a:noFill/>
            </a:ln>
          </p:spPr>
          <p:txBody>
            <a:bodyPr wrap="none" lIns="0" tIns="0" rIns="0" bIns="0">
              <a:spAutoFit/>
            </a:bodyPr>
            <a:p>
              <a:r>
                <a:rPr lang="en-US" altLang="zh-CN" sz="1500" dirty="0">
                  <a:solidFill>
                    <a:srgbClr val="000000"/>
                  </a:solidFill>
                  <a:effectLst>
                    <a:outerShdw blurRad="38100" dist="38100" dir="2700000" algn="tl">
                      <a:srgbClr val="000000">
                        <a:alpha val="43137"/>
                      </a:srgbClr>
                    </a:outerShdw>
                  </a:effectLst>
                  <a:latin typeface="Symbol" panose="05050102010706020507" pitchFamily="18" charset="2"/>
                </a:rPr>
                <a:t>+</a:t>
              </a:r>
              <a:endParaRPr lang="en-US" altLang="zh-CN" sz="1500" dirty="0">
                <a:solidFill>
                  <a:srgbClr val="000000"/>
                </a:solidFill>
                <a:effectLst>
                  <a:outerShdw blurRad="38100" dist="38100" dir="2700000" algn="tl">
                    <a:srgbClr val="000000">
                      <a:alpha val="43137"/>
                    </a:srgbClr>
                  </a:outerShdw>
                </a:effectLst>
                <a:latin typeface="Symbol" panose="05050102010706020507" pitchFamily="18" charset="2"/>
              </a:endParaRPr>
            </a:p>
          </p:txBody>
        </p:sp>
      </p:grpSp>
      <p:sp>
        <p:nvSpPr>
          <p:cNvPr id="2" name="文本框 1"/>
          <p:cNvSpPr txBox="1"/>
          <p:nvPr/>
        </p:nvSpPr>
        <p:spPr>
          <a:xfrm>
            <a:off x="1073150" y="1158875"/>
            <a:ext cx="5916930" cy="460375"/>
          </a:xfrm>
          <a:prstGeom prst="rect">
            <a:avLst/>
          </a:prstGeom>
          <a:noFill/>
        </p:spPr>
        <p:txBody>
          <a:bodyPr wrap="square" rtlCol="0" anchor="t">
            <a:spAutoFit/>
          </a:bodyPr>
          <a:p>
            <a:r>
              <a:rPr lang="zh-CN" altLang="en-US" sz="2400" b="1">
                <a:gradFill>
                  <a:gsLst>
                    <a:gs pos="0">
                      <a:srgbClr val="012D86"/>
                    </a:gs>
                    <a:gs pos="100000">
                      <a:srgbClr val="0E2557"/>
                    </a:gs>
                  </a:gsLst>
                  <a:lin scaled="0"/>
                </a:gradFill>
              </a:rPr>
              <a:t>求出各触发器的状态方程以及输出方程为</a:t>
            </a:r>
            <a:endParaRPr lang="zh-CN" altLang="en-US" sz="2400" b="1">
              <a:gradFill>
                <a:gsLst>
                  <a:gs pos="0">
                    <a:srgbClr val="012D86"/>
                  </a:gs>
                  <a:gs pos="100000">
                    <a:srgbClr val="0E2557"/>
                  </a:gs>
                </a:gsLst>
                <a:lin scaled="0"/>
              </a:gradFill>
            </a:endParaRPr>
          </a:p>
        </p:txBody>
      </p:sp>
      <p:sp>
        <p:nvSpPr>
          <p:cNvPr id="100" name="文本框 99"/>
          <p:cNvSpPr txBox="1"/>
          <p:nvPr/>
        </p:nvSpPr>
        <p:spPr>
          <a:xfrm>
            <a:off x="1075690" y="3884930"/>
            <a:ext cx="3043555" cy="460375"/>
          </a:xfrm>
          <a:prstGeom prst="rect">
            <a:avLst/>
          </a:prstGeom>
          <a:noFill/>
          <a:ln w="9525">
            <a:noFill/>
          </a:ln>
        </p:spPr>
        <p:txBody>
          <a:bodyPr wrap="square">
            <a:spAutoFit/>
          </a:bodyPr>
          <a:p>
            <a:r>
              <a:rPr lang="en-US" sz="2400" b="1">
                <a:latin typeface="Times New Roman" panose="02020603050405020304" charset="0"/>
                <a:sym typeface="+mn-ea"/>
              </a:rPr>
              <a:t>(4)</a:t>
            </a:r>
            <a:r>
              <a:rPr lang="zh-CN" sz="2400" b="1">
                <a:ea typeface="宋体" panose="02010600030101010101" pitchFamily="2" charset="-122"/>
              </a:rPr>
              <a:t>选择触发器</a:t>
            </a:r>
            <a:r>
              <a:rPr lang="zh-CN" sz="2400" b="1">
                <a:latin typeface="Times New Roman" panose="02020603050405020304" charset="0"/>
                <a:ea typeface="宋体" panose="02010600030101010101" pitchFamily="2" charset="-122"/>
              </a:rPr>
              <a:t>类型</a:t>
            </a:r>
            <a:endParaRPr lang="zh-CN" altLang="en-US" sz="2400" b="1"/>
          </a:p>
        </p:txBody>
      </p:sp>
      <p:grpSp>
        <p:nvGrpSpPr>
          <p:cNvPr id="5" name="组合 4"/>
          <p:cNvGrpSpPr/>
          <p:nvPr/>
        </p:nvGrpSpPr>
        <p:grpSpPr>
          <a:xfrm>
            <a:off x="1072515" y="4345305"/>
            <a:ext cx="7863840" cy="976630"/>
            <a:chOff x="1689" y="6723"/>
            <a:chExt cx="12384" cy="1538"/>
          </a:xfrm>
        </p:grpSpPr>
        <p:sp>
          <p:nvSpPr>
            <p:cNvPr id="3" name="文本框 2"/>
            <p:cNvSpPr txBox="1"/>
            <p:nvPr/>
          </p:nvSpPr>
          <p:spPr>
            <a:xfrm>
              <a:off x="1689" y="6723"/>
              <a:ext cx="12384" cy="1539"/>
            </a:xfrm>
            <a:prstGeom prst="rect">
              <a:avLst/>
            </a:prstGeom>
            <a:noFill/>
          </p:spPr>
          <p:txBody>
            <a:bodyPr wrap="square" rtlCol="0" anchor="t">
              <a:spAutoFit/>
            </a:bodyPr>
            <a:p>
              <a:pPr>
                <a:lnSpc>
                  <a:spcPct val="120000"/>
                </a:lnSpc>
              </a:pPr>
              <a:r>
                <a:rPr lang="en-US" altLang="zh-CN" sz="2400" b="1">
                  <a:gradFill>
                    <a:gsLst>
                      <a:gs pos="0">
                        <a:srgbClr val="012D86"/>
                      </a:gs>
                      <a:gs pos="100000">
                        <a:srgbClr val="0E2557"/>
                      </a:gs>
                    </a:gsLst>
                    <a:lin scaled="0"/>
                  </a:gradFill>
                  <a:sym typeface="+mn-ea"/>
                </a:rPr>
                <a:t>           </a:t>
              </a:r>
              <a:r>
                <a:rPr lang="zh-CN" altLang="en-US" sz="2400" b="1">
                  <a:gradFill>
                    <a:gsLst>
                      <a:gs pos="0">
                        <a:srgbClr val="012D86"/>
                      </a:gs>
                      <a:gs pos="100000">
                        <a:srgbClr val="0E2557"/>
                      </a:gs>
                    </a:gsLst>
                    <a:lin scaled="0"/>
                  </a:gradFill>
                  <a:sym typeface="+mn-ea"/>
                </a:rPr>
                <a:t>状态方程</a:t>
              </a:r>
              <a:r>
                <a:rPr lang="zh-CN" altLang="en-US" sz="2400" b="1">
                  <a:gradFill>
                    <a:gsLst>
                      <a:gs pos="0">
                        <a:srgbClr val="012D86"/>
                      </a:gs>
                      <a:gs pos="100000">
                        <a:srgbClr val="0E2557"/>
                      </a:gs>
                    </a:gsLst>
                    <a:lin scaled="0"/>
                  </a:gradFill>
                </a:rPr>
                <a:t>形式与</a:t>
              </a:r>
              <a:r>
                <a:rPr lang="en-US" altLang="zh-CN" sz="2400" b="1" i="1">
                  <a:gradFill>
                    <a:gsLst>
                      <a:gs pos="0">
                        <a:srgbClr val="012D86"/>
                      </a:gs>
                      <a:gs pos="100000">
                        <a:srgbClr val="0E2557"/>
                      </a:gs>
                    </a:gsLst>
                    <a:lin scaled="0"/>
                  </a:gradFill>
                  <a:latin typeface="Times New Roman" panose="02020603050405020304" charset="0"/>
                  <a:cs typeface="Times New Roman" panose="02020603050405020304" charset="0"/>
                </a:rPr>
                <a:t>JK</a:t>
              </a:r>
              <a:r>
                <a:rPr lang="zh-CN" altLang="en-US" sz="2400" b="1">
                  <a:gradFill>
                    <a:gsLst>
                      <a:gs pos="0">
                        <a:srgbClr val="012D86"/>
                      </a:gs>
                      <a:gs pos="100000">
                        <a:srgbClr val="0E2557"/>
                      </a:gs>
                    </a:gsLst>
                    <a:lin scaled="0"/>
                  </a:gradFill>
                </a:rPr>
                <a:t>触发器特性方程相似</a:t>
              </a:r>
              <a:r>
                <a:rPr lang="en-US" altLang="zh-CN" sz="2400" b="1">
                  <a:gradFill>
                    <a:gsLst>
                      <a:gs pos="0">
                        <a:srgbClr val="012D86"/>
                      </a:gs>
                      <a:gs pos="100000">
                        <a:srgbClr val="0E2557"/>
                      </a:gs>
                    </a:gsLst>
                    <a:lin scaled="0"/>
                  </a:gradFill>
                </a:rPr>
                <a:t>,</a:t>
              </a:r>
              <a:r>
                <a:rPr lang="zh-CN" altLang="en-US" sz="2400" b="1">
                  <a:gradFill>
                    <a:gsLst>
                      <a:gs pos="0">
                        <a:srgbClr val="012D86"/>
                      </a:gs>
                      <a:gs pos="100000">
                        <a:srgbClr val="0E2557"/>
                      </a:gs>
                    </a:gsLst>
                    <a:lin scaled="0"/>
                  </a:gradFill>
                </a:rPr>
                <a:t>故选用</a:t>
              </a:r>
              <a:r>
                <a:rPr lang="en-US" altLang="zh-CN" sz="2400" b="1" i="1">
                  <a:gradFill>
                    <a:gsLst>
                      <a:gs pos="0">
                        <a:srgbClr val="012D86"/>
                      </a:gs>
                      <a:gs pos="100000">
                        <a:srgbClr val="0E2557"/>
                      </a:gs>
                    </a:gsLst>
                    <a:lin scaled="0"/>
                  </a:gradFill>
                  <a:latin typeface="Times New Roman" panose="02020603050405020304" charset="0"/>
                  <a:cs typeface="Times New Roman" panose="02020603050405020304" charset="0"/>
                  <a:sym typeface="+mn-ea"/>
                </a:rPr>
                <a:t>JK</a:t>
              </a:r>
              <a:r>
                <a:rPr lang="zh-CN" altLang="en-US" sz="2400" b="1">
                  <a:gradFill>
                    <a:gsLst>
                      <a:gs pos="0">
                        <a:srgbClr val="012D86"/>
                      </a:gs>
                      <a:gs pos="100000">
                        <a:srgbClr val="0E2557"/>
                      </a:gs>
                    </a:gsLst>
                    <a:lin scaled="0"/>
                  </a:gradFill>
                </a:rPr>
                <a:t>触发器比较合适</a:t>
              </a:r>
              <a:endParaRPr lang="zh-CN" altLang="en-US" sz="2400" b="1">
                <a:gradFill>
                  <a:gsLst>
                    <a:gs pos="0">
                      <a:srgbClr val="012D86"/>
                    </a:gs>
                    <a:gs pos="100000">
                      <a:srgbClr val="0E2557"/>
                    </a:gs>
                  </a:gsLst>
                  <a:lin scaled="0"/>
                </a:gradFill>
              </a:endParaRPr>
            </a:p>
          </p:txBody>
        </p:sp>
        <p:pic>
          <p:nvPicPr>
            <p:cNvPr id="6" name="对象 1757"/>
            <p:cNvPicPr>
              <a:picLocks noChangeAspect="1"/>
            </p:cNvPicPr>
            <p:nvPr/>
          </p:nvPicPr>
          <p:blipFill>
            <a:blip r:embed="rId1"/>
            <a:stretch>
              <a:fillRect/>
            </a:stretch>
          </p:blipFill>
          <p:spPr>
            <a:xfrm>
              <a:off x="2430" y="6819"/>
              <a:ext cx="870" cy="719"/>
            </a:xfrm>
            <a:prstGeom prst="rect">
              <a:avLst/>
            </a:prstGeom>
            <a:noFill/>
            <a:ln w="9525">
              <a:noFill/>
            </a:ln>
          </p:spPr>
        </p:pic>
      </p:grpSp>
      <p:grpSp>
        <p:nvGrpSpPr>
          <p:cNvPr id="8" name="组合 7"/>
          <p:cNvGrpSpPr/>
          <p:nvPr/>
        </p:nvGrpSpPr>
        <p:grpSpPr>
          <a:xfrm>
            <a:off x="1399540" y="5322570"/>
            <a:ext cx="5080000" cy="466090"/>
            <a:chOff x="2014" y="8253"/>
            <a:chExt cx="8000" cy="734"/>
          </a:xfrm>
        </p:grpSpPr>
        <p:sp>
          <p:nvSpPr>
            <p:cNvPr id="7" name="文本框 6"/>
            <p:cNvSpPr txBox="1"/>
            <p:nvPr/>
          </p:nvSpPr>
          <p:spPr>
            <a:xfrm>
              <a:off x="2014" y="8262"/>
              <a:ext cx="8000" cy="725"/>
            </a:xfrm>
            <a:prstGeom prst="rect">
              <a:avLst/>
            </a:prstGeom>
            <a:noFill/>
            <a:ln w="9525">
              <a:noFill/>
            </a:ln>
          </p:spPr>
          <p:txBody>
            <a:bodyPr>
              <a:spAutoFit/>
            </a:bodyPr>
            <a:p>
              <a:r>
                <a:rPr lang="zh-CN" sz="2400" b="1">
                  <a:gradFill>
                    <a:gsLst>
                      <a:gs pos="0">
                        <a:srgbClr val="012D86"/>
                      </a:gs>
                      <a:gs pos="100000">
                        <a:srgbClr val="0E2557"/>
                      </a:gs>
                    </a:gsLst>
                    <a:lin scaled="0"/>
                  </a:gradFill>
                  <a:latin typeface="Times New Roman" panose="02020603050405020304" charset="0"/>
                  <a:ea typeface="宋体" panose="02010600030101010101" pitchFamily="2" charset="-122"/>
                </a:rPr>
                <a:t>需要修改</a:t>
              </a:r>
              <a:r>
                <a:rPr lang="zh-CN" sz="2400" b="1">
                  <a:gradFill>
                    <a:gsLst>
                      <a:gs pos="0">
                        <a:srgbClr val="012D86"/>
                      </a:gs>
                      <a:gs pos="100000">
                        <a:srgbClr val="0E2557"/>
                      </a:gs>
                    </a:gsLst>
                    <a:lin scaled="0"/>
                  </a:gradFill>
                  <a:ea typeface="宋体" panose="02010600030101010101" pitchFamily="2" charset="-122"/>
                </a:rPr>
                <a:t>图</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6-</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13        </a:t>
              </a:r>
              <a:r>
                <a:rPr lang="zh-CN" sz="2400" b="1">
                  <a:gradFill>
                    <a:gsLst>
                      <a:gs pos="0">
                        <a:srgbClr val="012D86"/>
                      </a:gs>
                      <a:gs pos="100000">
                        <a:srgbClr val="0E2557"/>
                      </a:gs>
                    </a:gsLst>
                    <a:lin scaled="0"/>
                  </a:gradFill>
                  <a:latin typeface="Times New Roman" panose="02020603050405020304" charset="0"/>
                  <a:sym typeface="+mn-ea"/>
                </a:rPr>
                <a:t>卡诺图</a:t>
              </a:r>
              <a:endParaRPr lang="zh-CN" sz="2400" b="1">
                <a:gradFill>
                  <a:gsLst>
                    <a:gs pos="0">
                      <a:srgbClr val="012D86"/>
                    </a:gs>
                    <a:gs pos="100000">
                      <a:srgbClr val="0E2557"/>
                    </a:gs>
                  </a:gsLst>
                  <a:lin scaled="0"/>
                </a:gradFill>
                <a:latin typeface="Times New Roman" panose="02020603050405020304" charset="0"/>
                <a:ea typeface="宋体" panose="02010600030101010101" pitchFamily="2" charset="-122"/>
                <a:sym typeface="+mn-ea"/>
              </a:endParaRPr>
            </a:p>
          </p:txBody>
        </p:sp>
        <p:pic>
          <p:nvPicPr>
            <p:cNvPr id="9" name="图片 8"/>
            <p:cNvPicPr/>
            <p:nvPr/>
          </p:nvPicPr>
          <p:blipFill>
            <a:blip r:embed="rId2"/>
            <a:stretch>
              <a:fillRect/>
            </a:stretch>
          </p:blipFill>
          <p:spPr>
            <a:xfrm>
              <a:off x="5490" y="8253"/>
              <a:ext cx="809" cy="734"/>
            </a:xfrm>
            <a:prstGeom prst="rect">
              <a:avLst/>
            </a:prstGeom>
            <a:noFill/>
            <a:ln w="9525">
              <a:noFill/>
            </a:ln>
          </p:spPr>
        </p:pic>
      </p:grpSp>
      <p:graphicFrame>
        <p:nvGraphicFramePr>
          <p:cNvPr id="10" name="对象 9"/>
          <p:cNvGraphicFramePr/>
          <p:nvPr/>
        </p:nvGraphicFramePr>
        <p:xfrm>
          <a:off x="5756910" y="4803140"/>
          <a:ext cx="2825750" cy="1650365"/>
        </p:xfrm>
        <a:graphic>
          <a:graphicData uri="http://schemas.openxmlformats.org/presentationml/2006/ole">
            <mc:AlternateContent xmlns:mc="http://schemas.openxmlformats.org/markup-compatibility/2006">
              <mc:Choice xmlns:v="urn:schemas-microsoft-com:vml" Requires="v">
                <p:oleObj spid="_x0000_s11" name="" r:id="rId3" imgW="2752725" imgH="1590675" progId="Paint.Picture">
                  <p:embed/>
                </p:oleObj>
              </mc:Choice>
              <mc:Fallback>
                <p:oleObj name="" r:id="rId3" imgW="2752725" imgH="1590675" progId="Paint.Picture">
                  <p:embed/>
                  <p:pic>
                    <p:nvPicPr>
                      <p:cNvPr id="0" name="图片 3"/>
                      <p:cNvPicPr/>
                      <p:nvPr/>
                    </p:nvPicPr>
                    <p:blipFill>
                      <a:blip r:embed="rId4"/>
                      <a:stretch>
                        <a:fillRect/>
                      </a:stretch>
                    </p:blipFill>
                    <p:spPr>
                      <a:xfrm>
                        <a:off x="5756910" y="4803140"/>
                        <a:ext cx="2825750" cy="1650365"/>
                      </a:xfrm>
                      <a:prstGeom prst="rect">
                        <a:avLst/>
                      </a:prstGeom>
                    </p:spPr>
                  </p:pic>
                </p:oleObj>
              </mc:Fallback>
            </mc:AlternateContent>
          </a:graphicData>
        </a:graphic>
      </p:graphicFrame>
      <p:pic>
        <p:nvPicPr>
          <p:cNvPr id="9379" name="图片 2816"/>
          <p:cNvPicPr>
            <a:picLocks noChangeAspect="1"/>
          </p:cNvPicPr>
          <p:nvPr/>
        </p:nvPicPr>
        <p:blipFill>
          <a:blip r:embed="rId5"/>
          <a:stretch>
            <a:fillRect/>
          </a:stretch>
        </p:blipFill>
        <p:spPr>
          <a:xfrm>
            <a:off x="4288155" y="1592580"/>
            <a:ext cx="4648200" cy="281368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4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1000"/>
                                  </p:stCondLst>
                                  <p:childTnLst>
                                    <p:set>
                                      <p:cBhvr>
                                        <p:cTn id="2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6.3 </a:t>
            </a:r>
            <a:r>
              <a:rPr lang="zh-CN" altLang="en-US" b="1" dirty="0">
                <a:solidFill>
                  <a:srgbClr val="FF0000"/>
                </a:solidFill>
                <a:latin typeface="黑体" panose="02010609060101010101" pitchFamily="49" charset="-122"/>
                <a:ea typeface="黑体" panose="02010609060101010101" pitchFamily="49" charset="-122"/>
                <a:sym typeface="+mn-ea"/>
              </a:rPr>
              <a:t>同步</a:t>
            </a:r>
            <a:r>
              <a:rPr lang="en-US" altLang="zh-CN" b="1" dirty="0">
                <a:solidFill>
                  <a:srgbClr val="FF0000"/>
                </a:solidFill>
                <a:latin typeface="黑体" panose="02010609060101010101" pitchFamily="49" charset="-122"/>
                <a:ea typeface="黑体" panose="02010609060101010101" pitchFamily="49" charset="-122"/>
                <a:sym typeface="+mn-ea"/>
              </a:rPr>
              <a:t>时序逻辑电路的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1" name="文本框 100"/>
          <p:cNvSpPr txBox="1"/>
          <p:nvPr/>
        </p:nvSpPr>
        <p:spPr>
          <a:xfrm>
            <a:off x="940435" y="1179830"/>
            <a:ext cx="5080000" cy="460375"/>
          </a:xfrm>
          <a:prstGeom prst="rect">
            <a:avLst/>
          </a:prstGeom>
          <a:noFill/>
          <a:ln w="9525">
            <a:noFill/>
          </a:ln>
        </p:spPr>
        <p:txBody>
          <a:bodyPr>
            <a:spAutoFit/>
          </a:bodyPr>
          <a:p>
            <a:r>
              <a:rPr lang="en-US" sz="2400" b="1">
                <a:latin typeface="Times New Roman" panose="02020603050405020304" charset="0"/>
                <a:sym typeface="+mn-ea"/>
              </a:rPr>
              <a:t>(5)</a:t>
            </a:r>
            <a:r>
              <a:rPr lang="zh-CN" sz="2400" b="1">
                <a:ea typeface="宋体" panose="02010600030101010101" pitchFamily="2" charset="-122"/>
              </a:rPr>
              <a:t>求触发器的激励方程</a:t>
            </a:r>
            <a:endParaRPr lang="zh-CN" altLang="en-US" sz="2400" b="1">
              <a:ea typeface="宋体" panose="02010600030101010101" pitchFamily="2" charset="-122"/>
            </a:endParaRPr>
          </a:p>
        </p:txBody>
      </p:sp>
      <p:grpSp>
        <p:nvGrpSpPr>
          <p:cNvPr id="28678" name="组合 192517"/>
          <p:cNvGrpSpPr/>
          <p:nvPr/>
        </p:nvGrpSpPr>
        <p:grpSpPr>
          <a:xfrm>
            <a:off x="1229995" y="2234883"/>
            <a:ext cx="2795588" cy="2187575"/>
            <a:chOff x="2496" y="2486"/>
            <a:chExt cx="1761" cy="1378"/>
          </a:xfrm>
        </p:grpSpPr>
        <p:sp>
          <p:nvSpPr>
            <p:cNvPr id="28679" name="直接连接符 192518"/>
            <p:cNvSpPr/>
            <p:nvPr/>
          </p:nvSpPr>
          <p:spPr>
            <a:xfrm>
              <a:off x="3087" y="2854"/>
              <a:ext cx="237" cy="1"/>
            </a:xfrm>
            <a:prstGeom prst="line">
              <a:avLst/>
            </a:prstGeom>
            <a:ln w="12700" cap="flat" cmpd="sng">
              <a:solidFill>
                <a:srgbClr val="000000"/>
              </a:solidFill>
              <a:prstDash val="solid"/>
              <a:headEnd type="none" w="med" len="med"/>
              <a:tailEnd type="none" w="med" len="med"/>
            </a:ln>
          </p:spPr>
        </p:sp>
        <p:sp>
          <p:nvSpPr>
            <p:cNvPr id="28680" name="直接连接符 192519"/>
            <p:cNvSpPr/>
            <p:nvPr/>
          </p:nvSpPr>
          <p:spPr>
            <a:xfrm>
              <a:off x="4020" y="2854"/>
              <a:ext cx="237" cy="1"/>
            </a:xfrm>
            <a:prstGeom prst="line">
              <a:avLst/>
            </a:prstGeom>
            <a:ln w="12700" cap="flat" cmpd="sng">
              <a:solidFill>
                <a:srgbClr val="000000"/>
              </a:solidFill>
              <a:prstDash val="solid"/>
              <a:headEnd type="none" w="med" len="med"/>
              <a:tailEnd type="none" w="med" len="med"/>
            </a:ln>
          </p:spPr>
        </p:sp>
        <p:sp>
          <p:nvSpPr>
            <p:cNvPr id="28681" name="直接连接符 192520"/>
            <p:cNvSpPr/>
            <p:nvPr/>
          </p:nvSpPr>
          <p:spPr>
            <a:xfrm>
              <a:off x="3087" y="3226"/>
              <a:ext cx="237" cy="1"/>
            </a:xfrm>
            <a:prstGeom prst="line">
              <a:avLst/>
            </a:prstGeom>
            <a:ln w="12700" cap="flat" cmpd="sng">
              <a:solidFill>
                <a:srgbClr val="000000"/>
              </a:solidFill>
              <a:prstDash val="solid"/>
              <a:headEnd type="none" w="med" len="med"/>
              <a:tailEnd type="none" w="med" len="med"/>
            </a:ln>
          </p:spPr>
        </p:sp>
        <p:sp>
          <p:nvSpPr>
            <p:cNvPr id="28682" name="直接连接符 192521"/>
            <p:cNvSpPr/>
            <p:nvPr/>
          </p:nvSpPr>
          <p:spPr>
            <a:xfrm>
              <a:off x="3340" y="3226"/>
              <a:ext cx="237" cy="1"/>
            </a:xfrm>
            <a:prstGeom prst="line">
              <a:avLst/>
            </a:prstGeom>
            <a:ln w="12700" cap="flat" cmpd="sng">
              <a:solidFill>
                <a:srgbClr val="000000"/>
              </a:solidFill>
              <a:prstDash val="solid"/>
              <a:headEnd type="none" w="med" len="med"/>
              <a:tailEnd type="none" w="med" len="med"/>
            </a:ln>
          </p:spPr>
        </p:sp>
        <p:sp>
          <p:nvSpPr>
            <p:cNvPr id="28683" name="矩形 192522"/>
            <p:cNvSpPr/>
            <p:nvPr/>
          </p:nvSpPr>
          <p:spPr>
            <a:xfrm>
              <a:off x="3020" y="3579"/>
              <a:ext cx="60" cy="144"/>
            </a:xfrm>
            <a:prstGeom prst="rect">
              <a:avLst/>
            </a:prstGeom>
            <a:noFill/>
            <a:ln w="9525">
              <a:noFill/>
            </a:ln>
          </p:spPr>
          <p:txBody>
            <a:bodyPr wrap="none" lIns="0" tIns="0" rIns="0" bIns="0">
              <a:spAutoFit/>
            </a:bodyPr>
            <a:p>
              <a:r>
                <a:rPr lang="en-US" altLang="zh-CN" sz="1500" b="0" i="1" dirty="0">
                  <a:solidFill>
                    <a:srgbClr val="000000"/>
                  </a:solidFill>
                  <a:latin typeface="Times New Roman" panose="02020603050405020304" charset="0"/>
                </a:rPr>
                <a:t>n</a:t>
              </a:r>
              <a:endParaRPr lang="en-US" altLang="zh-CN" sz="2400" b="0" dirty="0">
                <a:latin typeface="Times New Roman" panose="02020603050405020304" charset="0"/>
              </a:endParaRPr>
            </a:p>
          </p:txBody>
        </p:sp>
        <p:sp>
          <p:nvSpPr>
            <p:cNvPr id="28684" name="矩形 192523"/>
            <p:cNvSpPr/>
            <p:nvPr/>
          </p:nvSpPr>
          <p:spPr>
            <a:xfrm>
              <a:off x="3496" y="3245"/>
              <a:ext cx="60" cy="144"/>
            </a:xfrm>
            <a:prstGeom prst="rect">
              <a:avLst/>
            </a:prstGeom>
            <a:noFill/>
            <a:ln w="9525">
              <a:noFill/>
            </a:ln>
          </p:spPr>
          <p:txBody>
            <a:bodyPr wrap="none" lIns="0" tIns="0" rIns="0" bIns="0">
              <a:spAutoFit/>
            </a:bodyPr>
            <a:p>
              <a:r>
                <a:rPr lang="en-US" altLang="zh-CN" sz="1500" b="0" i="1" dirty="0">
                  <a:solidFill>
                    <a:srgbClr val="000000"/>
                  </a:solidFill>
                  <a:latin typeface="Times New Roman" panose="02020603050405020304" charset="0"/>
                </a:rPr>
                <a:t>n</a:t>
              </a:r>
              <a:endParaRPr lang="en-US" altLang="zh-CN" sz="2400" b="0" dirty="0">
                <a:latin typeface="Times New Roman" panose="02020603050405020304" charset="0"/>
              </a:endParaRPr>
            </a:p>
          </p:txBody>
        </p:sp>
        <p:sp>
          <p:nvSpPr>
            <p:cNvPr id="28685" name="矩形 192524"/>
            <p:cNvSpPr/>
            <p:nvPr/>
          </p:nvSpPr>
          <p:spPr>
            <a:xfrm>
              <a:off x="3243" y="3245"/>
              <a:ext cx="60" cy="144"/>
            </a:xfrm>
            <a:prstGeom prst="rect">
              <a:avLst/>
            </a:prstGeom>
            <a:noFill/>
            <a:ln w="9525">
              <a:noFill/>
            </a:ln>
          </p:spPr>
          <p:txBody>
            <a:bodyPr wrap="none" lIns="0" tIns="0" rIns="0" bIns="0">
              <a:spAutoFit/>
            </a:bodyPr>
            <a:p>
              <a:r>
                <a:rPr lang="en-US" altLang="zh-CN" sz="1500" b="0" i="1" dirty="0">
                  <a:solidFill>
                    <a:srgbClr val="000000"/>
                  </a:solidFill>
                  <a:latin typeface="Times New Roman" panose="02020603050405020304" charset="0"/>
                </a:rPr>
                <a:t>n</a:t>
              </a:r>
              <a:endParaRPr lang="en-US" altLang="zh-CN" sz="2400" b="0" dirty="0">
                <a:latin typeface="Times New Roman" panose="02020603050405020304" charset="0"/>
              </a:endParaRPr>
            </a:p>
          </p:txBody>
        </p:sp>
        <p:sp>
          <p:nvSpPr>
            <p:cNvPr id="28686" name="矩形 192525"/>
            <p:cNvSpPr/>
            <p:nvPr/>
          </p:nvSpPr>
          <p:spPr>
            <a:xfrm>
              <a:off x="2662" y="3245"/>
              <a:ext cx="60" cy="144"/>
            </a:xfrm>
            <a:prstGeom prst="rect">
              <a:avLst/>
            </a:prstGeom>
            <a:noFill/>
            <a:ln w="9525">
              <a:noFill/>
            </a:ln>
          </p:spPr>
          <p:txBody>
            <a:bodyPr wrap="none" lIns="0" tIns="0" rIns="0" bIns="0">
              <a:spAutoFit/>
            </a:bodyPr>
            <a:p>
              <a:r>
                <a:rPr lang="en-US" altLang="zh-CN" sz="1500" b="0" i="1" dirty="0">
                  <a:solidFill>
                    <a:srgbClr val="000000"/>
                  </a:solidFill>
                  <a:latin typeface="Times New Roman" panose="02020603050405020304" charset="0"/>
                </a:rPr>
                <a:t>n</a:t>
              </a:r>
              <a:endParaRPr lang="en-US" altLang="zh-CN" sz="2400" b="0" dirty="0">
                <a:latin typeface="Times New Roman" panose="02020603050405020304" charset="0"/>
              </a:endParaRPr>
            </a:p>
          </p:txBody>
        </p:sp>
        <p:sp>
          <p:nvSpPr>
            <p:cNvPr id="28687" name="矩形 192526"/>
            <p:cNvSpPr/>
            <p:nvPr/>
          </p:nvSpPr>
          <p:spPr>
            <a:xfrm>
              <a:off x="4177" y="2872"/>
              <a:ext cx="60" cy="144"/>
            </a:xfrm>
            <a:prstGeom prst="rect">
              <a:avLst/>
            </a:prstGeom>
            <a:noFill/>
            <a:ln w="9525">
              <a:noFill/>
            </a:ln>
          </p:spPr>
          <p:txBody>
            <a:bodyPr wrap="none" lIns="0" tIns="0" rIns="0" bIns="0">
              <a:spAutoFit/>
            </a:bodyPr>
            <a:p>
              <a:r>
                <a:rPr lang="en-US" altLang="zh-CN" sz="1500" b="0" i="1" dirty="0">
                  <a:solidFill>
                    <a:srgbClr val="000000"/>
                  </a:solidFill>
                  <a:latin typeface="Times New Roman" panose="02020603050405020304" charset="0"/>
                </a:rPr>
                <a:t>n</a:t>
              </a:r>
              <a:endParaRPr lang="en-US" altLang="zh-CN" sz="2400" b="0" dirty="0">
                <a:latin typeface="Times New Roman" panose="02020603050405020304" charset="0"/>
              </a:endParaRPr>
            </a:p>
          </p:txBody>
        </p:sp>
        <p:sp>
          <p:nvSpPr>
            <p:cNvPr id="28688" name="矩形 192527"/>
            <p:cNvSpPr/>
            <p:nvPr/>
          </p:nvSpPr>
          <p:spPr>
            <a:xfrm>
              <a:off x="3924" y="2872"/>
              <a:ext cx="60" cy="144"/>
            </a:xfrm>
            <a:prstGeom prst="rect">
              <a:avLst/>
            </a:prstGeom>
            <a:noFill/>
            <a:ln w="9525">
              <a:noFill/>
            </a:ln>
          </p:spPr>
          <p:txBody>
            <a:bodyPr wrap="none" lIns="0" tIns="0" rIns="0" bIns="0">
              <a:spAutoFit/>
            </a:bodyPr>
            <a:p>
              <a:r>
                <a:rPr lang="en-US" altLang="zh-CN" sz="1500" b="0" i="1" dirty="0">
                  <a:solidFill>
                    <a:srgbClr val="000000"/>
                  </a:solidFill>
                  <a:latin typeface="Times New Roman" panose="02020603050405020304" charset="0"/>
                </a:rPr>
                <a:t>n</a:t>
              </a:r>
              <a:endParaRPr lang="en-US" altLang="zh-CN" sz="2400" b="0" dirty="0">
                <a:latin typeface="Times New Roman" panose="02020603050405020304" charset="0"/>
              </a:endParaRPr>
            </a:p>
          </p:txBody>
        </p:sp>
        <p:sp>
          <p:nvSpPr>
            <p:cNvPr id="28689" name="矩形 192528"/>
            <p:cNvSpPr/>
            <p:nvPr/>
          </p:nvSpPr>
          <p:spPr>
            <a:xfrm>
              <a:off x="3481" y="2872"/>
              <a:ext cx="60" cy="144"/>
            </a:xfrm>
            <a:prstGeom prst="rect">
              <a:avLst/>
            </a:prstGeom>
            <a:noFill/>
            <a:ln w="9525">
              <a:noFill/>
            </a:ln>
          </p:spPr>
          <p:txBody>
            <a:bodyPr wrap="none" lIns="0" tIns="0" rIns="0" bIns="0">
              <a:spAutoFit/>
            </a:bodyPr>
            <a:p>
              <a:r>
                <a:rPr lang="en-US" altLang="zh-CN" sz="1500" b="0" i="1" dirty="0">
                  <a:solidFill>
                    <a:srgbClr val="000000"/>
                  </a:solidFill>
                  <a:latin typeface="Times New Roman" panose="02020603050405020304" charset="0"/>
                </a:rPr>
                <a:t>n</a:t>
              </a:r>
              <a:endParaRPr lang="en-US" altLang="zh-CN" sz="2400" b="0" dirty="0">
                <a:latin typeface="Times New Roman" panose="02020603050405020304" charset="0"/>
              </a:endParaRPr>
            </a:p>
          </p:txBody>
        </p:sp>
        <p:sp>
          <p:nvSpPr>
            <p:cNvPr id="28690" name="矩形 192529"/>
            <p:cNvSpPr/>
            <p:nvPr/>
          </p:nvSpPr>
          <p:spPr>
            <a:xfrm>
              <a:off x="3243" y="2872"/>
              <a:ext cx="60" cy="144"/>
            </a:xfrm>
            <a:prstGeom prst="rect">
              <a:avLst/>
            </a:prstGeom>
            <a:noFill/>
            <a:ln w="9525">
              <a:noFill/>
            </a:ln>
          </p:spPr>
          <p:txBody>
            <a:bodyPr wrap="none" lIns="0" tIns="0" rIns="0" bIns="0">
              <a:spAutoFit/>
            </a:bodyPr>
            <a:p>
              <a:r>
                <a:rPr lang="en-US" altLang="zh-CN" sz="1500" b="0" i="1" dirty="0">
                  <a:solidFill>
                    <a:srgbClr val="000000"/>
                  </a:solidFill>
                  <a:latin typeface="Times New Roman" panose="02020603050405020304" charset="0"/>
                </a:rPr>
                <a:t>n</a:t>
              </a:r>
              <a:endParaRPr lang="en-US" altLang="zh-CN" sz="2400" b="0" dirty="0">
                <a:latin typeface="Times New Roman" panose="02020603050405020304" charset="0"/>
              </a:endParaRPr>
            </a:p>
          </p:txBody>
        </p:sp>
        <p:sp>
          <p:nvSpPr>
            <p:cNvPr id="28691" name="矩形 192530"/>
            <p:cNvSpPr/>
            <p:nvPr/>
          </p:nvSpPr>
          <p:spPr>
            <a:xfrm>
              <a:off x="2662" y="2872"/>
              <a:ext cx="60" cy="144"/>
            </a:xfrm>
            <a:prstGeom prst="rect">
              <a:avLst/>
            </a:prstGeom>
            <a:noFill/>
            <a:ln w="9525">
              <a:noFill/>
            </a:ln>
          </p:spPr>
          <p:txBody>
            <a:bodyPr wrap="none" lIns="0" tIns="0" rIns="0" bIns="0">
              <a:spAutoFit/>
            </a:bodyPr>
            <a:p>
              <a:r>
                <a:rPr lang="en-US" altLang="zh-CN" sz="1500" b="0" i="1" dirty="0">
                  <a:solidFill>
                    <a:srgbClr val="000000"/>
                  </a:solidFill>
                  <a:latin typeface="Times New Roman" panose="02020603050405020304" charset="0"/>
                </a:rPr>
                <a:t>n</a:t>
              </a:r>
              <a:endParaRPr lang="en-US" altLang="zh-CN" sz="2400" b="0" dirty="0">
                <a:latin typeface="Times New Roman" panose="02020603050405020304" charset="0"/>
              </a:endParaRPr>
            </a:p>
          </p:txBody>
        </p:sp>
        <p:sp>
          <p:nvSpPr>
            <p:cNvPr id="28692" name="矩形 192531"/>
            <p:cNvSpPr/>
            <p:nvPr/>
          </p:nvSpPr>
          <p:spPr>
            <a:xfrm>
              <a:off x="3481" y="2500"/>
              <a:ext cx="60" cy="144"/>
            </a:xfrm>
            <a:prstGeom prst="rect">
              <a:avLst/>
            </a:prstGeom>
            <a:noFill/>
            <a:ln w="9525">
              <a:noFill/>
            </a:ln>
          </p:spPr>
          <p:txBody>
            <a:bodyPr wrap="none" lIns="0" tIns="0" rIns="0" bIns="0">
              <a:spAutoFit/>
            </a:bodyPr>
            <a:p>
              <a:r>
                <a:rPr lang="en-US" altLang="zh-CN" sz="1500" b="0" i="1" dirty="0">
                  <a:solidFill>
                    <a:srgbClr val="000000"/>
                  </a:solidFill>
                  <a:latin typeface="Times New Roman" panose="02020603050405020304" charset="0"/>
                </a:rPr>
                <a:t>n</a:t>
              </a:r>
              <a:endParaRPr lang="en-US" altLang="zh-CN" sz="2400" b="0" dirty="0">
                <a:latin typeface="Times New Roman" panose="02020603050405020304" charset="0"/>
              </a:endParaRPr>
            </a:p>
          </p:txBody>
        </p:sp>
        <p:sp>
          <p:nvSpPr>
            <p:cNvPr id="28693" name="矩形 192532"/>
            <p:cNvSpPr/>
            <p:nvPr/>
          </p:nvSpPr>
          <p:spPr>
            <a:xfrm>
              <a:off x="3243" y="2500"/>
              <a:ext cx="60" cy="144"/>
            </a:xfrm>
            <a:prstGeom prst="rect">
              <a:avLst/>
            </a:prstGeom>
            <a:noFill/>
            <a:ln w="9525">
              <a:noFill/>
            </a:ln>
          </p:spPr>
          <p:txBody>
            <a:bodyPr wrap="none" lIns="0" tIns="0" rIns="0" bIns="0">
              <a:spAutoFit/>
            </a:bodyPr>
            <a:p>
              <a:r>
                <a:rPr lang="en-US" altLang="zh-CN" sz="1500" b="0" i="1" dirty="0">
                  <a:solidFill>
                    <a:srgbClr val="000000"/>
                  </a:solidFill>
                  <a:latin typeface="Times New Roman" panose="02020603050405020304" charset="0"/>
                </a:rPr>
                <a:t>n</a:t>
              </a:r>
              <a:endParaRPr lang="en-US" altLang="zh-CN" sz="2400" b="0" dirty="0">
                <a:latin typeface="Times New Roman" panose="02020603050405020304" charset="0"/>
              </a:endParaRPr>
            </a:p>
          </p:txBody>
        </p:sp>
        <p:sp>
          <p:nvSpPr>
            <p:cNvPr id="28694" name="矩形 192533"/>
            <p:cNvSpPr/>
            <p:nvPr/>
          </p:nvSpPr>
          <p:spPr>
            <a:xfrm>
              <a:off x="2662" y="2500"/>
              <a:ext cx="60" cy="144"/>
            </a:xfrm>
            <a:prstGeom prst="rect">
              <a:avLst/>
            </a:prstGeom>
            <a:noFill/>
            <a:ln w="9525">
              <a:noFill/>
            </a:ln>
          </p:spPr>
          <p:txBody>
            <a:bodyPr wrap="none" lIns="0" tIns="0" rIns="0" bIns="0">
              <a:spAutoFit/>
            </a:bodyPr>
            <a:p>
              <a:r>
                <a:rPr lang="en-US" altLang="zh-CN" sz="1500" b="0" i="1" dirty="0">
                  <a:solidFill>
                    <a:srgbClr val="000000"/>
                  </a:solidFill>
                  <a:latin typeface="Times New Roman" panose="02020603050405020304" charset="0"/>
                </a:rPr>
                <a:t>n</a:t>
              </a:r>
              <a:endParaRPr lang="en-US" altLang="zh-CN" sz="2400" b="0" dirty="0">
                <a:latin typeface="Times New Roman" panose="02020603050405020304" charset="0"/>
              </a:endParaRPr>
            </a:p>
          </p:txBody>
        </p:sp>
        <p:sp>
          <p:nvSpPr>
            <p:cNvPr id="28695" name="矩形 192534"/>
            <p:cNvSpPr/>
            <p:nvPr/>
          </p:nvSpPr>
          <p:spPr>
            <a:xfrm>
              <a:off x="2854" y="3595"/>
              <a:ext cx="144" cy="240"/>
            </a:xfrm>
            <a:prstGeom prst="rect">
              <a:avLst/>
            </a:prstGeom>
            <a:noFill/>
            <a:ln w="9525">
              <a:noFill/>
            </a:ln>
          </p:spPr>
          <p:txBody>
            <a:bodyPr wrap="none" lIns="0" tIns="0" rIns="0" bIns="0">
              <a:spAutoFit/>
            </a:bodyPr>
            <a:p>
              <a:r>
                <a:rPr lang="en-US" altLang="zh-CN" sz="2500" b="0" i="1" dirty="0">
                  <a:solidFill>
                    <a:srgbClr val="000000"/>
                  </a:solidFill>
                  <a:latin typeface="Times New Roman" panose="02020603050405020304" charset="0"/>
                </a:rPr>
                <a:t>Q</a:t>
              </a:r>
              <a:endParaRPr lang="en-US" altLang="zh-CN" sz="2400" b="0" dirty="0">
                <a:latin typeface="Times New Roman" panose="02020603050405020304" charset="0"/>
              </a:endParaRPr>
            </a:p>
          </p:txBody>
        </p:sp>
        <p:sp>
          <p:nvSpPr>
            <p:cNvPr id="28696" name="矩形 192535"/>
            <p:cNvSpPr/>
            <p:nvPr/>
          </p:nvSpPr>
          <p:spPr>
            <a:xfrm>
              <a:off x="2496" y="3595"/>
              <a:ext cx="111" cy="242"/>
            </a:xfrm>
            <a:prstGeom prst="rect">
              <a:avLst/>
            </a:prstGeom>
            <a:noFill/>
            <a:ln w="9525">
              <a:noFill/>
            </a:ln>
          </p:spPr>
          <p:txBody>
            <a:bodyPr wrap="none" lIns="0" tIns="0" rIns="0" bIns="0">
              <a:spAutoFit/>
            </a:bodyPr>
            <a:p>
              <a:r>
                <a:rPr lang="en-US" altLang="zh-CN" sz="2500" b="0" i="1" dirty="0">
                  <a:solidFill>
                    <a:srgbClr val="000000"/>
                  </a:solidFill>
                  <a:latin typeface="Times New Roman" panose="02020603050405020304" charset="0"/>
                </a:rPr>
                <a:t>Z</a:t>
              </a:r>
              <a:endParaRPr lang="en-US" altLang="zh-CN" sz="2400" b="0" dirty="0">
                <a:latin typeface="Times New Roman" panose="02020603050405020304" charset="0"/>
              </a:endParaRPr>
            </a:p>
          </p:txBody>
        </p:sp>
        <p:sp>
          <p:nvSpPr>
            <p:cNvPr id="28697" name="矩形 192536"/>
            <p:cNvSpPr/>
            <p:nvPr/>
          </p:nvSpPr>
          <p:spPr>
            <a:xfrm>
              <a:off x="3330" y="3261"/>
              <a:ext cx="144" cy="240"/>
            </a:xfrm>
            <a:prstGeom prst="rect">
              <a:avLst/>
            </a:prstGeom>
            <a:noFill/>
            <a:ln w="9525">
              <a:noFill/>
            </a:ln>
          </p:spPr>
          <p:txBody>
            <a:bodyPr wrap="none" lIns="0" tIns="0" rIns="0" bIns="0">
              <a:spAutoFit/>
            </a:bodyPr>
            <a:p>
              <a:r>
                <a:rPr lang="en-US" altLang="zh-CN" sz="2500" b="0" i="1" dirty="0">
                  <a:solidFill>
                    <a:srgbClr val="000000"/>
                  </a:solidFill>
                  <a:latin typeface="Times New Roman" panose="02020603050405020304" charset="0"/>
                </a:rPr>
                <a:t>Q</a:t>
              </a:r>
              <a:endParaRPr lang="en-US" altLang="zh-CN" sz="2400" b="0" dirty="0">
                <a:latin typeface="Times New Roman" panose="02020603050405020304" charset="0"/>
              </a:endParaRPr>
            </a:p>
          </p:txBody>
        </p:sp>
        <p:sp>
          <p:nvSpPr>
            <p:cNvPr id="28698" name="矩形 192537"/>
            <p:cNvSpPr/>
            <p:nvPr/>
          </p:nvSpPr>
          <p:spPr>
            <a:xfrm>
              <a:off x="3077" y="3261"/>
              <a:ext cx="144" cy="240"/>
            </a:xfrm>
            <a:prstGeom prst="rect">
              <a:avLst/>
            </a:prstGeom>
            <a:noFill/>
            <a:ln w="9525">
              <a:noFill/>
            </a:ln>
          </p:spPr>
          <p:txBody>
            <a:bodyPr wrap="none" lIns="0" tIns="0" rIns="0" bIns="0">
              <a:spAutoFit/>
            </a:bodyPr>
            <a:p>
              <a:r>
                <a:rPr lang="en-US" altLang="zh-CN" sz="2500" b="0" i="1" dirty="0">
                  <a:solidFill>
                    <a:srgbClr val="000000"/>
                  </a:solidFill>
                  <a:latin typeface="Times New Roman" panose="02020603050405020304" charset="0"/>
                </a:rPr>
                <a:t>Q</a:t>
              </a:r>
              <a:endParaRPr lang="en-US" altLang="zh-CN" sz="2400" b="0" dirty="0">
                <a:latin typeface="Times New Roman" panose="02020603050405020304" charset="0"/>
              </a:endParaRPr>
            </a:p>
          </p:txBody>
        </p:sp>
        <p:sp>
          <p:nvSpPr>
            <p:cNvPr id="28699" name="矩形 192538"/>
            <p:cNvSpPr/>
            <p:nvPr/>
          </p:nvSpPr>
          <p:spPr>
            <a:xfrm>
              <a:off x="2496" y="3261"/>
              <a:ext cx="144" cy="240"/>
            </a:xfrm>
            <a:prstGeom prst="rect">
              <a:avLst/>
            </a:prstGeom>
            <a:noFill/>
            <a:ln w="9525">
              <a:noFill/>
            </a:ln>
          </p:spPr>
          <p:txBody>
            <a:bodyPr wrap="none" lIns="0" tIns="0" rIns="0" bIns="0">
              <a:spAutoFit/>
            </a:bodyPr>
            <a:p>
              <a:r>
                <a:rPr lang="en-US" altLang="zh-CN" sz="2500" b="0" i="1" dirty="0">
                  <a:solidFill>
                    <a:srgbClr val="000000"/>
                  </a:solidFill>
                  <a:latin typeface="Times New Roman" panose="02020603050405020304" charset="0"/>
                </a:rPr>
                <a:t>Q</a:t>
              </a:r>
              <a:endParaRPr lang="en-US" altLang="zh-CN" sz="2400" b="0" dirty="0">
                <a:latin typeface="Times New Roman" panose="02020603050405020304" charset="0"/>
              </a:endParaRPr>
            </a:p>
          </p:txBody>
        </p:sp>
        <p:sp>
          <p:nvSpPr>
            <p:cNvPr id="28700" name="矩形 192539"/>
            <p:cNvSpPr/>
            <p:nvPr/>
          </p:nvSpPr>
          <p:spPr>
            <a:xfrm>
              <a:off x="4011" y="2888"/>
              <a:ext cx="144" cy="240"/>
            </a:xfrm>
            <a:prstGeom prst="rect">
              <a:avLst/>
            </a:prstGeom>
            <a:noFill/>
            <a:ln w="9525">
              <a:noFill/>
            </a:ln>
          </p:spPr>
          <p:txBody>
            <a:bodyPr wrap="none" lIns="0" tIns="0" rIns="0" bIns="0">
              <a:spAutoFit/>
            </a:bodyPr>
            <a:p>
              <a:r>
                <a:rPr lang="en-US" altLang="zh-CN" sz="2500" b="0" i="1" dirty="0">
                  <a:solidFill>
                    <a:srgbClr val="000000"/>
                  </a:solidFill>
                  <a:latin typeface="Times New Roman" panose="02020603050405020304" charset="0"/>
                </a:rPr>
                <a:t>Q</a:t>
              </a:r>
              <a:endParaRPr lang="en-US" altLang="zh-CN" sz="2400" b="0" dirty="0">
                <a:latin typeface="Times New Roman" panose="02020603050405020304" charset="0"/>
              </a:endParaRPr>
            </a:p>
          </p:txBody>
        </p:sp>
        <p:sp>
          <p:nvSpPr>
            <p:cNvPr id="28701" name="矩形 192540"/>
            <p:cNvSpPr/>
            <p:nvPr/>
          </p:nvSpPr>
          <p:spPr>
            <a:xfrm>
              <a:off x="3757" y="2888"/>
              <a:ext cx="144" cy="240"/>
            </a:xfrm>
            <a:prstGeom prst="rect">
              <a:avLst/>
            </a:prstGeom>
            <a:noFill/>
            <a:ln w="9525">
              <a:noFill/>
            </a:ln>
          </p:spPr>
          <p:txBody>
            <a:bodyPr wrap="none" lIns="0" tIns="0" rIns="0" bIns="0">
              <a:spAutoFit/>
            </a:bodyPr>
            <a:p>
              <a:r>
                <a:rPr lang="en-US" altLang="zh-CN" sz="2500" b="0" i="1" dirty="0">
                  <a:solidFill>
                    <a:srgbClr val="000000"/>
                  </a:solidFill>
                  <a:latin typeface="Times New Roman" panose="02020603050405020304" charset="0"/>
                </a:rPr>
                <a:t>Q</a:t>
              </a:r>
              <a:endParaRPr lang="en-US" altLang="zh-CN" sz="2400" b="0" dirty="0">
                <a:latin typeface="Times New Roman" panose="02020603050405020304" charset="0"/>
              </a:endParaRPr>
            </a:p>
          </p:txBody>
        </p:sp>
        <p:sp>
          <p:nvSpPr>
            <p:cNvPr id="28702" name="矩形 192541"/>
            <p:cNvSpPr/>
            <p:nvPr/>
          </p:nvSpPr>
          <p:spPr>
            <a:xfrm>
              <a:off x="3315" y="2888"/>
              <a:ext cx="144" cy="240"/>
            </a:xfrm>
            <a:prstGeom prst="rect">
              <a:avLst/>
            </a:prstGeom>
            <a:noFill/>
            <a:ln w="9525">
              <a:noFill/>
            </a:ln>
          </p:spPr>
          <p:txBody>
            <a:bodyPr wrap="none" lIns="0" tIns="0" rIns="0" bIns="0">
              <a:spAutoFit/>
            </a:bodyPr>
            <a:p>
              <a:r>
                <a:rPr lang="en-US" altLang="zh-CN" sz="2500" b="0" i="1" dirty="0">
                  <a:solidFill>
                    <a:srgbClr val="000000"/>
                  </a:solidFill>
                  <a:latin typeface="Times New Roman" panose="02020603050405020304" charset="0"/>
                </a:rPr>
                <a:t>Q</a:t>
              </a:r>
              <a:endParaRPr lang="en-US" altLang="zh-CN" sz="2400" b="0" dirty="0">
                <a:latin typeface="Times New Roman" panose="02020603050405020304" charset="0"/>
              </a:endParaRPr>
            </a:p>
          </p:txBody>
        </p:sp>
        <p:sp>
          <p:nvSpPr>
            <p:cNvPr id="28703" name="矩形 192542"/>
            <p:cNvSpPr/>
            <p:nvPr/>
          </p:nvSpPr>
          <p:spPr>
            <a:xfrm>
              <a:off x="3077" y="2888"/>
              <a:ext cx="144" cy="240"/>
            </a:xfrm>
            <a:prstGeom prst="rect">
              <a:avLst/>
            </a:prstGeom>
            <a:noFill/>
            <a:ln w="9525">
              <a:noFill/>
            </a:ln>
          </p:spPr>
          <p:txBody>
            <a:bodyPr wrap="none" lIns="0" tIns="0" rIns="0" bIns="0">
              <a:spAutoFit/>
            </a:bodyPr>
            <a:p>
              <a:r>
                <a:rPr lang="en-US" altLang="zh-CN" sz="2500" b="0" i="1" dirty="0">
                  <a:solidFill>
                    <a:srgbClr val="000000"/>
                  </a:solidFill>
                  <a:latin typeface="Times New Roman" panose="02020603050405020304" charset="0"/>
                </a:rPr>
                <a:t>Q</a:t>
              </a:r>
              <a:endParaRPr lang="en-US" altLang="zh-CN" sz="2400" b="0" dirty="0">
                <a:latin typeface="Times New Roman" panose="02020603050405020304" charset="0"/>
              </a:endParaRPr>
            </a:p>
          </p:txBody>
        </p:sp>
        <p:sp>
          <p:nvSpPr>
            <p:cNvPr id="28704" name="矩形 192543"/>
            <p:cNvSpPr/>
            <p:nvPr/>
          </p:nvSpPr>
          <p:spPr>
            <a:xfrm>
              <a:off x="2496" y="2888"/>
              <a:ext cx="144" cy="240"/>
            </a:xfrm>
            <a:prstGeom prst="rect">
              <a:avLst/>
            </a:prstGeom>
            <a:noFill/>
            <a:ln w="9525">
              <a:noFill/>
            </a:ln>
          </p:spPr>
          <p:txBody>
            <a:bodyPr wrap="none" lIns="0" tIns="0" rIns="0" bIns="0">
              <a:spAutoFit/>
            </a:bodyPr>
            <a:p>
              <a:r>
                <a:rPr lang="en-US" altLang="zh-CN" sz="2500" b="0" i="1" dirty="0">
                  <a:solidFill>
                    <a:srgbClr val="000000"/>
                  </a:solidFill>
                  <a:latin typeface="Times New Roman" panose="02020603050405020304" charset="0"/>
                </a:rPr>
                <a:t>Q</a:t>
              </a:r>
              <a:endParaRPr lang="en-US" altLang="zh-CN" sz="2400" b="0" dirty="0">
                <a:latin typeface="Times New Roman" panose="02020603050405020304" charset="0"/>
              </a:endParaRPr>
            </a:p>
          </p:txBody>
        </p:sp>
        <p:sp>
          <p:nvSpPr>
            <p:cNvPr id="28705" name="矩形 192544"/>
            <p:cNvSpPr/>
            <p:nvPr/>
          </p:nvSpPr>
          <p:spPr>
            <a:xfrm>
              <a:off x="3315" y="2516"/>
              <a:ext cx="144" cy="240"/>
            </a:xfrm>
            <a:prstGeom prst="rect">
              <a:avLst/>
            </a:prstGeom>
            <a:noFill/>
            <a:ln w="9525">
              <a:noFill/>
            </a:ln>
          </p:spPr>
          <p:txBody>
            <a:bodyPr wrap="none" lIns="0" tIns="0" rIns="0" bIns="0">
              <a:spAutoFit/>
            </a:bodyPr>
            <a:p>
              <a:r>
                <a:rPr lang="en-US" altLang="zh-CN" sz="2500" b="0" i="1" dirty="0">
                  <a:solidFill>
                    <a:srgbClr val="000000"/>
                  </a:solidFill>
                  <a:latin typeface="Times New Roman" panose="02020603050405020304" charset="0"/>
                </a:rPr>
                <a:t>Q</a:t>
              </a:r>
              <a:endParaRPr lang="en-US" altLang="zh-CN" sz="2400" b="0" dirty="0">
                <a:latin typeface="Times New Roman" panose="02020603050405020304" charset="0"/>
              </a:endParaRPr>
            </a:p>
          </p:txBody>
        </p:sp>
        <p:sp>
          <p:nvSpPr>
            <p:cNvPr id="28706" name="矩形 192545"/>
            <p:cNvSpPr/>
            <p:nvPr/>
          </p:nvSpPr>
          <p:spPr>
            <a:xfrm>
              <a:off x="3077" y="2516"/>
              <a:ext cx="144" cy="240"/>
            </a:xfrm>
            <a:prstGeom prst="rect">
              <a:avLst/>
            </a:prstGeom>
            <a:noFill/>
            <a:ln w="9525">
              <a:noFill/>
            </a:ln>
          </p:spPr>
          <p:txBody>
            <a:bodyPr wrap="none" lIns="0" tIns="0" rIns="0" bIns="0">
              <a:spAutoFit/>
            </a:bodyPr>
            <a:p>
              <a:r>
                <a:rPr lang="en-US" altLang="zh-CN" sz="2500" b="0" i="1" dirty="0">
                  <a:solidFill>
                    <a:srgbClr val="000000"/>
                  </a:solidFill>
                  <a:latin typeface="Times New Roman" panose="02020603050405020304" charset="0"/>
                </a:rPr>
                <a:t>Q</a:t>
              </a:r>
              <a:endParaRPr lang="en-US" altLang="zh-CN" sz="2400" b="0" dirty="0">
                <a:latin typeface="Times New Roman" panose="02020603050405020304" charset="0"/>
              </a:endParaRPr>
            </a:p>
          </p:txBody>
        </p:sp>
        <p:sp>
          <p:nvSpPr>
            <p:cNvPr id="28707" name="矩形 192546"/>
            <p:cNvSpPr/>
            <p:nvPr/>
          </p:nvSpPr>
          <p:spPr>
            <a:xfrm>
              <a:off x="2496" y="2516"/>
              <a:ext cx="144" cy="240"/>
            </a:xfrm>
            <a:prstGeom prst="rect">
              <a:avLst/>
            </a:prstGeom>
            <a:noFill/>
            <a:ln w="9525">
              <a:noFill/>
            </a:ln>
          </p:spPr>
          <p:txBody>
            <a:bodyPr wrap="none" lIns="0" tIns="0" rIns="0" bIns="0">
              <a:spAutoFit/>
            </a:bodyPr>
            <a:p>
              <a:r>
                <a:rPr lang="en-US" altLang="zh-CN" sz="2500" b="0" i="1" dirty="0">
                  <a:solidFill>
                    <a:srgbClr val="000000"/>
                  </a:solidFill>
                  <a:latin typeface="Times New Roman" panose="02020603050405020304" charset="0"/>
                </a:rPr>
                <a:t>Q</a:t>
              </a:r>
              <a:endParaRPr lang="en-US" altLang="zh-CN" sz="2400" b="0" dirty="0">
                <a:latin typeface="Times New Roman" panose="02020603050405020304" charset="0"/>
              </a:endParaRPr>
            </a:p>
          </p:txBody>
        </p:sp>
        <p:sp>
          <p:nvSpPr>
            <p:cNvPr id="28708" name="矩形 192547"/>
            <p:cNvSpPr/>
            <p:nvPr/>
          </p:nvSpPr>
          <p:spPr>
            <a:xfrm>
              <a:off x="3002" y="3720"/>
              <a:ext cx="60" cy="144"/>
            </a:xfrm>
            <a:prstGeom prst="rect">
              <a:avLst/>
            </a:prstGeom>
            <a:noFill/>
            <a:ln w="9525">
              <a:noFill/>
            </a:ln>
          </p:spPr>
          <p:txBody>
            <a:bodyPr wrap="none" lIns="0" tIns="0" rIns="0" bIns="0">
              <a:spAutoFit/>
            </a:bodyPr>
            <a:p>
              <a:r>
                <a:rPr lang="en-US" altLang="zh-CN" sz="1500" b="0" dirty="0">
                  <a:solidFill>
                    <a:srgbClr val="000000"/>
                  </a:solidFill>
                  <a:latin typeface="Times New Roman" panose="02020603050405020304" charset="0"/>
                </a:rPr>
                <a:t>2</a:t>
              </a:r>
              <a:endParaRPr lang="en-US" altLang="zh-CN" sz="2400" b="0" dirty="0">
                <a:latin typeface="Times New Roman" panose="02020603050405020304" charset="0"/>
              </a:endParaRPr>
            </a:p>
          </p:txBody>
        </p:sp>
        <p:sp>
          <p:nvSpPr>
            <p:cNvPr id="28709" name="矩形 192548"/>
            <p:cNvSpPr/>
            <p:nvPr/>
          </p:nvSpPr>
          <p:spPr>
            <a:xfrm>
              <a:off x="3477" y="3385"/>
              <a:ext cx="60" cy="144"/>
            </a:xfrm>
            <a:prstGeom prst="rect">
              <a:avLst/>
            </a:prstGeom>
            <a:noFill/>
            <a:ln w="9525">
              <a:noFill/>
            </a:ln>
          </p:spPr>
          <p:txBody>
            <a:bodyPr wrap="none" lIns="0" tIns="0" rIns="0" bIns="0">
              <a:spAutoFit/>
            </a:bodyPr>
            <a:p>
              <a:r>
                <a:rPr lang="en-US" altLang="zh-CN" sz="1500" b="0" dirty="0">
                  <a:solidFill>
                    <a:srgbClr val="000000"/>
                  </a:solidFill>
                  <a:latin typeface="Times New Roman" panose="02020603050405020304" charset="0"/>
                </a:rPr>
                <a:t>0</a:t>
              </a:r>
              <a:endParaRPr lang="en-US" altLang="zh-CN" sz="2400" b="0" dirty="0">
                <a:latin typeface="Times New Roman" panose="02020603050405020304" charset="0"/>
              </a:endParaRPr>
            </a:p>
          </p:txBody>
        </p:sp>
        <p:sp>
          <p:nvSpPr>
            <p:cNvPr id="28710" name="矩形 192549"/>
            <p:cNvSpPr/>
            <p:nvPr/>
          </p:nvSpPr>
          <p:spPr>
            <a:xfrm>
              <a:off x="3226" y="3385"/>
              <a:ext cx="60" cy="144"/>
            </a:xfrm>
            <a:prstGeom prst="rect">
              <a:avLst/>
            </a:prstGeom>
            <a:noFill/>
            <a:ln w="9525">
              <a:noFill/>
            </a:ln>
          </p:spPr>
          <p:txBody>
            <a:bodyPr wrap="none" lIns="0" tIns="0" rIns="0" bIns="0">
              <a:spAutoFit/>
            </a:bodyPr>
            <a:p>
              <a:r>
                <a:rPr lang="en-US" altLang="zh-CN" sz="1500" b="0" dirty="0">
                  <a:solidFill>
                    <a:srgbClr val="000000"/>
                  </a:solidFill>
                  <a:latin typeface="Times New Roman" panose="02020603050405020304" charset="0"/>
                </a:rPr>
                <a:t>2</a:t>
              </a:r>
              <a:endParaRPr lang="en-US" altLang="zh-CN" sz="2400" b="0" dirty="0">
                <a:latin typeface="Times New Roman" panose="02020603050405020304" charset="0"/>
              </a:endParaRPr>
            </a:p>
          </p:txBody>
        </p:sp>
        <p:sp>
          <p:nvSpPr>
            <p:cNvPr id="28711" name="矩形 192550"/>
            <p:cNvSpPr/>
            <p:nvPr/>
          </p:nvSpPr>
          <p:spPr>
            <a:xfrm>
              <a:off x="2789" y="3244"/>
              <a:ext cx="60" cy="144"/>
            </a:xfrm>
            <a:prstGeom prst="rect">
              <a:avLst/>
            </a:prstGeom>
            <a:noFill/>
            <a:ln w="9525">
              <a:noFill/>
            </a:ln>
          </p:spPr>
          <p:txBody>
            <a:bodyPr wrap="none" lIns="0" tIns="0" rIns="0" bIns="0">
              <a:spAutoFit/>
            </a:bodyPr>
            <a:p>
              <a:r>
                <a:rPr lang="en-US" altLang="zh-CN" sz="1500" b="0" dirty="0">
                  <a:solidFill>
                    <a:srgbClr val="000000"/>
                  </a:solidFill>
                  <a:latin typeface="Times New Roman" panose="02020603050405020304" charset="0"/>
                </a:rPr>
                <a:t>1</a:t>
              </a:r>
              <a:endParaRPr lang="en-US" altLang="zh-CN" sz="2400" b="0" dirty="0">
                <a:latin typeface="Times New Roman" panose="02020603050405020304" charset="0"/>
              </a:endParaRPr>
            </a:p>
          </p:txBody>
        </p:sp>
        <p:sp>
          <p:nvSpPr>
            <p:cNvPr id="28712" name="矩形 192551"/>
            <p:cNvSpPr/>
            <p:nvPr/>
          </p:nvSpPr>
          <p:spPr>
            <a:xfrm>
              <a:off x="2643" y="3385"/>
              <a:ext cx="60" cy="144"/>
            </a:xfrm>
            <a:prstGeom prst="rect">
              <a:avLst/>
            </a:prstGeom>
            <a:noFill/>
            <a:ln w="9525">
              <a:noFill/>
            </a:ln>
          </p:spPr>
          <p:txBody>
            <a:bodyPr wrap="none" lIns="0" tIns="0" rIns="0" bIns="0">
              <a:spAutoFit/>
            </a:bodyPr>
            <a:p>
              <a:r>
                <a:rPr lang="en-US" altLang="zh-CN" sz="1500" b="0" dirty="0">
                  <a:solidFill>
                    <a:srgbClr val="000000"/>
                  </a:solidFill>
                  <a:latin typeface="Times New Roman" panose="02020603050405020304" charset="0"/>
                </a:rPr>
                <a:t>0</a:t>
              </a:r>
              <a:endParaRPr lang="en-US" altLang="zh-CN" sz="2400" b="0" dirty="0">
                <a:latin typeface="Times New Roman" panose="02020603050405020304" charset="0"/>
              </a:endParaRPr>
            </a:p>
          </p:txBody>
        </p:sp>
        <p:sp>
          <p:nvSpPr>
            <p:cNvPr id="28713" name="矩形 192552"/>
            <p:cNvSpPr/>
            <p:nvPr/>
          </p:nvSpPr>
          <p:spPr>
            <a:xfrm>
              <a:off x="4157" y="3013"/>
              <a:ext cx="60" cy="144"/>
            </a:xfrm>
            <a:prstGeom prst="rect">
              <a:avLst/>
            </a:prstGeom>
            <a:noFill/>
            <a:ln w="9525">
              <a:noFill/>
            </a:ln>
          </p:spPr>
          <p:txBody>
            <a:bodyPr wrap="none" lIns="0" tIns="0" rIns="0" bIns="0">
              <a:spAutoFit/>
            </a:bodyPr>
            <a:p>
              <a:r>
                <a:rPr lang="en-US" altLang="zh-CN" sz="1500" b="0" dirty="0">
                  <a:solidFill>
                    <a:srgbClr val="000000"/>
                  </a:solidFill>
                  <a:latin typeface="Times New Roman" panose="02020603050405020304" charset="0"/>
                </a:rPr>
                <a:t>0</a:t>
              </a:r>
              <a:endParaRPr lang="en-US" altLang="zh-CN" sz="2400" b="0" dirty="0">
                <a:latin typeface="Times New Roman" panose="02020603050405020304" charset="0"/>
              </a:endParaRPr>
            </a:p>
          </p:txBody>
        </p:sp>
        <p:sp>
          <p:nvSpPr>
            <p:cNvPr id="28714" name="矩形 192553"/>
            <p:cNvSpPr/>
            <p:nvPr/>
          </p:nvSpPr>
          <p:spPr>
            <a:xfrm>
              <a:off x="3893" y="3013"/>
              <a:ext cx="60" cy="144"/>
            </a:xfrm>
            <a:prstGeom prst="rect">
              <a:avLst/>
            </a:prstGeom>
            <a:noFill/>
            <a:ln w="9525">
              <a:noFill/>
            </a:ln>
          </p:spPr>
          <p:txBody>
            <a:bodyPr wrap="none" lIns="0" tIns="0" rIns="0" bIns="0">
              <a:spAutoFit/>
            </a:bodyPr>
            <a:p>
              <a:r>
                <a:rPr lang="en-US" altLang="zh-CN" sz="1500" b="0" dirty="0">
                  <a:solidFill>
                    <a:srgbClr val="000000"/>
                  </a:solidFill>
                  <a:latin typeface="Times New Roman" panose="02020603050405020304" charset="0"/>
                </a:rPr>
                <a:t>1</a:t>
              </a:r>
              <a:endParaRPr lang="en-US" altLang="zh-CN" sz="2400" b="0" dirty="0">
                <a:latin typeface="Times New Roman" panose="02020603050405020304" charset="0"/>
              </a:endParaRPr>
            </a:p>
          </p:txBody>
        </p:sp>
        <p:sp>
          <p:nvSpPr>
            <p:cNvPr id="28715" name="矩形 192554"/>
            <p:cNvSpPr/>
            <p:nvPr/>
          </p:nvSpPr>
          <p:spPr>
            <a:xfrm>
              <a:off x="3461" y="3013"/>
              <a:ext cx="60" cy="144"/>
            </a:xfrm>
            <a:prstGeom prst="rect">
              <a:avLst/>
            </a:prstGeom>
            <a:noFill/>
            <a:ln w="9525">
              <a:noFill/>
            </a:ln>
          </p:spPr>
          <p:txBody>
            <a:bodyPr wrap="none" lIns="0" tIns="0" rIns="0" bIns="0">
              <a:spAutoFit/>
            </a:bodyPr>
            <a:p>
              <a:r>
                <a:rPr lang="en-US" altLang="zh-CN" sz="1500" b="0" dirty="0">
                  <a:solidFill>
                    <a:srgbClr val="000000"/>
                  </a:solidFill>
                  <a:latin typeface="Times New Roman" panose="02020603050405020304" charset="0"/>
                </a:rPr>
                <a:t>0</a:t>
              </a:r>
              <a:endParaRPr lang="en-US" altLang="zh-CN" sz="2400" b="0" dirty="0">
                <a:latin typeface="Times New Roman" panose="02020603050405020304" charset="0"/>
              </a:endParaRPr>
            </a:p>
          </p:txBody>
        </p:sp>
        <p:sp>
          <p:nvSpPr>
            <p:cNvPr id="28716" name="矩形 192555"/>
            <p:cNvSpPr/>
            <p:nvPr/>
          </p:nvSpPr>
          <p:spPr>
            <a:xfrm>
              <a:off x="3213" y="3013"/>
              <a:ext cx="60" cy="144"/>
            </a:xfrm>
            <a:prstGeom prst="rect">
              <a:avLst/>
            </a:prstGeom>
            <a:noFill/>
            <a:ln w="9525">
              <a:noFill/>
            </a:ln>
          </p:spPr>
          <p:txBody>
            <a:bodyPr wrap="none" lIns="0" tIns="0" rIns="0" bIns="0">
              <a:spAutoFit/>
            </a:bodyPr>
            <a:p>
              <a:r>
                <a:rPr lang="en-US" altLang="zh-CN" sz="1500" b="0" dirty="0">
                  <a:solidFill>
                    <a:srgbClr val="000000"/>
                  </a:solidFill>
                  <a:latin typeface="Times New Roman" panose="02020603050405020304" charset="0"/>
                </a:rPr>
                <a:t>1</a:t>
              </a:r>
              <a:endParaRPr lang="en-US" altLang="zh-CN" sz="2400" b="0" dirty="0">
                <a:latin typeface="Times New Roman" panose="02020603050405020304" charset="0"/>
              </a:endParaRPr>
            </a:p>
          </p:txBody>
        </p:sp>
        <p:sp>
          <p:nvSpPr>
            <p:cNvPr id="28717" name="矩形 192556"/>
            <p:cNvSpPr/>
            <p:nvPr/>
          </p:nvSpPr>
          <p:spPr>
            <a:xfrm>
              <a:off x="2789" y="2871"/>
              <a:ext cx="60" cy="144"/>
            </a:xfrm>
            <a:prstGeom prst="rect">
              <a:avLst/>
            </a:prstGeom>
            <a:noFill/>
            <a:ln w="9525">
              <a:noFill/>
            </a:ln>
          </p:spPr>
          <p:txBody>
            <a:bodyPr wrap="none" lIns="0" tIns="0" rIns="0" bIns="0">
              <a:spAutoFit/>
            </a:bodyPr>
            <a:p>
              <a:r>
                <a:rPr lang="en-US" altLang="zh-CN" sz="1500" b="0" dirty="0">
                  <a:solidFill>
                    <a:srgbClr val="000000"/>
                  </a:solidFill>
                  <a:latin typeface="Times New Roman" panose="02020603050405020304" charset="0"/>
                </a:rPr>
                <a:t>1</a:t>
              </a:r>
              <a:endParaRPr lang="en-US" altLang="zh-CN" sz="2400" b="0" dirty="0">
                <a:latin typeface="Times New Roman" panose="02020603050405020304" charset="0"/>
              </a:endParaRPr>
            </a:p>
          </p:txBody>
        </p:sp>
        <p:sp>
          <p:nvSpPr>
            <p:cNvPr id="28718" name="矩形 192557"/>
            <p:cNvSpPr/>
            <p:nvPr/>
          </p:nvSpPr>
          <p:spPr>
            <a:xfrm>
              <a:off x="2632" y="3013"/>
              <a:ext cx="60" cy="144"/>
            </a:xfrm>
            <a:prstGeom prst="rect">
              <a:avLst/>
            </a:prstGeom>
            <a:noFill/>
            <a:ln w="9525">
              <a:noFill/>
            </a:ln>
          </p:spPr>
          <p:txBody>
            <a:bodyPr wrap="none" lIns="0" tIns="0" rIns="0" bIns="0">
              <a:spAutoFit/>
            </a:bodyPr>
            <a:p>
              <a:r>
                <a:rPr lang="en-US" altLang="zh-CN" sz="1500" b="0" dirty="0">
                  <a:solidFill>
                    <a:srgbClr val="000000"/>
                  </a:solidFill>
                  <a:latin typeface="Times New Roman" panose="02020603050405020304" charset="0"/>
                </a:rPr>
                <a:t>1</a:t>
              </a:r>
              <a:endParaRPr lang="en-US" altLang="zh-CN" sz="2400" b="0" dirty="0">
                <a:latin typeface="Times New Roman" panose="02020603050405020304" charset="0"/>
              </a:endParaRPr>
            </a:p>
          </p:txBody>
        </p:sp>
        <p:sp>
          <p:nvSpPr>
            <p:cNvPr id="28719" name="矩形 192558"/>
            <p:cNvSpPr/>
            <p:nvPr/>
          </p:nvSpPr>
          <p:spPr>
            <a:xfrm>
              <a:off x="3461" y="2640"/>
              <a:ext cx="60" cy="144"/>
            </a:xfrm>
            <a:prstGeom prst="rect">
              <a:avLst/>
            </a:prstGeom>
            <a:noFill/>
            <a:ln w="9525">
              <a:noFill/>
            </a:ln>
          </p:spPr>
          <p:txBody>
            <a:bodyPr wrap="none" lIns="0" tIns="0" rIns="0" bIns="0">
              <a:spAutoFit/>
            </a:bodyPr>
            <a:p>
              <a:r>
                <a:rPr lang="en-US" altLang="zh-CN" sz="1500" b="0" dirty="0">
                  <a:solidFill>
                    <a:srgbClr val="000000"/>
                  </a:solidFill>
                  <a:latin typeface="Times New Roman" panose="02020603050405020304" charset="0"/>
                </a:rPr>
                <a:t>0</a:t>
              </a:r>
              <a:endParaRPr lang="en-US" altLang="zh-CN" sz="2400" b="0" dirty="0">
                <a:latin typeface="Times New Roman" panose="02020603050405020304" charset="0"/>
              </a:endParaRPr>
            </a:p>
          </p:txBody>
        </p:sp>
        <p:sp>
          <p:nvSpPr>
            <p:cNvPr id="28720" name="矩形 192559"/>
            <p:cNvSpPr/>
            <p:nvPr/>
          </p:nvSpPr>
          <p:spPr>
            <a:xfrm>
              <a:off x="3213" y="2640"/>
              <a:ext cx="60" cy="144"/>
            </a:xfrm>
            <a:prstGeom prst="rect">
              <a:avLst/>
            </a:prstGeom>
            <a:noFill/>
            <a:ln w="9525">
              <a:noFill/>
            </a:ln>
          </p:spPr>
          <p:txBody>
            <a:bodyPr wrap="none" lIns="0" tIns="0" rIns="0" bIns="0">
              <a:spAutoFit/>
            </a:bodyPr>
            <a:p>
              <a:r>
                <a:rPr lang="en-US" altLang="zh-CN" sz="1500" b="0" dirty="0">
                  <a:solidFill>
                    <a:srgbClr val="000000"/>
                  </a:solidFill>
                  <a:latin typeface="Times New Roman" panose="02020603050405020304" charset="0"/>
                </a:rPr>
                <a:t>1</a:t>
              </a:r>
              <a:endParaRPr lang="en-US" altLang="zh-CN" sz="2400" b="0" dirty="0">
                <a:latin typeface="Times New Roman" panose="02020603050405020304" charset="0"/>
              </a:endParaRPr>
            </a:p>
          </p:txBody>
        </p:sp>
        <p:sp>
          <p:nvSpPr>
            <p:cNvPr id="28721" name="矩形 192560"/>
            <p:cNvSpPr/>
            <p:nvPr/>
          </p:nvSpPr>
          <p:spPr>
            <a:xfrm>
              <a:off x="2789" y="2499"/>
              <a:ext cx="60" cy="144"/>
            </a:xfrm>
            <a:prstGeom prst="rect">
              <a:avLst/>
            </a:prstGeom>
            <a:noFill/>
            <a:ln w="9525">
              <a:noFill/>
            </a:ln>
          </p:spPr>
          <p:txBody>
            <a:bodyPr wrap="none" lIns="0" tIns="0" rIns="0" bIns="0">
              <a:spAutoFit/>
            </a:bodyPr>
            <a:p>
              <a:r>
                <a:rPr lang="en-US" altLang="zh-CN" sz="1500" b="0" dirty="0">
                  <a:solidFill>
                    <a:srgbClr val="000000"/>
                  </a:solidFill>
                  <a:latin typeface="Times New Roman" panose="02020603050405020304" charset="0"/>
                </a:rPr>
                <a:t>1</a:t>
              </a:r>
              <a:endParaRPr lang="en-US" altLang="zh-CN" sz="2400" b="0" dirty="0">
                <a:latin typeface="Times New Roman" panose="02020603050405020304" charset="0"/>
              </a:endParaRPr>
            </a:p>
          </p:txBody>
        </p:sp>
        <p:sp>
          <p:nvSpPr>
            <p:cNvPr id="28722" name="矩形 192561"/>
            <p:cNvSpPr/>
            <p:nvPr/>
          </p:nvSpPr>
          <p:spPr>
            <a:xfrm>
              <a:off x="2645" y="2640"/>
              <a:ext cx="60" cy="144"/>
            </a:xfrm>
            <a:prstGeom prst="rect">
              <a:avLst/>
            </a:prstGeom>
            <a:noFill/>
            <a:ln w="9525">
              <a:noFill/>
            </a:ln>
          </p:spPr>
          <p:txBody>
            <a:bodyPr wrap="none" lIns="0" tIns="0" rIns="0" bIns="0">
              <a:spAutoFit/>
            </a:bodyPr>
            <a:p>
              <a:r>
                <a:rPr lang="en-US" altLang="zh-CN" sz="1500" b="0" dirty="0">
                  <a:solidFill>
                    <a:srgbClr val="000000"/>
                  </a:solidFill>
                  <a:latin typeface="Times New Roman" panose="02020603050405020304" charset="0"/>
                </a:rPr>
                <a:t>2</a:t>
              </a:r>
              <a:endParaRPr lang="en-US" altLang="zh-CN" sz="2400" b="0" dirty="0">
                <a:latin typeface="Times New Roman" panose="02020603050405020304" charset="0"/>
              </a:endParaRPr>
            </a:p>
          </p:txBody>
        </p:sp>
        <p:sp>
          <p:nvSpPr>
            <p:cNvPr id="28723" name="矩形 192562"/>
            <p:cNvSpPr/>
            <p:nvPr/>
          </p:nvSpPr>
          <p:spPr>
            <a:xfrm>
              <a:off x="2696" y="3571"/>
              <a:ext cx="110" cy="240"/>
            </a:xfrm>
            <a:prstGeom prst="rect">
              <a:avLst/>
            </a:prstGeom>
            <a:noFill/>
            <a:ln w="9525">
              <a:noFill/>
            </a:ln>
          </p:spPr>
          <p:txBody>
            <a:bodyPr wrap="none" lIns="0" tIns="0" rIns="0" bIns="0">
              <a:spAutoFit/>
            </a:bodyPr>
            <a:p>
              <a:r>
                <a:rPr lang="en-US" altLang="zh-CN" sz="2500" b="0" dirty="0">
                  <a:solidFill>
                    <a:srgbClr val="000000"/>
                  </a:solidFill>
                  <a:latin typeface="Symbol" panose="05050102010706020507" pitchFamily="18" charset="2"/>
                </a:rPr>
                <a:t>=</a:t>
              </a:r>
              <a:endParaRPr lang="en-US" altLang="zh-CN" sz="2400" b="0" dirty="0">
                <a:latin typeface="Times New Roman" panose="02020603050405020304" charset="0"/>
              </a:endParaRPr>
            </a:p>
          </p:txBody>
        </p:sp>
        <p:sp>
          <p:nvSpPr>
            <p:cNvPr id="28724" name="矩形 192563"/>
            <p:cNvSpPr/>
            <p:nvPr/>
          </p:nvSpPr>
          <p:spPr>
            <a:xfrm>
              <a:off x="2919" y="3237"/>
              <a:ext cx="110" cy="240"/>
            </a:xfrm>
            <a:prstGeom prst="rect">
              <a:avLst/>
            </a:prstGeom>
            <a:noFill/>
            <a:ln w="9525">
              <a:noFill/>
            </a:ln>
          </p:spPr>
          <p:txBody>
            <a:bodyPr wrap="none" lIns="0" tIns="0" rIns="0" bIns="0">
              <a:spAutoFit/>
            </a:bodyPr>
            <a:p>
              <a:r>
                <a:rPr lang="en-US" altLang="zh-CN" sz="2500" b="0" dirty="0">
                  <a:solidFill>
                    <a:srgbClr val="000000"/>
                  </a:solidFill>
                  <a:latin typeface="Symbol" panose="05050102010706020507" pitchFamily="18" charset="2"/>
                </a:rPr>
                <a:t>=</a:t>
              </a:r>
              <a:endParaRPr lang="en-US" altLang="zh-CN" sz="2400" b="0" dirty="0">
                <a:latin typeface="Times New Roman" panose="02020603050405020304" charset="0"/>
              </a:endParaRPr>
            </a:p>
          </p:txBody>
        </p:sp>
        <p:sp>
          <p:nvSpPr>
            <p:cNvPr id="28725" name="矩形 192564"/>
            <p:cNvSpPr/>
            <p:nvPr/>
          </p:nvSpPr>
          <p:spPr>
            <a:xfrm>
              <a:off x="3609" y="2864"/>
              <a:ext cx="110" cy="240"/>
            </a:xfrm>
            <a:prstGeom prst="rect">
              <a:avLst/>
            </a:prstGeom>
            <a:noFill/>
            <a:ln w="9525">
              <a:noFill/>
            </a:ln>
          </p:spPr>
          <p:txBody>
            <a:bodyPr wrap="none" lIns="0" tIns="0" rIns="0" bIns="0">
              <a:spAutoFit/>
            </a:bodyPr>
            <a:p>
              <a:r>
                <a:rPr lang="en-US" altLang="zh-CN" sz="2500" b="0" dirty="0">
                  <a:solidFill>
                    <a:srgbClr val="000000"/>
                  </a:solidFill>
                  <a:latin typeface="Symbol" panose="05050102010706020507" pitchFamily="18" charset="2"/>
                </a:rPr>
                <a:t>+</a:t>
              </a:r>
              <a:endParaRPr lang="en-US" altLang="zh-CN" sz="2400" b="0" dirty="0">
                <a:latin typeface="Times New Roman" panose="02020603050405020304" charset="0"/>
              </a:endParaRPr>
            </a:p>
          </p:txBody>
        </p:sp>
        <p:sp>
          <p:nvSpPr>
            <p:cNvPr id="28726" name="矩形 192565"/>
            <p:cNvSpPr/>
            <p:nvPr/>
          </p:nvSpPr>
          <p:spPr>
            <a:xfrm>
              <a:off x="2919" y="2864"/>
              <a:ext cx="110" cy="240"/>
            </a:xfrm>
            <a:prstGeom prst="rect">
              <a:avLst/>
            </a:prstGeom>
            <a:noFill/>
            <a:ln w="9525">
              <a:noFill/>
            </a:ln>
          </p:spPr>
          <p:txBody>
            <a:bodyPr wrap="none" lIns="0" tIns="0" rIns="0" bIns="0">
              <a:spAutoFit/>
            </a:bodyPr>
            <a:p>
              <a:r>
                <a:rPr lang="en-US" altLang="zh-CN" sz="2500" b="0" dirty="0">
                  <a:solidFill>
                    <a:srgbClr val="000000"/>
                  </a:solidFill>
                  <a:latin typeface="Symbol" panose="05050102010706020507" pitchFamily="18" charset="2"/>
                </a:rPr>
                <a:t>=</a:t>
              </a:r>
              <a:endParaRPr lang="en-US" altLang="zh-CN" sz="2400" b="0" dirty="0">
                <a:latin typeface="Times New Roman" panose="02020603050405020304" charset="0"/>
              </a:endParaRPr>
            </a:p>
          </p:txBody>
        </p:sp>
        <p:sp>
          <p:nvSpPr>
            <p:cNvPr id="28727" name="矩形 192566"/>
            <p:cNvSpPr/>
            <p:nvPr/>
          </p:nvSpPr>
          <p:spPr>
            <a:xfrm>
              <a:off x="2919" y="2492"/>
              <a:ext cx="110" cy="240"/>
            </a:xfrm>
            <a:prstGeom prst="rect">
              <a:avLst/>
            </a:prstGeom>
            <a:noFill/>
            <a:ln w="9525">
              <a:noFill/>
            </a:ln>
          </p:spPr>
          <p:txBody>
            <a:bodyPr wrap="none" lIns="0" tIns="0" rIns="0" bIns="0">
              <a:spAutoFit/>
            </a:bodyPr>
            <a:p>
              <a:r>
                <a:rPr lang="en-US" altLang="zh-CN" sz="2500" b="0" dirty="0">
                  <a:solidFill>
                    <a:srgbClr val="000000"/>
                  </a:solidFill>
                  <a:latin typeface="Symbol" panose="05050102010706020507" pitchFamily="18" charset="2"/>
                </a:rPr>
                <a:t>=</a:t>
              </a:r>
              <a:endParaRPr lang="en-US" altLang="zh-CN" sz="2400" b="0" dirty="0">
                <a:latin typeface="Times New Roman" panose="02020603050405020304" charset="0"/>
              </a:endParaRPr>
            </a:p>
          </p:txBody>
        </p:sp>
        <p:sp>
          <p:nvSpPr>
            <p:cNvPr id="28728" name="矩形 192567"/>
            <p:cNvSpPr/>
            <p:nvPr/>
          </p:nvSpPr>
          <p:spPr>
            <a:xfrm>
              <a:off x="2729" y="3231"/>
              <a:ext cx="66" cy="144"/>
            </a:xfrm>
            <a:prstGeom prst="rect">
              <a:avLst/>
            </a:prstGeom>
            <a:noFill/>
            <a:ln w="9525">
              <a:noFill/>
            </a:ln>
          </p:spPr>
          <p:txBody>
            <a:bodyPr wrap="none" lIns="0" tIns="0" rIns="0" bIns="0">
              <a:spAutoFit/>
            </a:bodyPr>
            <a:p>
              <a:r>
                <a:rPr lang="en-US" altLang="zh-CN" sz="1500" b="0" dirty="0">
                  <a:solidFill>
                    <a:srgbClr val="000000"/>
                  </a:solidFill>
                  <a:latin typeface="Symbol" panose="05050102010706020507" pitchFamily="18" charset="2"/>
                </a:rPr>
                <a:t>+</a:t>
              </a:r>
              <a:endParaRPr lang="en-US" altLang="zh-CN" sz="2400" b="0" dirty="0">
                <a:latin typeface="Times New Roman" panose="02020603050405020304" charset="0"/>
              </a:endParaRPr>
            </a:p>
          </p:txBody>
        </p:sp>
        <p:sp>
          <p:nvSpPr>
            <p:cNvPr id="28729" name="矩形 192568"/>
            <p:cNvSpPr/>
            <p:nvPr/>
          </p:nvSpPr>
          <p:spPr>
            <a:xfrm>
              <a:off x="2729" y="2858"/>
              <a:ext cx="66" cy="144"/>
            </a:xfrm>
            <a:prstGeom prst="rect">
              <a:avLst/>
            </a:prstGeom>
            <a:noFill/>
            <a:ln w="9525">
              <a:noFill/>
            </a:ln>
          </p:spPr>
          <p:txBody>
            <a:bodyPr wrap="none" lIns="0" tIns="0" rIns="0" bIns="0">
              <a:spAutoFit/>
            </a:bodyPr>
            <a:p>
              <a:r>
                <a:rPr lang="en-US" altLang="zh-CN" sz="1500" b="0" dirty="0">
                  <a:solidFill>
                    <a:srgbClr val="000000"/>
                  </a:solidFill>
                  <a:latin typeface="Symbol" panose="05050102010706020507" pitchFamily="18" charset="2"/>
                </a:rPr>
                <a:t>+</a:t>
              </a:r>
              <a:endParaRPr lang="en-US" altLang="zh-CN" sz="2400" b="0" dirty="0">
                <a:latin typeface="Times New Roman" panose="02020603050405020304" charset="0"/>
              </a:endParaRPr>
            </a:p>
          </p:txBody>
        </p:sp>
        <p:sp>
          <p:nvSpPr>
            <p:cNvPr id="28730" name="矩形 192569"/>
            <p:cNvSpPr/>
            <p:nvPr/>
          </p:nvSpPr>
          <p:spPr>
            <a:xfrm>
              <a:off x="2729" y="2486"/>
              <a:ext cx="66" cy="144"/>
            </a:xfrm>
            <a:prstGeom prst="rect">
              <a:avLst/>
            </a:prstGeom>
            <a:noFill/>
            <a:ln w="9525">
              <a:noFill/>
            </a:ln>
          </p:spPr>
          <p:txBody>
            <a:bodyPr wrap="none" lIns="0" tIns="0" rIns="0" bIns="0">
              <a:spAutoFit/>
            </a:bodyPr>
            <a:p>
              <a:r>
                <a:rPr lang="en-US" altLang="zh-CN" sz="1500" b="0" dirty="0">
                  <a:solidFill>
                    <a:srgbClr val="000000"/>
                  </a:solidFill>
                  <a:latin typeface="Symbol" panose="05050102010706020507" pitchFamily="18" charset="2"/>
                </a:rPr>
                <a:t>+</a:t>
              </a:r>
              <a:endParaRPr lang="en-US" altLang="zh-CN" sz="2400" b="0" dirty="0">
                <a:latin typeface="Times New Roman" panose="02020603050405020304" charset="0"/>
              </a:endParaRPr>
            </a:p>
          </p:txBody>
        </p:sp>
      </p:grpSp>
      <p:grpSp>
        <p:nvGrpSpPr>
          <p:cNvPr id="6" name="组合 5"/>
          <p:cNvGrpSpPr/>
          <p:nvPr/>
        </p:nvGrpSpPr>
        <p:grpSpPr>
          <a:xfrm>
            <a:off x="4716780" y="2340610"/>
            <a:ext cx="4352290" cy="1296035"/>
            <a:chOff x="7427" y="1998"/>
            <a:chExt cx="6854" cy="2041"/>
          </a:xfrm>
        </p:grpSpPr>
        <p:sp>
          <p:nvSpPr>
            <p:cNvPr id="5" name="矩形标注 4"/>
            <p:cNvSpPr/>
            <p:nvPr/>
          </p:nvSpPr>
          <p:spPr>
            <a:xfrm>
              <a:off x="7427" y="1998"/>
              <a:ext cx="6854" cy="2041"/>
            </a:xfrm>
            <a:prstGeom prst="wedgeRectCallout">
              <a:avLst>
                <a:gd name="adj1" fmla="val -92588"/>
                <a:gd name="adj2" fmla="val -3535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1551" name="文本框 191550"/>
            <p:cNvSpPr txBox="1"/>
            <p:nvPr/>
          </p:nvSpPr>
          <p:spPr>
            <a:xfrm>
              <a:off x="7427" y="1998"/>
              <a:ext cx="6757" cy="1888"/>
            </a:xfrm>
            <a:prstGeom prst="rect">
              <a:avLst/>
            </a:prstGeom>
            <a:solidFill>
              <a:schemeClr val="bg1"/>
            </a:solidFill>
            <a:ln w="9525">
              <a:noFill/>
            </a:ln>
          </p:spPr>
          <p:txBody>
            <a:bodyPr wrap="square">
              <a:spAutoFit/>
            </a:bodyPr>
            <a:p>
              <a:pPr marR="0" defTabSz="914400">
                <a:spcBef>
                  <a:spcPct val="50000"/>
                </a:spcBef>
                <a:buClrTx/>
                <a:buSzTx/>
                <a:defRPr/>
              </a:pPr>
              <a:r>
                <a:rPr kumimoji="0" lang="zh-CN" altLang="en-US" sz="2400" kern="1200" cap="none" spc="0" normalizeH="0" baseline="0" noProof="1">
                  <a:solidFill>
                    <a:schemeClr val="accent6">
                      <a:lumMod val="60000"/>
                      <a:lumOff val="40000"/>
                    </a:schemeClr>
                  </a:solidFill>
                  <a:effectLst>
                    <a:outerShdw blurRad="38100" dist="38100" dir="2700000">
                      <a:srgbClr val="000000"/>
                    </a:outerShdw>
                  </a:effectLst>
                  <a:latin typeface="Times New Roman" panose="02020603050405020304" charset="0"/>
                  <a:ea typeface="宋体" panose="02010600030101010101" pitchFamily="2" charset="-122"/>
                  <a:cs typeface="Times New Roman" panose="02020603050405020304" charset="0"/>
                </a:rPr>
                <a:t>此状态方程中等式右边因不含</a:t>
              </a:r>
              <a:r>
                <a:rPr kumimoji="0" lang="en-US" altLang="zh-CN" sz="2400" i="1" kern="1200" cap="none" spc="0" normalizeH="0" baseline="0" noProof="1">
                  <a:solidFill>
                    <a:schemeClr val="accent6">
                      <a:lumMod val="60000"/>
                      <a:lumOff val="40000"/>
                    </a:schemeClr>
                  </a:solidFill>
                  <a:effectLst>
                    <a:outerShdw blurRad="38100" dist="38100" dir="2700000">
                      <a:srgbClr val="000000"/>
                    </a:outerShdw>
                  </a:effectLst>
                  <a:latin typeface="Times New Roman" panose="02020603050405020304" charset="0"/>
                  <a:ea typeface="宋体" panose="02010600030101010101" pitchFamily="2" charset="-122"/>
                  <a:cs typeface="Times New Roman" panose="02020603050405020304" charset="0"/>
                </a:rPr>
                <a:t>Q</a:t>
              </a:r>
              <a:r>
                <a:rPr kumimoji="0" lang="en-US" altLang="zh-CN" sz="2400" kern="1200" cap="none" spc="0" normalizeH="0" baseline="-25000" noProof="1">
                  <a:solidFill>
                    <a:schemeClr val="accent6">
                      <a:lumMod val="60000"/>
                      <a:lumOff val="40000"/>
                    </a:schemeClr>
                  </a:solidFill>
                  <a:effectLst>
                    <a:outerShdw blurRad="38100" dist="38100" dir="2700000">
                      <a:srgbClr val="000000"/>
                    </a:outerShdw>
                  </a:effectLst>
                  <a:latin typeface="Times New Roman" panose="02020603050405020304" charset="0"/>
                  <a:ea typeface="宋体" panose="02010600030101010101" pitchFamily="2" charset="-122"/>
                  <a:cs typeface="Times New Roman" panose="02020603050405020304" charset="0"/>
                </a:rPr>
                <a:t>2</a:t>
              </a:r>
              <a:r>
                <a:rPr kumimoji="0" lang="zh-CN" altLang="en-US" sz="2400" kern="1200" cap="none" spc="0" normalizeH="0" baseline="0" noProof="1">
                  <a:solidFill>
                    <a:schemeClr val="accent6">
                      <a:lumMod val="60000"/>
                      <a:lumOff val="40000"/>
                    </a:schemeClr>
                  </a:solidFill>
                  <a:effectLst>
                    <a:outerShdw blurRad="38100" dist="38100" dir="2700000">
                      <a:srgbClr val="000000"/>
                    </a:outerShdw>
                  </a:effectLst>
                  <a:latin typeface="Times New Roman" panose="02020603050405020304" charset="0"/>
                  <a:ea typeface="宋体" panose="02010600030101010101" pitchFamily="2" charset="-122"/>
                  <a:cs typeface="Times New Roman" panose="02020603050405020304" charset="0"/>
                </a:rPr>
                <a:t>，为保留</a:t>
              </a:r>
              <a:r>
                <a:rPr kumimoji="0" lang="en-US" altLang="zh-CN" sz="2400" i="1" kern="1200" cap="none" spc="0" normalizeH="0" baseline="0" noProof="1">
                  <a:solidFill>
                    <a:schemeClr val="accent6">
                      <a:lumMod val="60000"/>
                      <a:lumOff val="40000"/>
                    </a:schemeClr>
                  </a:solidFill>
                  <a:effectLst>
                    <a:outerShdw blurRad="38100" dist="38100" dir="2700000">
                      <a:srgbClr val="000000"/>
                    </a:outerShdw>
                  </a:effectLst>
                  <a:latin typeface="Times New Roman" panose="02020603050405020304" charset="0"/>
                  <a:ea typeface="宋体" panose="02010600030101010101" pitchFamily="2" charset="-122"/>
                  <a:cs typeface="Times New Roman" panose="02020603050405020304" charset="0"/>
                </a:rPr>
                <a:t>Q</a:t>
              </a:r>
              <a:r>
                <a:rPr kumimoji="0" lang="en-US" altLang="zh-CN" sz="2400" kern="1200" cap="none" spc="0" normalizeH="0" baseline="-25000" noProof="1">
                  <a:solidFill>
                    <a:schemeClr val="accent6">
                      <a:lumMod val="60000"/>
                      <a:lumOff val="40000"/>
                    </a:schemeClr>
                  </a:solidFill>
                  <a:effectLst>
                    <a:outerShdw blurRad="38100" dist="38100" dir="2700000">
                      <a:srgbClr val="000000"/>
                    </a:outerShdw>
                  </a:effectLst>
                  <a:latin typeface="Times New Roman" panose="02020603050405020304" charset="0"/>
                  <a:ea typeface="宋体" panose="02010600030101010101" pitchFamily="2" charset="-122"/>
                  <a:cs typeface="Times New Roman" panose="02020603050405020304" charset="0"/>
                </a:rPr>
                <a:t>2</a:t>
              </a:r>
              <a:r>
                <a:rPr kumimoji="0" lang="zh-CN" altLang="en-US" sz="2400" kern="1200" cap="none" spc="0" normalizeH="0" baseline="0" noProof="1">
                  <a:solidFill>
                    <a:schemeClr val="accent6">
                      <a:lumMod val="60000"/>
                      <a:lumOff val="40000"/>
                    </a:schemeClr>
                  </a:solidFill>
                  <a:effectLst>
                    <a:outerShdw blurRad="38100" dist="38100" dir="2700000">
                      <a:srgbClr val="000000"/>
                    </a:outerShdw>
                  </a:effectLst>
                  <a:latin typeface="Times New Roman" panose="02020603050405020304" charset="0"/>
                  <a:ea typeface="宋体" panose="02010600030101010101" pitchFamily="2" charset="-122"/>
                  <a:cs typeface="Times New Roman" panose="02020603050405020304" charset="0"/>
                </a:rPr>
                <a:t>，故画圈时不把无关项圈进，为的是电路最简</a:t>
              </a:r>
              <a:endParaRPr kumimoji="0" lang="zh-CN" altLang="en-US" sz="2400" kern="1200" cap="none" spc="0" normalizeH="0" baseline="0" noProof="1">
                <a:solidFill>
                  <a:schemeClr val="accent6">
                    <a:lumMod val="60000"/>
                    <a:lumOff val="40000"/>
                  </a:schemeClr>
                </a:solidFill>
                <a:effectLst>
                  <a:outerShdw blurRad="38100" dist="38100" dir="2700000">
                    <a:srgbClr val="000000"/>
                  </a:outerShdw>
                </a:effectLst>
                <a:latin typeface="Times New Roman" panose="02020603050405020304" charset="0"/>
                <a:ea typeface="宋体" panose="02010600030101010101" pitchFamily="2" charset="-122"/>
                <a:cs typeface="Times New Roman" panose="02020603050405020304" charset="0"/>
              </a:endParaRPr>
            </a:p>
          </p:txBody>
        </p:sp>
      </p:grpSp>
      <p:graphicFrame>
        <p:nvGraphicFramePr>
          <p:cNvPr id="7" name="对象 6">
            <a:hlinkClick r:id="" action="ppaction://ole?verb="/>
          </p:cNvPr>
          <p:cNvGraphicFramePr>
            <a:graphicFrameLocks noChangeAspect="1"/>
          </p:cNvGraphicFramePr>
          <p:nvPr/>
        </p:nvGraphicFramePr>
        <p:xfrm>
          <a:off x="1192530" y="1608455"/>
          <a:ext cx="2327910" cy="626745"/>
        </p:xfrm>
        <a:graphic>
          <a:graphicData uri="http://schemas.openxmlformats.org/presentationml/2006/ole">
            <mc:AlternateContent xmlns:mc="http://schemas.openxmlformats.org/markup-compatibility/2006">
              <mc:Choice xmlns:v="urn:schemas-microsoft-com:vml" Requires="v">
                <p:oleObj spid="_x0000_s1025" name="" r:id="rId1" imgW="990600" imgH="266700" progId="Equation.KSEE3">
                  <p:embed/>
                </p:oleObj>
              </mc:Choice>
              <mc:Fallback>
                <p:oleObj name="" r:id="rId1" imgW="990600" imgH="266700" progId="Equation.KSEE3">
                  <p:embed/>
                  <p:pic>
                    <p:nvPicPr>
                      <p:cNvPr id="0" name="图片 1024"/>
                      <p:cNvPicPr/>
                      <p:nvPr/>
                    </p:nvPicPr>
                    <p:blipFill>
                      <a:blip r:embed="rId2"/>
                      <a:stretch>
                        <a:fillRect/>
                      </a:stretch>
                    </p:blipFill>
                    <p:spPr>
                      <a:xfrm>
                        <a:off x="1192530" y="1608455"/>
                        <a:ext cx="2327910" cy="626745"/>
                      </a:xfrm>
                      <a:prstGeom prst="rect">
                        <a:avLst/>
                      </a:prstGeom>
                    </p:spPr>
                  </p:pic>
                </p:oleObj>
              </mc:Fallback>
            </mc:AlternateContent>
          </a:graphicData>
        </a:graphic>
      </p:graphicFrame>
      <p:sp>
        <p:nvSpPr>
          <p:cNvPr id="8" name="右弧形箭头 7"/>
          <p:cNvSpPr/>
          <p:nvPr/>
        </p:nvSpPr>
        <p:spPr>
          <a:xfrm flipH="1" flipV="1">
            <a:off x="760095" y="1838325"/>
            <a:ext cx="432435" cy="647700"/>
          </a:xfrm>
          <a:prstGeom prst="curved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2" name="文本框 1"/>
          <p:cNvSpPr txBox="1"/>
          <p:nvPr/>
        </p:nvSpPr>
        <p:spPr>
          <a:xfrm>
            <a:off x="1156970" y="4497070"/>
            <a:ext cx="5080000" cy="460375"/>
          </a:xfrm>
          <a:prstGeom prst="rect">
            <a:avLst/>
          </a:prstGeom>
          <a:noFill/>
          <a:ln w="9525">
            <a:noFill/>
          </a:ln>
        </p:spPr>
        <p:txBody>
          <a:bodyPr>
            <a:spAutoFit/>
          </a:bodyPr>
          <a:p>
            <a:r>
              <a:rPr lang="zh-CN" sz="2400" b="1">
                <a:gradFill>
                  <a:gsLst>
                    <a:gs pos="0">
                      <a:srgbClr val="012D86"/>
                    </a:gs>
                    <a:gs pos="100000">
                      <a:srgbClr val="0E2557"/>
                    </a:gs>
                  </a:gsLst>
                  <a:lin scaled="0"/>
                </a:gradFill>
                <a:ea typeface="宋体" panose="02010600030101010101" pitchFamily="2" charset="-122"/>
              </a:rPr>
              <a:t>各触发器的激励方程：</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3" name="对象 1767"/>
          <p:cNvPicPr>
            <a:picLocks noChangeAspect="1"/>
          </p:cNvPicPr>
          <p:nvPr/>
        </p:nvPicPr>
        <p:blipFill>
          <a:blip r:embed="rId3"/>
          <a:stretch>
            <a:fillRect/>
          </a:stretch>
        </p:blipFill>
        <p:spPr>
          <a:xfrm>
            <a:off x="4527550" y="4422775"/>
            <a:ext cx="2769235" cy="15652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00"/>
                                        <p:tgtEl>
                                          <p:spTgt spid="8"/>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par>
                          <p:cTn id="23" fill="hold">
                            <p:stCondLst>
                              <p:cond delay="500"/>
                            </p:stCondLst>
                            <p:childTnLst>
                              <p:par>
                                <p:cTn id="24" presetID="1" presetClass="entr" presetSubtype="0" fill="hold" nodeType="afterEffect">
                                  <p:stCondLst>
                                    <p:cond delay="500"/>
                                  </p:stCondLst>
                                  <p:childTnLst>
                                    <p:set>
                                      <p:cBhvr>
                                        <p:cTn id="2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6.3 </a:t>
            </a:r>
            <a:r>
              <a:rPr lang="zh-CN" altLang="en-US" b="1" dirty="0">
                <a:solidFill>
                  <a:srgbClr val="FF0000"/>
                </a:solidFill>
                <a:latin typeface="黑体" panose="02010609060101010101" pitchFamily="49" charset="-122"/>
                <a:ea typeface="黑体" panose="02010609060101010101" pitchFamily="49" charset="-122"/>
                <a:sym typeface="+mn-ea"/>
              </a:rPr>
              <a:t>同步</a:t>
            </a:r>
            <a:r>
              <a:rPr lang="en-US" altLang="zh-CN" b="1" dirty="0">
                <a:solidFill>
                  <a:srgbClr val="FF0000"/>
                </a:solidFill>
                <a:latin typeface="黑体" panose="02010609060101010101" pitchFamily="49" charset="-122"/>
                <a:ea typeface="黑体" panose="02010609060101010101" pitchFamily="49" charset="-122"/>
                <a:sym typeface="+mn-ea"/>
              </a:rPr>
              <a:t>时序逻辑电路的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1" name="文本框 100"/>
          <p:cNvSpPr txBox="1"/>
          <p:nvPr/>
        </p:nvSpPr>
        <p:spPr>
          <a:xfrm>
            <a:off x="1026795" y="1231900"/>
            <a:ext cx="5080000" cy="460375"/>
          </a:xfrm>
          <a:prstGeom prst="rect">
            <a:avLst/>
          </a:prstGeom>
          <a:noFill/>
          <a:ln w="9525">
            <a:noFill/>
          </a:ln>
        </p:spPr>
        <p:txBody>
          <a:bodyPr>
            <a:spAutoFit/>
          </a:bodyPr>
          <a:p>
            <a:r>
              <a:rPr lang="en-US" sz="2400" b="1">
                <a:latin typeface="Times New Roman" panose="02020603050405020304" charset="0"/>
                <a:sym typeface="+mn-ea"/>
              </a:rPr>
              <a:t>(6)</a:t>
            </a:r>
            <a:r>
              <a:rPr lang="zh-CN" sz="2400" b="1">
                <a:ea typeface="宋体" panose="02010600030101010101" pitchFamily="2" charset="-122"/>
              </a:rPr>
              <a:t>画逻辑图</a:t>
            </a:r>
            <a:endParaRPr lang="zh-CN" altLang="en-US" sz="2400" b="1">
              <a:ea typeface="宋体" panose="02010600030101010101" pitchFamily="2" charset="-122"/>
            </a:endParaRPr>
          </a:p>
        </p:txBody>
      </p:sp>
      <p:pic>
        <p:nvPicPr>
          <p:cNvPr id="2" name="对象 1767"/>
          <p:cNvPicPr>
            <a:picLocks noChangeAspect="1"/>
          </p:cNvPicPr>
          <p:nvPr/>
        </p:nvPicPr>
        <p:blipFill>
          <a:blip r:embed="rId1"/>
          <a:stretch>
            <a:fillRect/>
          </a:stretch>
        </p:blipFill>
        <p:spPr>
          <a:xfrm>
            <a:off x="2200275" y="4486275"/>
            <a:ext cx="2733040" cy="1544955"/>
          </a:xfrm>
          <a:prstGeom prst="rect">
            <a:avLst/>
          </a:prstGeom>
          <a:noFill/>
          <a:ln w="9525">
            <a:noFill/>
          </a:ln>
        </p:spPr>
      </p:pic>
      <p:pic>
        <p:nvPicPr>
          <p:cNvPr id="9380" name="图片 2817"/>
          <p:cNvPicPr>
            <a:picLocks noChangeAspect="1"/>
          </p:cNvPicPr>
          <p:nvPr/>
        </p:nvPicPr>
        <p:blipFill>
          <a:blip r:embed="rId2"/>
          <a:stretch>
            <a:fillRect/>
          </a:stretch>
        </p:blipFill>
        <p:spPr>
          <a:xfrm>
            <a:off x="440690" y="1692275"/>
            <a:ext cx="8124190" cy="2794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6.3 </a:t>
            </a:r>
            <a:r>
              <a:rPr lang="zh-CN" altLang="en-US" b="1" dirty="0">
                <a:solidFill>
                  <a:srgbClr val="FF0000"/>
                </a:solidFill>
                <a:latin typeface="黑体" panose="02010609060101010101" pitchFamily="49" charset="-122"/>
                <a:ea typeface="黑体" panose="02010609060101010101" pitchFamily="49" charset="-122"/>
                <a:sym typeface="+mn-ea"/>
              </a:rPr>
              <a:t>同步</a:t>
            </a:r>
            <a:r>
              <a:rPr lang="en-US" altLang="zh-CN" b="1" dirty="0">
                <a:solidFill>
                  <a:srgbClr val="FF0000"/>
                </a:solidFill>
                <a:latin typeface="黑体" panose="02010609060101010101" pitchFamily="49" charset="-122"/>
                <a:ea typeface="黑体" panose="02010609060101010101" pitchFamily="49" charset="-122"/>
                <a:sym typeface="+mn-ea"/>
              </a:rPr>
              <a:t>时序逻辑电路的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940435" y="1102995"/>
            <a:ext cx="5080000" cy="460375"/>
          </a:xfrm>
          <a:prstGeom prst="rect">
            <a:avLst/>
          </a:prstGeom>
          <a:noFill/>
          <a:ln w="9525">
            <a:noFill/>
          </a:ln>
        </p:spPr>
        <p:txBody>
          <a:bodyPr>
            <a:spAutoFit/>
          </a:bodyPr>
          <a:p>
            <a:r>
              <a:rPr lang="en-US" sz="2400" b="1">
                <a:latin typeface="Times New Roman" panose="02020603050405020304" charset="0"/>
                <a:sym typeface="+mn-ea"/>
              </a:rPr>
              <a:t>(7)</a:t>
            </a:r>
            <a:r>
              <a:rPr lang="zh-CN" sz="2400" b="1">
                <a:ea typeface="宋体" panose="02010600030101010101" pitchFamily="2" charset="-122"/>
              </a:rPr>
              <a:t>检查电路能否自启动</a:t>
            </a:r>
            <a:endParaRPr lang="zh-CN" altLang="en-US" sz="2400" b="1">
              <a:ea typeface="宋体" panose="02010600030101010101" pitchFamily="2" charset="-122"/>
            </a:endParaRPr>
          </a:p>
        </p:txBody>
      </p:sp>
      <p:sp>
        <p:nvSpPr>
          <p:cNvPr id="181253" name="矩形 181252"/>
          <p:cNvSpPr/>
          <p:nvPr/>
        </p:nvSpPr>
        <p:spPr>
          <a:xfrm>
            <a:off x="862965" y="1563053"/>
            <a:ext cx="5998210" cy="829310"/>
          </a:xfrm>
          <a:prstGeom prst="rect">
            <a:avLst/>
          </a:prstGeom>
          <a:noFill/>
          <a:ln w="9525">
            <a:noFill/>
          </a:ln>
        </p:spPr>
        <p:txBody>
          <a:bodyPr wrap="none">
            <a:spAutoFit/>
          </a:bodyPr>
          <a:p>
            <a:pPr>
              <a:lnSpc>
                <a:spcPct val="90000"/>
              </a:lnSpc>
              <a:spcBef>
                <a:spcPct val="20000"/>
              </a:spcBef>
            </a:pPr>
            <a:r>
              <a:rPr lang="zh-CN" altLang="en-US" sz="2400" b="1" dirty="0">
                <a:gradFill>
                  <a:gsLst>
                    <a:gs pos="0">
                      <a:srgbClr val="012D86"/>
                    </a:gs>
                    <a:gs pos="100000">
                      <a:srgbClr val="0E2557"/>
                    </a:gs>
                  </a:gsLst>
                  <a:lin scaled="0"/>
                </a:gradFill>
                <a:latin typeface="Arial" panose="020B0604020202020204" pitchFamily="34" charset="0"/>
              </a:rPr>
              <a:t>利用逻辑分析的方法画出电路完整的状态图</a:t>
            </a:r>
            <a:endParaRPr lang="zh-CN" altLang="en-US" sz="2400" b="1" dirty="0">
              <a:latin typeface="Arial" panose="020B0604020202020204" pitchFamily="34" charset="0"/>
            </a:endParaRPr>
          </a:p>
          <a:p>
            <a:pPr>
              <a:lnSpc>
                <a:spcPct val="90000"/>
              </a:lnSpc>
              <a:spcBef>
                <a:spcPct val="20000"/>
              </a:spcBef>
            </a:pPr>
            <a:r>
              <a:rPr lang="zh-CN" altLang="en-US" sz="2400" b="1" dirty="0">
                <a:solidFill>
                  <a:srgbClr val="FF0066"/>
                </a:solidFill>
                <a:latin typeface="Arial" panose="020B0604020202020204" pitchFamily="34" charset="0"/>
              </a:rPr>
              <a:t>（将无效状态代入状态方程求次态）</a:t>
            </a:r>
            <a:endParaRPr lang="zh-CN" altLang="en-US" sz="2400" b="1" dirty="0">
              <a:solidFill>
                <a:srgbClr val="FF0066"/>
              </a:solidFill>
              <a:latin typeface="Arial" panose="020B0604020202020204" pitchFamily="34" charset="0"/>
            </a:endParaRPr>
          </a:p>
        </p:txBody>
      </p:sp>
      <p:pic>
        <p:nvPicPr>
          <p:cNvPr id="9381" name="图片 2818"/>
          <p:cNvPicPr>
            <a:picLocks noChangeAspect="1"/>
          </p:cNvPicPr>
          <p:nvPr/>
        </p:nvPicPr>
        <p:blipFill>
          <a:blip r:embed="rId1"/>
          <a:stretch>
            <a:fillRect/>
          </a:stretch>
        </p:blipFill>
        <p:spPr>
          <a:xfrm>
            <a:off x="1481455" y="2392680"/>
            <a:ext cx="4538980" cy="2430780"/>
          </a:xfrm>
          <a:prstGeom prst="rect">
            <a:avLst/>
          </a:prstGeom>
          <a:noFill/>
          <a:ln>
            <a:noFill/>
          </a:ln>
        </p:spPr>
      </p:pic>
      <p:sp>
        <p:nvSpPr>
          <p:cNvPr id="181251" name="矩形 181250"/>
          <p:cNvSpPr/>
          <p:nvPr/>
        </p:nvSpPr>
        <p:spPr>
          <a:xfrm>
            <a:off x="346075" y="4883150"/>
            <a:ext cx="8001000" cy="1447800"/>
          </a:xfrm>
          <a:prstGeom prst="rect">
            <a:avLst/>
          </a:prstGeom>
          <a:noFill/>
          <a:ln w="9525">
            <a:noFill/>
          </a:ln>
        </p:spPr>
        <p:txBody>
          <a:bodyPr lIns="92075" tIns="46038" rIns="92075" bIns="46038"/>
          <a:p>
            <a:pPr marL="342900" indent="-342900">
              <a:lnSpc>
                <a:spcPct val="130000"/>
              </a:lnSpc>
              <a:spcBef>
                <a:spcPct val="20000"/>
              </a:spcBef>
            </a:pPr>
            <a:r>
              <a:rPr lang="en-US" altLang="zh-CN" sz="2400" b="1" dirty="0">
                <a:gradFill>
                  <a:gsLst>
                    <a:gs pos="0">
                      <a:srgbClr val="012D86"/>
                    </a:gs>
                    <a:gs pos="100000">
                      <a:srgbClr val="0E2557"/>
                    </a:gs>
                  </a:gsLst>
                  <a:lin scaled="0"/>
                </a:gradFill>
                <a:latin typeface="Times New Roman" panose="02020603050405020304" charset="0"/>
              </a:rPr>
              <a:t>             </a:t>
            </a:r>
            <a:r>
              <a:rPr lang="zh-CN" altLang="en-US" sz="2400" b="1" dirty="0">
                <a:gradFill>
                  <a:gsLst>
                    <a:gs pos="0">
                      <a:srgbClr val="012D86"/>
                    </a:gs>
                    <a:gs pos="100000">
                      <a:srgbClr val="0E2557"/>
                    </a:gs>
                  </a:gsLst>
                  <a:lin scaled="0"/>
                </a:gradFill>
                <a:latin typeface="Arial" panose="020B0604020202020204" pitchFamily="34" charset="0"/>
              </a:rPr>
              <a:t>可见，如果电路进入无效状态</a:t>
            </a:r>
            <a:r>
              <a:rPr lang="en-US" altLang="zh-CN" sz="2400" b="1" dirty="0">
                <a:gradFill>
                  <a:gsLst>
                    <a:gs pos="0">
                      <a:srgbClr val="012D86"/>
                    </a:gs>
                    <a:gs pos="100000">
                      <a:srgbClr val="0E2557"/>
                    </a:gs>
                  </a:gsLst>
                  <a:lin scaled="0"/>
                </a:gradFill>
                <a:latin typeface="Times New Roman" panose="02020603050405020304" charset="0"/>
              </a:rPr>
              <a:t>101</a:t>
            </a:r>
            <a:r>
              <a:rPr lang="zh-CN" altLang="en-US" sz="2400" b="1" dirty="0">
                <a:gradFill>
                  <a:gsLst>
                    <a:gs pos="0">
                      <a:srgbClr val="012D86"/>
                    </a:gs>
                    <a:gs pos="100000">
                      <a:srgbClr val="0E2557"/>
                    </a:gs>
                  </a:gsLst>
                  <a:lin scaled="0"/>
                </a:gradFill>
                <a:latin typeface="Arial" panose="020B0604020202020204" pitchFamily="34" charset="0"/>
              </a:rPr>
              <a:t>、</a:t>
            </a:r>
            <a:r>
              <a:rPr lang="en-US" altLang="zh-CN" sz="2400" b="1" dirty="0">
                <a:gradFill>
                  <a:gsLst>
                    <a:gs pos="0">
                      <a:srgbClr val="012D86"/>
                    </a:gs>
                    <a:gs pos="100000">
                      <a:srgbClr val="0E2557"/>
                    </a:gs>
                  </a:gsLst>
                  <a:lin scaled="0"/>
                </a:gradFill>
                <a:latin typeface="Times New Roman" panose="02020603050405020304" charset="0"/>
              </a:rPr>
              <a:t>110</a:t>
            </a:r>
            <a:r>
              <a:rPr lang="zh-CN" altLang="en-US" sz="2400" b="1" dirty="0">
                <a:gradFill>
                  <a:gsLst>
                    <a:gs pos="0">
                      <a:srgbClr val="012D86"/>
                    </a:gs>
                    <a:gs pos="100000">
                      <a:srgbClr val="0E2557"/>
                    </a:gs>
                  </a:gsLst>
                  <a:lin scaled="0"/>
                </a:gradFill>
                <a:latin typeface="Arial" panose="020B0604020202020204" pitchFamily="34" charset="0"/>
              </a:rPr>
              <a:t>、</a:t>
            </a:r>
            <a:r>
              <a:rPr lang="en-US" altLang="zh-CN" sz="2400" b="1" dirty="0">
                <a:gradFill>
                  <a:gsLst>
                    <a:gs pos="0">
                      <a:srgbClr val="012D86"/>
                    </a:gs>
                    <a:gs pos="100000">
                      <a:srgbClr val="0E2557"/>
                    </a:gs>
                  </a:gsLst>
                  <a:lin scaled="0"/>
                </a:gradFill>
                <a:latin typeface="Times New Roman" panose="02020603050405020304" charset="0"/>
              </a:rPr>
              <a:t>111</a:t>
            </a:r>
            <a:r>
              <a:rPr lang="zh-CN" altLang="en-US" sz="2400" b="1" dirty="0">
                <a:gradFill>
                  <a:gsLst>
                    <a:gs pos="0">
                      <a:srgbClr val="012D86"/>
                    </a:gs>
                    <a:gs pos="100000">
                      <a:srgbClr val="0E2557"/>
                    </a:gs>
                  </a:gsLst>
                  <a:lin scaled="0"/>
                </a:gradFill>
                <a:latin typeface="Arial" panose="020B0604020202020204" pitchFamily="34" charset="0"/>
              </a:rPr>
              <a:t>时，在</a:t>
            </a:r>
            <a:r>
              <a:rPr lang="en-US" altLang="zh-CN" sz="2400" b="1" i="1" dirty="0">
                <a:gradFill>
                  <a:gsLst>
                    <a:gs pos="0">
                      <a:srgbClr val="012D86"/>
                    </a:gs>
                    <a:gs pos="100000">
                      <a:srgbClr val="0E2557"/>
                    </a:gs>
                  </a:gsLst>
                  <a:lin scaled="0"/>
                </a:gradFill>
                <a:latin typeface="Times New Roman" panose="02020603050405020304" charset="0"/>
              </a:rPr>
              <a:t>CP</a:t>
            </a:r>
            <a:r>
              <a:rPr lang="zh-CN" altLang="en-US" sz="2400" b="1" dirty="0">
                <a:gradFill>
                  <a:gsLst>
                    <a:gs pos="0">
                      <a:srgbClr val="012D86"/>
                    </a:gs>
                    <a:gs pos="100000">
                      <a:srgbClr val="0E2557"/>
                    </a:gs>
                  </a:gsLst>
                  <a:lin scaled="0"/>
                </a:gradFill>
                <a:latin typeface="Arial" panose="020B0604020202020204" pitchFamily="34" charset="0"/>
              </a:rPr>
              <a:t>脉冲作用下，分别进入有效状态</a:t>
            </a:r>
            <a:r>
              <a:rPr lang="en-US" altLang="zh-CN" sz="2400" b="1" dirty="0">
                <a:gradFill>
                  <a:gsLst>
                    <a:gs pos="0">
                      <a:srgbClr val="012D86"/>
                    </a:gs>
                    <a:gs pos="100000">
                      <a:srgbClr val="0E2557"/>
                    </a:gs>
                  </a:gsLst>
                  <a:lin scaled="0"/>
                </a:gradFill>
                <a:latin typeface="Times New Roman" panose="02020603050405020304" charset="0"/>
              </a:rPr>
              <a:t>010</a:t>
            </a:r>
            <a:r>
              <a:rPr lang="zh-CN" altLang="en-US" sz="2400" b="1" dirty="0">
                <a:gradFill>
                  <a:gsLst>
                    <a:gs pos="0">
                      <a:srgbClr val="012D86"/>
                    </a:gs>
                    <a:gs pos="100000">
                      <a:srgbClr val="0E2557"/>
                    </a:gs>
                  </a:gsLst>
                  <a:lin scaled="0"/>
                </a:gradFill>
                <a:latin typeface="Arial" panose="020B0604020202020204" pitchFamily="34" charset="0"/>
              </a:rPr>
              <a:t>、</a:t>
            </a:r>
            <a:r>
              <a:rPr lang="en-US" altLang="zh-CN" sz="2400" b="1" dirty="0">
                <a:gradFill>
                  <a:gsLst>
                    <a:gs pos="0">
                      <a:srgbClr val="012D86"/>
                    </a:gs>
                    <a:gs pos="100000">
                      <a:srgbClr val="0E2557"/>
                    </a:gs>
                  </a:gsLst>
                  <a:lin scaled="0"/>
                </a:gradFill>
                <a:latin typeface="Times New Roman" panose="02020603050405020304" charset="0"/>
              </a:rPr>
              <a:t>010</a:t>
            </a:r>
            <a:r>
              <a:rPr lang="zh-CN" altLang="en-US" sz="2400" b="1" dirty="0">
                <a:gradFill>
                  <a:gsLst>
                    <a:gs pos="0">
                      <a:srgbClr val="012D86"/>
                    </a:gs>
                    <a:gs pos="100000">
                      <a:srgbClr val="0E2557"/>
                    </a:gs>
                  </a:gsLst>
                  <a:lin scaled="0"/>
                </a:gradFill>
                <a:latin typeface="Arial" panose="020B0604020202020204" pitchFamily="34" charset="0"/>
              </a:rPr>
              <a:t>、</a:t>
            </a:r>
            <a:r>
              <a:rPr lang="en-US" altLang="zh-CN" sz="2400" b="1" dirty="0">
                <a:gradFill>
                  <a:gsLst>
                    <a:gs pos="0">
                      <a:srgbClr val="012D86"/>
                    </a:gs>
                    <a:gs pos="100000">
                      <a:srgbClr val="0E2557"/>
                    </a:gs>
                  </a:gsLst>
                  <a:lin scaled="0"/>
                </a:gradFill>
                <a:latin typeface="Times New Roman" panose="02020603050405020304" charset="0"/>
              </a:rPr>
              <a:t>000</a:t>
            </a:r>
            <a:r>
              <a:rPr lang="zh-CN" altLang="en-US" sz="2400" b="1" dirty="0">
                <a:gradFill>
                  <a:gsLst>
                    <a:gs pos="0">
                      <a:srgbClr val="012D86"/>
                    </a:gs>
                    <a:gs pos="100000">
                      <a:srgbClr val="0E2557"/>
                    </a:gs>
                  </a:gsLst>
                  <a:lin scaled="0"/>
                </a:gradFill>
                <a:latin typeface="Arial" panose="020B0604020202020204" pitchFamily="34" charset="0"/>
              </a:rPr>
              <a:t>。所以电路能够自启动。</a:t>
            </a:r>
            <a:endParaRPr lang="zh-CN" altLang="en-US" sz="2400" b="1" dirty="0">
              <a:gradFill>
                <a:gsLst>
                  <a:gs pos="0">
                    <a:srgbClr val="012D86"/>
                  </a:gs>
                  <a:gs pos="100000">
                    <a:srgbClr val="0E2557"/>
                  </a:gs>
                </a:gsLst>
                <a:lin scaled="0"/>
              </a:gradFill>
              <a:latin typeface="Arial" panose="020B0604020202020204" pitchFamily="34" charset="0"/>
            </a:endParaRPr>
          </a:p>
        </p:txBody>
      </p:sp>
      <p:grpSp>
        <p:nvGrpSpPr>
          <p:cNvPr id="6" name="组合 5"/>
          <p:cNvGrpSpPr/>
          <p:nvPr/>
        </p:nvGrpSpPr>
        <p:grpSpPr>
          <a:xfrm>
            <a:off x="6553200" y="2005965"/>
            <a:ext cx="2468880" cy="2351405"/>
            <a:chOff x="10320" y="3159"/>
            <a:chExt cx="3888" cy="3703"/>
          </a:xfrm>
        </p:grpSpPr>
        <p:sp>
          <p:nvSpPr>
            <p:cNvPr id="5" name="文本框 4"/>
            <p:cNvSpPr txBox="1"/>
            <p:nvPr/>
          </p:nvSpPr>
          <p:spPr>
            <a:xfrm>
              <a:off x="10320" y="3159"/>
              <a:ext cx="3888" cy="3052"/>
            </a:xfrm>
            <a:prstGeom prst="rect">
              <a:avLst/>
            </a:prstGeom>
            <a:noFill/>
          </p:spPr>
          <p:txBody>
            <a:bodyPr wrap="square" rtlCol="0">
              <a:spAutoFit/>
            </a:bodyPr>
            <a:p>
              <a:r>
                <a:rPr lang="zh-CN" altLang="en-US" sz="2000" b="1">
                  <a:gradFill>
                    <a:gsLst>
                      <a:gs pos="0">
                        <a:srgbClr val="012D86"/>
                      </a:gs>
                      <a:gs pos="100000">
                        <a:srgbClr val="0E2557"/>
                      </a:gs>
                    </a:gsLst>
                    <a:lin scaled="0"/>
                  </a:gradFill>
                </a:rPr>
                <a:t>但从输出来看，电路在无效状态101、110、111时，出现了输出Z=1的错误情况。对输出方程做适当的修改</a:t>
              </a:r>
              <a:endParaRPr lang="zh-CN" altLang="en-US" sz="2000" b="1">
                <a:gradFill>
                  <a:gsLst>
                    <a:gs pos="0">
                      <a:srgbClr val="012D86"/>
                    </a:gs>
                    <a:gs pos="100000">
                      <a:srgbClr val="0E2557"/>
                    </a:gs>
                  </a:gsLst>
                  <a:lin scaled="0"/>
                </a:gradFill>
              </a:endParaRPr>
            </a:p>
          </p:txBody>
        </p:sp>
        <p:pic>
          <p:nvPicPr>
            <p:cNvPr id="2" name="对象 1769"/>
            <p:cNvPicPr>
              <a:picLocks noChangeAspect="1"/>
            </p:cNvPicPr>
            <p:nvPr/>
          </p:nvPicPr>
          <p:blipFill>
            <a:blip r:embed="rId2"/>
            <a:stretch>
              <a:fillRect/>
            </a:stretch>
          </p:blipFill>
          <p:spPr>
            <a:xfrm>
              <a:off x="10494" y="6211"/>
              <a:ext cx="2040" cy="651"/>
            </a:xfrm>
            <a:prstGeom prst="rect">
              <a:avLst/>
            </a:prstGeom>
            <a:noFill/>
            <a:ln w="9525">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1253"/>
                                        </p:tgtEl>
                                        <p:attrNameLst>
                                          <p:attrName>style.visibility</p:attrName>
                                        </p:attrNameLst>
                                      </p:cBhvr>
                                      <p:to>
                                        <p:strVal val="visible"/>
                                      </p:to>
                                    </p:set>
                                    <p:animEffect transition="in" filter="blinds(horizontal)">
                                      <p:cBhvr>
                                        <p:cTn id="7" dur="500"/>
                                        <p:tgtEl>
                                          <p:spTgt spid="181253"/>
                                        </p:tgtEl>
                                      </p:cBhvr>
                                    </p:animEffect>
                                  </p:childTnLst>
                                </p:cTn>
                              </p:par>
                            </p:childTnLst>
                          </p:cTn>
                        </p:par>
                        <p:par>
                          <p:cTn id="8" fill="hold">
                            <p:stCondLst>
                              <p:cond delay="500"/>
                            </p:stCondLst>
                            <p:childTnLst>
                              <p:par>
                                <p:cTn id="9" presetID="1" presetClass="entr" presetSubtype="0" fill="hold" nodeType="afterEffect">
                                  <p:stCondLst>
                                    <p:cond delay="1500"/>
                                  </p:stCondLst>
                                  <p:childTnLst>
                                    <p:set>
                                      <p:cBhvr>
                                        <p:cTn id="10" dur="1" fill="hold">
                                          <p:stCondLst>
                                            <p:cond delay="0"/>
                                          </p:stCondLst>
                                        </p:cTn>
                                        <p:tgtEl>
                                          <p:spTgt spid="93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81251"/>
                                        </p:tgtEl>
                                        <p:attrNameLst>
                                          <p:attrName>style.visibility</p:attrName>
                                        </p:attrNameLst>
                                      </p:cBhvr>
                                      <p:to>
                                        <p:strVal val="visible"/>
                                      </p:to>
                                    </p:set>
                                    <p:animEffect transition="in" filter="blinds(horizontal)">
                                      <p:cBhvr>
                                        <p:cTn id="15" dur="500"/>
                                        <p:tgtEl>
                                          <p:spTgt spid="181251"/>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3" grpId="0"/>
      <p:bldP spid="18125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6.3 </a:t>
            </a:r>
            <a:r>
              <a:rPr lang="zh-CN" altLang="en-US" b="1" dirty="0">
                <a:solidFill>
                  <a:srgbClr val="FF0000"/>
                </a:solidFill>
                <a:latin typeface="黑体" panose="02010609060101010101" pitchFamily="49" charset="-122"/>
                <a:ea typeface="黑体" panose="02010609060101010101" pitchFamily="49" charset="-122"/>
                <a:sym typeface="+mn-ea"/>
              </a:rPr>
              <a:t>同步</a:t>
            </a:r>
            <a:r>
              <a:rPr lang="en-US" altLang="zh-CN" b="1" dirty="0">
                <a:solidFill>
                  <a:srgbClr val="FF0000"/>
                </a:solidFill>
                <a:latin typeface="黑体" panose="02010609060101010101" pitchFamily="49" charset="-122"/>
                <a:ea typeface="黑体" panose="02010609060101010101" pitchFamily="49" charset="-122"/>
                <a:sym typeface="+mn-ea"/>
              </a:rPr>
              <a:t>时序逻辑电路的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1" name="文本框 100"/>
          <p:cNvSpPr txBox="1"/>
          <p:nvPr/>
        </p:nvSpPr>
        <p:spPr>
          <a:xfrm>
            <a:off x="452120" y="1219835"/>
            <a:ext cx="8533765" cy="1014730"/>
          </a:xfrm>
          <a:prstGeom prst="rect">
            <a:avLst/>
          </a:prstGeom>
          <a:noFill/>
          <a:ln w="9525">
            <a:noFill/>
          </a:ln>
        </p:spPr>
        <p:txBody>
          <a:bodyPr wrap="square">
            <a:spAutoFit/>
          </a:bodyPr>
          <a:p>
            <a:pPr indent="267970"/>
            <a:r>
              <a:rPr lang="zh-CN" sz="2000" b="1">
                <a:gradFill>
                  <a:gsLst>
                    <a:gs pos="0">
                      <a:srgbClr val="012D86"/>
                    </a:gs>
                    <a:gs pos="100000">
                      <a:srgbClr val="0E2557"/>
                    </a:gs>
                  </a:gsLst>
                  <a:lin scaled="0"/>
                </a:gradFill>
                <a:ea typeface="宋体" panose="02010600030101010101" pitchFamily="2" charset="-122"/>
              </a:rPr>
              <a:t>【例</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6-</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5</a:t>
            </a:r>
            <a:r>
              <a:rPr lang="zh-CN" sz="2000" b="1">
                <a:gradFill>
                  <a:gsLst>
                    <a:gs pos="0">
                      <a:srgbClr val="012D86"/>
                    </a:gs>
                    <a:gs pos="100000">
                      <a:srgbClr val="0E2557"/>
                    </a:gs>
                  </a:gsLst>
                  <a:lin scaled="0"/>
                </a:gradFill>
                <a:ea typeface="宋体" panose="02010600030101010101" pitchFamily="2" charset="-122"/>
              </a:rPr>
              <a:t>】</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zh-CN" sz="2000" b="1">
                <a:gradFill>
                  <a:gsLst>
                    <a:gs pos="0">
                      <a:srgbClr val="012D86"/>
                    </a:gs>
                    <a:gs pos="100000">
                      <a:srgbClr val="0E2557"/>
                    </a:gs>
                  </a:gsLst>
                  <a:lin scaled="0"/>
                </a:gradFill>
                <a:ea typeface="宋体" panose="02010600030101010101" pitchFamily="2" charset="-122"/>
              </a:rPr>
              <a:t>设计一个串行数据检测器。该检测器有一个输入端</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X</a:t>
            </a:r>
            <a:r>
              <a:rPr lang="zh-CN" sz="2000" b="1">
                <a:gradFill>
                  <a:gsLst>
                    <a:gs pos="0">
                      <a:srgbClr val="012D86"/>
                    </a:gs>
                    <a:gs pos="100000">
                      <a:srgbClr val="0E2557"/>
                    </a:gs>
                  </a:gsLst>
                  <a:lin scaled="0"/>
                </a:gradFill>
                <a:ea typeface="宋体" panose="02010600030101010101" pitchFamily="2" charset="-122"/>
              </a:rPr>
              <a:t>，它的功能是对输入信号进行检测。当连续输入三个及以上</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000" b="1">
                <a:gradFill>
                  <a:gsLst>
                    <a:gs pos="0">
                      <a:srgbClr val="012D86"/>
                    </a:gs>
                    <a:gs pos="100000">
                      <a:srgbClr val="0E2557"/>
                    </a:gs>
                  </a:gsLst>
                  <a:lin scaled="0"/>
                </a:gradFill>
                <a:ea typeface="宋体" panose="02010600030101010101" pitchFamily="2" charset="-122"/>
              </a:rPr>
              <a:t>时，该电路输出</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Y</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000" b="1">
                <a:gradFill>
                  <a:gsLst>
                    <a:gs pos="0">
                      <a:srgbClr val="012D86"/>
                    </a:gs>
                    <a:gs pos="100000">
                      <a:srgbClr val="0E2557"/>
                    </a:gs>
                  </a:gsLst>
                  <a:lin scaled="0"/>
                </a:gradFill>
                <a:ea typeface="宋体" panose="02010600030101010101" pitchFamily="2" charset="-122"/>
              </a:rPr>
              <a:t>，否则输出</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Y</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000" b="1">
                <a:gradFill>
                  <a:gsLst>
                    <a:gs pos="0">
                      <a:srgbClr val="012D86"/>
                    </a:gs>
                    <a:gs pos="100000">
                      <a:srgbClr val="0E2557"/>
                    </a:gs>
                  </a:gsLst>
                  <a:lin scaled="0"/>
                </a:gradFill>
                <a:ea typeface="宋体" panose="02010600030101010101" pitchFamily="2" charset="-122"/>
              </a:rPr>
              <a:t>。</a:t>
            </a:r>
            <a:endParaRPr lang="zh-CN" altLang="en-US" sz="2000" b="1">
              <a:gradFill>
                <a:gsLst>
                  <a:gs pos="0">
                    <a:srgbClr val="012D86"/>
                  </a:gs>
                  <a:gs pos="100000">
                    <a:srgbClr val="0E2557"/>
                  </a:gs>
                </a:gsLst>
                <a:lin scaled="0"/>
              </a:gradFill>
              <a:ea typeface="宋体" panose="02010600030101010101" pitchFamily="2" charset="-122"/>
            </a:endParaRPr>
          </a:p>
        </p:txBody>
      </p:sp>
      <p:sp>
        <p:nvSpPr>
          <p:cNvPr id="100" name="文本框 99"/>
          <p:cNvSpPr txBox="1"/>
          <p:nvPr/>
        </p:nvSpPr>
        <p:spPr>
          <a:xfrm>
            <a:off x="207645" y="2165985"/>
            <a:ext cx="8591550" cy="460375"/>
          </a:xfrm>
          <a:prstGeom prst="rect">
            <a:avLst/>
          </a:prstGeom>
          <a:noFill/>
          <a:ln w="9525">
            <a:noFill/>
          </a:ln>
        </p:spPr>
        <p:txBody>
          <a:bodyPr wrap="square">
            <a:spAutoFit/>
          </a:bodyPr>
          <a:p>
            <a:pPr indent="267970"/>
            <a:r>
              <a:rPr lang="zh-CN" sz="2400" b="1">
                <a:solidFill>
                  <a:schemeClr val="accent6">
                    <a:lumMod val="60000"/>
                    <a:lumOff val="40000"/>
                  </a:schemeClr>
                </a:solidFill>
                <a:ea typeface="宋体" panose="02010600030101010101" pitchFamily="2" charset="-122"/>
              </a:rPr>
              <a:t>解：</a:t>
            </a:r>
            <a:r>
              <a:rPr lang="en-US" sz="2400" b="1">
                <a:latin typeface="Times New Roman" panose="02020603050405020304" charset="0"/>
                <a:ea typeface="宋体" panose="02010600030101010101" pitchFamily="2" charset="-122"/>
              </a:rPr>
              <a:t>(1) </a:t>
            </a:r>
            <a:r>
              <a:rPr lang="zh-CN" sz="2400" b="1">
                <a:ea typeface="宋体" panose="02010600030101010101" pitchFamily="2" charset="-122"/>
              </a:rPr>
              <a:t>根据设计要求，设定状态，并画出原始状态图</a:t>
            </a:r>
            <a:endParaRPr lang="zh-CN" altLang="en-US" sz="2400" b="1"/>
          </a:p>
        </p:txBody>
      </p:sp>
      <p:sp>
        <p:nvSpPr>
          <p:cNvPr id="2" name="文本框 1"/>
          <p:cNvSpPr txBox="1"/>
          <p:nvPr/>
        </p:nvSpPr>
        <p:spPr>
          <a:xfrm>
            <a:off x="1156970" y="2492375"/>
            <a:ext cx="7108825" cy="1714500"/>
          </a:xfrm>
          <a:prstGeom prst="rect">
            <a:avLst/>
          </a:prstGeom>
          <a:noFill/>
        </p:spPr>
        <p:txBody>
          <a:bodyPr wrap="square" rtlCol="0" anchor="t">
            <a:spAutoFit/>
          </a:bodyPr>
          <a:p>
            <a:pPr>
              <a:lnSpc>
                <a:spcPct val="110000"/>
              </a:lnSpc>
            </a:pP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①</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Ｓ</a:t>
            </a:r>
            <a:r>
              <a:rPr lang="en-US" altLang="zh-CN" sz="2400" b="1" baseline="-25000">
                <a:gradFill>
                  <a:gsLst>
                    <a:gs pos="0">
                      <a:srgbClr val="012D86"/>
                    </a:gs>
                    <a:gs pos="100000">
                      <a:srgbClr val="0E2557"/>
                    </a:gs>
                  </a:gsLst>
                  <a:lin scaled="0"/>
                </a:gradFill>
                <a:latin typeface="Times New Roman" panose="02020603050405020304" charset="0"/>
                <a:cs typeface="Times New Roman" panose="02020603050405020304" charset="0"/>
              </a:rPr>
              <a:t>0</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初始状态或没有收到１时的状态；</a:t>
            </a:r>
            <a:endPar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endParaRPr>
          </a:p>
          <a:p>
            <a:pPr>
              <a:lnSpc>
                <a:spcPct val="110000"/>
              </a:lnSpc>
            </a:pP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②</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Ｓ</a:t>
            </a:r>
            <a:r>
              <a:rPr lang="en-US" altLang="zh-CN" sz="2400" b="1" baseline="-25000">
                <a:gradFill>
                  <a:gsLst>
                    <a:gs pos="0">
                      <a:srgbClr val="012D86"/>
                    </a:gs>
                    <a:gs pos="100000">
                      <a:srgbClr val="0E2557"/>
                    </a:gs>
                  </a:gsLst>
                  <a:lin scaled="0"/>
                </a:gradFill>
                <a:latin typeface="Times New Roman" panose="02020603050405020304" charset="0"/>
                <a:cs typeface="Times New Roman" panose="02020603050405020304" charset="0"/>
              </a:rPr>
              <a:t>1</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收到</a:t>
            </a:r>
            <a:r>
              <a:rPr lang="en-US" altLang="zh-CN" sz="2400" b="1">
                <a:gradFill>
                  <a:gsLst>
                    <a:gs pos="0">
                      <a:srgbClr val="012D86"/>
                    </a:gs>
                    <a:gs pos="100000">
                      <a:srgbClr val="0E2557"/>
                    </a:gs>
                  </a:gsLst>
                  <a:lin scaled="0"/>
                </a:gradFill>
                <a:latin typeface="Times New Roman" panose="02020603050405020304" charset="0"/>
                <a:cs typeface="Times New Roman" panose="02020603050405020304" charset="0"/>
              </a:rPr>
              <a:t>1</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个</a:t>
            </a:r>
            <a:r>
              <a:rPr lang="en-US" altLang="zh-CN" sz="2400" b="1">
                <a:gradFill>
                  <a:gsLst>
                    <a:gs pos="0">
                      <a:srgbClr val="012D86"/>
                    </a:gs>
                    <a:gs pos="100000">
                      <a:srgbClr val="0E2557"/>
                    </a:gs>
                  </a:gsLst>
                  <a:lin scaled="0"/>
                </a:gradFill>
                <a:latin typeface="Times New Roman" panose="02020603050405020304" charset="0"/>
                <a:cs typeface="Times New Roman" panose="02020603050405020304" charset="0"/>
              </a:rPr>
              <a:t>1</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后的状态；</a:t>
            </a:r>
            <a:endPar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endParaRPr>
          </a:p>
          <a:p>
            <a:pPr>
              <a:lnSpc>
                <a:spcPct val="110000"/>
              </a:lnSpc>
            </a:pP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③</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Ｓ</a:t>
            </a:r>
            <a:r>
              <a:rPr lang="en-US" altLang="zh-CN" sz="2400" b="1" baseline="-25000">
                <a:gradFill>
                  <a:gsLst>
                    <a:gs pos="0">
                      <a:srgbClr val="012D86"/>
                    </a:gs>
                    <a:gs pos="100000">
                      <a:srgbClr val="0E2557"/>
                    </a:gs>
                  </a:gsLst>
                  <a:lin scaled="0"/>
                </a:gradFill>
                <a:latin typeface="Times New Roman" panose="02020603050405020304" charset="0"/>
                <a:cs typeface="Times New Roman" panose="02020603050405020304" charset="0"/>
              </a:rPr>
              <a:t>2</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连续收到</a:t>
            </a:r>
            <a:r>
              <a:rPr lang="en-US" altLang="zh-CN" sz="2400" b="1">
                <a:gradFill>
                  <a:gsLst>
                    <a:gs pos="0">
                      <a:srgbClr val="012D86"/>
                    </a:gs>
                    <a:gs pos="100000">
                      <a:srgbClr val="0E2557"/>
                    </a:gs>
                  </a:gsLst>
                  <a:lin scaled="0"/>
                </a:gradFill>
                <a:latin typeface="Times New Roman" panose="02020603050405020304" charset="0"/>
                <a:cs typeface="Times New Roman" panose="02020603050405020304" charset="0"/>
              </a:rPr>
              <a:t>2</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个</a:t>
            </a:r>
            <a:r>
              <a:rPr lang="en-US" altLang="zh-CN" sz="2400" b="1">
                <a:gradFill>
                  <a:gsLst>
                    <a:gs pos="0">
                      <a:srgbClr val="012D86"/>
                    </a:gs>
                    <a:gs pos="100000">
                      <a:srgbClr val="0E2557"/>
                    </a:gs>
                  </a:gsLst>
                  <a:lin scaled="0"/>
                </a:gradFill>
                <a:latin typeface="Times New Roman" panose="02020603050405020304" charset="0"/>
                <a:cs typeface="Times New Roman" panose="02020603050405020304" charset="0"/>
              </a:rPr>
              <a:t>1</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后的状态；</a:t>
            </a:r>
            <a:endPar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endParaRPr>
          </a:p>
          <a:p>
            <a:pPr>
              <a:lnSpc>
                <a:spcPct val="110000"/>
              </a:lnSpc>
            </a:pP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④</a:t>
            </a:r>
            <a:r>
              <a:rPr lang="zh-CN" altLang="en-US" sz="2400" b="1" i="1">
                <a:gradFill>
                  <a:gsLst>
                    <a:gs pos="0">
                      <a:srgbClr val="012D86"/>
                    </a:gs>
                    <a:gs pos="100000">
                      <a:srgbClr val="0E2557"/>
                    </a:gs>
                  </a:gsLst>
                  <a:lin scaled="0"/>
                </a:gradFill>
                <a:latin typeface="Times New Roman" panose="02020603050405020304" charset="0"/>
                <a:cs typeface="Times New Roman" panose="02020603050405020304" charset="0"/>
              </a:rPr>
              <a:t>Ｓ</a:t>
            </a:r>
            <a:r>
              <a:rPr lang="en-US" altLang="zh-CN" sz="2400" b="1" baseline="-25000">
                <a:gradFill>
                  <a:gsLst>
                    <a:gs pos="0">
                      <a:srgbClr val="012D86"/>
                    </a:gs>
                    <a:gs pos="100000">
                      <a:srgbClr val="0E2557"/>
                    </a:gs>
                  </a:gsLst>
                  <a:lin scaled="0"/>
                </a:gradFill>
                <a:latin typeface="Times New Roman" panose="02020603050405020304" charset="0"/>
                <a:cs typeface="Times New Roman" panose="02020603050405020304" charset="0"/>
              </a:rPr>
              <a:t>3</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 连续收到</a:t>
            </a:r>
            <a:r>
              <a:rPr lang="en-US" altLang="zh-CN" sz="2400" b="1">
                <a:gradFill>
                  <a:gsLst>
                    <a:gs pos="0">
                      <a:srgbClr val="012D86"/>
                    </a:gs>
                    <a:gs pos="100000">
                      <a:srgbClr val="0E2557"/>
                    </a:gs>
                  </a:gsLst>
                  <a:lin scaled="0"/>
                </a:gradFill>
                <a:latin typeface="Times New Roman" panose="02020603050405020304" charset="0"/>
                <a:cs typeface="Times New Roman" panose="02020603050405020304" charset="0"/>
              </a:rPr>
              <a:t>3</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个及以上</a:t>
            </a:r>
            <a:r>
              <a:rPr lang="en-US" altLang="zh-CN" sz="2400" b="1">
                <a:gradFill>
                  <a:gsLst>
                    <a:gs pos="0">
                      <a:srgbClr val="012D86"/>
                    </a:gs>
                    <a:gs pos="100000">
                      <a:srgbClr val="0E2557"/>
                    </a:gs>
                  </a:gsLst>
                  <a:lin scaled="0"/>
                </a:gradFill>
                <a:latin typeface="Times New Roman" panose="02020603050405020304" charset="0"/>
                <a:cs typeface="Times New Roman" panose="02020603050405020304" charset="0"/>
              </a:rPr>
              <a:t>1</a:t>
            </a:r>
            <a:r>
              <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rPr>
              <a:t>后的状态。</a:t>
            </a:r>
            <a:endParaRPr lang="zh-CN" altLang="en-US" sz="2400" b="1">
              <a:gradFill>
                <a:gsLst>
                  <a:gs pos="0">
                    <a:srgbClr val="012D86"/>
                  </a:gs>
                  <a:gs pos="100000">
                    <a:srgbClr val="0E2557"/>
                  </a:gs>
                </a:gsLst>
                <a:lin scaled="0"/>
              </a:gradFill>
              <a:latin typeface="Times New Roman" panose="02020603050405020304" charset="0"/>
              <a:cs typeface="Times New Roman" panose="02020603050405020304" charset="0"/>
            </a:endParaRPr>
          </a:p>
        </p:txBody>
      </p:sp>
      <p:pic>
        <p:nvPicPr>
          <p:cNvPr id="9382" name="图片 2819"/>
          <p:cNvPicPr>
            <a:picLocks noChangeAspect="1"/>
          </p:cNvPicPr>
          <p:nvPr/>
        </p:nvPicPr>
        <p:blipFill>
          <a:blip r:embed="rId1"/>
          <a:stretch>
            <a:fillRect/>
          </a:stretch>
        </p:blipFill>
        <p:spPr>
          <a:xfrm>
            <a:off x="4553585" y="4147185"/>
            <a:ext cx="4133215" cy="2137410"/>
          </a:xfrm>
          <a:prstGeom prst="rect">
            <a:avLst/>
          </a:prstGeom>
          <a:noFill/>
          <a:ln>
            <a:noFill/>
          </a:ln>
        </p:spPr>
      </p:pic>
      <p:sp>
        <p:nvSpPr>
          <p:cNvPr id="3" name="文本框 2"/>
          <p:cNvSpPr txBox="1"/>
          <p:nvPr/>
        </p:nvSpPr>
        <p:spPr>
          <a:xfrm>
            <a:off x="1209675" y="4147185"/>
            <a:ext cx="3840480" cy="460375"/>
          </a:xfrm>
          <a:prstGeom prst="rect">
            <a:avLst/>
          </a:prstGeom>
          <a:noFill/>
        </p:spPr>
        <p:txBody>
          <a:bodyPr wrap="none" rtlCol="0" anchor="t">
            <a:spAutoFit/>
          </a:bodyPr>
          <a:p>
            <a:r>
              <a:rPr lang="zh-CN" altLang="en-US" sz="2400" dirty="0">
                <a:solidFill>
                  <a:srgbClr val="FF0000"/>
                </a:solidFill>
                <a:effectLst>
                  <a:outerShdw blurRad="38100" dist="38100" dir="2700000" algn="tl">
                    <a:srgbClr val="000000">
                      <a:alpha val="43137"/>
                    </a:srgbClr>
                  </a:outerShdw>
                </a:effectLst>
                <a:latin typeface="宋体" panose="02010600030101010101" pitchFamily="2" charset="-122"/>
                <a:sym typeface="+mn-ea"/>
              </a:rPr>
              <a:t>根据题意可画出原始状态图</a:t>
            </a:r>
            <a:endParaRPr lang="zh-CN" altLang="en-US" sz="2400" dirty="0">
              <a:solidFill>
                <a:srgbClr val="FF0000"/>
              </a:solidFill>
              <a:effectLst>
                <a:outerShdw blurRad="38100" dist="38100" dir="2700000" algn="tl">
                  <a:srgbClr val="000000">
                    <a:alpha val="43137"/>
                  </a:srgbClr>
                </a:outerShdw>
              </a:effectLst>
              <a:latin typeface="宋体" panose="0201060003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1000"/>
                                  </p:stCondLst>
                                  <p:childTnLst>
                                    <p:set>
                                      <p:cBhvr>
                                        <p:cTn id="9" dur="2000" fill="hold">
                                          <p:stCondLst>
                                            <p:cond delay="0"/>
                                          </p:stCondLst>
                                        </p:cTn>
                                        <p:tgtEl>
                                          <p:spTgt spid="2">
                                            <p:txEl>
                                              <p:pRg st="0" end="0"/>
                                            </p:txEl>
                                          </p:spTgt>
                                        </p:tgtEl>
                                        <p:attrNameLst>
                                          <p:attrName>style.visibility</p:attrName>
                                        </p:attrNameLst>
                                      </p:cBhvr>
                                      <p:to>
                                        <p:strVal val="visible"/>
                                      </p:to>
                                    </p:set>
                                    <p:animEffect transition="in" filter="wipe(left)">
                                      <p:cBhvr>
                                        <p:cTn id="10" dur="2000"/>
                                        <p:tgtEl>
                                          <p:spTgt spid="2">
                                            <p:txEl>
                                              <p:pRg st="0" end="0"/>
                                            </p:txEl>
                                          </p:spTgt>
                                        </p:tgtEl>
                                      </p:cBhvr>
                                    </p:animEffect>
                                  </p:childTnLst>
                                </p:cTn>
                              </p:par>
                            </p:childTnLst>
                          </p:cTn>
                        </p:par>
                        <p:par>
                          <p:cTn id="11" fill="hold">
                            <p:stCondLst>
                              <p:cond delay="3000"/>
                            </p:stCondLst>
                            <p:childTnLst>
                              <p:par>
                                <p:cTn id="12" presetID="22" presetClass="entr" presetSubtype="8" fill="hold" grpId="0" nodeType="afterEffect">
                                  <p:stCondLst>
                                    <p:cond delay="1000"/>
                                  </p:stCondLst>
                                  <p:childTnLst>
                                    <p:set>
                                      <p:cBhvr>
                                        <p:cTn id="13" dur="2000" fill="hold">
                                          <p:stCondLst>
                                            <p:cond delay="0"/>
                                          </p:stCondLst>
                                        </p:cTn>
                                        <p:tgtEl>
                                          <p:spTgt spid="2">
                                            <p:txEl>
                                              <p:pRg st="1" end="1"/>
                                            </p:txEl>
                                          </p:spTgt>
                                        </p:tgtEl>
                                        <p:attrNameLst>
                                          <p:attrName>style.visibility</p:attrName>
                                        </p:attrNameLst>
                                      </p:cBhvr>
                                      <p:to>
                                        <p:strVal val="visible"/>
                                      </p:to>
                                    </p:set>
                                    <p:animEffect transition="in" filter="wipe(left)">
                                      <p:cBhvr>
                                        <p:cTn id="14" dur="2000"/>
                                        <p:tgtEl>
                                          <p:spTgt spid="2">
                                            <p:txEl>
                                              <p:pRg st="1" end="1"/>
                                            </p:txEl>
                                          </p:spTgt>
                                        </p:tgtEl>
                                      </p:cBhvr>
                                    </p:animEffect>
                                  </p:childTnLst>
                                </p:cTn>
                              </p:par>
                            </p:childTnLst>
                          </p:cTn>
                        </p:par>
                        <p:par>
                          <p:cTn id="15" fill="hold">
                            <p:stCondLst>
                              <p:cond delay="6000"/>
                            </p:stCondLst>
                            <p:childTnLst>
                              <p:par>
                                <p:cTn id="16" presetID="22" presetClass="entr" presetSubtype="8" fill="hold" grpId="0" nodeType="afterEffect">
                                  <p:stCondLst>
                                    <p:cond delay="1000"/>
                                  </p:stCondLst>
                                  <p:childTnLst>
                                    <p:set>
                                      <p:cBhvr>
                                        <p:cTn id="17" dur="2000" fill="hold">
                                          <p:stCondLst>
                                            <p:cond delay="0"/>
                                          </p:stCondLst>
                                        </p:cTn>
                                        <p:tgtEl>
                                          <p:spTgt spid="2">
                                            <p:txEl>
                                              <p:pRg st="2" end="2"/>
                                            </p:txEl>
                                          </p:spTgt>
                                        </p:tgtEl>
                                        <p:attrNameLst>
                                          <p:attrName>style.visibility</p:attrName>
                                        </p:attrNameLst>
                                      </p:cBhvr>
                                      <p:to>
                                        <p:strVal val="visible"/>
                                      </p:to>
                                    </p:set>
                                    <p:animEffect transition="in" filter="wipe(left)">
                                      <p:cBhvr>
                                        <p:cTn id="18" dur="2000"/>
                                        <p:tgtEl>
                                          <p:spTgt spid="2">
                                            <p:txEl>
                                              <p:pRg st="2" end="2"/>
                                            </p:txEl>
                                          </p:spTgt>
                                        </p:tgtEl>
                                      </p:cBhvr>
                                    </p:animEffect>
                                  </p:childTnLst>
                                </p:cTn>
                              </p:par>
                            </p:childTnLst>
                          </p:cTn>
                        </p:par>
                        <p:par>
                          <p:cTn id="19" fill="hold">
                            <p:stCondLst>
                              <p:cond delay="9000"/>
                            </p:stCondLst>
                            <p:childTnLst>
                              <p:par>
                                <p:cTn id="20" presetID="22" presetClass="entr" presetSubtype="8" fill="hold" grpId="0" nodeType="afterEffect">
                                  <p:stCondLst>
                                    <p:cond delay="1000"/>
                                  </p:stCondLst>
                                  <p:childTnLst>
                                    <p:set>
                                      <p:cBhvr>
                                        <p:cTn id="21" dur="2000" fill="hold">
                                          <p:stCondLst>
                                            <p:cond delay="0"/>
                                          </p:stCondLst>
                                        </p:cTn>
                                        <p:tgtEl>
                                          <p:spTgt spid="2">
                                            <p:txEl>
                                              <p:pRg st="3" end="3"/>
                                            </p:txEl>
                                          </p:spTgt>
                                        </p:tgtEl>
                                        <p:attrNameLst>
                                          <p:attrName>style.visibility</p:attrName>
                                        </p:attrNameLst>
                                      </p:cBhvr>
                                      <p:to>
                                        <p:strVal val="visible"/>
                                      </p:to>
                                    </p:set>
                                    <p:animEffect transition="in" filter="wipe(left)">
                                      <p:cBhvr>
                                        <p:cTn id="22" dur="20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nodeType="afterEffect">
                                  <p:stCondLst>
                                    <p:cond delay="1000"/>
                                  </p:stCondLst>
                                  <p:childTnLst>
                                    <p:set>
                                      <p:cBhvr>
                                        <p:cTn id="29" dur="1" fill="hold">
                                          <p:stCondLst>
                                            <p:cond delay="0"/>
                                          </p:stCondLst>
                                        </p:cTn>
                                        <p:tgtEl>
                                          <p:spTgt spid="93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2" grpId="0" uiExpand="1" build="p"/>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6.3 </a:t>
            </a:r>
            <a:r>
              <a:rPr lang="zh-CN" altLang="en-US" b="1" dirty="0">
                <a:solidFill>
                  <a:srgbClr val="FF0000"/>
                </a:solidFill>
                <a:latin typeface="黑体" panose="02010609060101010101" pitchFamily="49" charset="-122"/>
                <a:ea typeface="黑体" panose="02010609060101010101" pitchFamily="49" charset="-122"/>
                <a:sym typeface="+mn-ea"/>
              </a:rPr>
              <a:t>同步</a:t>
            </a:r>
            <a:r>
              <a:rPr lang="en-US" altLang="zh-CN" b="1" dirty="0">
                <a:solidFill>
                  <a:srgbClr val="FF0000"/>
                </a:solidFill>
                <a:latin typeface="黑体" panose="02010609060101010101" pitchFamily="49" charset="-122"/>
                <a:ea typeface="黑体" panose="02010609060101010101" pitchFamily="49" charset="-122"/>
                <a:sym typeface="+mn-ea"/>
              </a:rPr>
              <a:t>时序逻辑电路的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0" name="文本框 99"/>
          <p:cNvSpPr txBox="1"/>
          <p:nvPr/>
        </p:nvSpPr>
        <p:spPr>
          <a:xfrm>
            <a:off x="950595" y="1188720"/>
            <a:ext cx="5080000" cy="460375"/>
          </a:xfrm>
          <a:prstGeom prst="rect">
            <a:avLst/>
          </a:prstGeom>
          <a:noFill/>
          <a:ln w="9525">
            <a:noFill/>
          </a:ln>
        </p:spPr>
        <p:txBody>
          <a:bodyPr>
            <a:spAutoFit/>
          </a:bodyPr>
          <a:p>
            <a:r>
              <a:rPr lang="en-US" sz="2400" b="1">
                <a:latin typeface="Times New Roman" panose="02020603050405020304" charset="0"/>
                <a:sym typeface="+mn-ea"/>
              </a:rPr>
              <a:t>(2)</a:t>
            </a:r>
            <a:r>
              <a:rPr lang="zh-CN" sz="2400" b="1">
                <a:ea typeface="宋体" panose="02010600030101010101" pitchFamily="2" charset="-122"/>
              </a:rPr>
              <a:t>状态化简</a:t>
            </a:r>
            <a:endParaRPr lang="zh-CN" altLang="en-US" sz="2400" b="1">
              <a:ea typeface="宋体" panose="02010600030101010101" pitchFamily="2" charset="-122"/>
            </a:endParaRPr>
          </a:p>
        </p:txBody>
      </p:sp>
      <p:pic>
        <p:nvPicPr>
          <p:cNvPr id="9382" name="图片 2819"/>
          <p:cNvPicPr>
            <a:picLocks noChangeAspect="1"/>
          </p:cNvPicPr>
          <p:nvPr/>
        </p:nvPicPr>
        <p:blipFill>
          <a:blip r:embed="rId1"/>
          <a:stretch>
            <a:fillRect/>
          </a:stretch>
        </p:blipFill>
        <p:spPr>
          <a:xfrm>
            <a:off x="198120" y="1739265"/>
            <a:ext cx="4192270" cy="2167890"/>
          </a:xfrm>
          <a:prstGeom prst="rect">
            <a:avLst/>
          </a:prstGeom>
          <a:noFill/>
          <a:ln>
            <a:noFill/>
          </a:ln>
        </p:spPr>
      </p:pic>
      <p:sp>
        <p:nvSpPr>
          <p:cNvPr id="2" name="文本框 1"/>
          <p:cNvSpPr txBox="1"/>
          <p:nvPr/>
        </p:nvSpPr>
        <p:spPr>
          <a:xfrm>
            <a:off x="1156970" y="3997325"/>
            <a:ext cx="5080000" cy="337185"/>
          </a:xfrm>
          <a:prstGeom prst="rect">
            <a:avLst/>
          </a:prstGeom>
          <a:noFill/>
          <a:ln w="9525">
            <a:noFill/>
          </a:ln>
        </p:spPr>
        <p:txBody>
          <a:bodyPr>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16 </a:t>
            </a:r>
            <a:r>
              <a:rPr lang="zh-CN" sz="1600">
                <a:ea typeface="宋体" panose="02010600030101010101" pitchFamily="2" charset="-122"/>
              </a:rPr>
              <a:t>例</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5</a:t>
            </a:r>
            <a:r>
              <a:rPr lang="zh-CN" sz="1600">
                <a:ea typeface="宋体" panose="02010600030101010101" pitchFamily="2" charset="-122"/>
              </a:rPr>
              <a:t>原始状态图</a:t>
            </a:r>
            <a:endParaRPr lang="zh-CN" altLang="en-US" sz="1600"/>
          </a:p>
        </p:txBody>
      </p:sp>
      <p:sp>
        <p:nvSpPr>
          <p:cNvPr id="3" name="文本框 2"/>
          <p:cNvSpPr txBox="1"/>
          <p:nvPr/>
        </p:nvSpPr>
        <p:spPr>
          <a:xfrm>
            <a:off x="605155" y="4681220"/>
            <a:ext cx="8380095" cy="977265"/>
          </a:xfrm>
          <a:prstGeom prst="rect">
            <a:avLst/>
          </a:prstGeom>
          <a:noFill/>
          <a:ln w="9525">
            <a:noFill/>
          </a:ln>
        </p:spPr>
        <p:txBody>
          <a:bodyPr wrap="square">
            <a:spAutoFit/>
          </a:bodyPr>
          <a:p>
            <a:pPr>
              <a:lnSpc>
                <a:spcPct val="120000"/>
              </a:lnSpc>
            </a:pPr>
            <a:r>
              <a:rPr lang="zh-CN" sz="2400" b="1">
                <a:gradFill>
                  <a:gsLst>
                    <a:gs pos="0">
                      <a:srgbClr val="012D86"/>
                    </a:gs>
                    <a:gs pos="100000">
                      <a:srgbClr val="0E2557"/>
                    </a:gs>
                  </a:gsLst>
                  <a:lin scaled="0"/>
                </a:gradFill>
                <a:ea typeface="宋体" panose="02010600030101010101" pitchFamily="2" charset="-122"/>
              </a:rPr>
              <a:t>原始状态图中，状态</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S</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2</a:t>
            </a:r>
            <a:r>
              <a:rPr lang="zh-CN" sz="2400" b="1">
                <a:gradFill>
                  <a:gsLst>
                    <a:gs pos="0">
                      <a:srgbClr val="012D86"/>
                    </a:gs>
                    <a:gs pos="100000">
                      <a:srgbClr val="0E2557"/>
                    </a:gs>
                  </a:gsLst>
                  <a:lin scaled="0"/>
                </a:gradFill>
                <a:ea typeface="宋体" panose="02010600030101010101" pitchFamily="2" charset="-122"/>
              </a:rPr>
              <a:t>和</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S</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3</a:t>
            </a:r>
            <a:r>
              <a:rPr lang="zh-CN" sz="2400" b="1">
                <a:gradFill>
                  <a:gsLst>
                    <a:gs pos="0">
                      <a:srgbClr val="012D86"/>
                    </a:gs>
                    <a:gs pos="100000">
                      <a:srgbClr val="0E2557"/>
                    </a:gs>
                  </a:gsLst>
                  <a:lin scaled="0"/>
                </a:gradFill>
                <a:ea typeface="宋体" panose="02010600030101010101" pitchFamily="2" charset="-122"/>
              </a:rPr>
              <a:t>等价。</a:t>
            </a:r>
            <a:r>
              <a:rPr lang="zh-CN" sz="2400" b="1">
                <a:gradFill>
                  <a:gsLst>
                    <a:gs pos="0">
                      <a:srgbClr val="012D86"/>
                    </a:gs>
                    <a:gs pos="100000">
                      <a:srgbClr val="0E2557"/>
                    </a:gs>
                  </a:gsLst>
                  <a:lin scaled="0"/>
                </a:gradFill>
                <a:sym typeface="+mn-ea"/>
              </a:rPr>
              <a:t>它们可以合并为一个状态，合并后的状态用</a:t>
            </a:r>
            <a:r>
              <a:rPr lang="en-US" sz="2400" b="1" i="1">
                <a:gradFill>
                  <a:gsLst>
                    <a:gs pos="0">
                      <a:srgbClr val="012D86"/>
                    </a:gs>
                    <a:gs pos="100000">
                      <a:srgbClr val="0E2557"/>
                    </a:gs>
                  </a:gsLst>
                  <a:lin scaled="0"/>
                </a:gradFill>
                <a:latin typeface="Times New Roman" panose="02020603050405020304" charset="0"/>
                <a:sym typeface="+mn-ea"/>
              </a:rPr>
              <a:t>S</a:t>
            </a:r>
            <a:r>
              <a:rPr lang="en-US" sz="2400" b="1" baseline="-25000">
                <a:gradFill>
                  <a:gsLst>
                    <a:gs pos="0">
                      <a:srgbClr val="012D86"/>
                    </a:gs>
                    <a:gs pos="100000">
                      <a:srgbClr val="0E2557"/>
                    </a:gs>
                  </a:gsLst>
                  <a:lin scaled="0"/>
                </a:gradFill>
                <a:latin typeface="Times New Roman" panose="02020603050405020304" charset="0"/>
                <a:sym typeface="+mn-ea"/>
              </a:rPr>
              <a:t>2</a:t>
            </a:r>
            <a:r>
              <a:rPr lang="zh-CN" sz="2400" b="1">
                <a:gradFill>
                  <a:gsLst>
                    <a:gs pos="0">
                      <a:srgbClr val="012D86"/>
                    </a:gs>
                    <a:gs pos="100000">
                      <a:srgbClr val="0E2557"/>
                    </a:gs>
                  </a:gsLst>
                  <a:lin scaled="0"/>
                </a:gradFill>
                <a:sym typeface="+mn-ea"/>
              </a:rPr>
              <a:t>表示，得化简后的状态图</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9383" name="图片 2820"/>
          <p:cNvPicPr>
            <a:picLocks noChangeAspect="1"/>
          </p:cNvPicPr>
          <p:nvPr/>
        </p:nvPicPr>
        <p:blipFill>
          <a:blip r:embed="rId2"/>
          <a:stretch>
            <a:fillRect/>
          </a:stretch>
        </p:blipFill>
        <p:spPr>
          <a:xfrm>
            <a:off x="4818380" y="1739265"/>
            <a:ext cx="3927475" cy="2021840"/>
          </a:xfrm>
          <a:prstGeom prst="rect">
            <a:avLst/>
          </a:prstGeom>
          <a:noFill/>
          <a:ln>
            <a:noFill/>
          </a:ln>
        </p:spPr>
      </p:pic>
      <p:sp>
        <p:nvSpPr>
          <p:cNvPr id="6" name="文本框 5"/>
          <p:cNvSpPr txBox="1"/>
          <p:nvPr/>
        </p:nvSpPr>
        <p:spPr>
          <a:xfrm>
            <a:off x="5814695" y="3907155"/>
            <a:ext cx="2872105" cy="337185"/>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17 </a:t>
            </a:r>
            <a:r>
              <a:rPr lang="zh-CN" sz="1600">
                <a:ea typeface="宋体" panose="02010600030101010101" pitchFamily="2" charset="-122"/>
              </a:rPr>
              <a:t>例</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5</a:t>
            </a:r>
            <a:r>
              <a:rPr lang="zh-CN" sz="1600">
                <a:ea typeface="宋体" panose="02010600030101010101" pitchFamily="2" charset="-122"/>
              </a:rPr>
              <a:t>化简后的状态图</a:t>
            </a:r>
            <a:endParaRPr lang="zh-CN" altLang="en-US"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9383"/>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6.3 </a:t>
            </a:r>
            <a:r>
              <a:rPr lang="zh-CN" altLang="en-US" b="1" dirty="0">
                <a:solidFill>
                  <a:srgbClr val="FF0000"/>
                </a:solidFill>
                <a:latin typeface="黑体" panose="02010609060101010101" pitchFamily="49" charset="-122"/>
                <a:ea typeface="黑体" panose="02010609060101010101" pitchFamily="49" charset="-122"/>
                <a:sym typeface="+mn-ea"/>
              </a:rPr>
              <a:t>同步</a:t>
            </a:r>
            <a:r>
              <a:rPr lang="en-US" altLang="zh-CN" b="1" dirty="0">
                <a:solidFill>
                  <a:srgbClr val="FF0000"/>
                </a:solidFill>
                <a:latin typeface="黑体" panose="02010609060101010101" pitchFamily="49" charset="-122"/>
                <a:ea typeface="黑体" panose="02010609060101010101" pitchFamily="49" charset="-122"/>
                <a:sym typeface="+mn-ea"/>
              </a:rPr>
              <a:t>时序逻辑电路的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0" name="文本框 99"/>
          <p:cNvSpPr txBox="1"/>
          <p:nvPr/>
        </p:nvSpPr>
        <p:spPr>
          <a:xfrm>
            <a:off x="986790" y="1188720"/>
            <a:ext cx="5080000" cy="460375"/>
          </a:xfrm>
          <a:prstGeom prst="rect">
            <a:avLst/>
          </a:prstGeom>
          <a:noFill/>
          <a:ln w="9525">
            <a:noFill/>
          </a:ln>
        </p:spPr>
        <p:txBody>
          <a:bodyPr>
            <a:spAutoFit/>
          </a:bodyPr>
          <a:p>
            <a:r>
              <a:rPr lang="en-US" sz="2400" b="1">
                <a:latin typeface="Times New Roman" panose="02020603050405020304" charset="0"/>
                <a:sym typeface="+mn-ea"/>
              </a:rPr>
              <a:t>(3)</a:t>
            </a:r>
            <a:r>
              <a:rPr lang="zh-CN" sz="2400" b="1">
                <a:ea typeface="宋体" panose="02010600030101010101" pitchFamily="2" charset="-122"/>
              </a:rPr>
              <a:t>状态分配和列状态转换表</a:t>
            </a:r>
            <a:endParaRPr lang="zh-CN" sz="2400" b="1">
              <a:ea typeface="宋体" panose="02010600030101010101" pitchFamily="2" charset="-122"/>
            </a:endParaRPr>
          </a:p>
        </p:txBody>
      </p:sp>
      <p:sp>
        <p:nvSpPr>
          <p:cNvPr id="37892" name="矩形 185347"/>
          <p:cNvSpPr/>
          <p:nvPr/>
        </p:nvSpPr>
        <p:spPr>
          <a:xfrm>
            <a:off x="528955" y="1580515"/>
            <a:ext cx="4173855" cy="2139950"/>
          </a:xfrm>
          <a:prstGeom prst="rect">
            <a:avLst/>
          </a:prstGeom>
          <a:noFill/>
          <a:ln w="9525">
            <a:noFill/>
          </a:ln>
        </p:spPr>
        <p:txBody>
          <a:bodyPr wrap="square">
            <a:spAutoFit/>
          </a:bodyPr>
          <a:p>
            <a:pPr algn="just">
              <a:lnSpc>
                <a:spcPct val="111000"/>
              </a:lnSpc>
              <a:spcBef>
                <a:spcPct val="20000"/>
              </a:spcBef>
            </a:pPr>
            <a:r>
              <a:rPr lang="zh-CN" altLang="en-US" sz="2000" b="1" dirty="0">
                <a:gradFill>
                  <a:gsLst>
                    <a:gs pos="0">
                      <a:srgbClr val="012D86"/>
                    </a:gs>
                    <a:gs pos="100000">
                      <a:srgbClr val="0E2557"/>
                    </a:gs>
                  </a:gsLst>
                  <a:lin scaled="0"/>
                </a:gradFill>
                <a:latin typeface="Times New Roman" panose="02020603050405020304" charset="0"/>
              </a:rPr>
              <a:t>     </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Arial" panose="020B0604020202020204" pitchFamily="34" charset="0"/>
              </a:rPr>
              <a:t>该电路有</a:t>
            </a:r>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rPr>
              <a:t>3</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Arial" panose="020B0604020202020204" pitchFamily="34" charset="0"/>
              </a:rPr>
              <a:t>个状态，可以用</a:t>
            </a:r>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rPr>
              <a:t>2</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Arial" panose="020B0604020202020204" pitchFamily="34" charset="0"/>
              </a:rPr>
              <a:t>位二进制代码组合（</a:t>
            </a:r>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rPr>
              <a:t>00</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Arial" panose="020B0604020202020204" pitchFamily="34" charset="0"/>
              </a:rPr>
              <a:t>、</a:t>
            </a:r>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rPr>
              <a:t>01</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Arial" panose="020B0604020202020204" pitchFamily="34" charset="0"/>
              </a:rPr>
              <a:t>、</a:t>
            </a:r>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rPr>
              <a:t>10</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Arial" panose="020B0604020202020204" pitchFamily="34" charset="0"/>
              </a:rPr>
              <a:t>、</a:t>
            </a:r>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rPr>
              <a:t>11</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Arial" panose="020B0604020202020204" pitchFamily="34" charset="0"/>
              </a:rPr>
              <a:t>）中的</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rPr>
              <a:t> </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Arial" panose="020B0604020202020204" pitchFamily="34" charset="0"/>
              </a:rPr>
              <a:t>三个代码表示。本例取</a:t>
            </a:r>
            <a:r>
              <a:rPr lang="en-US" altLang="zh-CN" sz="2400" b="1" i="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rPr>
              <a:t>S</a:t>
            </a:r>
            <a:r>
              <a:rPr lang="en-US" altLang="zh-CN" sz="2400" b="1" baseline="-25000"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rPr>
              <a:t>0</a:t>
            </a:r>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rPr>
              <a:t>=00</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Arial" panose="020B0604020202020204" pitchFamily="34" charset="0"/>
              </a:rPr>
              <a:t>、</a:t>
            </a:r>
            <a:r>
              <a:rPr lang="en-US" altLang="zh-CN" sz="2400" b="1" i="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rPr>
              <a:t>S</a:t>
            </a:r>
            <a:r>
              <a:rPr lang="en-US" altLang="zh-CN" sz="2400" b="1" baseline="-25000"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rPr>
              <a:t>1</a:t>
            </a:r>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rPr>
              <a:t>=01</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Arial" panose="020B0604020202020204" pitchFamily="34" charset="0"/>
              </a:rPr>
              <a:t>、</a:t>
            </a:r>
            <a:r>
              <a:rPr lang="en-US" altLang="zh-CN" sz="2400" b="1" i="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rPr>
              <a:t>S</a:t>
            </a:r>
            <a:r>
              <a:rPr lang="en-US" altLang="zh-CN" sz="2400" b="1" baseline="-25000"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rPr>
              <a:t>2</a:t>
            </a:r>
            <a:r>
              <a:rPr lang="en-US" altLang="zh-CN" sz="2400" b="1"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rPr>
              <a:t>=11</a:t>
            </a: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Arial" panose="020B0604020202020204" pitchFamily="34" charset="0"/>
              </a:rPr>
              <a:t>。得到编码后的状态图</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Arial" panose="020B0604020202020204" pitchFamily="34" charset="0"/>
            </a:endParaRPr>
          </a:p>
        </p:txBody>
      </p:sp>
      <p:pic>
        <p:nvPicPr>
          <p:cNvPr id="9384" name="图片 2821"/>
          <p:cNvPicPr>
            <a:picLocks noChangeAspect="1"/>
          </p:cNvPicPr>
          <p:nvPr/>
        </p:nvPicPr>
        <p:blipFill>
          <a:blip r:embed="rId1"/>
          <a:stretch>
            <a:fillRect/>
          </a:stretch>
        </p:blipFill>
        <p:spPr>
          <a:xfrm>
            <a:off x="4869180" y="1363345"/>
            <a:ext cx="3817620" cy="1965325"/>
          </a:xfrm>
          <a:prstGeom prst="rect">
            <a:avLst/>
          </a:prstGeom>
          <a:noFill/>
          <a:ln>
            <a:noFill/>
          </a:ln>
        </p:spPr>
      </p:pic>
      <p:sp>
        <p:nvSpPr>
          <p:cNvPr id="2" name="文本框 1"/>
          <p:cNvSpPr txBox="1"/>
          <p:nvPr/>
        </p:nvSpPr>
        <p:spPr>
          <a:xfrm>
            <a:off x="6066790" y="3379470"/>
            <a:ext cx="3077210" cy="337185"/>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18 </a:t>
            </a:r>
            <a:r>
              <a:rPr lang="zh-CN" sz="1600">
                <a:ea typeface="宋体" panose="02010600030101010101" pitchFamily="2" charset="-122"/>
              </a:rPr>
              <a:t>例</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5</a:t>
            </a:r>
            <a:r>
              <a:rPr lang="zh-CN" sz="1600">
                <a:ea typeface="宋体" panose="02010600030101010101" pitchFamily="2" charset="-122"/>
              </a:rPr>
              <a:t>编码后的状态图</a:t>
            </a:r>
            <a:endParaRPr lang="zh-CN" altLang="en-US" sz="1600"/>
          </a:p>
        </p:txBody>
      </p:sp>
      <p:sp>
        <p:nvSpPr>
          <p:cNvPr id="3" name="文本框 2"/>
          <p:cNvSpPr txBox="1"/>
          <p:nvPr/>
        </p:nvSpPr>
        <p:spPr>
          <a:xfrm>
            <a:off x="528955" y="3654425"/>
            <a:ext cx="5080000" cy="398780"/>
          </a:xfrm>
          <a:prstGeom prst="rect">
            <a:avLst/>
          </a:prstGeom>
          <a:noFill/>
          <a:ln w="9525">
            <a:noFill/>
          </a:ln>
        </p:spPr>
        <p:txBody>
          <a:bodyPr>
            <a:spAutoFit/>
          </a:bodyPr>
          <a:p>
            <a:r>
              <a:rPr lang="zh-CN" sz="2000" b="1">
                <a:gradFill>
                  <a:gsLst>
                    <a:gs pos="0">
                      <a:srgbClr val="012D86"/>
                    </a:gs>
                    <a:gs pos="100000">
                      <a:srgbClr val="0E2557"/>
                    </a:gs>
                  </a:gsLst>
                  <a:lin scaled="0"/>
                </a:gradFill>
                <a:ea typeface="宋体" panose="02010600030101010101" pitchFamily="2" charset="-122"/>
              </a:rPr>
              <a:t>由编码后的状态图可得状态转换表</a:t>
            </a:r>
            <a:endParaRPr lang="zh-CN" altLang="en-US" sz="2000" b="1">
              <a:gradFill>
                <a:gsLst>
                  <a:gs pos="0">
                    <a:srgbClr val="012D86"/>
                  </a:gs>
                  <a:gs pos="100000">
                    <a:srgbClr val="0E2557"/>
                  </a:gs>
                </a:gsLst>
                <a:lin scaled="0"/>
              </a:gradFill>
              <a:ea typeface="宋体" panose="02010600030101010101" pitchFamily="2" charset="-122"/>
            </a:endParaRPr>
          </a:p>
        </p:txBody>
      </p:sp>
      <p:pic>
        <p:nvPicPr>
          <p:cNvPr id="5" name="图片 4"/>
          <p:cNvPicPr>
            <a:picLocks noChangeAspect="1"/>
          </p:cNvPicPr>
          <p:nvPr/>
        </p:nvPicPr>
        <p:blipFill>
          <a:blip r:embed="rId2"/>
          <a:stretch>
            <a:fillRect/>
          </a:stretch>
        </p:blipFill>
        <p:spPr>
          <a:xfrm>
            <a:off x="528955" y="3970655"/>
            <a:ext cx="7948295" cy="2482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84"/>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p:bldP spid="2" grpId="0"/>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6.3 </a:t>
            </a:r>
            <a:r>
              <a:rPr lang="zh-CN" altLang="en-US" b="1" dirty="0">
                <a:solidFill>
                  <a:srgbClr val="FF0000"/>
                </a:solidFill>
                <a:latin typeface="黑体" panose="02010609060101010101" pitchFamily="49" charset="-122"/>
                <a:ea typeface="黑体" panose="02010609060101010101" pitchFamily="49" charset="-122"/>
                <a:sym typeface="+mn-ea"/>
              </a:rPr>
              <a:t>同步</a:t>
            </a:r>
            <a:r>
              <a:rPr lang="en-US" altLang="zh-CN" b="1" dirty="0">
                <a:solidFill>
                  <a:srgbClr val="FF0000"/>
                </a:solidFill>
                <a:latin typeface="黑体" panose="02010609060101010101" pitchFamily="49" charset="-122"/>
                <a:ea typeface="黑体" panose="02010609060101010101" pitchFamily="49" charset="-122"/>
                <a:sym typeface="+mn-ea"/>
              </a:rPr>
              <a:t>时序逻辑电路的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文本框 1"/>
          <p:cNvSpPr txBox="1"/>
          <p:nvPr/>
        </p:nvSpPr>
        <p:spPr>
          <a:xfrm>
            <a:off x="943610" y="1118235"/>
            <a:ext cx="6970395" cy="460375"/>
          </a:xfrm>
          <a:prstGeom prst="rect">
            <a:avLst/>
          </a:prstGeom>
          <a:noFill/>
          <a:ln w="9525">
            <a:noFill/>
          </a:ln>
        </p:spPr>
        <p:txBody>
          <a:bodyPr wrap="square">
            <a:spAutoFit/>
          </a:bodyPr>
          <a:p>
            <a:r>
              <a:rPr lang="en-US" sz="2400" b="1">
                <a:latin typeface="Times New Roman" panose="02020603050405020304" charset="0"/>
                <a:sym typeface="+mn-ea"/>
              </a:rPr>
              <a:t>(4)</a:t>
            </a:r>
            <a:r>
              <a:rPr lang="zh-CN" sz="2400" b="1">
                <a:sym typeface="+mn-ea"/>
              </a:rPr>
              <a:t>求触发器的状态方程及电路的输出方程</a:t>
            </a:r>
            <a:endParaRPr lang="zh-CN" altLang="en-US" sz="2400" b="1">
              <a:ea typeface="宋体" panose="02010600030101010101" pitchFamily="2" charset="-122"/>
              <a:sym typeface="+mn-ea"/>
            </a:endParaRPr>
          </a:p>
        </p:txBody>
      </p:sp>
      <p:sp>
        <p:nvSpPr>
          <p:cNvPr id="3" name="文本框 2"/>
          <p:cNvSpPr txBox="1"/>
          <p:nvPr/>
        </p:nvSpPr>
        <p:spPr>
          <a:xfrm>
            <a:off x="352425" y="1508125"/>
            <a:ext cx="8594725" cy="829945"/>
          </a:xfrm>
          <a:prstGeom prst="rect">
            <a:avLst/>
          </a:prstGeom>
          <a:noFill/>
        </p:spPr>
        <p:txBody>
          <a:bodyPr wrap="square" rtlCol="0" anchor="t">
            <a:spAutoFit/>
          </a:bodyPr>
          <a:p>
            <a:r>
              <a:rPr lang="en-US" altLang="zh-CN" sz="2400" b="1">
                <a:gradFill>
                  <a:gsLst>
                    <a:gs pos="0">
                      <a:srgbClr val="012D86"/>
                    </a:gs>
                    <a:gs pos="100000">
                      <a:srgbClr val="0E2557"/>
                    </a:gs>
                  </a:gsLst>
                  <a:lin scaled="0"/>
                </a:gradFill>
              </a:rPr>
              <a:t>       </a:t>
            </a:r>
            <a:r>
              <a:rPr lang="zh-CN" altLang="en-US" sz="2400" b="1">
                <a:gradFill>
                  <a:gsLst>
                    <a:gs pos="0">
                      <a:srgbClr val="012D86"/>
                    </a:gs>
                    <a:gs pos="100000">
                      <a:srgbClr val="0E2557"/>
                    </a:gs>
                  </a:gsLst>
                  <a:lin scaled="0"/>
                </a:gradFill>
              </a:rPr>
              <a:t>根据状态转换表，可以画出各触发器次态的卡诺图和输出</a:t>
            </a:r>
            <a:r>
              <a:rPr lang="en-US" altLang="zh-CN" sz="2400" b="1" i="1">
                <a:gradFill>
                  <a:gsLst>
                    <a:gs pos="0">
                      <a:srgbClr val="012D86"/>
                    </a:gs>
                    <a:gs pos="100000">
                      <a:srgbClr val="0E2557"/>
                    </a:gs>
                  </a:gsLst>
                  <a:lin scaled="0"/>
                </a:gradFill>
                <a:latin typeface="Times New Roman" panose="02020603050405020304" charset="0"/>
                <a:cs typeface="Times New Roman" panose="02020603050405020304" charset="0"/>
              </a:rPr>
              <a:t>Y</a:t>
            </a:r>
            <a:r>
              <a:rPr lang="zh-CN" altLang="en-US" sz="2400" b="1">
                <a:gradFill>
                  <a:gsLst>
                    <a:gs pos="0">
                      <a:srgbClr val="012D86"/>
                    </a:gs>
                    <a:gs pos="100000">
                      <a:srgbClr val="0E2557"/>
                    </a:gs>
                  </a:gsLst>
                  <a:lin scaled="0"/>
                </a:gradFill>
              </a:rPr>
              <a:t>的卡诺图</a:t>
            </a:r>
            <a:endParaRPr lang="zh-CN" altLang="en-US" sz="2400" b="1">
              <a:gradFill>
                <a:gsLst>
                  <a:gs pos="0">
                    <a:srgbClr val="012D86"/>
                  </a:gs>
                  <a:gs pos="100000">
                    <a:srgbClr val="0E2557"/>
                  </a:gs>
                </a:gsLst>
                <a:lin scaled="0"/>
              </a:gradFill>
            </a:endParaRPr>
          </a:p>
        </p:txBody>
      </p:sp>
      <p:pic>
        <p:nvPicPr>
          <p:cNvPr id="9385" name="图片 2822"/>
          <p:cNvPicPr>
            <a:picLocks noChangeAspect="1"/>
          </p:cNvPicPr>
          <p:nvPr/>
        </p:nvPicPr>
        <p:blipFill>
          <a:blip r:embed="rId1"/>
          <a:stretch>
            <a:fillRect/>
          </a:stretch>
        </p:blipFill>
        <p:spPr>
          <a:xfrm>
            <a:off x="413385" y="2338070"/>
            <a:ext cx="8317865" cy="1595120"/>
          </a:xfrm>
          <a:prstGeom prst="rect">
            <a:avLst/>
          </a:prstGeom>
          <a:noFill/>
          <a:ln>
            <a:noFill/>
          </a:ln>
        </p:spPr>
      </p:pic>
      <p:pic>
        <p:nvPicPr>
          <p:cNvPr id="5" name="图片 4"/>
          <p:cNvPicPr>
            <a:picLocks noChangeAspect="1"/>
          </p:cNvPicPr>
          <p:nvPr/>
        </p:nvPicPr>
        <p:blipFill>
          <a:blip r:embed="rId2"/>
          <a:stretch>
            <a:fillRect/>
          </a:stretch>
        </p:blipFill>
        <p:spPr>
          <a:xfrm>
            <a:off x="630555" y="4017645"/>
            <a:ext cx="7218680" cy="22548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6.3 </a:t>
            </a:r>
            <a:r>
              <a:rPr lang="zh-CN" altLang="en-US" b="1" dirty="0">
                <a:solidFill>
                  <a:srgbClr val="FF0000"/>
                </a:solidFill>
                <a:latin typeface="黑体" panose="02010609060101010101" pitchFamily="49" charset="-122"/>
                <a:ea typeface="黑体" panose="02010609060101010101" pitchFamily="49" charset="-122"/>
                <a:sym typeface="+mn-ea"/>
              </a:rPr>
              <a:t>同步</a:t>
            </a:r>
            <a:r>
              <a:rPr lang="en-US" altLang="zh-CN" b="1" dirty="0">
                <a:solidFill>
                  <a:srgbClr val="FF0000"/>
                </a:solidFill>
                <a:latin typeface="黑体" panose="02010609060101010101" pitchFamily="49" charset="-122"/>
                <a:ea typeface="黑体" panose="02010609060101010101" pitchFamily="49" charset="-122"/>
                <a:sym typeface="+mn-ea"/>
              </a:rPr>
              <a:t>时序逻辑电路的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文本框 1"/>
          <p:cNvSpPr txBox="1"/>
          <p:nvPr/>
        </p:nvSpPr>
        <p:spPr>
          <a:xfrm>
            <a:off x="943610" y="1118235"/>
            <a:ext cx="6970395" cy="460375"/>
          </a:xfrm>
          <a:prstGeom prst="rect">
            <a:avLst/>
          </a:prstGeom>
          <a:noFill/>
          <a:ln w="9525">
            <a:noFill/>
          </a:ln>
        </p:spPr>
        <p:txBody>
          <a:bodyPr wrap="square">
            <a:spAutoFit/>
          </a:bodyPr>
          <a:p>
            <a:r>
              <a:rPr lang="en-US" sz="2400" b="1">
                <a:latin typeface="Times New Roman" panose="02020603050405020304" charset="0"/>
                <a:sym typeface="+mn-ea"/>
              </a:rPr>
              <a:t>(4)</a:t>
            </a:r>
            <a:r>
              <a:rPr lang="zh-CN" sz="2400" b="1">
                <a:sym typeface="+mn-ea"/>
              </a:rPr>
              <a:t>求触发器的状态方程及电路的输出方程</a:t>
            </a:r>
            <a:endParaRPr lang="zh-CN" altLang="en-US" sz="2400" b="1">
              <a:ea typeface="宋体" panose="02010600030101010101" pitchFamily="2" charset="-122"/>
              <a:sym typeface="+mn-ea"/>
            </a:endParaRPr>
          </a:p>
        </p:txBody>
      </p:sp>
      <p:sp>
        <p:nvSpPr>
          <p:cNvPr id="3" name="文本框 2"/>
          <p:cNvSpPr txBox="1"/>
          <p:nvPr/>
        </p:nvSpPr>
        <p:spPr>
          <a:xfrm>
            <a:off x="352425" y="1508125"/>
            <a:ext cx="8594725" cy="829945"/>
          </a:xfrm>
          <a:prstGeom prst="rect">
            <a:avLst/>
          </a:prstGeom>
          <a:noFill/>
        </p:spPr>
        <p:txBody>
          <a:bodyPr wrap="square" rtlCol="0" anchor="t">
            <a:spAutoFit/>
          </a:bodyPr>
          <a:p>
            <a:r>
              <a:rPr lang="en-US" altLang="zh-CN" sz="2400" b="1">
                <a:gradFill>
                  <a:gsLst>
                    <a:gs pos="0">
                      <a:srgbClr val="012D86"/>
                    </a:gs>
                    <a:gs pos="100000">
                      <a:srgbClr val="0E2557"/>
                    </a:gs>
                  </a:gsLst>
                  <a:lin scaled="0"/>
                </a:gradFill>
              </a:rPr>
              <a:t>       </a:t>
            </a:r>
            <a:r>
              <a:rPr lang="zh-CN" altLang="en-US" sz="2400" b="1">
                <a:gradFill>
                  <a:gsLst>
                    <a:gs pos="0">
                      <a:srgbClr val="012D86"/>
                    </a:gs>
                    <a:gs pos="100000">
                      <a:srgbClr val="0E2557"/>
                    </a:gs>
                  </a:gsLst>
                  <a:lin scaled="0"/>
                </a:gradFill>
              </a:rPr>
              <a:t>根据状态转换表，可以画出各触发器次态的卡诺图和输出</a:t>
            </a:r>
            <a:r>
              <a:rPr lang="en-US" altLang="zh-CN" sz="2400" b="1" i="1">
                <a:gradFill>
                  <a:gsLst>
                    <a:gs pos="0">
                      <a:srgbClr val="012D86"/>
                    </a:gs>
                    <a:gs pos="100000">
                      <a:srgbClr val="0E2557"/>
                    </a:gs>
                  </a:gsLst>
                  <a:lin scaled="0"/>
                </a:gradFill>
                <a:latin typeface="Times New Roman" panose="02020603050405020304" charset="0"/>
                <a:cs typeface="Times New Roman" panose="02020603050405020304" charset="0"/>
              </a:rPr>
              <a:t>Y</a:t>
            </a:r>
            <a:r>
              <a:rPr lang="zh-CN" altLang="en-US" sz="2400" b="1">
                <a:gradFill>
                  <a:gsLst>
                    <a:gs pos="0">
                      <a:srgbClr val="012D86"/>
                    </a:gs>
                    <a:gs pos="100000">
                      <a:srgbClr val="0E2557"/>
                    </a:gs>
                  </a:gsLst>
                  <a:lin scaled="0"/>
                </a:gradFill>
              </a:rPr>
              <a:t>的卡诺图</a:t>
            </a:r>
            <a:endParaRPr lang="zh-CN" altLang="en-US" sz="2400" b="1">
              <a:gradFill>
                <a:gsLst>
                  <a:gs pos="0">
                    <a:srgbClr val="012D86"/>
                  </a:gs>
                  <a:gs pos="100000">
                    <a:srgbClr val="0E2557"/>
                  </a:gs>
                </a:gsLst>
                <a:lin scaled="0"/>
              </a:gradFill>
            </a:endParaRPr>
          </a:p>
        </p:txBody>
      </p:sp>
      <p:pic>
        <p:nvPicPr>
          <p:cNvPr id="9385" name="图片 2822"/>
          <p:cNvPicPr>
            <a:picLocks noChangeAspect="1"/>
          </p:cNvPicPr>
          <p:nvPr/>
        </p:nvPicPr>
        <p:blipFill>
          <a:blip r:embed="rId1"/>
          <a:stretch>
            <a:fillRect/>
          </a:stretch>
        </p:blipFill>
        <p:spPr>
          <a:xfrm>
            <a:off x="413385" y="2338070"/>
            <a:ext cx="8317865" cy="1595120"/>
          </a:xfrm>
          <a:prstGeom prst="rect">
            <a:avLst/>
          </a:prstGeom>
          <a:noFill/>
          <a:ln>
            <a:noFill/>
          </a:ln>
        </p:spPr>
      </p:pic>
      <p:pic>
        <p:nvPicPr>
          <p:cNvPr id="6" name="对象 1775"/>
          <p:cNvPicPr>
            <a:picLocks noChangeAspect="1"/>
          </p:cNvPicPr>
          <p:nvPr/>
        </p:nvPicPr>
        <p:blipFill>
          <a:blip r:embed="rId2"/>
          <a:stretch>
            <a:fillRect/>
          </a:stretch>
        </p:blipFill>
        <p:spPr>
          <a:xfrm>
            <a:off x="3652520" y="4711065"/>
            <a:ext cx="1363980" cy="1363980"/>
          </a:xfrm>
          <a:prstGeom prst="rect">
            <a:avLst/>
          </a:prstGeom>
          <a:noFill/>
          <a:ln w="9525">
            <a:noFill/>
          </a:ln>
        </p:spPr>
      </p:pic>
      <p:sp>
        <p:nvSpPr>
          <p:cNvPr id="100" name="文本框 99"/>
          <p:cNvSpPr txBox="1"/>
          <p:nvPr/>
        </p:nvSpPr>
        <p:spPr>
          <a:xfrm>
            <a:off x="1045210" y="4057650"/>
            <a:ext cx="5080000" cy="460375"/>
          </a:xfrm>
          <a:prstGeom prst="rect">
            <a:avLst/>
          </a:prstGeom>
          <a:noFill/>
          <a:ln w="9525">
            <a:noFill/>
          </a:ln>
        </p:spPr>
        <p:txBody>
          <a:bodyPr>
            <a:spAutoFit/>
          </a:bodyPr>
          <a:p>
            <a:r>
              <a:rPr lang="zh-CN" sz="2400" b="1">
                <a:gradFill>
                  <a:gsLst>
                    <a:gs pos="0">
                      <a:srgbClr val="012D86"/>
                    </a:gs>
                    <a:gs pos="100000">
                      <a:srgbClr val="0E2557"/>
                    </a:gs>
                  </a:gsLst>
                  <a:lin scaled="0"/>
                </a:gradFill>
                <a:ea typeface="宋体" panose="02010600030101010101" pitchFamily="2" charset="-122"/>
              </a:rPr>
              <a:t>各触发器的状态方程和输出方程：</a:t>
            </a:r>
            <a:endParaRPr lang="zh-CN" altLang="en-US" sz="2400" b="1">
              <a:gradFill>
                <a:gsLst>
                  <a:gs pos="0">
                    <a:srgbClr val="012D86"/>
                  </a:gs>
                  <a:gs pos="100000">
                    <a:srgbClr val="0E2557"/>
                  </a:gs>
                </a:gsLst>
                <a:lin scaled="0"/>
              </a:gra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500"/>
                                  </p:stCondLst>
                                  <p:childTnLst>
                                    <p:set>
                                      <p:cBhvr>
                                        <p:cTn id="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6.3 </a:t>
            </a:r>
            <a:r>
              <a:rPr lang="zh-CN" altLang="en-US" b="1" dirty="0">
                <a:solidFill>
                  <a:srgbClr val="FF0000"/>
                </a:solidFill>
                <a:latin typeface="黑体" panose="02010609060101010101" pitchFamily="49" charset="-122"/>
                <a:ea typeface="黑体" panose="02010609060101010101" pitchFamily="49" charset="-122"/>
                <a:sym typeface="+mn-ea"/>
              </a:rPr>
              <a:t>同步</a:t>
            </a:r>
            <a:r>
              <a:rPr lang="en-US" altLang="zh-CN" b="1" dirty="0">
                <a:solidFill>
                  <a:srgbClr val="FF0000"/>
                </a:solidFill>
                <a:latin typeface="黑体" panose="02010609060101010101" pitchFamily="49" charset="-122"/>
                <a:ea typeface="黑体" panose="02010609060101010101" pitchFamily="49" charset="-122"/>
                <a:sym typeface="+mn-ea"/>
              </a:rPr>
              <a:t>时序逻辑电路的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文本框 1"/>
          <p:cNvSpPr txBox="1"/>
          <p:nvPr/>
        </p:nvSpPr>
        <p:spPr>
          <a:xfrm>
            <a:off x="943610" y="1118235"/>
            <a:ext cx="6970395" cy="460375"/>
          </a:xfrm>
          <a:prstGeom prst="rect">
            <a:avLst/>
          </a:prstGeom>
          <a:noFill/>
          <a:ln w="9525">
            <a:noFill/>
          </a:ln>
        </p:spPr>
        <p:txBody>
          <a:bodyPr wrap="square">
            <a:spAutoFit/>
          </a:bodyPr>
          <a:p>
            <a:r>
              <a:rPr lang="en-US" sz="2400" b="1">
                <a:latin typeface="Times New Roman" panose="02020603050405020304" charset="0"/>
                <a:sym typeface="+mn-ea"/>
              </a:rPr>
              <a:t>(5)</a:t>
            </a:r>
            <a:r>
              <a:rPr lang="zh-CN" sz="2400" b="1">
                <a:sym typeface="+mn-ea"/>
              </a:rPr>
              <a:t>选择触发器，求激励方程</a:t>
            </a:r>
            <a:endParaRPr lang="zh-CN" sz="2400" b="1">
              <a:sym typeface="+mn-ea"/>
            </a:endParaRPr>
          </a:p>
        </p:txBody>
      </p:sp>
      <p:pic>
        <p:nvPicPr>
          <p:cNvPr id="6" name="对象 1775"/>
          <p:cNvPicPr>
            <a:picLocks noChangeAspect="1"/>
          </p:cNvPicPr>
          <p:nvPr/>
        </p:nvPicPr>
        <p:blipFill>
          <a:blip r:embed="rId1"/>
          <a:stretch>
            <a:fillRect/>
          </a:stretch>
        </p:blipFill>
        <p:spPr>
          <a:xfrm>
            <a:off x="7247890" y="2743200"/>
            <a:ext cx="1371600" cy="1371600"/>
          </a:xfrm>
          <a:prstGeom prst="rect">
            <a:avLst/>
          </a:prstGeom>
          <a:noFill/>
          <a:ln w="9525">
            <a:noFill/>
          </a:ln>
        </p:spPr>
      </p:pic>
      <p:sp>
        <p:nvSpPr>
          <p:cNvPr id="100" name="文本框 99"/>
          <p:cNvSpPr txBox="1"/>
          <p:nvPr/>
        </p:nvSpPr>
        <p:spPr>
          <a:xfrm>
            <a:off x="943610" y="1578610"/>
            <a:ext cx="6480810" cy="82994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求得的状态方程与</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zh-CN" sz="2400" b="1">
                <a:gradFill>
                  <a:gsLst>
                    <a:gs pos="0">
                      <a:srgbClr val="012D86"/>
                    </a:gs>
                    <a:gs pos="100000">
                      <a:srgbClr val="0E2557"/>
                    </a:gs>
                  </a:gsLst>
                  <a:lin scaled="0"/>
                </a:gradFill>
                <a:ea typeface="宋体" panose="02010600030101010101" pitchFamily="2" charset="-122"/>
              </a:rPr>
              <a:t>触发器特性方程相近，故选用</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zh-CN" sz="2400" b="1">
                <a:gradFill>
                  <a:gsLst>
                    <a:gs pos="0">
                      <a:srgbClr val="012D86"/>
                    </a:gs>
                    <a:gs pos="100000">
                      <a:srgbClr val="0E2557"/>
                    </a:gs>
                  </a:gsLst>
                  <a:lin scaled="0"/>
                </a:gradFill>
                <a:ea typeface="宋体" panose="02010600030101010101" pitchFamily="2" charset="-122"/>
              </a:rPr>
              <a:t>触发器。</a:t>
            </a:r>
            <a:r>
              <a:rPr lang="zh-CN" sz="2400" b="1">
                <a:gradFill>
                  <a:gsLst>
                    <a:gs pos="0">
                      <a:srgbClr val="012D86"/>
                    </a:gs>
                    <a:gs pos="100000">
                      <a:srgbClr val="0E2557"/>
                    </a:gs>
                  </a:gsLst>
                  <a:lin scaled="0"/>
                </a:gradFill>
                <a:sym typeface="+mn-ea"/>
              </a:rPr>
              <a:t>激励方程为</a:t>
            </a:r>
            <a:endParaRPr lang="zh-CN" altLang="en-US" sz="2400" b="1">
              <a:gradFill>
                <a:gsLst>
                  <a:gs pos="0">
                    <a:srgbClr val="012D86"/>
                  </a:gs>
                  <a:gs pos="100000">
                    <a:srgbClr val="0E2557"/>
                  </a:gs>
                </a:gsLst>
                <a:lin scaled="0"/>
              </a:gradFill>
              <a:ea typeface="宋体" panose="02010600030101010101" pitchFamily="2" charset="-122"/>
              <a:sym typeface="+mn-ea"/>
            </a:endParaRPr>
          </a:p>
        </p:txBody>
      </p:sp>
      <p:pic>
        <p:nvPicPr>
          <p:cNvPr id="3" name="对象 1777"/>
          <p:cNvPicPr>
            <a:picLocks noChangeAspect="1"/>
          </p:cNvPicPr>
          <p:nvPr/>
        </p:nvPicPr>
        <p:blipFill>
          <a:blip r:embed="rId2"/>
          <a:stretch>
            <a:fillRect/>
          </a:stretch>
        </p:blipFill>
        <p:spPr>
          <a:xfrm>
            <a:off x="3143250" y="2408555"/>
            <a:ext cx="1108075" cy="859790"/>
          </a:xfrm>
          <a:prstGeom prst="rect">
            <a:avLst/>
          </a:prstGeom>
          <a:noFill/>
          <a:ln w="9525">
            <a:noFill/>
          </a:ln>
        </p:spPr>
      </p:pic>
      <p:sp>
        <p:nvSpPr>
          <p:cNvPr id="7" name="文本框 6"/>
          <p:cNvSpPr txBox="1"/>
          <p:nvPr/>
        </p:nvSpPr>
        <p:spPr>
          <a:xfrm>
            <a:off x="878840" y="3268345"/>
            <a:ext cx="2854325" cy="460375"/>
          </a:xfrm>
          <a:prstGeom prst="rect">
            <a:avLst/>
          </a:prstGeom>
          <a:noFill/>
          <a:ln w="9525">
            <a:noFill/>
          </a:ln>
        </p:spPr>
        <p:txBody>
          <a:bodyPr wrap="square">
            <a:spAutoFit/>
          </a:bodyPr>
          <a:p>
            <a:r>
              <a:rPr lang="en-US" sz="2400" b="1">
                <a:latin typeface="Times New Roman" panose="02020603050405020304" charset="0"/>
                <a:sym typeface="+mn-ea"/>
              </a:rPr>
              <a:t>(6)</a:t>
            </a:r>
            <a:r>
              <a:rPr lang="zh-CN" sz="2400" b="1">
                <a:sym typeface="+mn-ea"/>
              </a:rPr>
              <a:t>画逻辑图</a:t>
            </a:r>
            <a:endParaRPr lang="zh-CN" sz="2400" b="1">
              <a:sym typeface="+mn-ea"/>
            </a:endParaRPr>
          </a:p>
        </p:txBody>
      </p:sp>
      <p:pic>
        <p:nvPicPr>
          <p:cNvPr id="9386" name="图片 2823"/>
          <p:cNvPicPr>
            <a:picLocks noChangeAspect="1"/>
          </p:cNvPicPr>
          <p:nvPr/>
        </p:nvPicPr>
        <p:blipFill>
          <a:blip r:embed="rId3"/>
          <a:stretch>
            <a:fillRect/>
          </a:stretch>
        </p:blipFill>
        <p:spPr>
          <a:xfrm>
            <a:off x="2808605" y="3539490"/>
            <a:ext cx="4298950" cy="2121535"/>
          </a:xfrm>
          <a:prstGeom prst="rect">
            <a:avLst/>
          </a:prstGeom>
          <a:noFill/>
          <a:ln>
            <a:noFill/>
          </a:ln>
        </p:spPr>
      </p:pic>
      <p:sp>
        <p:nvSpPr>
          <p:cNvPr id="8" name="文本框 7"/>
          <p:cNvSpPr txBox="1"/>
          <p:nvPr/>
        </p:nvSpPr>
        <p:spPr>
          <a:xfrm>
            <a:off x="3667760" y="5913120"/>
            <a:ext cx="2184400" cy="337185"/>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20 </a:t>
            </a:r>
            <a:r>
              <a:rPr lang="zh-CN" sz="1600">
                <a:ea typeface="宋体" panose="02010600030101010101" pitchFamily="2" charset="-122"/>
              </a:rPr>
              <a:t>例</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5</a:t>
            </a:r>
            <a:r>
              <a:rPr lang="zh-CN" sz="1600">
                <a:ea typeface="宋体" panose="02010600030101010101" pitchFamily="2" charset="-122"/>
              </a:rPr>
              <a:t>逻辑图</a:t>
            </a:r>
            <a:endParaRPr lang="zh-CN" altLang="en-US"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50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1000"/>
                                  </p:stCondLst>
                                  <p:childTnLst>
                                    <p:set>
                                      <p:cBhvr>
                                        <p:cTn id="16" dur="1" fill="hold">
                                          <p:stCondLst>
                                            <p:cond delay="0"/>
                                          </p:stCondLst>
                                        </p:cTn>
                                        <p:tgtEl>
                                          <p:spTgt spid="9386"/>
                                        </p:tgtEl>
                                        <p:attrNameLst>
                                          <p:attrName>style.visibility</p:attrName>
                                        </p:attrNameLst>
                                      </p:cBhvr>
                                      <p:to>
                                        <p:strVal val="visible"/>
                                      </p:to>
                                    </p:se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7" grpId="0"/>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6.3 </a:t>
            </a:r>
            <a:r>
              <a:rPr lang="zh-CN" altLang="en-US" b="1" dirty="0">
                <a:solidFill>
                  <a:srgbClr val="FF0000"/>
                </a:solidFill>
                <a:latin typeface="黑体" panose="02010609060101010101" pitchFamily="49" charset="-122"/>
                <a:ea typeface="黑体" panose="02010609060101010101" pitchFamily="49" charset="-122"/>
                <a:sym typeface="+mn-ea"/>
              </a:rPr>
              <a:t>同步</a:t>
            </a:r>
            <a:r>
              <a:rPr lang="en-US" altLang="zh-CN" b="1" dirty="0">
                <a:solidFill>
                  <a:srgbClr val="FF0000"/>
                </a:solidFill>
                <a:latin typeface="黑体" panose="02010609060101010101" pitchFamily="49" charset="-122"/>
                <a:ea typeface="黑体" panose="02010609060101010101" pitchFamily="49" charset="-122"/>
                <a:sym typeface="+mn-ea"/>
              </a:rPr>
              <a:t>时序逻辑电路的</a:t>
            </a:r>
            <a:r>
              <a:rPr lang="zh-CN" altLang="en-US" b="1" dirty="0">
                <a:solidFill>
                  <a:srgbClr val="FF0000"/>
                </a:solidFill>
                <a:latin typeface="黑体" panose="02010609060101010101" pitchFamily="49" charset="-122"/>
                <a:ea typeface="黑体" panose="02010609060101010101" pitchFamily="49" charset="-122"/>
                <a:sym typeface="+mn-ea"/>
              </a:rPr>
              <a:t>设计</a:t>
            </a:r>
            <a:endParaRPr lang="zh-CN" altLang="en-US"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940435" y="1102995"/>
            <a:ext cx="5080000" cy="460375"/>
          </a:xfrm>
          <a:prstGeom prst="rect">
            <a:avLst/>
          </a:prstGeom>
          <a:noFill/>
          <a:ln w="9525">
            <a:noFill/>
          </a:ln>
        </p:spPr>
        <p:txBody>
          <a:bodyPr>
            <a:spAutoFit/>
          </a:bodyPr>
          <a:p>
            <a:r>
              <a:rPr lang="en-US" sz="2400" b="1">
                <a:latin typeface="Times New Roman" panose="02020603050405020304" charset="0"/>
                <a:sym typeface="+mn-ea"/>
              </a:rPr>
              <a:t>(7)</a:t>
            </a:r>
            <a:r>
              <a:rPr lang="zh-CN" sz="2400" b="1">
                <a:ea typeface="宋体" panose="02010600030101010101" pitchFamily="2" charset="-122"/>
              </a:rPr>
              <a:t>检查电路能否自启动</a:t>
            </a:r>
            <a:endParaRPr lang="zh-CN" altLang="en-US" sz="2400" b="1">
              <a:ea typeface="宋体" panose="02010600030101010101" pitchFamily="2" charset="-122"/>
            </a:endParaRPr>
          </a:p>
        </p:txBody>
      </p:sp>
      <p:pic>
        <p:nvPicPr>
          <p:cNvPr id="9387" name="图片 2824"/>
          <p:cNvPicPr>
            <a:picLocks noChangeAspect="1"/>
          </p:cNvPicPr>
          <p:nvPr/>
        </p:nvPicPr>
        <p:blipFill>
          <a:blip r:embed="rId1"/>
          <a:stretch>
            <a:fillRect/>
          </a:stretch>
        </p:blipFill>
        <p:spPr>
          <a:xfrm>
            <a:off x="2331720" y="2098675"/>
            <a:ext cx="3912870" cy="2063115"/>
          </a:xfrm>
          <a:prstGeom prst="rect">
            <a:avLst/>
          </a:prstGeom>
          <a:noFill/>
          <a:ln>
            <a:noFill/>
          </a:ln>
        </p:spPr>
      </p:pic>
      <p:sp>
        <p:nvSpPr>
          <p:cNvPr id="181253" name="矩形 181252"/>
          <p:cNvSpPr/>
          <p:nvPr/>
        </p:nvSpPr>
        <p:spPr>
          <a:xfrm>
            <a:off x="862965" y="1563053"/>
            <a:ext cx="3243580" cy="423545"/>
          </a:xfrm>
          <a:prstGeom prst="rect">
            <a:avLst/>
          </a:prstGeom>
          <a:noFill/>
          <a:ln w="9525">
            <a:noFill/>
          </a:ln>
        </p:spPr>
        <p:txBody>
          <a:bodyPr wrap="none">
            <a:spAutoFit/>
          </a:bodyPr>
          <a:p>
            <a:pPr>
              <a:lnSpc>
                <a:spcPct val="90000"/>
              </a:lnSpc>
              <a:spcBef>
                <a:spcPct val="20000"/>
              </a:spcBef>
            </a:pPr>
            <a:r>
              <a:rPr lang="zh-CN" altLang="en-US" sz="2400" b="1" dirty="0">
                <a:gradFill>
                  <a:gsLst>
                    <a:gs pos="0">
                      <a:srgbClr val="012D86"/>
                    </a:gs>
                    <a:gs pos="100000">
                      <a:srgbClr val="0E2557"/>
                    </a:gs>
                  </a:gsLst>
                  <a:lin scaled="0"/>
                </a:gradFill>
                <a:latin typeface="Arial" panose="020B0604020202020204" pitchFamily="34" charset="0"/>
              </a:rPr>
              <a:t>画出电路完整的状态图</a:t>
            </a:r>
            <a:endParaRPr lang="zh-CN" altLang="en-US" sz="2400" b="1" dirty="0">
              <a:solidFill>
                <a:srgbClr val="FF0066"/>
              </a:solidFill>
              <a:latin typeface="Arial" panose="020B0604020202020204" pitchFamily="34" charset="0"/>
            </a:endParaRPr>
          </a:p>
        </p:txBody>
      </p:sp>
      <p:sp>
        <p:nvSpPr>
          <p:cNvPr id="100" name="文本框 99"/>
          <p:cNvSpPr txBox="1"/>
          <p:nvPr/>
        </p:nvSpPr>
        <p:spPr>
          <a:xfrm>
            <a:off x="280670" y="4576445"/>
            <a:ext cx="8301990" cy="1630045"/>
          </a:xfrm>
          <a:prstGeom prst="rect">
            <a:avLst/>
          </a:prstGeom>
          <a:noFill/>
          <a:ln w="9525">
            <a:noFill/>
          </a:ln>
        </p:spPr>
        <p:txBody>
          <a:bodyPr wrap="square">
            <a:spAutoFit/>
          </a:bodyPr>
          <a:p>
            <a:r>
              <a:rPr lang="zh-CN" sz="2000" b="1">
                <a:gradFill>
                  <a:gsLst>
                    <a:gs pos="0">
                      <a:srgbClr val="012D86"/>
                    </a:gs>
                    <a:gs pos="100000">
                      <a:srgbClr val="0E2557"/>
                    </a:gs>
                  </a:gsLst>
                  <a:lin scaled="0"/>
                </a:gradFill>
                <a:ea typeface="宋体" panose="02010600030101010101" pitchFamily="2" charset="-122"/>
              </a:rPr>
              <a:t>从图</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6-</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21</a:t>
            </a:r>
            <a:r>
              <a:rPr lang="zh-CN" sz="2000" b="1">
                <a:gradFill>
                  <a:gsLst>
                    <a:gs pos="0">
                      <a:srgbClr val="012D86"/>
                    </a:gs>
                    <a:gs pos="100000">
                      <a:srgbClr val="0E2557"/>
                    </a:gs>
                  </a:gsLst>
                  <a:lin scaled="0"/>
                </a:gradFill>
                <a:ea typeface="宋体" panose="02010600030101010101" pitchFamily="2" charset="-122"/>
              </a:rPr>
              <a:t>可看出，如果电路进入无效状态</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10</a:t>
            </a:r>
            <a:r>
              <a:rPr lang="zh-CN" sz="2000" b="1">
                <a:gradFill>
                  <a:gsLst>
                    <a:gs pos="0">
                      <a:srgbClr val="012D86"/>
                    </a:gs>
                    <a:gs pos="100000">
                      <a:srgbClr val="0E2557"/>
                    </a:gs>
                  </a:gsLst>
                  <a:lin scaled="0"/>
                </a:gradFill>
                <a:ea typeface="宋体" panose="02010600030101010101" pitchFamily="2" charset="-122"/>
              </a:rPr>
              <a:t>，若</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X</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000" b="1">
                <a:gradFill>
                  <a:gsLst>
                    <a:gs pos="0">
                      <a:srgbClr val="012D86"/>
                    </a:gs>
                    <a:gs pos="100000">
                      <a:srgbClr val="0E2557"/>
                    </a:gs>
                  </a:gsLst>
                  <a:lin scaled="0"/>
                </a:gradFill>
                <a:ea typeface="宋体" panose="02010600030101010101" pitchFamily="2" charset="-122"/>
              </a:rPr>
              <a:t>，在</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CP</a:t>
            </a:r>
            <a:r>
              <a:rPr lang="zh-CN" sz="2000" b="1">
                <a:gradFill>
                  <a:gsLst>
                    <a:gs pos="0">
                      <a:srgbClr val="012D86"/>
                    </a:gs>
                    <a:gs pos="100000">
                      <a:srgbClr val="0E2557"/>
                    </a:gs>
                  </a:gsLst>
                  <a:lin scaled="0"/>
                </a:gradFill>
                <a:ea typeface="宋体" panose="02010600030101010101" pitchFamily="2" charset="-122"/>
              </a:rPr>
              <a:t>脉冲作用下，次态为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00</a:t>
            </a:r>
            <a:r>
              <a:rPr lang="zh-CN" sz="2000" b="1">
                <a:gradFill>
                  <a:gsLst>
                    <a:gs pos="0">
                      <a:srgbClr val="012D86"/>
                    </a:gs>
                    <a:gs pos="100000">
                      <a:srgbClr val="0E2557"/>
                    </a:gs>
                  </a:gsLst>
                  <a:lin scaled="0"/>
                </a:gradFill>
                <a:ea typeface="宋体" panose="02010600030101010101" pitchFamily="2" charset="-122"/>
              </a:rPr>
              <a:t>；若</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X</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000" b="1">
                <a:gradFill>
                  <a:gsLst>
                    <a:gs pos="0">
                      <a:srgbClr val="012D86"/>
                    </a:gs>
                    <a:gs pos="100000">
                      <a:srgbClr val="0E2557"/>
                    </a:gs>
                  </a:gsLst>
                  <a:lin scaled="0"/>
                </a:gradFill>
                <a:ea typeface="宋体" panose="02010600030101010101" pitchFamily="2" charset="-122"/>
              </a:rPr>
              <a:t>，则次态为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01</a:t>
            </a:r>
            <a:r>
              <a:rPr lang="zh-CN" sz="2000" b="1">
                <a:gradFill>
                  <a:gsLst>
                    <a:gs pos="0">
                      <a:srgbClr val="012D86"/>
                    </a:gs>
                    <a:gs pos="100000">
                      <a:srgbClr val="0E2557"/>
                    </a:gs>
                  </a:gsLst>
                  <a:lin scaled="0"/>
                </a:gradFill>
                <a:ea typeface="宋体" panose="02010600030101010101" pitchFamily="2" charset="-122"/>
              </a:rPr>
              <a:t>，电路能自动进入有效循环中，具有自启动能力。但从输出来看，电路在无效状态</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10</a:t>
            </a:r>
            <a:r>
              <a:rPr lang="zh-CN" sz="2000" b="1">
                <a:gradFill>
                  <a:gsLst>
                    <a:gs pos="0">
                      <a:srgbClr val="012D86"/>
                    </a:gs>
                    <a:gs pos="100000">
                      <a:srgbClr val="0E2557"/>
                    </a:gs>
                  </a:gsLst>
                  <a:lin scaled="0"/>
                </a:gradFill>
                <a:ea typeface="宋体" panose="02010600030101010101" pitchFamily="2" charset="-122"/>
              </a:rPr>
              <a:t>时，</a:t>
            </a:r>
            <a:r>
              <a:rPr lang="zh-CN" sz="2000" b="1">
                <a:gradFill>
                  <a:gsLst>
                    <a:gs pos="0">
                      <a:srgbClr val="012D86"/>
                    </a:gs>
                    <a:gs pos="100000">
                      <a:srgbClr val="0E2557"/>
                    </a:gs>
                  </a:gsLst>
                  <a:lin scaled="0"/>
                </a:gradFill>
                <a:latin typeface="Times New Roman" panose="02020603050405020304" charset="0"/>
                <a:ea typeface="宋体" panose="02010600030101010101" pitchFamily="2" charset="-122"/>
              </a:rPr>
              <a:t>若输入</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X</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000" b="1">
                <a:gradFill>
                  <a:gsLst>
                    <a:gs pos="0">
                      <a:srgbClr val="012D86"/>
                    </a:gs>
                    <a:gs pos="100000">
                      <a:srgbClr val="0E2557"/>
                    </a:gs>
                  </a:gsLst>
                  <a:lin scaled="0"/>
                </a:gradFill>
                <a:ea typeface="宋体" panose="02010600030101010101" pitchFamily="2" charset="-122"/>
              </a:rPr>
              <a:t>，次态为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01</a:t>
            </a:r>
            <a:r>
              <a:rPr lang="zh-CN" sz="2000" b="1">
                <a:gradFill>
                  <a:gsLst>
                    <a:gs pos="0">
                      <a:srgbClr val="012D86"/>
                    </a:gs>
                    <a:gs pos="100000">
                      <a:srgbClr val="0E2557"/>
                    </a:gs>
                  </a:gsLst>
                  <a:lin scaled="0"/>
                </a:gradFill>
                <a:ea typeface="宋体" panose="02010600030101010101" pitchFamily="2" charset="-122"/>
              </a:rPr>
              <a:t>，</a:t>
            </a:r>
            <a:r>
              <a:rPr lang="zh-CN" sz="2000" b="1">
                <a:gradFill>
                  <a:gsLst>
                    <a:gs pos="0">
                      <a:srgbClr val="012D86"/>
                    </a:gs>
                    <a:gs pos="100000">
                      <a:srgbClr val="0E2557"/>
                    </a:gs>
                  </a:gsLst>
                  <a:lin scaled="0"/>
                </a:gradFill>
                <a:latin typeface="Times New Roman" panose="02020603050405020304" charset="0"/>
                <a:ea typeface="宋体" panose="02010600030101010101" pitchFamily="2" charset="-122"/>
              </a:rPr>
              <a:t>而</a:t>
            </a:r>
            <a:r>
              <a:rPr lang="zh-CN" sz="2000" b="1">
                <a:gradFill>
                  <a:gsLst>
                    <a:gs pos="0">
                      <a:srgbClr val="012D86"/>
                    </a:gs>
                    <a:gs pos="100000">
                      <a:srgbClr val="0E2557"/>
                    </a:gs>
                  </a:gsLst>
                  <a:lin scaled="0"/>
                </a:gradFill>
                <a:ea typeface="宋体" panose="02010600030101010101" pitchFamily="2" charset="-122"/>
              </a:rPr>
              <a:t>输出</a:t>
            </a:r>
            <a:r>
              <a:rPr lang="zh-CN" sz="2000" b="1">
                <a:gradFill>
                  <a:gsLst>
                    <a:gs pos="0">
                      <a:srgbClr val="012D86"/>
                    </a:gs>
                    <a:gs pos="100000">
                      <a:srgbClr val="0E2557"/>
                    </a:gs>
                  </a:gsLst>
                  <a:lin scaled="0"/>
                </a:gradFill>
                <a:latin typeface="Times New Roman" panose="02020603050405020304" charset="0"/>
                <a:ea typeface="宋体" panose="02010600030101010101" pitchFamily="2" charset="-122"/>
              </a:rPr>
              <a:t>出现了</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Y</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000" b="1">
                <a:gradFill>
                  <a:gsLst>
                    <a:gs pos="0">
                      <a:srgbClr val="012D86"/>
                    </a:gs>
                    <a:gs pos="100000">
                      <a:srgbClr val="0E2557"/>
                    </a:gs>
                  </a:gsLst>
                  <a:lin scaled="0"/>
                </a:gradFill>
                <a:latin typeface="Times New Roman" panose="02020603050405020304" charset="0"/>
                <a:ea typeface="宋体" panose="02010600030101010101" pitchFamily="2" charset="-122"/>
              </a:rPr>
              <a:t>的错误情况</a:t>
            </a:r>
            <a:r>
              <a:rPr lang="zh-CN" sz="2000" b="1">
                <a:gradFill>
                  <a:gsLst>
                    <a:gs pos="0">
                      <a:srgbClr val="012D86"/>
                    </a:gs>
                    <a:gs pos="100000">
                      <a:srgbClr val="0E2557"/>
                    </a:gs>
                  </a:gsLst>
                  <a:lin scaled="0"/>
                </a:gradFill>
                <a:ea typeface="宋体" panose="02010600030101010101" pitchFamily="2" charset="-122"/>
              </a:rPr>
              <a:t>。因此，需要对输出方程</a:t>
            </a:r>
            <a:r>
              <a:rPr lang="zh-CN" sz="2000" b="1">
                <a:gradFill>
                  <a:gsLst>
                    <a:gs pos="0">
                      <a:srgbClr val="012D86"/>
                    </a:gs>
                    <a:gs pos="100000">
                      <a:srgbClr val="0E2557"/>
                    </a:gs>
                  </a:gsLst>
                  <a:lin scaled="0"/>
                </a:gradFill>
                <a:latin typeface="Times New Roman" panose="02020603050405020304" charset="0"/>
                <a:ea typeface="宋体" panose="02010600030101010101" pitchFamily="2" charset="-122"/>
              </a:rPr>
              <a:t>进行</a:t>
            </a:r>
            <a:r>
              <a:rPr lang="zh-CN" sz="2000" b="1">
                <a:gradFill>
                  <a:gsLst>
                    <a:gs pos="0">
                      <a:srgbClr val="012D86"/>
                    </a:gs>
                    <a:gs pos="100000">
                      <a:srgbClr val="0E2557"/>
                    </a:gs>
                  </a:gsLst>
                  <a:lin scaled="0"/>
                </a:gradFill>
                <a:ea typeface="宋体" panose="02010600030101010101" pitchFamily="2" charset="-122"/>
              </a:rPr>
              <a:t>适当的修改，方法是将图</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6-</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19</a:t>
            </a:r>
            <a:r>
              <a:rPr lang="zh-CN" sz="2000" b="1">
                <a:gradFill>
                  <a:gsLst>
                    <a:gs pos="0">
                      <a:srgbClr val="012D86"/>
                    </a:gs>
                    <a:gs pos="100000">
                      <a:srgbClr val="0E2557"/>
                    </a:gs>
                  </a:gsLst>
                  <a:lin scaled="0"/>
                </a:gradFill>
                <a:ea typeface="宋体" panose="02010600030101010101" pitchFamily="2" charset="-122"/>
              </a:rPr>
              <a:t>中输出卡诺图</a:t>
            </a:r>
            <a:r>
              <a:rPr lang="zh-CN" sz="2000" b="1">
                <a:gradFill>
                  <a:gsLst>
                    <a:gs pos="0">
                      <a:srgbClr val="012D86"/>
                    </a:gs>
                    <a:gs pos="100000">
                      <a:srgbClr val="0E2557"/>
                    </a:gs>
                  </a:gsLst>
                  <a:lin scaled="0"/>
                </a:gradFill>
                <a:latin typeface="Times New Roman" panose="02020603050405020304" charset="0"/>
                <a:ea typeface="宋体" panose="02010600030101010101" pitchFamily="2" charset="-122"/>
              </a:rPr>
              <a:t>中</a:t>
            </a:r>
            <a:r>
              <a:rPr lang="zh-CN" sz="2000" b="1">
                <a:gradFill>
                  <a:gsLst>
                    <a:gs pos="0">
                      <a:srgbClr val="012D86"/>
                    </a:gs>
                    <a:gs pos="100000">
                      <a:srgbClr val="0E2557"/>
                    </a:gs>
                  </a:gsLst>
                  <a:lin scaled="0"/>
                </a:gradFill>
                <a:ea typeface="宋体" panose="02010600030101010101" pitchFamily="2" charset="-122"/>
              </a:rPr>
              <a:t>无关项当</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000" b="1">
                <a:gradFill>
                  <a:gsLst>
                    <a:gs pos="0">
                      <a:srgbClr val="012D86"/>
                    </a:gs>
                    <a:gs pos="100000">
                      <a:srgbClr val="0E2557"/>
                    </a:gs>
                  </a:gsLst>
                  <a:lin scaled="0"/>
                </a:gradFill>
                <a:ea typeface="宋体" panose="02010600030101010101" pitchFamily="2" charset="-122"/>
              </a:rPr>
              <a:t>处理，</a:t>
            </a:r>
            <a:r>
              <a:rPr lang="zh-CN" sz="2000" b="1">
                <a:gradFill>
                  <a:gsLst>
                    <a:gs pos="0">
                      <a:srgbClr val="012D86"/>
                    </a:gs>
                    <a:gs pos="100000">
                      <a:srgbClr val="0E2557"/>
                    </a:gs>
                  </a:gsLst>
                  <a:lin scaled="0"/>
                </a:gradFill>
                <a:latin typeface="Times New Roman" panose="02020603050405020304" charset="0"/>
                <a:ea typeface="宋体" panose="02010600030101010101" pitchFamily="2" charset="-122"/>
              </a:rPr>
              <a:t>则</a:t>
            </a:r>
            <a:r>
              <a:rPr lang="zh-CN" sz="2000" b="1">
                <a:gradFill>
                  <a:gsLst>
                    <a:gs pos="0">
                      <a:srgbClr val="012D86"/>
                    </a:gs>
                    <a:gs pos="100000">
                      <a:srgbClr val="0E2557"/>
                    </a:gs>
                  </a:gsLst>
                  <a:lin scaled="0"/>
                </a:gradFill>
                <a:ea typeface="宋体" panose="02010600030101010101" pitchFamily="2" charset="-122"/>
              </a:rPr>
              <a:t>输出方程变为</a:t>
            </a:r>
            <a:endParaRPr lang="zh-CN" altLang="en-US" sz="2000" b="1">
              <a:gradFill>
                <a:gsLst>
                  <a:gs pos="0">
                    <a:srgbClr val="012D86"/>
                  </a:gs>
                  <a:gs pos="100000">
                    <a:srgbClr val="0E2557"/>
                  </a:gs>
                </a:gsLst>
                <a:lin scaled="0"/>
              </a:gradFill>
              <a:ea typeface="宋体" panose="02010600030101010101" pitchFamily="2" charset="-122"/>
            </a:endParaRPr>
          </a:p>
        </p:txBody>
      </p:sp>
      <p:pic>
        <p:nvPicPr>
          <p:cNvPr id="2" name="图片 1"/>
          <p:cNvPicPr/>
          <p:nvPr/>
        </p:nvPicPr>
        <p:blipFill>
          <a:blip r:embed="rId2"/>
          <a:stretch>
            <a:fillRect/>
          </a:stretch>
        </p:blipFill>
        <p:spPr>
          <a:xfrm>
            <a:off x="7568565" y="5869940"/>
            <a:ext cx="1118235" cy="336550"/>
          </a:xfrm>
          <a:prstGeom prst="rect">
            <a:avLst/>
          </a:prstGeom>
          <a:noFill/>
          <a:ln w="9525">
            <a:noFill/>
          </a:ln>
        </p:spPr>
      </p:pic>
      <p:sp>
        <p:nvSpPr>
          <p:cNvPr id="101" name="文本框 100"/>
          <p:cNvSpPr txBox="1"/>
          <p:nvPr/>
        </p:nvSpPr>
        <p:spPr>
          <a:xfrm>
            <a:off x="1000125" y="5973445"/>
            <a:ext cx="5080000" cy="252730"/>
          </a:xfrm>
          <a:prstGeom prst="rect">
            <a:avLst/>
          </a:prstGeom>
          <a:noFill/>
          <a:ln w="9525">
            <a:noFill/>
          </a:ln>
        </p:spPr>
        <p:txBody>
          <a:bodyPr>
            <a:spAutoFit/>
          </a:bodyPr>
          <a:p>
            <a:r>
              <a:rPr lang="zh-CN" sz="1050">
                <a:latin typeface="Times New Roman" panose="02020603050405020304" charset="0"/>
                <a:ea typeface="宋体" panose="02010600030101010101" pitchFamily="2" charset="-122"/>
              </a:rPr>
              <a:t>，</a:t>
            </a:r>
            <a:endParaRPr lang="zh-CN" altLang="en-US"/>
          </a:p>
        </p:txBody>
      </p:sp>
      <p:sp>
        <p:nvSpPr>
          <p:cNvPr id="5" name="文本框 4"/>
          <p:cNvSpPr txBox="1"/>
          <p:nvPr/>
        </p:nvSpPr>
        <p:spPr>
          <a:xfrm>
            <a:off x="3783330" y="4239260"/>
            <a:ext cx="2237105" cy="337185"/>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21 </a:t>
            </a:r>
            <a:r>
              <a:rPr lang="zh-CN" sz="1600">
                <a:ea typeface="宋体" panose="02010600030101010101" pitchFamily="2" charset="-122"/>
              </a:rPr>
              <a:t>例</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5</a:t>
            </a:r>
            <a:r>
              <a:rPr lang="zh-CN" sz="1600">
                <a:ea typeface="宋体" panose="02010600030101010101" pitchFamily="2" charset="-122"/>
              </a:rPr>
              <a:t>状态图</a:t>
            </a:r>
            <a:endParaRPr lang="zh-CN" altLang="en-US"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1253"/>
                                        </p:tgtEl>
                                        <p:attrNameLst>
                                          <p:attrName>style.visibility</p:attrName>
                                        </p:attrNameLst>
                                      </p:cBhvr>
                                      <p:to>
                                        <p:strVal val="visible"/>
                                      </p:to>
                                    </p:set>
                                    <p:animEffect transition="in" filter="blinds(horizontal)">
                                      <p:cBhvr>
                                        <p:cTn id="7" dur="500"/>
                                        <p:tgtEl>
                                          <p:spTgt spid="181253"/>
                                        </p:tgtEl>
                                      </p:cBhvr>
                                    </p:animEffect>
                                  </p:childTnLst>
                                </p:cTn>
                              </p:par>
                            </p:childTnLst>
                          </p:cTn>
                        </p:par>
                        <p:par>
                          <p:cTn id="8" fill="hold">
                            <p:stCondLst>
                              <p:cond delay="500"/>
                            </p:stCondLst>
                            <p:childTnLst>
                              <p:par>
                                <p:cTn id="9" presetID="1" presetClass="entr" presetSubtype="0" fill="hold" nodeType="afterEffect">
                                  <p:stCondLst>
                                    <p:cond delay="1000"/>
                                  </p:stCondLst>
                                  <p:childTnLst>
                                    <p:set>
                                      <p:cBhvr>
                                        <p:cTn id="10" dur="1" fill="hold">
                                          <p:stCondLst>
                                            <p:cond delay="0"/>
                                          </p:stCondLst>
                                        </p:cTn>
                                        <p:tgtEl>
                                          <p:spTgt spid="9387"/>
                                        </p:tgtEl>
                                        <p:attrNameLst>
                                          <p:attrName>style.visibility</p:attrName>
                                        </p:attrNameLst>
                                      </p:cBhvr>
                                      <p:to>
                                        <p:strVal val="visible"/>
                                      </p:to>
                                    </p:set>
                                  </p:childTnLst>
                                </p:cTn>
                              </p:par>
                            </p:childTnLst>
                          </p:cTn>
                        </p:par>
                        <p:par>
                          <p:cTn id="11" fill="hold">
                            <p:stCondLst>
                              <p:cond delay="1500"/>
                            </p:stCondLst>
                            <p:childTnLst>
                              <p:par>
                                <p:cTn id="12" presetID="1"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00"/>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300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3" grpId="0"/>
      <p:bldP spid="5" grpId="0"/>
      <p:bldP spid="10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906145" y="955675"/>
            <a:ext cx="6847205" cy="868045"/>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6</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4</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1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sym typeface="+mn-ea"/>
              </a:rPr>
              <a:t>计数器的概念及分类</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sym typeface="+mn-ea"/>
            </a:endParaRPr>
          </a:p>
        </p:txBody>
      </p:sp>
      <p:sp>
        <p:nvSpPr>
          <p:cNvPr id="111622" name="Text Box 6"/>
          <p:cNvSpPr txBox="1">
            <a:spLocks noChangeArrowheads="1"/>
          </p:cNvSpPr>
          <p:nvPr/>
        </p:nvSpPr>
        <p:spPr bwMode="auto">
          <a:xfrm>
            <a:off x="1052830" y="2129155"/>
            <a:ext cx="784860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scene3d>
              <a:camera prst="orthographicFront"/>
              <a:lightRig rig="threePt" dir="t"/>
            </a:scene3d>
          </a:bodyPr>
          <a:p>
            <a:pPr marR="0" defTabSz="914400">
              <a:spcBef>
                <a:spcPct val="50000"/>
              </a:spcBef>
              <a:buClr>
                <a:srgbClr val="FF9900"/>
              </a:buClr>
              <a:buSzPct val="70000"/>
              <a:buFont typeface="Wingdings" panose="05000000000000000000" pitchFamily="2" charset="2"/>
              <a:buChar char="n"/>
              <a:defRPr/>
            </a:pPr>
            <a:r>
              <a:rPr kumimoji="0" lang="en-US" altLang="zh-CN" sz="3200" kern="1200" cap="none" spc="0" normalizeH="0" baseline="0" noProof="0" smtClean="0">
                <a:effectLst>
                  <a:outerShdw blurRad="38100" dist="38100" dir="2700000" algn="tl">
                    <a:srgbClr val="FFFFFF"/>
                  </a:outerShdw>
                </a:effectLst>
                <a:latin typeface="Arial" panose="020B0604020202020204" pitchFamily="34" charset="0"/>
                <a:ea typeface="宋体" panose="02010600030101010101" pitchFamily="2" charset="-122"/>
                <a:cs typeface="+mn-cs"/>
              </a:rPr>
              <a:t> </a:t>
            </a:r>
            <a:r>
              <a:rPr kumimoji="0" lang="zh-CN" altLang="en-US" sz="2400" kern="1200" cap="none" spc="0" normalizeH="0" baseline="0" noProof="0" smtClean="0">
                <a:effectLst>
                  <a:outerShdw blurRad="38100" dist="19050" dir="2700000" algn="tl" rotWithShape="0">
                    <a:schemeClr val="dk1">
                      <a:alpha val="40000"/>
                    </a:schemeClr>
                  </a:outerShdw>
                </a:effectLst>
                <a:latin typeface="Arial" panose="020B0604020202020204" pitchFamily="34" charset="0"/>
                <a:ea typeface="宋体" panose="02010600030101010101" pitchFamily="2" charset="-122"/>
                <a:cs typeface="+mn-cs"/>
              </a:rPr>
              <a:t>功能</a:t>
            </a:r>
            <a:endParaRPr kumimoji="0" lang="zh-CN" altLang="en-US" sz="2400" kern="1200" cap="none" spc="0" normalizeH="0" baseline="0" noProof="0" smtClean="0">
              <a:effectLst>
                <a:outerShdw blurRad="38100" dist="19050" dir="2700000" algn="tl" rotWithShape="0">
                  <a:schemeClr val="dk1">
                    <a:alpha val="40000"/>
                  </a:schemeClr>
                </a:outerShdw>
              </a:effectLst>
              <a:latin typeface="Arial" panose="020B0604020202020204" pitchFamily="34" charset="0"/>
              <a:ea typeface="宋体" panose="02010600030101010101" pitchFamily="2" charset="-122"/>
              <a:cs typeface="+mn-cs"/>
            </a:endParaRPr>
          </a:p>
        </p:txBody>
      </p:sp>
      <p:sp>
        <p:nvSpPr>
          <p:cNvPr id="111623" name="Text Box 7"/>
          <p:cNvSpPr txBox="1">
            <a:spLocks noChangeArrowheads="1"/>
          </p:cNvSpPr>
          <p:nvPr/>
        </p:nvSpPr>
        <p:spPr bwMode="auto">
          <a:xfrm>
            <a:off x="1633538" y="2596515"/>
            <a:ext cx="741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
                <a:srgbClr val="FF00FF"/>
              </a:buClr>
              <a:buSzPct val="80000"/>
              <a:buFont typeface="Wingdings" panose="05000000000000000000" pitchFamily="2" charset="2"/>
              <a:buChar char="n"/>
              <a:defRPr/>
            </a:pPr>
            <a:r>
              <a:rPr kumimoji="0" lang="en-US" altLang="zh-CN" sz="2400" kern="1200" cap="none" spc="0" normalizeH="0" baseline="0" noProof="0" smtClean="0">
                <a:effectLst>
                  <a:outerShdw blurRad="38100" dist="38100" dir="2700000" algn="tl">
                    <a:srgbClr val="FFFFFF"/>
                  </a:outerShdw>
                </a:effectLst>
                <a:latin typeface="Arial" panose="020B0604020202020204" pitchFamily="34" charset="0"/>
                <a:ea typeface="宋体" panose="02010600030101010101" pitchFamily="2" charset="-122"/>
                <a:cs typeface="+mn-cs"/>
              </a:rPr>
              <a:t> </a:t>
            </a:r>
            <a:r>
              <a:rPr kumimoji="0" lang="zh-CN" altLang="en-US" sz="2400" kern="1200" cap="none" spc="0" normalizeH="0" baseline="0" noProof="0" smtClean="0">
                <a:effectLst>
                  <a:outerShdw blurRad="38100" dist="38100" dir="2700000" algn="tl">
                    <a:srgbClr val="FFFFFF"/>
                  </a:outerShdw>
                </a:effectLst>
                <a:latin typeface="Arial" panose="020B0604020202020204" pitchFamily="34" charset="0"/>
                <a:ea typeface="宋体" panose="02010600030101010101" pitchFamily="2" charset="-122"/>
                <a:cs typeface="+mn-cs"/>
              </a:rPr>
              <a:t>计数、分频、定时、产生节拍脉冲和脉冲序</a:t>
            </a:r>
            <a:endParaRPr kumimoji="0" lang="zh-CN" altLang="en-US" sz="2400" kern="1200" cap="none" spc="0" normalizeH="0" baseline="0" noProof="0" smtClean="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111624" name="Text Box 8"/>
          <p:cNvSpPr txBox="1">
            <a:spLocks noChangeArrowheads="1"/>
          </p:cNvSpPr>
          <p:nvPr/>
        </p:nvSpPr>
        <p:spPr bwMode="auto">
          <a:xfrm>
            <a:off x="971550" y="3646488"/>
            <a:ext cx="784860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
                <a:srgbClr val="FF9900"/>
              </a:buClr>
              <a:buSzPct val="70000"/>
              <a:buFont typeface="Wingdings" panose="05000000000000000000" pitchFamily="2" charset="2"/>
              <a:buChar char="n"/>
              <a:defRPr/>
            </a:pPr>
            <a:r>
              <a:rPr kumimoji="0" lang="en-US" altLang="zh-CN" sz="3200" kern="1200" cap="none" spc="0" normalizeH="0" baseline="0" noProof="0" smtClean="0">
                <a:effectLst>
                  <a:outerShdw blurRad="38100" dist="38100" dir="2700000" algn="tl">
                    <a:srgbClr val="FFFFFF"/>
                  </a:outerShdw>
                </a:effectLst>
                <a:latin typeface="Arial" panose="020B0604020202020204" pitchFamily="34" charset="0"/>
                <a:ea typeface="宋体" panose="02010600030101010101" pitchFamily="2" charset="-122"/>
                <a:cs typeface="+mn-cs"/>
              </a:rPr>
              <a:t> </a:t>
            </a:r>
            <a:r>
              <a:rPr kumimoji="0" lang="zh-CN" altLang="en-US" sz="2400" kern="1200" cap="none" spc="0" normalizeH="0" baseline="0" noProof="0" smtClean="0">
                <a:effectLst>
                  <a:outerShdw blurRad="38100" dist="19050" dir="2700000" algn="tl" rotWithShape="0">
                    <a:schemeClr val="dk1">
                      <a:alpha val="40000"/>
                    </a:schemeClr>
                  </a:outerShdw>
                </a:effectLst>
                <a:latin typeface="Arial" panose="020B0604020202020204" pitchFamily="34" charset="0"/>
                <a:ea typeface="宋体" panose="02010600030101010101" pitchFamily="2" charset="-122"/>
                <a:cs typeface="+mn-cs"/>
              </a:rPr>
              <a:t>分类</a:t>
            </a:r>
            <a:endParaRPr kumimoji="0" lang="zh-CN" altLang="en-US" sz="2400" kern="1200" cap="none" spc="0" normalizeH="0" baseline="0" noProof="0" smtClean="0">
              <a:effectLst>
                <a:outerShdw blurRad="38100" dist="19050" dir="2700000" algn="tl" rotWithShape="0">
                  <a:schemeClr val="dk1">
                    <a:alpha val="40000"/>
                  </a:schemeClr>
                </a:outerShdw>
              </a:effectLst>
              <a:latin typeface="Arial" panose="020B0604020202020204" pitchFamily="34" charset="0"/>
              <a:ea typeface="宋体" panose="02010600030101010101" pitchFamily="2" charset="-122"/>
              <a:cs typeface="+mn-cs"/>
            </a:endParaRPr>
          </a:p>
        </p:txBody>
      </p:sp>
      <p:sp>
        <p:nvSpPr>
          <p:cNvPr id="111625" name="Text Box 9"/>
          <p:cNvSpPr txBox="1">
            <a:spLocks noChangeArrowheads="1"/>
          </p:cNvSpPr>
          <p:nvPr/>
        </p:nvSpPr>
        <p:spPr bwMode="auto">
          <a:xfrm>
            <a:off x="1693863" y="4332923"/>
            <a:ext cx="5472113"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
                <a:srgbClr val="FF00FF"/>
              </a:buClr>
              <a:buSzPct val="80000"/>
              <a:buFont typeface="Wingdings" panose="05000000000000000000" pitchFamily="2" charset="2"/>
              <a:buChar char="n"/>
              <a:defRPr/>
            </a:pPr>
            <a:r>
              <a:rPr kumimoji="0" lang="en-US" altLang="zh-CN" sz="2400" kern="1200" cap="none" spc="0" normalizeH="0" baseline="0" noProof="0" smtClean="0">
                <a:effectLst>
                  <a:outerShdw blurRad="38100" dist="38100" dir="2700000" algn="tl">
                    <a:srgbClr val="FFFFFF"/>
                  </a:outerShdw>
                </a:effectLst>
                <a:latin typeface="Arial" panose="020B0604020202020204" pitchFamily="34" charset="0"/>
                <a:ea typeface="宋体" panose="02010600030101010101" pitchFamily="2" charset="-122"/>
                <a:cs typeface="+mn-cs"/>
              </a:rPr>
              <a:t> </a:t>
            </a:r>
            <a:r>
              <a:rPr kumimoji="0" lang="zh-CN" altLang="en-US" sz="2400" kern="1200" cap="none" spc="0" normalizeH="0" baseline="0" noProof="0" smtClean="0">
                <a:effectLst>
                  <a:outerShdw blurRad="38100" dist="38100" dir="2700000" algn="tl">
                    <a:srgbClr val="FFFFFF"/>
                  </a:outerShdw>
                </a:effectLst>
                <a:latin typeface="Arial" panose="020B0604020202020204" pitchFamily="34" charset="0"/>
                <a:ea typeface="宋体" panose="02010600030101010101" pitchFamily="2" charset="-122"/>
                <a:cs typeface="+mn-cs"/>
              </a:rPr>
              <a:t>同步、异步</a:t>
            </a:r>
            <a:endParaRPr kumimoji="0" lang="zh-CN" altLang="en-US" sz="2400" kern="1200" cap="none" spc="0" normalizeH="0" baseline="0" noProof="0" smtClean="0">
              <a:effectLst>
                <a:outerShdw blurRad="38100" dist="38100" dir="2700000" algn="tl">
                  <a:srgbClr val="FFFFFF"/>
                </a:outerShdw>
              </a:effectLst>
              <a:latin typeface="Arial" panose="020B0604020202020204" pitchFamily="34" charset="0"/>
              <a:ea typeface="宋体" panose="02010600030101010101" pitchFamily="2" charset="-122"/>
              <a:cs typeface="+mn-cs"/>
            </a:endParaRPr>
          </a:p>
          <a:p>
            <a:pPr marR="0" defTabSz="914400">
              <a:spcBef>
                <a:spcPct val="50000"/>
              </a:spcBef>
              <a:buClr>
                <a:srgbClr val="FF00FF"/>
              </a:buClr>
              <a:buSzPct val="80000"/>
              <a:buFont typeface="Wingdings" panose="05000000000000000000" pitchFamily="2" charset="2"/>
              <a:buChar char="n"/>
              <a:defRPr/>
            </a:pPr>
            <a:r>
              <a:rPr kumimoji="0" lang="zh-CN" altLang="en-US" sz="2400" kern="1200" cap="none" spc="0" normalizeH="0" baseline="0" noProof="0" smtClean="0">
                <a:effectLst>
                  <a:outerShdw blurRad="38100" dist="38100" dir="2700000" algn="tl">
                    <a:srgbClr val="FFFFFF"/>
                  </a:outerShdw>
                </a:effectLst>
                <a:latin typeface="Arial" panose="020B0604020202020204" pitchFamily="34" charset="0"/>
                <a:ea typeface="宋体" panose="02010600030101010101" pitchFamily="2" charset="-122"/>
                <a:cs typeface="+mn-cs"/>
              </a:rPr>
              <a:t> 加法、减法、可逆</a:t>
            </a:r>
            <a:endParaRPr kumimoji="0" lang="zh-CN" altLang="en-US" sz="2400" kern="1200" cap="none" spc="0" normalizeH="0" baseline="0" noProof="0" smtClean="0">
              <a:effectLst>
                <a:outerShdw blurRad="38100" dist="38100" dir="2700000" algn="tl">
                  <a:srgbClr val="FFFFFF"/>
                </a:outerShdw>
              </a:effectLst>
              <a:latin typeface="Arial" panose="020B0604020202020204" pitchFamily="34" charset="0"/>
              <a:ea typeface="宋体" panose="02010600030101010101" pitchFamily="2" charset="-122"/>
              <a:cs typeface="+mn-cs"/>
            </a:endParaRPr>
          </a:p>
          <a:p>
            <a:pPr marR="0" defTabSz="914400">
              <a:spcBef>
                <a:spcPct val="50000"/>
              </a:spcBef>
              <a:buClr>
                <a:srgbClr val="FF00FF"/>
              </a:buClr>
              <a:buSzPct val="80000"/>
              <a:buFont typeface="Wingdings" panose="05000000000000000000" pitchFamily="2" charset="2"/>
              <a:buChar char="n"/>
              <a:defRPr/>
            </a:pPr>
            <a:r>
              <a:rPr kumimoji="0" lang="zh-CN" altLang="en-US" sz="2400" kern="1200" cap="none" spc="0" normalizeH="0" baseline="0" noProof="0" smtClean="0">
                <a:effectLst>
                  <a:outerShdw blurRad="38100" dist="38100" dir="2700000" algn="tl">
                    <a:srgbClr val="FFFFFF"/>
                  </a:outerShdw>
                </a:effectLst>
                <a:latin typeface="Arial" panose="020B0604020202020204" pitchFamily="34" charset="0"/>
                <a:ea typeface="宋体" panose="02010600030101010101" pitchFamily="2" charset="-122"/>
                <a:cs typeface="+mn-cs"/>
              </a:rPr>
              <a:t> 二进码、</a:t>
            </a:r>
            <a:r>
              <a:rPr kumimoji="0" lang="en-US" altLang="zh-CN" sz="2400" kern="1200" cap="none" spc="0" normalizeH="0" baseline="0" noProof="0" smtClean="0">
                <a:effectLst>
                  <a:outerShdw blurRad="38100" dist="38100" dir="2700000" algn="tl">
                    <a:srgbClr val="FFFFFF"/>
                  </a:outerShdw>
                </a:effectLst>
                <a:latin typeface="Arial" panose="020B0604020202020204" pitchFamily="34" charset="0"/>
                <a:ea typeface="宋体" panose="02010600030101010101" pitchFamily="2" charset="-122"/>
                <a:cs typeface="+mn-cs"/>
              </a:rPr>
              <a:t>BCD</a:t>
            </a:r>
            <a:r>
              <a:rPr kumimoji="0" lang="zh-CN" altLang="en-US" sz="2400" kern="1200" cap="none" spc="0" normalizeH="0" baseline="0" noProof="0" smtClean="0">
                <a:effectLst>
                  <a:outerShdw blurRad="38100" dist="38100" dir="2700000" algn="tl">
                    <a:srgbClr val="FFFFFF"/>
                  </a:outerShdw>
                </a:effectLst>
                <a:latin typeface="Arial" panose="020B0604020202020204" pitchFamily="34" charset="0"/>
                <a:ea typeface="宋体" panose="02010600030101010101" pitchFamily="2" charset="-122"/>
                <a:cs typeface="+mn-cs"/>
              </a:rPr>
              <a:t>码、任意进制</a:t>
            </a:r>
            <a:endParaRPr kumimoji="0" lang="zh-CN" altLang="en-US" sz="2400" kern="1200" cap="none" spc="0" normalizeH="0" baseline="0" noProof="0" smtClean="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111630" name="Text Box 14"/>
          <p:cNvSpPr txBox="1">
            <a:spLocks noChangeArrowheads="1"/>
          </p:cNvSpPr>
          <p:nvPr/>
        </p:nvSpPr>
        <p:spPr bwMode="auto">
          <a:xfrm>
            <a:off x="1916113" y="3121660"/>
            <a:ext cx="741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
                <a:srgbClr val="FF00FF"/>
              </a:buClr>
              <a:buSzTx/>
              <a:buFont typeface="Wingdings" panose="05000000000000000000" pitchFamily="2" charset="2"/>
              <a:defRPr/>
            </a:pPr>
            <a:r>
              <a:rPr kumimoji="0" lang="zh-CN" altLang="en-US" sz="2400" kern="1200" cap="none" spc="0" normalizeH="0" baseline="0" noProof="0" smtClean="0">
                <a:effectLst>
                  <a:outerShdw blurRad="38100" dist="38100" dir="2700000" algn="tl">
                    <a:srgbClr val="FFFFFF"/>
                  </a:outerShdw>
                </a:effectLst>
                <a:latin typeface="Arial" panose="020B0604020202020204" pitchFamily="34" charset="0"/>
                <a:ea typeface="宋体" panose="02010600030101010101" pitchFamily="2" charset="-122"/>
                <a:cs typeface="+mn-cs"/>
              </a:rPr>
              <a:t>列、数字运算</a:t>
            </a:r>
            <a:endParaRPr kumimoji="0" lang="zh-CN" altLang="en-US" sz="2400" kern="1200" cap="none" spc="0" normalizeH="0" baseline="0" noProof="0" smtClean="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2" name="文本框 1"/>
          <p:cNvSpPr txBox="1"/>
          <p:nvPr/>
        </p:nvSpPr>
        <p:spPr>
          <a:xfrm>
            <a:off x="1052830" y="1668780"/>
            <a:ext cx="7529830"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统计时钟脉冲个数的逻辑电路称为计数器</a:t>
            </a:r>
            <a:endParaRPr lang="zh-CN" altLang="en-US" sz="2400" b="1">
              <a:gradFill>
                <a:gsLst>
                  <a:gs pos="0">
                    <a:srgbClr val="012D86"/>
                  </a:gs>
                  <a:gs pos="100000">
                    <a:srgbClr val="0E2557"/>
                  </a:gs>
                </a:gsLst>
                <a:lin scaled="0"/>
              </a:gra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2000"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1162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1623"/>
                                        </p:tgtEl>
                                        <p:attrNameLst>
                                          <p:attrName>style.visibility</p:attrName>
                                        </p:attrNameLst>
                                      </p:cBhvr>
                                      <p:to>
                                        <p:strVal val="visible"/>
                                      </p:to>
                                    </p:set>
                                    <p:animEffect transition="in" filter="wipe(left)">
                                      <p:cBhvr>
                                        <p:cTn id="16" dur="500"/>
                                        <p:tgtEl>
                                          <p:spTgt spid="111623"/>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11630"/>
                                        </p:tgtEl>
                                        <p:attrNameLst>
                                          <p:attrName>style.visibility</p:attrName>
                                        </p:attrNameLst>
                                      </p:cBhvr>
                                      <p:to>
                                        <p:strVal val="visible"/>
                                      </p:to>
                                    </p:set>
                                    <p:animEffect transition="in" filter="wipe(left)">
                                      <p:cBhvr>
                                        <p:cTn id="20" dur="500"/>
                                        <p:tgtEl>
                                          <p:spTgt spid="111630"/>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16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11625">
                                            <p:bg/>
                                          </p:spTgt>
                                        </p:tgtEl>
                                        <p:attrNameLst>
                                          <p:attrName>style.visibility</p:attrName>
                                        </p:attrNameLst>
                                      </p:cBhvr>
                                      <p:to>
                                        <p:strVal val="visible"/>
                                      </p:to>
                                    </p:set>
                                    <p:animEffect transition="in" filter="wipe(left)">
                                      <p:cBhvr>
                                        <p:cTn id="29" dur="500"/>
                                        <p:tgtEl>
                                          <p:spTgt spid="111625">
                                            <p:bg/>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11625">
                                            <p:txEl>
                                              <p:pRg st="0" end="0"/>
                                            </p:txEl>
                                          </p:spTgt>
                                        </p:tgtEl>
                                        <p:attrNameLst>
                                          <p:attrName>style.visibility</p:attrName>
                                        </p:attrNameLst>
                                      </p:cBhvr>
                                      <p:to>
                                        <p:strVal val="visible"/>
                                      </p:to>
                                    </p:set>
                                    <p:animEffect transition="in" filter="wipe(left)">
                                      <p:cBhvr>
                                        <p:cTn id="34" dur="500"/>
                                        <p:tgtEl>
                                          <p:spTgt spid="111625">
                                            <p:txEl>
                                              <p:pRg st="0" end="0"/>
                                            </p:txEl>
                                          </p:spTgt>
                                        </p:tgtEl>
                                      </p:cBhvr>
                                    </p:animEffect>
                                  </p:childTnLst>
                                </p:cTn>
                              </p:par>
                            </p:childTnLst>
                          </p:cTn>
                        </p:par>
                        <p:par>
                          <p:cTn id="35" fill="hold">
                            <p:stCondLst>
                              <p:cond delay="500"/>
                            </p:stCondLst>
                            <p:childTnLst>
                              <p:par>
                                <p:cTn id="36" presetID="22" presetClass="entr" presetSubtype="8" fill="hold" grpId="0" nodeType="afterEffect">
                                  <p:stCondLst>
                                    <p:cond delay="500"/>
                                  </p:stCondLst>
                                  <p:childTnLst>
                                    <p:set>
                                      <p:cBhvr>
                                        <p:cTn id="37" dur="1" fill="hold">
                                          <p:stCondLst>
                                            <p:cond delay="0"/>
                                          </p:stCondLst>
                                        </p:cTn>
                                        <p:tgtEl>
                                          <p:spTgt spid="111625">
                                            <p:txEl>
                                              <p:pRg st="1" end="1"/>
                                            </p:txEl>
                                          </p:spTgt>
                                        </p:tgtEl>
                                        <p:attrNameLst>
                                          <p:attrName>style.visibility</p:attrName>
                                        </p:attrNameLst>
                                      </p:cBhvr>
                                      <p:to>
                                        <p:strVal val="visible"/>
                                      </p:to>
                                    </p:set>
                                    <p:animEffect transition="in" filter="wipe(left)">
                                      <p:cBhvr>
                                        <p:cTn id="38" dur="500"/>
                                        <p:tgtEl>
                                          <p:spTgt spid="111625">
                                            <p:txEl>
                                              <p:pRg st="1" end="1"/>
                                            </p:txEl>
                                          </p:spTgt>
                                        </p:tgtEl>
                                      </p:cBhvr>
                                    </p:animEffect>
                                  </p:childTnLst>
                                </p:cTn>
                              </p:par>
                            </p:childTnLst>
                          </p:cTn>
                        </p:par>
                        <p:par>
                          <p:cTn id="39" fill="hold">
                            <p:stCondLst>
                              <p:cond delay="1500"/>
                            </p:stCondLst>
                            <p:childTnLst>
                              <p:par>
                                <p:cTn id="40" presetID="22" presetClass="entr" presetSubtype="8" fill="hold" grpId="0" nodeType="afterEffect">
                                  <p:stCondLst>
                                    <p:cond delay="500"/>
                                  </p:stCondLst>
                                  <p:childTnLst>
                                    <p:set>
                                      <p:cBhvr>
                                        <p:cTn id="41" dur="1" fill="hold">
                                          <p:stCondLst>
                                            <p:cond delay="0"/>
                                          </p:stCondLst>
                                        </p:cTn>
                                        <p:tgtEl>
                                          <p:spTgt spid="111625">
                                            <p:txEl>
                                              <p:pRg st="2" end="2"/>
                                            </p:txEl>
                                          </p:spTgt>
                                        </p:tgtEl>
                                        <p:attrNameLst>
                                          <p:attrName>style.visibility</p:attrName>
                                        </p:attrNameLst>
                                      </p:cBhvr>
                                      <p:to>
                                        <p:strVal val="visible"/>
                                      </p:to>
                                    </p:set>
                                    <p:animEffect transition="in" filter="wipe(left)">
                                      <p:cBhvr>
                                        <p:cTn id="42" dur="500"/>
                                        <p:tgtEl>
                                          <p:spTgt spid="1116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1622" grpId="0" animBg="1"/>
      <p:bldP spid="111623" grpId="0" animBg="1"/>
      <p:bldP spid="111630" grpId="0" animBg="1"/>
      <p:bldP spid="111624" grpId="0" animBg="1"/>
      <p:bldP spid="111625" grpId="0" animBg="1"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906145" y="955675"/>
            <a:ext cx="6847205" cy="868045"/>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6</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4</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2</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 二进制计数器</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sym typeface="+mn-ea"/>
            </a:endParaRPr>
          </a:p>
        </p:txBody>
      </p:sp>
      <p:sp>
        <p:nvSpPr>
          <p:cNvPr id="101" name="文本框 100"/>
          <p:cNvSpPr txBox="1"/>
          <p:nvPr/>
        </p:nvSpPr>
        <p:spPr>
          <a:xfrm>
            <a:off x="609600" y="1581150"/>
            <a:ext cx="5080000" cy="460375"/>
          </a:xfrm>
          <a:prstGeom prst="rect">
            <a:avLst/>
          </a:prstGeom>
          <a:noFill/>
          <a:ln w="9525">
            <a:noFill/>
          </a:ln>
        </p:spPr>
        <p:txBody>
          <a:bodyPr>
            <a:spAutoFit/>
          </a:bodyPr>
          <a:p>
            <a:pPr indent="267970"/>
            <a:r>
              <a:rPr lang="en-US" sz="2400" b="1">
                <a:solidFill>
                  <a:schemeClr val="accent6">
                    <a:lumMod val="60000"/>
                    <a:lumOff val="40000"/>
                  </a:schemeClr>
                </a:solidFill>
                <a:latin typeface="Times New Roman" panose="02020603050405020304" charset="0"/>
                <a:ea typeface="宋体" panose="02010600030101010101" pitchFamily="2" charset="-122"/>
              </a:rPr>
              <a:t>1. </a:t>
            </a:r>
            <a:r>
              <a:rPr lang="zh-CN" sz="2400" b="1">
                <a:solidFill>
                  <a:schemeClr val="accent6">
                    <a:lumMod val="60000"/>
                    <a:lumOff val="40000"/>
                  </a:schemeClr>
                </a:solidFill>
                <a:ea typeface="宋体" panose="02010600030101010101" pitchFamily="2" charset="-122"/>
              </a:rPr>
              <a:t>异步二进制计数器</a:t>
            </a:r>
            <a:endParaRPr lang="zh-CN" altLang="en-US" sz="2400" b="1">
              <a:solidFill>
                <a:schemeClr val="accent6">
                  <a:lumMod val="60000"/>
                  <a:lumOff val="40000"/>
                </a:schemeClr>
              </a:solidFill>
              <a:ea typeface="宋体" panose="02010600030101010101" pitchFamily="2" charset="-122"/>
            </a:endParaRPr>
          </a:p>
        </p:txBody>
      </p:sp>
      <p:sp>
        <p:nvSpPr>
          <p:cNvPr id="2" name="文本框 1"/>
          <p:cNvSpPr txBox="1"/>
          <p:nvPr/>
        </p:nvSpPr>
        <p:spPr>
          <a:xfrm>
            <a:off x="838200" y="2041525"/>
            <a:ext cx="5080000" cy="460375"/>
          </a:xfrm>
          <a:prstGeom prst="rect">
            <a:avLst/>
          </a:prstGeom>
          <a:noFill/>
          <a:ln w="9525">
            <a:noFill/>
          </a:ln>
        </p:spPr>
        <p:txBody>
          <a:bodyPr>
            <a:spAutoFit/>
          </a:bodyPr>
          <a:p>
            <a:r>
              <a:rPr lang="en-US" altLang="zh-CN" sz="2400" b="1">
                <a:solidFill>
                  <a:schemeClr val="tx1"/>
                </a:solidFill>
                <a:ea typeface="宋体" panose="02010600030101010101" pitchFamily="2" charset="-122"/>
              </a:rPr>
              <a:t>(1)</a:t>
            </a:r>
            <a:r>
              <a:rPr lang="zh-CN" sz="2400" b="1">
                <a:solidFill>
                  <a:schemeClr val="tx1"/>
                </a:solidFill>
                <a:ea typeface="宋体" panose="02010600030101010101" pitchFamily="2" charset="-122"/>
              </a:rPr>
              <a:t>异步二进制加法计数器</a:t>
            </a:r>
            <a:endParaRPr lang="zh-CN" altLang="en-US" sz="2400" b="1">
              <a:solidFill>
                <a:schemeClr val="tx1"/>
              </a:solidFill>
              <a:ea typeface="宋体" panose="02010600030101010101" pitchFamily="2" charset="-122"/>
            </a:endParaRPr>
          </a:p>
        </p:txBody>
      </p:sp>
      <p:pic>
        <p:nvPicPr>
          <p:cNvPr id="9388" name="图片 2825"/>
          <p:cNvPicPr>
            <a:picLocks noChangeAspect="1"/>
          </p:cNvPicPr>
          <p:nvPr/>
        </p:nvPicPr>
        <p:blipFill>
          <a:blip r:embed="rId1"/>
          <a:stretch>
            <a:fillRect/>
          </a:stretch>
        </p:blipFill>
        <p:spPr>
          <a:xfrm>
            <a:off x="1353820" y="2413000"/>
            <a:ext cx="6588125" cy="1867535"/>
          </a:xfrm>
          <a:prstGeom prst="rect">
            <a:avLst/>
          </a:prstGeom>
          <a:noFill/>
          <a:ln>
            <a:noFill/>
          </a:ln>
        </p:spPr>
      </p:pic>
      <p:sp>
        <p:nvSpPr>
          <p:cNvPr id="170007" name="Rectangle 23"/>
          <p:cNvSpPr/>
          <p:nvPr/>
        </p:nvSpPr>
        <p:spPr>
          <a:xfrm>
            <a:off x="533400" y="4204335"/>
            <a:ext cx="6577965" cy="457200"/>
          </a:xfrm>
          <a:prstGeom prst="rect">
            <a:avLst/>
          </a:prstGeom>
          <a:noFill/>
          <a:ln w="9525">
            <a:noFill/>
          </a:ln>
        </p:spPr>
        <p:txBody>
          <a:bodyPr lIns="92075" tIns="46038" rIns="92075" bIns="46038"/>
          <a:p>
            <a:pPr marL="342900" indent="-342900">
              <a:lnSpc>
                <a:spcPct val="131000"/>
              </a:lnSpc>
              <a:spcBef>
                <a:spcPct val="20000"/>
              </a:spcBef>
            </a:pPr>
            <a:r>
              <a:rPr lang="zh-CN" altLang="en-US" sz="2400" b="1" dirty="0">
                <a:effectLst>
                  <a:outerShdw blurRad="38100" dist="38100" dir="2700000" algn="tl">
                    <a:srgbClr val="000000">
                      <a:alpha val="43137"/>
                    </a:srgbClr>
                  </a:outerShdw>
                </a:effectLst>
                <a:latin typeface="Arial" panose="020B0604020202020204" pitchFamily="34" charset="0"/>
              </a:rPr>
              <a:t>工作原理</a:t>
            </a:r>
            <a:r>
              <a:rPr lang="zh-CN" altLang="en-US" sz="2400" b="1" dirty="0">
                <a:latin typeface="Arial" panose="020B0604020202020204" pitchFamily="34" charset="0"/>
              </a:rPr>
              <a:t>：</a:t>
            </a:r>
            <a:r>
              <a:rPr lang="zh-CN" altLang="en-US" sz="2400" b="1" dirty="0">
                <a:latin typeface="Times New Roman" panose="02020603050405020304" charset="0"/>
              </a:rPr>
              <a:t> </a:t>
            </a:r>
            <a:r>
              <a:rPr lang="en-US" altLang="zh-CN" sz="2400" b="1" dirty="0">
                <a:solidFill>
                  <a:srgbClr val="FF0000"/>
                </a:solidFill>
                <a:latin typeface="Times New Roman" panose="02020603050405020304" charset="0"/>
              </a:rPr>
              <a:t>4</a:t>
            </a:r>
            <a:r>
              <a:rPr lang="zh-CN" altLang="en-US" sz="2400" b="1" dirty="0">
                <a:solidFill>
                  <a:srgbClr val="FF0000"/>
                </a:solidFill>
                <a:latin typeface="Arial" panose="020B0604020202020204" pitchFamily="34" charset="0"/>
              </a:rPr>
              <a:t>个</a:t>
            </a:r>
            <a:r>
              <a:rPr lang="en-US" altLang="zh-CN" sz="2400" b="1" i="1" dirty="0">
                <a:solidFill>
                  <a:srgbClr val="FF0000"/>
                </a:solidFill>
                <a:latin typeface="Times New Roman" panose="02020603050405020304" charset="0"/>
              </a:rPr>
              <a:t>JK</a:t>
            </a:r>
            <a:r>
              <a:rPr lang="zh-CN" altLang="en-US" sz="2400" b="1" dirty="0">
                <a:solidFill>
                  <a:srgbClr val="FF0000"/>
                </a:solidFill>
                <a:latin typeface="宋体" panose="02010600030101010101" pitchFamily="2" charset="-122"/>
              </a:rPr>
              <a:t>触发器都接成</a:t>
            </a:r>
            <a:r>
              <a:rPr lang="en-US" altLang="zh-CN" sz="2400" b="1" i="1" dirty="0">
                <a:solidFill>
                  <a:srgbClr val="FF0000"/>
                </a:solidFill>
                <a:latin typeface="Times New Roman" panose="02020603050405020304" charset="0"/>
              </a:rPr>
              <a:t>T</a:t>
            </a:r>
            <a:r>
              <a:rPr lang="en-US" altLang="zh-CN" sz="2400" b="1" dirty="0">
                <a:solidFill>
                  <a:srgbClr val="FF0000"/>
                </a:solidFill>
                <a:latin typeface="Courier New" panose="02070309020205020404" pitchFamily="49" charset="0"/>
              </a:rPr>
              <a:t>’</a:t>
            </a:r>
            <a:r>
              <a:rPr lang="zh-CN" altLang="en-US" sz="2400" b="1" dirty="0">
                <a:solidFill>
                  <a:srgbClr val="FF0000"/>
                </a:solidFill>
                <a:latin typeface="宋体" panose="02010600030101010101" pitchFamily="2" charset="-122"/>
              </a:rPr>
              <a:t>触发器。</a:t>
            </a:r>
            <a:endParaRPr lang="zh-CN" altLang="en-US" sz="2400" b="1" dirty="0">
              <a:solidFill>
                <a:srgbClr val="FF0000"/>
              </a:solidFill>
              <a:latin typeface="宋体" panose="02010600030101010101" pitchFamily="2" charset="-122"/>
            </a:endParaRPr>
          </a:p>
        </p:txBody>
      </p:sp>
      <p:sp>
        <p:nvSpPr>
          <p:cNvPr id="170008" name="Rectangle 24"/>
          <p:cNvSpPr/>
          <p:nvPr/>
        </p:nvSpPr>
        <p:spPr>
          <a:xfrm>
            <a:off x="838200" y="5943600"/>
            <a:ext cx="7171055" cy="533400"/>
          </a:xfrm>
          <a:prstGeom prst="rect">
            <a:avLst/>
          </a:prstGeom>
          <a:noFill/>
          <a:ln w="9525">
            <a:noFill/>
          </a:ln>
        </p:spPr>
        <p:txBody>
          <a:bodyPr lIns="92075" tIns="46038" rIns="92075" bIns="46038"/>
          <a:p>
            <a:pPr marL="342900" indent="-342900">
              <a:lnSpc>
                <a:spcPct val="131000"/>
              </a:lnSpc>
              <a:spcBef>
                <a:spcPct val="20000"/>
              </a:spcBef>
            </a:pPr>
            <a:r>
              <a:rPr lang="en-US" altLang="zh-CN" sz="2400" b="1" dirty="0">
                <a:gradFill>
                  <a:gsLst>
                    <a:gs pos="0">
                      <a:srgbClr val="012D86"/>
                    </a:gs>
                    <a:gs pos="100000">
                      <a:srgbClr val="0E2557"/>
                    </a:gs>
                  </a:gsLst>
                  <a:lin scaled="0"/>
                </a:gradFill>
                <a:latin typeface="Times New Roman" panose="02020603050405020304" charset="0"/>
              </a:rPr>
              <a:t> </a:t>
            </a:r>
            <a:r>
              <a:rPr lang="zh-CN" altLang="en-US" sz="2400" b="1" dirty="0">
                <a:gradFill>
                  <a:gsLst>
                    <a:gs pos="0">
                      <a:srgbClr val="012D86"/>
                    </a:gs>
                    <a:gs pos="100000">
                      <a:srgbClr val="0E2557"/>
                    </a:gs>
                  </a:gsLst>
                  <a:lin scaled="0"/>
                </a:gradFill>
                <a:latin typeface="Arial" panose="020B0604020202020204" pitchFamily="34" charset="0"/>
              </a:rPr>
              <a:t>每当</a:t>
            </a:r>
            <a:r>
              <a:rPr lang="en-US" altLang="zh-CN" sz="2400" b="1" dirty="0">
                <a:gradFill>
                  <a:gsLst>
                    <a:gs pos="0">
                      <a:srgbClr val="012D86"/>
                    </a:gs>
                    <a:gs pos="100000">
                      <a:srgbClr val="0E2557"/>
                    </a:gs>
                  </a:gsLst>
                  <a:lin scaled="0"/>
                </a:gradFill>
                <a:latin typeface="Times New Roman" panose="02020603050405020304" charset="0"/>
              </a:rPr>
              <a:t>Q</a:t>
            </a:r>
            <a:r>
              <a:rPr lang="en-US" altLang="zh-CN" sz="2400" b="1" baseline="-25000" dirty="0">
                <a:gradFill>
                  <a:gsLst>
                    <a:gs pos="0">
                      <a:srgbClr val="012D86"/>
                    </a:gs>
                    <a:gs pos="100000">
                      <a:srgbClr val="0E2557"/>
                    </a:gs>
                  </a:gsLst>
                  <a:lin scaled="0"/>
                </a:gradFill>
                <a:latin typeface="Times New Roman" panose="02020603050405020304" charset="0"/>
              </a:rPr>
              <a:t>2</a:t>
            </a:r>
            <a:r>
              <a:rPr lang="zh-CN" altLang="en-US" sz="2400" b="1" dirty="0">
                <a:gradFill>
                  <a:gsLst>
                    <a:gs pos="0">
                      <a:srgbClr val="012D86"/>
                    </a:gs>
                    <a:gs pos="100000">
                      <a:srgbClr val="0E2557"/>
                    </a:gs>
                  </a:gsLst>
                  <a:lin scaled="0"/>
                </a:gradFill>
                <a:latin typeface="Arial" panose="020B0604020202020204" pitchFamily="34" charset="0"/>
              </a:rPr>
              <a:t>由</a:t>
            </a:r>
            <a:r>
              <a:rPr lang="en-US" altLang="zh-CN" sz="2400" b="1" dirty="0">
                <a:gradFill>
                  <a:gsLst>
                    <a:gs pos="0">
                      <a:srgbClr val="012D86"/>
                    </a:gs>
                    <a:gs pos="100000">
                      <a:srgbClr val="0E2557"/>
                    </a:gs>
                  </a:gsLst>
                  <a:lin scaled="0"/>
                </a:gradFill>
                <a:latin typeface="Times New Roman" panose="02020603050405020304" charset="0"/>
              </a:rPr>
              <a:t>1</a:t>
            </a:r>
            <a:r>
              <a:rPr lang="zh-CN" altLang="en-US" sz="2400" b="1" dirty="0">
                <a:gradFill>
                  <a:gsLst>
                    <a:gs pos="0">
                      <a:srgbClr val="012D86"/>
                    </a:gs>
                    <a:gs pos="100000">
                      <a:srgbClr val="0E2557"/>
                    </a:gs>
                  </a:gsLst>
                  <a:lin scaled="0"/>
                </a:gradFill>
                <a:latin typeface="Arial" panose="020B0604020202020204" pitchFamily="34" charset="0"/>
              </a:rPr>
              <a:t>变</a:t>
            </a:r>
            <a:r>
              <a:rPr lang="en-US" altLang="zh-CN" sz="2400" b="1" dirty="0">
                <a:gradFill>
                  <a:gsLst>
                    <a:gs pos="0">
                      <a:srgbClr val="012D86"/>
                    </a:gs>
                    <a:gs pos="100000">
                      <a:srgbClr val="0E2557"/>
                    </a:gs>
                  </a:gsLst>
                  <a:lin scaled="0"/>
                </a:gradFill>
                <a:latin typeface="Times New Roman" panose="02020603050405020304" charset="0"/>
              </a:rPr>
              <a:t>0</a:t>
            </a:r>
            <a:r>
              <a:rPr lang="zh-CN" altLang="en-US" sz="2400" b="1" dirty="0">
                <a:gradFill>
                  <a:gsLst>
                    <a:gs pos="0">
                      <a:srgbClr val="012D86"/>
                    </a:gs>
                    <a:gs pos="100000">
                      <a:srgbClr val="0E2557"/>
                    </a:gs>
                  </a:gsLst>
                  <a:lin scaled="0"/>
                </a:gradFill>
                <a:latin typeface="Arial" panose="020B0604020202020204" pitchFamily="34" charset="0"/>
              </a:rPr>
              <a:t>，</a:t>
            </a:r>
            <a:r>
              <a:rPr lang="en-US" altLang="zh-CN" sz="2400" b="1" dirty="0">
                <a:gradFill>
                  <a:gsLst>
                    <a:gs pos="0">
                      <a:srgbClr val="012D86"/>
                    </a:gs>
                    <a:gs pos="100000">
                      <a:srgbClr val="0E2557"/>
                    </a:gs>
                  </a:gsLst>
                  <a:lin scaled="0"/>
                </a:gradFill>
                <a:latin typeface="Times New Roman" panose="02020603050405020304" charset="0"/>
              </a:rPr>
              <a:t>FF</a:t>
            </a:r>
            <a:r>
              <a:rPr lang="en-US" altLang="zh-CN" sz="2400" b="1" baseline="-25000" dirty="0">
                <a:gradFill>
                  <a:gsLst>
                    <a:gs pos="0">
                      <a:srgbClr val="012D86"/>
                    </a:gs>
                    <a:gs pos="100000">
                      <a:srgbClr val="0E2557"/>
                    </a:gs>
                  </a:gsLst>
                  <a:lin scaled="0"/>
                </a:gradFill>
                <a:latin typeface="Times New Roman" panose="02020603050405020304" charset="0"/>
              </a:rPr>
              <a:t>3</a:t>
            </a:r>
            <a:r>
              <a:rPr lang="zh-CN" altLang="en-US" sz="2400" b="1" dirty="0">
                <a:gradFill>
                  <a:gsLst>
                    <a:gs pos="0">
                      <a:srgbClr val="012D86"/>
                    </a:gs>
                    <a:gs pos="100000">
                      <a:srgbClr val="0E2557"/>
                    </a:gs>
                  </a:gsLst>
                  <a:lin scaled="0"/>
                </a:gradFill>
                <a:latin typeface="Arial" panose="020B0604020202020204" pitchFamily="34" charset="0"/>
              </a:rPr>
              <a:t>向相反的状态翻转一次。</a:t>
            </a:r>
            <a:endParaRPr lang="zh-CN" altLang="en-US" sz="2400" b="1" dirty="0">
              <a:gradFill>
                <a:gsLst>
                  <a:gs pos="0">
                    <a:srgbClr val="012D86"/>
                  </a:gs>
                  <a:gs pos="100000">
                    <a:srgbClr val="0E2557"/>
                  </a:gs>
                </a:gsLst>
                <a:lin scaled="0"/>
              </a:gradFill>
              <a:latin typeface="Arial" panose="020B0604020202020204" pitchFamily="34" charset="0"/>
            </a:endParaRPr>
          </a:p>
        </p:txBody>
      </p:sp>
      <p:sp>
        <p:nvSpPr>
          <p:cNvPr id="170009" name="Rectangle 25"/>
          <p:cNvSpPr/>
          <p:nvPr/>
        </p:nvSpPr>
        <p:spPr>
          <a:xfrm>
            <a:off x="609600" y="4585335"/>
            <a:ext cx="7769860" cy="500380"/>
          </a:xfrm>
          <a:prstGeom prst="rect">
            <a:avLst/>
          </a:prstGeom>
          <a:noFill/>
          <a:ln w="9525">
            <a:noFill/>
          </a:ln>
        </p:spPr>
        <p:txBody>
          <a:bodyPr lIns="92075" tIns="46038" rIns="92075" bIns="46038"/>
          <a:p>
            <a:pPr marL="342900" indent="-342900">
              <a:lnSpc>
                <a:spcPct val="131000"/>
              </a:lnSpc>
              <a:spcBef>
                <a:spcPct val="20000"/>
              </a:spcBef>
            </a:pPr>
            <a:r>
              <a:rPr lang="en-US" altLang="zh-CN" sz="2400" b="1" dirty="0">
                <a:gradFill>
                  <a:gsLst>
                    <a:gs pos="0">
                      <a:srgbClr val="012D86"/>
                    </a:gs>
                    <a:gs pos="100000">
                      <a:srgbClr val="0E2557"/>
                    </a:gs>
                  </a:gsLst>
                  <a:lin scaled="0"/>
                </a:gradFill>
                <a:latin typeface="Times New Roman" panose="02020603050405020304" charset="0"/>
              </a:rPr>
              <a:t>    </a:t>
            </a:r>
            <a:r>
              <a:rPr lang="zh-CN" altLang="en-US" sz="2400" b="1" dirty="0">
                <a:gradFill>
                  <a:gsLst>
                    <a:gs pos="0">
                      <a:srgbClr val="012D86"/>
                    </a:gs>
                    <a:gs pos="100000">
                      <a:srgbClr val="0E2557"/>
                    </a:gs>
                  </a:gsLst>
                  <a:lin scaled="0"/>
                </a:gradFill>
                <a:latin typeface="Arial" panose="020B0604020202020204" pitchFamily="34" charset="0"/>
              </a:rPr>
              <a:t>每来一个</a:t>
            </a:r>
            <a:r>
              <a:rPr lang="en-US" altLang="zh-CN" sz="2400" b="1" dirty="0">
                <a:gradFill>
                  <a:gsLst>
                    <a:gs pos="0">
                      <a:srgbClr val="012D86"/>
                    </a:gs>
                    <a:gs pos="100000">
                      <a:srgbClr val="0E2557"/>
                    </a:gs>
                  </a:gsLst>
                  <a:lin scaled="0"/>
                </a:gradFill>
                <a:latin typeface="Times New Roman" panose="02020603050405020304" charset="0"/>
              </a:rPr>
              <a:t>CP</a:t>
            </a:r>
            <a:r>
              <a:rPr lang="zh-CN" altLang="en-US" sz="2400" b="1" dirty="0">
                <a:gradFill>
                  <a:gsLst>
                    <a:gs pos="0">
                      <a:srgbClr val="012D86"/>
                    </a:gs>
                    <a:gs pos="100000">
                      <a:srgbClr val="0E2557"/>
                    </a:gs>
                  </a:gsLst>
                  <a:lin scaled="0"/>
                </a:gradFill>
                <a:latin typeface="Arial" panose="020B0604020202020204" pitchFamily="34" charset="0"/>
              </a:rPr>
              <a:t>的下降沿时，</a:t>
            </a:r>
            <a:r>
              <a:rPr lang="en-US" altLang="zh-CN" sz="2400" b="1" dirty="0">
                <a:gradFill>
                  <a:gsLst>
                    <a:gs pos="0">
                      <a:srgbClr val="012D86"/>
                    </a:gs>
                    <a:gs pos="100000">
                      <a:srgbClr val="0E2557"/>
                    </a:gs>
                  </a:gsLst>
                  <a:lin scaled="0"/>
                </a:gradFill>
                <a:latin typeface="Times New Roman" panose="02020603050405020304" charset="0"/>
              </a:rPr>
              <a:t>FF</a:t>
            </a:r>
            <a:r>
              <a:rPr lang="en-US" altLang="zh-CN" sz="2400" b="1" baseline="-25000" dirty="0">
                <a:gradFill>
                  <a:gsLst>
                    <a:gs pos="0">
                      <a:srgbClr val="012D86"/>
                    </a:gs>
                    <a:gs pos="100000">
                      <a:srgbClr val="0E2557"/>
                    </a:gs>
                  </a:gsLst>
                  <a:lin scaled="0"/>
                </a:gradFill>
                <a:latin typeface="Times New Roman" panose="02020603050405020304" charset="0"/>
              </a:rPr>
              <a:t>0</a:t>
            </a:r>
            <a:r>
              <a:rPr lang="zh-CN" altLang="en-US" sz="2400" b="1" dirty="0">
                <a:gradFill>
                  <a:gsLst>
                    <a:gs pos="0">
                      <a:srgbClr val="012D86"/>
                    </a:gs>
                    <a:gs pos="100000">
                      <a:srgbClr val="0E2557"/>
                    </a:gs>
                  </a:gsLst>
                  <a:lin scaled="0"/>
                </a:gradFill>
                <a:latin typeface="Arial" panose="020B0604020202020204" pitchFamily="34" charset="0"/>
              </a:rPr>
              <a:t>向相反的状态翻转一次；</a:t>
            </a:r>
            <a:endParaRPr lang="zh-CN" altLang="en-US" sz="2400" b="1" dirty="0">
              <a:gradFill>
                <a:gsLst>
                  <a:gs pos="0">
                    <a:srgbClr val="012D86"/>
                  </a:gs>
                  <a:gs pos="100000">
                    <a:srgbClr val="0E2557"/>
                  </a:gs>
                </a:gsLst>
                <a:lin scaled="0"/>
              </a:gradFill>
              <a:latin typeface="Arial" panose="020B0604020202020204" pitchFamily="34" charset="0"/>
            </a:endParaRPr>
          </a:p>
        </p:txBody>
      </p:sp>
      <p:sp>
        <p:nvSpPr>
          <p:cNvPr id="170010" name="Rectangle 26"/>
          <p:cNvSpPr/>
          <p:nvPr/>
        </p:nvSpPr>
        <p:spPr>
          <a:xfrm>
            <a:off x="685800" y="5038090"/>
            <a:ext cx="6296025" cy="407988"/>
          </a:xfrm>
          <a:prstGeom prst="rect">
            <a:avLst/>
          </a:prstGeom>
          <a:noFill/>
          <a:ln w="9525">
            <a:noFill/>
          </a:ln>
        </p:spPr>
        <p:txBody>
          <a:bodyPr lIns="92075" tIns="46038" rIns="92075" bIns="46038"/>
          <a:p>
            <a:pPr marL="342900" indent="-342900">
              <a:lnSpc>
                <a:spcPct val="131000"/>
              </a:lnSpc>
              <a:spcBef>
                <a:spcPct val="20000"/>
              </a:spcBef>
            </a:pPr>
            <a:r>
              <a:rPr lang="en-US" altLang="zh-CN" sz="2400" b="1" dirty="0">
                <a:gradFill>
                  <a:gsLst>
                    <a:gs pos="0">
                      <a:srgbClr val="012D86"/>
                    </a:gs>
                    <a:gs pos="100000">
                      <a:srgbClr val="0E2557"/>
                    </a:gs>
                  </a:gsLst>
                  <a:lin scaled="0"/>
                </a:gradFill>
                <a:latin typeface="Times New Roman" panose="02020603050405020304" charset="0"/>
              </a:rPr>
              <a:t>   </a:t>
            </a:r>
            <a:r>
              <a:rPr lang="zh-CN" altLang="en-US" sz="2400" b="1" dirty="0">
                <a:gradFill>
                  <a:gsLst>
                    <a:gs pos="0">
                      <a:srgbClr val="012D86"/>
                    </a:gs>
                    <a:gs pos="100000">
                      <a:srgbClr val="0E2557"/>
                    </a:gs>
                  </a:gsLst>
                  <a:lin scaled="0"/>
                </a:gradFill>
                <a:latin typeface="Arial" panose="020B0604020202020204" pitchFamily="34" charset="0"/>
              </a:rPr>
              <a:t>每当</a:t>
            </a:r>
            <a:r>
              <a:rPr lang="en-US" altLang="zh-CN" sz="2400" b="1" i="1" dirty="0">
                <a:gradFill>
                  <a:gsLst>
                    <a:gs pos="0">
                      <a:srgbClr val="012D86"/>
                    </a:gs>
                    <a:gs pos="100000">
                      <a:srgbClr val="0E2557"/>
                    </a:gs>
                  </a:gsLst>
                  <a:lin scaled="0"/>
                </a:gradFill>
                <a:latin typeface="Times New Roman" panose="02020603050405020304" charset="0"/>
              </a:rPr>
              <a:t>Q</a:t>
            </a:r>
            <a:r>
              <a:rPr lang="en-US" altLang="zh-CN" sz="2400" b="1" baseline="-25000" dirty="0">
                <a:gradFill>
                  <a:gsLst>
                    <a:gs pos="0">
                      <a:srgbClr val="012D86"/>
                    </a:gs>
                    <a:gs pos="100000">
                      <a:srgbClr val="0E2557"/>
                    </a:gs>
                  </a:gsLst>
                  <a:lin scaled="0"/>
                </a:gradFill>
                <a:latin typeface="Times New Roman" panose="02020603050405020304" charset="0"/>
              </a:rPr>
              <a:t>0</a:t>
            </a:r>
            <a:r>
              <a:rPr lang="zh-CN" altLang="en-US" sz="2400" b="1" dirty="0">
                <a:gradFill>
                  <a:gsLst>
                    <a:gs pos="0">
                      <a:srgbClr val="012D86"/>
                    </a:gs>
                    <a:gs pos="100000">
                      <a:srgbClr val="0E2557"/>
                    </a:gs>
                  </a:gsLst>
                  <a:lin scaled="0"/>
                </a:gradFill>
                <a:latin typeface="Arial" panose="020B0604020202020204" pitchFamily="34" charset="0"/>
              </a:rPr>
              <a:t>由</a:t>
            </a:r>
            <a:r>
              <a:rPr lang="en-US" altLang="zh-CN" sz="2400" b="1" dirty="0">
                <a:gradFill>
                  <a:gsLst>
                    <a:gs pos="0">
                      <a:srgbClr val="012D86"/>
                    </a:gs>
                    <a:gs pos="100000">
                      <a:srgbClr val="0E2557"/>
                    </a:gs>
                  </a:gsLst>
                  <a:lin scaled="0"/>
                </a:gradFill>
                <a:latin typeface="Times New Roman" panose="02020603050405020304" charset="0"/>
              </a:rPr>
              <a:t>1</a:t>
            </a:r>
            <a:r>
              <a:rPr lang="zh-CN" altLang="en-US" sz="2400" b="1" dirty="0">
                <a:gradFill>
                  <a:gsLst>
                    <a:gs pos="0">
                      <a:srgbClr val="012D86"/>
                    </a:gs>
                    <a:gs pos="100000">
                      <a:srgbClr val="0E2557"/>
                    </a:gs>
                  </a:gsLst>
                  <a:lin scaled="0"/>
                </a:gradFill>
                <a:latin typeface="Arial" panose="020B0604020202020204" pitchFamily="34" charset="0"/>
              </a:rPr>
              <a:t>变</a:t>
            </a:r>
            <a:r>
              <a:rPr lang="en-US" altLang="zh-CN" sz="2400" b="1" dirty="0">
                <a:gradFill>
                  <a:gsLst>
                    <a:gs pos="0">
                      <a:srgbClr val="012D86"/>
                    </a:gs>
                    <a:gs pos="100000">
                      <a:srgbClr val="0E2557"/>
                    </a:gs>
                  </a:gsLst>
                  <a:lin scaled="0"/>
                </a:gradFill>
                <a:latin typeface="Times New Roman" panose="02020603050405020304" charset="0"/>
              </a:rPr>
              <a:t>0</a:t>
            </a:r>
            <a:r>
              <a:rPr lang="zh-CN" altLang="en-US" sz="2400" b="1" dirty="0">
                <a:gradFill>
                  <a:gsLst>
                    <a:gs pos="0">
                      <a:srgbClr val="012D86"/>
                    </a:gs>
                    <a:gs pos="100000">
                      <a:srgbClr val="0E2557"/>
                    </a:gs>
                  </a:gsLst>
                  <a:lin scaled="0"/>
                </a:gradFill>
                <a:latin typeface="Arial" panose="020B0604020202020204" pitchFamily="34" charset="0"/>
              </a:rPr>
              <a:t>，</a:t>
            </a:r>
            <a:r>
              <a:rPr lang="en-US" altLang="zh-CN" sz="2400" b="1" dirty="0">
                <a:gradFill>
                  <a:gsLst>
                    <a:gs pos="0">
                      <a:srgbClr val="012D86"/>
                    </a:gs>
                    <a:gs pos="100000">
                      <a:srgbClr val="0E2557"/>
                    </a:gs>
                  </a:gsLst>
                  <a:lin scaled="0"/>
                </a:gradFill>
                <a:latin typeface="Times New Roman" panose="02020603050405020304" charset="0"/>
              </a:rPr>
              <a:t>FF</a:t>
            </a:r>
            <a:r>
              <a:rPr lang="en-US" altLang="zh-CN" sz="2400" b="1" baseline="-25000" dirty="0">
                <a:gradFill>
                  <a:gsLst>
                    <a:gs pos="0">
                      <a:srgbClr val="012D86"/>
                    </a:gs>
                    <a:gs pos="100000">
                      <a:srgbClr val="0E2557"/>
                    </a:gs>
                  </a:gsLst>
                  <a:lin scaled="0"/>
                </a:gradFill>
                <a:latin typeface="Times New Roman" panose="02020603050405020304" charset="0"/>
              </a:rPr>
              <a:t>1</a:t>
            </a:r>
            <a:r>
              <a:rPr lang="zh-CN" altLang="en-US" sz="2400" b="1" dirty="0">
                <a:gradFill>
                  <a:gsLst>
                    <a:gs pos="0">
                      <a:srgbClr val="012D86"/>
                    </a:gs>
                    <a:gs pos="100000">
                      <a:srgbClr val="0E2557"/>
                    </a:gs>
                  </a:gsLst>
                  <a:lin scaled="0"/>
                </a:gradFill>
                <a:latin typeface="Arial" panose="020B0604020202020204" pitchFamily="34" charset="0"/>
              </a:rPr>
              <a:t>向相反的状态翻转一次；</a:t>
            </a:r>
            <a:endParaRPr lang="zh-CN" altLang="en-US" sz="2400" b="1" dirty="0">
              <a:gradFill>
                <a:gsLst>
                  <a:gs pos="0">
                    <a:srgbClr val="012D86"/>
                  </a:gs>
                  <a:gs pos="100000">
                    <a:srgbClr val="0E2557"/>
                  </a:gs>
                </a:gsLst>
                <a:lin scaled="0"/>
              </a:gradFill>
              <a:latin typeface="Arial" panose="020B0604020202020204" pitchFamily="34" charset="0"/>
            </a:endParaRPr>
          </a:p>
        </p:txBody>
      </p:sp>
      <p:sp>
        <p:nvSpPr>
          <p:cNvPr id="170011" name="Rectangle 27"/>
          <p:cNvSpPr/>
          <p:nvPr/>
        </p:nvSpPr>
        <p:spPr>
          <a:xfrm>
            <a:off x="685800" y="5490845"/>
            <a:ext cx="6513513" cy="314325"/>
          </a:xfrm>
          <a:prstGeom prst="rect">
            <a:avLst/>
          </a:prstGeom>
          <a:noFill/>
          <a:ln w="9525">
            <a:noFill/>
          </a:ln>
        </p:spPr>
        <p:txBody>
          <a:bodyPr lIns="92075" tIns="46038" rIns="92075" bIns="46038"/>
          <a:p>
            <a:pPr marL="342900" indent="-342900">
              <a:lnSpc>
                <a:spcPct val="131000"/>
              </a:lnSpc>
              <a:spcBef>
                <a:spcPct val="20000"/>
              </a:spcBef>
            </a:pPr>
            <a:r>
              <a:rPr lang="en-US" altLang="zh-CN" sz="2400" b="1" dirty="0">
                <a:gradFill>
                  <a:gsLst>
                    <a:gs pos="0">
                      <a:srgbClr val="012D86"/>
                    </a:gs>
                    <a:gs pos="100000">
                      <a:srgbClr val="0E2557"/>
                    </a:gs>
                  </a:gsLst>
                  <a:lin scaled="0"/>
                </a:gradFill>
                <a:latin typeface="Times New Roman" panose="02020603050405020304" charset="0"/>
              </a:rPr>
              <a:t>   </a:t>
            </a:r>
            <a:r>
              <a:rPr lang="zh-CN" altLang="en-US" sz="2400" b="1" dirty="0">
                <a:gradFill>
                  <a:gsLst>
                    <a:gs pos="0">
                      <a:srgbClr val="012D86"/>
                    </a:gs>
                    <a:gs pos="100000">
                      <a:srgbClr val="0E2557"/>
                    </a:gs>
                  </a:gsLst>
                  <a:lin scaled="0"/>
                </a:gradFill>
                <a:latin typeface="Arial" panose="020B0604020202020204" pitchFamily="34" charset="0"/>
              </a:rPr>
              <a:t>每当</a:t>
            </a:r>
            <a:r>
              <a:rPr lang="en-US" altLang="zh-CN" sz="2400" b="1" i="1" dirty="0">
                <a:gradFill>
                  <a:gsLst>
                    <a:gs pos="0">
                      <a:srgbClr val="012D86"/>
                    </a:gs>
                    <a:gs pos="100000">
                      <a:srgbClr val="0E2557"/>
                    </a:gs>
                  </a:gsLst>
                  <a:lin scaled="0"/>
                </a:gradFill>
                <a:latin typeface="Times New Roman" panose="02020603050405020304" charset="0"/>
              </a:rPr>
              <a:t>Q</a:t>
            </a:r>
            <a:r>
              <a:rPr lang="en-US" altLang="zh-CN" sz="2400" b="1" baseline="-25000" dirty="0">
                <a:gradFill>
                  <a:gsLst>
                    <a:gs pos="0">
                      <a:srgbClr val="012D86"/>
                    </a:gs>
                    <a:gs pos="100000">
                      <a:srgbClr val="0E2557"/>
                    </a:gs>
                  </a:gsLst>
                  <a:lin scaled="0"/>
                </a:gradFill>
                <a:latin typeface="Times New Roman" panose="02020603050405020304" charset="0"/>
              </a:rPr>
              <a:t>1</a:t>
            </a:r>
            <a:r>
              <a:rPr lang="zh-CN" altLang="en-US" sz="2400" b="1" dirty="0">
                <a:gradFill>
                  <a:gsLst>
                    <a:gs pos="0">
                      <a:srgbClr val="012D86"/>
                    </a:gs>
                    <a:gs pos="100000">
                      <a:srgbClr val="0E2557"/>
                    </a:gs>
                  </a:gsLst>
                  <a:lin scaled="0"/>
                </a:gradFill>
                <a:latin typeface="Arial" panose="020B0604020202020204" pitchFamily="34" charset="0"/>
              </a:rPr>
              <a:t>由</a:t>
            </a:r>
            <a:r>
              <a:rPr lang="en-US" altLang="zh-CN" sz="2400" b="1" dirty="0">
                <a:gradFill>
                  <a:gsLst>
                    <a:gs pos="0">
                      <a:srgbClr val="012D86"/>
                    </a:gs>
                    <a:gs pos="100000">
                      <a:srgbClr val="0E2557"/>
                    </a:gs>
                  </a:gsLst>
                  <a:lin scaled="0"/>
                </a:gradFill>
                <a:latin typeface="Times New Roman" panose="02020603050405020304" charset="0"/>
              </a:rPr>
              <a:t>1</a:t>
            </a:r>
            <a:r>
              <a:rPr lang="zh-CN" altLang="en-US" sz="2400" b="1" dirty="0">
                <a:gradFill>
                  <a:gsLst>
                    <a:gs pos="0">
                      <a:srgbClr val="012D86"/>
                    </a:gs>
                    <a:gs pos="100000">
                      <a:srgbClr val="0E2557"/>
                    </a:gs>
                  </a:gsLst>
                  <a:lin scaled="0"/>
                </a:gradFill>
                <a:latin typeface="Arial" panose="020B0604020202020204" pitchFamily="34" charset="0"/>
              </a:rPr>
              <a:t>变</a:t>
            </a:r>
            <a:r>
              <a:rPr lang="en-US" altLang="zh-CN" sz="2400" b="1" dirty="0">
                <a:gradFill>
                  <a:gsLst>
                    <a:gs pos="0">
                      <a:srgbClr val="012D86"/>
                    </a:gs>
                    <a:gs pos="100000">
                      <a:srgbClr val="0E2557"/>
                    </a:gs>
                  </a:gsLst>
                  <a:lin scaled="0"/>
                </a:gradFill>
                <a:latin typeface="Times New Roman" panose="02020603050405020304" charset="0"/>
              </a:rPr>
              <a:t>0</a:t>
            </a:r>
            <a:r>
              <a:rPr lang="zh-CN" altLang="en-US" sz="2400" b="1" dirty="0">
                <a:gradFill>
                  <a:gsLst>
                    <a:gs pos="0">
                      <a:srgbClr val="012D86"/>
                    </a:gs>
                    <a:gs pos="100000">
                      <a:srgbClr val="0E2557"/>
                    </a:gs>
                  </a:gsLst>
                  <a:lin scaled="0"/>
                </a:gradFill>
                <a:latin typeface="Arial" panose="020B0604020202020204" pitchFamily="34" charset="0"/>
              </a:rPr>
              <a:t>，</a:t>
            </a:r>
            <a:r>
              <a:rPr lang="en-US" altLang="zh-CN" sz="2400" b="1" dirty="0">
                <a:gradFill>
                  <a:gsLst>
                    <a:gs pos="0">
                      <a:srgbClr val="012D86"/>
                    </a:gs>
                    <a:gs pos="100000">
                      <a:srgbClr val="0E2557"/>
                    </a:gs>
                  </a:gsLst>
                  <a:lin scaled="0"/>
                </a:gradFill>
                <a:latin typeface="Times New Roman" panose="02020603050405020304" charset="0"/>
              </a:rPr>
              <a:t>FF</a:t>
            </a:r>
            <a:r>
              <a:rPr lang="en-US" altLang="zh-CN" sz="2400" b="1" baseline="-25000" dirty="0">
                <a:gradFill>
                  <a:gsLst>
                    <a:gs pos="0">
                      <a:srgbClr val="012D86"/>
                    </a:gs>
                    <a:gs pos="100000">
                      <a:srgbClr val="0E2557"/>
                    </a:gs>
                  </a:gsLst>
                  <a:lin scaled="0"/>
                </a:gradFill>
                <a:latin typeface="Times New Roman" panose="02020603050405020304" charset="0"/>
              </a:rPr>
              <a:t>2</a:t>
            </a:r>
            <a:r>
              <a:rPr lang="zh-CN" altLang="en-US" sz="2400" b="1" dirty="0">
                <a:gradFill>
                  <a:gsLst>
                    <a:gs pos="0">
                      <a:srgbClr val="012D86"/>
                    </a:gs>
                    <a:gs pos="100000">
                      <a:srgbClr val="0E2557"/>
                    </a:gs>
                  </a:gsLst>
                  <a:lin scaled="0"/>
                </a:gradFill>
                <a:latin typeface="Arial" panose="020B0604020202020204" pitchFamily="34" charset="0"/>
              </a:rPr>
              <a:t>向相反的状态翻转一次；</a:t>
            </a:r>
            <a:endParaRPr lang="zh-CN" altLang="en-US" sz="2400" b="1" dirty="0">
              <a:gradFill>
                <a:gsLst>
                  <a:gs pos="0">
                    <a:srgbClr val="012D86"/>
                  </a:gs>
                  <a:gs pos="100000">
                    <a:srgbClr val="0E2557"/>
                  </a:gs>
                </a:gsLst>
                <a:lin scaled="0"/>
              </a:gra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0007"/>
                                        </p:tgtEl>
                                        <p:attrNameLst>
                                          <p:attrName>style.visibility</p:attrName>
                                        </p:attrNameLst>
                                      </p:cBhvr>
                                      <p:to>
                                        <p:strVal val="visible"/>
                                      </p:to>
                                    </p:set>
                                    <p:animEffect transition="in" filter="blinds(horizontal)">
                                      <p:cBhvr>
                                        <p:cTn id="7" dur="500"/>
                                        <p:tgtEl>
                                          <p:spTgt spid="17000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0009"/>
                                        </p:tgtEl>
                                        <p:attrNameLst>
                                          <p:attrName>style.visibility</p:attrName>
                                        </p:attrNameLst>
                                      </p:cBhvr>
                                      <p:to>
                                        <p:strVal val="visible"/>
                                      </p:to>
                                    </p:set>
                                    <p:animEffect transition="in" filter="blinds(horizontal)">
                                      <p:cBhvr>
                                        <p:cTn id="12" dur="500"/>
                                        <p:tgtEl>
                                          <p:spTgt spid="17000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0010"/>
                                        </p:tgtEl>
                                        <p:attrNameLst>
                                          <p:attrName>style.visibility</p:attrName>
                                        </p:attrNameLst>
                                      </p:cBhvr>
                                      <p:to>
                                        <p:strVal val="visible"/>
                                      </p:to>
                                    </p:set>
                                    <p:animEffect transition="in" filter="blinds(horizontal)">
                                      <p:cBhvr>
                                        <p:cTn id="17" dur="500"/>
                                        <p:tgtEl>
                                          <p:spTgt spid="1700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0011"/>
                                        </p:tgtEl>
                                        <p:attrNameLst>
                                          <p:attrName>style.visibility</p:attrName>
                                        </p:attrNameLst>
                                      </p:cBhvr>
                                      <p:to>
                                        <p:strVal val="visible"/>
                                      </p:to>
                                    </p:set>
                                    <p:animEffect transition="in" filter="blinds(horizontal)">
                                      <p:cBhvr>
                                        <p:cTn id="22" dur="500"/>
                                        <p:tgtEl>
                                          <p:spTgt spid="17001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70008"/>
                                        </p:tgtEl>
                                        <p:attrNameLst>
                                          <p:attrName>style.visibility</p:attrName>
                                        </p:attrNameLst>
                                      </p:cBhvr>
                                      <p:to>
                                        <p:strVal val="visible"/>
                                      </p:to>
                                    </p:set>
                                    <p:animEffect transition="in" filter="blinds(horizontal)">
                                      <p:cBhvr>
                                        <p:cTn id="27" dur="500"/>
                                        <p:tgtEl>
                                          <p:spTgt spid="170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007" grpId="0"/>
      <p:bldP spid="170008" grpId="0"/>
      <p:bldP spid="170009" grpId="0"/>
      <p:bldP spid="170010" grpId="0"/>
      <p:bldP spid="17001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7434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9705" name="Rectangle 8"/>
          <p:cNvSpPr/>
          <p:nvPr/>
        </p:nvSpPr>
        <p:spPr>
          <a:xfrm>
            <a:off x="1047750" y="1177290"/>
            <a:ext cx="6705600" cy="460375"/>
          </a:xfrm>
          <a:prstGeom prst="rect">
            <a:avLst/>
          </a:prstGeom>
          <a:noFill/>
          <a:ln w="9525">
            <a:noFill/>
          </a:ln>
        </p:spPr>
        <p:txBody>
          <a:bodyPr>
            <a:spAutoFit/>
          </a:bodyPr>
          <a:p>
            <a:pPr eaLnBrk="0" hangingPunct="0"/>
            <a:r>
              <a:rPr lang="zh-CN" altLang="en-US" sz="2400" dirty="0">
                <a:gradFill>
                  <a:gsLst>
                    <a:gs pos="0">
                      <a:srgbClr val="012D86"/>
                    </a:gs>
                    <a:gs pos="100000">
                      <a:srgbClr val="0E2557"/>
                    </a:gs>
                  </a:gsLst>
                  <a:lin scaled="0"/>
                </a:gradFill>
                <a:effectLst>
                  <a:outerShdw blurRad="38100" dist="38100" dir="2700000" algn="tl">
                    <a:srgbClr val="000000">
                      <a:alpha val="43137"/>
                    </a:srgbClr>
                  </a:outerShdw>
                </a:effectLst>
                <a:latin typeface="Arial" panose="020B0604020202020204" pitchFamily="34" charset="0"/>
              </a:rPr>
              <a:t>用</a:t>
            </a:r>
            <a:r>
              <a:rPr lang="zh-CN" altLang="en-US" sz="2400"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rPr>
              <a:t>“</a:t>
            </a:r>
            <a:r>
              <a:rPr lang="zh-CN" altLang="en-US" sz="2400" dirty="0">
                <a:gradFill>
                  <a:gsLst>
                    <a:gs pos="0">
                      <a:srgbClr val="012D86"/>
                    </a:gs>
                    <a:gs pos="100000">
                      <a:srgbClr val="0E2557"/>
                    </a:gs>
                  </a:gsLst>
                  <a:lin scaled="0"/>
                </a:gradFill>
                <a:effectLst>
                  <a:outerShdw blurRad="38100" dist="38100" dir="2700000" algn="tl">
                    <a:srgbClr val="000000">
                      <a:alpha val="43137"/>
                    </a:srgbClr>
                  </a:outerShdw>
                </a:effectLst>
                <a:latin typeface="Arial" panose="020B0604020202020204" pitchFamily="34" charset="0"/>
              </a:rPr>
              <a:t>观察法</a:t>
            </a:r>
            <a:r>
              <a:rPr lang="zh-CN" altLang="en-US" sz="2400"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rPr>
              <a:t>”</a:t>
            </a:r>
            <a:r>
              <a:rPr lang="zh-CN" altLang="en-US" sz="2400" dirty="0">
                <a:gradFill>
                  <a:gsLst>
                    <a:gs pos="0">
                      <a:srgbClr val="012D86"/>
                    </a:gs>
                    <a:gs pos="100000">
                      <a:srgbClr val="0E2557"/>
                    </a:gs>
                  </a:gsLst>
                  <a:lin scaled="0"/>
                </a:gradFill>
                <a:effectLst>
                  <a:outerShdw blurRad="38100" dist="38100" dir="2700000" algn="tl">
                    <a:srgbClr val="000000">
                      <a:alpha val="43137"/>
                    </a:srgbClr>
                  </a:outerShdw>
                </a:effectLst>
                <a:latin typeface="Arial" panose="020B0604020202020204" pitchFamily="34" charset="0"/>
              </a:rPr>
              <a:t>作出该电路的时序波形图和状态图</a:t>
            </a:r>
            <a:endParaRPr lang="zh-CN" altLang="en-US" sz="2400" dirty="0">
              <a:gradFill>
                <a:gsLst>
                  <a:gs pos="0">
                    <a:srgbClr val="012D86"/>
                  </a:gs>
                  <a:gs pos="100000">
                    <a:srgbClr val="0E2557"/>
                  </a:gs>
                </a:gsLst>
                <a:lin scaled="0"/>
              </a:gradFill>
              <a:effectLst>
                <a:outerShdw blurRad="38100" dist="38100" dir="2700000" algn="tl">
                  <a:srgbClr val="000000">
                    <a:alpha val="43137"/>
                  </a:srgbClr>
                </a:outerShdw>
              </a:effectLst>
              <a:latin typeface="Arial" panose="020B0604020202020204" pitchFamily="34" charset="0"/>
            </a:endParaRPr>
          </a:p>
        </p:txBody>
      </p:sp>
      <p:pic>
        <p:nvPicPr>
          <p:cNvPr id="171010" name="Picture 2"/>
          <p:cNvPicPr>
            <a:picLocks noChangeAspect="1"/>
          </p:cNvPicPr>
          <p:nvPr/>
        </p:nvPicPr>
        <p:blipFill>
          <a:blip r:embed="rId1"/>
          <a:stretch>
            <a:fillRect/>
          </a:stretch>
        </p:blipFill>
        <p:spPr>
          <a:xfrm>
            <a:off x="685800" y="3276600"/>
            <a:ext cx="8004175" cy="382588"/>
          </a:xfrm>
          <a:prstGeom prst="rect">
            <a:avLst/>
          </a:prstGeom>
          <a:noFill/>
          <a:ln w="12700">
            <a:noFill/>
          </a:ln>
        </p:spPr>
      </p:pic>
      <p:pic>
        <p:nvPicPr>
          <p:cNvPr id="171011" name="Picture 3"/>
          <p:cNvPicPr>
            <a:picLocks noChangeAspect="1"/>
          </p:cNvPicPr>
          <p:nvPr/>
        </p:nvPicPr>
        <p:blipFill>
          <a:blip r:embed="rId2"/>
          <a:stretch>
            <a:fillRect/>
          </a:stretch>
        </p:blipFill>
        <p:spPr>
          <a:xfrm>
            <a:off x="685800" y="3733800"/>
            <a:ext cx="8004175" cy="393700"/>
          </a:xfrm>
          <a:prstGeom prst="rect">
            <a:avLst/>
          </a:prstGeom>
          <a:noFill/>
          <a:ln w="12700">
            <a:noFill/>
          </a:ln>
        </p:spPr>
      </p:pic>
      <p:pic>
        <p:nvPicPr>
          <p:cNvPr id="171012" name="Picture 4"/>
          <p:cNvPicPr>
            <a:picLocks noChangeAspect="1"/>
          </p:cNvPicPr>
          <p:nvPr/>
        </p:nvPicPr>
        <p:blipFill>
          <a:blip r:embed="rId3"/>
          <a:stretch>
            <a:fillRect/>
          </a:stretch>
        </p:blipFill>
        <p:spPr>
          <a:xfrm>
            <a:off x="685800" y="4114800"/>
            <a:ext cx="7993063" cy="393700"/>
          </a:xfrm>
          <a:prstGeom prst="rect">
            <a:avLst/>
          </a:prstGeom>
          <a:noFill/>
          <a:ln w="12700">
            <a:noFill/>
          </a:ln>
        </p:spPr>
      </p:pic>
      <p:pic>
        <p:nvPicPr>
          <p:cNvPr id="171013" name="Picture 5"/>
          <p:cNvPicPr>
            <a:picLocks noChangeAspect="1"/>
          </p:cNvPicPr>
          <p:nvPr/>
        </p:nvPicPr>
        <p:blipFill>
          <a:blip r:embed="rId4"/>
          <a:stretch>
            <a:fillRect/>
          </a:stretch>
        </p:blipFill>
        <p:spPr>
          <a:xfrm>
            <a:off x="685800" y="4572000"/>
            <a:ext cx="8004175" cy="371475"/>
          </a:xfrm>
          <a:prstGeom prst="rect">
            <a:avLst/>
          </a:prstGeom>
          <a:noFill/>
          <a:ln w="12700">
            <a:noFill/>
          </a:ln>
        </p:spPr>
      </p:pic>
      <p:pic>
        <p:nvPicPr>
          <p:cNvPr id="171014" name="Picture 6"/>
          <p:cNvPicPr>
            <a:picLocks noChangeAspect="1"/>
          </p:cNvPicPr>
          <p:nvPr/>
        </p:nvPicPr>
        <p:blipFill>
          <a:blip r:embed="rId5"/>
          <a:stretch>
            <a:fillRect/>
          </a:stretch>
        </p:blipFill>
        <p:spPr>
          <a:xfrm>
            <a:off x="685800" y="4953000"/>
            <a:ext cx="8016875" cy="360363"/>
          </a:xfrm>
          <a:prstGeom prst="rect">
            <a:avLst/>
          </a:prstGeom>
          <a:noFill/>
          <a:ln w="12700">
            <a:noFill/>
          </a:ln>
        </p:spPr>
      </p:pic>
      <p:pic>
        <p:nvPicPr>
          <p:cNvPr id="9390" name="图片 2827"/>
          <p:cNvPicPr>
            <a:picLocks noChangeAspect="1"/>
          </p:cNvPicPr>
          <p:nvPr/>
        </p:nvPicPr>
        <p:blipFill>
          <a:blip r:embed="rId6"/>
          <a:stretch>
            <a:fillRect/>
          </a:stretch>
        </p:blipFill>
        <p:spPr>
          <a:xfrm>
            <a:off x="1047750" y="1637665"/>
            <a:ext cx="7249160" cy="1435100"/>
          </a:xfrm>
          <a:prstGeom prst="rect">
            <a:avLst/>
          </a:prstGeom>
          <a:noFill/>
          <a:ln>
            <a:noFill/>
          </a:ln>
        </p:spPr>
      </p:pic>
      <p:sp>
        <p:nvSpPr>
          <p:cNvPr id="171017" name="Rectangle 9"/>
          <p:cNvSpPr/>
          <p:nvPr/>
        </p:nvSpPr>
        <p:spPr>
          <a:xfrm>
            <a:off x="135890" y="5438775"/>
            <a:ext cx="8735060" cy="1014730"/>
          </a:xfrm>
          <a:prstGeom prst="rect">
            <a:avLst/>
          </a:prstGeom>
          <a:noFill/>
          <a:ln w="9525">
            <a:noFill/>
          </a:ln>
        </p:spPr>
        <p:txBody>
          <a:bodyPr wrap="square">
            <a:spAutoFit/>
          </a:bodyPr>
          <a:p>
            <a:pPr algn="just">
              <a:lnSpc>
                <a:spcPct val="125000"/>
              </a:lnSpc>
              <a:spcBef>
                <a:spcPct val="20000"/>
              </a:spcBef>
            </a:pPr>
            <a:r>
              <a:rPr lang="zh-CN" altLang="en-US" sz="2400" b="1" dirty="0">
                <a:gradFill>
                  <a:gsLst>
                    <a:gs pos="0">
                      <a:srgbClr val="012D86"/>
                    </a:gs>
                    <a:gs pos="100000">
                      <a:srgbClr val="0E2557"/>
                    </a:gs>
                  </a:gsLst>
                  <a:lin scaled="0"/>
                </a:gradFill>
                <a:latin typeface="宋体" panose="02010600030101010101" pitchFamily="2" charset="-122"/>
              </a:rPr>
              <a:t>由时序图可以看出，</a:t>
            </a:r>
            <a:r>
              <a:rPr lang="en-US" altLang="zh-CN" sz="2400" b="1" i="1" dirty="0">
                <a:gradFill>
                  <a:gsLst>
                    <a:gs pos="0">
                      <a:srgbClr val="012D86"/>
                    </a:gs>
                    <a:gs pos="100000">
                      <a:srgbClr val="0E2557"/>
                    </a:gs>
                  </a:gsLst>
                  <a:lin scaled="0"/>
                </a:gradFill>
                <a:latin typeface="Times New Roman" panose="02020603050405020304" charset="0"/>
              </a:rPr>
              <a:t>Q</a:t>
            </a:r>
            <a:r>
              <a:rPr lang="en-US" altLang="zh-CN" sz="2400" b="1" baseline="-25000" dirty="0">
                <a:gradFill>
                  <a:gsLst>
                    <a:gs pos="0">
                      <a:srgbClr val="012D86"/>
                    </a:gs>
                    <a:gs pos="100000">
                      <a:srgbClr val="0E2557"/>
                    </a:gs>
                  </a:gsLst>
                  <a:lin scaled="0"/>
                </a:gradFill>
                <a:latin typeface="宋体" panose="02010600030101010101" pitchFamily="2" charset="-122"/>
              </a:rPr>
              <a:t>0</a:t>
            </a:r>
            <a:r>
              <a:rPr lang="zh-CN" altLang="en-US" sz="2400" b="1" dirty="0">
                <a:gradFill>
                  <a:gsLst>
                    <a:gs pos="0">
                      <a:srgbClr val="012D86"/>
                    </a:gs>
                    <a:gs pos="100000">
                      <a:srgbClr val="0E2557"/>
                    </a:gs>
                  </a:gsLst>
                  <a:lin scaled="0"/>
                </a:gradFill>
                <a:latin typeface="宋体" panose="02010600030101010101" pitchFamily="2" charset="-122"/>
              </a:rPr>
              <a:t>、</a:t>
            </a:r>
            <a:r>
              <a:rPr lang="en-US" altLang="zh-CN" sz="2400" b="1" i="1" dirty="0">
                <a:gradFill>
                  <a:gsLst>
                    <a:gs pos="0">
                      <a:srgbClr val="012D86"/>
                    </a:gs>
                    <a:gs pos="100000">
                      <a:srgbClr val="0E2557"/>
                    </a:gs>
                  </a:gsLst>
                  <a:lin scaled="0"/>
                </a:gradFill>
                <a:latin typeface="Times New Roman" panose="02020603050405020304" charset="0"/>
              </a:rPr>
              <a:t>Q</a:t>
            </a:r>
            <a:r>
              <a:rPr lang="en-US" altLang="zh-CN" sz="2400" b="1" baseline="-25000" dirty="0">
                <a:gradFill>
                  <a:gsLst>
                    <a:gs pos="0">
                      <a:srgbClr val="012D86"/>
                    </a:gs>
                    <a:gs pos="100000">
                      <a:srgbClr val="0E2557"/>
                    </a:gs>
                  </a:gsLst>
                  <a:lin scaled="0"/>
                </a:gradFill>
                <a:latin typeface="Times New Roman" panose="02020603050405020304" charset="0"/>
              </a:rPr>
              <a:t>l</a:t>
            </a:r>
            <a:r>
              <a:rPr lang="zh-CN" altLang="en-US" sz="2400" b="1" dirty="0">
                <a:gradFill>
                  <a:gsLst>
                    <a:gs pos="0">
                      <a:srgbClr val="012D86"/>
                    </a:gs>
                    <a:gs pos="100000">
                      <a:srgbClr val="0E2557"/>
                    </a:gs>
                  </a:gsLst>
                  <a:lin scaled="0"/>
                </a:gradFill>
                <a:latin typeface="宋体" panose="02010600030101010101" pitchFamily="2" charset="-122"/>
              </a:rPr>
              <a:t>、</a:t>
            </a:r>
            <a:r>
              <a:rPr lang="en-US" altLang="zh-CN" sz="2400" b="1" i="1" dirty="0">
                <a:gradFill>
                  <a:gsLst>
                    <a:gs pos="0">
                      <a:srgbClr val="012D86"/>
                    </a:gs>
                    <a:gs pos="100000">
                      <a:srgbClr val="0E2557"/>
                    </a:gs>
                  </a:gsLst>
                  <a:lin scaled="0"/>
                </a:gradFill>
                <a:latin typeface="Times New Roman" panose="02020603050405020304" charset="0"/>
              </a:rPr>
              <a:t>Q</a:t>
            </a:r>
            <a:r>
              <a:rPr lang="en-US" altLang="zh-CN" sz="2400" b="1" baseline="-25000" dirty="0">
                <a:gradFill>
                  <a:gsLst>
                    <a:gs pos="0">
                      <a:srgbClr val="012D86"/>
                    </a:gs>
                    <a:gs pos="100000">
                      <a:srgbClr val="0E2557"/>
                    </a:gs>
                  </a:gsLst>
                  <a:lin scaled="0"/>
                </a:gradFill>
                <a:latin typeface="宋体" panose="02010600030101010101" pitchFamily="2" charset="-122"/>
              </a:rPr>
              <a:t>2</a:t>
            </a:r>
            <a:r>
              <a:rPr lang="zh-CN" altLang="en-US" sz="2400" b="1" dirty="0">
                <a:gradFill>
                  <a:gsLst>
                    <a:gs pos="0">
                      <a:srgbClr val="012D86"/>
                    </a:gs>
                    <a:gs pos="100000">
                      <a:srgbClr val="0E2557"/>
                    </a:gs>
                  </a:gsLst>
                  <a:lin scaled="0"/>
                </a:gradFill>
                <a:latin typeface="宋体" panose="02010600030101010101" pitchFamily="2" charset="-122"/>
              </a:rPr>
              <a:t>、</a:t>
            </a:r>
            <a:r>
              <a:rPr lang="en-US" altLang="zh-CN" sz="2400" b="1" i="1" dirty="0">
                <a:gradFill>
                  <a:gsLst>
                    <a:gs pos="0">
                      <a:srgbClr val="012D86"/>
                    </a:gs>
                    <a:gs pos="100000">
                      <a:srgbClr val="0E2557"/>
                    </a:gs>
                  </a:gsLst>
                  <a:lin scaled="0"/>
                </a:gradFill>
                <a:latin typeface="Times New Roman" panose="02020603050405020304" charset="0"/>
              </a:rPr>
              <a:t>Q</a:t>
            </a:r>
            <a:r>
              <a:rPr lang="en-US" altLang="zh-CN" sz="2400" b="1" baseline="-25000" dirty="0">
                <a:gradFill>
                  <a:gsLst>
                    <a:gs pos="0">
                      <a:srgbClr val="012D86"/>
                    </a:gs>
                    <a:gs pos="100000">
                      <a:srgbClr val="0E2557"/>
                    </a:gs>
                  </a:gsLst>
                  <a:lin scaled="0"/>
                </a:gradFill>
                <a:latin typeface="宋体" panose="02010600030101010101" pitchFamily="2" charset="-122"/>
              </a:rPr>
              <a:t>3</a:t>
            </a:r>
            <a:r>
              <a:rPr lang="zh-CN" altLang="en-US" sz="2400" b="1" dirty="0">
                <a:gradFill>
                  <a:gsLst>
                    <a:gs pos="0">
                      <a:srgbClr val="012D86"/>
                    </a:gs>
                    <a:gs pos="100000">
                      <a:srgbClr val="0E2557"/>
                    </a:gs>
                  </a:gsLst>
                  <a:lin scaled="0"/>
                </a:gradFill>
                <a:latin typeface="宋体" panose="02010600030101010101" pitchFamily="2" charset="-122"/>
              </a:rPr>
              <a:t>的周期分别是计数脉冲</a:t>
            </a:r>
            <a:r>
              <a:rPr lang="en-US" altLang="zh-CN" sz="2400" b="1" dirty="0">
                <a:gradFill>
                  <a:gsLst>
                    <a:gs pos="0">
                      <a:srgbClr val="012D86"/>
                    </a:gs>
                    <a:gs pos="100000">
                      <a:srgbClr val="0E2557"/>
                    </a:gs>
                  </a:gsLst>
                  <a:lin scaled="0"/>
                </a:gradFill>
                <a:latin typeface="宋体" panose="02010600030101010101" pitchFamily="2" charset="-122"/>
              </a:rPr>
              <a:t>(</a:t>
            </a:r>
            <a:r>
              <a:rPr lang="en-US" altLang="zh-CN" sz="2400" b="1" dirty="0">
                <a:gradFill>
                  <a:gsLst>
                    <a:gs pos="0">
                      <a:srgbClr val="012D86"/>
                    </a:gs>
                    <a:gs pos="100000">
                      <a:srgbClr val="0E2557"/>
                    </a:gs>
                  </a:gsLst>
                  <a:lin scaled="0"/>
                </a:gradFill>
                <a:latin typeface="Times New Roman" panose="02020603050405020304" charset="0"/>
              </a:rPr>
              <a:t>CP</a:t>
            </a:r>
            <a:r>
              <a:rPr lang="en-US" altLang="zh-CN" sz="2400" b="1" dirty="0">
                <a:gradFill>
                  <a:gsLst>
                    <a:gs pos="0">
                      <a:srgbClr val="012D86"/>
                    </a:gs>
                    <a:gs pos="100000">
                      <a:srgbClr val="0E2557"/>
                    </a:gs>
                  </a:gsLst>
                  <a:lin scaled="0"/>
                </a:gradFill>
                <a:latin typeface="宋体" panose="02010600030101010101" pitchFamily="2" charset="-122"/>
              </a:rPr>
              <a:t>)</a:t>
            </a:r>
            <a:r>
              <a:rPr lang="zh-CN" altLang="en-US" sz="2400" b="1" dirty="0">
                <a:gradFill>
                  <a:gsLst>
                    <a:gs pos="0">
                      <a:srgbClr val="012D86"/>
                    </a:gs>
                    <a:gs pos="100000">
                      <a:srgbClr val="0E2557"/>
                    </a:gs>
                  </a:gsLst>
                  <a:lin scaled="0"/>
                </a:gradFill>
                <a:latin typeface="宋体" panose="02010600030101010101" pitchFamily="2" charset="-122"/>
              </a:rPr>
              <a:t>周期的</a:t>
            </a:r>
            <a:r>
              <a:rPr lang="en-US" altLang="zh-CN" sz="2400" b="1" dirty="0">
                <a:gradFill>
                  <a:gsLst>
                    <a:gs pos="0">
                      <a:srgbClr val="012D86"/>
                    </a:gs>
                    <a:gs pos="100000">
                      <a:srgbClr val="0E2557"/>
                    </a:gs>
                  </a:gsLst>
                  <a:lin scaled="0"/>
                </a:gradFill>
                <a:latin typeface="宋体" panose="02010600030101010101" pitchFamily="2" charset="-122"/>
              </a:rPr>
              <a:t>2</a:t>
            </a:r>
            <a:r>
              <a:rPr lang="zh-CN" altLang="en-US" sz="2400" b="1" dirty="0">
                <a:gradFill>
                  <a:gsLst>
                    <a:gs pos="0">
                      <a:srgbClr val="012D86"/>
                    </a:gs>
                    <a:gs pos="100000">
                      <a:srgbClr val="0E2557"/>
                    </a:gs>
                  </a:gsLst>
                  <a:lin scaled="0"/>
                </a:gradFill>
                <a:latin typeface="宋体" panose="02010600030101010101" pitchFamily="2" charset="-122"/>
              </a:rPr>
              <a:t>倍、</a:t>
            </a:r>
            <a:r>
              <a:rPr lang="en-US" altLang="zh-CN" sz="2400" b="1" dirty="0">
                <a:gradFill>
                  <a:gsLst>
                    <a:gs pos="0">
                      <a:srgbClr val="012D86"/>
                    </a:gs>
                    <a:gs pos="100000">
                      <a:srgbClr val="0E2557"/>
                    </a:gs>
                  </a:gsLst>
                  <a:lin scaled="0"/>
                </a:gradFill>
                <a:latin typeface="宋体" panose="02010600030101010101" pitchFamily="2" charset="-122"/>
              </a:rPr>
              <a:t>4</a:t>
            </a:r>
            <a:r>
              <a:rPr lang="zh-CN" altLang="en-US" sz="2400" b="1" dirty="0">
                <a:gradFill>
                  <a:gsLst>
                    <a:gs pos="0">
                      <a:srgbClr val="012D86"/>
                    </a:gs>
                    <a:gs pos="100000">
                      <a:srgbClr val="0E2557"/>
                    </a:gs>
                  </a:gsLst>
                  <a:lin scaled="0"/>
                </a:gradFill>
                <a:latin typeface="宋体" panose="02010600030101010101" pitchFamily="2" charset="-122"/>
              </a:rPr>
              <a:t>倍、</a:t>
            </a:r>
            <a:r>
              <a:rPr lang="en-US" altLang="zh-CN" sz="2400" b="1" dirty="0">
                <a:gradFill>
                  <a:gsLst>
                    <a:gs pos="0">
                      <a:srgbClr val="012D86"/>
                    </a:gs>
                    <a:gs pos="100000">
                      <a:srgbClr val="0E2557"/>
                    </a:gs>
                  </a:gsLst>
                  <a:lin scaled="0"/>
                </a:gradFill>
                <a:latin typeface="宋体" panose="02010600030101010101" pitchFamily="2" charset="-122"/>
              </a:rPr>
              <a:t>8</a:t>
            </a:r>
            <a:r>
              <a:rPr lang="zh-CN" altLang="en-US" sz="2400" b="1" dirty="0">
                <a:gradFill>
                  <a:gsLst>
                    <a:gs pos="0">
                      <a:srgbClr val="012D86"/>
                    </a:gs>
                    <a:gs pos="100000">
                      <a:srgbClr val="0E2557"/>
                    </a:gs>
                  </a:gsLst>
                  <a:lin scaled="0"/>
                </a:gradFill>
                <a:latin typeface="宋体" panose="02010600030101010101" pitchFamily="2" charset="-122"/>
              </a:rPr>
              <a:t>倍、</a:t>
            </a:r>
            <a:r>
              <a:rPr lang="en-US" altLang="zh-CN" sz="2400" b="1" dirty="0">
                <a:gradFill>
                  <a:gsLst>
                    <a:gs pos="0">
                      <a:srgbClr val="012D86"/>
                    </a:gs>
                    <a:gs pos="100000">
                      <a:srgbClr val="0E2557"/>
                    </a:gs>
                  </a:gsLst>
                  <a:lin scaled="0"/>
                </a:gradFill>
                <a:latin typeface="宋体" panose="02010600030101010101" pitchFamily="2" charset="-122"/>
              </a:rPr>
              <a:t>16</a:t>
            </a:r>
            <a:r>
              <a:rPr lang="zh-CN" altLang="en-US" sz="2400" b="1" dirty="0">
                <a:gradFill>
                  <a:gsLst>
                    <a:gs pos="0">
                      <a:srgbClr val="012D86"/>
                    </a:gs>
                    <a:gs pos="100000">
                      <a:srgbClr val="0E2557"/>
                    </a:gs>
                  </a:gsLst>
                  <a:lin scaled="0"/>
                </a:gradFill>
                <a:latin typeface="宋体" panose="02010600030101010101" pitchFamily="2" charset="-122"/>
              </a:rPr>
              <a:t>倍，因而计数器也可作为分频器。</a:t>
            </a:r>
            <a:endParaRPr lang="zh-CN" altLang="en-US" sz="2400" b="1" dirty="0">
              <a:gradFill>
                <a:gsLst>
                  <a:gs pos="0">
                    <a:srgbClr val="012D86"/>
                  </a:gs>
                  <a:gs pos="100000">
                    <a:srgbClr val="0E2557"/>
                  </a:gs>
                </a:gsLst>
                <a:lin scaled="0"/>
              </a:gra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1010"/>
                                        </p:tgtEl>
                                        <p:attrNameLst>
                                          <p:attrName>style.visibility</p:attrName>
                                        </p:attrNameLst>
                                      </p:cBhvr>
                                      <p:to>
                                        <p:strVal val="visible"/>
                                      </p:to>
                                    </p:set>
                                    <p:animEffect transition="in" filter="wipe(left)">
                                      <p:cBhvr>
                                        <p:cTn id="7" dur="500"/>
                                        <p:tgtEl>
                                          <p:spTgt spid="1710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1011"/>
                                        </p:tgtEl>
                                        <p:attrNameLst>
                                          <p:attrName>style.visibility</p:attrName>
                                        </p:attrNameLst>
                                      </p:cBhvr>
                                      <p:to>
                                        <p:strVal val="visible"/>
                                      </p:to>
                                    </p:set>
                                    <p:animEffect transition="in" filter="wipe(left)">
                                      <p:cBhvr>
                                        <p:cTn id="12" dur="500"/>
                                        <p:tgtEl>
                                          <p:spTgt spid="1710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1012"/>
                                        </p:tgtEl>
                                        <p:attrNameLst>
                                          <p:attrName>style.visibility</p:attrName>
                                        </p:attrNameLst>
                                      </p:cBhvr>
                                      <p:to>
                                        <p:strVal val="visible"/>
                                      </p:to>
                                    </p:set>
                                    <p:animEffect transition="in" filter="wipe(left)">
                                      <p:cBhvr>
                                        <p:cTn id="17" dur="500"/>
                                        <p:tgtEl>
                                          <p:spTgt spid="1710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1013"/>
                                        </p:tgtEl>
                                        <p:attrNameLst>
                                          <p:attrName>style.visibility</p:attrName>
                                        </p:attrNameLst>
                                      </p:cBhvr>
                                      <p:to>
                                        <p:strVal val="visible"/>
                                      </p:to>
                                    </p:set>
                                    <p:animEffect transition="in" filter="wipe(left)">
                                      <p:cBhvr>
                                        <p:cTn id="22" dur="500"/>
                                        <p:tgtEl>
                                          <p:spTgt spid="1710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1014"/>
                                        </p:tgtEl>
                                        <p:attrNameLst>
                                          <p:attrName>style.visibility</p:attrName>
                                        </p:attrNameLst>
                                      </p:cBhvr>
                                      <p:to>
                                        <p:strVal val="visible"/>
                                      </p:to>
                                    </p:set>
                                    <p:animEffect transition="in" filter="wipe(left)">
                                      <p:cBhvr>
                                        <p:cTn id="27" dur="500"/>
                                        <p:tgtEl>
                                          <p:spTgt spid="171014"/>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939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71017"/>
                                        </p:tgtEl>
                                        <p:attrNameLst>
                                          <p:attrName>style.visibility</p:attrName>
                                        </p:attrNameLst>
                                      </p:cBhvr>
                                      <p:to>
                                        <p:strVal val="visible"/>
                                      </p:to>
                                    </p:set>
                                    <p:animEffect transition="in" filter="blinds(horizontal)">
                                      <p:cBhvr>
                                        <p:cTn id="36" dur="500"/>
                                        <p:tgtEl>
                                          <p:spTgt spid="171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文本框 1"/>
          <p:cNvSpPr txBox="1"/>
          <p:nvPr/>
        </p:nvSpPr>
        <p:spPr>
          <a:xfrm>
            <a:off x="916305" y="1181735"/>
            <a:ext cx="5080000" cy="460375"/>
          </a:xfrm>
          <a:prstGeom prst="rect">
            <a:avLst/>
          </a:prstGeom>
          <a:noFill/>
          <a:ln w="9525">
            <a:noFill/>
          </a:ln>
        </p:spPr>
        <p:txBody>
          <a:bodyPr>
            <a:spAutoFit/>
          </a:bodyPr>
          <a:p>
            <a:r>
              <a:rPr lang="en-US" altLang="zh-CN" sz="2400" b="1">
                <a:solidFill>
                  <a:schemeClr val="tx1"/>
                </a:solidFill>
                <a:ea typeface="宋体" panose="02010600030101010101" pitchFamily="2" charset="-122"/>
              </a:rPr>
              <a:t>(2)</a:t>
            </a:r>
            <a:r>
              <a:rPr lang="zh-CN" sz="2400" b="1">
                <a:solidFill>
                  <a:schemeClr val="tx1"/>
                </a:solidFill>
                <a:ea typeface="宋体" panose="02010600030101010101" pitchFamily="2" charset="-122"/>
              </a:rPr>
              <a:t>异步二进制减法计数器</a:t>
            </a:r>
            <a:endParaRPr lang="zh-CN" altLang="en-US" sz="2400" b="1">
              <a:solidFill>
                <a:schemeClr val="tx1"/>
              </a:solidFill>
              <a:ea typeface="宋体" panose="02010600030101010101" pitchFamily="2" charset="-122"/>
            </a:endParaRPr>
          </a:p>
        </p:txBody>
      </p:sp>
      <p:sp>
        <p:nvSpPr>
          <p:cNvPr id="167966" name="Rectangle 30"/>
          <p:cNvSpPr/>
          <p:nvPr/>
        </p:nvSpPr>
        <p:spPr>
          <a:xfrm>
            <a:off x="837883" y="1641793"/>
            <a:ext cx="8305800" cy="398780"/>
          </a:xfrm>
          <a:prstGeom prst="rect">
            <a:avLst/>
          </a:prstGeom>
          <a:noFill/>
          <a:ln w="9525">
            <a:noFill/>
          </a:ln>
        </p:spPr>
        <p:txBody>
          <a:bodyPr>
            <a:spAutoFit/>
          </a:bodyPr>
          <a:p>
            <a:pPr algn="just">
              <a:spcBef>
                <a:spcPct val="20000"/>
              </a:spcBef>
            </a:pPr>
            <a:r>
              <a:rPr lang="zh-CN" altLang="en-US" sz="2000" b="1" dirty="0">
                <a:gradFill>
                  <a:gsLst>
                    <a:gs pos="0">
                      <a:srgbClr val="012D86"/>
                    </a:gs>
                    <a:gs pos="100000">
                      <a:srgbClr val="0E2557"/>
                    </a:gs>
                  </a:gsLst>
                  <a:lin scaled="0"/>
                </a:gradFill>
                <a:latin typeface="宋体" panose="02010600030101010101" pitchFamily="2" charset="-122"/>
              </a:rPr>
              <a:t>用</a:t>
            </a:r>
            <a:r>
              <a:rPr lang="en-US" altLang="zh-CN" sz="2000" b="1" dirty="0">
                <a:gradFill>
                  <a:gsLst>
                    <a:gs pos="0">
                      <a:srgbClr val="012D86"/>
                    </a:gs>
                    <a:gs pos="100000">
                      <a:srgbClr val="0E2557"/>
                    </a:gs>
                  </a:gsLst>
                  <a:lin scaled="0"/>
                </a:gradFill>
                <a:latin typeface="宋体" panose="02010600030101010101" pitchFamily="2" charset="-122"/>
              </a:rPr>
              <a:t>4</a:t>
            </a:r>
            <a:r>
              <a:rPr lang="zh-CN" altLang="en-US" sz="2000" b="1" dirty="0">
                <a:gradFill>
                  <a:gsLst>
                    <a:gs pos="0">
                      <a:srgbClr val="012D86"/>
                    </a:gs>
                    <a:gs pos="100000">
                      <a:srgbClr val="0E2557"/>
                    </a:gs>
                  </a:gsLst>
                  <a:lin scaled="0"/>
                </a:gradFill>
                <a:latin typeface="宋体" panose="02010600030101010101" pitchFamily="2" charset="-122"/>
              </a:rPr>
              <a:t>个上升沿触发的</a:t>
            </a:r>
            <a:r>
              <a:rPr lang="en-US" altLang="zh-CN" sz="2000" b="1" dirty="0">
                <a:gradFill>
                  <a:gsLst>
                    <a:gs pos="0">
                      <a:srgbClr val="012D86"/>
                    </a:gs>
                    <a:gs pos="100000">
                      <a:srgbClr val="0E2557"/>
                    </a:gs>
                  </a:gsLst>
                  <a:lin scaled="0"/>
                </a:gradFill>
                <a:latin typeface="Times New Roman" panose="02020603050405020304" charset="0"/>
              </a:rPr>
              <a:t>D</a:t>
            </a:r>
            <a:r>
              <a:rPr lang="zh-CN" altLang="en-US" sz="2000" b="1" dirty="0">
                <a:gradFill>
                  <a:gsLst>
                    <a:gs pos="0">
                      <a:srgbClr val="012D86"/>
                    </a:gs>
                    <a:gs pos="100000">
                      <a:srgbClr val="0E2557"/>
                    </a:gs>
                  </a:gsLst>
                  <a:lin scaled="0"/>
                </a:gradFill>
                <a:latin typeface="宋体" panose="02010600030101010101" pitchFamily="2" charset="-122"/>
              </a:rPr>
              <a:t>触发器组成的</a:t>
            </a:r>
            <a:r>
              <a:rPr lang="en-US" altLang="zh-CN" sz="2000" b="1" dirty="0">
                <a:gradFill>
                  <a:gsLst>
                    <a:gs pos="0">
                      <a:srgbClr val="012D86"/>
                    </a:gs>
                    <a:gs pos="100000">
                      <a:srgbClr val="0E2557"/>
                    </a:gs>
                  </a:gsLst>
                  <a:lin scaled="0"/>
                </a:gradFill>
                <a:latin typeface="宋体" panose="02010600030101010101" pitchFamily="2" charset="-122"/>
              </a:rPr>
              <a:t>4</a:t>
            </a:r>
            <a:r>
              <a:rPr lang="zh-CN" altLang="en-US" sz="2000" b="1" dirty="0">
                <a:gradFill>
                  <a:gsLst>
                    <a:gs pos="0">
                      <a:srgbClr val="012D86"/>
                    </a:gs>
                    <a:gs pos="100000">
                      <a:srgbClr val="0E2557"/>
                    </a:gs>
                  </a:gsLst>
                  <a:lin scaled="0"/>
                </a:gradFill>
                <a:latin typeface="宋体" panose="02010600030101010101" pitchFamily="2" charset="-122"/>
              </a:rPr>
              <a:t>位异步二进制减法计数器。</a:t>
            </a:r>
            <a:endParaRPr lang="zh-CN" altLang="en-US" sz="2000" b="1" dirty="0">
              <a:gradFill>
                <a:gsLst>
                  <a:gs pos="0">
                    <a:srgbClr val="012D86"/>
                  </a:gs>
                  <a:gs pos="100000">
                    <a:srgbClr val="0E2557"/>
                  </a:gs>
                </a:gsLst>
                <a:lin scaled="0"/>
              </a:gradFill>
              <a:latin typeface="宋体" panose="02010600030101010101" pitchFamily="2" charset="-122"/>
            </a:endParaRPr>
          </a:p>
        </p:txBody>
      </p:sp>
      <p:pic>
        <p:nvPicPr>
          <p:cNvPr id="9391" name="图片 2828"/>
          <p:cNvPicPr>
            <a:picLocks noChangeAspect="1"/>
          </p:cNvPicPr>
          <p:nvPr/>
        </p:nvPicPr>
        <p:blipFill>
          <a:blip r:embed="rId1"/>
          <a:stretch>
            <a:fillRect/>
          </a:stretch>
        </p:blipFill>
        <p:spPr>
          <a:xfrm>
            <a:off x="1591310" y="2040890"/>
            <a:ext cx="6476365" cy="1725930"/>
          </a:xfrm>
          <a:prstGeom prst="rect">
            <a:avLst/>
          </a:prstGeom>
          <a:noFill/>
          <a:ln>
            <a:noFill/>
          </a:ln>
        </p:spPr>
      </p:pic>
      <p:sp>
        <p:nvSpPr>
          <p:cNvPr id="167964" name="Rectangle 28"/>
          <p:cNvSpPr/>
          <p:nvPr/>
        </p:nvSpPr>
        <p:spPr>
          <a:xfrm>
            <a:off x="809943" y="4050983"/>
            <a:ext cx="7772400" cy="1828800"/>
          </a:xfrm>
          <a:prstGeom prst="rect">
            <a:avLst/>
          </a:prstGeom>
          <a:noFill/>
          <a:ln w="9525">
            <a:noFill/>
          </a:ln>
        </p:spPr>
        <p:txBody>
          <a:bodyPr lIns="92075" tIns="46038" rIns="92075" bIns="46038"/>
          <a:p>
            <a:pPr marL="342900" indent="-342900" algn="just">
              <a:lnSpc>
                <a:spcPct val="135000"/>
              </a:lnSpc>
              <a:spcBef>
                <a:spcPct val="20000"/>
              </a:spcBef>
            </a:pPr>
            <a:r>
              <a:rPr lang="en-US" altLang="zh-CN" sz="2000" dirty="0">
                <a:solidFill>
                  <a:schemeClr val="tx2"/>
                </a:solidFill>
                <a:latin typeface="Times New Roman" panose="02020603050405020304" charset="0"/>
              </a:rPr>
              <a:t> </a:t>
            </a:r>
            <a:r>
              <a:rPr lang="en-US" altLang="zh-CN" sz="2000" b="1" dirty="0">
                <a:solidFill>
                  <a:schemeClr val="tx2"/>
                </a:solidFill>
                <a:latin typeface="Times New Roman" panose="02020603050405020304" charset="0"/>
              </a:rPr>
              <a:t> </a:t>
            </a:r>
            <a:r>
              <a:rPr lang="zh-CN" altLang="en-US" sz="2000" b="1" dirty="0">
                <a:solidFill>
                  <a:schemeClr val="tx1"/>
                </a:solidFill>
                <a:effectLst>
                  <a:outerShdw blurRad="38100" dist="19050" dir="2700000" algn="tl" rotWithShape="0">
                    <a:schemeClr val="dk1">
                      <a:alpha val="40000"/>
                    </a:schemeClr>
                  </a:outerShdw>
                </a:effectLst>
                <a:latin typeface="Arial" panose="020B0604020202020204" pitchFamily="34" charset="0"/>
              </a:rPr>
              <a:t>工作原理：</a:t>
            </a:r>
            <a:r>
              <a:rPr lang="en-US" altLang="zh-CN" sz="2000" b="1" i="1" dirty="0">
                <a:gradFill>
                  <a:gsLst>
                    <a:gs pos="0">
                      <a:srgbClr val="012D86"/>
                    </a:gs>
                    <a:gs pos="100000">
                      <a:srgbClr val="0E2557"/>
                    </a:gs>
                  </a:gsLst>
                  <a:lin scaled="0"/>
                </a:gradFill>
                <a:latin typeface="Times New Roman" panose="02020603050405020304" charset="0"/>
              </a:rPr>
              <a:t>D</a:t>
            </a:r>
            <a:r>
              <a:rPr lang="zh-CN" altLang="en-US" sz="2000" b="1" dirty="0">
                <a:gradFill>
                  <a:gsLst>
                    <a:gs pos="0">
                      <a:srgbClr val="012D86"/>
                    </a:gs>
                    <a:gs pos="100000">
                      <a:srgbClr val="0E2557"/>
                    </a:gs>
                  </a:gsLst>
                  <a:lin scaled="0"/>
                </a:gradFill>
                <a:latin typeface="宋体" panose="02010600030101010101" pitchFamily="2" charset="-122"/>
              </a:rPr>
              <a:t>触发器都接成</a:t>
            </a:r>
            <a:r>
              <a:rPr lang="en-US" altLang="zh-CN" sz="2000" b="1" i="1" dirty="0">
                <a:gradFill>
                  <a:gsLst>
                    <a:gs pos="0">
                      <a:srgbClr val="012D86"/>
                    </a:gs>
                    <a:gs pos="100000">
                      <a:srgbClr val="0E2557"/>
                    </a:gs>
                  </a:gsLst>
                  <a:lin scaled="0"/>
                </a:gradFill>
                <a:latin typeface="Times New Roman" panose="02020603050405020304" charset="0"/>
              </a:rPr>
              <a:t>T</a:t>
            </a:r>
            <a:r>
              <a:rPr lang="en-US" altLang="zh-CN" sz="2000" b="1" dirty="0">
                <a:gradFill>
                  <a:gsLst>
                    <a:gs pos="0">
                      <a:srgbClr val="012D86"/>
                    </a:gs>
                    <a:gs pos="100000">
                      <a:srgbClr val="0E2557"/>
                    </a:gs>
                  </a:gsLst>
                  <a:lin scaled="0"/>
                </a:gradFill>
                <a:latin typeface="Courier New" panose="02070309020205020404" pitchFamily="49" charset="0"/>
              </a:rPr>
              <a:t>’</a:t>
            </a:r>
            <a:r>
              <a:rPr lang="zh-CN" altLang="en-US" sz="2000" b="1" dirty="0">
                <a:gradFill>
                  <a:gsLst>
                    <a:gs pos="0">
                      <a:srgbClr val="012D86"/>
                    </a:gs>
                    <a:gs pos="100000">
                      <a:srgbClr val="0E2557"/>
                    </a:gs>
                  </a:gsLst>
                  <a:lin scaled="0"/>
                </a:gradFill>
                <a:latin typeface="宋体" panose="02010600030101010101" pitchFamily="2" charset="-122"/>
              </a:rPr>
              <a:t>触发器。</a:t>
            </a:r>
            <a:endParaRPr lang="zh-CN" altLang="en-US" sz="2000" b="1" dirty="0">
              <a:gradFill>
                <a:gsLst>
                  <a:gs pos="0">
                    <a:srgbClr val="012D86"/>
                  </a:gs>
                  <a:gs pos="100000">
                    <a:srgbClr val="0E2557"/>
                  </a:gs>
                </a:gsLst>
                <a:lin scaled="0"/>
              </a:gradFill>
              <a:latin typeface="宋体" panose="02010600030101010101" pitchFamily="2" charset="-122"/>
            </a:endParaRPr>
          </a:p>
          <a:p>
            <a:pPr marL="342900" indent="-342900" algn="just">
              <a:lnSpc>
                <a:spcPct val="135000"/>
              </a:lnSpc>
              <a:spcBef>
                <a:spcPct val="20000"/>
              </a:spcBef>
            </a:pPr>
            <a:r>
              <a:rPr lang="zh-CN" altLang="en-US" sz="2000" b="1" dirty="0">
                <a:gradFill>
                  <a:gsLst>
                    <a:gs pos="0">
                      <a:srgbClr val="012D86"/>
                    </a:gs>
                    <a:gs pos="100000">
                      <a:srgbClr val="0E2557"/>
                    </a:gs>
                  </a:gsLst>
                  <a:lin scaled="0"/>
                </a:gradFill>
                <a:latin typeface="宋体" panose="02010600030101010101" pitchFamily="2" charset="-122"/>
              </a:rPr>
              <a:t>    由于是上升沿触发，则应将低位触发器的</a:t>
            </a:r>
            <a:r>
              <a:rPr lang="en-US" altLang="zh-CN" sz="2000" b="1" i="1" dirty="0">
                <a:gradFill>
                  <a:gsLst>
                    <a:gs pos="0">
                      <a:srgbClr val="012D86"/>
                    </a:gs>
                    <a:gs pos="100000">
                      <a:srgbClr val="0E2557"/>
                    </a:gs>
                  </a:gsLst>
                  <a:lin scaled="0"/>
                </a:gradFill>
                <a:latin typeface="Times New Roman" panose="02020603050405020304" charset="0"/>
              </a:rPr>
              <a:t>Q</a:t>
            </a:r>
            <a:r>
              <a:rPr lang="zh-CN" altLang="en-US" sz="2000" b="1" dirty="0">
                <a:gradFill>
                  <a:gsLst>
                    <a:gs pos="0">
                      <a:srgbClr val="012D86"/>
                    </a:gs>
                    <a:gs pos="100000">
                      <a:srgbClr val="0E2557"/>
                    </a:gs>
                  </a:gsLst>
                  <a:lin scaled="0"/>
                </a:gradFill>
                <a:latin typeface="宋体" panose="02010600030101010101" pitchFamily="2" charset="-122"/>
              </a:rPr>
              <a:t>端与相邻高位触发器的时钟脉冲输入端相连，即从</a:t>
            </a:r>
            <a:r>
              <a:rPr lang="en-US" altLang="zh-CN" sz="2000" b="1" i="1" dirty="0">
                <a:gradFill>
                  <a:gsLst>
                    <a:gs pos="0">
                      <a:srgbClr val="012D86"/>
                    </a:gs>
                    <a:gs pos="100000">
                      <a:srgbClr val="0E2557"/>
                    </a:gs>
                  </a:gsLst>
                  <a:lin scaled="0"/>
                </a:gradFill>
                <a:latin typeface="Times New Roman" panose="02020603050405020304" charset="0"/>
              </a:rPr>
              <a:t>Q</a:t>
            </a:r>
            <a:r>
              <a:rPr lang="zh-CN" altLang="en-US" sz="2000" b="1" dirty="0">
                <a:gradFill>
                  <a:gsLst>
                    <a:gs pos="0">
                      <a:srgbClr val="012D86"/>
                    </a:gs>
                    <a:gs pos="100000">
                      <a:srgbClr val="0E2557"/>
                    </a:gs>
                  </a:gsLst>
                  <a:lin scaled="0"/>
                </a:gradFill>
                <a:latin typeface="宋体" panose="02010600030101010101" pitchFamily="2" charset="-122"/>
              </a:rPr>
              <a:t>端取借位信号。</a:t>
            </a:r>
            <a:endParaRPr lang="zh-CN" altLang="en-US" sz="2000" b="1" dirty="0">
              <a:gradFill>
                <a:gsLst>
                  <a:gs pos="0">
                    <a:srgbClr val="012D86"/>
                  </a:gs>
                  <a:gs pos="100000">
                    <a:srgbClr val="0E2557"/>
                  </a:gs>
                </a:gsLst>
                <a:lin scaled="0"/>
              </a:gradFill>
              <a:latin typeface="宋体" panose="02010600030101010101" pitchFamily="2" charset="-122"/>
            </a:endParaRPr>
          </a:p>
          <a:p>
            <a:pPr marL="342900" indent="-342900" algn="just">
              <a:lnSpc>
                <a:spcPct val="135000"/>
              </a:lnSpc>
              <a:spcBef>
                <a:spcPct val="20000"/>
              </a:spcBef>
            </a:pPr>
            <a:r>
              <a:rPr lang="zh-CN" altLang="en-US" sz="2000" dirty="0">
                <a:latin typeface="宋体" panose="02010600030101010101" pitchFamily="2" charset="-122"/>
              </a:rPr>
              <a:t>     </a:t>
            </a:r>
            <a:r>
              <a:rPr lang="zh-CN" altLang="en-US" sz="2000" b="1" dirty="0">
                <a:solidFill>
                  <a:srgbClr val="FF00FF"/>
                </a:solidFill>
                <a:latin typeface="宋体" panose="02010600030101010101" pitchFamily="2" charset="-122"/>
              </a:rPr>
              <a:t>它也同样具有分频作用。</a:t>
            </a:r>
            <a:endParaRPr lang="zh-CN" altLang="en-US" sz="3200" dirty="0">
              <a:solidFill>
                <a:srgbClr val="FF00FF"/>
              </a:solidFill>
              <a:latin typeface="宋体" panose="02010600030101010101" pitchFamily="2" charset="-122"/>
            </a:endParaRPr>
          </a:p>
          <a:p>
            <a:pPr marL="342900" indent="-342900" algn="just">
              <a:lnSpc>
                <a:spcPct val="135000"/>
              </a:lnSpc>
              <a:spcBef>
                <a:spcPct val="20000"/>
              </a:spcBef>
            </a:pPr>
            <a:endParaRPr lang="en-US" altLang="zh-CN" sz="2000" b="0" dirty="0">
              <a:solidFill>
                <a:srgbClr val="FF00FF"/>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7964">
                                            <p:txEl>
                                              <p:charRg st="0" end="21"/>
                                            </p:txEl>
                                          </p:spTgt>
                                        </p:tgtEl>
                                        <p:attrNameLst>
                                          <p:attrName>style.visibility</p:attrName>
                                        </p:attrNameLst>
                                      </p:cBhvr>
                                      <p:to>
                                        <p:strVal val="visible"/>
                                      </p:to>
                                    </p:set>
                                    <p:animEffect transition="in" filter="blinds(horizontal)">
                                      <p:cBhvr>
                                        <p:cTn id="7" dur="500"/>
                                        <p:tgtEl>
                                          <p:spTgt spid="167964">
                                            <p:txEl>
                                              <p:charRg st="0" end="2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7964">
                                            <p:txEl>
                                              <p:charRg st="21" end="75"/>
                                            </p:txEl>
                                          </p:spTgt>
                                        </p:tgtEl>
                                        <p:attrNameLst>
                                          <p:attrName>style.visibility</p:attrName>
                                        </p:attrNameLst>
                                      </p:cBhvr>
                                      <p:to>
                                        <p:strVal val="visible"/>
                                      </p:to>
                                    </p:set>
                                    <p:animEffect transition="in" filter="blinds(horizontal)">
                                      <p:cBhvr>
                                        <p:cTn id="12" dur="500"/>
                                        <p:tgtEl>
                                          <p:spTgt spid="167964">
                                            <p:txEl>
                                              <p:charRg st="21" end="7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7964">
                                            <p:txEl>
                                              <p:charRg st="75" end="92"/>
                                            </p:txEl>
                                          </p:spTgt>
                                        </p:tgtEl>
                                        <p:attrNameLst>
                                          <p:attrName>style.visibility</p:attrName>
                                        </p:attrNameLst>
                                      </p:cBhvr>
                                      <p:to>
                                        <p:strVal val="visible"/>
                                      </p:to>
                                    </p:set>
                                    <p:animEffect transition="in" filter="blinds(horizontal)">
                                      <p:cBhvr>
                                        <p:cTn id="17" dur="500"/>
                                        <p:tgtEl>
                                          <p:spTgt spid="167964">
                                            <p:txEl>
                                              <p:charRg st="75" end="9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64"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pic>
        <p:nvPicPr>
          <p:cNvPr id="9392" name="图片 2829"/>
          <p:cNvPicPr>
            <a:picLocks noChangeAspect="1"/>
          </p:cNvPicPr>
          <p:nvPr/>
        </p:nvPicPr>
        <p:blipFill>
          <a:blip r:embed="rId1"/>
          <a:stretch>
            <a:fillRect/>
          </a:stretch>
        </p:blipFill>
        <p:spPr>
          <a:xfrm>
            <a:off x="1698625" y="3792855"/>
            <a:ext cx="5363845" cy="2225040"/>
          </a:xfrm>
          <a:prstGeom prst="rect">
            <a:avLst/>
          </a:prstGeom>
          <a:noFill/>
          <a:ln>
            <a:noFill/>
          </a:ln>
        </p:spPr>
      </p:pic>
      <p:sp>
        <p:nvSpPr>
          <p:cNvPr id="101" name="文本框 100"/>
          <p:cNvSpPr txBox="1"/>
          <p:nvPr/>
        </p:nvSpPr>
        <p:spPr>
          <a:xfrm>
            <a:off x="2418715" y="6017895"/>
            <a:ext cx="5080000" cy="337185"/>
          </a:xfrm>
          <a:prstGeom prst="rect">
            <a:avLst/>
          </a:prstGeom>
          <a:noFill/>
          <a:ln w="9525">
            <a:noFill/>
          </a:ln>
        </p:spPr>
        <p:txBody>
          <a:bodyPr>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26 </a:t>
            </a:r>
            <a:r>
              <a:rPr lang="en-US" sz="1600">
                <a:latin typeface="Times New Roman" panose="02020603050405020304" charset="0"/>
                <a:ea typeface="宋体" panose="02010600030101010101" pitchFamily="2" charset="-122"/>
                <a:cs typeface="Times New Roman" panose="02020603050405020304" charset="0"/>
              </a:rPr>
              <a:t> 4</a:t>
            </a:r>
            <a:r>
              <a:rPr lang="zh-CN" sz="1600">
                <a:ea typeface="宋体" panose="02010600030101010101" pitchFamily="2" charset="-122"/>
              </a:rPr>
              <a:t>位异步二进制减法计数器时序图</a:t>
            </a:r>
            <a:endParaRPr lang="zh-CN" altLang="en-US" sz="1600"/>
          </a:p>
        </p:txBody>
      </p:sp>
      <p:sp>
        <p:nvSpPr>
          <p:cNvPr id="2" name="文本框 1"/>
          <p:cNvSpPr txBox="1"/>
          <p:nvPr/>
        </p:nvSpPr>
        <p:spPr>
          <a:xfrm>
            <a:off x="2227580" y="3109595"/>
            <a:ext cx="5080000" cy="337185"/>
          </a:xfrm>
          <a:prstGeom prst="rect">
            <a:avLst/>
          </a:prstGeom>
          <a:noFill/>
          <a:ln w="9525">
            <a:noFill/>
          </a:ln>
        </p:spPr>
        <p:txBody>
          <a:bodyPr>
            <a:spAutoFit/>
          </a:bodyPr>
          <a:p>
            <a:pPr algn="ctr"/>
            <a:r>
              <a:rPr lang="zh-CN" sz="1600">
                <a:ea typeface="宋体" panose="02010600030101010101" pitchFamily="2" charset="-122"/>
              </a:rPr>
              <a:t>图</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27 </a:t>
            </a:r>
            <a:r>
              <a:rPr lang="en-US" sz="1600">
                <a:latin typeface="Times New Roman" panose="02020603050405020304" charset="0"/>
                <a:ea typeface="宋体" panose="02010600030101010101" pitchFamily="2" charset="-122"/>
                <a:cs typeface="Times New Roman" panose="02020603050405020304" charset="0"/>
              </a:rPr>
              <a:t> 4</a:t>
            </a:r>
            <a:r>
              <a:rPr lang="zh-CN" sz="1600">
                <a:ea typeface="宋体" panose="02010600030101010101" pitchFamily="2" charset="-122"/>
              </a:rPr>
              <a:t>位异步二进制减法计数器状态图</a:t>
            </a:r>
            <a:endParaRPr lang="zh-CN" altLang="en-US" sz="1600"/>
          </a:p>
        </p:txBody>
      </p:sp>
      <p:sp>
        <p:nvSpPr>
          <p:cNvPr id="3" name="文本框 2"/>
          <p:cNvSpPr txBox="1"/>
          <p:nvPr/>
        </p:nvSpPr>
        <p:spPr>
          <a:xfrm>
            <a:off x="596265" y="3332480"/>
            <a:ext cx="5080000" cy="460375"/>
          </a:xfrm>
          <a:prstGeom prst="rect">
            <a:avLst/>
          </a:prstGeom>
          <a:noFill/>
          <a:ln w="9525">
            <a:noFill/>
          </a:ln>
        </p:spPr>
        <p:txBody>
          <a:bodyPr>
            <a:spAutoFit/>
          </a:bodyPr>
          <a:p>
            <a:r>
              <a:rPr lang="zh-CN" sz="2400" b="1">
                <a:gradFill>
                  <a:gsLst>
                    <a:gs pos="0">
                      <a:srgbClr val="012D86"/>
                    </a:gs>
                    <a:gs pos="100000">
                      <a:srgbClr val="0E2557"/>
                    </a:gs>
                  </a:gsLst>
                  <a:lin scaled="0"/>
                </a:gradFill>
                <a:ea typeface="宋体" panose="02010600030101010101" pitchFamily="2" charset="-122"/>
              </a:rPr>
              <a:t>时序图</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5" name="文本框 4"/>
          <p:cNvSpPr txBox="1"/>
          <p:nvPr/>
        </p:nvSpPr>
        <p:spPr>
          <a:xfrm>
            <a:off x="776605" y="1148715"/>
            <a:ext cx="5080000"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状态转换图</a:t>
            </a:r>
            <a:endParaRPr lang="zh-CN" altLang="en-US"/>
          </a:p>
        </p:txBody>
      </p:sp>
      <p:pic>
        <p:nvPicPr>
          <p:cNvPr id="9393" name="图片 2830"/>
          <p:cNvPicPr>
            <a:picLocks noChangeAspect="1"/>
          </p:cNvPicPr>
          <p:nvPr/>
        </p:nvPicPr>
        <p:blipFill>
          <a:blip r:embed="rId2"/>
          <a:stretch>
            <a:fillRect/>
          </a:stretch>
        </p:blipFill>
        <p:spPr>
          <a:xfrm>
            <a:off x="1304290" y="1609090"/>
            <a:ext cx="7278370" cy="144081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9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0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1000"/>
                                  </p:stCondLst>
                                  <p:childTnLst>
                                    <p:set>
                                      <p:cBhvr>
                                        <p:cTn id="16" dur="1" fill="hold">
                                          <p:stCondLst>
                                            <p:cond delay="0"/>
                                          </p:stCondLst>
                                        </p:cTn>
                                        <p:tgtEl>
                                          <p:spTgt spid="9393"/>
                                        </p:tgtEl>
                                        <p:attrNameLst>
                                          <p:attrName>style.visibility</p:attrName>
                                        </p:attrNameLst>
                                      </p:cBhvr>
                                      <p:to>
                                        <p:strVal val="visible"/>
                                      </p:to>
                                    </p:se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5" grpId="0"/>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1" name="文本框 100"/>
          <p:cNvSpPr txBox="1"/>
          <p:nvPr/>
        </p:nvSpPr>
        <p:spPr>
          <a:xfrm>
            <a:off x="687070" y="1177290"/>
            <a:ext cx="5080000" cy="460375"/>
          </a:xfrm>
          <a:prstGeom prst="rect">
            <a:avLst/>
          </a:prstGeom>
          <a:noFill/>
          <a:ln w="9525">
            <a:noFill/>
          </a:ln>
        </p:spPr>
        <p:txBody>
          <a:bodyPr>
            <a:spAutoFit/>
          </a:bodyPr>
          <a:p>
            <a:pPr indent="267970"/>
            <a:r>
              <a:rPr lang="en-US" sz="2400" b="1">
                <a:solidFill>
                  <a:schemeClr val="accent6">
                    <a:lumMod val="60000"/>
                    <a:lumOff val="40000"/>
                  </a:schemeClr>
                </a:solidFill>
                <a:latin typeface="Times New Roman" panose="02020603050405020304" charset="0"/>
                <a:ea typeface="宋体" panose="02010600030101010101" pitchFamily="2" charset="-122"/>
              </a:rPr>
              <a:t>2. </a:t>
            </a:r>
            <a:r>
              <a:rPr lang="zh-CN" sz="2400" b="1">
                <a:solidFill>
                  <a:schemeClr val="accent6">
                    <a:lumMod val="60000"/>
                    <a:lumOff val="40000"/>
                  </a:schemeClr>
                </a:solidFill>
                <a:ea typeface="宋体" panose="02010600030101010101" pitchFamily="2" charset="-122"/>
              </a:rPr>
              <a:t>同步二进制计数器</a:t>
            </a:r>
            <a:endParaRPr lang="zh-CN" altLang="en-US" sz="2400" b="1">
              <a:solidFill>
                <a:schemeClr val="accent6">
                  <a:lumMod val="60000"/>
                  <a:lumOff val="40000"/>
                </a:schemeClr>
              </a:solidFill>
              <a:ea typeface="宋体" panose="02010600030101010101" pitchFamily="2" charset="-122"/>
            </a:endParaRPr>
          </a:p>
        </p:txBody>
      </p:sp>
      <p:sp>
        <p:nvSpPr>
          <p:cNvPr id="100" name="文本框 99"/>
          <p:cNvSpPr txBox="1"/>
          <p:nvPr/>
        </p:nvSpPr>
        <p:spPr>
          <a:xfrm>
            <a:off x="760730" y="1585595"/>
            <a:ext cx="5080000" cy="460375"/>
          </a:xfrm>
          <a:prstGeom prst="rect">
            <a:avLst/>
          </a:prstGeom>
          <a:noFill/>
          <a:ln w="9525">
            <a:noFill/>
          </a:ln>
        </p:spPr>
        <p:txBody>
          <a:bodyPr>
            <a:spAutoFit/>
          </a:bodyPr>
          <a:p>
            <a:r>
              <a:rPr lang="zh-CN" sz="2400" b="1">
                <a:cs typeface="楷体_GB2312" charset="0"/>
              </a:rPr>
              <a:t>（</a:t>
            </a:r>
            <a:r>
              <a:rPr lang="en-US" sz="2400" b="1">
                <a:latin typeface="Times New Roman" panose="02020603050405020304" charset="0"/>
                <a:cs typeface="楷体_GB2312" charset="0"/>
              </a:rPr>
              <a:t>1</a:t>
            </a:r>
            <a:r>
              <a:rPr lang="zh-CN" sz="2400" b="1">
                <a:cs typeface="楷体_GB2312" charset="0"/>
              </a:rPr>
              <a:t>）</a:t>
            </a:r>
            <a:r>
              <a:rPr lang="zh-CN" sz="2400" b="1">
                <a:ea typeface="宋体" panose="02010600030101010101" pitchFamily="2" charset="-122"/>
              </a:rPr>
              <a:t>同步二进制加法计数器</a:t>
            </a:r>
            <a:endParaRPr lang="zh-CN" altLang="en-US" sz="2400" b="1"/>
          </a:p>
        </p:txBody>
      </p:sp>
      <p:sp>
        <p:nvSpPr>
          <p:cNvPr id="2" name="文本框 1"/>
          <p:cNvSpPr txBox="1"/>
          <p:nvPr/>
        </p:nvSpPr>
        <p:spPr>
          <a:xfrm>
            <a:off x="967740" y="1965960"/>
            <a:ext cx="5423535"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4位</a:t>
            </a:r>
            <a:r>
              <a:rPr lang="zh-CN" sz="2400" b="1">
                <a:gradFill>
                  <a:gsLst>
                    <a:gs pos="0">
                      <a:srgbClr val="012D86"/>
                    </a:gs>
                    <a:gs pos="100000">
                      <a:srgbClr val="0E2557"/>
                    </a:gs>
                  </a:gsLst>
                  <a:lin scaled="0"/>
                </a:gradFill>
                <a:sym typeface="+mn-ea"/>
              </a:rPr>
              <a:t>同步</a:t>
            </a:r>
            <a:r>
              <a:rPr lang="zh-CN" sz="2400" b="1">
                <a:gradFill>
                  <a:gsLst>
                    <a:gs pos="0">
                      <a:srgbClr val="012D86"/>
                    </a:gs>
                    <a:gs pos="100000">
                      <a:srgbClr val="0E2557"/>
                    </a:gs>
                  </a:gsLst>
                  <a:lin scaled="0"/>
                </a:gradFill>
                <a:ea typeface="宋体" panose="02010600030101010101" pitchFamily="2" charset="-122"/>
              </a:rPr>
              <a:t>二进制加法计数器状态转换表</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0" y="2426335"/>
            <a:ext cx="7119620" cy="4277995"/>
          </a:xfrm>
          <a:prstGeom prst="rect">
            <a:avLst/>
          </a:prstGeom>
        </p:spPr>
      </p:pic>
      <p:sp>
        <p:nvSpPr>
          <p:cNvPr id="5" name="文本框 4"/>
          <p:cNvSpPr txBox="1"/>
          <p:nvPr/>
        </p:nvSpPr>
        <p:spPr>
          <a:xfrm>
            <a:off x="7176135" y="2044700"/>
            <a:ext cx="1967865" cy="4408805"/>
          </a:xfrm>
          <a:prstGeom prst="rect">
            <a:avLst/>
          </a:prstGeom>
          <a:noFill/>
          <a:ln w="9525">
            <a:noFill/>
          </a:ln>
        </p:spPr>
        <p:txBody>
          <a:bodyPr wrap="square">
            <a:spAutoFit/>
          </a:bodyPr>
          <a:p>
            <a:pPr>
              <a:lnSpc>
                <a:spcPct val="90000"/>
              </a:lnSpc>
            </a:pPr>
            <a:r>
              <a:rPr lang="zh-CN" sz="2400" b="1">
                <a:gradFill>
                  <a:gsLst>
                    <a:gs pos="0">
                      <a:srgbClr val="012D86"/>
                    </a:gs>
                    <a:gs pos="100000">
                      <a:srgbClr val="0E2557"/>
                    </a:gs>
                  </a:gsLst>
                  <a:lin scaled="0"/>
                </a:gradFill>
                <a:ea typeface="宋体" panose="02010600030101010101" pitchFamily="2" charset="-122"/>
              </a:rPr>
              <a:t>分析表</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6-</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7</a:t>
            </a:r>
            <a:r>
              <a:rPr lang="zh-CN" sz="2400" b="1">
                <a:gradFill>
                  <a:gsLst>
                    <a:gs pos="0">
                      <a:srgbClr val="012D86"/>
                    </a:gs>
                    <a:gs pos="100000">
                      <a:srgbClr val="0E2557"/>
                    </a:gs>
                  </a:gsLst>
                  <a:lin scaled="0"/>
                </a:gradFill>
                <a:ea typeface="宋体" panose="02010600030101010101" pitchFamily="2" charset="-122"/>
              </a:rPr>
              <a:t>可知，最低位触发器来一个时钟脉冲，</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Q</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400" b="1">
                <a:gradFill>
                  <a:gsLst>
                    <a:gs pos="0">
                      <a:srgbClr val="012D86"/>
                    </a:gs>
                    <a:gs pos="100000">
                      <a:srgbClr val="0E2557"/>
                    </a:gs>
                  </a:gsLst>
                  <a:lin scaled="0"/>
                </a:gradFill>
                <a:ea typeface="宋体" panose="02010600030101010101" pitchFamily="2" charset="-122"/>
              </a:rPr>
              <a:t>就翻转一次，因此触发器</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FF0</a:t>
            </a:r>
            <a:r>
              <a:rPr lang="zh-CN" sz="2400" b="1">
                <a:gradFill>
                  <a:gsLst>
                    <a:gs pos="0">
                      <a:srgbClr val="012D86"/>
                    </a:gs>
                    <a:gs pos="100000">
                      <a:srgbClr val="0E2557"/>
                    </a:gs>
                  </a:gsLst>
                  <a:lin scaled="0"/>
                </a:gradFill>
                <a:ea typeface="宋体" panose="02010600030101010101" pitchFamily="2" charset="-122"/>
              </a:rPr>
              <a:t>应构成</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Ｔ′</a:t>
            </a:r>
            <a:r>
              <a:rPr lang="en-US" sz="2400" b="1" i="1" baseline="30000">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 </a:t>
            </a:r>
            <a:r>
              <a:rPr lang="en-US" sz="2400" b="1" baseline="30000">
                <a:gradFill>
                  <a:gsLst>
                    <a:gs pos="0">
                      <a:srgbClr val="012D86"/>
                    </a:gs>
                    <a:gs pos="100000">
                      <a:srgbClr val="0E2557"/>
                    </a:gs>
                  </a:gsLst>
                  <a:lin scaled="0"/>
                </a:gradFill>
                <a:latin typeface="Times New Roman" panose="02020603050405020304" charset="0"/>
                <a:ea typeface="宋体" panose="02010600030101010101" pitchFamily="2" charset="-122"/>
              </a:rPr>
              <a:t> </a:t>
            </a:r>
            <a:r>
              <a:rPr lang="zh-CN" sz="2400" b="1">
                <a:gradFill>
                  <a:gsLst>
                    <a:gs pos="0">
                      <a:srgbClr val="012D86"/>
                    </a:gs>
                    <a:gs pos="100000">
                      <a:srgbClr val="0E2557"/>
                    </a:gs>
                  </a:gsLst>
                  <a:lin scaled="0"/>
                </a:gradFill>
                <a:ea typeface="宋体" panose="02010600030101010101" pitchFamily="2" charset="-122"/>
              </a:rPr>
              <a:t>触发器；其它触发器具备保持和计数翻转功能，用</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T</a:t>
            </a:r>
            <a:r>
              <a:rPr lang="zh-CN" sz="2400" b="1">
                <a:gradFill>
                  <a:gsLst>
                    <a:gs pos="0">
                      <a:srgbClr val="012D86"/>
                    </a:gs>
                    <a:gs pos="100000">
                      <a:srgbClr val="0E2557"/>
                    </a:gs>
                  </a:gsLst>
                  <a:lin scaled="0"/>
                </a:gradFill>
                <a:ea typeface="宋体" panose="02010600030101010101" pitchFamily="2" charset="-122"/>
              </a:rPr>
              <a:t>触发器构成。</a:t>
            </a:r>
            <a:endParaRPr lang="zh-CN" altLang="en-US" sz="2400" b="1">
              <a:gradFill>
                <a:gsLst>
                  <a:gs pos="0">
                    <a:srgbClr val="012D86"/>
                  </a:gs>
                  <a:gs pos="100000">
                    <a:srgbClr val="0E2557"/>
                  </a:gs>
                </a:gsLst>
                <a:lin scaled="0"/>
              </a:gra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aphicFrame>
        <p:nvGraphicFramePr>
          <p:cNvPr id="163881" name="Object 41"/>
          <p:cNvGraphicFramePr>
            <a:graphicFrameLocks noChangeAspect="1"/>
          </p:cNvGraphicFramePr>
          <p:nvPr/>
        </p:nvGraphicFramePr>
        <p:xfrm>
          <a:off x="1113790" y="1920875"/>
          <a:ext cx="918210" cy="550545"/>
        </p:xfrm>
        <a:graphic>
          <a:graphicData uri="http://schemas.openxmlformats.org/presentationml/2006/ole">
            <mc:AlternateContent xmlns:mc="http://schemas.openxmlformats.org/markup-compatibility/2006">
              <mc:Choice xmlns:v="urn:schemas-microsoft-com:vml" Requires="v">
                <p:oleObj spid="_x0000_s3092" name="" r:id="rId1" imgW="358775" imgH="215265" progId="Equation.3">
                  <p:embed/>
                </p:oleObj>
              </mc:Choice>
              <mc:Fallback>
                <p:oleObj name="" r:id="rId1" imgW="358775" imgH="215265" progId="Equation.3">
                  <p:embed/>
                  <p:pic>
                    <p:nvPicPr>
                      <p:cNvPr id="0" name="图片 3091"/>
                      <p:cNvPicPr/>
                      <p:nvPr/>
                    </p:nvPicPr>
                    <p:blipFill>
                      <a:blip r:embed="rId2">
                        <a:clrChange>
                          <a:clrFrom>
                            <a:srgbClr val="000000"/>
                          </a:clrFrom>
                          <a:clrTo>
                            <a:srgbClr val="0033CC"/>
                          </a:clrTo>
                        </a:clrChange>
                      </a:blip>
                      <a:stretch>
                        <a:fillRect/>
                      </a:stretch>
                    </p:blipFill>
                    <p:spPr>
                      <a:xfrm>
                        <a:off x="1113790" y="1920875"/>
                        <a:ext cx="918210" cy="550545"/>
                      </a:xfrm>
                      <a:prstGeom prst="rect">
                        <a:avLst/>
                      </a:prstGeom>
                      <a:noFill/>
                      <a:ln w="38100">
                        <a:noFill/>
                        <a:miter/>
                      </a:ln>
                    </p:spPr>
                  </p:pic>
                </p:oleObj>
              </mc:Fallback>
            </mc:AlternateContent>
          </a:graphicData>
        </a:graphic>
      </p:graphicFrame>
      <p:graphicFrame>
        <p:nvGraphicFramePr>
          <p:cNvPr id="163877" name="Object 37"/>
          <p:cNvGraphicFramePr>
            <a:graphicFrameLocks noChangeAspect="1"/>
          </p:cNvGraphicFramePr>
          <p:nvPr/>
        </p:nvGraphicFramePr>
        <p:xfrm>
          <a:off x="2752090" y="1720850"/>
          <a:ext cx="1537335" cy="950595"/>
        </p:xfrm>
        <a:graphic>
          <a:graphicData uri="http://schemas.openxmlformats.org/presentationml/2006/ole">
            <mc:AlternateContent xmlns:mc="http://schemas.openxmlformats.org/markup-compatibility/2006">
              <mc:Choice xmlns:v="urn:schemas-microsoft-com:vml" Requires="v">
                <p:oleObj spid="_x0000_s3093" name="" r:id="rId3" imgW="654685" imgH="403225" progId="Equation.3">
                  <p:embed/>
                </p:oleObj>
              </mc:Choice>
              <mc:Fallback>
                <p:oleObj name="" r:id="rId3" imgW="654685" imgH="403225" progId="Equation.3">
                  <p:embed/>
                  <p:pic>
                    <p:nvPicPr>
                      <p:cNvPr id="0" name="图片 3092"/>
                      <p:cNvPicPr/>
                      <p:nvPr/>
                    </p:nvPicPr>
                    <p:blipFill>
                      <a:blip r:embed="rId4">
                        <a:clrChange>
                          <a:clrFrom>
                            <a:srgbClr val="000000"/>
                          </a:clrFrom>
                          <a:clrTo>
                            <a:srgbClr val="FF3300"/>
                          </a:clrTo>
                        </a:clrChange>
                      </a:blip>
                      <a:stretch>
                        <a:fillRect/>
                      </a:stretch>
                    </p:blipFill>
                    <p:spPr>
                      <a:xfrm>
                        <a:off x="2752090" y="1720850"/>
                        <a:ext cx="1537335" cy="950595"/>
                      </a:xfrm>
                      <a:prstGeom prst="rect">
                        <a:avLst/>
                      </a:prstGeom>
                      <a:noFill/>
                      <a:ln w="38100">
                        <a:noFill/>
                        <a:miter/>
                      </a:ln>
                    </p:spPr>
                  </p:pic>
                </p:oleObj>
              </mc:Fallback>
            </mc:AlternateContent>
          </a:graphicData>
        </a:graphic>
      </p:graphicFrame>
      <p:graphicFrame>
        <p:nvGraphicFramePr>
          <p:cNvPr id="163884" name="Object 44"/>
          <p:cNvGraphicFramePr>
            <a:graphicFrameLocks noChangeAspect="1"/>
          </p:cNvGraphicFramePr>
          <p:nvPr/>
        </p:nvGraphicFramePr>
        <p:xfrm>
          <a:off x="1062355" y="2576830"/>
          <a:ext cx="3136900" cy="544195"/>
        </p:xfrm>
        <a:graphic>
          <a:graphicData uri="http://schemas.openxmlformats.org/presentationml/2006/ole">
            <mc:AlternateContent xmlns:mc="http://schemas.openxmlformats.org/markup-compatibility/2006">
              <mc:Choice xmlns:v="urn:schemas-microsoft-com:vml" Requires="v">
                <p:oleObj spid="_x0000_s3095" name="" r:id="rId5" imgW="1244600" imgH="215900" progId="Equation.3">
                  <p:embed/>
                </p:oleObj>
              </mc:Choice>
              <mc:Fallback>
                <p:oleObj name="" r:id="rId5" imgW="1244600" imgH="215900" progId="Equation.3">
                  <p:embed/>
                  <p:pic>
                    <p:nvPicPr>
                      <p:cNvPr id="0" name="图片 3094"/>
                      <p:cNvPicPr/>
                      <p:nvPr/>
                    </p:nvPicPr>
                    <p:blipFill>
                      <a:blip r:embed="rId6">
                        <a:clrChange>
                          <a:clrFrom>
                            <a:srgbClr val="000000"/>
                          </a:clrFrom>
                          <a:clrTo>
                            <a:srgbClr val="FF00FF"/>
                          </a:clrTo>
                        </a:clrChange>
                      </a:blip>
                      <a:stretch>
                        <a:fillRect/>
                      </a:stretch>
                    </p:blipFill>
                    <p:spPr>
                      <a:xfrm>
                        <a:off x="1062355" y="2576830"/>
                        <a:ext cx="3136900" cy="544195"/>
                      </a:xfrm>
                      <a:prstGeom prst="rect">
                        <a:avLst/>
                      </a:prstGeom>
                      <a:noFill/>
                      <a:ln w="38100">
                        <a:noFill/>
                        <a:miter/>
                      </a:ln>
                    </p:spPr>
                  </p:pic>
                </p:oleObj>
              </mc:Fallback>
            </mc:AlternateContent>
          </a:graphicData>
        </a:graphic>
      </p:graphicFrame>
      <p:sp>
        <p:nvSpPr>
          <p:cNvPr id="2" name="文本框 1"/>
          <p:cNvSpPr txBox="1"/>
          <p:nvPr/>
        </p:nvSpPr>
        <p:spPr>
          <a:xfrm>
            <a:off x="929640" y="3063875"/>
            <a:ext cx="8030210" cy="460375"/>
          </a:xfrm>
          <a:prstGeom prst="rect">
            <a:avLst/>
          </a:prstGeom>
          <a:noFill/>
        </p:spPr>
        <p:txBody>
          <a:bodyPr wrap="square" rtlCol="0" anchor="t">
            <a:spAutoFit/>
          </a:bodyPr>
          <a:p>
            <a:r>
              <a:rPr lang="zh-CN" altLang="en-US" sz="2400" b="1">
                <a:gradFill>
                  <a:gsLst>
                    <a:gs pos="0">
                      <a:srgbClr val="012D86"/>
                    </a:gs>
                    <a:gs pos="100000">
                      <a:srgbClr val="0E2557"/>
                    </a:gs>
                  </a:gsLst>
                  <a:lin scaled="0"/>
                </a:gradFill>
              </a:rPr>
              <a:t>画逻辑图</a:t>
            </a:r>
            <a:endParaRPr lang="zh-CN" altLang="en-US" sz="2400" b="1">
              <a:gradFill>
                <a:gsLst>
                  <a:gs pos="0">
                    <a:srgbClr val="012D86"/>
                  </a:gs>
                  <a:gs pos="100000">
                    <a:srgbClr val="0E2557"/>
                  </a:gs>
                </a:gsLst>
                <a:lin scaled="0"/>
              </a:gradFill>
            </a:endParaRPr>
          </a:p>
        </p:txBody>
      </p:sp>
      <p:pic>
        <p:nvPicPr>
          <p:cNvPr id="9394" name="图片 2831"/>
          <p:cNvPicPr>
            <a:picLocks noChangeAspect="1"/>
          </p:cNvPicPr>
          <p:nvPr/>
        </p:nvPicPr>
        <p:blipFill>
          <a:blip r:embed="rId7"/>
          <a:stretch>
            <a:fillRect/>
          </a:stretch>
        </p:blipFill>
        <p:spPr>
          <a:xfrm>
            <a:off x="542925" y="3524250"/>
            <a:ext cx="8255000" cy="2334260"/>
          </a:xfrm>
          <a:prstGeom prst="rect">
            <a:avLst/>
          </a:prstGeom>
          <a:noFill/>
          <a:ln>
            <a:noFill/>
          </a:ln>
        </p:spPr>
      </p:pic>
      <p:sp>
        <p:nvSpPr>
          <p:cNvPr id="100" name="文本框 99"/>
          <p:cNvSpPr txBox="1"/>
          <p:nvPr/>
        </p:nvSpPr>
        <p:spPr>
          <a:xfrm>
            <a:off x="2032000" y="5940425"/>
            <a:ext cx="5080000" cy="337185"/>
          </a:xfrm>
          <a:prstGeom prst="rect">
            <a:avLst/>
          </a:prstGeom>
          <a:noFill/>
          <a:ln w="9525">
            <a:noFill/>
          </a:ln>
        </p:spPr>
        <p:txBody>
          <a:bodyPr>
            <a:spAutoFit/>
          </a:bodyPr>
          <a:p>
            <a:pPr algn="ctr"/>
            <a:r>
              <a:rPr lang="zh-CN" sz="1600">
                <a:ea typeface="宋体" panose="02010600030101010101" pitchFamily="2" charset="-122"/>
              </a:rPr>
              <a:t>图</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28 </a:t>
            </a:r>
            <a:r>
              <a:rPr lang="en-US" sz="1600">
                <a:latin typeface="Times New Roman" panose="02020603050405020304" charset="0"/>
                <a:ea typeface="宋体" panose="02010600030101010101" pitchFamily="2" charset="-122"/>
                <a:cs typeface="Times New Roman" panose="02020603050405020304" charset="0"/>
              </a:rPr>
              <a:t> 4</a:t>
            </a:r>
            <a:r>
              <a:rPr lang="zh-CN" sz="1600">
                <a:ea typeface="宋体" panose="02010600030101010101" pitchFamily="2" charset="-122"/>
              </a:rPr>
              <a:t>位同步二进制加法计数器逻辑图</a:t>
            </a:r>
            <a:endParaRPr lang="zh-CN" altLang="en-US" sz="1600"/>
          </a:p>
        </p:txBody>
      </p:sp>
      <p:sp>
        <p:nvSpPr>
          <p:cNvPr id="3" name="文本框 2"/>
          <p:cNvSpPr txBox="1"/>
          <p:nvPr/>
        </p:nvSpPr>
        <p:spPr>
          <a:xfrm>
            <a:off x="1062355" y="1318260"/>
            <a:ext cx="1240155" cy="460375"/>
          </a:xfrm>
          <a:prstGeom prst="rect">
            <a:avLst/>
          </a:prstGeom>
          <a:noFill/>
        </p:spPr>
        <p:txBody>
          <a:bodyPr wrap="none" rtlCol="0" anchor="t">
            <a:spAutoFit/>
          </a:bodyPr>
          <a:p>
            <a:pPr marR="0" defTabSz="914400" eaLnBrk="0" hangingPunct="0">
              <a:spcBef>
                <a:spcPct val="50000"/>
              </a:spcBef>
              <a:buClrTx/>
              <a:buSzTx/>
              <a:buFontTx/>
              <a:defRPr/>
            </a:pPr>
            <a:r>
              <a:rPr lang="en-US" altLang="zh-CN" sz="2400" b="1" i="1" noProof="0" smtClean="0">
                <a:effectLst>
                  <a:outerShdw blurRad="38100" dist="38100" dir="2700000" algn="tl">
                    <a:srgbClr val="FFFFFF"/>
                  </a:outerShdw>
                </a:effectLst>
                <a:latin typeface="Times New Roman" panose="02020603050405020304" charset="0"/>
                <a:cs typeface="Times New Roman" panose="02020603050405020304" charset="0"/>
                <a:sym typeface="+mn-ea"/>
              </a:rPr>
              <a:t>CP</a:t>
            </a:r>
            <a:r>
              <a:rPr lang="en-US" altLang="zh-CN" sz="2400" b="1" i="1" baseline="-25000" noProof="0" smtClean="0">
                <a:effectLst>
                  <a:outerShdw blurRad="38100" dist="38100" dir="2700000" algn="tl">
                    <a:srgbClr val="FFFFFF"/>
                  </a:outerShdw>
                </a:effectLst>
                <a:latin typeface="Times New Roman" panose="02020603050405020304" charset="0"/>
                <a:cs typeface="Times New Roman" panose="02020603050405020304" charset="0"/>
                <a:sym typeface="+mn-ea"/>
              </a:rPr>
              <a:t>i </a:t>
            </a:r>
            <a:r>
              <a:rPr lang="en-US" altLang="zh-CN" sz="2400" b="1" noProof="0" smtClean="0">
                <a:effectLst>
                  <a:outerShdw blurRad="38100" dist="38100" dir="2700000" algn="tl">
                    <a:srgbClr val="FFFFFF"/>
                  </a:outerShdw>
                </a:effectLst>
                <a:latin typeface="Times New Roman" panose="02020603050405020304" charset="0"/>
                <a:cs typeface="Times New Roman" panose="02020603050405020304" charset="0"/>
                <a:sym typeface="+mn-ea"/>
              </a:rPr>
              <a:t>=</a:t>
            </a:r>
            <a:r>
              <a:rPr lang="en-US" altLang="zh-CN" sz="2400" b="1" i="1" noProof="0" smtClean="0">
                <a:effectLst>
                  <a:outerShdw blurRad="38100" dist="38100" dir="2700000" algn="tl">
                    <a:srgbClr val="FFFFFF"/>
                  </a:outerShdw>
                </a:effectLst>
                <a:latin typeface="Times New Roman" panose="02020603050405020304" charset="0"/>
                <a:cs typeface="Times New Roman" panose="02020603050405020304" charset="0"/>
                <a:sym typeface="+mn-ea"/>
              </a:rPr>
              <a:t>CP</a:t>
            </a:r>
            <a:endParaRPr lang="en-US" altLang="zh-CN" sz="2400" b="1" i="1" noProof="0" smtClean="0">
              <a:effectLst>
                <a:outerShdw blurRad="38100" dist="38100" dir="2700000" algn="tl">
                  <a:srgbClr val="FFFFFF"/>
                </a:outerShdw>
              </a:effectLst>
              <a:latin typeface="Times New Roman" panose="02020603050405020304" charset="0"/>
              <a:cs typeface="Times New Roman" panose="020206030504050203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81"/>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1000"/>
                                  </p:stCondLst>
                                  <p:childTnLst>
                                    <p:set>
                                      <p:cBhvr>
                                        <p:cTn id="9" dur="1" fill="hold">
                                          <p:stCondLst>
                                            <p:cond delay="0"/>
                                          </p:stCondLst>
                                        </p:cTn>
                                        <p:tgtEl>
                                          <p:spTgt spid="163877"/>
                                        </p:tgtEl>
                                        <p:attrNameLst>
                                          <p:attrName>style.visibility</p:attrName>
                                        </p:attrNameLst>
                                      </p:cBhvr>
                                      <p:to>
                                        <p:strVal val="visible"/>
                                      </p:to>
                                    </p:set>
                                    <p:animEffect transition="in" filter="wipe(left)">
                                      <p:cBhvr>
                                        <p:cTn id="10" dur="2000"/>
                                        <p:tgtEl>
                                          <p:spTgt spid="163877"/>
                                        </p:tgtEl>
                                      </p:cBhvr>
                                    </p:animEffect>
                                  </p:childTnLst>
                                </p:cTn>
                              </p:par>
                            </p:childTnLst>
                          </p:cTn>
                        </p:par>
                        <p:par>
                          <p:cTn id="11" fill="hold">
                            <p:stCondLst>
                              <p:cond delay="3000"/>
                            </p:stCondLst>
                            <p:childTnLst>
                              <p:par>
                                <p:cTn id="12" presetID="22" presetClass="entr" presetSubtype="8" fill="hold" nodeType="afterEffect">
                                  <p:stCondLst>
                                    <p:cond delay="1500"/>
                                  </p:stCondLst>
                                  <p:childTnLst>
                                    <p:set>
                                      <p:cBhvr>
                                        <p:cTn id="13" dur="1" fill="hold">
                                          <p:stCondLst>
                                            <p:cond delay="0"/>
                                          </p:stCondLst>
                                        </p:cTn>
                                        <p:tgtEl>
                                          <p:spTgt spid="163884"/>
                                        </p:tgtEl>
                                        <p:attrNameLst>
                                          <p:attrName>style.visibility</p:attrName>
                                        </p:attrNameLst>
                                      </p:cBhvr>
                                      <p:to>
                                        <p:strVal val="visible"/>
                                      </p:to>
                                    </p:set>
                                    <p:animEffect transition="in" filter="wipe(left)">
                                      <p:cBhvr>
                                        <p:cTn id="14" dur="500"/>
                                        <p:tgtEl>
                                          <p:spTgt spid="163884"/>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1500"/>
                                  </p:stCondLst>
                                  <p:childTnLst>
                                    <p:set>
                                      <p:cBhvr>
                                        <p:cTn id="21" dur="1" fill="hold">
                                          <p:stCondLst>
                                            <p:cond delay="0"/>
                                          </p:stCondLst>
                                        </p:cTn>
                                        <p:tgtEl>
                                          <p:spTgt spid="9394"/>
                                        </p:tgtEl>
                                        <p:attrNameLst>
                                          <p:attrName>style.visibility</p:attrName>
                                        </p:attrNameLst>
                                      </p:cBhvr>
                                      <p:to>
                                        <p:strVal val="visible"/>
                                      </p:to>
                                    </p:set>
                                  </p:childTnLst>
                                </p:cTn>
                              </p:par>
                            </p:childTnLst>
                          </p:cTn>
                        </p:par>
                        <p:par>
                          <p:cTn id="22" fill="hold">
                            <p:stCondLst>
                              <p:cond delay="1500"/>
                            </p:stCondLst>
                            <p:childTnLst>
                              <p:par>
                                <p:cTn id="23" presetID="1" presetClass="entr" presetSubtype="0" fill="hold" grpId="0" nodeType="afterEffect">
                                  <p:stCondLst>
                                    <p:cond delay="0"/>
                                  </p:stCondLst>
                                  <p:childTnLst>
                                    <p:set>
                                      <p:cBhvr>
                                        <p:cTn id="24"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0" name="文本框 99"/>
          <p:cNvSpPr txBox="1"/>
          <p:nvPr/>
        </p:nvSpPr>
        <p:spPr>
          <a:xfrm>
            <a:off x="735330" y="1138555"/>
            <a:ext cx="5080000" cy="460375"/>
          </a:xfrm>
          <a:prstGeom prst="rect">
            <a:avLst/>
          </a:prstGeom>
          <a:noFill/>
          <a:ln w="9525">
            <a:noFill/>
          </a:ln>
        </p:spPr>
        <p:txBody>
          <a:bodyPr>
            <a:spAutoFit/>
          </a:bodyPr>
          <a:p>
            <a:r>
              <a:rPr lang="zh-CN" sz="2400" b="1">
                <a:cs typeface="楷体_GB2312" charset="0"/>
              </a:rPr>
              <a:t>（</a:t>
            </a:r>
            <a:r>
              <a:rPr lang="en-US" sz="2400" b="1">
                <a:latin typeface="Times New Roman" panose="02020603050405020304" charset="0"/>
                <a:cs typeface="楷体_GB2312" charset="0"/>
              </a:rPr>
              <a:t>2</a:t>
            </a:r>
            <a:r>
              <a:rPr lang="zh-CN" sz="2400" b="1">
                <a:cs typeface="楷体_GB2312" charset="0"/>
              </a:rPr>
              <a:t>）</a:t>
            </a:r>
            <a:r>
              <a:rPr lang="zh-CN" sz="2400" b="1">
                <a:ea typeface="宋体" panose="02010600030101010101" pitchFamily="2" charset="-122"/>
              </a:rPr>
              <a:t>同步二进制减法计数器</a:t>
            </a:r>
            <a:endParaRPr lang="zh-CN" altLang="en-US" sz="2400" b="1"/>
          </a:p>
        </p:txBody>
      </p:sp>
      <p:sp>
        <p:nvSpPr>
          <p:cNvPr id="2" name="文本框 1"/>
          <p:cNvSpPr txBox="1"/>
          <p:nvPr/>
        </p:nvSpPr>
        <p:spPr>
          <a:xfrm>
            <a:off x="1036955" y="1598930"/>
            <a:ext cx="5638165"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4位</a:t>
            </a:r>
            <a:r>
              <a:rPr lang="zh-CN" sz="2400" b="1">
                <a:gradFill>
                  <a:gsLst>
                    <a:gs pos="0">
                      <a:srgbClr val="012D86"/>
                    </a:gs>
                    <a:gs pos="100000">
                      <a:srgbClr val="0E2557"/>
                    </a:gs>
                  </a:gsLst>
                  <a:lin scaled="0"/>
                </a:gradFill>
                <a:sym typeface="+mn-ea"/>
              </a:rPr>
              <a:t>同步</a:t>
            </a:r>
            <a:r>
              <a:rPr lang="zh-CN" sz="2400" b="1">
                <a:gradFill>
                  <a:gsLst>
                    <a:gs pos="0">
                      <a:srgbClr val="012D86"/>
                    </a:gs>
                    <a:gs pos="100000">
                      <a:srgbClr val="0E2557"/>
                    </a:gs>
                  </a:gsLst>
                  <a:lin scaled="0"/>
                </a:gradFill>
                <a:ea typeface="宋体" panose="02010600030101010101" pitchFamily="2" charset="-122"/>
              </a:rPr>
              <a:t>二进制减法计数器状态转换表</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135174" name="Text Box 6"/>
          <p:cNvSpPr txBox="1">
            <a:spLocks noChangeArrowheads="1"/>
          </p:cNvSpPr>
          <p:nvPr/>
        </p:nvSpPr>
        <p:spPr bwMode="auto">
          <a:xfrm>
            <a:off x="5692775" y="1996440"/>
            <a:ext cx="2997200" cy="2491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pPr marR="0" defTabSz="914400" eaLnBrk="0" hangingPunct="0">
              <a:lnSpc>
                <a:spcPct val="100000"/>
              </a:lnSpc>
              <a:spcBef>
                <a:spcPct val="50000"/>
              </a:spcBef>
              <a:buClrTx/>
              <a:buSzTx/>
              <a:buFontTx/>
              <a:buChar char="•"/>
              <a:defRPr/>
            </a:pPr>
            <a:r>
              <a:rPr kumimoji="0" lang="zh-CN" altLang="en-US"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宋体" panose="02010600030101010101" pitchFamily="2" charset="-122"/>
                <a:ea typeface="宋体" panose="02010600030101010101" pitchFamily="2" charset="-122"/>
                <a:cs typeface="+mn-cs"/>
              </a:rPr>
              <a:t>二进制的位数与触发器的个数相同</a:t>
            </a:r>
            <a:endParaRPr kumimoji="0" lang="zh-CN" altLang="en-US"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宋体" panose="02010600030101010101" pitchFamily="2" charset="-122"/>
              <a:ea typeface="宋体" panose="02010600030101010101" pitchFamily="2" charset="-122"/>
              <a:cs typeface="+mn-cs"/>
            </a:endParaRPr>
          </a:p>
          <a:p>
            <a:pPr marR="0" defTabSz="914400" eaLnBrk="0" hangingPunct="0">
              <a:lnSpc>
                <a:spcPct val="100000"/>
              </a:lnSpc>
              <a:spcBef>
                <a:spcPct val="50000"/>
              </a:spcBef>
              <a:buClrTx/>
              <a:buSzTx/>
              <a:buFontTx/>
              <a:buChar char="•"/>
              <a:defRPr/>
            </a:pPr>
            <a:r>
              <a:rPr kumimoji="0" lang="en-US" altLang="zh-CN" sz="2400" b="1" i="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CP</a:t>
            </a:r>
            <a:r>
              <a:rPr kumimoji="0" lang="en-US" altLang="zh-CN" sz="2400" b="1" i="1" kern="1200" cap="none" spc="0" normalizeH="0" baseline="-25000" noProof="0" smtClean="0">
                <a:gradFill>
                  <a:gsLst>
                    <a:gs pos="0">
                      <a:srgbClr val="012D86"/>
                    </a:gs>
                    <a:gs pos="100000">
                      <a:srgbClr val="0E2557"/>
                    </a:gs>
                  </a:gsLst>
                  <a:lin scaled="0"/>
                </a:gradFill>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i</a:t>
            </a:r>
            <a:r>
              <a:rPr kumimoji="0" lang="en-US" altLang="zh-CN"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a:t>
            </a:r>
            <a:r>
              <a:rPr kumimoji="0" lang="en-US" altLang="zh-CN" sz="2400" b="1" i="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CP</a:t>
            </a:r>
            <a:endParaRPr kumimoji="0" lang="en-US" altLang="zh-CN"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endParaRPr>
          </a:p>
          <a:p>
            <a:pPr marR="0" defTabSz="914400" eaLnBrk="0" hangingPunct="0">
              <a:lnSpc>
                <a:spcPct val="100000"/>
              </a:lnSpc>
              <a:spcBef>
                <a:spcPct val="50000"/>
              </a:spcBef>
              <a:buClrTx/>
              <a:buSzTx/>
              <a:buFontTx/>
              <a:buChar char="•"/>
              <a:defRPr/>
            </a:pPr>
            <a:r>
              <a:rPr kumimoji="0" lang="zh-CN" altLang="en-US"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宋体" panose="02010600030101010101" pitchFamily="2" charset="-122"/>
                <a:ea typeface="宋体" panose="02010600030101010101" pitchFamily="2" charset="-122"/>
                <a:cs typeface="+mn-cs"/>
              </a:rPr>
              <a:t>触发器均接成</a:t>
            </a:r>
            <a:r>
              <a:rPr kumimoji="0" lang="en-US" altLang="zh-CN" sz="2400" b="1" i="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TF</a:t>
            </a:r>
            <a:endParaRPr kumimoji="0" lang="en-US" altLang="zh-CN"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宋体" panose="02010600030101010101" pitchFamily="2" charset="-122"/>
              <a:ea typeface="宋体" panose="02010600030101010101" pitchFamily="2" charset="-122"/>
              <a:cs typeface="+mn-cs"/>
            </a:endParaRPr>
          </a:p>
          <a:p>
            <a:pPr marR="0" defTabSz="914400" eaLnBrk="0" hangingPunct="0">
              <a:lnSpc>
                <a:spcPct val="100000"/>
              </a:lnSpc>
              <a:spcBef>
                <a:spcPct val="50000"/>
              </a:spcBef>
              <a:buClrTx/>
              <a:buSzTx/>
              <a:buFontTx/>
              <a:buChar char="•"/>
              <a:defRPr/>
            </a:pPr>
            <a:r>
              <a:rPr kumimoji="0" lang="en-US" altLang="zh-CN" sz="2400" b="1" i="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宋体" panose="02010600030101010101" pitchFamily="2" charset="-122"/>
                <a:ea typeface="宋体" panose="02010600030101010101" pitchFamily="2" charset="-122"/>
                <a:cs typeface="+mn-cs"/>
              </a:rPr>
              <a:t>T</a:t>
            </a:r>
            <a:r>
              <a:rPr kumimoji="0" lang="en-US" altLang="zh-CN" sz="2400" b="1" kern="1200" cap="none" spc="0" normalizeH="0" baseline="-25000" noProof="0" smtClean="0">
                <a:gradFill>
                  <a:gsLst>
                    <a:gs pos="0">
                      <a:srgbClr val="012D86"/>
                    </a:gs>
                    <a:gs pos="100000">
                      <a:srgbClr val="0E2557"/>
                    </a:gs>
                  </a:gsLst>
                  <a:lin scaled="0"/>
                </a:gradFill>
                <a:effectLst>
                  <a:outerShdw blurRad="38100" dist="38100" dir="2700000" algn="tl">
                    <a:srgbClr val="FFFFFF"/>
                  </a:outerShdw>
                </a:effectLst>
                <a:latin typeface="宋体" panose="02010600030101010101" pitchFamily="2" charset="-122"/>
                <a:ea typeface="宋体" panose="02010600030101010101" pitchFamily="2" charset="-122"/>
                <a:cs typeface="+mn-cs"/>
              </a:rPr>
              <a:t>0</a:t>
            </a:r>
            <a:r>
              <a:rPr kumimoji="0" lang="en-US" altLang="zh-CN"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宋体" panose="02010600030101010101" pitchFamily="2" charset="-122"/>
                <a:ea typeface="宋体" panose="02010600030101010101" pitchFamily="2" charset="-122"/>
                <a:cs typeface="+mn-cs"/>
              </a:rPr>
              <a:t>=1</a:t>
            </a:r>
            <a:endParaRPr kumimoji="0" lang="en-US" altLang="zh-CN"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宋体" panose="02010600030101010101" pitchFamily="2" charset="-122"/>
              <a:ea typeface="宋体" panose="02010600030101010101" pitchFamily="2" charset="-122"/>
              <a:cs typeface="+mn-cs"/>
            </a:endParaRPr>
          </a:p>
        </p:txBody>
      </p:sp>
      <p:graphicFrame>
        <p:nvGraphicFramePr>
          <p:cNvPr id="43014" name="Object 7"/>
          <p:cNvGraphicFramePr>
            <a:graphicFrameLocks noGrp="1" noChangeAspect="1"/>
          </p:cNvGraphicFramePr>
          <p:nvPr>
            <p:ph sz="half" idx="1"/>
          </p:nvPr>
        </p:nvGraphicFramePr>
        <p:xfrm>
          <a:off x="5815330" y="4488180"/>
          <a:ext cx="1480185" cy="913765"/>
        </p:xfrm>
        <a:graphic>
          <a:graphicData uri="http://schemas.openxmlformats.org/presentationml/2006/ole">
            <mc:AlternateContent xmlns:mc="http://schemas.openxmlformats.org/markup-compatibility/2006">
              <mc:Choice xmlns:v="urn:schemas-microsoft-com:vml" Requires="v">
                <p:oleObj spid="_x0000_s3078" name="" r:id="rId1" imgW="698500" imgH="431800" progId="Equation.3">
                  <p:embed/>
                </p:oleObj>
              </mc:Choice>
              <mc:Fallback>
                <p:oleObj name="" r:id="rId1" imgW="698500" imgH="431800" progId="Equation.3">
                  <p:embed/>
                  <p:pic>
                    <p:nvPicPr>
                      <p:cNvPr id="0" name="图片 3077"/>
                      <p:cNvPicPr/>
                      <p:nvPr/>
                    </p:nvPicPr>
                    <p:blipFill>
                      <a:blip r:embed="rId2"/>
                      <a:stretch>
                        <a:fillRect/>
                      </a:stretch>
                    </p:blipFill>
                    <p:spPr>
                      <a:xfrm>
                        <a:off x="5815330" y="4488180"/>
                        <a:ext cx="1480185" cy="913765"/>
                      </a:xfrm>
                      <a:prstGeom prst="rect">
                        <a:avLst/>
                      </a:prstGeom>
                      <a:noFill/>
                      <a:ln w="38100">
                        <a:noFill/>
                        <a:miter/>
                      </a:ln>
                    </p:spPr>
                  </p:pic>
                </p:oleObj>
              </mc:Fallback>
            </mc:AlternateContent>
          </a:graphicData>
        </a:graphic>
      </p:graphicFrame>
      <p:graphicFrame>
        <p:nvGraphicFramePr>
          <p:cNvPr id="163884" name="Object 44"/>
          <p:cNvGraphicFramePr>
            <a:graphicFrameLocks noChangeAspect="1"/>
          </p:cNvGraphicFramePr>
          <p:nvPr/>
        </p:nvGraphicFramePr>
        <p:xfrm>
          <a:off x="5799138" y="5476558"/>
          <a:ext cx="3169285" cy="608330"/>
        </p:xfrm>
        <a:graphic>
          <a:graphicData uri="http://schemas.openxmlformats.org/presentationml/2006/ole">
            <mc:AlternateContent xmlns:mc="http://schemas.openxmlformats.org/markup-compatibility/2006">
              <mc:Choice xmlns:v="urn:schemas-microsoft-com:vml" Requires="v">
                <p:oleObj spid="_x0000_s3095" name="" r:id="rId3" imgW="1257300" imgH="241300" progId="Equation.3">
                  <p:embed/>
                </p:oleObj>
              </mc:Choice>
              <mc:Fallback>
                <p:oleObj name="" r:id="rId3" imgW="1257300" imgH="241300" progId="Equation.3">
                  <p:embed/>
                  <p:pic>
                    <p:nvPicPr>
                      <p:cNvPr id="0" name="图片 3094"/>
                      <p:cNvPicPr/>
                      <p:nvPr/>
                    </p:nvPicPr>
                    <p:blipFill>
                      <a:blip r:embed="rId4">
                        <a:clrChange>
                          <a:clrFrom>
                            <a:srgbClr val="000000"/>
                          </a:clrFrom>
                          <a:clrTo>
                            <a:srgbClr val="FF00FF"/>
                          </a:clrTo>
                        </a:clrChange>
                      </a:blip>
                      <a:stretch>
                        <a:fillRect/>
                      </a:stretch>
                    </p:blipFill>
                    <p:spPr>
                      <a:xfrm>
                        <a:off x="5799138" y="5476558"/>
                        <a:ext cx="3169285" cy="608330"/>
                      </a:xfrm>
                      <a:prstGeom prst="rect">
                        <a:avLst/>
                      </a:prstGeom>
                      <a:noFill/>
                      <a:ln w="38100">
                        <a:noFill/>
                        <a:miter/>
                      </a:ln>
                    </p:spPr>
                  </p:pic>
                </p:oleObj>
              </mc:Fallback>
            </mc:AlternateContent>
          </a:graphicData>
        </a:graphic>
      </p:graphicFrame>
      <p:graphicFrame>
        <p:nvGraphicFramePr>
          <p:cNvPr id="5" name="对象 4"/>
          <p:cNvGraphicFramePr/>
          <p:nvPr/>
        </p:nvGraphicFramePr>
        <p:xfrm>
          <a:off x="0" y="2059305"/>
          <a:ext cx="5379085" cy="4659630"/>
        </p:xfrm>
        <a:graphic>
          <a:graphicData uri="http://schemas.openxmlformats.org/presentationml/2006/ole">
            <mc:AlternateContent xmlns:mc="http://schemas.openxmlformats.org/markup-compatibility/2006">
              <mc:Choice xmlns:v="urn:schemas-microsoft-com:vml" Requires="v">
                <p:oleObj spid="_x0000_s6" name="" r:id="rId5" imgW="5238750" imgH="4476750" progId="Paint.Picture">
                  <p:embed/>
                </p:oleObj>
              </mc:Choice>
              <mc:Fallback>
                <p:oleObj name="" r:id="rId5" imgW="5238750" imgH="4476750" progId="Paint.Picture">
                  <p:embed/>
                  <p:pic>
                    <p:nvPicPr>
                      <p:cNvPr id="0" name="图片 5"/>
                      <p:cNvPicPr/>
                      <p:nvPr/>
                    </p:nvPicPr>
                    <p:blipFill>
                      <a:blip r:embed="rId6"/>
                      <a:stretch>
                        <a:fillRect/>
                      </a:stretch>
                    </p:blipFill>
                    <p:spPr>
                      <a:xfrm>
                        <a:off x="0" y="2059305"/>
                        <a:ext cx="5379085" cy="465963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000" fill="hold">
                                          <p:stCondLst>
                                            <p:cond delay="0"/>
                                          </p:stCondLst>
                                        </p:cTn>
                                        <p:tgtEl>
                                          <p:spTgt spid="135174">
                                            <p:bg/>
                                          </p:spTgt>
                                        </p:tgtEl>
                                        <p:attrNameLst>
                                          <p:attrName>style.visibility</p:attrName>
                                        </p:attrNameLst>
                                      </p:cBhvr>
                                      <p:to>
                                        <p:strVal val="visible"/>
                                      </p:to>
                                    </p:set>
                                    <p:animEffect transition="in" filter="wipe(left)">
                                      <p:cBhvr>
                                        <p:cTn id="14" dur="1000"/>
                                        <p:tgtEl>
                                          <p:spTgt spid="135174">
                                            <p:bg/>
                                          </p:spTgt>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000" fill="hold">
                                          <p:stCondLst>
                                            <p:cond delay="0"/>
                                          </p:stCondLst>
                                        </p:cTn>
                                        <p:tgtEl>
                                          <p:spTgt spid="135174">
                                            <p:txEl>
                                              <p:pRg st="0" end="0"/>
                                            </p:txEl>
                                          </p:spTgt>
                                        </p:tgtEl>
                                        <p:attrNameLst>
                                          <p:attrName>style.visibility</p:attrName>
                                        </p:attrNameLst>
                                      </p:cBhvr>
                                      <p:to>
                                        <p:strVal val="visible"/>
                                      </p:to>
                                    </p:set>
                                    <p:animEffect transition="in" filter="wipe(left)">
                                      <p:cBhvr>
                                        <p:cTn id="18" dur="1000"/>
                                        <p:tgtEl>
                                          <p:spTgt spid="135174">
                                            <p:txEl>
                                              <p:pRg st="0" end="0"/>
                                            </p:txEl>
                                          </p:spTgt>
                                        </p:tgtEl>
                                      </p:cBhvr>
                                    </p:animEffect>
                                  </p:childTnLst>
                                </p:cTn>
                              </p:par>
                            </p:childTnLst>
                          </p:cTn>
                        </p:par>
                        <p:par>
                          <p:cTn id="19" fill="hold">
                            <p:stCondLst>
                              <p:cond delay="2000"/>
                            </p:stCondLst>
                            <p:childTnLst>
                              <p:par>
                                <p:cTn id="20" presetID="22" presetClass="entr" presetSubtype="8" fill="hold" grpId="0" nodeType="afterEffect">
                                  <p:stCondLst>
                                    <p:cond delay="1000"/>
                                  </p:stCondLst>
                                  <p:childTnLst>
                                    <p:set>
                                      <p:cBhvr>
                                        <p:cTn id="21" dur="1000" fill="hold">
                                          <p:stCondLst>
                                            <p:cond delay="0"/>
                                          </p:stCondLst>
                                        </p:cTn>
                                        <p:tgtEl>
                                          <p:spTgt spid="135174">
                                            <p:txEl>
                                              <p:pRg st="1" end="1"/>
                                            </p:txEl>
                                          </p:spTgt>
                                        </p:tgtEl>
                                        <p:attrNameLst>
                                          <p:attrName>style.visibility</p:attrName>
                                        </p:attrNameLst>
                                      </p:cBhvr>
                                      <p:to>
                                        <p:strVal val="visible"/>
                                      </p:to>
                                    </p:set>
                                    <p:animEffect transition="in" filter="wipe(left)">
                                      <p:cBhvr>
                                        <p:cTn id="22" dur="1000"/>
                                        <p:tgtEl>
                                          <p:spTgt spid="135174">
                                            <p:txEl>
                                              <p:pRg st="1" end="1"/>
                                            </p:txEl>
                                          </p:spTgt>
                                        </p:tgtEl>
                                      </p:cBhvr>
                                    </p:animEffect>
                                  </p:childTnLst>
                                </p:cTn>
                              </p:par>
                            </p:childTnLst>
                          </p:cTn>
                        </p:par>
                        <p:par>
                          <p:cTn id="23" fill="hold">
                            <p:stCondLst>
                              <p:cond delay="4000"/>
                            </p:stCondLst>
                            <p:childTnLst>
                              <p:par>
                                <p:cTn id="24" presetID="22" presetClass="entr" presetSubtype="8" fill="hold" grpId="0" nodeType="afterEffect">
                                  <p:stCondLst>
                                    <p:cond delay="1500"/>
                                  </p:stCondLst>
                                  <p:childTnLst>
                                    <p:set>
                                      <p:cBhvr>
                                        <p:cTn id="25" dur="1000" fill="hold">
                                          <p:stCondLst>
                                            <p:cond delay="0"/>
                                          </p:stCondLst>
                                        </p:cTn>
                                        <p:tgtEl>
                                          <p:spTgt spid="135174">
                                            <p:txEl>
                                              <p:pRg st="2" end="2"/>
                                            </p:txEl>
                                          </p:spTgt>
                                        </p:tgtEl>
                                        <p:attrNameLst>
                                          <p:attrName>style.visibility</p:attrName>
                                        </p:attrNameLst>
                                      </p:cBhvr>
                                      <p:to>
                                        <p:strVal val="visible"/>
                                      </p:to>
                                    </p:set>
                                    <p:animEffect transition="in" filter="wipe(left)">
                                      <p:cBhvr>
                                        <p:cTn id="26" dur="1000"/>
                                        <p:tgtEl>
                                          <p:spTgt spid="135174">
                                            <p:txEl>
                                              <p:pRg st="2" end="2"/>
                                            </p:txEl>
                                          </p:spTgt>
                                        </p:tgtEl>
                                      </p:cBhvr>
                                    </p:animEffect>
                                  </p:childTnLst>
                                </p:cTn>
                              </p:par>
                            </p:childTnLst>
                          </p:cTn>
                        </p:par>
                        <p:par>
                          <p:cTn id="27" fill="hold">
                            <p:stCondLst>
                              <p:cond delay="6500"/>
                            </p:stCondLst>
                            <p:childTnLst>
                              <p:par>
                                <p:cTn id="28" presetID="22" presetClass="entr" presetSubtype="8" fill="hold" grpId="0" nodeType="afterEffect">
                                  <p:stCondLst>
                                    <p:cond delay="1000"/>
                                  </p:stCondLst>
                                  <p:childTnLst>
                                    <p:set>
                                      <p:cBhvr>
                                        <p:cTn id="29" dur="1000" fill="hold">
                                          <p:stCondLst>
                                            <p:cond delay="0"/>
                                          </p:stCondLst>
                                        </p:cTn>
                                        <p:tgtEl>
                                          <p:spTgt spid="135174">
                                            <p:txEl>
                                              <p:pRg st="3" end="3"/>
                                            </p:txEl>
                                          </p:spTgt>
                                        </p:tgtEl>
                                        <p:attrNameLst>
                                          <p:attrName>style.visibility</p:attrName>
                                        </p:attrNameLst>
                                      </p:cBhvr>
                                      <p:to>
                                        <p:strVal val="visible"/>
                                      </p:to>
                                    </p:set>
                                    <p:animEffect transition="in" filter="wipe(left)">
                                      <p:cBhvr>
                                        <p:cTn id="30" dur="1000"/>
                                        <p:tgtEl>
                                          <p:spTgt spid="135174">
                                            <p:txEl>
                                              <p:pRg st="3" end="3"/>
                                            </p:txEl>
                                          </p:spTgt>
                                        </p:tgtEl>
                                      </p:cBhvr>
                                    </p:animEffect>
                                  </p:childTnLst>
                                </p:cTn>
                              </p:par>
                            </p:childTnLst>
                          </p:cTn>
                        </p:par>
                        <p:par>
                          <p:cTn id="31" fill="hold">
                            <p:stCondLst>
                              <p:cond delay="8500"/>
                            </p:stCondLst>
                            <p:childTnLst>
                              <p:par>
                                <p:cTn id="32" presetID="22" presetClass="entr" presetSubtype="8" fill="hold" nodeType="afterEffect">
                                  <p:stCondLst>
                                    <p:cond delay="1000"/>
                                  </p:stCondLst>
                                  <p:childTnLst>
                                    <p:set>
                                      <p:cBhvr>
                                        <p:cTn id="33" dur="1000" fill="hold">
                                          <p:stCondLst>
                                            <p:cond delay="0"/>
                                          </p:stCondLst>
                                        </p:cTn>
                                        <p:tgtEl>
                                          <p:spTgt spid="43014"/>
                                        </p:tgtEl>
                                        <p:attrNameLst>
                                          <p:attrName>style.visibility</p:attrName>
                                        </p:attrNameLst>
                                      </p:cBhvr>
                                      <p:to>
                                        <p:strVal val="visible"/>
                                      </p:to>
                                    </p:set>
                                    <p:animEffect transition="in" filter="wipe(left)">
                                      <p:cBhvr>
                                        <p:cTn id="34" dur="1000"/>
                                        <p:tgtEl>
                                          <p:spTgt spid="43014"/>
                                        </p:tgtEl>
                                      </p:cBhvr>
                                    </p:animEffect>
                                  </p:childTnLst>
                                </p:cTn>
                              </p:par>
                            </p:childTnLst>
                          </p:cTn>
                        </p:par>
                        <p:par>
                          <p:cTn id="35" fill="hold">
                            <p:stCondLst>
                              <p:cond delay="10500"/>
                            </p:stCondLst>
                            <p:childTnLst>
                              <p:par>
                                <p:cTn id="36" presetID="22" presetClass="entr" presetSubtype="8" fill="hold" nodeType="afterEffect">
                                  <p:stCondLst>
                                    <p:cond delay="1500"/>
                                  </p:stCondLst>
                                  <p:childTnLst>
                                    <p:set>
                                      <p:cBhvr>
                                        <p:cTn id="37" dur="1000" fill="hold">
                                          <p:stCondLst>
                                            <p:cond delay="0"/>
                                          </p:stCondLst>
                                        </p:cTn>
                                        <p:tgtEl>
                                          <p:spTgt spid="163884"/>
                                        </p:tgtEl>
                                        <p:attrNameLst>
                                          <p:attrName>style.visibility</p:attrName>
                                        </p:attrNameLst>
                                      </p:cBhvr>
                                      <p:to>
                                        <p:strVal val="visible"/>
                                      </p:to>
                                    </p:set>
                                    <p:animEffect transition="in" filter="wipe(left)">
                                      <p:cBhvr>
                                        <p:cTn id="38" dur="1000"/>
                                        <p:tgtEl>
                                          <p:spTgt spid="1638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5174" grpId="0" animBg="1"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文本框 1"/>
          <p:cNvSpPr txBox="1"/>
          <p:nvPr/>
        </p:nvSpPr>
        <p:spPr>
          <a:xfrm>
            <a:off x="1020445" y="1276350"/>
            <a:ext cx="8030210" cy="460375"/>
          </a:xfrm>
          <a:prstGeom prst="rect">
            <a:avLst/>
          </a:prstGeom>
          <a:noFill/>
        </p:spPr>
        <p:txBody>
          <a:bodyPr wrap="square" rtlCol="0" anchor="t">
            <a:spAutoFit/>
          </a:bodyPr>
          <a:p>
            <a:r>
              <a:rPr lang="zh-CN" altLang="en-US" sz="2400" b="1">
                <a:gradFill>
                  <a:gsLst>
                    <a:gs pos="0">
                      <a:srgbClr val="012D86"/>
                    </a:gs>
                    <a:gs pos="100000">
                      <a:srgbClr val="0E2557"/>
                    </a:gs>
                  </a:gsLst>
                  <a:lin scaled="0"/>
                </a:gradFill>
              </a:rPr>
              <a:t>画逻辑图</a:t>
            </a:r>
            <a:endParaRPr lang="zh-CN" altLang="en-US" sz="2400" b="1">
              <a:gradFill>
                <a:gsLst>
                  <a:gs pos="0">
                    <a:srgbClr val="012D86"/>
                  </a:gs>
                  <a:gs pos="100000">
                    <a:srgbClr val="0E2557"/>
                  </a:gs>
                </a:gsLst>
                <a:lin scaled="0"/>
              </a:gradFill>
            </a:endParaRPr>
          </a:p>
        </p:txBody>
      </p:sp>
      <p:pic>
        <p:nvPicPr>
          <p:cNvPr id="9395" name="图片 2832"/>
          <p:cNvPicPr>
            <a:picLocks noChangeAspect="1"/>
          </p:cNvPicPr>
          <p:nvPr/>
        </p:nvPicPr>
        <p:blipFill>
          <a:blip r:embed="rId1"/>
          <a:stretch>
            <a:fillRect/>
          </a:stretch>
        </p:blipFill>
        <p:spPr>
          <a:xfrm>
            <a:off x="630555" y="1629410"/>
            <a:ext cx="7591425" cy="2542540"/>
          </a:xfrm>
          <a:prstGeom prst="rect">
            <a:avLst/>
          </a:prstGeom>
          <a:noFill/>
          <a:ln>
            <a:noFill/>
          </a:ln>
        </p:spPr>
      </p:pic>
      <p:sp>
        <p:nvSpPr>
          <p:cNvPr id="100" name="文本框 99"/>
          <p:cNvSpPr txBox="1"/>
          <p:nvPr/>
        </p:nvSpPr>
        <p:spPr>
          <a:xfrm>
            <a:off x="2143760" y="4437380"/>
            <a:ext cx="5080000" cy="337185"/>
          </a:xfrm>
          <a:prstGeom prst="rect">
            <a:avLst/>
          </a:prstGeom>
          <a:noFill/>
          <a:ln w="9525">
            <a:noFill/>
          </a:ln>
        </p:spPr>
        <p:txBody>
          <a:bodyPr>
            <a:spAutoFit/>
          </a:bodyPr>
          <a:p>
            <a:pPr algn="ctr"/>
            <a:r>
              <a:rPr lang="zh-CN" sz="1600">
                <a:ea typeface="宋体" panose="02010600030101010101" pitchFamily="2" charset="-122"/>
              </a:rPr>
              <a:t>图</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29 </a:t>
            </a:r>
            <a:r>
              <a:rPr lang="en-US" sz="1600">
                <a:latin typeface="Times New Roman" panose="02020603050405020304" charset="0"/>
                <a:ea typeface="宋体" panose="02010600030101010101" pitchFamily="2" charset="-122"/>
                <a:cs typeface="Times New Roman" panose="02020603050405020304" charset="0"/>
              </a:rPr>
              <a:t> 4</a:t>
            </a:r>
            <a:r>
              <a:rPr lang="zh-CN" sz="1600">
                <a:ea typeface="宋体" panose="02010600030101010101" pitchFamily="2" charset="-122"/>
              </a:rPr>
              <a:t>位同步二进制减法计数器逻辑图</a:t>
            </a:r>
            <a:endParaRPr lang="zh-CN" altLang="en-US"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9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0" name="文本框 99"/>
          <p:cNvSpPr txBox="1"/>
          <p:nvPr/>
        </p:nvSpPr>
        <p:spPr>
          <a:xfrm>
            <a:off x="716915" y="1196975"/>
            <a:ext cx="5080000" cy="460375"/>
          </a:xfrm>
          <a:prstGeom prst="rect">
            <a:avLst/>
          </a:prstGeom>
          <a:noFill/>
          <a:ln w="9525">
            <a:noFill/>
          </a:ln>
        </p:spPr>
        <p:txBody>
          <a:bodyPr>
            <a:spAutoFit/>
          </a:bodyPr>
          <a:p>
            <a:r>
              <a:rPr lang="zh-CN" sz="2400" b="1">
                <a:cs typeface="楷体_GB2312" charset="0"/>
              </a:rPr>
              <a:t>（</a:t>
            </a:r>
            <a:r>
              <a:rPr lang="en-US" sz="2400" b="1">
                <a:latin typeface="Times New Roman" panose="02020603050405020304" charset="0"/>
                <a:cs typeface="楷体_GB2312" charset="0"/>
              </a:rPr>
              <a:t>3</a:t>
            </a:r>
            <a:r>
              <a:rPr lang="zh-CN" sz="2400" b="1">
                <a:cs typeface="楷体_GB2312" charset="0"/>
              </a:rPr>
              <a:t>）</a:t>
            </a:r>
            <a:r>
              <a:rPr lang="zh-CN" sz="2400" b="1">
                <a:ea typeface="宋体" panose="02010600030101010101" pitchFamily="2" charset="-122"/>
              </a:rPr>
              <a:t>同步二进制可逆计数器</a:t>
            </a:r>
            <a:endParaRPr lang="zh-CN" altLang="en-US" sz="2400" b="1"/>
          </a:p>
        </p:txBody>
      </p:sp>
      <p:sp>
        <p:nvSpPr>
          <p:cNvPr id="138245" name="Rectangle 5"/>
          <p:cNvSpPr>
            <a:spLocks noChangeArrowheads="1"/>
          </p:cNvSpPr>
          <p:nvPr/>
        </p:nvSpPr>
        <p:spPr bwMode="auto">
          <a:xfrm>
            <a:off x="124460" y="1588770"/>
            <a:ext cx="8458200" cy="1602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p>
            <a:pPr marL="342900" marR="0" lvl="0" indent="-342900" algn="just" defTabSz="914400" rtl="0" eaLnBrk="1" fontAlgn="base" latinLnBrk="0" hangingPunct="1">
              <a:lnSpc>
                <a:spcPct val="100000"/>
              </a:lnSpc>
              <a:spcBef>
                <a:spcPct val="20000"/>
              </a:spcBef>
              <a:spcAft>
                <a:spcPct val="0"/>
              </a:spcAft>
              <a:buClrTx/>
              <a:buSzTx/>
              <a:buFontTx/>
              <a:buNone/>
              <a:defRPr/>
            </a:pPr>
            <a:r>
              <a:rPr kumimoji="0" lang="en-US" altLang="zh-CN" sz="24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    </a:t>
            </a:r>
            <a:r>
              <a:rPr kumimoji="0" lang="zh-CN" altLang="en-US" sz="24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将</a:t>
            </a:r>
            <a:r>
              <a:rPr lang="zh-CN" sz="2400" b="1">
                <a:gradFill>
                  <a:gsLst>
                    <a:gs pos="0">
                      <a:srgbClr val="012D86"/>
                    </a:gs>
                    <a:gs pos="100000">
                      <a:srgbClr val="0E2557"/>
                    </a:gs>
                  </a:gsLst>
                  <a:lin scaled="0"/>
                </a:gradFill>
                <a:sym typeface="+mn-ea"/>
              </a:rPr>
              <a:t>4位</a:t>
            </a:r>
            <a:r>
              <a:rPr lang="zh-CN" sz="2400" b="1">
                <a:gradFill>
                  <a:gsLst>
                    <a:gs pos="0">
                      <a:srgbClr val="012D86"/>
                    </a:gs>
                    <a:gs pos="100000">
                      <a:srgbClr val="0E2557"/>
                    </a:gs>
                  </a:gsLst>
                  <a:lin scaled="0"/>
                </a:gradFill>
                <a:sym typeface="+mn-ea"/>
              </a:rPr>
              <a:t>同步</a:t>
            </a:r>
            <a:r>
              <a:rPr lang="zh-CN" sz="2400" b="1">
                <a:gradFill>
                  <a:gsLst>
                    <a:gs pos="0">
                      <a:srgbClr val="012D86"/>
                    </a:gs>
                    <a:gs pos="100000">
                      <a:srgbClr val="0E2557"/>
                    </a:gs>
                  </a:gsLst>
                  <a:lin scaled="0"/>
                </a:gradFill>
                <a:sym typeface="+mn-ea"/>
              </a:rPr>
              <a:t>二进制</a:t>
            </a:r>
            <a:r>
              <a:rPr kumimoji="0" lang="zh-CN" altLang="en-US" sz="24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加法计数器和</a:t>
            </a:r>
            <a:r>
              <a:rPr lang="zh-CN" sz="2400" b="1">
                <a:gradFill>
                  <a:gsLst>
                    <a:gs pos="0">
                      <a:srgbClr val="012D86"/>
                    </a:gs>
                    <a:gs pos="100000">
                      <a:srgbClr val="0E2557"/>
                    </a:gs>
                  </a:gsLst>
                  <a:lin scaled="0"/>
                </a:gradFill>
                <a:sym typeface="+mn-ea"/>
              </a:rPr>
              <a:t>4位</a:t>
            </a:r>
            <a:r>
              <a:rPr lang="zh-CN" sz="2400" b="1">
                <a:gradFill>
                  <a:gsLst>
                    <a:gs pos="0">
                      <a:srgbClr val="012D86"/>
                    </a:gs>
                    <a:gs pos="100000">
                      <a:srgbClr val="0E2557"/>
                    </a:gs>
                  </a:gsLst>
                  <a:lin scaled="0"/>
                </a:gradFill>
                <a:sym typeface="+mn-ea"/>
              </a:rPr>
              <a:t>同步</a:t>
            </a:r>
            <a:r>
              <a:rPr lang="zh-CN" sz="2400" b="1">
                <a:gradFill>
                  <a:gsLst>
                    <a:gs pos="0">
                      <a:srgbClr val="012D86"/>
                    </a:gs>
                    <a:gs pos="100000">
                      <a:srgbClr val="0E2557"/>
                    </a:gs>
                  </a:gsLst>
                  <a:lin scaled="0"/>
                </a:gradFill>
                <a:sym typeface="+mn-ea"/>
              </a:rPr>
              <a:t>二进制</a:t>
            </a:r>
            <a:r>
              <a:rPr kumimoji="0" lang="zh-CN" altLang="en-US" sz="24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减法计数器合并起来，并引入一加</a:t>
            </a:r>
            <a:r>
              <a:rPr kumimoji="0" lang="en-US" altLang="zh-CN" sz="24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减控制信号</a:t>
            </a:r>
            <a:r>
              <a:rPr kumimoji="0" lang="en-US" altLang="zh-CN" sz="2400" b="1" i="1"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Times New Roman" panose="02020603050405020304" charset="0"/>
                <a:ea typeface="宋体" panose="02010600030101010101" pitchFamily="2" charset="-122"/>
                <a:cs typeface="+mn-cs"/>
              </a:rPr>
              <a:t>X</a:t>
            </a:r>
            <a:r>
              <a:rPr kumimoji="0" lang="zh-CN" altLang="en-US" sz="24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便构成</a:t>
            </a:r>
            <a:r>
              <a:rPr kumimoji="0" lang="en-US" altLang="zh-CN" sz="24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4</a:t>
            </a:r>
            <a:r>
              <a:rPr kumimoji="0" lang="zh-CN" altLang="en-US" sz="24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位</a:t>
            </a:r>
            <a:r>
              <a:rPr lang="zh-CN" altLang="en-US" sz="2400" b="1"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宋体" panose="02010600030101010101" pitchFamily="2" charset="-122"/>
                <a:sym typeface="+mn-ea"/>
              </a:rPr>
              <a:t>同步</a:t>
            </a:r>
            <a:r>
              <a:rPr kumimoji="0" lang="zh-CN" altLang="en-US" sz="24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二进制可逆计数器，各触发器的驱动方程为：</a:t>
            </a:r>
            <a:endParaRPr kumimoji="0" lang="zh-CN" altLang="en-US" sz="24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endParaRPr>
          </a:p>
          <a:p>
            <a:pPr marL="342900" marR="0" lvl="0" indent="-342900" algn="just" defTabSz="914400" rtl="0" eaLnBrk="1" fontAlgn="base" latinLnBrk="0" hangingPunct="1">
              <a:lnSpc>
                <a:spcPct val="130000"/>
              </a:lnSpc>
              <a:spcBef>
                <a:spcPct val="20000"/>
              </a:spcBef>
              <a:spcAft>
                <a:spcPct val="0"/>
              </a:spcAft>
              <a:buClr>
                <a:schemeClr val="hlink"/>
              </a:buClr>
              <a:buSzPct val="80000"/>
              <a:buFont typeface="Monotype Sorts" pitchFamily="2" charset="2"/>
              <a:buChar char="w"/>
              <a:defRPr/>
            </a:pPr>
            <a:endParaRPr kumimoji="0" lang="zh-CN" altLang="en-US" sz="24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endParaRPr>
          </a:p>
        </p:txBody>
      </p:sp>
      <p:pic>
        <p:nvPicPr>
          <p:cNvPr id="2" name="对象 1820"/>
          <p:cNvPicPr>
            <a:picLocks noChangeAspect="1"/>
          </p:cNvPicPr>
          <p:nvPr/>
        </p:nvPicPr>
        <p:blipFill>
          <a:blip r:embed="rId1"/>
          <a:stretch>
            <a:fillRect/>
          </a:stretch>
        </p:blipFill>
        <p:spPr>
          <a:xfrm>
            <a:off x="2987675" y="2689860"/>
            <a:ext cx="3565525" cy="1762125"/>
          </a:xfrm>
          <a:prstGeom prst="rect">
            <a:avLst/>
          </a:prstGeom>
          <a:noFill/>
          <a:ln w="9525">
            <a:noFill/>
          </a:ln>
        </p:spPr>
      </p:pic>
      <p:pic>
        <p:nvPicPr>
          <p:cNvPr id="9396" name="图片 2833"/>
          <p:cNvPicPr>
            <a:picLocks noChangeAspect="1"/>
          </p:cNvPicPr>
          <p:nvPr/>
        </p:nvPicPr>
        <p:blipFill>
          <a:blip r:embed="rId2"/>
          <a:stretch>
            <a:fillRect/>
          </a:stretch>
        </p:blipFill>
        <p:spPr>
          <a:xfrm>
            <a:off x="1156970" y="4451985"/>
            <a:ext cx="6125845" cy="216281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8245"/>
                                        </p:tgtEl>
                                        <p:attrNameLst>
                                          <p:attrName>style.visibility</p:attrName>
                                        </p:attrNameLst>
                                      </p:cBhvr>
                                      <p:to>
                                        <p:strVal val="visible"/>
                                      </p:to>
                                    </p:set>
                                    <p:animEffect transition="in" filter="wipe(left)">
                                      <p:cBhvr>
                                        <p:cTn id="7" dur="500"/>
                                        <p:tgtEl>
                                          <p:spTgt spid="138245"/>
                                        </p:tgtEl>
                                      </p:cBhvr>
                                    </p:animEffect>
                                  </p:childTnLst>
                                </p:cTn>
                              </p:par>
                            </p:childTnLst>
                          </p:cTn>
                        </p:par>
                        <p:par>
                          <p:cTn id="8" fill="hold">
                            <p:stCondLst>
                              <p:cond delay="500"/>
                            </p:stCondLst>
                            <p:childTnLst>
                              <p:par>
                                <p:cTn id="9" presetID="1" presetClass="entr" presetSubtype="0" fill="hold" nodeType="afterEffect">
                                  <p:stCondLst>
                                    <p:cond delay="150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5"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906145" y="955675"/>
            <a:ext cx="6847205" cy="868045"/>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6</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4</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3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十</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进制计数器</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sym typeface="+mn-ea"/>
            </a:endParaRPr>
          </a:p>
        </p:txBody>
      </p:sp>
      <p:sp>
        <p:nvSpPr>
          <p:cNvPr id="100" name="文本框 99"/>
          <p:cNvSpPr txBox="1"/>
          <p:nvPr/>
        </p:nvSpPr>
        <p:spPr>
          <a:xfrm>
            <a:off x="596265" y="1597660"/>
            <a:ext cx="5080000" cy="460375"/>
          </a:xfrm>
          <a:prstGeom prst="rect">
            <a:avLst/>
          </a:prstGeom>
          <a:noFill/>
          <a:ln w="9525">
            <a:noFill/>
          </a:ln>
        </p:spPr>
        <p:txBody>
          <a:bodyPr>
            <a:spAutoFit/>
          </a:bodyPr>
          <a:p>
            <a:pPr indent="281305"/>
            <a:r>
              <a:rPr lang="en-US" sz="2400" b="1">
                <a:solidFill>
                  <a:schemeClr val="accent6">
                    <a:lumMod val="60000"/>
                    <a:lumOff val="40000"/>
                  </a:schemeClr>
                </a:solidFill>
                <a:latin typeface="Times New Roman" panose="02020603050405020304" charset="0"/>
                <a:ea typeface="宋体" panose="02010600030101010101" pitchFamily="2" charset="-122"/>
              </a:rPr>
              <a:t>1. </a:t>
            </a:r>
            <a:r>
              <a:rPr lang="zh-CN" sz="2400" b="1">
                <a:solidFill>
                  <a:schemeClr val="accent6">
                    <a:lumMod val="60000"/>
                    <a:lumOff val="40000"/>
                  </a:schemeClr>
                </a:solidFill>
                <a:ea typeface="宋体" panose="02010600030101010101" pitchFamily="2" charset="-122"/>
              </a:rPr>
              <a:t>同步十进制加法计数器电路结构</a:t>
            </a:r>
            <a:endParaRPr lang="zh-CN" altLang="en-US" sz="2400" b="1">
              <a:solidFill>
                <a:schemeClr val="accent6">
                  <a:lumMod val="60000"/>
                  <a:lumOff val="40000"/>
                </a:schemeClr>
              </a:solidFill>
              <a:ea typeface="宋体" panose="02010600030101010101" pitchFamily="2" charset="-122"/>
            </a:endParaRPr>
          </a:p>
        </p:txBody>
      </p:sp>
      <p:pic>
        <p:nvPicPr>
          <p:cNvPr id="9397" name="图片 2834"/>
          <p:cNvPicPr>
            <a:picLocks noChangeAspect="1"/>
          </p:cNvPicPr>
          <p:nvPr/>
        </p:nvPicPr>
        <p:blipFill>
          <a:blip r:embed="rId1"/>
          <a:stretch>
            <a:fillRect/>
          </a:stretch>
        </p:blipFill>
        <p:spPr>
          <a:xfrm>
            <a:off x="982345" y="1977390"/>
            <a:ext cx="7179310" cy="2345055"/>
          </a:xfrm>
          <a:prstGeom prst="rect">
            <a:avLst/>
          </a:prstGeom>
          <a:noFill/>
          <a:ln>
            <a:noFill/>
          </a:ln>
        </p:spPr>
      </p:pic>
      <p:sp>
        <p:nvSpPr>
          <p:cNvPr id="2" name="文本框 1"/>
          <p:cNvSpPr txBox="1"/>
          <p:nvPr/>
        </p:nvSpPr>
        <p:spPr>
          <a:xfrm>
            <a:off x="1052830" y="4290695"/>
            <a:ext cx="5080000" cy="460375"/>
          </a:xfrm>
          <a:prstGeom prst="rect">
            <a:avLst/>
          </a:prstGeom>
          <a:noFill/>
          <a:ln w="9525">
            <a:noFill/>
          </a:ln>
        </p:spPr>
        <p:txBody>
          <a:bodyPr>
            <a:spAutoFit/>
          </a:bodyPr>
          <a:p>
            <a:r>
              <a:rPr lang="en-US" sz="2400" b="1">
                <a:solidFill>
                  <a:schemeClr val="accent6">
                    <a:lumMod val="60000"/>
                    <a:lumOff val="40000"/>
                  </a:schemeClr>
                </a:solidFill>
                <a:latin typeface="Times New Roman" panose="02020603050405020304" charset="0"/>
                <a:sym typeface="+mn-ea"/>
              </a:rPr>
              <a:t>2. </a:t>
            </a:r>
            <a:r>
              <a:rPr lang="zh-CN" sz="2400" b="1">
                <a:solidFill>
                  <a:schemeClr val="accent6">
                    <a:lumMod val="60000"/>
                    <a:lumOff val="40000"/>
                  </a:schemeClr>
                </a:solidFill>
                <a:ea typeface="宋体" panose="02010600030101010101" pitchFamily="2" charset="-122"/>
              </a:rPr>
              <a:t>工作原理</a:t>
            </a:r>
            <a:endParaRPr lang="zh-CN" altLang="en-US" sz="2400" b="1">
              <a:solidFill>
                <a:schemeClr val="accent6">
                  <a:lumMod val="60000"/>
                  <a:lumOff val="40000"/>
                </a:schemeClr>
              </a:solidFill>
              <a:ea typeface="宋体" panose="02010600030101010101" pitchFamily="2" charset="-122"/>
            </a:endParaRPr>
          </a:p>
        </p:txBody>
      </p:sp>
      <p:sp>
        <p:nvSpPr>
          <p:cNvPr id="3" name="文本框 2"/>
          <p:cNvSpPr txBox="1"/>
          <p:nvPr/>
        </p:nvSpPr>
        <p:spPr>
          <a:xfrm>
            <a:off x="725805" y="4750753"/>
            <a:ext cx="5080000" cy="460375"/>
          </a:xfrm>
          <a:prstGeom prst="rect">
            <a:avLst/>
          </a:prstGeom>
          <a:noFill/>
          <a:ln w="9525">
            <a:noFill/>
          </a:ln>
        </p:spPr>
        <p:txBody>
          <a:bodyPr>
            <a:spAutoFit/>
          </a:bodyPr>
          <a:p>
            <a:pPr indent="266700"/>
            <a:r>
              <a:rPr lang="en-US" sz="2400" b="1">
                <a:latin typeface="Times New Roman" panose="02020603050405020304" charset="0"/>
                <a:ea typeface="宋体" panose="02010600030101010101" pitchFamily="2" charset="-122"/>
              </a:rPr>
              <a:t>(1) </a:t>
            </a:r>
            <a:r>
              <a:rPr lang="zh-CN" sz="2400" b="1">
                <a:ea typeface="宋体" panose="02010600030101010101" pitchFamily="2" charset="-122"/>
              </a:rPr>
              <a:t>写出输出方程、激励方程</a:t>
            </a:r>
            <a:endParaRPr lang="zh-CN" altLang="en-US" sz="2400" b="1"/>
          </a:p>
        </p:txBody>
      </p:sp>
      <p:sp>
        <p:nvSpPr>
          <p:cNvPr id="101" name="文本框 100"/>
          <p:cNvSpPr txBox="1"/>
          <p:nvPr/>
        </p:nvSpPr>
        <p:spPr>
          <a:xfrm>
            <a:off x="1438275" y="5099050"/>
            <a:ext cx="1839595" cy="645160"/>
          </a:xfrm>
          <a:prstGeom prst="rect">
            <a:avLst/>
          </a:prstGeom>
          <a:noFill/>
          <a:ln w="9525">
            <a:noFill/>
          </a:ln>
        </p:spPr>
        <p:txBody>
          <a:bodyPr wrap="square">
            <a:spAutoFit/>
          </a:bodyPr>
          <a:p>
            <a:pPr>
              <a:lnSpc>
                <a:spcPct val="150000"/>
              </a:lnSpc>
            </a:pPr>
            <a:r>
              <a:rPr lang="zh-CN" sz="2400" b="1">
                <a:gradFill>
                  <a:gsLst>
                    <a:gs pos="0">
                      <a:srgbClr val="012D86"/>
                    </a:gs>
                    <a:gs pos="100000">
                      <a:srgbClr val="0E2557"/>
                    </a:gs>
                  </a:gsLst>
                  <a:lin scaled="0"/>
                </a:gradFill>
                <a:ea typeface="宋体" panose="02010600030101010101" pitchFamily="2" charset="-122"/>
              </a:rPr>
              <a:t>输出方程：</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a:t>
            </a:r>
            <a:endParaRPr lang="zh-CN" altLang="en-US" sz="2400" b="1">
              <a:gradFill>
                <a:gsLst>
                  <a:gs pos="0">
                    <a:srgbClr val="012D86"/>
                  </a:gs>
                  <a:gs pos="100000">
                    <a:srgbClr val="0E2557"/>
                  </a:gs>
                </a:gsLst>
                <a:lin scaled="0"/>
              </a:gradFill>
              <a:ea typeface="宋体" panose="02010600030101010101" pitchFamily="2" charset="-122"/>
            </a:endParaRPr>
          </a:p>
        </p:txBody>
      </p:sp>
      <p:graphicFrame>
        <p:nvGraphicFramePr>
          <p:cNvPr id="1073743059" name="对象 1073743058"/>
          <p:cNvGraphicFramePr>
            <a:graphicFrameLocks noChangeAspect="1"/>
          </p:cNvGraphicFramePr>
          <p:nvPr/>
        </p:nvGraphicFramePr>
        <p:xfrm>
          <a:off x="3084830" y="5212715"/>
          <a:ext cx="1964690" cy="531495"/>
        </p:xfrm>
        <a:graphic>
          <a:graphicData uri="http://schemas.openxmlformats.org/presentationml/2006/ole">
            <mc:AlternateContent xmlns:mc="http://schemas.openxmlformats.org/markup-compatibility/2006">
              <mc:Choice xmlns:v="urn:schemas-microsoft-com:vml" Requires="v">
                <p:oleObj spid="_x0000_s3076" name="" r:id="rId2" imgW="977900" imgH="266700" progId="Equation.DSMT4">
                  <p:embed/>
                </p:oleObj>
              </mc:Choice>
              <mc:Fallback>
                <p:oleObj name="" r:id="rId2" imgW="977900" imgH="266700" progId="Equation.DSMT4">
                  <p:embed/>
                  <p:pic>
                    <p:nvPicPr>
                      <p:cNvPr id="0" name="图片 3075"/>
                      <p:cNvPicPr/>
                      <p:nvPr/>
                    </p:nvPicPr>
                    <p:blipFill>
                      <a:blip r:embed="rId3"/>
                      <a:stretch>
                        <a:fillRect/>
                      </a:stretch>
                    </p:blipFill>
                    <p:spPr>
                      <a:xfrm>
                        <a:off x="3084830" y="5212715"/>
                        <a:ext cx="1964690" cy="53149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1"/>
                                        </p:tgtEl>
                                        <p:attrNameLst>
                                          <p:attrName>style.visibility</p:attrName>
                                        </p:attrNameLst>
                                      </p:cBhvr>
                                      <p:to>
                                        <p:strVal val="visible"/>
                                      </p:to>
                                    </p:set>
                                  </p:childTnLst>
                                </p:cTn>
                              </p:par>
                            </p:childTnLst>
                          </p:cTn>
                        </p:par>
                        <p:par>
                          <p:cTn id="19" fill="hold">
                            <p:stCondLst>
                              <p:cond delay="0"/>
                            </p:stCondLst>
                            <p:childTnLst>
                              <p:par>
                                <p:cTn id="20" presetID="22" presetClass="entr" presetSubtype="8" fill="hold" nodeType="afterEffect">
                                  <p:stCondLst>
                                    <p:cond delay="1000"/>
                                  </p:stCondLst>
                                  <p:childTnLst>
                                    <p:set>
                                      <p:cBhvr>
                                        <p:cTn id="21" dur="1" fill="hold">
                                          <p:stCondLst>
                                            <p:cond delay="0"/>
                                          </p:stCondLst>
                                        </p:cTn>
                                        <p:tgtEl>
                                          <p:spTgt spid="1073743059"/>
                                        </p:tgtEl>
                                        <p:attrNameLst>
                                          <p:attrName>style.visibility</p:attrName>
                                        </p:attrNameLst>
                                      </p:cBhvr>
                                      <p:to>
                                        <p:strVal val="visible"/>
                                      </p:to>
                                    </p:set>
                                    <p:animEffect transition="in" filter="wipe(left)">
                                      <p:cBhvr>
                                        <p:cTn id="22" dur="500"/>
                                        <p:tgtEl>
                                          <p:spTgt spid="1073743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0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文本框 1"/>
          <p:cNvSpPr txBox="1"/>
          <p:nvPr/>
        </p:nvSpPr>
        <p:spPr>
          <a:xfrm>
            <a:off x="949325" y="1097280"/>
            <a:ext cx="5080000" cy="460375"/>
          </a:xfrm>
          <a:prstGeom prst="rect">
            <a:avLst/>
          </a:prstGeom>
          <a:noFill/>
          <a:ln w="9525">
            <a:noFill/>
          </a:ln>
        </p:spPr>
        <p:txBody>
          <a:bodyPr>
            <a:spAutoFit/>
          </a:bodyPr>
          <a:p>
            <a:r>
              <a:rPr lang="en-US" sz="2400" b="1">
                <a:solidFill>
                  <a:schemeClr val="accent6">
                    <a:lumMod val="60000"/>
                    <a:lumOff val="40000"/>
                  </a:schemeClr>
                </a:solidFill>
                <a:latin typeface="Times New Roman" panose="02020603050405020304" charset="0"/>
                <a:sym typeface="+mn-ea"/>
              </a:rPr>
              <a:t>2. </a:t>
            </a:r>
            <a:r>
              <a:rPr lang="zh-CN" sz="2400" b="1">
                <a:solidFill>
                  <a:schemeClr val="accent6">
                    <a:lumMod val="60000"/>
                    <a:lumOff val="40000"/>
                  </a:schemeClr>
                </a:solidFill>
                <a:ea typeface="宋体" panose="02010600030101010101" pitchFamily="2" charset="-122"/>
              </a:rPr>
              <a:t>工作原理</a:t>
            </a:r>
            <a:endParaRPr lang="zh-CN" altLang="en-US" sz="2400" b="1">
              <a:solidFill>
                <a:schemeClr val="accent6">
                  <a:lumMod val="60000"/>
                  <a:lumOff val="40000"/>
                </a:schemeClr>
              </a:solidFill>
              <a:ea typeface="宋体" panose="02010600030101010101" pitchFamily="2" charset="-122"/>
            </a:endParaRPr>
          </a:p>
        </p:txBody>
      </p:sp>
      <p:sp>
        <p:nvSpPr>
          <p:cNvPr id="3" name="文本框 2"/>
          <p:cNvSpPr txBox="1"/>
          <p:nvPr/>
        </p:nvSpPr>
        <p:spPr>
          <a:xfrm>
            <a:off x="622300" y="1557338"/>
            <a:ext cx="5080000" cy="460375"/>
          </a:xfrm>
          <a:prstGeom prst="rect">
            <a:avLst/>
          </a:prstGeom>
          <a:noFill/>
          <a:ln w="9525">
            <a:noFill/>
          </a:ln>
        </p:spPr>
        <p:txBody>
          <a:bodyPr>
            <a:spAutoFit/>
          </a:bodyPr>
          <a:p>
            <a:pPr indent="266700"/>
            <a:r>
              <a:rPr lang="en-US" sz="2400" b="1">
                <a:latin typeface="Times New Roman" panose="02020603050405020304" charset="0"/>
                <a:ea typeface="宋体" panose="02010600030101010101" pitchFamily="2" charset="-122"/>
              </a:rPr>
              <a:t>(1) </a:t>
            </a:r>
            <a:r>
              <a:rPr lang="zh-CN" sz="2400" b="1">
                <a:ea typeface="宋体" panose="02010600030101010101" pitchFamily="2" charset="-122"/>
              </a:rPr>
              <a:t>写出输出方程、激励方程</a:t>
            </a:r>
            <a:endParaRPr lang="zh-CN" altLang="en-US" sz="2400" b="1"/>
          </a:p>
        </p:txBody>
      </p:sp>
      <p:sp>
        <p:nvSpPr>
          <p:cNvPr id="101" name="文本框 100"/>
          <p:cNvSpPr txBox="1"/>
          <p:nvPr/>
        </p:nvSpPr>
        <p:spPr>
          <a:xfrm>
            <a:off x="1334770" y="1905635"/>
            <a:ext cx="1839595" cy="645160"/>
          </a:xfrm>
          <a:prstGeom prst="rect">
            <a:avLst/>
          </a:prstGeom>
          <a:noFill/>
          <a:ln w="9525">
            <a:noFill/>
          </a:ln>
        </p:spPr>
        <p:txBody>
          <a:bodyPr wrap="square">
            <a:spAutoFit/>
          </a:bodyPr>
          <a:p>
            <a:pPr>
              <a:lnSpc>
                <a:spcPct val="150000"/>
              </a:lnSpc>
            </a:pPr>
            <a:r>
              <a:rPr lang="zh-CN" sz="2400" b="1">
                <a:gradFill>
                  <a:gsLst>
                    <a:gs pos="0">
                      <a:srgbClr val="012D86"/>
                    </a:gs>
                    <a:gs pos="100000">
                      <a:srgbClr val="0E2557"/>
                    </a:gs>
                  </a:gsLst>
                  <a:lin scaled="0"/>
                </a:gradFill>
                <a:ea typeface="宋体" panose="02010600030101010101" pitchFamily="2" charset="-122"/>
              </a:rPr>
              <a:t>输出方程：</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a:t>
            </a:r>
            <a:endParaRPr lang="zh-CN" altLang="en-US" sz="2400" b="1">
              <a:gradFill>
                <a:gsLst>
                  <a:gs pos="0">
                    <a:srgbClr val="012D86"/>
                  </a:gs>
                  <a:gs pos="100000">
                    <a:srgbClr val="0E2557"/>
                  </a:gs>
                </a:gsLst>
                <a:lin scaled="0"/>
              </a:gradFill>
              <a:ea typeface="宋体" panose="02010600030101010101" pitchFamily="2" charset="-122"/>
            </a:endParaRPr>
          </a:p>
        </p:txBody>
      </p:sp>
      <p:graphicFrame>
        <p:nvGraphicFramePr>
          <p:cNvPr id="1073743059" name="对象 1073743058"/>
          <p:cNvGraphicFramePr>
            <a:graphicFrameLocks noChangeAspect="1"/>
          </p:cNvGraphicFramePr>
          <p:nvPr/>
        </p:nvGraphicFramePr>
        <p:xfrm>
          <a:off x="2981325" y="2019300"/>
          <a:ext cx="2185670" cy="591185"/>
        </p:xfrm>
        <a:graphic>
          <a:graphicData uri="http://schemas.openxmlformats.org/presentationml/2006/ole">
            <mc:AlternateContent xmlns:mc="http://schemas.openxmlformats.org/markup-compatibility/2006">
              <mc:Choice xmlns:v="urn:schemas-microsoft-com:vml" Requires="v">
                <p:oleObj spid="_x0000_s3076" name="" r:id="rId1" imgW="977900" imgH="266700" progId="Equation.DSMT4">
                  <p:embed/>
                </p:oleObj>
              </mc:Choice>
              <mc:Fallback>
                <p:oleObj name="" r:id="rId1" imgW="977900" imgH="266700" progId="Equation.DSMT4">
                  <p:embed/>
                  <p:pic>
                    <p:nvPicPr>
                      <p:cNvPr id="0" name="图片 3075"/>
                      <p:cNvPicPr/>
                      <p:nvPr/>
                    </p:nvPicPr>
                    <p:blipFill>
                      <a:blip r:embed="rId2"/>
                      <a:stretch>
                        <a:fillRect/>
                      </a:stretch>
                    </p:blipFill>
                    <p:spPr>
                      <a:xfrm>
                        <a:off x="2981325" y="2019300"/>
                        <a:ext cx="2185670" cy="591185"/>
                      </a:xfrm>
                      <a:prstGeom prst="rect">
                        <a:avLst/>
                      </a:prstGeom>
                      <a:noFill/>
                      <a:ln w="38100">
                        <a:noFill/>
                        <a:miter/>
                      </a:ln>
                    </p:spPr>
                  </p:pic>
                </p:oleObj>
              </mc:Fallback>
            </mc:AlternateContent>
          </a:graphicData>
        </a:graphic>
      </p:graphicFrame>
      <p:sp>
        <p:nvSpPr>
          <p:cNvPr id="6" name="文本框 5"/>
          <p:cNvSpPr txBox="1"/>
          <p:nvPr/>
        </p:nvSpPr>
        <p:spPr>
          <a:xfrm>
            <a:off x="1334770" y="2550795"/>
            <a:ext cx="1839595" cy="645160"/>
          </a:xfrm>
          <a:prstGeom prst="rect">
            <a:avLst/>
          </a:prstGeom>
          <a:noFill/>
          <a:ln w="9525">
            <a:noFill/>
          </a:ln>
        </p:spPr>
        <p:txBody>
          <a:bodyPr wrap="square">
            <a:spAutoFit/>
          </a:bodyPr>
          <a:p>
            <a:pPr>
              <a:lnSpc>
                <a:spcPct val="150000"/>
              </a:lnSpc>
            </a:pPr>
            <a:r>
              <a:rPr lang="zh-CN" sz="2400" b="1">
                <a:gradFill>
                  <a:gsLst>
                    <a:gs pos="0">
                      <a:srgbClr val="012D86"/>
                    </a:gs>
                    <a:gs pos="100000">
                      <a:srgbClr val="0E2557"/>
                    </a:gs>
                  </a:gsLst>
                  <a:lin scaled="0"/>
                </a:gradFill>
                <a:ea typeface="宋体" panose="02010600030101010101" pitchFamily="2" charset="-122"/>
              </a:rPr>
              <a:t>激励方程：</a:t>
            </a:r>
            <a:endParaRPr lang="zh-CN" altLang="en-US" sz="2400" b="1">
              <a:gradFill>
                <a:gsLst>
                  <a:gs pos="0">
                    <a:srgbClr val="012D86"/>
                  </a:gs>
                  <a:gs pos="100000">
                    <a:srgbClr val="0E2557"/>
                  </a:gs>
                </a:gsLst>
                <a:lin scaled="0"/>
              </a:gradFill>
              <a:ea typeface="宋体" panose="02010600030101010101" pitchFamily="2" charset="-122"/>
            </a:endParaRPr>
          </a:p>
        </p:txBody>
      </p:sp>
      <p:graphicFrame>
        <p:nvGraphicFramePr>
          <p:cNvPr id="5" name="对象 620"/>
          <p:cNvGraphicFramePr>
            <a:graphicFrameLocks noChangeAspect="1"/>
          </p:cNvGraphicFramePr>
          <p:nvPr/>
        </p:nvGraphicFramePr>
        <p:xfrm>
          <a:off x="2981325" y="2790190"/>
          <a:ext cx="2824480" cy="1675765"/>
        </p:xfrm>
        <a:graphic>
          <a:graphicData uri="http://schemas.openxmlformats.org/presentationml/2006/ole">
            <mc:AlternateContent xmlns:mc="http://schemas.openxmlformats.org/markup-compatibility/2006">
              <mc:Choice xmlns:v="urn:schemas-microsoft-com:vml" Requires="v">
                <p:oleObj spid="_x0000_s7" name="" r:id="rId3" imgW="1651000" imgH="1016000" progId="Equation.DSMT4">
                  <p:embed/>
                </p:oleObj>
              </mc:Choice>
              <mc:Fallback>
                <p:oleObj name="" r:id="rId3" imgW="1651000" imgH="1016000" progId="Equation.DSMT4">
                  <p:embed/>
                  <p:pic>
                    <p:nvPicPr>
                      <p:cNvPr id="0" name="图片 6"/>
                      <p:cNvPicPr/>
                      <p:nvPr/>
                    </p:nvPicPr>
                    <p:blipFill>
                      <a:blip r:embed="rId4"/>
                      <a:stretch>
                        <a:fillRect/>
                      </a:stretch>
                    </p:blipFill>
                    <p:spPr>
                      <a:xfrm>
                        <a:off x="2981325" y="2790190"/>
                        <a:ext cx="2824480" cy="1675765"/>
                      </a:xfrm>
                      <a:prstGeom prst="rect">
                        <a:avLst/>
                      </a:prstGeom>
                      <a:noFill/>
                      <a:ln w="38100">
                        <a:noFill/>
                        <a:miter/>
                      </a:ln>
                    </p:spPr>
                  </p:pic>
                </p:oleObj>
              </mc:Fallback>
            </mc:AlternateContent>
          </a:graphicData>
        </a:graphic>
      </p:graphicFrame>
      <p:sp>
        <p:nvSpPr>
          <p:cNvPr id="8" name="文本框 7"/>
          <p:cNvSpPr txBox="1"/>
          <p:nvPr/>
        </p:nvSpPr>
        <p:spPr>
          <a:xfrm>
            <a:off x="1079500" y="4465955"/>
            <a:ext cx="5080000" cy="460375"/>
          </a:xfrm>
          <a:prstGeom prst="rect">
            <a:avLst/>
          </a:prstGeom>
          <a:noFill/>
          <a:ln w="9525">
            <a:noFill/>
          </a:ln>
        </p:spPr>
        <p:txBody>
          <a:bodyPr>
            <a:spAutoFit/>
          </a:bodyPr>
          <a:p>
            <a:r>
              <a:rPr lang="en-US" sz="2400" b="1">
                <a:latin typeface="Times New Roman" panose="02020603050405020304" charset="0"/>
              </a:rPr>
              <a:t>(2) </a:t>
            </a:r>
            <a:r>
              <a:rPr lang="zh-CN" sz="2400" b="1">
                <a:sym typeface="+mn-ea"/>
              </a:rPr>
              <a:t>写出</a:t>
            </a:r>
            <a:r>
              <a:rPr lang="zh-CN" sz="2400" b="1">
                <a:ea typeface="宋体" panose="02010600030101010101" pitchFamily="2" charset="-122"/>
              </a:rPr>
              <a:t>状态方程</a:t>
            </a:r>
            <a:endParaRPr lang="zh-CN" altLang="en-US" sz="2400" b="1"/>
          </a:p>
        </p:txBody>
      </p:sp>
      <p:graphicFrame>
        <p:nvGraphicFramePr>
          <p:cNvPr id="9" name="对象 478"/>
          <p:cNvGraphicFramePr>
            <a:graphicFrameLocks noChangeAspect="1"/>
          </p:cNvGraphicFramePr>
          <p:nvPr/>
        </p:nvGraphicFramePr>
        <p:xfrm>
          <a:off x="3782060" y="4667885"/>
          <a:ext cx="2595880" cy="1785620"/>
        </p:xfrm>
        <a:graphic>
          <a:graphicData uri="http://schemas.openxmlformats.org/presentationml/2006/ole">
            <mc:AlternateContent xmlns:mc="http://schemas.openxmlformats.org/markup-compatibility/2006">
              <mc:Choice xmlns:v="urn:schemas-microsoft-com:vml" Requires="v">
                <p:oleObj spid="_x0000_s10" name="" r:id="rId5" imgW="1625600" imgH="1117600" progId="Equation.3">
                  <p:embed/>
                </p:oleObj>
              </mc:Choice>
              <mc:Fallback>
                <p:oleObj name="" r:id="rId5" imgW="1625600" imgH="1117600" progId="Equation.3">
                  <p:embed/>
                  <p:pic>
                    <p:nvPicPr>
                      <p:cNvPr id="0" name="图片 8"/>
                      <p:cNvPicPr/>
                      <p:nvPr/>
                    </p:nvPicPr>
                    <p:blipFill>
                      <a:blip r:embed="rId6"/>
                      <a:stretch>
                        <a:fillRect/>
                      </a:stretch>
                    </p:blipFill>
                    <p:spPr>
                      <a:xfrm>
                        <a:off x="3782060" y="4667885"/>
                        <a:ext cx="2595880" cy="178562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100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1" name="文本框 100"/>
          <p:cNvSpPr txBox="1"/>
          <p:nvPr/>
        </p:nvSpPr>
        <p:spPr>
          <a:xfrm>
            <a:off x="941070" y="1137285"/>
            <a:ext cx="5080000" cy="460375"/>
          </a:xfrm>
          <a:prstGeom prst="rect">
            <a:avLst/>
          </a:prstGeom>
          <a:noFill/>
          <a:ln w="9525">
            <a:noFill/>
          </a:ln>
        </p:spPr>
        <p:txBody>
          <a:bodyPr>
            <a:spAutoFit/>
          </a:bodyPr>
          <a:p>
            <a:r>
              <a:rPr lang="en-US" sz="2400" b="1">
                <a:latin typeface="Times New Roman" panose="02020603050405020304" charset="0"/>
              </a:rPr>
              <a:t>(3) </a:t>
            </a:r>
            <a:r>
              <a:rPr lang="zh-CN" sz="2400" b="1">
                <a:ea typeface="宋体" panose="02010600030101010101" pitchFamily="2" charset="-122"/>
              </a:rPr>
              <a:t>列出状态转换表</a:t>
            </a:r>
            <a:endParaRPr lang="zh-CN" altLang="en-US" sz="2400" b="1"/>
          </a:p>
        </p:txBody>
      </p:sp>
      <p:pic>
        <p:nvPicPr>
          <p:cNvPr id="2" name="图片 1"/>
          <p:cNvPicPr>
            <a:picLocks noChangeAspect="1"/>
          </p:cNvPicPr>
          <p:nvPr/>
        </p:nvPicPr>
        <p:blipFill>
          <a:blip r:embed="rId1"/>
          <a:srcRect l="1870"/>
          <a:stretch>
            <a:fillRect/>
          </a:stretch>
        </p:blipFill>
        <p:spPr>
          <a:xfrm>
            <a:off x="494665" y="1597660"/>
            <a:ext cx="8192135" cy="4759960"/>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pic>
        <p:nvPicPr>
          <p:cNvPr id="9398" name="图片 2835"/>
          <p:cNvPicPr>
            <a:picLocks noChangeAspect="1"/>
          </p:cNvPicPr>
          <p:nvPr/>
        </p:nvPicPr>
        <p:blipFill>
          <a:blip r:embed="rId1"/>
          <a:stretch>
            <a:fillRect/>
          </a:stretch>
        </p:blipFill>
        <p:spPr>
          <a:xfrm>
            <a:off x="1156970" y="1674495"/>
            <a:ext cx="6829425" cy="2150745"/>
          </a:xfrm>
          <a:prstGeom prst="rect">
            <a:avLst/>
          </a:prstGeom>
          <a:noFill/>
          <a:ln>
            <a:noFill/>
          </a:ln>
        </p:spPr>
      </p:pic>
      <p:sp>
        <p:nvSpPr>
          <p:cNvPr id="101" name="文本框 100"/>
          <p:cNvSpPr txBox="1"/>
          <p:nvPr/>
        </p:nvSpPr>
        <p:spPr>
          <a:xfrm>
            <a:off x="1017905" y="1214120"/>
            <a:ext cx="5080000" cy="460375"/>
          </a:xfrm>
          <a:prstGeom prst="rect">
            <a:avLst/>
          </a:prstGeom>
          <a:noFill/>
          <a:ln w="9525">
            <a:noFill/>
          </a:ln>
        </p:spPr>
        <p:txBody>
          <a:bodyPr>
            <a:spAutoFit/>
          </a:bodyPr>
          <a:p>
            <a:r>
              <a:rPr lang="en-US" sz="2400" b="1">
                <a:latin typeface="Times New Roman" panose="02020603050405020304" charset="0"/>
              </a:rPr>
              <a:t>(4) </a:t>
            </a:r>
            <a:r>
              <a:rPr lang="zh-CN" sz="2400" b="1">
                <a:ea typeface="宋体" panose="02010600030101010101" pitchFamily="2" charset="-122"/>
              </a:rPr>
              <a:t>画完整的状态转换图</a:t>
            </a:r>
            <a:endParaRPr lang="zh-CN" altLang="en-US" sz="2400" b="1"/>
          </a:p>
        </p:txBody>
      </p:sp>
      <p:sp>
        <p:nvSpPr>
          <p:cNvPr id="2" name="文本框 1"/>
          <p:cNvSpPr txBox="1"/>
          <p:nvPr/>
        </p:nvSpPr>
        <p:spPr>
          <a:xfrm>
            <a:off x="1156970" y="4743450"/>
            <a:ext cx="5080000" cy="460375"/>
          </a:xfrm>
          <a:prstGeom prst="rect">
            <a:avLst/>
          </a:prstGeom>
          <a:noFill/>
          <a:ln w="9525">
            <a:noFill/>
          </a:ln>
        </p:spPr>
        <p:txBody>
          <a:bodyPr>
            <a:spAutoFit/>
          </a:bodyPr>
          <a:p>
            <a:r>
              <a:rPr lang="en-US" sz="2400" b="1">
                <a:latin typeface="Times New Roman" panose="02020603050405020304" charset="0"/>
              </a:rPr>
              <a:t>(5) </a:t>
            </a:r>
            <a:r>
              <a:rPr lang="zh-CN" sz="2400" b="1">
                <a:ea typeface="宋体" panose="02010600030101010101" pitchFamily="2" charset="-122"/>
              </a:rPr>
              <a:t>检查自启动</a:t>
            </a:r>
            <a:endParaRPr lang="zh-CN" altLang="en-US" sz="2400" b="1"/>
          </a:p>
        </p:txBody>
      </p:sp>
      <p:sp>
        <p:nvSpPr>
          <p:cNvPr id="3" name="文本框 2"/>
          <p:cNvSpPr txBox="1"/>
          <p:nvPr/>
        </p:nvSpPr>
        <p:spPr>
          <a:xfrm>
            <a:off x="3596640" y="3825240"/>
            <a:ext cx="3146425" cy="337185"/>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32  </a:t>
            </a:r>
            <a:r>
              <a:rPr lang="zh-CN" sz="1600">
                <a:ea typeface="黑体" panose="02010609060101010101" pitchFamily="49" charset="-122"/>
              </a:rPr>
              <a:t>图</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黑体" panose="02010609060101010101" pitchFamily="49" charset="-122"/>
              </a:rPr>
              <a:t>31</a:t>
            </a:r>
            <a:r>
              <a:rPr lang="zh-CN" sz="1600">
                <a:ea typeface="黑体" panose="02010609060101010101" pitchFamily="49" charset="-122"/>
              </a:rPr>
              <a:t>的状态转换图</a:t>
            </a:r>
            <a:endParaRPr lang="zh-CN" altLang="en-US" sz="1600"/>
          </a:p>
        </p:txBody>
      </p:sp>
      <p:sp>
        <p:nvSpPr>
          <p:cNvPr id="5" name="文本框 4"/>
          <p:cNvSpPr txBox="1"/>
          <p:nvPr/>
        </p:nvSpPr>
        <p:spPr>
          <a:xfrm>
            <a:off x="914400" y="5282565"/>
            <a:ext cx="7912735" cy="977265"/>
          </a:xfrm>
          <a:prstGeom prst="rect">
            <a:avLst/>
          </a:prstGeom>
          <a:noFill/>
          <a:ln w="9525">
            <a:noFill/>
          </a:ln>
        </p:spPr>
        <p:txBody>
          <a:bodyPr wrap="square">
            <a:spAutoFit/>
          </a:bodyPr>
          <a:p>
            <a:pPr indent="266700">
              <a:lnSpc>
                <a:spcPct val="120000"/>
              </a:lnSpc>
            </a:pPr>
            <a:r>
              <a:rPr lang="en-US" altLang="zh-CN" sz="2400" b="1">
                <a:gradFill>
                  <a:gsLst>
                    <a:gs pos="0">
                      <a:srgbClr val="012D86"/>
                    </a:gs>
                    <a:gs pos="100000">
                      <a:srgbClr val="0E2557"/>
                    </a:gs>
                  </a:gsLst>
                  <a:lin scaled="0"/>
                </a:gradFill>
                <a:ea typeface="宋体" panose="02010600030101010101" pitchFamily="2" charset="-122"/>
              </a:rPr>
              <a:t>    </a:t>
            </a:r>
            <a:r>
              <a:rPr lang="zh-CN" sz="2400" b="1">
                <a:gradFill>
                  <a:gsLst>
                    <a:gs pos="0">
                      <a:srgbClr val="012D86"/>
                    </a:gs>
                    <a:gs pos="100000">
                      <a:srgbClr val="0E2557"/>
                    </a:gs>
                  </a:gsLst>
                  <a:lin scaled="0"/>
                </a:gradFill>
                <a:ea typeface="宋体" panose="02010600030101010101" pitchFamily="2" charset="-122"/>
              </a:rPr>
              <a:t>由图</a:t>
            </a:r>
            <a:r>
              <a:rPr lang="en-US" sz="2400" b="1">
                <a:gradFill>
                  <a:gsLst>
                    <a:gs pos="0">
                      <a:srgbClr val="012D86"/>
                    </a:gs>
                    <a:gs pos="100000">
                      <a:srgbClr val="0E2557"/>
                    </a:gs>
                  </a:gsLst>
                  <a:lin scaled="0"/>
                </a:gradFill>
                <a:latin typeface="Times New Roman" panose="02020603050405020304" charset="0"/>
              </a:rPr>
              <a:t>6.32</a:t>
            </a:r>
            <a:r>
              <a:rPr lang="zh-CN" sz="2400" b="1">
                <a:gradFill>
                  <a:gsLst>
                    <a:gs pos="0">
                      <a:srgbClr val="012D86"/>
                    </a:gs>
                    <a:gs pos="100000">
                      <a:srgbClr val="0E2557"/>
                    </a:gs>
                  </a:gsLst>
                  <a:lin scaled="0"/>
                </a:gradFill>
                <a:ea typeface="宋体" panose="02010600030101010101" pitchFamily="2" charset="-122"/>
              </a:rPr>
              <a:t>可知</a:t>
            </a:r>
            <a:r>
              <a:rPr lang="en-US" sz="2400" b="1">
                <a:gradFill>
                  <a:gsLst>
                    <a:gs pos="0">
                      <a:srgbClr val="012D86"/>
                    </a:gs>
                    <a:gs pos="100000">
                      <a:srgbClr val="0E2557"/>
                    </a:gs>
                  </a:gsLst>
                  <a:lin scaled="0"/>
                </a:gradFill>
                <a:latin typeface="Times New Roman" panose="02020603050405020304" charset="0"/>
              </a:rPr>
              <a:t>6</a:t>
            </a:r>
            <a:r>
              <a:rPr lang="zh-CN" sz="2400" b="1">
                <a:gradFill>
                  <a:gsLst>
                    <a:gs pos="0">
                      <a:srgbClr val="012D86"/>
                    </a:gs>
                    <a:gs pos="100000">
                      <a:srgbClr val="0E2557"/>
                    </a:gs>
                  </a:gsLst>
                  <a:lin scaled="0"/>
                </a:gradFill>
                <a:ea typeface="宋体" panose="02010600030101010101" pitchFamily="2" charset="-122"/>
              </a:rPr>
              <a:t>种无效状态在</a:t>
            </a:r>
            <a:r>
              <a:rPr lang="en-US" sz="2400" b="1" i="1">
                <a:gradFill>
                  <a:gsLst>
                    <a:gs pos="0">
                      <a:srgbClr val="012D86"/>
                    </a:gs>
                    <a:gs pos="100000">
                      <a:srgbClr val="0E2557"/>
                    </a:gs>
                  </a:gsLst>
                  <a:lin scaled="0"/>
                </a:gradFill>
                <a:latin typeface="Times New Roman" panose="02020603050405020304" charset="0"/>
              </a:rPr>
              <a:t>CP</a:t>
            </a:r>
            <a:r>
              <a:rPr lang="zh-CN" sz="2400" b="1">
                <a:gradFill>
                  <a:gsLst>
                    <a:gs pos="0">
                      <a:srgbClr val="012D86"/>
                    </a:gs>
                    <a:gs pos="100000">
                      <a:srgbClr val="0E2557"/>
                    </a:gs>
                  </a:gsLst>
                  <a:lin scaled="0"/>
                </a:gradFill>
                <a:ea typeface="宋体" panose="02010600030101010101" pitchFamily="2" charset="-122"/>
              </a:rPr>
              <a:t>脉冲作用下，最终可</a:t>
            </a:r>
            <a:endParaRPr lang="zh-CN" sz="2400" b="1">
              <a:gradFill>
                <a:gsLst>
                  <a:gs pos="0">
                    <a:srgbClr val="012D86"/>
                  </a:gs>
                  <a:gs pos="100000">
                    <a:srgbClr val="0E2557"/>
                  </a:gs>
                </a:gsLst>
                <a:lin scaled="0"/>
              </a:gradFill>
              <a:ea typeface="宋体" panose="02010600030101010101" pitchFamily="2" charset="-122"/>
            </a:endParaRPr>
          </a:p>
          <a:p>
            <a:pPr indent="266700">
              <a:lnSpc>
                <a:spcPct val="120000"/>
              </a:lnSpc>
            </a:pPr>
            <a:r>
              <a:rPr lang="zh-CN" sz="2400" b="1">
                <a:gradFill>
                  <a:gsLst>
                    <a:gs pos="0">
                      <a:srgbClr val="012D86"/>
                    </a:gs>
                    <a:gs pos="100000">
                      <a:srgbClr val="0E2557"/>
                    </a:gs>
                  </a:gsLst>
                  <a:lin scaled="0"/>
                </a:gradFill>
                <a:ea typeface="宋体" panose="02010600030101010101" pitchFamily="2" charset="-122"/>
              </a:rPr>
              <a:t>以返回到有效状态，因此，电路能够自启动。</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6" name="文本框 5"/>
          <p:cNvSpPr txBox="1"/>
          <p:nvPr/>
        </p:nvSpPr>
        <p:spPr>
          <a:xfrm>
            <a:off x="1478915" y="4222750"/>
            <a:ext cx="6048375" cy="460375"/>
          </a:xfrm>
          <a:prstGeom prst="rect">
            <a:avLst/>
          </a:prstGeom>
          <a:noFill/>
          <a:ln w="9525" cap="flat" cmpd="sng">
            <a:solidFill>
              <a:schemeClr val="accent1"/>
            </a:solidFill>
            <a:prstDash val="solid"/>
            <a:miter/>
            <a:headEnd type="none" w="med" len="med"/>
            <a:tailEnd type="none" w="med" len="med"/>
          </a:ln>
        </p:spPr>
        <p:txBody>
          <a:bodyPr>
            <a:spAutoFit/>
          </a:bodyPr>
          <a:p>
            <a:pPr eaLnBrk="0" hangingPunct="0">
              <a:spcBef>
                <a:spcPct val="50000"/>
              </a:spcBef>
            </a:pPr>
            <a:r>
              <a:rPr lang="zh-CN" sz="2400" b="1">
                <a:gradFill>
                  <a:gsLst>
                    <a:gs pos="0">
                      <a:srgbClr val="012D86"/>
                    </a:gs>
                    <a:gs pos="100000">
                      <a:srgbClr val="0E2557"/>
                    </a:gs>
                  </a:gsLst>
                  <a:lin scaled="0"/>
                </a:gradFill>
              </a:rPr>
              <a:t>该电路完成了十进制加法计数的功能</a:t>
            </a:r>
            <a:endParaRPr lang="en-US" altLang="zh-CN" sz="2400" dirty="0">
              <a:solidFill>
                <a:schemeClr val="tx2"/>
              </a:solidFill>
              <a:latin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9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par>
                          <p:cTn id="19" fill="hold">
                            <p:stCondLst>
                              <p:cond delay="0"/>
                            </p:stCondLst>
                            <p:childTnLst>
                              <p:par>
                                <p:cTn id="20" presetID="22" presetClass="entr" presetSubtype="8" fill="hold" grpId="0" nodeType="afterEffect">
                                  <p:stCondLst>
                                    <p:cond delay="0"/>
                                  </p:stCondLst>
                                  <p:childTnLst>
                                    <p:set>
                                      <p:cBhvr>
                                        <p:cTn id="21" dur="1000" fill="hold">
                                          <p:stCondLst>
                                            <p:cond delay="0"/>
                                          </p:stCondLst>
                                        </p:cTn>
                                        <p:tgtEl>
                                          <p:spTgt spid="5">
                                            <p:txEl>
                                              <p:pRg st="0" end="0"/>
                                            </p:txEl>
                                          </p:spTgt>
                                        </p:tgtEl>
                                        <p:attrNameLst>
                                          <p:attrName>style.visibility</p:attrName>
                                        </p:attrNameLst>
                                      </p:cBhvr>
                                      <p:to>
                                        <p:strVal val="visible"/>
                                      </p:to>
                                    </p:set>
                                    <p:animEffect transition="in" filter="wipe(left)">
                                      <p:cBhvr>
                                        <p:cTn id="22" dur="1000"/>
                                        <p:tgtEl>
                                          <p:spTgt spid="5">
                                            <p:txEl>
                                              <p:pRg st="0" end="0"/>
                                            </p:txEl>
                                          </p:spTgt>
                                        </p:tgtEl>
                                      </p:cBhvr>
                                    </p:animEffect>
                                  </p:childTnLst>
                                </p:cTn>
                              </p:par>
                            </p:childTnLst>
                          </p:cTn>
                        </p:par>
                        <p:par>
                          <p:cTn id="23" fill="hold">
                            <p:stCondLst>
                              <p:cond delay="1000"/>
                            </p:stCondLst>
                            <p:childTnLst>
                              <p:par>
                                <p:cTn id="24" presetID="22" presetClass="entr" presetSubtype="8" fill="hold" grpId="0" nodeType="afterEffect">
                                  <p:stCondLst>
                                    <p:cond delay="500"/>
                                  </p:stCondLst>
                                  <p:childTnLst>
                                    <p:set>
                                      <p:cBhvr>
                                        <p:cTn id="25" dur="1000" fill="hold">
                                          <p:stCondLst>
                                            <p:cond delay="0"/>
                                          </p:stCondLst>
                                        </p:cTn>
                                        <p:tgtEl>
                                          <p:spTgt spid="5">
                                            <p:txEl>
                                              <p:pRg st="1" end="1"/>
                                            </p:txEl>
                                          </p:spTgt>
                                        </p:tgtEl>
                                        <p:attrNameLst>
                                          <p:attrName>style.visibility</p:attrName>
                                        </p:attrNameLst>
                                      </p:cBhvr>
                                      <p:to>
                                        <p:strVal val="visible"/>
                                      </p:to>
                                    </p:set>
                                    <p:animEffect transition="in" filter="wipe(left)">
                                      <p:cBhvr>
                                        <p:cTn id="26" dur="1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5" grpId="0" uiExpand="1" build="p"/>
      <p:bldP spid="6"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906145" y="955675"/>
            <a:ext cx="6847205" cy="868045"/>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6</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4</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4 </a:t>
            </a:r>
            <a:r>
              <a:rPr lang="zh-CN" sz="2800" i="0" dirty="0">
                <a:solidFill>
                  <a:srgbClr val="0070C0"/>
                </a:solidFill>
                <a:latin typeface="Times New Roman" panose="02020603050405020304" charset="0"/>
                <a:ea typeface="黑体" panose="02010609060101010101" pitchFamily="49" charset="-122"/>
                <a:cs typeface="Times New Roman" panose="02020603050405020304" charset="0"/>
              </a:rPr>
              <a:t>集成</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计数器</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sym typeface="+mn-ea"/>
            </a:endParaRPr>
          </a:p>
        </p:txBody>
      </p:sp>
      <p:sp>
        <p:nvSpPr>
          <p:cNvPr id="2" name="文本框 1"/>
          <p:cNvSpPr txBox="1"/>
          <p:nvPr/>
        </p:nvSpPr>
        <p:spPr>
          <a:xfrm>
            <a:off x="906145" y="1645285"/>
            <a:ext cx="4112260" cy="460375"/>
          </a:xfrm>
          <a:prstGeom prst="rect">
            <a:avLst/>
          </a:prstGeom>
          <a:noFill/>
        </p:spPr>
        <p:txBody>
          <a:bodyPr wrap="square" rtlCol="0" anchor="t">
            <a:spAutoFit/>
          </a:bodyPr>
          <a:p>
            <a:r>
              <a:rPr lang="zh-CN" altLang="en-US" sz="2400" b="1">
                <a:gradFill>
                  <a:gsLst>
                    <a:gs pos="0">
                      <a:srgbClr val="012D86"/>
                    </a:gs>
                    <a:gs pos="100000">
                      <a:srgbClr val="0E2557"/>
                    </a:gs>
                  </a:gsLst>
                  <a:lin scaled="0"/>
                </a:gradFill>
              </a:rPr>
              <a:t>几种最常用的集成计数器</a:t>
            </a:r>
            <a:endParaRPr lang="zh-CN" altLang="en-US" sz="2400" b="1">
              <a:gradFill>
                <a:gsLst>
                  <a:gs pos="0">
                    <a:srgbClr val="012D86"/>
                  </a:gs>
                  <a:gs pos="100000">
                    <a:srgbClr val="0E2557"/>
                  </a:gs>
                </a:gsLst>
                <a:lin scaled="0"/>
              </a:gradFill>
            </a:endParaRPr>
          </a:p>
        </p:txBody>
      </p:sp>
      <p:pic>
        <p:nvPicPr>
          <p:cNvPr id="3" name="图片 2"/>
          <p:cNvPicPr>
            <a:picLocks noChangeAspect="1"/>
          </p:cNvPicPr>
          <p:nvPr/>
        </p:nvPicPr>
        <p:blipFill>
          <a:blip r:embed="rId1"/>
          <a:srcRect l="631" t="791" r="1316" b="-791"/>
          <a:stretch>
            <a:fillRect/>
          </a:stretch>
        </p:blipFill>
        <p:spPr>
          <a:xfrm>
            <a:off x="-17145" y="2013585"/>
            <a:ext cx="9180830" cy="4095750"/>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1" name="文本框 100"/>
          <p:cNvSpPr txBox="1"/>
          <p:nvPr/>
        </p:nvSpPr>
        <p:spPr>
          <a:xfrm>
            <a:off x="656590" y="1120140"/>
            <a:ext cx="6857365" cy="460375"/>
          </a:xfrm>
          <a:prstGeom prst="rect">
            <a:avLst/>
          </a:prstGeom>
          <a:noFill/>
          <a:ln w="9525">
            <a:noFill/>
          </a:ln>
        </p:spPr>
        <p:txBody>
          <a:bodyPr wrap="square">
            <a:spAutoFit/>
          </a:bodyPr>
          <a:p>
            <a:pPr indent="267970"/>
            <a:r>
              <a:rPr lang="en-US" sz="2400" b="1">
                <a:solidFill>
                  <a:schemeClr val="accent6">
                    <a:lumMod val="60000"/>
                    <a:lumOff val="40000"/>
                  </a:schemeClr>
                </a:solidFill>
                <a:latin typeface="Times New Roman" panose="02020603050405020304" charset="0"/>
              </a:rPr>
              <a:t>1. </a:t>
            </a:r>
            <a:r>
              <a:rPr lang="en-US" sz="2400" b="1">
                <a:solidFill>
                  <a:schemeClr val="accent6">
                    <a:lumMod val="60000"/>
                    <a:lumOff val="40000"/>
                  </a:schemeClr>
                </a:solidFill>
                <a:latin typeface="Times New Roman" panose="02020603050405020304" charset="0"/>
                <a:cs typeface="Times New Roman" panose="02020603050405020304" charset="0"/>
              </a:rPr>
              <a:t>4</a:t>
            </a:r>
            <a:r>
              <a:rPr lang="zh-CN" sz="2400" b="1">
                <a:solidFill>
                  <a:schemeClr val="accent6">
                    <a:lumMod val="60000"/>
                    <a:lumOff val="40000"/>
                  </a:schemeClr>
                </a:solidFill>
                <a:ea typeface="宋体" panose="02010600030101010101" pitchFamily="2" charset="-122"/>
              </a:rPr>
              <a:t>位同步二进制加法计数器</a:t>
            </a:r>
            <a:r>
              <a:rPr lang="en-US" sz="2400" b="1">
                <a:solidFill>
                  <a:schemeClr val="accent6">
                    <a:lumMod val="60000"/>
                    <a:lumOff val="40000"/>
                  </a:schemeClr>
                </a:solidFill>
                <a:latin typeface="Times New Roman" panose="02020603050405020304" charset="0"/>
                <a:cs typeface="楷体_GB2312" charset="0"/>
              </a:rPr>
              <a:t>74LS161</a:t>
            </a:r>
            <a:endParaRPr lang="en-US" altLang="en-US" sz="2400" b="1">
              <a:solidFill>
                <a:schemeClr val="accent6">
                  <a:lumMod val="60000"/>
                  <a:lumOff val="40000"/>
                </a:schemeClr>
              </a:solidFill>
              <a:latin typeface="Times New Roman" panose="02020603050405020304" charset="0"/>
              <a:cs typeface="楷体_GB2312" charset="0"/>
            </a:endParaRPr>
          </a:p>
        </p:txBody>
      </p:sp>
      <p:pic>
        <p:nvPicPr>
          <p:cNvPr id="9399" name="图片 2836"/>
          <p:cNvPicPr>
            <a:picLocks noChangeAspect="1"/>
          </p:cNvPicPr>
          <p:nvPr/>
        </p:nvPicPr>
        <p:blipFill>
          <a:blip r:embed="rId1"/>
          <a:stretch>
            <a:fillRect/>
          </a:stretch>
        </p:blipFill>
        <p:spPr>
          <a:xfrm>
            <a:off x="259080" y="2035175"/>
            <a:ext cx="6185535" cy="4224655"/>
          </a:xfrm>
          <a:prstGeom prst="rect">
            <a:avLst/>
          </a:prstGeom>
          <a:noFill/>
          <a:ln>
            <a:noFill/>
          </a:ln>
        </p:spPr>
      </p:pic>
      <p:sp>
        <p:nvSpPr>
          <p:cNvPr id="2" name="文本框 1"/>
          <p:cNvSpPr txBox="1"/>
          <p:nvPr/>
        </p:nvSpPr>
        <p:spPr>
          <a:xfrm>
            <a:off x="991870" y="1580515"/>
            <a:ext cx="5080000" cy="460375"/>
          </a:xfrm>
          <a:prstGeom prst="rect">
            <a:avLst/>
          </a:prstGeom>
          <a:noFill/>
          <a:ln w="9525">
            <a:noFill/>
          </a:ln>
        </p:spPr>
        <p:txBody>
          <a:bodyPr>
            <a:spAutoFit/>
          </a:bodyPr>
          <a:p>
            <a:r>
              <a:rPr lang="en-US" sz="2400" b="1">
                <a:latin typeface="Times New Roman" panose="02020603050405020304" charset="0"/>
                <a:sym typeface="+mn-ea"/>
              </a:rPr>
              <a:t>(1) </a:t>
            </a:r>
            <a:r>
              <a:rPr lang="zh-CN" sz="2400" b="1">
                <a:ea typeface="宋体" panose="02010600030101010101" pitchFamily="2" charset="-122"/>
              </a:rPr>
              <a:t>电路结构</a:t>
            </a:r>
            <a:endParaRPr lang="zh-CN" altLang="en-US" sz="2400" b="1"/>
          </a:p>
        </p:txBody>
      </p:sp>
      <p:sp>
        <p:nvSpPr>
          <p:cNvPr id="3" name="文本框 2"/>
          <p:cNvSpPr txBox="1"/>
          <p:nvPr/>
        </p:nvSpPr>
        <p:spPr>
          <a:xfrm>
            <a:off x="888365" y="6200775"/>
            <a:ext cx="5080000" cy="337185"/>
          </a:xfrm>
          <a:prstGeom prst="rect">
            <a:avLst/>
          </a:prstGeom>
          <a:noFill/>
          <a:ln w="9525">
            <a:noFill/>
          </a:ln>
        </p:spPr>
        <p:txBody>
          <a:bodyPr>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33  </a:t>
            </a:r>
            <a:r>
              <a:rPr lang="en-US" sz="1600">
                <a:latin typeface="Times New Roman" panose="02020603050405020304" charset="0"/>
                <a:ea typeface="宋体" panose="02010600030101010101" pitchFamily="2" charset="-122"/>
                <a:cs typeface="Times New Roman" panose="02020603050405020304" charset="0"/>
              </a:rPr>
              <a:t>4</a:t>
            </a:r>
            <a:r>
              <a:rPr lang="zh-CN" sz="1600">
                <a:ea typeface="宋体" panose="02010600030101010101" pitchFamily="2" charset="-122"/>
              </a:rPr>
              <a:t>位同步二进制加法计数器</a:t>
            </a:r>
            <a:r>
              <a:rPr lang="en-US" sz="1600">
                <a:latin typeface="Times New Roman" panose="02020603050405020304" charset="0"/>
                <a:ea typeface="宋体" panose="02010600030101010101" pitchFamily="2" charset="-122"/>
              </a:rPr>
              <a:t>74LS161</a:t>
            </a:r>
            <a:r>
              <a:rPr lang="zh-CN" sz="1600">
                <a:ea typeface="宋体" panose="02010600030101010101" pitchFamily="2" charset="-122"/>
              </a:rPr>
              <a:t>逻辑图</a:t>
            </a:r>
            <a:endParaRPr lang="zh-CN" altLang="en-US" sz="1600"/>
          </a:p>
        </p:txBody>
      </p:sp>
      <p:pic>
        <p:nvPicPr>
          <p:cNvPr id="9400" name="图片 2837"/>
          <p:cNvPicPr>
            <a:picLocks noChangeAspect="1"/>
          </p:cNvPicPr>
          <p:nvPr/>
        </p:nvPicPr>
        <p:blipFill>
          <a:blip r:embed="rId2"/>
          <a:stretch>
            <a:fillRect/>
          </a:stretch>
        </p:blipFill>
        <p:spPr>
          <a:xfrm>
            <a:off x="6400165" y="2634615"/>
            <a:ext cx="2650490" cy="2087880"/>
          </a:xfrm>
          <a:prstGeom prst="rect">
            <a:avLst/>
          </a:prstGeom>
          <a:noFill/>
          <a:ln>
            <a:noFill/>
          </a:ln>
        </p:spPr>
      </p:pic>
      <p:sp>
        <p:nvSpPr>
          <p:cNvPr id="5" name="文本框 4"/>
          <p:cNvSpPr txBox="1"/>
          <p:nvPr/>
        </p:nvSpPr>
        <p:spPr>
          <a:xfrm>
            <a:off x="6358890" y="4789805"/>
            <a:ext cx="2720340" cy="337185"/>
          </a:xfrm>
          <a:prstGeom prst="rect">
            <a:avLst/>
          </a:prstGeom>
          <a:noFill/>
          <a:ln w="9525">
            <a:noFill/>
          </a:ln>
        </p:spPr>
        <p:txBody>
          <a:bodyPr wrap="square">
            <a:spAutoFit/>
          </a:bodyPr>
          <a:p>
            <a:pPr indent="266700" algn="ctr"/>
            <a:r>
              <a:rPr lang="zh-CN" sz="1600">
                <a:ea typeface="宋体" panose="02010600030101010101" pitchFamily="2" charset="-122"/>
              </a:rPr>
              <a:t>图</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34  74LS161</a:t>
            </a:r>
            <a:r>
              <a:rPr lang="zh-CN" sz="1600">
                <a:ea typeface="宋体" panose="02010600030101010101" pitchFamily="2" charset="-122"/>
              </a:rPr>
              <a:t>引脚图</a:t>
            </a:r>
            <a:endParaRPr lang="zh-CN" altLang="en-US" sz="160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1" name="文本框 100"/>
          <p:cNvSpPr txBox="1"/>
          <p:nvPr/>
        </p:nvSpPr>
        <p:spPr>
          <a:xfrm>
            <a:off x="683260" y="1135380"/>
            <a:ext cx="5080000" cy="460375"/>
          </a:xfrm>
          <a:prstGeom prst="rect">
            <a:avLst/>
          </a:prstGeom>
          <a:noFill/>
          <a:ln w="9525">
            <a:noFill/>
          </a:ln>
        </p:spPr>
        <p:txBody>
          <a:bodyPr>
            <a:spAutoFit/>
          </a:bodyPr>
          <a:p>
            <a:pPr indent="266700"/>
            <a:r>
              <a:rPr lang="en-US" sz="2400" b="1">
                <a:latin typeface="Times New Roman" panose="02020603050405020304" charset="0"/>
              </a:rPr>
              <a:t>(2) </a:t>
            </a:r>
            <a:r>
              <a:rPr lang="zh-CN" sz="2400" b="1">
                <a:ea typeface="宋体" panose="02010600030101010101" pitchFamily="2" charset="-122"/>
              </a:rPr>
              <a:t>功能分析</a:t>
            </a:r>
            <a:endParaRPr lang="zh-CN" altLang="en-US" sz="2400" b="1"/>
          </a:p>
        </p:txBody>
      </p:sp>
      <p:sp>
        <p:nvSpPr>
          <p:cNvPr id="2" name="文本框 1"/>
          <p:cNvSpPr txBox="1"/>
          <p:nvPr/>
        </p:nvSpPr>
        <p:spPr>
          <a:xfrm>
            <a:off x="6372225" y="1231900"/>
            <a:ext cx="2150110" cy="460375"/>
          </a:xfrm>
          <a:prstGeom prst="rect">
            <a:avLst/>
          </a:prstGeom>
          <a:noFill/>
          <a:ln w="9525">
            <a:noFill/>
          </a:ln>
        </p:spPr>
        <p:txBody>
          <a:bodyPr wrap="square">
            <a:spAutoFit/>
          </a:bodyPr>
          <a:p>
            <a:r>
              <a:rPr lang="en-US" sz="2400" b="1">
                <a:gradFill>
                  <a:gsLst>
                    <a:gs pos="0">
                      <a:srgbClr val="012D86"/>
                    </a:gs>
                    <a:gs pos="100000">
                      <a:srgbClr val="0E2557"/>
                    </a:gs>
                  </a:gsLst>
                  <a:lin scaled="0"/>
                </a:gradFill>
                <a:latin typeface="Times New Roman" panose="02020603050405020304" charset="0"/>
              </a:rPr>
              <a:t>① </a:t>
            </a:r>
            <a:r>
              <a:rPr lang="zh-CN" sz="2400" b="1">
                <a:gradFill>
                  <a:gsLst>
                    <a:gs pos="0">
                      <a:srgbClr val="012D86"/>
                    </a:gs>
                    <a:gs pos="100000">
                      <a:srgbClr val="0E2557"/>
                    </a:gs>
                  </a:gsLst>
                  <a:lin scaled="0"/>
                </a:gradFill>
                <a:ea typeface="宋体" panose="02010600030101010101" pitchFamily="2" charset="-122"/>
              </a:rPr>
              <a:t>异步清</a:t>
            </a:r>
            <a:r>
              <a:rPr lang="en-US" sz="2400" b="1">
                <a:gradFill>
                  <a:gsLst>
                    <a:gs pos="0">
                      <a:srgbClr val="012D86"/>
                    </a:gs>
                    <a:gs pos="100000">
                      <a:srgbClr val="0E2557"/>
                    </a:gs>
                  </a:gsLst>
                  <a:lin scaled="0"/>
                </a:gradFill>
                <a:latin typeface="Times New Roman" panose="02020603050405020304" charset="0"/>
              </a:rPr>
              <a:t>0</a:t>
            </a:r>
            <a:endParaRPr lang="en-US" altLang="en-US" sz="2400" b="1">
              <a:gradFill>
                <a:gsLst>
                  <a:gs pos="0">
                    <a:srgbClr val="012D86"/>
                  </a:gs>
                  <a:gs pos="100000">
                    <a:srgbClr val="0E2557"/>
                  </a:gs>
                </a:gsLst>
                <a:lin scaled="0"/>
              </a:gradFill>
              <a:latin typeface="Times New Roman" panose="02020603050405020304" charset="0"/>
            </a:endParaRPr>
          </a:p>
        </p:txBody>
      </p:sp>
      <p:pic>
        <p:nvPicPr>
          <p:cNvPr id="9399" name="图片 2836"/>
          <p:cNvPicPr>
            <a:picLocks noChangeAspect="1"/>
          </p:cNvPicPr>
          <p:nvPr/>
        </p:nvPicPr>
        <p:blipFill>
          <a:blip r:embed="rId1"/>
          <a:stretch>
            <a:fillRect/>
          </a:stretch>
        </p:blipFill>
        <p:spPr>
          <a:xfrm>
            <a:off x="142240" y="1918970"/>
            <a:ext cx="6161405" cy="4207510"/>
          </a:xfrm>
          <a:prstGeom prst="rect">
            <a:avLst/>
          </a:prstGeom>
          <a:noFill/>
          <a:ln>
            <a:noFill/>
          </a:ln>
        </p:spPr>
      </p:pic>
      <p:sp>
        <p:nvSpPr>
          <p:cNvPr id="12379" name="直接连接符 113749"/>
          <p:cNvSpPr/>
          <p:nvPr/>
        </p:nvSpPr>
        <p:spPr>
          <a:xfrm flipH="1">
            <a:off x="775335" y="3590925"/>
            <a:ext cx="5332095" cy="635"/>
          </a:xfrm>
          <a:prstGeom prst="line">
            <a:avLst/>
          </a:prstGeom>
          <a:ln w="28575" cap="flat" cmpd="sng">
            <a:solidFill>
              <a:srgbClr val="FF3300"/>
            </a:solidFill>
            <a:prstDash val="solid"/>
            <a:headEnd type="none" w="med" len="med"/>
            <a:tailEnd type="none" w="med" len="med"/>
          </a:ln>
        </p:spPr>
      </p:sp>
      <p:sp>
        <p:nvSpPr>
          <p:cNvPr id="12380" name="直接连接符 113750"/>
          <p:cNvSpPr/>
          <p:nvPr/>
        </p:nvSpPr>
        <p:spPr>
          <a:xfrm>
            <a:off x="6099810" y="3563620"/>
            <a:ext cx="635" cy="2300605"/>
          </a:xfrm>
          <a:prstGeom prst="line">
            <a:avLst/>
          </a:prstGeom>
          <a:ln w="28575" cap="flat" cmpd="sng">
            <a:solidFill>
              <a:srgbClr val="FF3300"/>
            </a:solidFill>
            <a:prstDash val="solid"/>
            <a:headEnd type="none" w="med" len="med"/>
            <a:tailEnd type="none" w="med" len="med"/>
          </a:ln>
        </p:spPr>
      </p:sp>
      <p:sp>
        <p:nvSpPr>
          <p:cNvPr id="491526" name="椭圆 491525"/>
          <p:cNvSpPr/>
          <p:nvPr/>
        </p:nvSpPr>
        <p:spPr>
          <a:xfrm>
            <a:off x="5897246" y="612648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491541" name="椭圆 491540"/>
          <p:cNvSpPr/>
          <p:nvPr/>
        </p:nvSpPr>
        <p:spPr>
          <a:xfrm>
            <a:off x="5356543" y="1595755"/>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grpSp>
        <p:nvGrpSpPr>
          <p:cNvPr id="8" name="组合 7"/>
          <p:cNvGrpSpPr/>
          <p:nvPr/>
        </p:nvGrpSpPr>
        <p:grpSpPr>
          <a:xfrm>
            <a:off x="775335" y="3282950"/>
            <a:ext cx="4175760" cy="334645"/>
            <a:chOff x="1221" y="4570"/>
            <a:chExt cx="6576" cy="527"/>
          </a:xfrm>
        </p:grpSpPr>
        <p:sp>
          <p:nvSpPr>
            <p:cNvPr id="3" name="直接连接符 113750"/>
            <p:cNvSpPr/>
            <p:nvPr/>
          </p:nvSpPr>
          <p:spPr>
            <a:xfrm>
              <a:off x="7797" y="4655"/>
              <a:ext cx="1" cy="442"/>
            </a:xfrm>
            <a:prstGeom prst="line">
              <a:avLst/>
            </a:prstGeom>
            <a:ln w="28575" cap="flat" cmpd="sng">
              <a:solidFill>
                <a:srgbClr val="FF3300"/>
              </a:solidFill>
              <a:prstDash val="solid"/>
              <a:headEnd type="none" w="med" len="med"/>
              <a:tailEnd type="none" w="med" len="med"/>
            </a:ln>
          </p:spPr>
        </p:sp>
        <p:sp>
          <p:nvSpPr>
            <p:cNvPr id="5" name="直接连接符 113750"/>
            <p:cNvSpPr/>
            <p:nvPr/>
          </p:nvSpPr>
          <p:spPr>
            <a:xfrm>
              <a:off x="5629" y="4614"/>
              <a:ext cx="1" cy="442"/>
            </a:xfrm>
            <a:prstGeom prst="line">
              <a:avLst/>
            </a:prstGeom>
            <a:ln w="28575" cap="flat" cmpd="sng">
              <a:solidFill>
                <a:srgbClr val="FF3300"/>
              </a:solidFill>
              <a:prstDash val="solid"/>
              <a:headEnd type="none" w="med" len="med"/>
              <a:tailEnd type="none" w="med" len="med"/>
            </a:ln>
          </p:spPr>
        </p:sp>
        <p:sp>
          <p:nvSpPr>
            <p:cNvPr id="6" name="直接连接符 113750"/>
            <p:cNvSpPr/>
            <p:nvPr/>
          </p:nvSpPr>
          <p:spPr>
            <a:xfrm>
              <a:off x="3450" y="4655"/>
              <a:ext cx="1" cy="442"/>
            </a:xfrm>
            <a:prstGeom prst="line">
              <a:avLst/>
            </a:prstGeom>
            <a:ln w="28575" cap="flat" cmpd="sng">
              <a:solidFill>
                <a:srgbClr val="FF3300"/>
              </a:solidFill>
              <a:prstDash val="solid"/>
              <a:headEnd type="none" w="med" len="med"/>
              <a:tailEnd type="none" w="med" len="med"/>
            </a:ln>
          </p:spPr>
        </p:sp>
        <p:sp>
          <p:nvSpPr>
            <p:cNvPr id="7" name="直接连接符 113750"/>
            <p:cNvSpPr/>
            <p:nvPr/>
          </p:nvSpPr>
          <p:spPr>
            <a:xfrm>
              <a:off x="1221" y="4570"/>
              <a:ext cx="1" cy="442"/>
            </a:xfrm>
            <a:prstGeom prst="line">
              <a:avLst/>
            </a:prstGeom>
            <a:ln w="28575" cap="flat" cmpd="sng">
              <a:solidFill>
                <a:srgbClr val="FF3300"/>
              </a:solidFill>
              <a:prstDash val="solid"/>
              <a:headEnd type="none" w="med" len="med"/>
              <a:tailEnd type="none" w="med" len="med"/>
            </a:ln>
          </p:spPr>
        </p:sp>
      </p:grpSp>
      <p:sp>
        <p:nvSpPr>
          <p:cNvPr id="9" name="椭圆 8"/>
          <p:cNvSpPr/>
          <p:nvPr/>
        </p:nvSpPr>
        <p:spPr>
          <a:xfrm>
            <a:off x="4031298" y="1595755"/>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10" name="椭圆 9"/>
          <p:cNvSpPr/>
          <p:nvPr/>
        </p:nvSpPr>
        <p:spPr>
          <a:xfrm>
            <a:off x="2563178" y="1595755"/>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11" name="椭圆 10"/>
          <p:cNvSpPr/>
          <p:nvPr/>
        </p:nvSpPr>
        <p:spPr>
          <a:xfrm>
            <a:off x="1214438" y="1595755"/>
            <a:ext cx="406400" cy="414338"/>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r>
              <a:rPr lang="en-US" altLang="zh-CN" sz="2400">
                <a:solidFill>
                  <a:srgbClr val="000066"/>
                </a:solidFill>
                <a:latin typeface="黑体" panose="02010609060101010101" pitchFamily="49" charset="-122"/>
                <a:ea typeface="黑体" panose="02010609060101010101" pitchFamily="49" charset="-122"/>
              </a:rPr>
              <a:t>0</a:t>
            </a:r>
            <a:endParaRPr lang="en-US" altLang="zh-CN" sz="2400">
              <a:solidFill>
                <a:srgbClr val="000066"/>
              </a:solidFill>
              <a:latin typeface="黑体" panose="02010609060101010101" pitchFamily="49" charset="-122"/>
              <a:ea typeface="黑体" panose="02010609060101010101" pitchFamily="49" charset="-122"/>
            </a:endParaRPr>
          </a:p>
        </p:txBody>
      </p:sp>
      <p:sp>
        <p:nvSpPr>
          <p:cNvPr id="100" name="文本框 99"/>
          <p:cNvSpPr txBox="1"/>
          <p:nvPr/>
        </p:nvSpPr>
        <p:spPr>
          <a:xfrm>
            <a:off x="6445250" y="1757680"/>
            <a:ext cx="2468245"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当     </a:t>
            </a:r>
            <a:r>
              <a:rPr lang="en-US" sz="2400" b="1">
                <a:gradFill>
                  <a:gsLst>
                    <a:gs pos="0">
                      <a:srgbClr val="012D86"/>
                    </a:gs>
                    <a:gs pos="100000">
                      <a:srgbClr val="0E2557"/>
                    </a:gs>
                  </a:gsLst>
                  <a:lin scaled="0"/>
                </a:gradFill>
                <a:latin typeface="Times New Roman" panose="02020603050405020304" charset="0"/>
                <a:sym typeface="+mn-ea"/>
              </a:rPr>
              <a:t>= 0</a:t>
            </a:r>
            <a:r>
              <a:rPr lang="zh-CN" sz="2400" b="1">
                <a:gradFill>
                  <a:gsLst>
                    <a:gs pos="0">
                      <a:srgbClr val="012D86"/>
                    </a:gs>
                    <a:gs pos="100000">
                      <a:srgbClr val="0E2557"/>
                    </a:gs>
                  </a:gsLst>
                  <a:lin scaled="0"/>
                </a:gradFill>
                <a:sym typeface="+mn-ea"/>
              </a:rPr>
              <a:t>时，</a:t>
            </a:r>
            <a:endParaRPr lang="zh-CN" sz="2400" b="1">
              <a:gradFill>
                <a:gsLst>
                  <a:gs pos="0">
                    <a:srgbClr val="012D86"/>
                  </a:gs>
                  <a:gs pos="100000">
                    <a:srgbClr val="0E2557"/>
                  </a:gs>
                </a:gsLst>
                <a:lin scaled="0"/>
              </a:gradFill>
              <a:sym typeface="+mn-ea"/>
            </a:endParaRPr>
          </a:p>
        </p:txBody>
      </p:sp>
      <p:pic>
        <p:nvPicPr>
          <p:cNvPr id="12" name="图片 11"/>
          <p:cNvPicPr/>
          <p:nvPr/>
        </p:nvPicPr>
        <p:blipFill>
          <a:blip r:embed="rId2"/>
          <a:stretch>
            <a:fillRect/>
          </a:stretch>
        </p:blipFill>
        <p:spPr>
          <a:xfrm>
            <a:off x="6802755" y="1837690"/>
            <a:ext cx="389255" cy="351155"/>
          </a:xfrm>
          <a:prstGeom prst="rect">
            <a:avLst/>
          </a:prstGeom>
          <a:noFill/>
          <a:ln w="9525">
            <a:noFill/>
          </a:ln>
        </p:spPr>
      </p:pic>
      <p:grpSp>
        <p:nvGrpSpPr>
          <p:cNvPr id="16" name="组合 15"/>
          <p:cNvGrpSpPr/>
          <p:nvPr/>
        </p:nvGrpSpPr>
        <p:grpSpPr>
          <a:xfrm>
            <a:off x="6445250" y="2270125"/>
            <a:ext cx="2467610" cy="2306320"/>
            <a:chOff x="10150" y="3575"/>
            <a:chExt cx="3886" cy="3632"/>
          </a:xfrm>
        </p:grpSpPr>
        <p:pic>
          <p:nvPicPr>
            <p:cNvPr id="14" name="图片 13"/>
            <p:cNvPicPr/>
            <p:nvPr/>
          </p:nvPicPr>
          <p:blipFill>
            <a:blip r:embed="rId2"/>
            <a:stretch>
              <a:fillRect/>
            </a:stretch>
          </p:blipFill>
          <p:spPr>
            <a:xfrm>
              <a:off x="11230" y="5915"/>
              <a:ext cx="600" cy="581"/>
            </a:xfrm>
            <a:prstGeom prst="rect">
              <a:avLst/>
            </a:prstGeom>
            <a:noFill/>
            <a:ln w="9525">
              <a:noFill/>
            </a:ln>
          </p:spPr>
        </p:pic>
        <p:sp>
          <p:nvSpPr>
            <p:cNvPr id="15" name="文本框 14"/>
            <p:cNvSpPr txBox="1"/>
            <p:nvPr/>
          </p:nvSpPr>
          <p:spPr>
            <a:xfrm>
              <a:off x="10150" y="3575"/>
              <a:ext cx="3887" cy="3633"/>
            </a:xfrm>
            <a:prstGeom prst="rect">
              <a:avLst/>
            </a:prstGeom>
            <a:noFill/>
            <a:ln w="9525">
              <a:noFill/>
            </a:ln>
          </p:spPr>
          <p:txBody>
            <a:bodyPr wrap="square">
              <a:spAutoFit/>
            </a:bodyPr>
            <a:p>
              <a:r>
                <a:rPr lang="zh-CN" sz="2400" b="1">
                  <a:gradFill>
                    <a:gsLst>
                      <a:gs pos="0">
                        <a:srgbClr val="012D86"/>
                      </a:gs>
                      <a:gs pos="100000">
                        <a:srgbClr val="0E2557"/>
                      </a:gs>
                    </a:gsLst>
                    <a:lin scaled="0"/>
                  </a:gradFill>
                  <a:sym typeface="+mn-ea"/>
                </a:rPr>
                <a:t>不管其它输入端状态如何，计数器的输出呈现“0000”状态，因此    具有最高优先级。</a:t>
              </a:r>
              <a:endParaRPr lang="zh-CN" sz="2400" b="1">
                <a:gradFill>
                  <a:gsLst>
                    <a:gs pos="0">
                      <a:srgbClr val="012D86"/>
                    </a:gs>
                    <a:gs pos="100000">
                      <a:srgbClr val="0E2557"/>
                    </a:gs>
                  </a:gsLst>
                  <a:lin scaled="0"/>
                </a:gradFill>
                <a:sym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26"/>
                                        </p:tgtEl>
                                        <p:attrNameLst>
                                          <p:attrName>style.visibility</p:attrName>
                                        </p:attrNameLst>
                                      </p:cBhvr>
                                      <p:to>
                                        <p:strVal val="visible"/>
                                      </p:to>
                                    </p:set>
                                  </p:childTnLst>
                                </p:cTn>
                              </p:par>
                            </p:childTnLst>
                          </p:cTn>
                        </p:par>
                        <p:par>
                          <p:cTn id="7" fill="hold">
                            <p:stCondLst>
                              <p:cond delay="0"/>
                            </p:stCondLst>
                            <p:childTnLst>
                              <p:par>
                                <p:cTn id="8" presetID="22" presetClass="entr" presetSubtype="4" fill="hold" nodeType="afterEffect">
                                  <p:stCondLst>
                                    <p:cond delay="1000"/>
                                  </p:stCondLst>
                                  <p:childTnLst>
                                    <p:set>
                                      <p:cBhvr>
                                        <p:cTn id="9" dur="1" fill="hold">
                                          <p:stCondLst>
                                            <p:cond delay="0"/>
                                          </p:stCondLst>
                                        </p:cTn>
                                        <p:tgtEl>
                                          <p:spTgt spid="12380"/>
                                        </p:tgtEl>
                                        <p:attrNameLst>
                                          <p:attrName>style.visibility</p:attrName>
                                        </p:attrNameLst>
                                      </p:cBhvr>
                                      <p:to>
                                        <p:strVal val="visible"/>
                                      </p:to>
                                    </p:set>
                                    <p:animEffect transition="in" filter="wipe(down)">
                                      <p:cBhvr>
                                        <p:cTn id="10" dur="500"/>
                                        <p:tgtEl>
                                          <p:spTgt spid="12380"/>
                                        </p:tgtEl>
                                      </p:cBhvr>
                                    </p:animEffect>
                                  </p:childTnLst>
                                </p:cTn>
                              </p:par>
                            </p:childTnLst>
                          </p:cTn>
                        </p:par>
                        <p:par>
                          <p:cTn id="11" fill="hold">
                            <p:stCondLst>
                              <p:cond delay="1500"/>
                            </p:stCondLst>
                            <p:childTnLst>
                              <p:par>
                                <p:cTn id="12" presetID="22" presetClass="entr" presetSubtype="2" fill="hold" nodeType="afterEffect">
                                  <p:stCondLst>
                                    <p:cond delay="1000"/>
                                  </p:stCondLst>
                                  <p:childTnLst>
                                    <p:set>
                                      <p:cBhvr>
                                        <p:cTn id="13" dur="1" fill="hold">
                                          <p:stCondLst>
                                            <p:cond delay="0"/>
                                          </p:stCondLst>
                                        </p:cTn>
                                        <p:tgtEl>
                                          <p:spTgt spid="12379"/>
                                        </p:tgtEl>
                                        <p:attrNameLst>
                                          <p:attrName>style.visibility</p:attrName>
                                        </p:attrNameLst>
                                      </p:cBhvr>
                                      <p:to>
                                        <p:strVal val="visible"/>
                                      </p:to>
                                    </p:set>
                                    <p:animEffect transition="in" filter="wipe(right)">
                                      <p:cBhvr>
                                        <p:cTn id="14" dur="500"/>
                                        <p:tgtEl>
                                          <p:spTgt spid="12379"/>
                                        </p:tgtEl>
                                      </p:cBhvr>
                                    </p:animEffect>
                                  </p:childTnLst>
                                </p:cTn>
                              </p:par>
                            </p:childTnLst>
                          </p:cTn>
                        </p:par>
                        <p:par>
                          <p:cTn id="15" fill="hold">
                            <p:stCondLst>
                              <p:cond delay="3000"/>
                            </p:stCondLst>
                            <p:childTnLst>
                              <p:par>
                                <p:cTn id="16" presetID="22" presetClass="entr" presetSubtype="4" fill="hold" nodeType="afterEffect">
                                  <p:stCondLst>
                                    <p:cond delay="0"/>
                                  </p:stCondLst>
                                  <p:childTnLst>
                                    <p:set>
                                      <p:cBhvr>
                                        <p:cTn id="17" dur="1000" fill="hold">
                                          <p:stCondLst>
                                            <p:cond delay="0"/>
                                          </p:stCondLst>
                                        </p:cTn>
                                        <p:tgtEl>
                                          <p:spTgt spid="8"/>
                                        </p:tgtEl>
                                        <p:attrNameLst>
                                          <p:attrName>style.visibility</p:attrName>
                                        </p:attrNameLst>
                                      </p:cBhvr>
                                      <p:to>
                                        <p:strVal val="visible"/>
                                      </p:to>
                                    </p:set>
                                    <p:animEffect transition="in" filter="wipe(down)">
                                      <p:cBhvr>
                                        <p:cTn id="18" dur="1000"/>
                                        <p:tgtEl>
                                          <p:spTgt spid="8"/>
                                        </p:tgtEl>
                                      </p:cBhvr>
                                    </p:animEffect>
                                  </p:childTnLst>
                                </p:cTn>
                              </p:par>
                            </p:childTnLst>
                          </p:cTn>
                        </p:par>
                        <p:par>
                          <p:cTn id="19" fill="hold">
                            <p:stCondLst>
                              <p:cond delay="4000"/>
                            </p:stCondLst>
                            <p:childTnLst>
                              <p:par>
                                <p:cTn id="20" presetID="1" presetClass="entr" presetSubtype="0" fill="hold" grpId="0" nodeType="afterEffect">
                                  <p:stCondLst>
                                    <p:cond delay="0"/>
                                  </p:stCondLst>
                                  <p:childTnLst>
                                    <p:set>
                                      <p:cBhvr>
                                        <p:cTn id="21" dur="1" fill="hold">
                                          <p:stCondLst>
                                            <p:cond delay="0"/>
                                          </p:stCondLst>
                                        </p:cTn>
                                        <p:tgtEl>
                                          <p:spTgt spid="491541"/>
                                        </p:tgtEl>
                                        <p:attrNameLst>
                                          <p:attrName>style.visibility</p:attrName>
                                        </p:attrNameLst>
                                      </p:cBhvr>
                                      <p:to>
                                        <p:strVal val="visible"/>
                                      </p:to>
                                    </p:set>
                                  </p:childTnLst>
                                </p:cTn>
                              </p:par>
                            </p:childTnLst>
                          </p:cTn>
                        </p:par>
                        <p:par>
                          <p:cTn id="22" fill="hold">
                            <p:stCondLst>
                              <p:cond delay="4000"/>
                            </p:stCondLst>
                            <p:childTnLst>
                              <p:par>
                                <p:cTn id="23" presetID="1" presetClass="entr" presetSubtype="0"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par>
                          <p:cTn id="25" fill="hold">
                            <p:stCondLst>
                              <p:cond delay="4000"/>
                            </p:stCondLst>
                            <p:childTnLst>
                              <p:par>
                                <p:cTn id="26" presetID="1" presetClass="entr" presetSubtype="0"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par>
                          <p:cTn id="31" fill="hold">
                            <p:stCondLst>
                              <p:cond delay="4000"/>
                            </p:stCondLst>
                            <p:childTnLst>
                              <p:par>
                                <p:cTn id="32" presetID="1" presetClass="entr" presetSubtype="0" fill="hold" nodeType="afterEffect">
                                  <p:stCondLst>
                                    <p:cond delay="1000"/>
                                  </p:stCondLst>
                                  <p:childTnLst>
                                    <p:set>
                                      <p:cBhvr>
                                        <p:cTn id="3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1" grpId="0" bldLvl="0" animBg="1"/>
      <p:bldP spid="491526" grpId="0" bldLvl="0" animBg="1"/>
      <p:bldP spid="9" grpId="0" bldLvl="0" animBg="1"/>
      <p:bldP spid="10" grpId="0" bldLvl="0" animBg="1"/>
      <p:bldP spid="11"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1" name="文本框 100"/>
          <p:cNvSpPr txBox="1"/>
          <p:nvPr/>
        </p:nvSpPr>
        <p:spPr>
          <a:xfrm>
            <a:off x="683260" y="1135380"/>
            <a:ext cx="5080000" cy="460375"/>
          </a:xfrm>
          <a:prstGeom prst="rect">
            <a:avLst/>
          </a:prstGeom>
          <a:noFill/>
          <a:ln w="9525">
            <a:noFill/>
          </a:ln>
        </p:spPr>
        <p:txBody>
          <a:bodyPr>
            <a:spAutoFit/>
          </a:bodyPr>
          <a:p>
            <a:pPr indent="266700"/>
            <a:r>
              <a:rPr lang="en-US" sz="2400" b="1">
                <a:latin typeface="Times New Roman" panose="02020603050405020304" charset="0"/>
              </a:rPr>
              <a:t>(2) </a:t>
            </a:r>
            <a:r>
              <a:rPr lang="zh-CN" sz="2400" b="1">
                <a:ea typeface="宋体" panose="02010600030101010101" pitchFamily="2" charset="-122"/>
              </a:rPr>
              <a:t>功能分析</a:t>
            </a:r>
            <a:endParaRPr lang="zh-CN" altLang="en-US" sz="2400" b="1"/>
          </a:p>
        </p:txBody>
      </p:sp>
      <p:sp>
        <p:nvSpPr>
          <p:cNvPr id="2" name="文本框 1"/>
          <p:cNvSpPr txBox="1"/>
          <p:nvPr/>
        </p:nvSpPr>
        <p:spPr>
          <a:xfrm>
            <a:off x="6372225" y="1231900"/>
            <a:ext cx="2150110" cy="460375"/>
          </a:xfrm>
          <a:prstGeom prst="rect">
            <a:avLst/>
          </a:prstGeom>
          <a:noFill/>
          <a:ln w="9525">
            <a:noFill/>
          </a:ln>
        </p:spPr>
        <p:txBody>
          <a:bodyPr wrap="square">
            <a:spAutoFit/>
          </a:bodyPr>
          <a:p>
            <a:r>
              <a:rPr lang="en-US" sz="2400" b="1">
                <a:gradFill>
                  <a:gsLst>
                    <a:gs pos="0">
                      <a:srgbClr val="012D86"/>
                    </a:gs>
                    <a:gs pos="100000">
                      <a:srgbClr val="0E2557"/>
                    </a:gs>
                  </a:gsLst>
                  <a:lin scaled="0"/>
                </a:gradFill>
                <a:latin typeface="Times New Roman" panose="02020603050405020304" charset="0"/>
              </a:rPr>
              <a:t>① </a:t>
            </a:r>
            <a:r>
              <a:rPr lang="zh-CN" sz="2400" b="1">
                <a:gradFill>
                  <a:gsLst>
                    <a:gs pos="0">
                      <a:srgbClr val="012D86"/>
                    </a:gs>
                    <a:gs pos="100000">
                      <a:srgbClr val="0E2557"/>
                    </a:gs>
                  </a:gsLst>
                  <a:lin scaled="0"/>
                </a:gradFill>
                <a:ea typeface="宋体" panose="02010600030101010101" pitchFamily="2" charset="-122"/>
              </a:rPr>
              <a:t>异步清</a:t>
            </a:r>
            <a:r>
              <a:rPr lang="en-US" sz="2400" b="1">
                <a:gradFill>
                  <a:gsLst>
                    <a:gs pos="0">
                      <a:srgbClr val="012D86"/>
                    </a:gs>
                    <a:gs pos="100000">
                      <a:srgbClr val="0E2557"/>
                    </a:gs>
                  </a:gsLst>
                  <a:lin scaled="0"/>
                </a:gradFill>
                <a:latin typeface="Times New Roman" panose="02020603050405020304" charset="0"/>
              </a:rPr>
              <a:t>0</a:t>
            </a:r>
            <a:endParaRPr lang="en-US" altLang="en-US" sz="2400" b="1">
              <a:gradFill>
                <a:gsLst>
                  <a:gs pos="0">
                    <a:srgbClr val="012D86"/>
                  </a:gs>
                  <a:gs pos="100000">
                    <a:srgbClr val="0E2557"/>
                  </a:gs>
                </a:gsLst>
                <a:lin scaled="0"/>
              </a:gradFill>
              <a:latin typeface="Times New Roman" panose="02020603050405020304" charset="0"/>
            </a:endParaRPr>
          </a:p>
        </p:txBody>
      </p:sp>
      <p:pic>
        <p:nvPicPr>
          <p:cNvPr id="9399" name="图片 2836"/>
          <p:cNvPicPr>
            <a:picLocks noChangeAspect="1"/>
          </p:cNvPicPr>
          <p:nvPr/>
        </p:nvPicPr>
        <p:blipFill>
          <a:blip r:embed="rId1"/>
          <a:stretch>
            <a:fillRect/>
          </a:stretch>
        </p:blipFill>
        <p:spPr>
          <a:xfrm>
            <a:off x="142240" y="1918970"/>
            <a:ext cx="6161405" cy="4207510"/>
          </a:xfrm>
          <a:prstGeom prst="rect">
            <a:avLst/>
          </a:prstGeom>
          <a:noFill/>
          <a:ln>
            <a:noFill/>
          </a:ln>
        </p:spPr>
      </p:pic>
      <p:sp>
        <p:nvSpPr>
          <p:cNvPr id="12379" name="直接连接符 113749"/>
          <p:cNvSpPr/>
          <p:nvPr/>
        </p:nvSpPr>
        <p:spPr>
          <a:xfrm flipH="1">
            <a:off x="817880" y="4636135"/>
            <a:ext cx="4997450" cy="635"/>
          </a:xfrm>
          <a:prstGeom prst="line">
            <a:avLst/>
          </a:prstGeom>
          <a:ln w="28575" cap="flat" cmpd="sng">
            <a:solidFill>
              <a:srgbClr val="FF3300"/>
            </a:solidFill>
            <a:prstDash val="solid"/>
            <a:headEnd type="none" w="med" len="med"/>
            <a:tailEnd type="none" w="med" len="med"/>
          </a:ln>
        </p:spPr>
      </p:sp>
      <p:sp>
        <p:nvSpPr>
          <p:cNvPr id="12380" name="直接连接符 113750"/>
          <p:cNvSpPr/>
          <p:nvPr/>
        </p:nvSpPr>
        <p:spPr>
          <a:xfrm>
            <a:off x="4999355" y="5730240"/>
            <a:ext cx="635" cy="161290"/>
          </a:xfrm>
          <a:prstGeom prst="line">
            <a:avLst/>
          </a:prstGeom>
          <a:ln w="28575" cap="flat" cmpd="sng">
            <a:solidFill>
              <a:srgbClr val="FF3300"/>
            </a:solidFill>
            <a:prstDash val="solid"/>
            <a:headEnd type="none" w="med" len="med"/>
            <a:tailEnd type="none" w="med" len="med"/>
          </a:ln>
        </p:spPr>
      </p:sp>
      <p:sp>
        <p:nvSpPr>
          <p:cNvPr id="491526" name="椭圆 491525"/>
          <p:cNvSpPr/>
          <p:nvPr/>
        </p:nvSpPr>
        <p:spPr>
          <a:xfrm>
            <a:off x="5897246" y="612648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100" name="文本框 99"/>
          <p:cNvSpPr txBox="1"/>
          <p:nvPr/>
        </p:nvSpPr>
        <p:spPr>
          <a:xfrm>
            <a:off x="6386195" y="2113280"/>
            <a:ext cx="2757170"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当     </a:t>
            </a:r>
            <a:r>
              <a:rPr lang="en-US" sz="2400" b="1">
                <a:gradFill>
                  <a:gsLst>
                    <a:gs pos="0">
                      <a:srgbClr val="012D86"/>
                    </a:gs>
                    <a:gs pos="100000">
                      <a:srgbClr val="0E2557"/>
                    </a:gs>
                  </a:gsLst>
                  <a:lin scaled="0"/>
                </a:gradFill>
                <a:latin typeface="Times New Roman" panose="02020603050405020304" charset="0"/>
                <a:sym typeface="+mn-ea"/>
              </a:rPr>
              <a:t>= 1,      </a:t>
            </a:r>
            <a:r>
              <a:rPr lang="en-US" sz="2400">
                <a:latin typeface="Times New Roman" panose="02020603050405020304" charset="0"/>
                <a:sym typeface="+mn-ea"/>
              </a:rPr>
              <a:t>= 0</a:t>
            </a:r>
            <a:r>
              <a:rPr lang="zh-CN" sz="2400" b="1">
                <a:gradFill>
                  <a:gsLst>
                    <a:gs pos="0">
                      <a:srgbClr val="012D86"/>
                    </a:gs>
                    <a:gs pos="100000">
                      <a:srgbClr val="0E2557"/>
                    </a:gs>
                  </a:gsLst>
                  <a:lin scaled="0"/>
                </a:gradFill>
                <a:sym typeface="+mn-ea"/>
              </a:rPr>
              <a:t>时，</a:t>
            </a:r>
            <a:endParaRPr lang="zh-CN" sz="2400" b="1">
              <a:gradFill>
                <a:gsLst>
                  <a:gs pos="0">
                    <a:srgbClr val="012D86"/>
                  </a:gs>
                  <a:gs pos="100000">
                    <a:srgbClr val="0E2557"/>
                  </a:gs>
                </a:gsLst>
                <a:lin scaled="0"/>
              </a:gradFill>
              <a:sym typeface="+mn-ea"/>
            </a:endParaRPr>
          </a:p>
        </p:txBody>
      </p:sp>
      <p:pic>
        <p:nvPicPr>
          <p:cNvPr id="12" name="图片 11"/>
          <p:cNvPicPr/>
          <p:nvPr/>
        </p:nvPicPr>
        <p:blipFill>
          <a:blip r:embed="rId2"/>
          <a:stretch>
            <a:fillRect/>
          </a:stretch>
        </p:blipFill>
        <p:spPr>
          <a:xfrm>
            <a:off x="6814185" y="2152650"/>
            <a:ext cx="389255" cy="351155"/>
          </a:xfrm>
          <a:prstGeom prst="rect">
            <a:avLst/>
          </a:prstGeom>
          <a:noFill/>
          <a:ln w="9525">
            <a:noFill/>
          </a:ln>
        </p:spPr>
      </p:pic>
      <p:sp>
        <p:nvSpPr>
          <p:cNvPr id="13" name="文本框 12"/>
          <p:cNvSpPr txBox="1"/>
          <p:nvPr/>
        </p:nvSpPr>
        <p:spPr>
          <a:xfrm>
            <a:off x="6372225" y="1692275"/>
            <a:ext cx="2785745" cy="460375"/>
          </a:xfrm>
          <a:prstGeom prst="rect">
            <a:avLst/>
          </a:prstGeom>
          <a:noFill/>
          <a:ln w="9525">
            <a:noFill/>
          </a:ln>
        </p:spPr>
        <p:txBody>
          <a:bodyPr wrap="square">
            <a:spAutoFit/>
          </a:bodyPr>
          <a:p>
            <a:r>
              <a:rPr lang="en-US" sz="2400" b="1">
                <a:gradFill>
                  <a:gsLst>
                    <a:gs pos="0">
                      <a:srgbClr val="012D86"/>
                    </a:gs>
                    <a:gs pos="100000">
                      <a:srgbClr val="0E2557"/>
                    </a:gs>
                  </a:gsLst>
                  <a:lin scaled="0"/>
                </a:gradFill>
                <a:latin typeface="Times New Roman" panose="02020603050405020304" charset="0"/>
              </a:rPr>
              <a:t>② </a:t>
            </a:r>
            <a:r>
              <a:rPr lang="zh-CN" sz="2400" b="1">
                <a:gradFill>
                  <a:gsLst>
                    <a:gs pos="0">
                      <a:srgbClr val="012D86"/>
                    </a:gs>
                    <a:gs pos="100000">
                      <a:srgbClr val="0E2557"/>
                    </a:gs>
                  </a:gsLst>
                  <a:lin scaled="0"/>
                </a:gradFill>
                <a:ea typeface="宋体" panose="02010600030101010101" pitchFamily="2" charset="-122"/>
              </a:rPr>
              <a:t>同步并行预置数</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18" name="图片 17"/>
          <p:cNvPicPr/>
          <p:nvPr/>
        </p:nvPicPr>
        <p:blipFill>
          <a:blip r:embed="rId3"/>
          <a:stretch>
            <a:fillRect/>
          </a:stretch>
        </p:blipFill>
        <p:spPr>
          <a:xfrm>
            <a:off x="7753350" y="2113280"/>
            <a:ext cx="344805" cy="390525"/>
          </a:xfrm>
          <a:prstGeom prst="rect">
            <a:avLst/>
          </a:prstGeom>
          <a:noFill/>
          <a:ln w="9525">
            <a:noFill/>
          </a:ln>
        </p:spPr>
      </p:pic>
      <p:sp>
        <p:nvSpPr>
          <p:cNvPr id="19" name="椭圆 18"/>
          <p:cNvSpPr/>
          <p:nvPr/>
        </p:nvSpPr>
        <p:spPr>
          <a:xfrm>
            <a:off x="4821556" y="612267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20" name="直接连接符 113750"/>
          <p:cNvSpPr/>
          <p:nvPr/>
        </p:nvSpPr>
        <p:spPr>
          <a:xfrm>
            <a:off x="4998720" y="4636770"/>
            <a:ext cx="635" cy="822960"/>
          </a:xfrm>
          <a:prstGeom prst="line">
            <a:avLst/>
          </a:prstGeom>
          <a:ln w="28575" cap="flat" cmpd="sng">
            <a:solidFill>
              <a:srgbClr val="FF3300"/>
            </a:solidFill>
            <a:prstDash val="solid"/>
            <a:headEnd type="none" w="med" len="med"/>
            <a:tailEnd type="none" w="med" len="med"/>
          </a:ln>
        </p:spPr>
      </p:sp>
      <p:sp>
        <p:nvSpPr>
          <p:cNvPr id="21" name="椭圆 20"/>
          <p:cNvSpPr/>
          <p:nvPr/>
        </p:nvSpPr>
        <p:spPr>
          <a:xfrm>
            <a:off x="4850131" y="5045075"/>
            <a:ext cx="406400" cy="414338"/>
          </a:xfrm>
          <a:prstGeom prst="ellipse">
            <a:avLst/>
          </a:prstGeom>
          <a:solidFill>
            <a:srgbClr val="0099FF">
              <a:alpha val="3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grpSp>
        <p:nvGrpSpPr>
          <p:cNvPr id="39" name="组合 38"/>
          <p:cNvGrpSpPr/>
          <p:nvPr/>
        </p:nvGrpSpPr>
        <p:grpSpPr>
          <a:xfrm>
            <a:off x="824230" y="3879215"/>
            <a:ext cx="4972685" cy="812165"/>
            <a:chOff x="1298" y="6109"/>
            <a:chExt cx="7831" cy="1279"/>
          </a:xfrm>
        </p:grpSpPr>
        <p:grpSp>
          <p:nvGrpSpPr>
            <p:cNvPr id="8" name="组合 7"/>
            <p:cNvGrpSpPr/>
            <p:nvPr/>
          </p:nvGrpSpPr>
          <p:grpSpPr>
            <a:xfrm>
              <a:off x="1298" y="6862"/>
              <a:ext cx="6576" cy="527"/>
              <a:chOff x="1221" y="4570"/>
              <a:chExt cx="6576" cy="527"/>
            </a:xfrm>
          </p:grpSpPr>
          <p:sp>
            <p:nvSpPr>
              <p:cNvPr id="3" name="直接连接符 113750"/>
              <p:cNvSpPr/>
              <p:nvPr/>
            </p:nvSpPr>
            <p:spPr>
              <a:xfrm>
                <a:off x="7797" y="4655"/>
                <a:ext cx="1" cy="442"/>
              </a:xfrm>
              <a:prstGeom prst="line">
                <a:avLst/>
              </a:prstGeom>
              <a:ln w="28575" cap="flat" cmpd="sng">
                <a:solidFill>
                  <a:srgbClr val="FF3300"/>
                </a:solidFill>
                <a:prstDash val="solid"/>
                <a:headEnd type="none" w="med" len="med"/>
                <a:tailEnd type="none" w="med" len="med"/>
              </a:ln>
            </p:spPr>
          </p:sp>
          <p:sp>
            <p:nvSpPr>
              <p:cNvPr id="5" name="直接连接符 113750"/>
              <p:cNvSpPr/>
              <p:nvPr/>
            </p:nvSpPr>
            <p:spPr>
              <a:xfrm>
                <a:off x="5629" y="4614"/>
                <a:ext cx="1" cy="442"/>
              </a:xfrm>
              <a:prstGeom prst="line">
                <a:avLst/>
              </a:prstGeom>
              <a:ln w="28575" cap="flat" cmpd="sng">
                <a:solidFill>
                  <a:srgbClr val="FF3300"/>
                </a:solidFill>
                <a:prstDash val="solid"/>
                <a:headEnd type="none" w="med" len="med"/>
                <a:tailEnd type="none" w="med" len="med"/>
              </a:ln>
            </p:spPr>
          </p:sp>
          <p:sp>
            <p:nvSpPr>
              <p:cNvPr id="6" name="直接连接符 113750"/>
              <p:cNvSpPr/>
              <p:nvPr/>
            </p:nvSpPr>
            <p:spPr>
              <a:xfrm>
                <a:off x="3450" y="4655"/>
                <a:ext cx="1" cy="442"/>
              </a:xfrm>
              <a:prstGeom prst="line">
                <a:avLst/>
              </a:prstGeom>
              <a:ln w="28575" cap="flat" cmpd="sng">
                <a:solidFill>
                  <a:srgbClr val="FF3300"/>
                </a:solidFill>
                <a:prstDash val="solid"/>
                <a:headEnd type="none" w="med" len="med"/>
                <a:tailEnd type="none" w="med" len="med"/>
              </a:ln>
            </p:spPr>
          </p:sp>
          <p:sp>
            <p:nvSpPr>
              <p:cNvPr id="7" name="直接连接符 113750"/>
              <p:cNvSpPr/>
              <p:nvPr/>
            </p:nvSpPr>
            <p:spPr>
              <a:xfrm>
                <a:off x="1221" y="4570"/>
                <a:ext cx="1" cy="442"/>
              </a:xfrm>
              <a:prstGeom prst="line">
                <a:avLst/>
              </a:prstGeom>
              <a:ln w="28575" cap="flat" cmpd="sng">
                <a:solidFill>
                  <a:srgbClr val="FF3300"/>
                </a:solidFill>
                <a:prstDash val="solid"/>
                <a:headEnd type="none" w="med" len="med"/>
                <a:tailEnd type="none" w="med" len="med"/>
              </a:ln>
            </p:spPr>
          </p:sp>
        </p:grpSp>
        <p:grpSp>
          <p:nvGrpSpPr>
            <p:cNvPr id="27" name="组合 26"/>
            <p:cNvGrpSpPr/>
            <p:nvPr/>
          </p:nvGrpSpPr>
          <p:grpSpPr>
            <a:xfrm>
              <a:off x="2553" y="6824"/>
              <a:ext cx="6576" cy="518"/>
              <a:chOff x="4028" y="53"/>
              <a:chExt cx="6576" cy="518"/>
            </a:xfrm>
          </p:grpSpPr>
          <p:sp>
            <p:nvSpPr>
              <p:cNvPr id="23" name="直接连接符 113750"/>
              <p:cNvSpPr/>
              <p:nvPr/>
            </p:nvSpPr>
            <p:spPr>
              <a:xfrm>
                <a:off x="10604" y="108"/>
                <a:ext cx="1" cy="442"/>
              </a:xfrm>
              <a:prstGeom prst="line">
                <a:avLst/>
              </a:prstGeom>
              <a:ln w="28575" cap="flat" cmpd="sng">
                <a:solidFill>
                  <a:srgbClr val="FF3300"/>
                </a:solidFill>
                <a:prstDash val="solid"/>
                <a:headEnd type="none" w="med" len="med"/>
                <a:tailEnd type="none" w="med" len="med"/>
              </a:ln>
            </p:spPr>
          </p:sp>
          <p:sp>
            <p:nvSpPr>
              <p:cNvPr id="24" name="直接连接符 113750"/>
              <p:cNvSpPr/>
              <p:nvPr/>
            </p:nvSpPr>
            <p:spPr>
              <a:xfrm>
                <a:off x="8436" y="53"/>
                <a:ext cx="1" cy="442"/>
              </a:xfrm>
              <a:prstGeom prst="line">
                <a:avLst/>
              </a:prstGeom>
              <a:ln w="28575" cap="flat" cmpd="sng">
                <a:solidFill>
                  <a:srgbClr val="FF3300"/>
                </a:solidFill>
                <a:prstDash val="solid"/>
                <a:headEnd type="none" w="med" len="med"/>
                <a:tailEnd type="none" w="med" len="med"/>
              </a:ln>
            </p:spPr>
          </p:sp>
          <p:sp>
            <p:nvSpPr>
              <p:cNvPr id="25" name="直接连接符 113750"/>
              <p:cNvSpPr/>
              <p:nvPr/>
            </p:nvSpPr>
            <p:spPr>
              <a:xfrm>
                <a:off x="6257" y="94"/>
                <a:ext cx="1" cy="442"/>
              </a:xfrm>
              <a:prstGeom prst="line">
                <a:avLst/>
              </a:prstGeom>
              <a:ln w="28575" cap="flat" cmpd="sng">
                <a:solidFill>
                  <a:srgbClr val="FF3300"/>
                </a:solidFill>
                <a:prstDash val="solid"/>
                <a:headEnd type="none" w="med" len="med"/>
                <a:tailEnd type="none" w="med" len="med"/>
              </a:ln>
            </p:spPr>
          </p:sp>
          <p:sp>
            <p:nvSpPr>
              <p:cNvPr id="26" name="直接连接符 113750"/>
              <p:cNvSpPr/>
              <p:nvPr/>
            </p:nvSpPr>
            <p:spPr>
              <a:xfrm>
                <a:off x="4028" y="129"/>
                <a:ext cx="1" cy="442"/>
              </a:xfrm>
              <a:prstGeom prst="line">
                <a:avLst/>
              </a:prstGeom>
              <a:ln w="28575" cap="flat" cmpd="sng">
                <a:solidFill>
                  <a:srgbClr val="FF3300"/>
                </a:solidFill>
                <a:prstDash val="solid"/>
                <a:headEnd type="none" w="med" len="med"/>
                <a:tailEnd type="none" w="med" len="med"/>
              </a:ln>
            </p:spPr>
          </p:sp>
        </p:grpSp>
        <p:grpSp>
          <p:nvGrpSpPr>
            <p:cNvPr id="38" name="组合 37"/>
            <p:cNvGrpSpPr/>
            <p:nvPr/>
          </p:nvGrpSpPr>
          <p:grpSpPr>
            <a:xfrm>
              <a:off x="2009" y="6109"/>
              <a:ext cx="6576" cy="1190"/>
              <a:chOff x="4459" y="454"/>
              <a:chExt cx="6576" cy="1190"/>
            </a:xfrm>
          </p:grpSpPr>
          <p:sp>
            <p:nvSpPr>
              <p:cNvPr id="34" name="直接连接符 113750"/>
              <p:cNvSpPr/>
              <p:nvPr/>
            </p:nvSpPr>
            <p:spPr>
              <a:xfrm>
                <a:off x="11035" y="489"/>
                <a:ext cx="1" cy="1102"/>
              </a:xfrm>
              <a:prstGeom prst="line">
                <a:avLst/>
              </a:prstGeom>
              <a:ln w="28575" cap="flat" cmpd="sng">
                <a:solidFill>
                  <a:srgbClr val="FF3300"/>
                </a:solidFill>
                <a:prstDash val="solid"/>
                <a:headEnd type="none" w="med" len="med"/>
                <a:tailEnd type="none" w="med" len="med"/>
              </a:ln>
            </p:spPr>
          </p:sp>
          <p:sp>
            <p:nvSpPr>
              <p:cNvPr id="35" name="直接连接符 113750"/>
              <p:cNvSpPr/>
              <p:nvPr/>
            </p:nvSpPr>
            <p:spPr>
              <a:xfrm>
                <a:off x="8867" y="472"/>
                <a:ext cx="1" cy="1102"/>
              </a:xfrm>
              <a:prstGeom prst="line">
                <a:avLst/>
              </a:prstGeom>
              <a:ln w="28575" cap="flat" cmpd="sng">
                <a:solidFill>
                  <a:srgbClr val="FF3300"/>
                </a:solidFill>
                <a:prstDash val="solid"/>
                <a:headEnd type="none" w="med" len="med"/>
                <a:tailEnd type="none" w="med" len="med"/>
              </a:ln>
            </p:spPr>
          </p:sp>
          <p:sp>
            <p:nvSpPr>
              <p:cNvPr id="36" name="直接连接符 113750"/>
              <p:cNvSpPr/>
              <p:nvPr/>
            </p:nvSpPr>
            <p:spPr>
              <a:xfrm>
                <a:off x="6688" y="454"/>
                <a:ext cx="1" cy="1102"/>
              </a:xfrm>
              <a:prstGeom prst="line">
                <a:avLst/>
              </a:prstGeom>
              <a:ln w="28575" cap="flat" cmpd="sng">
                <a:solidFill>
                  <a:srgbClr val="FF3300"/>
                </a:solidFill>
                <a:prstDash val="solid"/>
                <a:headEnd type="none" w="med" len="med"/>
                <a:tailEnd type="none" w="med" len="med"/>
              </a:ln>
            </p:spPr>
          </p:sp>
          <p:sp>
            <p:nvSpPr>
              <p:cNvPr id="37" name="直接连接符 113750"/>
              <p:cNvSpPr/>
              <p:nvPr/>
            </p:nvSpPr>
            <p:spPr>
              <a:xfrm>
                <a:off x="4459" y="542"/>
                <a:ext cx="1" cy="1102"/>
              </a:xfrm>
              <a:prstGeom prst="line">
                <a:avLst/>
              </a:prstGeom>
              <a:ln w="28575" cap="flat" cmpd="sng">
                <a:solidFill>
                  <a:srgbClr val="FF3300"/>
                </a:solidFill>
                <a:prstDash val="solid"/>
                <a:headEnd type="none" w="med" len="med"/>
                <a:tailEnd type="none" w="med" len="med"/>
              </a:ln>
            </p:spPr>
          </p:sp>
        </p:grpSp>
      </p:grpSp>
      <p:sp>
        <p:nvSpPr>
          <p:cNvPr id="40" name="椭圆 39"/>
          <p:cNvSpPr/>
          <p:nvPr/>
        </p:nvSpPr>
        <p:spPr>
          <a:xfrm>
            <a:off x="5256531" y="3350260"/>
            <a:ext cx="406400" cy="414338"/>
          </a:xfrm>
          <a:prstGeom prst="ellipse">
            <a:avLst/>
          </a:prstGeom>
          <a:solidFill>
            <a:srgbClr val="0099FF">
              <a:alpha val="3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41" name="椭圆 40"/>
          <p:cNvSpPr/>
          <p:nvPr/>
        </p:nvSpPr>
        <p:spPr>
          <a:xfrm>
            <a:off x="3808096" y="3350260"/>
            <a:ext cx="406400" cy="414338"/>
          </a:xfrm>
          <a:prstGeom prst="ellipse">
            <a:avLst/>
          </a:prstGeom>
          <a:solidFill>
            <a:srgbClr val="0099FF">
              <a:alpha val="3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42" name="椭圆 41"/>
          <p:cNvSpPr/>
          <p:nvPr/>
        </p:nvSpPr>
        <p:spPr>
          <a:xfrm>
            <a:off x="2427606" y="3350260"/>
            <a:ext cx="406400" cy="414338"/>
          </a:xfrm>
          <a:prstGeom prst="ellipse">
            <a:avLst/>
          </a:prstGeom>
          <a:solidFill>
            <a:srgbClr val="0099FF">
              <a:alpha val="3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43" name="椭圆 42"/>
          <p:cNvSpPr/>
          <p:nvPr/>
        </p:nvSpPr>
        <p:spPr>
          <a:xfrm>
            <a:off x="1072516" y="3350260"/>
            <a:ext cx="406400" cy="414338"/>
          </a:xfrm>
          <a:prstGeom prst="ellipse">
            <a:avLst/>
          </a:prstGeom>
          <a:solidFill>
            <a:srgbClr val="0099FF">
              <a:alpha val="3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graphicFrame>
        <p:nvGraphicFramePr>
          <p:cNvPr id="9" name="对象 -2147482084"/>
          <p:cNvGraphicFramePr>
            <a:graphicFrameLocks noChangeAspect="1"/>
          </p:cNvGraphicFramePr>
          <p:nvPr/>
        </p:nvGraphicFramePr>
        <p:xfrm>
          <a:off x="6629400" y="2503488"/>
          <a:ext cx="1980565" cy="907415"/>
        </p:xfrm>
        <a:graphic>
          <a:graphicData uri="http://schemas.openxmlformats.org/presentationml/2006/ole">
            <mc:AlternateContent xmlns:mc="http://schemas.openxmlformats.org/markup-compatibility/2006">
              <mc:Choice xmlns:v="urn:schemas-microsoft-com:vml" Requires="v">
                <p:oleObj spid="_x0000_s3076" name="" r:id="rId4" imgW="1054100" imgH="482600" progId="Equation.KSEE3">
                  <p:embed/>
                </p:oleObj>
              </mc:Choice>
              <mc:Fallback>
                <p:oleObj name="" r:id="rId4" imgW="1054100" imgH="482600" progId="Equation.KSEE3">
                  <p:embed/>
                  <p:pic>
                    <p:nvPicPr>
                      <p:cNvPr id="0" name="图片 3075"/>
                      <p:cNvPicPr/>
                      <p:nvPr/>
                    </p:nvPicPr>
                    <p:blipFill>
                      <a:blip r:embed="rId5"/>
                      <a:stretch>
                        <a:fillRect/>
                      </a:stretch>
                    </p:blipFill>
                    <p:spPr>
                      <a:xfrm>
                        <a:off x="6629400" y="2503488"/>
                        <a:ext cx="1980565" cy="907415"/>
                      </a:xfrm>
                      <a:prstGeom prst="rect">
                        <a:avLst/>
                      </a:prstGeom>
                      <a:noFill/>
                      <a:ln w="38100">
                        <a:noFill/>
                        <a:miter/>
                      </a:ln>
                    </p:spPr>
                  </p:pic>
                </p:oleObj>
              </mc:Fallback>
            </mc:AlternateContent>
          </a:graphicData>
        </a:graphic>
      </p:graphicFrame>
      <p:graphicFrame>
        <p:nvGraphicFramePr>
          <p:cNvPr id="44" name="对象 -2147482084"/>
          <p:cNvGraphicFramePr>
            <a:graphicFrameLocks noChangeAspect="1"/>
          </p:cNvGraphicFramePr>
          <p:nvPr/>
        </p:nvGraphicFramePr>
        <p:xfrm>
          <a:off x="4651693" y="3764598"/>
          <a:ext cx="382270" cy="429895"/>
        </p:xfrm>
        <a:graphic>
          <a:graphicData uri="http://schemas.openxmlformats.org/presentationml/2006/ole">
            <mc:AlternateContent xmlns:mc="http://schemas.openxmlformats.org/markup-compatibility/2006">
              <mc:Choice xmlns:v="urn:schemas-microsoft-com:vml" Requires="v">
                <p:oleObj spid="_x0000_s45" name="" r:id="rId6" imgW="203200" imgH="228600" progId="Equation.KSEE3">
                  <p:embed/>
                </p:oleObj>
              </mc:Choice>
              <mc:Fallback>
                <p:oleObj name="" r:id="rId6" imgW="203200" imgH="228600" progId="Equation.KSEE3">
                  <p:embed/>
                  <p:pic>
                    <p:nvPicPr>
                      <p:cNvPr id="0" name="图片 3075"/>
                      <p:cNvPicPr/>
                      <p:nvPr/>
                    </p:nvPicPr>
                    <p:blipFill>
                      <a:blip r:embed="rId7"/>
                      <a:stretch>
                        <a:fillRect/>
                      </a:stretch>
                    </p:blipFill>
                    <p:spPr>
                      <a:xfrm>
                        <a:off x="4651693" y="3764598"/>
                        <a:ext cx="382270" cy="429895"/>
                      </a:xfrm>
                      <a:prstGeom prst="rect">
                        <a:avLst/>
                      </a:prstGeom>
                      <a:noFill/>
                      <a:ln w="38100">
                        <a:noFill/>
                        <a:miter/>
                      </a:ln>
                    </p:spPr>
                  </p:pic>
                </p:oleObj>
              </mc:Fallback>
            </mc:AlternateContent>
          </a:graphicData>
        </a:graphic>
      </p:graphicFrame>
      <p:graphicFrame>
        <p:nvGraphicFramePr>
          <p:cNvPr id="46" name="对象 -2147482084"/>
          <p:cNvGraphicFramePr>
            <a:graphicFrameLocks noChangeAspect="1"/>
          </p:cNvGraphicFramePr>
          <p:nvPr/>
        </p:nvGraphicFramePr>
        <p:xfrm>
          <a:off x="5763260" y="3717290"/>
          <a:ext cx="405765" cy="477520"/>
        </p:xfrm>
        <a:graphic>
          <a:graphicData uri="http://schemas.openxmlformats.org/presentationml/2006/ole">
            <mc:AlternateContent xmlns:mc="http://schemas.openxmlformats.org/markup-compatibility/2006">
              <mc:Choice xmlns:v="urn:schemas-microsoft-com:vml" Requires="v">
                <p:oleObj spid="_x0000_s47" name="" r:id="rId8" imgW="215900" imgH="254000" progId="Equation.KSEE3">
                  <p:embed/>
                </p:oleObj>
              </mc:Choice>
              <mc:Fallback>
                <p:oleObj name="" r:id="rId8" imgW="215900" imgH="254000" progId="Equation.KSEE3">
                  <p:embed/>
                  <p:pic>
                    <p:nvPicPr>
                      <p:cNvPr id="0" name="图片 3075"/>
                      <p:cNvPicPr/>
                      <p:nvPr/>
                    </p:nvPicPr>
                    <p:blipFill>
                      <a:blip r:embed="rId9"/>
                      <a:stretch>
                        <a:fillRect/>
                      </a:stretch>
                    </p:blipFill>
                    <p:spPr>
                      <a:xfrm>
                        <a:off x="5763260" y="3717290"/>
                        <a:ext cx="405765" cy="477520"/>
                      </a:xfrm>
                      <a:prstGeom prst="rect">
                        <a:avLst/>
                      </a:prstGeom>
                      <a:noFill/>
                      <a:ln w="38100">
                        <a:noFill/>
                        <a:miter/>
                      </a:ln>
                    </p:spPr>
                  </p:pic>
                </p:oleObj>
              </mc:Fallback>
            </mc:AlternateContent>
          </a:graphicData>
        </a:graphic>
      </p:graphicFrame>
      <p:grpSp>
        <p:nvGrpSpPr>
          <p:cNvPr id="50" name="组合 49"/>
          <p:cNvGrpSpPr/>
          <p:nvPr/>
        </p:nvGrpSpPr>
        <p:grpSpPr>
          <a:xfrm>
            <a:off x="5356860" y="1595755"/>
            <a:ext cx="406400" cy="414655"/>
            <a:chOff x="8436" y="2513"/>
            <a:chExt cx="640" cy="653"/>
          </a:xfrm>
        </p:grpSpPr>
        <p:sp>
          <p:nvSpPr>
            <p:cNvPr id="491541" name="椭圆 491540"/>
            <p:cNvSpPr/>
            <p:nvPr/>
          </p:nvSpPr>
          <p:spPr>
            <a:xfrm>
              <a:off x="8436" y="2513"/>
              <a:ext cx="640" cy="653"/>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endParaRPr lang="en-US" altLang="zh-CN" sz="2400">
                <a:solidFill>
                  <a:srgbClr val="000066"/>
                </a:solidFill>
                <a:latin typeface="黑体" panose="02010609060101010101" pitchFamily="49" charset="-122"/>
                <a:ea typeface="黑体" panose="02010609060101010101" pitchFamily="49" charset="-122"/>
              </a:endParaRPr>
            </a:p>
          </p:txBody>
        </p:sp>
        <p:graphicFrame>
          <p:nvGraphicFramePr>
            <p:cNvPr id="48" name="对象 -2147482084"/>
            <p:cNvGraphicFramePr>
              <a:graphicFrameLocks noChangeAspect="1"/>
            </p:cNvGraphicFramePr>
            <p:nvPr/>
          </p:nvGraphicFramePr>
          <p:xfrm>
            <a:off x="8513" y="2606"/>
            <a:ext cx="498" cy="560"/>
          </p:xfrm>
          <a:graphic>
            <a:graphicData uri="http://schemas.openxmlformats.org/presentationml/2006/ole">
              <mc:AlternateContent xmlns:mc="http://schemas.openxmlformats.org/markup-compatibility/2006">
                <mc:Choice xmlns:v="urn:schemas-microsoft-com:vml" Requires="v">
                  <p:oleObj spid="_x0000_s49" name="" r:id="rId10" imgW="203200" imgH="228600" progId="Equation.KSEE3">
                    <p:embed/>
                  </p:oleObj>
                </mc:Choice>
                <mc:Fallback>
                  <p:oleObj name="" r:id="rId10" imgW="203200" imgH="228600" progId="Equation.KSEE3">
                    <p:embed/>
                    <p:pic>
                      <p:nvPicPr>
                        <p:cNvPr id="0" name="图片 3075"/>
                        <p:cNvPicPr/>
                        <p:nvPr/>
                      </p:nvPicPr>
                      <p:blipFill>
                        <a:blip r:embed="rId11"/>
                        <a:stretch>
                          <a:fillRect/>
                        </a:stretch>
                      </p:blipFill>
                      <p:spPr>
                        <a:xfrm>
                          <a:off x="8513" y="2606"/>
                          <a:ext cx="498" cy="560"/>
                        </a:xfrm>
                        <a:prstGeom prst="rect">
                          <a:avLst/>
                        </a:prstGeom>
                        <a:noFill/>
                        <a:ln w="38100">
                          <a:noFill/>
                          <a:miter/>
                        </a:ln>
                      </p:spPr>
                    </p:pic>
                  </p:oleObj>
                </mc:Fallback>
              </mc:AlternateContent>
            </a:graphicData>
          </a:graphic>
        </p:graphicFrame>
      </p:grpSp>
      <p:cxnSp>
        <p:nvCxnSpPr>
          <p:cNvPr id="51" name="直接连接符 50"/>
          <p:cNvCxnSpPr/>
          <p:nvPr/>
        </p:nvCxnSpPr>
        <p:spPr>
          <a:xfrm flipV="1">
            <a:off x="3418205" y="5717540"/>
            <a:ext cx="0" cy="405130"/>
          </a:xfrm>
          <a:prstGeom prst="line">
            <a:avLst/>
          </a:prstGeom>
          <a:ln w="22225">
            <a:solidFill>
              <a:srgbClr val="FF0000"/>
            </a:solidFill>
            <a:tailEnd type="arrow" w="sm" len="med"/>
          </a:ln>
        </p:spPr>
        <p:style>
          <a:lnRef idx="1">
            <a:schemeClr val="accent1"/>
          </a:lnRef>
          <a:fillRef idx="0">
            <a:schemeClr val="accent1"/>
          </a:fillRef>
          <a:effectRef idx="0">
            <a:schemeClr val="accent1"/>
          </a:effectRef>
          <a:fontRef idx="minor">
            <a:schemeClr val="tx1"/>
          </a:fontRef>
        </p:style>
      </p:cxnSp>
      <p:grpSp>
        <p:nvGrpSpPr>
          <p:cNvPr id="52" name="组合 51"/>
          <p:cNvGrpSpPr/>
          <p:nvPr/>
        </p:nvGrpSpPr>
        <p:grpSpPr>
          <a:xfrm>
            <a:off x="4013835" y="1595755"/>
            <a:ext cx="406400" cy="414655"/>
            <a:chOff x="8436" y="2513"/>
            <a:chExt cx="640" cy="653"/>
          </a:xfrm>
        </p:grpSpPr>
        <p:sp>
          <p:nvSpPr>
            <p:cNvPr id="53" name="椭圆 52"/>
            <p:cNvSpPr/>
            <p:nvPr/>
          </p:nvSpPr>
          <p:spPr>
            <a:xfrm>
              <a:off x="8436" y="2513"/>
              <a:ext cx="640" cy="653"/>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endParaRPr lang="en-US" altLang="zh-CN" sz="2400">
                <a:solidFill>
                  <a:srgbClr val="000066"/>
                </a:solidFill>
                <a:latin typeface="黑体" panose="02010609060101010101" pitchFamily="49" charset="-122"/>
                <a:ea typeface="黑体" panose="02010609060101010101" pitchFamily="49" charset="-122"/>
              </a:endParaRPr>
            </a:p>
          </p:txBody>
        </p:sp>
        <p:graphicFrame>
          <p:nvGraphicFramePr>
            <p:cNvPr id="54" name="对象 -2147482084"/>
            <p:cNvGraphicFramePr>
              <a:graphicFrameLocks noChangeAspect="1"/>
            </p:cNvGraphicFramePr>
            <p:nvPr/>
          </p:nvGraphicFramePr>
          <p:xfrm>
            <a:off x="8529" y="2606"/>
            <a:ext cx="467" cy="560"/>
          </p:xfrm>
          <a:graphic>
            <a:graphicData uri="http://schemas.openxmlformats.org/presentationml/2006/ole">
              <mc:AlternateContent xmlns:mc="http://schemas.openxmlformats.org/markup-compatibility/2006">
                <mc:Choice xmlns:v="urn:schemas-microsoft-com:vml" Requires="v">
                  <p:oleObj spid="_x0000_s55" name="" r:id="rId12" imgW="190500" imgH="228600" progId="Equation.KSEE3">
                    <p:embed/>
                  </p:oleObj>
                </mc:Choice>
                <mc:Fallback>
                  <p:oleObj name="" r:id="rId12" imgW="190500" imgH="228600" progId="Equation.KSEE3">
                    <p:embed/>
                    <p:pic>
                      <p:nvPicPr>
                        <p:cNvPr id="0" name="图片 3075"/>
                        <p:cNvPicPr/>
                        <p:nvPr/>
                      </p:nvPicPr>
                      <p:blipFill>
                        <a:blip r:embed="rId13"/>
                        <a:stretch>
                          <a:fillRect/>
                        </a:stretch>
                      </p:blipFill>
                      <p:spPr>
                        <a:xfrm>
                          <a:off x="8529" y="2606"/>
                          <a:ext cx="467" cy="560"/>
                        </a:xfrm>
                        <a:prstGeom prst="rect">
                          <a:avLst/>
                        </a:prstGeom>
                        <a:noFill/>
                        <a:ln w="38100">
                          <a:noFill/>
                          <a:miter/>
                        </a:ln>
                      </p:spPr>
                    </p:pic>
                  </p:oleObj>
                </mc:Fallback>
              </mc:AlternateContent>
            </a:graphicData>
          </a:graphic>
        </p:graphicFrame>
      </p:grpSp>
      <p:grpSp>
        <p:nvGrpSpPr>
          <p:cNvPr id="56" name="组合 55"/>
          <p:cNvGrpSpPr/>
          <p:nvPr/>
        </p:nvGrpSpPr>
        <p:grpSpPr>
          <a:xfrm>
            <a:off x="2642235" y="1633220"/>
            <a:ext cx="406400" cy="414655"/>
            <a:chOff x="8436" y="2513"/>
            <a:chExt cx="640" cy="653"/>
          </a:xfrm>
        </p:grpSpPr>
        <p:sp>
          <p:nvSpPr>
            <p:cNvPr id="57" name="椭圆 56"/>
            <p:cNvSpPr/>
            <p:nvPr/>
          </p:nvSpPr>
          <p:spPr>
            <a:xfrm>
              <a:off x="8436" y="2513"/>
              <a:ext cx="640" cy="653"/>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endParaRPr lang="en-US" altLang="zh-CN" sz="2400">
                <a:solidFill>
                  <a:srgbClr val="000066"/>
                </a:solidFill>
                <a:latin typeface="黑体" panose="02010609060101010101" pitchFamily="49" charset="-122"/>
                <a:ea typeface="黑体" panose="02010609060101010101" pitchFamily="49" charset="-122"/>
              </a:endParaRPr>
            </a:p>
          </p:txBody>
        </p:sp>
        <p:graphicFrame>
          <p:nvGraphicFramePr>
            <p:cNvPr id="58" name="对象 -2147482084"/>
            <p:cNvGraphicFramePr>
              <a:graphicFrameLocks noChangeAspect="1"/>
            </p:cNvGraphicFramePr>
            <p:nvPr/>
          </p:nvGraphicFramePr>
          <p:xfrm>
            <a:off x="8513" y="2606"/>
            <a:ext cx="498" cy="560"/>
          </p:xfrm>
          <a:graphic>
            <a:graphicData uri="http://schemas.openxmlformats.org/presentationml/2006/ole">
              <mc:AlternateContent xmlns:mc="http://schemas.openxmlformats.org/markup-compatibility/2006">
                <mc:Choice xmlns:v="urn:schemas-microsoft-com:vml" Requires="v">
                  <p:oleObj spid="_x0000_s59" name="" r:id="rId14" imgW="203200" imgH="228600" progId="Equation.KSEE3">
                    <p:embed/>
                  </p:oleObj>
                </mc:Choice>
                <mc:Fallback>
                  <p:oleObj name="" r:id="rId14" imgW="203200" imgH="228600" progId="Equation.KSEE3">
                    <p:embed/>
                    <p:pic>
                      <p:nvPicPr>
                        <p:cNvPr id="0" name="图片 3075"/>
                        <p:cNvPicPr/>
                        <p:nvPr/>
                      </p:nvPicPr>
                      <p:blipFill>
                        <a:blip r:embed="rId15"/>
                        <a:stretch>
                          <a:fillRect/>
                        </a:stretch>
                      </p:blipFill>
                      <p:spPr>
                        <a:xfrm>
                          <a:off x="8513" y="2606"/>
                          <a:ext cx="498" cy="560"/>
                        </a:xfrm>
                        <a:prstGeom prst="rect">
                          <a:avLst/>
                        </a:prstGeom>
                        <a:noFill/>
                        <a:ln w="38100">
                          <a:noFill/>
                          <a:miter/>
                        </a:ln>
                      </p:spPr>
                    </p:pic>
                  </p:oleObj>
                </mc:Fallback>
              </mc:AlternateContent>
            </a:graphicData>
          </a:graphic>
        </p:graphicFrame>
      </p:grpSp>
      <p:grpSp>
        <p:nvGrpSpPr>
          <p:cNvPr id="60" name="组合 59"/>
          <p:cNvGrpSpPr/>
          <p:nvPr/>
        </p:nvGrpSpPr>
        <p:grpSpPr>
          <a:xfrm>
            <a:off x="1256665" y="1595755"/>
            <a:ext cx="406400" cy="414655"/>
            <a:chOff x="8436" y="2513"/>
            <a:chExt cx="640" cy="653"/>
          </a:xfrm>
        </p:grpSpPr>
        <p:sp>
          <p:nvSpPr>
            <p:cNvPr id="61" name="椭圆 60"/>
            <p:cNvSpPr/>
            <p:nvPr/>
          </p:nvSpPr>
          <p:spPr>
            <a:xfrm>
              <a:off x="8436" y="2513"/>
              <a:ext cx="640" cy="653"/>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endParaRPr lang="en-US" altLang="zh-CN" sz="2400">
                <a:solidFill>
                  <a:srgbClr val="000066"/>
                </a:solidFill>
                <a:latin typeface="黑体" panose="02010609060101010101" pitchFamily="49" charset="-122"/>
                <a:ea typeface="黑体" panose="02010609060101010101" pitchFamily="49" charset="-122"/>
              </a:endParaRPr>
            </a:p>
          </p:txBody>
        </p:sp>
        <p:graphicFrame>
          <p:nvGraphicFramePr>
            <p:cNvPr id="62" name="对象 -2147482084"/>
            <p:cNvGraphicFramePr>
              <a:graphicFrameLocks noChangeAspect="1"/>
            </p:cNvGraphicFramePr>
            <p:nvPr/>
          </p:nvGraphicFramePr>
          <p:xfrm>
            <a:off x="8513" y="2606"/>
            <a:ext cx="498" cy="560"/>
          </p:xfrm>
          <a:graphic>
            <a:graphicData uri="http://schemas.openxmlformats.org/presentationml/2006/ole">
              <mc:AlternateContent xmlns:mc="http://schemas.openxmlformats.org/markup-compatibility/2006">
                <mc:Choice xmlns:v="urn:schemas-microsoft-com:vml" Requires="v">
                  <p:oleObj spid="_x0000_s63" name="" r:id="rId16" imgW="203200" imgH="228600" progId="Equation.KSEE3">
                    <p:embed/>
                  </p:oleObj>
                </mc:Choice>
                <mc:Fallback>
                  <p:oleObj name="" r:id="rId16" imgW="203200" imgH="228600" progId="Equation.KSEE3">
                    <p:embed/>
                    <p:pic>
                      <p:nvPicPr>
                        <p:cNvPr id="0" name="图片 3075"/>
                        <p:cNvPicPr/>
                        <p:nvPr/>
                      </p:nvPicPr>
                      <p:blipFill>
                        <a:blip r:embed="rId17"/>
                        <a:stretch>
                          <a:fillRect/>
                        </a:stretch>
                      </p:blipFill>
                      <p:spPr>
                        <a:xfrm>
                          <a:off x="8513" y="2606"/>
                          <a:ext cx="498" cy="560"/>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2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19"/>
                                        </p:tgtEl>
                                        <p:attrNameLst>
                                          <p:attrName>style.visibility</p:attrName>
                                        </p:attrNameLst>
                                      </p:cBhvr>
                                      <p:to>
                                        <p:strVal val="visible"/>
                                      </p:to>
                                    </p:set>
                                  </p:childTnLst>
                                </p:cTn>
                              </p:par>
                            </p:childTnLst>
                          </p:cTn>
                        </p:par>
                        <p:par>
                          <p:cTn id="10" fill="hold">
                            <p:stCondLst>
                              <p:cond delay="1000"/>
                            </p:stCondLst>
                            <p:childTnLst>
                              <p:par>
                                <p:cTn id="11" presetID="22" presetClass="entr" presetSubtype="4" fill="hold" nodeType="afterEffect">
                                  <p:stCondLst>
                                    <p:cond delay="1000"/>
                                  </p:stCondLst>
                                  <p:childTnLst>
                                    <p:set>
                                      <p:cBhvr>
                                        <p:cTn id="12" dur="1" fill="hold">
                                          <p:stCondLst>
                                            <p:cond delay="0"/>
                                          </p:stCondLst>
                                        </p:cTn>
                                        <p:tgtEl>
                                          <p:spTgt spid="12380"/>
                                        </p:tgtEl>
                                        <p:attrNameLst>
                                          <p:attrName>style.visibility</p:attrName>
                                        </p:attrNameLst>
                                      </p:cBhvr>
                                      <p:to>
                                        <p:strVal val="visible"/>
                                      </p:to>
                                    </p:set>
                                    <p:animEffect transition="in" filter="wipe(down)">
                                      <p:cBhvr>
                                        <p:cTn id="13" dur="500"/>
                                        <p:tgtEl>
                                          <p:spTgt spid="12380"/>
                                        </p:tgtEl>
                                      </p:cBhvr>
                                    </p:animEffect>
                                  </p:childTnLst>
                                </p:cTn>
                              </p:par>
                            </p:childTnLst>
                          </p:cTn>
                        </p:par>
                        <p:par>
                          <p:cTn id="14" fill="hold">
                            <p:stCondLst>
                              <p:cond delay="2500"/>
                            </p:stCondLst>
                            <p:childTnLst>
                              <p:par>
                                <p:cTn id="15" presetID="1" presetClass="entr" presetSubtype="0" fill="hold" grpId="0" nodeType="afterEffect">
                                  <p:stCondLst>
                                    <p:cond delay="1000"/>
                                  </p:stCondLst>
                                  <p:childTnLst>
                                    <p:set>
                                      <p:cBhvr>
                                        <p:cTn id="16" dur="1" fill="hold">
                                          <p:stCondLst>
                                            <p:cond delay="0"/>
                                          </p:stCondLst>
                                        </p:cTn>
                                        <p:tgtEl>
                                          <p:spTgt spid="21"/>
                                        </p:tgtEl>
                                        <p:attrNameLst>
                                          <p:attrName>style.visibility</p:attrName>
                                        </p:attrNameLst>
                                      </p:cBhvr>
                                      <p:to>
                                        <p:strVal val="visible"/>
                                      </p:to>
                                    </p:set>
                                  </p:childTnLst>
                                </p:cTn>
                              </p:par>
                            </p:childTnLst>
                          </p:cTn>
                        </p:par>
                        <p:par>
                          <p:cTn id="17" fill="hold">
                            <p:stCondLst>
                              <p:cond delay="3500"/>
                            </p:stCondLst>
                            <p:childTnLst>
                              <p:par>
                                <p:cTn id="18" presetID="22" presetClass="entr" presetSubtype="4" fill="hold" nodeType="afterEffect">
                                  <p:stCondLst>
                                    <p:cond delay="1000"/>
                                  </p:stCondLst>
                                  <p:childTnLst>
                                    <p:set>
                                      <p:cBhvr>
                                        <p:cTn id="19" dur="1" fill="hold">
                                          <p:stCondLst>
                                            <p:cond delay="0"/>
                                          </p:stCondLst>
                                        </p:cTn>
                                        <p:tgtEl>
                                          <p:spTgt spid="20"/>
                                        </p:tgtEl>
                                        <p:attrNameLst>
                                          <p:attrName>style.visibility</p:attrName>
                                        </p:attrNameLst>
                                      </p:cBhvr>
                                      <p:to>
                                        <p:strVal val="visible"/>
                                      </p:to>
                                    </p:set>
                                    <p:animEffect transition="in" filter="wipe(down)">
                                      <p:cBhvr>
                                        <p:cTn id="20" dur="500"/>
                                        <p:tgtEl>
                                          <p:spTgt spid="20"/>
                                        </p:tgtEl>
                                      </p:cBhvr>
                                    </p:animEffect>
                                  </p:childTnLst>
                                </p:cTn>
                              </p:par>
                            </p:childTnLst>
                          </p:cTn>
                        </p:par>
                        <p:par>
                          <p:cTn id="21" fill="hold">
                            <p:stCondLst>
                              <p:cond delay="5000"/>
                            </p:stCondLst>
                            <p:childTnLst>
                              <p:par>
                                <p:cTn id="22" presetID="22" presetClass="entr" presetSubtype="2" fill="hold" nodeType="afterEffect">
                                  <p:stCondLst>
                                    <p:cond delay="1000"/>
                                  </p:stCondLst>
                                  <p:childTnLst>
                                    <p:set>
                                      <p:cBhvr>
                                        <p:cTn id="23" dur="1" fill="hold">
                                          <p:stCondLst>
                                            <p:cond delay="0"/>
                                          </p:stCondLst>
                                        </p:cTn>
                                        <p:tgtEl>
                                          <p:spTgt spid="12379"/>
                                        </p:tgtEl>
                                        <p:attrNameLst>
                                          <p:attrName>style.visibility</p:attrName>
                                        </p:attrNameLst>
                                      </p:cBhvr>
                                      <p:to>
                                        <p:strVal val="visible"/>
                                      </p:to>
                                    </p:set>
                                    <p:animEffect transition="in" filter="wipe(right)">
                                      <p:cBhvr>
                                        <p:cTn id="24" dur="500"/>
                                        <p:tgtEl>
                                          <p:spTgt spid="12379"/>
                                        </p:tgtEl>
                                      </p:cBhvr>
                                    </p:animEffect>
                                  </p:childTnLst>
                                </p:cTn>
                              </p:par>
                            </p:childTnLst>
                          </p:cTn>
                        </p:par>
                        <p:par>
                          <p:cTn id="25" fill="hold">
                            <p:stCondLst>
                              <p:cond delay="6500"/>
                            </p:stCondLst>
                            <p:childTnLst>
                              <p:par>
                                <p:cTn id="26" presetID="22" presetClass="entr" presetSubtype="4" fill="hold" nodeType="afterEffect">
                                  <p:stCondLst>
                                    <p:cond delay="1000"/>
                                  </p:stCondLst>
                                  <p:childTnLst>
                                    <p:set>
                                      <p:cBhvr>
                                        <p:cTn id="27" dur="1000" fill="hold">
                                          <p:stCondLst>
                                            <p:cond delay="0"/>
                                          </p:stCondLst>
                                        </p:cTn>
                                        <p:tgtEl>
                                          <p:spTgt spid="39"/>
                                        </p:tgtEl>
                                        <p:attrNameLst>
                                          <p:attrName>style.visibility</p:attrName>
                                        </p:attrNameLst>
                                      </p:cBhvr>
                                      <p:to>
                                        <p:strVal val="visible"/>
                                      </p:to>
                                    </p:set>
                                    <p:animEffect transition="in" filter="wipe(down)">
                                      <p:cBhvr>
                                        <p:cTn id="28" dur="1000"/>
                                        <p:tgtEl>
                                          <p:spTgt spid="39"/>
                                        </p:tgtEl>
                                      </p:cBhvr>
                                    </p:animEffect>
                                  </p:childTnLst>
                                </p:cTn>
                              </p:par>
                            </p:childTnLst>
                          </p:cTn>
                        </p:par>
                        <p:par>
                          <p:cTn id="29" fill="hold">
                            <p:stCondLst>
                              <p:cond delay="8500"/>
                            </p:stCondLst>
                            <p:childTnLst>
                              <p:par>
                                <p:cTn id="30" presetID="1" presetClass="entr" presetSubtype="0" fill="hold" grpId="0" nodeType="afterEffect">
                                  <p:stCondLst>
                                    <p:cond delay="1000"/>
                                  </p:stCondLst>
                                  <p:childTnLst>
                                    <p:set>
                                      <p:cBhvr>
                                        <p:cTn id="31" dur="1" fill="hold">
                                          <p:stCondLst>
                                            <p:cond delay="0"/>
                                          </p:stCondLst>
                                        </p:cTn>
                                        <p:tgtEl>
                                          <p:spTgt spid="40"/>
                                        </p:tgtEl>
                                        <p:attrNameLst>
                                          <p:attrName>style.visibility</p:attrName>
                                        </p:attrNameLst>
                                      </p:cBhvr>
                                      <p:to>
                                        <p:strVal val="visible"/>
                                      </p:to>
                                    </p:set>
                                  </p:childTnLst>
                                </p:cTn>
                              </p:par>
                            </p:childTnLst>
                          </p:cTn>
                        </p:par>
                        <p:par>
                          <p:cTn id="32" fill="hold">
                            <p:stCondLst>
                              <p:cond delay="9500"/>
                            </p:stCondLst>
                            <p:childTnLst>
                              <p:par>
                                <p:cTn id="33" presetID="1" presetClass="entr" presetSubtype="0" fill="hold" grpId="0" nodeType="afterEffect">
                                  <p:stCondLst>
                                    <p:cond delay="1000"/>
                                  </p:stCondLst>
                                  <p:childTnLst>
                                    <p:set>
                                      <p:cBhvr>
                                        <p:cTn id="34" dur="1" fill="hold">
                                          <p:stCondLst>
                                            <p:cond delay="0"/>
                                          </p:stCondLst>
                                        </p:cTn>
                                        <p:tgtEl>
                                          <p:spTgt spid="41"/>
                                        </p:tgtEl>
                                        <p:attrNameLst>
                                          <p:attrName>style.visibility</p:attrName>
                                        </p:attrNameLst>
                                      </p:cBhvr>
                                      <p:to>
                                        <p:strVal val="visible"/>
                                      </p:to>
                                    </p:set>
                                  </p:childTnLst>
                                </p:cTn>
                              </p:par>
                            </p:childTnLst>
                          </p:cTn>
                        </p:par>
                        <p:par>
                          <p:cTn id="35" fill="hold">
                            <p:stCondLst>
                              <p:cond delay="10500"/>
                            </p:stCondLst>
                            <p:childTnLst>
                              <p:par>
                                <p:cTn id="36" presetID="1" presetClass="entr" presetSubtype="0" fill="hold" grpId="0" nodeType="afterEffect">
                                  <p:stCondLst>
                                    <p:cond delay="1000"/>
                                  </p:stCondLst>
                                  <p:childTnLst>
                                    <p:set>
                                      <p:cBhvr>
                                        <p:cTn id="37" dur="1" fill="hold">
                                          <p:stCondLst>
                                            <p:cond delay="0"/>
                                          </p:stCondLst>
                                        </p:cTn>
                                        <p:tgtEl>
                                          <p:spTgt spid="42"/>
                                        </p:tgtEl>
                                        <p:attrNameLst>
                                          <p:attrName>style.visibility</p:attrName>
                                        </p:attrNameLst>
                                      </p:cBhvr>
                                      <p:to>
                                        <p:strVal val="visible"/>
                                      </p:to>
                                    </p:set>
                                  </p:childTnLst>
                                </p:cTn>
                              </p:par>
                            </p:childTnLst>
                          </p:cTn>
                        </p:par>
                        <p:par>
                          <p:cTn id="38" fill="hold">
                            <p:stCondLst>
                              <p:cond delay="11500"/>
                            </p:stCondLst>
                            <p:childTnLst>
                              <p:par>
                                <p:cTn id="39" presetID="1" presetClass="entr" presetSubtype="0" fill="hold" grpId="0" nodeType="afterEffect">
                                  <p:stCondLst>
                                    <p:cond delay="1000"/>
                                  </p:stCondLst>
                                  <p:childTnLst>
                                    <p:set>
                                      <p:cBhvr>
                                        <p:cTn id="40" dur="1" fill="hold">
                                          <p:stCondLst>
                                            <p:cond delay="0"/>
                                          </p:stCondLst>
                                        </p:cTn>
                                        <p:tgtEl>
                                          <p:spTgt spid="4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6"/>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nodeType="afterEffect">
                                  <p:stCondLst>
                                    <p:cond delay="2000"/>
                                  </p:stCondLst>
                                  <p:childTnLst>
                                    <p:set>
                                      <p:cBhvr>
                                        <p:cTn id="47" dur="1" fill="hold">
                                          <p:stCondLst>
                                            <p:cond delay="0"/>
                                          </p:stCondLst>
                                        </p:cTn>
                                        <p:tgtEl>
                                          <p:spTgt spid="44"/>
                                        </p:tgtEl>
                                        <p:attrNameLst>
                                          <p:attrName>style.visibility</p:attrName>
                                        </p:attrNameLst>
                                      </p:cBhvr>
                                      <p:to>
                                        <p:strVal val="visible"/>
                                      </p:to>
                                    </p:set>
                                  </p:childTnLst>
                                </p:cTn>
                              </p:par>
                            </p:childTnLst>
                          </p:cTn>
                        </p:par>
                        <p:par>
                          <p:cTn id="48" fill="hold">
                            <p:stCondLst>
                              <p:cond delay="2000"/>
                            </p:stCondLst>
                            <p:childTnLst>
                              <p:par>
                                <p:cTn id="49" presetID="22" presetClass="entr" presetSubtype="4" fill="hold" nodeType="afterEffect">
                                  <p:stCondLst>
                                    <p:cond delay="2000"/>
                                  </p:stCondLst>
                                  <p:childTnLst>
                                    <p:set>
                                      <p:cBhvr>
                                        <p:cTn id="50" dur="1000" fill="hold">
                                          <p:stCondLst>
                                            <p:cond delay="0"/>
                                          </p:stCondLst>
                                        </p:cTn>
                                        <p:tgtEl>
                                          <p:spTgt spid="51"/>
                                        </p:tgtEl>
                                        <p:attrNameLst>
                                          <p:attrName>style.visibility</p:attrName>
                                        </p:attrNameLst>
                                      </p:cBhvr>
                                      <p:to>
                                        <p:strVal val="visible"/>
                                      </p:to>
                                    </p:set>
                                    <p:animEffect transition="in" filter="wipe(down)">
                                      <p:cBhvr>
                                        <p:cTn id="51" dur="1000"/>
                                        <p:tgtEl>
                                          <p:spTgt spid="51"/>
                                        </p:tgtEl>
                                      </p:cBhvr>
                                    </p:animEffect>
                                  </p:childTnLst>
                                </p:cTn>
                              </p:par>
                            </p:childTnLst>
                          </p:cTn>
                        </p:par>
                        <p:par>
                          <p:cTn id="52" fill="hold">
                            <p:stCondLst>
                              <p:cond delay="5000"/>
                            </p:stCondLst>
                            <p:childTnLst>
                              <p:par>
                                <p:cTn id="53" presetID="1" presetClass="entr" presetSubtype="0" fill="hold" nodeType="afterEffect">
                                  <p:stCondLst>
                                    <p:cond delay="500"/>
                                  </p:stCondLst>
                                  <p:childTnLst>
                                    <p:set>
                                      <p:cBhvr>
                                        <p:cTn id="54" dur="1" fill="hold">
                                          <p:stCondLst>
                                            <p:cond delay="0"/>
                                          </p:stCondLst>
                                        </p:cTn>
                                        <p:tgtEl>
                                          <p:spTgt spid="50"/>
                                        </p:tgtEl>
                                        <p:attrNameLst>
                                          <p:attrName>style.visibility</p:attrName>
                                        </p:attrNameLst>
                                      </p:cBhvr>
                                      <p:to>
                                        <p:strVal val="visible"/>
                                      </p:to>
                                    </p:set>
                                  </p:childTnLst>
                                </p:cTn>
                              </p:par>
                            </p:childTnLst>
                          </p:cTn>
                        </p:par>
                        <p:par>
                          <p:cTn id="55" fill="hold">
                            <p:stCondLst>
                              <p:cond delay="5500"/>
                            </p:stCondLst>
                            <p:childTnLst>
                              <p:par>
                                <p:cTn id="56" presetID="1" presetClass="entr" presetSubtype="0" fill="hold" nodeType="afterEffect">
                                  <p:stCondLst>
                                    <p:cond delay="500"/>
                                  </p:stCondLst>
                                  <p:childTnLst>
                                    <p:set>
                                      <p:cBhvr>
                                        <p:cTn id="57" dur="1" fill="hold">
                                          <p:stCondLst>
                                            <p:cond delay="0"/>
                                          </p:stCondLst>
                                        </p:cTn>
                                        <p:tgtEl>
                                          <p:spTgt spid="52"/>
                                        </p:tgtEl>
                                        <p:attrNameLst>
                                          <p:attrName>style.visibility</p:attrName>
                                        </p:attrNameLst>
                                      </p:cBhvr>
                                      <p:to>
                                        <p:strVal val="visible"/>
                                      </p:to>
                                    </p:set>
                                  </p:childTnLst>
                                </p:cTn>
                              </p:par>
                            </p:childTnLst>
                          </p:cTn>
                        </p:par>
                        <p:par>
                          <p:cTn id="58" fill="hold">
                            <p:stCondLst>
                              <p:cond delay="6000"/>
                            </p:stCondLst>
                            <p:childTnLst>
                              <p:par>
                                <p:cTn id="59" presetID="1" presetClass="entr" presetSubtype="0" fill="hold" nodeType="afterEffect">
                                  <p:stCondLst>
                                    <p:cond delay="500"/>
                                  </p:stCondLst>
                                  <p:childTnLst>
                                    <p:set>
                                      <p:cBhvr>
                                        <p:cTn id="60" dur="1" fill="hold">
                                          <p:stCondLst>
                                            <p:cond delay="0"/>
                                          </p:stCondLst>
                                        </p:cTn>
                                        <p:tgtEl>
                                          <p:spTgt spid="56"/>
                                        </p:tgtEl>
                                        <p:attrNameLst>
                                          <p:attrName>style.visibility</p:attrName>
                                        </p:attrNameLst>
                                      </p:cBhvr>
                                      <p:to>
                                        <p:strVal val="visible"/>
                                      </p:to>
                                    </p:set>
                                  </p:childTnLst>
                                </p:cTn>
                              </p:par>
                            </p:childTnLst>
                          </p:cTn>
                        </p:par>
                        <p:par>
                          <p:cTn id="61" fill="hold">
                            <p:stCondLst>
                              <p:cond delay="6500"/>
                            </p:stCondLst>
                            <p:childTnLst>
                              <p:par>
                                <p:cTn id="62" presetID="1" presetClass="entr" presetSubtype="0" fill="hold" nodeType="afterEffect">
                                  <p:stCondLst>
                                    <p:cond delay="500"/>
                                  </p:stCondLst>
                                  <p:childTnLst>
                                    <p:set>
                                      <p:cBhvr>
                                        <p:cTn id="63" dur="1" fill="hold">
                                          <p:stCondLst>
                                            <p:cond delay="0"/>
                                          </p:stCondLst>
                                        </p:cTn>
                                        <p:tgtEl>
                                          <p:spTgt spid="60"/>
                                        </p:tgtEl>
                                        <p:attrNameLst>
                                          <p:attrName>style.visibility</p:attrName>
                                        </p:attrNameLst>
                                      </p:cBhvr>
                                      <p:to>
                                        <p:strVal val="visible"/>
                                      </p:to>
                                    </p:set>
                                  </p:childTnLst>
                                </p:cTn>
                              </p:par>
                            </p:childTnLst>
                          </p:cTn>
                        </p:par>
                        <p:par>
                          <p:cTn id="64" fill="hold">
                            <p:stCondLst>
                              <p:cond delay="7000"/>
                            </p:stCondLst>
                            <p:childTnLst>
                              <p:par>
                                <p:cTn id="65" presetID="1" presetClass="entr" presetSubtype="0" fill="hold" nodeType="afterEffect">
                                  <p:stCondLst>
                                    <p:cond delay="2000"/>
                                  </p:stCondLst>
                                  <p:childTnLst>
                                    <p:set>
                                      <p:cBhvr>
                                        <p:cTn id="6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26" grpId="0" bldLvl="0" animBg="1"/>
      <p:bldP spid="19" grpId="0" bldLvl="0" animBg="1"/>
      <p:bldP spid="21" grpId="0" bldLvl="0" animBg="1"/>
      <p:bldP spid="40" grpId="0" bldLvl="0" animBg="1"/>
      <p:bldP spid="41" grpId="0" bldLvl="0" animBg="1"/>
      <p:bldP spid="42" grpId="0" bldLvl="0" animBg="1"/>
      <p:bldP spid="43"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1" name="文本框 100"/>
          <p:cNvSpPr txBox="1"/>
          <p:nvPr/>
        </p:nvSpPr>
        <p:spPr>
          <a:xfrm>
            <a:off x="683260" y="1135380"/>
            <a:ext cx="5080000" cy="460375"/>
          </a:xfrm>
          <a:prstGeom prst="rect">
            <a:avLst/>
          </a:prstGeom>
          <a:noFill/>
          <a:ln w="9525">
            <a:noFill/>
          </a:ln>
        </p:spPr>
        <p:txBody>
          <a:bodyPr>
            <a:spAutoFit/>
          </a:bodyPr>
          <a:p>
            <a:pPr indent="266700"/>
            <a:r>
              <a:rPr lang="en-US" sz="2400" b="1">
                <a:latin typeface="Times New Roman" panose="02020603050405020304" charset="0"/>
              </a:rPr>
              <a:t>(2) </a:t>
            </a:r>
            <a:r>
              <a:rPr lang="zh-CN" sz="2400" b="1">
                <a:ea typeface="宋体" panose="02010600030101010101" pitchFamily="2" charset="-122"/>
              </a:rPr>
              <a:t>功能分析</a:t>
            </a:r>
            <a:endParaRPr lang="zh-CN" altLang="en-US" sz="2400" b="1"/>
          </a:p>
        </p:txBody>
      </p:sp>
      <p:sp>
        <p:nvSpPr>
          <p:cNvPr id="2" name="文本框 1"/>
          <p:cNvSpPr txBox="1"/>
          <p:nvPr/>
        </p:nvSpPr>
        <p:spPr>
          <a:xfrm>
            <a:off x="6143625" y="1231900"/>
            <a:ext cx="2150110" cy="460375"/>
          </a:xfrm>
          <a:prstGeom prst="rect">
            <a:avLst/>
          </a:prstGeom>
          <a:noFill/>
          <a:ln w="9525">
            <a:noFill/>
          </a:ln>
        </p:spPr>
        <p:txBody>
          <a:bodyPr wrap="square">
            <a:spAutoFit/>
          </a:bodyPr>
          <a:p>
            <a:r>
              <a:rPr lang="en-US" sz="2400" b="1">
                <a:gradFill>
                  <a:gsLst>
                    <a:gs pos="0">
                      <a:srgbClr val="012D86"/>
                    </a:gs>
                    <a:gs pos="100000">
                      <a:srgbClr val="0E2557"/>
                    </a:gs>
                  </a:gsLst>
                  <a:lin scaled="0"/>
                </a:gradFill>
                <a:latin typeface="Times New Roman" panose="02020603050405020304" charset="0"/>
              </a:rPr>
              <a:t>①</a:t>
            </a:r>
            <a:r>
              <a:rPr lang="zh-CN" sz="2400" b="1">
                <a:gradFill>
                  <a:gsLst>
                    <a:gs pos="0">
                      <a:srgbClr val="012D86"/>
                    </a:gs>
                    <a:gs pos="100000">
                      <a:srgbClr val="0E2557"/>
                    </a:gs>
                  </a:gsLst>
                  <a:lin scaled="0"/>
                </a:gradFill>
                <a:ea typeface="宋体" panose="02010600030101010101" pitchFamily="2" charset="-122"/>
              </a:rPr>
              <a:t>异步清</a:t>
            </a:r>
            <a:r>
              <a:rPr lang="en-US" sz="2400" b="1">
                <a:gradFill>
                  <a:gsLst>
                    <a:gs pos="0">
                      <a:srgbClr val="012D86"/>
                    </a:gs>
                    <a:gs pos="100000">
                      <a:srgbClr val="0E2557"/>
                    </a:gs>
                  </a:gsLst>
                  <a:lin scaled="0"/>
                </a:gradFill>
                <a:latin typeface="Times New Roman" panose="02020603050405020304" charset="0"/>
              </a:rPr>
              <a:t>0</a:t>
            </a:r>
            <a:endParaRPr lang="en-US" altLang="en-US" sz="2400" b="1">
              <a:gradFill>
                <a:gsLst>
                  <a:gs pos="0">
                    <a:srgbClr val="012D86"/>
                  </a:gs>
                  <a:gs pos="100000">
                    <a:srgbClr val="0E2557"/>
                  </a:gs>
                </a:gsLst>
                <a:lin scaled="0"/>
              </a:gradFill>
              <a:latin typeface="Times New Roman" panose="02020603050405020304" charset="0"/>
            </a:endParaRPr>
          </a:p>
        </p:txBody>
      </p:sp>
      <p:pic>
        <p:nvPicPr>
          <p:cNvPr id="9399" name="图片 2836"/>
          <p:cNvPicPr>
            <a:picLocks noChangeAspect="1"/>
          </p:cNvPicPr>
          <p:nvPr/>
        </p:nvPicPr>
        <p:blipFill>
          <a:blip r:embed="rId1"/>
          <a:stretch>
            <a:fillRect/>
          </a:stretch>
        </p:blipFill>
        <p:spPr>
          <a:xfrm>
            <a:off x="142240" y="1918970"/>
            <a:ext cx="6161405" cy="4207510"/>
          </a:xfrm>
          <a:prstGeom prst="rect">
            <a:avLst/>
          </a:prstGeom>
          <a:noFill/>
          <a:ln>
            <a:noFill/>
          </a:ln>
        </p:spPr>
      </p:pic>
      <p:sp>
        <p:nvSpPr>
          <p:cNvPr id="12380" name="直接连接符 113750"/>
          <p:cNvSpPr/>
          <p:nvPr/>
        </p:nvSpPr>
        <p:spPr>
          <a:xfrm>
            <a:off x="4999355" y="5730240"/>
            <a:ext cx="635" cy="161290"/>
          </a:xfrm>
          <a:prstGeom prst="line">
            <a:avLst/>
          </a:prstGeom>
          <a:ln w="28575" cap="flat" cmpd="sng">
            <a:solidFill>
              <a:srgbClr val="FF3300"/>
            </a:solidFill>
            <a:prstDash val="solid"/>
            <a:headEnd type="none" w="med" len="med"/>
            <a:tailEnd type="none" w="med" len="med"/>
          </a:ln>
        </p:spPr>
      </p:sp>
      <p:sp>
        <p:nvSpPr>
          <p:cNvPr id="491526" name="椭圆 491525"/>
          <p:cNvSpPr/>
          <p:nvPr/>
        </p:nvSpPr>
        <p:spPr>
          <a:xfrm>
            <a:off x="5897246" y="612648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13" name="文本框 12"/>
          <p:cNvSpPr txBox="1"/>
          <p:nvPr/>
        </p:nvSpPr>
        <p:spPr>
          <a:xfrm>
            <a:off x="6143625" y="1692275"/>
            <a:ext cx="2785745" cy="460375"/>
          </a:xfrm>
          <a:prstGeom prst="rect">
            <a:avLst/>
          </a:prstGeom>
          <a:noFill/>
          <a:ln w="9525">
            <a:noFill/>
          </a:ln>
        </p:spPr>
        <p:txBody>
          <a:bodyPr wrap="square">
            <a:spAutoFit/>
          </a:bodyPr>
          <a:p>
            <a:r>
              <a:rPr lang="en-US" sz="2400" b="1">
                <a:gradFill>
                  <a:gsLst>
                    <a:gs pos="0">
                      <a:srgbClr val="012D86"/>
                    </a:gs>
                    <a:gs pos="100000">
                      <a:srgbClr val="0E2557"/>
                    </a:gs>
                  </a:gsLst>
                  <a:lin scaled="0"/>
                </a:gradFill>
                <a:latin typeface="Times New Roman" panose="02020603050405020304" charset="0"/>
              </a:rPr>
              <a:t>②</a:t>
            </a:r>
            <a:r>
              <a:rPr lang="zh-CN" sz="2400" b="1">
                <a:gradFill>
                  <a:gsLst>
                    <a:gs pos="0">
                      <a:srgbClr val="012D86"/>
                    </a:gs>
                    <a:gs pos="100000">
                      <a:srgbClr val="0E2557"/>
                    </a:gs>
                  </a:gsLst>
                  <a:lin scaled="0"/>
                </a:gradFill>
                <a:ea typeface="宋体" panose="02010600030101010101" pitchFamily="2" charset="-122"/>
              </a:rPr>
              <a:t>同步并行预置数</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19" name="椭圆 18"/>
          <p:cNvSpPr/>
          <p:nvPr/>
        </p:nvSpPr>
        <p:spPr>
          <a:xfrm>
            <a:off x="4821556" y="612267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20" name="直接连接符 113750"/>
          <p:cNvSpPr/>
          <p:nvPr/>
        </p:nvSpPr>
        <p:spPr>
          <a:xfrm>
            <a:off x="4998720" y="4636770"/>
            <a:ext cx="635" cy="822960"/>
          </a:xfrm>
          <a:prstGeom prst="line">
            <a:avLst/>
          </a:prstGeom>
          <a:ln w="28575" cap="flat" cmpd="sng">
            <a:solidFill>
              <a:srgbClr val="FF3300"/>
            </a:solidFill>
            <a:prstDash val="solid"/>
            <a:headEnd type="none" w="med" len="med"/>
            <a:tailEnd type="none" w="med" len="med"/>
          </a:ln>
        </p:spPr>
      </p:sp>
      <p:sp>
        <p:nvSpPr>
          <p:cNvPr id="21" name="椭圆 20"/>
          <p:cNvSpPr/>
          <p:nvPr/>
        </p:nvSpPr>
        <p:spPr>
          <a:xfrm>
            <a:off x="4795521" y="4925060"/>
            <a:ext cx="406400" cy="414338"/>
          </a:xfrm>
          <a:prstGeom prst="ellipse">
            <a:avLst/>
          </a:prstGeom>
          <a:solidFill>
            <a:srgbClr val="0099FF">
              <a:alpha val="3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40" name="椭圆 39"/>
          <p:cNvSpPr/>
          <p:nvPr/>
        </p:nvSpPr>
        <p:spPr>
          <a:xfrm>
            <a:off x="5256531" y="3350260"/>
            <a:ext cx="406400" cy="414338"/>
          </a:xfrm>
          <a:prstGeom prst="ellipse">
            <a:avLst/>
          </a:prstGeom>
          <a:solidFill>
            <a:srgbClr val="0099FF">
              <a:alpha val="3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41" name="椭圆 40"/>
          <p:cNvSpPr/>
          <p:nvPr/>
        </p:nvSpPr>
        <p:spPr>
          <a:xfrm>
            <a:off x="3808096" y="3350260"/>
            <a:ext cx="406400" cy="414338"/>
          </a:xfrm>
          <a:prstGeom prst="ellipse">
            <a:avLst/>
          </a:prstGeom>
          <a:solidFill>
            <a:srgbClr val="0099FF">
              <a:alpha val="3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42" name="椭圆 41"/>
          <p:cNvSpPr/>
          <p:nvPr/>
        </p:nvSpPr>
        <p:spPr>
          <a:xfrm>
            <a:off x="2427606" y="3350260"/>
            <a:ext cx="406400" cy="414338"/>
          </a:xfrm>
          <a:prstGeom prst="ellipse">
            <a:avLst/>
          </a:prstGeom>
          <a:solidFill>
            <a:srgbClr val="0099FF">
              <a:alpha val="3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43" name="椭圆 42"/>
          <p:cNvSpPr/>
          <p:nvPr/>
        </p:nvSpPr>
        <p:spPr>
          <a:xfrm>
            <a:off x="1072516" y="3350260"/>
            <a:ext cx="406400" cy="414338"/>
          </a:xfrm>
          <a:prstGeom prst="ellipse">
            <a:avLst/>
          </a:prstGeom>
          <a:solidFill>
            <a:srgbClr val="0099FF">
              <a:alpha val="3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grpSp>
        <p:nvGrpSpPr>
          <p:cNvPr id="50" name="组合 49"/>
          <p:cNvGrpSpPr/>
          <p:nvPr/>
        </p:nvGrpSpPr>
        <p:grpSpPr>
          <a:xfrm>
            <a:off x="5356860" y="1595755"/>
            <a:ext cx="406400" cy="424815"/>
            <a:chOff x="8436" y="2513"/>
            <a:chExt cx="640" cy="669"/>
          </a:xfrm>
        </p:grpSpPr>
        <p:sp>
          <p:nvSpPr>
            <p:cNvPr id="491541" name="椭圆 491540"/>
            <p:cNvSpPr/>
            <p:nvPr/>
          </p:nvSpPr>
          <p:spPr>
            <a:xfrm>
              <a:off x="8436" y="2513"/>
              <a:ext cx="640" cy="653"/>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endParaRPr lang="en-US" altLang="zh-CN" sz="2400">
                <a:solidFill>
                  <a:srgbClr val="000066"/>
                </a:solidFill>
                <a:latin typeface="黑体" panose="02010609060101010101" pitchFamily="49" charset="-122"/>
                <a:ea typeface="黑体" panose="02010609060101010101" pitchFamily="49" charset="-122"/>
              </a:endParaRPr>
            </a:p>
          </p:txBody>
        </p:sp>
        <p:graphicFrame>
          <p:nvGraphicFramePr>
            <p:cNvPr id="48" name="对象 -2147482084"/>
            <p:cNvGraphicFramePr>
              <a:graphicFrameLocks noChangeAspect="1"/>
            </p:cNvGraphicFramePr>
            <p:nvPr/>
          </p:nvGraphicFramePr>
          <p:xfrm>
            <a:off x="8513" y="2590"/>
            <a:ext cx="498" cy="592"/>
          </p:xfrm>
          <a:graphic>
            <a:graphicData uri="http://schemas.openxmlformats.org/presentationml/2006/ole">
              <mc:AlternateContent xmlns:mc="http://schemas.openxmlformats.org/markup-compatibility/2006">
                <mc:Choice xmlns:v="urn:schemas-microsoft-com:vml" Requires="v">
                  <p:oleObj spid="_x0000_s49" name="" r:id="rId2" imgW="203200" imgH="241300" progId="Equation.KSEE3">
                    <p:embed/>
                  </p:oleObj>
                </mc:Choice>
                <mc:Fallback>
                  <p:oleObj name="" r:id="rId2" imgW="203200" imgH="241300" progId="Equation.KSEE3">
                    <p:embed/>
                    <p:pic>
                      <p:nvPicPr>
                        <p:cNvPr id="0" name="图片 3075"/>
                        <p:cNvPicPr/>
                        <p:nvPr/>
                      </p:nvPicPr>
                      <p:blipFill>
                        <a:blip r:embed="rId3"/>
                        <a:stretch>
                          <a:fillRect/>
                        </a:stretch>
                      </p:blipFill>
                      <p:spPr>
                        <a:xfrm>
                          <a:off x="8513" y="2590"/>
                          <a:ext cx="498" cy="592"/>
                        </a:xfrm>
                        <a:prstGeom prst="rect">
                          <a:avLst/>
                        </a:prstGeom>
                        <a:noFill/>
                        <a:ln w="38100">
                          <a:noFill/>
                          <a:miter/>
                        </a:ln>
                      </p:spPr>
                    </p:pic>
                  </p:oleObj>
                </mc:Fallback>
              </mc:AlternateContent>
            </a:graphicData>
          </a:graphic>
        </p:graphicFrame>
      </p:grpSp>
      <p:sp>
        <p:nvSpPr>
          <p:cNvPr id="103" name="文本框 102"/>
          <p:cNvSpPr txBox="1"/>
          <p:nvPr/>
        </p:nvSpPr>
        <p:spPr>
          <a:xfrm>
            <a:off x="6169025" y="2194560"/>
            <a:ext cx="2802255" cy="1198880"/>
          </a:xfrm>
          <a:prstGeom prst="rect">
            <a:avLst/>
          </a:prstGeom>
          <a:noFill/>
          <a:ln w="9525">
            <a:noFill/>
          </a:ln>
        </p:spPr>
        <p:txBody>
          <a:bodyPr wrap="square">
            <a:spAutoFit/>
          </a:bodyPr>
          <a:p>
            <a:r>
              <a:rPr lang="zh-CN" sz="2400" b="1">
                <a:gradFill>
                  <a:gsLst>
                    <a:gs pos="0">
                      <a:srgbClr val="012D86"/>
                    </a:gs>
                    <a:gs pos="100000">
                      <a:srgbClr val="0E2557"/>
                    </a:gs>
                  </a:gsLst>
                  <a:lin scaled="0"/>
                </a:gradFill>
              </a:rPr>
              <a:t>③</a:t>
            </a:r>
            <a:r>
              <a:rPr lang="zh-CN" sz="2400" b="1">
                <a:gradFill>
                  <a:gsLst>
                    <a:gs pos="0">
                      <a:srgbClr val="012D86"/>
                    </a:gs>
                    <a:gs pos="100000">
                      <a:srgbClr val="0E2557"/>
                    </a:gs>
                  </a:gsLst>
                  <a:lin scaled="0"/>
                </a:gradFill>
                <a:ea typeface="宋体" panose="02010600030101010101" pitchFamily="2" charset="-122"/>
              </a:rPr>
              <a:t>保持。在    </a:t>
            </a:r>
            <a:r>
              <a:rPr lang="en-US" sz="2400" b="1">
                <a:gradFill>
                  <a:gsLst>
                    <a:gs pos="0">
                      <a:srgbClr val="012D86"/>
                    </a:gs>
                    <a:gs pos="100000">
                      <a:srgbClr val="0E2557"/>
                    </a:gs>
                  </a:gsLst>
                  <a:lin scaled="0"/>
                </a:gradFill>
                <a:latin typeface="Times New Roman" panose="02020603050405020304" charset="0"/>
                <a:sym typeface="+mn-ea"/>
              </a:rPr>
              <a:t>=</a:t>
            </a:r>
            <a:r>
              <a:rPr lang="en-US" altLang="zh-CN" sz="2400" b="1">
                <a:gradFill>
                  <a:gsLst>
                    <a:gs pos="0">
                      <a:srgbClr val="012D86"/>
                    </a:gs>
                    <a:gs pos="100000">
                      <a:srgbClr val="0E2557"/>
                    </a:gs>
                  </a:gsLst>
                  <a:lin scaled="0"/>
                </a:gradFill>
                <a:ea typeface="宋体" panose="02010600030101010101" pitchFamily="2" charset="-122"/>
              </a:rPr>
              <a:t>    </a:t>
            </a:r>
            <a:r>
              <a:rPr lang="en-US" sz="2400" b="1">
                <a:gradFill>
                  <a:gsLst>
                    <a:gs pos="0">
                      <a:srgbClr val="012D86"/>
                    </a:gs>
                    <a:gs pos="100000">
                      <a:srgbClr val="0E2557"/>
                    </a:gs>
                  </a:gsLst>
                  <a:lin scaled="0"/>
                </a:gradFill>
                <a:latin typeface="Times New Roman" panose="02020603050405020304" charset="0"/>
                <a:sym typeface="+mn-ea"/>
              </a:rPr>
              <a:t>=1</a:t>
            </a:r>
            <a:r>
              <a:rPr lang="zh-CN" sz="2400" b="1">
                <a:gradFill>
                  <a:gsLst>
                    <a:gs pos="0">
                      <a:srgbClr val="012D86"/>
                    </a:gs>
                    <a:gs pos="100000">
                      <a:srgbClr val="0E2557"/>
                    </a:gs>
                  </a:gsLst>
                  <a:lin scaled="0"/>
                </a:gradFill>
                <a:sym typeface="+mn-ea"/>
              </a:rPr>
              <a:t>的条件下，当</a:t>
            </a:r>
            <a:r>
              <a:rPr lang="en-US" sz="2400" b="1" i="1">
                <a:gradFill>
                  <a:gsLst>
                    <a:gs pos="0">
                      <a:srgbClr val="012D86"/>
                    </a:gs>
                    <a:gs pos="100000">
                      <a:srgbClr val="0E2557"/>
                    </a:gs>
                  </a:gsLst>
                  <a:lin scaled="0"/>
                </a:gradFill>
                <a:latin typeface="Times New Roman" panose="02020603050405020304" charset="0"/>
                <a:sym typeface="+mn-ea"/>
              </a:rPr>
              <a:t>ET</a:t>
            </a:r>
            <a:r>
              <a:rPr lang="en-US" sz="2400" b="1">
                <a:gradFill>
                  <a:gsLst>
                    <a:gs pos="0">
                      <a:srgbClr val="012D86"/>
                    </a:gs>
                    <a:gs pos="100000">
                      <a:srgbClr val="0E2557"/>
                    </a:gs>
                  </a:gsLst>
                  <a:lin scaled="0"/>
                </a:gradFill>
                <a:latin typeface="Times New Roman" panose="02020603050405020304" charset="0"/>
                <a:sym typeface="+mn-ea"/>
              </a:rPr>
              <a:t>·</a:t>
            </a:r>
            <a:r>
              <a:rPr lang="en-US" sz="2400" b="1" i="1">
                <a:gradFill>
                  <a:gsLst>
                    <a:gs pos="0">
                      <a:srgbClr val="012D86"/>
                    </a:gs>
                    <a:gs pos="100000">
                      <a:srgbClr val="0E2557"/>
                    </a:gs>
                  </a:gsLst>
                  <a:lin scaled="0"/>
                </a:gradFill>
                <a:latin typeface="Times New Roman" panose="02020603050405020304" charset="0"/>
                <a:sym typeface="+mn-ea"/>
              </a:rPr>
              <a:t>EP </a:t>
            </a:r>
            <a:r>
              <a:rPr lang="en-US" sz="2400" b="1">
                <a:gradFill>
                  <a:gsLst>
                    <a:gs pos="0">
                      <a:srgbClr val="012D86"/>
                    </a:gs>
                    <a:gs pos="100000">
                      <a:srgbClr val="0E2557"/>
                    </a:gs>
                  </a:gsLst>
                  <a:lin scaled="0"/>
                </a:gradFill>
                <a:latin typeface="Times New Roman" panose="02020603050405020304" charset="0"/>
                <a:sym typeface="+mn-ea"/>
              </a:rPr>
              <a:t>= 0</a:t>
            </a:r>
            <a:r>
              <a:rPr lang="zh-CN" sz="2400" b="1">
                <a:gradFill>
                  <a:gsLst>
                    <a:gs pos="0">
                      <a:srgbClr val="012D86"/>
                    </a:gs>
                    <a:gs pos="100000">
                      <a:srgbClr val="0E2557"/>
                    </a:gs>
                  </a:gsLst>
                  <a:lin scaled="0"/>
                </a:gradFill>
                <a:sym typeface="+mn-ea"/>
              </a:rPr>
              <a:t>时，</a:t>
            </a:r>
            <a:endParaRPr lang="en-US" altLang="zh-CN" sz="2400" b="1">
              <a:gradFill>
                <a:gsLst>
                  <a:gs pos="0">
                    <a:srgbClr val="012D86"/>
                  </a:gs>
                  <a:gs pos="100000">
                    <a:srgbClr val="0E2557"/>
                  </a:gs>
                </a:gsLst>
                <a:lin scaled="0"/>
              </a:gradFill>
              <a:ea typeface="宋体" panose="02010600030101010101" pitchFamily="2" charset="-122"/>
            </a:endParaRPr>
          </a:p>
        </p:txBody>
      </p:sp>
      <p:pic>
        <p:nvPicPr>
          <p:cNvPr id="14" name="图片 13"/>
          <p:cNvPicPr/>
          <p:nvPr/>
        </p:nvPicPr>
        <p:blipFill>
          <a:blip r:embed="rId4"/>
          <a:stretch>
            <a:fillRect/>
          </a:stretch>
        </p:blipFill>
        <p:spPr>
          <a:xfrm>
            <a:off x="7736840" y="2240915"/>
            <a:ext cx="389255" cy="351155"/>
          </a:xfrm>
          <a:prstGeom prst="rect">
            <a:avLst/>
          </a:prstGeom>
          <a:noFill/>
          <a:ln w="9525">
            <a:noFill/>
          </a:ln>
        </p:spPr>
      </p:pic>
      <p:pic>
        <p:nvPicPr>
          <p:cNvPr id="15" name="图片 14"/>
          <p:cNvPicPr/>
          <p:nvPr/>
        </p:nvPicPr>
        <p:blipFill>
          <a:blip r:embed="rId5"/>
          <a:stretch>
            <a:fillRect/>
          </a:stretch>
        </p:blipFill>
        <p:spPr>
          <a:xfrm>
            <a:off x="8293735" y="2219325"/>
            <a:ext cx="344805" cy="390525"/>
          </a:xfrm>
          <a:prstGeom prst="rect">
            <a:avLst/>
          </a:prstGeom>
          <a:noFill/>
          <a:ln w="9525">
            <a:noFill/>
          </a:ln>
        </p:spPr>
      </p:pic>
      <p:sp>
        <p:nvSpPr>
          <p:cNvPr id="17" name="椭圆 16"/>
          <p:cNvSpPr/>
          <p:nvPr/>
        </p:nvSpPr>
        <p:spPr>
          <a:xfrm>
            <a:off x="208281" y="5120005"/>
            <a:ext cx="406400" cy="414338"/>
          </a:xfrm>
          <a:prstGeom prst="ellipse">
            <a:avLst/>
          </a:prstGeom>
          <a:solidFill>
            <a:srgbClr val="0099FF">
              <a:alpha val="3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22" name="直接连接符 113749"/>
          <p:cNvSpPr/>
          <p:nvPr/>
        </p:nvSpPr>
        <p:spPr>
          <a:xfrm flipH="1">
            <a:off x="366395" y="5339715"/>
            <a:ext cx="4963160" cy="635"/>
          </a:xfrm>
          <a:prstGeom prst="line">
            <a:avLst/>
          </a:prstGeom>
          <a:ln w="28575" cap="flat" cmpd="sng">
            <a:solidFill>
              <a:srgbClr val="FF3300"/>
            </a:solidFill>
            <a:prstDash val="solid"/>
            <a:headEnd type="none" w="med" len="med"/>
            <a:tailEnd type="none" w="med" len="med"/>
          </a:ln>
        </p:spPr>
      </p:sp>
      <p:sp>
        <p:nvSpPr>
          <p:cNvPr id="28" name="直接连接符 113750"/>
          <p:cNvSpPr/>
          <p:nvPr/>
        </p:nvSpPr>
        <p:spPr>
          <a:xfrm>
            <a:off x="5329555" y="3924300"/>
            <a:ext cx="635" cy="1415415"/>
          </a:xfrm>
          <a:prstGeom prst="line">
            <a:avLst/>
          </a:prstGeom>
          <a:ln w="28575" cap="flat" cmpd="sng">
            <a:solidFill>
              <a:srgbClr val="FF3300"/>
            </a:solidFill>
            <a:prstDash val="solid"/>
            <a:headEnd type="none" w="med" len="med"/>
            <a:tailEnd type="none" w="med" len="med"/>
          </a:ln>
        </p:spPr>
      </p:sp>
      <p:sp>
        <p:nvSpPr>
          <p:cNvPr id="29" name="直接连接符 113749"/>
          <p:cNvSpPr/>
          <p:nvPr/>
        </p:nvSpPr>
        <p:spPr>
          <a:xfrm flipH="1">
            <a:off x="5010150" y="4631690"/>
            <a:ext cx="434340" cy="635"/>
          </a:xfrm>
          <a:prstGeom prst="line">
            <a:avLst/>
          </a:prstGeom>
          <a:ln w="28575" cap="flat" cmpd="sng">
            <a:solidFill>
              <a:srgbClr val="FF3300"/>
            </a:solidFill>
            <a:prstDash val="solid"/>
            <a:headEnd type="none" w="med" len="med"/>
            <a:tailEnd type="none" w="med" len="med"/>
          </a:ln>
        </p:spPr>
      </p:sp>
      <p:sp>
        <p:nvSpPr>
          <p:cNvPr id="30" name="直接连接符 113750"/>
          <p:cNvSpPr/>
          <p:nvPr/>
        </p:nvSpPr>
        <p:spPr>
          <a:xfrm>
            <a:off x="5459730" y="3924935"/>
            <a:ext cx="635" cy="699770"/>
          </a:xfrm>
          <a:prstGeom prst="line">
            <a:avLst/>
          </a:prstGeom>
          <a:ln w="28575" cap="flat" cmpd="sng">
            <a:solidFill>
              <a:srgbClr val="FF3300"/>
            </a:solidFill>
            <a:prstDash val="solid"/>
            <a:headEnd type="none" w="med" len="med"/>
            <a:tailEnd type="none" w="med" len="med"/>
          </a:ln>
        </p:spPr>
      </p:sp>
      <p:grpSp>
        <p:nvGrpSpPr>
          <p:cNvPr id="31" name="组合 30"/>
          <p:cNvGrpSpPr/>
          <p:nvPr/>
        </p:nvGrpSpPr>
        <p:grpSpPr>
          <a:xfrm>
            <a:off x="4022725" y="1585595"/>
            <a:ext cx="406400" cy="424815"/>
            <a:chOff x="8436" y="2513"/>
            <a:chExt cx="640" cy="669"/>
          </a:xfrm>
        </p:grpSpPr>
        <p:sp>
          <p:nvSpPr>
            <p:cNvPr id="32" name="椭圆 31"/>
            <p:cNvSpPr/>
            <p:nvPr/>
          </p:nvSpPr>
          <p:spPr>
            <a:xfrm>
              <a:off x="8436" y="2513"/>
              <a:ext cx="640" cy="653"/>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endParaRPr lang="en-US" altLang="zh-CN" sz="2400">
                <a:solidFill>
                  <a:srgbClr val="000066"/>
                </a:solidFill>
                <a:latin typeface="黑体" panose="02010609060101010101" pitchFamily="49" charset="-122"/>
                <a:ea typeface="黑体" panose="02010609060101010101" pitchFamily="49" charset="-122"/>
              </a:endParaRPr>
            </a:p>
          </p:txBody>
        </p:sp>
        <p:graphicFrame>
          <p:nvGraphicFramePr>
            <p:cNvPr id="33" name="对象 -2147482084"/>
            <p:cNvGraphicFramePr>
              <a:graphicFrameLocks noChangeAspect="1"/>
            </p:cNvGraphicFramePr>
            <p:nvPr/>
          </p:nvGraphicFramePr>
          <p:xfrm>
            <a:off x="8513" y="2590"/>
            <a:ext cx="498" cy="592"/>
          </p:xfrm>
          <a:graphic>
            <a:graphicData uri="http://schemas.openxmlformats.org/presentationml/2006/ole">
              <mc:AlternateContent xmlns:mc="http://schemas.openxmlformats.org/markup-compatibility/2006">
                <mc:Choice xmlns:v="urn:schemas-microsoft-com:vml" Requires="v">
                  <p:oleObj spid="_x0000_s64" name="" r:id="rId6" imgW="203200" imgH="241300" progId="Equation.KSEE3">
                    <p:embed/>
                  </p:oleObj>
                </mc:Choice>
                <mc:Fallback>
                  <p:oleObj name="" r:id="rId6" imgW="203200" imgH="241300" progId="Equation.KSEE3">
                    <p:embed/>
                    <p:pic>
                      <p:nvPicPr>
                        <p:cNvPr id="0" name="图片 3075"/>
                        <p:cNvPicPr/>
                        <p:nvPr/>
                      </p:nvPicPr>
                      <p:blipFill>
                        <a:blip r:embed="rId7"/>
                        <a:stretch>
                          <a:fillRect/>
                        </a:stretch>
                      </p:blipFill>
                      <p:spPr>
                        <a:xfrm>
                          <a:off x="8513" y="2590"/>
                          <a:ext cx="498" cy="592"/>
                        </a:xfrm>
                        <a:prstGeom prst="rect">
                          <a:avLst/>
                        </a:prstGeom>
                        <a:noFill/>
                        <a:ln w="38100">
                          <a:noFill/>
                          <a:miter/>
                        </a:ln>
                      </p:spPr>
                    </p:pic>
                  </p:oleObj>
                </mc:Fallback>
              </mc:AlternateContent>
            </a:graphicData>
          </a:graphic>
        </p:graphicFrame>
      </p:grpSp>
      <p:grpSp>
        <p:nvGrpSpPr>
          <p:cNvPr id="65" name="组合 64"/>
          <p:cNvGrpSpPr/>
          <p:nvPr/>
        </p:nvGrpSpPr>
        <p:grpSpPr>
          <a:xfrm>
            <a:off x="2570480" y="1575435"/>
            <a:ext cx="406400" cy="424815"/>
            <a:chOff x="8436" y="2513"/>
            <a:chExt cx="640" cy="669"/>
          </a:xfrm>
        </p:grpSpPr>
        <p:sp>
          <p:nvSpPr>
            <p:cNvPr id="66" name="椭圆 65"/>
            <p:cNvSpPr/>
            <p:nvPr/>
          </p:nvSpPr>
          <p:spPr>
            <a:xfrm>
              <a:off x="8436" y="2513"/>
              <a:ext cx="640" cy="653"/>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endParaRPr lang="en-US" altLang="zh-CN" sz="2400">
                <a:solidFill>
                  <a:srgbClr val="000066"/>
                </a:solidFill>
                <a:latin typeface="黑体" panose="02010609060101010101" pitchFamily="49" charset="-122"/>
                <a:ea typeface="黑体" panose="02010609060101010101" pitchFamily="49" charset="-122"/>
              </a:endParaRPr>
            </a:p>
          </p:txBody>
        </p:sp>
        <p:graphicFrame>
          <p:nvGraphicFramePr>
            <p:cNvPr id="67" name="对象 -2147482084"/>
            <p:cNvGraphicFramePr>
              <a:graphicFrameLocks noChangeAspect="1"/>
            </p:cNvGraphicFramePr>
            <p:nvPr/>
          </p:nvGraphicFramePr>
          <p:xfrm>
            <a:off x="8513" y="2590"/>
            <a:ext cx="498" cy="592"/>
          </p:xfrm>
          <a:graphic>
            <a:graphicData uri="http://schemas.openxmlformats.org/presentationml/2006/ole">
              <mc:AlternateContent xmlns:mc="http://schemas.openxmlformats.org/markup-compatibility/2006">
                <mc:Choice xmlns:v="urn:schemas-microsoft-com:vml" Requires="v">
                  <p:oleObj spid="_x0000_s68" name="" r:id="rId8" imgW="203200" imgH="241300" progId="Equation.KSEE3">
                    <p:embed/>
                  </p:oleObj>
                </mc:Choice>
                <mc:Fallback>
                  <p:oleObj name="" r:id="rId8" imgW="203200" imgH="241300" progId="Equation.KSEE3">
                    <p:embed/>
                    <p:pic>
                      <p:nvPicPr>
                        <p:cNvPr id="0" name="图片 3075"/>
                        <p:cNvPicPr/>
                        <p:nvPr/>
                      </p:nvPicPr>
                      <p:blipFill>
                        <a:blip r:embed="rId9"/>
                        <a:stretch>
                          <a:fillRect/>
                        </a:stretch>
                      </p:blipFill>
                      <p:spPr>
                        <a:xfrm>
                          <a:off x="8513" y="2590"/>
                          <a:ext cx="498" cy="592"/>
                        </a:xfrm>
                        <a:prstGeom prst="rect">
                          <a:avLst/>
                        </a:prstGeom>
                        <a:noFill/>
                        <a:ln w="38100">
                          <a:noFill/>
                          <a:miter/>
                        </a:ln>
                      </p:spPr>
                    </p:pic>
                  </p:oleObj>
                </mc:Fallback>
              </mc:AlternateContent>
            </a:graphicData>
          </a:graphic>
        </p:graphicFrame>
      </p:grpSp>
      <p:grpSp>
        <p:nvGrpSpPr>
          <p:cNvPr id="69" name="组合 68"/>
          <p:cNvGrpSpPr/>
          <p:nvPr/>
        </p:nvGrpSpPr>
        <p:grpSpPr>
          <a:xfrm>
            <a:off x="1229995" y="1619885"/>
            <a:ext cx="406400" cy="424815"/>
            <a:chOff x="8436" y="2513"/>
            <a:chExt cx="640" cy="669"/>
          </a:xfrm>
        </p:grpSpPr>
        <p:sp>
          <p:nvSpPr>
            <p:cNvPr id="70" name="椭圆 69"/>
            <p:cNvSpPr/>
            <p:nvPr/>
          </p:nvSpPr>
          <p:spPr>
            <a:xfrm>
              <a:off x="8436" y="2513"/>
              <a:ext cx="640" cy="653"/>
            </a:xfrm>
            <a:prstGeom prst="ellipse">
              <a:avLst/>
            </a:prstGeom>
            <a:solidFill>
              <a:srgbClr val="FFCCFF"/>
            </a:solidFill>
            <a:ln w="9525" cap="flat" cmpd="sng">
              <a:solidFill>
                <a:schemeClr val="bg1"/>
              </a:solidFill>
              <a:prstDash val="solid"/>
              <a:headEnd type="none" w="med" len="med"/>
              <a:tailEnd type="none" w="med" len="med"/>
            </a:ln>
          </p:spPr>
          <p:txBody>
            <a:bodyPr wrap="none" anchor="ctr"/>
            <a:p>
              <a:endParaRPr lang="en-US" altLang="zh-CN" sz="2400">
                <a:solidFill>
                  <a:srgbClr val="000066"/>
                </a:solidFill>
                <a:latin typeface="黑体" panose="02010609060101010101" pitchFamily="49" charset="-122"/>
                <a:ea typeface="黑体" panose="02010609060101010101" pitchFamily="49" charset="-122"/>
              </a:endParaRPr>
            </a:p>
          </p:txBody>
        </p:sp>
        <p:graphicFrame>
          <p:nvGraphicFramePr>
            <p:cNvPr id="71" name="对象 -2147482084"/>
            <p:cNvGraphicFramePr>
              <a:graphicFrameLocks noChangeAspect="1"/>
            </p:cNvGraphicFramePr>
            <p:nvPr/>
          </p:nvGraphicFramePr>
          <p:xfrm>
            <a:off x="8513" y="2590"/>
            <a:ext cx="498" cy="592"/>
          </p:xfrm>
          <a:graphic>
            <a:graphicData uri="http://schemas.openxmlformats.org/presentationml/2006/ole">
              <mc:AlternateContent xmlns:mc="http://schemas.openxmlformats.org/markup-compatibility/2006">
                <mc:Choice xmlns:v="urn:schemas-microsoft-com:vml" Requires="v">
                  <p:oleObj spid="_x0000_s72" name="" r:id="rId10" imgW="203200" imgH="241300" progId="Equation.KSEE3">
                    <p:embed/>
                  </p:oleObj>
                </mc:Choice>
                <mc:Fallback>
                  <p:oleObj name="" r:id="rId10" imgW="203200" imgH="241300" progId="Equation.KSEE3">
                    <p:embed/>
                    <p:pic>
                      <p:nvPicPr>
                        <p:cNvPr id="0" name="图片 3075"/>
                        <p:cNvPicPr/>
                        <p:nvPr/>
                      </p:nvPicPr>
                      <p:blipFill>
                        <a:blip r:embed="rId11"/>
                        <a:stretch>
                          <a:fillRect/>
                        </a:stretch>
                      </p:blipFill>
                      <p:spPr>
                        <a:xfrm>
                          <a:off x="8513" y="2590"/>
                          <a:ext cx="498" cy="592"/>
                        </a:xfrm>
                        <a:prstGeom prst="rect">
                          <a:avLst/>
                        </a:prstGeom>
                        <a:noFill/>
                        <a:ln w="38100">
                          <a:noFill/>
                          <a:miter/>
                        </a:ln>
                      </p:spPr>
                    </p:pic>
                  </p:oleObj>
                </mc:Fallback>
              </mc:AlternateContent>
            </a:graphicData>
          </a:graphic>
        </p:graphicFrame>
      </p:grpSp>
      <p:sp>
        <p:nvSpPr>
          <p:cNvPr id="73" name="文本框 72"/>
          <p:cNvSpPr txBox="1"/>
          <p:nvPr/>
        </p:nvSpPr>
        <p:spPr>
          <a:xfrm>
            <a:off x="6218555" y="3302635"/>
            <a:ext cx="2802255" cy="1198880"/>
          </a:xfrm>
          <a:prstGeom prst="rect">
            <a:avLst/>
          </a:prstGeom>
          <a:noFill/>
          <a:ln w="9525">
            <a:noFill/>
          </a:ln>
        </p:spPr>
        <p:txBody>
          <a:bodyPr wrap="square">
            <a:spAutoFit/>
          </a:bodyPr>
          <a:p>
            <a:r>
              <a:rPr lang="zh-CN" sz="2400" b="1">
                <a:gradFill>
                  <a:gsLst>
                    <a:gs pos="0">
                      <a:srgbClr val="012D86"/>
                    </a:gs>
                    <a:gs pos="100000">
                      <a:srgbClr val="0E2557"/>
                    </a:gs>
                  </a:gsLst>
                  <a:lin scaled="0"/>
                </a:gradFill>
                <a:sym typeface="+mn-ea"/>
              </a:rPr>
              <a:t>触发器的</a:t>
            </a:r>
            <a:r>
              <a:rPr lang="en-US" sz="2400" b="1" i="1">
                <a:gradFill>
                  <a:gsLst>
                    <a:gs pos="0">
                      <a:srgbClr val="012D86"/>
                    </a:gs>
                    <a:gs pos="100000">
                      <a:srgbClr val="0E2557"/>
                    </a:gs>
                  </a:gsLst>
                  <a:lin scaled="0"/>
                </a:gradFill>
                <a:latin typeface="Times New Roman" panose="02020603050405020304" charset="0"/>
                <a:sym typeface="+mn-ea"/>
              </a:rPr>
              <a:t>J</a:t>
            </a:r>
            <a:r>
              <a:rPr lang="en-US" sz="2400" b="1" i="1" baseline="-25000">
                <a:gradFill>
                  <a:gsLst>
                    <a:gs pos="0">
                      <a:srgbClr val="012D86"/>
                    </a:gs>
                    <a:gs pos="100000">
                      <a:srgbClr val="0E2557"/>
                    </a:gs>
                  </a:gsLst>
                  <a:lin scaled="0"/>
                </a:gradFill>
                <a:latin typeface="Times New Roman" panose="02020603050405020304" charset="0"/>
                <a:sym typeface="+mn-ea"/>
              </a:rPr>
              <a:t>i</a:t>
            </a:r>
            <a:r>
              <a:rPr lang="en-US" sz="2400" b="1">
                <a:gradFill>
                  <a:gsLst>
                    <a:gs pos="0">
                      <a:srgbClr val="012D86"/>
                    </a:gs>
                    <a:gs pos="100000">
                      <a:srgbClr val="0E2557"/>
                    </a:gs>
                  </a:gsLst>
                  <a:lin scaled="0"/>
                </a:gradFill>
                <a:latin typeface="Times New Roman" panose="02020603050405020304" charset="0"/>
                <a:sym typeface="+mn-ea"/>
              </a:rPr>
              <a:t>=</a:t>
            </a:r>
            <a:r>
              <a:rPr lang="en-US" sz="2400" b="1" i="1">
                <a:gradFill>
                  <a:gsLst>
                    <a:gs pos="0">
                      <a:srgbClr val="012D86"/>
                    </a:gs>
                    <a:gs pos="100000">
                      <a:srgbClr val="0E2557"/>
                    </a:gs>
                  </a:gsLst>
                  <a:lin scaled="0"/>
                </a:gradFill>
                <a:latin typeface="Times New Roman" panose="02020603050405020304" charset="0"/>
                <a:sym typeface="+mn-ea"/>
              </a:rPr>
              <a:t>K</a:t>
            </a:r>
            <a:r>
              <a:rPr lang="en-US" sz="2400" b="1" i="1" baseline="-25000">
                <a:gradFill>
                  <a:gsLst>
                    <a:gs pos="0">
                      <a:srgbClr val="012D86"/>
                    </a:gs>
                    <a:gs pos="100000">
                      <a:srgbClr val="0E2557"/>
                    </a:gs>
                  </a:gsLst>
                  <a:lin scaled="0"/>
                </a:gradFill>
                <a:latin typeface="Times New Roman" panose="02020603050405020304" charset="0"/>
                <a:sym typeface="+mn-ea"/>
              </a:rPr>
              <a:t>i</a:t>
            </a:r>
            <a:r>
              <a:rPr lang="en-US" sz="2400" b="1">
                <a:gradFill>
                  <a:gsLst>
                    <a:gs pos="0">
                      <a:srgbClr val="012D86"/>
                    </a:gs>
                    <a:gs pos="100000">
                      <a:srgbClr val="0E2557"/>
                    </a:gs>
                  </a:gsLst>
                  <a:lin scaled="0"/>
                </a:gradFill>
                <a:latin typeface="Times New Roman" panose="02020603050405020304" charset="0"/>
                <a:sym typeface="+mn-ea"/>
              </a:rPr>
              <a:t>=0,</a:t>
            </a:r>
            <a:r>
              <a:rPr lang="en-US" altLang="zh-CN" sz="2400" b="1">
                <a:gradFill>
                  <a:gsLst>
                    <a:gs pos="0">
                      <a:srgbClr val="012D86"/>
                    </a:gs>
                    <a:gs pos="100000">
                      <a:srgbClr val="0E2557"/>
                    </a:gs>
                  </a:gsLst>
                  <a:lin scaled="0"/>
                </a:gradFill>
                <a:ea typeface="宋体" panose="02010600030101010101" pitchFamily="2" charset="-122"/>
              </a:rPr>
              <a:t> </a:t>
            </a:r>
            <a:r>
              <a:rPr lang="en-US" altLang="zh-CN" sz="2400" b="1">
                <a:gradFill>
                  <a:gsLst>
                    <a:gs pos="0">
                      <a:srgbClr val="012D86"/>
                    </a:gs>
                    <a:gs pos="100000">
                      <a:srgbClr val="0E2557"/>
                    </a:gs>
                  </a:gsLst>
                  <a:lin scaled="0"/>
                </a:gradFill>
                <a:ea typeface="宋体" panose="02010600030101010101" pitchFamily="2" charset="-122"/>
              </a:rPr>
              <a:t> 计数器保持原有状态不变。</a:t>
            </a:r>
            <a:endParaRPr lang="en-US" altLang="zh-CN" sz="2400" b="1">
              <a:gradFill>
                <a:gsLst>
                  <a:gs pos="0">
                    <a:srgbClr val="012D86"/>
                  </a:gs>
                  <a:gs pos="100000">
                    <a:srgbClr val="0E2557"/>
                  </a:gs>
                </a:gsLst>
                <a:lin scaled="0"/>
              </a:gra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1000"/>
                                  </p:stCondLst>
                                  <p:childTnLst>
                                    <p:set>
                                      <p:cBhvr>
                                        <p:cTn id="6" dur="1" fill="hold">
                                          <p:stCondLst>
                                            <p:cond delay="0"/>
                                          </p:stCondLst>
                                        </p:cTn>
                                        <p:tgtEl>
                                          <p:spTgt spid="12380"/>
                                        </p:tgtEl>
                                        <p:attrNameLst>
                                          <p:attrName>style.visibility</p:attrName>
                                        </p:attrNameLst>
                                      </p:cBhvr>
                                      <p:to>
                                        <p:strVal val="visible"/>
                                      </p:to>
                                    </p:set>
                                    <p:animEffect transition="in" filter="wipe(down)">
                                      <p:cBhvr>
                                        <p:cTn id="7" dur="500"/>
                                        <p:tgtEl>
                                          <p:spTgt spid="12380"/>
                                        </p:tgtEl>
                                      </p:cBhvr>
                                    </p:animEffect>
                                  </p:childTnLst>
                                </p:cTn>
                              </p:par>
                            </p:childTnLst>
                          </p:cTn>
                        </p:par>
                        <p:par>
                          <p:cTn id="8" fill="hold">
                            <p:stCondLst>
                              <p:cond delay="1500"/>
                            </p:stCondLst>
                            <p:childTnLst>
                              <p:par>
                                <p:cTn id="9" presetID="1" presetClass="entr" presetSubtype="0" fill="hold" grpId="0" nodeType="afterEffect">
                                  <p:stCondLst>
                                    <p:cond delay="1000"/>
                                  </p:stCondLst>
                                  <p:childTnLst>
                                    <p:set>
                                      <p:cBhvr>
                                        <p:cTn id="10" dur="1" fill="hold">
                                          <p:stCondLst>
                                            <p:cond delay="0"/>
                                          </p:stCondLst>
                                        </p:cTn>
                                        <p:tgtEl>
                                          <p:spTgt spid="21"/>
                                        </p:tgtEl>
                                        <p:attrNameLst>
                                          <p:attrName>style.visibility</p:attrName>
                                        </p:attrNameLst>
                                      </p:cBhvr>
                                      <p:to>
                                        <p:strVal val="visible"/>
                                      </p:to>
                                    </p:set>
                                  </p:childTnLst>
                                </p:cTn>
                              </p:par>
                            </p:childTnLst>
                          </p:cTn>
                        </p:par>
                        <p:par>
                          <p:cTn id="11" fill="hold">
                            <p:stCondLst>
                              <p:cond delay="2500"/>
                            </p:stCondLst>
                            <p:childTnLst>
                              <p:par>
                                <p:cTn id="12" presetID="22" presetClass="entr" presetSubtype="4" fill="hold" nodeType="afterEffect">
                                  <p:stCondLst>
                                    <p:cond delay="1000"/>
                                  </p:stCondLst>
                                  <p:childTnLst>
                                    <p:set>
                                      <p:cBhvr>
                                        <p:cTn id="13" dur="1" fill="hold">
                                          <p:stCondLst>
                                            <p:cond delay="0"/>
                                          </p:stCondLst>
                                        </p:cTn>
                                        <p:tgtEl>
                                          <p:spTgt spid="20"/>
                                        </p:tgtEl>
                                        <p:attrNameLst>
                                          <p:attrName>style.visibility</p:attrName>
                                        </p:attrNameLst>
                                      </p:cBhvr>
                                      <p:to>
                                        <p:strVal val="visible"/>
                                      </p:to>
                                    </p:set>
                                    <p:animEffect transition="in" filter="wipe(down)">
                                      <p:cBhvr>
                                        <p:cTn id="14" dur="500"/>
                                        <p:tgtEl>
                                          <p:spTgt spid="20"/>
                                        </p:tgtEl>
                                      </p:cBhvr>
                                    </p:animEffect>
                                  </p:childTnLst>
                                </p:cTn>
                              </p:par>
                            </p:childTnLst>
                          </p:cTn>
                        </p:par>
                        <p:par>
                          <p:cTn id="15" fill="hold">
                            <p:stCondLst>
                              <p:cond delay="4000"/>
                            </p:stCondLst>
                            <p:childTnLst>
                              <p:par>
                                <p:cTn id="16" presetID="22" presetClass="entr" presetSubtype="8" fill="hold" nodeType="afterEffect">
                                  <p:stCondLst>
                                    <p:cond delay="1000"/>
                                  </p:stCondLst>
                                  <p:childTnLst>
                                    <p:set>
                                      <p:cBhvr>
                                        <p:cTn id="17" dur="1" fill="hold">
                                          <p:stCondLst>
                                            <p:cond delay="0"/>
                                          </p:stCondLst>
                                        </p:cTn>
                                        <p:tgtEl>
                                          <p:spTgt spid="29"/>
                                        </p:tgtEl>
                                        <p:attrNameLst>
                                          <p:attrName>style.visibility</p:attrName>
                                        </p:attrNameLst>
                                      </p:cBhvr>
                                      <p:to>
                                        <p:strVal val="visible"/>
                                      </p:to>
                                    </p:set>
                                    <p:animEffect transition="in" filter="wipe(left)">
                                      <p:cBhvr>
                                        <p:cTn id="18" dur="500"/>
                                        <p:tgtEl>
                                          <p:spTgt spid="29"/>
                                        </p:tgtEl>
                                      </p:cBhvr>
                                    </p:animEffect>
                                  </p:childTnLst>
                                </p:cTn>
                              </p:par>
                            </p:childTnLst>
                          </p:cTn>
                        </p:par>
                        <p:par>
                          <p:cTn id="19" fill="hold">
                            <p:stCondLst>
                              <p:cond delay="5500"/>
                            </p:stCondLst>
                            <p:childTnLst>
                              <p:par>
                                <p:cTn id="20" presetID="22" presetClass="entr" presetSubtype="4" fill="hold" nodeType="afterEffect">
                                  <p:stCondLst>
                                    <p:cond delay="1000"/>
                                  </p:stCondLst>
                                  <p:childTnLst>
                                    <p:set>
                                      <p:cBhvr>
                                        <p:cTn id="21" dur="1" fill="hold">
                                          <p:stCondLst>
                                            <p:cond delay="0"/>
                                          </p:stCondLst>
                                        </p:cTn>
                                        <p:tgtEl>
                                          <p:spTgt spid="30"/>
                                        </p:tgtEl>
                                        <p:attrNameLst>
                                          <p:attrName>style.visibility</p:attrName>
                                        </p:attrNameLst>
                                      </p:cBhvr>
                                      <p:to>
                                        <p:strVal val="visible"/>
                                      </p:to>
                                    </p:set>
                                    <p:animEffect transition="in" filter="wipe(down)">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1000"/>
                                  </p:stCondLst>
                                  <p:childTnLst>
                                    <p:set>
                                      <p:cBhvr>
                                        <p:cTn id="26" dur="1" fill="hold">
                                          <p:stCondLst>
                                            <p:cond delay="0"/>
                                          </p:stCondLst>
                                        </p:cTn>
                                        <p:tgtEl>
                                          <p:spTgt spid="17"/>
                                        </p:tgtEl>
                                        <p:attrNameLst>
                                          <p:attrName>style.visibility</p:attrName>
                                        </p:attrNameLst>
                                      </p:cBhvr>
                                      <p:to>
                                        <p:strVal val="visible"/>
                                      </p:to>
                                    </p:set>
                                  </p:childTnLst>
                                </p:cTn>
                              </p:par>
                            </p:childTnLst>
                          </p:cTn>
                        </p:par>
                        <p:par>
                          <p:cTn id="27" fill="hold">
                            <p:stCondLst>
                              <p:cond delay="1000"/>
                            </p:stCondLst>
                            <p:childTnLst>
                              <p:par>
                                <p:cTn id="28" presetID="22" presetClass="entr" presetSubtype="8" fill="hold" nodeType="afterEffect">
                                  <p:stCondLst>
                                    <p:cond delay="1000"/>
                                  </p:stCondLst>
                                  <p:childTnLst>
                                    <p:set>
                                      <p:cBhvr>
                                        <p:cTn id="29" dur="1" fill="hold">
                                          <p:stCondLst>
                                            <p:cond delay="0"/>
                                          </p:stCondLst>
                                        </p:cTn>
                                        <p:tgtEl>
                                          <p:spTgt spid="22"/>
                                        </p:tgtEl>
                                        <p:attrNameLst>
                                          <p:attrName>style.visibility</p:attrName>
                                        </p:attrNameLst>
                                      </p:cBhvr>
                                      <p:to>
                                        <p:strVal val="visible"/>
                                      </p:to>
                                    </p:set>
                                    <p:animEffect transition="in" filter="wipe(left)">
                                      <p:cBhvr>
                                        <p:cTn id="30" dur="500"/>
                                        <p:tgtEl>
                                          <p:spTgt spid="22"/>
                                        </p:tgtEl>
                                      </p:cBhvr>
                                    </p:animEffect>
                                  </p:childTnLst>
                                </p:cTn>
                              </p:par>
                            </p:childTnLst>
                          </p:cTn>
                        </p:par>
                        <p:par>
                          <p:cTn id="31" fill="hold">
                            <p:stCondLst>
                              <p:cond delay="2500"/>
                            </p:stCondLst>
                            <p:childTnLst>
                              <p:par>
                                <p:cTn id="32" presetID="22" presetClass="entr" presetSubtype="4" fill="hold" nodeType="afterEffect">
                                  <p:stCondLst>
                                    <p:cond delay="1000"/>
                                  </p:stCondLst>
                                  <p:childTnLst>
                                    <p:set>
                                      <p:cBhvr>
                                        <p:cTn id="33" dur="1" fill="hold">
                                          <p:stCondLst>
                                            <p:cond delay="0"/>
                                          </p:stCondLst>
                                        </p:cTn>
                                        <p:tgtEl>
                                          <p:spTgt spid="28"/>
                                        </p:tgtEl>
                                        <p:attrNameLst>
                                          <p:attrName>style.visibility</p:attrName>
                                        </p:attrNameLst>
                                      </p:cBhvr>
                                      <p:to>
                                        <p:strVal val="visible"/>
                                      </p:to>
                                    </p:set>
                                    <p:animEffect transition="in" filter="wipe(down)">
                                      <p:cBhvr>
                                        <p:cTn id="34" dur="500"/>
                                        <p:tgtEl>
                                          <p:spTgt spid="28"/>
                                        </p:tgtEl>
                                      </p:cBhvr>
                                    </p:animEffect>
                                  </p:childTnLst>
                                </p:cTn>
                              </p:par>
                            </p:childTnLst>
                          </p:cTn>
                        </p:par>
                        <p:par>
                          <p:cTn id="35" fill="hold">
                            <p:stCondLst>
                              <p:cond delay="4000"/>
                            </p:stCondLst>
                            <p:childTnLst>
                              <p:par>
                                <p:cTn id="36" presetID="1" presetClass="entr" presetSubtype="0" fill="hold" grpId="0" nodeType="afterEffect">
                                  <p:stCondLst>
                                    <p:cond delay="1000"/>
                                  </p:stCondLst>
                                  <p:childTnLst>
                                    <p:set>
                                      <p:cBhvr>
                                        <p:cTn id="37" dur="1" fill="hold">
                                          <p:stCondLst>
                                            <p:cond delay="0"/>
                                          </p:stCondLst>
                                        </p:cTn>
                                        <p:tgtEl>
                                          <p:spTgt spid="40"/>
                                        </p:tgtEl>
                                        <p:attrNameLst>
                                          <p:attrName>style.visibility</p:attrName>
                                        </p:attrNameLst>
                                      </p:cBhvr>
                                      <p:to>
                                        <p:strVal val="visible"/>
                                      </p:to>
                                    </p:set>
                                  </p:childTnLst>
                                </p:cTn>
                              </p:par>
                            </p:childTnLst>
                          </p:cTn>
                        </p:par>
                        <p:par>
                          <p:cTn id="38" fill="hold">
                            <p:stCondLst>
                              <p:cond delay="5000"/>
                            </p:stCondLst>
                            <p:childTnLst>
                              <p:par>
                                <p:cTn id="39" presetID="1" presetClass="entr" presetSubtype="0" fill="hold" grpId="0" nodeType="afterEffect">
                                  <p:stCondLst>
                                    <p:cond delay="1000"/>
                                  </p:stCondLst>
                                  <p:childTnLst>
                                    <p:set>
                                      <p:cBhvr>
                                        <p:cTn id="40" dur="1" fill="hold">
                                          <p:stCondLst>
                                            <p:cond delay="0"/>
                                          </p:stCondLst>
                                        </p:cTn>
                                        <p:tgtEl>
                                          <p:spTgt spid="41"/>
                                        </p:tgtEl>
                                        <p:attrNameLst>
                                          <p:attrName>style.visibility</p:attrName>
                                        </p:attrNameLst>
                                      </p:cBhvr>
                                      <p:to>
                                        <p:strVal val="visible"/>
                                      </p:to>
                                    </p:set>
                                  </p:childTnLst>
                                </p:cTn>
                              </p:par>
                            </p:childTnLst>
                          </p:cTn>
                        </p:par>
                        <p:par>
                          <p:cTn id="41" fill="hold">
                            <p:stCondLst>
                              <p:cond delay="6000"/>
                            </p:stCondLst>
                            <p:childTnLst>
                              <p:par>
                                <p:cTn id="42" presetID="1" presetClass="entr" presetSubtype="0" fill="hold" grpId="0" nodeType="afterEffect">
                                  <p:stCondLst>
                                    <p:cond delay="1000"/>
                                  </p:stCondLst>
                                  <p:childTnLst>
                                    <p:set>
                                      <p:cBhvr>
                                        <p:cTn id="43" dur="1" fill="hold">
                                          <p:stCondLst>
                                            <p:cond delay="0"/>
                                          </p:stCondLst>
                                        </p:cTn>
                                        <p:tgtEl>
                                          <p:spTgt spid="42"/>
                                        </p:tgtEl>
                                        <p:attrNameLst>
                                          <p:attrName>style.visibility</p:attrName>
                                        </p:attrNameLst>
                                      </p:cBhvr>
                                      <p:to>
                                        <p:strVal val="visible"/>
                                      </p:to>
                                    </p:set>
                                  </p:childTnLst>
                                </p:cTn>
                              </p:par>
                            </p:childTnLst>
                          </p:cTn>
                        </p:par>
                        <p:par>
                          <p:cTn id="44" fill="hold">
                            <p:stCondLst>
                              <p:cond delay="7000"/>
                            </p:stCondLst>
                            <p:childTnLst>
                              <p:par>
                                <p:cTn id="45" presetID="1" presetClass="entr" presetSubtype="0" fill="hold" grpId="0" nodeType="afterEffect">
                                  <p:stCondLst>
                                    <p:cond delay="1000"/>
                                  </p:stCondLst>
                                  <p:childTnLst>
                                    <p:set>
                                      <p:cBhvr>
                                        <p:cTn id="46" dur="1" fill="hold">
                                          <p:stCondLst>
                                            <p:cond delay="0"/>
                                          </p:stCondLst>
                                        </p:cTn>
                                        <p:tgtEl>
                                          <p:spTgt spid="43"/>
                                        </p:tgtEl>
                                        <p:attrNameLst>
                                          <p:attrName>style.visibility</p:attrName>
                                        </p:attrNameLst>
                                      </p:cBhvr>
                                      <p:to>
                                        <p:strVal val="visible"/>
                                      </p:to>
                                    </p:set>
                                  </p:childTnLst>
                                </p:cTn>
                              </p:par>
                            </p:childTnLst>
                          </p:cTn>
                        </p:par>
                        <p:par>
                          <p:cTn id="47" fill="hold">
                            <p:stCondLst>
                              <p:cond delay="8000"/>
                            </p:stCondLst>
                            <p:childTnLst>
                              <p:par>
                                <p:cTn id="48" presetID="1" presetClass="entr" presetSubtype="0" fill="hold" nodeType="afterEffect">
                                  <p:stCondLst>
                                    <p:cond delay="500"/>
                                  </p:stCondLst>
                                  <p:childTnLst>
                                    <p:set>
                                      <p:cBhvr>
                                        <p:cTn id="49" dur="1" fill="hold">
                                          <p:stCondLst>
                                            <p:cond delay="0"/>
                                          </p:stCondLst>
                                        </p:cTn>
                                        <p:tgtEl>
                                          <p:spTgt spid="50"/>
                                        </p:tgtEl>
                                        <p:attrNameLst>
                                          <p:attrName>style.visibility</p:attrName>
                                        </p:attrNameLst>
                                      </p:cBhvr>
                                      <p:to>
                                        <p:strVal val="visible"/>
                                      </p:to>
                                    </p:set>
                                  </p:childTnLst>
                                </p:cTn>
                              </p:par>
                            </p:childTnLst>
                          </p:cTn>
                        </p:par>
                        <p:par>
                          <p:cTn id="50" fill="hold">
                            <p:stCondLst>
                              <p:cond delay="8500"/>
                            </p:stCondLst>
                            <p:childTnLst>
                              <p:par>
                                <p:cTn id="51" presetID="1" presetClass="entr" presetSubtype="0" fill="hold" nodeType="afterEffect">
                                  <p:stCondLst>
                                    <p:cond delay="500"/>
                                  </p:stCondLst>
                                  <p:childTnLst>
                                    <p:set>
                                      <p:cBhvr>
                                        <p:cTn id="52" dur="1" fill="hold">
                                          <p:stCondLst>
                                            <p:cond delay="0"/>
                                          </p:stCondLst>
                                        </p:cTn>
                                        <p:tgtEl>
                                          <p:spTgt spid="31"/>
                                        </p:tgtEl>
                                        <p:attrNameLst>
                                          <p:attrName>style.visibility</p:attrName>
                                        </p:attrNameLst>
                                      </p:cBhvr>
                                      <p:to>
                                        <p:strVal val="visible"/>
                                      </p:to>
                                    </p:set>
                                  </p:childTnLst>
                                </p:cTn>
                              </p:par>
                            </p:childTnLst>
                          </p:cTn>
                        </p:par>
                        <p:par>
                          <p:cTn id="53" fill="hold">
                            <p:stCondLst>
                              <p:cond delay="9000"/>
                            </p:stCondLst>
                            <p:childTnLst>
                              <p:par>
                                <p:cTn id="54" presetID="1" presetClass="entr" presetSubtype="0" fill="hold" nodeType="afterEffect">
                                  <p:stCondLst>
                                    <p:cond delay="500"/>
                                  </p:stCondLst>
                                  <p:childTnLst>
                                    <p:set>
                                      <p:cBhvr>
                                        <p:cTn id="55" dur="1" fill="hold">
                                          <p:stCondLst>
                                            <p:cond delay="0"/>
                                          </p:stCondLst>
                                        </p:cTn>
                                        <p:tgtEl>
                                          <p:spTgt spid="65"/>
                                        </p:tgtEl>
                                        <p:attrNameLst>
                                          <p:attrName>style.visibility</p:attrName>
                                        </p:attrNameLst>
                                      </p:cBhvr>
                                      <p:to>
                                        <p:strVal val="visible"/>
                                      </p:to>
                                    </p:set>
                                  </p:childTnLst>
                                </p:cTn>
                              </p:par>
                            </p:childTnLst>
                          </p:cTn>
                        </p:par>
                        <p:par>
                          <p:cTn id="56" fill="hold">
                            <p:stCondLst>
                              <p:cond delay="9500"/>
                            </p:stCondLst>
                            <p:childTnLst>
                              <p:par>
                                <p:cTn id="57" presetID="1" presetClass="entr" presetSubtype="0" fill="hold" nodeType="afterEffect">
                                  <p:stCondLst>
                                    <p:cond delay="500"/>
                                  </p:stCondLst>
                                  <p:childTnLst>
                                    <p:set>
                                      <p:cBhvr>
                                        <p:cTn id="58" dur="1" fill="hold">
                                          <p:stCondLst>
                                            <p:cond delay="0"/>
                                          </p:stCondLst>
                                        </p:cTn>
                                        <p:tgtEl>
                                          <p:spTgt spid="6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P spid="40" grpId="0" bldLvl="0" animBg="1"/>
      <p:bldP spid="41" grpId="0" bldLvl="0" animBg="1"/>
      <p:bldP spid="42" grpId="0" bldLvl="0" animBg="1"/>
      <p:bldP spid="43" grpId="0" bldLvl="0" animBg="1"/>
      <p:bldP spid="17" grpId="0" bldLvl="0" animBg="1"/>
      <p:bldP spid="7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1" name="文本框 100"/>
          <p:cNvSpPr txBox="1"/>
          <p:nvPr/>
        </p:nvSpPr>
        <p:spPr>
          <a:xfrm>
            <a:off x="683260" y="1135380"/>
            <a:ext cx="5080000" cy="460375"/>
          </a:xfrm>
          <a:prstGeom prst="rect">
            <a:avLst/>
          </a:prstGeom>
          <a:noFill/>
          <a:ln w="9525">
            <a:noFill/>
          </a:ln>
        </p:spPr>
        <p:txBody>
          <a:bodyPr>
            <a:spAutoFit/>
          </a:bodyPr>
          <a:p>
            <a:pPr indent="266700"/>
            <a:r>
              <a:rPr lang="en-US" sz="2400" b="1">
                <a:latin typeface="Times New Roman" panose="02020603050405020304" charset="0"/>
              </a:rPr>
              <a:t>(2) </a:t>
            </a:r>
            <a:r>
              <a:rPr lang="zh-CN" sz="2400" b="1">
                <a:ea typeface="宋体" panose="02010600030101010101" pitchFamily="2" charset="-122"/>
              </a:rPr>
              <a:t>功能分析</a:t>
            </a:r>
            <a:endParaRPr lang="zh-CN" altLang="en-US" sz="2400" b="1"/>
          </a:p>
        </p:txBody>
      </p:sp>
      <p:sp>
        <p:nvSpPr>
          <p:cNvPr id="2" name="文本框 1"/>
          <p:cNvSpPr txBox="1"/>
          <p:nvPr/>
        </p:nvSpPr>
        <p:spPr>
          <a:xfrm>
            <a:off x="6143625" y="1231900"/>
            <a:ext cx="2150110" cy="460375"/>
          </a:xfrm>
          <a:prstGeom prst="rect">
            <a:avLst/>
          </a:prstGeom>
          <a:noFill/>
          <a:ln w="9525">
            <a:noFill/>
          </a:ln>
        </p:spPr>
        <p:txBody>
          <a:bodyPr wrap="square">
            <a:spAutoFit/>
          </a:bodyPr>
          <a:p>
            <a:r>
              <a:rPr lang="en-US" sz="2400" b="1">
                <a:gradFill>
                  <a:gsLst>
                    <a:gs pos="0">
                      <a:srgbClr val="012D86"/>
                    </a:gs>
                    <a:gs pos="100000">
                      <a:srgbClr val="0E2557"/>
                    </a:gs>
                  </a:gsLst>
                  <a:lin scaled="0"/>
                </a:gradFill>
                <a:latin typeface="Times New Roman" panose="02020603050405020304" charset="0"/>
              </a:rPr>
              <a:t>①</a:t>
            </a:r>
            <a:r>
              <a:rPr lang="zh-CN" sz="2400" b="1">
                <a:gradFill>
                  <a:gsLst>
                    <a:gs pos="0">
                      <a:srgbClr val="012D86"/>
                    </a:gs>
                    <a:gs pos="100000">
                      <a:srgbClr val="0E2557"/>
                    </a:gs>
                  </a:gsLst>
                  <a:lin scaled="0"/>
                </a:gradFill>
                <a:ea typeface="宋体" panose="02010600030101010101" pitchFamily="2" charset="-122"/>
              </a:rPr>
              <a:t>异步清</a:t>
            </a:r>
            <a:r>
              <a:rPr lang="en-US" sz="2400" b="1">
                <a:gradFill>
                  <a:gsLst>
                    <a:gs pos="0">
                      <a:srgbClr val="012D86"/>
                    </a:gs>
                    <a:gs pos="100000">
                      <a:srgbClr val="0E2557"/>
                    </a:gs>
                  </a:gsLst>
                  <a:lin scaled="0"/>
                </a:gradFill>
                <a:latin typeface="Times New Roman" panose="02020603050405020304" charset="0"/>
              </a:rPr>
              <a:t>0</a:t>
            </a:r>
            <a:endParaRPr lang="en-US" altLang="en-US" sz="2400" b="1">
              <a:gradFill>
                <a:gsLst>
                  <a:gs pos="0">
                    <a:srgbClr val="012D86"/>
                  </a:gs>
                  <a:gs pos="100000">
                    <a:srgbClr val="0E2557"/>
                  </a:gs>
                </a:gsLst>
                <a:lin scaled="0"/>
              </a:gradFill>
              <a:latin typeface="Times New Roman" panose="02020603050405020304" charset="0"/>
            </a:endParaRPr>
          </a:p>
        </p:txBody>
      </p:sp>
      <p:pic>
        <p:nvPicPr>
          <p:cNvPr id="9399" name="图片 2836"/>
          <p:cNvPicPr>
            <a:picLocks noChangeAspect="1"/>
          </p:cNvPicPr>
          <p:nvPr/>
        </p:nvPicPr>
        <p:blipFill>
          <a:blip r:embed="rId1"/>
          <a:stretch>
            <a:fillRect/>
          </a:stretch>
        </p:blipFill>
        <p:spPr>
          <a:xfrm>
            <a:off x="142240" y="1918970"/>
            <a:ext cx="6161405" cy="4207510"/>
          </a:xfrm>
          <a:prstGeom prst="rect">
            <a:avLst/>
          </a:prstGeom>
          <a:noFill/>
          <a:ln>
            <a:noFill/>
          </a:ln>
        </p:spPr>
      </p:pic>
      <p:sp>
        <p:nvSpPr>
          <p:cNvPr id="12380" name="直接连接符 113750"/>
          <p:cNvSpPr/>
          <p:nvPr/>
        </p:nvSpPr>
        <p:spPr>
          <a:xfrm>
            <a:off x="4999355" y="5730240"/>
            <a:ext cx="635" cy="161290"/>
          </a:xfrm>
          <a:prstGeom prst="line">
            <a:avLst/>
          </a:prstGeom>
          <a:ln w="28575" cap="flat" cmpd="sng">
            <a:solidFill>
              <a:srgbClr val="FF3300"/>
            </a:solidFill>
            <a:prstDash val="solid"/>
            <a:headEnd type="none" w="med" len="med"/>
            <a:tailEnd type="none" w="med" len="med"/>
          </a:ln>
        </p:spPr>
      </p:sp>
      <p:sp>
        <p:nvSpPr>
          <p:cNvPr id="491526" name="椭圆 491525"/>
          <p:cNvSpPr/>
          <p:nvPr/>
        </p:nvSpPr>
        <p:spPr>
          <a:xfrm>
            <a:off x="5897246" y="612648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13" name="文本框 12"/>
          <p:cNvSpPr txBox="1"/>
          <p:nvPr/>
        </p:nvSpPr>
        <p:spPr>
          <a:xfrm>
            <a:off x="6143625" y="1692275"/>
            <a:ext cx="2785745" cy="460375"/>
          </a:xfrm>
          <a:prstGeom prst="rect">
            <a:avLst/>
          </a:prstGeom>
          <a:noFill/>
          <a:ln w="9525">
            <a:noFill/>
          </a:ln>
        </p:spPr>
        <p:txBody>
          <a:bodyPr wrap="square">
            <a:spAutoFit/>
          </a:bodyPr>
          <a:p>
            <a:r>
              <a:rPr lang="en-US" sz="2400" b="1">
                <a:gradFill>
                  <a:gsLst>
                    <a:gs pos="0">
                      <a:srgbClr val="012D86"/>
                    </a:gs>
                    <a:gs pos="100000">
                      <a:srgbClr val="0E2557"/>
                    </a:gs>
                  </a:gsLst>
                  <a:lin scaled="0"/>
                </a:gradFill>
                <a:latin typeface="Times New Roman" panose="02020603050405020304" charset="0"/>
              </a:rPr>
              <a:t>②</a:t>
            </a:r>
            <a:r>
              <a:rPr lang="zh-CN" sz="2400" b="1">
                <a:gradFill>
                  <a:gsLst>
                    <a:gs pos="0">
                      <a:srgbClr val="012D86"/>
                    </a:gs>
                    <a:gs pos="100000">
                      <a:srgbClr val="0E2557"/>
                    </a:gs>
                  </a:gsLst>
                  <a:lin scaled="0"/>
                </a:gradFill>
                <a:ea typeface="宋体" panose="02010600030101010101" pitchFamily="2" charset="-122"/>
              </a:rPr>
              <a:t>同步并行预置数</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19" name="椭圆 18"/>
          <p:cNvSpPr/>
          <p:nvPr/>
        </p:nvSpPr>
        <p:spPr>
          <a:xfrm>
            <a:off x="4821556" y="6122670"/>
            <a:ext cx="406400" cy="414338"/>
          </a:xfrm>
          <a:prstGeom prst="ellipse">
            <a:avLst/>
          </a:prstGeom>
          <a:solidFill>
            <a:srgbClr val="0099FF"/>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20" name="直接连接符 113750"/>
          <p:cNvSpPr/>
          <p:nvPr/>
        </p:nvSpPr>
        <p:spPr>
          <a:xfrm>
            <a:off x="4998720" y="4636770"/>
            <a:ext cx="635" cy="822960"/>
          </a:xfrm>
          <a:prstGeom prst="line">
            <a:avLst/>
          </a:prstGeom>
          <a:ln w="28575" cap="flat" cmpd="sng">
            <a:solidFill>
              <a:srgbClr val="FF3300"/>
            </a:solidFill>
            <a:prstDash val="solid"/>
            <a:headEnd type="none" w="med" len="med"/>
            <a:tailEnd type="none" w="med" len="med"/>
          </a:ln>
        </p:spPr>
      </p:sp>
      <p:sp>
        <p:nvSpPr>
          <p:cNvPr id="21" name="椭圆 20"/>
          <p:cNvSpPr/>
          <p:nvPr/>
        </p:nvSpPr>
        <p:spPr>
          <a:xfrm>
            <a:off x="4795521" y="4925060"/>
            <a:ext cx="406400" cy="414338"/>
          </a:xfrm>
          <a:prstGeom prst="ellipse">
            <a:avLst/>
          </a:prstGeom>
          <a:solidFill>
            <a:srgbClr val="0099FF">
              <a:alpha val="3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0</a:t>
            </a:r>
            <a:endParaRPr lang="en-US" altLang="zh-CN" sz="2400">
              <a:solidFill>
                <a:schemeClr val="bg1"/>
              </a:solidFill>
              <a:latin typeface="黑体" panose="02010609060101010101" pitchFamily="49" charset="-122"/>
              <a:ea typeface="黑体" panose="02010609060101010101" pitchFamily="49" charset="-122"/>
            </a:endParaRPr>
          </a:p>
        </p:txBody>
      </p:sp>
      <p:sp>
        <p:nvSpPr>
          <p:cNvPr id="40" name="椭圆 39"/>
          <p:cNvSpPr/>
          <p:nvPr/>
        </p:nvSpPr>
        <p:spPr>
          <a:xfrm>
            <a:off x="5256531" y="3350260"/>
            <a:ext cx="406400" cy="414338"/>
          </a:xfrm>
          <a:prstGeom prst="ellipse">
            <a:avLst/>
          </a:prstGeom>
          <a:solidFill>
            <a:srgbClr val="0099FF">
              <a:alpha val="3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grpSp>
        <p:nvGrpSpPr>
          <p:cNvPr id="50" name="组合 49"/>
          <p:cNvGrpSpPr/>
          <p:nvPr/>
        </p:nvGrpSpPr>
        <p:grpSpPr>
          <a:xfrm>
            <a:off x="3698240" y="4395470"/>
            <a:ext cx="406400" cy="424815"/>
            <a:chOff x="8436" y="2513"/>
            <a:chExt cx="640" cy="669"/>
          </a:xfrm>
        </p:grpSpPr>
        <p:sp>
          <p:nvSpPr>
            <p:cNvPr id="491541" name="椭圆 491540"/>
            <p:cNvSpPr/>
            <p:nvPr/>
          </p:nvSpPr>
          <p:spPr>
            <a:xfrm>
              <a:off x="8436" y="2513"/>
              <a:ext cx="640" cy="653"/>
            </a:xfrm>
            <a:prstGeom prst="ellipse">
              <a:avLst/>
            </a:prstGeom>
            <a:solidFill>
              <a:srgbClr val="FFCCFF">
                <a:alpha val="57000"/>
              </a:srgbClr>
            </a:solidFill>
            <a:ln w="9525" cap="flat" cmpd="sng">
              <a:solidFill>
                <a:schemeClr val="bg1"/>
              </a:solidFill>
              <a:prstDash val="solid"/>
              <a:headEnd type="none" w="med" len="med"/>
              <a:tailEnd type="none" w="med" len="med"/>
            </a:ln>
          </p:spPr>
          <p:txBody>
            <a:bodyPr wrap="none" anchor="ctr"/>
            <a:p>
              <a:endParaRPr lang="en-US" altLang="zh-CN" sz="2400">
                <a:solidFill>
                  <a:srgbClr val="000066"/>
                </a:solidFill>
                <a:latin typeface="黑体" panose="02010609060101010101" pitchFamily="49" charset="-122"/>
                <a:ea typeface="黑体" panose="02010609060101010101" pitchFamily="49" charset="-122"/>
              </a:endParaRPr>
            </a:p>
          </p:txBody>
        </p:sp>
        <p:graphicFrame>
          <p:nvGraphicFramePr>
            <p:cNvPr id="48" name="对象 -2147482084"/>
            <p:cNvGraphicFramePr>
              <a:graphicFrameLocks noChangeAspect="1"/>
            </p:cNvGraphicFramePr>
            <p:nvPr/>
          </p:nvGraphicFramePr>
          <p:xfrm>
            <a:off x="8513" y="2590"/>
            <a:ext cx="498" cy="592"/>
          </p:xfrm>
          <a:graphic>
            <a:graphicData uri="http://schemas.openxmlformats.org/presentationml/2006/ole">
              <mc:AlternateContent xmlns:mc="http://schemas.openxmlformats.org/markup-compatibility/2006">
                <mc:Choice xmlns:v="urn:schemas-microsoft-com:vml" Requires="v">
                  <p:oleObj spid="_x0000_s49" name="" r:id="rId2" imgW="203200" imgH="241300" progId="Equation.KSEE3">
                    <p:embed/>
                  </p:oleObj>
                </mc:Choice>
                <mc:Fallback>
                  <p:oleObj name="" r:id="rId2" imgW="203200" imgH="241300" progId="Equation.KSEE3">
                    <p:embed/>
                    <p:pic>
                      <p:nvPicPr>
                        <p:cNvPr id="0" name="图片 3075"/>
                        <p:cNvPicPr/>
                        <p:nvPr/>
                      </p:nvPicPr>
                      <p:blipFill>
                        <a:blip r:embed="rId3"/>
                        <a:stretch>
                          <a:fillRect/>
                        </a:stretch>
                      </p:blipFill>
                      <p:spPr>
                        <a:xfrm>
                          <a:off x="8513" y="2590"/>
                          <a:ext cx="498" cy="592"/>
                        </a:xfrm>
                        <a:prstGeom prst="rect">
                          <a:avLst/>
                        </a:prstGeom>
                        <a:noFill/>
                        <a:ln w="38100">
                          <a:noFill/>
                          <a:miter/>
                        </a:ln>
                      </p:spPr>
                    </p:pic>
                  </p:oleObj>
                </mc:Fallback>
              </mc:AlternateContent>
            </a:graphicData>
          </a:graphic>
        </p:graphicFrame>
      </p:grpSp>
      <p:sp>
        <p:nvSpPr>
          <p:cNvPr id="103" name="文本框 102"/>
          <p:cNvSpPr txBox="1"/>
          <p:nvPr/>
        </p:nvSpPr>
        <p:spPr>
          <a:xfrm>
            <a:off x="6169025" y="2651760"/>
            <a:ext cx="2802255" cy="1198880"/>
          </a:xfrm>
          <a:prstGeom prst="rect">
            <a:avLst/>
          </a:prstGeom>
          <a:noFill/>
          <a:ln w="9525">
            <a:noFill/>
          </a:ln>
        </p:spPr>
        <p:txBody>
          <a:bodyPr wrap="square">
            <a:spAutoFit/>
          </a:bodyPr>
          <a:p>
            <a:r>
              <a:rPr lang="zh-CN" sz="2400" b="1">
                <a:gradFill>
                  <a:gsLst>
                    <a:gs pos="0">
                      <a:srgbClr val="012D86"/>
                    </a:gs>
                    <a:gs pos="100000">
                      <a:srgbClr val="0E2557"/>
                    </a:gs>
                  </a:gsLst>
                  <a:lin scaled="0"/>
                </a:gradFill>
              </a:rPr>
              <a:t>④</a:t>
            </a:r>
            <a:r>
              <a:rPr lang="zh-CN" sz="2400" b="1">
                <a:gradFill>
                  <a:gsLst>
                    <a:gs pos="0">
                      <a:srgbClr val="012D86"/>
                    </a:gs>
                    <a:gs pos="100000">
                      <a:srgbClr val="0E2557"/>
                    </a:gs>
                  </a:gsLst>
                  <a:lin scaled="0"/>
                </a:gradFill>
                <a:ea typeface="宋体" panose="02010600030101010101" pitchFamily="2" charset="-122"/>
              </a:rPr>
              <a:t>计数。在    </a:t>
            </a:r>
            <a:r>
              <a:rPr lang="en-US" sz="2400" b="1">
                <a:gradFill>
                  <a:gsLst>
                    <a:gs pos="0">
                      <a:srgbClr val="012D86"/>
                    </a:gs>
                    <a:gs pos="100000">
                      <a:srgbClr val="0E2557"/>
                    </a:gs>
                  </a:gsLst>
                  <a:lin scaled="0"/>
                </a:gradFill>
                <a:latin typeface="Times New Roman" panose="02020603050405020304" charset="0"/>
                <a:sym typeface="+mn-ea"/>
              </a:rPr>
              <a:t>=</a:t>
            </a:r>
            <a:r>
              <a:rPr lang="en-US" altLang="zh-CN" sz="2400" b="1">
                <a:gradFill>
                  <a:gsLst>
                    <a:gs pos="0">
                      <a:srgbClr val="012D86"/>
                    </a:gs>
                    <a:gs pos="100000">
                      <a:srgbClr val="0E2557"/>
                    </a:gs>
                  </a:gsLst>
                  <a:lin scaled="0"/>
                </a:gradFill>
                <a:ea typeface="宋体" panose="02010600030101010101" pitchFamily="2" charset="-122"/>
              </a:rPr>
              <a:t>    </a:t>
            </a:r>
            <a:r>
              <a:rPr lang="en-US" sz="2400" b="1">
                <a:gradFill>
                  <a:gsLst>
                    <a:gs pos="0">
                      <a:srgbClr val="012D86"/>
                    </a:gs>
                    <a:gs pos="100000">
                      <a:srgbClr val="0E2557"/>
                    </a:gs>
                  </a:gsLst>
                  <a:lin scaled="0"/>
                </a:gradFill>
                <a:latin typeface="Times New Roman" panose="02020603050405020304" charset="0"/>
                <a:sym typeface="+mn-ea"/>
              </a:rPr>
              <a:t>=1</a:t>
            </a:r>
            <a:r>
              <a:rPr lang="zh-CN" sz="2400" b="1">
                <a:gradFill>
                  <a:gsLst>
                    <a:gs pos="0">
                      <a:srgbClr val="012D86"/>
                    </a:gs>
                    <a:gs pos="100000">
                      <a:srgbClr val="0E2557"/>
                    </a:gs>
                  </a:gsLst>
                  <a:lin scaled="0"/>
                </a:gradFill>
                <a:sym typeface="+mn-ea"/>
              </a:rPr>
              <a:t>的条件下，当</a:t>
            </a:r>
            <a:r>
              <a:rPr lang="en-US" sz="2400" b="1" i="1">
                <a:gradFill>
                  <a:gsLst>
                    <a:gs pos="0">
                      <a:srgbClr val="012D86"/>
                    </a:gs>
                    <a:gs pos="100000">
                      <a:srgbClr val="0E2557"/>
                    </a:gs>
                  </a:gsLst>
                  <a:lin scaled="0"/>
                </a:gradFill>
                <a:latin typeface="Times New Roman" panose="02020603050405020304" charset="0"/>
                <a:sym typeface="+mn-ea"/>
              </a:rPr>
              <a:t>ET</a:t>
            </a:r>
            <a:r>
              <a:rPr lang="en-US" sz="2400" b="1">
                <a:gradFill>
                  <a:gsLst>
                    <a:gs pos="0">
                      <a:srgbClr val="012D86"/>
                    </a:gs>
                    <a:gs pos="100000">
                      <a:srgbClr val="0E2557"/>
                    </a:gs>
                  </a:gsLst>
                  <a:lin scaled="0"/>
                </a:gradFill>
                <a:latin typeface="Times New Roman" panose="02020603050405020304" charset="0"/>
                <a:sym typeface="+mn-ea"/>
              </a:rPr>
              <a:t>·</a:t>
            </a:r>
            <a:r>
              <a:rPr lang="en-US" sz="2400" b="1" i="1">
                <a:gradFill>
                  <a:gsLst>
                    <a:gs pos="0">
                      <a:srgbClr val="012D86"/>
                    </a:gs>
                    <a:gs pos="100000">
                      <a:srgbClr val="0E2557"/>
                    </a:gs>
                  </a:gsLst>
                  <a:lin scaled="0"/>
                </a:gradFill>
                <a:latin typeface="Times New Roman" panose="02020603050405020304" charset="0"/>
                <a:sym typeface="+mn-ea"/>
              </a:rPr>
              <a:t>EP </a:t>
            </a:r>
            <a:r>
              <a:rPr lang="en-US" sz="2400" b="1">
                <a:gradFill>
                  <a:gsLst>
                    <a:gs pos="0">
                      <a:srgbClr val="012D86"/>
                    </a:gs>
                    <a:gs pos="100000">
                      <a:srgbClr val="0E2557"/>
                    </a:gs>
                  </a:gsLst>
                  <a:lin scaled="0"/>
                </a:gradFill>
                <a:latin typeface="Times New Roman" panose="02020603050405020304" charset="0"/>
                <a:sym typeface="+mn-ea"/>
              </a:rPr>
              <a:t>= 1</a:t>
            </a:r>
            <a:r>
              <a:rPr lang="zh-CN" sz="2400" b="1">
                <a:gradFill>
                  <a:gsLst>
                    <a:gs pos="0">
                      <a:srgbClr val="012D86"/>
                    </a:gs>
                    <a:gs pos="100000">
                      <a:srgbClr val="0E2557"/>
                    </a:gs>
                  </a:gsLst>
                  <a:lin scaled="0"/>
                </a:gradFill>
                <a:sym typeface="+mn-ea"/>
              </a:rPr>
              <a:t>时，</a:t>
            </a:r>
            <a:endParaRPr lang="en-US" altLang="zh-CN" sz="2400" b="1">
              <a:gradFill>
                <a:gsLst>
                  <a:gs pos="0">
                    <a:srgbClr val="012D86"/>
                  </a:gs>
                  <a:gs pos="100000">
                    <a:srgbClr val="0E2557"/>
                  </a:gs>
                </a:gsLst>
                <a:lin scaled="0"/>
              </a:gradFill>
              <a:ea typeface="宋体" panose="02010600030101010101" pitchFamily="2" charset="-122"/>
            </a:endParaRPr>
          </a:p>
        </p:txBody>
      </p:sp>
      <p:pic>
        <p:nvPicPr>
          <p:cNvPr id="14" name="图片 13"/>
          <p:cNvPicPr/>
          <p:nvPr/>
        </p:nvPicPr>
        <p:blipFill>
          <a:blip r:embed="rId4"/>
          <a:stretch>
            <a:fillRect/>
          </a:stretch>
        </p:blipFill>
        <p:spPr>
          <a:xfrm>
            <a:off x="7736840" y="2698115"/>
            <a:ext cx="389255" cy="351155"/>
          </a:xfrm>
          <a:prstGeom prst="rect">
            <a:avLst/>
          </a:prstGeom>
          <a:noFill/>
          <a:ln w="9525">
            <a:noFill/>
          </a:ln>
        </p:spPr>
      </p:pic>
      <p:pic>
        <p:nvPicPr>
          <p:cNvPr id="15" name="图片 14"/>
          <p:cNvPicPr/>
          <p:nvPr/>
        </p:nvPicPr>
        <p:blipFill>
          <a:blip r:embed="rId5"/>
          <a:stretch>
            <a:fillRect/>
          </a:stretch>
        </p:blipFill>
        <p:spPr>
          <a:xfrm>
            <a:off x="8293735" y="2676525"/>
            <a:ext cx="344805" cy="390525"/>
          </a:xfrm>
          <a:prstGeom prst="rect">
            <a:avLst/>
          </a:prstGeom>
          <a:noFill/>
          <a:ln w="9525">
            <a:noFill/>
          </a:ln>
        </p:spPr>
      </p:pic>
      <p:sp>
        <p:nvSpPr>
          <p:cNvPr id="17" name="椭圆 16"/>
          <p:cNvSpPr/>
          <p:nvPr/>
        </p:nvSpPr>
        <p:spPr>
          <a:xfrm>
            <a:off x="208281" y="5120005"/>
            <a:ext cx="406400" cy="414338"/>
          </a:xfrm>
          <a:prstGeom prst="ellipse">
            <a:avLst/>
          </a:prstGeom>
          <a:solidFill>
            <a:srgbClr val="0099FF">
              <a:alpha val="3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22" name="直接连接符 113749"/>
          <p:cNvSpPr/>
          <p:nvPr/>
        </p:nvSpPr>
        <p:spPr>
          <a:xfrm flipH="1">
            <a:off x="366395" y="5339715"/>
            <a:ext cx="4963160" cy="635"/>
          </a:xfrm>
          <a:prstGeom prst="line">
            <a:avLst/>
          </a:prstGeom>
          <a:ln w="28575" cap="flat" cmpd="sng">
            <a:solidFill>
              <a:srgbClr val="FF3300"/>
            </a:solidFill>
            <a:prstDash val="solid"/>
            <a:headEnd type="none" w="med" len="med"/>
            <a:tailEnd type="none" w="med" len="med"/>
          </a:ln>
        </p:spPr>
      </p:sp>
      <p:sp>
        <p:nvSpPr>
          <p:cNvPr id="28" name="直接连接符 113750"/>
          <p:cNvSpPr/>
          <p:nvPr/>
        </p:nvSpPr>
        <p:spPr>
          <a:xfrm>
            <a:off x="5329555" y="3924300"/>
            <a:ext cx="635" cy="1415415"/>
          </a:xfrm>
          <a:prstGeom prst="line">
            <a:avLst/>
          </a:prstGeom>
          <a:ln w="28575" cap="flat" cmpd="sng">
            <a:solidFill>
              <a:srgbClr val="FF3300"/>
            </a:solidFill>
            <a:prstDash val="solid"/>
            <a:headEnd type="none" w="med" len="med"/>
            <a:tailEnd type="none" w="med" len="med"/>
          </a:ln>
        </p:spPr>
      </p:sp>
      <p:sp>
        <p:nvSpPr>
          <p:cNvPr id="29" name="直接连接符 113749"/>
          <p:cNvSpPr/>
          <p:nvPr/>
        </p:nvSpPr>
        <p:spPr>
          <a:xfrm flipH="1">
            <a:off x="5010150" y="4631690"/>
            <a:ext cx="753110" cy="5080"/>
          </a:xfrm>
          <a:prstGeom prst="line">
            <a:avLst/>
          </a:prstGeom>
          <a:ln w="28575" cap="flat" cmpd="sng">
            <a:solidFill>
              <a:srgbClr val="FF3300"/>
            </a:solidFill>
            <a:prstDash val="solid"/>
            <a:headEnd type="none" w="med" len="med"/>
            <a:tailEnd type="none" w="med" len="med"/>
          </a:ln>
        </p:spPr>
      </p:sp>
      <p:sp>
        <p:nvSpPr>
          <p:cNvPr id="30" name="直接连接符 113750"/>
          <p:cNvSpPr/>
          <p:nvPr/>
        </p:nvSpPr>
        <p:spPr>
          <a:xfrm>
            <a:off x="5762625" y="4374515"/>
            <a:ext cx="635" cy="262255"/>
          </a:xfrm>
          <a:prstGeom prst="line">
            <a:avLst/>
          </a:prstGeom>
          <a:ln w="28575" cap="flat" cmpd="sng">
            <a:solidFill>
              <a:srgbClr val="FF3300"/>
            </a:solidFill>
            <a:prstDash val="solid"/>
            <a:headEnd type="none" w="med" len="med"/>
            <a:tailEnd type="none" w="med" len="med"/>
          </a:ln>
        </p:spPr>
      </p:sp>
      <p:sp>
        <p:nvSpPr>
          <p:cNvPr id="73" name="文本框 72"/>
          <p:cNvSpPr txBox="1"/>
          <p:nvPr/>
        </p:nvSpPr>
        <p:spPr>
          <a:xfrm>
            <a:off x="6218555" y="3759835"/>
            <a:ext cx="2802255" cy="1198880"/>
          </a:xfrm>
          <a:prstGeom prst="rect">
            <a:avLst/>
          </a:prstGeom>
          <a:noFill/>
          <a:ln w="9525">
            <a:noFill/>
          </a:ln>
        </p:spPr>
        <p:txBody>
          <a:bodyPr wrap="square">
            <a:spAutoFit/>
          </a:bodyPr>
          <a:p>
            <a:r>
              <a:rPr lang="zh-CN" sz="2400" b="1">
                <a:gradFill>
                  <a:gsLst>
                    <a:gs pos="0">
                      <a:srgbClr val="012D86"/>
                    </a:gs>
                    <a:gs pos="100000">
                      <a:srgbClr val="0E2557"/>
                    </a:gs>
                  </a:gsLst>
                  <a:lin scaled="0"/>
                </a:gradFill>
                <a:sym typeface="+mn-ea"/>
              </a:rPr>
              <a:t>触发器的</a:t>
            </a:r>
            <a:r>
              <a:rPr lang="en-US" sz="2400" b="1" i="1">
                <a:gradFill>
                  <a:gsLst>
                    <a:gs pos="0">
                      <a:srgbClr val="012D86"/>
                    </a:gs>
                    <a:gs pos="100000">
                      <a:srgbClr val="0E2557"/>
                    </a:gs>
                  </a:gsLst>
                  <a:lin scaled="0"/>
                </a:gradFill>
                <a:latin typeface="Times New Roman" panose="02020603050405020304" charset="0"/>
                <a:sym typeface="+mn-ea"/>
              </a:rPr>
              <a:t>J</a:t>
            </a:r>
            <a:r>
              <a:rPr lang="en-US" sz="2400" b="1" baseline="-25000">
                <a:gradFill>
                  <a:gsLst>
                    <a:gs pos="0">
                      <a:srgbClr val="012D86"/>
                    </a:gs>
                    <a:gs pos="100000">
                      <a:srgbClr val="0E2557"/>
                    </a:gs>
                  </a:gsLst>
                  <a:lin scaled="0"/>
                </a:gradFill>
                <a:latin typeface="Times New Roman" panose="02020603050405020304" charset="0"/>
                <a:sym typeface="+mn-ea"/>
              </a:rPr>
              <a:t>0</a:t>
            </a:r>
            <a:r>
              <a:rPr lang="en-US" sz="2400" b="1">
                <a:gradFill>
                  <a:gsLst>
                    <a:gs pos="0">
                      <a:srgbClr val="012D86"/>
                    </a:gs>
                    <a:gs pos="100000">
                      <a:srgbClr val="0E2557"/>
                    </a:gs>
                  </a:gsLst>
                  <a:lin scaled="0"/>
                </a:gradFill>
                <a:latin typeface="Times New Roman" panose="02020603050405020304" charset="0"/>
                <a:sym typeface="+mn-ea"/>
              </a:rPr>
              <a:t>=</a:t>
            </a:r>
            <a:r>
              <a:rPr lang="en-US" sz="2400" b="1" i="1">
                <a:gradFill>
                  <a:gsLst>
                    <a:gs pos="0">
                      <a:srgbClr val="012D86"/>
                    </a:gs>
                    <a:gs pos="100000">
                      <a:srgbClr val="0E2557"/>
                    </a:gs>
                  </a:gsLst>
                  <a:lin scaled="0"/>
                </a:gradFill>
                <a:latin typeface="Times New Roman" panose="02020603050405020304" charset="0"/>
                <a:sym typeface="+mn-ea"/>
              </a:rPr>
              <a:t>K</a:t>
            </a:r>
            <a:r>
              <a:rPr lang="en-US" sz="2400" b="1" baseline="-25000">
                <a:gradFill>
                  <a:gsLst>
                    <a:gs pos="0">
                      <a:srgbClr val="012D86"/>
                    </a:gs>
                    <a:gs pos="100000">
                      <a:srgbClr val="0E2557"/>
                    </a:gs>
                  </a:gsLst>
                  <a:lin scaled="0"/>
                </a:gradFill>
                <a:latin typeface="Times New Roman" panose="02020603050405020304" charset="0"/>
                <a:sym typeface="+mn-ea"/>
              </a:rPr>
              <a:t>0</a:t>
            </a:r>
            <a:r>
              <a:rPr lang="en-US" sz="2400" b="1">
                <a:gradFill>
                  <a:gsLst>
                    <a:gs pos="0">
                      <a:srgbClr val="012D86"/>
                    </a:gs>
                    <a:gs pos="100000">
                      <a:srgbClr val="0E2557"/>
                    </a:gs>
                  </a:gsLst>
                  <a:lin scaled="0"/>
                </a:gradFill>
                <a:latin typeface="Times New Roman" panose="02020603050405020304" charset="0"/>
                <a:sym typeface="+mn-ea"/>
              </a:rPr>
              <a:t>=1,</a:t>
            </a:r>
            <a:r>
              <a:rPr lang="en-US" altLang="zh-CN" sz="2400" b="1">
                <a:gradFill>
                  <a:gsLst>
                    <a:gs pos="0">
                      <a:srgbClr val="012D86"/>
                    </a:gs>
                    <a:gs pos="100000">
                      <a:srgbClr val="0E2557"/>
                    </a:gs>
                  </a:gsLst>
                  <a:lin scaled="0"/>
                </a:gradFill>
                <a:ea typeface="宋体" panose="02010600030101010101" pitchFamily="2" charset="-122"/>
              </a:rPr>
              <a:t>  触发器FF0按</a:t>
            </a:r>
            <a:r>
              <a:rPr lang="en-US" altLang="zh-CN" sz="2400" b="1" i="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T</a:t>
            </a:r>
            <a:r>
              <a:rPr lang="en-US" altLang="zh-CN" sz="2400" b="1">
                <a:gradFill>
                  <a:gsLst>
                    <a:gs pos="0">
                      <a:srgbClr val="012D86"/>
                    </a:gs>
                    <a:gs pos="100000">
                      <a:srgbClr val="0E2557"/>
                    </a:gs>
                  </a:gsLst>
                  <a:lin scaled="0"/>
                </a:gradFill>
                <a:latin typeface="Times New Roman" panose="02020603050405020304" charset="0"/>
                <a:ea typeface="宋体" panose="02010600030101010101" pitchFamily="2" charset="-122"/>
              </a:rPr>
              <a:t>＇</a:t>
            </a:r>
            <a:r>
              <a:rPr lang="en-US" altLang="zh-CN" sz="2400" b="1">
                <a:gradFill>
                  <a:gsLst>
                    <a:gs pos="0">
                      <a:srgbClr val="012D86"/>
                    </a:gs>
                    <a:gs pos="100000">
                      <a:srgbClr val="0E2557"/>
                    </a:gs>
                  </a:gsLst>
                  <a:lin scaled="0"/>
                </a:gradFill>
                <a:ea typeface="宋体" panose="02010600030101010101" pitchFamily="2" charset="-122"/>
              </a:rPr>
              <a:t>触发器变化</a:t>
            </a:r>
            <a:r>
              <a:rPr lang="zh-CN" altLang="en-US"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3" name="直接连接符 113750"/>
          <p:cNvSpPr/>
          <p:nvPr/>
        </p:nvSpPr>
        <p:spPr>
          <a:xfrm>
            <a:off x="4998085" y="4374515"/>
            <a:ext cx="635" cy="262255"/>
          </a:xfrm>
          <a:prstGeom prst="line">
            <a:avLst/>
          </a:prstGeom>
          <a:ln w="28575" cap="flat" cmpd="sng">
            <a:solidFill>
              <a:srgbClr val="FF3300"/>
            </a:solidFill>
            <a:prstDash val="solid"/>
            <a:headEnd type="none" w="med" len="med"/>
            <a:tailEnd type="none" w="med" len="med"/>
          </a:ln>
        </p:spPr>
      </p:sp>
      <p:sp>
        <p:nvSpPr>
          <p:cNvPr id="5" name="椭圆 4"/>
          <p:cNvSpPr/>
          <p:nvPr/>
        </p:nvSpPr>
        <p:spPr>
          <a:xfrm>
            <a:off x="4707256" y="3764915"/>
            <a:ext cx="406400" cy="414338"/>
          </a:xfrm>
          <a:prstGeom prst="ellipse">
            <a:avLst/>
          </a:prstGeom>
          <a:solidFill>
            <a:srgbClr val="0099FF">
              <a:alpha val="3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6" name="椭圆 5"/>
          <p:cNvSpPr/>
          <p:nvPr/>
        </p:nvSpPr>
        <p:spPr>
          <a:xfrm>
            <a:off x="5584826" y="3764915"/>
            <a:ext cx="406400" cy="414338"/>
          </a:xfrm>
          <a:prstGeom prst="ellipse">
            <a:avLst/>
          </a:prstGeom>
          <a:solidFill>
            <a:srgbClr val="0099FF">
              <a:alpha val="3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7" name="直接连接符 113750"/>
          <p:cNvSpPr/>
          <p:nvPr/>
        </p:nvSpPr>
        <p:spPr>
          <a:xfrm>
            <a:off x="3904615" y="5001260"/>
            <a:ext cx="635" cy="356235"/>
          </a:xfrm>
          <a:prstGeom prst="line">
            <a:avLst/>
          </a:prstGeom>
          <a:ln w="28575" cap="flat" cmpd="sng">
            <a:solidFill>
              <a:srgbClr val="FF3300"/>
            </a:solidFill>
            <a:prstDash val="solid"/>
            <a:headEnd type="none" w="med" len="med"/>
            <a:tailEnd type="none" w="med" len="med"/>
          </a:ln>
        </p:spPr>
      </p:sp>
      <p:sp>
        <p:nvSpPr>
          <p:cNvPr id="8" name="直接连接符 113749"/>
          <p:cNvSpPr/>
          <p:nvPr/>
        </p:nvSpPr>
        <p:spPr>
          <a:xfrm flipH="1">
            <a:off x="4643755" y="2472055"/>
            <a:ext cx="941070" cy="3810"/>
          </a:xfrm>
          <a:prstGeom prst="line">
            <a:avLst/>
          </a:prstGeom>
          <a:ln w="28575" cap="flat" cmpd="sng">
            <a:solidFill>
              <a:srgbClr val="FF3300"/>
            </a:solidFill>
            <a:prstDash val="solid"/>
            <a:headEnd type="none" w="med" len="med"/>
            <a:tailEnd type="none" w="med" len="med"/>
          </a:ln>
        </p:spPr>
      </p:sp>
      <p:sp>
        <p:nvSpPr>
          <p:cNvPr id="9" name="直接连接符 113750"/>
          <p:cNvSpPr/>
          <p:nvPr/>
        </p:nvSpPr>
        <p:spPr>
          <a:xfrm>
            <a:off x="4631690" y="2470785"/>
            <a:ext cx="635" cy="2790190"/>
          </a:xfrm>
          <a:prstGeom prst="line">
            <a:avLst/>
          </a:prstGeom>
          <a:ln w="28575" cap="flat" cmpd="sng">
            <a:solidFill>
              <a:srgbClr val="FF3300"/>
            </a:solidFill>
            <a:prstDash val="solid"/>
            <a:headEnd type="none" w="med" len="med"/>
            <a:tailEnd type="none" w="med" len="med"/>
          </a:ln>
        </p:spPr>
      </p:sp>
      <p:sp>
        <p:nvSpPr>
          <p:cNvPr id="10" name="直接连接符 113749"/>
          <p:cNvSpPr/>
          <p:nvPr/>
        </p:nvSpPr>
        <p:spPr>
          <a:xfrm flipH="1" flipV="1">
            <a:off x="4048125" y="5260975"/>
            <a:ext cx="567690" cy="635"/>
          </a:xfrm>
          <a:prstGeom prst="line">
            <a:avLst/>
          </a:prstGeom>
          <a:ln w="28575" cap="flat" cmpd="sng">
            <a:solidFill>
              <a:srgbClr val="FF3300"/>
            </a:solidFill>
            <a:prstDash val="solid"/>
            <a:headEnd type="none" w="med" len="med"/>
            <a:tailEnd type="none" w="med" len="med"/>
          </a:ln>
        </p:spPr>
      </p:sp>
      <p:sp>
        <p:nvSpPr>
          <p:cNvPr id="11" name="直接连接符 113750"/>
          <p:cNvSpPr/>
          <p:nvPr/>
        </p:nvSpPr>
        <p:spPr>
          <a:xfrm>
            <a:off x="4047490" y="5014595"/>
            <a:ext cx="635" cy="236220"/>
          </a:xfrm>
          <a:prstGeom prst="line">
            <a:avLst/>
          </a:prstGeom>
          <a:ln w="28575" cap="flat" cmpd="sng">
            <a:solidFill>
              <a:srgbClr val="FF3300"/>
            </a:solidFill>
            <a:prstDash val="solid"/>
            <a:headEnd type="none" w="med" len="med"/>
            <a:tailEnd type="none" w="med" len="med"/>
          </a:ln>
        </p:spPr>
      </p:sp>
      <p:sp>
        <p:nvSpPr>
          <p:cNvPr id="12" name="椭圆 11"/>
          <p:cNvSpPr/>
          <p:nvPr/>
        </p:nvSpPr>
        <p:spPr>
          <a:xfrm>
            <a:off x="3340736" y="3695065"/>
            <a:ext cx="406400" cy="414338"/>
          </a:xfrm>
          <a:prstGeom prst="ellipse">
            <a:avLst/>
          </a:prstGeom>
          <a:solidFill>
            <a:srgbClr val="0099FF">
              <a:alpha val="3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sp>
        <p:nvSpPr>
          <p:cNvPr id="16" name="椭圆 15"/>
          <p:cNvSpPr/>
          <p:nvPr/>
        </p:nvSpPr>
        <p:spPr>
          <a:xfrm>
            <a:off x="4209416" y="3599180"/>
            <a:ext cx="406400" cy="414338"/>
          </a:xfrm>
          <a:prstGeom prst="ellipse">
            <a:avLst/>
          </a:prstGeom>
          <a:solidFill>
            <a:srgbClr val="0099FF">
              <a:alpha val="39000"/>
            </a:srgbClr>
          </a:solidFill>
          <a:ln w="9525">
            <a:noFill/>
          </a:ln>
        </p:spPr>
        <p:txBody>
          <a:bodyPr wrap="none" anchor="ctr"/>
          <a:p>
            <a:r>
              <a:rPr lang="en-US" altLang="zh-CN" sz="2400">
                <a:solidFill>
                  <a:schemeClr val="bg1"/>
                </a:solidFill>
                <a:latin typeface="黑体" panose="02010609060101010101" pitchFamily="49" charset="-122"/>
                <a:ea typeface="黑体" panose="02010609060101010101" pitchFamily="49" charset="-122"/>
              </a:rPr>
              <a:t>1</a:t>
            </a:r>
            <a:endParaRPr lang="en-US" altLang="zh-CN" sz="2400">
              <a:solidFill>
                <a:schemeClr val="bg1"/>
              </a:solidFill>
              <a:latin typeface="黑体" panose="02010609060101010101" pitchFamily="49" charset="-122"/>
              <a:ea typeface="黑体" panose="02010609060101010101" pitchFamily="49" charset="-122"/>
            </a:endParaRPr>
          </a:p>
        </p:txBody>
      </p:sp>
      <p:grpSp>
        <p:nvGrpSpPr>
          <p:cNvPr id="18" name="组合 17"/>
          <p:cNvGrpSpPr/>
          <p:nvPr/>
        </p:nvGrpSpPr>
        <p:grpSpPr>
          <a:xfrm>
            <a:off x="3739515" y="3253740"/>
            <a:ext cx="406400" cy="424815"/>
            <a:chOff x="8436" y="2513"/>
            <a:chExt cx="640" cy="669"/>
          </a:xfrm>
        </p:grpSpPr>
        <p:sp>
          <p:nvSpPr>
            <p:cNvPr id="23" name="椭圆 22"/>
            <p:cNvSpPr/>
            <p:nvPr/>
          </p:nvSpPr>
          <p:spPr>
            <a:xfrm>
              <a:off x="8436" y="2513"/>
              <a:ext cx="640" cy="653"/>
            </a:xfrm>
            <a:prstGeom prst="ellipse">
              <a:avLst/>
            </a:prstGeom>
            <a:solidFill>
              <a:srgbClr val="FFCCFF">
                <a:alpha val="57000"/>
              </a:srgbClr>
            </a:solidFill>
            <a:ln w="9525" cap="flat" cmpd="sng">
              <a:solidFill>
                <a:schemeClr val="bg1"/>
              </a:solidFill>
              <a:prstDash val="solid"/>
              <a:headEnd type="none" w="med" len="med"/>
              <a:tailEnd type="none" w="med" len="med"/>
            </a:ln>
          </p:spPr>
          <p:txBody>
            <a:bodyPr wrap="none" anchor="ctr"/>
            <a:p>
              <a:endParaRPr lang="en-US" altLang="zh-CN" sz="2400">
                <a:solidFill>
                  <a:srgbClr val="000066"/>
                </a:solidFill>
                <a:latin typeface="黑体" panose="02010609060101010101" pitchFamily="49" charset="-122"/>
                <a:ea typeface="黑体" panose="02010609060101010101" pitchFamily="49" charset="-122"/>
              </a:endParaRPr>
            </a:p>
          </p:txBody>
        </p:sp>
        <p:graphicFrame>
          <p:nvGraphicFramePr>
            <p:cNvPr id="24" name="对象 -2147482084"/>
            <p:cNvGraphicFramePr>
              <a:graphicFrameLocks noChangeAspect="1"/>
            </p:cNvGraphicFramePr>
            <p:nvPr/>
          </p:nvGraphicFramePr>
          <p:xfrm>
            <a:off x="8513" y="2590"/>
            <a:ext cx="498" cy="592"/>
          </p:xfrm>
          <a:graphic>
            <a:graphicData uri="http://schemas.openxmlformats.org/presentationml/2006/ole">
              <mc:AlternateContent xmlns:mc="http://schemas.openxmlformats.org/markup-compatibility/2006">
                <mc:Choice xmlns:v="urn:schemas-microsoft-com:vml" Requires="v">
                  <p:oleObj spid="_x0000_s25" name="" r:id="rId6" imgW="203200" imgH="241300" progId="Equation.KSEE3">
                    <p:embed/>
                  </p:oleObj>
                </mc:Choice>
                <mc:Fallback>
                  <p:oleObj name="" r:id="rId6" imgW="203200" imgH="241300" progId="Equation.KSEE3">
                    <p:embed/>
                    <p:pic>
                      <p:nvPicPr>
                        <p:cNvPr id="0" name="图片 3075"/>
                        <p:cNvPicPr/>
                        <p:nvPr/>
                      </p:nvPicPr>
                      <p:blipFill>
                        <a:blip r:embed="rId3"/>
                        <a:stretch>
                          <a:fillRect/>
                        </a:stretch>
                      </p:blipFill>
                      <p:spPr>
                        <a:xfrm>
                          <a:off x="8513" y="2590"/>
                          <a:ext cx="498" cy="592"/>
                        </a:xfrm>
                        <a:prstGeom prst="rect">
                          <a:avLst/>
                        </a:prstGeom>
                        <a:noFill/>
                        <a:ln w="38100">
                          <a:noFill/>
                          <a:miter/>
                        </a:ln>
                      </p:spPr>
                    </p:pic>
                  </p:oleObj>
                </mc:Fallback>
              </mc:AlternateContent>
            </a:graphicData>
          </a:graphic>
        </p:graphicFrame>
      </p:grpSp>
      <p:sp>
        <p:nvSpPr>
          <p:cNvPr id="26" name="文本框 25"/>
          <p:cNvSpPr txBox="1"/>
          <p:nvPr/>
        </p:nvSpPr>
        <p:spPr>
          <a:xfrm>
            <a:off x="6169025" y="2152650"/>
            <a:ext cx="2802255"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rPr>
              <a:t>③</a:t>
            </a:r>
            <a:r>
              <a:rPr lang="zh-CN" sz="2400" b="1">
                <a:gradFill>
                  <a:gsLst>
                    <a:gs pos="0">
                      <a:srgbClr val="012D86"/>
                    </a:gs>
                    <a:gs pos="100000">
                      <a:srgbClr val="0E2557"/>
                    </a:gs>
                  </a:gsLst>
                  <a:lin scaled="0"/>
                </a:gradFill>
                <a:ea typeface="宋体" panose="02010600030101010101" pitchFamily="2" charset="-122"/>
              </a:rPr>
              <a:t>保持</a:t>
            </a:r>
            <a:endParaRPr lang="en-US" altLang="zh-CN" sz="2400" b="1">
              <a:gradFill>
                <a:gsLst>
                  <a:gs pos="0">
                    <a:srgbClr val="012D86"/>
                  </a:gs>
                  <a:gs pos="100000">
                    <a:srgbClr val="0E2557"/>
                  </a:gs>
                </a:gsLst>
                <a:lin scaled="0"/>
              </a:gradFill>
              <a:ea typeface="宋体" panose="02010600030101010101" pitchFamily="2" charset="-122"/>
            </a:endParaRPr>
          </a:p>
        </p:txBody>
      </p:sp>
      <p:grpSp>
        <p:nvGrpSpPr>
          <p:cNvPr id="37" name="组合 36"/>
          <p:cNvGrpSpPr/>
          <p:nvPr/>
        </p:nvGrpSpPr>
        <p:grpSpPr>
          <a:xfrm>
            <a:off x="6303645" y="4846320"/>
            <a:ext cx="2747010" cy="1198880"/>
            <a:chOff x="9927" y="7632"/>
            <a:chExt cx="4326" cy="1888"/>
          </a:xfrm>
        </p:grpSpPr>
        <p:sp>
          <p:nvSpPr>
            <p:cNvPr id="100" name="文本框 99"/>
            <p:cNvSpPr txBox="1"/>
            <p:nvPr/>
          </p:nvSpPr>
          <p:spPr>
            <a:xfrm>
              <a:off x="9927" y="7632"/>
              <a:ext cx="4326" cy="1888"/>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触发器</a:t>
              </a:r>
              <a:r>
                <a:rPr lang="en-US" altLang="zh-CN" sz="2400" b="1">
                  <a:gradFill>
                    <a:gsLst>
                      <a:gs pos="0">
                        <a:srgbClr val="012D86"/>
                      </a:gs>
                      <a:gs pos="100000">
                        <a:srgbClr val="0E2557"/>
                      </a:gs>
                    </a:gsLst>
                    <a:lin scaled="0"/>
                  </a:gradFill>
                  <a:sym typeface="+mn-ea"/>
                </a:rPr>
                <a:t>FF1</a:t>
              </a:r>
              <a:r>
                <a:rPr lang="zh-CN" altLang="en-US" sz="2400" b="1">
                  <a:gradFill>
                    <a:gsLst>
                      <a:gs pos="0">
                        <a:srgbClr val="012D86"/>
                      </a:gs>
                      <a:gs pos="100000">
                        <a:srgbClr val="0E2557"/>
                      </a:gs>
                    </a:gsLst>
                    <a:lin scaled="0"/>
                  </a:gradFill>
                  <a:sym typeface="+mn-ea"/>
                </a:rPr>
                <a:t>的</a:t>
              </a:r>
              <a:r>
                <a:rPr lang="en-US" sz="2400" b="1" i="1">
                  <a:gradFill>
                    <a:gsLst>
                      <a:gs pos="0">
                        <a:srgbClr val="012D86"/>
                      </a:gs>
                      <a:gs pos="100000">
                        <a:srgbClr val="0E2557"/>
                      </a:gs>
                    </a:gsLst>
                    <a:lin scaled="0"/>
                  </a:gradFill>
                  <a:latin typeface="Times New Roman" panose="02020603050405020304" charset="0"/>
                </a:rPr>
                <a:t>J</a:t>
              </a:r>
              <a:r>
                <a:rPr lang="en-US" sz="2400" b="1" baseline="-25000">
                  <a:gradFill>
                    <a:gsLst>
                      <a:gs pos="0">
                        <a:srgbClr val="012D86"/>
                      </a:gs>
                      <a:gs pos="100000">
                        <a:srgbClr val="0E2557"/>
                      </a:gs>
                    </a:gsLst>
                    <a:lin scaled="0"/>
                  </a:gradFill>
                  <a:latin typeface="Times New Roman" panose="02020603050405020304" charset="0"/>
                </a:rPr>
                <a:t>1</a:t>
              </a:r>
              <a:r>
                <a:rPr lang="en-US" sz="2400" b="1">
                  <a:gradFill>
                    <a:gsLst>
                      <a:gs pos="0">
                        <a:srgbClr val="012D86"/>
                      </a:gs>
                      <a:gs pos="100000">
                        <a:srgbClr val="0E2557"/>
                      </a:gs>
                    </a:gsLst>
                    <a:lin scaled="0"/>
                  </a:gradFill>
                  <a:latin typeface="Times New Roman" panose="02020603050405020304" charset="0"/>
                </a:rPr>
                <a:t>=</a:t>
              </a:r>
              <a:r>
                <a:rPr lang="en-US" sz="2400" b="1" i="1">
                  <a:gradFill>
                    <a:gsLst>
                      <a:gs pos="0">
                        <a:srgbClr val="012D86"/>
                      </a:gs>
                      <a:gs pos="100000">
                        <a:srgbClr val="0E2557"/>
                      </a:gs>
                    </a:gsLst>
                    <a:lin scaled="0"/>
                  </a:gradFill>
                  <a:latin typeface="Times New Roman" panose="02020603050405020304" charset="0"/>
                </a:rPr>
                <a:t>K</a:t>
              </a:r>
              <a:r>
                <a:rPr lang="en-US" sz="2400" b="1" baseline="-25000">
                  <a:gradFill>
                    <a:gsLst>
                      <a:gs pos="0">
                        <a:srgbClr val="012D86"/>
                      </a:gs>
                      <a:gs pos="100000">
                        <a:srgbClr val="0E2557"/>
                      </a:gs>
                    </a:gsLst>
                    <a:lin scaled="0"/>
                  </a:gradFill>
                  <a:latin typeface="Times New Roman" panose="02020603050405020304" charset="0"/>
                </a:rPr>
                <a:t>1</a:t>
              </a:r>
              <a:r>
                <a:rPr lang="en-US" sz="2400" b="1">
                  <a:gradFill>
                    <a:gsLst>
                      <a:gs pos="0">
                        <a:srgbClr val="012D86"/>
                      </a:gs>
                      <a:gs pos="100000">
                        <a:srgbClr val="0E2557"/>
                      </a:gs>
                    </a:gsLst>
                    <a:lin scaled="0"/>
                  </a:gradFill>
                  <a:latin typeface="Times New Roman" panose="02020603050405020304" charset="0"/>
                </a:rPr>
                <a:t>=    </a:t>
              </a:r>
              <a:r>
                <a:rPr lang="zh-CN" altLang="en-US" sz="2400" b="1">
                  <a:gradFill>
                    <a:gsLst>
                      <a:gs pos="0">
                        <a:srgbClr val="012D86"/>
                      </a:gs>
                      <a:gs pos="100000">
                        <a:srgbClr val="0E2557"/>
                      </a:gs>
                    </a:gsLst>
                    <a:lin scaled="0"/>
                  </a:gradFill>
                  <a:latin typeface="Times New Roman" panose="02020603050405020304" charset="0"/>
                </a:rPr>
                <a:t>，按</a:t>
              </a:r>
              <a:r>
                <a:rPr lang="zh-CN" altLang="en-US" sz="2400" b="1" i="1">
                  <a:gradFill>
                    <a:gsLst>
                      <a:gs pos="0">
                        <a:srgbClr val="012D86"/>
                      </a:gs>
                      <a:gs pos="100000">
                        <a:srgbClr val="0E2557"/>
                      </a:gs>
                    </a:gsLst>
                    <a:lin scaled="0"/>
                  </a:gradFill>
                  <a:latin typeface="Times New Roman" panose="02020603050405020304" charset="0"/>
                </a:rPr>
                <a:t>T</a:t>
              </a:r>
              <a:r>
                <a:rPr lang="zh-CN" altLang="en-US" sz="2400" b="1">
                  <a:gradFill>
                    <a:gsLst>
                      <a:gs pos="0">
                        <a:srgbClr val="012D86"/>
                      </a:gs>
                      <a:gs pos="100000">
                        <a:srgbClr val="0E2557"/>
                      </a:gs>
                    </a:gsLst>
                    <a:lin scaled="0"/>
                  </a:gradFill>
                  <a:latin typeface="Times New Roman" panose="02020603050405020304" charset="0"/>
                </a:rPr>
                <a:t>触发器变化。</a:t>
              </a:r>
              <a:endParaRPr lang="zh-CN" altLang="en-US" sz="2400" b="1">
                <a:gradFill>
                  <a:gsLst>
                    <a:gs pos="0">
                      <a:srgbClr val="012D86"/>
                    </a:gs>
                    <a:gs pos="100000">
                      <a:srgbClr val="0E2557"/>
                    </a:gs>
                  </a:gsLst>
                  <a:lin scaled="0"/>
                </a:gradFill>
                <a:latin typeface="Times New Roman" panose="02020603050405020304" charset="0"/>
              </a:endParaRPr>
            </a:p>
          </p:txBody>
        </p:sp>
        <p:graphicFrame>
          <p:nvGraphicFramePr>
            <p:cNvPr id="35" name="对象 -2147482084"/>
            <p:cNvGraphicFramePr>
              <a:graphicFrameLocks noChangeAspect="1"/>
            </p:cNvGraphicFramePr>
            <p:nvPr/>
          </p:nvGraphicFramePr>
          <p:xfrm>
            <a:off x="11503" y="8286"/>
            <a:ext cx="498" cy="592"/>
          </p:xfrm>
          <a:graphic>
            <a:graphicData uri="http://schemas.openxmlformats.org/presentationml/2006/ole">
              <mc:AlternateContent xmlns:mc="http://schemas.openxmlformats.org/markup-compatibility/2006">
                <mc:Choice xmlns:v="urn:schemas-microsoft-com:vml" Requires="v">
                  <p:oleObj spid="_x0000_s36" name="" r:id="rId7" imgW="203200" imgH="241300" progId="Equation.KSEE3">
                    <p:embed/>
                  </p:oleObj>
                </mc:Choice>
                <mc:Fallback>
                  <p:oleObj name="" r:id="rId7" imgW="203200" imgH="241300" progId="Equation.KSEE3">
                    <p:embed/>
                    <p:pic>
                      <p:nvPicPr>
                        <p:cNvPr id="0" name="图片 3075"/>
                        <p:cNvPicPr/>
                        <p:nvPr/>
                      </p:nvPicPr>
                      <p:blipFill>
                        <a:blip r:embed="rId3"/>
                        <a:stretch>
                          <a:fillRect/>
                        </a:stretch>
                      </p:blipFill>
                      <p:spPr>
                        <a:xfrm>
                          <a:off x="11503" y="8286"/>
                          <a:ext cx="498" cy="592"/>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1000"/>
                                  </p:stCondLst>
                                  <p:childTnLst>
                                    <p:set>
                                      <p:cBhvr>
                                        <p:cTn id="6" dur="1" fill="hold">
                                          <p:stCondLst>
                                            <p:cond delay="0"/>
                                          </p:stCondLst>
                                        </p:cTn>
                                        <p:tgtEl>
                                          <p:spTgt spid="12380"/>
                                        </p:tgtEl>
                                        <p:attrNameLst>
                                          <p:attrName>style.visibility</p:attrName>
                                        </p:attrNameLst>
                                      </p:cBhvr>
                                      <p:to>
                                        <p:strVal val="visible"/>
                                      </p:to>
                                    </p:set>
                                    <p:animEffect transition="in" filter="wipe(down)">
                                      <p:cBhvr>
                                        <p:cTn id="7" dur="500"/>
                                        <p:tgtEl>
                                          <p:spTgt spid="12380"/>
                                        </p:tgtEl>
                                      </p:cBhvr>
                                    </p:animEffect>
                                  </p:childTnLst>
                                </p:cTn>
                              </p:par>
                            </p:childTnLst>
                          </p:cTn>
                        </p:par>
                        <p:par>
                          <p:cTn id="8" fill="hold">
                            <p:stCondLst>
                              <p:cond delay="1500"/>
                            </p:stCondLst>
                            <p:childTnLst>
                              <p:par>
                                <p:cTn id="9" presetID="1" presetClass="entr" presetSubtype="0" fill="hold" grpId="0" nodeType="afterEffect">
                                  <p:stCondLst>
                                    <p:cond delay="1000"/>
                                  </p:stCondLst>
                                  <p:childTnLst>
                                    <p:set>
                                      <p:cBhvr>
                                        <p:cTn id="10" dur="1" fill="hold">
                                          <p:stCondLst>
                                            <p:cond delay="0"/>
                                          </p:stCondLst>
                                        </p:cTn>
                                        <p:tgtEl>
                                          <p:spTgt spid="21"/>
                                        </p:tgtEl>
                                        <p:attrNameLst>
                                          <p:attrName>style.visibility</p:attrName>
                                        </p:attrNameLst>
                                      </p:cBhvr>
                                      <p:to>
                                        <p:strVal val="visible"/>
                                      </p:to>
                                    </p:set>
                                  </p:childTnLst>
                                </p:cTn>
                              </p:par>
                            </p:childTnLst>
                          </p:cTn>
                        </p:par>
                        <p:par>
                          <p:cTn id="11" fill="hold">
                            <p:stCondLst>
                              <p:cond delay="2500"/>
                            </p:stCondLst>
                            <p:childTnLst>
                              <p:par>
                                <p:cTn id="12" presetID="22" presetClass="entr" presetSubtype="4" fill="hold" nodeType="afterEffect">
                                  <p:stCondLst>
                                    <p:cond delay="500"/>
                                  </p:stCondLst>
                                  <p:childTnLst>
                                    <p:set>
                                      <p:cBhvr>
                                        <p:cTn id="13" dur="1" fill="hold">
                                          <p:stCondLst>
                                            <p:cond delay="0"/>
                                          </p:stCondLst>
                                        </p:cTn>
                                        <p:tgtEl>
                                          <p:spTgt spid="20"/>
                                        </p:tgtEl>
                                        <p:attrNameLst>
                                          <p:attrName>style.visibility</p:attrName>
                                        </p:attrNameLst>
                                      </p:cBhvr>
                                      <p:to>
                                        <p:strVal val="visible"/>
                                      </p:to>
                                    </p:set>
                                    <p:animEffect transition="in" filter="wipe(down)">
                                      <p:cBhvr>
                                        <p:cTn id="14" dur="500"/>
                                        <p:tgtEl>
                                          <p:spTgt spid="20"/>
                                        </p:tgtEl>
                                      </p:cBhvr>
                                    </p:animEffect>
                                  </p:childTnLst>
                                </p:cTn>
                              </p:par>
                            </p:childTnLst>
                          </p:cTn>
                        </p:par>
                        <p:par>
                          <p:cTn id="15" fill="hold">
                            <p:stCondLst>
                              <p:cond delay="3500"/>
                            </p:stCondLst>
                            <p:childTnLst>
                              <p:par>
                                <p:cTn id="16" presetID="22" presetClass="entr" presetSubtype="8" fill="hold" nodeType="after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wipe(left)">
                                      <p:cBhvr>
                                        <p:cTn id="18" dur="500"/>
                                        <p:tgtEl>
                                          <p:spTgt spid="29"/>
                                        </p:tgtEl>
                                      </p:cBhvr>
                                    </p:animEffect>
                                  </p:childTnLst>
                                </p:cTn>
                              </p:par>
                            </p:childTnLst>
                          </p:cTn>
                        </p:par>
                        <p:par>
                          <p:cTn id="19" fill="hold">
                            <p:stCondLst>
                              <p:cond delay="4000"/>
                            </p:stCondLst>
                            <p:childTnLst>
                              <p:par>
                                <p:cTn id="20" presetID="22" presetClass="entr" presetSubtype="4" fill="hold"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par>
                          <p:cTn id="23" fill="hold">
                            <p:stCondLst>
                              <p:cond delay="4500"/>
                            </p:stCondLst>
                            <p:childTnLst>
                              <p:par>
                                <p:cTn id="24" presetID="22" presetClass="entr" presetSubtype="4" fill="hold" nodeType="after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wipe(down)">
                                      <p:cBhvr>
                                        <p:cTn id="26" dur="500"/>
                                        <p:tgtEl>
                                          <p:spTgt spid="30"/>
                                        </p:tgtEl>
                                      </p:cBhvr>
                                    </p:animEffect>
                                  </p:childTnLst>
                                </p:cTn>
                              </p:par>
                            </p:childTnLst>
                          </p:cTn>
                        </p:par>
                        <p:par>
                          <p:cTn id="27" fill="hold">
                            <p:stCondLst>
                              <p:cond delay="5000"/>
                            </p:stCondLst>
                            <p:childTnLst>
                              <p:par>
                                <p:cTn id="28" presetID="1" presetClass="entr" presetSubtype="0" fill="hold" grpId="0" nodeType="afterEffect">
                                  <p:stCondLst>
                                    <p:cond delay="1000"/>
                                  </p:stCondLst>
                                  <p:childTnLst>
                                    <p:set>
                                      <p:cBhvr>
                                        <p:cTn id="29" dur="1" fill="hold">
                                          <p:stCondLst>
                                            <p:cond delay="0"/>
                                          </p:stCondLst>
                                        </p:cTn>
                                        <p:tgtEl>
                                          <p:spTgt spid="5"/>
                                        </p:tgtEl>
                                        <p:attrNameLst>
                                          <p:attrName>style.visibility</p:attrName>
                                        </p:attrNameLst>
                                      </p:cBhvr>
                                      <p:to>
                                        <p:strVal val="visible"/>
                                      </p:to>
                                    </p:set>
                                  </p:childTnLst>
                                </p:cTn>
                              </p:par>
                            </p:childTnLst>
                          </p:cTn>
                        </p:par>
                        <p:par>
                          <p:cTn id="30" fill="hold">
                            <p:stCondLst>
                              <p:cond delay="6000"/>
                            </p:stCondLst>
                            <p:childTnLst>
                              <p:par>
                                <p:cTn id="31" presetID="1" presetClass="entr" presetSubtype="0" fill="hold" grpId="0" nodeType="afterEffect">
                                  <p:stCondLst>
                                    <p:cond delay="1000"/>
                                  </p:stCondLst>
                                  <p:childTnLst>
                                    <p:set>
                                      <p:cBhvr>
                                        <p:cTn id="32" dur="1" fill="hold">
                                          <p:stCondLst>
                                            <p:cond delay="0"/>
                                          </p:stCondLst>
                                        </p:cTn>
                                        <p:tgtEl>
                                          <p:spTgt spid="6"/>
                                        </p:tgtEl>
                                        <p:attrNameLst>
                                          <p:attrName>style.visibility</p:attrName>
                                        </p:attrNameLst>
                                      </p:cBhvr>
                                      <p:to>
                                        <p:strVal val="visible"/>
                                      </p:to>
                                    </p:set>
                                  </p:childTnLst>
                                </p:cTn>
                              </p:par>
                            </p:childTnLst>
                          </p:cTn>
                        </p:par>
                        <p:par>
                          <p:cTn id="33" fill="hold">
                            <p:stCondLst>
                              <p:cond delay="7000"/>
                            </p:stCondLst>
                            <p:childTnLst>
                              <p:par>
                                <p:cTn id="34" presetID="1" presetClass="entr" presetSubtype="0" fill="hold" grpId="0" nodeType="afterEffect">
                                  <p:stCondLst>
                                    <p:cond delay="1000"/>
                                  </p:stCondLst>
                                  <p:childTnLst>
                                    <p:set>
                                      <p:cBhvr>
                                        <p:cTn id="35" dur="1" fill="hold">
                                          <p:stCondLst>
                                            <p:cond delay="0"/>
                                          </p:stCondLst>
                                        </p:cTn>
                                        <p:tgtEl>
                                          <p:spTgt spid="17"/>
                                        </p:tgtEl>
                                        <p:attrNameLst>
                                          <p:attrName>style.visibility</p:attrName>
                                        </p:attrNameLst>
                                      </p:cBhvr>
                                      <p:to>
                                        <p:strVal val="visible"/>
                                      </p:to>
                                    </p:set>
                                  </p:childTnLst>
                                </p:cTn>
                              </p:par>
                            </p:childTnLst>
                          </p:cTn>
                        </p:par>
                        <p:par>
                          <p:cTn id="36" fill="hold">
                            <p:stCondLst>
                              <p:cond delay="8000"/>
                            </p:stCondLst>
                            <p:childTnLst>
                              <p:par>
                                <p:cTn id="37" presetID="22" presetClass="entr" presetSubtype="8" fill="hold" nodeType="afterEffect">
                                  <p:stCondLst>
                                    <p:cond delay="500"/>
                                  </p:stCondLst>
                                  <p:childTnLst>
                                    <p:set>
                                      <p:cBhvr>
                                        <p:cTn id="38" dur="1" fill="hold">
                                          <p:stCondLst>
                                            <p:cond delay="0"/>
                                          </p:stCondLst>
                                        </p:cTn>
                                        <p:tgtEl>
                                          <p:spTgt spid="22"/>
                                        </p:tgtEl>
                                        <p:attrNameLst>
                                          <p:attrName>style.visibility</p:attrName>
                                        </p:attrNameLst>
                                      </p:cBhvr>
                                      <p:to>
                                        <p:strVal val="visible"/>
                                      </p:to>
                                    </p:set>
                                    <p:animEffect transition="in" filter="wipe(left)">
                                      <p:cBhvr>
                                        <p:cTn id="39" dur="500"/>
                                        <p:tgtEl>
                                          <p:spTgt spid="22"/>
                                        </p:tgtEl>
                                      </p:cBhvr>
                                    </p:animEffect>
                                  </p:childTnLst>
                                </p:cTn>
                              </p:par>
                            </p:childTnLst>
                          </p:cTn>
                        </p:par>
                        <p:par>
                          <p:cTn id="40" fill="hold">
                            <p:stCondLst>
                              <p:cond delay="9000"/>
                            </p:stCondLst>
                            <p:childTnLst>
                              <p:par>
                                <p:cTn id="41" presetID="22" presetClass="entr" presetSubtype="4" fill="hold" nodeType="after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wipe(down)">
                                      <p:cBhvr>
                                        <p:cTn id="43" dur="500"/>
                                        <p:tgtEl>
                                          <p:spTgt spid="28"/>
                                        </p:tgtEl>
                                      </p:cBhvr>
                                    </p:animEffect>
                                  </p:childTnLst>
                                </p:cTn>
                              </p:par>
                            </p:childTnLst>
                          </p:cTn>
                        </p:par>
                        <p:par>
                          <p:cTn id="44" fill="hold">
                            <p:stCondLst>
                              <p:cond delay="9500"/>
                            </p:stCondLst>
                            <p:childTnLst>
                              <p:par>
                                <p:cTn id="45" presetID="1" presetClass="entr" presetSubtype="0" fill="hold" grpId="0" nodeType="afterEffect">
                                  <p:stCondLst>
                                    <p:cond delay="1000"/>
                                  </p:stCondLst>
                                  <p:childTnLst>
                                    <p:set>
                                      <p:cBhvr>
                                        <p:cTn id="46" dur="1" fill="hold">
                                          <p:stCondLst>
                                            <p:cond delay="0"/>
                                          </p:stCondLst>
                                        </p:cTn>
                                        <p:tgtEl>
                                          <p:spTgt spid="40"/>
                                        </p:tgtEl>
                                        <p:attrNameLst>
                                          <p:attrName>style.visibility</p:attrName>
                                        </p:attrNameLst>
                                      </p:cBhvr>
                                      <p:to>
                                        <p:strVal val="visible"/>
                                      </p:to>
                                    </p:set>
                                  </p:childTnLst>
                                </p:cTn>
                              </p:par>
                            </p:childTnLst>
                          </p:cTn>
                        </p:par>
                        <p:par>
                          <p:cTn id="47" fill="hold">
                            <p:stCondLst>
                              <p:cond delay="10500"/>
                            </p:stCondLst>
                            <p:childTnLst>
                              <p:par>
                                <p:cTn id="48" presetID="1" presetClass="entr" presetSubtype="0" fill="hold" grpId="0" nodeType="afterEffect">
                                  <p:stCondLst>
                                    <p:cond delay="0"/>
                                  </p:stCondLst>
                                  <p:childTnLst>
                                    <p:set>
                                      <p:cBhvr>
                                        <p:cTn id="49" dur="1" fill="hold">
                                          <p:stCondLst>
                                            <p:cond delay="0"/>
                                          </p:stCondLst>
                                        </p:cTn>
                                        <p:tgtEl>
                                          <p:spTgt spid="7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wipe(down)">
                                      <p:cBhvr>
                                        <p:cTn id="54" dur="500"/>
                                        <p:tgtEl>
                                          <p:spTgt spid="7"/>
                                        </p:tgtEl>
                                      </p:cBhvr>
                                    </p:animEffect>
                                  </p:childTnLst>
                                </p:cTn>
                              </p:par>
                            </p:childTnLst>
                          </p:cTn>
                        </p:par>
                        <p:par>
                          <p:cTn id="55" fill="hold">
                            <p:stCondLst>
                              <p:cond delay="500"/>
                            </p:stCondLst>
                            <p:childTnLst>
                              <p:par>
                                <p:cTn id="56" presetID="22" presetClass="entr" presetSubtype="2" fill="hold" nodeType="after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wipe(right)">
                                      <p:cBhvr>
                                        <p:cTn id="58" dur="500"/>
                                        <p:tgtEl>
                                          <p:spTgt spid="8"/>
                                        </p:tgtEl>
                                      </p:cBhvr>
                                    </p:animEffect>
                                  </p:childTnLst>
                                </p:cTn>
                              </p:par>
                            </p:childTnLst>
                          </p:cTn>
                        </p:par>
                        <p:par>
                          <p:cTn id="59" fill="hold">
                            <p:stCondLst>
                              <p:cond delay="1000"/>
                            </p:stCondLst>
                            <p:childTnLst>
                              <p:par>
                                <p:cTn id="60" presetID="22" presetClass="entr" presetSubtype="1" fill="hold" nodeType="after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wipe(up)">
                                      <p:cBhvr>
                                        <p:cTn id="62" dur="500"/>
                                        <p:tgtEl>
                                          <p:spTgt spid="9"/>
                                        </p:tgtEl>
                                      </p:cBhvr>
                                    </p:animEffect>
                                  </p:childTnLst>
                                </p:cTn>
                              </p:par>
                            </p:childTnLst>
                          </p:cTn>
                        </p:par>
                        <p:par>
                          <p:cTn id="63" fill="hold">
                            <p:stCondLst>
                              <p:cond delay="1500"/>
                            </p:stCondLst>
                            <p:childTnLst>
                              <p:par>
                                <p:cTn id="64" presetID="22" presetClass="entr" presetSubtype="2" fill="hold" nodeType="afterEffect">
                                  <p:stCondLst>
                                    <p:cond delay="0"/>
                                  </p:stCondLst>
                                  <p:childTnLst>
                                    <p:set>
                                      <p:cBhvr>
                                        <p:cTn id="65" dur="1" fill="hold">
                                          <p:stCondLst>
                                            <p:cond delay="0"/>
                                          </p:stCondLst>
                                        </p:cTn>
                                        <p:tgtEl>
                                          <p:spTgt spid="10"/>
                                        </p:tgtEl>
                                        <p:attrNameLst>
                                          <p:attrName>style.visibility</p:attrName>
                                        </p:attrNameLst>
                                      </p:cBhvr>
                                      <p:to>
                                        <p:strVal val="visible"/>
                                      </p:to>
                                    </p:set>
                                    <p:animEffect transition="in" filter="wipe(right)">
                                      <p:cBhvr>
                                        <p:cTn id="66" dur="500"/>
                                        <p:tgtEl>
                                          <p:spTgt spid="10"/>
                                        </p:tgtEl>
                                      </p:cBhvr>
                                    </p:animEffect>
                                  </p:childTnLst>
                                </p:cTn>
                              </p:par>
                            </p:childTnLst>
                          </p:cTn>
                        </p:par>
                        <p:par>
                          <p:cTn id="67" fill="hold">
                            <p:stCondLst>
                              <p:cond delay="2000"/>
                            </p:stCondLst>
                            <p:childTnLst>
                              <p:par>
                                <p:cTn id="68" presetID="22" presetClass="entr" presetSubtype="4" fill="hold" nodeType="afterEffect">
                                  <p:stCondLst>
                                    <p:cond delay="0"/>
                                  </p:stCondLst>
                                  <p:childTnLst>
                                    <p:set>
                                      <p:cBhvr>
                                        <p:cTn id="69" dur="1" fill="hold">
                                          <p:stCondLst>
                                            <p:cond delay="0"/>
                                          </p:stCondLst>
                                        </p:cTn>
                                        <p:tgtEl>
                                          <p:spTgt spid="11"/>
                                        </p:tgtEl>
                                        <p:attrNameLst>
                                          <p:attrName>style.visibility</p:attrName>
                                        </p:attrNameLst>
                                      </p:cBhvr>
                                      <p:to>
                                        <p:strVal val="visible"/>
                                      </p:to>
                                    </p:set>
                                    <p:animEffect transition="in" filter="wipe(down)">
                                      <p:cBhvr>
                                        <p:cTn id="70" dur="500"/>
                                        <p:tgtEl>
                                          <p:spTgt spid="11"/>
                                        </p:tgtEl>
                                      </p:cBhvr>
                                    </p:animEffect>
                                  </p:childTnLst>
                                </p:cTn>
                              </p:par>
                            </p:childTnLst>
                          </p:cTn>
                        </p:par>
                        <p:par>
                          <p:cTn id="71" fill="hold">
                            <p:stCondLst>
                              <p:cond delay="2500"/>
                            </p:stCondLst>
                            <p:childTnLst>
                              <p:par>
                                <p:cTn id="72" presetID="1" presetClass="entr" presetSubtype="0" fill="hold" nodeType="afterEffect">
                                  <p:stCondLst>
                                    <p:cond delay="500"/>
                                  </p:stCondLst>
                                  <p:childTnLst>
                                    <p:set>
                                      <p:cBhvr>
                                        <p:cTn id="73" dur="1" fill="hold">
                                          <p:stCondLst>
                                            <p:cond delay="0"/>
                                          </p:stCondLst>
                                        </p:cTn>
                                        <p:tgtEl>
                                          <p:spTgt spid="50"/>
                                        </p:tgtEl>
                                        <p:attrNameLst>
                                          <p:attrName>style.visibility</p:attrName>
                                        </p:attrNameLst>
                                      </p:cBhvr>
                                      <p:to>
                                        <p:strVal val="visible"/>
                                      </p:to>
                                    </p:set>
                                  </p:childTnLst>
                                </p:cTn>
                              </p:par>
                            </p:childTnLst>
                          </p:cTn>
                        </p:par>
                        <p:par>
                          <p:cTn id="74" fill="hold">
                            <p:stCondLst>
                              <p:cond delay="3000"/>
                            </p:stCondLst>
                            <p:childTnLst>
                              <p:par>
                                <p:cTn id="75" presetID="1" presetClass="entr" presetSubtype="0" fill="hold" grpId="0" nodeType="afterEffect">
                                  <p:stCondLst>
                                    <p:cond delay="1000"/>
                                  </p:stCondLst>
                                  <p:childTnLst>
                                    <p:set>
                                      <p:cBhvr>
                                        <p:cTn id="76" dur="1" fill="hold">
                                          <p:stCondLst>
                                            <p:cond delay="0"/>
                                          </p:stCondLst>
                                        </p:cTn>
                                        <p:tgtEl>
                                          <p:spTgt spid="12"/>
                                        </p:tgtEl>
                                        <p:attrNameLst>
                                          <p:attrName>style.visibility</p:attrName>
                                        </p:attrNameLst>
                                      </p:cBhvr>
                                      <p:to>
                                        <p:strVal val="visible"/>
                                      </p:to>
                                    </p:set>
                                  </p:childTnLst>
                                </p:cTn>
                              </p:par>
                            </p:childTnLst>
                          </p:cTn>
                        </p:par>
                        <p:par>
                          <p:cTn id="77" fill="hold">
                            <p:stCondLst>
                              <p:cond delay="4000"/>
                            </p:stCondLst>
                            <p:childTnLst>
                              <p:par>
                                <p:cTn id="78" presetID="1" presetClass="entr" presetSubtype="0" fill="hold" grpId="0" nodeType="afterEffect">
                                  <p:stCondLst>
                                    <p:cond delay="1000"/>
                                  </p:stCondLst>
                                  <p:childTnLst>
                                    <p:set>
                                      <p:cBhvr>
                                        <p:cTn id="79" dur="1" fill="hold">
                                          <p:stCondLst>
                                            <p:cond delay="0"/>
                                          </p:stCondLst>
                                        </p:cTn>
                                        <p:tgtEl>
                                          <p:spTgt spid="16"/>
                                        </p:tgtEl>
                                        <p:attrNameLst>
                                          <p:attrName>style.visibility</p:attrName>
                                        </p:attrNameLst>
                                      </p:cBhvr>
                                      <p:to>
                                        <p:strVal val="visible"/>
                                      </p:to>
                                    </p:set>
                                  </p:childTnLst>
                                </p:cTn>
                              </p:par>
                            </p:childTnLst>
                          </p:cTn>
                        </p:par>
                        <p:par>
                          <p:cTn id="80" fill="hold">
                            <p:stCondLst>
                              <p:cond delay="5000"/>
                            </p:stCondLst>
                            <p:childTnLst>
                              <p:par>
                                <p:cTn id="81" presetID="1" presetClass="entr" presetSubtype="0" fill="hold" nodeType="afterEffect">
                                  <p:stCondLst>
                                    <p:cond delay="500"/>
                                  </p:stCondLst>
                                  <p:childTnLst>
                                    <p:set>
                                      <p:cBhvr>
                                        <p:cTn id="82" dur="1" fill="hold">
                                          <p:stCondLst>
                                            <p:cond delay="0"/>
                                          </p:stCondLst>
                                        </p:cTn>
                                        <p:tgtEl>
                                          <p:spTgt spid="18"/>
                                        </p:tgtEl>
                                        <p:attrNameLst>
                                          <p:attrName>style.visibility</p:attrName>
                                        </p:attrNameLst>
                                      </p:cBhvr>
                                      <p:to>
                                        <p:strVal val="visible"/>
                                      </p:to>
                                    </p:set>
                                  </p:childTnLst>
                                </p:cTn>
                              </p:par>
                            </p:childTnLst>
                          </p:cTn>
                        </p:par>
                        <p:par>
                          <p:cTn id="83" fill="hold">
                            <p:stCondLst>
                              <p:cond delay="5500"/>
                            </p:stCondLst>
                            <p:childTnLst>
                              <p:par>
                                <p:cTn id="84" presetID="1" presetClass="entr" presetSubtype="0" fill="hold" nodeType="afterEffect">
                                  <p:stCondLst>
                                    <p:cond delay="500"/>
                                  </p:stCondLst>
                                  <p:childTnLst>
                                    <p:set>
                                      <p:cBhvr>
                                        <p:cTn id="85"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P spid="40" grpId="0" bldLvl="0" animBg="1"/>
      <p:bldP spid="17" grpId="0" bldLvl="0" animBg="1"/>
      <p:bldP spid="73" grpId="0"/>
      <p:bldP spid="5" grpId="0" bldLvl="0" animBg="1"/>
      <p:bldP spid="6" grpId="0" bldLvl="0" animBg="1"/>
      <p:bldP spid="12" grpId="0" bldLvl="0" animBg="1"/>
      <p:bldP spid="16"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pic>
        <p:nvPicPr>
          <p:cNvPr id="2" name="图片 1"/>
          <p:cNvPicPr>
            <a:picLocks noChangeAspect="1"/>
          </p:cNvPicPr>
          <p:nvPr/>
        </p:nvPicPr>
        <p:blipFill>
          <a:blip r:embed="rId1"/>
          <a:stretch>
            <a:fillRect/>
          </a:stretch>
        </p:blipFill>
        <p:spPr>
          <a:xfrm>
            <a:off x="0" y="1551305"/>
            <a:ext cx="9141460" cy="2830195"/>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5410" name="Rectangle 2"/>
          <p:cNvSpPr>
            <a:spLocks noChangeArrowheads="1"/>
          </p:cNvSpPr>
          <p:nvPr/>
        </p:nvSpPr>
        <p:spPr bwMode="auto">
          <a:xfrm>
            <a:off x="754380" y="1066483"/>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p>
            <a:pPr marL="342900" marR="0" lvl="0" indent="-342900" algn="just" defTabSz="914400" rtl="0" eaLnBrk="1" fontAlgn="base" latinLnBrk="0" hangingPunct="1">
              <a:lnSpc>
                <a:spcPct val="100000"/>
              </a:lnSpc>
              <a:spcBef>
                <a:spcPct val="20000"/>
              </a:spcBef>
              <a:spcAft>
                <a:spcPct val="0"/>
              </a:spcAft>
              <a:buClrTx/>
              <a:buSzTx/>
              <a:buFontTx/>
              <a:buNone/>
              <a:defRPr/>
            </a:pPr>
            <a:r>
              <a:rPr kumimoji="0" lang="en-US" altLang="zh-CN" sz="18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 </a:t>
            </a:r>
            <a:r>
              <a:rPr kumimoji="0" lang="en-US" altLang="zh-CN" sz="18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 </a:t>
            </a:r>
            <a:r>
              <a:rPr kumimoji="0" lang="en-US" altLang="zh-CN" sz="18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4</a:t>
            </a:r>
            <a:r>
              <a:rPr kumimoji="0" lang="zh-CN" altLang="en-US" sz="18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位同步二进制加法计数器</a:t>
            </a:r>
            <a:r>
              <a:rPr kumimoji="0" lang="en-US" altLang="zh-CN" sz="18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74161</a:t>
            </a:r>
            <a:r>
              <a:rPr kumimoji="0" lang="zh-CN" altLang="en-US" sz="18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rPr>
              <a:t>时序图</a:t>
            </a:r>
            <a:endParaRPr kumimoji="0" lang="zh-CN" altLang="en-US" sz="18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80000"/>
              <a:buFont typeface="Monotype Sorts" pitchFamily="2" charset="2"/>
              <a:buChar char="w"/>
              <a:defRPr/>
            </a:pPr>
            <a:endParaRPr kumimoji="0" lang="zh-CN" altLang="en-US" sz="18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n-cs"/>
            </a:endParaRPr>
          </a:p>
        </p:txBody>
      </p:sp>
      <p:pic>
        <p:nvPicPr>
          <p:cNvPr id="9401" name="图片 2838"/>
          <p:cNvPicPr>
            <a:picLocks noChangeAspect="1"/>
          </p:cNvPicPr>
          <p:nvPr/>
        </p:nvPicPr>
        <p:blipFill>
          <a:blip r:embed="rId1"/>
          <a:stretch>
            <a:fillRect/>
          </a:stretch>
        </p:blipFill>
        <p:spPr>
          <a:xfrm>
            <a:off x="2125980" y="1403985"/>
            <a:ext cx="4719955" cy="5240020"/>
          </a:xfrm>
          <a:prstGeom prst="rect">
            <a:avLst/>
          </a:prstGeom>
          <a:noFill/>
          <a:ln>
            <a:noFill/>
          </a:ln>
        </p:spPr>
      </p:pic>
      <p:sp>
        <p:nvSpPr>
          <p:cNvPr id="145424" name="Rectangle 16"/>
          <p:cNvSpPr>
            <a:spLocks noChangeArrowheads="1"/>
          </p:cNvSpPr>
          <p:nvPr/>
        </p:nvSpPr>
        <p:spPr bwMode="auto">
          <a:xfrm>
            <a:off x="2777490" y="1437640"/>
            <a:ext cx="360680" cy="4795520"/>
          </a:xfrm>
          <a:prstGeom prst="rect">
            <a:avLst/>
          </a:prstGeom>
          <a:solidFill>
            <a:srgbClr val="009900">
              <a:alpha val="28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5425" name="Rectangle 17"/>
          <p:cNvSpPr>
            <a:spLocks noChangeArrowheads="1"/>
          </p:cNvSpPr>
          <p:nvPr/>
        </p:nvSpPr>
        <p:spPr bwMode="auto">
          <a:xfrm>
            <a:off x="3115945" y="1437640"/>
            <a:ext cx="382905" cy="4795520"/>
          </a:xfrm>
          <a:prstGeom prst="rect">
            <a:avLst/>
          </a:prstGeom>
          <a:solidFill>
            <a:srgbClr val="FFFF00">
              <a:alpha val="28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5426" name="Rectangle 18"/>
          <p:cNvSpPr>
            <a:spLocks noChangeArrowheads="1"/>
          </p:cNvSpPr>
          <p:nvPr/>
        </p:nvSpPr>
        <p:spPr bwMode="auto">
          <a:xfrm>
            <a:off x="3498215" y="1431290"/>
            <a:ext cx="1704340" cy="4801235"/>
          </a:xfrm>
          <a:prstGeom prst="rect">
            <a:avLst/>
          </a:prstGeom>
          <a:solidFill>
            <a:srgbClr val="FF99CC">
              <a:alpha val="28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5427" name="Rectangle 19"/>
          <p:cNvSpPr>
            <a:spLocks noChangeArrowheads="1"/>
          </p:cNvSpPr>
          <p:nvPr/>
        </p:nvSpPr>
        <p:spPr bwMode="auto">
          <a:xfrm>
            <a:off x="5185410" y="1437640"/>
            <a:ext cx="1659890" cy="4727575"/>
          </a:xfrm>
          <a:prstGeom prst="rect">
            <a:avLst/>
          </a:prstGeom>
          <a:solidFill>
            <a:srgbClr val="DDDDDD">
              <a:alpha val="63000"/>
            </a:srgbClr>
          </a:soli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5428" name="Line 20"/>
          <p:cNvSpPr>
            <a:spLocks noChangeShapeType="1"/>
          </p:cNvSpPr>
          <p:nvPr/>
        </p:nvSpPr>
        <p:spPr bwMode="auto">
          <a:xfrm>
            <a:off x="3348355" y="2092008"/>
            <a:ext cx="0" cy="4140200"/>
          </a:xfrm>
          <a:prstGeom prst="line">
            <a:avLst/>
          </a:prstGeom>
          <a:noFill/>
          <a:ln w="19050">
            <a:solidFill>
              <a:srgbClr val="FF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145424"/>
                                        </p:tgtEl>
                                        <p:attrNameLst>
                                          <p:attrName>style.visibility</p:attrName>
                                        </p:attrNameLst>
                                      </p:cBhvr>
                                      <p:to>
                                        <p:strVal val="visible"/>
                                      </p:to>
                                    </p:set>
                                    <p:animEffect transition="in" filter="randombar(vertical)">
                                      <p:cBhvr>
                                        <p:cTn id="7" dur="500"/>
                                        <p:tgtEl>
                                          <p:spTgt spid="14542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145425"/>
                                        </p:tgtEl>
                                        <p:attrNameLst>
                                          <p:attrName>style.visibility</p:attrName>
                                        </p:attrNameLst>
                                      </p:cBhvr>
                                      <p:to>
                                        <p:strVal val="visible"/>
                                      </p:to>
                                    </p:set>
                                    <p:animEffect transition="in" filter="randombar(vertical)">
                                      <p:cBhvr>
                                        <p:cTn id="12" dur="500"/>
                                        <p:tgtEl>
                                          <p:spTgt spid="1454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5428"/>
                                        </p:tgtEl>
                                        <p:attrNameLst>
                                          <p:attrName>style.visibility</p:attrName>
                                        </p:attrNameLst>
                                      </p:cBhvr>
                                      <p:to>
                                        <p:strVal val="visible"/>
                                      </p:to>
                                    </p:set>
                                    <p:animEffect transition="in" filter="wipe(up)">
                                      <p:cBhvr>
                                        <p:cTn id="17" dur="500"/>
                                        <p:tgtEl>
                                          <p:spTgt spid="145428"/>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5" fill="hold" grpId="0" nodeType="clickEffect">
                                  <p:stCondLst>
                                    <p:cond delay="0"/>
                                  </p:stCondLst>
                                  <p:childTnLst>
                                    <p:set>
                                      <p:cBhvr>
                                        <p:cTn id="21" dur="1" fill="hold">
                                          <p:stCondLst>
                                            <p:cond delay="0"/>
                                          </p:stCondLst>
                                        </p:cTn>
                                        <p:tgtEl>
                                          <p:spTgt spid="145426"/>
                                        </p:tgtEl>
                                        <p:attrNameLst>
                                          <p:attrName>style.visibility</p:attrName>
                                        </p:attrNameLst>
                                      </p:cBhvr>
                                      <p:to>
                                        <p:strVal val="visible"/>
                                      </p:to>
                                    </p:set>
                                    <p:animEffect transition="in" filter="randombar(vertical)">
                                      <p:cBhvr>
                                        <p:cTn id="22" dur="500"/>
                                        <p:tgtEl>
                                          <p:spTgt spid="145426"/>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5" fill="hold" grpId="0" nodeType="clickEffect">
                                  <p:stCondLst>
                                    <p:cond delay="0"/>
                                  </p:stCondLst>
                                  <p:childTnLst>
                                    <p:set>
                                      <p:cBhvr>
                                        <p:cTn id="26" dur="1" fill="hold">
                                          <p:stCondLst>
                                            <p:cond delay="0"/>
                                          </p:stCondLst>
                                        </p:cTn>
                                        <p:tgtEl>
                                          <p:spTgt spid="145427"/>
                                        </p:tgtEl>
                                        <p:attrNameLst>
                                          <p:attrName>style.visibility</p:attrName>
                                        </p:attrNameLst>
                                      </p:cBhvr>
                                      <p:to>
                                        <p:strVal val="visible"/>
                                      </p:to>
                                    </p:set>
                                    <p:animEffect transition="in" filter="randombar(vertical)">
                                      <p:cBhvr>
                                        <p:cTn id="27" dur="500"/>
                                        <p:tgtEl>
                                          <p:spTgt spid="145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24" grpId="0" bldLvl="0" animBg="1"/>
      <p:bldP spid="145425" grpId="0" bldLvl="0" animBg="1"/>
      <p:bldP spid="145426" grpId="0" bldLvl="0" animBg="1"/>
      <p:bldP spid="145427"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1" name="文本框 100"/>
          <p:cNvSpPr txBox="1"/>
          <p:nvPr/>
        </p:nvSpPr>
        <p:spPr>
          <a:xfrm>
            <a:off x="656590" y="1120140"/>
            <a:ext cx="6857365" cy="460375"/>
          </a:xfrm>
          <a:prstGeom prst="rect">
            <a:avLst/>
          </a:prstGeom>
          <a:noFill/>
          <a:ln w="9525">
            <a:noFill/>
          </a:ln>
        </p:spPr>
        <p:txBody>
          <a:bodyPr wrap="square">
            <a:spAutoFit/>
          </a:bodyPr>
          <a:p>
            <a:pPr indent="267970"/>
            <a:r>
              <a:rPr lang="en-US" sz="2400" b="1">
                <a:solidFill>
                  <a:schemeClr val="accent6">
                    <a:lumMod val="60000"/>
                    <a:lumOff val="40000"/>
                  </a:schemeClr>
                </a:solidFill>
                <a:latin typeface="Times New Roman" panose="02020603050405020304" charset="0"/>
              </a:rPr>
              <a:t>2. </a:t>
            </a:r>
            <a:r>
              <a:rPr sz="2400" b="1">
                <a:solidFill>
                  <a:schemeClr val="accent6">
                    <a:lumMod val="60000"/>
                    <a:lumOff val="40000"/>
                  </a:schemeClr>
                </a:solidFill>
              </a:rPr>
              <a:t>双时钟同步十进制可逆计数器74LS192</a:t>
            </a:r>
            <a:endParaRPr sz="2400" b="1">
              <a:solidFill>
                <a:schemeClr val="accent6">
                  <a:lumMod val="60000"/>
                  <a:lumOff val="40000"/>
                </a:schemeClr>
              </a:solidFill>
            </a:endParaRPr>
          </a:p>
        </p:txBody>
      </p:sp>
      <p:pic>
        <p:nvPicPr>
          <p:cNvPr id="9402" name="图片 2839"/>
          <p:cNvPicPr>
            <a:picLocks noChangeAspect="1"/>
          </p:cNvPicPr>
          <p:nvPr/>
        </p:nvPicPr>
        <p:blipFill>
          <a:blip r:embed="rId1"/>
          <a:stretch>
            <a:fillRect/>
          </a:stretch>
        </p:blipFill>
        <p:spPr>
          <a:xfrm>
            <a:off x="1003935" y="1580515"/>
            <a:ext cx="2524760" cy="1972945"/>
          </a:xfrm>
          <a:prstGeom prst="rect">
            <a:avLst/>
          </a:prstGeom>
          <a:noFill/>
          <a:ln>
            <a:noFill/>
          </a:ln>
        </p:spPr>
      </p:pic>
      <p:sp>
        <p:nvSpPr>
          <p:cNvPr id="100" name="文本框 99"/>
          <p:cNvSpPr txBox="1"/>
          <p:nvPr/>
        </p:nvSpPr>
        <p:spPr>
          <a:xfrm>
            <a:off x="750570" y="3553460"/>
            <a:ext cx="3031490" cy="337185"/>
          </a:xfrm>
          <a:prstGeom prst="rect">
            <a:avLst/>
          </a:prstGeom>
          <a:noFill/>
          <a:ln w="9525">
            <a:noFill/>
          </a:ln>
        </p:spPr>
        <p:txBody>
          <a:bodyPr wrap="square">
            <a:spAutoFit/>
          </a:bodyPr>
          <a:p>
            <a:pPr algn="ctr"/>
            <a:r>
              <a:rPr lang="zh-CN" sz="1600">
                <a:ea typeface="宋体" panose="02010600030101010101" pitchFamily="2" charset="-122"/>
              </a:rPr>
              <a:t>图</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36  74LS192</a:t>
            </a:r>
            <a:r>
              <a:rPr lang="zh-CN" sz="1600">
                <a:ea typeface="宋体" panose="02010600030101010101" pitchFamily="2" charset="-122"/>
              </a:rPr>
              <a:t>引脚图</a:t>
            </a:r>
            <a:endParaRPr lang="zh-CN" altLang="en-US" sz="1600"/>
          </a:p>
        </p:txBody>
      </p:sp>
      <p:sp>
        <p:nvSpPr>
          <p:cNvPr id="2" name="文本框 1"/>
          <p:cNvSpPr txBox="1"/>
          <p:nvPr/>
        </p:nvSpPr>
        <p:spPr>
          <a:xfrm>
            <a:off x="3842385" y="1764665"/>
            <a:ext cx="5078730" cy="829945"/>
          </a:xfrm>
          <a:prstGeom prst="rect">
            <a:avLst/>
          </a:prstGeom>
          <a:noFill/>
          <a:ln w="9525">
            <a:noFill/>
          </a:ln>
        </p:spPr>
        <p:txBody>
          <a:bodyPr wrap="square">
            <a:spAutoFit/>
          </a:bodyPr>
          <a:p>
            <a:r>
              <a:rPr lang="en-US" sz="2400" b="1" i="1">
                <a:gradFill>
                  <a:gsLst>
                    <a:gs pos="0">
                      <a:srgbClr val="012D86"/>
                    </a:gs>
                    <a:gs pos="100000">
                      <a:srgbClr val="0E2557"/>
                    </a:gs>
                  </a:gsLst>
                  <a:lin scaled="0"/>
                </a:gradFill>
                <a:latin typeface="Times New Roman" panose="02020603050405020304" charset="0"/>
              </a:rPr>
              <a:t>CP</a:t>
            </a:r>
            <a:r>
              <a:rPr lang="en-US" sz="2400" b="1" baseline="-25000">
                <a:gradFill>
                  <a:gsLst>
                    <a:gs pos="0">
                      <a:srgbClr val="012D86"/>
                    </a:gs>
                    <a:gs pos="100000">
                      <a:srgbClr val="0E2557"/>
                    </a:gs>
                  </a:gsLst>
                  <a:lin scaled="0"/>
                </a:gradFill>
                <a:latin typeface="Times New Roman" panose="02020603050405020304" charset="0"/>
              </a:rPr>
              <a:t>U</a:t>
            </a:r>
            <a:r>
              <a:rPr lang="zh-CN" sz="2400" b="1">
                <a:gradFill>
                  <a:gsLst>
                    <a:gs pos="0">
                      <a:srgbClr val="012D86"/>
                    </a:gs>
                    <a:gs pos="100000">
                      <a:srgbClr val="0E2557"/>
                    </a:gs>
                  </a:gsLst>
                  <a:lin scaled="0"/>
                </a:gradFill>
                <a:ea typeface="宋体" panose="02010600030101010101" pitchFamily="2" charset="-122"/>
              </a:rPr>
              <a:t>是加法计数脉冲输入端，</a:t>
            </a:r>
            <a:r>
              <a:rPr lang="en-US" sz="2400" b="1" i="1">
                <a:gradFill>
                  <a:gsLst>
                    <a:gs pos="0">
                      <a:srgbClr val="012D86"/>
                    </a:gs>
                    <a:gs pos="100000">
                      <a:srgbClr val="0E2557"/>
                    </a:gs>
                  </a:gsLst>
                  <a:lin scaled="0"/>
                </a:gradFill>
                <a:latin typeface="Times New Roman" panose="02020603050405020304" charset="0"/>
              </a:rPr>
              <a:t>CP</a:t>
            </a:r>
            <a:r>
              <a:rPr lang="en-US" sz="2400" b="1" baseline="-25000">
                <a:gradFill>
                  <a:gsLst>
                    <a:gs pos="0">
                      <a:srgbClr val="012D86"/>
                    </a:gs>
                    <a:gs pos="100000">
                      <a:srgbClr val="0E2557"/>
                    </a:gs>
                  </a:gsLst>
                  <a:lin scaled="0"/>
                </a:gradFill>
                <a:latin typeface="Times New Roman" panose="02020603050405020304" charset="0"/>
              </a:rPr>
              <a:t>D</a:t>
            </a:r>
            <a:r>
              <a:rPr lang="zh-CN" sz="2400" b="1">
                <a:gradFill>
                  <a:gsLst>
                    <a:gs pos="0">
                      <a:srgbClr val="012D86"/>
                    </a:gs>
                    <a:gs pos="100000">
                      <a:srgbClr val="0E2557"/>
                    </a:gs>
                  </a:gsLst>
                  <a:lin scaled="0"/>
                </a:gradFill>
                <a:ea typeface="宋体" panose="02010600030101010101" pitchFamily="2" charset="-122"/>
              </a:rPr>
              <a:t>是减法计数脉冲输入端。</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3" name="图片 2"/>
          <p:cNvPicPr/>
          <p:nvPr/>
        </p:nvPicPr>
        <p:blipFill>
          <a:blip r:embed="rId2"/>
          <a:stretch>
            <a:fillRect/>
          </a:stretch>
        </p:blipFill>
        <p:spPr>
          <a:xfrm>
            <a:off x="3927475" y="2581910"/>
            <a:ext cx="303530" cy="393700"/>
          </a:xfrm>
          <a:prstGeom prst="rect">
            <a:avLst/>
          </a:prstGeom>
          <a:noFill/>
          <a:ln w="9525">
            <a:noFill/>
          </a:ln>
        </p:spPr>
      </p:pic>
      <p:sp>
        <p:nvSpPr>
          <p:cNvPr id="5" name="文本框 4"/>
          <p:cNvSpPr txBox="1"/>
          <p:nvPr/>
        </p:nvSpPr>
        <p:spPr>
          <a:xfrm>
            <a:off x="4178618" y="2581910"/>
            <a:ext cx="5080000" cy="460375"/>
          </a:xfrm>
          <a:prstGeom prst="rect">
            <a:avLst/>
          </a:prstGeom>
          <a:noFill/>
          <a:ln w="9525">
            <a:noFill/>
          </a:ln>
        </p:spPr>
        <p:txBody>
          <a:bodyPr>
            <a:spAutoFit/>
          </a:bodyPr>
          <a:p>
            <a:r>
              <a:rPr lang="zh-CN" sz="2400" b="1">
                <a:gradFill>
                  <a:gsLst>
                    <a:gs pos="0">
                      <a:srgbClr val="012D86"/>
                    </a:gs>
                    <a:gs pos="100000">
                      <a:srgbClr val="0E2557"/>
                    </a:gs>
                  </a:gsLst>
                  <a:lin scaled="0"/>
                </a:gradFill>
                <a:ea typeface="宋体" panose="02010600030101010101" pitchFamily="2" charset="-122"/>
              </a:rPr>
              <a:t>为非同步进位输出端，</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6" name="图片 5"/>
          <p:cNvPicPr/>
          <p:nvPr/>
        </p:nvPicPr>
        <p:blipFill>
          <a:blip r:embed="rId3"/>
          <a:stretch>
            <a:fillRect/>
          </a:stretch>
        </p:blipFill>
        <p:spPr>
          <a:xfrm>
            <a:off x="3891280" y="3042285"/>
            <a:ext cx="388620" cy="354965"/>
          </a:xfrm>
          <a:prstGeom prst="rect">
            <a:avLst/>
          </a:prstGeom>
          <a:noFill/>
          <a:ln w="9525">
            <a:noFill/>
          </a:ln>
        </p:spPr>
      </p:pic>
      <p:sp>
        <p:nvSpPr>
          <p:cNvPr id="102" name="文本框 101"/>
          <p:cNvSpPr txBox="1"/>
          <p:nvPr/>
        </p:nvSpPr>
        <p:spPr>
          <a:xfrm>
            <a:off x="4154805" y="2989580"/>
            <a:ext cx="3688080"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为非同步借位输出端</a:t>
            </a:r>
            <a:endParaRPr lang="zh-CN" sz="2400" b="1">
              <a:gradFill>
                <a:gsLst>
                  <a:gs pos="0">
                    <a:srgbClr val="012D86"/>
                  </a:gs>
                  <a:gs pos="100000">
                    <a:srgbClr val="0E2557"/>
                  </a:gs>
                </a:gsLst>
                <a:lin scaled="0"/>
              </a:gradFill>
            </a:endParaRPr>
          </a:p>
        </p:txBody>
      </p:sp>
      <p:pic>
        <p:nvPicPr>
          <p:cNvPr id="7" name="图片 6"/>
          <p:cNvPicPr>
            <a:picLocks noChangeAspect="1"/>
          </p:cNvPicPr>
          <p:nvPr/>
        </p:nvPicPr>
        <p:blipFill>
          <a:blip r:embed="rId4"/>
          <a:srcRect t="1772"/>
          <a:stretch>
            <a:fillRect/>
          </a:stretch>
        </p:blipFill>
        <p:spPr>
          <a:xfrm>
            <a:off x="656590" y="3890645"/>
            <a:ext cx="7675245" cy="2428240"/>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2" name="文本框 101"/>
          <p:cNvSpPr txBox="1"/>
          <p:nvPr/>
        </p:nvSpPr>
        <p:spPr>
          <a:xfrm>
            <a:off x="1026795" y="1239520"/>
            <a:ext cx="5080000" cy="460375"/>
          </a:xfrm>
          <a:prstGeom prst="rect">
            <a:avLst/>
          </a:prstGeom>
          <a:noFill/>
          <a:ln w="9525">
            <a:noFill/>
          </a:ln>
        </p:spPr>
        <p:txBody>
          <a:bodyPr>
            <a:spAutoFit/>
          </a:bodyPr>
          <a:p>
            <a:r>
              <a:rPr lang="en-US" sz="2400" b="1">
                <a:latin typeface="Times New Roman" panose="02020603050405020304" charset="0"/>
              </a:rPr>
              <a:t>74LS192</a:t>
            </a:r>
            <a:r>
              <a:rPr lang="zh-CN" sz="2400" b="1">
                <a:ea typeface="宋体" panose="02010600030101010101" pitchFamily="2" charset="-122"/>
              </a:rPr>
              <a:t>逻辑功能</a:t>
            </a:r>
            <a:endParaRPr lang="zh-CN" altLang="en-US" sz="2400" b="1">
              <a:ea typeface="宋体" panose="02010600030101010101" pitchFamily="2" charset="-122"/>
            </a:endParaRPr>
          </a:p>
        </p:txBody>
      </p:sp>
      <p:sp>
        <p:nvSpPr>
          <p:cNvPr id="2" name="文本框 1"/>
          <p:cNvSpPr txBox="1"/>
          <p:nvPr/>
        </p:nvSpPr>
        <p:spPr>
          <a:xfrm>
            <a:off x="353060" y="1842770"/>
            <a:ext cx="8697595" cy="829945"/>
          </a:xfrm>
          <a:prstGeom prst="rect">
            <a:avLst/>
          </a:prstGeom>
          <a:noFill/>
          <a:ln w="9525">
            <a:noFill/>
          </a:ln>
        </p:spPr>
        <p:txBody>
          <a:bodyPr wrap="square">
            <a:spAutoFit/>
          </a:bodyPr>
          <a:p>
            <a:pPr indent="266700"/>
            <a:r>
              <a:rPr lang="en-US" sz="2400" b="1">
                <a:gradFill>
                  <a:gsLst>
                    <a:gs pos="0">
                      <a:srgbClr val="012D86"/>
                    </a:gs>
                    <a:gs pos="100000">
                      <a:srgbClr val="0E2557"/>
                    </a:gs>
                  </a:gsLst>
                  <a:lin scaled="0"/>
                </a:gradFill>
                <a:latin typeface="Times New Roman" panose="02020603050405020304" charset="0"/>
              </a:rPr>
              <a:t>① </a:t>
            </a:r>
            <a:r>
              <a:rPr lang="zh-CN" sz="2400" b="1">
                <a:gradFill>
                  <a:gsLst>
                    <a:gs pos="0">
                      <a:srgbClr val="012D86"/>
                    </a:gs>
                    <a:gs pos="100000">
                      <a:srgbClr val="0E2557"/>
                    </a:gs>
                  </a:gsLst>
                  <a:lin scaled="0"/>
                </a:gradFill>
                <a:ea typeface="宋体" panose="02010600030101010101" pitchFamily="2" charset="-122"/>
              </a:rPr>
              <a:t>异步清</a:t>
            </a:r>
            <a:r>
              <a:rPr lang="en-US" sz="2400" b="1">
                <a:gradFill>
                  <a:gsLst>
                    <a:gs pos="0">
                      <a:srgbClr val="012D86"/>
                    </a:gs>
                    <a:gs pos="100000">
                      <a:srgbClr val="0E2557"/>
                    </a:gs>
                  </a:gsLst>
                  <a:lin scaled="0"/>
                </a:gradFill>
                <a:latin typeface="Times New Roman" panose="02020603050405020304" charset="0"/>
              </a:rPr>
              <a:t>0</a:t>
            </a:r>
            <a:r>
              <a:rPr lang="zh-CN" sz="2400" b="1">
                <a:gradFill>
                  <a:gsLst>
                    <a:gs pos="0">
                      <a:srgbClr val="012D86"/>
                    </a:gs>
                    <a:gs pos="100000">
                      <a:srgbClr val="0E2557"/>
                    </a:gs>
                  </a:gsLst>
                  <a:lin scaled="0"/>
                </a:gradFill>
                <a:ea typeface="宋体" panose="02010600030101010101" pitchFamily="2" charset="-122"/>
              </a:rPr>
              <a:t>。当</a:t>
            </a:r>
            <a:r>
              <a:rPr lang="en-US" sz="2400" b="1">
                <a:gradFill>
                  <a:gsLst>
                    <a:gs pos="0">
                      <a:srgbClr val="012D86"/>
                    </a:gs>
                    <a:gs pos="100000">
                      <a:srgbClr val="0E2557"/>
                    </a:gs>
                  </a:gsLst>
                  <a:lin scaled="0"/>
                </a:gradFill>
                <a:latin typeface="Times New Roman" panose="02020603050405020304" charset="0"/>
              </a:rPr>
              <a:t>C</a:t>
            </a:r>
            <a:r>
              <a:rPr lang="en-US" sz="2400" b="1" i="1">
                <a:gradFill>
                  <a:gsLst>
                    <a:gs pos="0">
                      <a:srgbClr val="012D86"/>
                    </a:gs>
                    <a:gs pos="100000">
                      <a:srgbClr val="0E2557"/>
                    </a:gs>
                  </a:gsLst>
                  <a:lin scaled="0"/>
                </a:gradFill>
                <a:latin typeface="Times New Roman" panose="02020603050405020304" charset="0"/>
              </a:rPr>
              <a:t>R</a:t>
            </a:r>
            <a:r>
              <a:rPr lang="en-US" sz="2400" b="1">
                <a:gradFill>
                  <a:gsLst>
                    <a:gs pos="0">
                      <a:srgbClr val="012D86"/>
                    </a:gs>
                    <a:gs pos="100000">
                      <a:srgbClr val="0E2557"/>
                    </a:gs>
                  </a:gsLst>
                  <a:lin scaled="0"/>
                </a:gradFill>
                <a:latin typeface="Times New Roman" panose="02020603050405020304" charset="0"/>
              </a:rPr>
              <a:t> = 1</a:t>
            </a:r>
            <a:r>
              <a:rPr lang="zh-CN" sz="2400" b="1">
                <a:gradFill>
                  <a:gsLst>
                    <a:gs pos="0">
                      <a:srgbClr val="012D86"/>
                    </a:gs>
                    <a:gs pos="100000">
                      <a:srgbClr val="0E2557"/>
                    </a:gs>
                  </a:gsLst>
                  <a:lin scaled="0"/>
                </a:gradFill>
                <a:ea typeface="宋体" panose="02010600030101010101" pitchFamily="2" charset="-122"/>
              </a:rPr>
              <a:t>时，计数器的输出清</a:t>
            </a:r>
            <a:r>
              <a:rPr lang="en-US" sz="2400" b="1">
                <a:gradFill>
                  <a:gsLst>
                    <a:gs pos="0">
                      <a:srgbClr val="012D86"/>
                    </a:gs>
                    <a:gs pos="100000">
                      <a:srgbClr val="0E2557"/>
                    </a:gs>
                  </a:gsLst>
                  <a:lin scaled="0"/>
                </a:gradFill>
                <a:latin typeface="Times New Roman" panose="02020603050405020304" charset="0"/>
              </a:rPr>
              <a:t>0</a:t>
            </a:r>
            <a:r>
              <a:rPr lang="zh-CN" sz="2400" b="1">
                <a:gradFill>
                  <a:gsLst>
                    <a:gs pos="0">
                      <a:srgbClr val="012D86"/>
                    </a:gs>
                    <a:gs pos="100000">
                      <a:srgbClr val="0E2557"/>
                    </a:gs>
                  </a:gsLst>
                  <a:lin scaled="0"/>
                </a:gradFill>
                <a:ea typeface="宋体" panose="02010600030101010101" pitchFamily="2" charset="-122"/>
              </a:rPr>
              <a:t>，与其它输入信</a:t>
            </a:r>
            <a:endParaRPr lang="zh-CN" sz="2400" b="1">
              <a:gradFill>
                <a:gsLst>
                  <a:gs pos="0">
                    <a:srgbClr val="012D86"/>
                  </a:gs>
                  <a:gs pos="100000">
                    <a:srgbClr val="0E2557"/>
                  </a:gs>
                </a:gsLst>
                <a:lin scaled="0"/>
              </a:gradFill>
              <a:ea typeface="宋体" panose="02010600030101010101" pitchFamily="2" charset="-122"/>
            </a:endParaRPr>
          </a:p>
          <a:p>
            <a:pPr indent="266700"/>
            <a:r>
              <a:rPr lang="zh-CN" sz="2400" b="1">
                <a:gradFill>
                  <a:gsLst>
                    <a:gs pos="0">
                      <a:srgbClr val="012D86"/>
                    </a:gs>
                    <a:gs pos="100000">
                      <a:srgbClr val="0E2557"/>
                    </a:gs>
                  </a:gsLst>
                  <a:lin scaled="0"/>
                </a:gradFill>
                <a:ea typeface="宋体" panose="02010600030101010101" pitchFamily="2" charset="-122"/>
              </a:rPr>
              <a:t>    号无关。</a:t>
            </a:r>
            <a:endParaRPr lang="zh-CN" altLang="en-US" sz="2400" b="1">
              <a:gradFill>
                <a:gsLst>
                  <a:gs pos="0">
                    <a:srgbClr val="012D86"/>
                  </a:gs>
                  <a:gs pos="100000">
                    <a:srgbClr val="0E2557"/>
                  </a:gs>
                </a:gsLst>
                <a:lin scaled="0"/>
              </a:gradFill>
              <a:ea typeface="宋体" panose="02010600030101010101" pitchFamily="2" charset="-122"/>
            </a:endParaRPr>
          </a:p>
        </p:txBody>
      </p:sp>
      <p:grpSp>
        <p:nvGrpSpPr>
          <p:cNvPr id="6" name="组合 5"/>
          <p:cNvGrpSpPr/>
          <p:nvPr/>
        </p:nvGrpSpPr>
        <p:grpSpPr>
          <a:xfrm>
            <a:off x="665480" y="2760345"/>
            <a:ext cx="8216900" cy="1000125"/>
            <a:chOff x="1048" y="4190"/>
            <a:chExt cx="12940" cy="1575"/>
          </a:xfrm>
        </p:grpSpPr>
        <p:sp>
          <p:nvSpPr>
            <p:cNvPr id="3" name="文本框 2"/>
            <p:cNvSpPr txBox="1"/>
            <p:nvPr/>
          </p:nvSpPr>
          <p:spPr>
            <a:xfrm>
              <a:off x="1048" y="4204"/>
              <a:ext cx="12940" cy="1561"/>
            </a:xfrm>
            <a:prstGeom prst="rect">
              <a:avLst/>
            </a:prstGeom>
            <a:noFill/>
            <a:ln w="9525">
              <a:noFill/>
            </a:ln>
          </p:spPr>
          <p:txBody>
            <a:bodyPr wrap="square">
              <a:spAutoFit/>
            </a:bodyPr>
            <a:p>
              <a:r>
                <a:rPr lang="en-US" sz="2400" b="1">
                  <a:gradFill>
                    <a:gsLst>
                      <a:gs pos="0">
                        <a:srgbClr val="012D86"/>
                      </a:gs>
                      <a:gs pos="100000">
                        <a:srgbClr val="0E2557"/>
                      </a:gs>
                    </a:gsLst>
                    <a:lin scaled="0"/>
                  </a:gradFill>
                  <a:latin typeface="Times New Roman" panose="02020603050405020304" charset="0"/>
                </a:rPr>
                <a:t>② </a:t>
              </a:r>
              <a:r>
                <a:rPr lang="zh-CN" sz="2400" b="1">
                  <a:gradFill>
                    <a:gsLst>
                      <a:gs pos="0">
                        <a:srgbClr val="012D86"/>
                      </a:gs>
                      <a:gs pos="100000">
                        <a:srgbClr val="0E2557"/>
                      </a:gs>
                    </a:gsLst>
                    <a:lin scaled="0"/>
                  </a:gradFill>
                  <a:ea typeface="宋体" panose="02010600030101010101" pitchFamily="2" charset="-122"/>
                </a:rPr>
                <a:t>异步预置数。当</a:t>
              </a:r>
              <a:r>
                <a:rPr lang="en-US" sz="2400" b="1" i="1">
                  <a:gradFill>
                    <a:gsLst>
                      <a:gs pos="0">
                        <a:srgbClr val="012D86"/>
                      </a:gs>
                      <a:gs pos="100000">
                        <a:srgbClr val="0E2557"/>
                      </a:gs>
                    </a:gsLst>
                    <a:lin scaled="0"/>
                  </a:gradFill>
                  <a:latin typeface="Times New Roman" panose="02020603050405020304" charset="0"/>
                </a:rPr>
                <a:t>CR</a:t>
              </a:r>
              <a:r>
                <a:rPr lang="en-US" sz="2400" b="1">
                  <a:gradFill>
                    <a:gsLst>
                      <a:gs pos="0">
                        <a:srgbClr val="012D86"/>
                      </a:gs>
                      <a:gs pos="100000">
                        <a:srgbClr val="0E2557"/>
                      </a:gs>
                    </a:gsLst>
                    <a:lin scaled="0"/>
                  </a:gradFill>
                  <a:latin typeface="Times New Roman" panose="02020603050405020304" charset="0"/>
                </a:rPr>
                <a:t>= 0</a:t>
              </a:r>
              <a:r>
                <a:rPr lang="zh-CN" sz="2400" b="1">
                  <a:gradFill>
                    <a:gsLst>
                      <a:gs pos="0">
                        <a:srgbClr val="012D86"/>
                      </a:gs>
                      <a:gs pos="100000">
                        <a:srgbClr val="0E2557"/>
                      </a:gs>
                    </a:gsLst>
                    <a:lin scaled="0"/>
                  </a:gradFill>
                  <a:ea typeface="宋体" panose="02010600030101010101" pitchFamily="2" charset="-122"/>
                </a:rPr>
                <a:t>，   </a:t>
              </a:r>
              <a:r>
                <a:rPr lang="en-US" sz="2400" b="1">
                  <a:gradFill>
                    <a:gsLst>
                      <a:gs pos="0">
                        <a:srgbClr val="012D86"/>
                      </a:gs>
                      <a:gs pos="100000">
                        <a:srgbClr val="0E2557"/>
                      </a:gs>
                    </a:gsLst>
                    <a:lin scaled="0"/>
                  </a:gradFill>
                  <a:latin typeface="Times New Roman" panose="02020603050405020304" charset="0"/>
                  <a:sym typeface="+mn-ea"/>
                </a:rPr>
                <a:t>= 0</a:t>
              </a:r>
              <a:r>
                <a:rPr lang="zh-CN" sz="2400" b="1">
                  <a:gradFill>
                    <a:gsLst>
                      <a:gs pos="0">
                        <a:srgbClr val="012D86"/>
                      </a:gs>
                      <a:gs pos="100000">
                        <a:srgbClr val="0E2557"/>
                      </a:gs>
                    </a:gsLst>
                    <a:lin scaled="0"/>
                  </a:gradFill>
                  <a:sym typeface="+mn-ea"/>
                </a:rPr>
                <a:t>时，计数器被置数，即输出</a:t>
              </a:r>
              <a:endParaRPr lang="zh-CN" sz="2400" b="1">
                <a:gradFill>
                  <a:gsLst>
                    <a:gs pos="0">
                      <a:srgbClr val="012D86"/>
                    </a:gs>
                    <a:gs pos="100000">
                      <a:srgbClr val="0E2557"/>
                    </a:gs>
                  </a:gsLst>
                  <a:lin scaled="0"/>
                </a:gradFill>
                <a:sym typeface="+mn-ea"/>
              </a:endParaRPr>
            </a:p>
            <a:p>
              <a:r>
                <a:rPr lang="zh-CN" sz="2400" b="1">
                  <a:gradFill>
                    <a:gsLst>
                      <a:gs pos="0">
                        <a:srgbClr val="012D86"/>
                      </a:gs>
                      <a:gs pos="100000">
                        <a:srgbClr val="0E2557"/>
                      </a:gs>
                    </a:gsLst>
                    <a:lin scaled="0"/>
                  </a:gradFill>
                  <a:sym typeface="+mn-ea"/>
                </a:rPr>
                <a:t>    为</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3</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2</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1</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0</a:t>
              </a:r>
              <a:r>
                <a:rPr lang="en-US" sz="2400" b="1">
                  <a:gradFill>
                    <a:gsLst>
                      <a:gs pos="0">
                        <a:srgbClr val="012D86"/>
                      </a:gs>
                      <a:gs pos="100000">
                        <a:srgbClr val="0E2557"/>
                      </a:gs>
                    </a:gsLst>
                    <a:lin scaled="0"/>
                  </a:gradFill>
                  <a:latin typeface="Times New Roman" panose="02020603050405020304" charset="0"/>
                  <a:sym typeface="+mn-ea"/>
                </a:rPr>
                <a:t>=</a:t>
              </a:r>
              <a:r>
                <a:rPr lang="en-US" sz="2400" b="1" i="1">
                  <a:gradFill>
                    <a:gsLst>
                      <a:gs pos="0">
                        <a:srgbClr val="012D86"/>
                      </a:gs>
                      <a:gs pos="100000">
                        <a:srgbClr val="0E2557"/>
                      </a:gs>
                    </a:gsLst>
                    <a:lin scaled="0"/>
                  </a:gradFill>
                  <a:latin typeface="Times New Roman" panose="02020603050405020304" charset="0"/>
                  <a:sym typeface="+mn-ea"/>
                </a:rPr>
                <a:t>D</a:t>
              </a:r>
              <a:r>
                <a:rPr lang="en-US" sz="2400" b="1" baseline="-25000">
                  <a:gradFill>
                    <a:gsLst>
                      <a:gs pos="0">
                        <a:srgbClr val="012D86"/>
                      </a:gs>
                      <a:gs pos="100000">
                        <a:srgbClr val="0E2557"/>
                      </a:gs>
                    </a:gsLst>
                    <a:lin scaled="0"/>
                  </a:gradFill>
                  <a:latin typeface="Times New Roman" panose="02020603050405020304" charset="0"/>
                  <a:sym typeface="+mn-ea"/>
                </a:rPr>
                <a:t>3</a:t>
              </a:r>
              <a:r>
                <a:rPr lang="en-US" sz="2400" b="1" i="1">
                  <a:gradFill>
                    <a:gsLst>
                      <a:gs pos="0">
                        <a:srgbClr val="012D86"/>
                      </a:gs>
                      <a:gs pos="100000">
                        <a:srgbClr val="0E2557"/>
                      </a:gs>
                    </a:gsLst>
                    <a:lin scaled="0"/>
                  </a:gradFill>
                  <a:latin typeface="Times New Roman" panose="02020603050405020304" charset="0"/>
                  <a:sym typeface="+mn-ea"/>
                </a:rPr>
                <a:t>D</a:t>
              </a:r>
              <a:r>
                <a:rPr lang="en-US" sz="2400" b="1" baseline="-25000">
                  <a:gradFill>
                    <a:gsLst>
                      <a:gs pos="0">
                        <a:srgbClr val="012D86"/>
                      </a:gs>
                      <a:gs pos="100000">
                        <a:srgbClr val="0E2557"/>
                      </a:gs>
                    </a:gsLst>
                    <a:lin scaled="0"/>
                  </a:gradFill>
                  <a:latin typeface="Times New Roman" panose="02020603050405020304" charset="0"/>
                  <a:sym typeface="+mn-ea"/>
                </a:rPr>
                <a:t>2</a:t>
              </a:r>
              <a:r>
                <a:rPr lang="en-US" sz="2400" b="1" i="1">
                  <a:gradFill>
                    <a:gsLst>
                      <a:gs pos="0">
                        <a:srgbClr val="012D86"/>
                      </a:gs>
                      <a:gs pos="100000">
                        <a:srgbClr val="0E2557"/>
                      </a:gs>
                    </a:gsLst>
                    <a:lin scaled="0"/>
                  </a:gradFill>
                  <a:latin typeface="Times New Roman" panose="02020603050405020304" charset="0"/>
                  <a:sym typeface="+mn-ea"/>
                </a:rPr>
                <a:t>D</a:t>
              </a:r>
              <a:r>
                <a:rPr lang="en-US" sz="2400" b="1" baseline="-25000">
                  <a:gradFill>
                    <a:gsLst>
                      <a:gs pos="0">
                        <a:srgbClr val="012D86"/>
                      </a:gs>
                      <a:gs pos="100000">
                        <a:srgbClr val="0E2557"/>
                      </a:gs>
                    </a:gsLst>
                    <a:lin scaled="0"/>
                  </a:gradFill>
                  <a:latin typeface="Times New Roman" panose="02020603050405020304" charset="0"/>
                  <a:sym typeface="+mn-ea"/>
                </a:rPr>
                <a:t>1</a:t>
              </a:r>
              <a:r>
                <a:rPr lang="en-US" sz="2400" b="1" i="1">
                  <a:gradFill>
                    <a:gsLst>
                      <a:gs pos="0">
                        <a:srgbClr val="012D86"/>
                      </a:gs>
                      <a:gs pos="100000">
                        <a:srgbClr val="0E2557"/>
                      </a:gs>
                    </a:gsLst>
                    <a:lin scaled="0"/>
                  </a:gradFill>
                  <a:latin typeface="Times New Roman" panose="02020603050405020304" charset="0"/>
                  <a:sym typeface="+mn-ea"/>
                </a:rPr>
                <a:t>D</a:t>
              </a:r>
              <a:r>
                <a:rPr lang="en-US" sz="2400" b="1" baseline="-25000">
                  <a:gradFill>
                    <a:gsLst>
                      <a:gs pos="0">
                        <a:srgbClr val="012D86"/>
                      </a:gs>
                      <a:gs pos="100000">
                        <a:srgbClr val="0E2557"/>
                      </a:gs>
                    </a:gsLst>
                    <a:lin scaled="0"/>
                  </a:gradFill>
                  <a:latin typeface="Times New Roman" panose="02020603050405020304" charset="0"/>
                  <a:sym typeface="+mn-ea"/>
                </a:rPr>
                <a:t>0</a:t>
              </a:r>
              <a:r>
                <a:rPr lang="zh-CN" sz="2400" b="1">
                  <a:gradFill>
                    <a:gsLst>
                      <a:gs pos="0">
                        <a:srgbClr val="012D86"/>
                      </a:gs>
                      <a:gs pos="100000">
                        <a:srgbClr val="0E2557"/>
                      </a:gs>
                    </a:gsLst>
                    <a:lin scaled="0"/>
                  </a:gradFill>
                  <a:sym typeface="+mn-ea"/>
                </a:rPr>
                <a:t>。</a:t>
              </a:r>
              <a:endParaRPr lang="zh-CN" altLang="en-US" sz="1050"/>
            </a:p>
            <a:p>
              <a:endParaRPr lang="zh-CN" altLang="en-US" sz="1050"/>
            </a:p>
          </p:txBody>
        </p:sp>
        <p:pic>
          <p:nvPicPr>
            <p:cNvPr id="5" name="图片 4"/>
            <p:cNvPicPr/>
            <p:nvPr/>
          </p:nvPicPr>
          <p:blipFill>
            <a:blip r:embed="rId1"/>
            <a:stretch>
              <a:fillRect/>
            </a:stretch>
          </p:blipFill>
          <p:spPr>
            <a:xfrm>
              <a:off x="6570" y="4190"/>
              <a:ext cx="764" cy="634"/>
            </a:xfrm>
            <a:prstGeom prst="rect">
              <a:avLst/>
            </a:prstGeom>
            <a:noFill/>
            <a:ln w="9525">
              <a:noFill/>
            </a:ln>
          </p:spPr>
        </p:pic>
      </p:grpSp>
      <p:grpSp>
        <p:nvGrpSpPr>
          <p:cNvPr id="9" name="组合 8"/>
          <p:cNvGrpSpPr/>
          <p:nvPr/>
        </p:nvGrpSpPr>
        <p:grpSpPr>
          <a:xfrm>
            <a:off x="424815" y="3705860"/>
            <a:ext cx="8625205" cy="829945"/>
            <a:chOff x="669" y="5476"/>
            <a:chExt cx="13583" cy="1307"/>
          </a:xfrm>
        </p:grpSpPr>
        <p:sp>
          <p:nvSpPr>
            <p:cNvPr id="7" name="文本框 6"/>
            <p:cNvSpPr txBox="1"/>
            <p:nvPr/>
          </p:nvSpPr>
          <p:spPr>
            <a:xfrm>
              <a:off x="669" y="5476"/>
              <a:ext cx="13583" cy="1307"/>
            </a:xfrm>
            <a:prstGeom prst="rect">
              <a:avLst/>
            </a:prstGeom>
            <a:noFill/>
            <a:ln w="9525">
              <a:noFill/>
            </a:ln>
          </p:spPr>
          <p:txBody>
            <a:bodyPr wrap="square">
              <a:spAutoFit/>
            </a:bodyPr>
            <a:p>
              <a:pPr indent="266700"/>
              <a:r>
                <a:rPr lang="en-US" sz="2400" b="1">
                  <a:gradFill>
                    <a:gsLst>
                      <a:gs pos="0">
                        <a:srgbClr val="012D86"/>
                      </a:gs>
                      <a:gs pos="100000">
                        <a:srgbClr val="0E2557"/>
                      </a:gs>
                    </a:gsLst>
                    <a:lin scaled="0"/>
                  </a:gradFill>
                  <a:latin typeface="Times New Roman" panose="02020603050405020304" charset="0"/>
                </a:rPr>
                <a:t>③ </a:t>
              </a:r>
              <a:r>
                <a:rPr lang="zh-CN" sz="2400" b="1">
                  <a:gradFill>
                    <a:gsLst>
                      <a:gs pos="0">
                        <a:srgbClr val="012D86"/>
                      </a:gs>
                      <a:gs pos="100000">
                        <a:srgbClr val="0E2557"/>
                      </a:gs>
                    </a:gsLst>
                    <a:lin scaled="0"/>
                  </a:gradFill>
                  <a:ea typeface="宋体" panose="02010600030101010101" pitchFamily="2" charset="-122"/>
                </a:rPr>
                <a:t>加法计数。在</a:t>
              </a:r>
              <a:r>
                <a:rPr lang="en-US" sz="2400" b="1">
                  <a:gradFill>
                    <a:gsLst>
                      <a:gs pos="0">
                        <a:srgbClr val="012D86"/>
                      </a:gs>
                      <a:gs pos="100000">
                        <a:srgbClr val="0E2557"/>
                      </a:gs>
                    </a:gsLst>
                    <a:lin scaled="0"/>
                  </a:gradFill>
                  <a:latin typeface="Times New Roman" panose="02020603050405020304" charset="0"/>
                </a:rPr>
                <a:t>C</a:t>
              </a:r>
              <a:r>
                <a:rPr lang="en-US" sz="2400" b="1" i="1">
                  <a:gradFill>
                    <a:gsLst>
                      <a:gs pos="0">
                        <a:srgbClr val="012D86"/>
                      </a:gs>
                      <a:gs pos="100000">
                        <a:srgbClr val="0E2557"/>
                      </a:gs>
                    </a:gsLst>
                    <a:lin scaled="0"/>
                  </a:gradFill>
                  <a:latin typeface="Times New Roman" panose="02020603050405020304" charset="0"/>
                </a:rPr>
                <a:t>R</a:t>
              </a:r>
              <a:r>
                <a:rPr lang="en-US" sz="2400" b="1" baseline="-25000">
                  <a:gradFill>
                    <a:gsLst>
                      <a:gs pos="0">
                        <a:srgbClr val="012D86"/>
                      </a:gs>
                      <a:gs pos="100000">
                        <a:srgbClr val="0E2557"/>
                      </a:gs>
                    </a:gsLst>
                    <a:lin scaled="0"/>
                  </a:gradFill>
                  <a:latin typeface="Times New Roman" panose="02020603050405020304" charset="0"/>
                </a:rPr>
                <a:t> </a:t>
              </a:r>
              <a:r>
                <a:rPr lang="en-US" sz="2400" b="1">
                  <a:gradFill>
                    <a:gsLst>
                      <a:gs pos="0">
                        <a:srgbClr val="012D86"/>
                      </a:gs>
                      <a:gs pos="100000">
                        <a:srgbClr val="0E2557"/>
                      </a:gs>
                    </a:gsLst>
                    <a:lin scaled="0"/>
                  </a:gradFill>
                  <a:latin typeface="Times New Roman" panose="02020603050405020304" charset="0"/>
                </a:rPr>
                <a:t>= 0</a:t>
              </a:r>
              <a:r>
                <a:rPr lang="zh-CN" sz="2400" b="1">
                  <a:gradFill>
                    <a:gsLst>
                      <a:gs pos="0">
                        <a:srgbClr val="012D86"/>
                      </a:gs>
                      <a:gs pos="100000">
                        <a:srgbClr val="0E2557"/>
                      </a:gs>
                    </a:gsLst>
                    <a:lin scaled="0"/>
                  </a:gradFill>
                  <a:ea typeface="宋体" panose="02010600030101010101" pitchFamily="2" charset="-122"/>
                </a:rPr>
                <a:t>，    </a:t>
              </a:r>
              <a:r>
                <a:rPr lang="en-US" sz="2400" b="1">
                  <a:gradFill>
                    <a:gsLst>
                      <a:gs pos="0">
                        <a:srgbClr val="012D86"/>
                      </a:gs>
                      <a:gs pos="100000">
                        <a:srgbClr val="0E2557"/>
                      </a:gs>
                    </a:gsLst>
                    <a:lin scaled="0"/>
                  </a:gradFill>
                  <a:latin typeface="Times New Roman" panose="02020603050405020304" charset="0"/>
                  <a:sym typeface="+mn-ea"/>
                </a:rPr>
                <a:t>= 1</a:t>
              </a:r>
              <a:r>
                <a:rPr lang="zh-CN" sz="2400" b="1">
                  <a:gradFill>
                    <a:gsLst>
                      <a:gs pos="0">
                        <a:srgbClr val="012D86"/>
                      </a:gs>
                      <a:gs pos="100000">
                        <a:srgbClr val="0E2557"/>
                      </a:gs>
                    </a:gsLst>
                    <a:lin scaled="0"/>
                  </a:gradFill>
                  <a:sym typeface="+mn-ea"/>
                </a:rPr>
                <a:t>时</a:t>
              </a:r>
              <a:r>
                <a:rPr lang="zh-CN" sz="2400" b="1">
                  <a:gradFill>
                    <a:gsLst>
                      <a:gs pos="0">
                        <a:srgbClr val="012D86"/>
                      </a:gs>
                      <a:gs pos="100000">
                        <a:srgbClr val="0E2557"/>
                      </a:gs>
                    </a:gsLst>
                    <a:lin scaled="0"/>
                  </a:gradFill>
                  <a:sym typeface="+mn-ea"/>
                </a:rPr>
                <a:t>，计数脉冲从</a:t>
              </a:r>
              <a:r>
                <a:rPr lang="en-US" sz="2400" b="1" i="1">
                  <a:gradFill>
                    <a:gsLst>
                      <a:gs pos="0">
                        <a:srgbClr val="012D86"/>
                      </a:gs>
                      <a:gs pos="100000">
                        <a:srgbClr val="0E2557"/>
                      </a:gs>
                    </a:gsLst>
                    <a:lin scaled="0"/>
                  </a:gradFill>
                  <a:latin typeface="Times New Roman" panose="02020603050405020304" charset="0"/>
                  <a:sym typeface="+mn-ea"/>
                </a:rPr>
                <a:t>CP</a:t>
              </a:r>
              <a:r>
                <a:rPr lang="en-US" sz="2400" b="1" baseline="-25000">
                  <a:gradFill>
                    <a:gsLst>
                      <a:gs pos="0">
                        <a:srgbClr val="012D86"/>
                      </a:gs>
                      <a:gs pos="100000">
                        <a:srgbClr val="0E2557"/>
                      </a:gs>
                    </a:gsLst>
                    <a:lin scaled="0"/>
                  </a:gradFill>
                  <a:latin typeface="Times New Roman" panose="02020603050405020304" charset="0"/>
                  <a:sym typeface="+mn-ea"/>
                </a:rPr>
                <a:t>U</a:t>
              </a:r>
              <a:r>
                <a:rPr lang="zh-CN" sz="2400" b="1">
                  <a:gradFill>
                    <a:gsLst>
                      <a:gs pos="0">
                        <a:srgbClr val="012D86"/>
                      </a:gs>
                      <a:gs pos="100000">
                        <a:srgbClr val="0E2557"/>
                      </a:gs>
                    </a:gsLst>
                    <a:lin scaled="0"/>
                  </a:gradFill>
                  <a:sym typeface="+mn-ea"/>
                </a:rPr>
                <a:t>输入，且</a:t>
              </a:r>
              <a:endParaRPr lang="zh-CN" sz="2400" b="1">
                <a:gradFill>
                  <a:gsLst>
                    <a:gs pos="0">
                      <a:srgbClr val="012D86"/>
                    </a:gs>
                    <a:gs pos="100000">
                      <a:srgbClr val="0E2557"/>
                    </a:gs>
                  </a:gsLst>
                  <a:lin scaled="0"/>
                </a:gradFill>
                <a:sym typeface="+mn-ea"/>
              </a:endParaRPr>
            </a:p>
            <a:p>
              <a:pPr indent="266700"/>
              <a:r>
                <a:rPr lang="zh-CN" sz="2400" b="1">
                  <a:gradFill>
                    <a:gsLst>
                      <a:gs pos="0">
                        <a:srgbClr val="012D86"/>
                      </a:gs>
                      <a:gs pos="100000">
                        <a:srgbClr val="0E2557"/>
                      </a:gs>
                    </a:gsLst>
                    <a:lin scaled="0"/>
                  </a:gradFill>
                  <a:sym typeface="+mn-ea"/>
                </a:rPr>
                <a:t>    减法计数输入端</a:t>
              </a:r>
              <a:r>
                <a:rPr lang="en-US" sz="2400" b="1" i="1">
                  <a:gradFill>
                    <a:gsLst>
                      <a:gs pos="0">
                        <a:srgbClr val="012D86"/>
                      </a:gs>
                      <a:gs pos="100000">
                        <a:srgbClr val="0E2557"/>
                      </a:gs>
                    </a:gsLst>
                    <a:lin scaled="0"/>
                  </a:gradFill>
                  <a:latin typeface="Times New Roman" panose="02020603050405020304" charset="0"/>
                  <a:sym typeface="+mn-ea"/>
                </a:rPr>
                <a:t>CP</a:t>
              </a:r>
              <a:r>
                <a:rPr lang="en-US" sz="2400" b="1" baseline="-25000">
                  <a:gradFill>
                    <a:gsLst>
                      <a:gs pos="0">
                        <a:srgbClr val="012D86"/>
                      </a:gs>
                      <a:gs pos="100000">
                        <a:srgbClr val="0E2557"/>
                      </a:gs>
                    </a:gsLst>
                    <a:lin scaled="0"/>
                  </a:gradFill>
                  <a:latin typeface="Times New Roman" panose="02020603050405020304" charset="0"/>
                  <a:sym typeface="+mn-ea"/>
                </a:rPr>
                <a:t>D</a:t>
              </a:r>
              <a:r>
                <a:rPr lang="zh-CN" sz="2400" b="1">
                  <a:gradFill>
                    <a:gsLst>
                      <a:gs pos="0">
                        <a:srgbClr val="012D86"/>
                      </a:gs>
                      <a:gs pos="100000">
                        <a:srgbClr val="0E2557"/>
                      </a:gs>
                    </a:gsLst>
                    <a:lin scaled="0"/>
                  </a:gradFill>
                  <a:sym typeface="+mn-ea"/>
                </a:rPr>
                <a:t>为高电平，</a:t>
              </a:r>
              <a:r>
                <a:rPr lang="en-US" sz="2400" b="1">
                  <a:gradFill>
                    <a:gsLst>
                      <a:gs pos="0">
                        <a:srgbClr val="012D86"/>
                      </a:gs>
                      <a:gs pos="100000">
                        <a:srgbClr val="0E2557"/>
                      </a:gs>
                    </a:gsLst>
                    <a:lin scaled="0"/>
                  </a:gradFill>
                  <a:latin typeface="Times New Roman" panose="02020603050405020304" charset="0"/>
                  <a:sym typeface="+mn-ea"/>
                </a:rPr>
                <a:t>74LS192</a:t>
              </a:r>
              <a:r>
                <a:rPr lang="zh-CN" sz="2400" b="1">
                  <a:gradFill>
                    <a:gsLst>
                      <a:gs pos="0">
                        <a:srgbClr val="012D86"/>
                      </a:gs>
                      <a:gs pos="100000">
                        <a:srgbClr val="0E2557"/>
                      </a:gs>
                    </a:gsLst>
                    <a:lin scaled="0"/>
                  </a:gradFill>
                  <a:sym typeface="+mn-ea"/>
                </a:rPr>
                <a:t>进行加法计数。</a:t>
              </a:r>
              <a:endParaRPr lang="zh-CN" altLang="en-US" sz="2400" b="1">
                <a:gradFill>
                  <a:gsLst>
                    <a:gs pos="0">
                      <a:srgbClr val="012D86"/>
                    </a:gs>
                    <a:gs pos="100000">
                      <a:srgbClr val="0E2557"/>
                    </a:gs>
                  </a:gsLst>
                  <a:lin scaled="0"/>
                </a:gradFill>
                <a:sym typeface="+mn-ea"/>
              </a:endParaRPr>
            </a:p>
          </p:txBody>
        </p:sp>
        <p:pic>
          <p:nvPicPr>
            <p:cNvPr id="8" name="图片 7"/>
            <p:cNvPicPr/>
            <p:nvPr/>
          </p:nvPicPr>
          <p:blipFill>
            <a:blip r:embed="rId1"/>
            <a:stretch>
              <a:fillRect/>
            </a:stretch>
          </p:blipFill>
          <p:spPr>
            <a:xfrm>
              <a:off x="6423" y="5476"/>
              <a:ext cx="641" cy="595"/>
            </a:xfrm>
            <a:prstGeom prst="rect">
              <a:avLst/>
            </a:prstGeom>
            <a:noFill/>
            <a:ln w="9525">
              <a:noFill/>
            </a:ln>
          </p:spPr>
        </p:pic>
      </p:grpSp>
      <p:grpSp>
        <p:nvGrpSpPr>
          <p:cNvPr id="12" name="组合 11"/>
          <p:cNvGrpSpPr/>
          <p:nvPr/>
        </p:nvGrpSpPr>
        <p:grpSpPr>
          <a:xfrm>
            <a:off x="726440" y="4587875"/>
            <a:ext cx="8323580" cy="829310"/>
            <a:chOff x="1144" y="6865"/>
            <a:chExt cx="13108" cy="1306"/>
          </a:xfrm>
        </p:grpSpPr>
        <p:sp>
          <p:nvSpPr>
            <p:cNvPr id="10" name="文本框 9"/>
            <p:cNvSpPr txBox="1"/>
            <p:nvPr/>
          </p:nvSpPr>
          <p:spPr>
            <a:xfrm>
              <a:off x="1144" y="6865"/>
              <a:ext cx="13109" cy="1307"/>
            </a:xfrm>
            <a:prstGeom prst="rect">
              <a:avLst/>
            </a:prstGeom>
            <a:noFill/>
            <a:ln w="9525">
              <a:noFill/>
            </a:ln>
          </p:spPr>
          <p:txBody>
            <a:bodyPr wrap="square">
              <a:spAutoFit/>
            </a:bodyPr>
            <a:p>
              <a:r>
                <a:rPr lang="en-US" sz="2400" b="1">
                  <a:gradFill>
                    <a:gsLst>
                      <a:gs pos="0">
                        <a:srgbClr val="012D86"/>
                      </a:gs>
                      <a:gs pos="100000">
                        <a:srgbClr val="0E2557"/>
                      </a:gs>
                    </a:gsLst>
                    <a:lin scaled="0"/>
                  </a:gradFill>
                  <a:latin typeface="Times New Roman" panose="02020603050405020304" charset="0"/>
                </a:rPr>
                <a:t>④ </a:t>
              </a:r>
              <a:r>
                <a:rPr lang="zh-CN" sz="2400" b="1">
                  <a:gradFill>
                    <a:gsLst>
                      <a:gs pos="0">
                        <a:srgbClr val="012D86"/>
                      </a:gs>
                      <a:gs pos="100000">
                        <a:srgbClr val="0E2557"/>
                      </a:gs>
                    </a:gsLst>
                    <a:lin scaled="0"/>
                  </a:gradFill>
                  <a:ea typeface="宋体" panose="02010600030101010101" pitchFamily="2" charset="-122"/>
                </a:rPr>
                <a:t>减法计数。在</a:t>
              </a:r>
              <a:r>
                <a:rPr lang="en-US" sz="2400" b="1">
                  <a:gradFill>
                    <a:gsLst>
                      <a:gs pos="0">
                        <a:srgbClr val="012D86"/>
                      </a:gs>
                      <a:gs pos="100000">
                        <a:srgbClr val="0E2557"/>
                      </a:gs>
                    </a:gsLst>
                    <a:lin scaled="0"/>
                  </a:gradFill>
                  <a:latin typeface="Times New Roman" panose="02020603050405020304" charset="0"/>
                </a:rPr>
                <a:t>C</a:t>
              </a:r>
              <a:r>
                <a:rPr lang="en-US" sz="2400" b="1" i="1">
                  <a:gradFill>
                    <a:gsLst>
                      <a:gs pos="0">
                        <a:srgbClr val="012D86"/>
                      </a:gs>
                      <a:gs pos="100000">
                        <a:srgbClr val="0E2557"/>
                      </a:gs>
                    </a:gsLst>
                    <a:lin scaled="0"/>
                  </a:gradFill>
                  <a:latin typeface="Times New Roman" panose="02020603050405020304" charset="0"/>
                </a:rPr>
                <a:t>R</a:t>
              </a:r>
              <a:r>
                <a:rPr lang="en-US" sz="2400" b="1" baseline="-25000">
                  <a:gradFill>
                    <a:gsLst>
                      <a:gs pos="0">
                        <a:srgbClr val="012D86"/>
                      </a:gs>
                      <a:gs pos="100000">
                        <a:srgbClr val="0E2557"/>
                      </a:gs>
                    </a:gsLst>
                    <a:lin scaled="0"/>
                  </a:gradFill>
                  <a:latin typeface="Times New Roman" panose="02020603050405020304" charset="0"/>
                </a:rPr>
                <a:t> </a:t>
              </a:r>
              <a:r>
                <a:rPr lang="en-US" sz="2400" b="1">
                  <a:gradFill>
                    <a:gsLst>
                      <a:gs pos="0">
                        <a:srgbClr val="012D86"/>
                      </a:gs>
                      <a:gs pos="100000">
                        <a:srgbClr val="0E2557"/>
                      </a:gs>
                    </a:gsLst>
                    <a:lin scaled="0"/>
                  </a:gradFill>
                  <a:latin typeface="Times New Roman" panose="02020603050405020304" charset="0"/>
                </a:rPr>
                <a:t>= 0</a:t>
              </a:r>
              <a:r>
                <a:rPr lang="zh-CN" sz="2400" b="1">
                  <a:gradFill>
                    <a:gsLst>
                      <a:gs pos="0">
                        <a:srgbClr val="012D86"/>
                      </a:gs>
                      <a:gs pos="100000">
                        <a:srgbClr val="0E2557"/>
                      </a:gs>
                    </a:gsLst>
                    <a:lin scaled="0"/>
                  </a:gradFill>
                  <a:ea typeface="宋体" panose="02010600030101010101" pitchFamily="2" charset="-122"/>
                </a:rPr>
                <a:t>，   </a:t>
              </a:r>
              <a:r>
                <a:rPr lang="en-US" sz="2400" b="1">
                  <a:gradFill>
                    <a:gsLst>
                      <a:gs pos="0">
                        <a:srgbClr val="012D86"/>
                      </a:gs>
                      <a:gs pos="100000">
                        <a:srgbClr val="0E2557"/>
                      </a:gs>
                    </a:gsLst>
                    <a:lin scaled="0"/>
                  </a:gradFill>
                  <a:latin typeface="Times New Roman" panose="02020603050405020304" charset="0"/>
                  <a:sym typeface="+mn-ea"/>
                </a:rPr>
                <a:t>= 1</a:t>
              </a:r>
              <a:r>
                <a:rPr lang="zh-CN" sz="2400" b="1">
                  <a:gradFill>
                    <a:gsLst>
                      <a:gs pos="0">
                        <a:srgbClr val="012D86"/>
                      </a:gs>
                      <a:gs pos="100000">
                        <a:srgbClr val="0E2557"/>
                      </a:gs>
                    </a:gsLst>
                    <a:lin scaled="0"/>
                  </a:gradFill>
                  <a:sym typeface="+mn-ea"/>
                </a:rPr>
                <a:t>时</a:t>
              </a:r>
              <a:r>
                <a:rPr lang="zh-CN" sz="2400" b="1">
                  <a:gradFill>
                    <a:gsLst>
                      <a:gs pos="0">
                        <a:srgbClr val="012D86"/>
                      </a:gs>
                      <a:gs pos="100000">
                        <a:srgbClr val="0E2557"/>
                      </a:gs>
                    </a:gsLst>
                    <a:lin scaled="0"/>
                  </a:gradFill>
                  <a:sym typeface="+mn-ea"/>
                </a:rPr>
                <a:t>，计数脉冲从</a:t>
              </a:r>
              <a:r>
                <a:rPr lang="en-US" sz="2400" b="1" i="1">
                  <a:gradFill>
                    <a:gsLst>
                      <a:gs pos="0">
                        <a:srgbClr val="012D86"/>
                      </a:gs>
                      <a:gs pos="100000">
                        <a:srgbClr val="0E2557"/>
                      </a:gs>
                    </a:gsLst>
                    <a:lin scaled="0"/>
                  </a:gradFill>
                  <a:latin typeface="Times New Roman" panose="02020603050405020304" charset="0"/>
                  <a:sym typeface="+mn-ea"/>
                </a:rPr>
                <a:t>CP</a:t>
              </a:r>
              <a:r>
                <a:rPr lang="en-US" sz="2400" b="1" baseline="-25000">
                  <a:gradFill>
                    <a:gsLst>
                      <a:gs pos="0">
                        <a:srgbClr val="012D86"/>
                      </a:gs>
                      <a:gs pos="100000">
                        <a:srgbClr val="0E2557"/>
                      </a:gs>
                    </a:gsLst>
                    <a:lin scaled="0"/>
                  </a:gradFill>
                  <a:latin typeface="Times New Roman" panose="02020603050405020304" charset="0"/>
                  <a:sym typeface="+mn-ea"/>
                </a:rPr>
                <a:t>D</a:t>
              </a:r>
              <a:r>
                <a:rPr lang="zh-CN" sz="2400" b="1">
                  <a:gradFill>
                    <a:gsLst>
                      <a:gs pos="0">
                        <a:srgbClr val="012D86"/>
                      </a:gs>
                      <a:gs pos="100000">
                        <a:srgbClr val="0E2557"/>
                      </a:gs>
                    </a:gsLst>
                    <a:lin scaled="0"/>
                  </a:gradFill>
                  <a:sym typeface="+mn-ea"/>
                </a:rPr>
                <a:t>输入，且</a:t>
              </a:r>
              <a:endParaRPr lang="zh-CN" sz="2400" b="1">
                <a:gradFill>
                  <a:gsLst>
                    <a:gs pos="0">
                      <a:srgbClr val="012D86"/>
                    </a:gs>
                    <a:gs pos="100000">
                      <a:srgbClr val="0E2557"/>
                    </a:gs>
                  </a:gsLst>
                  <a:lin scaled="0"/>
                </a:gradFill>
                <a:sym typeface="+mn-ea"/>
              </a:endParaRPr>
            </a:p>
            <a:p>
              <a:r>
                <a:rPr lang="zh-CN" sz="2400" b="1">
                  <a:gradFill>
                    <a:gsLst>
                      <a:gs pos="0">
                        <a:srgbClr val="012D86"/>
                      </a:gs>
                      <a:gs pos="100000">
                        <a:srgbClr val="0E2557"/>
                      </a:gs>
                    </a:gsLst>
                    <a:lin scaled="0"/>
                  </a:gradFill>
                  <a:sym typeface="+mn-ea"/>
                </a:rPr>
                <a:t>    加法计数输入端</a:t>
              </a:r>
              <a:r>
                <a:rPr lang="en-US" sz="2400" b="1" i="1">
                  <a:gradFill>
                    <a:gsLst>
                      <a:gs pos="0">
                        <a:srgbClr val="012D86"/>
                      </a:gs>
                      <a:gs pos="100000">
                        <a:srgbClr val="0E2557"/>
                      </a:gs>
                    </a:gsLst>
                    <a:lin scaled="0"/>
                  </a:gradFill>
                  <a:latin typeface="Times New Roman" panose="02020603050405020304" charset="0"/>
                  <a:sym typeface="+mn-ea"/>
                </a:rPr>
                <a:t>CP</a:t>
              </a:r>
              <a:r>
                <a:rPr lang="en-US" sz="2400" b="1" baseline="-25000">
                  <a:gradFill>
                    <a:gsLst>
                      <a:gs pos="0">
                        <a:srgbClr val="012D86"/>
                      </a:gs>
                      <a:gs pos="100000">
                        <a:srgbClr val="0E2557"/>
                      </a:gs>
                    </a:gsLst>
                    <a:lin scaled="0"/>
                  </a:gradFill>
                  <a:latin typeface="Times New Roman" panose="02020603050405020304" charset="0"/>
                  <a:sym typeface="+mn-ea"/>
                </a:rPr>
                <a:t>U</a:t>
              </a:r>
              <a:r>
                <a:rPr lang="zh-CN" sz="2400" b="1">
                  <a:gradFill>
                    <a:gsLst>
                      <a:gs pos="0">
                        <a:srgbClr val="012D86"/>
                      </a:gs>
                      <a:gs pos="100000">
                        <a:srgbClr val="0E2557"/>
                      </a:gs>
                    </a:gsLst>
                    <a:lin scaled="0"/>
                  </a:gradFill>
                  <a:sym typeface="+mn-ea"/>
                </a:rPr>
                <a:t>为高电平，</a:t>
              </a:r>
              <a:r>
                <a:rPr lang="en-US" sz="2400" b="1">
                  <a:gradFill>
                    <a:gsLst>
                      <a:gs pos="0">
                        <a:srgbClr val="012D86"/>
                      </a:gs>
                      <a:gs pos="100000">
                        <a:srgbClr val="0E2557"/>
                      </a:gs>
                    </a:gsLst>
                    <a:lin scaled="0"/>
                  </a:gradFill>
                  <a:latin typeface="Times New Roman" panose="02020603050405020304" charset="0"/>
                  <a:sym typeface="+mn-ea"/>
                </a:rPr>
                <a:t>74LS192</a:t>
              </a:r>
              <a:r>
                <a:rPr lang="zh-CN" sz="2400" b="1">
                  <a:gradFill>
                    <a:gsLst>
                      <a:gs pos="0">
                        <a:srgbClr val="012D86"/>
                      </a:gs>
                      <a:gs pos="100000">
                        <a:srgbClr val="0E2557"/>
                      </a:gs>
                    </a:gsLst>
                    <a:lin scaled="0"/>
                  </a:gradFill>
                  <a:sym typeface="+mn-ea"/>
                </a:rPr>
                <a:t>进行减法计数。</a:t>
              </a:r>
              <a:endParaRPr lang="zh-CN" altLang="en-US" sz="2400" b="1">
                <a:gradFill>
                  <a:gsLst>
                    <a:gs pos="0">
                      <a:srgbClr val="012D86"/>
                    </a:gs>
                    <a:gs pos="100000">
                      <a:srgbClr val="0E2557"/>
                    </a:gs>
                  </a:gsLst>
                  <a:lin scaled="0"/>
                </a:gradFill>
                <a:sym typeface="+mn-ea"/>
              </a:endParaRPr>
            </a:p>
          </p:txBody>
        </p:sp>
        <p:pic>
          <p:nvPicPr>
            <p:cNvPr id="11" name="图片 10"/>
            <p:cNvPicPr/>
            <p:nvPr/>
          </p:nvPicPr>
          <p:blipFill>
            <a:blip r:embed="rId1"/>
            <a:stretch>
              <a:fillRect/>
            </a:stretch>
          </p:blipFill>
          <p:spPr>
            <a:xfrm>
              <a:off x="6423" y="6865"/>
              <a:ext cx="641" cy="608"/>
            </a:xfrm>
            <a:prstGeom prst="rect">
              <a:avLst/>
            </a:prstGeom>
            <a:noFill/>
            <a:ln w="9525">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25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par>
                          <p:cTn id="8" fill="hold">
                            <p:stCondLst>
                              <p:cond delay="3000"/>
                            </p:stCondLst>
                            <p:childTnLst>
                              <p:par>
                                <p:cTn id="9" presetID="22" presetClass="entr" presetSubtype="8" fill="hold" grpId="0" nodeType="afterEffect">
                                  <p:stCondLst>
                                    <p:cond delay="250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left)">
                                      <p:cBhvr>
                                        <p:cTn id="11" dur="500"/>
                                        <p:tgtEl>
                                          <p:spTgt spid="2">
                                            <p:txEl>
                                              <p:pRg st="1" end="1"/>
                                            </p:txEl>
                                          </p:spTgt>
                                        </p:tgtEl>
                                      </p:cBhvr>
                                    </p:animEffect>
                                  </p:childTnLst>
                                </p:cTn>
                              </p:par>
                            </p:childTnLst>
                          </p:cTn>
                        </p:par>
                        <p:par>
                          <p:cTn id="12" fill="hold">
                            <p:stCondLst>
                              <p:cond delay="6000"/>
                            </p:stCondLst>
                            <p:childTnLst>
                              <p:par>
                                <p:cTn id="13" presetID="22" presetClass="entr" presetSubtype="8" fill="hold" nodeType="afterEffect">
                                  <p:stCondLst>
                                    <p:cond delay="250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par>
                          <p:cTn id="16" fill="hold">
                            <p:stCondLst>
                              <p:cond delay="9000"/>
                            </p:stCondLst>
                            <p:childTnLst>
                              <p:par>
                                <p:cTn id="17" presetID="22" presetClass="entr" presetSubtype="8" fill="hold" nodeType="afterEffect">
                                  <p:stCondLst>
                                    <p:cond delay="250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12000"/>
                            </p:stCondLst>
                            <p:childTnLst>
                              <p:par>
                                <p:cTn id="21" presetID="22" presetClass="entr" presetSubtype="8" fill="hold" nodeType="afterEffect">
                                  <p:stCondLst>
                                    <p:cond delay="250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1" name="文本框 100"/>
          <p:cNvSpPr txBox="1"/>
          <p:nvPr/>
        </p:nvSpPr>
        <p:spPr>
          <a:xfrm>
            <a:off x="656590" y="1120140"/>
            <a:ext cx="6857365" cy="460375"/>
          </a:xfrm>
          <a:prstGeom prst="rect">
            <a:avLst/>
          </a:prstGeom>
          <a:noFill/>
          <a:ln w="9525">
            <a:noFill/>
          </a:ln>
        </p:spPr>
        <p:txBody>
          <a:bodyPr wrap="square">
            <a:spAutoFit/>
          </a:bodyPr>
          <a:p>
            <a:pPr indent="267970"/>
            <a:r>
              <a:rPr lang="en-US" sz="2400" b="1">
                <a:solidFill>
                  <a:schemeClr val="accent6">
                    <a:lumMod val="60000"/>
                    <a:lumOff val="40000"/>
                  </a:schemeClr>
                </a:solidFill>
                <a:latin typeface="Times New Roman" panose="02020603050405020304" charset="0"/>
              </a:rPr>
              <a:t>3. </a:t>
            </a:r>
            <a:r>
              <a:rPr sz="2400" b="1">
                <a:solidFill>
                  <a:schemeClr val="accent6">
                    <a:lumMod val="60000"/>
                    <a:lumOff val="40000"/>
                  </a:schemeClr>
                </a:solidFill>
              </a:rPr>
              <a:t>二-五-十进制异步加法计数器74LS290</a:t>
            </a:r>
            <a:endParaRPr sz="2400" b="1">
              <a:solidFill>
                <a:schemeClr val="accent6">
                  <a:lumMod val="60000"/>
                  <a:lumOff val="40000"/>
                </a:schemeClr>
              </a:solidFill>
            </a:endParaRPr>
          </a:p>
        </p:txBody>
      </p:sp>
      <p:sp>
        <p:nvSpPr>
          <p:cNvPr id="105" name="文本框 104"/>
          <p:cNvSpPr txBox="1"/>
          <p:nvPr/>
        </p:nvSpPr>
        <p:spPr>
          <a:xfrm>
            <a:off x="331470" y="1580515"/>
            <a:ext cx="5080000" cy="460375"/>
          </a:xfrm>
          <a:prstGeom prst="rect">
            <a:avLst/>
          </a:prstGeom>
          <a:noFill/>
          <a:ln w="9525">
            <a:noFill/>
          </a:ln>
        </p:spPr>
        <p:txBody>
          <a:bodyPr>
            <a:spAutoFit/>
          </a:bodyPr>
          <a:p>
            <a:r>
              <a:rPr lang="en-US" altLang="zh-CN" sz="2400" b="1">
                <a:ea typeface="宋体" panose="02010600030101010101" pitchFamily="2" charset="-122"/>
              </a:rPr>
              <a:t>(1)</a:t>
            </a:r>
            <a:r>
              <a:rPr lang="zh-CN" sz="2400" b="1">
                <a:ea typeface="宋体" panose="02010600030101010101" pitchFamily="2" charset="-122"/>
              </a:rPr>
              <a:t>逻辑电路</a:t>
            </a:r>
            <a:endParaRPr lang="zh-CN" altLang="en-US" sz="2400" b="1">
              <a:ea typeface="宋体" panose="02010600030101010101" pitchFamily="2" charset="-122"/>
            </a:endParaRPr>
          </a:p>
        </p:txBody>
      </p:sp>
      <p:pic>
        <p:nvPicPr>
          <p:cNvPr id="9403" name="图片 2840"/>
          <p:cNvPicPr>
            <a:picLocks noChangeAspect="1"/>
          </p:cNvPicPr>
          <p:nvPr/>
        </p:nvPicPr>
        <p:blipFill>
          <a:blip r:embed="rId1"/>
          <a:srcRect b="50804"/>
          <a:stretch>
            <a:fillRect/>
          </a:stretch>
        </p:blipFill>
        <p:spPr>
          <a:xfrm>
            <a:off x="1253490" y="2040890"/>
            <a:ext cx="6595745" cy="2675890"/>
          </a:xfrm>
          <a:prstGeom prst="rect">
            <a:avLst/>
          </a:prstGeom>
          <a:noFill/>
          <a:ln>
            <a:noFill/>
          </a:ln>
        </p:spPr>
      </p:pic>
      <p:sp>
        <p:nvSpPr>
          <p:cNvPr id="2" name="文本框 1"/>
          <p:cNvSpPr txBox="1"/>
          <p:nvPr/>
        </p:nvSpPr>
        <p:spPr>
          <a:xfrm>
            <a:off x="3013710" y="4627880"/>
            <a:ext cx="4251325" cy="337185"/>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rPr>
              <a:t>6.37  </a:t>
            </a:r>
            <a:r>
              <a:rPr lang="zh-CN" sz="1600">
                <a:ea typeface="宋体" panose="02010600030101010101" pitchFamily="2" charset="-122"/>
              </a:rPr>
              <a:t>二</a:t>
            </a:r>
            <a:r>
              <a:rPr lang="en-US" sz="1600">
                <a:latin typeface="Times New Roman" panose="02020603050405020304" charset="0"/>
              </a:rPr>
              <a:t>-</a:t>
            </a:r>
            <a:r>
              <a:rPr lang="zh-CN" sz="1600">
                <a:ea typeface="宋体" panose="02010600030101010101" pitchFamily="2" charset="-122"/>
              </a:rPr>
              <a:t>五</a:t>
            </a:r>
            <a:r>
              <a:rPr lang="en-US" sz="1600">
                <a:latin typeface="Times New Roman" panose="02020603050405020304" charset="0"/>
              </a:rPr>
              <a:t>-</a:t>
            </a:r>
            <a:r>
              <a:rPr lang="zh-CN" sz="1600">
                <a:ea typeface="宋体" panose="02010600030101010101" pitchFamily="2" charset="-122"/>
              </a:rPr>
              <a:t>十进制异步加法计数器</a:t>
            </a:r>
            <a:r>
              <a:rPr lang="en-US" sz="1600">
                <a:latin typeface="Times New Roman" panose="02020603050405020304" charset="0"/>
              </a:rPr>
              <a:t>74LS290</a:t>
            </a:r>
            <a:endParaRPr lang="zh-CN" altLang="en-US" sz="1600"/>
          </a:p>
        </p:txBody>
      </p:sp>
      <p:sp>
        <p:nvSpPr>
          <p:cNvPr id="48172" name="Rectangle 47"/>
          <p:cNvSpPr/>
          <p:nvPr/>
        </p:nvSpPr>
        <p:spPr>
          <a:xfrm>
            <a:off x="476250" y="4965065"/>
            <a:ext cx="2667000" cy="460375"/>
          </a:xfrm>
          <a:prstGeom prst="rect">
            <a:avLst/>
          </a:prstGeom>
          <a:noFill/>
          <a:ln w="9525">
            <a:noFill/>
          </a:ln>
        </p:spPr>
        <p:txBody>
          <a:bodyPr>
            <a:spAutoFit/>
          </a:bodyPr>
          <a:p>
            <a:pPr eaLnBrk="0" hangingPunct="0"/>
            <a:r>
              <a:rPr lang="en-US" altLang="zh-CN" sz="2400" b="1" dirty="0">
                <a:solidFill>
                  <a:schemeClr val="tx1"/>
                </a:solidFill>
                <a:latin typeface="宋体" panose="02010600030101010101" pitchFamily="2" charset="-122"/>
              </a:rPr>
              <a:t>(2)74290</a:t>
            </a:r>
            <a:r>
              <a:rPr lang="zh-CN" altLang="en-US" sz="2400" b="1" dirty="0">
                <a:solidFill>
                  <a:schemeClr val="tx1"/>
                </a:solidFill>
                <a:latin typeface="宋体" panose="02010600030101010101" pitchFamily="2" charset="-122"/>
              </a:rPr>
              <a:t>的功能</a:t>
            </a:r>
            <a:endParaRPr lang="zh-CN" altLang="en-US" sz="2400" b="1" dirty="0">
              <a:solidFill>
                <a:schemeClr val="tx1"/>
              </a:solidFill>
              <a:latin typeface="宋体" panose="02010600030101010101" pitchFamily="2" charset="-122"/>
            </a:endParaRPr>
          </a:p>
        </p:txBody>
      </p:sp>
      <p:sp>
        <p:nvSpPr>
          <p:cNvPr id="173062" name="Rectangle 6"/>
          <p:cNvSpPr/>
          <p:nvPr/>
        </p:nvSpPr>
        <p:spPr>
          <a:xfrm>
            <a:off x="2692083" y="5044440"/>
            <a:ext cx="2786062" cy="381000"/>
          </a:xfrm>
          <a:prstGeom prst="rect">
            <a:avLst/>
          </a:prstGeom>
          <a:noFill/>
          <a:ln w="9525">
            <a:noFill/>
          </a:ln>
        </p:spPr>
        <p:txBody>
          <a:bodyPr lIns="92075" tIns="46038" rIns="92075" bIns="46038"/>
          <a:p>
            <a:pPr marL="342900" indent="-342900" algn="just">
              <a:spcBef>
                <a:spcPct val="20000"/>
              </a:spcBef>
            </a:pPr>
            <a:r>
              <a:rPr lang="en-US" altLang="zh-CN" sz="2400" b="1" dirty="0">
                <a:gradFill>
                  <a:gsLst>
                    <a:gs pos="0">
                      <a:srgbClr val="012D86"/>
                    </a:gs>
                    <a:gs pos="100000">
                      <a:srgbClr val="0E2557"/>
                    </a:gs>
                  </a:gsLst>
                  <a:lin scaled="0"/>
                </a:gradFill>
                <a:latin typeface="宋体" panose="02010600030101010101" pitchFamily="2" charset="-122"/>
              </a:rPr>
              <a:t>  ① </a:t>
            </a:r>
            <a:r>
              <a:rPr lang="zh-CN" altLang="en-US" sz="2400" b="1" dirty="0">
                <a:gradFill>
                  <a:gsLst>
                    <a:gs pos="0">
                      <a:srgbClr val="012D86"/>
                    </a:gs>
                    <a:gs pos="100000">
                      <a:srgbClr val="0E2557"/>
                    </a:gs>
                  </a:gsLst>
                  <a:lin scaled="0"/>
                </a:gradFill>
                <a:latin typeface="宋体" panose="02010600030101010101" pitchFamily="2" charset="-122"/>
              </a:rPr>
              <a:t>异步清零。</a:t>
            </a:r>
            <a:endParaRPr lang="zh-CN" altLang="en-US" sz="2400" b="1" dirty="0">
              <a:gradFill>
                <a:gsLst>
                  <a:gs pos="0">
                    <a:srgbClr val="012D86"/>
                  </a:gs>
                  <a:gs pos="100000">
                    <a:srgbClr val="0E2557"/>
                  </a:gs>
                </a:gsLst>
                <a:lin scaled="0"/>
              </a:gradFill>
              <a:latin typeface="宋体" panose="02010600030101010101" pitchFamily="2" charset="-122"/>
            </a:endParaRPr>
          </a:p>
        </p:txBody>
      </p:sp>
      <p:sp>
        <p:nvSpPr>
          <p:cNvPr id="173063" name="Rectangle 7"/>
          <p:cNvSpPr/>
          <p:nvPr/>
        </p:nvSpPr>
        <p:spPr>
          <a:xfrm>
            <a:off x="2411413" y="6035040"/>
            <a:ext cx="2057400" cy="304800"/>
          </a:xfrm>
          <a:prstGeom prst="rect">
            <a:avLst/>
          </a:prstGeom>
          <a:noFill/>
          <a:ln w="9525">
            <a:noFill/>
          </a:ln>
        </p:spPr>
        <p:txBody>
          <a:bodyPr lIns="92075" tIns="46038" rIns="92075" bIns="46038"/>
          <a:p>
            <a:pPr marL="342900" indent="-342900" algn="just">
              <a:spcBef>
                <a:spcPct val="20000"/>
              </a:spcBef>
            </a:pPr>
            <a:r>
              <a:rPr lang="en-US" altLang="zh-CN" sz="2400" b="1" dirty="0">
                <a:gradFill>
                  <a:gsLst>
                    <a:gs pos="0">
                      <a:srgbClr val="012D86"/>
                    </a:gs>
                    <a:gs pos="100000">
                      <a:srgbClr val="0E2557"/>
                    </a:gs>
                  </a:gsLst>
                  <a:lin scaled="0"/>
                </a:gradFill>
                <a:latin typeface="宋体" panose="02010600030101010101" pitchFamily="2" charset="-122"/>
              </a:rPr>
              <a:t>    </a:t>
            </a:r>
            <a:r>
              <a:rPr lang="en-US" altLang="zh-CN" sz="2400" b="1" dirty="0">
                <a:gradFill>
                  <a:gsLst>
                    <a:gs pos="0">
                      <a:srgbClr val="012D86"/>
                    </a:gs>
                    <a:gs pos="100000">
                      <a:srgbClr val="0E2557"/>
                    </a:gs>
                  </a:gsLst>
                  <a:lin scaled="0"/>
                </a:gradFill>
                <a:latin typeface="Arial" panose="020B0604020202020204" pitchFamily="34" charset="0"/>
              </a:rPr>
              <a:t>③</a:t>
            </a:r>
            <a:r>
              <a:rPr lang="en-US" altLang="zh-CN" sz="2400" b="1" dirty="0">
                <a:gradFill>
                  <a:gsLst>
                    <a:gs pos="0">
                      <a:srgbClr val="012D86"/>
                    </a:gs>
                    <a:gs pos="100000">
                      <a:srgbClr val="0E2557"/>
                    </a:gs>
                  </a:gsLst>
                  <a:lin scaled="0"/>
                </a:gradFill>
                <a:latin typeface="Times New Roman" panose="02020603050405020304" charset="0"/>
              </a:rPr>
              <a:t> </a:t>
            </a:r>
            <a:r>
              <a:rPr lang="zh-CN" altLang="en-US" sz="2400" b="1" dirty="0">
                <a:gradFill>
                  <a:gsLst>
                    <a:gs pos="0">
                      <a:srgbClr val="012D86"/>
                    </a:gs>
                    <a:gs pos="100000">
                      <a:srgbClr val="0E2557"/>
                    </a:gs>
                  </a:gsLst>
                  <a:lin scaled="0"/>
                </a:gradFill>
                <a:latin typeface="Arial" panose="020B0604020202020204" pitchFamily="34" charset="0"/>
              </a:rPr>
              <a:t>计数。</a:t>
            </a:r>
            <a:endParaRPr lang="zh-CN" altLang="en-US" sz="2400" b="1" dirty="0">
              <a:gradFill>
                <a:gsLst>
                  <a:gs pos="0">
                    <a:srgbClr val="012D86"/>
                  </a:gs>
                  <a:gs pos="100000">
                    <a:srgbClr val="0E2557"/>
                  </a:gs>
                </a:gsLst>
                <a:lin scaled="0"/>
              </a:gradFill>
              <a:latin typeface="Arial" panose="020B0604020202020204" pitchFamily="34" charset="0"/>
            </a:endParaRPr>
          </a:p>
        </p:txBody>
      </p:sp>
      <p:sp>
        <p:nvSpPr>
          <p:cNvPr id="173064" name="Rectangle 8"/>
          <p:cNvSpPr/>
          <p:nvPr/>
        </p:nvSpPr>
        <p:spPr>
          <a:xfrm>
            <a:off x="2539683" y="5501640"/>
            <a:ext cx="3449637" cy="465138"/>
          </a:xfrm>
          <a:prstGeom prst="rect">
            <a:avLst/>
          </a:prstGeom>
          <a:noFill/>
          <a:ln w="9525">
            <a:noFill/>
          </a:ln>
        </p:spPr>
        <p:txBody>
          <a:bodyPr lIns="92075" tIns="46038" rIns="92075" bIns="46038"/>
          <a:p>
            <a:pPr marL="342900" indent="-342900" algn="just">
              <a:spcBef>
                <a:spcPct val="20000"/>
              </a:spcBef>
            </a:pPr>
            <a:r>
              <a:rPr lang="en-US" altLang="zh-CN" sz="2400" b="1" dirty="0">
                <a:gradFill>
                  <a:gsLst>
                    <a:gs pos="0">
                      <a:srgbClr val="012D86"/>
                    </a:gs>
                    <a:gs pos="100000">
                      <a:srgbClr val="0E2557"/>
                    </a:gs>
                  </a:gsLst>
                  <a:lin scaled="0"/>
                </a:gradFill>
                <a:latin typeface="宋体" panose="02010600030101010101" pitchFamily="2" charset="-122"/>
              </a:rPr>
              <a:t>   ② </a:t>
            </a:r>
            <a:r>
              <a:rPr lang="zh-CN" altLang="en-US" sz="2400" b="1" dirty="0">
                <a:gradFill>
                  <a:gsLst>
                    <a:gs pos="0">
                      <a:srgbClr val="012D86"/>
                    </a:gs>
                    <a:gs pos="100000">
                      <a:srgbClr val="0E2557"/>
                    </a:gs>
                  </a:gsLst>
                  <a:lin scaled="0"/>
                </a:gradFill>
                <a:latin typeface="宋体" panose="02010600030101010101" pitchFamily="2" charset="-122"/>
              </a:rPr>
              <a:t>异步置数（置</a:t>
            </a:r>
            <a:r>
              <a:rPr lang="en-US" altLang="zh-CN" sz="2400" b="1" dirty="0">
                <a:gradFill>
                  <a:gsLst>
                    <a:gs pos="0">
                      <a:srgbClr val="012D86"/>
                    </a:gs>
                    <a:gs pos="100000">
                      <a:srgbClr val="0E2557"/>
                    </a:gs>
                  </a:gsLst>
                  <a:lin scaled="0"/>
                </a:gradFill>
                <a:latin typeface="宋体" panose="02010600030101010101" pitchFamily="2" charset="-122"/>
              </a:rPr>
              <a:t>9</a:t>
            </a:r>
            <a:r>
              <a:rPr lang="zh-CN" altLang="en-US" sz="2400" b="1" dirty="0">
                <a:gradFill>
                  <a:gsLst>
                    <a:gs pos="0">
                      <a:srgbClr val="012D86"/>
                    </a:gs>
                    <a:gs pos="100000">
                      <a:srgbClr val="0E2557"/>
                    </a:gs>
                  </a:gsLst>
                  <a:lin scaled="0"/>
                </a:gradFill>
                <a:latin typeface="宋体" panose="02010600030101010101" pitchFamily="2" charset="-122"/>
              </a:rPr>
              <a:t>）。 </a:t>
            </a:r>
            <a:endParaRPr lang="zh-CN" altLang="en-US" sz="2400" b="1" dirty="0">
              <a:gradFill>
                <a:gsLst>
                  <a:gs pos="0">
                    <a:srgbClr val="012D86"/>
                  </a:gs>
                  <a:gs pos="100000">
                    <a:srgbClr val="0E2557"/>
                  </a:gs>
                </a:gsLst>
                <a:lin scaled="0"/>
              </a:gra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172"/>
                                        </p:tgtEl>
                                        <p:attrNameLst>
                                          <p:attrName>style.visibility</p:attrName>
                                        </p:attrNameLst>
                                      </p:cBhvr>
                                      <p:to>
                                        <p:strVal val="visible"/>
                                      </p:to>
                                    </p:set>
                                    <p:animEffect transition="in" filter="wipe(left)">
                                      <p:cBhvr>
                                        <p:cTn id="7" dur="500"/>
                                        <p:tgtEl>
                                          <p:spTgt spid="48172"/>
                                        </p:tgtEl>
                                      </p:cBhvr>
                                    </p:animEffect>
                                  </p:childTnLst>
                                </p:cTn>
                              </p:par>
                            </p:childTnLst>
                          </p:cTn>
                        </p:par>
                        <p:par>
                          <p:cTn id="8" fill="hold">
                            <p:stCondLst>
                              <p:cond delay="500"/>
                            </p:stCondLst>
                            <p:childTnLst>
                              <p:par>
                                <p:cTn id="9" presetID="3" presetClass="entr" presetSubtype="10" fill="hold" grpId="0" nodeType="afterEffect">
                                  <p:stCondLst>
                                    <p:cond delay="1000"/>
                                  </p:stCondLst>
                                  <p:childTnLst>
                                    <p:set>
                                      <p:cBhvr>
                                        <p:cTn id="10" dur="1" fill="hold">
                                          <p:stCondLst>
                                            <p:cond delay="0"/>
                                          </p:stCondLst>
                                        </p:cTn>
                                        <p:tgtEl>
                                          <p:spTgt spid="173062"/>
                                        </p:tgtEl>
                                        <p:attrNameLst>
                                          <p:attrName>style.visibility</p:attrName>
                                        </p:attrNameLst>
                                      </p:cBhvr>
                                      <p:to>
                                        <p:strVal val="visible"/>
                                      </p:to>
                                    </p:set>
                                    <p:animEffect transition="in" filter="blinds(horizontal)">
                                      <p:cBhvr>
                                        <p:cTn id="11" dur="500"/>
                                        <p:tgtEl>
                                          <p:spTgt spid="173062"/>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73064"/>
                                        </p:tgtEl>
                                        <p:attrNameLst>
                                          <p:attrName>style.visibility</p:attrName>
                                        </p:attrNameLst>
                                      </p:cBhvr>
                                      <p:to>
                                        <p:strVal val="visible"/>
                                      </p:to>
                                    </p:set>
                                    <p:animEffect transition="in" filter="blinds(horizontal)">
                                      <p:cBhvr>
                                        <p:cTn id="16" dur="500"/>
                                        <p:tgtEl>
                                          <p:spTgt spid="173064"/>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73063"/>
                                        </p:tgtEl>
                                        <p:attrNameLst>
                                          <p:attrName>style.visibility</p:attrName>
                                        </p:attrNameLst>
                                      </p:cBhvr>
                                      <p:to>
                                        <p:strVal val="visible"/>
                                      </p:to>
                                    </p:set>
                                    <p:animEffect transition="in" filter="blinds(horizontal)">
                                      <p:cBhvr>
                                        <p:cTn id="21" dur="500"/>
                                        <p:tgtEl>
                                          <p:spTgt spid="1730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2" grpId="0"/>
      <p:bldP spid="173063" grpId="0"/>
      <p:bldP spid="173064" grpId="0"/>
      <p:bldP spid="4817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643890" y="1174115"/>
            <a:ext cx="8098155" cy="3425825"/>
          </a:xfrm>
          <a:prstGeom prst="rect">
            <a:avLst/>
          </a:prstGeom>
        </p:spPr>
      </p:pic>
      <p:sp>
        <p:nvSpPr>
          <p:cNvPr id="173105" name="Text Box 49" descr="蓝色面巾纸"/>
          <p:cNvSpPr txBox="1"/>
          <p:nvPr/>
        </p:nvSpPr>
        <p:spPr>
          <a:xfrm>
            <a:off x="612775" y="4654550"/>
            <a:ext cx="8280400" cy="1876425"/>
          </a:xfrm>
          <a:prstGeom prst="rect">
            <a:avLst/>
          </a:prstGeom>
          <a:noFill/>
          <a:ln w="9525">
            <a:noFill/>
          </a:ln>
          <a:extLst>
            <a:ext uri="{909E8E84-426E-40DD-AFC4-6F175D3DCCD1}">
              <a14:hiddenFill xmlns:a14="http://schemas.microsoft.com/office/drawing/2010/main">
                <a:blipFill rotWithShape="1">
                  <a:blip r:embed="rId2"/>
                </a:blipFill>
              </a14:hiddenFill>
            </a:ext>
          </a:extLst>
        </p:spPr>
        <p:txBody>
          <a:bodyPr>
            <a:spAutoFit/>
          </a:bodyPr>
          <a:p>
            <a:pPr>
              <a:lnSpc>
                <a:spcPct val="60000"/>
              </a:lnSpc>
              <a:spcBef>
                <a:spcPct val="50000"/>
              </a:spcBef>
            </a:pPr>
            <a:r>
              <a:rPr lang="en-US" altLang="zh-CN" sz="2000" b="1" dirty="0">
                <a:gradFill>
                  <a:gsLst>
                    <a:gs pos="0">
                      <a:srgbClr val="012D86"/>
                    </a:gs>
                    <a:gs pos="100000">
                      <a:srgbClr val="0E2557"/>
                    </a:gs>
                  </a:gsLst>
                  <a:lin scaled="0"/>
                </a:gradFill>
                <a:latin typeface="Arial" panose="020B0604020202020204" pitchFamily="34" charset="0"/>
              </a:rPr>
              <a:t>① </a:t>
            </a:r>
            <a:r>
              <a:rPr lang="en-US" altLang="zh-CN" sz="2000" b="1" i="1" dirty="0">
                <a:gradFill>
                  <a:gsLst>
                    <a:gs pos="0">
                      <a:srgbClr val="012D86"/>
                    </a:gs>
                    <a:gs pos="100000">
                      <a:srgbClr val="0E2557"/>
                    </a:gs>
                  </a:gsLst>
                  <a:lin scaled="0"/>
                </a:gradFill>
                <a:latin typeface="Arial" panose="020B0604020202020204" pitchFamily="34" charset="0"/>
              </a:rPr>
              <a:t>R</a:t>
            </a:r>
            <a:r>
              <a:rPr lang="en-US" altLang="zh-CN" sz="2000" b="1" dirty="0">
                <a:gradFill>
                  <a:gsLst>
                    <a:gs pos="0">
                      <a:srgbClr val="012D86"/>
                    </a:gs>
                    <a:gs pos="100000">
                      <a:srgbClr val="0E2557"/>
                    </a:gs>
                  </a:gsLst>
                  <a:lin scaled="0"/>
                </a:gradFill>
                <a:latin typeface="Arial" panose="020B0604020202020204" pitchFamily="34" charset="0"/>
              </a:rPr>
              <a:t>0</a:t>
            </a:r>
            <a:r>
              <a:rPr lang="zh-CN" altLang="en-US" sz="2000" b="1" dirty="0">
                <a:gradFill>
                  <a:gsLst>
                    <a:gs pos="0">
                      <a:srgbClr val="012D86"/>
                    </a:gs>
                    <a:gs pos="100000">
                      <a:srgbClr val="0E2557"/>
                    </a:gs>
                  </a:gsLst>
                  <a:lin scaled="0"/>
                </a:gradFill>
                <a:latin typeface="Arial" panose="020B0604020202020204" pitchFamily="34" charset="0"/>
              </a:rPr>
              <a:t>（</a:t>
            </a:r>
            <a:r>
              <a:rPr lang="en-US" altLang="zh-CN" sz="2000" b="1" dirty="0">
                <a:gradFill>
                  <a:gsLst>
                    <a:gs pos="0">
                      <a:srgbClr val="012D86"/>
                    </a:gs>
                    <a:gs pos="100000">
                      <a:srgbClr val="0E2557"/>
                    </a:gs>
                  </a:gsLst>
                  <a:lin scaled="0"/>
                </a:gradFill>
                <a:latin typeface="Arial" panose="020B0604020202020204" pitchFamily="34" charset="0"/>
              </a:rPr>
              <a:t>1</a:t>
            </a:r>
            <a:r>
              <a:rPr lang="zh-CN" altLang="en-US" sz="2000" b="1" dirty="0">
                <a:gradFill>
                  <a:gsLst>
                    <a:gs pos="0">
                      <a:srgbClr val="012D86"/>
                    </a:gs>
                    <a:gs pos="100000">
                      <a:srgbClr val="0E2557"/>
                    </a:gs>
                  </a:gsLst>
                  <a:lin scaled="0"/>
                </a:gradFill>
                <a:latin typeface="Arial" panose="020B0604020202020204" pitchFamily="34" charset="0"/>
              </a:rPr>
              <a:t>）</a:t>
            </a:r>
            <a:r>
              <a:rPr lang="en-US" altLang="zh-CN" sz="2000" b="1" i="1" dirty="0">
                <a:gradFill>
                  <a:gsLst>
                    <a:gs pos="0">
                      <a:srgbClr val="012D86"/>
                    </a:gs>
                    <a:gs pos="100000">
                      <a:srgbClr val="0E2557"/>
                    </a:gs>
                  </a:gsLst>
                  <a:lin scaled="0"/>
                </a:gradFill>
                <a:latin typeface="Arial" panose="020B0604020202020204" pitchFamily="34" charset="0"/>
              </a:rPr>
              <a:t>R</a:t>
            </a:r>
            <a:r>
              <a:rPr lang="en-US" altLang="zh-CN" sz="2000" b="1" dirty="0">
                <a:gradFill>
                  <a:gsLst>
                    <a:gs pos="0">
                      <a:srgbClr val="012D86"/>
                    </a:gs>
                    <a:gs pos="100000">
                      <a:srgbClr val="0E2557"/>
                    </a:gs>
                  </a:gsLst>
                  <a:lin scaled="0"/>
                </a:gradFill>
                <a:latin typeface="Arial" panose="020B0604020202020204" pitchFamily="34" charset="0"/>
              </a:rPr>
              <a:t>0</a:t>
            </a:r>
            <a:r>
              <a:rPr lang="zh-CN" altLang="en-US" sz="2000" b="1" dirty="0">
                <a:gradFill>
                  <a:gsLst>
                    <a:gs pos="0">
                      <a:srgbClr val="012D86"/>
                    </a:gs>
                    <a:gs pos="100000">
                      <a:srgbClr val="0E2557"/>
                    </a:gs>
                  </a:gsLst>
                  <a:lin scaled="0"/>
                </a:gradFill>
                <a:latin typeface="Arial" panose="020B0604020202020204" pitchFamily="34" charset="0"/>
              </a:rPr>
              <a:t>（</a:t>
            </a:r>
            <a:r>
              <a:rPr lang="en-US" altLang="zh-CN" sz="2000" b="1" dirty="0">
                <a:gradFill>
                  <a:gsLst>
                    <a:gs pos="0">
                      <a:srgbClr val="012D86"/>
                    </a:gs>
                    <a:gs pos="100000">
                      <a:srgbClr val="0E2557"/>
                    </a:gs>
                  </a:gsLst>
                  <a:lin scaled="0"/>
                </a:gradFill>
                <a:latin typeface="Arial" panose="020B0604020202020204" pitchFamily="34" charset="0"/>
              </a:rPr>
              <a:t>2</a:t>
            </a:r>
            <a:r>
              <a:rPr lang="zh-CN" altLang="en-US" sz="2000" b="1" dirty="0">
                <a:gradFill>
                  <a:gsLst>
                    <a:gs pos="0">
                      <a:srgbClr val="012D86"/>
                    </a:gs>
                    <a:gs pos="100000">
                      <a:srgbClr val="0E2557"/>
                    </a:gs>
                  </a:gsLst>
                  <a:lin scaled="0"/>
                </a:gradFill>
                <a:latin typeface="Arial" panose="020B0604020202020204" pitchFamily="34" charset="0"/>
              </a:rPr>
              <a:t>）直接清零端，高电平有效，正常工作时接地。</a:t>
            </a:r>
            <a:endParaRPr lang="zh-CN" altLang="en-US" sz="2000" b="1" dirty="0">
              <a:gradFill>
                <a:gsLst>
                  <a:gs pos="0">
                    <a:srgbClr val="012D86"/>
                  </a:gs>
                  <a:gs pos="100000">
                    <a:srgbClr val="0E2557"/>
                  </a:gs>
                </a:gsLst>
                <a:lin scaled="0"/>
              </a:gradFill>
              <a:latin typeface="Arial" panose="020B0604020202020204" pitchFamily="34" charset="0"/>
            </a:endParaRPr>
          </a:p>
          <a:p>
            <a:pPr>
              <a:lnSpc>
                <a:spcPct val="80000"/>
              </a:lnSpc>
              <a:spcBef>
                <a:spcPct val="50000"/>
              </a:spcBef>
            </a:pPr>
            <a:r>
              <a:rPr lang="zh-CN" altLang="en-US" sz="2000" b="1" dirty="0">
                <a:gradFill>
                  <a:gsLst>
                    <a:gs pos="0">
                      <a:srgbClr val="012D86"/>
                    </a:gs>
                    <a:gs pos="100000">
                      <a:srgbClr val="0E2557"/>
                    </a:gs>
                  </a:gsLst>
                  <a:lin scaled="0"/>
                </a:gradFill>
                <a:latin typeface="Arial" panose="020B0604020202020204" pitchFamily="34" charset="0"/>
              </a:rPr>
              <a:t>② </a:t>
            </a:r>
            <a:r>
              <a:rPr lang="en-US" altLang="zh-CN" sz="2000" b="1" i="1" dirty="0">
                <a:gradFill>
                  <a:gsLst>
                    <a:gs pos="0">
                      <a:srgbClr val="012D86"/>
                    </a:gs>
                    <a:gs pos="100000">
                      <a:srgbClr val="0E2557"/>
                    </a:gs>
                  </a:gsLst>
                  <a:lin scaled="0"/>
                </a:gradFill>
                <a:latin typeface="Arial" panose="020B0604020202020204" pitchFamily="34" charset="0"/>
              </a:rPr>
              <a:t>R</a:t>
            </a:r>
            <a:r>
              <a:rPr lang="en-US" altLang="zh-CN" sz="2000" b="1" dirty="0">
                <a:gradFill>
                  <a:gsLst>
                    <a:gs pos="0">
                      <a:srgbClr val="012D86"/>
                    </a:gs>
                    <a:gs pos="100000">
                      <a:srgbClr val="0E2557"/>
                    </a:gs>
                  </a:gsLst>
                  <a:lin scaled="0"/>
                </a:gradFill>
                <a:latin typeface="Arial" panose="020B0604020202020204" pitchFamily="34" charset="0"/>
              </a:rPr>
              <a:t>9</a:t>
            </a:r>
            <a:r>
              <a:rPr lang="zh-CN" altLang="en-US" sz="2000" b="1" dirty="0">
                <a:gradFill>
                  <a:gsLst>
                    <a:gs pos="0">
                      <a:srgbClr val="012D86"/>
                    </a:gs>
                    <a:gs pos="100000">
                      <a:srgbClr val="0E2557"/>
                    </a:gs>
                  </a:gsLst>
                  <a:lin scaled="0"/>
                </a:gradFill>
                <a:latin typeface="Arial" panose="020B0604020202020204" pitchFamily="34" charset="0"/>
              </a:rPr>
              <a:t>（</a:t>
            </a:r>
            <a:r>
              <a:rPr lang="en-US" altLang="zh-CN" sz="2000" b="1" dirty="0">
                <a:gradFill>
                  <a:gsLst>
                    <a:gs pos="0">
                      <a:srgbClr val="012D86"/>
                    </a:gs>
                    <a:gs pos="100000">
                      <a:srgbClr val="0E2557"/>
                    </a:gs>
                  </a:gsLst>
                  <a:lin scaled="0"/>
                </a:gradFill>
                <a:latin typeface="Arial" panose="020B0604020202020204" pitchFamily="34" charset="0"/>
              </a:rPr>
              <a:t>1</a:t>
            </a:r>
            <a:r>
              <a:rPr lang="zh-CN" altLang="en-US" sz="2000" b="1" dirty="0">
                <a:gradFill>
                  <a:gsLst>
                    <a:gs pos="0">
                      <a:srgbClr val="012D86"/>
                    </a:gs>
                    <a:gs pos="100000">
                      <a:srgbClr val="0E2557"/>
                    </a:gs>
                  </a:gsLst>
                  <a:lin scaled="0"/>
                </a:gradFill>
                <a:latin typeface="Arial" panose="020B0604020202020204" pitchFamily="34" charset="0"/>
              </a:rPr>
              <a:t>） </a:t>
            </a:r>
            <a:r>
              <a:rPr lang="en-US" altLang="zh-CN" sz="2000" b="1" i="1" dirty="0">
                <a:gradFill>
                  <a:gsLst>
                    <a:gs pos="0">
                      <a:srgbClr val="012D86"/>
                    </a:gs>
                    <a:gs pos="100000">
                      <a:srgbClr val="0E2557"/>
                    </a:gs>
                  </a:gsLst>
                  <a:lin scaled="0"/>
                </a:gradFill>
                <a:latin typeface="Arial" panose="020B0604020202020204" pitchFamily="34" charset="0"/>
              </a:rPr>
              <a:t>R</a:t>
            </a:r>
            <a:r>
              <a:rPr lang="en-US" altLang="zh-CN" sz="2000" b="1" dirty="0">
                <a:gradFill>
                  <a:gsLst>
                    <a:gs pos="0">
                      <a:srgbClr val="012D86"/>
                    </a:gs>
                    <a:gs pos="100000">
                      <a:srgbClr val="0E2557"/>
                    </a:gs>
                  </a:gsLst>
                  <a:lin scaled="0"/>
                </a:gradFill>
                <a:latin typeface="Arial" panose="020B0604020202020204" pitchFamily="34" charset="0"/>
              </a:rPr>
              <a:t>9</a:t>
            </a:r>
            <a:r>
              <a:rPr lang="zh-CN" altLang="en-US" sz="2000" b="1" dirty="0">
                <a:gradFill>
                  <a:gsLst>
                    <a:gs pos="0">
                      <a:srgbClr val="012D86"/>
                    </a:gs>
                    <a:gs pos="100000">
                      <a:srgbClr val="0E2557"/>
                    </a:gs>
                  </a:gsLst>
                  <a:lin scaled="0"/>
                </a:gradFill>
                <a:latin typeface="Arial" panose="020B0604020202020204" pitchFamily="34" charset="0"/>
              </a:rPr>
              <a:t>（</a:t>
            </a:r>
            <a:r>
              <a:rPr lang="en-US" altLang="zh-CN" sz="2000" b="1" dirty="0">
                <a:gradFill>
                  <a:gsLst>
                    <a:gs pos="0">
                      <a:srgbClr val="012D86"/>
                    </a:gs>
                    <a:gs pos="100000">
                      <a:srgbClr val="0E2557"/>
                    </a:gs>
                  </a:gsLst>
                  <a:lin scaled="0"/>
                </a:gradFill>
                <a:latin typeface="Arial" panose="020B0604020202020204" pitchFamily="34" charset="0"/>
              </a:rPr>
              <a:t>2</a:t>
            </a:r>
            <a:r>
              <a:rPr lang="zh-CN" altLang="en-US" sz="2000" b="1" dirty="0">
                <a:gradFill>
                  <a:gsLst>
                    <a:gs pos="0">
                      <a:srgbClr val="012D86"/>
                    </a:gs>
                    <a:gs pos="100000">
                      <a:srgbClr val="0E2557"/>
                    </a:gs>
                  </a:gsLst>
                  <a:lin scaled="0"/>
                </a:gradFill>
                <a:latin typeface="Arial" panose="020B0604020202020204" pitchFamily="34" charset="0"/>
              </a:rPr>
              <a:t>）直接置</a:t>
            </a:r>
            <a:r>
              <a:rPr lang="en-US" altLang="zh-CN" sz="2000" b="1" dirty="0">
                <a:gradFill>
                  <a:gsLst>
                    <a:gs pos="0">
                      <a:srgbClr val="012D86"/>
                    </a:gs>
                    <a:gs pos="100000">
                      <a:srgbClr val="0E2557"/>
                    </a:gs>
                  </a:gsLst>
                  <a:lin scaled="0"/>
                </a:gradFill>
                <a:latin typeface="Arial" panose="020B0604020202020204" pitchFamily="34" charset="0"/>
              </a:rPr>
              <a:t>9</a:t>
            </a:r>
            <a:r>
              <a:rPr lang="zh-CN" altLang="en-US" sz="2000" b="1" dirty="0">
                <a:gradFill>
                  <a:gsLst>
                    <a:gs pos="0">
                      <a:srgbClr val="012D86"/>
                    </a:gs>
                    <a:gs pos="100000">
                      <a:srgbClr val="0E2557"/>
                    </a:gs>
                  </a:gsLst>
                  <a:lin scaled="0"/>
                </a:gradFill>
                <a:latin typeface="Arial" panose="020B0604020202020204" pitchFamily="34" charset="0"/>
              </a:rPr>
              <a:t>端，高电平有效，正常工作时接地。</a:t>
            </a:r>
            <a:endParaRPr lang="zh-CN" altLang="en-US" sz="2000" b="1" dirty="0">
              <a:gradFill>
                <a:gsLst>
                  <a:gs pos="0">
                    <a:srgbClr val="012D86"/>
                  </a:gs>
                  <a:gs pos="100000">
                    <a:srgbClr val="0E2557"/>
                  </a:gs>
                </a:gsLst>
                <a:lin scaled="0"/>
              </a:gradFill>
              <a:latin typeface="Arial" panose="020B0604020202020204" pitchFamily="34" charset="0"/>
            </a:endParaRPr>
          </a:p>
          <a:p>
            <a:pPr>
              <a:lnSpc>
                <a:spcPct val="80000"/>
              </a:lnSpc>
              <a:spcBef>
                <a:spcPct val="50000"/>
              </a:spcBef>
            </a:pPr>
            <a:r>
              <a:rPr lang="zh-CN" altLang="en-US" sz="2000" b="1" dirty="0">
                <a:gradFill>
                  <a:gsLst>
                    <a:gs pos="0">
                      <a:srgbClr val="012D86"/>
                    </a:gs>
                    <a:gs pos="100000">
                      <a:srgbClr val="0E2557"/>
                    </a:gs>
                  </a:gsLst>
                  <a:lin scaled="0"/>
                </a:gradFill>
                <a:latin typeface="Arial" panose="020B0604020202020204" pitchFamily="34" charset="0"/>
              </a:rPr>
              <a:t>③ </a:t>
            </a:r>
            <a:r>
              <a:rPr lang="en-US" altLang="zh-CN" sz="2000" b="1" i="1" dirty="0">
                <a:gradFill>
                  <a:gsLst>
                    <a:gs pos="0">
                      <a:srgbClr val="012D86"/>
                    </a:gs>
                    <a:gs pos="100000">
                      <a:srgbClr val="0E2557"/>
                    </a:gs>
                  </a:gsLst>
                  <a:lin scaled="0"/>
                </a:gradFill>
                <a:latin typeface="Arial" panose="020B0604020202020204" pitchFamily="34" charset="0"/>
              </a:rPr>
              <a:t>CP</a:t>
            </a:r>
            <a:r>
              <a:rPr lang="en-US" altLang="zh-CN" sz="2000" b="1" dirty="0">
                <a:gradFill>
                  <a:gsLst>
                    <a:gs pos="0">
                      <a:srgbClr val="012D86"/>
                    </a:gs>
                    <a:gs pos="100000">
                      <a:srgbClr val="0E2557"/>
                    </a:gs>
                  </a:gsLst>
                  <a:lin scaled="0"/>
                </a:gradFill>
                <a:latin typeface="Arial" panose="020B0604020202020204" pitchFamily="34" charset="0"/>
              </a:rPr>
              <a:t>1=CP </a:t>
            </a:r>
            <a:r>
              <a:rPr lang="en-US" altLang="zh-CN" sz="2000" b="1" i="1" dirty="0">
                <a:gradFill>
                  <a:gsLst>
                    <a:gs pos="0">
                      <a:srgbClr val="012D86"/>
                    </a:gs>
                    <a:gs pos="100000">
                      <a:srgbClr val="0E2557"/>
                    </a:gs>
                  </a:gsLst>
                  <a:lin scaled="0"/>
                </a:gradFill>
                <a:latin typeface="Arial" panose="020B0604020202020204" pitchFamily="34" charset="0"/>
              </a:rPr>
              <a:t>CP</a:t>
            </a:r>
            <a:r>
              <a:rPr lang="en-US" altLang="zh-CN" sz="2000" b="1" dirty="0">
                <a:gradFill>
                  <a:gsLst>
                    <a:gs pos="0">
                      <a:srgbClr val="012D86"/>
                    </a:gs>
                    <a:gs pos="100000">
                      <a:srgbClr val="0E2557"/>
                    </a:gs>
                  </a:gsLst>
                  <a:lin scaled="0"/>
                </a:gradFill>
                <a:latin typeface="Arial" panose="020B0604020202020204" pitchFamily="34" charset="0"/>
              </a:rPr>
              <a:t>2</a:t>
            </a:r>
            <a:r>
              <a:rPr lang="zh-CN" altLang="en-US" sz="2000" b="1" dirty="0">
                <a:gradFill>
                  <a:gsLst>
                    <a:gs pos="0">
                      <a:srgbClr val="012D86"/>
                    </a:gs>
                    <a:gs pos="100000">
                      <a:srgbClr val="0E2557"/>
                    </a:gs>
                  </a:gsLst>
                  <a:lin scaled="0"/>
                </a:gradFill>
                <a:latin typeface="Arial" panose="020B0604020202020204" pitchFamily="34" charset="0"/>
              </a:rPr>
              <a:t>悬空，只有低位变，高位不变。</a:t>
            </a:r>
            <a:endParaRPr lang="zh-CN" altLang="en-US" sz="2000" b="1" dirty="0">
              <a:gradFill>
                <a:gsLst>
                  <a:gs pos="0">
                    <a:srgbClr val="012D86"/>
                  </a:gs>
                  <a:gs pos="100000">
                    <a:srgbClr val="0E2557"/>
                  </a:gs>
                </a:gsLst>
                <a:lin scaled="0"/>
              </a:gradFill>
              <a:latin typeface="Arial" panose="020B0604020202020204" pitchFamily="34" charset="0"/>
            </a:endParaRPr>
          </a:p>
          <a:p>
            <a:pPr>
              <a:lnSpc>
                <a:spcPct val="80000"/>
              </a:lnSpc>
              <a:spcBef>
                <a:spcPct val="50000"/>
              </a:spcBef>
            </a:pPr>
            <a:r>
              <a:rPr lang="zh-CN" altLang="en-US" sz="2000" b="1" dirty="0">
                <a:gradFill>
                  <a:gsLst>
                    <a:gs pos="0">
                      <a:srgbClr val="012D86"/>
                    </a:gs>
                    <a:gs pos="100000">
                      <a:srgbClr val="0E2557"/>
                    </a:gs>
                  </a:gsLst>
                  <a:lin scaled="0"/>
                </a:gradFill>
                <a:latin typeface="Arial" panose="020B0604020202020204" pitchFamily="34" charset="0"/>
              </a:rPr>
              <a:t>④ </a:t>
            </a:r>
            <a:r>
              <a:rPr lang="en-US" altLang="zh-CN" sz="2000" b="1" i="1" dirty="0">
                <a:gradFill>
                  <a:gsLst>
                    <a:gs pos="0">
                      <a:srgbClr val="012D86"/>
                    </a:gs>
                    <a:gs pos="100000">
                      <a:srgbClr val="0E2557"/>
                    </a:gs>
                  </a:gsLst>
                  <a:lin scaled="0"/>
                </a:gradFill>
                <a:latin typeface="Arial" panose="020B0604020202020204" pitchFamily="34" charset="0"/>
              </a:rPr>
              <a:t>CP</a:t>
            </a:r>
            <a:r>
              <a:rPr lang="en-US" altLang="zh-CN" sz="2000" b="1" dirty="0">
                <a:gradFill>
                  <a:gsLst>
                    <a:gs pos="0">
                      <a:srgbClr val="012D86"/>
                    </a:gs>
                    <a:gs pos="100000">
                      <a:srgbClr val="0E2557"/>
                    </a:gs>
                  </a:gsLst>
                  <a:lin scaled="0"/>
                </a:gradFill>
                <a:latin typeface="Arial" panose="020B0604020202020204" pitchFamily="34" charset="0"/>
              </a:rPr>
              <a:t>2=CP </a:t>
            </a:r>
            <a:r>
              <a:rPr lang="en-US" altLang="zh-CN" sz="2000" b="1" i="1" dirty="0">
                <a:gradFill>
                  <a:gsLst>
                    <a:gs pos="0">
                      <a:srgbClr val="012D86"/>
                    </a:gs>
                    <a:gs pos="100000">
                      <a:srgbClr val="0E2557"/>
                    </a:gs>
                  </a:gsLst>
                  <a:lin scaled="0"/>
                </a:gradFill>
                <a:latin typeface="Arial" panose="020B0604020202020204" pitchFamily="34" charset="0"/>
              </a:rPr>
              <a:t>CP</a:t>
            </a:r>
            <a:r>
              <a:rPr lang="en-US" altLang="zh-CN" sz="2000" b="1" dirty="0">
                <a:gradFill>
                  <a:gsLst>
                    <a:gs pos="0">
                      <a:srgbClr val="012D86"/>
                    </a:gs>
                    <a:gs pos="100000">
                      <a:srgbClr val="0E2557"/>
                    </a:gs>
                  </a:gsLst>
                  <a:lin scaled="0"/>
                </a:gradFill>
                <a:latin typeface="Arial" panose="020B0604020202020204" pitchFamily="34" charset="0"/>
              </a:rPr>
              <a:t>1</a:t>
            </a:r>
            <a:r>
              <a:rPr lang="zh-CN" altLang="en-US" sz="2000" b="1" dirty="0">
                <a:gradFill>
                  <a:gsLst>
                    <a:gs pos="0">
                      <a:srgbClr val="012D86"/>
                    </a:gs>
                    <a:gs pos="100000">
                      <a:srgbClr val="0E2557"/>
                    </a:gs>
                  </a:gsLst>
                  <a:lin scaled="0"/>
                </a:gradFill>
                <a:latin typeface="Arial" panose="020B0604020202020204" pitchFamily="34" charset="0"/>
              </a:rPr>
              <a:t>悬空，低位不变，高位变。</a:t>
            </a:r>
            <a:endParaRPr lang="zh-CN" altLang="en-US" sz="2000" b="1" dirty="0">
              <a:gradFill>
                <a:gsLst>
                  <a:gs pos="0">
                    <a:srgbClr val="012D86"/>
                  </a:gs>
                  <a:gs pos="100000">
                    <a:srgbClr val="0E2557"/>
                  </a:gs>
                </a:gsLst>
                <a:lin scaled="0"/>
              </a:gradFill>
              <a:latin typeface="Arial" panose="020B0604020202020204" pitchFamily="34" charset="0"/>
            </a:endParaRPr>
          </a:p>
          <a:p>
            <a:pPr>
              <a:lnSpc>
                <a:spcPct val="80000"/>
              </a:lnSpc>
              <a:spcBef>
                <a:spcPct val="50000"/>
              </a:spcBef>
            </a:pPr>
            <a:r>
              <a:rPr lang="zh-CN" altLang="en-US" sz="2000" b="1" dirty="0">
                <a:gradFill>
                  <a:gsLst>
                    <a:gs pos="0">
                      <a:srgbClr val="012D86"/>
                    </a:gs>
                    <a:gs pos="100000">
                      <a:srgbClr val="0E2557"/>
                    </a:gs>
                  </a:gsLst>
                  <a:lin scaled="0"/>
                </a:gradFill>
                <a:latin typeface="Arial" panose="020B0604020202020204" pitchFamily="34" charset="0"/>
              </a:rPr>
              <a:t>⑤ </a:t>
            </a:r>
            <a:r>
              <a:rPr lang="en-US" altLang="zh-CN" sz="2000" b="1" i="1" dirty="0">
                <a:gradFill>
                  <a:gsLst>
                    <a:gs pos="0">
                      <a:srgbClr val="012D86"/>
                    </a:gs>
                    <a:gs pos="100000">
                      <a:srgbClr val="0E2557"/>
                    </a:gs>
                  </a:gsLst>
                  <a:lin scaled="0"/>
                </a:gradFill>
                <a:latin typeface="Arial" panose="020B0604020202020204" pitchFamily="34" charset="0"/>
              </a:rPr>
              <a:t>CP</a:t>
            </a:r>
            <a:r>
              <a:rPr lang="en-US" altLang="zh-CN" sz="2000" b="1" dirty="0">
                <a:gradFill>
                  <a:gsLst>
                    <a:gs pos="0">
                      <a:srgbClr val="012D86"/>
                    </a:gs>
                    <a:gs pos="100000">
                      <a:srgbClr val="0E2557"/>
                    </a:gs>
                  </a:gsLst>
                  <a:lin scaled="0"/>
                </a:gradFill>
                <a:latin typeface="Arial" panose="020B0604020202020204" pitchFamily="34" charset="0"/>
              </a:rPr>
              <a:t>1=CP </a:t>
            </a:r>
            <a:r>
              <a:rPr lang="en-US" altLang="zh-CN" sz="2000" b="1" i="1" dirty="0">
                <a:gradFill>
                  <a:gsLst>
                    <a:gs pos="0">
                      <a:srgbClr val="012D86"/>
                    </a:gs>
                    <a:gs pos="100000">
                      <a:srgbClr val="0E2557"/>
                    </a:gs>
                  </a:gsLst>
                  <a:lin scaled="0"/>
                </a:gradFill>
                <a:latin typeface="Arial" panose="020B0604020202020204" pitchFamily="34" charset="0"/>
              </a:rPr>
              <a:t>CP</a:t>
            </a:r>
            <a:r>
              <a:rPr lang="en-US" altLang="zh-CN" sz="2000" b="1" dirty="0">
                <a:gradFill>
                  <a:gsLst>
                    <a:gs pos="0">
                      <a:srgbClr val="012D86"/>
                    </a:gs>
                    <a:gs pos="100000">
                      <a:srgbClr val="0E2557"/>
                    </a:gs>
                  </a:gsLst>
                  <a:lin scaled="0"/>
                </a:gradFill>
                <a:latin typeface="Arial" panose="020B0604020202020204" pitchFamily="34" charset="0"/>
              </a:rPr>
              <a:t>2=Q0</a:t>
            </a:r>
            <a:r>
              <a:rPr lang="zh-CN" altLang="en-US" sz="2000" b="1" dirty="0">
                <a:gradFill>
                  <a:gsLst>
                    <a:gs pos="0">
                      <a:srgbClr val="012D86"/>
                    </a:gs>
                    <a:gs pos="100000">
                      <a:srgbClr val="0E2557"/>
                    </a:gs>
                  </a:gsLst>
                  <a:lin scaled="0"/>
                </a:gradFill>
                <a:latin typeface="Arial" panose="020B0604020202020204" pitchFamily="34" charset="0"/>
              </a:rPr>
              <a:t>构成十进制计数器。</a:t>
            </a:r>
            <a:endParaRPr lang="zh-CN" altLang="en-US" sz="2000" b="1" dirty="0">
              <a:gradFill>
                <a:gsLst>
                  <a:gs pos="0">
                    <a:srgbClr val="012D86"/>
                  </a:gs>
                  <a:gs pos="100000">
                    <a:srgbClr val="0E2557"/>
                  </a:gs>
                </a:gsLst>
                <a:lin scaled="0"/>
              </a:gra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3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105"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906145" y="955675"/>
            <a:ext cx="6847205" cy="868045"/>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6</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4</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5 用集成计数器构成任意进制计数器</a:t>
            </a:r>
            <a:endPar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134156" name="Text Box 12"/>
          <p:cNvSpPr txBox="1">
            <a:spLocks noChangeArrowheads="1"/>
          </p:cNvSpPr>
          <p:nvPr/>
        </p:nvSpPr>
        <p:spPr bwMode="auto">
          <a:xfrm>
            <a:off x="906145" y="1654175"/>
            <a:ext cx="63373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Tx/>
              <a:buSzTx/>
              <a:buFontTx/>
              <a:defRPr/>
            </a:pPr>
            <a:r>
              <a:rPr kumimoji="0" lang="zh-CN" altLang="en-US" sz="2800" kern="1200" cap="none" spc="0" normalizeH="0" baseline="0" noProof="0" smtClean="0">
                <a:solidFill>
                  <a:srgbClr val="FF0000"/>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几个需要注意的问题</a:t>
            </a:r>
            <a:endParaRPr kumimoji="0" lang="zh-CN" altLang="en-US" sz="2800" kern="1200" cap="none" spc="0" normalizeH="0" baseline="0" noProof="0" smtClean="0">
              <a:solidFill>
                <a:srgbClr val="FF0000"/>
              </a:solidFill>
              <a:effectLst>
                <a:outerShdw blurRad="38100" dist="38100" dir="2700000" algn="tl">
                  <a:srgbClr val="000000"/>
                </a:outerShdw>
              </a:effectLst>
              <a:latin typeface="Arial" panose="020B0604020202020204" pitchFamily="34" charset="0"/>
              <a:ea typeface="宋体" panose="02010600030101010101" pitchFamily="2" charset="-122"/>
              <a:cs typeface="+mn-cs"/>
            </a:endParaRPr>
          </a:p>
        </p:txBody>
      </p:sp>
      <p:sp>
        <p:nvSpPr>
          <p:cNvPr id="134157" name="Text Box 13"/>
          <p:cNvSpPr txBox="1">
            <a:spLocks noChangeArrowheads="1"/>
          </p:cNvSpPr>
          <p:nvPr/>
        </p:nvSpPr>
        <p:spPr bwMode="auto">
          <a:xfrm>
            <a:off x="837883" y="2130743"/>
            <a:ext cx="7848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
                <a:srgbClr val="FF9966"/>
              </a:buClr>
              <a:buSzPct val="75000"/>
              <a:buFont typeface="Wingdings" panose="05000000000000000000" pitchFamily="2" charset="2"/>
              <a:buChar char="n"/>
              <a:defRPr/>
            </a:pPr>
            <a:r>
              <a:rPr kumimoji="0" lang="en-US" altLang="zh-CN" sz="2400" b="1" kern="1200" cap="none" spc="0" normalizeH="0" baseline="0" noProof="0" smtClean="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 </a:t>
            </a:r>
            <a:r>
              <a:rPr kumimoji="0" lang="zh-CN" altLang="en-US" sz="2400" b="1" kern="1200" cap="none" spc="0" normalizeH="0" baseline="0" noProof="0" smtClean="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异步置零</a:t>
            </a:r>
            <a:endParaRPr kumimoji="0" lang="zh-CN" altLang="en-US" sz="2400" b="1" kern="1200" cap="none" spc="0" normalizeH="0" baseline="0" noProof="0" smtClean="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cs typeface="+mn-cs"/>
            </a:endParaRPr>
          </a:p>
        </p:txBody>
      </p:sp>
      <p:sp>
        <p:nvSpPr>
          <p:cNvPr id="134158" name="Text Box 14"/>
          <p:cNvSpPr txBox="1">
            <a:spLocks noChangeArrowheads="1"/>
          </p:cNvSpPr>
          <p:nvPr/>
        </p:nvSpPr>
        <p:spPr bwMode="auto">
          <a:xfrm>
            <a:off x="1403350" y="2591435"/>
            <a:ext cx="77406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
                <a:srgbClr val="FF00FF"/>
              </a:buClr>
              <a:buSzTx/>
              <a:buFont typeface="Wingdings" panose="05000000000000000000" pitchFamily="2" charset="2"/>
              <a:defRPr/>
            </a:pPr>
            <a:r>
              <a:rPr kumimoji="0" lang="zh-CN" altLang="en-US"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Arial" panose="020B0604020202020204" pitchFamily="34" charset="0"/>
                <a:ea typeface="宋体" panose="02010600030101010101" pitchFamily="2" charset="-122"/>
                <a:cs typeface="+mn-cs"/>
              </a:rPr>
              <a:t>置零端出现低电平，触发器立即置零，不受时钟控制</a:t>
            </a:r>
            <a:endParaRPr kumimoji="0" lang="zh-CN" altLang="en-US"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134159" name="Text Box 15"/>
          <p:cNvSpPr txBox="1">
            <a:spLocks noChangeArrowheads="1"/>
          </p:cNvSpPr>
          <p:nvPr/>
        </p:nvSpPr>
        <p:spPr bwMode="auto">
          <a:xfrm>
            <a:off x="827088" y="3096260"/>
            <a:ext cx="7848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
                <a:srgbClr val="FF9966"/>
              </a:buClr>
              <a:buSzPct val="75000"/>
              <a:buFont typeface="Wingdings" panose="05000000000000000000" pitchFamily="2" charset="2"/>
              <a:buChar char="n"/>
              <a:defRPr/>
            </a:pPr>
            <a:r>
              <a:rPr kumimoji="0" lang="en-US" altLang="zh-CN" sz="2400" b="1" kern="1200" cap="none" spc="0" normalizeH="0" baseline="0" noProof="0" smtClean="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 </a:t>
            </a:r>
            <a:r>
              <a:rPr kumimoji="0" lang="zh-CN" altLang="en-US" sz="2400" b="1" kern="1200" cap="none" spc="0" normalizeH="0" baseline="0" noProof="0" smtClean="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同步置零</a:t>
            </a:r>
            <a:endParaRPr kumimoji="0" lang="zh-CN" altLang="en-US" sz="2400" b="1" kern="1200" cap="none" spc="0" normalizeH="0" baseline="0" noProof="0" smtClean="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cs typeface="+mn-cs"/>
            </a:endParaRPr>
          </a:p>
        </p:txBody>
      </p:sp>
      <p:sp>
        <p:nvSpPr>
          <p:cNvPr id="134160" name="Text Box 16"/>
          <p:cNvSpPr txBox="1">
            <a:spLocks noChangeArrowheads="1"/>
          </p:cNvSpPr>
          <p:nvPr/>
        </p:nvSpPr>
        <p:spPr bwMode="auto">
          <a:xfrm>
            <a:off x="1403350" y="3556318"/>
            <a:ext cx="77406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
                <a:srgbClr val="FF00FF"/>
              </a:buClr>
              <a:buSzTx/>
              <a:buFont typeface="Wingdings" panose="05000000000000000000" pitchFamily="2" charset="2"/>
              <a:defRPr/>
            </a:pPr>
            <a:r>
              <a:rPr kumimoji="0" lang="zh-CN" altLang="en-US"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Arial" panose="020B0604020202020204" pitchFamily="34" charset="0"/>
                <a:ea typeface="宋体" panose="02010600030101010101" pitchFamily="2" charset="-122"/>
                <a:cs typeface="+mn-cs"/>
              </a:rPr>
              <a:t>置零端出现低电平，要等</a:t>
            </a:r>
            <a:r>
              <a:rPr kumimoji="0" lang="en-US" altLang="zh-CN" sz="2400" b="1" i="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Arial" panose="020B0604020202020204" pitchFamily="34" charset="0"/>
                <a:ea typeface="宋体" panose="02010600030101010101" pitchFamily="2" charset="-122"/>
                <a:cs typeface="+mn-cs"/>
              </a:rPr>
              <a:t>CP</a:t>
            </a:r>
            <a:r>
              <a:rPr kumimoji="0" lang="zh-CN" altLang="en-US"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Arial" panose="020B0604020202020204" pitchFamily="34" charset="0"/>
                <a:ea typeface="宋体" panose="02010600030101010101" pitchFamily="2" charset="-122"/>
                <a:cs typeface="+mn-cs"/>
              </a:rPr>
              <a:t>有效沿才能置零</a:t>
            </a:r>
            <a:endParaRPr kumimoji="0" lang="zh-CN" altLang="en-US"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134161" name="Text Box 17"/>
          <p:cNvSpPr txBox="1">
            <a:spLocks noChangeArrowheads="1"/>
          </p:cNvSpPr>
          <p:nvPr/>
        </p:nvSpPr>
        <p:spPr bwMode="auto">
          <a:xfrm>
            <a:off x="827088" y="4175760"/>
            <a:ext cx="7848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
                <a:srgbClr val="FF9966"/>
              </a:buClr>
              <a:buSzPct val="75000"/>
              <a:buFont typeface="Wingdings" panose="05000000000000000000" pitchFamily="2" charset="2"/>
              <a:buChar char="n"/>
              <a:defRPr/>
            </a:pPr>
            <a:r>
              <a:rPr kumimoji="0" lang="en-US" altLang="zh-CN" sz="2400" b="1" kern="1200" cap="none" spc="0" normalizeH="0" baseline="0" noProof="0" smtClean="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 </a:t>
            </a:r>
            <a:r>
              <a:rPr kumimoji="0" lang="zh-CN" altLang="en-US" sz="2400" b="1" kern="1200" cap="none" spc="0" normalizeH="0" baseline="0" noProof="0" smtClean="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异步预置数</a:t>
            </a:r>
            <a:endParaRPr kumimoji="0" lang="zh-CN" altLang="en-US" sz="2400" b="1" kern="1200" cap="none" spc="0" normalizeH="0" baseline="0" noProof="0" smtClean="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cs typeface="+mn-cs"/>
            </a:endParaRPr>
          </a:p>
        </p:txBody>
      </p:sp>
      <p:sp>
        <p:nvSpPr>
          <p:cNvPr id="134162" name="Text Box 18"/>
          <p:cNvSpPr txBox="1">
            <a:spLocks noChangeArrowheads="1"/>
          </p:cNvSpPr>
          <p:nvPr/>
        </p:nvSpPr>
        <p:spPr bwMode="auto">
          <a:xfrm>
            <a:off x="1403350" y="4752340"/>
            <a:ext cx="46799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pPr marR="0" defTabSz="914400">
              <a:spcBef>
                <a:spcPct val="50000"/>
              </a:spcBef>
              <a:buClr>
                <a:srgbClr val="FF00FF"/>
              </a:buClr>
              <a:buSzTx/>
              <a:buFont typeface="Wingdings" panose="05000000000000000000" pitchFamily="2" charset="2"/>
              <a:defRPr/>
            </a:pPr>
            <a:r>
              <a:rPr kumimoji="0" lang="zh-CN" altLang="en-US"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Arial" panose="020B0604020202020204" pitchFamily="34" charset="0"/>
                <a:ea typeface="宋体" panose="02010600030101010101" pitchFamily="2" charset="-122"/>
                <a:cs typeface="+mn-cs"/>
              </a:rPr>
              <a:t>无须等待时钟脉冲</a:t>
            </a:r>
            <a:r>
              <a:rPr lang="zh-CN" altLang="en-US" sz="2400" b="1" noProof="0" smtClean="0">
                <a:gradFill>
                  <a:gsLst>
                    <a:gs pos="0">
                      <a:srgbClr val="012D86"/>
                    </a:gs>
                    <a:gs pos="100000">
                      <a:srgbClr val="0E2557"/>
                    </a:gs>
                  </a:gsLst>
                  <a:lin scaled="0"/>
                </a:gradFill>
                <a:effectLst>
                  <a:outerShdw blurRad="38100" dist="38100" dir="2700000" algn="tl">
                    <a:srgbClr val="FFFFFF"/>
                  </a:outerShdw>
                </a:effectLst>
                <a:sym typeface="+mn-ea"/>
              </a:rPr>
              <a:t>的</a:t>
            </a:r>
            <a:r>
              <a:rPr lang="zh-CN" altLang="en-US" sz="2400" b="1" noProof="0" smtClean="0">
                <a:gradFill>
                  <a:gsLst>
                    <a:gs pos="0">
                      <a:srgbClr val="012D86"/>
                    </a:gs>
                    <a:gs pos="100000">
                      <a:srgbClr val="0E2557"/>
                    </a:gs>
                  </a:gsLst>
                  <a:lin scaled="0"/>
                </a:gradFill>
                <a:effectLst>
                  <a:outerShdw blurRad="38100" dist="38100" dir="2700000" algn="tl">
                    <a:srgbClr val="FFFFFF"/>
                  </a:outerShdw>
                </a:effectLst>
                <a:sym typeface="+mn-ea"/>
              </a:rPr>
              <a:t>置数</a:t>
            </a:r>
            <a:endParaRPr kumimoji="0" lang="zh-CN" altLang="en-US"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134163" name="Text Box 19"/>
          <p:cNvSpPr txBox="1">
            <a:spLocks noChangeArrowheads="1"/>
          </p:cNvSpPr>
          <p:nvPr/>
        </p:nvSpPr>
        <p:spPr bwMode="auto">
          <a:xfrm>
            <a:off x="827088" y="5256848"/>
            <a:ext cx="432117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
                <a:srgbClr val="FF9966"/>
              </a:buClr>
              <a:buSzPct val="75000"/>
              <a:buFont typeface="Wingdings" panose="05000000000000000000" pitchFamily="2" charset="2"/>
              <a:buChar char="n"/>
              <a:defRPr/>
            </a:pPr>
            <a:r>
              <a:rPr kumimoji="0" lang="en-US" altLang="zh-CN" sz="2400" b="1" kern="1200" cap="none" spc="0" normalizeH="0" baseline="0" noProof="0" smtClean="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 </a:t>
            </a:r>
            <a:r>
              <a:rPr kumimoji="0" lang="zh-CN" altLang="en-US" sz="2400" b="1" kern="1200" cap="none" spc="0" normalizeH="0" baseline="0" noProof="0" smtClean="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同步预置数</a:t>
            </a:r>
            <a:endParaRPr kumimoji="0" lang="zh-CN" altLang="en-US" sz="2400" b="1" kern="1200" cap="none" spc="0" normalizeH="0" baseline="0" noProof="0" smtClean="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cs typeface="+mn-cs"/>
            </a:endParaRPr>
          </a:p>
        </p:txBody>
      </p:sp>
      <p:sp>
        <p:nvSpPr>
          <p:cNvPr id="134164" name="Text Box 20"/>
          <p:cNvSpPr txBox="1">
            <a:spLocks noChangeArrowheads="1"/>
          </p:cNvSpPr>
          <p:nvPr/>
        </p:nvSpPr>
        <p:spPr bwMode="auto">
          <a:xfrm>
            <a:off x="1403350" y="5833110"/>
            <a:ext cx="5329238"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
                <a:srgbClr val="FF00FF"/>
              </a:buClr>
              <a:buSzTx/>
              <a:buFont typeface="Wingdings" panose="05000000000000000000" pitchFamily="2" charset="2"/>
              <a:defRPr/>
            </a:pPr>
            <a:r>
              <a:rPr kumimoji="0" lang="zh-CN" altLang="en-US"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Arial" panose="020B0604020202020204" pitchFamily="34" charset="0"/>
                <a:ea typeface="宋体" panose="02010600030101010101" pitchFamily="2" charset="-122"/>
                <a:cs typeface="+mn-cs"/>
              </a:rPr>
              <a:t>必须等待</a:t>
            </a:r>
            <a:r>
              <a:rPr lang="en-US" altLang="zh-CN" sz="2400" b="1" i="1" noProof="0" smtClean="0">
                <a:gradFill>
                  <a:gsLst>
                    <a:gs pos="0">
                      <a:srgbClr val="012D86"/>
                    </a:gs>
                    <a:gs pos="100000">
                      <a:srgbClr val="0E2557"/>
                    </a:gs>
                  </a:gsLst>
                  <a:lin scaled="0"/>
                </a:gradFill>
                <a:effectLst>
                  <a:outerShdw blurRad="38100" dist="38100" dir="2700000" algn="tl">
                    <a:srgbClr val="FFFFFF"/>
                  </a:outerShdw>
                </a:effectLst>
                <a:sym typeface="+mn-ea"/>
              </a:rPr>
              <a:t>CP</a:t>
            </a:r>
            <a:r>
              <a:rPr lang="zh-CN" altLang="en-US" sz="2400" b="1" noProof="0" smtClean="0">
                <a:gradFill>
                  <a:gsLst>
                    <a:gs pos="0">
                      <a:srgbClr val="012D86"/>
                    </a:gs>
                    <a:gs pos="100000">
                      <a:srgbClr val="0E2557"/>
                    </a:gs>
                  </a:gsLst>
                  <a:lin scaled="0"/>
                </a:gradFill>
                <a:effectLst>
                  <a:outerShdw blurRad="38100" dist="38100" dir="2700000" algn="tl">
                    <a:srgbClr val="FFFFFF"/>
                  </a:outerShdw>
                </a:effectLst>
                <a:sym typeface="+mn-ea"/>
              </a:rPr>
              <a:t>有效沿</a:t>
            </a:r>
            <a:r>
              <a:rPr kumimoji="0" lang="zh-CN" altLang="en-US"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Arial" panose="020B0604020202020204" pitchFamily="34" charset="0"/>
                <a:ea typeface="宋体" panose="02010600030101010101" pitchFamily="2" charset="-122"/>
                <a:cs typeface="+mn-cs"/>
              </a:rPr>
              <a:t>才能完成置数</a:t>
            </a:r>
            <a:endParaRPr kumimoji="0" lang="zh-CN" altLang="en-US"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4158">
                                            <p:txEl>
                                              <p:charRg st="0" end="24"/>
                                            </p:txEl>
                                          </p:spTgt>
                                        </p:tgtEl>
                                        <p:attrNameLst>
                                          <p:attrName>style.visibility</p:attrName>
                                        </p:attrNameLst>
                                      </p:cBhvr>
                                      <p:to>
                                        <p:strVal val="visible"/>
                                      </p:to>
                                    </p:set>
                                    <p:animEffect transition="in" filter="wipe(left)">
                                      <p:cBhvr>
                                        <p:cTn id="7" dur="2000"/>
                                        <p:tgtEl>
                                          <p:spTgt spid="134158">
                                            <p:txEl>
                                              <p:charRg st="0" end="2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4160">
                                            <p:txEl>
                                              <p:charRg st="4294967295" end="4294967295"/>
                                            </p:txEl>
                                          </p:spTgt>
                                        </p:tgtEl>
                                        <p:attrNameLst>
                                          <p:attrName>style.visibility</p:attrName>
                                        </p:attrNameLst>
                                      </p:cBhvr>
                                      <p:to>
                                        <p:strVal val="visible"/>
                                      </p:to>
                                    </p:set>
                                    <p:animEffect transition="in" filter="wipe(left)">
                                      <p:cBhvr>
                                        <p:cTn id="12" dur="2000"/>
                                        <p:tgtEl>
                                          <p:spTgt spid="134160">
                                            <p:txEl>
                                              <p:char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4160">
                                            <p:txEl>
                                              <p:charRg st="0" end="22"/>
                                            </p:txEl>
                                          </p:spTgt>
                                        </p:tgtEl>
                                        <p:attrNameLst>
                                          <p:attrName>style.visibility</p:attrName>
                                        </p:attrNameLst>
                                      </p:cBhvr>
                                      <p:to>
                                        <p:strVal val="visible"/>
                                      </p:to>
                                    </p:set>
                                    <p:animEffect transition="in" filter="wipe(left)">
                                      <p:cBhvr>
                                        <p:cTn id="17" dur="2000"/>
                                        <p:tgtEl>
                                          <p:spTgt spid="134160">
                                            <p:txEl>
                                              <p:charRg st="0" end="2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4162">
                                            <p:txEl>
                                              <p:charRg st="0" end="9"/>
                                            </p:txEl>
                                          </p:spTgt>
                                        </p:tgtEl>
                                        <p:attrNameLst>
                                          <p:attrName>style.visibility</p:attrName>
                                        </p:attrNameLst>
                                      </p:cBhvr>
                                      <p:to>
                                        <p:strVal val="visible"/>
                                      </p:to>
                                    </p:set>
                                    <p:animEffect transition="in" filter="wipe(left)">
                                      <p:cBhvr>
                                        <p:cTn id="22" dur="2000"/>
                                        <p:tgtEl>
                                          <p:spTgt spid="134162">
                                            <p:txEl>
                                              <p:charRg st="0"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4164">
                                            <p:txEl>
                                              <p:charRg st="0" end="14"/>
                                            </p:txEl>
                                          </p:spTgt>
                                        </p:tgtEl>
                                        <p:attrNameLst>
                                          <p:attrName>style.visibility</p:attrName>
                                        </p:attrNameLst>
                                      </p:cBhvr>
                                      <p:to>
                                        <p:strVal val="visible"/>
                                      </p:to>
                                    </p:set>
                                    <p:animEffect transition="in" filter="wipe(left)">
                                      <p:cBhvr>
                                        <p:cTn id="27" dur="2000"/>
                                        <p:tgtEl>
                                          <p:spTgt spid="134164">
                                            <p:txEl>
                                              <p:charRg st="0"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58" grpId="0" uiExpand="1" build="p"/>
      <p:bldP spid="134160" grpId="0" uiExpand="1" build="p"/>
      <p:bldP spid="134162" grpId="0" uiExpand="1" build="p"/>
      <p:bldP spid="134164" grpId="0" uiExpand="1"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50535" name="Text Box 7"/>
          <p:cNvSpPr txBox="1">
            <a:spLocks noChangeArrowheads="1"/>
          </p:cNvSpPr>
          <p:nvPr/>
        </p:nvSpPr>
        <p:spPr bwMode="auto">
          <a:xfrm>
            <a:off x="912813" y="1261110"/>
            <a:ext cx="7848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
                <a:srgbClr val="FF9900"/>
              </a:buClr>
              <a:buSzPct val="80000"/>
              <a:buFont typeface="Wingdings" panose="05000000000000000000" pitchFamily="2" charset="2"/>
              <a:buChar char="n"/>
              <a:defRPr/>
            </a:pPr>
            <a:r>
              <a:rPr kumimoji="0" lang="en-US" altLang="zh-CN" sz="2800" kern="1200" cap="none" spc="0" normalizeH="0" baseline="0" noProof="0" smtClean="0">
                <a:solidFill>
                  <a:srgbClr val="0033CC"/>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 </a:t>
            </a:r>
            <a:r>
              <a:rPr kumimoji="0" lang="zh-CN" altLang="en-US" sz="2800" kern="1200" cap="none" spc="0" normalizeH="0" baseline="0" noProof="0" smtClean="0">
                <a:solidFill>
                  <a:srgbClr val="0033CC"/>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目前常用的类型</a:t>
            </a:r>
            <a:endParaRPr kumimoji="0" lang="zh-CN" altLang="en-US" sz="2800" kern="1200" cap="none" spc="0" normalizeH="0" baseline="0" noProof="0" smtClean="0">
              <a:solidFill>
                <a:srgbClr val="0033CC"/>
              </a:solidFill>
              <a:effectLst>
                <a:outerShdw blurRad="38100" dist="38100" dir="2700000" algn="tl">
                  <a:srgbClr val="000000"/>
                </a:outerShdw>
              </a:effectLst>
              <a:latin typeface="Arial" panose="020B0604020202020204" pitchFamily="34" charset="0"/>
              <a:ea typeface="宋体" panose="02010600030101010101" pitchFamily="2" charset="-122"/>
              <a:cs typeface="+mn-cs"/>
            </a:endParaRPr>
          </a:p>
        </p:txBody>
      </p:sp>
      <p:sp>
        <p:nvSpPr>
          <p:cNvPr id="150536" name="Text Box 8"/>
          <p:cNvSpPr txBox="1">
            <a:spLocks noChangeArrowheads="1"/>
          </p:cNvSpPr>
          <p:nvPr/>
        </p:nvSpPr>
        <p:spPr bwMode="auto">
          <a:xfrm>
            <a:off x="1416050" y="1780540"/>
            <a:ext cx="7345363"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
                <a:srgbClr val="FF00FF"/>
              </a:buClr>
              <a:buSzPct val="80000"/>
              <a:buFont typeface="Wingdings" panose="05000000000000000000" pitchFamily="2" charset="2"/>
              <a:buChar char="n"/>
              <a:defRPr/>
            </a:pPr>
            <a:r>
              <a:rPr kumimoji="0" lang="en-US" altLang="zh-CN"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Arial" panose="020B0604020202020204" pitchFamily="34" charset="0"/>
                <a:ea typeface="宋体" panose="02010600030101010101" pitchFamily="2" charset="-122"/>
                <a:cs typeface="+mn-cs"/>
              </a:rPr>
              <a:t> </a:t>
            </a:r>
            <a:r>
              <a:rPr kumimoji="0" lang="zh-CN" altLang="en-US"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Arial" panose="020B0604020202020204" pitchFamily="34" charset="0"/>
                <a:ea typeface="宋体" panose="02010600030101010101" pitchFamily="2" charset="-122"/>
                <a:cs typeface="+mn-cs"/>
              </a:rPr>
              <a:t>十进制、二进制等</a:t>
            </a:r>
            <a:endParaRPr kumimoji="0" lang="zh-CN" altLang="en-US"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Arial" panose="020B0604020202020204" pitchFamily="34" charset="0"/>
              <a:ea typeface="宋体" panose="02010600030101010101" pitchFamily="2" charset="-122"/>
              <a:cs typeface="+mn-cs"/>
            </a:endParaRPr>
          </a:p>
          <a:p>
            <a:pPr marR="0" defTabSz="914400">
              <a:spcBef>
                <a:spcPct val="50000"/>
              </a:spcBef>
              <a:buClr>
                <a:srgbClr val="FF00FF"/>
              </a:buClr>
              <a:buSzTx/>
              <a:buFont typeface="Wingdings" panose="05000000000000000000" pitchFamily="2" charset="2"/>
              <a:defRPr/>
            </a:pPr>
            <a:r>
              <a:rPr kumimoji="0" lang="zh-CN" altLang="en-US"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Arial" panose="020B0604020202020204" pitchFamily="34" charset="0"/>
                <a:ea typeface="宋体" panose="02010600030101010101" pitchFamily="2" charset="-122"/>
                <a:cs typeface="+mn-cs"/>
              </a:rPr>
              <a:t>利用已有的芯片加以变换，构成任意进制的计数器</a:t>
            </a:r>
            <a:endParaRPr kumimoji="0" lang="zh-CN" altLang="en-US" sz="2400" b="1" kern="1200" cap="none" spc="0" normalizeH="0" baseline="0" noProof="0" smtClean="0">
              <a:gradFill>
                <a:gsLst>
                  <a:gs pos="0">
                    <a:srgbClr val="012D86"/>
                  </a:gs>
                  <a:gs pos="100000">
                    <a:srgbClr val="0E2557"/>
                  </a:gs>
                </a:gsLst>
                <a:lin scaled="0"/>
              </a:gradFill>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150537" name="Text Box 9"/>
          <p:cNvSpPr txBox="1">
            <a:spLocks noChangeArrowheads="1"/>
          </p:cNvSpPr>
          <p:nvPr/>
        </p:nvSpPr>
        <p:spPr bwMode="auto">
          <a:xfrm>
            <a:off x="985838" y="2880995"/>
            <a:ext cx="7848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
                <a:srgbClr val="FF9900"/>
              </a:buClr>
              <a:buSzPct val="80000"/>
              <a:buFont typeface="Wingdings" panose="05000000000000000000" pitchFamily="2" charset="2"/>
              <a:buChar char="n"/>
              <a:defRPr/>
            </a:pPr>
            <a:r>
              <a:rPr kumimoji="0" lang="en-US" altLang="zh-CN" sz="2800" kern="1200" cap="none" spc="0" normalizeH="0" baseline="0" noProof="0" smtClean="0">
                <a:solidFill>
                  <a:srgbClr val="0033CC"/>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 </a:t>
            </a:r>
            <a:r>
              <a:rPr kumimoji="0" lang="zh-CN" altLang="en-US" sz="2800" kern="1200" cap="none" spc="0" normalizeH="0" baseline="0" noProof="0" smtClean="0">
                <a:solidFill>
                  <a:srgbClr val="0033CC"/>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若已有</a:t>
            </a:r>
            <a:r>
              <a:rPr kumimoji="0" lang="en-US" altLang="zh-CN" sz="2800" i="1" kern="1200" cap="none" spc="0" normalizeH="0" baseline="0" noProof="0" smtClean="0">
                <a:solidFill>
                  <a:srgbClr val="0033CC"/>
                </a:solidFill>
                <a:effectLst>
                  <a:outerShdw blurRad="38100" dist="38100" dir="2700000" algn="tl">
                    <a:srgbClr val="000000"/>
                  </a:outerShdw>
                </a:effectLst>
                <a:latin typeface="Times New Roman" panose="02020603050405020304" charset="0"/>
                <a:ea typeface="宋体" panose="02010600030101010101" pitchFamily="2" charset="-122"/>
                <a:cs typeface="Times New Roman" panose="02020603050405020304" charset="0"/>
              </a:rPr>
              <a:t>M</a:t>
            </a:r>
            <a:r>
              <a:rPr kumimoji="0" lang="zh-CN" altLang="en-US" sz="2800" kern="1200" cap="none" spc="0" normalizeH="0" baseline="0" noProof="0" smtClean="0">
                <a:solidFill>
                  <a:srgbClr val="0033CC"/>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进制计数器，需改为</a:t>
            </a:r>
            <a:r>
              <a:rPr kumimoji="0" lang="en-US" altLang="zh-CN" sz="2800" i="1" kern="1200" cap="none" spc="0" normalizeH="0" baseline="0" noProof="0" smtClean="0">
                <a:solidFill>
                  <a:srgbClr val="0033CC"/>
                </a:solidFill>
                <a:effectLst>
                  <a:outerShdw blurRad="38100" dist="38100" dir="2700000" algn="tl">
                    <a:srgbClr val="000000"/>
                  </a:outerShdw>
                </a:effectLst>
                <a:latin typeface="Times New Roman" panose="02020603050405020304" charset="0"/>
                <a:ea typeface="宋体" panose="02010600030101010101" pitchFamily="2" charset="-122"/>
                <a:cs typeface="Times New Roman" panose="02020603050405020304" charset="0"/>
              </a:rPr>
              <a:t>N</a:t>
            </a:r>
            <a:r>
              <a:rPr kumimoji="0" lang="zh-CN" altLang="en-US" sz="2800" kern="1200" cap="none" spc="0" normalizeH="0" baseline="0" noProof="0" smtClean="0">
                <a:solidFill>
                  <a:srgbClr val="0033CC"/>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进制</a:t>
            </a:r>
            <a:endParaRPr kumimoji="0" lang="zh-CN" altLang="en-US" sz="2800" kern="1200" cap="none" spc="0" normalizeH="0" baseline="0" noProof="0" smtClean="0">
              <a:solidFill>
                <a:srgbClr val="0033CC"/>
              </a:solidFill>
              <a:effectLst>
                <a:outerShdw blurRad="38100" dist="38100" dir="2700000" algn="tl">
                  <a:srgbClr val="000000"/>
                </a:outerShdw>
              </a:effectLst>
              <a:latin typeface="Arial" panose="020B0604020202020204" pitchFamily="34" charset="0"/>
              <a:ea typeface="宋体" panose="02010600030101010101" pitchFamily="2" charset="-122"/>
              <a:cs typeface="+mn-cs"/>
            </a:endParaRPr>
          </a:p>
        </p:txBody>
      </p:sp>
      <p:sp>
        <p:nvSpPr>
          <p:cNvPr id="150538" name="Text Box 10"/>
          <p:cNvSpPr txBox="1">
            <a:spLocks noChangeArrowheads="1"/>
          </p:cNvSpPr>
          <p:nvPr/>
        </p:nvSpPr>
        <p:spPr bwMode="auto">
          <a:xfrm>
            <a:off x="1489075" y="3400425"/>
            <a:ext cx="7345363"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
                <a:srgbClr val="FF00FF"/>
              </a:buClr>
              <a:buSzPct val="80000"/>
              <a:buFont typeface="Wingdings" panose="05000000000000000000" pitchFamily="2" charset="2"/>
              <a:buChar char="n"/>
              <a:defRPr/>
            </a:pPr>
            <a:r>
              <a:rPr kumimoji="0" lang="en-US" altLang="zh-CN" sz="24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 </a:t>
            </a:r>
            <a:r>
              <a:rPr kumimoji="0" lang="en-US" altLang="zh-CN" sz="2400" b="1" i="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N</a:t>
            </a:r>
            <a:r>
              <a:rPr kumimoji="0" lang="en-US" altLang="zh-CN" sz="24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&lt;</a:t>
            </a:r>
            <a:r>
              <a:rPr kumimoji="0" lang="en-US" altLang="zh-CN" sz="2400" b="1" i="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M</a:t>
            </a:r>
            <a:endParaRPr kumimoji="0" lang="en-US" altLang="zh-CN" sz="24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endParaRPr>
          </a:p>
          <a:p>
            <a:pPr marR="0" defTabSz="914400">
              <a:spcBef>
                <a:spcPct val="50000"/>
              </a:spcBef>
              <a:buClr>
                <a:srgbClr val="FF00FF"/>
              </a:buClr>
              <a:buSzPct val="80000"/>
              <a:buFont typeface="Wingdings" panose="05000000000000000000" pitchFamily="2" charset="2"/>
              <a:buChar char="n"/>
              <a:defRPr/>
            </a:pPr>
            <a:r>
              <a:rPr kumimoji="0" lang="en-US" altLang="zh-CN" sz="24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 </a:t>
            </a:r>
            <a:r>
              <a:rPr kumimoji="0" lang="en-US" altLang="zh-CN" sz="2400" b="1" i="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N</a:t>
            </a:r>
            <a:r>
              <a:rPr kumimoji="0" lang="en-US" altLang="zh-CN" sz="24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&gt;</a:t>
            </a:r>
            <a:r>
              <a:rPr kumimoji="0" lang="en-US" altLang="zh-CN" sz="2400" b="1" i="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M</a:t>
            </a:r>
            <a:endParaRPr kumimoji="0" lang="en-US" altLang="zh-CN" sz="2400" b="1" i="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endParaRPr>
          </a:p>
        </p:txBody>
      </p:sp>
      <p:sp>
        <p:nvSpPr>
          <p:cNvPr id="2" name="文本框 1"/>
          <p:cNvSpPr txBox="1"/>
          <p:nvPr/>
        </p:nvSpPr>
        <p:spPr>
          <a:xfrm>
            <a:off x="862330" y="4539615"/>
            <a:ext cx="7824470" cy="939800"/>
          </a:xfrm>
          <a:prstGeom prst="rect">
            <a:avLst/>
          </a:prstGeom>
          <a:noFill/>
        </p:spPr>
        <p:txBody>
          <a:bodyPr wrap="square" rtlCol="0" anchor="t">
            <a:spAutoFit/>
          </a:bodyPr>
          <a:p>
            <a:r>
              <a:rPr lang="en-US" altLang="zh-CN" sz="2400" b="1">
                <a:gradFill>
                  <a:gsLst>
                    <a:gs pos="0">
                      <a:srgbClr val="012D86"/>
                    </a:gs>
                    <a:gs pos="100000">
                      <a:srgbClr val="0E2557"/>
                    </a:gs>
                  </a:gsLst>
                  <a:lin scaled="0"/>
                </a:gradFill>
              </a:rPr>
              <a:t>      </a:t>
            </a:r>
            <a:r>
              <a:rPr lang="zh-CN" altLang="en-US" sz="2400" b="1">
                <a:gradFill>
                  <a:gsLst>
                    <a:gs pos="0">
                      <a:srgbClr val="012D86"/>
                    </a:gs>
                    <a:gs pos="100000">
                      <a:srgbClr val="0E2557"/>
                    </a:gs>
                  </a:gsLst>
                  <a:lin scaled="0"/>
                </a:gradFill>
              </a:rPr>
              <a:t>利用已有计数器构成任意进制计数器的方法有反馈清</a:t>
            </a:r>
            <a:endParaRPr lang="zh-CN" altLang="en-US" sz="2400" b="1">
              <a:gradFill>
                <a:gsLst>
                  <a:gs pos="0">
                    <a:srgbClr val="012D86"/>
                  </a:gs>
                  <a:gs pos="100000">
                    <a:srgbClr val="0E2557"/>
                  </a:gs>
                </a:gsLst>
                <a:lin scaled="0"/>
              </a:gradFill>
            </a:endParaRPr>
          </a:p>
          <a:p>
            <a:pPr>
              <a:lnSpc>
                <a:spcPct val="130000"/>
              </a:lnSpc>
            </a:pPr>
            <a:r>
              <a:rPr lang="zh-CN" altLang="en-US" sz="2400" b="1">
                <a:gradFill>
                  <a:gsLst>
                    <a:gs pos="0">
                      <a:srgbClr val="012D86"/>
                    </a:gs>
                    <a:gs pos="100000">
                      <a:srgbClr val="0E2557"/>
                    </a:gs>
                  </a:gsLst>
                  <a:lin scaled="0"/>
                </a:gradFill>
              </a:rPr>
              <a:t>零法和反馈置数法。</a:t>
            </a:r>
            <a:endParaRPr lang="zh-CN" altLang="en-US" sz="2400" b="1">
              <a:gradFill>
                <a:gsLst>
                  <a:gs pos="0">
                    <a:srgbClr val="012D86"/>
                  </a:gs>
                  <a:gs pos="100000">
                    <a:srgbClr val="0E2557"/>
                  </a:gs>
                </a:gsLst>
                <a:lin scaled="0"/>
              </a:gra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0537"/>
                                        </p:tgtEl>
                                        <p:attrNameLst>
                                          <p:attrName>style.visibility</p:attrName>
                                        </p:attrNameLst>
                                      </p:cBhvr>
                                      <p:to>
                                        <p:strVal val="visible"/>
                                      </p:to>
                                    </p:set>
                                    <p:animEffect transition="in" filter="wipe(left)">
                                      <p:cBhvr>
                                        <p:cTn id="7" dur="2000"/>
                                        <p:tgtEl>
                                          <p:spTgt spid="1505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0538">
                                            <p:txEl>
                                              <p:charRg st="0" end="5"/>
                                            </p:txEl>
                                          </p:spTgt>
                                        </p:tgtEl>
                                        <p:attrNameLst>
                                          <p:attrName>style.visibility</p:attrName>
                                        </p:attrNameLst>
                                      </p:cBhvr>
                                      <p:to>
                                        <p:strVal val="visible"/>
                                      </p:to>
                                    </p:set>
                                    <p:animEffect transition="in" filter="wipe(left)">
                                      <p:cBhvr>
                                        <p:cTn id="12" dur="2000"/>
                                        <p:tgtEl>
                                          <p:spTgt spid="150538">
                                            <p:txEl>
                                              <p:charRg st="0" end="5"/>
                                            </p:txEl>
                                          </p:spTgt>
                                        </p:tgtEl>
                                      </p:cBhvr>
                                    </p:animEffect>
                                  </p:childTnLst>
                                </p:cTn>
                              </p:par>
                            </p:childTnLst>
                          </p:cTn>
                        </p:par>
                        <p:par>
                          <p:cTn id="13" fill="hold">
                            <p:stCondLst>
                              <p:cond delay="2000"/>
                            </p:stCondLst>
                            <p:childTnLst>
                              <p:par>
                                <p:cTn id="14" presetID="22" presetClass="entr" presetSubtype="8" fill="hold" grpId="0" nodeType="afterEffect">
                                  <p:stCondLst>
                                    <p:cond delay="0"/>
                                  </p:stCondLst>
                                  <p:childTnLst>
                                    <p:set>
                                      <p:cBhvr>
                                        <p:cTn id="15" dur="1" fill="hold">
                                          <p:stCondLst>
                                            <p:cond delay="0"/>
                                          </p:stCondLst>
                                        </p:cTn>
                                        <p:tgtEl>
                                          <p:spTgt spid="150538">
                                            <p:txEl>
                                              <p:charRg st="5" end="10"/>
                                            </p:txEl>
                                          </p:spTgt>
                                        </p:tgtEl>
                                        <p:attrNameLst>
                                          <p:attrName>style.visibility</p:attrName>
                                        </p:attrNameLst>
                                      </p:cBhvr>
                                      <p:to>
                                        <p:strVal val="visible"/>
                                      </p:to>
                                    </p:set>
                                    <p:animEffect transition="in" filter="wipe(left)">
                                      <p:cBhvr>
                                        <p:cTn id="16" dur="2000"/>
                                        <p:tgtEl>
                                          <p:spTgt spid="150538">
                                            <p:txEl>
                                              <p:charRg st="5" end="1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Effect transition="in" filter="wipe(left)">
                                      <p:cBhvr>
                                        <p:cTn id="21" dur="500"/>
                                        <p:tgtEl>
                                          <p:spTgt spid="2">
                                            <p:txEl>
                                              <p:pRg st="0" end="0"/>
                                            </p:txEl>
                                          </p:spTgt>
                                        </p:tgtEl>
                                      </p:cBhvr>
                                    </p:animEffect>
                                  </p:childTnLst>
                                </p:cTn>
                              </p:par>
                            </p:childTnLst>
                          </p:cTn>
                        </p:par>
                        <p:par>
                          <p:cTn id="22" fill="hold">
                            <p:stCondLst>
                              <p:cond delay="500"/>
                            </p:stCondLst>
                            <p:childTnLst>
                              <p:par>
                                <p:cTn id="23" presetID="22" presetClass="entr" presetSubtype="8" fill="hold" grpId="0" nodeType="afterEffect">
                                  <p:stCondLst>
                                    <p:cond delay="500"/>
                                  </p:stCondLst>
                                  <p:childTnLst>
                                    <p:set>
                                      <p:cBhvr>
                                        <p:cTn id="24" dur="1" fill="hold">
                                          <p:stCondLst>
                                            <p:cond delay="0"/>
                                          </p:stCondLst>
                                        </p:cTn>
                                        <p:tgtEl>
                                          <p:spTgt spid="2">
                                            <p:txEl>
                                              <p:pRg st="1" end="1"/>
                                            </p:txEl>
                                          </p:spTgt>
                                        </p:tgtEl>
                                        <p:attrNameLst>
                                          <p:attrName>style.visibility</p:attrName>
                                        </p:attrNameLst>
                                      </p:cBhvr>
                                      <p:to>
                                        <p:strVal val="visible"/>
                                      </p:to>
                                    </p:set>
                                    <p:animEffect transition="in" filter="wipe(left)">
                                      <p:cBhvr>
                                        <p:cTn id="25"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7" grpId="0" bldLvl="0" animBg="1"/>
      <p:bldP spid="150538" grpId="0" uiExpand="1" build="p"/>
      <p:bldP spid="2"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0" name="文本框 99"/>
          <p:cNvSpPr txBox="1"/>
          <p:nvPr/>
        </p:nvSpPr>
        <p:spPr>
          <a:xfrm>
            <a:off x="717550" y="1095375"/>
            <a:ext cx="5080000" cy="460375"/>
          </a:xfrm>
          <a:prstGeom prst="rect">
            <a:avLst/>
          </a:prstGeom>
          <a:noFill/>
          <a:ln w="9525">
            <a:noFill/>
          </a:ln>
        </p:spPr>
        <p:txBody>
          <a:bodyPr>
            <a:spAutoFit/>
          </a:bodyPr>
          <a:p>
            <a:pPr indent="267970"/>
            <a:r>
              <a:rPr lang="en-US" sz="2400" b="1">
                <a:solidFill>
                  <a:schemeClr val="accent6">
                    <a:lumMod val="60000"/>
                    <a:lumOff val="40000"/>
                  </a:schemeClr>
                </a:solidFill>
                <a:latin typeface="Times New Roman" panose="02020603050405020304" charset="0"/>
              </a:rPr>
              <a:t>1. </a:t>
            </a:r>
            <a:r>
              <a:rPr lang="en-US" sz="2400" b="1" i="1">
                <a:solidFill>
                  <a:schemeClr val="accent6">
                    <a:lumMod val="60000"/>
                    <a:lumOff val="40000"/>
                  </a:schemeClr>
                </a:solidFill>
                <a:latin typeface="Times New Roman" panose="02020603050405020304" charset="0"/>
              </a:rPr>
              <a:t>M</a:t>
            </a:r>
            <a:r>
              <a:rPr lang="en-US" sz="2400" b="1">
                <a:solidFill>
                  <a:schemeClr val="accent6">
                    <a:lumMod val="60000"/>
                    <a:lumOff val="40000"/>
                  </a:schemeClr>
                </a:solidFill>
                <a:latin typeface="Times New Roman" panose="02020603050405020304" charset="0"/>
              </a:rPr>
              <a:t> &gt; </a:t>
            </a:r>
            <a:r>
              <a:rPr lang="en-US" sz="2400" b="1" i="1">
                <a:solidFill>
                  <a:schemeClr val="accent6">
                    <a:lumMod val="60000"/>
                    <a:lumOff val="40000"/>
                  </a:schemeClr>
                </a:solidFill>
                <a:latin typeface="Times New Roman" panose="02020603050405020304" charset="0"/>
              </a:rPr>
              <a:t>N</a:t>
            </a:r>
            <a:r>
              <a:rPr lang="zh-CN" sz="2400" b="1">
                <a:solidFill>
                  <a:schemeClr val="accent6">
                    <a:lumMod val="60000"/>
                    <a:lumOff val="40000"/>
                  </a:schemeClr>
                </a:solidFill>
                <a:ea typeface="宋体" panose="02010600030101010101" pitchFamily="2" charset="-122"/>
              </a:rPr>
              <a:t>的情况</a:t>
            </a:r>
            <a:endParaRPr lang="zh-CN" altLang="en-US" sz="2400" b="1">
              <a:solidFill>
                <a:schemeClr val="accent6">
                  <a:lumMod val="60000"/>
                  <a:lumOff val="40000"/>
                </a:schemeClr>
              </a:solidFill>
              <a:ea typeface="宋体" panose="02010600030101010101" pitchFamily="2" charset="-122"/>
            </a:endParaRPr>
          </a:p>
        </p:txBody>
      </p:sp>
      <p:sp>
        <p:nvSpPr>
          <p:cNvPr id="2" name="文本框 1"/>
          <p:cNvSpPr txBox="1"/>
          <p:nvPr/>
        </p:nvSpPr>
        <p:spPr>
          <a:xfrm>
            <a:off x="717550" y="1520825"/>
            <a:ext cx="5080000" cy="460375"/>
          </a:xfrm>
          <a:prstGeom prst="rect">
            <a:avLst/>
          </a:prstGeom>
          <a:noFill/>
          <a:ln w="9525">
            <a:noFill/>
          </a:ln>
        </p:spPr>
        <p:txBody>
          <a:bodyPr>
            <a:spAutoFit/>
          </a:bodyPr>
          <a:p>
            <a:pPr indent="266700"/>
            <a:r>
              <a:rPr lang="en-US" sz="2400" b="1">
                <a:latin typeface="Times New Roman" panose="02020603050405020304" charset="0"/>
              </a:rPr>
              <a:t>(1) </a:t>
            </a:r>
            <a:r>
              <a:rPr lang="zh-CN" sz="2400" b="1">
                <a:ea typeface="宋体" panose="02010600030101010101" pitchFamily="2" charset="-122"/>
              </a:rPr>
              <a:t>反馈清零法</a:t>
            </a:r>
            <a:endParaRPr lang="zh-CN" altLang="en-US" sz="2400" b="1"/>
          </a:p>
        </p:txBody>
      </p:sp>
      <p:sp>
        <p:nvSpPr>
          <p:cNvPr id="3" name="文本框 2"/>
          <p:cNvSpPr txBox="1"/>
          <p:nvPr/>
        </p:nvSpPr>
        <p:spPr>
          <a:xfrm>
            <a:off x="271780" y="1981200"/>
            <a:ext cx="8600440" cy="1938020"/>
          </a:xfrm>
          <a:prstGeom prst="rect">
            <a:avLst/>
          </a:prstGeom>
          <a:noFill/>
          <a:ln w="9525">
            <a:noFill/>
          </a:ln>
        </p:spPr>
        <p:txBody>
          <a:bodyPr wrap="square">
            <a:spAutoFit/>
          </a:bodyPr>
          <a:p>
            <a:pPr indent="266700"/>
            <a:r>
              <a:rPr lang="en-US" altLang="zh-CN" sz="2400" b="1">
                <a:gradFill>
                  <a:gsLst>
                    <a:gs pos="0">
                      <a:srgbClr val="012D86"/>
                    </a:gs>
                    <a:gs pos="100000">
                      <a:srgbClr val="0E2557"/>
                    </a:gs>
                  </a:gsLst>
                  <a:lin scaled="0"/>
                </a:gradFill>
                <a:ea typeface="宋体" panose="02010600030101010101" pitchFamily="2" charset="-122"/>
              </a:rPr>
              <a:t>    </a:t>
            </a:r>
            <a:r>
              <a:rPr lang="zh-CN" sz="2400" b="1">
                <a:gradFill>
                  <a:gsLst>
                    <a:gs pos="0">
                      <a:srgbClr val="012D86"/>
                    </a:gs>
                    <a:gs pos="100000">
                      <a:srgbClr val="0E2557"/>
                    </a:gs>
                  </a:gsLst>
                  <a:lin scaled="0"/>
                </a:gradFill>
                <a:ea typeface="宋体" panose="02010600030101010101" pitchFamily="2" charset="-122"/>
              </a:rPr>
              <a:t>对于异步清零，其工作原理是：对</a:t>
            </a:r>
            <a:r>
              <a:rPr lang="en-US" sz="2400" b="1" i="1">
                <a:gradFill>
                  <a:gsLst>
                    <a:gs pos="0">
                      <a:srgbClr val="012D86"/>
                    </a:gs>
                    <a:gs pos="100000">
                      <a:srgbClr val="0E2557"/>
                    </a:gs>
                  </a:gsLst>
                  <a:lin scaled="0"/>
                </a:gradFill>
                <a:latin typeface="Times New Roman" panose="02020603050405020304" charset="0"/>
              </a:rPr>
              <a:t>M</a:t>
            </a:r>
            <a:r>
              <a:rPr lang="zh-CN" sz="2400" b="1">
                <a:gradFill>
                  <a:gsLst>
                    <a:gs pos="0">
                      <a:srgbClr val="012D86"/>
                    </a:gs>
                    <a:gs pos="100000">
                      <a:srgbClr val="0E2557"/>
                    </a:gs>
                  </a:gsLst>
                  <a:lin scaled="0"/>
                </a:gradFill>
                <a:ea typeface="宋体" panose="02010600030101010101" pitchFamily="2" charset="-122"/>
              </a:rPr>
              <a:t>进制计数器，当从全</a:t>
            </a:r>
            <a:r>
              <a:rPr lang="en-US" sz="2400" b="1">
                <a:gradFill>
                  <a:gsLst>
                    <a:gs pos="0">
                      <a:srgbClr val="012D86"/>
                    </a:gs>
                    <a:gs pos="100000">
                      <a:srgbClr val="0E2557"/>
                    </a:gs>
                  </a:gsLst>
                  <a:lin scaled="0"/>
                </a:gradFill>
                <a:latin typeface="Times New Roman" panose="02020603050405020304" charset="0"/>
              </a:rPr>
              <a:t>0</a:t>
            </a:r>
            <a:r>
              <a:rPr lang="zh-CN" sz="2400" b="1">
                <a:gradFill>
                  <a:gsLst>
                    <a:gs pos="0">
                      <a:srgbClr val="012D86"/>
                    </a:gs>
                    <a:gs pos="100000">
                      <a:srgbClr val="0E2557"/>
                    </a:gs>
                  </a:gsLst>
                  <a:lin scaled="0"/>
                </a:gradFill>
                <a:ea typeface="宋体" panose="02010600030101010101" pitchFamily="2" charset="-122"/>
              </a:rPr>
              <a:t>状态</a:t>
            </a:r>
            <a:r>
              <a:rPr lang="en-US" sz="2400" b="1" i="1">
                <a:gradFill>
                  <a:gsLst>
                    <a:gs pos="0">
                      <a:srgbClr val="012D86"/>
                    </a:gs>
                    <a:gs pos="100000">
                      <a:srgbClr val="0E2557"/>
                    </a:gs>
                  </a:gsLst>
                  <a:lin scaled="0"/>
                </a:gradFill>
                <a:latin typeface="Times New Roman" panose="02020603050405020304" charset="0"/>
              </a:rPr>
              <a:t>S</a:t>
            </a:r>
            <a:r>
              <a:rPr lang="en-US" sz="2400" b="1" baseline="-25000">
                <a:gradFill>
                  <a:gsLst>
                    <a:gs pos="0">
                      <a:srgbClr val="012D86"/>
                    </a:gs>
                    <a:gs pos="100000">
                      <a:srgbClr val="0E2557"/>
                    </a:gs>
                  </a:gsLst>
                  <a:lin scaled="0"/>
                </a:gradFill>
                <a:latin typeface="Times New Roman" panose="02020603050405020304" charset="0"/>
              </a:rPr>
              <a:t>0</a:t>
            </a:r>
            <a:r>
              <a:rPr lang="zh-CN" sz="2400" b="1">
                <a:gradFill>
                  <a:gsLst>
                    <a:gs pos="0">
                      <a:srgbClr val="012D86"/>
                    </a:gs>
                    <a:gs pos="100000">
                      <a:srgbClr val="0E2557"/>
                    </a:gs>
                  </a:gsLst>
                  <a:lin scaled="0"/>
                </a:gradFill>
                <a:ea typeface="宋体" panose="02010600030101010101" pitchFamily="2" charset="-122"/>
              </a:rPr>
              <a:t>开始计数，接收了</a:t>
            </a:r>
            <a:r>
              <a:rPr lang="en-US" sz="2400" b="1" i="1">
                <a:gradFill>
                  <a:gsLst>
                    <a:gs pos="0">
                      <a:srgbClr val="012D86"/>
                    </a:gs>
                    <a:gs pos="100000">
                      <a:srgbClr val="0E2557"/>
                    </a:gs>
                  </a:gsLst>
                  <a:lin scaled="0"/>
                </a:gradFill>
                <a:latin typeface="Times New Roman" panose="02020603050405020304" charset="0"/>
              </a:rPr>
              <a:t>N</a:t>
            </a:r>
            <a:r>
              <a:rPr lang="zh-CN" sz="2400" b="1">
                <a:gradFill>
                  <a:gsLst>
                    <a:gs pos="0">
                      <a:srgbClr val="012D86"/>
                    </a:gs>
                    <a:gs pos="100000">
                      <a:srgbClr val="0E2557"/>
                    </a:gs>
                  </a:gsLst>
                  <a:lin scaled="0"/>
                </a:gradFill>
                <a:ea typeface="宋体" panose="02010600030101010101" pitchFamily="2" charset="-122"/>
              </a:rPr>
              <a:t>个计数脉冲后，电路进入</a:t>
            </a:r>
            <a:r>
              <a:rPr lang="en-US" sz="2400" b="1" i="1">
                <a:gradFill>
                  <a:gsLst>
                    <a:gs pos="0">
                      <a:srgbClr val="012D86"/>
                    </a:gs>
                    <a:gs pos="100000">
                      <a:srgbClr val="0E2557"/>
                    </a:gs>
                  </a:gsLst>
                  <a:lin scaled="0"/>
                </a:gradFill>
                <a:latin typeface="Times New Roman" panose="02020603050405020304" charset="0"/>
              </a:rPr>
              <a:t>S</a:t>
            </a:r>
            <a:r>
              <a:rPr lang="en-US" sz="2400" b="1" i="1" baseline="-25000">
                <a:gradFill>
                  <a:gsLst>
                    <a:gs pos="0">
                      <a:srgbClr val="012D86"/>
                    </a:gs>
                    <a:gs pos="100000">
                      <a:srgbClr val="0E2557"/>
                    </a:gs>
                  </a:gsLst>
                  <a:lin scaled="0"/>
                </a:gradFill>
                <a:latin typeface="Times New Roman" panose="02020603050405020304" charset="0"/>
              </a:rPr>
              <a:t>N</a:t>
            </a:r>
            <a:r>
              <a:rPr lang="zh-CN" sz="2400" b="1">
                <a:gradFill>
                  <a:gsLst>
                    <a:gs pos="0">
                      <a:srgbClr val="012D86"/>
                    </a:gs>
                    <a:gs pos="100000">
                      <a:srgbClr val="0E2557"/>
                    </a:gs>
                  </a:gsLst>
                  <a:lin scaled="0"/>
                </a:gradFill>
                <a:ea typeface="宋体" panose="02010600030101010101" pitchFamily="2" charset="-122"/>
              </a:rPr>
              <a:t>状态，如果将</a:t>
            </a:r>
            <a:r>
              <a:rPr lang="en-US" sz="2400" b="1" i="1">
                <a:gradFill>
                  <a:gsLst>
                    <a:gs pos="0">
                      <a:srgbClr val="012D86"/>
                    </a:gs>
                    <a:gs pos="100000">
                      <a:srgbClr val="0E2557"/>
                    </a:gs>
                  </a:gsLst>
                  <a:lin scaled="0"/>
                </a:gradFill>
                <a:latin typeface="Times New Roman" panose="02020603050405020304" charset="0"/>
              </a:rPr>
              <a:t>S</a:t>
            </a:r>
            <a:r>
              <a:rPr lang="en-US" sz="2400" b="1" i="1" baseline="-25000">
                <a:gradFill>
                  <a:gsLst>
                    <a:gs pos="0">
                      <a:srgbClr val="012D86"/>
                    </a:gs>
                    <a:gs pos="100000">
                      <a:srgbClr val="0E2557"/>
                    </a:gs>
                  </a:gsLst>
                  <a:lin scaled="0"/>
                </a:gradFill>
                <a:latin typeface="Times New Roman" panose="02020603050405020304" charset="0"/>
              </a:rPr>
              <a:t>N</a:t>
            </a:r>
            <a:r>
              <a:rPr lang="zh-CN" sz="2400" b="1">
                <a:gradFill>
                  <a:gsLst>
                    <a:gs pos="0">
                      <a:srgbClr val="012D86"/>
                    </a:gs>
                    <a:gs pos="100000">
                      <a:srgbClr val="0E2557"/>
                    </a:gs>
                  </a:gsLst>
                  <a:lin scaled="0"/>
                </a:gradFill>
                <a:ea typeface="宋体" panose="02010600030101010101" pitchFamily="2" charset="-122"/>
              </a:rPr>
              <a:t>状态译码产生一个清零信号加到计数器的异步清零输入端，则计数器将立刻返回</a:t>
            </a:r>
            <a:r>
              <a:rPr lang="en-US" sz="2400" b="1" i="1">
                <a:gradFill>
                  <a:gsLst>
                    <a:gs pos="0">
                      <a:srgbClr val="012D86"/>
                    </a:gs>
                    <a:gs pos="100000">
                      <a:srgbClr val="0E2557"/>
                    </a:gs>
                  </a:gsLst>
                  <a:lin scaled="0"/>
                </a:gradFill>
                <a:latin typeface="Times New Roman" panose="02020603050405020304" charset="0"/>
              </a:rPr>
              <a:t>S</a:t>
            </a:r>
            <a:r>
              <a:rPr lang="en-US" sz="2400" b="1" baseline="-25000">
                <a:gradFill>
                  <a:gsLst>
                    <a:gs pos="0">
                      <a:srgbClr val="012D86"/>
                    </a:gs>
                    <a:gs pos="100000">
                      <a:srgbClr val="0E2557"/>
                    </a:gs>
                  </a:gsLst>
                  <a:lin scaled="0"/>
                </a:gradFill>
                <a:latin typeface="Times New Roman" panose="02020603050405020304" charset="0"/>
              </a:rPr>
              <a:t>0</a:t>
            </a:r>
            <a:r>
              <a:rPr lang="zh-CN" sz="2400" b="1">
                <a:gradFill>
                  <a:gsLst>
                    <a:gs pos="0">
                      <a:srgbClr val="012D86"/>
                    </a:gs>
                    <a:gs pos="100000">
                      <a:srgbClr val="0E2557"/>
                    </a:gs>
                  </a:gsLst>
                  <a:lin scaled="0"/>
                </a:gradFill>
                <a:ea typeface="宋体" panose="02010600030101010101" pitchFamily="2" charset="-122"/>
              </a:rPr>
              <a:t>状态，清零信号消失后，计数器又从</a:t>
            </a:r>
            <a:r>
              <a:rPr lang="en-US" sz="2400" b="1" i="1">
                <a:gradFill>
                  <a:gsLst>
                    <a:gs pos="0">
                      <a:srgbClr val="012D86"/>
                    </a:gs>
                    <a:gs pos="100000">
                      <a:srgbClr val="0E2557"/>
                    </a:gs>
                  </a:gsLst>
                  <a:lin scaled="0"/>
                </a:gradFill>
                <a:latin typeface="Times New Roman" panose="02020603050405020304" charset="0"/>
              </a:rPr>
              <a:t>S</a:t>
            </a:r>
            <a:r>
              <a:rPr lang="en-US" sz="2400" b="1" baseline="-25000">
                <a:gradFill>
                  <a:gsLst>
                    <a:gs pos="0">
                      <a:srgbClr val="012D86"/>
                    </a:gs>
                    <a:gs pos="100000">
                      <a:srgbClr val="0E2557"/>
                    </a:gs>
                  </a:gsLst>
                  <a:lin scaled="0"/>
                </a:gradFill>
                <a:latin typeface="Times New Roman" panose="02020603050405020304" charset="0"/>
              </a:rPr>
              <a:t>0</a:t>
            </a:r>
            <a:r>
              <a:rPr lang="zh-CN" sz="2400" b="1">
                <a:gradFill>
                  <a:gsLst>
                    <a:gs pos="0">
                      <a:srgbClr val="012D86"/>
                    </a:gs>
                    <a:gs pos="100000">
                      <a:srgbClr val="0E2557"/>
                    </a:gs>
                  </a:gsLst>
                  <a:lin scaled="0"/>
                </a:gradFill>
                <a:ea typeface="宋体" panose="02010600030101010101" pitchFamily="2" charset="-122"/>
              </a:rPr>
              <a:t>状态开始重新计数，从而得到</a:t>
            </a:r>
            <a:r>
              <a:rPr lang="en-US" sz="2400" b="1" i="1">
                <a:gradFill>
                  <a:gsLst>
                    <a:gs pos="0">
                      <a:srgbClr val="012D86"/>
                    </a:gs>
                    <a:gs pos="100000">
                      <a:srgbClr val="0E2557"/>
                    </a:gs>
                  </a:gsLst>
                  <a:lin scaled="0"/>
                </a:gradFill>
                <a:latin typeface="Times New Roman" panose="02020603050405020304" charset="0"/>
              </a:rPr>
              <a:t>N</a:t>
            </a:r>
            <a:r>
              <a:rPr lang="zh-CN" sz="2400" b="1">
                <a:gradFill>
                  <a:gsLst>
                    <a:gs pos="0">
                      <a:srgbClr val="012D86"/>
                    </a:gs>
                    <a:gs pos="100000">
                      <a:srgbClr val="0E2557"/>
                    </a:gs>
                  </a:gsLst>
                  <a:lin scaled="0"/>
                </a:gradFill>
                <a:ea typeface="宋体" panose="02010600030101010101" pitchFamily="2" charset="-122"/>
              </a:rPr>
              <a:t>进制计数器。</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151560" name="Line 8"/>
          <p:cNvSpPr>
            <a:spLocks noChangeShapeType="1"/>
          </p:cNvSpPr>
          <p:nvPr/>
        </p:nvSpPr>
        <p:spPr bwMode="auto">
          <a:xfrm>
            <a:off x="3165475" y="4505325"/>
            <a:ext cx="685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51562" name="Line 10"/>
          <p:cNvSpPr>
            <a:spLocks noChangeShapeType="1"/>
          </p:cNvSpPr>
          <p:nvPr/>
        </p:nvSpPr>
        <p:spPr bwMode="auto">
          <a:xfrm>
            <a:off x="4689475" y="4510405"/>
            <a:ext cx="1143000" cy="0"/>
          </a:xfrm>
          <a:prstGeom prst="line">
            <a:avLst/>
          </a:prstGeom>
          <a:noFill/>
          <a:ln w="28575">
            <a:solidFill>
              <a:schemeClr val="tx1"/>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51566" name="Line 14"/>
          <p:cNvSpPr>
            <a:spLocks noChangeShapeType="1"/>
          </p:cNvSpPr>
          <p:nvPr/>
        </p:nvSpPr>
        <p:spPr bwMode="auto">
          <a:xfrm flipH="1">
            <a:off x="3100070" y="5574030"/>
            <a:ext cx="2838450" cy="635"/>
          </a:xfrm>
          <a:prstGeom prst="line">
            <a:avLst/>
          </a:prstGeom>
          <a:noFill/>
          <a:ln w="28575">
            <a:solidFill>
              <a:schemeClr val="tx1"/>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51567" name="Line 15"/>
          <p:cNvSpPr>
            <a:spLocks noChangeShapeType="1"/>
          </p:cNvSpPr>
          <p:nvPr/>
        </p:nvSpPr>
        <p:spPr bwMode="auto">
          <a:xfrm flipV="1">
            <a:off x="2708275" y="4733925"/>
            <a:ext cx="0" cy="685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51568" name="Line 16"/>
          <p:cNvSpPr>
            <a:spLocks noChangeShapeType="1"/>
          </p:cNvSpPr>
          <p:nvPr/>
        </p:nvSpPr>
        <p:spPr bwMode="auto">
          <a:xfrm>
            <a:off x="6289675" y="4733925"/>
            <a:ext cx="0" cy="609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cxnSp>
        <p:nvCxnSpPr>
          <p:cNvPr id="151569" name="AutoShape 17"/>
          <p:cNvCxnSpPr>
            <a:stCxn id="151563" idx="2"/>
            <a:endCxn id="151559" idx="2"/>
          </p:cNvCxnSpPr>
          <p:nvPr/>
        </p:nvCxnSpPr>
        <p:spPr>
          <a:xfrm rot="5400000" flipH="1">
            <a:off x="4606290" y="3013075"/>
            <a:ext cx="29210" cy="3431540"/>
          </a:xfrm>
          <a:prstGeom prst="curvedConnector3">
            <a:avLst>
              <a:gd name="adj1" fmla="val -815217"/>
            </a:avLst>
          </a:prstGeom>
          <a:ln w="9525" cap="flat" cmpd="sng">
            <a:solidFill>
              <a:srgbClr val="FF0066"/>
            </a:solidFill>
            <a:prstDash val="solid"/>
            <a:headEnd type="none" w="med" len="med"/>
            <a:tailEnd type="triangle" w="med" len="med"/>
          </a:ln>
        </p:spPr>
      </p:cxnSp>
      <p:cxnSp>
        <p:nvCxnSpPr>
          <p:cNvPr id="151570" name="AutoShape 18"/>
          <p:cNvCxnSpPr/>
          <p:nvPr/>
        </p:nvCxnSpPr>
        <p:spPr>
          <a:xfrm rot="5400000">
            <a:off x="5707698" y="5030153"/>
            <a:ext cx="830580" cy="257175"/>
          </a:xfrm>
          <a:prstGeom prst="curvedConnector4">
            <a:avLst>
              <a:gd name="adj1" fmla="val 36124"/>
              <a:gd name="adj2" fmla="val 211851"/>
            </a:avLst>
          </a:prstGeom>
          <a:ln w="28575" cap="rnd" cmpd="sng">
            <a:solidFill>
              <a:schemeClr val="accent2"/>
            </a:solidFill>
            <a:prstDash val="sysDot"/>
            <a:headEnd type="none" w="med" len="med"/>
            <a:tailEnd type="triangle" w="med" len="med"/>
          </a:ln>
        </p:spPr>
      </p:cxnSp>
      <p:cxnSp>
        <p:nvCxnSpPr>
          <p:cNvPr id="151571" name="AutoShape 19"/>
          <p:cNvCxnSpPr/>
          <p:nvPr/>
        </p:nvCxnSpPr>
        <p:spPr>
          <a:xfrm rot="5400000" flipH="1">
            <a:off x="3910013" y="3626485"/>
            <a:ext cx="814387" cy="3048000"/>
          </a:xfrm>
          <a:prstGeom prst="curvedConnector3">
            <a:avLst>
              <a:gd name="adj1" fmla="val 49125"/>
            </a:avLst>
          </a:prstGeom>
          <a:ln w="28575" cap="rnd" cmpd="sng">
            <a:solidFill>
              <a:schemeClr val="accent2"/>
            </a:solidFill>
            <a:prstDash val="sysDot"/>
            <a:headEnd type="none" w="med" len="med"/>
            <a:tailEnd type="triangle" w="med" len="med"/>
          </a:ln>
        </p:spPr>
      </p:cxnSp>
      <p:grpSp>
        <p:nvGrpSpPr>
          <p:cNvPr id="10" name="组合 9"/>
          <p:cNvGrpSpPr/>
          <p:nvPr/>
        </p:nvGrpSpPr>
        <p:grpSpPr>
          <a:xfrm>
            <a:off x="2449830" y="4253865"/>
            <a:ext cx="836295" cy="459740"/>
            <a:chOff x="3858" y="6699"/>
            <a:chExt cx="1317" cy="724"/>
          </a:xfrm>
        </p:grpSpPr>
        <p:sp>
          <p:nvSpPr>
            <p:cNvPr id="151559" name="Text Box 7"/>
            <p:cNvSpPr txBox="1"/>
            <p:nvPr/>
          </p:nvSpPr>
          <p:spPr>
            <a:xfrm>
              <a:off x="3975" y="6699"/>
              <a:ext cx="1200" cy="725"/>
            </a:xfrm>
            <a:prstGeom prst="rect">
              <a:avLst/>
            </a:prstGeom>
            <a:noFill/>
            <a:ln w="9525" cap="flat" cmpd="sng">
              <a:noFill/>
              <a:prstDash val="solid"/>
              <a:miter/>
              <a:headEnd type="none" w="med" len="med"/>
              <a:tailEnd type="none" w="med" len="med"/>
            </a:ln>
          </p:spPr>
          <p:txBody>
            <a:bodyPr>
              <a:spAutoFit/>
            </a:bodyPr>
            <a:p>
              <a:pPr eaLnBrk="0" hangingPunct="0">
                <a:spcBef>
                  <a:spcPct val="50000"/>
                </a:spcBef>
              </a:pPr>
              <a:r>
                <a:rPr lang="en-US" altLang="zh-CN" sz="2400" i="1" dirty="0">
                  <a:gradFill>
                    <a:gsLst>
                      <a:gs pos="0">
                        <a:srgbClr val="012D86"/>
                      </a:gs>
                      <a:gs pos="100000">
                        <a:srgbClr val="0E2557"/>
                      </a:gs>
                    </a:gsLst>
                    <a:lin scaled="0"/>
                  </a:gradFill>
                  <a:latin typeface="Times New Roman" panose="02020603050405020304" charset="0"/>
                </a:rPr>
                <a:t>S</a:t>
              </a:r>
              <a:r>
                <a:rPr lang="en-US" altLang="zh-CN" sz="2400" baseline="-25000" dirty="0">
                  <a:gradFill>
                    <a:gsLst>
                      <a:gs pos="0">
                        <a:srgbClr val="012D86"/>
                      </a:gs>
                      <a:gs pos="100000">
                        <a:srgbClr val="0E2557"/>
                      </a:gs>
                    </a:gsLst>
                    <a:lin scaled="0"/>
                  </a:gradFill>
                  <a:latin typeface="Times New Roman" panose="02020603050405020304" charset="0"/>
                </a:rPr>
                <a:t>0</a:t>
              </a:r>
              <a:endParaRPr lang="en-US" altLang="zh-CN" sz="2400" baseline="-25000" dirty="0">
                <a:gradFill>
                  <a:gsLst>
                    <a:gs pos="0">
                      <a:srgbClr val="012D86"/>
                    </a:gs>
                    <a:gs pos="100000">
                      <a:srgbClr val="0E2557"/>
                    </a:gs>
                  </a:gsLst>
                  <a:lin scaled="0"/>
                </a:gradFill>
                <a:latin typeface="Times New Roman" panose="02020603050405020304" charset="0"/>
              </a:endParaRPr>
            </a:p>
          </p:txBody>
        </p:sp>
        <p:sp>
          <p:nvSpPr>
            <p:cNvPr id="5" name="椭圆 4"/>
            <p:cNvSpPr/>
            <p:nvPr/>
          </p:nvSpPr>
          <p:spPr>
            <a:xfrm>
              <a:off x="3858" y="6736"/>
              <a:ext cx="993" cy="6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1" name="组合 10"/>
          <p:cNvGrpSpPr/>
          <p:nvPr/>
        </p:nvGrpSpPr>
        <p:grpSpPr>
          <a:xfrm>
            <a:off x="3906520" y="4277360"/>
            <a:ext cx="699135" cy="459740"/>
            <a:chOff x="6152" y="6736"/>
            <a:chExt cx="1101" cy="724"/>
          </a:xfrm>
        </p:grpSpPr>
        <p:sp>
          <p:nvSpPr>
            <p:cNvPr id="151561" name="Text Box 9"/>
            <p:cNvSpPr txBox="1"/>
            <p:nvPr/>
          </p:nvSpPr>
          <p:spPr>
            <a:xfrm>
              <a:off x="6305" y="6736"/>
              <a:ext cx="948" cy="725"/>
            </a:xfrm>
            <a:prstGeom prst="rect">
              <a:avLst/>
            </a:prstGeom>
            <a:noFill/>
            <a:ln w="9525" cap="flat" cmpd="sng">
              <a:noFill/>
              <a:prstDash val="solid"/>
              <a:miter/>
              <a:headEnd type="none" w="med" len="med"/>
              <a:tailEnd type="none" w="med" len="med"/>
            </a:ln>
          </p:spPr>
          <p:txBody>
            <a:bodyPr wrap="square">
              <a:spAutoFit/>
            </a:bodyPr>
            <a:p>
              <a:pPr eaLnBrk="0" hangingPunct="0">
                <a:spcBef>
                  <a:spcPct val="50000"/>
                </a:spcBef>
              </a:pPr>
              <a:r>
                <a:rPr lang="en-US" altLang="zh-CN" sz="2400" i="1" dirty="0">
                  <a:gradFill>
                    <a:gsLst>
                      <a:gs pos="0">
                        <a:srgbClr val="012D86"/>
                      </a:gs>
                      <a:gs pos="100000">
                        <a:srgbClr val="0E2557"/>
                      </a:gs>
                    </a:gsLst>
                    <a:lin scaled="0"/>
                  </a:gradFill>
                  <a:latin typeface="Times New Roman" panose="02020603050405020304" charset="0"/>
                </a:rPr>
                <a:t>S</a:t>
              </a:r>
              <a:r>
                <a:rPr lang="en-US" altLang="zh-CN" sz="2400" baseline="-25000" dirty="0">
                  <a:gradFill>
                    <a:gsLst>
                      <a:gs pos="0">
                        <a:srgbClr val="012D86"/>
                      </a:gs>
                      <a:gs pos="100000">
                        <a:srgbClr val="0E2557"/>
                      </a:gs>
                    </a:gsLst>
                    <a:lin scaled="0"/>
                  </a:gradFill>
                  <a:latin typeface="Times New Roman" panose="02020603050405020304" charset="0"/>
                </a:rPr>
                <a:t>1</a:t>
              </a:r>
              <a:endParaRPr lang="en-US" altLang="zh-CN" sz="2400" baseline="-25000" dirty="0">
                <a:gradFill>
                  <a:gsLst>
                    <a:gs pos="0">
                      <a:srgbClr val="012D86"/>
                    </a:gs>
                    <a:gs pos="100000">
                      <a:srgbClr val="0E2557"/>
                    </a:gs>
                  </a:gsLst>
                  <a:lin scaled="0"/>
                </a:gradFill>
                <a:latin typeface="Times New Roman" panose="02020603050405020304" charset="0"/>
              </a:endParaRPr>
            </a:p>
          </p:txBody>
        </p:sp>
        <p:sp>
          <p:nvSpPr>
            <p:cNvPr id="6" name="椭圆 5"/>
            <p:cNvSpPr/>
            <p:nvPr/>
          </p:nvSpPr>
          <p:spPr>
            <a:xfrm>
              <a:off x="6152" y="6737"/>
              <a:ext cx="993" cy="6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2" name="组合 11"/>
          <p:cNvGrpSpPr/>
          <p:nvPr/>
        </p:nvGrpSpPr>
        <p:grpSpPr>
          <a:xfrm>
            <a:off x="5832475" y="4276725"/>
            <a:ext cx="999490" cy="466725"/>
            <a:chOff x="9185" y="6735"/>
            <a:chExt cx="1574" cy="735"/>
          </a:xfrm>
        </p:grpSpPr>
        <p:sp>
          <p:nvSpPr>
            <p:cNvPr id="151563" name="Text Box 11"/>
            <p:cNvSpPr txBox="1"/>
            <p:nvPr/>
          </p:nvSpPr>
          <p:spPr>
            <a:xfrm>
              <a:off x="9199" y="6735"/>
              <a:ext cx="1560" cy="735"/>
            </a:xfrm>
            <a:prstGeom prst="rect">
              <a:avLst/>
            </a:prstGeom>
            <a:noFill/>
            <a:ln w="9525" cap="flat" cmpd="sng">
              <a:noFill/>
              <a:prstDash val="solid"/>
              <a:miter/>
              <a:headEnd type="none" w="med" len="med"/>
              <a:tailEnd type="none" w="med" len="med"/>
            </a:ln>
          </p:spPr>
          <p:txBody>
            <a:bodyPr>
              <a:spAutoFit/>
            </a:bodyPr>
            <a:p>
              <a:pPr eaLnBrk="0" hangingPunct="0">
                <a:spcBef>
                  <a:spcPct val="50000"/>
                </a:spcBef>
              </a:pPr>
              <a:r>
                <a:rPr lang="en-US" altLang="zh-CN" sz="2400" i="1" dirty="0">
                  <a:gradFill>
                    <a:gsLst>
                      <a:gs pos="0">
                        <a:srgbClr val="012D86"/>
                      </a:gs>
                      <a:gs pos="100000">
                        <a:srgbClr val="0E2557"/>
                      </a:gs>
                    </a:gsLst>
                    <a:lin scaled="0"/>
                  </a:gradFill>
                  <a:latin typeface="Times New Roman" panose="02020603050405020304" charset="0"/>
                </a:rPr>
                <a:t>S</a:t>
              </a:r>
              <a:r>
                <a:rPr lang="en-US" altLang="zh-CN" sz="2400" i="1" baseline="-25000" dirty="0">
                  <a:gradFill>
                    <a:gsLst>
                      <a:gs pos="0">
                        <a:srgbClr val="012D86"/>
                      </a:gs>
                      <a:gs pos="100000">
                        <a:srgbClr val="0E2557"/>
                      </a:gs>
                    </a:gsLst>
                    <a:lin scaled="0"/>
                  </a:gradFill>
                  <a:latin typeface="Times New Roman" panose="02020603050405020304" charset="0"/>
                </a:rPr>
                <a:t>N</a:t>
              </a:r>
              <a:r>
                <a:rPr lang="en-US" altLang="zh-CN" sz="2400" baseline="-25000" dirty="0">
                  <a:gradFill>
                    <a:gsLst>
                      <a:gs pos="0">
                        <a:srgbClr val="012D86"/>
                      </a:gs>
                      <a:gs pos="100000">
                        <a:srgbClr val="0E2557"/>
                      </a:gs>
                    </a:gsLst>
                    <a:lin scaled="0"/>
                  </a:gradFill>
                  <a:latin typeface="Times New Roman" panose="02020603050405020304" charset="0"/>
                </a:rPr>
                <a:t>-1</a:t>
              </a:r>
              <a:endParaRPr lang="en-US" altLang="zh-CN" sz="2400" baseline="-25000" dirty="0">
                <a:gradFill>
                  <a:gsLst>
                    <a:gs pos="0">
                      <a:srgbClr val="012D86"/>
                    </a:gs>
                    <a:gs pos="100000">
                      <a:srgbClr val="0E2557"/>
                    </a:gs>
                  </a:gsLst>
                  <a:lin scaled="0"/>
                </a:gradFill>
                <a:latin typeface="Times New Roman" panose="02020603050405020304" charset="0"/>
              </a:endParaRPr>
            </a:p>
          </p:txBody>
        </p:sp>
        <p:sp>
          <p:nvSpPr>
            <p:cNvPr id="7" name="椭圆 6"/>
            <p:cNvSpPr/>
            <p:nvPr/>
          </p:nvSpPr>
          <p:spPr>
            <a:xfrm>
              <a:off x="9185" y="6810"/>
              <a:ext cx="1047" cy="6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3" name="组合 12"/>
          <p:cNvGrpSpPr/>
          <p:nvPr/>
        </p:nvGrpSpPr>
        <p:grpSpPr>
          <a:xfrm>
            <a:off x="5994400" y="5341620"/>
            <a:ext cx="728980" cy="459740"/>
            <a:chOff x="9440" y="8412"/>
            <a:chExt cx="1148" cy="724"/>
          </a:xfrm>
        </p:grpSpPr>
        <p:sp>
          <p:nvSpPr>
            <p:cNvPr id="151564" name="Text Box 12"/>
            <p:cNvSpPr txBox="1"/>
            <p:nvPr/>
          </p:nvSpPr>
          <p:spPr>
            <a:xfrm>
              <a:off x="9574" y="8412"/>
              <a:ext cx="1014" cy="725"/>
            </a:xfrm>
            <a:prstGeom prst="rect">
              <a:avLst/>
            </a:prstGeom>
            <a:noFill/>
            <a:ln w="9525" cap="flat" cmpd="sng">
              <a:noFill/>
              <a:prstDash val="solid"/>
              <a:miter/>
              <a:headEnd type="none" w="med" len="med"/>
              <a:tailEnd type="none" w="med" len="med"/>
            </a:ln>
          </p:spPr>
          <p:txBody>
            <a:bodyPr wrap="square">
              <a:spAutoFit/>
            </a:bodyPr>
            <a:p>
              <a:pPr eaLnBrk="0" hangingPunct="0">
                <a:spcBef>
                  <a:spcPct val="50000"/>
                </a:spcBef>
              </a:pPr>
              <a:r>
                <a:rPr lang="en-US" altLang="zh-CN" sz="2400" i="1" dirty="0">
                  <a:gradFill>
                    <a:gsLst>
                      <a:gs pos="0">
                        <a:srgbClr val="012D86"/>
                      </a:gs>
                      <a:gs pos="100000">
                        <a:srgbClr val="0E2557"/>
                      </a:gs>
                    </a:gsLst>
                    <a:lin scaled="0"/>
                  </a:gradFill>
                  <a:latin typeface="Times New Roman" panose="02020603050405020304" charset="0"/>
                </a:rPr>
                <a:t>S</a:t>
              </a:r>
              <a:r>
                <a:rPr lang="en-US" altLang="zh-CN" sz="2400" i="1" baseline="-25000" dirty="0">
                  <a:gradFill>
                    <a:gsLst>
                      <a:gs pos="0">
                        <a:srgbClr val="012D86"/>
                      </a:gs>
                      <a:gs pos="100000">
                        <a:srgbClr val="0E2557"/>
                      </a:gs>
                    </a:gsLst>
                    <a:lin scaled="0"/>
                  </a:gradFill>
                  <a:latin typeface="Times New Roman" panose="02020603050405020304" charset="0"/>
                </a:rPr>
                <a:t>N</a:t>
              </a:r>
              <a:endParaRPr lang="en-US" altLang="zh-CN" sz="2400" i="1" baseline="-25000" dirty="0">
                <a:gradFill>
                  <a:gsLst>
                    <a:gs pos="0">
                      <a:srgbClr val="012D86"/>
                    </a:gs>
                    <a:gs pos="100000">
                      <a:srgbClr val="0E2557"/>
                    </a:gs>
                  </a:gsLst>
                  <a:lin scaled="0"/>
                </a:gradFill>
                <a:latin typeface="Times New Roman" panose="02020603050405020304" charset="0"/>
              </a:endParaRPr>
            </a:p>
          </p:txBody>
        </p:sp>
        <p:sp>
          <p:nvSpPr>
            <p:cNvPr id="8" name="椭圆 7"/>
            <p:cNvSpPr/>
            <p:nvPr/>
          </p:nvSpPr>
          <p:spPr>
            <a:xfrm>
              <a:off x="9440" y="8445"/>
              <a:ext cx="993" cy="6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4" name="组合 13"/>
          <p:cNvGrpSpPr/>
          <p:nvPr/>
        </p:nvGrpSpPr>
        <p:grpSpPr>
          <a:xfrm>
            <a:off x="2430145" y="5343525"/>
            <a:ext cx="708660" cy="460375"/>
            <a:chOff x="3827" y="8535"/>
            <a:chExt cx="1116" cy="725"/>
          </a:xfrm>
        </p:grpSpPr>
        <p:sp>
          <p:nvSpPr>
            <p:cNvPr id="151565" name="Text Box 13"/>
            <p:cNvSpPr txBox="1"/>
            <p:nvPr/>
          </p:nvSpPr>
          <p:spPr>
            <a:xfrm>
              <a:off x="3827" y="8535"/>
              <a:ext cx="1117" cy="725"/>
            </a:xfrm>
            <a:prstGeom prst="rect">
              <a:avLst/>
            </a:prstGeom>
            <a:noFill/>
            <a:ln w="9525" cap="flat" cmpd="sng">
              <a:noFill/>
              <a:prstDash val="solid"/>
              <a:miter/>
              <a:headEnd type="none" w="med" len="med"/>
              <a:tailEnd type="none" w="med" len="med"/>
            </a:ln>
          </p:spPr>
          <p:txBody>
            <a:bodyPr wrap="square">
              <a:spAutoFit/>
            </a:bodyPr>
            <a:p>
              <a:pPr eaLnBrk="0" hangingPunct="0">
                <a:spcBef>
                  <a:spcPct val="50000"/>
                </a:spcBef>
              </a:pPr>
              <a:r>
                <a:rPr lang="en-US" altLang="zh-CN" sz="2400" i="1" dirty="0">
                  <a:gradFill>
                    <a:gsLst>
                      <a:gs pos="0">
                        <a:srgbClr val="012D86"/>
                      </a:gs>
                      <a:gs pos="100000">
                        <a:srgbClr val="0E2557"/>
                      </a:gs>
                    </a:gsLst>
                    <a:lin scaled="0"/>
                  </a:gradFill>
                  <a:latin typeface="Times New Roman" panose="02020603050405020304" charset="0"/>
                </a:rPr>
                <a:t>S</a:t>
              </a:r>
              <a:r>
                <a:rPr lang="en-US" altLang="zh-CN" sz="2400" i="1" baseline="-25000" dirty="0">
                  <a:gradFill>
                    <a:gsLst>
                      <a:gs pos="0">
                        <a:srgbClr val="012D86"/>
                      </a:gs>
                      <a:gs pos="100000">
                        <a:srgbClr val="0E2557"/>
                      </a:gs>
                    </a:gsLst>
                    <a:lin scaled="0"/>
                  </a:gradFill>
                  <a:latin typeface="Times New Roman" panose="02020603050405020304" charset="0"/>
                </a:rPr>
                <a:t>M</a:t>
              </a:r>
              <a:r>
                <a:rPr lang="en-US" altLang="zh-CN" sz="2400" baseline="-25000" dirty="0">
                  <a:gradFill>
                    <a:gsLst>
                      <a:gs pos="0">
                        <a:srgbClr val="012D86"/>
                      </a:gs>
                      <a:gs pos="100000">
                        <a:srgbClr val="0E2557"/>
                      </a:gs>
                    </a:gsLst>
                    <a:lin scaled="0"/>
                  </a:gradFill>
                  <a:latin typeface="Times New Roman" panose="02020603050405020304" charset="0"/>
                </a:rPr>
                <a:t>-1</a:t>
              </a:r>
              <a:endParaRPr lang="en-US" altLang="zh-CN" sz="2400" baseline="-25000" dirty="0">
                <a:gradFill>
                  <a:gsLst>
                    <a:gs pos="0">
                      <a:srgbClr val="012D86"/>
                    </a:gs>
                    <a:gs pos="100000">
                      <a:srgbClr val="0E2557"/>
                    </a:gs>
                  </a:gsLst>
                  <a:lin scaled="0"/>
                </a:gradFill>
                <a:latin typeface="Times New Roman" panose="02020603050405020304" charset="0"/>
              </a:endParaRPr>
            </a:p>
          </p:txBody>
        </p:sp>
        <p:sp>
          <p:nvSpPr>
            <p:cNvPr id="9" name="椭圆 8"/>
            <p:cNvSpPr/>
            <p:nvPr/>
          </p:nvSpPr>
          <p:spPr>
            <a:xfrm>
              <a:off x="3889" y="8600"/>
              <a:ext cx="993" cy="6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par>
                          <p:cTn id="11" fill="hold">
                            <p:stCondLst>
                              <p:cond delay="0"/>
                            </p:stCondLst>
                            <p:childTnLst>
                              <p:par>
                                <p:cTn id="12" presetID="22" presetClass="entr" presetSubtype="4" fill="hold" nodeType="afterEffect">
                                  <p:stCondLst>
                                    <p:cond delay="0"/>
                                  </p:stCondLst>
                                  <p:childTnLst>
                                    <p:set>
                                      <p:cBhvr>
                                        <p:cTn id="13" dur="1" fill="hold">
                                          <p:stCondLst>
                                            <p:cond delay="0"/>
                                          </p:stCondLst>
                                        </p:cTn>
                                        <p:tgtEl>
                                          <p:spTgt spid="151560"/>
                                        </p:tgtEl>
                                        <p:attrNameLst>
                                          <p:attrName>style.visibility</p:attrName>
                                        </p:attrNameLst>
                                      </p:cBhvr>
                                      <p:to>
                                        <p:strVal val="visible"/>
                                      </p:to>
                                    </p:set>
                                    <p:animEffect transition="in" filter="wipe(down)">
                                      <p:cBhvr>
                                        <p:cTn id="14" dur="500"/>
                                        <p:tgtEl>
                                          <p:spTgt spid="151560"/>
                                        </p:tgtEl>
                                      </p:cBhvr>
                                    </p:animEffect>
                                  </p:childTnLst>
                                </p:cTn>
                              </p:par>
                            </p:childTnLst>
                          </p:cTn>
                        </p:par>
                        <p:par>
                          <p:cTn id="15" fill="hold">
                            <p:stCondLst>
                              <p:cond delay="500"/>
                            </p:stCondLst>
                            <p:childTnLst>
                              <p:par>
                                <p:cTn id="16" presetID="1" presetClass="entr" presetSubtype="0" fill="hold" nodeType="afterEffect">
                                  <p:stCondLst>
                                    <p:cond delay="1000"/>
                                  </p:stCondLst>
                                  <p:childTnLst>
                                    <p:set>
                                      <p:cBhvr>
                                        <p:cTn id="17" dur="1" fill="hold">
                                          <p:stCondLst>
                                            <p:cond delay="0"/>
                                          </p:stCondLst>
                                        </p:cTn>
                                        <p:tgtEl>
                                          <p:spTgt spid="11"/>
                                        </p:tgtEl>
                                        <p:attrNameLst>
                                          <p:attrName>style.visibility</p:attrName>
                                        </p:attrNameLst>
                                      </p:cBhvr>
                                      <p:to>
                                        <p:strVal val="visible"/>
                                      </p:to>
                                    </p:set>
                                  </p:childTnLst>
                                </p:cTn>
                              </p:par>
                            </p:childTnLst>
                          </p:cTn>
                        </p:par>
                        <p:par>
                          <p:cTn id="18" fill="hold">
                            <p:stCondLst>
                              <p:cond delay="1500"/>
                            </p:stCondLst>
                            <p:childTnLst>
                              <p:par>
                                <p:cTn id="19" presetID="22" presetClass="entr" presetSubtype="4" fill="hold" nodeType="afterEffect">
                                  <p:stCondLst>
                                    <p:cond delay="0"/>
                                  </p:stCondLst>
                                  <p:childTnLst>
                                    <p:set>
                                      <p:cBhvr>
                                        <p:cTn id="20" dur="1" fill="hold">
                                          <p:stCondLst>
                                            <p:cond delay="0"/>
                                          </p:stCondLst>
                                        </p:cTn>
                                        <p:tgtEl>
                                          <p:spTgt spid="151562"/>
                                        </p:tgtEl>
                                        <p:attrNameLst>
                                          <p:attrName>style.visibility</p:attrName>
                                        </p:attrNameLst>
                                      </p:cBhvr>
                                      <p:to>
                                        <p:strVal val="visible"/>
                                      </p:to>
                                    </p:set>
                                    <p:animEffect transition="in" filter="wipe(down)">
                                      <p:cBhvr>
                                        <p:cTn id="21" dur="500"/>
                                        <p:tgtEl>
                                          <p:spTgt spid="151562"/>
                                        </p:tgtEl>
                                      </p:cBhvr>
                                    </p:animEffect>
                                  </p:childTnLst>
                                </p:cTn>
                              </p:par>
                            </p:childTnLst>
                          </p:cTn>
                        </p:par>
                        <p:par>
                          <p:cTn id="22" fill="hold">
                            <p:stCondLst>
                              <p:cond delay="2000"/>
                            </p:stCondLst>
                            <p:childTnLst>
                              <p:par>
                                <p:cTn id="23" presetID="1" presetClass="entr" presetSubtype="0" fill="hold" nodeType="after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par>
                          <p:cTn id="25" fill="hold">
                            <p:stCondLst>
                              <p:cond delay="2000"/>
                            </p:stCondLst>
                            <p:childTnLst>
                              <p:par>
                                <p:cTn id="26" presetID="22" presetClass="entr" presetSubtype="1" fill="hold" nodeType="afterEffect">
                                  <p:stCondLst>
                                    <p:cond delay="0"/>
                                  </p:stCondLst>
                                  <p:childTnLst>
                                    <p:set>
                                      <p:cBhvr>
                                        <p:cTn id="27" dur="1" fill="hold">
                                          <p:stCondLst>
                                            <p:cond delay="0"/>
                                          </p:stCondLst>
                                        </p:cTn>
                                        <p:tgtEl>
                                          <p:spTgt spid="151568"/>
                                        </p:tgtEl>
                                        <p:attrNameLst>
                                          <p:attrName>style.visibility</p:attrName>
                                        </p:attrNameLst>
                                      </p:cBhvr>
                                      <p:to>
                                        <p:strVal val="visible"/>
                                      </p:to>
                                    </p:set>
                                    <p:animEffect transition="in" filter="wipe(up)">
                                      <p:cBhvr>
                                        <p:cTn id="28" dur="500"/>
                                        <p:tgtEl>
                                          <p:spTgt spid="151568"/>
                                        </p:tgtEl>
                                      </p:cBhvr>
                                    </p:animEffect>
                                  </p:childTnLst>
                                </p:cTn>
                              </p:par>
                            </p:childTnLst>
                          </p:cTn>
                        </p:par>
                        <p:par>
                          <p:cTn id="29" fill="hold">
                            <p:stCondLst>
                              <p:cond delay="2500"/>
                            </p:stCondLst>
                            <p:childTnLst>
                              <p:par>
                                <p:cTn id="30" presetID="1" presetClass="entr" presetSubtype="0" fill="hold" nodeType="after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par>
                          <p:cTn id="32" fill="hold">
                            <p:stCondLst>
                              <p:cond delay="2500"/>
                            </p:stCondLst>
                            <p:childTnLst>
                              <p:par>
                                <p:cTn id="33" presetID="22" presetClass="entr" presetSubtype="4" fill="hold" nodeType="afterEffect">
                                  <p:stCondLst>
                                    <p:cond delay="0"/>
                                  </p:stCondLst>
                                  <p:childTnLst>
                                    <p:set>
                                      <p:cBhvr>
                                        <p:cTn id="34" dur="1" fill="hold">
                                          <p:stCondLst>
                                            <p:cond delay="0"/>
                                          </p:stCondLst>
                                        </p:cTn>
                                        <p:tgtEl>
                                          <p:spTgt spid="151566"/>
                                        </p:tgtEl>
                                        <p:attrNameLst>
                                          <p:attrName>style.visibility</p:attrName>
                                        </p:attrNameLst>
                                      </p:cBhvr>
                                      <p:to>
                                        <p:strVal val="visible"/>
                                      </p:to>
                                    </p:set>
                                    <p:animEffect transition="in" filter="wipe(down)">
                                      <p:cBhvr>
                                        <p:cTn id="35" dur="500"/>
                                        <p:tgtEl>
                                          <p:spTgt spid="151566"/>
                                        </p:tgtEl>
                                      </p:cBhvr>
                                    </p:animEffect>
                                  </p:childTnLst>
                                </p:cTn>
                              </p:par>
                            </p:childTnLst>
                          </p:cTn>
                        </p:par>
                        <p:par>
                          <p:cTn id="36" fill="hold">
                            <p:stCondLst>
                              <p:cond delay="3000"/>
                            </p:stCondLst>
                            <p:childTnLst>
                              <p:par>
                                <p:cTn id="37" presetID="1" presetClass="entr" presetSubtype="0"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par>
                          <p:cTn id="39" fill="hold">
                            <p:stCondLst>
                              <p:cond delay="3000"/>
                            </p:stCondLst>
                            <p:childTnLst>
                              <p:par>
                                <p:cTn id="40" presetID="22" presetClass="entr" presetSubtype="2" fill="hold" nodeType="afterEffect">
                                  <p:stCondLst>
                                    <p:cond delay="0"/>
                                  </p:stCondLst>
                                  <p:childTnLst>
                                    <p:set>
                                      <p:cBhvr>
                                        <p:cTn id="41" dur="1" fill="hold">
                                          <p:stCondLst>
                                            <p:cond delay="0"/>
                                          </p:stCondLst>
                                        </p:cTn>
                                        <p:tgtEl>
                                          <p:spTgt spid="151567"/>
                                        </p:tgtEl>
                                        <p:attrNameLst>
                                          <p:attrName>style.visibility</p:attrName>
                                        </p:attrNameLst>
                                      </p:cBhvr>
                                      <p:to>
                                        <p:strVal val="visible"/>
                                      </p:to>
                                    </p:set>
                                    <p:animEffect transition="in" filter="wipe(right)">
                                      <p:cBhvr>
                                        <p:cTn id="42" dur="500"/>
                                        <p:tgtEl>
                                          <p:spTgt spid="151567"/>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nodeType="clickEffect">
                                  <p:stCondLst>
                                    <p:cond delay="0"/>
                                  </p:stCondLst>
                                  <p:childTnLst>
                                    <p:set>
                                      <p:cBhvr>
                                        <p:cTn id="46" dur="1" fill="hold">
                                          <p:stCondLst>
                                            <p:cond delay="0"/>
                                          </p:stCondLst>
                                        </p:cTn>
                                        <p:tgtEl>
                                          <p:spTgt spid="151570"/>
                                        </p:tgtEl>
                                        <p:attrNameLst>
                                          <p:attrName>style.visibility</p:attrName>
                                        </p:attrNameLst>
                                      </p:cBhvr>
                                      <p:to>
                                        <p:strVal val="visible"/>
                                      </p:to>
                                    </p:set>
                                    <p:anim calcmode="lin" valueType="num">
                                      <p:cBhvr additive="base">
                                        <p:cTn id="47" dur="500" fill="hold"/>
                                        <p:tgtEl>
                                          <p:spTgt spid="151570"/>
                                        </p:tgtEl>
                                        <p:attrNameLst>
                                          <p:attrName>ppt_x</p:attrName>
                                        </p:attrNameLst>
                                      </p:cBhvr>
                                      <p:tavLst>
                                        <p:tav tm="0">
                                          <p:val>
                                            <p:strVal val="1+#ppt_w/2"/>
                                          </p:val>
                                        </p:tav>
                                        <p:tav tm="100000">
                                          <p:val>
                                            <p:strVal val="#ppt_x"/>
                                          </p:val>
                                        </p:tav>
                                      </p:tavLst>
                                    </p:anim>
                                    <p:anim calcmode="lin" valueType="num">
                                      <p:cBhvr additive="base">
                                        <p:cTn id="48" dur="500" fill="hold"/>
                                        <p:tgtEl>
                                          <p:spTgt spid="151570"/>
                                        </p:tgtEl>
                                        <p:attrNameLst>
                                          <p:attrName>ppt_y</p:attrName>
                                        </p:attrNameLst>
                                      </p:cBhvr>
                                      <p:tavLst>
                                        <p:tav tm="0">
                                          <p:val>
                                            <p:strVal val="#ppt_y"/>
                                          </p:val>
                                        </p:tav>
                                        <p:tav tm="100000">
                                          <p:val>
                                            <p:strVal val="#ppt_y"/>
                                          </p:val>
                                        </p:tav>
                                      </p:tavLst>
                                    </p:anim>
                                  </p:childTnLst>
                                </p:cTn>
                              </p:par>
                            </p:childTnLst>
                          </p:cTn>
                        </p:par>
                        <p:par>
                          <p:cTn id="49" fill="hold">
                            <p:stCondLst>
                              <p:cond delay="500"/>
                            </p:stCondLst>
                            <p:childTnLst>
                              <p:par>
                                <p:cTn id="50" presetID="2" presetClass="entr" presetSubtype="8" fill="hold" nodeType="afterEffect">
                                  <p:stCondLst>
                                    <p:cond delay="0"/>
                                  </p:stCondLst>
                                  <p:childTnLst>
                                    <p:set>
                                      <p:cBhvr>
                                        <p:cTn id="51" dur="1" fill="hold">
                                          <p:stCondLst>
                                            <p:cond delay="0"/>
                                          </p:stCondLst>
                                        </p:cTn>
                                        <p:tgtEl>
                                          <p:spTgt spid="151571"/>
                                        </p:tgtEl>
                                        <p:attrNameLst>
                                          <p:attrName>style.visibility</p:attrName>
                                        </p:attrNameLst>
                                      </p:cBhvr>
                                      <p:to>
                                        <p:strVal val="visible"/>
                                      </p:to>
                                    </p:set>
                                    <p:anim calcmode="lin" valueType="num">
                                      <p:cBhvr additive="base">
                                        <p:cTn id="52" dur="500" fill="hold"/>
                                        <p:tgtEl>
                                          <p:spTgt spid="151571"/>
                                        </p:tgtEl>
                                        <p:attrNameLst>
                                          <p:attrName>ppt_x</p:attrName>
                                        </p:attrNameLst>
                                      </p:cBhvr>
                                      <p:tavLst>
                                        <p:tav tm="0">
                                          <p:val>
                                            <p:strVal val="0-#ppt_w/2"/>
                                          </p:val>
                                        </p:tav>
                                        <p:tav tm="100000">
                                          <p:val>
                                            <p:strVal val="#ppt_x"/>
                                          </p:val>
                                        </p:tav>
                                      </p:tavLst>
                                    </p:anim>
                                    <p:anim calcmode="lin" valueType="num">
                                      <p:cBhvr additive="base">
                                        <p:cTn id="53" dur="500" fill="hold"/>
                                        <p:tgtEl>
                                          <p:spTgt spid="151571"/>
                                        </p:tgtEl>
                                        <p:attrNameLst>
                                          <p:attrName>ppt_y</p:attrName>
                                        </p:attrNameLst>
                                      </p:cBhvr>
                                      <p:tavLst>
                                        <p:tav tm="0">
                                          <p:val>
                                            <p:strVal val="#ppt_y"/>
                                          </p:val>
                                        </p:tav>
                                        <p:tav tm="100000">
                                          <p:val>
                                            <p:strVal val="#ppt_y"/>
                                          </p:val>
                                        </p:tav>
                                      </p:tavLst>
                                    </p:anim>
                                  </p:childTnLst>
                                </p:cTn>
                              </p:par>
                            </p:childTnLst>
                          </p:cTn>
                        </p:par>
                        <p:par>
                          <p:cTn id="54" fill="hold">
                            <p:stCondLst>
                              <p:cond delay="1000"/>
                            </p:stCondLst>
                            <p:childTnLst>
                              <p:par>
                                <p:cTn id="55" presetID="2" presetClass="entr" presetSubtype="2" fill="hold" nodeType="afterEffect">
                                  <p:stCondLst>
                                    <p:cond delay="0"/>
                                  </p:stCondLst>
                                  <p:childTnLst>
                                    <p:set>
                                      <p:cBhvr>
                                        <p:cTn id="56" dur="1" fill="hold">
                                          <p:stCondLst>
                                            <p:cond delay="0"/>
                                          </p:stCondLst>
                                        </p:cTn>
                                        <p:tgtEl>
                                          <p:spTgt spid="151569"/>
                                        </p:tgtEl>
                                        <p:attrNameLst>
                                          <p:attrName>style.visibility</p:attrName>
                                        </p:attrNameLst>
                                      </p:cBhvr>
                                      <p:to>
                                        <p:strVal val="visible"/>
                                      </p:to>
                                    </p:set>
                                    <p:anim calcmode="lin" valueType="num">
                                      <p:cBhvr additive="base">
                                        <p:cTn id="57" dur="500" fill="hold"/>
                                        <p:tgtEl>
                                          <p:spTgt spid="151569"/>
                                        </p:tgtEl>
                                        <p:attrNameLst>
                                          <p:attrName>ppt_x</p:attrName>
                                        </p:attrNameLst>
                                      </p:cBhvr>
                                      <p:tavLst>
                                        <p:tav tm="0">
                                          <p:val>
                                            <p:strVal val="1+#ppt_w/2"/>
                                          </p:val>
                                        </p:tav>
                                        <p:tav tm="100000">
                                          <p:val>
                                            <p:strVal val="#ppt_x"/>
                                          </p:val>
                                        </p:tav>
                                      </p:tavLst>
                                    </p:anim>
                                    <p:anim calcmode="lin" valueType="num">
                                      <p:cBhvr additive="base">
                                        <p:cTn id="58" dur="500" fill="hold"/>
                                        <p:tgtEl>
                                          <p:spTgt spid="151569"/>
                                        </p:tgtEl>
                                        <p:attrNameLst>
                                          <p:attrName>ppt_y</p:attrName>
                                        </p:attrNameLst>
                                      </p:cBhvr>
                                      <p:tavLst>
                                        <p:tav tm="0">
                                          <p:val>
                                            <p:strVal val="#ppt_y"/>
                                          </p:val>
                                        </p:tav>
                                        <p:tav tm="100000">
                                          <p:val>
                                            <p:strVal val="#ppt_y"/>
                                          </p:val>
                                        </p:tav>
                                      </p:tavLst>
                                    </p:anim>
                                  </p:childTnLst>
                                </p:cTn>
                              </p:par>
                            </p:childTnLst>
                          </p:cTn>
                        </p:par>
                        <p:par>
                          <p:cTn id="59" fill="hold">
                            <p:stCondLst>
                              <p:cond delay="1500"/>
                            </p:stCondLst>
                            <p:childTnLst>
                              <p:par>
                                <p:cTn id="60" presetID="22" presetClass="entr" presetSubtype="1" fill="hold" nodeType="afterEffect">
                                  <p:stCondLst>
                                    <p:cond delay="0"/>
                                  </p:stCondLst>
                                  <p:childTnLst>
                                    <p:set>
                                      <p:cBhvr>
                                        <p:cTn id="61" dur="1" fill="hold">
                                          <p:stCondLst>
                                            <p:cond delay="0"/>
                                          </p:stCondLst>
                                        </p:cTn>
                                        <p:tgtEl>
                                          <p:spTgt spid="151570"/>
                                        </p:tgtEl>
                                        <p:attrNameLst>
                                          <p:attrName>style.visibility</p:attrName>
                                        </p:attrNameLst>
                                      </p:cBhvr>
                                      <p:to>
                                        <p:strVal val="visible"/>
                                      </p:to>
                                    </p:set>
                                    <p:animEffect transition="in" filter="wipe(up)">
                                      <p:cBhvr>
                                        <p:cTn id="62" dur="500"/>
                                        <p:tgtEl>
                                          <p:spTgt spid="151570"/>
                                        </p:tgtEl>
                                      </p:cBhvr>
                                    </p:animEffect>
                                  </p:childTnLst>
                                </p:cTn>
                              </p:par>
                            </p:childTnLst>
                          </p:cTn>
                        </p:par>
                        <p:par>
                          <p:cTn id="63" fill="hold">
                            <p:stCondLst>
                              <p:cond delay="2000"/>
                            </p:stCondLst>
                            <p:childTnLst>
                              <p:par>
                                <p:cTn id="64" presetID="22" presetClass="entr" presetSubtype="4" fill="hold" nodeType="afterEffect">
                                  <p:stCondLst>
                                    <p:cond delay="0"/>
                                  </p:stCondLst>
                                  <p:childTnLst>
                                    <p:set>
                                      <p:cBhvr>
                                        <p:cTn id="65" dur="1" fill="hold">
                                          <p:stCondLst>
                                            <p:cond delay="0"/>
                                          </p:stCondLst>
                                        </p:cTn>
                                        <p:tgtEl>
                                          <p:spTgt spid="151571"/>
                                        </p:tgtEl>
                                        <p:attrNameLst>
                                          <p:attrName>style.visibility</p:attrName>
                                        </p:attrNameLst>
                                      </p:cBhvr>
                                      <p:to>
                                        <p:strVal val="visible"/>
                                      </p:to>
                                    </p:set>
                                    <p:animEffect transition="in" filter="wipe(down)">
                                      <p:cBhvr>
                                        <p:cTn id="66" dur="500"/>
                                        <p:tgtEl>
                                          <p:spTgt spid="151571"/>
                                        </p:tgtEl>
                                      </p:cBhvr>
                                    </p:animEffect>
                                  </p:childTnLst>
                                </p:cTn>
                              </p:par>
                            </p:childTnLst>
                          </p:cTn>
                        </p:par>
                        <p:par>
                          <p:cTn id="67" fill="hold">
                            <p:stCondLst>
                              <p:cond delay="2500"/>
                            </p:stCondLst>
                            <p:childTnLst>
                              <p:par>
                                <p:cTn id="68" presetID="22" presetClass="entr" presetSubtype="2" fill="hold" nodeType="afterEffect">
                                  <p:stCondLst>
                                    <p:cond delay="0"/>
                                  </p:stCondLst>
                                  <p:childTnLst>
                                    <p:set>
                                      <p:cBhvr>
                                        <p:cTn id="69" dur="1" fill="hold">
                                          <p:stCondLst>
                                            <p:cond delay="0"/>
                                          </p:stCondLst>
                                        </p:cTn>
                                        <p:tgtEl>
                                          <p:spTgt spid="151569"/>
                                        </p:tgtEl>
                                        <p:attrNameLst>
                                          <p:attrName>style.visibility</p:attrName>
                                        </p:attrNameLst>
                                      </p:cBhvr>
                                      <p:to>
                                        <p:strVal val="visible"/>
                                      </p:to>
                                    </p:set>
                                    <p:animEffect transition="in" filter="wipe(right)">
                                      <p:cBhvr>
                                        <p:cTn id="70" dur="500"/>
                                        <p:tgtEl>
                                          <p:spTgt spid="1515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0" name="文本框 99"/>
          <p:cNvSpPr txBox="1"/>
          <p:nvPr/>
        </p:nvSpPr>
        <p:spPr>
          <a:xfrm>
            <a:off x="751840" y="1227455"/>
            <a:ext cx="8162290" cy="82994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【例</a:t>
            </a:r>
            <a:r>
              <a:rPr lang="en-US" sz="2400" b="1">
                <a:gradFill>
                  <a:gsLst>
                    <a:gs pos="0">
                      <a:srgbClr val="012D86"/>
                    </a:gs>
                    <a:gs pos="100000">
                      <a:srgbClr val="0E2557"/>
                    </a:gs>
                  </a:gsLst>
                  <a:lin scaled="0"/>
                </a:gradFill>
                <a:latin typeface="Times New Roman" panose="02020603050405020304" charset="0"/>
              </a:rPr>
              <a:t>6-6</a:t>
            </a:r>
            <a:r>
              <a:rPr lang="zh-CN" sz="2400" b="1">
                <a:gradFill>
                  <a:gsLst>
                    <a:gs pos="0">
                      <a:srgbClr val="012D86"/>
                    </a:gs>
                    <a:gs pos="100000">
                      <a:srgbClr val="0E2557"/>
                    </a:gs>
                  </a:gsLst>
                  <a:lin scaled="0"/>
                </a:gradFill>
                <a:ea typeface="宋体" panose="02010600030101010101" pitchFamily="2" charset="-122"/>
              </a:rPr>
              <a:t>】</a:t>
            </a:r>
            <a:r>
              <a:rPr lang="en-US" sz="2400" b="1">
                <a:gradFill>
                  <a:gsLst>
                    <a:gs pos="0">
                      <a:srgbClr val="012D86"/>
                    </a:gs>
                    <a:gs pos="100000">
                      <a:srgbClr val="0E2557"/>
                    </a:gs>
                  </a:gsLst>
                  <a:lin scaled="0"/>
                </a:gradFill>
                <a:latin typeface="Times New Roman" panose="02020603050405020304" charset="0"/>
              </a:rPr>
              <a:t> </a:t>
            </a:r>
            <a:r>
              <a:rPr lang="zh-CN" sz="2400" b="1">
                <a:gradFill>
                  <a:gsLst>
                    <a:gs pos="0">
                      <a:srgbClr val="012D86"/>
                    </a:gs>
                    <a:gs pos="100000">
                      <a:srgbClr val="0E2557"/>
                    </a:gs>
                  </a:gsLst>
                  <a:lin scaled="0"/>
                </a:gradFill>
                <a:ea typeface="宋体" panose="02010600030101010101" pitchFamily="2" charset="-122"/>
              </a:rPr>
              <a:t>中规模逻辑器件</a:t>
            </a:r>
            <a:r>
              <a:rPr lang="en-US" sz="2400" b="1">
                <a:gradFill>
                  <a:gsLst>
                    <a:gs pos="0">
                      <a:srgbClr val="012D86"/>
                    </a:gs>
                    <a:gs pos="100000">
                      <a:srgbClr val="0E2557"/>
                    </a:gs>
                  </a:gsLst>
                  <a:lin scaled="0"/>
                </a:gradFill>
                <a:latin typeface="Times New Roman" panose="02020603050405020304" charset="0"/>
              </a:rPr>
              <a:t>74LS161</a:t>
            </a:r>
            <a:r>
              <a:rPr lang="zh-CN" sz="2400" b="1">
                <a:gradFill>
                  <a:gsLst>
                    <a:gs pos="0">
                      <a:srgbClr val="012D86"/>
                    </a:gs>
                    <a:gs pos="100000">
                      <a:srgbClr val="0E2557"/>
                    </a:gs>
                  </a:gsLst>
                  <a:lin scaled="0"/>
                </a:gradFill>
                <a:ea typeface="宋体" panose="02010600030101010101" pitchFamily="2" charset="-122"/>
              </a:rPr>
              <a:t>为</a:t>
            </a:r>
            <a:r>
              <a:rPr lang="en-US" sz="2400" b="1">
                <a:gradFill>
                  <a:gsLst>
                    <a:gs pos="0">
                      <a:srgbClr val="012D86"/>
                    </a:gs>
                    <a:gs pos="100000">
                      <a:srgbClr val="0E2557"/>
                    </a:gs>
                  </a:gsLst>
                  <a:lin scaled="0"/>
                </a:gradFill>
                <a:latin typeface="Times New Roman" panose="02020603050405020304" charset="0"/>
                <a:cs typeface="Times New Roman" panose="02020603050405020304" charset="0"/>
              </a:rPr>
              <a:t>4</a:t>
            </a:r>
            <a:r>
              <a:rPr lang="zh-CN" sz="2400" b="1">
                <a:gradFill>
                  <a:gsLst>
                    <a:gs pos="0">
                      <a:srgbClr val="012D86"/>
                    </a:gs>
                    <a:gs pos="100000">
                      <a:srgbClr val="0E2557"/>
                    </a:gs>
                  </a:gsLst>
                  <a:lin scaled="0"/>
                </a:gradFill>
                <a:ea typeface="宋体" panose="02010600030101010101" pitchFamily="2" charset="-122"/>
              </a:rPr>
              <a:t>位二进制加法计数器，试用反馈清零法构成九进制计数器。</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9404" name="图片 2841"/>
          <p:cNvPicPr>
            <a:picLocks noChangeAspect="1"/>
          </p:cNvPicPr>
          <p:nvPr/>
        </p:nvPicPr>
        <p:blipFill>
          <a:blip r:embed="rId1"/>
          <a:stretch>
            <a:fillRect/>
          </a:stretch>
        </p:blipFill>
        <p:spPr>
          <a:xfrm>
            <a:off x="203200" y="2057400"/>
            <a:ext cx="5800090" cy="4488180"/>
          </a:xfrm>
          <a:prstGeom prst="rect">
            <a:avLst/>
          </a:prstGeom>
          <a:noFill/>
          <a:ln>
            <a:noFill/>
          </a:ln>
        </p:spPr>
      </p:pic>
      <p:sp>
        <p:nvSpPr>
          <p:cNvPr id="2" name="文本框 1"/>
          <p:cNvSpPr txBox="1"/>
          <p:nvPr/>
        </p:nvSpPr>
        <p:spPr>
          <a:xfrm>
            <a:off x="6061710" y="2339975"/>
            <a:ext cx="3082290" cy="3415030"/>
          </a:xfrm>
          <a:prstGeom prst="rect">
            <a:avLst/>
          </a:prstGeom>
          <a:noFill/>
          <a:ln w="9525">
            <a:noFill/>
          </a:ln>
        </p:spPr>
        <p:txBody>
          <a:bodyPr wrap="square">
            <a:spAutoFit/>
          </a:bodyPr>
          <a:p>
            <a:pPr indent="266700"/>
            <a:r>
              <a:rPr lang="zh-CN" sz="2400" b="1">
                <a:gradFill>
                  <a:gsLst>
                    <a:gs pos="0">
                      <a:srgbClr val="012D86"/>
                    </a:gs>
                    <a:gs pos="100000">
                      <a:srgbClr val="0E2557"/>
                    </a:gs>
                  </a:gsLst>
                  <a:lin scaled="0"/>
                </a:gradFill>
                <a:ea typeface="宋体" panose="02010600030101010101" pitchFamily="2" charset="-122"/>
              </a:rPr>
              <a:t>74LS161具有异步清零功能，用1001作为译码信号，只有</a:t>
            </a:r>
            <a:r>
              <a:rPr lang="en-US" sz="2400" b="1">
                <a:gradFill>
                  <a:gsLst>
                    <a:gs pos="0">
                      <a:srgbClr val="012D86"/>
                    </a:gs>
                    <a:gs pos="100000">
                      <a:srgbClr val="0E2557"/>
                    </a:gs>
                  </a:gsLst>
                  <a:lin scaled="0"/>
                </a:gradFill>
                <a:latin typeface="Times New Roman" panose="02020603050405020304" charset="0"/>
              </a:rPr>
              <a:t>0000~1000</a:t>
            </a:r>
            <a:r>
              <a:rPr lang="zh-CN" sz="2400" b="1">
                <a:gradFill>
                  <a:gsLst>
                    <a:gs pos="0">
                      <a:srgbClr val="012D86"/>
                    </a:gs>
                    <a:gs pos="100000">
                      <a:srgbClr val="0E2557"/>
                    </a:gs>
                  </a:gsLst>
                  <a:lin scaled="0"/>
                </a:gradFill>
                <a:ea typeface="宋体" panose="02010600030101010101" pitchFamily="2" charset="-122"/>
              </a:rPr>
              <a:t>共</a:t>
            </a:r>
            <a:r>
              <a:rPr lang="en-US" sz="2400" b="1">
                <a:gradFill>
                  <a:gsLst>
                    <a:gs pos="0">
                      <a:srgbClr val="012D86"/>
                    </a:gs>
                    <a:gs pos="100000">
                      <a:srgbClr val="0E2557"/>
                    </a:gs>
                  </a:gsLst>
                  <a:lin scaled="0"/>
                </a:gradFill>
                <a:latin typeface="Times New Roman" panose="02020603050405020304" charset="0"/>
              </a:rPr>
              <a:t>9</a:t>
            </a:r>
            <a:r>
              <a:rPr lang="zh-CN" sz="2400" b="1">
                <a:gradFill>
                  <a:gsLst>
                    <a:gs pos="0">
                      <a:srgbClr val="012D86"/>
                    </a:gs>
                    <a:gs pos="100000">
                      <a:srgbClr val="0E2557"/>
                    </a:gs>
                  </a:gsLst>
                  <a:lin scaled="0"/>
                </a:gradFill>
                <a:ea typeface="宋体" panose="02010600030101010101" pitchFamily="2" charset="-122"/>
              </a:rPr>
              <a:t>个稳定状态，</a:t>
            </a:r>
            <a:r>
              <a:rPr lang="zh-CN" sz="2400" b="1">
                <a:gradFill>
                  <a:gsLst>
                    <a:gs pos="0">
                      <a:srgbClr val="012D86"/>
                    </a:gs>
                    <a:gs pos="100000">
                      <a:srgbClr val="0E2557"/>
                    </a:gs>
                  </a:gsLst>
                  <a:lin scaled="0"/>
                </a:gradFill>
                <a:latin typeface="Times New Roman" panose="02020603050405020304" charset="0"/>
                <a:ea typeface="宋体" panose="02010600030101010101" pitchFamily="2" charset="-122"/>
              </a:rPr>
              <a:t>而</a:t>
            </a:r>
            <a:r>
              <a:rPr lang="zh-CN" sz="2400" b="1">
                <a:gradFill>
                  <a:gsLst>
                    <a:gs pos="0">
                      <a:srgbClr val="012D86"/>
                    </a:gs>
                    <a:gs pos="100000">
                      <a:srgbClr val="0E2557"/>
                    </a:gs>
                  </a:gsLst>
                  <a:lin scaled="0"/>
                </a:gradFill>
                <a:ea typeface="宋体" panose="02010600030101010101" pitchFamily="2" charset="-122"/>
              </a:rPr>
              <a:t>译码状态即</a:t>
            </a:r>
            <a:r>
              <a:rPr lang="en-US" sz="2400" b="1">
                <a:gradFill>
                  <a:gsLst>
                    <a:gs pos="0">
                      <a:srgbClr val="012D86"/>
                    </a:gs>
                    <a:gs pos="100000">
                      <a:srgbClr val="0E2557"/>
                    </a:gs>
                  </a:gsLst>
                  <a:lin scaled="0"/>
                </a:gradFill>
                <a:latin typeface="Times New Roman" panose="02020603050405020304" charset="0"/>
              </a:rPr>
              <a:t>1001</a:t>
            </a:r>
            <a:r>
              <a:rPr lang="zh-CN" sz="2400" b="1">
                <a:gradFill>
                  <a:gsLst>
                    <a:gs pos="0">
                      <a:srgbClr val="012D86"/>
                    </a:gs>
                    <a:gs pos="100000">
                      <a:srgbClr val="0E2557"/>
                    </a:gs>
                  </a:gsLst>
                  <a:lin scaled="0"/>
                </a:gradFill>
                <a:ea typeface="宋体" panose="02010600030101010101" pitchFamily="2" charset="-122"/>
              </a:rPr>
              <a:t>状态</a:t>
            </a:r>
            <a:r>
              <a:rPr lang="en-US" sz="2400" b="1">
                <a:gradFill>
                  <a:gsLst>
                    <a:gs pos="0">
                      <a:srgbClr val="012D86"/>
                    </a:gs>
                    <a:gs pos="100000">
                      <a:srgbClr val="0E2557"/>
                    </a:gs>
                  </a:gsLst>
                  <a:lin scaled="0"/>
                </a:gradFill>
                <a:latin typeface="Times New Roman" panose="02020603050405020304" charset="0"/>
              </a:rPr>
              <a:t>(</a:t>
            </a:r>
            <a:r>
              <a:rPr lang="zh-CN" sz="2400" b="1">
                <a:gradFill>
                  <a:gsLst>
                    <a:gs pos="0">
                      <a:srgbClr val="012D86"/>
                    </a:gs>
                    <a:gs pos="100000">
                      <a:srgbClr val="0E2557"/>
                    </a:gs>
                  </a:gsLst>
                  <a:lin scaled="0"/>
                </a:gradFill>
                <a:ea typeface="宋体" panose="02010600030101010101" pitchFamily="2" charset="-122"/>
              </a:rPr>
              <a:t>在状态图中用虚线表示</a:t>
            </a:r>
            <a:r>
              <a:rPr lang="en-US" sz="2400" b="1">
                <a:gradFill>
                  <a:gsLst>
                    <a:gs pos="0">
                      <a:srgbClr val="012D86"/>
                    </a:gs>
                    <a:gs pos="100000">
                      <a:srgbClr val="0E2557"/>
                    </a:gs>
                  </a:gsLst>
                  <a:lin scaled="0"/>
                </a:gradFill>
                <a:latin typeface="Times New Roman" panose="02020603050405020304" charset="0"/>
              </a:rPr>
              <a:t>)</a:t>
            </a:r>
            <a:r>
              <a:rPr lang="zh-CN" sz="2400" b="1">
                <a:gradFill>
                  <a:gsLst>
                    <a:gs pos="0">
                      <a:srgbClr val="012D86"/>
                    </a:gs>
                    <a:gs pos="100000">
                      <a:srgbClr val="0E2557"/>
                    </a:gs>
                  </a:gsLst>
                  <a:lin scaled="0"/>
                </a:gradFill>
                <a:ea typeface="宋体" panose="02010600030101010101" pitchFamily="2" charset="-122"/>
              </a:rPr>
              <a:t>仅在极短的瞬间出现，故为九进制计数器。</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3" name="文本框 2"/>
          <p:cNvSpPr txBox="1"/>
          <p:nvPr/>
        </p:nvSpPr>
        <p:spPr>
          <a:xfrm>
            <a:off x="1757045" y="6529070"/>
            <a:ext cx="3791585" cy="337185"/>
          </a:xfrm>
          <a:prstGeom prst="rect">
            <a:avLst/>
          </a:prstGeom>
          <a:noFill/>
          <a:ln w="9525">
            <a:noFill/>
          </a:ln>
        </p:spPr>
        <p:txBody>
          <a:bodyPr wrap="square">
            <a:spAutoFit/>
          </a:bodyPr>
          <a:p>
            <a:r>
              <a:rPr lang="zh-CN" sz="1600">
                <a:solidFill>
                  <a:schemeClr val="bg1"/>
                </a:solidFill>
                <a:ea typeface="宋体" panose="02010600030101010101" pitchFamily="2" charset="-122"/>
              </a:rPr>
              <a:t>图</a:t>
            </a:r>
            <a:r>
              <a:rPr lang="en-US" sz="1600">
                <a:solidFill>
                  <a:schemeClr val="bg1"/>
                </a:solidFill>
                <a:latin typeface="Times New Roman" panose="02020603050405020304" charset="0"/>
                <a:ea typeface="宋体" panose="02010600030101010101" pitchFamily="2" charset="-122"/>
                <a:cs typeface="Times New Roman" panose="02020603050405020304" charset="0"/>
              </a:rPr>
              <a:t>6-</a:t>
            </a:r>
            <a:r>
              <a:rPr lang="en-US" sz="1600">
                <a:solidFill>
                  <a:schemeClr val="bg1"/>
                </a:solidFill>
                <a:latin typeface="Times New Roman" panose="02020603050405020304" charset="0"/>
                <a:ea typeface="宋体" panose="02010600030101010101" pitchFamily="2" charset="-122"/>
              </a:rPr>
              <a:t>38 </a:t>
            </a:r>
            <a:r>
              <a:rPr lang="zh-CN" sz="1600">
                <a:solidFill>
                  <a:schemeClr val="bg1"/>
                </a:solidFill>
                <a:ea typeface="宋体" panose="02010600030101010101" pitchFamily="2" charset="-122"/>
              </a:rPr>
              <a:t>用反馈清零法构成九进制计数器</a:t>
            </a:r>
            <a:endParaRPr lang="zh-CN" altLang="en-US" sz="1600">
              <a:solidFill>
                <a:schemeClr val="bg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0" name="文本框 99"/>
          <p:cNvSpPr txBox="1"/>
          <p:nvPr/>
        </p:nvSpPr>
        <p:spPr>
          <a:xfrm>
            <a:off x="691515" y="1177290"/>
            <a:ext cx="8255635" cy="82994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【例</a:t>
            </a:r>
            <a:r>
              <a:rPr lang="en-US" sz="2400" b="1">
                <a:gradFill>
                  <a:gsLst>
                    <a:gs pos="0">
                      <a:srgbClr val="012D86"/>
                    </a:gs>
                    <a:gs pos="100000">
                      <a:srgbClr val="0E2557"/>
                    </a:gs>
                  </a:gsLst>
                  <a:lin scaled="0"/>
                </a:gradFill>
                <a:latin typeface="Times New Roman" panose="02020603050405020304" charset="0"/>
              </a:rPr>
              <a:t>6-7</a:t>
            </a:r>
            <a:r>
              <a:rPr lang="zh-CN" sz="2400" b="1">
                <a:gradFill>
                  <a:gsLst>
                    <a:gs pos="0">
                      <a:srgbClr val="012D86"/>
                    </a:gs>
                    <a:gs pos="100000">
                      <a:srgbClr val="0E2557"/>
                    </a:gs>
                  </a:gsLst>
                  <a:lin scaled="0"/>
                </a:gradFill>
                <a:ea typeface="宋体" panose="02010600030101010101" pitchFamily="2" charset="-122"/>
              </a:rPr>
              <a:t>】</a:t>
            </a:r>
            <a:r>
              <a:rPr lang="en-US" sz="2400" b="1">
                <a:gradFill>
                  <a:gsLst>
                    <a:gs pos="0">
                      <a:srgbClr val="012D86"/>
                    </a:gs>
                    <a:gs pos="100000">
                      <a:srgbClr val="0E2557"/>
                    </a:gs>
                  </a:gsLst>
                  <a:lin scaled="0"/>
                </a:gradFill>
                <a:latin typeface="Times New Roman" panose="02020603050405020304" charset="0"/>
              </a:rPr>
              <a:t> </a:t>
            </a:r>
            <a:r>
              <a:rPr lang="zh-CN" sz="2400" b="1">
                <a:gradFill>
                  <a:gsLst>
                    <a:gs pos="0">
                      <a:srgbClr val="012D86"/>
                    </a:gs>
                    <a:gs pos="100000">
                      <a:srgbClr val="0E2557"/>
                    </a:gs>
                  </a:gsLst>
                  <a:lin scaled="0"/>
                </a:gradFill>
                <a:ea typeface="宋体" panose="02010600030101010101" pitchFamily="2" charset="-122"/>
              </a:rPr>
              <a:t>中规模逻辑器件</a:t>
            </a:r>
            <a:r>
              <a:rPr lang="en-US" sz="2400" b="1">
                <a:gradFill>
                  <a:gsLst>
                    <a:gs pos="0">
                      <a:srgbClr val="012D86"/>
                    </a:gs>
                    <a:gs pos="100000">
                      <a:srgbClr val="0E2557"/>
                    </a:gs>
                  </a:gsLst>
                  <a:lin scaled="0"/>
                </a:gradFill>
                <a:latin typeface="Times New Roman" panose="02020603050405020304" charset="0"/>
              </a:rPr>
              <a:t>74163</a:t>
            </a:r>
            <a:r>
              <a:rPr lang="zh-CN" sz="2400" b="1">
                <a:gradFill>
                  <a:gsLst>
                    <a:gs pos="0">
                      <a:srgbClr val="012D86"/>
                    </a:gs>
                    <a:gs pos="100000">
                      <a:srgbClr val="0E2557"/>
                    </a:gs>
                  </a:gsLst>
                  <a:lin scaled="0"/>
                </a:gradFill>
                <a:ea typeface="宋体" panose="02010600030101010101" pitchFamily="2" charset="-122"/>
              </a:rPr>
              <a:t>为</a:t>
            </a:r>
            <a:r>
              <a:rPr lang="en-US" sz="2400" b="1">
                <a:gradFill>
                  <a:gsLst>
                    <a:gs pos="0">
                      <a:srgbClr val="012D86"/>
                    </a:gs>
                    <a:gs pos="100000">
                      <a:srgbClr val="0E2557"/>
                    </a:gs>
                  </a:gsLst>
                  <a:lin scaled="0"/>
                </a:gradFill>
                <a:latin typeface="Times New Roman" panose="02020603050405020304" charset="0"/>
                <a:cs typeface="Times New Roman" panose="02020603050405020304" charset="0"/>
              </a:rPr>
              <a:t>4</a:t>
            </a:r>
            <a:r>
              <a:rPr lang="zh-CN" sz="2400" b="1">
                <a:gradFill>
                  <a:gsLst>
                    <a:gs pos="0">
                      <a:srgbClr val="012D86"/>
                    </a:gs>
                    <a:gs pos="100000">
                      <a:srgbClr val="0E2557"/>
                    </a:gs>
                  </a:gsLst>
                  <a:lin scaled="0"/>
                </a:gradFill>
                <a:ea typeface="宋体" panose="02010600030101010101" pitchFamily="2" charset="-122"/>
              </a:rPr>
              <a:t>位二进制加法计数器，试用反馈清零法构成九进制计数器。</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9405" name="图片 2842"/>
          <p:cNvPicPr>
            <a:picLocks noChangeAspect="1"/>
          </p:cNvPicPr>
          <p:nvPr/>
        </p:nvPicPr>
        <p:blipFill>
          <a:blip r:embed="rId1"/>
          <a:stretch>
            <a:fillRect/>
          </a:stretch>
        </p:blipFill>
        <p:spPr>
          <a:xfrm>
            <a:off x="90170" y="1923415"/>
            <a:ext cx="5655945" cy="4613910"/>
          </a:xfrm>
          <a:prstGeom prst="rect">
            <a:avLst/>
          </a:prstGeom>
          <a:noFill/>
          <a:ln>
            <a:noFill/>
          </a:ln>
        </p:spPr>
      </p:pic>
      <p:sp>
        <p:nvSpPr>
          <p:cNvPr id="3" name="文本框 2"/>
          <p:cNvSpPr txBox="1"/>
          <p:nvPr/>
        </p:nvSpPr>
        <p:spPr>
          <a:xfrm>
            <a:off x="1748155" y="6537325"/>
            <a:ext cx="3791585" cy="337185"/>
          </a:xfrm>
          <a:prstGeom prst="rect">
            <a:avLst/>
          </a:prstGeom>
          <a:noFill/>
          <a:ln w="9525">
            <a:noFill/>
          </a:ln>
        </p:spPr>
        <p:txBody>
          <a:bodyPr wrap="square">
            <a:spAutoFit/>
          </a:bodyPr>
          <a:p>
            <a:r>
              <a:rPr lang="zh-CN" sz="1600">
                <a:solidFill>
                  <a:schemeClr val="bg1"/>
                </a:solidFill>
                <a:ea typeface="宋体" panose="02010600030101010101" pitchFamily="2" charset="-122"/>
              </a:rPr>
              <a:t>图</a:t>
            </a:r>
            <a:r>
              <a:rPr lang="en-US" sz="1600">
                <a:solidFill>
                  <a:schemeClr val="bg1"/>
                </a:solidFill>
                <a:latin typeface="Times New Roman" panose="02020603050405020304" charset="0"/>
                <a:ea typeface="宋体" panose="02010600030101010101" pitchFamily="2" charset="-122"/>
                <a:cs typeface="Times New Roman" panose="02020603050405020304" charset="0"/>
              </a:rPr>
              <a:t>6-</a:t>
            </a:r>
            <a:r>
              <a:rPr lang="en-US" sz="1600">
                <a:solidFill>
                  <a:schemeClr val="bg1"/>
                </a:solidFill>
                <a:latin typeface="Times New Roman" panose="02020603050405020304" charset="0"/>
                <a:ea typeface="宋体" panose="02010600030101010101" pitchFamily="2" charset="-122"/>
              </a:rPr>
              <a:t>39 </a:t>
            </a:r>
            <a:r>
              <a:rPr lang="zh-CN" sz="1600">
                <a:solidFill>
                  <a:schemeClr val="bg1"/>
                </a:solidFill>
                <a:ea typeface="宋体" panose="02010600030101010101" pitchFamily="2" charset="-122"/>
              </a:rPr>
              <a:t>用反馈清零法构成九进制计数器</a:t>
            </a:r>
            <a:endParaRPr lang="zh-CN" altLang="en-US" sz="1600">
              <a:solidFill>
                <a:schemeClr val="bg1"/>
              </a:solidFill>
              <a:ea typeface="宋体" panose="02010600030101010101" pitchFamily="2" charset="-122"/>
            </a:endParaRPr>
          </a:p>
        </p:txBody>
      </p:sp>
      <p:sp>
        <p:nvSpPr>
          <p:cNvPr id="2" name="文本框 1"/>
          <p:cNvSpPr txBox="1"/>
          <p:nvPr/>
        </p:nvSpPr>
        <p:spPr>
          <a:xfrm>
            <a:off x="6061710" y="2339975"/>
            <a:ext cx="3082290" cy="2676525"/>
          </a:xfrm>
          <a:prstGeom prst="rect">
            <a:avLst/>
          </a:prstGeom>
          <a:noFill/>
          <a:ln w="9525">
            <a:noFill/>
          </a:ln>
        </p:spPr>
        <p:txBody>
          <a:bodyPr wrap="square">
            <a:spAutoFit/>
          </a:bodyPr>
          <a:p>
            <a:pPr indent="266700"/>
            <a:r>
              <a:rPr lang="zh-CN" sz="2400" b="1">
                <a:gradFill>
                  <a:gsLst>
                    <a:gs pos="0">
                      <a:srgbClr val="012D86"/>
                    </a:gs>
                    <a:gs pos="100000">
                      <a:srgbClr val="0E2557"/>
                    </a:gs>
                  </a:gsLst>
                  <a:lin scaled="0"/>
                </a:gradFill>
                <a:ea typeface="宋体" panose="02010600030101010101" pitchFamily="2" charset="-122"/>
              </a:rPr>
              <a:t>74LS16</a:t>
            </a:r>
            <a:r>
              <a:rPr lang="en-US" altLang="zh-CN" sz="2400" b="1">
                <a:gradFill>
                  <a:gsLst>
                    <a:gs pos="0">
                      <a:srgbClr val="012D86"/>
                    </a:gs>
                    <a:gs pos="100000">
                      <a:srgbClr val="0E2557"/>
                    </a:gs>
                  </a:gsLst>
                  <a:lin scaled="0"/>
                </a:gradFill>
                <a:ea typeface="宋体" panose="02010600030101010101" pitchFamily="2" charset="-122"/>
              </a:rPr>
              <a:t>3</a:t>
            </a:r>
            <a:r>
              <a:rPr lang="zh-CN" sz="2400" b="1">
                <a:gradFill>
                  <a:gsLst>
                    <a:gs pos="0">
                      <a:srgbClr val="012D86"/>
                    </a:gs>
                    <a:gs pos="100000">
                      <a:srgbClr val="0E2557"/>
                    </a:gs>
                  </a:gsLst>
                  <a:lin scaled="0"/>
                </a:gradFill>
                <a:ea typeface="宋体" panose="02010600030101010101" pitchFamily="2" charset="-122"/>
              </a:rPr>
              <a:t>具有同步清零功能，用100</a:t>
            </a:r>
            <a:r>
              <a:rPr lang="en-US" altLang="zh-CN" sz="2400" b="1">
                <a:gradFill>
                  <a:gsLst>
                    <a:gs pos="0">
                      <a:srgbClr val="012D86"/>
                    </a:gs>
                    <a:gs pos="100000">
                      <a:srgbClr val="0E2557"/>
                    </a:gs>
                  </a:gsLst>
                  <a:lin scaled="0"/>
                </a:gradFill>
                <a:ea typeface="宋体" panose="02010600030101010101" pitchFamily="2" charset="-122"/>
              </a:rPr>
              <a:t>0</a:t>
            </a:r>
            <a:r>
              <a:rPr lang="zh-CN" sz="2400" b="1">
                <a:gradFill>
                  <a:gsLst>
                    <a:gs pos="0">
                      <a:srgbClr val="012D86"/>
                    </a:gs>
                    <a:gs pos="100000">
                      <a:srgbClr val="0E2557"/>
                    </a:gs>
                  </a:gsLst>
                  <a:lin scaled="0"/>
                </a:gradFill>
                <a:ea typeface="宋体" panose="02010600030101010101" pitchFamily="2" charset="-122"/>
              </a:rPr>
              <a:t>作为译码信号，</a:t>
            </a:r>
            <a:r>
              <a:rPr lang="zh-CN" sz="2400" b="1">
                <a:gradFill>
                  <a:gsLst>
                    <a:gs pos="0">
                      <a:srgbClr val="012D86"/>
                    </a:gs>
                    <a:gs pos="100000">
                      <a:srgbClr val="0E2557"/>
                    </a:gs>
                  </a:gsLst>
                  <a:lin scaled="0"/>
                </a:gradFill>
                <a:sym typeface="+mn-ea"/>
              </a:rPr>
              <a:t>在</a:t>
            </a:r>
            <a:r>
              <a:rPr lang="en-US" sz="2400" b="1">
                <a:gradFill>
                  <a:gsLst>
                    <a:gs pos="0">
                      <a:srgbClr val="012D86"/>
                    </a:gs>
                    <a:gs pos="100000">
                      <a:srgbClr val="0E2557"/>
                    </a:gs>
                  </a:gsLst>
                  <a:lin scaled="0"/>
                </a:gradFill>
                <a:latin typeface="Times New Roman" panose="02020603050405020304" charset="0"/>
                <a:sym typeface="+mn-ea"/>
              </a:rPr>
              <a:t>1000</a:t>
            </a:r>
            <a:r>
              <a:rPr lang="zh-CN" sz="2400" b="1">
                <a:gradFill>
                  <a:gsLst>
                    <a:gs pos="0">
                      <a:srgbClr val="012D86"/>
                    </a:gs>
                    <a:gs pos="100000">
                      <a:srgbClr val="0E2557"/>
                    </a:gs>
                  </a:gsLst>
                  <a:lin scaled="0"/>
                </a:gradFill>
                <a:sym typeface="+mn-ea"/>
              </a:rPr>
              <a:t>状态停留了一个</a:t>
            </a:r>
            <a:r>
              <a:rPr lang="en-US" sz="2400" b="1" i="1">
                <a:gradFill>
                  <a:gsLst>
                    <a:gs pos="0">
                      <a:srgbClr val="012D86"/>
                    </a:gs>
                    <a:gs pos="100000">
                      <a:srgbClr val="0E2557"/>
                    </a:gs>
                  </a:gsLst>
                  <a:lin scaled="0"/>
                </a:gradFill>
                <a:latin typeface="Times New Roman" panose="02020603050405020304" charset="0"/>
                <a:sym typeface="+mn-ea"/>
              </a:rPr>
              <a:t>t</a:t>
            </a:r>
            <a:r>
              <a:rPr lang="en-US" sz="2400" b="1" i="1" baseline="-25000">
                <a:gradFill>
                  <a:gsLst>
                    <a:gs pos="0">
                      <a:srgbClr val="012D86"/>
                    </a:gs>
                    <a:gs pos="100000">
                      <a:srgbClr val="0E2557"/>
                    </a:gs>
                  </a:gsLst>
                  <a:lin scaled="0"/>
                </a:gradFill>
                <a:latin typeface="Times New Roman" panose="02020603050405020304" charset="0"/>
                <a:sym typeface="+mn-ea"/>
              </a:rPr>
              <a:t>CP</a:t>
            </a:r>
            <a:r>
              <a:rPr lang="zh-CN" sz="2400" b="1">
                <a:gradFill>
                  <a:gsLst>
                    <a:gs pos="0">
                      <a:srgbClr val="012D86"/>
                    </a:gs>
                    <a:gs pos="100000">
                      <a:srgbClr val="0E2557"/>
                    </a:gs>
                  </a:gsLst>
                  <a:lin scaled="0"/>
                </a:gradFill>
                <a:sym typeface="+mn-ea"/>
              </a:rPr>
              <a:t>时间</a:t>
            </a:r>
            <a:r>
              <a:rPr lang="zh-CN" sz="2400" b="1">
                <a:gradFill>
                  <a:gsLst>
                    <a:gs pos="0">
                      <a:srgbClr val="012D86"/>
                    </a:gs>
                    <a:gs pos="100000">
                      <a:srgbClr val="0E2557"/>
                    </a:gs>
                  </a:gsLst>
                  <a:lin scaled="0"/>
                </a:gradFill>
                <a:latin typeface="Times New Roman" panose="02020603050405020304" charset="0"/>
                <a:sym typeface="+mn-ea"/>
              </a:rPr>
              <a:t>，</a:t>
            </a:r>
            <a:r>
              <a:rPr lang="en-US" sz="2400" b="1">
                <a:gradFill>
                  <a:gsLst>
                    <a:gs pos="0">
                      <a:srgbClr val="012D86"/>
                    </a:gs>
                    <a:gs pos="100000">
                      <a:srgbClr val="0E2557"/>
                    </a:gs>
                  </a:gsLst>
                  <a:lin scaled="0"/>
                </a:gradFill>
                <a:latin typeface="Times New Roman" panose="02020603050405020304" charset="0"/>
              </a:rPr>
              <a:t>1000</a:t>
            </a:r>
            <a:r>
              <a:rPr lang="zh-CN" sz="2400" b="1">
                <a:gradFill>
                  <a:gsLst>
                    <a:gs pos="0">
                      <a:srgbClr val="012D86"/>
                    </a:gs>
                    <a:gs pos="100000">
                      <a:srgbClr val="0E2557"/>
                    </a:gs>
                  </a:gsLst>
                  <a:lin scaled="0"/>
                </a:gradFill>
                <a:ea typeface="宋体" panose="02010600030101010101" pitchFamily="2" charset="-122"/>
              </a:rPr>
              <a:t>也是稳态，</a:t>
            </a:r>
            <a:r>
              <a:rPr lang="zh-CN" sz="2400" b="1">
                <a:gradFill>
                  <a:gsLst>
                    <a:gs pos="0">
                      <a:srgbClr val="012D86"/>
                    </a:gs>
                    <a:gs pos="100000">
                      <a:srgbClr val="0E2557"/>
                    </a:gs>
                  </a:gsLst>
                  <a:lin scaled="0"/>
                </a:gradFill>
                <a:sym typeface="+mn-ea"/>
              </a:rPr>
              <a:t>构成的是</a:t>
            </a:r>
            <a:r>
              <a:rPr lang="zh-CN" sz="2400" b="1">
                <a:gradFill>
                  <a:gsLst>
                    <a:gs pos="0">
                      <a:srgbClr val="012D86"/>
                    </a:gs>
                    <a:gs pos="100000">
                      <a:srgbClr val="0E2557"/>
                    </a:gs>
                  </a:gsLst>
                  <a:lin scaled="0"/>
                </a:gradFill>
                <a:ea typeface="宋体" panose="02010600030101010101" pitchFamily="2" charset="-122"/>
              </a:rPr>
              <a:t>九进制计数器。</a:t>
            </a:r>
            <a:endParaRPr lang="zh-CN" altLang="en-US" sz="2400" b="1">
              <a:gradFill>
                <a:gsLst>
                  <a:gs pos="0">
                    <a:srgbClr val="012D86"/>
                  </a:gs>
                  <a:gs pos="100000">
                    <a:srgbClr val="0E2557"/>
                  </a:gs>
                </a:gsLst>
                <a:lin scaled="0"/>
              </a:gra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文本框 1"/>
          <p:cNvSpPr txBox="1"/>
          <p:nvPr/>
        </p:nvSpPr>
        <p:spPr>
          <a:xfrm>
            <a:off x="889635" y="1170940"/>
            <a:ext cx="5080000" cy="460375"/>
          </a:xfrm>
          <a:prstGeom prst="rect">
            <a:avLst/>
          </a:prstGeom>
          <a:noFill/>
          <a:ln w="9525">
            <a:noFill/>
          </a:ln>
        </p:spPr>
        <p:txBody>
          <a:bodyPr>
            <a:spAutoFit/>
          </a:bodyPr>
          <a:p>
            <a:r>
              <a:rPr lang="en-US" altLang="zh-CN" sz="2400" b="1">
                <a:ea typeface="宋体" panose="02010600030101010101" pitchFamily="2" charset="-122"/>
              </a:rPr>
              <a:t>(2)</a:t>
            </a:r>
            <a:r>
              <a:rPr lang="zh-CN" sz="2400" b="1">
                <a:ea typeface="宋体" panose="02010600030101010101" pitchFamily="2" charset="-122"/>
              </a:rPr>
              <a:t>反馈置数法</a:t>
            </a:r>
            <a:endParaRPr lang="zh-CN" altLang="en-US" sz="2400" b="1"/>
          </a:p>
        </p:txBody>
      </p:sp>
      <p:sp>
        <p:nvSpPr>
          <p:cNvPr id="152583" name="Rectangle 7"/>
          <p:cNvSpPr>
            <a:spLocks noChangeArrowheads="1"/>
          </p:cNvSpPr>
          <p:nvPr/>
        </p:nvSpPr>
        <p:spPr bwMode="auto">
          <a:xfrm>
            <a:off x="889635" y="2280285"/>
            <a:ext cx="7704138" cy="2490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L="0" marR="0" lvl="0" indent="0" algn="l" defTabSz="914400" rtl="0" eaLnBrk="0" fontAlgn="base" latinLnBrk="0" hangingPunct="0">
              <a:lnSpc>
                <a:spcPct val="90000"/>
              </a:lnSpc>
              <a:spcBef>
                <a:spcPct val="50000"/>
              </a:spcBef>
              <a:spcAft>
                <a:spcPct val="0"/>
              </a:spcAft>
              <a:buClrTx/>
              <a:buSzTx/>
              <a:buFontTx/>
              <a:buNone/>
              <a:defRPr/>
            </a:pPr>
            <a:r>
              <a:rPr kumimoji="0" lang="zh-CN" altLang="en-US" sz="2400" b="1" i="0" u="none" strike="noStrike" kern="1200" cap="none" spc="0" normalizeH="0" baseline="0" noProof="0" smtClean="0">
                <a:ln>
                  <a:noFill/>
                </a:ln>
                <a:solidFill>
                  <a:srgbClr val="CC6600"/>
                </a:solidFill>
                <a:effectLst>
                  <a:outerShdw blurRad="38100" dist="38100" dir="2700000" algn="tl">
                    <a:srgbClr val="000000"/>
                  </a:outerShdw>
                </a:effectLst>
                <a:uLnTx/>
                <a:uFillTx/>
                <a:latin typeface="Times New Roman" panose="02020603050405020304" charset="0"/>
                <a:ea typeface="宋体" panose="02010600030101010101" pitchFamily="2" charset="-122"/>
                <a:cs typeface="Times New Roman" panose="02020603050405020304" charset="0"/>
              </a:rPr>
              <a:t>工作原理：</a:t>
            </a:r>
            <a:r>
              <a:rPr kumimoji="0"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通过给计数器重复置入某个数值的方法跳跃</a:t>
            </a:r>
            <a:endParaRPr kumimoji="0"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endParaRPr>
          </a:p>
          <a:p>
            <a:pPr marL="0" marR="0" lvl="0" indent="0" algn="l" defTabSz="914400" rtl="0" eaLnBrk="0" fontAlgn="base" latinLnBrk="0" hangingPunct="0">
              <a:lnSpc>
                <a:spcPct val="90000"/>
              </a:lnSpc>
              <a:spcBef>
                <a:spcPct val="50000"/>
              </a:spcBef>
              <a:spcAft>
                <a:spcPct val="0"/>
              </a:spcAft>
              <a:buClrTx/>
              <a:buSzTx/>
              <a:buFontTx/>
              <a:buNone/>
              <a:defRPr/>
            </a:pPr>
            <a:r>
              <a:rPr kumimoji="0" lang="en-US" altLang="zh-CN" sz="2400" b="1" i="1"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M</a:t>
            </a:r>
            <a:r>
              <a:rPr kumimoji="0"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a:t>
            </a:r>
            <a:r>
              <a:rPr kumimoji="0" lang="en-US" altLang="zh-CN" sz="2400" b="1" i="1"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N</a:t>
            </a:r>
            <a:r>
              <a:rPr kumimoji="0"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个状态，从而得到</a:t>
            </a:r>
            <a:r>
              <a:rPr kumimoji="0"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N</a:t>
            </a:r>
            <a:r>
              <a:rPr kumimoji="0"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进制计数器。</a:t>
            </a:r>
            <a:endParaRPr kumimoji="0"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endParaRPr>
          </a:p>
          <a:p>
            <a:pPr marL="0" marR="0" lvl="0" indent="0" algn="l" defTabSz="914400" rtl="0" eaLnBrk="0" fontAlgn="base" latinLnBrk="0" hangingPunct="0">
              <a:lnSpc>
                <a:spcPct val="90000"/>
              </a:lnSpc>
              <a:spcBef>
                <a:spcPct val="50000"/>
              </a:spcBef>
              <a:spcAft>
                <a:spcPct val="0"/>
              </a:spcAft>
              <a:buClrTx/>
              <a:buSzTx/>
              <a:buFontTx/>
              <a:buNone/>
              <a:defRPr/>
            </a:pPr>
            <a:r>
              <a:rPr kumimoji="0"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同步预置数的计数器，</a:t>
            </a:r>
            <a:r>
              <a:rPr kumimoji="0" lang="en-US" altLang="zh-CN" sz="2400" b="1" i="1"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L</a:t>
            </a:r>
            <a:r>
              <a:rPr kumimoji="0" lang="en-US" altLang="zh-CN" sz="2400" b="1"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D</a:t>
            </a:r>
            <a:r>
              <a:rPr kumimoji="0"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=0</a:t>
            </a:r>
            <a:r>
              <a:rPr kumimoji="0"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的信号</a:t>
            </a:r>
            <a:r>
              <a:rPr lang="zh-CN" altLang="en-US" sz="2400" b="1" noProof="0" smtClean="0">
                <a:ln>
                  <a:noFill/>
                </a:ln>
                <a:effectLst>
                  <a:outerShdw blurRad="38100" dist="38100" dir="2700000" algn="tl">
                    <a:srgbClr val="FFFFFF"/>
                  </a:outerShdw>
                </a:effectLst>
                <a:uLnTx/>
                <a:uFillTx/>
                <a:latin typeface="Times New Roman" panose="02020603050405020304" charset="0"/>
                <a:cs typeface="Times New Roman" panose="02020603050405020304" charset="0"/>
                <a:sym typeface="+mn-ea"/>
              </a:rPr>
              <a:t>从</a:t>
            </a:r>
            <a:r>
              <a:rPr kumimoji="0"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最后</a:t>
            </a:r>
            <a:r>
              <a:rPr lang="zh-CN" altLang="en-US" sz="2400" b="1" noProof="0" smtClean="0">
                <a:ln>
                  <a:noFill/>
                </a:ln>
                <a:effectLst>
                  <a:outerShdw blurRad="38100" dist="38100" dir="2700000" algn="tl">
                    <a:srgbClr val="FFFFFF"/>
                  </a:outerShdw>
                </a:effectLst>
                <a:uLnTx/>
                <a:uFillTx/>
                <a:latin typeface="Times New Roman" panose="02020603050405020304" charset="0"/>
                <a:cs typeface="Times New Roman" panose="02020603050405020304" charset="0"/>
                <a:sym typeface="+mn-ea"/>
              </a:rPr>
              <a:t>稳</a:t>
            </a:r>
            <a:r>
              <a:rPr lang="zh-CN" altLang="en-US" sz="2400" b="1" noProof="0" smtClean="0">
                <a:ln>
                  <a:noFill/>
                </a:ln>
                <a:effectLst>
                  <a:outerShdw blurRad="38100" dist="38100" dir="2700000" algn="tl">
                    <a:srgbClr val="FFFFFF"/>
                  </a:outerShdw>
                </a:effectLst>
                <a:uLnTx/>
                <a:uFillTx/>
                <a:latin typeface="Times New Roman" panose="02020603050405020304" charset="0"/>
                <a:cs typeface="Times New Roman" panose="02020603050405020304" charset="0"/>
                <a:sym typeface="+mn-ea"/>
              </a:rPr>
              <a:t>态</a:t>
            </a:r>
            <a:r>
              <a:rPr kumimoji="0" lang="en-US" altLang="zh-CN" sz="2400" b="1" i="1"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S</a:t>
            </a:r>
            <a:r>
              <a:rPr kumimoji="0" lang="en-US" altLang="zh-CN" sz="2400" b="1" i="1"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i</a:t>
            </a:r>
            <a:r>
              <a:rPr kumimoji="0"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译出。</a:t>
            </a:r>
            <a:endParaRPr kumimoji="0"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endParaRPr>
          </a:p>
          <a:p>
            <a:pPr marL="0" marR="0" lvl="0" indent="0" algn="l" defTabSz="914400" rtl="0" eaLnBrk="0" fontAlgn="base" latinLnBrk="0" hangingPunct="0">
              <a:lnSpc>
                <a:spcPct val="90000"/>
              </a:lnSpc>
              <a:spcBef>
                <a:spcPct val="50000"/>
              </a:spcBef>
              <a:spcAft>
                <a:spcPct val="0"/>
              </a:spcAft>
              <a:buClrTx/>
              <a:buSzTx/>
              <a:buFontTx/>
              <a:buNone/>
              <a:defRPr/>
            </a:pPr>
            <a:r>
              <a:rPr kumimoji="0"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异步预置数的计数器，</a:t>
            </a:r>
            <a:r>
              <a:rPr kumimoji="0" lang="en-US" altLang="zh-CN" sz="2400" b="1" i="1"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L</a:t>
            </a:r>
            <a:r>
              <a:rPr kumimoji="0" lang="en-US" altLang="zh-CN" sz="2400" b="1"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D</a:t>
            </a:r>
            <a:r>
              <a:rPr kumimoji="0" lang="en-US" altLang="zh-CN"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=0</a:t>
            </a:r>
            <a:r>
              <a:rPr kumimoji="0"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的信号从</a:t>
            </a:r>
            <a:r>
              <a:rPr lang="zh-CN" altLang="en-US" sz="2400" b="1" noProof="0" smtClean="0">
                <a:ln>
                  <a:noFill/>
                </a:ln>
                <a:effectLst>
                  <a:outerShdw blurRad="38100" dist="38100" dir="2700000" algn="tl">
                    <a:srgbClr val="FFFFFF"/>
                  </a:outerShdw>
                </a:effectLst>
                <a:uLnTx/>
                <a:uFillTx/>
                <a:latin typeface="Times New Roman" panose="02020603050405020304" charset="0"/>
                <a:cs typeface="Times New Roman" panose="02020603050405020304" charset="0"/>
                <a:sym typeface="+mn-ea"/>
              </a:rPr>
              <a:t>最后稳态</a:t>
            </a:r>
            <a:r>
              <a:rPr lang="en-US" altLang="zh-CN" sz="2400" b="1" i="1" noProof="0" smtClean="0">
                <a:ln>
                  <a:noFill/>
                </a:ln>
                <a:effectLst>
                  <a:outerShdw blurRad="38100" dist="38100" dir="2700000" algn="tl">
                    <a:srgbClr val="FFFFFF"/>
                  </a:outerShdw>
                </a:effectLst>
                <a:uLnTx/>
                <a:uFillTx/>
                <a:latin typeface="Times New Roman" panose="02020603050405020304" charset="0"/>
                <a:cs typeface="Times New Roman" panose="02020603050405020304" charset="0"/>
                <a:sym typeface="+mn-ea"/>
              </a:rPr>
              <a:t>S</a:t>
            </a:r>
            <a:r>
              <a:rPr lang="en-US" altLang="zh-CN" sz="2400" b="1" i="1" baseline="-25000" noProof="0" smtClean="0">
                <a:ln>
                  <a:noFill/>
                </a:ln>
                <a:effectLst>
                  <a:outerShdw blurRad="38100" dist="38100" dir="2700000" algn="tl">
                    <a:srgbClr val="FFFFFF"/>
                  </a:outerShdw>
                </a:effectLst>
                <a:uLnTx/>
                <a:uFillTx/>
                <a:latin typeface="Times New Roman" panose="02020603050405020304" charset="0"/>
                <a:cs typeface="Times New Roman" panose="02020603050405020304" charset="0"/>
                <a:sym typeface="+mn-ea"/>
              </a:rPr>
              <a:t>i</a:t>
            </a:r>
            <a:r>
              <a:rPr lang="zh-CN" altLang="en-US" sz="2400" b="1" noProof="0" smtClean="0">
                <a:ln>
                  <a:noFill/>
                </a:ln>
                <a:effectLst>
                  <a:outerShdw blurRad="38100" dist="38100" dir="2700000" algn="tl">
                    <a:srgbClr val="FFFFFF"/>
                  </a:outerShdw>
                </a:effectLst>
                <a:uLnTx/>
                <a:uFillTx/>
                <a:latin typeface="Times New Roman" panose="02020603050405020304" charset="0"/>
                <a:cs typeface="Times New Roman" panose="02020603050405020304" charset="0"/>
                <a:sym typeface="+mn-ea"/>
              </a:rPr>
              <a:t>的下一</a:t>
            </a:r>
            <a:endParaRPr lang="zh-CN" altLang="en-US" sz="2400" b="1" noProof="0" smtClean="0">
              <a:ln>
                <a:noFill/>
              </a:ln>
              <a:effectLst>
                <a:outerShdw blurRad="38100" dist="38100" dir="2700000" algn="tl">
                  <a:srgbClr val="FFFFFF"/>
                </a:outerShdw>
              </a:effectLst>
              <a:uLnTx/>
              <a:uFillTx/>
              <a:latin typeface="Times New Roman" panose="02020603050405020304" charset="0"/>
              <a:cs typeface="Times New Roman" panose="02020603050405020304" charset="0"/>
              <a:sym typeface="+mn-ea"/>
            </a:endParaRPr>
          </a:p>
          <a:p>
            <a:pPr marL="0" marR="0" lvl="0" indent="0" algn="l" defTabSz="914400" rtl="0" eaLnBrk="0" fontAlgn="base" latinLnBrk="0" hangingPunct="0">
              <a:lnSpc>
                <a:spcPct val="90000"/>
              </a:lnSpc>
              <a:spcBef>
                <a:spcPct val="50000"/>
              </a:spcBef>
              <a:spcAft>
                <a:spcPct val="0"/>
              </a:spcAft>
              <a:buClrTx/>
              <a:buSzTx/>
              <a:buFontTx/>
              <a:buNone/>
              <a:defRPr/>
            </a:pPr>
            <a:r>
              <a:rPr lang="zh-CN" altLang="en-US" sz="2400" b="1" noProof="0" smtClean="0">
                <a:ln>
                  <a:noFill/>
                </a:ln>
                <a:effectLst>
                  <a:outerShdw blurRad="38100" dist="38100" dir="2700000" algn="tl">
                    <a:srgbClr val="FFFFFF"/>
                  </a:outerShdw>
                </a:effectLst>
                <a:uLnTx/>
                <a:uFillTx/>
                <a:latin typeface="Times New Roman" panose="02020603050405020304" charset="0"/>
                <a:cs typeface="Times New Roman" panose="02020603050405020304" charset="0"/>
                <a:sym typeface="+mn-ea"/>
              </a:rPr>
              <a:t>个状态</a:t>
            </a:r>
            <a:r>
              <a:rPr kumimoji="0" lang="en-US" altLang="zh-CN" sz="2400" b="1" i="1"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S</a:t>
            </a:r>
            <a:r>
              <a:rPr kumimoji="0" lang="en-US" altLang="zh-CN" sz="2400" b="1" i="1"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i+</a:t>
            </a:r>
            <a:r>
              <a:rPr kumimoji="0" lang="en-US" altLang="zh-CN" sz="2400" b="1" u="none" strike="noStrike" kern="1200" cap="none" spc="0" normalizeH="0" baseline="-2500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1</a:t>
            </a:r>
            <a:r>
              <a:rPr kumimoji="0"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rPr>
              <a:t>译出。</a:t>
            </a:r>
            <a:endParaRPr kumimoji="0"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endParaRPr>
          </a:p>
        </p:txBody>
      </p:sp>
      <p:sp>
        <p:nvSpPr>
          <p:cNvPr id="3" name="文本框 2"/>
          <p:cNvSpPr txBox="1"/>
          <p:nvPr/>
        </p:nvSpPr>
        <p:spPr>
          <a:xfrm>
            <a:off x="889635" y="1707515"/>
            <a:ext cx="4773930" cy="423545"/>
          </a:xfrm>
          <a:prstGeom prst="rect">
            <a:avLst/>
          </a:prstGeom>
          <a:noFill/>
        </p:spPr>
        <p:txBody>
          <a:bodyPr wrap="none" rtlCol="0">
            <a:spAutoFit/>
          </a:bodyPr>
          <a:p>
            <a:pPr marL="0" marR="0" lvl="0" indent="0" algn="l" defTabSz="914400" rtl="0" eaLnBrk="0" fontAlgn="base" latinLnBrk="0" hangingPunct="0">
              <a:lnSpc>
                <a:spcPct val="90000"/>
              </a:lnSpc>
              <a:spcBef>
                <a:spcPct val="50000"/>
              </a:spcBef>
              <a:spcAft>
                <a:spcPct val="0"/>
              </a:spcAft>
              <a:buClrTx/>
              <a:buSzTx/>
              <a:buFontTx/>
              <a:buNone/>
              <a:defRPr/>
            </a:pPr>
            <a:r>
              <a:rPr lang="zh-CN" altLang="en-US" sz="2400" b="1" noProof="0" smtClean="0">
                <a:ln>
                  <a:noFill/>
                </a:ln>
                <a:effectLst>
                  <a:outerShdw blurRad="38100" dist="38100" dir="2700000" algn="tl">
                    <a:srgbClr val="FFFFFF"/>
                  </a:outerShdw>
                </a:effectLst>
                <a:uLnTx/>
                <a:uFillTx/>
                <a:latin typeface="Times New Roman" panose="02020603050405020304" charset="0"/>
                <a:cs typeface="Times New Roman" panose="02020603050405020304" charset="0"/>
                <a:sym typeface="+mn-ea"/>
              </a:rPr>
              <a:t>适用于具有预置数功能的计数器。</a:t>
            </a:r>
            <a:endParaRPr kumimoji="0" lang="zh-CN" altLang="en-US" sz="24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Times New Roman" panose="02020603050405020304" charset="0"/>
              <a:ea typeface="宋体" panose="02010600030101010101" pitchFamily="2" charset="-122"/>
              <a:cs typeface="Times New Roman" panose="02020603050405020304" charset="0"/>
            </a:endParaRPr>
          </a:p>
        </p:txBody>
      </p:sp>
      <p:cxnSp>
        <p:nvCxnSpPr>
          <p:cNvPr id="5" name="直接连接符 4"/>
          <p:cNvCxnSpPr/>
          <p:nvPr/>
        </p:nvCxnSpPr>
        <p:spPr>
          <a:xfrm>
            <a:off x="4048125" y="3340735"/>
            <a:ext cx="39497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4048125" y="3863340"/>
            <a:ext cx="35179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2583">
                                            <p:txEl>
                                              <p:charRg st="0" end="43"/>
                                            </p:txEl>
                                          </p:spTgt>
                                        </p:tgtEl>
                                        <p:attrNameLst>
                                          <p:attrName>style.visibility</p:attrName>
                                        </p:attrNameLst>
                                      </p:cBhvr>
                                      <p:to>
                                        <p:strVal val="visible"/>
                                      </p:to>
                                    </p:set>
                                    <p:animEffect transition="in" filter="dissolve">
                                      <p:cBhvr>
                                        <p:cTn id="7" dur="500"/>
                                        <p:tgtEl>
                                          <p:spTgt spid="152583">
                                            <p:txEl>
                                              <p:charRg st="0" end="43"/>
                                            </p:txEl>
                                          </p:spTgt>
                                        </p:tgtEl>
                                      </p:cBhvr>
                                    </p:animEffect>
                                  </p:childTnLst>
                                </p:cTn>
                              </p:par>
                            </p:childTnLst>
                          </p:cTn>
                        </p:par>
                        <p:par>
                          <p:cTn id="8" fill="hold">
                            <p:stCondLst>
                              <p:cond delay="500"/>
                            </p:stCondLst>
                            <p:childTnLst>
                              <p:par>
                                <p:cTn id="9" presetID="9" presetClass="entr" presetSubtype="0" fill="hold" grpId="0" nodeType="afterEffect">
                                  <p:stCondLst>
                                    <p:cond delay="500"/>
                                  </p:stCondLst>
                                  <p:childTnLst>
                                    <p:set>
                                      <p:cBhvr>
                                        <p:cTn id="10" dur="1" fill="hold">
                                          <p:stCondLst>
                                            <p:cond delay="0"/>
                                          </p:stCondLst>
                                        </p:cTn>
                                        <p:tgtEl>
                                          <p:spTgt spid="152583">
                                            <p:txEl>
                                              <p:charRg st="1" end="1"/>
                                            </p:txEl>
                                          </p:spTgt>
                                        </p:tgtEl>
                                        <p:attrNameLst>
                                          <p:attrName>style.visibility</p:attrName>
                                        </p:attrNameLst>
                                      </p:cBhvr>
                                      <p:to>
                                        <p:strVal val="visible"/>
                                      </p:to>
                                    </p:set>
                                    <p:animEffect transition="in" filter="dissolve">
                                      <p:cBhvr>
                                        <p:cTn id="11" dur="500"/>
                                        <p:tgtEl>
                                          <p:spTgt spid="152583">
                                            <p:txEl>
                                              <p:charRg st="1" end="1"/>
                                            </p:txEl>
                                          </p:spTgt>
                                        </p:tgtEl>
                                      </p:cBhvr>
                                    </p:animEffect>
                                  </p:childTnLst>
                                </p:cTn>
                              </p:par>
                            </p:childTnLst>
                          </p:cTn>
                        </p:par>
                        <p:par>
                          <p:cTn id="12" fill="hold">
                            <p:stCondLst>
                              <p:cond delay="1500"/>
                            </p:stCondLst>
                            <p:childTnLst>
                              <p:par>
                                <p:cTn id="13" presetID="1" presetClass="entr" presetSubtype="0" fill="hold" nodeType="afterEffect">
                                  <p:stCondLst>
                                    <p:cond delay="500"/>
                                  </p:stCondLst>
                                  <p:childTnLst>
                                    <p:set>
                                      <p:cBhvr>
                                        <p:cTn id="14" dur="1" fill="hold">
                                          <p:stCondLst>
                                            <p:cond delay="0"/>
                                          </p:stCondLst>
                                        </p:cTn>
                                        <p:tgtEl>
                                          <p:spTgt spid="152583">
                                            <p:txEl>
                                              <p:pRg st="1" end="1"/>
                                            </p:txEl>
                                          </p:spTgt>
                                        </p:tgtEl>
                                        <p:attrNameLst>
                                          <p:attrName>style.visibility</p:attrName>
                                        </p:attrNameLst>
                                      </p:cBhvr>
                                      <p:to>
                                        <p:strVal val="visible"/>
                                      </p:to>
                                    </p:set>
                                  </p:childTnLst>
                                </p:cTn>
                              </p:par>
                            </p:childTnLst>
                          </p:cTn>
                        </p:par>
                        <p:par>
                          <p:cTn id="15" fill="hold">
                            <p:stCondLst>
                              <p:cond delay="2000"/>
                            </p:stCondLst>
                            <p:childTnLst>
                              <p:par>
                                <p:cTn id="16" presetID="9" presetClass="entr" presetSubtype="0" fill="hold" grpId="0" nodeType="afterEffect">
                                  <p:stCondLst>
                                    <p:cond delay="0"/>
                                  </p:stCondLst>
                                  <p:childTnLst>
                                    <p:set>
                                      <p:cBhvr>
                                        <p:cTn id="17" dur="1000" fill="hold">
                                          <p:stCondLst>
                                            <p:cond delay="0"/>
                                          </p:stCondLst>
                                        </p:cTn>
                                        <p:tgtEl>
                                          <p:spTgt spid="152583">
                                            <p:txEl>
                                              <p:charRg st="59" end="87"/>
                                            </p:txEl>
                                          </p:spTgt>
                                        </p:tgtEl>
                                        <p:attrNameLst>
                                          <p:attrName>style.visibility</p:attrName>
                                        </p:attrNameLst>
                                      </p:cBhvr>
                                      <p:to>
                                        <p:strVal val="visible"/>
                                      </p:to>
                                    </p:set>
                                    <p:animEffect transition="in" filter="dissolve">
                                      <p:cBhvr>
                                        <p:cTn id="18" dur="1000"/>
                                        <p:tgtEl>
                                          <p:spTgt spid="152583">
                                            <p:txEl>
                                              <p:charRg st="59" end="87"/>
                                            </p:txEl>
                                          </p:spTgt>
                                        </p:tgtEl>
                                      </p:cBhvr>
                                    </p:animEffect>
                                  </p:childTnLst>
                                </p:cTn>
                              </p:par>
                              <p:par>
                                <p:cTn id="19" presetID="1" presetClass="entr" presetSubtype="0" fill="hold" nodeType="withEffect">
                                  <p:stCondLst>
                                    <p:cond delay="0"/>
                                  </p:stCondLst>
                                  <p:childTnLst>
                                    <p:set>
                                      <p:cBhvr>
                                        <p:cTn id="20" dur="1" fill="hold">
                                          <p:stCondLst>
                                            <p:cond delay="0"/>
                                          </p:stCondLst>
                                        </p:cTn>
                                        <p:tgtEl>
                                          <p:spTgt spid="152583">
                                            <p:txEl>
                                              <p:pRg st="2" end="2"/>
                                            </p:txEl>
                                          </p:spTgt>
                                        </p:tgtEl>
                                        <p:attrNameLst>
                                          <p:attrName>style.visibility</p:attrName>
                                        </p:attrNameLst>
                                      </p:cBhvr>
                                      <p:to>
                                        <p:strVal val="visible"/>
                                      </p:to>
                                    </p:set>
                                  </p:childTnLst>
                                </p:cTn>
                              </p:par>
                            </p:childTnLst>
                          </p:cTn>
                        </p:par>
                        <p:par>
                          <p:cTn id="21" fill="hold">
                            <p:stCondLst>
                              <p:cond delay="3000"/>
                            </p:stCondLst>
                            <p:childTnLst>
                              <p:par>
                                <p:cTn id="22" presetID="1" presetClass="entr" presetSubtype="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52583">
                                            <p:txEl>
                                              <p:charRg st="87" end="117"/>
                                            </p:txEl>
                                          </p:spTgt>
                                        </p:tgtEl>
                                        <p:attrNameLst>
                                          <p:attrName>style.visibility</p:attrName>
                                        </p:attrNameLst>
                                      </p:cBhvr>
                                      <p:to>
                                        <p:strVal val="visible"/>
                                      </p:to>
                                    </p:set>
                                    <p:animEffect transition="in" filter="dissolve">
                                      <p:cBhvr>
                                        <p:cTn id="28" dur="500"/>
                                        <p:tgtEl>
                                          <p:spTgt spid="152583">
                                            <p:txEl>
                                              <p:charRg st="87" end="117"/>
                                            </p:txEl>
                                          </p:spTgt>
                                        </p:tgtEl>
                                      </p:cBhvr>
                                    </p:animEffect>
                                  </p:childTnLst>
                                </p:cTn>
                              </p:par>
                            </p:childTnLst>
                          </p:cTn>
                        </p:par>
                        <p:par>
                          <p:cTn id="29" fill="hold">
                            <p:stCondLst>
                              <p:cond delay="500"/>
                            </p:stCondLst>
                            <p:childTnLst>
                              <p:par>
                                <p:cTn id="30" presetID="1" presetClass="entr" presetSubtype="0"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152583">
                                            <p:txEl>
                                              <p:charRg st="5" end="5"/>
                                            </p:txEl>
                                          </p:spTgt>
                                        </p:tgtEl>
                                        <p:attrNameLst>
                                          <p:attrName>style.visibility</p:attrName>
                                        </p:attrNameLst>
                                      </p:cBhvr>
                                      <p:to>
                                        <p:strVal val="visible"/>
                                      </p:to>
                                    </p:set>
                                    <p:animEffect transition="in" filter="dissolve">
                                      <p:cBhvr>
                                        <p:cTn id="35" dur="500"/>
                                        <p:tgtEl>
                                          <p:spTgt spid="152583">
                                            <p:txEl>
                                              <p:char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3"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0" name="文本框 99"/>
          <p:cNvSpPr txBox="1"/>
          <p:nvPr/>
        </p:nvSpPr>
        <p:spPr>
          <a:xfrm>
            <a:off x="949325" y="1179830"/>
            <a:ext cx="8100695" cy="82994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【例</a:t>
            </a:r>
            <a:r>
              <a:rPr lang="en-US" sz="2400" b="1">
                <a:gradFill>
                  <a:gsLst>
                    <a:gs pos="0">
                      <a:srgbClr val="012D86"/>
                    </a:gs>
                    <a:gs pos="100000">
                      <a:srgbClr val="0E2557"/>
                    </a:gs>
                  </a:gsLst>
                  <a:lin scaled="0"/>
                </a:gradFill>
                <a:latin typeface="Times New Roman" panose="02020603050405020304" charset="0"/>
              </a:rPr>
              <a:t>6-8</a:t>
            </a:r>
            <a:r>
              <a:rPr lang="zh-CN" sz="2400" b="1">
                <a:gradFill>
                  <a:gsLst>
                    <a:gs pos="0">
                      <a:srgbClr val="012D86"/>
                    </a:gs>
                    <a:gs pos="100000">
                      <a:srgbClr val="0E2557"/>
                    </a:gs>
                  </a:gsLst>
                  <a:lin scaled="0"/>
                </a:gradFill>
                <a:ea typeface="宋体" panose="02010600030101010101" pitchFamily="2" charset="-122"/>
              </a:rPr>
              <a:t>】</a:t>
            </a:r>
            <a:r>
              <a:rPr lang="en-US" sz="2400" b="1">
                <a:gradFill>
                  <a:gsLst>
                    <a:gs pos="0">
                      <a:srgbClr val="012D86"/>
                    </a:gs>
                    <a:gs pos="100000">
                      <a:srgbClr val="0E2557"/>
                    </a:gs>
                  </a:gsLst>
                  <a:lin scaled="0"/>
                </a:gradFill>
                <a:latin typeface="Times New Roman" panose="02020603050405020304" charset="0"/>
              </a:rPr>
              <a:t> </a:t>
            </a:r>
            <a:r>
              <a:rPr lang="zh-CN" sz="2400" b="1">
                <a:gradFill>
                  <a:gsLst>
                    <a:gs pos="0">
                      <a:srgbClr val="012D86"/>
                    </a:gs>
                    <a:gs pos="100000">
                      <a:srgbClr val="0E2557"/>
                    </a:gs>
                  </a:gsLst>
                  <a:lin scaled="0"/>
                </a:gradFill>
                <a:ea typeface="宋体" panose="02010600030101010101" pitchFamily="2" charset="-122"/>
              </a:rPr>
              <a:t>试用</a:t>
            </a:r>
            <a:r>
              <a:rPr lang="en-US" sz="2400" b="1">
                <a:gradFill>
                  <a:gsLst>
                    <a:gs pos="0">
                      <a:srgbClr val="012D86"/>
                    </a:gs>
                    <a:gs pos="100000">
                      <a:srgbClr val="0E2557"/>
                    </a:gs>
                  </a:gsLst>
                  <a:lin scaled="0"/>
                </a:gradFill>
                <a:latin typeface="Times New Roman" panose="02020603050405020304" charset="0"/>
              </a:rPr>
              <a:t>74LS161</a:t>
            </a:r>
            <a:r>
              <a:rPr lang="zh-CN" sz="2400" b="1">
                <a:gradFill>
                  <a:gsLst>
                    <a:gs pos="0">
                      <a:srgbClr val="012D86"/>
                    </a:gs>
                    <a:gs pos="100000">
                      <a:srgbClr val="0E2557"/>
                    </a:gs>
                  </a:gsLst>
                  <a:lin scaled="0"/>
                </a:gradFill>
                <a:latin typeface="Times New Roman" panose="02020603050405020304" charset="0"/>
                <a:ea typeface="宋体" panose="02010600030101010101" pitchFamily="2" charset="-122"/>
              </a:rPr>
              <a:t>通过反馈</a:t>
            </a:r>
            <a:r>
              <a:rPr lang="zh-CN" sz="2400" b="1">
                <a:gradFill>
                  <a:gsLst>
                    <a:gs pos="0">
                      <a:srgbClr val="012D86"/>
                    </a:gs>
                    <a:gs pos="100000">
                      <a:srgbClr val="0E2557"/>
                    </a:gs>
                  </a:gsLst>
                  <a:lin scaled="0"/>
                </a:gradFill>
                <a:ea typeface="宋体" panose="02010600030101010101" pitchFamily="2" charset="-122"/>
              </a:rPr>
              <a:t>置数法构造初态为</a:t>
            </a:r>
            <a:r>
              <a:rPr lang="en-US" sz="2400" b="1">
                <a:gradFill>
                  <a:gsLst>
                    <a:gs pos="0">
                      <a:srgbClr val="012D86"/>
                    </a:gs>
                    <a:gs pos="100000">
                      <a:srgbClr val="0E2557"/>
                    </a:gs>
                  </a:gsLst>
                  <a:lin scaled="0"/>
                </a:gradFill>
                <a:latin typeface="Times New Roman" panose="02020603050405020304" charset="0"/>
              </a:rPr>
              <a:t>0011</a:t>
            </a:r>
            <a:r>
              <a:rPr lang="zh-CN" sz="2400" b="1">
                <a:gradFill>
                  <a:gsLst>
                    <a:gs pos="0">
                      <a:srgbClr val="012D86"/>
                    </a:gs>
                    <a:gs pos="100000">
                      <a:srgbClr val="0E2557"/>
                    </a:gs>
                  </a:gsLst>
                  <a:lin scaled="0"/>
                </a:gradFill>
                <a:ea typeface="宋体" panose="02010600030101010101" pitchFamily="2" charset="-122"/>
              </a:rPr>
              <a:t>的七进制计数器。</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9406" name="图片 2843"/>
          <p:cNvPicPr>
            <a:picLocks noChangeAspect="1"/>
          </p:cNvPicPr>
          <p:nvPr/>
        </p:nvPicPr>
        <p:blipFill>
          <a:blip r:embed="rId1"/>
          <a:stretch>
            <a:fillRect/>
          </a:stretch>
        </p:blipFill>
        <p:spPr>
          <a:xfrm>
            <a:off x="949325" y="2695575"/>
            <a:ext cx="7743825" cy="2921000"/>
          </a:xfrm>
          <a:prstGeom prst="rect">
            <a:avLst/>
          </a:prstGeom>
          <a:noFill/>
          <a:ln>
            <a:noFill/>
          </a:ln>
        </p:spPr>
      </p:pic>
      <p:sp>
        <p:nvSpPr>
          <p:cNvPr id="2" name="文本框 1"/>
          <p:cNvSpPr txBox="1"/>
          <p:nvPr/>
        </p:nvSpPr>
        <p:spPr>
          <a:xfrm>
            <a:off x="2728595" y="5616575"/>
            <a:ext cx="3687445" cy="337185"/>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cs typeface="Times New Roman" panose="02020603050405020304" charset="0"/>
              </a:rPr>
              <a:t>6-</a:t>
            </a:r>
            <a:r>
              <a:rPr lang="en-US" sz="1600">
                <a:latin typeface="Times New Roman" panose="02020603050405020304" charset="0"/>
                <a:ea typeface="宋体" panose="02010600030101010101" pitchFamily="2" charset="-122"/>
              </a:rPr>
              <a:t>40 </a:t>
            </a:r>
            <a:r>
              <a:rPr lang="zh-CN" sz="1600">
                <a:ea typeface="宋体" panose="02010600030101010101" pitchFamily="2" charset="-122"/>
              </a:rPr>
              <a:t>用同步置数法构成</a:t>
            </a:r>
            <a:r>
              <a:rPr lang="zh-CN" sz="1600">
                <a:solidFill>
                  <a:srgbClr val="000000"/>
                </a:solidFill>
                <a:ea typeface="宋体" panose="02010600030101010101" pitchFamily="2" charset="-122"/>
              </a:rPr>
              <a:t>七进制计数器</a:t>
            </a:r>
            <a:endParaRPr lang="zh-CN" altLang="en-US" sz="1600"/>
          </a:p>
        </p:txBody>
      </p:sp>
      <p:sp>
        <p:nvSpPr>
          <p:cNvPr id="3" name="文本框 2"/>
          <p:cNvSpPr txBox="1"/>
          <p:nvPr/>
        </p:nvSpPr>
        <p:spPr>
          <a:xfrm>
            <a:off x="1026795" y="2009775"/>
            <a:ext cx="4031615" cy="460375"/>
          </a:xfrm>
          <a:prstGeom prst="rect">
            <a:avLst/>
          </a:prstGeom>
          <a:noFill/>
          <a:ln w="9525">
            <a:noFill/>
          </a:ln>
        </p:spPr>
        <p:txBody>
          <a:bodyPr wrap="square">
            <a:spAutoFit/>
          </a:bodyPr>
          <a:p>
            <a:r>
              <a:rPr lang="en-US" sz="2400" b="1">
                <a:gradFill>
                  <a:gsLst>
                    <a:gs pos="0">
                      <a:srgbClr val="012D86"/>
                    </a:gs>
                    <a:gs pos="100000">
                      <a:srgbClr val="0E2557"/>
                    </a:gs>
                  </a:gsLst>
                  <a:lin scaled="0"/>
                </a:gradFill>
                <a:latin typeface="Times New Roman" panose="02020603050405020304" charset="0"/>
              </a:rPr>
              <a:t>74LS161</a:t>
            </a:r>
            <a:r>
              <a:rPr lang="zh-CN" sz="2400" b="1">
                <a:gradFill>
                  <a:gsLst>
                    <a:gs pos="0">
                      <a:srgbClr val="012D86"/>
                    </a:gs>
                    <a:gs pos="100000">
                      <a:srgbClr val="0E2557"/>
                    </a:gs>
                  </a:gsLst>
                  <a:lin scaled="0"/>
                </a:gradFill>
                <a:ea typeface="宋体" panose="02010600030101010101" pitchFamily="2" charset="-122"/>
              </a:rPr>
              <a:t>具有同步置数功能</a:t>
            </a:r>
            <a:endParaRPr lang="zh-CN" altLang="en-US" sz="2400" b="1">
              <a:gradFill>
                <a:gsLst>
                  <a:gs pos="0">
                    <a:srgbClr val="012D86"/>
                  </a:gs>
                  <a:gs pos="100000">
                    <a:srgbClr val="0E2557"/>
                  </a:gs>
                </a:gsLst>
                <a:lin scaled="0"/>
              </a:gra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0" name="文本框 99"/>
          <p:cNvSpPr txBox="1"/>
          <p:nvPr/>
        </p:nvSpPr>
        <p:spPr>
          <a:xfrm>
            <a:off x="397510" y="1188720"/>
            <a:ext cx="8461375" cy="398780"/>
          </a:xfrm>
          <a:prstGeom prst="rect">
            <a:avLst/>
          </a:prstGeom>
          <a:noFill/>
          <a:ln w="9525">
            <a:noFill/>
          </a:ln>
        </p:spPr>
        <p:txBody>
          <a:bodyPr wrap="square">
            <a:spAutoFit/>
          </a:bodyPr>
          <a:p>
            <a:pPr indent="267970"/>
            <a:r>
              <a:rPr lang="zh-CN" sz="2000" b="1">
                <a:gradFill>
                  <a:gsLst>
                    <a:gs pos="0">
                      <a:srgbClr val="012D86"/>
                    </a:gs>
                    <a:gs pos="100000">
                      <a:srgbClr val="0E2557"/>
                    </a:gs>
                  </a:gsLst>
                  <a:lin scaled="0"/>
                </a:gradFill>
                <a:ea typeface="宋体" panose="02010600030101010101" pitchFamily="2" charset="-122"/>
              </a:rPr>
              <a:t>【例</a:t>
            </a:r>
            <a:r>
              <a:rPr lang="en-US" sz="2000" b="1">
                <a:gradFill>
                  <a:gsLst>
                    <a:gs pos="0">
                      <a:srgbClr val="012D86"/>
                    </a:gs>
                    <a:gs pos="100000">
                      <a:srgbClr val="0E2557"/>
                    </a:gs>
                  </a:gsLst>
                  <a:lin scaled="0"/>
                </a:gradFill>
                <a:latin typeface="Times New Roman" panose="02020603050405020304" charset="0"/>
              </a:rPr>
              <a:t>6.9</a:t>
            </a:r>
            <a:r>
              <a:rPr lang="zh-CN" sz="2000" b="1">
                <a:gradFill>
                  <a:gsLst>
                    <a:gs pos="0">
                      <a:srgbClr val="012D86"/>
                    </a:gs>
                    <a:gs pos="100000">
                      <a:srgbClr val="0E2557"/>
                    </a:gs>
                  </a:gsLst>
                  <a:lin scaled="0"/>
                </a:gradFill>
                <a:ea typeface="宋体" panose="02010600030101010101" pitchFamily="2" charset="-122"/>
              </a:rPr>
              <a:t>】</a:t>
            </a:r>
            <a:r>
              <a:rPr lang="en-US" sz="2000" b="1">
                <a:gradFill>
                  <a:gsLst>
                    <a:gs pos="0">
                      <a:srgbClr val="012D86"/>
                    </a:gs>
                    <a:gs pos="100000">
                      <a:srgbClr val="0E2557"/>
                    </a:gs>
                  </a:gsLst>
                  <a:lin scaled="0"/>
                </a:gradFill>
                <a:latin typeface="Times New Roman" panose="02020603050405020304" charset="0"/>
              </a:rPr>
              <a:t> </a:t>
            </a:r>
            <a:r>
              <a:rPr lang="zh-CN" sz="2000" b="1">
                <a:gradFill>
                  <a:gsLst>
                    <a:gs pos="0">
                      <a:srgbClr val="012D86"/>
                    </a:gs>
                    <a:gs pos="100000">
                      <a:srgbClr val="0E2557"/>
                    </a:gs>
                  </a:gsLst>
                  <a:lin scaled="0"/>
                </a:gradFill>
                <a:ea typeface="宋体" panose="02010600030101010101" pitchFamily="2" charset="-122"/>
              </a:rPr>
              <a:t>试用</a:t>
            </a:r>
            <a:r>
              <a:rPr lang="en-US" sz="2000" b="1">
                <a:gradFill>
                  <a:gsLst>
                    <a:gs pos="0">
                      <a:srgbClr val="012D86"/>
                    </a:gs>
                    <a:gs pos="100000">
                      <a:srgbClr val="0E2557"/>
                    </a:gs>
                  </a:gsLst>
                  <a:lin scaled="0"/>
                </a:gradFill>
                <a:latin typeface="Times New Roman" panose="02020603050405020304" charset="0"/>
              </a:rPr>
              <a:t>74LS192</a:t>
            </a:r>
            <a:r>
              <a:rPr lang="zh-CN" sz="2000" b="1">
                <a:gradFill>
                  <a:gsLst>
                    <a:gs pos="0">
                      <a:srgbClr val="012D86"/>
                    </a:gs>
                    <a:gs pos="100000">
                      <a:srgbClr val="0E2557"/>
                    </a:gs>
                  </a:gsLst>
                  <a:lin scaled="0"/>
                </a:gradFill>
                <a:ea typeface="宋体" panose="02010600030101010101" pitchFamily="2" charset="-122"/>
              </a:rPr>
              <a:t>构成初态</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rPr>
              <a:t>3</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rPr>
              <a:t>2</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rPr>
              <a:t>1</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rPr>
              <a:t>0 </a:t>
            </a:r>
            <a:r>
              <a:rPr lang="en-US" sz="2000" b="1">
                <a:gradFill>
                  <a:gsLst>
                    <a:gs pos="0">
                      <a:srgbClr val="012D86"/>
                    </a:gs>
                    <a:gs pos="100000">
                      <a:srgbClr val="0E2557"/>
                    </a:gs>
                  </a:gsLst>
                  <a:lin scaled="0"/>
                </a:gradFill>
                <a:latin typeface="Times New Roman" panose="02020603050405020304" charset="0"/>
              </a:rPr>
              <a:t>=1000</a:t>
            </a:r>
            <a:r>
              <a:rPr lang="zh-CN" sz="2000" b="1">
                <a:gradFill>
                  <a:gsLst>
                    <a:gs pos="0">
                      <a:srgbClr val="012D86"/>
                    </a:gs>
                    <a:gs pos="100000">
                      <a:srgbClr val="0E2557"/>
                    </a:gs>
                  </a:gsLst>
                  <a:lin scaled="0"/>
                </a:gradFill>
                <a:ea typeface="宋体" panose="02010600030101010101" pitchFamily="2" charset="-122"/>
              </a:rPr>
              <a:t>的五进制减法计数器。</a:t>
            </a:r>
            <a:endParaRPr lang="zh-CN" altLang="en-US" sz="2000" b="1">
              <a:gradFill>
                <a:gsLst>
                  <a:gs pos="0">
                    <a:srgbClr val="012D86"/>
                  </a:gs>
                  <a:gs pos="100000">
                    <a:srgbClr val="0E2557"/>
                  </a:gs>
                </a:gsLst>
                <a:lin scaled="0"/>
              </a:gradFill>
              <a:ea typeface="宋体" panose="02010600030101010101" pitchFamily="2" charset="-122"/>
            </a:endParaRPr>
          </a:p>
        </p:txBody>
      </p:sp>
      <p:sp>
        <p:nvSpPr>
          <p:cNvPr id="2" name="文本框 1"/>
          <p:cNvSpPr txBox="1"/>
          <p:nvPr/>
        </p:nvSpPr>
        <p:spPr>
          <a:xfrm>
            <a:off x="811530" y="1653540"/>
            <a:ext cx="8332470" cy="1568450"/>
          </a:xfrm>
          <a:prstGeom prst="rect">
            <a:avLst/>
          </a:prstGeom>
          <a:noFill/>
          <a:ln w="9525">
            <a:noFill/>
          </a:ln>
        </p:spPr>
        <p:txBody>
          <a:bodyPr wrap="square">
            <a:spAutoFit/>
          </a:bodyPr>
          <a:p>
            <a:r>
              <a:rPr lang="zh-CN" sz="2400" b="1">
                <a:solidFill>
                  <a:schemeClr val="accent6">
                    <a:lumMod val="60000"/>
                    <a:lumOff val="40000"/>
                  </a:schemeClr>
                </a:solidFill>
                <a:ea typeface="宋体" panose="02010600030101010101" pitchFamily="2" charset="-122"/>
              </a:rPr>
              <a:t>解：</a:t>
            </a:r>
            <a:r>
              <a:rPr lang="zh-CN" sz="2400" b="1">
                <a:gradFill>
                  <a:gsLst>
                    <a:gs pos="0">
                      <a:srgbClr val="012D86"/>
                    </a:gs>
                    <a:gs pos="100000">
                      <a:srgbClr val="0E2557"/>
                    </a:gs>
                  </a:gsLst>
                  <a:lin scaled="0"/>
                </a:gradFill>
                <a:ea typeface="宋体" panose="02010600030101010101" pitchFamily="2" charset="-122"/>
              </a:rPr>
              <a:t>方法一</a:t>
            </a:r>
            <a:r>
              <a:rPr lang="en-US" altLang="zh-CN" sz="2400" b="1">
                <a:gradFill>
                  <a:gsLst>
                    <a:gs pos="0">
                      <a:srgbClr val="012D86"/>
                    </a:gs>
                    <a:gs pos="100000">
                      <a:srgbClr val="0E2557"/>
                    </a:gs>
                  </a:gsLst>
                  <a:lin scaled="0"/>
                </a:gradFill>
                <a:ea typeface="宋体" panose="02010600030101010101" pitchFamily="2" charset="-122"/>
              </a:rPr>
              <a:t>:74LS192具有异步置数功能，初态为1000的五进制减法计数，最后的有效状态是0100，因此应在状态0011给出置数信号。</a:t>
            </a:r>
            <a:r>
              <a:rPr lang="zh-CN" sz="2400" b="1">
                <a:gradFill>
                  <a:gsLst>
                    <a:gs pos="0">
                      <a:srgbClr val="012D86"/>
                    </a:gs>
                    <a:gs pos="100000">
                      <a:srgbClr val="0E2557"/>
                    </a:gs>
                  </a:gsLst>
                  <a:lin scaled="0"/>
                </a:gradFill>
                <a:sym typeface="+mn-ea"/>
              </a:rPr>
              <a:t>为了避免在</a:t>
            </a:r>
            <a:r>
              <a:rPr lang="en-US" sz="2400" b="1">
                <a:gradFill>
                  <a:gsLst>
                    <a:gs pos="0">
                      <a:srgbClr val="012D86"/>
                    </a:gs>
                    <a:gs pos="100000">
                      <a:srgbClr val="0E2557"/>
                    </a:gs>
                  </a:gsLst>
                  <a:lin scaled="0"/>
                </a:gradFill>
                <a:latin typeface="Times New Roman" panose="02020603050405020304" charset="0"/>
                <a:sym typeface="+mn-ea"/>
              </a:rPr>
              <a:t>0111</a:t>
            </a:r>
            <a:r>
              <a:rPr lang="zh-CN" sz="2400" b="1">
                <a:gradFill>
                  <a:gsLst>
                    <a:gs pos="0">
                      <a:srgbClr val="012D86"/>
                    </a:gs>
                    <a:gs pos="100000">
                      <a:srgbClr val="0E2557"/>
                    </a:gs>
                  </a:gsLst>
                  <a:lin scaled="0"/>
                </a:gradFill>
                <a:sym typeface="+mn-ea"/>
              </a:rPr>
              <a:t>置数，将</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2</a:t>
            </a:r>
            <a:r>
              <a:rPr lang="zh-CN" sz="2400" b="1">
                <a:gradFill>
                  <a:gsLst>
                    <a:gs pos="0">
                      <a:srgbClr val="012D86"/>
                    </a:gs>
                    <a:gs pos="100000">
                      <a:srgbClr val="0E2557"/>
                    </a:gs>
                  </a:gsLst>
                  <a:lin scaled="0"/>
                </a:gradFill>
                <a:sym typeface="+mn-ea"/>
              </a:rPr>
              <a:t>取非后再与</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1</a:t>
            </a:r>
            <a:r>
              <a:rPr lang="zh-CN" sz="2400" b="1">
                <a:gradFill>
                  <a:gsLst>
                    <a:gs pos="0">
                      <a:srgbClr val="012D86"/>
                    </a:gs>
                    <a:gs pos="100000">
                      <a:srgbClr val="0E2557"/>
                    </a:gs>
                  </a:gsLst>
                  <a:lin scaled="0"/>
                </a:gradFill>
                <a:sym typeface="+mn-ea"/>
              </a:rPr>
              <a:t>、</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0</a:t>
            </a:r>
            <a:r>
              <a:rPr lang="zh-CN" sz="2400" b="1">
                <a:gradFill>
                  <a:gsLst>
                    <a:gs pos="0">
                      <a:srgbClr val="012D86"/>
                    </a:gs>
                    <a:gs pos="100000">
                      <a:srgbClr val="0E2557"/>
                    </a:gs>
                  </a:gsLst>
                  <a:lin scaled="0"/>
                </a:gradFill>
                <a:sym typeface="+mn-ea"/>
              </a:rPr>
              <a:t>同时接到与非门输入端。</a:t>
            </a:r>
            <a:endParaRPr lang="en-US" altLang="zh-CN" sz="2400" b="1">
              <a:gradFill>
                <a:gsLst>
                  <a:gs pos="0">
                    <a:srgbClr val="012D86"/>
                  </a:gs>
                  <a:gs pos="100000">
                    <a:srgbClr val="0E2557"/>
                  </a:gs>
                </a:gsLst>
                <a:lin scaled="0"/>
              </a:gradFill>
              <a:ea typeface="宋体" panose="02010600030101010101" pitchFamily="2" charset="-122"/>
              <a:sym typeface="+mn-ea"/>
            </a:endParaRPr>
          </a:p>
        </p:txBody>
      </p:sp>
      <p:pic>
        <p:nvPicPr>
          <p:cNvPr id="9407" name="图片 2844"/>
          <p:cNvPicPr>
            <a:picLocks noChangeAspect="1"/>
          </p:cNvPicPr>
          <p:nvPr/>
        </p:nvPicPr>
        <p:blipFill>
          <a:blip r:embed="rId1"/>
          <a:srcRect r="49503"/>
          <a:stretch>
            <a:fillRect/>
          </a:stretch>
        </p:blipFill>
        <p:spPr>
          <a:xfrm>
            <a:off x="811530" y="4117340"/>
            <a:ext cx="3223895" cy="2543175"/>
          </a:xfrm>
          <a:prstGeom prst="rect">
            <a:avLst/>
          </a:prstGeom>
          <a:noFill/>
          <a:ln>
            <a:noFill/>
          </a:ln>
        </p:spPr>
      </p:pic>
      <p:sp>
        <p:nvSpPr>
          <p:cNvPr id="3" name="文本框 2"/>
          <p:cNvSpPr txBox="1"/>
          <p:nvPr/>
        </p:nvSpPr>
        <p:spPr>
          <a:xfrm>
            <a:off x="742950" y="3287395"/>
            <a:ext cx="8169275" cy="829945"/>
          </a:xfrm>
          <a:prstGeom prst="rect">
            <a:avLst/>
          </a:prstGeom>
          <a:noFill/>
          <a:ln w="9525">
            <a:noFill/>
          </a:ln>
        </p:spPr>
        <p:txBody>
          <a:bodyPr wrap="square">
            <a:spAutoFit/>
          </a:bodyPr>
          <a:p>
            <a:r>
              <a:rPr lang="zh-CN"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方法二</a:t>
            </a:r>
            <a:r>
              <a:rPr lang="en-US" altLang="zh-CN"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:观察发现：从1000至0011，只在0011时</a:t>
            </a:r>
            <a:r>
              <a:rPr lang="en-US" altLang="zh-CN" sz="2400" b="1" i="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Q</a:t>
            </a:r>
            <a:r>
              <a:rPr lang="en-US" altLang="zh-CN" sz="2400" b="1" baseline="-25000">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3</a:t>
            </a:r>
            <a:r>
              <a:rPr lang="en-US" altLang="zh-CN"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a:t>
            </a:r>
            <a:r>
              <a:rPr lang="en-US" altLang="zh-CN" sz="2400" b="1" i="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Q</a:t>
            </a:r>
            <a:r>
              <a:rPr lang="en-US" altLang="zh-CN" sz="2400" b="1" baseline="-25000">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2</a:t>
            </a:r>
            <a:r>
              <a:rPr lang="en-US" altLang="zh-CN"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=0，其它情况</a:t>
            </a:r>
            <a:r>
              <a:rPr lang="en-US" altLang="zh-CN" sz="2400" b="1" i="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Q</a:t>
            </a:r>
            <a:r>
              <a:rPr lang="en-US" altLang="zh-CN" sz="2400" b="1" baseline="-25000">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3</a:t>
            </a:r>
            <a:r>
              <a:rPr lang="en-US" altLang="zh-CN"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a:t>
            </a:r>
            <a:r>
              <a:rPr lang="en-US" altLang="zh-CN" sz="2400" b="1" i="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Q</a:t>
            </a:r>
            <a:r>
              <a:rPr lang="en-US" altLang="zh-CN" sz="2400" b="1" baseline="-25000">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2</a:t>
            </a:r>
            <a:r>
              <a:rPr lang="en-US" altLang="zh-CN"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=1，因此可以用一个或逻辑门实现</a:t>
            </a:r>
            <a:endParaRPr lang="en-US" altLang="zh-CN"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endParaRPr>
          </a:p>
        </p:txBody>
      </p:sp>
      <p:pic>
        <p:nvPicPr>
          <p:cNvPr id="6" name="图片 2844"/>
          <p:cNvPicPr>
            <a:picLocks noChangeAspect="1"/>
          </p:cNvPicPr>
          <p:nvPr/>
        </p:nvPicPr>
        <p:blipFill>
          <a:blip r:embed="rId1"/>
          <a:srcRect l="54337"/>
          <a:stretch>
            <a:fillRect/>
          </a:stretch>
        </p:blipFill>
        <p:spPr>
          <a:xfrm>
            <a:off x="4933950" y="4117340"/>
            <a:ext cx="2915285" cy="25431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940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50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文本框 1"/>
          <p:cNvSpPr txBox="1"/>
          <p:nvPr/>
        </p:nvSpPr>
        <p:spPr>
          <a:xfrm>
            <a:off x="717550" y="1192530"/>
            <a:ext cx="5080000" cy="460375"/>
          </a:xfrm>
          <a:prstGeom prst="rect">
            <a:avLst/>
          </a:prstGeom>
          <a:noFill/>
          <a:ln w="9525">
            <a:noFill/>
          </a:ln>
        </p:spPr>
        <p:txBody>
          <a:bodyPr>
            <a:spAutoFit/>
          </a:bodyPr>
          <a:p>
            <a:pPr indent="267970"/>
            <a:r>
              <a:rPr lang="en-US" sz="2400" b="1">
                <a:solidFill>
                  <a:schemeClr val="accent6">
                    <a:lumMod val="60000"/>
                    <a:lumOff val="40000"/>
                  </a:schemeClr>
                </a:solidFill>
                <a:latin typeface="Times New Roman" panose="02020603050405020304" charset="0"/>
              </a:rPr>
              <a:t>2. </a:t>
            </a:r>
            <a:r>
              <a:rPr lang="en-US" sz="2400" b="1" i="1">
                <a:solidFill>
                  <a:schemeClr val="accent6">
                    <a:lumMod val="60000"/>
                    <a:lumOff val="40000"/>
                  </a:schemeClr>
                </a:solidFill>
                <a:latin typeface="Times New Roman" panose="02020603050405020304" charset="0"/>
              </a:rPr>
              <a:t>M</a:t>
            </a:r>
            <a:r>
              <a:rPr lang="en-US" sz="2400" b="1">
                <a:solidFill>
                  <a:schemeClr val="accent6">
                    <a:lumMod val="60000"/>
                    <a:lumOff val="40000"/>
                  </a:schemeClr>
                </a:solidFill>
                <a:latin typeface="Times New Roman" panose="02020603050405020304" charset="0"/>
              </a:rPr>
              <a:t> </a:t>
            </a:r>
            <a:r>
              <a:rPr lang="en-US" sz="2400" b="1">
                <a:solidFill>
                  <a:schemeClr val="accent6">
                    <a:lumMod val="60000"/>
                    <a:lumOff val="40000"/>
                  </a:schemeClr>
                </a:solidFill>
                <a:latin typeface="Times New Roman" panose="02020603050405020304" charset="0"/>
                <a:sym typeface="+mn-ea"/>
              </a:rPr>
              <a:t>&lt;</a:t>
            </a:r>
            <a:r>
              <a:rPr lang="en-US" sz="2400" b="1">
                <a:solidFill>
                  <a:schemeClr val="accent6">
                    <a:lumMod val="60000"/>
                    <a:lumOff val="40000"/>
                  </a:schemeClr>
                </a:solidFill>
                <a:latin typeface="Times New Roman" panose="02020603050405020304" charset="0"/>
              </a:rPr>
              <a:t> </a:t>
            </a:r>
            <a:r>
              <a:rPr lang="en-US" sz="2400" b="1" i="1">
                <a:solidFill>
                  <a:schemeClr val="accent6">
                    <a:lumMod val="60000"/>
                    <a:lumOff val="40000"/>
                  </a:schemeClr>
                </a:solidFill>
                <a:latin typeface="Times New Roman" panose="02020603050405020304" charset="0"/>
              </a:rPr>
              <a:t>N</a:t>
            </a:r>
            <a:r>
              <a:rPr lang="zh-CN" sz="2400" b="1">
                <a:solidFill>
                  <a:schemeClr val="accent6">
                    <a:lumMod val="60000"/>
                    <a:lumOff val="40000"/>
                  </a:schemeClr>
                </a:solidFill>
                <a:ea typeface="宋体" panose="02010600030101010101" pitchFamily="2" charset="-122"/>
              </a:rPr>
              <a:t>的情况</a:t>
            </a:r>
            <a:endParaRPr lang="zh-CN" altLang="en-US" sz="2400" b="1">
              <a:solidFill>
                <a:schemeClr val="accent6">
                  <a:lumMod val="60000"/>
                  <a:lumOff val="40000"/>
                </a:schemeClr>
              </a:solidFill>
              <a:ea typeface="宋体" panose="02010600030101010101" pitchFamily="2" charset="-122"/>
            </a:endParaRPr>
          </a:p>
        </p:txBody>
      </p:sp>
      <p:sp>
        <p:nvSpPr>
          <p:cNvPr id="155659" name="Text Box 11"/>
          <p:cNvSpPr txBox="1">
            <a:spLocks noChangeArrowheads="1"/>
          </p:cNvSpPr>
          <p:nvPr/>
        </p:nvSpPr>
        <p:spPr bwMode="auto">
          <a:xfrm>
            <a:off x="899478" y="1778635"/>
            <a:ext cx="8243888" cy="3230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
                <a:srgbClr val="FF00FF"/>
              </a:buClr>
              <a:buSzPct val="80000"/>
              <a:buFont typeface="Wingdings" panose="05000000000000000000" pitchFamily="2" charset="2"/>
              <a:buChar char="n"/>
              <a:defRPr/>
            </a:pPr>
            <a:r>
              <a:rPr kumimoji="0" lang="en-US" altLang="zh-CN" sz="24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 </a:t>
            </a:r>
            <a:r>
              <a:rPr kumimoji="0" lang="zh-CN" altLang="en-US" sz="24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若</a:t>
            </a:r>
            <a:r>
              <a:rPr kumimoji="0" lang="en-US" altLang="zh-CN" sz="2400" b="1" i="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N</a:t>
            </a:r>
            <a:r>
              <a:rPr kumimoji="0" lang="en-US" altLang="zh-CN" sz="24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a:t>
            </a:r>
            <a:r>
              <a:rPr kumimoji="0" lang="en-US" altLang="zh-CN" sz="2400" b="1" i="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M</a:t>
            </a:r>
            <a:r>
              <a:rPr kumimoji="0" lang="en-US" altLang="zh-CN" sz="16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1</a:t>
            </a:r>
            <a:r>
              <a:rPr kumimoji="0" lang="en-US" altLang="zh-CN" sz="24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a:t>
            </a:r>
            <a:r>
              <a:rPr kumimoji="0" lang="en-US" altLang="zh-CN" sz="2400" b="1" i="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M</a:t>
            </a:r>
            <a:r>
              <a:rPr kumimoji="0" lang="en-US" altLang="zh-CN" sz="16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2</a:t>
            </a:r>
            <a:endParaRPr kumimoji="0" lang="en-US" altLang="zh-CN" sz="16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endParaRPr>
          </a:p>
          <a:p>
            <a:pPr marR="0" defTabSz="914400">
              <a:spcBef>
                <a:spcPct val="50000"/>
              </a:spcBef>
              <a:buClr>
                <a:srgbClr val="FF00FF"/>
              </a:buClr>
              <a:buSzPct val="80000"/>
              <a:buFont typeface="Wingdings" panose="05000000000000000000" pitchFamily="2" charset="2"/>
              <a:defRPr/>
            </a:pPr>
            <a:r>
              <a:rPr kumimoji="0" lang="en-US" altLang="zh-CN" sz="24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    </a:t>
            </a:r>
            <a:r>
              <a:rPr kumimoji="0" lang="zh-CN" altLang="en-US" sz="2400" b="1" kern="1200" cap="none" spc="0" normalizeH="0" baseline="0" noProof="0" smtClean="0">
                <a:solidFill>
                  <a:srgbClr val="CC6600"/>
                </a:solidFill>
                <a:effectLst>
                  <a:outerShdw blurRad="38100" dist="38100" dir="2700000" algn="tl">
                    <a:srgbClr val="000000"/>
                  </a:outerShdw>
                </a:effectLst>
                <a:latin typeface="Times New Roman" panose="02020603050405020304" charset="0"/>
                <a:ea typeface="宋体" panose="02010600030101010101" pitchFamily="2" charset="-122"/>
                <a:cs typeface="Times New Roman" panose="02020603050405020304" charset="0"/>
              </a:rPr>
              <a:t>串行进位：</a:t>
            </a:r>
            <a:r>
              <a:rPr kumimoji="0" lang="zh-CN" altLang="en-US" sz="24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低位的进位输出作为高位的时钟输入</a:t>
            </a:r>
            <a:endParaRPr kumimoji="0" lang="zh-CN" altLang="en-US" sz="24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endParaRPr>
          </a:p>
          <a:p>
            <a:pPr marR="0" defTabSz="914400">
              <a:spcBef>
                <a:spcPct val="50000"/>
              </a:spcBef>
              <a:buClr>
                <a:srgbClr val="FF00FF"/>
              </a:buClr>
              <a:buSzPct val="80000"/>
              <a:buFont typeface="Wingdings" panose="05000000000000000000" pitchFamily="2" charset="2"/>
              <a:defRPr/>
            </a:pPr>
            <a:r>
              <a:rPr kumimoji="0" lang="zh-CN" altLang="en-US" sz="24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    </a:t>
            </a:r>
            <a:r>
              <a:rPr kumimoji="0" lang="zh-CN" altLang="en-US" sz="2400" b="1" kern="1200" cap="none" spc="0" normalizeH="0" baseline="0" noProof="0" smtClean="0">
                <a:solidFill>
                  <a:srgbClr val="CC6600"/>
                </a:solidFill>
                <a:effectLst>
                  <a:outerShdw blurRad="38100" dist="38100" dir="2700000" algn="tl">
                    <a:srgbClr val="000000"/>
                  </a:outerShdw>
                </a:effectLst>
                <a:latin typeface="Times New Roman" panose="02020603050405020304" charset="0"/>
                <a:ea typeface="宋体" panose="02010600030101010101" pitchFamily="2" charset="-122"/>
                <a:cs typeface="Times New Roman" panose="02020603050405020304" charset="0"/>
              </a:rPr>
              <a:t>并行进位：</a:t>
            </a:r>
            <a:r>
              <a:rPr kumimoji="0" lang="zh-CN" altLang="en-US" sz="24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低位的进位输出作为高位的工作状态控制信号</a:t>
            </a:r>
            <a:endParaRPr kumimoji="0" lang="zh-CN" altLang="en-US" sz="24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endParaRPr>
          </a:p>
          <a:p>
            <a:pPr marR="0" defTabSz="914400">
              <a:spcBef>
                <a:spcPct val="50000"/>
              </a:spcBef>
              <a:buClr>
                <a:srgbClr val="FF00FF"/>
              </a:buClr>
              <a:buSzPct val="80000"/>
              <a:buFont typeface="Wingdings" panose="05000000000000000000" pitchFamily="2" charset="2"/>
              <a:buChar char="n"/>
              <a:defRPr/>
            </a:pPr>
            <a:r>
              <a:rPr kumimoji="0" lang="zh-CN" altLang="en-US" sz="24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 若</a:t>
            </a:r>
            <a:r>
              <a:rPr kumimoji="0" lang="en-US" altLang="zh-CN" sz="2400" b="1" i="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N</a:t>
            </a:r>
            <a:r>
              <a:rPr kumimoji="0" lang="zh-CN" altLang="en-US" sz="24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不能分解为</a:t>
            </a:r>
            <a:r>
              <a:rPr kumimoji="0" lang="en-US" altLang="zh-CN" sz="2400" b="1" i="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M</a:t>
            </a:r>
            <a:r>
              <a:rPr kumimoji="0" lang="en-US" altLang="zh-CN" sz="16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1</a:t>
            </a:r>
            <a:r>
              <a:rPr kumimoji="0" lang="zh-CN" altLang="en-US" sz="24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和</a:t>
            </a:r>
            <a:r>
              <a:rPr kumimoji="0" lang="en-US" altLang="zh-CN" sz="2400" b="1" i="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M</a:t>
            </a:r>
            <a:r>
              <a:rPr kumimoji="0" lang="en-US" altLang="zh-CN" sz="16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2</a:t>
            </a:r>
            <a:endParaRPr kumimoji="0" lang="en-US" altLang="zh-CN" sz="16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endParaRPr>
          </a:p>
          <a:p>
            <a:pPr marR="0" defTabSz="914400">
              <a:spcBef>
                <a:spcPct val="50000"/>
              </a:spcBef>
              <a:buClr>
                <a:srgbClr val="FF00FF"/>
              </a:buClr>
              <a:buSzPct val="80000"/>
              <a:buFont typeface="Wingdings" panose="05000000000000000000" pitchFamily="2" charset="2"/>
              <a:defRPr/>
            </a:pPr>
            <a:r>
              <a:rPr kumimoji="0" lang="en-US" altLang="zh-CN" sz="24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     </a:t>
            </a:r>
            <a:r>
              <a:rPr kumimoji="0" lang="zh-CN" altLang="en-US" sz="2400" b="1" kern="1200" cap="none" spc="0" normalizeH="0" baseline="0" noProof="0" smtClean="0">
                <a:solidFill>
                  <a:srgbClr val="CC6600"/>
                </a:solidFill>
                <a:effectLst>
                  <a:outerShdw blurRad="38100" dist="38100" dir="2700000" algn="tl">
                    <a:srgbClr val="000000"/>
                  </a:outerShdw>
                </a:effectLst>
                <a:latin typeface="Times New Roman" panose="02020603050405020304" charset="0"/>
                <a:ea typeface="宋体" panose="02010600030101010101" pitchFamily="2" charset="-122"/>
                <a:cs typeface="Times New Roman" panose="02020603050405020304" charset="0"/>
              </a:rPr>
              <a:t>整体置</a:t>
            </a:r>
            <a:r>
              <a:rPr kumimoji="0" lang="en-US" altLang="zh-CN" sz="2400" b="1" kern="1200" cap="none" spc="0" normalizeH="0" baseline="0" noProof="0" smtClean="0">
                <a:solidFill>
                  <a:srgbClr val="CC6600"/>
                </a:solidFill>
                <a:effectLst>
                  <a:outerShdw blurRad="38100" dist="38100" dir="2700000" algn="tl">
                    <a:srgbClr val="000000"/>
                  </a:outerShdw>
                </a:effectLst>
                <a:latin typeface="Times New Roman" panose="02020603050405020304" charset="0"/>
                <a:ea typeface="宋体" panose="02010600030101010101" pitchFamily="2" charset="-122"/>
                <a:cs typeface="Times New Roman" panose="02020603050405020304" charset="0"/>
              </a:rPr>
              <a:t>0</a:t>
            </a:r>
            <a:endParaRPr kumimoji="0" lang="en-US" altLang="zh-CN" sz="2400" b="1" kern="1200" cap="none" spc="0" normalizeH="0" baseline="0" noProof="0" smtClean="0">
              <a:solidFill>
                <a:srgbClr val="CC6600"/>
              </a:solidFill>
              <a:effectLst>
                <a:outerShdw blurRad="38100" dist="38100" dir="2700000" algn="tl">
                  <a:srgbClr val="000000"/>
                </a:outerShdw>
              </a:effectLst>
              <a:latin typeface="Times New Roman" panose="02020603050405020304" charset="0"/>
              <a:ea typeface="宋体" panose="02010600030101010101" pitchFamily="2" charset="-122"/>
              <a:cs typeface="Times New Roman" panose="02020603050405020304" charset="0"/>
            </a:endParaRPr>
          </a:p>
          <a:p>
            <a:pPr marR="0" defTabSz="914400">
              <a:spcBef>
                <a:spcPct val="50000"/>
              </a:spcBef>
              <a:buClr>
                <a:srgbClr val="FF00FF"/>
              </a:buClr>
              <a:buSzPct val="80000"/>
              <a:buFont typeface="Wingdings" panose="05000000000000000000" pitchFamily="2" charset="2"/>
              <a:defRPr/>
            </a:pPr>
            <a:r>
              <a:rPr kumimoji="0" lang="en-US" altLang="zh-CN" sz="2400" b="1" kern="1200" cap="none" spc="0" normalizeH="0" baseline="0" noProof="0" smtClean="0">
                <a:effectLst>
                  <a:outerShdw blurRad="38100" dist="38100" dir="2700000" algn="tl">
                    <a:srgbClr val="FFFFFF"/>
                  </a:outerShdw>
                </a:effectLst>
                <a:latin typeface="Times New Roman" panose="02020603050405020304" charset="0"/>
                <a:ea typeface="宋体" panose="02010600030101010101" pitchFamily="2" charset="-122"/>
                <a:cs typeface="Times New Roman" panose="02020603050405020304" charset="0"/>
              </a:rPr>
              <a:t>     </a:t>
            </a:r>
            <a:r>
              <a:rPr kumimoji="0" lang="zh-CN" altLang="en-US" sz="2400" b="1" kern="1200" cap="none" spc="0" normalizeH="0" baseline="0" noProof="0" smtClean="0">
                <a:solidFill>
                  <a:srgbClr val="CC6600"/>
                </a:solidFill>
                <a:effectLst>
                  <a:outerShdw blurRad="38100" dist="38100" dir="2700000" algn="tl">
                    <a:srgbClr val="000000"/>
                  </a:outerShdw>
                </a:effectLst>
                <a:latin typeface="Times New Roman" panose="02020603050405020304" charset="0"/>
                <a:ea typeface="宋体" panose="02010600030101010101" pitchFamily="2" charset="-122"/>
                <a:cs typeface="Times New Roman" panose="02020603050405020304" charset="0"/>
              </a:rPr>
              <a:t>整体置数</a:t>
            </a:r>
            <a:endParaRPr kumimoji="0" lang="zh-CN" altLang="en-US" sz="2400" b="1" kern="1200" cap="none" spc="0" normalizeH="0" baseline="0" noProof="0" smtClean="0">
              <a:solidFill>
                <a:srgbClr val="CC6600"/>
              </a:solidFill>
              <a:effectLst>
                <a:outerShdw blurRad="38100" dist="38100" dir="2700000" algn="tl">
                  <a:srgbClr val="000000"/>
                </a:outerShdw>
              </a:effectLst>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5659">
                                            <p:txEl>
                                              <p:charRg st="4294967295" end="4294967295"/>
                                            </p:txEl>
                                          </p:spTgt>
                                        </p:tgtEl>
                                        <p:attrNameLst>
                                          <p:attrName>style.visibility</p:attrName>
                                        </p:attrNameLst>
                                      </p:cBhvr>
                                      <p:to>
                                        <p:strVal val="visible"/>
                                      </p:to>
                                    </p:set>
                                    <p:animEffect transition="in" filter="wipe(left)">
                                      <p:cBhvr>
                                        <p:cTn id="7" dur="2000"/>
                                        <p:tgtEl>
                                          <p:spTgt spid="155659">
                                            <p:txEl>
                                              <p:char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5659">
                                            <p:txEl>
                                              <p:charRg st="0" end="10"/>
                                            </p:txEl>
                                          </p:spTgt>
                                        </p:tgtEl>
                                        <p:attrNameLst>
                                          <p:attrName>style.visibility</p:attrName>
                                        </p:attrNameLst>
                                      </p:cBhvr>
                                      <p:to>
                                        <p:strVal val="visible"/>
                                      </p:to>
                                    </p:set>
                                    <p:animEffect transition="in" filter="wipe(left)">
                                      <p:cBhvr>
                                        <p:cTn id="12" dur="2000"/>
                                        <p:tgtEl>
                                          <p:spTgt spid="155659">
                                            <p:txEl>
                                              <p:charRg st="0" end="10"/>
                                            </p:txEl>
                                          </p:spTgt>
                                        </p:tgtEl>
                                      </p:cBhvr>
                                    </p:animEffect>
                                  </p:childTnLst>
                                </p:cTn>
                              </p:par>
                            </p:childTnLst>
                          </p:cTn>
                        </p:par>
                        <p:par>
                          <p:cTn id="13" fill="hold">
                            <p:stCondLst>
                              <p:cond delay="2000"/>
                            </p:stCondLst>
                            <p:childTnLst>
                              <p:par>
                                <p:cTn id="14" presetID="22" presetClass="entr" presetSubtype="8" fill="hold" grpId="0" nodeType="afterEffect">
                                  <p:stCondLst>
                                    <p:cond delay="0"/>
                                  </p:stCondLst>
                                  <p:childTnLst>
                                    <p:set>
                                      <p:cBhvr>
                                        <p:cTn id="15" dur="1" fill="hold">
                                          <p:stCondLst>
                                            <p:cond delay="0"/>
                                          </p:stCondLst>
                                        </p:cTn>
                                        <p:tgtEl>
                                          <p:spTgt spid="155659">
                                            <p:txEl>
                                              <p:charRg st="10" end="36"/>
                                            </p:txEl>
                                          </p:spTgt>
                                        </p:tgtEl>
                                        <p:attrNameLst>
                                          <p:attrName>style.visibility</p:attrName>
                                        </p:attrNameLst>
                                      </p:cBhvr>
                                      <p:to>
                                        <p:strVal val="visible"/>
                                      </p:to>
                                    </p:set>
                                    <p:animEffect transition="in" filter="wipe(left)">
                                      <p:cBhvr>
                                        <p:cTn id="16" dur="2000"/>
                                        <p:tgtEl>
                                          <p:spTgt spid="155659">
                                            <p:txEl>
                                              <p:charRg st="10" end="36"/>
                                            </p:txEl>
                                          </p:spTgt>
                                        </p:tgtEl>
                                      </p:cBhvr>
                                    </p:animEffect>
                                  </p:childTnLst>
                                </p:cTn>
                              </p:par>
                            </p:childTnLst>
                          </p:cTn>
                        </p:par>
                        <p:par>
                          <p:cTn id="17" fill="hold">
                            <p:stCondLst>
                              <p:cond delay="4000"/>
                            </p:stCondLst>
                            <p:childTnLst>
                              <p:par>
                                <p:cTn id="18" presetID="22" presetClass="entr" presetSubtype="8" fill="hold" grpId="0" nodeType="afterEffect">
                                  <p:stCondLst>
                                    <p:cond delay="500"/>
                                  </p:stCondLst>
                                  <p:childTnLst>
                                    <p:set>
                                      <p:cBhvr>
                                        <p:cTn id="19" dur="1" fill="hold">
                                          <p:stCondLst>
                                            <p:cond delay="0"/>
                                          </p:stCondLst>
                                        </p:cTn>
                                        <p:tgtEl>
                                          <p:spTgt spid="155659">
                                            <p:txEl>
                                              <p:charRg st="36" end="66"/>
                                            </p:txEl>
                                          </p:spTgt>
                                        </p:tgtEl>
                                        <p:attrNameLst>
                                          <p:attrName>style.visibility</p:attrName>
                                        </p:attrNameLst>
                                      </p:cBhvr>
                                      <p:to>
                                        <p:strVal val="visible"/>
                                      </p:to>
                                    </p:set>
                                    <p:animEffect transition="in" filter="wipe(left)">
                                      <p:cBhvr>
                                        <p:cTn id="20" dur="2000"/>
                                        <p:tgtEl>
                                          <p:spTgt spid="155659">
                                            <p:txEl>
                                              <p:charRg st="36" end="66"/>
                                            </p:txEl>
                                          </p:spTgt>
                                        </p:tgtEl>
                                      </p:cBhvr>
                                    </p:animEffect>
                                  </p:childTnLst>
                                </p:cTn>
                              </p:par>
                            </p:childTnLst>
                          </p:cTn>
                        </p:par>
                        <p:par>
                          <p:cTn id="21" fill="hold">
                            <p:stCondLst>
                              <p:cond delay="6500"/>
                            </p:stCondLst>
                            <p:childTnLst>
                              <p:par>
                                <p:cTn id="22" presetID="22" presetClass="entr" presetSubtype="8" fill="hold" grpId="0" nodeType="afterEffect">
                                  <p:stCondLst>
                                    <p:cond delay="500"/>
                                  </p:stCondLst>
                                  <p:childTnLst>
                                    <p:set>
                                      <p:cBhvr>
                                        <p:cTn id="23" dur="1" fill="hold">
                                          <p:stCondLst>
                                            <p:cond delay="0"/>
                                          </p:stCondLst>
                                        </p:cTn>
                                        <p:tgtEl>
                                          <p:spTgt spid="155659">
                                            <p:txEl>
                                              <p:charRg st="66" end="80"/>
                                            </p:txEl>
                                          </p:spTgt>
                                        </p:tgtEl>
                                        <p:attrNameLst>
                                          <p:attrName>style.visibility</p:attrName>
                                        </p:attrNameLst>
                                      </p:cBhvr>
                                      <p:to>
                                        <p:strVal val="visible"/>
                                      </p:to>
                                    </p:set>
                                    <p:animEffect transition="in" filter="wipe(left)">
                                      <p:cBhvr>
                                        <p:cTn id="24" dur="2000"/>
                                        <p:tgtEl>
                                          <p:spTgt spid="155659">
                                            <p:txEl>
                                              <p:charRg st="66" end="80"/>
                                            </p:txEl>
                                          </p:spTgt>
                                        </p:tgtEl>
                                      </p:cBhvr>
                                    </p:animEffect>
                                  </p:childTnLst>
                                </p:cTn>
                              </p:par>
                            </p:childTnLst>
                          </p:cTn>
                        </p:par>
                        <p:par>
                          <p:cTn id="25" fill="hold">
                            <p:stCondLst>
                              <p:cond delay="9000"/>
                            </p:stCondLst>
                            <p:childTnLst>
                              <p:par>
                                <p:cTn id="26" presetID="22" presetClass="entr" presetSubtype="8" fill="hold" grpId="0" nodeType="afterEffect">
                                  <p:stCondLst>
                                    <p:cond delay="0"/>
                                  </p:stCondLst>
                                  <p:childTnLst>
                                    <p:set>
                                      <p:cBhvr>
                                        <p:cTn id="27" dur="1" fill="hold">
                                          <p:stCondLst>
                                            <p:cond delay="0"/>
                                          </p:stCondLst>
                                        </p:cTn>
                                        <p:tgtEl>
                                          <p:spTgt spid="155659">
                                            <p:txEl>
                                              <p:charRg st="80" end="90"/>
                                            </p:txEl>
                                          </p:spTgt>
                                        </p:tgtEl>
                                        <p:attrNameLst>
                                          <p:attrName>style.visibility</p:attrName>
                                        </p:attrNameLst>
                                      </p:cBhvr>
                                      <p:to>
                                        <p:strVal val="visible"/>
                                      </p:to>
                                    </p:set>
                                    <p:animEffect transition="in" filter="wipe(left)">
                                      <p:cBhvr>
                                        <p:cTn id="28" dur="2000"/>
                                        <p:tgtEl>
                                          <p:spTgt spid="155659">
                                            <p:txEl>
                                              <p:charRg st="80" end="90"/>
                                            </p:txEl>
                                          </p:spTgt>
                                        </p:tgtEl>
                                      </p:cBhvr>
                                    </p:animEffect>
                                  </p:childTnLst>
                                </p:cTn>
                              </p:par>
                            </p:childTnLst>
                          </p:cTn>
                        </p:par>
                        <p:par>
                          <p:cTn id="29" fill="hold">
                            <p:stCondLst>
                              <p:cond delay="11000"/>
                            </p:stCondLst>
                            <p:childTnLst>
                              <p:par>
                                <p:cTn id="30" presetID="22" presetClass="entr" presetSubtype="8" fill="hold" grpId="0" nodeType="afterEffect">
                                  <p:stCondLst>
                                    <p:cond delay="0"/>
                                  </p:stCondLst>
                                  <p:childTnLst>
                                    <p:set>
                                      <p:cBhvr>
                                        <p:cTn id="31" dur="1" fill="hold">
                                          <p:stCondLst>
                                            <p:cond delay="0"/>
                                          </p:stCondLst>
                                        </p:cTn>
                                        <p:tgtEl>
                                          <p:spTgt spid="155659">
                                            <p:txEl>
                                              <p:charRg st="90" end="100"/>
                                            </p:txEl>
                                          </p:spTgt>
                                        </p:tgtEl>
                                        <p:attrNameLst>
                                          <p:attrName>style.visibility</p:attrName>
                                        </p:attrNameLst>
                                      </p:cBhvr>
                                      <p:to>
                                        <p:strVal val="visible"/>
                                      </p:to>
                                    </p:set>
                                    <p:animEffect transition="in" filter="wipe(left)">
                                      <p:cBhvr>
                                        <p:cTn id="32" dur="2000"/>
                                        <p:tgtEl>
                                          <p:spTgt spid="155659">
                                            <p:txEl>
                                              <p:charRg st="90" end="10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9" grpId="0" uiExpand="1"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0" name="文本框 99"/>
          <p:cNvSpPr txBox="1"/>
          <p:nvPr/>
        </p:nvSpPr>
        <p:spPr>
          <a:xfrm>
            <a:off x="333375" y="1176655"/>
            <a:ext cx="8810625" cy="398780"/>
          </a:xfrm>
          <a:prstGeom prst="rect">
            <a:avLst/>
          </a:prstGeom>
          <a:noFill/>
          <a:ln w="9525">
            <a:noFill/>
          </a:ln>
        </p:spPr>
        <p:txBody>
          <a:bodyPr wrap="square">
            <a:spAutoFit/>
          </a:bodyPr>
          <a:p>
            <a:r>
              <a:rPr lang="zh-CN" sz="2000" b="1">
                <a:gradFill>
                  <a:gsLst>
                    <a:gs pos="0">
                      <a:srgbClr val="012D86"/>
                    </a:gs>
                    <a:gs pos="100000">
                      <a:srgbClr val="0E2557"/>
                    </a:gs>
                  </a:gsLst>
                  <a:lin scaled="0"/>
                </a:gradFill>
                <a:ea typeface="宋体" panose="02010600030101010101" pitchFamily="2" charset="-122"/>
              </a:rPr>
              <a:t>【例</a:t>
            </a:r>
            <a:r>
              <a:rPr lang="en-US" sz="2000" b="1">
                <a:gradFill>
                  <a:gsLst>
                    <a:gs pos="0">
                      <a:srgbClr val="012D86"/>
                    </a:gs>
                    <a:gs pos="100000">
                      <a:srgbClr val="0E2557"/>
                    </a:gs>
                  </a:gsLst>
                  <a:lin scaled="0"/>
                </a:gradFill>
                <a:latin typeface="Times New Roman" panose="02020603050405020304" charset="0"/>
              </a:rPr>
              <a:t>6-10</a:t>
            </a:r>
            <a:r>
              <a:rPr lang="zh-CN" sz="2000" b="1">
                <a:gradFill>
                  <a:gsLst>
                    <a:gs pos="0">
                      <a:srgbClr val="012D86"/>
                    </a:gs>
                    <a:gs pos="100000">
                      <a:srgbClr val="0E2557"/>
                    </a:gs>
                  </a:gsLst>
                  <a:lin scaled="0"/>
                </a:gradFill>
                <a:ea typeface="宋体" panose="02010600030101010101" pitchFamily="2" charset="-122"/>
              </a:rPr>
              <a:t>】</a:t>
            </a:r>
            <a:r>
              <a:rPr lang="en-US" sz="2000" b="1">
                <a:gradFill>
                  <a:gsLst>
                    <a:gs pos="0">
                      <a:srgbClr val="012D86"/>
                    </a:gs>
                    <a:gs pos="100000">
                      <a:srgbClr val="0E2557"/>
                    </a:gs>
                  </a:gsLst>
                  <a:lin scaled="0"/>
                </a:gradFill>
                <a:latin typeface="Times New Roman" panose="02020603050405020304" charset="0"/>
              </a:rPr>
              <a:t> </a:t>
            </a:r>
            <a:r>
              <a:rPr lang="zh-CN" sz="2000" b="1">
                <a:gradFill>
                  <a:gsLst>
                    <a:gs pos="0">
                      <a:srgbClr val="012D86"/>
                    </a:gs>
                    <a:gs pos="100000">
                      <a:srgbClr val="0E2557"/>
                    </a:gs>
                  </a:gsLst>
                  <a:lin scaled="0"/>
                </a:gradFill>
                <a:ea typeface="宋体" panose="02010600030101010101" pitchFamily="2" charset="-122"/>
              </a:rPr>
              <a:t>试用同步十进制加法计数器</a:t>
            </a:r>
            <a:r>
              <a:rPr lang="en-US" sz="2000" b="1">
                <a:gradFill>
                  <a:gsLst>
                    <a:gs pos="0">
                      <a:srgbClr val="012D86"/>
                    </a:gs>
                    <a:gs pos="100000">
                      <a:srgbClr val="0E2557"/>
                    </a:gs>
                  </a:gsLst>
                  <a:lin scaled="0"/>
                </a:gradFill>
                <a:latin typeface="Times New Roman" panose="02020603050405020304" charset="0"/>
              </a:rPr>
              <a:t>74LS160</a:t>
            </a:r>
            <a:r>
              <a:rPr lang="zh-CN" sz="2000" b="1">
                <a:gradFill>
                  <a:gsLst>
                    <a:gs pos="0">
                      <a:srgbClr val="012D86"/>
                    </a:gs>
                    <a:gs pos="100000">
                      <a:srgbClr val="0E2557"/>
                    </a:gs>
                  </a:gsLst>
                  <a:lin scaled="0"/>
                </a:gradFill>
                <a:ea typeface="宋体" panose="02010600030101010101" pitchFamily="2" charset="-122"/>
              </a:rPr>
              <a:t>构成初态为</a:t>
            </a:r>
            <a:r>
              <a:rPr lang="en-US" sz="2000" b="1">
                <a:gradFill>
                  <a:gsLst>
                    <a:gs pos="0">
                      <a:srgbClr val="012D86"/>
                    </a:gs>
                    <a:gs pos="100000">
                      <a:srgbClr val="0E2557"/>
                    </a:gs>
                  </a:gsLst>
                  <a:lin scaled="0"/>
                </a:gradFill>
                <a:latin typeface="Times New Roman" panose="02020603050405020304" charset="0"/>
              </a:rPr>
              <a:t>0</a:t>
            </a:r>
            <a:r>
              <a:rPr lang="zh-CN" sz="2000" b="1">
                <a:gradFill>
                  <a:gsLst>
                    <a:gs pos="0">
                      <a:srgbClr val="012D86"/>
                    </a:gs>
                    <a:gs pos="100000">
                      <a:srgbClr val="0E2557"/>
                    </a:gs>
                  </a:gsLst>
                  <a:lin scaled="0"/>
                </a:gradFill>
                <a:ea typeface="宋体" panose="02010600030101010101" pitchFamily="2" charset="-122"/>
              </a:rPr>
              <a:t>的</a:t>
            </a:r>
            <a:r>
              <a:rPr lang="en-US" sz="2000" b="1">
                <a:gradFill>
                  <a:gsLst>
                    <a:gs pos="0">
                      <a:srgbClr val="012D86"/>
                    </a:gs>
                    <a:gs pos="100000">
                      <a:srgbClr val="0E2557"/>
                    </a:gs>
                  </a:gsLst>
                  <a:lin scaled="0"/>
                </a:gradFill>
                <a:latin typeface="Times New Roman" panose="02020603050405020304" charset="0"/>
              </a:rPr>
              <a:t>23</a:t>
            </a:r>
            <a:r>
              <a:rPr lang="zh-CN" sz="2000" b="1">
                <a:gradFill>
                  <a:gsLst>
                    <a:gs pos="0">
                      <a:srgbClr val="012D86"/>
                    </a:gs>
                    <a:gs pos="100000">
                      <a:srgbClr val="0E2557"/>
                    </a:gs>
                  </a:gsLst>
                  <a:lin scaled="0"/>
                </a:gradFill>
                <a:ea typeface="宋体" panose="02010600030101010101" pitchFamily="2" charset="-122"/>
              </a:rPr>
              <a:t>进制计数器。</a:t>
            </a:r>
            <a:endParaRPr lang="zh-CN" altLang="en-US" sz="2000" b="1">
              <a:gradFill>
                <a:gsLst>
                  <a:gs pos="0">
                    <a:srgbClr val="012D86"/>
                  </a:gs>
                  <a:gs pos="100000">
                    <a:srgbClr val="0E2557"/>
                  </a:gs>
                </a:gsLst>
                <a:lin scaled="0"/>
              </a:gradFill>
              <a:ea typeface="宋体" panose="02010600030101010101" pitchFamily="2" charset="-122"/>
            </a:endParaRPr>
          </a:p>
        </p:txBody>
      </p:sp>
      <p:pic>
        <p:nvPicPr>
          <p:cNvPr id="9408" name="图片 2845"/>
          <p:cNvPicPr>
            <a:picLocks noChangeAspect="1"/>
          </p:cNvPicPr>
          <p:nvPr/>
        </p:nvPicPr>
        <p:blipFill>
          <a:blip r:embed="rId1"/>
          <a:stretch>
            <a:fillRect/>
          </a:stretch>
        </p:blipFill>
        <p:spPr>
          <a:xfrm>
            <a:off x="1156970" y="4281170"/>
            <a:ext cx="6509385" cy="2339975"/>
          </a:xfrm>
          <a:prstGeom prst="rect">
            <a:avLst/>
          </a:prstGeom>
          <a:noFill/>
          <a:ln>
            <a:noFill/>
          </a:ln>
        </p:spPr>
      </p:pic>
      <p:sp>
        <p:nvSpPr>
          <p:cNvPr id="2" name="文本框 1"/>
          <p:cNvSpPr txBox="1"/>
          <p:nvPr/>
        </p:nvSpPr>
        <p:spPr>
          <a:xfrm>
            <a:off x="858520" y="1575435"/>
            <a:ext cx="5080000" cy="460375"/>
          </a:xfrm>
          <a:prstGeom prst="rect">
            <a:avLst/>
          </a:prstGeom>
          <a:noFill/>
          <a:ln w="9525">
            <a:noFill/>
          </a:ln>
        </p:spPr>
        <p:txBody>
          <a:bodyPr>
            <a:spAutoFit/>
          </a:bodyPr>
          <a:p>
            <a:r>
              <a:rPr lang="zh-CN" sz="2400" b="1">
                <a:solidFill>
                  <a:schemeClr val="accent6">
                    <a:lumMod val="60000"/>
                    <a:lumOff val="40000"/>
                  </a:schemeClr>
                </a:solidFill>
                <a:ea typeface="宋体" panose="02010600030101010101" pitchFamily="2" charset="-122"/>
              </a:rPr>
              <a:t>解：</a:t>
            </a:r>
            <a:r>
              <a:rPr lang="zh-CN" sz="2400" b="1">
                <a:solidFill>
                  <a:schemeClr val="tx1"/>
                </a:solidFill>
                <a:ea typeface="宋体" panose="02010600030101010101" pitchFamily="2" charset="-122"/>
              </a:rPr>
              <a:t>方法一：整体反馈清零法</a:t>
            </a:r>
            <a:endParaRPr lang="zh-CN" altLang="en-US" sz="2400" b="1">
              <a:solidFill>
                <a:schemeClr val="tx1"/>
              </a:solidFill>
              <a:ea typeface="宋体" panose="02010600030101010101" pitchFamily="2" charset="-122"/>
            </a:endParaRPr>
          </a:p>
        </p:txBody>
      </p:sp>
      <p:sp>
        <p:nvSpPr>
          <p:cNvPr id="3" name="文本框 2"/>
          <p:cNvSpPr txBox="1"/>
          <p:nvPr/>
        </p:nvSpPr>
        <p:spPr>
          <a:xfrm>
            <a:off x="661670" y="2035810"/>
            <a:ext cx="8405495" cy="2245360"/>
          </a:xfrm>
          <a:prstGeom prst="rect">
            <a:avLst/>
          </a:prstGeom>
          <a:noFill/>
          <a:ln w="9525">
            <a:noFill/>
          </a:ln>
        </p:spPr>
        <p:txBody>
          <a:bodyPr wrap="square">
            <a:spAutoFit/>
          </a:bodyPr>
          <a:p>
            <a:r>
              <a:rPr lang="zh-CN" sz="2000" b="1">
                <a:gradFill>
                  <a:gsLst>
                    <a:gs pos="0">
                      <a:srgbClr val="012D86"/>
                    </a:gs>
                    <a:gs pos="100000">
                      <a:srgbClr val="0E2557"/>
                    </a:gs>
                  </a:gsLst>
                  <a:lin scaled="0"/>
                </a:gradFill>
                <a:ea typeface="宋体" panose="02010600030101010101" pitchFamily="2" charset="-122"/>
              </a:rPr>
              <a:t>两片</a:t>
            </a:r>
            <a:r>
              <a:rPr lang="en-US" sz="2000" b="1">
                <a:gradFill>
                  <a:gsLst>
                    <a:gs pos="0">
                      <a:srgbClr val="012D86"/>
                    </a:gs>
                    <a:gs pos="100000">
                      <a:srgbClr val="0E2557"/>
                    </a:gs>
                  </a:gsLst>
                  <a:lin scaled="0"/>
                </a:gradFill>
                <a:latin typeface="Times New Roman" panose="02020603050405020304" charset="0"/>
              </a:rPr>
              <a:t>74LS160</a:t>
            </a:r>
            <a:r>
              <a:rPr lang="zh-CN" sz="2000" b="1">
                <a:gradFill>
                  <a:gsLst>
                    <a:gs pos="0">
                      <a:srgbClr val="012D86"/>
                    </a:gs>
                    <a:gs pos="100000">
                      <a:srgbClr val="0E2557"/>
                    </a:gs>
                  </a:gsLst>
                  <a:lin scaled="0"/>
                </a:gradFill>
                <a:ea typeface="宋体" panose="02010600030101010101" pitchFamily="2" charset="-122"/>
              </a:rPr>
              <a:t>的级联采用串行进位法：让两片</a:t>
            </a:r>
            <a:r>
              <a:rPr lang="en-US" sz="2000" b="1">
                <a:gradFill>
                  <a:gsLst>
                    <a:gs pos="0">
                      <a:srgbClr val="012D86"/>
                    </a:gs>
                    <a:gs pos="100000">
                      <a:srgbClr val="0E2557"/>
                    </a:gs>
                  </a:gsLst>
                  <a:lin scaled="0"/>
                </a:gradFill>
                <a:latin typeface="Times New Roman" panose="02020603050405020304" charset="0"/>
              </a:rPr>
              <a:t>74LS160</a:t>
            </a:r>
            <a:r>
              <a:rPr lang="zh-CN" sz="2000" b="1">
                <a:gradFill>
                  <a:gsLst>
                    <a:gs pos="0">
                      <a:srgbClr val="012D86"/>
                    </a:gs>
                    <a:gs pos="100000">
                      <a:srgbClr val="0E2557"/>
                    </a:gs>
                  </a:gsLst>
                  <a:lin scaled="0"/>
                </a:gradFill>
                <a:ea typeface="宋体" panose="02010600030101010101" pitchFamily="2" charset="-122"/>
              </a:rPr>
              <a:t>的</a:t>
            </a:r>
            <a:r>
              <a:rPr lang="en-US" sz="2000" b="1" i="1">
                <a:gradFill>
                  <a:gsLst>
                    <a:gs pos="0">
                      <a:srgbClr val="012D86"/>
                    </a:gs>
                    <a:gs pos="100000">
                      <a:srgbClr val="0E2557"/>
                    </a:gs>
                  </a:gsLst>
                  <a:lin scaled="0"/>
                </a:gradFill>
                <a:latin typeface="Times New Roman" panose="02020603050405020304" charset="0"/>
              </a:rPr>
              <a:t>ET=EP</a:t>
            </a:r>
            <a:r>
              <a:rPr lang="en-US" sz="2000" b="1">
                <a:gradFill>
                  <a:gsLst>
                    <a:gs pos="0">
                      <a:srgbClr val="012D86"/>
                    </a:gs>
                    <a:gs pos="100000">
                      <a:srgbClr val="0E2557"/>
                    </a:gs>
                  </a:gsLst>
                  <a:lin scaled="0"/>
                </a:gradFill>
                <a:latin typeface="Times New Roman" panose="02020603050405020304" charset="0"/>
              </a:rPr>
              <a:t>=1</a:t>
            </a:r>
            <a:r>
              <a:rPr lang="zh-CN" sz="2000" b="1">
                <a:gradFill>
                  <a:gsLst>
                    <a:gs pos="0">
                      <a:srgbClr val="012D86"/>
                    </a:gs>
                    <a:gs pos="100000">
                      <a:srgbClr val="0E2557"/>
                    </a:gs>
                  </a:gsLst>
                  <a:lin scaled="0"/>
                </a:gradFill>
                <a:ea typeface="宋体" panose="02010600030101010101" pitchFamily="2" charset="-122"/>
              </a:rPr>
              <a:t>，先将时钟脉冲</a:t>
            </a:r>
            <a:r>
              <a:rPr lang="en-US" sz="2000" b="1" i="1">
                <a:gradFill>
                  <a:gsLst>
                    <a:gs pos="0">
                      <a:srgbClr val="012D86"/>
                    </a:gs>
                    <a:gs pos="100000">
                      <a:srgbClr val="0E2557"/>
                    </a:gs>
                  </a:gsLst>
                  <a:lin scaled="0"/>
                </a:gradFill>
                <a:latin typeface="Times New Roman" panose="02020603050405020304" charset="0"/>
              </a:rPr>
              <a:t>CP</a:t>
            </a:r>
            <a:r>
              <a:rPr lang="zh-CN" sz="2000" b="1">
                <a:gradFill>
                  <a:gsLst>
                    <a:gs pos="0">
                      <a:srgbClr val="012D86"/>
                    </a:gs>
                    <a:gs pos="100000">
                      <a:srgbClr val="0E2557"/>
                    </a:gs>
                  </a:gsLst>
                  <a:lin scaled="0"/>
                </a:gradFill>
                <a:ea typeface="宋体" panose="02010600030101010101" pitchFamily="2" charset="-122"/>
              </a:rPr>
              <a:t>接低位芯片的时钟脉冲输入端，再将低位芯片的进位输出通过一个非门接高位芯片的时钟脉冲输入端，完成</a:t>
            </a:r>
            <a:r>
              <a:rPr lang="en-US" sz="2000" b="1">
                <a:gradFill>
                  <a:gsLst>
                    <a:gs pos="0">
                      <a:srgbClr val="012D86"/>
                    </a:gs>
                    <a:gs pos="100000">
                      <a:srgbClr val="0E2557"/>
                    </a:gs>
                  </a:gsLst>
                  <a:lin scaled="0"/>
                </a:gradFill>
                <a:latin typeface="Times New Roman" panose="02020603050405020304" charset="0"/>
              </a:rPr>
              <a:t>100</a:t>
            </a:r>
            <a:r>
              <a:rPr lang="zh-CN" sz="2000" b="1">
                <a:gradFill>
                  <a:gsLst>
                    <a:gs pos="0">
                      <a:srgbClr val="012D86"/>
                    </a:gs>
                    <a:gs pos="100000">
                      <a:srgbClr val="0E2557"/>
                    </a:gs>
                  </a:gsLst>
                  <a:lin scaled="0"/>
                </a:gradFill>
                <a:ea typeface="宋体" panose="02010600030101010101" pitchFamily="2" charset="-122"/>
              </a:rPr>
              <a:t>进制计数。在此基础上，借助</a:t>
            </a:r>
            <a:r>
              <a:rPr lang="en-US" sz="2000" b="1">
                <a:gradFill>
                  <a:gsLst>
                    <a:gs pos="0">
                      <a:srgbClr val="012D86"/>
                    </a:gs>
                    <a:gs pos="100000">
                      <a:srgbClr val="0E2557"/>
                    </a:gs>
                  </a:gsLst>
                  <a:lin scaled="0"/>
                </a:gradFill>
                <a:latin typeface="Times New Roman" panose="02020603050405020304" charset="0"/>
              </a:rPr>
              <a:t>74LS160</a:t>
            </a:r>
            <a:r>
              <a:rPr lang="zh-CN" sz="2000" b="1">
                <a:gradFill>
                  <a:gsLst>
                    <a:gs pos="0">
                      <a:srgbClr val="012D86"/>
                    </a:gs>
                    <a:gs pos="100000">
                      <a:srgbClr val="0E2557"/>
                    </a:gs>
                  </a:gsLst>
                  <a:lin scaled="0"/>
                </a:gradFill>
                <a:ea typeface="宋体" panose="02010600030101010101" pitchFamily="2" charset="-122"/>
              </a:rPr>
              <a:t>的异步清零功能，在输入第</a:t>
            </a:r>
            <a:r>
              <a:rPr lang="en-US" sz="2000" b="1">
                <a:gradFill>
                  <a:gsLst>
                    <a:gs pos="0">
                      <a:srgbClr val="012D86"/>
                    </a:gs>
                    <a:gs pos="100000">
                      <a:srgbClr val="0E2557"/>
                    </a:gs>
                  </a:gsLst>
                  <a:lin scaled="0"/>
                </a:gradFill>
                <a:latin typeface="Times New Roman" panose="02020603050405020304" charset="0"/>
              </a:rPr>
              <a:t>23</a:t>
            </a:r>
            <a:r>
              <a:rPr lang="zh-CN" sz="2000" b="1">
                <a:gradFill>
                  <a:gsLst>
                    <a:gs pos="0">
                      <a:srgbClr val="012D86"/>
                    </a:gs>
                    <a:gs pos="100000">
                      <a:srgbClr val="0E2557"/>
                    </a:gs>
                  </a:gsLst>
                  <a:lin scaled="0"/>
                </a:gradFill>
                <a:ea typeface="宋体" panose="02010600030101010101" pitchFamily="2" charset="-122"/>
              </a:rPr>
              <a:t>个脉冲后，计数器输出状态为</a:t>
            </a:r>
            <a:r>
              <a:rPr lang="en-US" sz="2000" b="1">
                <a:gradFill>
                  <a:gsLst>
                    <a:gs pos="0">
                      <a:srgbClr val="012D86"/>
                    </a:gs>
                    <a:gs pos="100000">
                      <a:srgbClr val="0E2557"/>
                    </a:gs>
                  </a:gsLst>
                  <a:lin scaled="0"/>
                </a:gradFill>
                <a:latin typeface="Times New Roman" panose="02020603050405020304" charset="0"/>
              </a:rPr>
              <a:t>0010 0011</a:t>
            </a:r>
            <a:r>
              <a:rPr lang="zh-CN" sz="2000" b="1">
                <a:gradFill>
                  <a:gsLst>
                    <a:gs pos="0">
                      <a:srgbClr val="012D86"/>
                    </a:gs>
                    <a:gs pos="100000">
                      <a:srgbClr val="0E2557"/>
                    </a:gs>
                  </a:gsLst>
                  <a:lin scaled="0"/>
                </a:gradFill>
                <a:ea typeface="宋体" panose="02010600030101010101" pitchFamily="2" charset="-122"/>
              </a:rPr>
              <a:t>时，给出清零信号，所以将第</a:t>
            </a:r>
            <a:r>
              <a:rPr lang="en-US" sz="2000" b="1">
                <a:gradFill>
                  <a:gsLst>
                    <a:gs pos="0">
                      <a:srgbClr val="012D86"/>
                    </a:gs>
                    <a:gs pos="100000">
                      <a:srgbClr val="0E2557"/>
                    </a:gs>
                  </a:gsLst>
                  <a:lin scaled="0"/>
                </a:gradFill>
                <a:latin typeface="Times New Roman" panose="02020603050405020304" charset="0"/>
              </a:rPr>
              <a:t>1</a:t>
            </a:r>
            <a:r>
              <a:rPr lang="zh-CN" sz="2000" b="1">
                <a:gradFill>
                  <a:gsLst>
                    <a:gs pos="0">
                      <a:srgbClr val="012D86"/>
                    </a:gs>
                    <a:gs pos="100000">
                      <a:srgbClr val="0E2557"/>
                    </a:gs>
                  </a:gsLst>
                  <a:lin scaled="0"/>
                </a:gradFill>
                <a:ea typeface="宋体" panose="02010600030101010101" pitchFamily="2" charset="-122"/>
              </a:rPr>
              <a:t>片输出为</a:t>
            </a:r>
            <a:r>
              <a:rPr lang="en-US" sz="2000" b="1">
                <a:gradFill>
                  <a:gsLst>
                    <a:gs pos="0">
                      <a:srgbClr val="012D86"/>
                    </a:gs>
                    <a:gs pos="100000">
                      <a:srgbClr val="0E2557"/>
                    </a:gs>
                  </a:gsLst>
                  <a:lin scaled="0"/>
                </a:gradFill>
                <a:latin typeface="Times New Roman" panose="02020603050405020304" charset="0"/>
              </a:rPr>
              <a:t>1</a:t>
            </a:r>
            <a:r>
              <a:rPr lang="zh-CN" sz="2000" b="1">
                <a:gradFill>
                  <a:gsLst>
                    <a:gs pos="0">
                      <a:srgbClr val="012D86"/>
                    </a:gs>
                    <a:gs pos="100000">
                      <a:srgbClr val="0E2557"/>
                    </a:gs>
                  </a:gsLst>
                  <a:lin scaled="0"/>
                </a:gradFill>
                <a:ea typeface="宋体" panose="02010600030101010101" pitchFamily="2" charset="-122"/>
              </a:rPr>
              <a:t>的输出端</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rPr>
              <a:t>0</a:t>
            </a:r>
            <a:r>
              <a:rPr lang="zh-CN" sz="2000" b="1">
                <a:gradFill>
                  <a:gsLst>
                    <a:gs pos="0">
                      <a:srgbClr val="012D86"/>
                    </a:gs>
                    <a:gs pos="100000">
                      <a:srgbClr val="0E2557"/>
                    </a:gs>
                  </a:gsLst>
                  <a:lin scaled="0"/>
                </a:gradFill>
                <a:ea typeface="宋体" panose="02010600030101010101" pitchFamily="2" charset="-122"/>
              </a:rPr>
              <a:t>、</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rPr>
              <a:t>1</a:t>
            </a:r>
            <a:r>
              <a:rPr lang="zh-CN" sz="2000" b="1">
                <a:gradFill>
                  <a:gsLst>
                    <a:gs pos="0">
                      <a:srgbClr val="012D86"/>
                    </a:gs>
                    <a:gs pos="100000">
                      <a:srgbClr val="0E2557"/>
                    </a:gs>
                  </a:gsLst>
                  <a:lin scaled="0"/>
                </a:gradFill>
                <a:ea typeface="宋体" panose="02010600030101010101" pitchFamily="2" charset="-122"/>
              </a:rPr>
              <a:t>和第</a:t>
            </a:r>
            <a:r>
              <a:rPr lang="en-US" sz="2000" b="1">
                <a:gradFill>
                  <a:gsLst>
                    <a:gs pos="0">
                      <a:srgbClr val="012D86"/>
                    </a:gs>
                    <a:gs pos="100000">
                      <a:srgbClr val="0E2557"/>
                    </a:gs>
                  </a:gsLst>
                  <a:lin scaled="0"/>
                </a:gradFill>
                <a:latin typeface="Times New Roman" panose="02020603050405020304" charset="0"/>
              </a:rPr>
              <a:t>2</a:t>
            </a:r>
            <a:r>
              <a:rPr lang="zh-CN" sz="2000" b="1">
                <a:gradFill>
                  <a:gsLst>
                    <a:gs pos="0">
                      <a:srgbClr val="012D86"/>
                    </a:gs>
                    <a:gs pos="100000">
                      <a:srgbClr val="0E2557"/>
                    </a:gs>
                  </a:gsLst>
                  <a:lin scaled="0"/>
                </a:gradFill>
                <a:ea typeface="宋体" panose="02010600030101010101" pitchFamily="2" charset="-122"/>
              </a:rPr>
              <a:t>片输出为</a:t>
            </a:r>
            <a:r>
              <a:rPr lang="en-US" sz="2000" b="1">
                <a:gradFill>
                  <a:gsLst>
                    <a:gs pos="0">
                      <a:srgbClr val="012D86"/>
                    </a:gs>
                    <a:gs pos="100000">
                      <a:srgbClr val="0E2557"/>
                    </a:gs>
                  </a:gsLst>
                  <a:lin scaled="0"/>
                </a:gradFill>
                <a:latin typeface="Times New Roman" panose="02020603050405020304" charset="0"/>
              </a:rPr>
              <a:t>1</a:t>
            </a:r>
            <a:r>
              <a:rPr lang="zh-CN" sz="2000" b="1">
                <a:gradFill>
                  <a:gsLst>
                    <a:gs pos="0">
                      <a:srgbClr val="012D86"/>
                    </a:gs>
                    <a:gs pos="100000">
                      <a:srgbClr val="0E2557"/>
                    </a:gs>
                  </a:gsLst>
                  <a:lin scaled="0"/>
                </a:gradFill>
                <a:ea typeface="宋体" panose="02010600030101010101" pitchFamily="2" charset="-122"/>
              </a:rPr>
              <a:t>的输出端</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cs typeface="Times New Roman" panose="02020603050405020304" charset="0"/>
              </a:rPr>
              <a:t>5</a:t>
            </a:r>
            <a:r>
              <a:rPr lang="zh-CN" sz="2000" b="1">
                <a:gradFill>
                  <a:gsLst>
                    <a:gs pos="0">
                      <a:srgbClr val="012D86"/>
                    </a:gs>
                    <a:gs pos="100000">
                      <a:srgbClr val="0E2557"/>
                    </a:gs>
                  </a:gsLst>
                  <a:lin scaled="0"/>
                </a:gradFill>
                <a:ea typeface="宋体" panose="02010600030101010101" pitchFamily="2" charset="-122"/>
              </a:rPr>
              <a:t>接至与非门输入端，该与非门输出端再接到两块</a:t>
            </a:r>
            <a:r>
              <a:rPr lang="en-US" sz="2000" b="1">
                <a:gradFill>
                  <a:gsLst>
                    <a:gs pos="0">
                      <a:srgbClr val="012D86"/>
                    </a:gs>
                    <a:gs pos="100000">
                      <a:srgbClr val="0E2557"/>
                    </a:gs>
                  </a:gsLst>
                  <a:lin scaled="0"/>
                </a:gradFill>
                <a:latin typeface="Times New Roman" panose="02020603050405020304" charset="0"/>
              </a:rPr>
              <a:t>74LS160</a:t>
            </a:r>
            <a:r>
              <a:rPr lang="zh-CN" sz="2000" b="1">
                <a:gradFill>
                  <a:gsLst>
                    <a:gs pos="0">
                      <a:srgbClr val="012D86"/>
                    </a:gs>
                    <a:gs pos="100000">
                      <a:srgbClr val="0E2557"/>
                    </a:gs>
                  </a:gsLst>
                  <a:lin scaled="0"/>
                </a:gradFill>
                <a:ea typeface="宋体" panose="02010600030101010101" pitchFamily="2" charset="-122"/>
              </a:rPr>
              <a:t>芯片的清零端，</a:t>
            </a:r>
            <a:endParaRPr lang="zh-CN" altLang="en-US" sz="2000" b="1">
              <a:gradFill>
                <a:gsLst>
                  <a:gs pos="0">
                    <a:srgbClr val="012D86"/>
                  </a:gs>
                  <a:gs pos="100000">
                    <a:srgbClr val="0E2557"/>
                  </a:gs>
                </a:gsLst>
                <a:lin scaled="0"/>
              </a:gra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0" name="文本框 99"/>
          <p:cNvSpPr txBox="1"/>
          <p:nvPr/>
        </p:nvSpPr>
        <p:spPr>
          <a:xfrm>
            <a:off x="906145" y="1145540"/>
            <a:ext cx="5080000" cy="460375"/>
          </a:xfrm>
          <a:prstGeom prst="rect">
            <a:avLst/>
          </a:prstGeom>
          <a:noFill/>
          <a:ln w="9525">
            <a:noFill/>
          </a:ln>
        </p:spPr>
        <p:txBody>
          <a:bodyPr>
            <a:spAutoFit/>
          </a:bodyPr>
          <a:p>
            <a:r>
              <a:rPr lang="zh-CN" sz="2400" b="1">
                <a:ea typeface="宋体" panose="02010600030101010101" pitchFamily="2" charset="-122"/>
              </a:rPr>
              <a:t>方法二：整体反馈置数法</a:t>
            </a:r>
            <a:endParaRPr lang="zh-CN" altLang="en-US" sz="2400" b="1">
              <a:ea typeface="宋体" panose="02010600030101010101" pitchFamily="2" charset="-122"/>
            </a:endParaRPr>
          </a:p>
        </p:txBody>
      </p:sp>
      <p:sp>
        <p:nvSpPr>
          <p:cNvPr id="2" name="文本框 1"/>
          <p:cNvSpPr txBox="1"/>
          <p:nvPr/>
        </p:nvSpPr>
        <p:spPr>
          <a:xfrm>
            <a:off x="467995" y="1605915"/>
            <a:ext cx="8380095" cy="1938020"/>
          </a:xfrm>
          <a:prstGeom prst="rect">
            <a:avLst/>
          </a:prstGeom>
          <a:noFill/>
          <a:ln w="9525">
            <a:noFill/>
          </a:ln>
        </p:spPr>
        <p:txBody>
          <a:bodyPr wrap="square">
            <a:spAutoFit/>
          </a:bodyPr>
          <a:p>
            <a:r>
              <a:rPr lang="zh-CN" sz="2000" b="1">
                <a:gradFill>
                  <a:gsLst>
                    <a:gs pos="0">
                      <a:srgbClr val="012D86"/>
                    </a:gs>
                    <a:gs pos="100000">
                      <a:srgbClr val="0E2557"/>
                    </a:gs>
                  </a:gsLst>
                  <a:lin scaled="0"/>
                </a:gradFill>
                <a:ea typeface="宋体" panose="02010600030101010101" pitchFamily="2" charset="-122"/>
              </a:rPr>
              <a:t>采用并行进位法：两片</a:t>
            </a:r>
            <a:r>
              <a:rPr lang="en-US" sz="2000" b="1">
                <a:gradFill>
                  <a:gsLst>
                    <a:gs pos="0">
                      <a:srgbClr val="012D86"/>
                    </a:gs>
                    <a:gs pos="100000">
                      <a:srgbClr val="0E2557"/>
                    </a:gs>
                  </a:gsLst>
                  <a:lin scaled="0"/>
                </a:gradFill>
                <a:latin typeface="Times New Roman" panose="02020603050405020304" charset="0"/>
              </a:rPr>
              <a:t>74LS160</a:t>
            </a:r>
            <a:r>
              <a:rPr lang="zh-CN" sz="2000" b="1">
                <a:gradFill>
                  <a:gsLst>
                    <a:gs pos="0">
                      <a:srgbClr val="012D86"/>
                    </a:gs>
                    <a:gs pos="100000">
                      <a:srgbClr val="0E2557"/>
                    </a:gs>
                  </a:gsLst>
                  <a:lin scaled="0"/>
                </a:gradFill>
                <a:ea typeface="宋体" panose="02010600030101010101" pitchFamily="2" charset="-122"/>
              </a:rPr>
              <a:t>的</a:t>
            </a:r>
            <a:r>
              <a:rPr lang="en-US" sz="2000" b="1" i="1">
                <a:gradFill>
                  <a:gsLst>
                    <a:gs pos="0">
                      <a:srgbClr val="012D86"/>
                    </a:gs>
                    <a:gs pos="100000">
                      <a:srgbClr val="0E2557"/>
                    </a:gs>
                  </a:gsLst>
                  <a:lin scaled="0"/>
                </a:gradFill>
                <a:latin typeface="Times New Roman" panose="02020603050405020304" charset="0"/>
              </a:rPr>
              <a:t>CP</a:t>
            </a:r>
            <a:r>
              <a:rPr lang="zh-CN" sz="2000" b="1">
                <a:gradFill>
                  <a:gsLst>
                    <a:gs pos="0">
                      <a:srgbClr val="012D86"/>
                    </a:gs>
                    <a:gs pos="100000">
                      <a:srgbClr val="0E2557"/>
                    </a:gs>
                  </a:gsLst>
                  <a:lin scaled="0"/>
                </a:gradFill>
                <a:ea typeface="宋体" panose="02010600030101010101" pitchFamily="2" charset="-122"/>
              </a:rPr>
              <a:t>端接同一个时钟脉冲</a:t>
            </a:r>
            <a:r>
              <a:rPr lang="en-US" sz="2000" b="1" i="1">
                <a:gradFill>
                  <a:gsLst>
                    <a:gs pos="0">
                      <a:srgbClr val="012D86"/>
                    </a:gs>
                    <a:gs pos="100000">
                      <a:srgbClr val="0E2557"/>
                    </a:gs>
                  </a:gsLst>
                  <a:lin scaled="0"/>
                </a:gradFill>
                <a:latin typeface="Times New Roman" panose="02020603050405020304" charset="0"/>
              </a:rPr>
              <a:t>CP</a:t>
            </a:r>
            <a:r>
              <a:rPr lang="zh-CN" sz="2000" b="1">
                <a:gradFill>
                  <a:gsLst>
                    <a:gs pos="0">
                      <a:srgbClr val="012D86"/>
                    </a:gs>
                    <a:gs pos="100000">
                      <a:srgbClr val="0E2557"/>
                    </a:gs>
                  </a:gsLst>
                  <a:lin scaled="0"/>
                </a:gradFill>
                <a:ea typeface="宋体" panose="02010600030101010101" pitchFamily="2" charset="-122"/>
              </a:rPr>
              <a:t>，低位芯片</a:t>
            </a:r>
            <a:r>
              <a:rPr lang="en-US" sz="2000" b="1" i="1">
                <a:gradFill>
                  <a:gsLst>
                    <a:gs pos="0">
                      <a:srgbClr val="012D86"/>
                    </a:gs>
                    <a:gs pos="100000">
                      <a:srgbClr val="0E2557"/>
                    </a:gs>
                  </a:gsLst>
                  <a:lin scaled="0"/>
                </a:gradFill>
                <a:latin typeface="Times New Roman" panose="02020603050405020304" charset="0"/>
              </a:rPr>
              <a:t>ET=EP</a:t>
            </a:r>
            <a:r>
              <a:rPr lang="en-US" sz="2000" b="1">
                <a:gradFill>
                  <a:gsLst>
                    <a:gs pos="0">
                      <a:srgbClr val="012D86"/>
                    </a:gs>
                    <a:gs pos="100000">
                      <a:srgbClr val="0E2557"/>
                    </a:gs>
                  </a:gsLst>
                  <a:lin scaled="0"/>
                </a:gradFill>
                <a:latin typeface="Times New Roman" panose="02020603050405020304" charset="0"/>
              </a:rPr>
              <a:t>=1</a:t>
            </a:r>
            <a:r>
              <a:rPr lang="zh-CN" sz="2000" b="1">
                <a:gradFill>
                  <a:gsLst>
                    <a:gs pos="0">
                      <a:srgbClr val="012D86"/>
                    </a:gs>
                    <a:gs pos="100000">
                      <a:srgbClr val="0E2557"/>
                    </a:gs>
                  </a:gsLst>
                  <a:lin scaled="0"/>
                </a:gradFill>
                <a:ea typeface="宋体" panose="02010600030101010101" pitchFamily="2" charset="-122"/>
              </a:rPr>
              <a:t>，将低位芯片的进位输出接高位芯片的</a:t>
            </a:r>
            <a:r>
              <a:rPr lang="en-US" sz="2000" b="1" i="1">
                <a:gradFill>
                  <a:gsLst>
                    <a:gs pos="0">
                      <a:srgbClr val="012D86"/>
                    </a:gs>
                    <a:gs pos="100000">
                      <a:srgbClr val="0E2557"/>
                    </a:gs>
                  </a:gsLst>
                  <a:lin scaled="0"/>
                </a:gradFill>
                <a:latin typeface="Times New Roman" panose="02020603050405020304" charset="0"/>
              </a:rPr>
              <a:t>ET</a:t>
            </a:r>
            <a:r>
              <a:rPr lang="zh-CN" sz="2000" b="1">
                <a:gradFill>
                  <a:gsLst>
                    <a:gs pos="0">
                      <a:srgbClr val="012D86"/>
                    </a:gs>
                    <a:gs pos="100000">
                      <a:srgbClr val="0E2557"/>
                    </a:gs>
                  </a:gsLst>
                  <a:lin scaled="0"/>
                </a:gradFill>
                <a:ea typeface="宋体" panose="02010600030101010101" pitchFamily="2" charset="-122"/>
              </a:rPr>
              <a:t>、</a:t>
            </a:r>
            <a:r>
              <a:rPr lang="en-US" sz="2000" b="1" i="1">
                <a:gradFill>
                  <a:gsLst>
                    <a:gs pos="0">
                      <a:srgbClr val="012D86"/>
                    </a:gs>
                    <a:gs pos="100000">
                      <a:srgbClr val="0E2557"/>
                    </a:gs>
                  </a:gsLst>
                  <a:lin scaled="0"/>
                </a:gradFill>
                <a:latin typeface="Times New Roman" panose="02020603050405020304" charset="0"/>
              </a:rPr>
              <a:t>EP</a:t>
            </a:r>
            <a:r>
              <a:rPr lang="zh-CN" sz="2000" b="1">
                <a:gradFill>
                  <a:gsLst>
                    <a:gs pos="0">
                      <a:srgbClr val="012D86"/>
                    </a:gs>
                    <a:gs pos="100000">
                      <a:srgbClr val="0E2557"/>
                    </a:gs>
                  </a:gsLst>
                  <a:lin scaled="0"/>
                </a:gradFill>
                <a:ea typeface="宋体" panose="02010600030101010101" pitchFamily="2" charset="-122"/>
              </a:rPr>
              <a:t>端，先</a:t>
            </a:r>
            <a:r>
              <a:rPr lang="zh-CN" sz="2000" b="1">
                <a:gradFill>
                  <a:gsLst>
                    <a:gs pos="0">
                      <a:srgbClr val="012D86"/>
                    </a:gs>
                    <a:gs pos="100000">
                      <a:srgbClr val="0E2557"/>
                    </a:gs>
                  </a:gsLst>
                  <a:lin scaled="0"/>
                </a:gradFill>
                <a:latin typeface="Times New Roman" panose="02020603050405020304" charset="0"/>
                <a:ea typeface="宋体" panose="02010600030101010101" pitchFamily="2" charset="-122"/>
              </a:rPr>
              <a:t>构成一个</a:t>
            </a:r>
            <a:r>
              <a:rPr lang="en-US" sz="2000" b="1">
                <a:gradFill>
                  <a:gsLst>
                    <a:gs pos="0">
                      <a:srgbClr val="012D86"/>
                    </a:gs>
                    <a:gs pos="100000">
                      <a:srgbClr val="0E2557"/>
                    </a:gs>
                  </a:gsLst>
                  <a:lin scaled="0"/>
                </a:gradFill>
                <a:latin typeface="Times New Roman" panose="02020603050405020304" charset="0"/>
              </a:rPr>
              <a:t>100</a:t>
            </a:r>
            <a:r>
              <a:rPr lang="zh-CN" sz="2000" b="1">
                <a:gradFill>
                  <a:gsLst>
                    <a:gs pos="0">
                      <a:srgbClr val="012D86"/>
                    </a:gs>
                    <a:gs pos="100000">
                      <a:srgbClr val="0E2557"/>
                    </a:gs>
                  </a:gsLst>
                  <a:lin scaled="0"/>
                </a:gradFill>
                <a:ea typeface="宋体" panose="02010600030101010101" pitchFamily="2" charset="-122"/>
              </a:rPr>
              <a:t>进制计数</a:t>
            </a:r>
            <a:r>
              <a:rPr lang="zh-CN" sz="2000" b="1">
                <a:gradFill>
                  <a:gsLst>
                    <a:gs pos="0">
                      <a:srgbClr val="012D86"/>
                    </a:gs>
                    <a:gs pos="100000">
                      <a:srgbClr val="0E2557"/>
                    </a:gs>
                  </a:gsLst>
                  <a:lin scaled="0"/>
                </a:gradFill>
                <a:latin typeface="Times New Roman" panose="02020603050405020304" charset="0"/>
                <a:ea typeface="宋体" panose="02010600030101010101" pitchFamily="2" charset="-122"/>
              </a:rPr>
              <a:t>器</a:t>
            </a:r>
            <a:r>
              <a:rPr lang="zh-CN" sz="2000" b="1">
                <a:gradFill>
                  <a:gsLst>
                    <a:gs pos="0">
                      <a:srgbClr val="012D86"/>
                    </a:gs>
                    <a:gs pos="100000">
                      <a:srgbClr val="0E2557"/>
                    </a:gs>
                  </a:gsLst>
                  <a:lin scaled="0"/>
                </a:gradFill>
                <a:ea typeface="宋体" panose="02010600030101010101" pitchFamily="2" charset="-122"/>
              </a:rPr>
              <a:t>。</a:t>
            </a:r>
            <a:r>
              <a:rPr lang="zh-CN" sz="2000" b="1">
                <a:gradFill>
                  <a:gsLst>
                    <a:gs pos="0">
                      <a:srgbClr val="012D86"/>
                    </a:gs>
                    <a:gs pos="100000">
                      <a:srgbClr val="0E2557"/>
                    </a:gs>
                  </a:gsLst>
                  <a:lin scaled="0"/>
                </a:gradFill>
                <a:sym typeface="+mn-ea"/>
              </a:rPr>
              <a:t>借助</a:t>
            </a:r>
            <a:r>
              <a:rPr lang="en-US" sz="2000" b="1">
                <a:gradFill>
                  <a:gsLst>
                    <a:gs pos="0">
                      <a:srgbClr val="012D86"/>
                    </a:gs>
                    <a:gs pos="100000">
                      <a:srgbClr val="0E2557"/>
                    </a:gs>
                  </a:gsLst>
                  <a:lin scaled="0"/>
                </a:gradFill>
                <a:latin typeface="Times New Roman" panose="02020603050405020304" charset="0"/>
                <a:sym typeface="+mn-ea"/>
              </a:rPr>
              <a:t>74LS160</a:t>
            </a:r>
            <a:r>
              <a:rPr lang="zh-CN" sz="2000" b="1">
                <a:gradFill>
                  <a:gsLst>
                    <a:gs pos="0">
                      <a:srgbClr val="012D86"/>
                    </a:gs>
                    <a:gs pos="100000">
                      <a:srgbClr val="0E2557"/>
                    </a:gs>
                  </a:gsLst>
                  <a:lin scaled="0"/>
                </a:gradFill>
                <a:sym typeface="+mn-ea"/>
              </a:rPr>
              <a:t>的同步置数功能，在输入第</a:t>
            </a:r>
            <a:r>
              <a:rPr lang="en-US" sz="2000" b="1">
                <a:gradFill>
                  <a:gsLst>
                    <a:gs pos="0">
                      <a:srgbClr val="012D86"/>
                    </a:gs>
                    <a:gs pos="100000">
                      <a:srgbClr val="0E2557"/>
                    </a:gs>
                  </a:gsLst>
                  <a:lin scaled="0"/>
                </a:gradFill>
                <a:latin typeface="Times New Roman" panose="02020603050405020304" charset="0"/>
                <a:sym typeface="+mn-ea"/>
              </a:rPr>
              <a:t>22</a:t>
            </a:r>
            <a:r>
              <a:rPr lang="zh-CN" sz="2000" b="1">
                <a:gradFill>
                  <a:gsLst>
                    <a:gs pos="0">
                      <a:srgbClr val="012D86"/>
                    </a:gs>
                    <a:gs pos="100000">
                      <a:srgbClr val="0E2557"/>
                    </a:gs>
                  </a:gsLst>
                  <a:lin scaled="0"/>
                </a:gradFill>
                <a:sym typeface="+mn-ea"/>
              </a:rPr>
              <a:t>个脉冲后，计数器输出状态为</a:t>
            </a:r>
            <a:r>
              <a:rPr lang="en-US" sz="2000" b="1">
                <a:gradFill>
                  <a:gsLst>
                    <a:gs pos="0">
                      <a:srgbClr val="012D86"/>
                    </a:gs>
                    <a:gs pos="100000">
                      <a:srgbClr val="0E2557"/>
                    </a:gs>
                  </a:gsLst>
                  <a:lin scaled="0"/>
                </a:gradFill>
                <a:latin typeface="Times New Roman" panose="02020603050405020304" charset="0"/>
                <a:sym typeface="+mn-ea"/>
              </a:rPr>
              <a:t>0010 0010</a:t>
            </a:r>
            <a:r>
              <a:rPr lang="zh-CN" sz="2000" b="1">
                <a:gradFill>
                  <a:gsLst>
                    <a:gs pos="0">
                      <a:srgbClr val="012D86"/>
                    </a:gs>
                    <a:gs pos="100000">
                      <a:srgbClr val="0E2557"/>
                    </a:gs>
                  </a:gsLst>
                  <a:lin scaled="0"/>
                </a:gradFill>
                <a:sym typeface="+mn-ea"/>
              </a:rPr>
              <a:t>时，给出置数信号，将第</a:t>
            </a:r>
            <a:r>
              <a:rPr lang="en-US" sz="2000" b="1">
                <a:gradFill>
                  <a:gsLst>
                    <a:gs pos="0">
                      <a:srgbClr val="012D86"/>
                    </a:gs>
                    <a:gs pos="100000">
                      <a:srgbClr val="0E2557"/>
                    </a:gs>
                  </a:gsLst>
                  <a:lin scaled="0"/>
                </a:gradFill>
                <a:latin typeface="Times New Roman" panose="02020603050405020304" charset="0"/>
                <a:sym typeface="+mn-ea"/>
              </a:rPr>
              <a:t>1</a:t>
            </a:r>
            <a:r>
              <a:rPr lang="zh-CN" sz="2000" b="1">
                <a:gradFill>
                  <a:gsLst>
                    <a:gs pos="0">
                      <a:srgbClr val="012D86"/>
                    </a:gs>
                    <a:gs pos="100000">
                      <a:srgbClr val="0E2557"/>
                    </a:gs>
                  </a:gsLst>
                  <a:lin scaled="0"/>
                </a:gradFill>
                <a:sym typeface="+mn-ea"/>
              </a:rPr>
              <a:t>片的</a:t>
            </a:r>
            <a:r>
              <a:rPr lang="en-US" sz="2000" b="1" i="1">
                <a:gradFill>
                  <a:gsLst>
                    <a:gs pos="0">
                      <a:srgbClr val="012D86"/>
                    </a:gs>
                    <a:gs pos="100000">
                      <a:srgbClr val="0E2557"/>
                    </a:gs>
                  </a:gsLst>
                  <a:lin scaled="0"/>
                </a:gradFill>
                <a:latin typeface="Times New Roman" panose="02020603050405020304" charset="0"/>
                <a:sym typeface="+mn-ea"/>
              </a:rPr>
              <a:t>Q</a:t>
            </a:r>
            <a:r>
              <a:rPr lang="en-US" sz="2000" b="1" baseline="-25000">
                <a:gradFill>
                  <a:gsLst>
                    <a:gs pos="0">
                      <a:srgbClr val="012D86"/>
                    </a:gs>
                    <a:gs pos="100000">
                      <a:srgbClr val="0E2557"/>
                    </a:gs>
                  </a:gsLst>
                  <a:lin scaled="0"/>
                </a:gradFill>
                <a:latin typeface="Times New Roman" panose="02020603050405020304" charset="0"/>
                <a:sym typeface="+mn-ea"/>
              </a:rPr>
              <a:t>1</a:t>
            </a:r>
            <a:r>
              <a:rPr lang="zh-CN" sz="2000" b="1">
                <a:gradFill>
                  <a:gsLst>
                    <a:gs pos="0">
                      <a:srgbClr val="012D86"/>
                    </a:gs>
                    <a:gs pos="100000">
                      <a:srgbClr val="0E2557"/>
                    </a:gs>
                  </a:gsLst>
                  <a:lin scaled="0"/>
                </a:gradFill>
                <a:sym typeface="+mn-ea"/>
              </a:rPr>
              <a:t>和第</a:t>
            </a:r>
            <a:r>
              <a:rPr lang="en-US" sz="2000" b="1">
                <a:gradFill>
                  <a:gsLst>
                    <a:gs pos="0">
                      <a:srgbClr val="012D86"/>
                    </a:gs>
                    <a:gs pos="100000">
                      <a:srgbClr val="0E2557"/>
                    </a:gs>
                  </a:gsLst>
                  <a:lin scaled="0"/>
                </a:gradFill>
                <a:latin typeface="Times New Roman" panose="02020603050405020304" charset="0"/>
                <a:sym typeface="+mn-ea"/>
              </a:rPr>
              <a:t>2</a:t>
            </a:r>
            <a:r>
              <a:rPr lang="zh-CN" sz="2000" b="1">
                <a:gradFill>
                  <a:gsLst>
                    <a:gs pos="0">
                      <a:srgbClr val="012D86"/>
                    </a:gs>
                    <a:gs pos="100000">
                      <a:srgbClr val="0E2557"/>
                    </a:gs>
                  </a:gsLst>
                  <a:lin scaled="0"/>
                </a:gradFill>
                <a:sym typeface="+mn-ea"/>
              </a:rPr>
              <a:t>片的</a:t>
            </a:r>
            <a:r>
              <a:rPr lang="en-US" sz="2000" b="1" i="1">
                <a:gradFill>
                  <a:gsLst>
                    <a:gs pos="0">
                      <a:srgbClr val="012D86"/>
                    </a:gs>
                    <a:gs pos="100000">
                      <a:srgbClr val="0E2557"/>
                    </a:gs>
                  </a:gsLst>
                  <a:lin scaled="0"/>
                </a:gradFill>
                <a:latin typeface="Times New Roman" panose="02020603050405020304" charset="0"/>
                <a:sym typeface="+mn-ea"/>
              </a:rPr>
              <a:t>Q</a:t>
            </a:r>
            <a:r>
              <a:rPr lang="en-US" sz="2000" b="1" baseline="-25000">
                <a:gradFill>
                  <a:gsLst>
                    <a:gs pos="0">
                      <a:srgbClr val="012D86"/>
                    </a:gs>
                    <a:gs pos="100000">
                      <a:srgbClr val="0E2557"/>
                    </a:gs>
                  </a:gsLst>
                  <a:lin scaled="0"/>
                </a:gradFill>
                <a:latin typeface="Times New Roman" panose="02020603050405020304" charset="0"/>
                <a:cs typeface="Times New Roman" panose="02020603050405020304" charset="0"/>
                <a:sym typeface="+mn-ea"/>
              </a:rPr>
              <a:t>5</a:t>
            </a:r>
            <a:r>
              <a:rPr lang="zh-CN" sz="2000" b="1">
                <a:gradFill>
                  <a:gsLst>
                    <a:gs pos="0">
                      <a:srgbClr val="012D86"/>
                    </a:gs>
                    <a:gs pos="100000">
                      <a:srgbClr val="0E2557"/>
                    </a:gs>
                  </a:gsLst>
                  <a:lin scaled="0"/>
                </a:gradFill>
                <a:sym typeface="+mn-ea"/>
              </a:rPr>
              <a:t>接至与非门输入端，与非门输出接两块</a:t>
            </a:r>
            <a:r>
              <a:rPr lang="en-US" sz="2000" b="1">
                <a:gradFill>
                  <a:gsLst>
                    <a:gs pos="0">
                      <a:srgbClr val="012D86"/>
                    </a:gs>
                    <a:gs pos="100000">
                      <a:srgbClr val="0E2557"/>
                    </a:gs>
                  </a:gsLst>
                  <a:lin scaled="0"/>
                </a:gradFill>
                <a:latin typeface="Times New Roman" panose="02020603050405020304" charset="0"/>
                <a:sym typeface="+mn-ea"/>
              </a:rPr>
              <a:t>74LS160</a:t>
            </a:r>
            <a:r>
              <a:rPr lang="zh-CN" sz="2000" b="1">
                <a:gradFill>
                  <a:gsLst>
                    <a:gs pos="0">
                      <a:srgbClr val="012D86"/>
                    </a:gs>
                    <a:gs pos="100000">
                      <a:srgbClr val="0E2557"/>
                    </a:gs>
                  </a:gsLst>
                  <a:lin scaled="0"/>
                </a:gradFill>
                <a:sym typeface="+mn-ea"/>
              </a:rPr>
              <a:t>的置数端，</a:t>
            </a:r>
            <a:r>
              <a:rPr lang="zh-CN" sz="2000" b="1">
                <a:gradFill>
                  <a:gsLst>
                    <a:gs pos="0">
                      <a:srgbClr val="012D86"/>
                    </a:gs>
                    <a:gs pos="100000">
                      <a:srgbClr val="0E2557"/>
                    </a:gs>
                  </a:gsLst>
                  <a:lin scaled="0"/>
                </a:gradFill>
                <a:latin typeface="Times New Roman" panose="02020603050405020304" charset="0"/>
                <a:sym typeface="+mn-ea"/>
              </a:rPr>
              <a:t>在</a:t>
            </a:r>
            <a:r>
              <a:rPr lang="zh-CN" sz="2000" b="1">
                <a:gradFill>
                  <a:gsLst>
                    <a:gs pos="0">
                      <a:srgbClr val="012D86"/>
                    </a:gs>
                    <a:gs pos="100000">
                      <a:srgbClr val="0E2557"/>
                    </a:gs>
                  </a:gsLst>
                  <a:lin scaled="0"/>
                </a:gradFill>
                <a:sym typeface="+mn-ea"/>
              </a:rPr>
              <a:t>第</a:t>
            </a:r>
            <a:r>
              <a:rPr lang="en-US" sz="2000" b="1">
                <a:gradFill>
                  <a:gsLst>
                    <a:gs pos="0">
                      <a:srgbClr val="012D86"/>
                    </a:gs>
                    <a:gs pos="100000">
                      <a:srgbClr val="0E2557"/>
                    </a:gs>
                  </a:gsLst>
                  <a:lin scaled="0"/>
                </a:gradFill>
                <a:latin typeface="Times New Roman" panose="02020603050405020304" charset="0"/>
                <a:sym typeface="+mn-ea"/>
              </a:rPr>
              <a:t>23</a:t>
            </a:r>
            <a:r>
              <a:rPr lang="zh-CN" sz="2000" b="1">
                <a:gradFill>
                  <a:gsLst>
                    <a:gs pos="0">
                      <a:srgbClr val="012D86"/>
                    </a:gs>
                    <a:gs pos="100000">
                      <a:srgbClr val="0E2557"/>
                    </a:gs>
                  </a:gsLst>
                  <a:lin scaled="0"/>
                </a:gradFill>
                <a:sym typeface="+mn-ea"/>
              </a:rPr>
              <a:t>个脉冲后，计数器才返回</a:t>
            </a:r>
            <a:r>
              <a:rPr lang="en-US" sz="2000" b="1">
                <a:gradFill>
                  <a:gsLst>
                    <a:gs pos="0">
                      <a:srgbClr val="012D86"/>
                    </a:gs>
                    <a:gs pos="100000">
                      <a:srgbClr val="0E2557"/>
                    </a:gs>
                  </a:gsLst>
                  <a:lin scaled="0"/>
                </a:gradFill>
                <a:latin typeface="Times New Roman" panose="02020603050405020304" charset="0"/>
                <a:sym typeface="+mn-ea"/>
              </a:rPr>
              <a:t>0000 0000</a:t>
            </a:r>
            <a:r>
              <a:rPr lang="zh-CN" sz="2000" b="1">
                <a:gradFill>
                  <a:gsLst>
                    <a:gs pos="0">
                      <a:srgbClr val="012D86"/>
                    </a:gs>
                    <a:gs pos="100000">
                      <a:srgbClr val="0E2557"/>
                    </a:gs>
                  </a:gsLst>
                  <a:lin scaled="0"/>
                </a:gradFill>
                <a:sym typeface="+mn-ea"/>
              </a:rPr>
              <a:t>状态。</a:t>
            </a:r>
            <a:endParaRPr lang="en-US" altLang="zh-CN" sz="2000" b="1">
              <a:gradFill>
                <a:gsLst>
                  <a:gs pos="0">
                    <a:srgbClr val="012D86"/>
                  </a:gs>
                  <a:gs pos="100000">
                    <a:srgbClr val="0E2557"/>
                  </a:gs>
                </a:gsLst>
                <a:lin scaled="0"/>
              </a:gradFill>
              <a:ea typeface="宋体" panose="02010600030101010101" pitchFamily="2" charset="-122"/>
              <a:sym typeface="+mn-ea"/>
            </a:endParaRPr>
          </a:p>
        </p:txBody>
      </p:sp>
      <p:pic>
        <p:nvPicPr>
          <p:cNvPr id="9409" name="图片 2846"/>
          <p:cNvPicPr>
            <a:picLocks noChangeAspect="1"/>
          </p:cNvPicPr>
          <p:nvPr/>
        </p:nvPicPr>
        <p:blipFill>
          <a:blip r:embed="rId1"/>
          <a:stretch>
            <a:fillRect/>
          </a:stretch>
        </p:blipFill>
        <p:spPr>
          <a:xfrm>
            <a:off x="980440" y="3656330"/>
            <a:ext cx="6868795" cy="25368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94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6.4 </a:t>
            </a:r>
            <a:r>
              <a:rPr lang="zh-CN" b="1" dirty="0">
                <a:solidFill>
                  <a:srgbClr val="FF0000"/>
                </a:solidFill>
                <a:latin typeface="黑体" panose="02010609060101010101" pitchFamily="49" charset="-122"/>
                <a:ea typeface="黑体" panose="02010609060101010101" pitchFamily="49" charset="-122"/>
                <a:sym typeface="+mn-ea"/>
              </a:rPr>
              <a:t>计数器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文本框 1"/>
          <p:cNvSpPr txBox="1"/>
          <p:nvPr/>
        </p:nvSpPr>
        <p:spPr>
          <a:xfrm>
            <a:off x="493395" y="1196340"/>
            <a:ext cx="6976110" cy="460375"/>
          </a:xfrm>
          <a:prstGeom prst="rect">
            <a:avLst/>
          </a:prstGeom>
          <a:noFill/>
          <a:ln w="9525">
            <a:noFill/>
          </a:ln>
        </p:spPr>
        <p:txBody>
          <a:bodyPr wrap="square">
            <a:spAutoFit/>
          </a:bodyPr>
          <a:p>
            <a:pPr indent="267970"/>
            <a:r>
              <a:rPr lang="zh-CN" sz="2400" b="1">
                <a:gradFill>
                  <a:gsLst>
                    <a:gs pos="0">
                      <a:srgbClr val="012D86"/>
                    </a:gs>
                    <a:gs pos="100000">
                      <a:srgbClr val="0E2557"/>
                    </a:gs>
                  </a:gsLst>
                  <a:lin scaled="0"/>
                </a:gradFill>
                <a:ea typeface="宋体" panose="02010600030101010101" pitchFamily="2" charset="-122"/>
              </a:rPr>
              <a:t>【例</a:t>
            </a:r>
            <a:r>
              <a:rPr lang="en-US" sz="2400" b="1">
                <a:gradFill>
                  <a:gsLst>
                    <a:gs pos="0">
                      <a:srgbClr val="012D86"/>
                    </a:gs>
                    <a:gs pos="100000">
                      <a:srgbClr val="0E2557"/>
                    </a:gs>
                  </a:gsLst>
                  <a:lin scaled="0"/>
                </a:gradFill>
                <a:latin typeface="Times New Roman" panose="02020603050405020304" charset="0"/>
              </a:rPr>
              <a:t>6-11</a:t>
            </a:r>
            <a:r>
              <a:rPr lang="zh-CN" sz="2400" b="1">
                <a:gradFill>
                  <a:gsLst>
                    <a:gs pos="0">
                      <a:srgbClr val="012D86"/>
                    </a:gs>
                    <a:gs pos="100000">
                      <a:srgbClr val="0E2557"/>
                    </a:gs>
                  </a:gsLst>
                  <a:lin scaled="0"/>
                </a:gradFill>
                <a:ea typeface="宋体" panose="02010600030101010101" pitchFamily="2" charset="-122"/>
              </a:rPr>
              <a:t>】</a:t>
            </a:r>
            <a:r>
              <a:rPr lang="en-US" sz="2400" b="1">
                <a:gradFill>
                  <a:gsLst>
                    <a:gs pos="0">
                      <a:srgbClr val="012D86"/>
                    </a:gs>
                    <a:gs pos="100000">
                      <a:srgbClr val="0E2557"/>
                    </a:gs>
                  </a:gsLst>
                  <a:lin scaled="0"/>
                </a:gradFill>
                <a:latin typeface="Times New Roman" panose="02020603050405020304" charset="0"/>
              </a:rPr>
              <a:t> </a:t>
            </a:r>
            <a:r>
              <a:rPr lang="zh-CN" sz="2400" b="1">
                <a:gradFill>
                  <a:gsLst>
                    <a:gs pos="0">
                      <a:srgbClr val="012D86"/>
                    </a:gs>
                    <a:gs pos="100000">
                      <a:srgbClr val="0E2557"/>
                    </a:gs>
                  </a:gsLst>
                  <a:lin scaled="0"/>
                </a:gradFill>
                <a:ea typeface="宋体" panose="02010600030101010101" pitchFamily="2" charset="-122"/>
              </a:rPr>
              <a:t>用</a:t>
            </a:r>
            <a:r>
              <a:rPr lang="en-US" sz="2400" b="1">
                <a:gradFill>
                  <a:gsLst>
                    <a:gs pos="0">
                      <a:srgbClr val="012D86"/>
                    </a:gs>
                    <a:gs pos="100000">
                      <a:srgbClr val="0E2557"/>
                    </a:gs>
                  </a:gsLst>
                  <a:lin scaled="0"/>
                </a:gradFill>
                <a:latin typeface="Times New Roman" panose="02020603050405020304" charset="0"/>
              </a:rPr>
              <a:t>74LS290</a:t>
            </a:r>
            <a:r>
              <a:rPr lang="zh-CN" sz="2400" b="1">
                <a:gradFill>
                  <a:gsLst>
                    <a:gs pos="0">
                      <a:srgbClr val="012D86"/>
                    </a:gs>
                    <a:gs pos="100000">
                      <a:srgbClr val="0E2557"/>
                    </a:gs>
                  </a:gsLst>
                  <a:lin scaled="0"/>
                </a:gradFill>
                <a:ea typeface="宋体" panose="02010600030101010101" pitchFamily="2" charset="-122"/>
              </a:rPr>
              <a:t>构成</a:t>
            </a:r>
            <a:r>
              <a:rPr lang="en-US" sz="2400" b="1">
                <a:gradFill>
                  <a:gsLst>
                    <a:gs pos="0">
                      <a:srgbClr val="012D86"/>
                    </a:gs>
                    <a:gs pos="100000">
                      <a:srgbClr val="0E2557"/>
                    </a:gs>
                  </a:gsLst>
                  <a:lin scaled="0"/>
                </a:gradFill>
                <a:latin typeface="Times New Roman" panose="02020603050405020304" charset="0"/>
              </a:rPr>
              <a:t>24</a:t>
            </a:r>
            <a:r>
              <a:rPr lang="zh-CN" sz="2400" b="1">
                <a:gradFill>
                  <a:gsLst>
                    <a:gs pos="0">
                      <a:srgbClr val="012D86"/>
                    </a:gs>
                    <a:gs pos="100000">
                      <a:srgbClr val="0E2557"/>
                    </a:gs>
                  </a:gsLst>
                  <a:lin scaled="0"/>
                </a:gradFill>
                <a:ea typeface="宋体" panose="02010600030101010101" pitchFamily="2" charset="-122"/>
              </a:rPr>
              <a:t>进制计数器。</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3" name="文本框 2"/>
          <p:cNvSpPr txBox="1"/>
          <p:nvPr/>
        </p:nvSpPr>
        <p:spPr>
          <a:xfrm>
            <a:off x="343535" y="1656715"/>
            <a:ext cx="8456930" cy="706755"/>
          </a:xfrm>
          <a:prstGeom prst="rect">
            <a:avLst/>
          </a:prstGeom>
          <a:noFill/>
          <a:ln w="9525">
            <a:noFill/>
          </a:ln>
        </p:spPr>
        <p:txBody>
          <a:bodyPr wrap="square">
            <a:spAutoFit/>
          </a:bodyPr>
          <a:p>
            <a:pPr indent="266700"/>
            <a:r>
              <a:rPr lang="zh-CN" sz="2000" b="1">
                <a:gradFill>
                  <a:gsLst>
                    <a:gs pos="0">
                      <a:srgbClr val="012D86"/>
                    </a:gs>
                    <a:gs pos="100000">
                      <a:srgbClr val="0E2557"/>
                    </a:gs>
                  </a:gsLst>
                  <a:lin scaled="0"/>
                </a:gradFill>
                <a:ea typeface="宋体" panose="02010600030101010101" pitchFamily="2" charset="-122"/>
              </a:rPr>
              <a:t>首先将两片</a:t>
            </a:r>
            <a:r>
              <a:rPr lang="en-US" sz="2000" b="1">
                <a:gradFill>
                  <a:gsLst>
                    <a:gs pos="0">
                      <a:srgbClr val="012D86"/>
                    </a:gs>
                    <a:gs pos="100000">
                      <a:srgbClr val="0E2557"/>
                    </a:gs>
                  </a:gsLst>
                  <a:lin scaled="0"/>
                </a:gradFill>
                <a:latin typeface="Times New Roman" panose="02020603050405020304" charset="0"/>
              </a:rPr>
              <a:t>74LS290</a:t>
            </a:r>
            <a:r>
              <a:rPr lang="zh-CN" sz="2000" b="1">
                <a:gradFill>
                  <a:gsLst>
                    <a:gs pos="0">
                      <a:srgbClr val="012D86"/>
                    </a:gs>
                    <a:gs pos="100000">
                      <a:srgbClr val="0E2557"/>
                    </a:gs>
                  </a:gsLst>
                  <a:lin scaled="0"/>
                </a:gradFill>
                <a:ea typeface="宋体" panose="02010600030101010101" pitchFamily="2" charset="-122"/>
              </a:rPr>
              <a:t>接成</a:t>
            </a:r>
            <a:r>
              <a:rPr lang="en-US" sz="2000" b="1">
                <a:gradFill>
                  <a:gsLst>
                    <a:gs pos="0">
                      <a:srgbClr val="012D86"/>
                    </a:gs>
                    <a:gs pos="100000">
                      <a:srgbClr val="0E2557"/>
                    </a:gs>
                  </a:gsLst>
                  <a:lin scaled="0"/>
                </a:gradFill>
                <a:latin typeface="Times New Roman" panose="02020603050405020304" charset="0"/>
              </a:rPr>
              <a:t>10</a:t>
            </a:r>
            <a:r>
              <a:rPr lang="zh-CN" sz="2000" b="1">
                <a:gradFill>
                  <a:gsLst>
                    <a:gs pos="0">
                      <a:srgbClr val="012D86"/>
                    </a:gs>
                    <a:gs pos="100000">
                      <a:srgbClr val="0E2557"/>
                    </a:gs>
                  </a:gsLst>
                  <a:lin scaled="0"/>
                </a:gradFill>
                <a:ea typeface="宋体" panose="02010600030101010101" pitchFamily="2" charset="-122"/>
              </a:rPr>
              <a:t>进制计数器，即</a:t>
            </a:r>
            <a:r>
              <a:rPr lang="en-US" sz="2000" b="1" i="1">
                <a:gradFill>
                  <a:gsLst>
                    <a:gs pos="0">
                      <a:srgbClr val="012D86"/>
                    </a:gs>
                    <a:gs pos="100000">
                      <a:srgbClr val="0E2557"/>
                    </a:gs>
                  </a:gsLst>
                  <a:lin scaled="0"/>
                </a:gradFill>
                <a:latin typeface="Times New Roman" panose="02020603050405020304" charset="0"/>
              </a:rPr>
              <a:t>CP</a:t>
            </a:r>
            <a:r>
              <a:rPr lang="en-US" sz="2000" b="1" baseline="-25000">
                <a:gradFill>
                  <a:gsLst>
                    <a:gs pos="0">
                      <a:srgbClr val="012D86"/>
                    </a:gs>
                    <a:gs pos="100000">
                      <a:srgbClr val="0E2557"/>
                    </a:gs>
                  </a:gsLst>
                  <a:lin scaled="0"/>
                </a:gradFill>
                <a:latin typeface="Times New Roman" panose="02020603050405020304" charset="0"/>
              </a:rPr>
              <a:t>1</a:t>
            </a:r>
            <a:r>
              <a:rPr lang="zh-CN" sz="2000" b="1">
                <a:gradFill>
                  <a:gsLst>
                    <a:gs pos="0">
                      <a:srgbClr val="012D86"/>
                    </a:gs>
                    <a:gs pos="100000">
                      <a:srgbClr val="0E2557"/>
                    </a:gs>
                  </a:gsLst>
                  <a:lin scaled="0"/>
                </a:gradFill>
                <a:ea typeface="宋体" panose="02010600030101010101" pitchFamily="2" charset="-122"/>
              </a:rPr>
              <a:t>接时钟脉冲</a:t>
            </a:r>
            <a:r>
              <a:rPr lang="en-US" sz="2000" b="1" i="1">
                <a:gradFill>
                  <a:gsLst>
                    <a:gs pos="0">
                      <a:srgbClr val="012D86"/>
                    </a:gs>
                    <a:gs pos="100000">
                      <a:srgbClr val="0E2557"/>
                    </a:gs>
                  </a:gsLst>
                  <a:lin scaled="0"/>
                </a:gradFill>
                <a:latin typeface="Times New Roman" panose="02020603050405020304" charset="0"/>
              </a:rPr>
              <a:t>CP</a:t>
            </a:r>
            <a:r>
              <a:rPr lang="zh-CN" sz="2000" b="1">
                <a:gradFill>
                  <a:gsLst>
                    <a:gs pos="0">
                      <a:srgbClr val="012D86"/>
                    </a:gs>
                    <a:gs pos="100000">
                      <a:srgbClr val="0E2557"/>
                    </a:gs>
                  </a:gsLst>
                  <a:lin scaled="0"/>
                </a:gradFill>
                <a:ea typeface="宋体" panose="02010600030101010101" pitchFamily="2" charset="-122"/>
              </a:rPr>
              <a:t>，</a:t>
            </a:r>
            <a:r>
              <a:rPr lang="en-US" sz="2000" b="1" i="1">
                <a:gradFill>
                  <a:gsLst>
                    <a:gs pos="0">
                      <a:srgbClr val="012D86"/>
                    </a:gs>
                    <a:gs pos="100000">
                      <a:srgbClr val="0E2557"/>
                    </a:gs>
                  </a:gsLst>
                  <a:lin scaled="0"/>
                </a:gradFill>
                <a:latin typeface="Times New Roman" panose="02020603050405020304" charset="0"/>
              </a:rPr>
              <a:t>CP</a:t>
            </a:r>
            <a:r>
              <a:rPr lang="en-US" sz="2000" b="1" baseline="-25000">
                <a:gradFill>
                  <a:gsLst>
                    <a:gs pos="0">
                      <a:srgbClr val="012D86"/>
                    </a:gs>
                    <a:gs pos="100000">
                      <a:srgbClr val="0E2557"/>
                    </a:gs>
                  </a:gsLst>
                  <a:lin scaled="0"/>
                </a:gradFill>
                <a:latin typeface="Times New Roman" panose="02020603050405020304" charset="0"/>
              </a:rPr>
              <a:t>2</a:t>
            </a:r>
            <a:r>
              <a:rPr lang="zh-CN" sz="2000" b="1">
                <a:gradFill>
                  <a:gsLst>
                    <a:gs pos="0">
                      <a:srgbClr val="012D86"/>
                    </a:gs>
                    <a:gs pos="100000">
                      <a:srgbClr val="0E2557"/>
                    </a:gs>
                  </a:gsLst>
                  <a:lin scaled="0"/>
                </a:gradFill>
                <a:ea typeface="宋体" panose="02010600030101010101" pitchFamily="2" charset="-122"/>
              </a:rPr>
              <a:t>接</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rPr>
              <a:t>0</a:t>
            </a:r>
            <a:r>
              <a:rPr lang="zh-CN" sz="2000" b="1">
                <a:gradFill>
                  <a:gsLst>
                    <a:gs pos="0">
                      <a:srgbClr val="012D86"/>
                    </a:gs>
                    <a:gs pos="100000">
                      <a:srgbClr val="0E2557"/>
                    </a:gs>
                  </a:gsLst>
                  <a:lin scaled="0"/>
                </a:gradFill>
                <a:ea typeface="宋体" panose="02010600030101010101" pitchFamily="2" charset="-122"/>
              </a:rPr>
              <a:t>，同时将两片的</a:t>
            </a:r>
            <a:r>
              <a:rPr lang="en-US" sz="2000" b="1" i="1">
                <a:gradFill>
                  <a:gsLst>
                    <a:gs pos="0">
                      <a:srgbClr val="012D86"/>
                    </a:gs>
                    <a:gs pos="100000">
                      <a:srgbClr val="0E2557"/>
                    </a:gs>
                  </a:gsLst>
                  <a:lin scaled="0"/>
                </a:gradFill>
                <a:latin typeface="Times New Roman" panose="02020603050405020304" charset="0"/>
              </a:rPr>
              <a:t>R</a:t>
            </a:r>
            <a:r>
              <a:rPr lang="en-US" sz="2000" b="1" baseline="-25000">
                <a:gradFill>
                  <a:gsLst>
                    <a:gs pos="0">
                      <a:srgbClr val="012D86"/>
                    </a:gs>
                    <a:gs pos="100000">
                      <a:srgbClr val="0E2557"/>
                    </a:gs>
                  </a:gsLst>
                  <a:lin scaled="0"/>
                </a:gradFill>
                <a:latin typeface="Times New Roman" panose="02020603050405020304" charset="0"/>
              </a:rPr>
              <a:t>9(1)</a:t>
            </a:r>
            <a:r>
              <a:rPr lang="en-US" sz="2000" b="1">
                <a:gradFill>
                  <a:gsLst>
                    <a:gs pos="0">
                      <a:srgbClr val="012D86"/>
                    </a:gs>
                    <a:gs pos="100000">
                      <a:srgbClr val="0E2557"/>
                    </a:gs>
                  </a:gsLst>
                  <a:lin scaled="0"/>
                </a:gradFill>
                <a:latin typeface="Times New Roman" panose="02020603050405020304" charset="0"/>
              </a:rPr>
              <a:t>=</a:t>
            </a:r>
            <a:r>
              <a:rPr lang="en-US" sz="2000" b="1" i="1">
                <a:gradFill>
                  <a:gsLst>
                    <a:gs pos="0">
                      <a:srgbClr val="012D86"/>
                    </a:gs>
                    <a:gs pos="100000">
                      <a:srgbClr val="0E2557"/>
                    </a:gs>
                  </a:gsLst>
                  <a:lin scaled="0"/>
                </a:gradFill>
                <a:latin typeface="Times New Roman" panose="02020603050405020304" charset="0"/>
              </a:rPr>
              <a:t>R</a:t>
            </a:r>
            <a:r>
              <a:rPr lang="en-US" sz="2000" b="1" baseline="-25000">
                <a:gradFill>
                  <a:gsLst>
                    <a:gs pos="0">
                      <a:srgbClr val="012D86"/>
                    </a:gs>
                    <a:gs pos="100000">
                      <a:srgbClr val="0E2557"/>
                    </a:gs>
                  </a:gsLst>
                  <a:lin scaled="0"/>
                </a:gradFill>
                <a:latin typeface="Times New Roman" panose="02020603050405020304" charset="0"/>
              </a:rPr>
              <a:t>9(2)</a:t>
            </a:r>
            <a:r>
              <a:rPr lang="en-US" sz="2000" b="1">
                <a:gradFill>
                  <a:gsLst>
                    <a:gs pos="0">
                      <a:srgbClr val="012D86"/>
                    </a:gs>
                    <a:gs pos="100000">
                      <a:srgbClr val="0E2557"/>
                    </a:gs>
                  </a:gsLst>
                  <a:lin scaled="0"/>
                </a:gradFill>
                <a:latin typeface="Times New Roman" panose="02020603050405020304" charset="0"/>
              </a:rPr>
              <a:t>=0</a:t>
            </a:r>
            <a:r>
              <a:rPr lang="zh-CN" sz="2000" b="1">
                <a:gradFill>
                  <a:gsLst>
                    <a:gs pos="0">
                      <a:srgbClr val="012D86"/>
                    </a:gs>
                    <a:gs pos="100000">
                      <a:srgbClr val="0E2557"/>
                    </a:gs>
                  </a:gsLst>
                  <a:lin scaled="0"/>
                </a:gradFill>
                <a:ea typeface="宋体" panose="02010600030101010101" pitchFamily="2" charset="-122"/>
              </a:rPr>
              <a:t>。</a:t>
            </a:r>
            <a:endParaRPr lang="zh-CN" altLang="en-US" sz="2000" b="1">
              <a:gradFill>
                <a:gsLst>
                  <a:gs pos="0">
                    <a:srgbClr val="012D86"/>
                  </a:gs>
                  <a:gs pos="100000">
                    <a:srgbClr val="0E2557"/>
                  </a:gs>
                </a:gsLst>
                <a:lin scaled="0"/>
              </a:gradFill>
              <a:ea typeface="宋体" panose="02010600030101010101" pitchFamily="2" charset="-122"/>
            </a:endParaRPr>
          </a:p>
        </p:txBody>
      </p:sp>
      <p:sp>
        <p:nvSpPr>
          <p:cNvPr id="5" name="文本框 4"/>
          <p:cNvSpPr txBox="1"/>
          <p:nvPr/>
        </p:nvSpPr>
        <p:spPr>
          <a:xfrm>
            <a:off x="343535" y="2303780"/>
            <a:ext cx="8491855" cy="1014730"/>
          </a:xfrm>
          <a:prstGeom prst="rect">
            <a:avLst/>
          </a:prstGeom>
          <a:noFill/>
          <a:ln w="9525">
            <a:noFill/>
          </a:ln>
        </p:spPr>
        <p:txBody>
          <a:bodyPr wrap="square">
            <a:spAutoFit/>
          </a:bodyPr>
          <a:p>
            <a:pPr indent="266700"/>
            <a:r>
              <a:rPr lang="zh-CN" sz="2000" b="1">
                <a:gradFill>
                  <a:gsLst>
                    <a:gs pos="0">
                      <a:srgbClr val="012D86"/>
                    </a:gs>
                    <a:gs pos="100000">
                      <a:srgbClr val="0E2557"/>
                    </a:gs>
                  </a:gsLst>
                  <a:lin scaled="0"/>
                </a:gradFill>
                <a:ea typeface="宋体" panose="02010600030101010101" pitchFamily="2" charset="-122"/>
              </a:rPr>
              <a:t>第</a:t>
            </a:r>
            <a:r>
              <a:rPr lang="en-US" sz="2000" b="1">
                <a:gradFill>
                  <a:gsLst>
                    <a:gs pos="0">
                      <a:srgbClr val="012D86"/>
                    </a:gs>
                    <a:gs pos="100000">
                      <a:srgbClr val="0E2557"/>
                    </a:gs>
                  </a:gsLst>
                  <a:lin scaled="0"/>
                </a:gradFill>
                <a:latin typeface="Times New Roman" panose="02020603050405020304" charset="0"/>
              </a:rPr>
              <a:t>1</a:t>
            </a:r>
            <a:r>
              <a:rPr lang="zh-CN" sz="2000" b="1">
                <a:gradFill>
                  <a:gsLst>
                    <a:gs pos="0">
                      <a:srgbClr val="012D86"/>
                    </a:gs>
                    <a:gs pos="100000">
                      <a:srgbClr val="0E2557"/>
                    </a:gs>
                  </a:gsLst>
                  <a:lin scaled="0"/>
                </a:gradFill>
                <a:ea typeface="宋体" panose="02010600030101010101" pitchFamily="2" charset="-122"/>
              </a:rPr>
              <a:t>片构成</a:t>
            </a:r>
            <a:r>
              <a:rPr lang="en-US" sz="2000" b="1">
                <a:gradFill>
                  <a:gsLst>
                    <a:gs pos="0">
                      <a:srgbClr val="012D86"/>
                    </a:gs>
                    <a:gs pos="100000">
                      <a:srgbClr val="0E2557"/>
                    </a:gs>
                  </a:gsLst>
                  <a:lin scaled="0"/>
                </a:gradFill>
                <a:latin typeface="Times New Roman" panose="02020603050405020304" charset="0"/>
              </a:rPr>
              <a:t>3</a:t>
            </a:r>
            <a:r>
              <a:rPr lang="zh-CN" sz="2000" b="1">
                <a:gradFill>
                  <a:gsLst>
                    <a:gs pos="0">
                      <a:srgbClr val="012D86"/>
                    </a:gs>
                    <a:gs pos="100000">
                      <a:srgbClr val="0E2557"/>
                    </a:gs>
                  </a:gsLst>
                  <a:lin scaled="0"/>
                </a:gradFill>
                <a:ea typeface="宋体" panose="02010600030101010101" pitchFamily="2" charset="-122"/>
              </a:rPr>
              <a:t>进制计数器，由于</a:t>
            </a:r>
            <a:r>
              <a:rPr lang="en-US" sz="2000" b="1" i="1">
                <a:gradFill>
                  <a:gsLst>
                    <a:gs pos="0">
                      <a:srgbClr val="012D86"/>
                    </a:gs>
                    <a:gs pos="100000">
                      <a:srgbClr val="0E2557"/>
                    </a:gs>
                  </a:gsLst>
                  <a:lin scaled="0"/>
                </a:gradFill>
                <a:latin typeface="Times New Roman" panose="02020603050405020304" charset="0"/>
              </a:rPr>
              <a:t>R</a:t>
            </a:r>
            <a:r>
              <a:rPr lang="en-US" sz="2000" b="1" baseline="-25000">
                <a:gradFill>
                  <a:gsLst>
                    <a:gs pos="0">
                      <a:srgbClr val="012D86"/>
                    </a:gs>
                    <a:gs pos="100000">
                      <a:srgbClr val="0E2557"/>
                    </a:gs>
                  </a:gsLst>
                  <a:lin scaled="0"/>
                </a:gradFill>
                <a:latin typeface="Times New Roman" panose="02020603050405020304" charset="0"/>
              </a:rPr>
              <a:t>0(1)</a:t>
            </a:r>
            <a:r>
              <a:rPr lang="zh-CN" sz="2000" b="1">
                <a:gradFill>
                  <a:gsLst>
                    <a:gs pos="0">
                      <a:srgbClr val="012D86"/>
                    </a:gs>
                    <a:gs pos="100000">
                      <a:srgbClr val="0E2557"/>
                    </a:gs>
                  </a:gsLst>
                  <a:lin scaled="0"/>
                </a:gradFill>
                <a:ea typeface="宋体" panose="02010600030101010101" pitchFamily="2" charset="-122"/>
              </a:rPr>
              <a:t>，</a:t>
            </a:r>
            <a:r>
              <a:rPr lang="en-US" sz="2000" b="1" i="1">
                <a:gradFill>
                  <a:gsLst>
                    <a:gs pos="0">
                      <a:srgbClr val="012D86"/>
                    </a:gs>
                    <a:gs pos="100000">
                      <a:srgbClr val="0E2557"/>
                    </a:gs>
                  </a:gsLst>
                  <a:lin scaled="0"/>
                </a:gradFill>
                <a:latin typeface="Times New Roman" panose="02020603050405020304" charset="0"/>
              </a:rPr>
              <a:t>R</a:t>
            </a:r>
            <a:r>
              <a:rPr lang="en-US" sz="2000" b="1" baseline="-25000">
                <a:gradFill>
                  <a:gsLst>
                    <a:gs pos="0">
                      <a:srgbClr val="012D86"/>
                    </a:gs>
                    <a:gs pos="100000">
                      <a:srgbClr val="0E2557"/>
                    </a:gs>
                  </a:gsLst>
                  <a:lin scaled="0"/>
                </a:gradFill>
                <a:latin typeface="Times New Roman" panose="02020603050405020304" charset="0"/>
              </a:rPr>
              <a:t>0(2)</a:t>
            </a:r>
            <a:r>
              <a:rPr lang="zh-CN" sz="2000" b="1">
                <a:gradFill>
                  <a:gsLst>
                    <a:gs pos="0">
                      <a:srgbClr val="012D86"/>
                    </a:gs>
                    <a:gs pos="100000">
                      <a:srgbClr val="0E2557"/>
                    </a:gs>
                  </a:gsLst>
                  <a:lin scaled="0"/>
                </a:gradFill>
                <a:ea typeface="宋体" panose="02010600030101010101" pitchFamily="2" charset="-122"/>
              </a:rPr>
              <a:t>为高电平清</a:t>
            </a:r>
            <a:r>
              <a:rPr lang="en-US" sz="2000" b="1">
                <a:gradFill>
                  <a:gsLst>
                    <a:gs pos="0">
                      <a:srgbClr val="012D86"/>
                    </a:gs>
                    <a:gs pos="100000">
                      <a:srgbClr val="0E2557"/>
                    </a:gs>
                  </a:gsLst>
                  <a:lin scaled="0"/>
                </a:gradFill>
                <a:latin typeface="Times New Roman" panose="02020603050405020304" charset="0"/>
              </a:rPr>
              <a:t>0</a:t>
            </a:r>
            <a:r>
              <a:rPr lang="zh-CN" sz="2000" b="1">
                <a:gradFill>
                  <a:gsLst>
                    <a:gs pos="0">
                      <a:srgbClr val="012D86"/>
                    </a:gs>
                    <a:gs pos="100000">
                      <a:srgbClr val="0E2557"/>
                    </a:gs>
                  </a:gsLst>
                  <a:lin scaled="0"/>
                </a:gradFill>
                <a:ea typeface="宋体" panose="02010600030101010101" pitchFamily="2" charset="-122"/>
              </a:rPr>
              <a:t>，这里取：</a:t>
            </a:r>
            <a:r>
              <a:rPr lang="en-US" sz="2000" b="1" i="1">
                <a:gradFill>
                  <a:gsLst>
                    <a:gs pos="0">
                      <a:srgbClr val="012D86"/>
                    </a:gs>
                    <a:gs pos="100000">
                      <a:srgbClr val="0E2557"/>
                    </a:gs>
                  </a:gsLst>
                  <a:lin scaled="0"/>
                </a:gradFill>
                <a:latin typeface="Times New Roman" panose="02020603050405020304" charset="0"/>
              </a:rPr>
              <a:t>R</a:t>
            </a:r>
            <a:r>
              <a:rPr lang="en-US" sz="2000" b="1" baseline="-25000">
                <a:gradFill>
                  <a:gsLst>
                    <a:gs pos="0">
                      <a:srgbClr val="012D86"/>
                    </a:gs>
                    <a:gs pos="100000">
                      <a:srgbClr val="0E2557"/>
                    </a:gs>
                  </a:gsLst>
                  <a:lin scaled="0"/>
                </a:gradFill>
                <a:latin typeface="Times New Roman" panose="02020603050405020304" charset="0"/>
              </a:rPr>
              <a:t>0(1)</a:t>
            </a:r>
            <a:r>
              <a:rPr lang="en-US" sz="2000" b="1">
                <a:gradFill>
                  <a:gsLst>
                    <a:gs pos="0">
                      <a:srgbClr val="012D86"/>
                    </a:gs>
                    <a:gs pos="100000">
                      <a:srgbClr val="0E2557"/>
                    </a:gs>
                  </a:gsLst>
                  <a:lin scaled="0"/>
                </a:gradFill>
                <a:latin typeface="Times New Roman" panose="02020603050405020304" charset="0"/>
              </a:rPr>
              <a:t>=</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rPr>
              <a:t>1</a:t>
            </a:r>
            <a:r>
              <a:rPr lang="zh-CN" sz="2000" b="1">
                <a:gradFill>
                  <a:gsLst>
                    <a:gs pos="0">
                      <a:srgbClr val="012D86"/>
                    </a:gs>
                    <a:gs pos="100000">
                      <a:srgbClr val="0E2557"/>
                    </a:gs>
                  </a:gsLst>
                  <a:lin scaled="0"/>
                </a:gradFill>
                <a:ea typeface="宋体" panose="02010600030101010101" pitchFamily="2" charset="-122"/>
              </a:rPr>
              <a:t>，</a:t>
            </a:r>
            <a:r>
              <a:rPr lang="en-US" sz="2000" b="1" i="1">
                <a:gradFill>
                  <a:gsLst>
                    <a:gs pos="0">
                      <a:srgbClr val="012D86"/>
                    </a:gs>
                    <a:gs pos="100000">
                      <a:srgbClr val="0E2557"/>
                    </a:gs>
                  </a:gsLst>
                  <a:lin scaled="0"/>
                </a:gradFill>
                <a:latin typeface="Times New Roman" panose="02020603050405020304" charset="0"/>
              </a:rPr>
              <a:t>R</a:t>
            </a:r>
            <a:r>
              <a:rPr lang="en-US" sz="2000" b="1" baseline="-25000">
                <a:gradFill>
                  <a:gsLst>
                    <a:gs pos="0">
                      <a:srgbClr val="012D86"/>
                    </a:gs>
                    <a:gs pos="100000">
                      <a:srgbClr val="0E2557"/>
                    </a:gs>
                  </a:gsLst>
                  <a:lin scaled="0"/>
                </a:gradFill>
                <a:latin typeface="Times New Roman" panose="02020603050405020304" charset="0"/>
              </a:rPr>
              <a:t>0(2)</a:t>
            </a:r>
            <a:r>
              <a:rPr lang="en-US" sz="2000" b="1">
                <a:gradFill>
                  <a:gsLst>
                    <a:gs pos="0">
                      <a:srgbClr val="012D86"/>
                    </a:gs>
                    <a:gs pos="100000">
                      <a:srgbClr val="0E2557"/>
                    </a:gs>
                  </a:gsLst>
                  <a:lin scaled="0"/>
                </a:gradFill>
                <a:latin typeface="Times New Roman" panose="02020603050405020304" charset="0"/>
              </a:rPr>
              <a:t>= </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rPr>
              <a:t>0</a:t>
            </a:r>
            <a:r>
              <a:rPr lang="en-US" sz="2000" b="1">
                <a:gradFill>
                  <a:gsLst>
                    <a:gs pos="0">
                      <a:srgbClr val="012D86"/>
                    </a:gs>
                    <a:gs pos="100000">
                      <a:srgbClr val="0E2557"/>
                    </a:gs>
                  </a:gsLst>
                  <a:lin scaled="0"/>
                </a:gradFill>
                <a:latin typeface="Times New Roman" panose="02020603050405020304" charset="0"/>
              </a:rPr>
              <a:t>,</a:t>
            </a:r>
            <a:r>
              <a:rPr lang="zh-CN" sz="2000" b="1">
                <a:gradFill>
                  <a:gsLst>
                    <a:gs pos="0">
                      <a:srgbClr val="012D86"/>
                    </a:gs>
                    <a:gs pos="100000">
                      <a:srgbClr val="0E2557"/>
                    </a:gs>
                  </a:gsLst>
                  <a:lin scaled="0"/>
                </a:gradFill>
                <a:ea typeface="宋体" panose="02010600030101010101" pitchFamily="2" charset="-122"/>
              </a:rPr>
              <a:t>计数器计数到</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rPr>
              <a:t>3</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rPr>
              <a:t>2</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rPr>
              <a:t>1</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rPr>
              <a:t>0</a:t>
            </a:r>
            <a:r>
              <a:rPr lang="en-US" sz="2000" b="1">
                <a:gradFill>
                  <a:gsLst>
                    <a:gs pos="0">
                      <a:srgbClr val="012D86"/>
                    </a:gs>
                    <a:gs pos="100000">
                      <a:srgbClr val="0E2557"/>
                    </a:gs>
                  </a:gsLst>
                  <a:lin scaled="0"/>
                </a:gradFill>
                <a:latin typeface="Times New Roman" panose="02020603050405020304" charset="0"/>
              </a:rPr>
              <a:t>=0011</a:t>
            </a:r>
            <a:r>
              <a:rPr lang="zh-CN" sz="2000" b="1">
                <a:gradFill>
                  <a:gsLst>
                    <a:gs pos="0">
                      <a:srgbClr val="012D86"/>
                    </a:gs>
                    <a:gs pos="100000">
                      <a:srgbClr val="0E2557"/>
                    </a:gs>
                  </a:gsLst>
                  <a:lin scaled="0"/>
                </a:gradFill>
                <a:ea typeface="宋体" panose="02010600030101010101" pitchFamily="2" charset="-122"/>
              </a:rPr>
              <a:t>时正好给出复位信号，使计数器立即返回</a:t>
            </a:r>
            <a:r>
              <a:rPr lang="en-US" sz="2000" b="1">
                <a:gradFill>
                  <a:gsLst>
                    <a:gs pos="0">
                      <a:srgbClr val="012D86"/>
                    </a:gs>
                    <a:gs pos="100000">
                      <a:srgbClr val="0E2557"/>
                    </a:gs>
                  </a:gsLst>
                  <a:lin scaled="0"/>
                </a:gradFill>
                <a:latin typeface="Times New Roman" panose="02020603050405020304" charset="0"/>
              </a:rPr>
              <a:t>0000</a:t>
            </a:r>
            <a:r>
              <a:rPr lang="zh-CN" sz="2000" b="1">
                <a:gradFill>
                  <a:gsLst>
                    <a:gs pos="0">
                      <a:srgbClr val="012D86"/>
                    </a:gs>
                    <a:gs pos="100000">
                      <a:srgbClr val="0E2557"/>
                    </a:gs>
                  </a:gsLst>
                  <a:lin scaled="0"/>
                </a:gradFill>
                <a:ea typeface="宋体" panose="02010600030101010101" pitchFamily="2" charset="-122"/>
              </a:rPr>
              <a:t>状态，完成</a:t>
            </a:r>
            <a:r>
              <a:rPr lang="en-US" sz="2000" b="1">
                <a:gradFill>
                  <a:gsLst>
                    <a:gs pos="0">
                      <a:srgbClr val="012D86"/>
                    </a:gs>
                    <a:gs pos="100000">
                      <a:srgbClr val="0E2557"/>
                    </a:gs>
                  </a:gsLst>
                  <a:lin scaled="0"/>
                </a:gradFill>
                <a:latin typeface="Times New Roman" panose="02020603050405020304" charset="0"/>
              </a:rPr>
              <a:t>3</a:t>
            </a:r>
            <a:r>
              <a:rPr lang="zh-CN" sz="2000" b="1">
                <a:gradFill>
                  <a:gsLst>
                    <a:gs pos="0">
                      <a:srgbClr val="012D86"/>
                    </a:gs>
                    <a:gs pos="100000">
                      <a:srgbClr val="0E2557"/>
                    </a:gs>
                  </a:gsLst>
                  <a:lin scaled="0"/>
                </a:gradFill>
                <a:ea typeface="宋体" panose="02010600030101010101" pitchFamily="2" charset="-122"/>
              </a:rPr>
              <a:t>进制计数。</a:t>
            </a:r>
            <a:endParaRPr lang="zh-CN" altLang="en-US" sz="2000" b="1">
              <a:gradFill>
                <a:gsLst>
                  <a:gs pos="0">
                    <a:srgbClr val="012D86"/>
                  </a:gs>
                  <a:gs pos="100000">
                    <a:srgbClr val="0E2557"/>
                  </a:gs>
                </a:gsLst>
                <a:lin scaled="0"/>
              </a:gradFill>
              <a:ea typeface="宋体" panose="02010600030101010101" pitchFamily="2" charset="-122"/>
            </a:endParaRPr>
          </a:p>
        </p:txBody>
      </p:sp>
      <p:sp>
        <p:nvSpPr>
          <p:cNvPr id="6" name="文本框 5"/>
          <p:cNvSpPr txBox="1"/>
          <p:nvPr/>
        </p:nvSpPr>
        <p:spPr>
          <a:xfrm>
            <a:off x="367030" y="3249295"/>
            <a:ext cx="8539480" cy="1322070"/>
          </a:xfrm>
          <a:prstGeom prst="rect">
            <a:avLst/>
          </a:prstGeom>
          <a:noFill/>
          <a:ln w="9525">
            <a:noFill/>
          </a:ln>
        </p:spPr>
        <p:txBody>
          <a:bodyPr wrap="square">
            <a:spAutoFit/>
          </a:bodyPr>
          <a:p>
            <a:r>
              <a:rPr lang="en-US" altLang="zh-CN" sz="2000" b="1">
                <a:gradFill>
                  <a:gsLst>
                    <a:gs pos="0">
                      <a:srgbClr val="012D86"/>
                    </a:gs>
                    <a:gs pos="100000">
                      <a:srgbClr val="0E2557"/>
                    </a:gs>
                  </a:gsLst>
                  <a:lin scaled="0"/>
                </a:gradFill>
                <a:ea typeface="宋体" panose="02010600030101010101" pitchFamily="2" charset="-122"/>
              </a:rPr>
              <a:t>   </a:t>
            </a:r>
            <a:r>
              <a:rPr lang="zh-CN" sz="2000" b="1">
                <a:gradFill>
                  <a:gsLst>
                    <a:gs pos="0">
                      <a:srgbClr val="012D86"/>
                    </a:gs>
                    <a:gs pos="100000">
                      <a:srgbClr val="0E2557"/>
                    </a:gs>
                  </a:gsLst>
                  <a:lin scaled="0"/>
                </a:gradFill>
                <a:ea typeface="宋体" panose="02010600030101010101" pitchFamily="2" charset="-122"/>
              </a:rPr>
              <a:t>第</a:t>
            </a:r>
            <a:r>
              <a:rPr lang="en-US" sz="2000" b="1">
                <a:gradFill>
                  <a:gsLst>
                    <a:gs pos="0">
                      <a:srgbClr val="012D86"/>
                    </a:gs>
                    <a:gs pos="100000">
                      <a:srgbClr val="0E2557"/>
                    </a:gs>
                  </a:gsLst>
                  <a:lin scaled="0"/>
                </a:gradFill>
                <a:latin typeface="Times New Roman" panose="02020603050405020304" charset="0"/>
              </a:rPr>
              <a:t>2</a:t>
            </a:r>
            <a:r>
              <a:rPr lang="zh-CN" sz="2000" b="1">
                <a:gradFill>
                  <a:gsLst>
                    <a:gs pos="0">
                      <a:srgbClr val="012D86"/>
                    </a:gs>
                    <a:gs pos="100000">
                      <a:srgbClr val="0E2557"/>
                    </a:gs>
                  </a:gsLst>
                  <a:lin scaled="0"/>
                </a:gradFill>
                <a:ea typeface="宋体" panose="02010600030101010101" pitchFamily="2" charset="-122"/>
              </a:rPr>
              <a:t>片构成</a:t>
            </a:r>
            <a:r>
              <a:rPr lang="en-US" sz="2000" b="1">
                <a:gradFill>
                  <a:gsLst>
                    <a:gs pos="0">
                      <a:srgbClr val="012D86"/>
                    </a:gs>
                    <a:gs pos="100000">
                      <a:srgbClr val="0E2557"/>
                    </a:gs>
                  </a:gsLst>
                  <a:lin scaled="0"/>
                </a:gradFill>
                <a:latin typeface="Times New Roman" panose="02020603050405020304" charset="0"/>
              </a:rPr>
              <a:t>8</a:t>
            </a:r>
            <a:r>
              <a:rPr lang="zh-CN" sz="2000" b="1">
                <a:gradFill>
                  <a:gsLst>
                    <a:gs pos="0">
                      <a:srgbClr val="012D86"/>
                    </a:gs>
                    <a:gs pos="100000">
                      <a:srgbClr val="0E2557"/>
                    </a:gs>
                  </a:gsLst>
                  <a:lin scaled="0"/>
                </a:gradFill>
                <a:ea typeface="宋体" panose="02010600030101010101" pitchFamily="2" charset="-122"/>
              </a:rPr>
              <a:t>进制计数器，</a:t>
            </a:r>
            <a:r>
              <a:rPr lang="zh-CN" sz="2000" b="1">
                <a:gradFill>
                  <a:gsLst>
                    <a:gs pos="0">
                      <a:srgbClr val="012D86"/>
                    </a:gs>
                    <a:gs pos="100000">
                      <a:srgbClr val="0E2557"/>
                    </a:gs>
                  </a:gsLst>
                  <a:lin scaled="0"/>
                </a:gradFill>
                <a:latin typeface="Times New Roman" panose="02020603050405020304" charset="0"/>
                <a:ea typeface="宋体" panose="02010600030101010101" pitchFamily="2" charset="-122"/>
              </a:rPr>
              <a:t>当</a:t>
            </a:r>
            <a:r>
              <a:rPr lang="zh-CN" sz="2000" b="1">
                <a:gradFill>
                  <a:gsLst>
                    <a:gs pos="0">
                      <a:srgbClr val="012D86"/>
                    </a:gs>
                    <a:gs pos="100000">
                      <a:srgbClr val="0E2557"/>
                    </a:gs>
                  </a:gsLst>
                  <a:lin scaled="0"/>
                </a:gradFill>
                <a:ea typeface="宋体" panose="02010600030101010101" pitchFamily="2" charset="-122"/>
              </a:rPr>
              <a:t>计数到</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cs typeface="Times New Roman" panose="02020603050405020304" charset="0"/>
              </a:rPr>
              <a:t>7</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cs typeface="Times New Roman" panose="02020603050405020304" charset="0"/>
              </a:rPr>
              <a:t>6</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cs typeface="Times New Roman" panose="02020603050405020304" charset="0"/>
              </a:rPr>
              <a:t>5</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cs typeface="Times New Roman" panose="02020603050405020304" charset="0"/>
              </a:rPr>
              <a:t>4</a:t>
            </a:r>
            <a:r>
              <a:rPr lang="en-US" sz="2000" b="1" baseline="-25000">
                <a:gradFill>
                  <a:gsLst>
                    <a:gs pos="0">
                      <a:srgbClr val="012D86"/>
                    </a:gs>
                    <a:gs pos="100000">
                      <a:srgbClr val="0E2557"/>
                    </a:gs>
                  </a:gsLst>
                  <a:lin scaled="0"/>
                </a:gradFill>
                <a:latin typeface="Times New Roman" panose="02020603050405020304" charset="0"/>
              </a:rPr>
              <a:t> </a:t>
            </a:r>
            <a:r>
              <a:rPr lang="en-US" sz="2000" b="1">
                <a:gradFill>
                  <a:gsLst>
                    <a:gs pos="0">
                      <a:srgbClr val="012D86"/>
                    </a:gs>
                    <a:gs pos="100000">
                      <a:srgbClr val="0E2557"/>
                    </a:gs>
                  </a:gsLst>
                  <a:lin scaled="0"/>
                </a:gradFill>
                <a:latin typeface="Times New Roman" panose="02020603050405020304" charset="0"/>
              </a:rPr>
              <a:t>= 1000</a:t>
            </a:r>
            <a:r>
              <a:rPr lang="zh-CN" sz="2000" b="1">
                <a:gradFill>
                  <a:gsLst>
                    <a:gs pos="0">
                      <a:srgbClr val="012D86"/>
                    </a:gs>
                    <a:gs pos="100000">
                      <a:srgbClr val="0E2557"/>
                    </a:gs>
                  </a:gsLst>
                  <a:lin scaled="0"/>
                </a:gradFill>
                <a:ea typeface="宋体" panose="02010600030101010101" pitchFamily="2" charset="-122"/>
              </a:rPr>
              <a:t>时给出复位信号，所以取：</a:t>
            </a:r>
            <a:r>
              <a:rPr lang="en-US" sz="2000" b="1" i="1">
                <a:gradFill>
                  <a:gsLst>
                    <a:gs pos="0">
                      <a:srgbClr val="012D86"/>
                    </a:gs>
                    <a:gs pos="100000">
                      <a:srgbClr val="0E2557"/>
                    </a:gs>
                  </a:gsLst>
                  <a:lin scaled="0"/>
                </a:gradFill>
                <a:latin typeface="Times New Roman" panose="02020603050405020304" charset="0"/>
              </a:rPr>
              <a:t>R</a:t>
            </a:r>
            <a:r>
              <a:rPr lang="en-US" sz="2000" b="1" baseline="-25000">
                <a:gradFill>
                  <a:gsLst>
                    <a:gs pos="0">
                      <a:srgbClr val="012D86"/>
                    </a:gs>
                    <a:gs pos="100000">
                      <a:srgbClr val="0E2557"/>
                    </a:gs>
                  </a:gsLst>
                  <a:lin scaled="0"/>
                </a:gradFill>
                <a:latin typeface="Times New Roman" panose="02020603050405020304" charset="0"/>
              </a:rPr>
              <a:t>0(1)</a:t>
            </a:r>
            <a:r>
              <a:rPr lang="en-US" sz="2000" b="1">
                <a:gradFill>
                  <a:gsLst>
                    <a:gs pos="0">
                      <a:srgbClr val="012D86"/>
                    </a:gs>
                    <a:gs pos="100000">
                      <a:srgbClr val="0E2557"/>
                    </a:gs>
                  </a:gsLst>
                  <a:lin scaled="0"/>
                </a:gradFill>
                <a:latin typeface="Times New Roman" panose="02020603050405020304" charset="0"/>
              </a:rPr>
              <a:t>=</a:t>
            </a:r>
            <a:r>
              <a:rPr lang="en-US" sz="2000" b="1" i="1">
                <a:gradFill>
                  <a:gsLst>
                    <a:gs pos="0">
                      <a:srgbClr val="012D86"/>
                    </a:gs>
                    <a:gs pos="100000">
                      <a:srgbClr val="0E2557"/>
                    </a:gs>
                  </a:gsLst>
                  <a:lin scaled="0"/>
                </a:gradFill>
                <a:latin typeface="Times New Roman" panose="02020603050405020304" charset="0"/>
              </a:rPr>
              <a:t> R</a:t>
            </a:r>
            <a:r>
              <a:rPr lang="en-US" sz="2000" b="1" baseline="-25000">
                <a:gradFill>
                  <a:gsLst>
                    <a:gs pos="0">
                      <a:srgbClr val="012D86"/>
                    </a:gs>
                    <a:gs pos="100000">
                      <a:srgbClr val="0E2557"/>
                    </a:gs>
                  </a:gsLst>
                  <a:lin scaled="0"/>
                </a:gradFill>
                <a:latin typeface="Times New Roman" panose="02020603050405020304" charset="0"/>
              </a:rPr>
              <a:t>0(2)</a:t>
            </a:r>
            <a:r>
              <a:rPr lang="en-US" sz="2000" b="1">
                <a:gradFill>
                  <a:gsLst>
                    <a:gs pos="0">
                      <a:srgbClr val="012D86"/>
                    </a:gs>
                    <a:gs pos="100000">
                      <a:srgbClr val="0E2557"/>
                    </a:gs>
                  </a:gsLst>
                  <a:lin scaled="0"/>
                </a:gradFill>
                <a:latin typeface="Times New Roman" panose="02020603050405020304" charset="0"/>
              </a:rPr>
              <a:t>=</a:t>
            </a:r>
            <a:r>
              <a:rPr lang="en-US" sz="2000" b="1" i="1">
                <a:gradFill>
                  <a:gsLst>
                    <a:gs pos="0">
                      <a:srgbClr val="012D86"/>
                    </a:gs>
                    <a:gs pos="100000">
                      <a:srgbClr val="0E2557"/>
                    </a:gs>
                  </a:gsLst>
                  <a:lin scaled="0"/>
                </a:gradFill>
                <a:latin typeface="Times New Roman" panose="02020603050405020304" charset="0"/>
              </a:rPr>
              <a:t> Q</a:t>
            </a:r>
            <a:r>
              <a:rPr lang="en-US" sz="2000" b="1" baseline="-25000">
                <a:gradFill>
                  <a:gsLst>
                    <a:gs pos="0">
                      <a:srgbClr val="012D86"/>
                    </a:gs>
                    <a:gs pos="100000">
                      <a:srgbClr val="0E2557"/>
                    </a:gs>
                  </a:gsLst>
                  <a:lin scaled="0"/>
                </a:gradFill>
                <a:latin typeface="Times New Roman" panose="02020603050405020304" charset="0"/>
                <a:cs typeface="Times New Roman" panose="02020603050405020304" charset="0"/>
              </a:rPr>
              <a:t>7</a:t>
            </a:r>
            <a:r>
              <a:rPr lang="zh-CN" sz="2000" b="1">
                <a:gradFill>
                  <a:gsLst>
                    <a:gs pos="0">
                      <a:srgbClr val="012D86"/>
                    </a:gs>
                    <a:gs pos="100000">
                      <a:srgbClr val="0E2557"/>
                    </a:gs>
                  </a:gsLst>
                  <a:lin scaled="0"/>
                </a:gradFill>
                <a:ea typeface="宋体" panose="02010600030101010101" pitchFamily="2" charset="-122"/>
              </a:rPr>
              <a:t>。最后将第</a:t>
            </a:r>
            <a:r>
              <a:rPr lang="en-US" sz="2000" b="1">
                <a:gradFill>
                  <a:gsLst>
                    <a:gs pos="0">
                      <a:srgbClr val="012D86"/>
                    </a:gs>
                    <a:gs pos="100000">
                      <a:srgbClr val="0E2557"/>
                    </a:gs>
                  </a:gsLst>
                  <a:lin scaled="0"/>
                </a:gradFill>
                <a:latin typeface="Times New Roman" panose="02020603050405020304" charset="0"/>
              </a:rPr>
              <a:t>1</a:t>
            </a:r>
            <a:r>
              <a:rPr lang="zh-CN" sz="2000" b="1">
                <a:gradFill>
                  <a:gsLst>
                    <a:gs pos="0">
                      <a:srgbClr val="012D86"/>
                    </a:gs>
                    <a:gs pos="100000">
                      <a:srgbClr val="0E2557"/>
                    </a:gs>
                  </a:gsLst>
                  <a:lin scaled="0"/>
                </a:gradFill>
                <a:ea typeface="宋体" panose="02010600030101010101" pitchFamily="2" charset="-122"/>
              </a:rPr>
              <a:t>片的输出</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rPr>
              <a:t>1</a:t>
            </a:r>
            <a:r>
              <a:rPr lang="zh-CN" sz="2000" b="1">
                <a:gradFill>
                  <a:gsLst>
                    <a:gs pos="0">
                      <a:srgbClr val="012D86"/>
                    </a:gs>
                    <a:gs pos="100000">
                      <a:srgbClr val="0E2557"/>
                    </a:gs>
                  </a:gsLst>
                  <a:lin scaled="0"/>
                </a:gradFill>
                <a:ea typeface="宋体" panose="02010600030101010101" pitchFamily="2" charset="-122"/>
              </a:rPr>
              <a:t>接第</a:t>
            </a:r>
            <a:r>
              <a:rPr lang="en-US" sz="2000" b="1">
                <a:gradFill>
                  <a:gsLst>
                    <a:gs pos="0">
                      <a:srgbClr val="012D86"/>
                    </a:gs>
                    <a:gs pos="100000">
                      <a:srgbClr val="0E2557"/>
                    </a:gs>
                  </a:gsLst>
                  <a:lin scaled="0"/>
                </a:gradFill>
                <a:latin typeface="Times New Roman" panose="02020603050405020304" charset="0"/>
              </a:rPr>
              <a:t>2</a:t>
            </a:r>
            <a:r>
              <a:rPr lang="zh-CN" sz="2000" b="1">
                <a:gradFill>
                  <a:gsLst>
                    <a:gs pos="0">
                      <a:srgbClr val="012D86"/>
                    </a:gs>
                    <a:gs pos="100000">
                      <a:srgbClr val="0E2557"/>
                    </a:gs>
                  </a:gsLst>
                  <a:lin scaled="0"/>
                </a:gradFill>
                <a:ea typeface="宋体" panose="02010600030101010101" pitchFamily="2" charset="-122"/>
              </a:rPr>
              <a:t>片的时钟脉冲</a:t>
            </a:r>
            <a:r>
              <a:rPr lang="en-US" sz="2000" b="1" i="1">
                <a:gradFill>
                  <a:gsLst>
                    <a:gs pos="0">
                      <a:srgbClr val="012D86"/>
                    </a:gs>
                    <a:gs pos="100000">
                      <a:srgbClr val="0E2557"/>
                    </a:gs>
                  </a:gsLst>
                  <a:lin scaled="0"/>
                </a:gradFill>
                <a:latin typeface="Times New Roman" panose="02020603050405020304" charset="0"/>
              </a:rPr>
              <a:t>CP</a:t>
            </a:r>
            <a:r>
              <a:rPr lang="en-US" sz="2000" b="1" baseline="-25000">
                <a:gradFill>
                  <a:gsLst>
                    <a:gs pos="0">
                      <a:srgbClr val="012D86"/>
                    </a:gs>
                    <a:gs pos="100000">
                      <a:srgbClr val="0E2557"/>
                    </a:gs>
                  </a:gsLst>
                  <a:lin scaled="0"/>
                </a:gradFill>
                <a:latin typeface="Times New Roman" panose="02020603050405020304" charset="0"/>
              </a:rPr>
              <a:t>1</a:t>
            </a:r>
            <a:r>
              <a:rPr lang="zh-CN" sz="2000" b="1">
                <a:gradFill>
                  <a:gsLst>
                    <a:gs pos="0">
                      <a:srgbClr val="012D86"/>
                    </a:gs>
                    <a:gs pos="100000">
                      <a:srgbClr val="0E2557"/>
                    </a:gs>
                  </a:gsLst>
                  <a:lin scaled="0"/>
                </a:gradFill>
                <a:ea typeface="宋体" panose="02010600030101010101" pitchFamily="2" charset="-122"/>
              </a:rPr>
              <a:t>端，因为第</a:t>
            </a:r>
            <a:r>
              <a:rPr lang="en-US" sz="2000" b="1">
                <a:gradFill>
                  <a:gsLst>
                    <a:gs pos="0">
                      <a:srgbClr val="012D86"/>
                    </a:gs>
                    <a:gs pos="100000">
                      <a:srgbClr val="0E2557"/>
                    </a:gs>
                  </a:gsLst>
                  <a:lin scaled="0"/>
                </a:gradFill>
                <a:latin typeface="Times New Roman" panose="02020603050405020304" charset="0"/>
              </a:rPr>
              <a:t>1</a:t>
            </a:r>
            <a:r>
              <a:rPr lang="zh-CN" sz="2000" b="1">
                <a:gradFill>
                  <a:gsLst>
                    <a:gs pos="0">
                      <a:srgbClr val="012D86"/>
                    </a:gs>
                    <a:gs pos="100000">
                      <a:srgbClr val="0E2557"/>
                    </a:gs>
                  </a:gsLst>
                  <a:lin scaled="0"/>
                </a:gradFill>
                <a:ea typeface="宋体" panose="02010600030101010101" pitchFamily="2" charset="-122"/>
              </a:rPr>
              <a:t>片计数由</a:t>
            </a:r>
            <a:r>
              <a:rPr lang="en-US" sz="2000" b="1">
                <a:gradFill>
                  <a:gsLst>
                    <a:gs pos="0">
                      <a:srgbClr val="012D86"/>
                    </a:gs>
                    <a:gs pos="100000">
                      <a:srgbClr val="0E2557"/>
                    </a:gs>
                  </a:gsLst>
                  <a:lin scaled="0"/>
                </a:gradFill>
                <a:latin typeface="Times New Roman" panose="02020603050405020304" charset="0"/>
              </a:rPr>
              <a:t>0011</a:t>
            </a:r>
            <a:r>
              <a:rPr lang="zh-CN" sz="2000" b="1">
                <a:gradFill>
                  <a:gsLst>
                    <a:gs pos="0">
                      <a:srgbClr val="012D86"/>
                    </a:gs>
                    <a:gs pos="100000">
                      <a:srgbClr val="0E2557"/>
                    </a:gs>
                  </a:gsLst>
                  <a:lin scaled="0"/>
                </a:gradFill>
                <a:ea typeface="宋体" panose="02010600030101010101" pitchFamily="2" charset="-122"/>
              </a:rPr>
              <a:t>变为</a:t>
            </a:r>
            <a:r>
              <a:rPr lang="en-US" sz="2000" b="1">
                <a:gradFill>
                  <a:gsLst>
                    <a:gs pos="0">
                      <a:srgbClr val="012D86"/>
                    </a:gs>
                    <a:gs pos="100000">
                      <a:srgbClr val="0E2557"/>
                    </a:gs>
                  </a:gsLst>
                  <a:lin scaled="0"/>
                </a:gradFill>
                <a:latin typeface="Times New Roman" panose="02020603050405020304" charset="0"/>
              </a:rPr>
              <a:t>0000</a:t>
            </a:r>
            <a:r>
              <a:rPr lang="zh-CN" sz="2000" b="1">
                <a:gradFill>
                  <a:gsLst>
                    <a:gs pos="0">
                      <a:srgbClr val="012D86"/>
                    </a:gs>
                    <a:gs pos="100000">
                      <a:srgbClr val="0E2557"/>
                    </a:gs>
                  </a:gsLst>
                  <a:lin scaled="0"/>
                </a:gradFill>
                <a:ea typeface="宋体" panose="02010600030101010101" pitchFamily="2" charset="-122"/>
              </a:rPr>
              <a:t>时，</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rPr>
              <a:t>1</a:t>
            </a:r>
            <a:r>
              <a:rPr lang="zh-CN" sz="2000" b="1">
                <a:gradFill>
                  <a:gsLst>
                    <a:gs pos="0">
                      <a:srgbClr val="012D86"/>
                    </a:gs>
                    <a:gs pos="100000">
                      <a:srgbClr val="0E2557"/>
                    </a:gs>
                  </a:gsLst>
                  <a:lin scaled="0"/>
                </a:gradFill>
                <a:ea typeface="宋体" panose="02010600030101010101" pitchFamily="2" charset="-122"/>
              </a:rPr>
              <a:t>由</a:t>
            </a:r>
            <a:r>
              <a:rPr lang="en-US" sz="2000" b="1">
                <a:gradFill>
                  <a:gsLst>
                    <a:gs pos="0">
                      <a:srgbClr val="012D86"/>
                    </a:gs>
                    <a:gs pos="100000">
                      <a:srgbClr val="0E2557"/>
                    </a:gs>
                  </a:gsLst>
                  <a:lin scaled="0"/>
                </a:gradFill>
                <a:latin typeface="Times New Roman" panose="02020603050405020304" charset="0"/>
              </a:rPr>
              <a:t>1</a:t>
            </a:r>
            <a:r>
              <a:rPr lang="zh-CN" sz="2000" b="1">
                <a:gradFill>
                  <a:gsLst>
                    <a:gs pos="0">
                      <a:srgbClr val="012D86"/>
                    </a:gs>
                    <a:gs pos="100000">
                      <a:srgbClr val="0E2557"/>
                    </a:gs>
                  </a:gsLst>
                  <a:lin scaled="0"/>
                </a:gradFill>
                <a:ea typeface="宋体" panose="02010600030101010101" pitchFamily="2" charset="-122"/>
              </a:rPr>
              <a:t>到</a:t>
            </a:r>
            <a:r>
              <a:rPr lang="en-US" sz="2000" b="1">
                <a:gradFill>
                  <a:gsLst>
                    <a:gs pos="0">
                      <a:srgbClr val="012D86"/>
                    </a:gs>
                    <a:gs pos="100000">
                      <a:srgbClr val="0E2557"/>
                    </a:gs>
                  </a:gsLst>
                  <a:lin scaled="0"/>
                </a:gradFill>
                <a:latin typeface="Times New Roman" panose="02020603050405020304" charset="0"/>
              </a:rPr>
              <a:t>0</a:t>
            </a:r>
            <a:r>
              <a:rPr lang="zh-CN" sz="2000" b="1">
                <a:gradFill>
                  <a:gsLst>
                    <a:gs pos="0">
                      <a:srgbClr val="012D86"/>
                    </a:gs>
                    <a:gs pos="100000">
                      <a:srgbClr val="0E2557"/>
                    </a:gs>
                  </a:gsLst>
                  <a:lin scaled="0"/>
                </a:gradFill>
                <a:ea typeface="宋体" panose="02010600030101010101" pitchFamily="2" charset="-122"/>
              </a:rPr>
              <a:t>有一个负脉冲信号，可使第</a:t>
            </a:r>
            <a:r>
              <a:rPr lang="en-US" sz="2000" b="1">
                <a:gradFill>
                  <a:gsLst>
                    <a:gs pos="0">
                      <a:srgbClr val="012D86"/>
                    </a:gs>
                    <a:gs pos="100000">
                      <a:srgbClr val="0E2557"/>
                    </a:gs>
                  </a:gsLst>
                  <a:lin scaled="0"/>
                </a:gradFill>
                <a:latin typeface="Times New Roman" panose="02020603050405020304" charset="0"/>
              </a:rPr>
              <a:t>2</a:t>
            </a:r>
            <a:r>
              <a:rPr lang="zh-CN" sz="2000" b="1">
                <a:gradFill>
                  <a:gsLst>
                    <a:gs pos="0">
                      <a:srgbClr val="012D86"/>
                    </a:gs>
                    <a:gs pos="100000">
                      <a:srgbClr val="0E2557"/>
                    </a:gs>
                  </a:gsLst>
                  <a:lin scaled="0"/>
                </a:gradFill>
                <a:ea typeface="宋体" panose="02010600030101010101" pitchFamily="2" charset="-122"/>
              </a:rPr>
              <a:t>片翻转，即构成了</a:t>
            </a:r>
            <a:r>
              <a:rPr lang="en-US" sz="2000" b="1">
                <a:gradFill>
                  <a:gsLst>
                    <a:gs pos="0">
                      <a:srgbClr val="012D86"/>
                    </a:gs>
                    <a:gs pos="100000">
                      <a:srgbClr val="0E2557"/>
                    </a:gs>
                  </a:gsLst>
                  <a:lin scaled="0"/>
                </a:gradFill>
                <a:latin typeface="Times New Roman" panose="02020603050405020304" charset="0"/>
              </a:rPr>
              <a:t>3×8</a:t>
            </a:r>
            <a:r>
              <a:rPr lang="zh-CN" sz="2000" b="1">
                <a:gradFill>
                  <a:gsLst>
                    <a:gs pos="0">
                      <a:srgbClr val="012D86"/>
                    </a:gs>
                    <a:gs pos="100000">
                      <a:srgbClr val="0E2557"/>
                    </a:gs>
                  </a:gsLst>
                  <a:lin scaled="0"/>
                </a:gradFill>
                <a:ea typeface="宋体" panose="02010600030101010101" pitchFamily="2" charset="-122"/>
              </a:rPr>
              <a:t>进制计数器。</a:t>
            </a:r>
            <a:endParaRPr lang="zh-CN" altLang="en-US" sz="2000" b="1">
              <a:gradFill>
                <a:gsLst>
                  <a:gs pos="0">
                    <a:srgbClr val="012D86"/>
                  </a:gs>
                  <a:gs pos="100000">
                    <a:srgbClr val="0E2557"/>
                  </a:gs>
                </a:gsLst>
                <a:lin scaled="0"/>
              </a:gradFill>
              <a:ea typeface="宋体" panose="02010600030101010101" pitchFamily="2" charset="-122"/>
            </a:endParaRPr>
          </a:p>
        </p:txBody>
      </p:sp>
      <p:pic>
        <p:nvPicPr>
          <p:cNvPr id="9410" name="图片 2847"/>
          <p:cNvPicPr>
            <a:picLocks noChangeAspect="1"/>
          </p:cNvPicPr>
          <p:nvPr/>
        </p:nvPicPr>
        <p:blipFill>
          <a:blip r:embed="rId1"/>
          <a:stretch>
            <a:fillRect/>
          </a:stretch>
        </p:blipFill>
        <p:spPr>
          <a:xfrm>
            <a:off x="1156970" y="4511675"/>
            <a:ext cx="6003290" cy="22053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1000"/>
                                  </p:stCondLst>
                                  <p:childTnLst>
                                    <p:set>
                                      <p:cBhvr>
                                        <p:cTn id="17" dur="1" fill="hold">
                                          <p:stCondLst>
                                            <p:cond delay="0"/>
                                          </p:stCondLst>
                                        </p:cTn>
                                        <p:tgtEl>
                                          <p:spTgt spid="94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4"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6.5 </a:t>
            </a:r>
            <a:r>
              <a:rPr lang="zh-CN" b="1" dirty="0">
                <a:solidFill>
                  <a:srgbClr val="FF0000"/>
                </a:solidFill>
                <a:latin typeface="黑体" panose="02010609060101010101" pitchFamily="49" charset="-122"/>
                <a:ea typeface="黑体" panose="02010609060101010101" pitchFamily="49" charset="-122"/>
                <a:sym typeface="+mn-ea"/>
              </a:rPr>
              <a:t>数码寄存器与移位寄存器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115810" name="Group 98"/>
          <p:cNvGrpSpPr/>
          <p:nvPr/>
        </p:nvGrpSpPr>
        <p:grpSpPr>
          <a:xfrm>
            <a:off x="4245928" y="1120458"/>
            <a:ext cx="4502150" cy="5264150"/>
            <a:chOff x="1405" y="572"/>
            <a:chExt cx="2836" cy="3316"/>
          </a:xfrm>
        </p:grpSpPr>
        <p:sp>
          <p:nvSpPr>
            <p:cNvPr id="115717" name="Rectangle 5"/>
            <p:cNvSpPr>
              <a:spLocks noChangeArrowheads="1"/>
            </p:cNvSpPr>
            <p:nvPr/>
          </p:nvSpPr>
          <p:spPr bwMode="auto">
            <a:xfrm>
              <a:off x="1405" y="964"/>
              <a:ext cx="2836" cy="2924"/>
            </a:xfrm>
            <a:prstGeom prst="rect">
              <a:avLst/>
            </a:prstGeom>
            <a:solidFill>
              <a:schemeClr val="bg1"/>
            </a:solidFill>
            <a:ln w="38100">
              <a:solidFill>
                <a:srgbClr val="000000"/>
              </a:solidFill>
              <a:miter lim="800000"/>
            </a:ln>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18" name="Text Box 6"/>
            <p:cNvSpPr txBox="1">
              <a:spLocks noChangeArrowheads="1"/>
            </p:cNvSpPr>
            <p:nvPr/>
          </p:nvSpPr>
          <p:spPr bwMode="auto">
            <a:xfrm>
              <a:off x="2893" y="1073"/>
              <a:ext cx="495" cy="140"/>
            </a:xfrm>
            <a:prstGeom prst="rect">
              <a:avLst/>
            </a:prstGeom>
            <a:solidFill>
              <a:srgbClr val="FFFF00"/>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0" rIns="0" bIns="0"/>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DS</a:t>
              </a:r>
              <a:endPar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19" name="Text Box 7"/>
            <p:cNvSpPr txBox="1">
              <a:spLocks noChangeArrowheads="1"/>
            </p:cNvSpPr>
            <p:nvPr/>
          </p:nvSpPr>
          <p:spPr bwMode="auto">
            <a:xfrm>
              <a:off x="2893" y="1213"/>
              <a:ext cx="495" cy="140"/>
            </a:xfrm>
            <a:prstGeom prst="rect">
              <a:avLst/>
            </a:prstGeom>
            <a:solidFill>
              <a:srgbClr val="FFFF00"/>
            </a:solidFill>
            <a:ln w="12700">
              <a:solidFill>
                <a:srgbClr val="000000"/>
              </a:solidFill>
              <a:miter lim="800000"/>
            </a:ln>
          </p:spPr>
          <p:txBody>
            <a:bodyPr lIns="72000" tIns="0" rIns="0" bIns="0"/>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ES</a:t>
              </a:r>
              <a:endPar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20" name="Text Box 8"/>
            <p:cNvSpPr txBox="1">
              <a:spLocks noChangeArrowheads="1"/>
            </p:cNvSpPr>
            <p:nvPr/>
          </p:nvSpPr>
          <p:spPr bwMode="auto">
            <a:xfrm>
              <a:off x="2893" y="1353"/>
              <a:ext cx="495" cy="139"/>
            </a:xfrm>
            <a:prstGeom prst="rect">
              <a:avLst/>
            </a:prstGeom>
            <a:solidFill>
              <a:srgbClr val="FFFF00"/>
            </a:solidFill>
            <a:ln w="12700">
              <a:solidFill>
                <a:srgbClr val="000000"/>
              </a:solidFill>
              <a:miter lim="800000"/>
            </a:ln>
          </p:spPr>
          <p:txBody>
            <a:bodyPr lIns="72000" tIns="0" rIns="0" bIns="0"/>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SS</a:t>
              </a:r>
              <a:endParaRPr kumimoji="1" lang="en-US" altLang="zh-CN" sz="22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21" name="Text Box 9"/>
            <p:cNvSpPr txBox="1">
              <a:spLocks noChangeArrowheads="1"/>
            </p:cNvSpPr>
            <p:nvPr/>
          </p:nvSpPr>
          <p:spPr bwMode="auto">
            <a:xfrm>
              <a:off x="2893" y="1492"/>
              <a:ext cx="495" cy="140"/>
            </a:xfrm>
            <a:prstGeom prst="rect">
              <a:avLst/>
            </a:prstGeom>
            <a:solidFill>
              <a:srgbClr val="FFFF00"/>
            </a:solidFill>
            <a:ln w="12700">
              <a:solidFill>
                <a:srgbClr val="000000"/>
              </a:solidFill>
              <a:miter lim="800000"/>
            </a:ln>
          </p:spPr>
          <p:txBody>
            <a:bodyPr lIns="72000" tIns="0" rIns="0" bIns="0"/>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CS</a:t>
              </a:r>
              <a:endPar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22" name="Text Box 10"/>
            <p:cNvSpPr txBox="1">
              <a:spLocks noChangeArrowheads="1"/>
            </p:cNvSpPr>
            <p:nvPr/>
          </p:nvSpPr>
          <p:spPr bwMode="auto">
            <a:xfrm>
              <a:off x="2893" y="1777"/>
              <a:ext cx="496" cy="140"/>
            </a:xfrm>
            <a:prstGeom prst="rect">
              <a:avLst/>
            </a:prstGeom>
            <a:solidFill>
              <a:srgbClr val="FFCC00"/>
            </a:solidFill>
            <a:ln w="12700">
              <a:solidFill>
                <a:srgbClr val="000000"/>
              </a:solidFill>
              <a:miter lim="800000"/>
            </a:ln>
          </p:spPr>
          <p:txBody>
            <a:bodyPr lIns="72000" tIns="0" rIns="0" bIns="0"/>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IP</a:t>
              </a:r>
              <a:endParaRPr kumimoji="1" lang="en-US" altLang="zh-CN" sz="1600" kern="1200" cap="none" spc="0" normalizeH="0" baseline="0" noProof="0" smtClean="0">
                <a:solidFill>
                  <a:srgbClr val="FF3300"/>
                </a:soli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23" name="AutoShape 11"/>
            <p:cNvSpPr>
              <a:spLocks noChangeArrowheads="1"/>
            </p:cNvSpPr>
            <p:nvPr/>
          </p:nvSpPr>
          <p:spPr bwMode="auto">
            <a:xfrm>
              <a:off x="2557" y="1032"/>
              <a:ext cx="171" cy="2808"/>
            </a:xfrm>
            <a:prstGeom prst="upDownArrow">
              <a:avLst>
                <a:gd name="adj1" fmla="val 53074"/>
                <a:gd name="adj2" fmla="val 29877"/>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24" name="AutoShape 12"/>
            <p:cNvSpPr>
              <a:spLocks noChangeArrowheads="1"/>
            </p:cNvSpPr>
            <p:nvPr/>
          </p:nvSpPr>
          <p:spPr bwMode="auto">
            <a:xfrm>
              <a:off x="3397" y="1119"/>
              <a:ext cx="202" cy="147"/>
            </a:xfrm>
            <a:prstGeom prst="rightArrow">
              <a:avLst>
                <a:gd name="adj1" fmla="val 50000"/>
                <a:gd name="adj2" fmla="val 34354"/>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25" name="AutoShape 13"/>
            <p:cNvSpPr>
              <a:spLocks noChangeArrowheads="1"/>
            </p:cNvSpPr>
            <p:nvPr/>
          </p:nvSpPr>
          <p:spPr bwMode="auto">
            <a:xfrm>
              <a:off x="3402" y="1773"/>
              <a:ext cx="202" cy="147"/>
            </a:xfrm>
            <a:prstGeom prst="rightArrow">
              <a:avLst>
                <a:gd name="adj1" fmla="val 50000"/>
                <a:gd name="adj2" fmla="val 34354"/>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26" name="AutoShape 14"/>
            <p:cNvSpPr>
              <a:spLocks noChangeArrowheads="1"/>
            </p:cNvSpPr>
            <p:nvPr/>
          </p:nvSpPr>
          <p:spPr bwMode="auto">
            <a:xfrm>
              <a:off x="2653" y="1773"/>
              <a:ext cx="253" cy="144"/>
            </a:xfrm>
            <a:prstGeom prst="rightArrow">
              <a:avLst>
                <a:gd name="adj1" fmla="val 50000"/>
                <a:gd name="adj2" fmla="val 43924"/>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27" name="AutoShape 15"/>
            <p:cNvSpPr>
              <a:spLocks noChangeArrowheads="1"/>
            </p:cNvSpPr>
            <p:nvPr/>
          </p:nvSpPr>
          <p:spPr bwMode="auto">
            <a:xfrm>
              <a:off x="2653" y="1972"/>
              <a:ext cx="958" cy="144"/>
            </a:xfrm>
            <a:prstGeom prst="rightArrow">
              <a:avLst>
                <a:gd name="adj1" fmla="val 62241"/>
                <a:gd name="adj2" fmla="val 42350"/>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28" name="AutoShape 16"/>
            <p:cNvSpPr>
              <a:spLocks noChangeArrowheads="1"/>
            </p:cNvSpPr>
            <p:nvPr/>
          </p:nvSpPr>
          <p:spPr bwMode="auto">
            <a:xfrm>
              <a:off x="2193" y="2400"/>
              <a:ext cx="451" cy="169"/>
            </a:xfrm>
            <a:prstGeom prst="leftArrow">
              <a:avLst>
                <a:gd name="adj1" fmla="val 62241"/>
                <a:gd name="adj2" fmla="val 44206"/>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29" name="Line 17"/>
            <p:cNvSpPr>
              <a:spLocks noChangeShapeType="1"/>
            </p:cNvSpPr>
            <p:nvPr/>
          </p:nvSpPr>
          <p:spPr bwMode="auto">
            <a:xfrm>
              <a:off x="1808" y="2627"/>
              <a:ext cx="0"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30" name="Line 18"/>
            <p:cNvSpPr>
              <a:spLocks noChangeShapeType="1"/>
            </p:cNvSpPr>
            <p:nvPr/>
          </p:nvSpPr>
          <p:spPr bwMode="auto">
            <a:xfrm>
              <a:off x="1667" y="2936"/>
              <a:ext cx="144"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31" name="AutoShape 19"/>
            <p:cNvSpPr>
              <a:spLocks noChangeArrowheads="1"/>
            </p:cNvSpPr>
            <p:nvPr/>
          </p:nvSpPr>
          <p:spPr bwMode="auto">
            <a:xfrm>
              <a:off x="2687" y="2161"/>
              <a:ext cx="434" cy="143"/>
            </a:xfrm>
            <a:prstGeom prst="leftRightArrow">
              <a:avLst>
                <a:gd name="adj1" fmla="val 62241"/>
                <a:gd name="adj2" fmla="val 33511"/>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32" name="Text Box 20"/>
            <p:cNvSpPr txBox="1">
              <a:spLocks noChangeArrowheads="1"/>
            </p:cNvSpPr>
            <p:nvPr/>
          </p:nvSpPr>
          <p:spPr bwMode="auto">
            <a:xfrm>
              <a:off x="2989" y="2592"/>
              <a:ext cx="683" cy="145"/>
            </a:xfrm>
            <a:prstGeom prst="rect">
              <a:avLst/>
            </a:prstGeom>
            <a:solidFill>
              <a:srgbClr val="00FFFF"/>
            </a:solidFill>
            <a:ln w="12700">
              <a:solidFill>
                <a:srgbClr val="000000"/>
              </a:solidFill>
              <a:miter lim="800000"/>
            </a:ln>
          </p:spPr>
          <p:txBody>
            <a:bodyPr lIns="72000" tIns="0" rIns="0" bIns="0"/>
            <a:p>
              <a:pPr marR="0" algn="just" defTabSz="914400">
                <a:buClrTx/>
                <a:buSzTx/>
                <a:buFontTx/>
                <a:defRPr/>
              </a:pPr>
              <a:endParaRPr kumimoji="1" 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33" name="Text Box 21"/>
            <p:cNvSpPr txBox="1">
              <a:spLocks noChangeArrowheads="1"/>
            </p:cNvSpPr>
            <p:nvPr/>
          </p:nvSpPr>
          <p:spPr bwMode="auto">
            <a:xfrm>
              <a:off x="2989" y="2728"/>
              <a:ext cx="683" cy="144"/>
            </a:xfrm>
            <a:prstGeom prst="rect">
              <a:avLst/>
            </a:prstGeom>
            <a:solidFill>
              <a:srgbClr val="00FFFF"/>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0" rIns="0" bIns="0"/>
            <a:p>
              <a:pPr marR="0" algn="just" defTabSz="914400">
                <a:buClrTx/>
                <a:buSzTx/>
                <a:buFontTx/>
                <a:defRPr/>
              </a:pPr>
              <a:endParaRPr kumimoji="1" lang="en-US" sz="22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34" name="Text Box 22"/>
            <p:cNvSpPr txBox="1">
              <a:spLocks noChangeArrowheads="1"/>
            </p:cNvSpPr>
            <p:nvPr/>
          </p:nvSpPr>
          <p:spPr bwMode="auto">
            <a:xfrm>
              <a:off x="2989" y="2848"/>
              <a:ext cx="683" cy="145"/>
            </a:xfrm>
            <a:prstGeom prst="rect">
              <a:avLst/>
            </a:prstGeom>
            <a:solidFill>
              <a:srgbClr val="00FFFF"/>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0" rIns="0" bIns="0"/>
            <a:p>
              <a:pPr marR="0" algn="just" defTabSz="914400">
                <a:buClrTx/>
                <a:buSzTx/>
                <a:buFontTx/>
                <a:defRPr/>
              </a:pPr>
              <a:endParaRPr kumimoji="1" lang="en-US" sz="22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35" name="Text Box 23"/>
            <p:cNvSpPr txBox="1">
              <a:spLocks noChangeArrowheads="1"/>
            </p:cNvSpPr>
            <p:nvPr/>
          </p:nvSpPr>
          <p:spPr bwMode="auto">
            <a:xfrm>
              <a:off x="2989" y="2993"/>
              <a:ext cx="683" cy="145"/>
            </a:xfrm>
            <a:prstGeom prst="rect">
              <a:avLst/>
            </a:prstGeom>
            <a:solidFill>
              <a:srgbClr val="00FFFF"/>
            </a:solidFill>
            <a:ln w="12700">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0" rIns="0" bIns="0"/>
            <a:p>
              <a:pPr marR="0" algn="just" defTabSz="914400">
                <a:buClrTx/>
                <a:buSzTx/>
                <a:buFontTx/>
                <a:defRPr/>
              </a:pPr>
              <a:endParaRPr kumimoji="1" lang="en-US" sz="22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36" name="Text Box 24"/>
            <p:cNvSpPr txBox="1">
              <a:spLocks noChangeArrowheads="1"/>
            </p:cNvSpPr>
            <p:nvPr/>
          </p:nvSpPr>
          <p:spPr bwMode="auto">
            <a:xfrm>
              <a:off x="3126" y="2151"/>
              <a:ext cx="727" cy="201"/>
            </a:xfrm>
            <a:prstGeom prst="rect">
              <a:avLst/>
            </a:prstGeom>
            <a:noFill/>
            <a:ln w="12700">
              <a:solidFill>
                <a:schemeClr val="tx1"/>
              </a:solidFill>
              <a:miter lim="800000"/>
            </a:ln>
            <a:extLst>
              <a:ext uri="{909E8E84-426E-40DD-AFC4-6F175D3DCCD1}">
                <a14:hiddenFill xmlns:a14="http://schemas.microsoft.com/office/drawing/2010/main">
                  <a:solidFill>
                    <a:srgbClr val="CCFFCC"/>
                  </a:solidFill>
                </a14:hiddenFill>
              </a:ext>
            </a:extLst>
          </p:spPr>
          <p:txBody>
            <a:bodyPr lIns="72000" tIns="0" rIns="0" bIns="0"/>
            <a:p>
              <a:pPr marR="0" algn="ctr" defTabSz="914400">
                <a:buClrTx/>
                <a:buSzTx/>
                <a:buFontTx/>
                <a:defRPr/>
              </a:pPr>
              <a:r>
                <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数据暂存器</a:t>
              </a:r>
              <a:endPar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37" name="AutoShape 25"/>
            <p:cNvSpPr>
              <a:spLocks noChangeArrowheads="1"/>
            </p:cNvSpPr>
            <p:nvPr/>
          </p:nvSpPr>
          <p:spPr bwMode="auto">
            <a:xfrm>
              <a:off x="3373" y="2352"/>
              <a:ext cx="164" cy="244"/>
            </a:xfrm>
            <a:prstGeom prst="downArrow">
              <a:avLst>
                <a:gd name="adj1" fmla="val 50000"/>
                <a:gd name="adj2" fmla="val 37195"/>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38" name="AutoShape 26"/>
            <p:cNvSpPr>
              <a:spLocks noChangeArrowheads="1"/>
            </p:cNvSpPr>
            <p:nvPr/>
          </p:nvSpPr>
          <p:spPr bwMode="auto">
            <a:xfrm>
              <a:off x="1656" y="3317"/>
              <a:ext cx="958" cy="116"/>
            </a:xfrm>
            <a:prstGeom prst="rightArrow">
              <a:avLst>
                <a:gd name="adj1" fmla="val 56250"/>
                <a:gd name="adj2" fmla="val 64348"/>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39" name="Rectangle 27"/>
            <p:cNvSpPr>
              <a:spLocks noChangeArrowheads="1"/>
            </p:cNvSpPr>
            <p:nvPr/>
          </p:nvSpPr>
          <p:spPr bwMode="auto">
            <a:xfrm>
              <a:off x="1667" y="3337"/>
              <a:ext cx="58" cy="33"/>
            </a:xfrm>
            <a:prstGeom prst="rect">
              <a:avLst/>
            </a:prstGeom>
            <a:solidFill>
              <a:srgbClr val="CCFFFF"/>
            </a:solidFill>
            <a:ln w="12700">
              <a:solidFill>
                <a:srgbClr val="FFFFFF"/>
              </a:solidFill>
              <a:miter lim="800000"/>
            </a:ln>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40" name="Text Box 28"/>
            <p:cNvSpPr txBox="1">
              <a:spLocks noChangeArrowheads="1"/>
            </p:cNvSpPr>
            <p:nvPr/>
          </p:nvSpPr>
          <p:spPr bwMode="auto">
            <a:xfrm>
              <a:off x="1752" y="3452"/>
              <a:ext cx="687" cy="340"/>
            </a:xfrm>
            <a:prstGeom prst="rect">
              <a:avLst/>
            </a:prstGeom>
            <a:solidFill>
              <a:srgbClr val="FFFF99"/>
            </a:solidFill>
            <a:ln w="12700">
              <a:solidFill>
                <a:srgbClr val="000000"/>
              </a:solidFill>
              <a:miter lim="800000"/>
            </a:ln>
          </p:spPr>
          <p:txBody>
            <a:bodyPr lIns="72000" tIns="0" rIns="0" bIns="0"/>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PSW</a:t>
              </a:r>
              <a:r>
                <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标志</a:t>
              </a:r>
              <a:endPar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a:p>
              <a:pPr marR="0" algn="ctr" defTabSz="914400">
                <a:buClrTx/>
                <a:buSzTx/>
                <a:buFontTx/>
                <a:defRPr/>
              </a:pPr>
              <a:r>
                <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寄存器</a:t>
              </a:r>
              <a:endParaRPr kumimoji="1" lang="zh-CN" altLang="en-US" sz="2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41" name="AutoShape 29"/>
            <p:cNvSpPr>
              <a:spLocks noChangeArrowheads="1"/>
            </p:cNvSpPr>
            <p:nvPr/>
          </p:nvSpPr>
          <p:spPr bwMode="auto">
            <a:xfrm>
              <a:off x="1526" y="3552"/>
              <a:ext cx="231" cy="149"/>
            </a:xfrm>
            <a:prstGeom prst="rightArrow">
              <a:avLst>
                <a:gd name="adj1" fmla="val 50000"/>
                <a:gd name="adj2" fmla="val 38758"/>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42" name="AutoShape 30"/>
            <p:cNvSpPr>
              <a:spLocks noChangeArrowheads="1"/>
            </p:cNvSpPr>
            <p:nvPr/>
          </p:nvSpPr>
          <p:spPr bwMode="auto">
            <a:xfrm>
              <a:off x="2434" y="3530"/>
              <a:ext cx="180" cy="116"/>
            </a:xfrm>
            <a:prstGeom prst="rightArrow">
              <a:avLst>
                <a:gd name="adj1" fmla="val 49796"/>
                <a:gd name="adj2" fmla="val 42428"/>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43" name="AutoShape 31"/>
            <p:cNvSpPr>
              <a:spLocks noChangeArrowheads="1"/>
            </p:cNvSpPr>
            <p:nvPr/>
          </p:nvSpPr>
          <p:spPr bwMode="auto">
            <a:xfrm>
              <a:off x="2193" y="3110"/>
              <a:ext cx="451" cy="170"/>
            </a:xfrm>
            <a:prstGeom prst="leftArrow">
              <a:avLst>
                <a:gd name="adj1" fmla="val 62241"/>
                <a:gd name="adj2" fmla="val 43945"/>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44" name="AutoShape 32"/>
            <p:cNvSpPr>
              <a:spLocks noChangeArrowheads="1"/>
            </p:cNvSpPr>
            <p:nvPr/>
          </p:nvSpPr>
          <p:spPr bwMode="auto">
            <a:xfrm>
              <a:off x="2684" y="3643"/>
              <a:ext cx="402" cy="149"/>
            </a:xfrm>
            <a:prstGeom prst="leftRightArrow">
              <a:avLst>
                <a:gd name="adj1" fmla="val 62241"/>
                <a:gd name="adj2" fmla="val 38221"/>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45" name="Text Box 33"/>
            <p:cNvSpPr txBox="1">
              <a:spLocks noChangeArrowheads="1"/>
            </p:cNvSpPr>
            <p:nvPr/>
          </p:nvSpPr>
          <p:spPr bwMode="auto">
            <a:xfrm>
              <a:off x="3086" y="3623"/>
              <a:ext cx="1103" cy="169"/>
            </a:xfrm>
            <a:prstGeom prst="rect">
              <a:avLst/>
            </a:prstGeom>
            <a:noFill/>
            <a:ln w="12700">
              <a:solidFill>
                <a:schemeClr val="tx1"/>
              </a:solidFill>
              <a:miter lim="800000"/>
            </a:ln>
            <a:extLst>
              <a:ext uri="{909E8E84-426E-40DD-AFC4-6F175D3DCCD1}">
                <a14:hiddenFill xmlns:a14="http://schemas.microsoft.com/office/drawing/2010/main">
                  <a:solidFill>
                    <a:srgbClr val="CC99FF">
                      <a:alpha val="50000"/>
                    </a:srgbClr>
                  </a:solidFill>
                </a14:hiddenFill>
              </a:ext>
            </a:extLst>
          </p:spPr>
          <p:txBody>
            <a:bodyPr lIns="72000" tIns="0" rIns="0" bIns="0"/>
            <a:p>
              <a:pPr marR="0" algn="ctr" defTabSz="914400">
                <a:buClrTx/>
                <a:buSzTx/>
                <a:buFontTx/>
                <a:defRPr/>
              </a:pPr>
              <a:r>
                <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执行部件控制电路</a:t>
              </a:r>
              <a:endPar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46" name="Text Box 34"/>
            <p:cNvSpPr txBox="1">
              <a:spLocks noChangeArrowheads="1"/>
            </p:cNvSpPr>
            <p:nvPr/>
          </p:nvSpPr>
          <p:spPr bwMode="auto">
            <a:xfrm>
              <a:off x="3085" y="3264"/>
              <a:ext cx="816" cy="192"/>
            </a:xfrm>
            <a:prstGeom prst="rect">
              <a:avLst/>
            </a:prstGeom>
            <a:noFill/>
            <a:ln w="12700">
              <a:solidFill>
                <a:schemeClr val="tx1"/>
              </a:solidFill>
              <a:miter lim="800000"/>
            </a:ln>
            <a:extLst>
              <a:ext uri="{909E8E84-426E-40DD-AFC4-6F175D3DCCD1}">
                <a14:hiddenFill xmlns:a14="http://schemas.microsoft.com/office/drawing/2010/main">
                  <a:solidFill>
                    <a:srgbClr val="FF66CC">
                      <a:alpha val="50000"/>
                    </a:srgbClr>
                  </a:solidFill>
                </a14:hiddenFill>
              </a:ext>
            </a:extLst>
          </p:spPr>
          <p:txBody>
            <a:bodyPr lIns="72000" tIns="0" rIns="0" bIns="0"/>
            <a:p>
              <a:pPr marR="0" algn="ctr" defTabSz="914400">
                <a:buClrTx/>
                <a:buSzTx/>
                <a:buFontTx/>
                <a:defRPr/>
              </a:pPr>
              <a:r>
                <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指令译码器</a:t>
              </a:r>
              <a:endParaRPr kumimoji="1" lang="zh-CN" altLang="en-US" sz="2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47" name="AutoShape 35"/>
            <p:cNvSpPr>
              <a:spLocks noChangeArrowheads="1"/>
            </p:cNvSpPr>
            <p:nvPr/>
          </p:nvSpPr>
          <p:spPr bwMode="auto">
            <a:xfrm>
              <a:off x="3421" y="3120"/>
              <a:ext cx="122" cy="144"/>
            </a:xfrm>
            <a:prstGeom prst="downArrow">
              <a:avLst>
                <a:gd name="adj1" fmla="val 50000"/>
                <a:gd name="adj2" fmla="val 29508"/>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48" name="AutoShape 36"/>
            <p:cNvSpPr>
              <a:spLocks noChangeArrowheads="1"/>
            </p:cNvSpPr>
            <p:nvPr/>
          </p:nvSpPr>
          <p:spPr bwMode="auto">
            <a:xfrm>
              <a:off x="3406" y="3444"/>
              <a:ext cx="137" cy="179"/>
            </a:xfrm>
            <a:prstGeom prst="downArrow">
              <a:avLst>
                <a:gd name="adj1" fmla="val 50000"/>
                <a:gd name="adj2" fmla="val 32664"/>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49" name="Text Box 37"/>
            <p:cNvSpPr txBox="1">
              <a:spLocks noChangeArrowheads="1"/>
            </p:cNvSpPr>
            <p:nvPr/>
          </p:nvSpPr>
          <p:spPr bwMode="auto">
            <a:xfrm>
              <a:off x="2150" y="1167"/>
              <a:ext cx="254" cy="579"/>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AX</a:t>
              </a:r>
              <a:endPar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BX</a:t>
              </a:r>
              <a:endPar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CX</a:t>
              </a:r>
              <a:endPar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DX</a:t>
              </a:r>
              <a:endPar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50" name="Text Box 38"/>
            <p:cNvSpPr txBox="1">
              <a:spLocks noChangeArrowheads="1"/>
            </p:cNvSpPr>
            <p:nvPr/>
          </p:nvSpPr>
          <p:spPr bwMode="auto">
            <a:xfrm>
              <a:off x="1501" y="1200"/>
              <a:ext cx="320" cy="139"/>
            </a:xfrm>
            <a:prstGeom prst="rect">
              <a:avLst/>
            </a:prstGeom>
            <a:solidFill>
              <a:srgbClr val="CCFFCC"/>
            </a:solidFill>
            <a:ln w="12700">
              <a:solidFill>
                <a:srgbClr val="000000"/>
              </a:solidFill>
              <a:miter lim="800000"/>
            </a:ln>
          </p:spPr>
          <p:txBody>
            <a:bodyPr lIns="0" tIns="0" rIns="0" bIns="0"/>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AH</a:t>
              </a:r>
              <a:endPar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51" name="Text Box 39"/>
            <p:cNvSpPr txBox="1">
              <a:spLocks noChangeArrowheads="1"/>
            </p:cNvSpPr>
            <p:nvPr/>
          </p:nvSpPr>
          <p:spPr bwMode="auto">
            <a:xfrm>
              <a:off x="1501" y="1339"/>
              <a:ext cx="320" cy="139"/>
            </a:xfrm>
            <a:prstGeom prst="rect">
              <a:avLst/>
            </a:prstGeom>
            <a:solidFill>
              <a:srgbClr val="CCFFCC"/>
            </a:solidFill>
            <a:ln w="12700">
              <a:solidFill>
                <a:srgbClr val="000000"/>
              </a:solidFill>
              <a:miter lim="800000"/>
            </a:ln>
          </p:spPr>
          <p:txBody>
            <a:bodyPr lIns="0" tIns="0" rIns="0" bIns="0"/>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BH</a:t>
              </a:r>
              <a:endParaRPr kumimoji="1" lang="en-US" altLang="zh-CN"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52" name="Text Box 40"/>
            <p:cNvSpPr txBox="1">
              <a:spLocks noChangeArrowheads="1"/>
            </p:cNvSpPr>
            <p:nvPr/>
          </p:nvSpPr>
          <p:spPr bwMode="auto">
            <a:xfrm>
              <a:off x="1501" y="1478"/>
              <a:ext cx="320" cy="138"/>
            </a:xfrm>
            <a:prstGeom prst="rect">
              <a:avLst/>
            </a:prstGeom>
            <a:solidFill>
              <a:srgbClr val="CCFFCC"/>
            </a:solidFill>
            <a:ln w="12700">
              <a:solidFill>
                <a:srgbClr val="000000"/>
              </a:solidFill>
              <a:miter lim="800000"/>
            </a:ln>
          </p:spPr>
          <p:txBody>
            <a:bodyPr lIns="0" tIns="0" rIns="0" bIns="0"/>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CH</a:t>
              </a:r>
              <a:endPar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53" name="Text Box 41"/>
            <p:cNvSpPr txBox="1">
              <a:spLocks noChangeArrowheads="1"/>
            </p:cNvSpPr>
            <p:nvPr/>
          </p:nvSpPr>
          <p:spPr bwMode="auto">
            <a:xfrm>
              <a:off x="1501" y="1616"/>
              <a:ext cx="320" cy="139"/>
            </a:xfrm>
            <a:prstGeom prst="rect">
              <a:avLst/>
            </a:prstGeom>
            <a:solidFill>
              <a:srgbClr val="CCFFCC"/>
            </a:solidFill>
            <a:ln w="12700">
              <a:solidFill>
                <a:srgbClr val="000000"/>
              </a:solidFill>
              <a:miter lim="800000"/>
            </a:ln>
          </p:spPr>
          <p:txBody>
            <a:bodyPr lIns="0" tIns="0" rIns="0" bIns="0"/>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DH</a:t>
              </a:r>
              <a:endParaRPr kumimoji="1" lang="en-US" altLang="zh-CN" sz="22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54" name="Text Box 42"/>
            <p:cNvSpPr txBox="1">
              <a:spLocks noChangeArrowheads="1"/>
            </p:cNvSpPr>
            <p:nvPr/>
          </p:nvSpPr>
          <p:spPr bwMode="auto">
            <a:xfrm>
              <a:off x="1501" y="1755"/>
              <a:ext cx="639" cy="139"/>
            </a:xfrm>
            <a:prstGeom prst="rect">
              <a:avLst/>
            </a:prstGeom>
            <a:solidFill>
              <a:srgbClr val="CCFFCC"/>
            </a:solidFill>
            <a:ln w="12700">
              <a:solidFill>
                <a:srgbClr val="000000"/>
              </a:solidFill>
              <a:miter lim="800000"/>
            </a:ln>
          </p:spPr>
          <p:txBody>
            <a:bodyPr lIns="0" tIns="0" rIns="0" bIns="0"/>
            <a:p>
              <a:pPr marR="0" algn="ctr" defTabSz="914400">
                <a:lnSpc>
                  <a:spcPct val="90000"/>
                </a:lnSpc>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SI</a:t>
              </a:r>
              <a:endParaRPr kumimoji="1" lang="en-US" altLang="zh-CN" sz="22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55" name="Text Box 43"/>
            <p:cNvSpPr txBox="1">
              <a:spLocks noChangeArrowheads="1"/>
            </p:cNvSpPr>
            <p:nvPr/>
          </p:nvSpPr>
          <p:spPr bwMode="auto">
            <a:xfrm>
              <a:off x="1501" y="1894"/>
              <a:ext cx="639" cy="139"/>
            </a:xfrm>
            <a:prstGeom prst="rect">
              <a:avLst/>
            </a:prstGeom>
            <a:solidFill>
              <a:srgbClr val="CCFFCC"/>
            </a:solidFill>
            <a:ln w="12700">
              <a:solidFill>
                <a:srgbClr val="000000"/>
              </a:solidFill>
              <a:miter lim="800000"/>
            </a:ln>
          </p:spPr>
          <p:txBody>
            <a:bodyPr lIns="0" tIns="0" rIns="0" bIns="0"/>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DI</a:t>
              </a:r>
              <a:endPar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56" name="Text Box 44"/>
            <p:cNvSpPr txBox="1">
              <a:spLocks noChangeArrowheads="1"/>
            </p:cNvSpPr>
            <p:nvPr/>
          </p:nvSpPr>
          <p:spPr bwMode="auto">
            <a:xfrm>
              <a:off x="1501" y="2033"/>
              <a:ext cx="639" cy="138"/>
            </a:xfrm>
            <a:prstGeom prst="rect">
              <a:avLst/>
            </a:prstGeom>
            <a:solidFill>
              <a:srgbClr val="CCFFCC"/>
            </a:solidFill>
            <a:ln w="12700">
              <a:solidFill>
                <a:srgbClr val="000000"/>
              </a:solidFill>
              <a:miter lim="800000"/>
            </a:ln>
          </p:spPr>
          <p:txBody>
            <a:bodyPr lIns="0" tIns="0" rIns="0" bIns="0"/>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BP</a:t>
              </a:r>
              <a:endParaRPr kumimoji="1" lang="en-US" altLang="zh-CN" sz="22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57" name="Text Box 45"/>
            <p:cNvSpPr txBox="1">
              <a:spLocks noChangeArrowheads="1"/>
            </p:cNvSpPr>
            <p:nvPr/>
          </p:nvSpPr>
          <p:spPr bwMode="auto">
            <a:xfrm>
              <a:off x="1501" y="2171"/>
              <a:ext cx="639" cy="139"/>
            </a:xfrm>
            <a:prstGeom prst="rect">
              <a:avLst/>
            </a:prstGeom>
            <a:solidFill>
              <a:srgbClr val="CCFFCC"/>
            </a:solidFill>
            <a:ln w="12700">
              <a:solidFill>
                <a:srgbClr val="000000"/>
              </a:solidFill>
              <a:miter lim="800000"/>
            </a:ln>
          </p:spPr>
          <p:txBody>
            <a:bodyPr lIns="0" tIns="0" rIns="0" bIns="0"/>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SP</a:t>
              </a:r>
              <a:endParaRPr kumimoji="1" lang="en-US" altLang="zh-CN" sz="22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58" name="Text Box 46"/>
            <p:cNvSpPr txBox="1">
              <a:spLocks noChangeArrowheads="1"/>
            </p:cNvSpPr>
            <p:nvPr/>
          </p:nvSpPr>
          <p:spPr bwMode="auto">
            <a:xfrm>
              <a:off x="1822" y="1201"/>
              <a:ext cx="320" cy="139"/>
            </a:xfrm>
            <a:prstGeom prst="rect">
              <a:avLst/>
            </a:prstGeom>
            <a:solidFill>
              <a:srgbClr val="CCFFCC"/>
            </a:solidFill>
            <a:ln w="12700">
              <a:solidFill>
                <a:srgbClr val="000000"/>
              </a:solidFill>
              <a:miter lim="800000"/>
            </a:ln>
          </p:spPr>
          <p:txBody>
            <a:bodyPr lIns="0" tIns="0" rIns="0" bIns="0"/>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AL</a:t>
              </a:r>
              <a:endParaRPr kumimoji="1" lang="en-US" altLang="zh-CN" sz="2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59" name="Text Box 47"/>
            <p:cNvSpPr txBox="1">
              <a:spLocks noChangeArrowheads="1"/>
            </p:cNvSpPr>
            <p:nvPr/>
          </p:nvSpPr>
          <p:spPr bwMode="auto">
            <a:xfrm>
              <a:off x="1822" y="1340"/>
              <a:ext cx="320" cy="138"/>
            </a:xfrm>
            <a:prstGeom prst="rect">
              <a:avLst/>
            </a:prstGeom>
            <a:solidFill>
              <a:srgbClr val="CCFFCC"/>
            </a:solidFill>
            <a:ln w="12700">
              <a:solidFill>
                <a:srgbClr val="000000"/>
              </a:solidFill>
              <a:miter lim="800000"/>
            </a:ln>
          </p:spPr>
          <p:txBody>
            <a:bodyPr lIns="0" tIns="0" rIns="0" bIns="0"/>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BL</a:t>
              </a:r>
              <a:endPar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60" name="Text Box 48"/>
            <p:cNvSpPr txBox="1">
              <a:spLocks noChangeArrowheads="1"/>
            </p:cNvSpPr>
            <p:nvPr/>
          </p:nvSpPr>
          <p:spPr bwMode="auto">
            <a:xfrm>
              <a:off x="1822" y="1478"/>
              <a:ext cx="320" cy="139"/>
            </a:xfrm>
            <a:prstGeom prst="rect">
              <a:avLst/>
            </a:prstGeom>
            <a:solidFill>
              <a:srgbClr val="CCFFCC"/>
            </a:solidFill>
            <a:ln w="12700">
              <a:solidFill>
                <a:srgbClr val="000000"/>
              </a:solidFill>
              <a:miter lim="800000"/>
            </a:ln>
          </p:spPr>
          <p:txBody>
            <a:bodyPr lIns="0" tIns="0" rIns="0" bIns="0"/>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CL</a:t>
              </a:r>
              <a:endParaRPr kumimoji="1" lang="en-US" altLang="zh-CN" sz="22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61" name="Text Box 49"/>
            <p:cNvSpPr txBox="1">
              <a:spLocks noChangeArrowheads="1"/>
            </p:cNvSpPr>
            <p:nvPr/>
          </p:nvSpPr>
          <p:spPr bwMode="auto">
            <a:xfrm>
              <a:off x="1822" y="1617"/>
              <a:ext cx="320" cy="138"/>
            </a:xfrm>
            <a:prstGeom prst="rect">
              <a:avLst/>
            </a:prstGeom>
            <a:solidFill>
              <a:srgbClr val="CCFFCC"/>
            </a:solidFill>
            <a:ln w="12700">
              <a:solidFill>
                <a:srgbClr val="000000"/>
              </a:solidFill>
              <a:miter lim="800000"/>
            </a:ln>
          </p:spPr>
          <p:txBody>
            <a:bodyPr lIns="0" tIns="0" rIns="0" bIns="0"/>
            <a:p>
              <a:pPr marR="0" algn="ctr" defTabSz="914400">
                <a:buClrTx/>
                <a:buSzTx/>
                <a:buFontTx/>
                <a:defRPr/>
              </a:pPr>
              <a:r>
                <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DL</a:t>
              </a:r>
              <a:endParaRPr kumimoji="1" lang="en-US" altLang="zh-CN" sz="10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62" name="AutoShape 50"/>
            <p:cNvSpPr>
              <a:spLocks noChangeArrowheads="1"/>
            </p:cNvSpPr>
            <p:nvPr/>
          </p:nvSpPr>
          <p:spPr bwMode="auto">
            <a:xfrm>
              <a:off x="2125" y="1824"/>
              <a:ext cx="480" cy="144"/>
            </a:xfrm>
            <a:prstGeom prst="leftRightArrow">
              <a:avLst>
                <a:gd name="adj1" fmla="val 73000"/>
                <a:gd name="adj2" fmla="val 91111"/>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63" name="Text Box 51"/>
            <p:cNvSpPr txBox="1">
              <a:spLocks noChangeArrowheads="1"/>
            </p:cNvSpPr>
            <p:nvPr/>
          </p:nvSpPr>
          <p:spPr bwMode="auto">
            <a:xfrm>
              <a:off x="1501" y="1032"/>
              <a:ext cx="600" cy="16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p>
              <a:pPr marR="0" algn="ctr" defTabSz="914400">
                <a:buClrTx/>
                <a:buSzTx/>
                <a:buFontTx/>
                <a:defRPr/>
              </a:pPr>
              <a:r>
                <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寄存器组</a:t>
              </a:r>
              <a:endPar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64" name="Text Box 52"/>
            <p:cNvSpPr txBox="1">
              <a:spLocks noChangeArrowheads="1"/>
            </p:cNvSpPr>
            <p:nvPr/>
          </p:nvSpPr>
          <p:spPr bwMode="auto">
            <a:xfrm>
              <a:off x="2834" y="2546"/>
              <a:ext cx="146" cy="62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p>
              <a:pPr marR="0" algn="ctr" defTabSz="914400">
                <a:buClrTx/>
                <a:buSzTx/>
                <a:buFontTx/>
                <a:defRPr/>
              </a:pPr>
              <a:r>
                <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指</a:t>
              </a:r>
              <a:endPar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a:p>
              <a:pPr marR="0" algn="ctr" defTabSz="914400">
                <a:buClrTx/>
                <a:buSzTx/>
                <a:buFontTx/>
                <a:defRPr/>
              </a:pPr>
              <a:r>
                <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令</a:t>
              </a:r>
              <a:endPar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a:p>
              <a:pPr marR="0" algn="ctr" defTabSz="914400">
                <a:buClrTx/>
                <a:buSzTx/>
                <a:buFontTx/>
                <a:defRPr/>
              </a:pPr>
              <a:r>
                <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队</a:t>
              </a:r>
              <a:endPar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a:p>
              <a:pPr marR="0" algn="ctr" defTabSz="914400">
                <a:buClrTx/>
                <a:buSzTx/>
                <a:buFontTx/>
                <a:defRPr/>
              </a:pPr>
              <a:r>
                <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列</a:t>
              </a:r>
              <a:endPar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65" name="Text Box 53"/>
            <p:cNvSpPr txBox="1">
              <a:spLocks noChangeArrowheads="1"/>
            </p:cNvSpPr>
            <p:nvPr/>
          </p:nvSpPr>
          <p:spPr bwMode="auto">
            <a:xfrm>
              <a:off x="3848" y="2528"/>
              <a:ext cx="310" cy="635"/>
            </a:xfrm>
            <a:prstGeom prst="rect">
              <a:avLst/>
            </a:prstGeom>
            <a:solidFill>
              <a:srgbClr val="CCFFFF"/>
            </a:solidFill>
            <a:ln w="12700">
              <a:solidFill>
                <a:srgbClr val="000000"/>
              </a:solidFill>
              <a:miter lim="800000"/>
            </a:ln>
          </p:spPr>
          <p:txBody>
            <a:bodyPr lIns="0" tIns="0" rIns="0" bIns="0"/>
            <a:p>
              <a:pPr marR="0" algn="ctr" defTabSz="914400">
                <a:buClrTx/>
                <a:buSzTx/>
                <a:buFontTx/>
                <a:defRPr/>
              </a:pPr>
              <a:r>
                <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总线</a:t>
              </a:r>
              <a:endPar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a:p>
              <a:pPr marR="0" algn="ctr" defTabSz="914400">
                <a:buClrTx/>
                <a:buSzTx/>
                <a:buFontTx/>
                <a:defRPr/>
              </a:pPr>
              <a:r>
                <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接口控制电路</a:t>
              </a:r>
              <a:endParaRPr kumimoji="1" lang="zh-CN" altLang="en-US" sz="10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66" name="Line 54"/>
            <p:cNvSpPr>
              <a:spLocks noChangeShapeType="1"/>
            </p:cNvSpPr>
            <p:nvPr/>
          </p:nvSpPr>
          <p:spPr bwMode="auto">
            <a:xfrm>
              <a:off x="2151" y="2441"/>
              <a:ext cx="0" cy="178"/>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67" name="AutoShape 55"/>
            <p:cNvSpPr>
              <a:spLocks noChangeArrowheads="1"/>
            </p:cNvSpPr>
            <p:nvPr/>
          </p:nvSpPr>
          <p:spPr bwMode="auto">
            <a:xfrm rot="5400000">
              <a:off x="1560" y="2713"/>
              <a:ext cx="772" cy="242"/>
            </a:xfrm>
            <a:custGeom>
              <a:avLst/>
              <a:gdLst>
                <a:gd name="G0" fmla="+- 3182 0 0"/>
                <a:gd name="G1" fmla="+- 21600 0 3182"/>
                <a:gd name="G2" fmla="*/ 3182 1 2"/>
                <a:gd name="G3" fmla="+- 21600 0 G2"/>
                <a:gd name="G4" fmla="+/ 3182 21600 2"/>
                <a:gd name="G5" fmla="+/ G1 0 2"/>
                <a:gd name="G6" fmla="*/ 21600 21600 3182"/>
                <a:gd name="G7" fmla="*/ G6 1 2"/>
                <a:gd name="G8" fmla="+- 21600 0 G7"/>
                <a:gd name="G9" fmla="*/ 21600 1 2"/>
                <a:gd name="G10" fmla="+- 3182 0 G9"/>
                <a:gd name="G11" fmla="?: G10 G8 0"/>
                <a:gd name="G12" fmla="?: G10 G7 21600"/>
                <a:gd name="T0" fmla="*/ 20009 w 21600"/>
                <a:gd name="T1" fmla="*/ 10800 h 21600"/>
                <a:gd name="T2" fmla="*/ 10800 w 21600"/>
                <a:gd name="T3" fmla="*/ 21600 h 21600"/>
                <a:gd name="T4" fmla="*/ 1591 w 21600"/>
                <a:gd name="T5" fmla="*/ 10800 h 21600"/>
                <a:gd name="T6" fmla="*/ 10800 w 21600"/>
                <a:gd name="T7" fmla="*/ 0 h 21600"/>
                <a:gd name="T8" fmla="*/ 3391 w 21600"/>
                <a:gd name="T9" fmla="*/ 3391 h 21600"/>
                <a:gd name="T10" fmla="*/ 18209 w 21600"/>
                <a:gd name="T11" fmla="*/ 18209 h 21600"/>
              </a:gdLst>
              <a:ahLst/>
              <a:cxnLst>
                <a:cxn ang="0">
                  <a:pos x="T0" y="T1"/>
                </a:cxn>
                <a:cxn ang="0">
                  <a:pos x="T2" y="T3"/>
                </a:cxn>
                <a:cxn ang="0">
                  <a:pos x="T4" y="T5"/>
                </a:cxn>
                <a:cxn ang="0">
                  <a:pos x="T6" y="T7"/>
                </a:cxn>
              </a:cxnLst>
              <a:rect l="T8" t="T9" r="T10" b="T11"/>
              <a:pathLst>
                <a:path w="21600" h="21600">
                  <a:moveTo>
                    <a:pt x="0" y="0"/>
                  </a:moveTo>
                  <a:lnTo>
                    <a:pt x="3182" y="21600"/>
                  </a:lnTo>
                  <a:lnTo>
                    <a:pt x="18418" y="21600"/>
                  </a:lnTo>
                  <a:lnTo>
                    <a:pt x="21600" y="0"/>
                  </a:lnTo>
                  <a:close/>
                </a:path>
              </a:pathLst>
            </a:custGeom>
            <a:solidFill>
              <a:srgbClr val="FF99CC"/>
            </a:solidFill>
            <a:ln>
              <a:noFill/>
            </a:ln>
            <a:extLst>
              <a:ext uri="{91240B29-F687-4F45-9708-019B960494DF}">
                <a14:hiddenLine xmlns:a14="http://schemas.microsoft.com/office/drawing/2010/main" w="12700">
                  <a:solidFill>
                    <a:srgbClr val="000000"/>
                  </a:solidFill>
                  <a:miter lim="800000"/>
                  <a:headEnd/>
                  <a:tailEnd/>
                </a14:hiddenLine>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68" name="AutoShape 56"/>
            <p:cNvSpPr>
              <a:spLocks noChangeArrowheads="1"/>
            </p:cNvSpPr>
            <p:nvPr/>
          </p:nvSpPr>
          <p:spPr bwMode="auto">
            <a:xfrm rot="5400000">
              <a:off x="1890" y="3010"/>
              <a:ext cx="365" cy="238"/>
            </a:xfrm>
            <a:prstGeom prst="parallelogram">
              <a:avLst>
                <a:gd name="adj" fmla="val 57965"/>
              </a:avLst>
            </a:prstGeom>
            <a:solidFill>
              <a:srgbClr val="FF99CC"/>
            </a:solidFill>
            <a:ln>
              <a:noFill/>
            </a:ln>
            <a:extLst>
              <a:ext uri="{91240B29-F687-4F45-9708-019B960494DF}">
                <a14:hiddenLine xmlns:a14="http://schemas.microsoft.com/office/drawing/2010/main" w="12700">
                  <a:solidFill>
                    <a:srgbClr val="000000"/>
                  </a:solidFill>
                  <a:miter lim="800000"/>
                  <a:headEnd/>
                  <a:tailEnd/>
                </a14:hiddenLine>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69" name="Text Box 57"/>
            <p:cNvSpPr txBox="1">
              <a:spLocks noChangeArrowheads="1"/>
            </p:cNvSpPr>
            <p:nvPr/>
          </p:nvSpPr>
          <p:spPr bwMode="auto">
            <a:xfrm>
              <a:off x="1874" y="2651"/>
              <a:ext cx="199" cy="547"/>
            </a:xfrm>
            <a:prstGeom prst="rect">
              <a:avLst/>
            </a:prstGeom>
            <a:noFill/>
            <a:ln>
              <a:noFill/>
            </a:ln>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12700">
                  <a:solidFill>
                    <a:srgbClr val="FF99CC"/>
                  </a:solidFill>
                  <a:miter lim="800000"/>
                  <a:headEnd/>
                  <a:tailEnd/>
                </a14:hiddenLine>
              </a:ext>
            </a:extLst>
          </p:spPr>
          <p:txBody>
            <a:bodyPr lIns="0" tIns="0" rIns="0" bIns="0"/>
            <a:p>
              <a:pPr marR="0" algn="ctr" defTabSz="914400">
                <a:buClrTx/>
                <a:buSzTx/>
                <a:buFontTx/>
                <a:defRPr/>
              </a:pPr>
              <a:r>
                <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运</a:t>
              </a:r>
              <a:endPar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a:p>
              <a:pPr marR="0" algn="ctr" defTabSz="914400">
                <a:buClrTx/>
                <a:buSzTx/>
                <a:buFontTx/>
                <a:defRPr/>
              </a:pPr>
              <a:r>
                <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算</a:t>
              </a:r>
              <a:endPar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a:p>
              <a:pPr marR="0" algn="ctr" defTabSz="914400">
                <a:buClrTx/>
                <a:buSzTx/>
                <a:buFontTx/>
                <a:defRPr/>
              </a:pPr>
              <a:r>
                <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器</a:t>
              </a:r>
              <a:endPar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a:p>
              <a:pPr marR="0" algn="just" defTabSz="914400">
                <a:buClrTx/>
                <a:buSzTx/>
                <a:buFontTx/>
                <a:defRPr/>
              </a:pPr>
              <a:endParaRPr kumimoji="1" lang="en-US" altLang="zh-CN"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70" name="AutoShape 58"/>
            <p:cNvSpPr>
              <a:spLocks noChangeArrowheads="1"/>
            </p:cNvSpPr>
            <p:nvPr/>
          </p:nvSpPr>
          <p:spPr bwMode="auto">
            <a:xfrm rot="16200000">
              <a:off x="2023" y="2326"/>
              <a:ext cx="113" cy="223"/>
            </a:xfrm>
            <a:prstGeom prst="rtTriangle">
              <a:avLst/>
            </a:prstGeom>
            <a:solidFill>
              <a:srgbClr val="FF99CC"/>
            </a:solidFill>
            <a:ln>
              <a:noFill/>
            </a:ln>
            <a:extLst>
              <a:ext uri="{91240B29-F687-4F45-9708-019B960494DF}">
                <a14:hiddenLine xmlns:a14="http://schemas.microsoft.com/office/drawing/2010/main" w="12700">
                  <a:solidFill>
                    <a:srgbClr val="000000"/>
                  </a:solidFill>
                  <a:miter lim="800000"/>
                  <a:headEnd/>
                  <a:tailEnd/>
                </a14:hiddenLine>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71" name="Rectangle 59"/>
            <p:cNvSpPr>
              <a:spLocks noChangeArrowheads="1"/>
            </p:cNvSpPr>
            <p:nvPr/>
          </p:nvSpPr>
          <p:spPr bwMode="auto">
            <a:xfrm>
              <a:off x="1995" y="2490"/>
              <a:ext cx="200" cy="121"/>
            </a:xfrm>
            <a:prstGeom prst="rect">
              <a:avLst/>
            </a:prstGeom>
            <a:solidFill>
              <a:srgbClr val="FF99CC"/>
            </a:solidFill>
            <a:ln>
              <a:noFill/>
            </a:ln>
            <a:extLst>
              <a:ext uri="{91240B29-F687-4F45-9708-019B960494DF}">
                <a14:hiddenLine xmlns:a14="http://schemas.microsoft.com/office/drawing/2010/main" w="12700">
                  <a:solidFill>
                    <a:srgbClr val="000000"/>
                  </a:solidFill>
                  <a:miter lim="800000"/>
                  <a:headEnd/>
                  <a:tailEnd/>
                </a14:hiddenLine>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72" name="AutoShape 60"/>
            <p:cNvSpPr>
              <a:spLocks noChangeArrowheads="1"/>
            </p:cNvSpPr>
            <p:nvPr/>
          </p:nvSpPr>
          <p:spPr bwMode="auto">
            <a:xfrm rot="5400000">
              <a:off x="2092" y="2563"/>
              <a:ext cx="47" cy="121"/>
            </a:xfrm>
            <a:prstGeom prst="rtTriangle">
              <a:avLst/>
            </a:prstGeom>
            <a:solidFill>
              <a:srgbClr val="FF99CC"/>
            </a:solidFill>
            <a:ln>
              <a:noFill/>
            </a:ln>
            <a:extLst>
              <a:ext uri="{91240B29-F687-4F45-9708-019B960494DF}">
                <a14:hiddenLine xmlns:a14="http://schemas.microsoft.com/office/drawing/2010/main" w="12700">
                  <a:solidFill>
                    <a:srgbClr val="000000"/>
                  </a:solidFill>
                  <a:miter lim="800000"/>
                  <a:headEnd/>
                  <a:tailEnd/>
                </a14:hiddenLine>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73" name="AutoShape 61"/>
            <p:cNvSpPr>
              <a:spLocks noChangeArrowheads="1"/>
            </p:cNvSpPr>
            <p:nvPr/>
          </p:nvSpPr>
          <p:spPr bwMode="auto">
            <a:xfrm rot="16200000">
              <a:off x="3296" y="1449"/>
              <a:ext cx="1007" cy="240"/>
            </a:xfrm>
            <a:custGeom>
              <a:avLst/>
              <a:gdLst>
                <a:gd name="G0" fmla="+- 2012 0 0"/>
                <a:gd name="G1" fmla="+- 21600 0 2012"/>
                <a:gd name="G2" fmla="*/ 2012 1 2"/>
                <a:gd name="G3" fmla="+- 21600 0 G2"/>
                <a:gd name="G4" fmla="+/ 2012 21600 2"/>
                <a:gd name="G5" fmla="+/ G1 0 2"/>
                <a:gd name="G6" fmla="*/ 21600 21600 2012"/>
                <a:gd name="G7" fmla="*/ G6 1 2"/>
                <a:gd name="G8" fmla="+- 21600 0 G7"/>
                <a:gd name="G9" fmla="*/ 21600 1 2"/>
                <a:gd name="G10" fmla="+- 2012 0 G9"/>
                <a:gd name="G11" fmla="?: G10 G8 0"/>
                <a:gd name="G12" fmla="?: G10 G7 21600"/>
                <a:gd name="T0" fmla="*/ 20594 w 21600"/>
                <a:gd name="T1" fmla="*/ 10800 h 21600"/>
                <a:gd name="T2" fmla="*/ 10800 w 21600"/>
                <a:gd name="T3" fmla="*/ 21600 h 21600"/>
                <a:gd name="T4" fmla="*/ 1006 w 21600"/>
                <a:gd name="T5" fmla="*/ 10800 h 21600"/>
                <a:gd name="T6" fmla="*/ 10800 w 21600"/>
                <a:gd name="T7" fmla="*/ 0 h 21600"/>
                <a:gd name="T8" fmla="*/ 2806 w 21600"/>
                <a:gd name="T9" fmla="*/ 2806 h 21600"/>
                <a:gd name="T10" fmla="*/ 18794 w 21600"/>
                <a:gd name="T11" fmla="*/ 18794 h 21600"/>
              </a:gdLst>
              <a:ahLst/>
              <a:cxnLst>
                <a:cxn ang="0">
                  <a:pos x="T0" y="T1"/>
                </a:cxn>
                <a:cxn ang="0">
                  <a:pos x="T2" y="T3"/>
                </a:cxn>
                <a:cxn ang="0">
                  <a:pos x="T4" y="T5"/>
                </a:cxn>
                <a:cxn ang="0">
                  <a:pos x="T6" y="T7"/>
                </a:cxn>
              </a:cxnLst>
              <a:rect l="T8" t="T9" r="T10" b="T11"/>
              <a:pathLst>
                <a:path w="21600" h="21600">
                  <a:moveTo>
                    <a:pt x="0" y="0"/>
                  </a:moveTo>
                  <a:lnTo>
                    <a:pt x="2012" y="21600"/>
                  </a:lnTo>
                  <a:lnTo>
                    <a:pt x="19588" y="21600"/>
                  </a:lnTo>
                  <a:lnTo>
                    <a:pt x="21600" y="0"/>
                  </a:lnTo>
                  <a:close/>
                </a:path>
              </a:pathLst>
            </a:custGeom>
            <a:solidFill>
              <a:srgbClr val="FFCC99"/>
            </a:solidFill>
            <a:ln>
              <a:noFill/>
            </a:ln>
            <a:extLst>
              <a:ext uri="{91240B29-F687-4F45-9708-019B960494DF}">
                <a14:hiddenLine xmlns:a14="http://schemas.microsoft.com/office/drawing/2010/main" w="12700">
                  <a:solidFill>
                    <a:srgbClr val="000000"/>
                  </a:solidFill>
                  <a:miter lim="800000"/>
                  <a:headEnd/>
                  <a:tailEnd/>
                </a14:hiddenLine>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74" name="AutoShape 62"/>
            <p:cNvSpPr>
              <a:spLocks noChangeArrowheads="1"/>
            </p:cNvSpPr>
            <p:nvPr/>
          </p:nvSpPr>
          <p:spPr bwMode="auto">
            <a:xfrm rot="5400000">
              <a:off x="3548" y="1099"/>
              <a:ext cx="363" cy="239"/>
            </a:xfrm>
            <a:prstGeom prst="parallelogram">
              <a:avLst>
                <a:gd name="adj" fmla="val 37155"/>
              </a:avLst>
            </a:prstGeom>
            <a:solidFill>
              <a:srgbClr val="FFCC99"/>
            </a:solidFill>
            <a:ln>
              <a:noFill/>
            </a:ln>
            <a:extLst>
              <a:ext uri="{91240B29-F687-4F45-9708-019B960494DF}">
                <a14:hiddenLine xmlns:a14="http://schemas.microsoft.com/office/drawing/2010/main" w="12700">
                  <a:solidFill>
                    <a:srgbClr val="000000"/>
                  </a:solidFill>
                  <a:miter lim="800000"/>
                  <a:headEnd/>
                  <a:tailEnd/>
                </a14:hiddenLine>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75" name="Rectangle 63"/>
            <p:cNvSpPr>
              <a:spLocks noChangeArrowheads="1"/>
            </p:cNvSpPr>
            <p:nvPr/>
          </p:nvSpPr>
          <p:spPr bwMode="auto">
            <a:xfrm>
              <a:off x="3619" y="1824"/>
              <a:ext cx="64" cy="237"/>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a14:hiddenLine>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76" name="AutoShape 64"/>
            <p:cNvSpPr>
              <a:spLocks noChangeArrowheads="1"/>
            </p:cNvSpPr>
            <p:nvPr/>
          </p:nvSpPr>
          <p:spPr bwMode="auto">
            <a:xfrm rot="16200000">
              <a:off x="3623" y="1748"/>
              <a:ext cx="89" cy="97"/>
            </a:xfrm>
            <a:prstGeom prst="rtTriangle">
              <a:avLst/>
            </a:prstGeom>
            <a:solidFill>
              <a:srgbClr val="FFCC99"/>
            </a:solidFill>
            <a:ln>
              <a:noFill/>
            </a:ln>
            <a:extLst>
              <a:ext uri="{91240B29-F687-4F45-9708-019B960494DF}">
                <a14:hiddenLine xmlns:a14="http://schemas.microsoft.com/office/drawing/2010/main" w="12700">
                  <a:solidFill>
                    <a:srgbClr val="000000"/>
                  </a:solidFill>
                  <a:miter lim="800000"/>
                  <a:headEnd/>
                  <a:tailEnd/>
                </a14:hiddenLine>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77" name="Text Box 65"/>
            <p:cNvSpPr txBox="1">
              <a:spLocks noChangeArrowheads="1"/>
            </p:cNvSpPr>
            <p:nvPr/>
          </p:nvSpPr>
          <p:spPr bwMode="auto">
            <a:xfrm>
              <a:off x="3683" y="1201"/>
              <a:ext cx="214" cy="753"/>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FFFFFF"/>
                  </a:solidFill>
                  <a:miter lim="800000"/>
                  <a:headEnd/>
                  <a:tailEnd/>
                </a14:hiddenLine>
              </a:ext>
            </a:extLst>
          </p:spPr>
          <p:txBody>
            <a:bodyPr lIns="72000" tIns="0" rIns="0" bIns="0"/>
            <a:p>
              <a:pPr marR="0" algn="ctr" defTabSz="914400">
                <a:buClrTx/>
                <a:buSzTx/>
                <a:buFontTx/>
                <a:defRPr/>
              </a:pPr>
              <a:r>
                <a:rPr kumimoji="1" lang="zh-CN" altLang="en-US" sz="1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地址加法器</a:t>
              </a:r>
              <a:endParaRPr kumimoji="1" lang="zh-CN" altLang="en-US" sz="26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778" name="Rectangle 66"/>
            <p:cNvSpPr>
              <a:spLocks noChangeArrowheads="1"/>
            </p:cNvSpPr>
            <p:nvPr/>
          </p:nvSpPr>
          <p:spPr bwMode="auto">
            <a:xfrm>
              <a:off x="1501" y="2652"/>
              <a:ext cx="75" cy="1009"/>
            </a:xfrm>
            <a:prstGeom prst="rect">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79" name="Rectangle 67"/>
            <p:cNvSpPr>
              <a:spLocks noChangeArrowheads="1"/>
            </p:cNvSpPr>
            <p:nvPr/>
          </p:nvSpPr>
          <p:spPr bwMode="auto">
            <a:xfrm>
              <a:off x="1520" y="2652"/>
              <a:ext cx="293" cy="74"/>
            </a:xfrm>
            <a:prstGeom prst="rect">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80" name="Rectangle 68"/>
            <p:cNvSpPr>
              <a:spLocks noChangeArrowheads="1"/>
            </p:cNvSpPr>
            <p:nvPr/>
          </p:nvSpPr>
          <p:spPr bwMode="auto">
            <a:xfrm>
              <a:off x="1653" y="2931"/>
              <a:ext cx="169" cy="74"/>
            </a:xfrm>
            <a:prstGeom prst="rect">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81" name="Rectangle 69"/>
            <p:cNvSpPr>
              <a:spLocks noChangeArrowheads="1"/>
            </p:cNvSpPr>
            <p:nvPr/>
          </p:nvSpPr>
          <p:spPr bwMode="auto">
            <a:xfrm>
              <a:off x="1658" y="2936"/>
              <a:ext cx="77" cy="469"/>
            </a:xfrm>
            <a:prstGeom prst="rect">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82" name="AutoShape 70"/>
            <p:cNvSpPr>
              <a:spLocks noChangeArrowheads="1"/>
            </p:cNvSpPr>
            <p:nvPr/>
          </p:nvSpPr>
          <p:spPr bwMode="auto">
            <a:xfrm>
              <a:off x="2653" y="1296"/>
              <a:ext cx="253" cy="144"/>
            </a:xfrm>
            <a:prstGeom prst="rightArrow">
              <a:avLst>
                <a:gd name="adj1" fmla="val 50000"/>
                <a:gd name="adj2" fmla="val 43924"/>
              </a:avLst>
            </a:prstGeom>
            <a:solidFill>
              <a:srgbClr val="00CCFF"/>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783" name="AutoShape 71"/>
            <p:cNvSpPr>
              <a:spLocks noChangeArrowheads="1"/>
            </p:cNvSpPr>
            <p:nvPr/>
          </p:nvSpPr>
          <p:spPr bwMode="auto">
            <a:xfrm rot="5400000">
              <a:off x="3558" y="1892"/>
              <a:ext cx="254" cy="144"/>
            </a:xfrm>
            <a:prstGeom prst="triangle">
              <a:avLst>
                <a:gd name="adj" fmla="val 79917"/>
              </a:avLst>
            </a:prstGeom>
            <a:solidFill>
              <a:srgbClr val="FFCC99"/>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15809" name="Text Box 97"/>
            <p:cNvSpPr txBox="1">
              <a:spLocks noChangeArrowheads="1"/>
            </p:cNvSpPr>
            <p:nvPr/>
          </p:nvSpPr>
          <p:spPr bwMode="auto">
            <a:xfrm>
              <a:off x="2200" y="572"/>
              <a:ext cx="149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p>
              <a:pPr marR="0" algn="ctr" defTabSz="914400">
                <a:spcBef>
                  <a:spcPct val="50000"/>
                </a:spcBef>
                <a:buClrTx/>
                <a:buSzTx/>
                <a:buFontTx/>
                <a:defRPr/>
              </a:pPr>
              <a:r>
                <a:rPr kumimoji="1" lang="en-US" altLang="zh-CN" sz="2400" kern="1200" cap="none" spc="0" normalizeH="0" baseline="0" noProof="0" smtClean="0">
                  <a:solidFill>
                    <a:srgbClr val="0000FF"/>
                  </a:solidFill>
                  <a:effectLst>
                    <a:outerShdw blurRad="38100" dist="38100" dir="2700000" algn="tl">
                      <a:srgbClr val="000000">
                        <a:alpha val="43137"/>
                      </a:srgbClr>
                    </a:outerShdw>
                  </a:effectLst>
                  <a:latin typeface="Times New Roman" panose="02020603050405020304" charset="0"/>
                  <a:ea typeface="楷体_GB2312" pitchFamily="49" charset="-122"/>
                  <a:cs typeface="+mn-cs"/>
                </a:rPr>
                <a:t>CPU</a:t>
              </a:r>
              <a:endParaRPr kumimoji="1" lang="en-US" altLang="zh-CN" sz="2400" kern="1200" cap="none" spc="0" normalizeH="0" baseline="0" noProof="0" smtClean="0">
                <a:effectLst>
                  <a:outerShdw blurRad="38100" dist="38100" dir="2700000" algn="tl">
                    <a:srgbClr val="000000">
                      <a:alpha val="43137"/>
                    </a:srgbClr>
                  </a:outerShdw>
                </a:effectLst>
                <a:latin typeface="Times New Roman" panose="02020603050405020304" charset="0"/>
                <a:ea typeface="楷体_GB2312" pitchFamily="49" charset="-122"/>
                <a:cs typeface="+mn-cs"/>
              </a:endParaRPr>
            </a:p>
          </p:txBody>
        </p:sp>
      </p:grpSp>
      <p:sp>
        <p:nvSpPr>
          <p:cNvPr id="115811" name="Text Box 99"/>
          <p:cNvSpPr txBox="1">
            <a:spLocks noChangeArrowheads="1"/>
          </p:cNvSpPr>
          <p:nvPr/>
        </p:nvSpPr>
        <p:spPr bwMode="auto">
          <a:xfrm>
            <a:off x="611188" y="1484313"/>
            <a:ext cx="3455988" cy="2399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algn="just" defTabSz="914400">
              <a:lnSpc>
                <a:spcPct val="150000"/>
              </a:lnSpc>
              <a:buClr>
                <a:srgbClr val="FF3300"/>
              </a:buClr>
              <a:buSzTx/>
              <a:buFont typeface="Wingdings" panose="05000000000000000000" pitchFamily="2" charset="2"/>
              <a:defRPr/>
            </a:pPr>
            <a:r>
              <a:rPr kumimoji="1" lang="zh-CN" altLang="en-US" sz="2800" kern="1200" cap="none" spc="0" normalizeH="0" baseline="0" noProof="0" smtClean="0">
                <a:solidFill>
                  <a:srgbClr val="FF3300"/>
                </a:soli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寄存器（</a:t>
            </a:r>
            <a:r>
              <a:rPr kumimoji="1" lang="en-US" altLang="zh-CN" sz="2800" kern="1200" cap="none" spc="0" normalizeH="0" baseline="0" noProof="0" smtClean="0">
                <a:solidFill>
                  <a:srgbClr val="FF3300"/>
                </a:soli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Register</a:t>
            </a:r>
            <a:r>
              <a:rPr kumimoji="1" lang="zh-CN" altLang="en-US" sz="2800" kern="1200" cap="none" spc="0" normalizeH="0" baseline="0" noProof="0" smtClean="0">
                <a:solidFill>
                  <a:srgbClr val="FF3300"/>
                </a:soli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a:t>
            </a:r>
            <a:r>
              <a:rPr kumimoji="1" lang="zh-CN" altLang="en-US" sz="24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：用于暂存一组二值代码的逻辑部件，是构成</a:t>
            </a:r>
            <a:r>
              <a:rPr kumimoji="1" lang="en-US" altLang="zh-CN" sz="24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CPU</a:t>
            </a:r>
            <a:r>
              <a:rPr kumimoji="1" lang="zh-CN" altLang="en-US" sz="24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的重要组成部分</a:t>
            </a:r>
            <a:endParaRPr kumimoji="1" lang="zh-CN" altLang="en-US" sz="24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15813" name="Text Box 101"/>
          <p:cNvSpPr txBox="1">
            <a:spLocks noChangeArrowheads="1"/>
          </p:cNvSpPr>
          <p:nvPr/>
        </p:nvSpPr>
        <p:spPr bwMode="auto">
          <a:xfrm>
            <a:off x="611505" y="4022408"/>
            <a:ext cx="3455988" cy="1753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lnSpc>
                <a:spcPct val="150000"/>
              </a:lnSpc>
              <a:spcBef>
                <a:spcPct val="50000"/>
              </a:spcBef>
              <a:buClrTx/>
              <a:buSzTx/>
              <a:buFontTx/>
              <a:defRPr/>
            </a:pPr>
            <a:r>
              <a:rPr kumimoji="0" lang="zh-CN" altLang="en-US" sz="2400" kern="1200" cap="none" spc="0" normalizeH="0" baseline="0" noProof="0" smtClean="0">
                <a:solidFill>
                  <a:srgbClr val="FF33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功能：</a:t>
            </a:r>
            <a:r>
              <a:rPr kumimoji="0" lang="zh-CN" altLang="en-US" sz="2400" kern="1200" cap="none" spc="0" normalizeH="0" baseline="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清除数码、接收数码、暂存数码、输出和移位数码</a:t>
            </a:r>
            <a:endParaRPr kumimoji="0" lang="zh-CN" altLang="en-US" sz="2400" kern="1200" cap="none" spc="0" normalizeH="0" baseline="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5811">
                                            <p:txEl>
                                              <p:charRg st="4294967295" end="4294967295"/>
                                            </p:txEl>
                                          </p:spTgt>
                                        </p:tgtEl>
                                        <p:attrNameLst>
                                          <p:attrName>style.visibility</p:attrName>
                                        </p:attrNameLst>
                                      </p:cBhvr>
                                      <p:to>
                                        <p:strVal val="visible"/>
                                      </p:to>
                                    </p:set>
                                    <p:animEffect transition="in" filter="wipe(left)">
                                      <p:cBhvr>
                                        <p:cTn id="7" dur="500"/>
                                        <p:tgtEl>
                                          <p:spTgt spid="115811">
                                            <p:txEl>
                                              <p:char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5811">
                                            <p:txEl>
                                              <p:charRg st="0" end="42"/>
                                            </p:txEl>
                                          </p:spTgt>
                                        </p:tgtEl>
                                        <p:attrNameLst>
                                          <p:attrName>style.visibility</p:attrName>
                                        </p:attrNameLst>
                                      </p:cBhvr>
                                      <p:to>
                                        <p:strVal val="visible"/>
                                      </p:to>
                                    </p:set>
                                    <p:animEffect transition="in" filter="wipe(left)">
                                      <p:cBhvr>
                                        <p:cTn id="12" dur="500"/>
                                        <p:tgtEl>
                                          <p:spTgt spid="115811">
                                            <p:txEl>
                                              <p:charRg st="0" end="42"/>
                                            </p:txEl>
                                          </p:spTgt>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1158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58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811" grpId="0" build="p"/>
      <p:bldP spid="115813" grpId="0"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6.5 </a:t>
            </a:r>
            <a:r>
              <a:rPr lang="zh-CN" b="1" dirty="0">
                <a:solidFill>
                  <a:srgbClr val="FF0000"/>
                </a:solidFill>
                <a:latin typeface="黑体" panose="02010609060101010101" pitchFamily="49" charset="-122"/>
                <a:ea typeface="黑体" panose="02010609060101010101" pitchFamily="49" charset="-122"/>
                <a:sym typeface="+mn-ea"/>
              </a:rPr>
              <a:t>数码寄存器与移位寄存器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46436" name="Rectangle 4"/>
          <p:cNvSpPr>
            <a:spLocks noChangeArrowheads="1"/>
          </p:cNvSpPr>
          <p:nvPr/>
        </p:nvSpPr>
        <p:spPr bwMode="auto">
          <a:xfrm>
            <a:off x="539750" y="2924175"/>
            <a:ext cx="12557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smtClean="0">
                <a:ln>
                  <a:noFill/>
                </a:ln>
                <a:solidFill>
                  <a:srgbClr val="0000FF"/>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寄存器</a:t>
            </a:r>
            <a:endParaRPr kumimoji="0" lang="zh-CN" altLang="en-US" sz="2800" b="1" i="0" u="none" strike="noStrike" kern="1200" cap="none" spc="0" normalizeH="0" baseline="0" noProof="0" smtClean="0">
              <a:ln>
                <a:noFill/>
              </a:ln>
              <a:solidFill>
                <a:srgbClr val="0000FF"/>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6437" name="Rectangle 5"/>
          <p:cNvSpPr>
            <a:spLocks noChangeArrowheads="1"/>
          </p:cNvSpPr>
          <p:nvPr/>
        </p:nvSpPr>
        <p:spPr bwMode="auto">
          <a:xfrm>
            <a:off x="2268538" y="3068638"/>
            <a:ext cx="6337300" cy="147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L="0" marR="0" lvl="0" indent="0" algn="l" defTabSz="914400" rtl="0" eaLnBrk="1" fontAlgn="base" latinLnBrk="0" hangingPunct="1">
              <a:lnSpc>
                <a:spcPct val="19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FF0000"/>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移位寄存器</a:t>
            </a:r>
            <a:r>
              <a:rPr kumimoji="0" lang="zh-CN" altLang="en-US" sz="2400" b="1" i="0" u="none" strike="noStrike" kern="1200" cap="none" spc="0" normalizeH="0" baseline="0" noProof="0" smtClean="0">
                <a:ln>
                  <a:noFill/>
                </a:ln>
                <a:solidFill>
                  <a:srgbClr val="FF9900"/>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串行输入并行输出、并行输入串</a:t>
            </a:r>
            <a:endParaRPr kumimoji="0" lang="zh-CN" altLang="en-US" sz="24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9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                      行输出、串行输入串行输出</a:t>
            </a:r>
            <a:endParaRPr kumimoji="0" lang="zh-CN" altLang="en-US" sz="24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6438" name="AutoShape 6"/>
          <p:cNvSpPr/>
          <p:nvPr/>
        </p:nvSpPr>
        <p:spPr bwMode="auto">
          <a:xfrm>
            <a:off x="1835150" y="2060575"/>
            <a:ext cx="366713" cy="2305050"/>
          </a:xfrm>
          <a:prstGeom prst="leftBrace">
            <a:avLst>
              <a:gd name="adj1" fmla="val 52381"/>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6439" name="Rectangle 7"/>
          <p:cNvSpPr>
            <a:spLocks noChangeArrowheads="1"/>
          </p:cNvSpPr>
          <p:nvPr/>
        </p:nvSpPr>
        <p:spPr bwMode="auto">
          <a:xfrm>
            <a:off x="2268538" y="2276475"/>
            <a:ext cx="5976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FF0000"/>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数码寄存器</a:t>
            </a:r>
            <a:r>
              <a:rPr kumimoji="0" lang="zh-CN" altLang="en-US" sz="2400" b="1" i="0" u="none" strike="noStrike" kern="1200" cap="none" spc="0" normalizeH="0" baseline="0" noProof="0" smtClean="0">
                <a:ln>
                  <a:noFill/>
                </a:ln>
                <a:solidFill>
                  <a:srgbClr val="FF9900"/>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输入和输出均为并行方式</a:t>
            </a:r>
            <a:endParaRPr kumimoji="0" lang="zh-CN" altLang="en-US" sz="24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6.5 </a:t>
            </a:r>
            <a:r>
              <a:rPr lang="zh-CN" b="1" dirty="0">
                <a:solidFill>
                  <a:srgbClr val="FF0000"/>
                </a:solidFill>
                <a:latin typeface="黑体" panose="02010609060101010101" pitchFamily="49" charset="-122"/>
                <a:ea typeface="黑体" panose="02010609060101010101" pitchFamily="49" charset="-122"/>
                <a:sym typeface="+mn-ea"/>
              </a:rPr>
              <a:t>数码寄存器与移位寄存器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6146" name="Rectangle 2"/>
          <p:cNvSpPr>
            <a:spLocks noGrp="1"/>
          </p:cNvSpPr>
          <p:nvPr>
            <p:ph type="title"/>
          </p:nvPr>
        </p:nvSpPr>
        <p:spPr>
          <a:xfrm>
            <a:off x="906145" y="972820"/>
            <a:ext cx="6847205" cy="868045"/>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sym typeface="+mn-ea"/>
              </a:rPr>
              <a:t>6.5.1 数码寄存器</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53253" name="Rectangle 5"/>
          <p:cNvSpPr>
            <a:spLocks noChangeArrowheads="1"/>
          </p:cNvSpPr>
          <p:nvPr/>
        </p:nvSpPr>
        <p:spPr bwMode="auto">
          <a:xfrm>
            <a:off x="840105" y="1548765"/>
            <a:ext cx="410368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p>
            <a:pPr marL="342900" marR="0" lvl="0" indent="-342900" algn="just" defTabSz="914400" rtl="0" eaLnBrk="1" fontAlgn="base" latinLnBrk="0" hangingPunct="1">
              <a:lnSpc>
                <a:spcPct val="131000"/>
              </a:lnSpc>
              <a:spcBef>
                <a:spcPct val="20000"/>
              </a:spcBef>
              <a:spcAft>
                <a:spcPct val="0"/>
              </a:spcAft>
              <a:buClrTx/>
              <a:buSzTx/>
              <a:buFontTx/>
              <a:buNone/>
              <a:defRPr/>
            </a:pPr>
            <a:r>
              <a:rPr kumimoji="0" lang="en-US" altLang="zh-CN" sz="24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4</a:t>
            </a:r>
            <a:r>
              <a:rPr kumimoji="0" lang="zh-CN" altLang="en-US" sz="24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位数码寄存器</a:t>
            </a:r>
            <a:r>
              <a:rPr kumimoji="0" lang="en-US" altLang="zh-CN" sz="24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74LSl75 </a:t>
            </a:r>
            <a:r>
              <a:rPr kumimoji="0" lang="zh-CN" altLang="en-US" sz="24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a:t>
            </a:r>
            <a:endParaRPr kumimoji="0" lang="zh-CN" altLang="en-US" sz="24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pic>
        <p:nvPicPr>
          <p:cNvPr id="9411" name="图片 2848"/>
          <p:cNvPicPr>
            <a:picLocks noChangeAspect="1"/>
          </p:cNvPicPr>
          <p:nvPr/>
        </p:nvPicPr>
        <p:blipFill>
          <a:blip r:embed="rId1"/>
          <a:stretch>
            <a:fillRect/>
          </a:stretch>
        </p:blipFill>
        <p:spPr>
          <a:xfrm>
            <a:off x="1765935" y="2590800"/>
            <a:ext cx="6238240" cy="3187065"/>
          </a:xfrm>
          <a:prstGeom prst="rect">
            <a:avLst/>
          </a:prstGeom>
          <a:noFill/>
          <a:ln>
            <a:noFill/>
          </a:ln>
        </p:spPr>
      </p:pic>
      <p:sp>
        <p:nvSpPr>
          <p:cNvPr id="53397" name="Text Box 149"/>
          <p:cNvSpPr txBox="1">
            <a:spLocks noChangeArrowheads="1"/>
          </p:cNvSpPr>
          <p:nvPr/>
        </p:nvSpPr>
        <p:spPr bwMode="auto">
          <a:xfrm>
            <a:off x="3697605" y="5923915"/>
            <a:ext cx="174879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pPr marR="0" defTabSz="914400">
              <a:spcBef>
                <a:spcPct val="50000"/>
              </a:spcBef>
              <a:buClrTx/>
              <a:buSzTx/>
              <a:buFontTx/>
              <a:defRPr/>
            </a:pPr>
            <a:r>
              <a:rPr kumimoji="0" lang="zh-CN" altLang="en-US" sz="2000" kern="1200" cap="none" spc="0" normalizeH="0" baseline="0" noProof="0" smtClean="0">
                <a:solidFill>
                  <a:srgbClr val="0000FF"/>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并行数据输入</a:t>
            </a:r>
            <a:endParaRPr kumimoji="0" lang="zh-CN" altLang="en-US" sz="2000" kern="1200" cap="none" spc="0" normalizeH="0" baseline="0" noProof="0" smtClean="0">
              <a:solidFill>
                <a:srgbClr val="0000FF"/>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endParaRPr>
          </a:p>
        </p:txBody>
      </p:sp>
      <p:sp>
        <p:nvSpPr>
          <p:cNvPr id="53395" name="Oval 147"/>
          <p:cNvSpPr>
            <a:spLocks noChangeArrowheads="1"/>
          </p:cNvSpPr>
          <p:nvPr/>
        </p:nvSpPr>
        <p:spPr bwMode="auto">
          <a:xfrm>
            <a:off x="1645285" y="2431415"/>
            <a:ext cx="5369560" cy="540385"/>
          </a:xfrm>
          <a:prstGeom prst="ellipse">
            <a:avLst/>
          </a:prstGeom>
          <a:noFill/>
          <a:ln w="9525">
            <a:solidFill>
              <a:srgbClr val="008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5" name="Oval 147"/>
          <p:cNvSpPr>
            <a:spLocks noChangeArrowheads="1"/>
          </p:cNvSpPr>
          <p:nvPr/>
        </p:nvSpPr>
        <p:spPr bwMode="auto">
          <a:xfrm>
            <a:off x="1470660" y="5383530"/>
            <a:ext cx="5369560" cy="540385"/>
          </a:xfrm>
          <a:prstGeom prst="ellipse">
            <a:avLst/>
          </a:prstGeom>
          <a:noFill/>
          <a:ln w="9525">
            <a:solidFill>
              <a:srgbClr val="00206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53396" name="Text Box 148"/>
          <p:cNvSpPr txBox="1">
            <a:spLocks noChangeArrowheads="1"/>
          </p:cNvSpPr>
          <p:nvPr/>
        </p:nvSpPr>
        <p:spPr bwMode="auto">
          <a:xfrm>
            <a:off x="4106545" y="2032635"/>
            <a:ext cx="218948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pPr marR="0" defTabSz="914400">
              <a:spcBef>
                <a:spcPct val="50000"/>
              </a:spcBef>
              <a:buClrTx/>
              <a:buSzTx/>
              <a:buFontTx/>
              <a:defRPr/>
            </a:pPr>
            <a:r>
              <a:rPr kumimoji="0" lang="zh-CN" altLang="en-US" sz="2000" kern="1200" cap="none" spc="0" normalizeH="0" baseline="0" noProof="0" smtClean="0">
                <a:solidFill>
                  <a:srgbClr val="0000FF"/>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并行数据输出</a:t>
            </a:r>
            <a:endParaRPr kumimoji="0" lang="zh-CN" altLang="en-US" sz="2000" kern="1200" cap="none" spc="0" normalizeH="0" baseline="0" noProof="0" smtClean="0">
              <a:solidFill>
                <a:srgbClr val="0000FF"/>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endParaRPr>
          </a:p>
        </p:txBody>
      </p:sp>
      <p:grpSp>
        <p:nvGrpSpPr>
          <p:cNvPr id="53261" name="Group 13"/>
          <p:cNvGrpSpPr/>
          <p:nvPr/>
        </p:nvGrpSpPr>
        <p:grpSpPr>
          <a:xfrm>
            <a:off x="7085013" y="5115560"/>
            <a:ext cx="73025" cy="531813"/>
            <a:chOff x="793" y="3501"/>
            <a:chExt cx="0" cy="499"/>
          </a:xfrm>
        </p:grpSpPr>
        <p:sp>
          <p:nvSpPr>
            <p:cNvPr id="53259" name="Line 11"/>
            <p:cNvSpPr>
              <a:spLocks noChangeShapeType="1"/>
            </p:cNvSpPr>
            <p:nvPr/>
          </p:nvSpPr>
          <p:spPr bwMode="auto">
            <a:xfrm flipV="1">
              <a:off x="793" y="3501"/>
              <a:ext cx="0" cy="499"/>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53260" name="Line 12"/>
            <p:cNvSpPr>
              <a:spLocks noChangeShapeType="1"/>
            </p:cNvSpPr>
            <p:nvPr/>
          </p:nvSpPr>
          <p:spPr bwMode="auto">
            <a:xfrm flipV="1">
              <a:off x="793" y="3657"/>
              <a:ext cx="0" cy="317"/>
            </a:xfrm>
            <a:prstGeom prst="line">
              <a:avLst/>
            </a:prstGeom>
            <a:noFill/>
            <a:ln w="1905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grpSp>
        <p:nvGrpSpPr>
          <p:cNvPr id="53265" name="Group 17"/>
          <p:cNvGrpSpPr/>
          <p:nvPr/>
        </p:nvGrpSpPr>
        <p:grpSpPr>
          <a:xfrm>
            <a:off x="6956108" y="4120198"/>
            <a:ext cx="73025" cy="647700"/>
            <a:chOff x="385" y="3113"/>
            <a:chExt cx="0" cy="499"/>
          </a:xfrm>
        </p:grpSpPr>
        <p:sp>
          <p:nvSpPr>
            <p:cNvPr id="53263" name="Line 15"/>
            <p:cNvSpPr>
              <a:spLocks noChangeShapeType="1"/>
            </p:cNvSpPr>
            <p:nvPr/>
          </p:nvSpPr>
          <p:spPr bwMode="auto">
            <a:xfrm>
              <a:off x="385" y="3113"/>
              <a:ext cx="0" cy="499"/>
            </a:xfrm>
            <a:prstGeom prst="line">
              <a:avLst/>
            </a:prstGeom>
            <a:noFill/>
            <a:ln w="158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53264" name="Line 16"/>
            <p:cNvSpPr>
              <a:spLocks noChangeShapeType="1"/>
            </p:cNvSpPr>
            <p:nvPr/>
          </p:nvSpPr>
          <p:spPr bwMode="auto">
            <a:xfrm>
              <a:off x="385" y="3210"/>
              <a:ext cx="0" cy="272"/>
            </a:xfrm>
            <a:prstGeom prst="line">
              <a:avLst/>
            </a:prstGeom>
            <a:noFill/>
            <a:ln w="158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53397"/>
                                        </p:tgtEl>
                                        <p:attrNameLst>
                                          <p:attrName>style.visibility</p:attrName>
                                        </p:attrNameLst>
                                      </p:cBhvr>
                                      <p:to>
                                        <p:strVal val="visible"/>
                                      </p:to>
                                    </p:set>
                                    <p:animEffect transition="in" filter="wipe(left)">
                                      <p:cBhvr>
                                        <p:cTn id="10" dur="500"/>
                                        <p:tgtEl>
                                          <p:spTgt spid="53397"/>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395"/>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5339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3265"/>
                                        </p:tgtEl>
                                        <p:attrNameLst>
                                          <p:attrName>style.visibility</p:attrName>
                                        </p:attrNameLst>
                                      </p:cBhvr>
                                      <p:to>
                                        <p:strVal val="visible"/>
                                      </p:to>
                                    </p:set>
                                    <p:animEffect transition="in" filter="wipe(up)">
                                      <p:cBhvr>
                                        <p:cTn id="22" dur="1000"/>
                                        <p:tgtEl>
                                          <p:spTgt spid="53265"/>
                                        </p:tgtEl>
                                      </p:cBhvr>
                                    </p:animEffect>
                                  </p:childTnLst>
                                </p:cTn>
                              </p:par>
                            </p:childTnLst>
                          </p:cTn>
                        </p:par>
                        <p:par>
                          <p:cTn id="23" fill="hold">
                            <p:stCondLst>
                              <p:cond delay="1000"/>
                            </p:stCondLst>
                            <p:childTnLst>
                              <p:par>
                                <p:cTn id="24" presetID="22" presetClass="entr" presetSubtype="4" fill="hold" nodeType="afterEffect">
                                  <p:stCondLst>
                                    <p:cond delay="1000"/>
                                  </p:stCondLst>
                                  <p:childTnLst>
                                    <p:set>
                                      <p:cBhvr>
                                        <p:cTn id="25" dur="1" fill="hold">
                                          <p:stCondLst>
                                            <p:cond delay="0"/>
                                          </p:stCondLst>
                                        </p:cTn>
                                        <p:tgtEl>
                                          <p:spTgt spid="53261"/>
                                        </p:tgtEl>
                                        <p:attrNameLst>
                                          <p:attrName>style.visibility</p:attrName>
                                        </p:attrNameLst>
                                      </p:cBhvr>
                                      <p:to>
                                        <p:strVal val="visible"/>
                                      </p:to>
                                    </p:set>
                                    <p:animEffect transition="in" filter="wipe(down)">
                                      <p:cBhvr>
                                        <p:cTn id="26" dur="1000"/>
                                        <p:tgtEl>
                                          <p:spTgt spid="53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97" grpId="0" bldLvl="0" animBg="1"/>
      <p:bldP spid="53395" grpId="0" bldLvl="0" animBg="1"/>
      <p:bldP spid="5" grpId="0" bldLvl="0" animBg="1"/>
      <p:bldP spid="53396" grpId="0" bldLvl="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6.5 </a:t>
            </a:r>
            <a:r>
              <a:rPr lang="zh-CN" b="1" dirty="0">
                <a:solidFill>
                  <a:srgbClr val="FF0000"/>
                </a:solidFill>
                <a:latin typeface="黑体" panose="02010609060101010101" pitchFamily="49" charset="-122"/>
                <a:ea typeface="黑体" panose="02010609060101010101" pitchFamily="49" charset="-122"/>
                <a:sym typeface="+mn-ea"/>
              </a:rPr>
              <a:t>数码寄存器与移位寄存器</a:t>
            </a:r>
            <a:endParaRPr lang="zh-CN" b="1" dirty="0">
              <a:solidFill>
                <a:srgbClr val="FF0000"/>
              </a:solidFill>
              <a:latin typeface="黑体" panose="02010609060101010101" pitchFamily="49" charset="-122"/>
              <a:ea typeface="黑体" panose="02010609060101010101" pitchFamily="49" charset="-122"/>
              <a:sym typeface="+mn-ea"/>
            </a:endParaRPr>
          </a:p>
        </p:txBody>
      </p:sp>
      <p:pic>
        <p:nvPicPr>
          <p:cNvPr id="3" name="图片 2"/>
          <p:cNvPicPr>
            <a:picLocks noChangeAspect="1"/>
          </p:cNvPicPr>
          <p:nvPr/>
        </p:nvPicPr>
        <p:blipFill>
          <a:blip r:embed="rId1"/>
          <a:srcRect t="1600"/>
          <a:stretch>
            <a:fillRect/>
          </a:stretch>
        </p:blipFill>
        <p:spPr>
          <a:xfrm>
            <a:off x="671830" y="1181100"/>
            <a:ext cx="8014970" cy="2040890"/>
          </a:xfrm>
          <a:prstGeom prst="rect">
            <a:avLst/>
          </a:prstGeom>
        </p:spPr>
      </p:pic>
      <p:sp>
        <p:nvSpPr>
          <p:cNvPr id="100" name="文本框 99"/>
          <p:cNvSpPr txBox="1"/>
          <p:nvPr/>
        </p:nvSpPr>
        <p:spPr>
          <a:xfrm>
            <a:off x="682625" y="3197225"/>
            <a:ext cx="6924040" cy="460375"/>
          </a:xfrm>
          <a:prstGeom prst="rect">
            <a:avLst/>
          </a:prstGeom>
          <a:noFill/>
          <a:ln w="9525">
            <a:noFill/>
          </a:ln>
        </p:spPr>
        <p:txBody>
          <a:bodyPr wrap="square">
            <a:spAutoFit/>
          </a:bodyPr>
          <a:p>
            <a:r>
              <a:rPr lang="en-US" sz="2400" b="1">
                <a:gradFill>
                  <a:gsLst>
                    <a:gs pos="0">
                      <a:srgbClr val="012D86"/>
                    </a:gs>
                    <a:gs pos="100000">
                      <a:srgbClr val="0E2557"/>
                    </a:gs>
                  </a:gsLst>
                  <a:lin scaled="0"/>
                </a:gradFill>
                <a:latin typeface="Times New Roman" panose="02020603050405020304" charset="0"/>
              </a:rPr>
              <a:t>4</a:t>
            </a:r>
            <a:r>
              <a:rPr lang="zh-CN" sz="2400" b="1">
                <a:gradFill>
                  <a:gsLst>
                    <a:gs pos="0">
                      <a:srgbClr val="012D86"/>
                    </a:gs>
                    <a:gs pos="100000">
                      <a:srgbClr val="0E2557"/>
                    </a:gs>
                  </a:gsLst>
                  <a:lin scaled="0"/>
                </a:gradFill>
                <a:ea typeface="宋体" panose="02010600030101010101" pitchFamily="2" charset="-122"/>
              </a:rPr>
              <a:t>位数码寄存器</a:t>
            </a:r>
            <a:r>
              <a:rPr lang="en-US" sz="2400" b="1">
                <a:gradFill>
                  <a:gsLst>
                    <a:gs pos="0">
                      <a:srgbClr val="012D86"/>
                    </a:gs>
                    <a:gs pos="100000">
                      <a:srgbClr val="0E2557"/>
                    </a:gs>
                  </a:gsLst>
                  <a:lin scaled="0"/>
                </a:gradFill>
                <a:latin typeface="Times New Roman" panose="02020603050405020304" charset="0"/>
              </a:rPr>
              <a:t>74LS175</a:t>
            </a:r>
            <a:r>
              <a:rPr lang="zh-CN" altLang="en-US" sz="2400" b="1">
                <a:gradFill>
                  <a:gsLst>
                    <a:gs pos="0">
                      <a:srgbClr val="012D86"/>
                    </a:gs>
                    <a:gs pos="100000">
                      <a:srgbClr val="0E2557"/>
                    </a:gs>
                  </a:gsLst>
                  <a:lin scaled="0"/>
                </a:gradFill>
                <a:latin typeface="Times New Roman" panose="02020603050405020304" charset="0"/>
              </a:rPr>
              <a:t>逻辑</a:t>
            </a:r>
            <a:r>
              <a:rPr lang="zh-CN" sz="2400" b="1">
                <a:gradFill>
                  <a:gsLst>
                    <a:gs pos="0">
                      <a:srgbClr val="012D86"/>
                    </a:gs>
                    <a:gs pos="100000">
                      <a:srgbClr val="0E2557"/>
                    </a:gs>
                  </a:gsLst>
                  <a:lin scaled="0"/>
                </a:gradFill>
                <a:ea typeface="宋体" panose="02010600030101010101" pitchFamily="2" charset="-122"/>
              </a:rPr>
              <a:t>功能：</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4" name="文本框 3"/>
          <p:cNvSpPr txBox="1"/>
          <p:nvPr/>
        </p:nvSpPr>
        <p:spPr>
          <a:xfrm>
            <a:off x="682625" y="3571875"/>
            <a:ext cx="5080000" cy="460375"/>
          </a:xfrm>
          <a:prstGeom prst="rect">
            <a:avLst/>
          </a:prstGeom>
          <a:noFill/>
          <a:ln w="9525">
            <a:noFill/>
          </a:ln>
        </p:spPr>
        <p:txBody>
          <a:bodyPr>
            <a:spAutoFit/>
          </a:bodyPr>
          <a:p>
            <a:r>
              <a:rPr lang="en-US" sz="2400" b="1">
                <a:gradFill>
                  <a:gsLst>
                    <a:gs pos="0">
                      <a:srgbClr val="012D86"/>
                    </a:gs>
                    <a:gs pos="100000">
                      <a:srgbClr val="0E2557"/>
                    </a:gs>
                  </a:gsLst>
                  <a:lin scaled="0"/>
                </a:gradFill>
                <a:latin typeface="Times New Roman" panose="02020603050405020304" charset="0"/>
              </a:rPr>
              <a:t>① </a:t>
            </a:r>
            <a:r>
              <a:rPr lang="zh-CN" sz="2400" b="1">
                <a:gradFill>
                  <a:gsLst>
                    <a:gs pos="0">
                      <a:srgbClr val="012D86"/>
                    </a:gs>
                    <a:gs pos="100000">
                      <a:srgbClr val="0E2557"/>
                    </a:gs>
                  </a:gsLst>
                  <a:lin scaled="0"/>
                </a:gradFill>
                <a:ea typeface="宋体" panose="02010600030101010101" pitchFamily="2" charset="-122"/>
              </a:rPr>
              <a:t>直接清除数码</a:t>
            </a:r>
            <a:endParaRPr lang="zh-CN" altLang="en-US" sz="2400" b="1">
              <a:gradFill>
                <a:gsLst>
                  <a:gs pos="0">
                    <a:srgbClr val="012D86"/>
                  </a:gs>
                  <a:gs pos="100000">
                    <a:srgbClr val="0E2557"/>
                  </a:gs>
                </a:gsLst>
                <a:lin scaled="0"/>
              </a:gradFill>
              <a:ea typeface="宋体" panose="02010600030101010101" pitchFamily="2" charset="-122"/>
            </a:endParaRPr>
          </a:p>
        </p:txBody>
      </p:sp>
      <p:grpSp>
        <p:nvGrpSpPr>
          <p:cNvPr id="7" name="组合 6"/>
          <p:cNvGrpSpPr/>
          <p:nvPr/>
        </p:nvGrpSpPr>
        <p:grpSpPr>
          <a:xfrm>
            <a:off x="432435" y="3956050"/>
            <a:ext cx="8929370" cy="459740"/>
            <a:chOff x="801" y="6470"/>
            <a:chExt cx="14062" cy="724"/>
          </a:xfrm>
        </p:grpSpPr>
        <p:sp>
          <p:nvSpPr>
            <p:cNvPr id="5" name="文本框 4"/>
            <p:cNvSpPr txBox="1"/>
            <p:nvPr/>
          </p:nvSpPr>
          <p:spPr>
            <a:xfrm>
              <a:off x="801" y="6470"/>
              <a:ext cx="14062" cy="725"/>
            </a:xfrm>
            <a:prstGeom prst="rect">
              <a:avLst/>
            </a:prstGeom>
            <a:noFill/>
            <a:ln w="9525">
              <a:noFill/>
            </a:ln>
          </p:spPr>
          <p:txBody>
            <a:bodyPr wrap="square">
              <a:spAutoFit/>
            </a:bodyPr>
            <a:p>
              <a:pPr indent="266700"/>
              <a:r>
                <a:rPr lang="zh-CN" sz="2400" b="1">
                  <a:gradFill>
                    <a:gsLst>
                      <a:gs pos="0">
                        <a:srgbClr val="012D86"/>
                      </a:gs>
                      <a:gs pos="100000">
                        <a:srgbClr val="0E2557"/>
                      </a:gs>
                    </a:gsLst>
                    <a:lin scaled="0"/>
                  </a:gradFill>
                  <a:ea typeface="宋体" panose="02010600030101010101" pitchFamily="2" charset="-122"/>
                </a:rPr>
                <a:t>当    </a:t>
              </a:r>
              <a:r>
                <a:rPr lang="en-US" sz="2400" b="1">
                  <a:gradFill>
                    <a:gsLst>
                      <a:gs pos="0">
                        <a:srgbClr val="012D86"/>
                      </a:gs>
                      <a:gs pos="100000">
                        <a:srgbClr val="0E2557"/>
                      </a:gs>
                    </a:gsLst>
                    <a:lin scaled="0"/>
                  </a:gradFill>
                  <a:latin typeface="Times New Roman" panose="02020603050405020304" charset="0"/>
                  <a:sym typeface="+mn-ea"/>
                </a:rPr>
                <a:t>= 0</a:t>
              </a:r>
              <a:r>
                <a:rPr lang="zh-CN" sz="2400" b="1">
                  <a:gradFill>
                    <a:gsLst>
                      <a:gs pos="0">
                        <a:srgbClr val="012D86"/>
                      </a:gs>
                      <a:gs pos="100000">
                        <a:srgbClr val="0E2557"/>
                      </a:gs>
                    </a:gsLst>
                    <a:lin scaled="0"/>
                  </a:gradFill>
                  <a:sym typeface="+mn-ea"/>
                </a:rPr>
                <a:t>时，不管其它输入状态如何，寄存器输出将直接清零。</a:t>
              </a:r>
              <a:endParaRPr lang="zh-CN" altLang="en-US" sz="2400" b="1">
                <a:gradFill>
                  <a:gsLst>
                    <a:gs pos="0">
                      <a:srgbClr val="012D86"/>
                    </a:gs>
                    <a:gs pos="100000">
                      <a:srgbClr val="0E2557"/>
                    </a:gs>
                  </a:gsLst>
                  <a:lin scaled="0"/>
                </a:gradFill>
                <a:ea typeface="宋体" panose="02010600030101010101" pitchFamily="2" charset="-122"/>
                <a:sym typeface="+mn-ea"/>
              </a:endParaRPr>
            </a:p>
          </p:txBody>
        </p:sp>
        <p:pic>
          <p:nvPicPr>
            <p:cNvPr id="6" name="图片 5"/>
            <p:cNvPicPr/>
            <p:nvPr/>
          </p:nvPicPr>
          <p:blipFill>
            <a:blip r:embed="rId2"/>
            <a:stretch>
              <a:fillRect/>
            </a:stretch>
          </p:blipFill>
          <p:spPr>
            <a:xfrm>
              <a:off x="1822" y="6555"/>
              <a:ext cx="559" cy="555"/>
            </a:xfrm>
            <a:prstGeom prst="rect">
              <a:avLst/>
            </a:prstGeom>
            <a:noFill/>
            <a:ln w="9525">
              <a:noFill/>
            </a:ln>
          </p:spPr>
        </p:pic>
      </p:grpSp>
      <p:sp>
        <p:nvSpPr>
          <p:cNvPr id="8" name="文本框 7"/>
          <p:cNvSpPr txBox="1"/>
          <p:nvPr/>
        </p:nvSpPr>
        <p:spPr>
          <a:xfrm>
            <a:off x="682625" y="4416425"/>
            <a:ext cx="5080000" cy="460375"/>
          </a:xfrm>
          <a:prstGeom prst="rect">
            <a:avLst/>
          </a:prstGeom>
          <a:noFill/>
          <a:ln w="9525">
            <a:noFill/>
          </a:ln>
        </p:spPr>
        <p:txBody>
          <a:bodyPr>
            <a:spAutoFit/>
          </a:bodyPr>
          <a:p>
            <a:r>
              <a:rPr lang="en-US" sz="2400" b="1">
                <a:gradFill>
                  <a:gsLst>
                    <a:gs pos="0">
                      <a:srgbClr val="012D86"/>
                    </a:gs>
                    <a:gs pos="100000">
                      <a:srgbClr val="0E2557"/>
                    </a:gs>
                  </a:gsLst>
                  <a:lin scaled="0"/>
                </a:gradFill>
                <a:latin typeface="Times New Roman" panose="02020603050405020304" charset="0"/>
              </a:rPr>
              <a:t>② </a:t>
            </a:r>
            <a:r>
              <a:rPr lang="zh-CN" sz="2400" b="1">
                <a:gradFill>
                  <a:gsLst>
                    <a:gs pos="0">
                      <a:srgbClr val="012D86"/>
                    </a:gs>
                    <a:gs pos="100000">
                      <a:srgbClr val="0E2557"/>
                    </a:gs>
                  </a:gsLst>
                  <a:lin scaled="0"/>
                </a:gradFill>
                <a:ea typeface="宋体" panose="02010600030101010101" pitchFamily="2" charset="-122"/>
              </a:rPr>
              <a:t>暂存数码</a:t>
            </a:r>
            <a:endParaRPr lang="zh-CN" altLang="en-US" sz="2400" b="1">
              <a:gradFill>
                <a:gsLst>
                  <a:gs pos="0">
                    <a:srgbClr val="012D86"/>
                  </a:gs>
                  <a:gs pos="100000">
                    <a:srgbClr val="0E2557"/>
                  </a:gs>
                </a:gsLst>
                <a:lin scaled="0"/>
              </a:gradFill>
              <a:ea typeface="宋体" panose="02010600030101010101" pitchFamily="2" charset="-122"/>
            </a:endParaRPr>
          </a:p>
        </p:txBody>
      </p:sp>
      <p:grpSp>
        <p:nvGrpSpPr>
          <p:cNvPr id="10" name="组合 9"/>
          <p:cNvGrpSpPr/>
          <p:nvPr/>
        </p:nvGrpSpPr>
        <p:grpSpPr>
          <a:xfrm>
            <a:off x="770890" y="4800600"/>
            <a:ext cx="8703945" cy="459740"/>
            <a:chOff x="1226" y="7920"/>
            <a:chExt cx="13707" cy="724"/>
          </a:xfrm>
        </p:grpSpPr>
        <p:pic>
          <p:nvPicPr>
            <p:cNvPr id="9" name="图片 8"/>
            <p:cNvPicPr/>
            <p:nvPr/>
          </p:nvPicPr>
          <p:blipFill>
            <a:blip r:embed="rId2"/>
            <a:stretch>
              <a:fillRect/>
            </a:stretch>
          </p:blipFill>
          <p:spPr>
            <a:xfrm>
              <a:off x="1226" y="7920"/>
              <a:ext cx="596" cy="596"/>
            </a:xfrm>
            <a:prstGeom prst="rect">
              <a:avLst/>
            </a:prstGeom>
            <a:noFill/>
            <a:ln w="9525">
              <a:noFill/>
            </a:ln>
          </p:spPr>
        </p:pic>
        <p:sp>
          <p:nvSpPr>
            <p:cNvPr id="102" name="文本框 101"/>
            <p:cNvSpPr txBox="1"/>
            <p:nvPr/>
          </p:nvSpPr>
          <p:spPr>
            <a:xfrm>
              <a:off x="1277" y="7920"/>
              <a:ext cx="13656" cy="725"/>
            </a:xfrm>
            <a:prstGeom prst="rect">
              <a:avLst/>
            </a:prstGeom>
            <a:noFill/>
            <a:ln w="9525">
              <a:noFill/>
            </a:ln>
          </p:spPr>
          <p:txBody>
            <a:bodyPr wrap="square">
              <a:spAutoFit/>
            </a:bodyPr>
            <a:p>
              <a:pPr indent="266700"/>
              <a:r>
                <a:rPr lang="en-US" sz="2400" b="1">
                  <a:gradFill>
                    <a:gsLst>
                      <a:gs pos="0">
                        <a:srgbClr val="012D86"/>
                      </a:gs>
                      <a:gs pos="100000">
                        <a:srgbClr val="0E2557"/>
                      </a:gs>
                    </a:gsLst>
                    <a:lin scaled="0"/>
                  </a:gradFill>
                  <a:latin typeface="Times New Roman" panose="02020603050405020304" charset="0"/>
                </a:rPr>
                <a:t>=1</a:t>
              </a:r>
              <a:r>
                <a:rPr lang="en-US" altLang="zh-CN" sz="2400" b="1">
                  <a:gradFill>
                    <a:gsLst>
                      <a:gs pos="0">
                        <a:srgbClr val="012D86"/>
                      </a:gs>
                      <a:gs pos="100000">
                        <a:srgbClr val="0E2557"/>
                      </a:gs>
                    </a:gsLst>
                    <a:lin scaled="0"/>
                  </a:gradFill>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rPr>
                <a:t>CP</a:t>
              </a:r>
              <a:r>
                <a:rPr lang="zh-CN" sz="2400" b="1">
                  <a:gradFill>
                    <a:gsLst>
                      <a:gs pos="0">
                        <a:srgbClr val="012D86"/>
                      </a:gs>
                      <a:gs pos="100000">
                        <a:srgbClr val="0E2557"/>
                      </a:gs>
                    </a:gsLst>
                    <a:lin scaled="0"/>
                  </a:gradFill>
                  <a:ea typeface="宋体" panose="02010600030101010101" pitchFamily="2" charset="-122"/>
                </a:rPr>
                <a:t>上升沿以外时间</a:t>
              </a:r>
              <a:r>
                <a:rPr lang="en-US" altLang="zh-CN" sz="2400" b="1">
                  <a:gradFill>
                    <a:gsLst>
                      <a:gs pos="0">
                        <a:srgbClr val="012D86"/>
                      </a:gs>
                      <a:gs pos="100000">
                        <a:srgbClr val="0E2557"/>
                      </a:gs>
                    </a:gsLst>
                    <a:lin scaled="0"/>
                  </a:gradFill>
                  <a:ea typeface="宋体" panose="02010600030101010101" pitchFamily="2" charset="-122"/>
                </a:rPr>
                <a:t>,</a:t>
              </a:r>
              <a:r>
                <a:rPr lang="zh-CN" sz="2400" b="1">
                  <a:gradFill>
                    <a:gsLst>
                      <a:gs pos="0">
                        <a:srgbClr val="012D86"/>
                      </a:gs>
                      <a:gs pos="100000">
                        <a:srgbClr val="0E2557"/>
                      </a:gs>
                    </a:gsLst>
                    <a:lin scaled="0"/>
                  </a:gradFill>
                  <a:ea typeface="宋体" panose="02010600030101010101" pitchFamily="2" charset="-122"/>
                </a:rPr>
                <a:t>寄存器内容将保持不变，即</a:t>
              </a:r>
              <a:r>
                <a:rPr lang="en-US" sz="2400" b="1" i="1">
                  <a:gradFill>
                    <a:gsLst>
                      <a:gs pos="0">
                        <a:srgbClr val="012D86"/>
                      </a:gs>
                      <a:gs pos="100000">
                        <a:srgbClr val="0E2557"/>
                      </a:gs>
                    </a:gsLst>
                    <a:lin scaled="0"/>
                  </a:gradFill>
                  <a:latin typeface="Times New Roman" panose="02020603050405020304" charset="0"/>
                </a:rPr>
                <a:t>Q</a:t>
              </a:r>
              <a:r>
                <a:rPr lang="en-US" sz="2400" b="1" i="1" baseline="30000">
                  <a:gradFill>
                    <a:gsLst>
                      <a:gs pos="0">
                        <a:srgbClr val="012D86"/>
                      </a:gs>
                      <a:gs pos="100000">
                        <a:srgbClr val="0E2557"/>
                      </a:gs>
                    </a:gsLst>
                    <a:lin scaled="0"/>
                  </a:gradFill>
                  <a:latin typeface="Times New Roman" panose="02020603050405020304" charset="0"/>
                </a:rPr>
                <a:t>n</a:t>
              </a:r>
              <a:r>
                <a:rPr lang="en-US" sz="2400" b="1" baseline="30000">
                  <a:gradFill>
                    <a:gsLst>
                      <a:gs pos="0">
                        <a:srgbClr val="012D86"/>
                      </a:gs>
                      <a:gs pos="100000">
                        <a:srgbClr val="0E2557"/>
                      </a:gs>
                    </a:gsLst>
                    <a:lin scaled="0"/>
                  </a:gradFill>
                  <a:latin typeface="Times New Roman" panose="02020603050405020304" charset="0"/>
                </a:rPr>
                <a:t>+1</a:t>
              </a:r>
              <a:r>
                <a:rPr lang="en-US" sz="2400" b="1">
                  <a:gradFill>
                    <a:gsLst>
                      <a:gs pos="0">
                        <a:srgbClr val="012D86"/>
                      </a:gs>
                      <a:gs pos="100000">
                        <a:srgbClr val="0E2557"/>
                      </a:gs>
                    </a:gsLst>
                    <a:lin scaled="0"/>
                  </a:gradFill>
                  <a:latin typeface="Times New Roman" panose="02020603050405020304" charset="0"/>
                </a:rPr>
                <a:t>=</a:t>
              </a:r>
              <a:r>
                <a:rPr lang="en-US" sz="2400" b="1" i="1">
                  <a:gradFill>
                    <a:gsLst>
                      <a:gs pos="0">
                        <a:srgbClr val="012D86"/>
                      </a:gs>
                      <a:gs pos="100000">
                        <a:srgbClr val="0E2557"/>
                      </a:gs>
                    </a:gsLst>
                    <a:lin scaled="0"/>
                  </a:gradFill>
                  <a:latin typeface="Times New Roman" panose="02020603050405020304" charset="0"/>
                </a:rPr>
                <a:t>Q</a:t>
              </a:r>
              <a:r>
                <a:rPr lang="en-US" sz="2400" b="1" i="1" baseline="30000">
                  <a:gradFill>
                    <a:gsLst>
                      <a:gs pos="0">
                        <a:srgbClr val="012D86"/>
                      </a:gs>
                      <a:gs pos="100000">
                        <a:srgbClr val="0E2557"/>
                      </a:gs>
                    </a:gsLst>
                    <a:lin scaled="0"/>
                  </a:gradFill>
                  <a:latin typeface="Times New Roman" panose="02020603050405020304" charset="0"/>
                </a:rPr>
                <a:t>n</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grpSp>
      <p:sp>
        <p:nvSpPr>
          <p:cNvPr id="11" name="文本框 10"/>
          <p:cNvSpPr txBox="1"/>
          <p:nvPr/>
        </p:nvSpPr>
        <p:spPr>
          <a:xfrm>
            <a:off x="682625" y="5179060"/>
            <a:ext cx="5080000" cy="460375"/>
          </a:xfrm>
          <a:prstGeom prst="rect">
            <a:avLst/>
          </a:prstGeom>
          <a:noFill/>
          <a:ln w="9525">
            <a:noFill/>
          </a:ln>
        </p:spPr>
        <p:txBody>
          <a:bodyPr>
            <a:spAutoFit/>
          </a:bodyPr>
          <a:p>
            <a:r>
              <a:rPr lang="en-US" sz="2400" b="1">
                <a:gradFill>
                  <a:gsLst>
                    <a:gs pos="0">
                      <a:srgbClr val="012D86"/>
                    </a:gs>
                    <a:gs pos="100000">
                      <a:srgbClr val="0E2557"/>
                    </a:gs>
                  </a:gsLst>
                  <a:lin scaled="0"/>
                </a:gradFill>
                <a:latin typeface="Times New Roman" panose="02020603050405020304" charset="0"/>
              </a:rPr>
              <a:t>③ </a:t>
            </a:r>
            <a:r>
              <a:rPr lang="zh-CN" sz="2400" b="1">
                <a:gradFill>
                  <a:gsLst>
                    <a:gs pos="0">
                      <a:srgbClr val="012D86"/>
                    </a:gs>
                    <a:gs pos="100000">
                      <a:srgbClr val="0E2557"/>
                    </a:gs>
                  </a:gsLst>
                  <a:lin scaled="0"/>
                </a:gradFill>
                <a:ea typeface="宋体" panose="02010600030101010101" pitchFamily="2" charset="-122"/>
              </a:rPr>
              <a:t>接收数码</a:t>
            </a:r>
            <a:endParaRPr lang="zh-CN" altLang="en-US" sz="2400" b="1">
              <a:gradFill>
                <a:gsLst>
                  <a:gs pos="0">
                    <a:srgbClr val="012D86"/>
                  </a:gs>
                  <a:gs pos="100000">
                    <a:srgbClr val="0E2557"/>
                  </a:gs>
                </a:gsLst>
                <a:lin scaled="0"/>
              </a:gradFill>
              <a:ea typeface="宋体" panose="02010600030101010101" pitchFamily="2" charset="-122"/>
            </a:endParaRPr>
          </a:p>
        </p:txBody>
      </p:sp>
      <p:grpSp>
        <p:nvGrpSpPr>
          <p:cNvPr id="14" name="组合 13"/>
          <p:cNvGrpSpPr/>
          <p:nvPr/>
        </p:nvGrpSpPr>
        <p:grpSpPr>
          <a:xfrm>
            <a:off x="771525" y="5547360"/>
            <a:ext cx="8411210" cy="829945"/>
            <a:chOff x="1215" y="8736"/>
            <a:chExt cx="13246" cy="1307"/>
          </a:xfrm>
        </p:grpSpPr>
        <p:pic>
          <p:nvPicPr>
            <p:cNvPr id="12" name="图片 11"/>
            <p:cNvPicPr/>
            <p:nvPr/>
          </p:nvPicPr>
          <p:blipFill>
            <a:blip r:embed="rId2"/>
            <a:stretch>
              <a:fillRect/>
            </a:stretch>
          </p:blipFill>
          <p:spPr>
            <a:xfrm>
              <a:off x="1215" y="8739"/>
              <a:ext cx="595" cy="626"/>
            </a:xfrm>
            <a:prstGeom prst="rect">
              <a:avLst/>
            </a:prstGeom>
            <a:noFill/>
            <a:ln w="9525">
              <a:noFill/>
            </a:ln>
          </p:spPr>
        </p:pic>
        <p:sp>
          <p:nvSpPr>
            <p:cNvPr id="103" name="文本框 102"/>
            <p:cNvSpPr txBox="1"/>
            <p:nvPr/>
          </p:nvSpPr>
          <p:spPr>
            <a:xfrm>
              <a:off x="1265" y="8736"/>
              <a:ext cx="13197" cy="1307"/>
            </a:xfrm>
            <a:prstGeom prst="rect">
              <a:avLst/>
            </a:prstGeom>
            <a:noFill/>
            <a:ln w="9525">
              <a:noFill/>
            </a:ln>
          </p:spPr>
          <p:txBody>
            <a:bodyPr wrap="square">
              <a:spAutoFit/>
            </a:bodyPr>
            <a:p>
              <a:pPr indent="266700"/>
              <a:r>
                <a:rPr lang="en-US" sz="2400" b="1">
                  <a:gradFill>
                    <a:gsLst>
                      <a:gs pos="0">
                        <a:srgbClr val="012D86"/>
                      </a:gs>
                      <a:gs pos="100000">
                        <a:srgbClr val="0E2557"/>
                      </a:gs>
                    </a:gsLst>
                    <a:lin scaled="0"/>
                  </a:gradFill>
                  <a:latin typeface="Times New Roman" panose="02020603050405020304" charset="0"/>
                </a:rPr>
                <a:t>=1</a:t>
              </a:r>
              <a:r>
                <a:rPr lang="zh-CN" sz="2400" b="1">
                  <a:gradFill>
                    <a:gsLst>
                      <a:gs pos="0">
                        <a:srgbClr val="012D86"/>
                      </a:gs>
                      <a:gs pos="100000">
                        <a:srgbClr val="0E2557"/>
                      </a:gs>
                    </a:gsLst>
                    <a:lin scaled="0"/>
                  </a:gradFill>
                  <a:ea typeface="宋体" panose="02010600030101010101" pitchFamily="2" charset="-122"/>
                </a:rPr>
                <a:t>，并行数据输入端</a:t>
              </a:r>
              <a:r>
                <a:rPr lang="en-US" sz="2400" b="1" i="1">
                  <a:gradFill>
                    <a:gsLst>
                      <a:gs pos="0">
                        <a:srgbClr val="012D86"/>
                      </a:gs>
                      <a:gs pos="100000">
                        <a:srgbClr val="0E2557"/>
                      </a:gs>
                    </a:gsLst>
                    <a:lin scaled="0"/>
                  </a:gradFill>
                  <a:latin typeface="Times New Roman" panose="02020603050405020304" charset="0"/>
                </a:rPr>
                <a:t>D</a:t>
              </a:r>
              <a:r>
                <a:rPr lang="en-US" sz="2400" b="1" baseline="-25000">
                  <a:gradFill>
                    <a:gsLst>
                      <a:gs pos="0">
                        <a:srgbClr val="012D86"/>
                      </a:gs>
                      <a:gs pos="100000">
                        <a:srgbClr val="0E2557"/>
                      </a:gs>
                    </a:gsLst>
                    <a:lin scaled="0"/>
                  </a:gradFill>
                  <a:latin typeface="Times New Roman" panose="02020603050405020304" charset="0"/>
                </a:rPr>
                <a:t>3</a:t>
              </a:r>
              <a:r>
                <a:rPr lang="en-US" sz="2400" b="1" i="1">
                  <a:gradFill>
                    <a:gsLst>
                      <a:gs pos="0">
                        <a:srgbClr val="012D86"/>
                      </a:gs>
                      <a:gs pos="100000">
                        <a:srgbClr val="0E2557"/>
                      </a:gs>
                    </a:gsLst>
                    <a:lin scaled="0"/>
                  </a:gradFill>
                  <a:latin typeface="Times New Roman" panose="02020603050405020304" charset="0"/>
                </a:rPr>
                <a:t>D</a:t>
              </a:r>
              <a:r>
                <a:rPr lang="en-US" sz="2400" b="1" baseline="-25000">
                  <a:gradFill>
                    <a:gsLst>
                      <a:gs pos="0">
                        <a:srgbClr val="012D86"/>
                      </a:gs>
                      <a:gs pos="100000">
                        <a:srgbClr val="0E2557"/>
                      </a:gs>
                    </a:gsLst>
                    <a:lin scaled="0"/>
                  </a:gradFill>
                  <a:latin typeface="Times New Roman" panose="02020603050405020304" charset="0"/>
                </a:rPr>
                <a:t>2</a:t>
              </a:r>
              <a:r>
                <a:rPr lang="en-US" sz="2400" b="1" i="1">
                  <a:gradFill>
                    <a:gsLst>
                      <a:gs pos="0">
                        <a:srgbClr val="012D86"/>
                      </a:gs>
                      <a:gs pos="100000">
                        <a:srgbClr val="0E2557"/>
                      </a:gs>
                    </a:gsLst>
                    <a:lin scaled="0"/>
                  </a:gradFill>
                  <a:latin typeface="Times New Roman" panose="02020603050405020304" charset="0"/>
                </a:rPr>
                <a:t>D</a:t>
              </a:r>
              <a:r>
                <a:rPr lang="en-US" sz="2400" b="1" baseline="-25000">
                  <a:gradFill>
                    <a:gsLst>
                      <a:gs pos="0">
                        <a:srgbClr val="012D86"/>
                      </a:gs>
                      <a:gs pos="100000">
                        <a:srgbClr val="0E2557"/>
                      </a:gs>
                    </a:gsLst>
                    <a:lin scaled="0"/>
                  </a:gradFill>
                  <a:latin typeface="Times New Roman" panose="02020603050405020304" charset="0"/>
                </a:rPr>
                <a:t>1</a:t>
              </a:r>
              <a:r>
                <a:rPr lang="en-US" sz="2400" b="1" i="1">
                  <a:gradFill>
                    <a:gsLst>
                      <a:gs pos="0">
                        <a:srgbClr val="012D86"/>
                      </a:gs>
                      <a:gs pos="100000">
                        <a:srgbClr val="0E2557"/>
                      </a:gs>
                    </a:gsLst>
                    <a:lin scaled="0"/>
                  </a:gradFill>
                  <a:latin typeface="Times New Roman" panose="02020603050405020304" charset="0"/>
                </a:rPr>
                <a:t>D</a:t>
              </a:r>
              <a:r>
                <a:rPr lang="en-US" sz="2400" b="1" baseline="-25000">
                  <a:gradFill>
                    <a:gsLst>
                      <a:gs pos="0">
                        <a:srgbClr val="012D86"/>
                      </a:gs>
                      <a:gs pos="100000">
                        <a:srgbClr val="0E2557"/>
                      </a:gs>
                    </a:gsLst>
                    <a:lin scaled="0"/>
                  </a:gradFill>
                  <a:latin typeface="Times New Roman" panose="02020603050405020304" charset="0"/>
                </a:rPr>
                <a:t>0</a:t>
              </a:r>
              <a:r>
                <a:rPr lang="zh-CN" sz="2400" b="1">
                  <a:gradFill>
                    <a:gsLst>
                      <a:gs pos="0">
                        <a:srgbClr val="012D86"/>
                      </a:gs>
                      <a:gs pos="100000">
                        <a:srgbClr val="0E2557"/>
                      </a:gs>
                    </a:gsLst>
                    <a:lin scaled="0"/>
                  </a:gradFill>
                  <a:ea typeface="宋体" panose="02010600030101010101" pitchFamily="2" charset="-122"/>
                </a:rPr>
                <a:t>数码准备好后，当</a:t>
              </a:r>
              <a:r>
                <a:rPr lang="en-US" sz="2400" b="1" i="1">
                  <a:gradFill>
                    <a:gsLst>
                      <a:gs pos="0">
                        <a:srgbClr val="012D86"/>
                      </a:gs>
                      <a:gs pos="100000">
                        <a:srgbClr val="0E2557"/>
                      </a:gs>
                    </a:gsLst>
                    <a:lin scaled="0"/>
                  </a:gradFill>
                  <a:latin typeface="Times New Roman" panose="02020603050405020304" charset="0"/>
                </a:rPr>
                <a:t>CP</a:t>
              </a:r>
              <a:r>
                <a:rPr lang="zh-CN" sz="2400" b="1">
                  <a:gradFill>
                    <a:gsLst>
                      <a:gs pos="0">
                        <a:srgbClr val="012D86"/>
                      </a:gs>
                      <a:gs pos="100000">
                        <a:srgbClr val="0E2557"/>
                      </a:gs>
                    </a:gsLst>
                    <a:lin scaled="0"/>
                  </a:gradFill>
                  <a:ea typeface="宋体" panose="02010600030101010101" pitchFamily="2" charset="-122"/>
                </a:rPr>
                <a:t>端出现上升沿时，有                                   </a:t>
              </a:r>
              <a:r>
                <a:rPr lang="en-US" altLang="zh-CN" sz="2400" b="1">
                  <a:gradFill>
                    <a:gsLst>
                      <a:gs pos="0">
                        <a:srgbClr val="012D86"/>
                      </a:gs>
                      <a:gs pos="100000">
                        <a:srgbClr val="0E2557"/>
                      </a:gs>
                    </a:gsLst>
                    <a:lin scaled="0"/>
                  </a:gradFill>
                  <a:ea typeface="宋体" panose="02010600030101010101" pitchFamily="2" charset="-122"/>
                </a:rPr>
                <a:t>,</a:t>
              </a:r>
              <a:r>
                <a:rPr lang="zh-CN" sz="2400" b="1">
                  <a:gradFill>
                    <a:gsLst>
                      <a:gs pos="0">
                        <a:srgbClr val="012D86"/>
                      </a:gs>
                      <a:gs pos="100000">
                        <a:srgbClr val="0E2557"/>
                      </a:gs>
                    </a:gsLst>
                    <a:lin scaled="0"/>
                  </a:gradFill>
                  <a:sym typeface="+mn-ea"/>
                </a:rPr>
                <a:t>完成对输入数码的接收。</a:t>
              </a:r>
              <a:endParaRPr lang="zh-CN" altLang="en-US" sz="2400" b="1">
                <a:gradFill>
                  <a:gsLst>
                    <a:gs pos="0">
                      <a:srgbClr val="012D86"/>
                    </a:gs>
                    <a:gs pos="100000">
                      <a:srgbClr val="0E2557"/>
                    </a:gs>
                  </a:gsLst>
                  <a:lin scaled="0"/>
                </a:gradFill>
                <a:ea typeface="宋体" panose="02010600030101010101" pitchFamily="2" charset="-122"/>
                <a:sym typeface="+mn-ea"/>
              </a:endParaRPr>
            </a:p>
          </p:txBody>
        </p:sp>
        <p:pic>
          <p:nvPicPr>
            <p:cNvPr id="13" name="图片 12"/>
            <p:cNvPicPr/>
            <p:nvPr/>
          </p:nvPicPr>
          <p:blipFill>
            <a:blip r:embed="rId3"/>
            <a:stretch>
              <a:fillRect/>
            </a:stretch>
          </p:blipFill>
          <p:spPr>
            <a:xfrm>
              <a:off x="4322" y="9365"/>
              <a:ext cx="4625" cy="678"/>
            </a:xfrm>
            <a:prstGeom prst="rect">
              <a:avLst/>
            </a:prstGeom>
            <a:noFill/>
            <a:ln w="9525">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100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childTnLst>
                          </p:cTn>
                        </p:par>
                        <p:par>
                          <p:cTn id="17" fill="hold">
                            <p:stCondLst>
                              <p:cond delay="500"/>
                            </p:stCondLst>
                            <p:childTnLst>
                              <p:par>
                                <p:cTn id="18" presetID="22" presetClass="entr" presetSubtype="8" fill="hold" nodeType="afterEffect">
                                  <p:stCondLst>
                                    <p:cond delay="100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childTnLst>
                          </p:cTn>
                        </p:par>
                        <p:par>
                          <p:cTn id="26" fill="hold">
                            <p:stCondLst>
                              <p:cond delay="500"/>
                            </p:stCondLst>
                            <p:childTnLst>
                              <p:par>
                                <p:cTn id="27" presetID="1" presetClass="entr" presetSubtype="0" fill="hold" nodeType="afterEffect">
                                  <p:stCondLst>
                                    <p:cond delay="100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1"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6.5 </a:t>
            </a:r>
            <a:r>
              <a:rPr lang="zh-CN" b="1" dirty="0">
                <a:solidFill>
                  <a:srgbClr val="FF0000"/>
                </a:solidFill>
                <a:latin typeface="黑体" panose="02010609060101010101" pitchFamily="49" charset="-122"/>
                <a:ea typeface="黑体" panose="02010609060101010101" pitchFamily="49" charset="-122"/>
                <a:sym typeface="+mn-ea"/>
              </a:rPr>
              <a:t>数码寄存器与移位寄存器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6146" name="Rectangle 2"/>
          <p:cNvSpPr>
            <a:spLocks noGrp="1"/>
          </p:cNvSpPr>
          <p:nvPr>
            <p:ph type="title"/>
          </p:nvPr>
        </p:nvSpPr>
        <p:spPr>
          <a:xfrm>
            <a:off x="906145" y="972820"/>
            <a:ext cx="6847205" cy="868045"/>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sym typeface="+mn-ea"/>
              </a:rPr>
              <a:t>6.5.2 移位寄存器</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369688" name="矩形 369687"/>
          <p:cNvSpPr/>
          <p:nvPr/>
        </p:nvSpPr>
        <p:spPr>
          <a:xfrm>
            <a:off x="346710" y="1776730"/>
            <a:ext cx="9075420" cy="1331595"/>
          </a:xfrm>
          <a:prstGeom prst="rect">
            <a:avLst/>
          </a:prstGeom>
          <a:noFill/>
          <a:ln w="9525">
            <a:noFill/>
          </a:ln>
        </p:spPr>
        <p:txBody>
          <a:bodyPr/>
          <a:lstStyle>
            <a:lvl1pPr marL="469900" lvl="0" indent="-4699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3000" b="1" u="none" kern="1200" baseline="0">
                <a:solidFill>
                  <a:schemeClr val="tx1"/>
                </a:solidFill>
                <a:latin typeface="Arial Narrow" panose="020B0606020202030204" pitchFamily="34" charset="0"/>
                <a:ea typeface="楷体_GB2312"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3000" b="1" i="0" u="none" kern="1200" baseline="0">
                <a:solidFill>
                  <a:schemeClr val="tx1"/>
                </a:solidFill>
                <a:latin typeface="Arial Narrow" panose="020B0606020202030204" pitchFamily="34" charset="0"/>
                <a:ea typeface="楷体_GB2312"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800" b="1" i="0" u="none" kern="1200" baseline="0">
                <a:solidFill>
                  <a:schemeClr val="tx1"/>
                </a:solidFill>
                <a:latin typeface="Arial Narrow" panose="020B0606020202030204" pitchFamily="34" charset="0"/>
                <a:ea typeface="楷体_GB2312"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400" b="1" i="0" u="none" kern="1200" baseline="0">
                <a:solidFill>
                  <a:schemeClr val="tx1"/>
                </a:solidFill>
                <a:latin typeface="Arial Narrow" panose="020B0606020202030204" pitchFamily="34" charset="0"/>
                <a:ea typeface="楷体_GB2312"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400" b="1" i="0" u="none" kern="1200" baseline="0">
                <a:solidFill>
                  <a:schemeClr val="tx1"/>
                </a:solidFill>
                <a:latin typeface="Arial Narrow" panose="020B0606020202030204" pitchFamily="34" charset="0"/>
                <a:ea typeface="楷体_GB2312" pitchFamily="49" charset="-122"/>
              </a:defRPr>
            </a:lvl5pPr>
          </a:lstStyle>
          <a:p>
            <a:pPr lvl="0" indent="0">
              <a:lnSpc>
                <a:spcPct val="145000"/>
              </a:lnSpc>
              <a:spcBef>
                <a:spcPts val="0"/>
              </a:spcBef>
              <a:buNone/>
            </a:pPr>
            <a:r>
              <a:rPr lang="en-US" altLang="zh-CN" sz="2400" dirty="0">
                <a:solidFill>
                  <a:srgbClr val="000066"/>
                </a:solidFill>
                <a:effectLst>
                  <a:outerShdw blurRad="38100" dist="38100" dir="2700000" algn="tl">
                    <a:srgbClr val="000000">
                      <a:alpha val="43137"/>
                    </a:srgbClr>
                  </a:outerShdw>
                </a:effectLst>
                <a:latin typeface="楷体_GB2312" pitchFamily="49" charset="-122"/>
              </a:rPr>
              <a:t>    </a:t>
            </a:r>
            <a:r>
              <a:rPr lang="zh-CN" altLang="en-US" sz="2400" dirty="0">
                <a:solidFill>
                  <a:srgbClr val="000066"/>
                </a:solidFill>
                <a:effectLst>
                  <a:outerShdw blurRad="38100" dist="38100" dir="2700000" algn="tl">
                    <a:srgbClr val="000000">
                      <a:alpha val="43137"/>
                    </a:srgbClr>
                  </a:outerShdw>
                </a:effectLst>
                <a:latin typeface="楷体_GB2312" pitchFamily="49" charset="-122"/>
              </a:rPr>
              <a:t>移位寄存器是既能</a:t>
            </a:r>
            <a:r>
              <a:rPr lang="zh-CN" altLang="en-US" sz="2400" dirty="0">
                <a:solidFill>
                  <a:srgbClr val="FF0000"/>
                </a:solidFill>
                <a:effectLst>
                  <a:outerShdw blurRad="38100" dist="38100" dir="2700000" algn="tl">
                    <a:srgbClr val="000000">
                      <a:alpha val="43137"/>
                    </a:srgbClr>
                  </a:outerShdw>
                </a:effectLst>
                <a:latin typeface="楷体_GB2312" pitchFamily="49" charset="-122"/>
              </a:rPr>
              <a:t>寄存</a:t>
            </a:r>
            <a:r>
              <a:rPr lang="zh-CN" altLang="en-US" sz="2400" dirty="0">
                <a:solidFill>
                  <a:srgbClr val="000066"/>
                </a:solidFill>
                <a:effectLst>
                  <a:outerShdw blurRad="38100" dist="38100" dir="2700000" algn="tl">
                    <a:srgbClr val="000000">
                      <a:alpha val="43137"/>
                    </a:srgbClr>
                  </a:outerShdw>
                </a:effectLst>
                <a:latin typeface="楷体_GB2312" pitchFamily="49" charset="-122"/>
              </a:rPr>
              <a:t>数码，又能在时钟脉冲的作用下</a:t>
            </a:r>
            <a:endParaRPr lang="zh-CN" altLang="en-US" sz="2400" dirty="0">
              <a:solidFill>
                <a:srgbClr val="000066"/>
              </a:solidFill>
              <a:effectLst>
                <a:outerShdw blurRad="38100" dist="38100" dir="2700000" algn="tl">
                  <a:srgbClr val="000000">
                    <a:alpha val="43137"/>
                  </a:srgbClr>
                </a:outerShdw>
              </a:effectLst>
              <a:latin typeface="楷体_GB2312" pitchFamily="49" charset="-122"/>
            </a:endParaRPr>
          </a:p>
          <a:p>
            <a:pPr lvl="0" indent="0">
              <a:lnSpc>
                <a:spcPct val="145000"/>
              </a:lnSpc>
              <a:spcBef>
                <a:spcPts val="0"/>
              </a:spcBef>
              <a:buNone/>
            </a:pPr>
            <a:r>
              <a:rPr lang="zh-CN" altLang="en-US" sz="2400" dirty="0">
                <a:solidFill>
                  <a:srgbClr val="000066"/>
                </a:solidFill>
                <a:effectLst>
                  <a:outerShdw blurRad="38100" dist="38100" dir="2700000" algn="tl">
                    <a:srgbClr val="000000">
                      <a:alpha val="43137"/>
                    </a:srgbClr>
                  </a:outerShdw>
                </a:effectLst>
                <a:latin typeface="楷体_GB2312" pitchFamily="49" charset="-122"/>
              </a:rPr>
              <a:t>使数码向高位或向低位</a:t>
            </a:r>
            <a:r>
              <a:rPr lang="zh-CN" altLang="en-US" sz="2400" dirty="0">
                <a:solidFill>
                  <a:srgbClr val="FF0000"/>
                </a:solidFill>
                <a:effectLst>
                  <a:outerShdw blurRad="38100" dist="38100" dir="2700000" algn="tl">
                    <a:srgbClr val="000000">
                      <a:alpha val="43137"/>
                    </a:srgbClr>
                  </a:outerShdw>
                </a:effectLst>
                <a:latin typeface="楷体_GB2312" pitchFamily="49" charset="-122"/>
              </a:rPr>
              <a:t>移动</a:t>
            </a:r>
            <a:r>
              <a:rPr lang="zh-CN" altLang="en-US" sz="2400" dirty="0">
                <a:solidFill>
                  <a:srgbClr val="000066"/>
                </a:solidFill>
                <a:effectLst>
                  <a:outerShdw blurRad="38100" dist="38100" dir="2700000" algn="tl">
                    <a:srgbClr val="000000">
                      <a:alpha val="43137"/>
                    </a:srgbClr>
                  </a:outerShdw>
                </a:effectLst>
                <a:latin typeface="楷体_GB2312" pitchFamily="49" charset="-122"/>
              </a:rPr>
              <a:t>的逻辑功能部件。</a:t>
            </a:r>
            <a:endParaRPr lang="zh-CN" altLang="en-US" sz="2400" dirty="0">
              <a:solidFill>
                <a:srgbClr val="000066"/>
              </a:solidFill>
              <a:effectLst>
                <a:outerShdw blurRad="38100" dist="38100" dir="2700000" algn="tl">
                  <a:srgbClr val="000000">
                    <a:alpha val="43137"/>
                  </a:srgbClr>
                </a:outerShdw>
              </a:effectLst>
              <a:latin typeface="楷体_GB2312" pitchFamily="49" charset="-122"/>
            </a:endParaRPr>
          </a:p>
        </p:txBody>
      </p:sp>
      <p:sp>
        <p:nvSpPr>
          <p:cNvPr id="369689" name="文本框 369688"/>
          <p:cNvSpPr txBox="1"/>
          <p:nvPr/>
        </p:nvSpPr>
        <p:spPr>
          <a:xfrm>
            <a:off x="892493" y="4576763"/>
            <a:ext cx="2165350" cy="460375"/>
          </a:xfrm>
          <a:prstGeom prst="rect">
            <a:avLst/>
          </a:prstGeom>
          <a:noFill/>
          <a:ln w="9525">
            <a:noFill/>
          </a:ln>
        </p:spPr>
        <p:txBody>
          <a:bodyPr>
            <a:spAutoFit/>
          </a:bodyPr>
          <a:p>
            <a:pPr>
              <a:spcBef>
                <a:spcPct val="50000"/>
              </a:spcBef>
            </a:pP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rPr>
              <a:t>按移动方式分</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369690" name="文本框 369689"/>
          <p:cNvSpPr txBox="1"/>
          <p:nvPr/>
        </p:nvSpPr>
        <p:spPr>
          <a:xfrm>
            <a:off x="3218180" y="3892550"/>
            <a:ext cx="2895600" cy="460375"/>
          </a:xfrm>
          <a:prstGeom prst="rect">
            <a:avLst/>
          </a:prstGeom>
          <a:noFill/>
          <a:ln w="9525">
            <a:noFill/>
          </a:ln>
        </p:spPr>
        <p:txBody>
          <a:bodyPr>
            <a:spAutoFit/>
          </a:bodyPr>
          <a:p>
            <a:pPr algn="l">
              <a:spcBef>
                <a:spcPct val="50000"/>
              </a:spcBef>
            </a:pP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rPr>
              <a:t>单向移位寄存器</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369691" name="左大括号 369690"/>
          <p:cNvSpPr/>
          <p:nvPr/>
        </p:nvSpPr>
        <p:spPr>
          <a:xfrm>
            <a:off x="2968625" y="4186238"/>
            <a:ext cx="222250" cy="1290637"/>
          </a:xfrm>
          <a:prstGeom prst="leftBrace">
            <a:avLst>
              <a:gd name="adj1" fmla="val 48392"/>
              <a:gd name="adj2" fmla="val 50000"/>
            </a:avLst>
          </a:prstGeom>
          <a:noFill/>
          <a:ln w="28575" cap="flat" cmpd="sng">
            <a:solidFill>
              <a:srgbClr val="003399"/>
            </a:solidFill>
            <a:prstDash val="solid"/>
            <a:headEnd type="none" w="med" len="med"/>
            <a:tailEnd type="none" w="med" len="med"/>
          </a:ln>
        </p:spPr>
        <p:txBody>
          <a:bodyPr/>
          <a:p>
            <a:endParaRPr lang="zh-CN" altLang="en-US"/>
          </a:p>
        </p:txBody>
      </p:sp>
      <p:sp>
        <p:nvSpPr>
          <p:cNvPr id="369692" name="左大括号 369691"/>
          <p:cNvSpPr/>
          <p:nvPr/>
        </p:nvSpPr>
        <p:spPr>
          <a:xfrm>
            <a:off x="5573713" y="3592513"/>
            <a:ext cx="233362" cy="1022350"/>
          </a:xfrm>
          <a:prstGeom prst="leftBrace">
            <a:avLst>
              <a:gd name="adj1" fmla="val 36508"/>
              <a:gd name="adj2" fmla="val 50000"/>
            </a:avLst>
          </a:prstGeom>
          <a:noFill/>
          <a:ln w="28575" cap="flat" cmpd="sng">
            <a:solidFill>
              <a:srgbClr val="003399"/>
            </a:solidFill>
            <a:prstDash val="solid"/>
            <a:headEnd type="none" w="med" len="med"/>
            <a:tailEnd type="none" w="med" len="med"/>
          </a:ln>
        </p:spPr>
        <p:txBody>
          <a:bodyPr/>
          <a:p>
            <a:endParaRPr lang="zh-CN" altLang="en-US"/>
          </a:p>
        </p:txBody>
      </p:sp>
      <p:sp>
        <p:nvSpPr>
          <p:cNvPr id="369693" name="文本框 369692"/>
          <p:cNvSpPr txBox="1"/>
          <p:nvPr/>
        </p:nvSpPr>
        <p:spPr>
          <a:xfrm>
            <a:off x="3184843" y="5187950"/>
            <a:ext cx="3398837" cy="460375"/>
          </a:xfrm>
          <a:prstGeom prst="rect">
            <a:avLst/>
          </a:prstGeom>
          <a:noFill/>
          <a:ln w="9525">
            <a:noFill/>
          </a:ln>
        </p:spPr>
        <p:txBody>
          <a:bodyPr>
            <a:spAutoFit/>
          </a:bodyPr>
          <a:p>
            <a:pPr algn="l">
              <a:spcBef>
                <a:spcPct val="50000"/>
              </a:spcBef>
            </a:pP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rPr>
              <a:t>双向移位寄存器</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369694" name="文本框 369693"/>
          <p:cNvSpPr txBox="1"/>
          <p:nvPr/>
        </p:nvSpPr>
        <p:spPr>
          <a:xfrm>
            <a:off x="5792788" y="3348038"/>
            <a:ext cx="2376487" cy="460375"/>
          </a:xfrm>
          <a:prstGeom prst="rect">
            <a:avLst/>
          </a:prstGeom>
          <a:noFill/>
          <a:ln w="9525">
            <a:noFill/>
          </a:ln>
        </p:spPr>
        <p:txBody>
          <a:bodyPr>
            <a:spAutoFit/>
          </a:bodyPr>
          <a:p>
            <a:pPr algn="l">
              <a:spcBef>
                <a:spcPct val="50000"/>
              </a:spcBef>
            </a:pP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rPr>
              <a:t>左移位寄存器</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369695" name="矩形 369694"/>
          <p:cNvSpPr/>
          <p:nvPr/>
        </p:nvSpPr>
        <p:spPr>
          <a:xfrm>
            <a:off x="857568" y="3108325"/>
            <a:ext cx="4572000" cy="423545"/>
          </a:xfrm>
          <a:prstGeom prst="rect">
            <a:avLst/>
          </a:prstGeom>
          <a:noFill/>
          <a:ln w="9525">
            <a:noFill/>
          </a:ln>
        </p:spPr>
        <p:txBody>
          <a:bodyPr>
            <a:spAutoFit/>
          </a:bodyPr>
          <a:p>
            <a:pPr algn="l">
              <a:lnSpc>
                <a:spcPct val="90000"/>
              </a:lnSpc>
              <a:spcBef>
                <a:spcPct val="50000"/>
              </a:spcBef>
              <a:buChar char="•"/>
            </a:pP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rPr>
              <a:t>移位寄存器的逻辑功能分类</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369697" name="文本框 369696"/>
          <p:cNvSpPr txBox="1"/>
          <p:nvPr/>
        </p:nvSpPr>
        <p:spPr>
          <a:xfrm>
            <a:off x="5801043" y="4343400"/>
            <a:ext cx="2376487" cy="460375"/>
          </a:xfrm>
          <a:prstGeom prst="rect">
            <a:avLst/>
          </a:prstGeom>
          <a:noFill/>
          <a:ln w="9525">
            <a:noFill/>
          </a:ln>
        </p:spPr>
        <p:txBody>
          <a:bodyPr>
            <a:spAutoFit/>
          </a:bodyPr>
          <a:p>
            <a:pPr algn="l">
              <a:spcBef>
                <a:spcPct val="50000"/>
              </a:spcBef>
            </a:pPr>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rPr>
              <a:t>右移位寄存器</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9688">
                                            <p:txEl>
                                              <p:charRg st="0" end="45"/>
                                            </p:txEl>
                                          </p:spTgt>
                                        </p:tgtEl>
                                        <p:attrNameLst>
                                          <p:attrName>style.visibility</p:attrName>
                                        </p:attrNameLst>
                                      </p:cBhvr>
                                      <p:to>
                                        <p:strVal val="visible"/>
                                      </p:to>
                                    </p:set>
                                    <p:animEffect transition="in" filter="wipe(left)">
                                      <p:cBhvr>
                                        <p:cTn id="7" dur="500"/>
                                        <p:tgtEl>
                                          <p:spTgt spid="369688">
                                            <p:txEl>
                                              <p:charRg st="0" end="45"/>
                                            </p:txEl>
                                          </p:spTgt>
                                        </p:tgtEl>
                                      </p:cBhvr>
                                    </p:animEffect>
                                  </p:childTnLst>
                                </p:cTn>
                              </p:par>
                            </p:childTnLst>
                          </p:cTn>
                        </p:par>
                        <p:par>
                          <p:cTn id="8" fill="hold">
                            <p:stCondLst>
                              <p:cond delay="500"/>
                            </p:stCondLst>
                            <p:childTnLst>
                              <p:par>
                                <p:cTn id="9" presetID="1" presetClass="entr" presetSubtype="0" fill="hold" nodeType="afterEffect">
                                  <p:stCondLst>
                                    <p:cond delay="1000"/>
                                  </p:stCondLst>
                                  <p:childTnLst>
                                    <p:set>
                                      <p:cBhvr>
                                        <p:cTn id="10" dur="1" fill="hold">
                                          <p:stCondLst>
                                            <p:cond delay="0"/>
                                          </p:stCondLst>
                                        </p:cTn>
                                        <p:tgtEl>
                                          <p:spTgt spid="36968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8" presetClass="entr" presetSubtype="6" fill="hold" grpId="0" nodeType="clickEffect">
                                  <p:stCondLst>
                                    <p:cond delay="0"/>
                                  </p:stCondLst>
                                  <p:childTnLst>
                                    <p:set>
                                      <p:cBhvr>
                                        <p:cTn id="14" dur="1" fill="hold">
                                          <p:stCondLst>
                                            <p:cond delay="0"/>
                                          </p:stCondLst>
                                        </p:cTn>
                                        <p:tgtEl>
                                          <p:spTgt spid="369695"/>
                                        </p:tgtEl>
                                        <p:attrNameLst>
                                          <p:attrName>style.visibility</p:attrName>
                                        </p:attrNameLst>
                                      </p:cBhvr>
                                      <p:to>
                                        <p:strVal val="visible"/>
                                      </p:to>
                                    </p:set>
                                    <p:animEffect transition="in" filter="strips(downRight)">
                                      <p:cBhvr>
                                        <p:cTn id="15" dur="500"/>
                                        <p:tgtEl>
                                          <p:spTgt spid="369695"/>
                                        </p:tgtEl>
                                      </p:cBhvr>
                                    </p:animEffect>
                                  </p:childTnLst>
                                </p:cTn>
                              </p:par>
                            </p:childTnLst>
                          </p:cTn>
                        </p:par>
                        <p:par>
                          <p:cTn id="16" fill="hold">
                            <p:stCondLst>
                              <p:cond delay="500"/>
                            </p:stCondLst>
                            <p:childTnLst>
                              <p:par>
                                <p:cTn id="17" presetID="18" presetClass="entr" presetSubtype="6" fill="hold" grpId="0" nodeType="afterEffect">
                                  <p:stCondLst>
                                    <p:cond delay="0"/>
                                  </p:stCondLst>
                                  <p:childTnLst>
                                    <p:set>
                                      <p:cBhvr>
                                        <p:cTn id="18" dur="1" fill="hold">
                                          <p:stCondLst>
                                            <p:cond delay="0"/>
                                          </p:stCondLst>
                                        </p:cTn>
                                        <p:tgtEl>
                                          <p:spTgt spid="369689"/>
                                        </p:tgtEl>
                                        <p:attrNameLst>
                                          <p:attrName>style.visibility</p:attrName>
                                        </p:attrNameLst>
                                      </p:cBhvr>
                                      <p:to>
                                        <p:strVal val="visible"/>
                                      </p:to>
                                    </p:set>
                                    <p:animEffect transition="in" filter="strips(downRight)">
                                      <p:cBhvr>
                                        <p:cTn id="19" dur="500"/>
                                        <p:tgtEl>
                                          <p:spTgt spid="369689"/>
                                        </p:tgtEl>
                                      </p:cBhvr>
                                    </p:animEffect>
                                  </p:childTnLst>
                                </p:cTn>
                              </p:par>
                            </p:childTnLst>
                          </p:cTn>
                        </p:par>
                        <p:par>
                          <p:cTn id="20" fill="hold">
                            <p:stCondLst>
                              <p:cond delay="1000"/>
                            </p:stCondLst>
                            <p:childTnLst>
                              <p:par>
                                <p:cTn id="21" presetID="4" presetClass="entr" presetSubtype="32" fill="hold" nodeType="afterEffect">
                                  <p:stCondLst>
                                    <p:cond delay="0"/>
                                  </p:stCondLst>
                                  <p:childTnLst>
                                    <p:set>
                                      <p:cBhvr>
                                        <p:cTn id="22" dur="1" fill="hold">
                                          <p:stCondLst>
                                            <p:cond delay="0"/>
                                          </p:stCondLst>
                                        </p:cTn>
                                        <p:tgtEl>
                                          <p:spTgt spid="369691"/>
                                        </p:tgtEl>
                                        <p:attrNameLst>
                                          <p:attrName>style.visibility</p:attrName>
                                        </p:attrNameLst>
                                      </p:cBhvr>
                                      <p:to>
                                        <p:strVal val="visible"/>
                                      </p:to>
                                    </p:set>
                                    <p:animEffect transition="in" filter="box(out)">
                                      <p:cBhvr>
                                        <p:cTn id="23" dur="500"/>
                                        <p:tgtEl>
                                          <p:spTgt spid="369691"/>
                                        </p:tgtEl>
                                      </p:cBhvr>
                                    </p:animEffect>
                                  </p:childTnLst>
                                </p:cTn>
                              </p:par>
                            </p:childTnLst>
                          </p:cTn>
                        </p:par>
                        <p:par>
                          <p:cTn id="24" fill="hold">
                            <p:stCondLst>
                              <p:cond delay="1500"/>
                            </p:stCondLst>
                            <p:childTnLst>
                              <p:par>
                                <p:cTn id="25" presetID="18" presetClass="entr" presetSubtype="6" fill="hold" grpId="0" nodeType="afterEffect">
                                  <p:stCondLst>
                                    <p:cond delay="0"/>
                                  </p:stCondLst>
                                  <p:childTnLst>
                                    <p:set>
                                      <p:cBhvr>
                                        <p:cTn id="26" dur="1" fill="hold">
                                          <p:stCondLst>
                                            <p:cond delay="0"/>
                                          </p:stCondLst>
                                        </p:cTn>
                                        <p:tgtEl>
                                          <p:spTgt spid="369690"/>
                                        </p:tgtEl>
                                        <p:attrNameLst>
                                          <p:attrName>style.visibility</p:attrName>
                                        </p:attrNameLst>
                                      </p:cBhvr>
                                      <p:to>
                                        <p:strVal val="visible"/>
                                      </p:to>
                                    </p:set>
                                    <p:animEffect transition="in" filter="strips(downRight)">
                                      <p:cBhvr>
                                        <p:cTn id="27" dur="500"/>
                                        <p:tgtEl>
                                          <p:spTgt spid="369690"/>
                                        </p:tgtEl>
                                      </p:cBhvr>
                                    </p:animEffect>
                                  </p:childTnLst>
                                </p:cTn>
                              </p:par>
                            </p:childTnLst>
                          </p:cTn>
                        </p:par>
                        <p:par>
                          <p:cTn id="28" fill="hold">
                            <p:stCondLst>
                              <p:cond delay="2000"/>
                            </p:stCondLst>
                            <p:childTnLst>
                              <p:par>
                                <p:cTn id="29" presetID="4" presetClass="entr" presetSubtype="32" fill="hold" nodeType="afterEffect">
                                  <p:stCondLst>
                                    <p:cond delay="0"/>
                                  </p:stCondLst>
                                  <p:childTnLst>
                                    <p:set>
                                      <p:cBhvr>
                                        <p:cTn id="30" dur="1" fill="hold">
                                          <p:stCondLst>
                                            <p:cond delay="0"/>
                                          </p:stCondLst>
                                        </p:cTn>
                                        <p:tgtEl>
                                          <p:spTgt spid="369692"/>
                                        </p:tgtEl>
                                        <p:attrNameLst>
                                          <p:attrName>style.visibility</p:attrName>
                                        </p:attrNameLst>
                                      </p:cBhvr>
                                      <p:to>
                                        <p:strVal val="visible"/>
                                      </p:to>
                                    </p:set>
                                    <p:animEffect transition="in" filter="box(out)">
                                      <p:cBhvr>
                                        <p:cTn id="31" dur="500"/>
                                        <p:tgtEl>
                                          <p:spTgt spid="369692"/>
                                        </p:tgtEl>
                                      </p:cBhvr>
                                    </p:animEffect>
                                  </p:childTnLst>
                                </p:cTn>
                              </p:par>
                            </p:childTnLst>
                          </p:cTn>
                        </p:par>
                        <p:par>
                          <p:cTn id="32" fill="hold">
                            <p:stCondLst>
                              <p:cond delay="2500"/>
                            </p:stCondLst>
                            <p:childTnLst>
                              <p:par>
                                <p:cTn id="33" presetID="18" presetClass="entr" presetSubtype="6" fill="hold" grpId="0" nodeType="afterEffect">
                                  <p:stCondLst>
                                    <p:cond delay="0"/>
                                  </p:stCondLst>
                                  <p:childTnLst>
                                    <p:set>
                                      <p:cBhvr>
                                        <p:cTn id="34" dur="1" fill="hold">
                                          <p:stCondLst>
                                            <p:cond delay="0"/>
                                          </p:stCondLst>
                                        </p:cTn>
                                        <p:tgtEl>
                                          <p:spTgt spid="369694"/>
                                        </p:tgtEl>
                                        <p:attrNameLst>
                                          <p:attrName>style.visibility</p:attrName>
                                        </p:attrNameLst>
                                      </p:cBhvr>
                                      <p:to>
                                        <p:strVal val="visible"/>
                                      </p:to>
                                    </p:set>
                                    <p:animEffect transition="in" filter="strips(downRight)">
                                      <p:cBhvr>
                                        <p:cTn id="35" dur="500"/>
                                        <p:tgtEl>
                                          <p:spTgt spid="369694"/>
                                        </p:tgtEl>
                                      </p:cBhvr>
                                    </p:animEffect>
                                  </p:childTnLst>
                                </p:cTn>
                              </p:par>
                            </p:childTnLst>
                          </p:cTn>
                        </p:par>
                        <p:par>
                          <p:cTn id="36" fill="hold">
                            <p:stCondLst>
                              <p:cond delay="3000"/>
                            </p:stCondLst>
                            <p:childTnLst>
                              <p:par>
                                <p:cTn id="37" presetID="18" presetClass="entr" presetSubtype="6" fill="hold" grpId="0" nodeType="afterEffect">
                                  <p:stCondLst>
                                    <p:cond delay="0"/>
                                  </p:stCondLst>
                                  <p:childTnLst>
                                    <p:set>
                                      <p:cBhvr>
                                        <p:cTn id="38" dur="1" fill="hold">
                                          <p:stCondLst>
                                            <p:cond delay="0"/>
                                          </p:stCondLst>
                                        </p:cTn>
                                        <p:tgtEl>
                                          <p:spTgt spid="369697"/>
                                        </p:tgtEl>
                                        <p:attrNameLst>
                                          <p:attrName>style.visibility</p:attrName>
                                        </p:attrNameLst>
                                      </p:cBhvr>
                                      <p:to>
                                        <p:strVal val="visible"/>
                                      </p:to>
                                    </p:set>
                                    <p:animEffect transition="in" filter="strips(downRight)">
                                      <p:cBhvr>
                                        <p:cTn id="39" dur="500"/>
                                        <p:tgtEl>
                                          <p:spTgt spid="369697"/>
                                        </p:tgtEl>
                                      </p:cBhvr>
                                    </p:animEffect>
                                  </p:childTnLst>
                                </p:cTn>
                              </p:par>
                            </p:childTnLst>
                          </p:cTn>
                        </p:par>
                      </p:childTnLst>
                    </p:cTn>
                  </p:par>
                  <p:par>
                    <p:cTn id="40" fill="hold">
                      <p:stCondLst>
                        <p:cond delay="indefinite"/>
                      </p:stCondLst>
                      <p:childTnLst>
                        <p:par>
                          <p:cTn id="41" fill="hold">
                            <p:stCondLst>
                              <p:cond delay="0"/>
                            </p:stCondLst>
                            <p:childTnLst>
                              <p:par>
                                <p:cTn id="42" presetID="18" presetClass="entr" presetSubtype="6" fill="hold" grpId="0" nodeType="clickEffect">
                                  <p:stCondLst>
                                    <p:cond delay="0"/>
                                  </p:stCondLst>
                                  <p:childTnLst>
                                    <p:set>
                                      <p:cBhvr>
                                        <p:cTn id="43" dur="1" fill="hold">
                                          <p:stCondLst>
                                            <p:cond delay="0"/>
                                          </p:stCondLst>
                                        </p:cTn>
                                        <p:tgtEl>
                                          <p:spTgt spid="369693"/>
                                        </p:tgtEl>
                                        <p:attrNameLst>
                                          <p:attrName>style.visibility</p:attrName>
                                        </p:attrNameLst>
                                      </p:cBhvr>
                                      <p:to>
                                        <p:strVal val="visible"/>
                                      </p:to>
                                    </p:set>
                                    <p:animEffect transition="in" filter="strips(downRight)">
                                      <p:cBhvr>
                                        <p:cTn id="44" dur="500"/>
                                        <p:tgtEl>
                                          <p:spTgt spid="369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88" grpId="0" uiExpand="1" build="p"/>
      <p:bldP spid="369689" grpId="0"/>
      <p:bldP spid="369690" grpId="0"/>
      <p:bldP spid="369693" grpId="0"/>
      <p:bldP spid="369694" grpId="0"/>
      <p:bldP spid="369695" grpId="0"/>
      <p:bldP spid="369697"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6.5 </a:t>
            </a:r>
            <a:r>
              <a:rPr lang="zh-CN" b="1" dirty="0">
                <a:solidFill>
                  <a:srgbClr val="FF0000"/>
                </a:solidFill>
                <a:latin typeface="黑体" panose="02010609060101010101" pitchFamily="49" charset="-122"/>
                <a:ea typeface="黑体" panose="02010609060101010101" pitchFamily="49" charset="-122"/>
                <a:sym typeface="+mn-ea"/>
              </a:rPr>
              <a:t>数码寄存器与移位寄存器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04" name="文本框 103"/>
          <p:cNvSpPr txBox="1"/>
          <p:nvPr/>
        </p:nvSpPr>
        <p:spPr>
          <a:xfrm>
            <a:off x="708660" y="1129030"/>
            <a:ext cx="5080000" cy="460375"/>
          </a:xfrm>
          <a:prstGeom prst="rect">
            <a:avLst/>
          </a:prstGeom>
          <a:noFill/>
          <a:ln w="9525">
            <a:noFill/>
          </a:ln>
        </p:spPr>
        <p:txBody>
          <a:bodyPr>
            <a:spAutoFit/>
          </a:bodyPr>
          <a:p>
            <a:pPr indent="267970"/>
            <a:r>
              <a:rPr lang="en-US" sz="2400" b="1">
                <a:solidFill>
                  <a:schemeClr val="accent6">
                    <a:lumMod val="60000"/>
                    <a:lumOff val="40000"/>
                  </a:schemeClr>
                </a:solidFill>
                <a:latin typeface="Times New Roman" panose="02020603050405020304" charset="0"/>
                <a:ea typeface="宋体" panose="02010600030101010101" pitchFamily="2" charset="-122"/>
              </a:rPr>
              <a:t>1. </a:t>
            </a:r>
            <a:r>
              <a:rPr lang="zh-CN" sz="2400" b="1">
                <a:solidFill>
                  <a:schemeClr val="accent6">
                    <a:lumMod val="60000"/>
                    <a:lumOff val="40000"/>
                  </a:schemeClr>
                </a:solidFill>
                <a:ea typeface="宋体" panose="02010600030101010101" pitchFamily="2" charset="-122"/>
              </a:rPr>
              <a:t>单向移位寄存器</a:t>
            </a:r>
            <a:endParaRPr lang="zh-CN" altLang="en-US" sz="2400" b="1">
              <a:solidFill>
                <a:schemeClr val="accent6">
                  <a:lumMod val="60000"/>
                  <a:lumOff val="40000"/>
                </a:schemeClr>
              </a:solidFill>
              <a:ea typeface="宋体" panose="02010600030101010101" pitchFamily="2" charset="-122"/>
            </a:endParaRPr>
          </a:p>
        </p:txBody>
      </p:sp>
      <p:sp>
        <p:nvSpPr>
          <p:cNvPr id="3" name="文本框 2"/>
          <p:cNvSpPr txBox="1"/>
          <p:nvPr/>
        </p:nvSpPr>
        <p:spPr>
          <a:xfrm>
            <a:off x="1043940" y="1589405"/>
            <a:ext cx="5080000" cy="460375"/>
          </a:xfrm>
          <a:prstGeom prst="rect">
            <a:avLst/>
          </a:prstGeom>
          <a:noFill/>
          <a:ln w="9525">
            <a:noFill/>
          </a:ln>
        </p:spPr>
        <p:txBody>
          <a:bodyPr>
            <a:spAutoFit/>
          </a:bodyPr>
          <a:p>
            <a:r>
              <a:rPr lang="en-US" sz="2400" b="1">
                <a:latin typeface="Times New Roman" panose="02020603050405020304" charset="0"/>
              </a:rPr>
              <a:t>(1) 4</a:t>
            </a:r>
            <a:r>
              <a:rPr lang="zh-CN" sz="2400" b="1">
                <a:ea typeface="宋体" panose="02010600030101010101" pitchFamily="2" charset="-122"/>
              </a:rPr>
              <a:t>位右移寄存器电路结构</a:t>
            </a:r>
            <a:endParaRPr lang="zh-CN" altLang="en-US" sz="2400" b="1"/>
          </a:p>
        </p:txBody>
      </p:sp>
      <p:pic>
        <p:nvPicPr>
          <p:cNvPr id="9412" name="图片 2849"/>
          <p:cNvPicPr>
            <a:picLocks noChangeAspect="1"/>
          </p:cNvPicPr>
          <p:nvPr/>
        </p:nvPicPr>
        <p:blipFill>
          <a:blip r:embed="rId1"/>
          <a:stretch>
            <a:fillRect/>
          </a:stretch>
        </p:blipFill>
        <p:spPr>
          <a:xfrm>
            <a:off x="708660" y="2127885"/>
            <a:ext cx="8147050" cy="2800350"/>
          </a:xfrm>
          <a:prstGeom prst="rect">
            <a:avLst/>
          </a:prstGeom>
          <a:noFill/>
          <a:ln>
            <a:noFill/>
          </a:ln>
        </p:spPr>
      </p:pic>
      <p:sp>
        <p:nvSpPr>
          <p:cNvPr id="370721" name="椭圆形标注 370720"/>
          <p:cNvSpPr/>
          <p:nvPr/>
        </p:nvSpPr>
        <p:spPr>
          <a:xfrm>
            <a:off x="137795" y="2049873"/>
            <a:ext cx="3167063" cy="724667"/>
          </a:xfrm>
          <a:prstGeom prst="wedgeEllipseCallout">
            <a:avLst>
              <a:gd name="adj1" fmla="val -4606"/>
              <a:gd name="adj2" fmla="val 148718"/>
            </a:avLst>
          </a:prstGeom>
          <a:solidFill>
            <a:schemeClr val="bg1"/>
          </a:solidFill>
          <a:ln w="12700" cap="flat" cmpd="sng">
            <a:solidFill>
              <a:srgbClr val="FF0000"/>
            </a:solidFill>
            <a:prstDash val="solid"/>
            <a:miter/>
            <a:headEnd type="none" w="med" len="med"/>
            <a:tailEnd type="none" w="med" len="med"/>
          </a:ln>
        </p:spPr>
        <p:txBody>
          <a:bodyPr wrap="square" lIns="0" tIns="72000" rIns="0" bIns="72000" anchor="ctr">
            <a:spAutoFit/>
          </a:bodyPr>
          <a:p>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rPr>
              <a:t>串行数据输入端</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370722" name="椭圆形标注 370721"/>
          <p:cNvSpPr/>
          <p:nvPr/>
        </p:nvSpPr>
        <p:spPr>
          <a:xfrm>
            <a:off x="5788660" y="5123636"/>
            <a:ext cx="3238500" cy="724577"/>
          </a:xfrm>
          <a:prstGeom prst="wedgeEllipseCallout">
            <a:avLst>
              <a:gd name="adj1" fmla="val 23000"/>
              <a:gd name="adj2" fmla="val -271597"/>
            </a:avLst>
          </a:prstGeom>
          <a:solidFill>
            <a:schemeClr val="bg1"/>
          </a:solidFill>
          <a:ln w="12700" cap="flat" cmpd="sng">
            <a:solidFill>
              <a:srgbClr val="FF0000"/>
            </a:solidFill>
            <a:prstDash val="solid"/>
            <a:miter/>
            <a:headEnd type="none" w="med" len="med"/>
            <a:tailEnd type="none" w="med" len="med"/>
          </a:ln>
        </p:spPr>
        <p:txBody>
          <a:bodyPr wrap="square" lIns="0" tIns="72000" rIns="0" bIns="72000" anchor="ctr">
            <a:spAutoFit/>
          </a:bodyPr>
          <a:p>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rPr>
              <a:t>串行数据输出端</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370723" name="椭圆形标注 370722"/>
          <p:cNvSpPr/>
          <p:nvPr/>
        </p:nvSpPr>
        <p:spPr>
          <a:xfrm>
            <a:off x="5520055" y="1587158"/>
            <a:ext cx="3468688" cy="724267"/>
          </a:xfrm>
          <a:prstGeom prst="wedgeEllipseCallout">
            <a:avLst>
              <a:gd name="adj1" fmla="val -64572"/>
              <a:gd name="adj2" fmla="val 120739"/>
            </a:avLst>
          </a:prstGeom>
          <a:solidFill>
            <a:schemeClr val="bg1"/>
          </a:solidFill>
          <a:ln w="12700" cap="flat" cmpd="sng">
            <a:solidFill>
              <a:srgbClr val="FF0000"/>
            </a:solidFill>
            <a:prstDash val="solid"/>
            <a:miter/>
            <a:headEnd type="none" w="med" len="med"/>
            <a:tailEnd type="none" w="med" len="med"/>
          </a:ln>
        </p:spPr>
        <p:txBody>
          <a:bodyPr wrap="square" lIns="0" tIns="72000" rIns="0" bIns="72000" anchor="ctr">
            <a:spAutoFit/>
          </a:bodyPr>
          <a:p>
            <a:r>
              <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rPr>
              <a:t>并行数据输出端</a:t>
            </a:r>
            <a:endParaRPr lang="zh-CN" altLang="en-US" sz="2400" b="1" dirty="0">
              <a:gradFill>
                <a:gsLst>
                  <a:gs pos="0">
                    <a:srgbClr val="012D86"/>
                  </a:gs>
                  <a:gs pos="100000">
                    <a:srgbClr val="0E2557"/>
                  </a:gs>
                </a:gsLst>
                <a:lin scaled="0"/>
              </a:gradFill>
              <a:effectLst>
                <a:outerShdw blurRad="38100" dist="38100" dir="2700000" algn="tl">
                  <a:srgbClr val="000000">
                    <a:alpha val="43137"/>
                  </a:srgbClr>
                </a:outerShdw>
              </a:effectLst>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0721"/>
                                        </p:tgtEl>
                                        <p:attrNameLst>
                                          <p:attrName>style.visibility</p:attrName>
                                        </p:attrNameLst>
                                      </p:cBhvr>
                                      <p:to>
                                        <p:strVal val="visible"/>
                                      </p:to>
                                    </p:set>
                                    <p:animEffect transition="in" filter="dissolve">
                                      <p:cBhvr>
                                        <p:cTn id="7" dur="500"/>
                                        <p:tgtEl>
                                          <p:spTgt spid="370721"/>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70722"/>
                                        </p:tgtEl>
                                        <p:attrNameLst>
                                          <p:attrName>style.visibility</p:attrName>
                                        </p:attrNameLst>
                                      </p:cBhvr>
                                      <p:to>
                                        <p:strVal val="visible"/>
                                      </p:to>
                                    </p:set>
                                    <p:animEffect transition="in" filter="dissolve">
                                      <p:cBhvr>
                                        <p:cTn id="12" dur="500"/>
                                        <p:tgtEl>
                                          <p:spTgt spid="370722"/>
                                        </p:tgtEl>
                                      </p:cBhvr>
                                    </p:animEffect>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70723"/>
                                        </p:tgtEl>
                                        <p:attrNameLst>
                                          <p:attrName>style.visibility</p:attrName>
                                        </p:attrNameLst>
                                      </p:cBhvr>
                                      <p:to>
                                        <p:strVal val="visible"/>
                                      </p:to>
                                    </p:set>
                                    <p:animEffect transition="in" filter="wipe(up)">
                                      <p:cBhvr>
                                        <p:cTn id="17" dur="500"/>
                                        <p:tgtEl>
                                          <p:spTgt spid="370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721" grpId="0" bldLvl="0" animBg="1"/>
      <p:bldP spid="370722" grpId="0" bldLvl="0" animBg="1"/>
      <p:bldP spid="370723" grpId="0" bldLvl="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6.5 </a:t>
            </a:r>
            <a:r>
              <a:rPr lang="zh-CN" b="1" dirty="0">
                <a:solidFill>
                  <a:srgbClr val="FF0000"/>
                </a:solidFill>
                <a:latin typeface="黑体" panose="02010609060101010101" pitchFamily="49" charset="-122"/>
                <a:ea typeface="黑体" panose="02010609060101010101" pitchFamily="49" charset="-122"/>
                <a:sym typeface="+mn-ea"/>
              </a:rPr>
              <a:t>数码寄存器与移位寄存器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371731" name="文本框 371730"/>
          <p:cNvSpPr txBox="1"/>
          <p:nvPr/>
        </p:nvSpPr>
        <p:spPr>
          <a:xfrm>
            <a:off x="866775" y="1168400"/>
            <a:ext cx="5829300" cy="460375"/>
          </a:xfrm>
          <a:prstGeom prst="rect">
            <a:avLst/>
          </a:prstGeom>
          <a:noFill/>
          <a:ln w="9525">
            <a:noFill/>
          </a:ln>
        </p:spPr>
        <p:txBody>
          <a:bodyPr>
            <a:spAutoFit/>
          </a:bodyPr>
          <a:p>
            <a:pPr algn="l">
              <a:spcBef>
                <a:spcPct val="50000"/>
              </a:spcBef>
            </a:pPr>
            <a:r>
              <a:rPr lang="en-US" altLang="zh-CN" sz="2400" b="1" dirty="0">
                <a:solidFill>
                  <a:schemeClr val="tx1"/>
                </a:solidFill>
                <a:effectLst>
                  <a:outerShdw blurRad="38100" dist="38100" dir="2700000" algn="tl">
                    <a:srgbClr val="000000">
                      <a:alpha val="43137"/>
                    </a:srgbClr>
                  </a:outerShdw>
                </a:effectLst>
                <a:latin typeface="楷体_GB2312" pitchFamily="49" charset="-122"/>
                <a:ea typeface="楷体_GB2312" pitchFamily="49" charset="-122"/>
              </a:rPr>
              <a:t>(2) </a:t>
            </a:r>
            <a:r>
              <a:rPr lang="zh-CN" altLang="en-US" sz="2400" b="1" dirty="0">
                <a:solidFill>
                  <a:schemeClr val="tx1"/>
                </a:solidFill>
                <a:effectLst>
                  <a:outerShdw blurRad="38100" dist="38100" dir="2700000" algn="tl">
                    <a:srgbClr val="000000">
                      <a:alpha val="43137"/>
                    </a:srgbClr>
                  </a:outerShdw>
                </a:effectLst>
                <a:latin typeface="楷体_GB2312" pitchFamily="49" charset="-122"/>
                <a:ea typeface="楷体_GB2312" pitchFamily="49" charset="-122"/>
              </a:rPr>
              <a:t>工作原理</a:t>
            </a:r>
            <a:endParaRPr lang="zh-CN" altLang="en-US" sz="2400" b="1" dirty="0">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371729" name="矩形 371728"/>
          <p:cNvSpPr/>
          <p:nvPr/>
        </p:nvSpPr>
        <p:spPr>
          <a:xfrm>
            <a:off x="866458" y="1722120"/>
            <a:ext cx="3521075" cy="509588"/>
          </a:xfrm>
          <a:prstGeom prst="rect">
            <a:avLst/>
          </a:prstGeom>
          <a:solidFill>
            <a:srgbClr val="FFFFFF">
              <a:alpha val="0"/>
            </a:srgbClr>
          </a:solidFill>
          <a:ln w="9525">
            <a:noFill/>
          </a:ln>
        </p:spPr>
        <p:txBody>
          <a:bodyPr/>
          <a:lstStyle>
            <a:lvl1pPr marL="469900" lvl="0" indent="-4699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3000" b="1" u="none" kern="1200" baseline="0">
                <a:solidFill>
                  <a:schemeClr val="tx1"/>
                </a:solidFill>
                <a:latin typeface="Arial Narrow" panose="020B0606020202030204" pitchFamily="34" charset="0"/>
                <a:ea typeface="楷体_GB2312"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3000" b="1" i="0" u="none" kern="1200" baseline="0">
                <a:solidFill>
                  <a:schemeClr val="tx1"/>
                </a:solidFill>
                <a:latin typeface="Arial Narrow" panose="020B0606020202030204" pitchFamily="34" charset="0"/>
                <a:ea typeface="楷体_GB2312"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800" b="1" i="0" u="none" kern="1200" baseline="0">
                <a:solidFill>
                  <a:schemeClr val="tx1"/>
                </a:solidFill>
                <a:latin typeface="Arial Narrow" panose="020B0606020202030204" pitchFamily="34" charset="0"/>
                <a:ea typeface="楷体_GB2312"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400" b="1" i="0" u="none" kern="1200" baseline="0">
                <a:solidFill>
                  <a:schemeClr val="tx1"/>
                </a:solidFill>
                <a:latin typeface="Arial Narrow" panose="020B0606020202030204" pitchFamily="34" charset="0"/>
                <a:ea typeface="楷体_GB2312"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400" b="1" i="0" u="none" kern="1200" baseline="0">
                <a:solidFill>
                  <a:schemeClr val="tx1"/>
                </a:solidFill>
                <a:latin typeface="Arial Narrow" panose="020B0606020202030204" pitchFamily="34" charset="0"/>
                <a:ea typeface="楷体_GB2312" pitchFamily="49" charset="-122"/>
              </a:defRPr>
            </a:lvl5pPr>
          </a:lstStyle>
          <a:p>
            <a:pPr lvl="0">
              <a:lnSpc>
                <a:spcPct val="90000"/>
              </a:lnSpc>
              <a:buNone/>
            </a:pPr>
            <a:r>
              <a:rPr lang="zh-CN" altLang="en-US" sz="2400"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rPr>
              <a:t>写出激励方程：</a:t>
            </a:r>
            <a:endParaRPr lang="zh-CN" altLang="en-US" sz="2400"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ndParaRPr>
          </a:p>
        </p:txBody>
      </p:sp>
      <p:sp>
        <p:nvSpPr>
          <p:cNvPr id="371730" name="矩形 371729"/>
          <p:cNvSpPr/>
          <p:nvPr/>
        </p:nvSpPr>
        <p:spPr>
          <a:xfrm>
            <a:off x="808355" y="2677795"/>
            <a:ext cx="2801938" cy="509588"/>
          </a:xfrm>
          <a:prstGeom prst="rect">
            <a:avLst/>
          </a:prstGeom>
          <a:noFill/>
          <a:ln w="9525">
            <a:noFill/>
          </a:ln>
        </p:spPr>
        <p:txBody>
          <a:bodyPr/>
          <a:lstStyle>
            <a:lvl1pPr marL="469900" lvl="0" indent="-4699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3000" b="1" u="none" kern="1200" baseline="0">
                <a:solidFill>
                  <a:schemeClr val="tx1"/>
                </a:solidFill>
                <a:latin typeface="Arial Narrow" panose="020B0606020202030204" pitchFamily="34" charset="0"/>
                <a:ea typeface="楷体_GB2312"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3000" b="1" i="0" u="none" kern="1200" baseline="0">
                <a:solidFill>
                  <a:schemeClr val="tx1"/>
                </a:solidFill>
                <a:latin typeface="Arial Narrow" panose="020B0606020202030204" pitchFamily="34" charset="0"/>
                <a:ea typeface="楷体_GB2312"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800" b="1" i="0" u="none" kern="1200" baseline="0">
                <a:solidFill>
                  <a:schemeClr val="tx1"/>
                </a:solidFill>
                <a:latin typeface="Arial Narrow" panose="020B0606020202030204" pitchFamily="34" charset="0"/>
                <a:ea typeface="楷体_GB2312"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400" b="1" i="0" u="none" kern="1200" baseline="0">
                <a:solidFill>
                  <a:schemeClr val="tx1"/>
                </a:solidFill>
                <a:latin typeface="Arial Narrow" panose="020B0606020202030204" pitchFamily="34" charset="0"/>
                <a:ea typeface="楷体_GB2312"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400" b="1" i="0" u="none" kern="1200" baseline="0">
                <a:solidFill>
                  <a:schemeClr val="tx1"/>
                </a:solidFill>
                <a:latin typeface="Arial Narrow" panose="020B0606020202030204" pitchFamily="34" charset="0"/>
                <a:ea typeface="楷体_GB2312" pitchFamily="49" charset="-122"/>
              </a:defRPr>
            </a:lvl5pPr>
          </a:lstStyle>
          <a:p>
            <a:pPr lvl="0">
              <a:lnSpc>
                <a:spcPct val="90000"/>
              </a:lnSpc>
              <a:buNone/>
            </a:pPr>
            <a:r>
              <a:rPr lang="zh-CN" altLang="en-US" sz="2400"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rPr>
              <a:t>写出状态方程：</a:t>
            </a:r>
            <a:endParaRPr lang="zh-CN" altLang="en-US" sz="2400" dirty="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ndParaRPr>
          </a:p>
        </p:txBody>
      </p:sp>
      <p:sp>
        <p:nvSpPr>
          <p:cNvPr id="371720" name="矩形 371719"/>
          <p:cNvSpPr/>
          <p:nvPr/>
        </p:nvSpPr>
        <p:spPr>
          <a:xfrm>
            <a:off x="5336223" y="2131378"/>
            <a:ext cx="1428750" cy="509587"/>
          </a:xfrm>
          <a:prstGeom prst="rect">
            <a:avLst/>
          </a:prstGeom>
          <a:noFill/>
          <a:ln w="9525">
            <a:noFill/>
          </a:ln>
        </p:spPr>
        <p:txBody>
          <a:bodyPr/>
          <a:lstStyle>
            <a:lvl1pPr marL="469900" lvl="0" indent="-4699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3000" b="1" u="none" kern="1200" baseline="0">
                <a:solidFill>
                  <a:schemeClr val="tx1"/>
                </a:solidFill>
                <a:latin typeface="Arial Narrow" panose="020B0606020202030204" pitchFamily="34" charset="0"/>
                <a:ea typeface="楷体_GB2312"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3000" b="1" i="0" u="none" kern="1200" baseline="0">
                <a:solidFill>
                  <a:schemeClr val="tx1"/>
                </a:solidFill>
                <a:latin typeface="Arial Narrow" panose="020B0606020202030204" pitchFamily="34" charset="0"/>
                <a:ea typeface="楷体_GB2312"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800" b="1" i="0" u="none" kern="1200" baseline="0">
                <a:solidFill>
                  <a:schemeClr val="tx1"/>
                </a:solidFill>
                <a:latin typeface="Arial Narrow" panose="020B0606020202030204" pitchFamily="34" charset="0"/>
                <a:ea typeface="楷体_GB2312"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400" b="1" i="0" u="none" kern="1200" baseline="0">
                <a:solidFill>
                  <a:schemeClr val="tx1"/>
                </a:solidFill>
                <a:latin typeface="Arial Narrow" panose="020B0606020202030204" pitchFamily="34" charset="0"/>
                <a:ea typeface="楷体_GB2312"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400" b="1" i="0" u="none" kern="1200" baseline="0">
                <a:solidFill>
                  <a:schemeClr val="tx1"/>
                </a:solidFill>
                <a:latin typeface="Arial Narrow" panose="020B0606020202030204" pitchFamily="34" charset="0"/>
                <a:ea typeface="楷体_GB2312" pitchFamily="49" charset="-122"/>
              </a:defRPr>
            </a:lvl5pPr>
          </a:lstStyle>
          <a:p>
            <a:pPr lvl="0">
              <a:lnSpc>
                <a:spcPct val="90000"/>
              </a:lnSpc>
              <a:buNone/>
            </a:pPr>
            <a:r>
              <a:rPr lang="en-US" altLang="zh-CN" sz="2400" i="1">
                <a:solidFill>
                  <a:srgbClr val="000099"/>
                </a:solidFill>
                <a:latin typeface="Times New Roman" panose="02020603050405020304" charset="0"/>
              </a:rPr>
              <a:t>D</a:t>
            </a:r>
            <a:r>
              <a:rPr lang="en-US" altLang="zh-CN" sz="2400" baseline="-25000">
                <a:solidFill>
                  <a:srgbClr val="000099"/>
                </a:solidFill>
                <a:latin typeface="Times New Roman" panose="02020603050405020304" charset="0"/>
              </a:rPr>
              <a:t>3</a:t>
            </a:r>
            <a:r>
              <a:rPr lang="en-US" altLang="zh-CN" sz="2400">
                <a:solidFill>
                  <a:srgbClr val="000099"/>
                </a:solidFill>
                <a:latin typeface="Times New Roman" panose="02020603050405020304" charset="0"/>
              </a:rPr>
              <a:t>=</a:t>
            </a:r>
            <a:r>
              <a:rPr lang="en-US" altLang="zh-CN" sz="2400" i="1">
                <a:solidFill>
                  <a:srgbClr val="000099"/>
                </a:solidFill>
                <a:latin typeface="Times New Roman" panose="02020603050405020304" charset="0"/>
              </a:rPr>
              <a:t>Q</a:t>
            </a:r>
            <a:r>
              <a:rPr lang="en-GB" altLang="zh-CN" sz="2400" baseline="-25000">
                <a:solidFill>
                  <a:srgbClr val="000099"/>
                </a:solidFill>
                <a:latin typeface="Times New Roman" panose="02020603050405020304" charset="0"/>
                <a:sym typeface="+mn-ea"/>
              </a:rPr>
              <a:t>2</a:t>
            </a:r>
            <a:r>
              <a:rPr lang="en-US" altLang="zh-CN" sz="2400" i="1" baseline="30000">
                <a:solidFill>
                  <a:srgbClr val="000099"/>
                </a:solidFill>
                <a:latin typeface="Times New Roman" panose="02020603050405020304" charset="0"/>
              </a:rPr>
              <a:t>n</a:t>
            </a:r>
            <a:endParaRPr lang="en-GB" altLang="zh-CN" sz="2400" baseline="-25000">
              <a:solidFill>
                <a:srgbClr val="000099"/>
              </a:solidFill>
              <a:latin typeface="Times New Roman" panose="02020603050405020304" charset="0"/>
            </a:endParaRPr>
          </a:p>
          <a:p>
            <a:pPr lvl="0">
              <a:lnSpc>
                <a:spcPct val="90000"/>
              </a:lnSpc>
              <a:buNone/>
            </a:pPr>
            <a:endParaRPr lang="en-GB" altLang="zh-CN" sz="2400" baseline="-25000">
              <a:solidFill>
                <a:srgbClr val="000099"/>
              </a:solidFill>
              <a:latin typeface="Times New Roman" panose="02020603050405020304" charset="0"/>
            </a:endParaRPr>
          </a:p>
        </p:txBody>
      </p:sp>
      <p:sp>
        <p:nvSpPr>
          <p:cNvPr id="371721" name="矩形 371720"/>
          <p:cNvSpPr/>
          <p:nvPr/>
        </p:nvSpPr>
        <p:spPr>
          <a:xfrm>
            <a:off x="2269173" y="2131378"/>
            <a:ext cx="1374775" cy="509587"/>
          </a:xfrm>
          <a:prstGeom prst="rect">
            <a:avLst/>
          </a:prstGeom>
          <a:solidFill>
            <a:srgbClr val="FFFFFF">
              <a:alpha val="0"/>
            </a:srgbClr>
          </a:solidFill>
          <a:ln w="9525">
            <a:noFill/>
          </a:ln>
        </p:spPr>
        <p:txBody>
          <a:bodyPr/>
          <a:lstStyle>
            <a:lvl1pPr marL="469900" lvl="0" indent="-4699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3000" b="1" u="none" kern="1200" baseline="0">
                <a:solidFill>
                  <a:schemeClr val="tx1"/>
                </a:solidFill>
                <a:latin typeface="Arial Narrow" panose="020B0606020202030204" pitchFamily="34" charset="0"/>
                <a:ea typeface="楷体_GB2312"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3000" b="1" i="0" u="none" kern="1200" baseline="0">
                <a:solidFill>
                  <a:schemeClr val="tx1"/>
                </a:solidFill>
                <a:latin typeface="Arial Narrow" panose="020B0606020202030204" pitchFamily="34" charset="0"/>
                <a:ea typeface="楷体_GB2312"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800" b="1" i="0" u="none" kern="1200" baseline="0">
                <a:solidFill>
                  <a:schemeClr val="tx1"/>
                </a:solidFill>
                <a:latin typeface="Arial Narrow" panose="020B0606020202030204" pitchFamily="34" charset="0"/>
                <a:ea typeface="楷体_GB2312"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400" b="1" i="0" u="none" kern="1200" baseline="0">
                <a:solidFill>
                  <a:schemeClr val="tx1"/>
                </a:solidFill>
                <a:latin typeface="Arial Narrow" panose="020B0606020202030204" pitchFamily="34" charset="0"/>
                <a:ea typeface="楷体_GB2312"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400" b="1" i="0" u="none" kern="1200" baseline="0">
                <a:solidFill>
                  <a:schemeClr val="tx1"/>
                </a:solidFill>
                <a:latin typeface="Arial Narrow" panose="020B0606020202030204" pitchFamily="34" charset="0"/>
                <a:ea typeface="楷体_GB2312" pitchFamily="49" charset="-122"/>
              </a:defRPr>
            </a:lvl5pPr>
          </a:lstStyle>
          <a:p>
            <a:pPr lvl="0">
              <a:lnSpc>
                <a:spcPct val="90000"/>
              </a:lnSpc>
              <a:buNone/>
            </a:pPr>
            <a:r>
              <a:rPr lang="en-US" altLang="zh-CN" sz="2400" i="1">
                <a:solidFill>
                  <a:srgbClr val="000099"/>
                </a:solidFill>
                <a:latin typeface="Times New Roman" panose="02020603050405020304" charset="0"/>
              </a:rPr>
              <a:t>D</a:t>
            </a:r>
            <a:r>
              <a:rPr lang="en-US" altLang="zh-CN" sz="2400" baseline="-25000">
                <a:solidFill>
                  <a:srgbClr val="000099"/>
                </a:solidFill>
                <a:latin typeface="Times New Roman" panose="02020603050405020304" charset="0"/>
              </a:rPr>
              <a:t>1</a:t>
            </a:r>
            <a:r>
              <a:rPr lang="en-US" altLang="zh-CN" sz="2400">
                <a:solidFill>
                  <a:srgbClr val="000099"/>
                </a:solidFill>
                <a:latin typeface="Times New Roman" panose="02020603050405020304" charset="0"/>
              </a:rPr>
              <a:t>=</a:t>
            </a:r>
            <a:r>
              <a:rPr lang="en-US" altLang="zh-CN" sz="2400" i="1">
                <a:solidFill>
                  <a:srgbClr val="000099"/>
                </a:solidFill>
                <a:latin typeface="Times New Roman" panose="02020603050405020304" charset="0"/>
              </a:rPr>
              <a:t>Q</a:t>
            </a:r>
            <a:r>
              <a:rPr lang="en-US" altLang="zh-CN" sz="2400" baseline="-25000">
                <a:solidFill>
                  <a:srgbClr val="000099"/>
                </a:solidFill>
                <a:latin typeface="Times New Roman" panose="02020603050405020304" charset="0"/>
              </a:rPr>
              <a:t>0</a:t>
            </a:r>
            <a:r>
              <a:rPr lang="en-US" altLang="zh-CN" sz="2400" i="1" baseline="30000">
                <a:solidFill>
                  <a:srgbClr val="000099"/>
                </a:solidFill>
                <a:latin typeface="Times New Roman" panose="02020603050405020304" charset="0"/>
              </a:rPr>
              <a:t>n</a:t>
            </a:r>
            <a:endParaRPr lang="en-US" altLang="zh-CN" sz="2400" i="1" baseline="30000">
              <a:solidFill>
                <a:srgbClr val="000099"/>
              </a:solidFill>
              <a:latin typeface="Times New Roman" panose="02020603050405020304" charset="0"/>
            </a:endParaRPr>
          </a:p>
        </p:txBody>
      </p:sp>
      <p:sp>
        <p:nvSpPr>
          <p:cNvPr id="371722" name="矩形 371721"/>
          <p:cNvSpPr/>
          <p:nvPr/>
        </p:nvSpPr>
        <p:spPr>
          <a:xfrm>
            <a:off x="964248" y="2148840"/>
            <a:ext cx="1416050" cy="563563"/>
          </a:xfrm>
          <a:prstGeom prst="rect">
            <a:avLst/>
          </a:prstGeom>
          <a:solidFill>
            <a:srgbClr val="FFFFFF">
              <a:alpha val="0"/>
            </a:srgbClr>
          </a:solidFill>
          <a:ln w="9525">
            <a:noFill/>
          </a:ln>
        </p:spPr>
        <p:txBody>
          <a:bodyPr/>
          <a:lstStyle>
            <a:lvl1pPr marL="469900" lvl="0" indent="-4699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3000" b="1" u="none" kern="1200" baseline="0">
                <a:solidFill>
                  <a:schemeClr val="tx1"/>
                </a:solidFill>
                <a:latin typeface="Arial Narrow" panose="020B0606020202030204" pitchFamily="34" charset="0"/>
                <a:ea typeface="楷体_GB2312"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3000" b="1" i="0" u="none" kern="1200" baseline="0">
                <a:solidFill>
                  <a:schemeClr val="tx1"/>
                </a:solidFill>
                <a:latin typeface="Arial Narrow" panose="020B0606020202030204" pitchFamily="34" charset="0"/>
                <a:ea typeface="楷体_GB2312"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800" b="1" i="0" u="none" kern="1200" baseline="0">
                <a:solidFill>
                  <a:schemeClr val="tx1"/>
                </a:solidFill>
                <a:latin typeface="Arial Narrow" panose="020B0606020202030204" pitchFamily="34" charset="0"/>
                <a:ea typeface="楷体_GB2312"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400" b="1" i="0" u="none" kern="1200" baseline="0">
                <a:solidFill>
                  <a:schemeClr val="tx1"/>
                </a:solidFill>
                <a:latin typeface="Arial Narrow" panose="020B0606020202030204" pitchFamily="34" charset="0"/>
                <a:ea typeface="楷体_GB2312"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400" b="1" i="0" u="none" kern="1200" baseline="0">
                <a:solidFill>
                  <a:schemeClr val="tx1"/>
                </a:solidFill>
                <a:latin typeface="Arial Narrow" panose="020B0606020202030204" pitchFamily="34" charset="0"/>
                <a:ea typeface="楷体_GB2312" pitchFamily="49" charset="-122"/>
              </a:defRPr>
            </a:lvl5pPr>
          </a:lstStyle>
          <a:p>
            <a:pPr lvl="0">
              <a:lnSpc>
                <a:spcPct val="90000"/>
              </a:lnSpc>
              <a:buNone/>
            </a:pPr>
            <a:r>
              <a:rPr lang="en-US" altLang="zh-CN" sz="2400" i="1">
                <a:solidFill>
                  <a:srgbClr val="000099"/>
                </a:solidFill>
                <a:latin typeface="Times New Roman" panose="02020603050405020304" charset="0"/>
              </a:rPr>
              <a:t>D</a:t>
            </a:r>
            <a:r>
              <a:rPr lang="en-US" altLang="zh-CN" sz="2400" baseline="-25000">
                <a:solidFill>
                  <a:srgbClr val="000099"/>
                </a:solidFill>
                <a:latin typeface="Times New Roman" panose="02020603050405020304" charset="0"/>
              </a:rPr>
              <a:t>0</a:t>
            </a:r>
            <a:r>
              <a:rPr lang="en-US" altLang="zh-CN" sz="2400">
                <a:solidFill>
                  <a:srgbClr val="000099"/>
                </a:solidFill>
                <a:latin typeface="Times New Roman" panose="02020603050405020304" charset="0"/>
              </a:rPr>
              <a:t>=</a:t>
            </a:r>
            <a:r>
              <a:rPr lang="en-US" altLang="zh-CN" sz="2400" i="1">
                <a:solidFill>
                  <a:srgbClr val="000099"/>
                </a:solidFill>
                <a:latin typeface="Times New Roman" panose="02020603050405020304" charset="0"/>
              </a:rPr>
              <a:t>D</a:t>
            </a:r>
            <a:r>
              <a:rPr lang="en-US" altLang="zh-CN" sz="2400" baseline="-25000">
                <a:solidFill>
                  <a:srgbClr val="000099"/>
                </a:solidFill>
                <a:latin typeface="Times New Roman" panose="02020603050405020304" charset="0"/>
              </a:rPr>
              <a:t>I</a:t>
            </a:r>
            <a:endParaRPr lang="en-GB" altLang="zh-CN" sz="2400">
              <a:solidFill>
                <a:srgbClr val="000099"/>
              </a:solidFill>
              <a:latin typeface="Times New Roman" panose="02020603050405020304" charset="0"/>
            </a:endParaRPr>
          </a:p>
        </p:txBody>
      </p:sp>
      <p:sp>
        <p:nvSpPr>
          <p:cNvPr id="371733" name="矩形 371732"/>
          <p:cNvSpPr/>
          <p:nvPr/>
        </p:nvSpPr>
        <p:spPr>
          <a:xfrm>
            <a:off x="3788410" y="2167890"/>
            <a:ext cx="1428750" cy="509588"/>
          </a:xfrm>
          <a:prstGeom prst="rect">
            <a:avLst/>
          </a:prstGeom>
          <a:noFill/>
          <a:ln w="9525">
            <a:noFill/>
          </a:ln>
        </p:spPr>
        <p:txBody>
          <a:bodyPr/>
          <a:lstStyle>
            <a:lvl1pPr marL="469900" lvl="0" indent="-4699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3000" b="1" u="none" kern="1200" baseline="0">
                <a:solidFill>
                  <a:schemeClr val="tx1"/>
                </a:solidFill>
                <a:latin typeface="Arial Narrow" panose="020B0606020202030204" pitchFamily="34" charset="0"/>
                <a:ea typeface="楷体_GB2312"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3000" b="1" i="0" u="none" kern="1200" baseline="0">
                <a:solidFill>
                  <a:schemeClr val="tx1"/>
                </a:solidFill>
                <a:latin typeface="Arial Narrow" panose="020B0606020202030204" pitchFamily="34" charset="0"/>
                <a:ea typeface="楷体_GB2312"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800" b="1" i="0" u="none" kern="1200" baseline="0">
                <a:solidFill>
                  <a:schemeClr val="tx1"/>
                </a:solidFill>
                <a:latin typeface="Arial Narrow" panose="020B0606020202030204" pitchFamily="34" charset="0"/>
                <a:ea typeface="楷体_GB2312"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400" b="1" i="0" u="none" kern="1200" baseline="0">
                <a:solidFill>
                  <a:schemeClr val="tx1"/>
                </a:solidFill>
                <a:latin typeface="Arial Narrow" panose="020B0606020202030204" pitchFamily="34" charset="0"/>
                <a:ea typeface="楷体_GB2312"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400" b="1" i="0" u="none" kern="1200" baseline="0">
                <a:solidFill>
                  <a:schemeClr val="tx1"/>
                </a:solidFill>
                <a:latin typeface="Arial Narrow" panose="020B0606020202030204" pitchFamily="34" charset="0"/>
                <a:ea typeface="楷体_GB2312" pitchFamily="49" charset="-122"/>
              </a:defRPr>
            </a:lvl5pPr>
          </a:lstStyle>
          <a:p>
            <a:pPr lvl="0">
              <a:lnSpc>
                <a:spcPct val="90000"/>
              </a:lnSpc>
              <a:buNone/>
            </a:pPr>
            <a:r>
              <a:rPr lang="en-US" altLang="zh-CN" sz="2400" i="1">
                <a:solidFill>
                  <a:srgbClr val="000099"/>
                </a:solidFill>
                <a:latin typeface="Times New Roman" panose="02020603050405020304" charset="0"/>
              </a:rPr>
              <a:t>D</a:t>
            </a:r>
            <a:r>
              <a:rPr lang="en-US" altLang="zh-CN" sz="2400" baseline="-25000">
                <a:solidFill>
                  <a:srgbClr val="000099"/>
                </a:solidFill>
                <a:latin typeface="Times New Roman" panose="02020603050405020304" charset="0"/>
              </a:rPr>
              <a:t>2</a:t>
            </a:r>
            <a:r>
              <a:rPr lang="en-US" altLang="zh-CN" sz="2400">
                <a:solidFill>
                  <a:srgbClr val="000099"/>
                </a:solidFill>
                <a:latin typeface="Times New Roman" panose="02020603050405020304" charset="0"/>
              </a:rPr>
              <a:t>=</a:t>
            </a:r>
            <a:r>
              <a:rPr lang="en-US" altLang="zh-CN" sz="2400" i="1">
                <a:solidFill>
                  <a:srgbClr val="000099"/>
                </a:solidFill>
                <a:latin typeface="Times New Roman" panose="02020603050405020304" charset="0"/>
              </a:rPr>
              <a:t>Q</a:t>
            </a:r>
            <a:r>
              <a:rPr lang="en-GB" altLang="zh-CN" sz="2400" baseline="-25000">
                <a:solidFill>
                  <a:srgbClr val="000099"/>
                </a:solidFill>
                <a:latin typeface="Times New Roman" panose="02020603050405020304" charset="0"/>
                <a:sym typeface="+mn-ea"/>
              </a:rPr>
              <a:t>1</a:t>
            </a:r>
            <a:r>
              <a:rPr lang="en-US" altLang="zh-CN" sz="2400" i="1" baseline="30000">
                <a:solidFill>
                  <a:srgbClr val="000099"/>
                </a:solidFill>
                <a:latin typeface="Times New Roman" panose="02020603050405020304" charset="0"/>
              </a:rPr>
              <a:t>n</a:t>
            </a:r>
            <a:endParaRPr lang="en-GB" altLang="zh-CN" sz="2400" baseline="-25000">
              <a:solidFill>
                <a:srgbClr val="000099"/>
              </a:solidFill>
              <a:latin typeface="Times New Roman" panose="02020603050405020304" charset="0"/>
            </a:endParaRPr>
          </a:p>
          <a:p>
            <a:pPr lvl="0">
              <a:lnSpc>
                <a:spcPct val="90000"/>
              </a:lnSpc>
              <a:buNone/>
            </a:pPr>
            <a:endParaRPr lang="en-GB" altLang="zh-CN" sz="2400" baseline="-25000">
              <a:solidFill>
                <a:srgbClr val="000099"/>
              </a:solidFill>
              <a:latin typeface="Times New Roman" panose="02020603050405020304" charset="0"/>
            </a:endParaRPr>
          </a:p>
        </p:txBody>
      </p:sp>
      <p:pic>
        <p:nvPicPr>
          <p:cNvPr id="9412" name="图片 2849"/>
          <p:cNvPicPr>
            <a:picLocks noChangeAspect="1"/>
          </p:cNvPicPr>
          <p:nvPr/>
        </p:nvPicPr>
        <p:blipFill>
          <a:blip r:embed="rId1"/>
          <a:stretch>
            <a:fillRect/>
          </a:stretch>
        </p:blipFill>
        <p:spPr>
          <a:xfrm>
            <a:off x="335280" y="4152900"/>
            <a:ext cx="7204710" cy="2476500"/>
          </a:xfrm>
          <a:prstGeom prst="rect">
            <a:avLst/>
          </a:prstGeom>
          <a:noFill/>
          <a:ln>
            <a:noFill/>
          </a:ln>
        </p:spPr>
      </p:pic>
      <p:sp>
        <p:nvSpPr>
          <p:cNvPr id="371723" name="矩形 371722"/>
          <p:cNvSpPr/>
          <p:nvPr/>
        </p:nvSpPr>
        <p:spPr>
          <a:xfrm>
            <a:off x="812800" y="3100070"/>
            <a:ext cx="1851025" cy="509588"/>
          </a:xfrm>
          <a:prstGeom prst="rect">
            <a:avLst/>
          </a:prstGeom>
          <a:noFill/>
          <a:ln w="9525">
            <a:noFill/>
          </a:ln>
        </p:spPr>
        <p:txBody>
          <a:bodyPr/>
          <a:lstStyle>
            <a:lvl1pPr marL="469900" lvl="0" indent="-4699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3000" b="1" u="none" kern="1200" baseline="0">
                <a:solidFill>
                  <a:schemeClr val="tx1"/>
                </a:solidFill>
                <a:latin typeface="Arial Narrow" panose="020B0606020202030204" pitchFamily="34" charset="0"/>
                <a:ea typeface="楷体_GB2312"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3000" b="1" i="0" u="none" kern="1200" baseline="0">
                <a:solidFill>
                  <a:schemeClr val="tx1"/>
                </a:solidFill>
                <a:latin typeface="Arial Narrow" panose="020B0606020202030204" pitchFamily="34" charset="0"/>
                <a:ea typeface="楷体_GB2312"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800" b="1" i="0" u="none" kern="1200" baseline="0">
                <a:solidFill>
                  <a:schemeClr val="tx1"/>
                </a:solidFill>
                <a:latin typeface="Arial Narrow" panose="020B0606020202030204" pitchFamily="34" charset="0"/>
                <a:ea typeface="楷体_GB2312"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400" b="1" i="0" u="none" kern="1200" baseline="0">
                <a:solidFill>
                  <a:schemeClr val="tx1"/>
                </a:solidFill>
                <a:latin typeface="Arial Narrow" panose="020B0606020202030204" pitchFamily="34" charset="0"/>
                <a:ea typeface="楷体_GB2312"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400" b="1" i="0" u="none" kern="1200" baseline="0">
                <a:solidFill>
                  <a:schemeClr val="tx1"/>
                </a:solidFill>
                <a:latin typeface="Arial Narrow" panose="020B0606020202030204" pitchFamily="34" charset="0"/>
                <a:ea typeface="楷体_GB2312" pitchFamily="49" charset="-122"/>
              </a:defRPr>
            </a:lvl5pPr>
          </a:lstStyle>
          <a:p>
            <a:pPr lvl="0">
              <a:lnSpc>
                <a:spcPct val="90000"/>
              </a:lnSpc>
              <a:buNone/>
            </a:pPr>
            <a:r>
              <a:rPr lang="en-US" altLang="zh-CN" sz="2400" i="1">
                <a:solidFill>
                  <a:srgbClr val="000099"/>
                </a:solidFill>
                <a:latin typeface="Times New Roman" panose="02020603050405020304" charset="0"/>
              </a:rPr>
              <a:t>Q</a:t>
            </a:r>
            <a:r>
              <a:rPr lang="en-US" altLang="zh-CN" sz="2400" baseline="-25000">
                <a:solidFill>
                  <a:srgbClr val="000099"/>
                </a:solidFill>
                <a:latin typeface="Times New Roman" panose="02020603050405020304" charset="0"/>
              </a:rPr>
              <a:t>0</a:t>
            </a:r>
            <a:r>
              <a:rPr lang="en-US" altLang="zh-CN" sz="2400" i="1" baseline="30000">
                <a:solidFill>
                  <a:srgbClr val="000099"/>
                </a:solidFill>
                <a:latin typeface="Times New Roman" panose="02020603050405020304" charset="0"/>
              </a:rPr>
              <a:t>n</a:t>
            </a:r>
            <a:r>
              <a:rPr lang="en-US" altLang="zh-CN" sz="2400" baseline="30000">
                <a:solidFill>
                  <a:srgbClr val="000099"/>
                </a:solidFill>
                <a:latin typeface="Times New Roman" panose="02020603050405020304" charset="0"/>
              </a:rPr>
              <a:t>+1</a:t>
            </a:r>
            <a:r>
              <a:rPr lang="en-US" altLang="zh-CN" sz="2400">
                <a:solidFill>
                  <a:srgbClr val="000099"/>
                </a:solidFill>
                <a:latin typeface="Times New Roman" panose="02020603050405020304" charset="0"/>
              </a:rPr>
              <a:t>=</a:t>
            </a:r>
            <a:r>
              <a:rPr lang="en-US" altLang="zh-CN" sz="2400" i="1">
                <a:solidFill>
                  <a:srgbClr val="000099"/>
                </a:solidFill>
                <a:latin typeface="Times New Roman" panose="02020603050405020304" charset="0"/>
              </a:rPr>
              <a:t>D</a:t>
            </a:r>
            <a:r>
              <a:rPr lang="en-US" altLang="zh-CN" sz="2400" baseline="-25000">
                <a:solidFill>
                  <a:srgbClr val="000099"/>
                </a:solidFill>
                <a:latin typeface="Times New Roman" panose="02020603050405020304" charset="0"/>
              </a:rPr>
              <a:t>I</a:t>
            </a:r>
            <a:endParaRPr lang="en-GB" altLang="zh-CN" sz="2400" baseline="-25000">
              <a:solidFill>
                <a:srgbClr val="000099"/>
              </a:solidFill>
              <a:latin typeface="Times New Roman" panose="02020603050405020304" charset="0"/>
            </a:endParaRPr>
          </a:p>
        </p:txBody>
      </p:sp>
      <p:sp>
        <p:nvSpPr>
          <p:cNvPr id="371724" name="矩形 371723"/>
          <p:cNvSpPr/>
          <p:nvPr/>
        </p:nvSpPr>
        <p:spPr>
          <a:xfrm>
            <a:off x="5133975" y="3092133"/>
            <a:ext cx="2874963" cy="509587"/>
          </a:xfrm>
          <a:prstGeom prst="rect">
            <a:avLst/>
          </a:prstGeom>
          <a:noFill/>
          <a:ln w="9525">
            <a:noFill/>
          </a:ln>
        </p:spPr>
        <p:txBody>
          <a:bodyPr/>
          <a:lstStyle>
            <a:lvl1pPr marL="469900" lvl="0" indent="-4699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3000" b="1" u="none" kern="1200" baseline="0">
                <a:solidFill>
                  <a:schemeClr val="tx1"/>
                </a:solidFill>
                <a:latin typeface="Arial Narrow" panose="020B0606020202030204" pitchFamily="34" charset="0"/>
                <a:ea typeface="楷体_GB2312"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3000" b="1" i="0" u="none" kern="1200" baseline="0">
                <a:solidFill>
                  <a:schemeClr val="tx1"/>
                </a:solidFill>
                <a:latin typeface="Arial Narrow" panose="020B0606020202030204" pitchFamily="34" charset="0"/>
                <a:ea typeface="楷体_GB2312"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800" b="1" i="0" u="none" kern="1200" baseline="0">
                <a:solidFill>
                  <a:schemeClr val="tx1"/>
                </a:solidFill>
                <a:latin typeface="Arial Narrow" panose="020B0606020202030204" pitchFamily="34" charset="0"/>
                <a:ea typeface="楷体_GB2312"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400" b="1" i="0" u="none" kern="1200" baseline="0">
                <a:solidFill>
                  <a:schemeClr val="tx1"/>
                </a:solidFill>
                <a:latin typeface="Arial Narrow" panose="020B0606020202030204" pitchFamily="34" charset="0"/>
                <a:ea typeface="楷体_GB2312"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400" b="1" i="0" u="none" kern="1200" baseline="0">
                <a:solidFill>
                  <a:schemeClr val="tx1"/>
                </a:solidFill>
                <a:latin typeface="Arial Narrow" panose="020B0606020202030204" pitchFamily="34" charset="0"/>
                <a:ea typeface="楷体_GB2312" pitchFamily="49" charset="-122"/>
              </a:defRPr>
            </a:lvl5pPr>
          </a:lstStyle>
          <a:p>
            <a:pPr lvl="0">
              <a:lnSpc>
                <a:spcPct val="90000"/>
              </a:lnSpc>
              <a:buNone/>
            </a:pPr>
            <a:r>
              <a:rPr lang="en-US" altLang="zh-CN" sz="2400" i="1">
                <a:solidFill>
                  <a:srgbClr val="000099"/>
                </a:solidFill>
                <a:latin typeface="Times New Roman" panose="02020603050405020304" charset="0"/>
              </a:rPr>
              <a:t>Q</a:t>
            </a:r>
            <a:r>
              <a:rPr lang="en-US" altLang="zh-CN" sz="2400" baseline="-25000">
                <a:solidFill>
                  <a:srgbClr val="000099"/>
                </a:solidFill>
                <a:latin typeface="Times New Roman" panose="02020603050405020304" charset="0"/>
              </a:rPr>
              <a:t>1</a:t>
            </a:r>
            <a:r>
              <a:rPr lang="en-US" altLang="zh-CN" sz="2400" i="1" baseline="30000">
                <a:solidFill>
                  <a:srgbClr val="000099"/>
                </a:solidFill>
                <a:latin typeface="Times New Roman" panose="02020603050405020304" charset="0"/>
              </a:rPr>
              <a:t>n</a:t>
            </a:r>
            <a:r>
              <a:rPr lang="en-US" altLang="zh-CN" sz="2400" baseline="30000">
                <a:solidFill>
                  <a:srgbClr val="000099"/>
                </a:solidFill>
                <a:latin typeface="Times New Roman" panose="02020603050405020304" charset="0"/>
              </a:rPr>
              <a:t>+1</a:t>
            </a:r>
            <a:r>
              <a:rPr lang="en-US" altLang="zh-CN" sz="2400">
                <a:solidFill>
                  <a:srgbClr val="000099"/>
                </a:solidFill>
                <a:latin typeface="Times New Roman" panose="02020603050405020304" charset="0"/>
              </a:rPr>
              <a:t> =</a:t>
            </a:r>
            <a:r>
              <a:rPr lang="en-US" altLang="zh-CN" sz="2400" i="1">
                <a:solidFill>
                  <a:srgbClr val="000099"/>
                </a:solidFill>
                <a:latin typeface="Times New Roman" panose="02020603050405020304" charset="0"/>
              </a:rPr>
              <a:t>D</a:t>
            </a:r>
            <a:r>
              <a:rPr lang="en-US" altLang="zh-CN" sz="2400" baseline="-25000">
                <a:solidFill>
                  <a:srgbClr val="000099"/>
                </a:solidFill>
                <a:latin typeface="Times New Roman" panose="02020603050405020304" charset="0"/>
              </a:rPr>
              <a:t>1</a:t>
            </a:r>
            <a:r>
              <a:rPr lang="en-US" altLang="zh-CN" sz="2400">
                <a:solidFill>
                  <a:srgbClr val="000099"/>
                </a:solidFill>
                <a:latin typeface="Times New Roman" panose="02020603050405020304" charset="0"/>
              </a:rPr>
              <a:t> = </a:t>
            </a:r>
            <a:r>
              <a:rPr lang="en-US" altLang="zh-CN" sz="2400" i="1">
                <a:solidFill>
                  <a:srgbClr val="000099"/>
                </a:solidFill>
                <a:latin typeface="Times New Roman" panose="02020603050405020304" charset="0"/>
              </a:rPr>
              <a:t>Q</a:t>
            </a:r>
            <a:r>
              <a:rPr lang="en-US" altLang="zh-CN" sz="2400" baseline="-25000">
                <a:solidFill>
                  <a:srgbClr val="000099"/>
                </a:solidFill>
                <a:latin typeface="Times New Roman" panose="02020603050405020304" charset="0"/>
              </a:rPr>
              <a:t>0</a:t>
            </a:r>
            <a:r>
              <a:rPr lang="en-US" altLang="zh-CN" sz="2400" i="1" baseline="30000">
                <a:solidFill>
                  <a:srgbClr val="000099"/>
                </a:solidFill>
                <a:latin typeface="Times New Roman" panose="02020603050405020304" charset="0"/>
              </a:rPr>
              <a:t>n</a:t>
            </a:r>
            <a:endParaRPr lang="en-US" altLang="zh-CN" sz="2400" i="1" baseline="30000">
              <a:solidFill>
                <a:srgbClr val="000099"/>
              </a:solidFill>
              <a:latin typeface="Times New Roman" panose="02020603050405020304" charset="0"/>
            </a:endParaRPr>
          </a:p>
        </p:txBody>
      </p:sp>
      <p:sp>
        <p:nvSpPr>
          <p:cNvPr id="371725" name="矩形 371724"/>
          <p:cNvSpPr/>
          <p:nvPr/>
        </p:nvSpPr>
        <p:spPr>
          <a:xfrm>
            <a:off x="808038" y="3642995"/>
            <a:ext cx="2979737" cy="509588"/>
          </a:xfrm>
          <a:prstGeom prst="rect">
            <a:avLst/>
          </a:prstGeom>
          <a:noFill/>
          <a:ln w="9525">
            <a:noFill/>
          </a:ln>
        </p:spPr>
        <p:txBody>
          <a:bodyPr/>
          <a:lstStyle>
            <a:lvl1pPr marL="469900" lvl="0" indent="-4699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3000" b="1" u="none" kern="1200" baseline="0">
                <a:solidFill>
                  <a:schemeClr val="tx1"/>
                </a:solidFill>
                <a:latin typeface="Arial Narrow" panose="020B0606020202030204" pitchFamily="34" charset="0"/>
                <a:ea typeface="楷体_GB2312"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3000" b="1" i="0" u="none" kern="1200" baseline="0">
                <a:solidFill>
                  <a:schemeClr val="tx1"/>
                </a:solidFill>
                <a:latin typeface="Arial Narrow" panose="020B0606020202030204" pitchFamily="34" charset="0"/>
                <a:ea typeface="楷体_GB2312"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800" b="1" i="0" u="none" kern="1200" baseline="0">
                <a:solidFill>
                  <a:schemeClr val="tx1"/>
                </a:solidFill>
                <a:latin typeface="Arial Narrow" panose="020B0606020202030204" pitchFamily="34" charset="0"/>
                <a:ea typeface="楷体_GB2312"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400" b="1" i="0" u="none" kern="1200" baseline="0">
                <a:solidFill>
                  <a:schemeClr val="tx1"/>
                </a:solidFill>
                <a:latin typeface="Arial Narrow" panose="020B0606020202030204" pitchFamily="34" charset="0"/>
                <a:ea typeface="楷体_GB2312"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400" b="1" i="0" u="none" kern="1200" baseline="0">
                <a:solidFill>
                  <a:schemeClr val="tx1"/>
                </a:solidFill>
                <a:latin typeface="Arial Narrow" panose="020B0606020202030204" pitchFamily="34" charset="0"/>
                <a:ea typeface="楷体_GB2312" pitchFamily="49" charset="-122"/>
              </a:defRPr>
            </a:lvl5pPr>
          </a:lstStyle>
          <a:p>
            <a:pPr lvl="0">
              <a:lnSpc>
                <a:spcPct val="90000"/>
              </a:lnSpc>
              <a:buNone/>
            </a:pPr>
            <a:r>
              <a:rPr lang="en-US" altLang="zh-CN" sz="2400" i="1">
                <a:solidFill>
                  <a:srgbClr val="000099"/>
                </a:solidFill>
                <a:latin typeface="Times New Roman" panose="02020603050405020304" charset="0"/>
              </a:rPr>
              <a:t>Q</a:t>
            </a:r>
            <a:r>
              <a:rPr lang="en-US" altLang="zh-CN" sz="2400" baseline="-25000">
                <a:solidFill>
                  <a:srgbClr val="000099"/>
                </a:solidFill>
                <a:latin typeface="Times New Roman" panose="02020603050405020304" charset="0"/>
              </a:rPr>
              <a:t>2</a:t>
            </a:r>
            <a:r>
              <a:rPr lang="en-US" altLang="zh-CN" sz="2400" i="1" baseline="30000">
                <a:solidFill>
                  <a:srgbClr val="000099"/>
                </a:solidFill>
                <a:latin typeface="Times New Roman" panose="02020603050405020304" charset="0"/>
              </a:rPr>
              <a:t>n</a:t>
            </a:r>
            <a:r>
              <a:rPr lang="en-US" altLang="zh-CN" sz="2400" baseline="30000">
                <a:solidFill>
                  <a:srgbClr val="000099"/>
                </a:solidFill>
                <a:latin typeface="Times New Roman" panose="02020603050405020304" charset="0"/>
              </a:rPr>
              <a:t>+1</a:t>
            </a:r>
            <a:r>
              <a:rPr lang="en-US" altLang="zh-CN" sz="2400">
                <a:solidFill>
                  <a:srgbClr val="000099"/>
                </a:solidFill>
                <a:latin typeface="Times New Roman" panose="02020603050405020304" charset="0"/>
              </a:rPr>
              <a:t> =</a:t>
            </a:r>
            <a:r>
              <a:rPr lang="en-US" altLang="zh-CN" sz="2400" i="1">
                <a:solidFill>
                  <a:srgbClr val="000099"/>
                </a:solidFill>
                <a:latin typeface="Times New Roman" panose="02020603050405020304" charset="0"/>
              </a:rPr>
              <a:t>D</a:t>
            </a:r>
            <a:r>
              <a:rPr lang="en-US" altLang="zh-CN" sz="2400" baseline="-25000">
                <a:solidFill>
                  <a:srgbClr val="000099"/>
                </a:solidFill>
                <a:latin typeface="Times New Roman" panose="02020603050405020304" charset="0"/>
              </a:rPr>
              <a:t>2</a:t>
            </a:r>
            <a:r>
              <a:rPr lang="en-US" altLang="zh-CN" sz="2400">
                <a:solidFill>
                  <a:srgbClr val="000099"/>
                </a:solidFill>
                <a:latin typeface="Times New Roman" panose="02020603050405020304" charset="0"/>
              </a:rPr>
              <a:t> =</a:t>
            </a:r>
            <a:r>
              <a:rPr lang="en-US" altLang="zh-CN" sz="2400" i="1">
                <a:solidFill>
                  <a:srgbClr val="000099"/>
                </a:solidFill>
                <a:latin typeface="Times New Roman" panose="02020603050405020304" charset="0"/>
              </a:rPr>
              <a:t>Q</a:t>
            </a:r>
            <a:r>
              <a:rPr lang="en-US" altLang="zh-CN" sz="2400" baseline="-25000">
                <a:solidFill>
                  <a:srgbClr val="000099"/>
                </a:solidFill>
                <a:latin typeface="Times New Roman" panose="02020603050405020304" charset="0"/>
                <a:sym typeface="+mn-ea"/>
              </a:rPr>
              <a:t>1</a:t>
            </a:r>
            <a:r>
              <a:rPr lang="en-US" altLang="zh-CN" sz="2400" i="1" baseline="30000">
                <a:solidFill>
                  <a:srgbClr val="000099"/>
                </a:solidFill>
                <a:latin typeface="Times New Roman" panose="02020603050405020304" charset="0"/>
              </a:rPr>
              <a:t>n</a:t>
            </a:r>
            <a:endParaRPr lang="en-US" altLang="zh-CN" sz="2400" i="1" baseline="30000">
              <a:solidFill>
                <a:srgbClr val="000099"/>
              </a:solidFill>
              <a:latin typeface="Times New Roman" panose="02020603050405020304" charset="0"/>
            </a:endParaRPr>
          </a:p>
        </p:txBody>
      </p:sp>
      <p:sp>
        <p:nvSpPr>
          <p:cNvPr id="371726" name="矩形 371725"/>
          <p:cNvSpPr/>
          <p:nvPr/>
        </p:nvSpPr>
        <p:spPr>
          <a:xfrm>
            <a:off x="5191125" y="3704908"/>
            <a:ext cx="3214688" cy="509587"/>
          </a:xfrm>
          <a:prstGeom prst="rect">
            <a:avLst/>
          </a:prstGeom>
          <a:noFill/>
          <a:ln w="9525">
            <a:noFill/>
          </a:ln>
        </p:spPr>
        <p:txBody>
          <a:bodyPr/>
          <a:lstStyle>
            <a:lvl1pPr marL="469900" lvl="0" indent="-4699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3000" b="1" u="none" kern="1200" baseline="0">
                <a:solidFill>
                  <a:schemeClr val="tx1"/>
                </a:solidFill>
                <a:latin typeface="Arial Narrow" panose="020B0606020202030204" pitchFamily="34" charset="0"/>
                <a:ea typeface="楷体_GB2312"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3000" b="1" i="0" u="none" kern="1200" baseline="0">
                <a:solidFill>
                  <a:schemeClr val="tx1"/>
                </a:solidFill>
                <a:latin typeface="Arial Narrow" panose="020B0606020202030204" pitchFamily="34" charset="0"/>
                <a:ea typeface="楷体_GB2312"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800" b="1" i="0" u="none" kern="1200" baseline="0">
                <a:solidFill>
                  <a:schemeClr val="tx1"/>
                </a:solidFill>
                <a:latin typeface="Arial Narrow" panose="020B0606020202030204" pitchFamily="34" charset="0"/>
                <a:ea typeface="楷体_GB2312"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400" b="1" i="0" u="none" kern="1200" baseline="0">
                <a:solidFill>
                  <a:schemeClr val="tx1"/>
                </a:solidFill>
                <a:latin typeface="Arial Narrow" panose="020B0606020202030204" pitchFamily="34" charset="0"/>
                <a:ea typeface="楷体_GB2312"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400" b="1" i="0" u="none" kern="1200" baseline="0">
                <a:solidFill>
                  <a:schemeClr val="tx1"/>
                </a:solidFill>
                <a:latin typeface="Arial Narrow" panose="020B0606020202030204" pitchFamily="34" charset="0"/>
                <a:ea typeface="楷体_GB2312" pitchFamily="49" charset="-122"/>
              </a:defRPr>
            </a:lvl5pPr>
          </a:lstStyle>
          <a:p>
            <a:pPr lvl="0">
              <a:lnSpc>
                <a:spcPct val="90000"/>
              </a:lnSpc>
              <a:buNone/>
            </a:pPr>
            <a:r>
              <a:rPr lang="en-US" altLang="zh-CN" sz="2400" i="1">
                <a:solidFill>
                  <a:srgbClr val="000099"/>
                </a:solidFill>
                <a:latin typeface="Times New Roman" panose="02020603050405020304" charset="0"/>
              </a:rPr>
              <a:t>Q</a:t>
            </a:r>
            <a:r>
              <a:rPr lang="en-US" altLang="zh-CN" sz="2400" baseline="-25000">
                <a:solidFill>
                  <a:srgbClr val="000099"/>
                </a:solidFill>
                <a:latin typeface="Times New Roman" panose="02020603050405020304" charset="0"/>
              </a:rPr>
              <a:t>3</a:t>
            </a:r>
            <a:r>
              <a:rPr lang="en-US" altLang="zh-CN" sz="2400" i="1" baseline="30000">
                <a:solidFill>
                  <a:srgbClr val="000099"/>
                </a:solidFill>
                <a:latin typeface="Times New Roman" panose="02020603050405020304" charset="0"/>
              </a:rPr>
              <a:t>n</a:t>
            </a:r>
            <a:r>
              <a:rPr lang="en-US" altLang="zh-CN" sz="2400" baseline="30000">
                <a:solidFill>
                  <a:srgbClr val="000099"/>
                </a:solidFill>
                <a:latin typeface="Times New Roman" panose="02020603050405020304" charset="0"/>
              </a:rPr>
              <a:t>+1</a:t>
            </a:r>
            <a:r>
              <a:rPr lang="en-US" altLang="zh-CN" sz="2400">
                <a:solidFill>
                  <a:srgbClr val="000099"/>
                </a:solidFill>
                <a:latin typeface="Times New Roman" panose="02020603050405020304" charset="0"/>
              </a:rPr>
              <a:t> =</a:t>
            </a:r>
            <a:r>
              <a:rPr lang="en-US" altLang="zh-CN" sz="2400" i="1">
                <a:solidFill>
                  <a:srgbClr val="000099"/>
                </a:solidFill>
                <a:latin typeface="Times New Roman" panose="02020603050405020304" charset="0"/>
              </a:rPr>
              <a:t>D</a:t>
            </a:r>
            <a:r>
              <a:rPr lang="en-US" altLang="zh-CN" sz="2400" baseline="-25000">
                <a:solidFill>
                  <a:srgbClr val="000099"/>
                </a:solidFill>
                <a:latin typeface="Times New Roman" panose="02020603050405020304" charset="0"/>
              </a:rPr>
              <a:t>3</a:t>
            </a:r>
            <a:r>
              <a:rPr lang="en-US" altLang="zh-CN" sz="2400">
                <a:solidFill>
                  <a:srgbClr val="000099"/>
                </a:solidFill>
                <a:latin typeface="Times New Roman" panose="02020603050405020304" charset="0"/>
              </a:rPr>
              <a:t> = </a:t>
            </a:r>
            <a:r>
              <a:rPr lang="en-US" altLang="zh-CN" sz="2400" i="1">
                <a:solidFill>
                  <a:srgbClr val="000099"/>
                </a:solidFill>
                <a:latin typeface="Times New Roman" panose="02020603050405020304" charset="0"/>
              </a:rPr>
              <a:t>Q</a:t>
            </a:r>
            <a:r>
              <a:rPr lang="en-US" altLang="zh-CN" sz="2400" baseline="-25000">
                <a:solidFill>
                  <a:srgbClr val="000099"/>
                </a:solidFill>
                <a:latin typeface="Times New Roman" panose="02020603050405020304" charset="0"/>
                <a:sym typeface="+mn-ea"/>
              </a:rPr>
              <a:t>2</a:t>
            </a:r>
            <a:r>
              <a:rPr lang="en-US" altLang="zh-CN" sz="2400" i="1" baseline="30000">
                <a:solidFill>
                  <a:srgbClr val="000099"/>
                </a:solidFill>
                <a:latin typeface="Times New Roman" panose="02020603050405020304" charset="0"/>
              </a:rPr>
              <a:t>n</a:t>
            </a:r>
            <a:endParaRPr lang="en-US" altLang="zh-CN" sz="2400" i="1" baseline="30000">
              <a:solidFill>
                <a:srgbClr val="000099"/>
              </a:solidFill>
              <a:latin typeface="Times New Roman" panose="02020603050405020304" charset="0"/>
            </a:endParaRPr>
          </a:p>
        </p:txBody>
      </p:sp>
      <p:sp>
        <p:nvSpPr>
          <p:cNvPr id="4" name="椭圆 3"/>
          <p:cNvSpPr/>
          <p:nvPr/>
        </p:nvSpPr>
        <p:spPr>
          <a:xfrm>
            <a:off x="5852160" y="4575810"/>
            <a:ext cx="791845" cy="648335"/>
          </a:xfrm>
          <a:prstGeom prst="ellipse">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smtClean="0">
              <a:ln>
                <a:noFill/>
              </a:ln>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71722"/>
                                        </p:tgtEl>
                                        <p:attrNameLst>
                                          <p:attrName>style.visibility</p:attrName>
                                        </p:attrNameLst>
                                      </p:cBhvr>
                                      <p:to>
                                        <p:strVal val="visible"/>
                                      </p:to>
                                    </p:set>
                                    <p:animEffect transition="in" filter="strips(downRight)">
                                      <p:cBhvr>
                                        <p:cTn id="7" dur="500"/>
                                        <p:tgtEl>
                                          <p:spTgt spid="37172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71721"/>
                                        </p:tgtEl>
                                        <p:attrNameLst>
                                          <p:attrName>style.visibility</p:attrName>
                                        </p:attrNameLst>
                                      </p:cBhvr>
                                      <p:to>
                                        <p:strVal val="visible"/>
                                      </p:to>
                                    </p:set>
                                    <p:animEffect transition="in" filter="strips(downRight)">
                                      <p:cBhvr>
                                        <p:cTn id="12" dur="500"/>
                                        <p:tgtEl>
                                          <p:spTgt spid="371721"/>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371733"/>
                                        </p:tgtEl>
                                        <p:attrNameLst>
                                          <p:attrName>style.visibility</p:attrName>
                                        </p:attrNameLst>
                                      </p:cBhvr>
                                      <p:to>
                                        <p:strVal val="visible"/>
                                      </p:to>
                                    </p:set>
                                    <p:animEffect transition="in" filter="strips(downRight)">
                                      <p:cBhvr>
                                        <p:cTn id="17" dur="500"/>
                                        <p:tgtEl>
                                          <p:spTgt spid="371733"/>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371720"/>
                                        </p:tgtEl>
                                        <p:attrNameLst>
                                          <p:attrName>style.visibility</p:attrName>
                                        </p:attrNameLst>
                                      </p:cBhvr>
                                      <p:to>
                                        <p:strVal val="visible"/>
                                      </p:to>
                                    </p:set>
                                    <p:animEffect transition="in" filter="strips(downRight)">
                                      <p:cBhvr>
                                        <p:cTn id="22" dur="500"/>
                                        <p:tgtEl>
                                          <p:spTgt spid="371720"/>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371723"/>
                                        </p:tgtEl>
                                        <p:attrNameLst>
                                          <p:attrName>style.visibility</p:attrName>
                                        </p:attrNameLst>
                                      </p:cBhvr>
                                      <p:to>
                                        <p:strVal val="visible"/>
                                      </p:to>
                                    </p:set>
                                    <p:animEffect transition="in" filter="strips(downRight)">
                                      <p:cBhvr>
                                        <p:cTn id="27" dur="500"/>
                                        <p:tgtEl>
                                          <p:spTgt spid="371723"/>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371724"/>
                                        </p:tgtEl>
                                        <p:attrNameLst>
                                          <p:attrName>style.visibility</p:attrName>
                                        </p:attrNameLst>
                                      </p:cBhvr>
                                      <p:to>
                                        <p:strVal val="visible"/>
                                      </p:to>
                                    </p:set>
                                    <p:animEffect transition="in" filter="strips(downRight)">
                                      <p:cBhvr>
                                        <p:cTn id="32" dur="500"/>
                                        <p:tgtEl>
                                          <p:spTgt spid="371724"/>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371725"/>
                                        </p:tgtEl>
                                        <p:attrNameLst>
                                          <p:attrName>style.visibility</p:attrName>
                                        </p:attrNameLst>
                                      </p:cBhvr>
                                      <p:to>
                                        <p:strVal val="visible"/>
                                      </p:to>
                                    </p:set>
                                    <p:animEffect transition="in" filter="strips(downRight)">
                                      <p:cBhvr>
                                        <p:cTn id="37" dur="500"/>
                                        <p:tgtEl>
                                          <p:spTgt spid="371725"/>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371726"/>
                                        </p:tgtEl>
                                        <p:attrNameLst>
                                          <p:attrName>style.visibility</p:attrName>
                                        </p:attrNameLst>
                                      </p:cBhvr>
                                      <p:to>
                                        <p:strVal val="visible"/>
                                      </p:to>
                                    </p:set>
                                    <p:animEffect transition="in" filter="strips(downRight)">
                                      <p:cBhvr>
                                        <p:cTn id="42" dur="500"/>
                                        <p:tgtEl>
                                          <p:spTgt spid="3717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20" grpId="0"/>
      <p:bldP spid="371721" grpId="0" bldLvl="0" animBg="1"/>
      <p:bldP spid="371722" grpId="0" bldLvl="0" animBg="1"/>
      <p:bldP spid="371733" grpId="0"/>
      <p:bldP spid="371723" grpId="0"/>
      <p:bldP spid="371724" grpId="0"/>
      <p:bldP spid="371725" grpId="0"/>
      <p:bldP spid="371726"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6.5 </a:t>
            </a:r>
            <a:r>
              <a:rPr lang="zh-CN" b="1" dirty="0">
                <a:solidFill>
                  <a:srgbClr val="FF0000"/>
                </a:solidFill>
                <a:latin typeface="黑体" panose="02010609060101010101" pitchFamily="49" charset="-122"/>
                <a:ea typeface="黑体" panose="02010609060101010101" pitchFamily="49" charset="-122"/>
                <a:sym typeface="+mn-ea"/>
              </a:rPr>
              <a:t>数码寄存器与移位寄存器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3" name="文本框 2"/>
          <p:cNvSpPr txBox="1"/>
          <p:nvPr/>
        </p:nvSpPr>
        <p:spPr>
          <a:xfrm>
            <a:off x="854075" y="1182370"/>
            <a:ext cx="2917825" cy="460375"/>
          </a:xfrm>
          <a:prstGeom prst="rect">
            <a:avLst/>
          </a:prstGeom>
          <a:noFill/>
        </p:spPr>
        <p:txBody>
          <a:bodyPr wrap="none" rtlCol="0" anchor="t">
            <a:spAutoFit/>
          </a:bodyPr>
          <a:p>
            <a:r>
              <a:rPr kumimoji="1" lang="zh-CN" altLang="en-US" sz="2400" noProof="0" smtClean="0">
                <a:ln>
                  <a:noFill/>
                </a:ln>
                <a:solidFill>
                  <a:srgbClr val="000000"/>
                </a:solidFill>
                <a:effectLst>
                  <a:outerShdw blurRad="38100" dist="38100" dir="2700000" algn="tl">
                    <a:srgbClr val="000000">
                      <a:alpha val="43137"/>
                    </a:srgbClr>
                  </a:outerShdw>
                </a:effectLst>
                <a:uLnTx/>
                <a:uFillTx/>
                <a:sym typeface="+mn-ea"/>
              </a:rPr>
              <a:t>串行输入数码</a:t>
            </a:r>
            <a:r>
              <a:rPr kumimoji="1" lang="zh-CN" altLang="en-US" sz="2400" noProof="0" smtClean="0">
                <a:ln>
                  <a:noFill/>
                </a:ln>
                <a:solidFill>
                  <a:srgbClr val="000000"/>
                </a:solidFill>
                <a:effectLst>
                  <a:outerShdw blurRad="38100" dist="38100" dir="2700000" algn="tl">
                    <a:srgbClr val="000000">
                      <a:alpha val="43137"/>
                    </a:srgbClr>
                  </a:outerShdw>
                </a:effectLst>
                <a:uLnTx/>
                <a:uFillTx/>
                <a:latin typeface="Times New Roman" panose="02020603050405020304" charset="0"/>
                <a:sym typeface="+mn-ea"/>
              </a:rPr>
              <a:t>为</a:t>
            </a:r>
            <a:r>
              <a:rPr kumimoji="1" lang="en-US" altLang="zh-CN" sz="2400" noProof="0" smtClean="0">
                <a:ln>
                  <a:noFill/>
                </a:ln>
                <a:solidFill>
                  <a:srgbClr val="FF0000"/>
                </a:solidFill>
                <a:effectLst>
                  <a:outerShdw blurRad="38100" dist="38100" dir="2700000" algn="tl">
                    <a:srgbClr val="000000">
                      <a:alpha val="43137"/>
                    </a:srgbClr>
                  </a:outerShdw>
                </a:effectLst>
                <a:uLnTx/>
                <a:uFillTx/>
                <a:latin typeface="Times New Roman" panose="02020603050405020304" charset="0"/>
                <a:sym typeface="+mn-ea"/>
              </a:rPr>
              <a:t>1101</a:t>
            </a:r>
            <a:endParaRPr kumimoji="1" lang="en-US" altLang="zh-CN" sz="2400" noProof="0" smtClean="0">
              <a:ln>
                <a:noFill/>
              </a:ln>
              <a:solidFill>
                <a:srgbClr val="FF0000"/>
              </a:solidFill>
              <a:effectLst>
                <a:outerShdw blurRad="38100" dist="38100" dir="2700000" algn="tl">
                  <a:srgbClr val="000000">
                    <a:alpha val="43137"/>
                  </a:srgbClr>
                </a:outerShdw>
              </a:effectLst>
              <a:uLnTx/>
              <a:uFillTx/>
              <a:latin typeface="Times New Roman" panose="02020603050405020304" charset="0"/>
              <a:sym typeface="+mn-ea"/>
            </a:endParaRPr>
          </a:p>
        </p:txBody>
      </p:sp>
      <p:pic>
        <p:nvPicPr>
          <p:cNvPr id="9412" name="图片 2849"/>
          <p:cNvPicPr>
            <a:picLocks noChangeAspect="1"/>
          </p:cNvPicPr>
          <p:nvPr/>
        </p:nvPicPr>
        <p:blipFill>
          <a:blip r:embed="rId1"/>
          <a:srcRect t="11668"/>
          <a:stretch>
            <a:fillRect/>
          </a:stretch>
        </p:blipFill>
        <p:spPr>
          <a:xfrm>
            <a:off x="128270" y="4809490"/>
            <a:ext cx="6602095" cy="2004695"/>
          </a:xfrm>
          <a:prstGeom prst="rect">
            <a:avLst/>
          </a:prstGeom>
          <a:noFill/>
          <a:ln>
            <a:noFill/>
          </a:ln>
        </p:spPr>
      </p:pic>
      <p:sp>
        <p:nvSpPr>
          <p:cNvPr id="372827" name="文本框 372826"/>
          <p:cNvSpPr txBox="1"/>
          <p:nvPr/>
        </p:nvSpPr>
        <p:spPr>
          <a:xfrm>
            <a:off x="0" y="5118418"/>
            <a:ext cx="901700" cy="457200"/>
          </a:xfrm>
          <a:prstGeom prst="rect">
            <a:avLst/>
          </a:prstGeom>
          <a:noFill/>
          <a:ln w="9525">
            <a:noFill/>
          </a:ln>
        </p:spPr>
        <p:txBody>
          <a:bodyPr>
            <a:spAutoFit/>
          </a:bodyPr>
          <a:p>
            <a:pPr algn="l">
              <a:spcBef>
                <a:spcPct val="50000"/>
              </a:spcBef>
            </a:pPr>
            <a:r>
              <a:rPr lang="en-US" altLang="zh-CN">
                <a:solidFill>
                  <a:srgbClr val="FF0000"/>
                </a:solidFill>
                <a:latin typeface="Times New Roman" panose="02020603050405020304" charset="0"/>
              </a:rPr>
              <a:t>1011</a:t>
            </a:r>
            <a:endParaRPr lang="en-US" altLang="zh-CN">
              <a:solidFill>
                <a:srgbClr val="FF0000"/>
              </a:solidFill>
              <a:latin typeface="Times New Roman" panose="02020603050405020304" charset="0"/>
            </a:endParaRPr>
          </a:p>
        </p:txBody>
      </p:sp>
      <p:sp>
        <p:nvSpPr>
          <p:cNvPr id="5" name="椭圆 4"/>
          <p:cNvSpPr/>
          <p:nvPr/>
        </p:nvSpPr>
        <p:spPr>
          <a:xfrm>
            <a:off x="5239385" y="4987290"/>
            <a:ext cx="540385" cy="450850"/>
          </a:xfrm>
          <a:prstGeom prst="ellipse">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smtClean="0">
              <a:ln>
                <a:noFill/>
              </a:ln>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grpSp>
        <p:nvGrpSpPr>
          <p:cNvPr id="372828" name="组合 372827"/>
          <p:cNvGrpSpPr/>
          <p:nvPr/>
        </p:nvGrpSpPr>
        <p:grpSpPr>
          <a:xfrm>
            <a:off x="4687253" y="938530"/>
            <a:ext cx="4211637" cy="3986213"/>
            <a:chOff x="2245" y="275"/>
            <a:chExt cx="2653" cy="2511"/>
          </a:xfrm>
        </p:grpSpPr>
        <p:sp>
          <p:nvSpPr>
            <p:cNvPr id="372760" name="文本框 372759"/>
            <p:cNvSpPr txBox="1"/>
            <p:nvPr/>
          </p:nvSpPr>
          <p:spPr>
            <a:xfrm>
              <a:off x="3380" y="2499"/>
              <a:ext cx="1448" cy="251"/>
            </a:xfrm>
            <a:prstGeom prst="rect">
              <a:avLst/>
            </a:prstGeom>
            <a:solidFill>
              <a:srgbClr val="FFFFCC">
                <a:alpha val="0"/>
              </a:srgbClr>
            </a:solidFill>
            <a:ln w="9525">
              <a:noFill/>
            </a:ln>
          </p:spPr>
          <p:txBody>
            <a:bodyPr>
              <a:spAutoFit/>
            </a:bodyPr>
            <a:p>
              <a:pPr algn="l">
                <a:spcBef>
                  <a:spcPct val="50000"/>
                </a:spcBef>
              </a:pPr>
              <a:r>
                <a:rPr lang="en-US" altLang="zh-CN" sz="2000">
                  <a:latin typeface="Times New Roman" panose="02020603050405020304" charset="0"/>
                </a:rPr>
                <a:t>  </a:t>
              </a:r>
              <a:r>
                <a:rPr lang="en-US" altLang="zh-CN">
                  <a:latin typeface="Times New Roman" panose="02020603050405020304" charset="0"/>
                </a:rPr>
                <a:t>1        0</a:t>
              </a:r>
              <a:r>
                <a:rPr lang="en-US" altLang="zh-CN" sz="1600">
                  <a:latin typeface="Times New Roman" panose="02020603050405020304" charset="0"/>
                </a:rPr>
                <a:t>  </a:t>
              </a:r>
              <a:r>
                <a:rPr lang="en-US" altLang="zh-CN" sz="2000">
                  <a:latin typeface="Times New Roman" panose="02020603050405020304" charset="0"/>
                </a:rPr>
                <a:t>  </a:t>
              </a:r>
              <a:r>
                <a:rPr lang="en-US" altLang="zh-CN">
                  <a:latin typeface="Times New Roman" panose="02020603050405020304" charset="0"/>
                </a:rPr>
                <a:t>    1       1</a:t>
              </a:r>
              <a:endParaRPr lang="en-US" altLang="zh-CN">
                <a:latin typeface="Times New Roman" panose="02020603050405020304" charset="0"/>
              </a:endParaRPr>
            </a:p>
          </p:txBody>
        </p:sp>
        <p:sp>
          <p:nvSpPr>
            <p:cNvPr id="372761" name="文本框 372760"/>
            <p:cNvSpPr txBox="1"/>
            <p:nvPr/>
          </p:nvSpPr>
          <p:spPr>
            <a:xfrm>
              <a:off x="3372" y="2035"/>
              <a:ext cx="1448" cy="251"/>
            </a:xfrm>
            <a:prstGeom prst="rect">
              <a:avLst/>
            </a:prstGeom>
            <a:solidFill>
              <a:srgbClr val="FFFFCC">
                <a:alpha val="0"/>
              </a:srgbClr>
            </a:solidFill>
            <a:ln w="9525">
              <a:noFill/>
            </a:ln>
          </p:spPr>
          <p:txBody>
            <a:bodyPr>
              <a:spAutoFit/>
            </a:bodyPr>
            <a:p>
              <a:pPr algn="l">
                <a:spcBef>
                  <a:spcPct val="50000"/>
                </a:spcBef>
              </a:pPr>
              <a:r>
                <a:rPr lang="en-US" altLang="zh-CN" sz="2000">
                  <a:latin typeface="Times New Roman" panose="02020603050405020304" charset="0"/>
                </a:rPr>
                <a:t>  </a:t>
              </a:r>
              <a:r>
                <a:rPr lang="en-US" altLang="zh-CN">
                  <a:latin typeface="Times New Roman" panose="02020603050405020304" charset="0"/>
                </a:rPr>
                <a:t>0        1</a:t>
              </a:r>
              <a:r>
                <a:rPr lang="en-US" altLang="zh-CN" sz="1600">
                  <a:latin typeface="Times New Roman" panose="02020603050405020304" charset="0"/>
                </a:rPr>
                <a:t>   </a:t>
              </a:r>
              <a:r>
                <a:rPr lang="en-US" altLang="zh-CN" sz="2000">
                  <a:latin typeface="Times New Roman" panose="02020603050405020304" charset="0"/>
                </a:rPr>
                <a:t>  </a:t>
              </a:r>
              <a:r>
                <a:rPr lang="en-US" altLang="zh-CN">
                  <a:latin typeface="Times New Roman" panose="02020603050405020304" charset="0"/>
                </a:rPr>
                <a:t>   1       0</a:t>
              </a:r>
              <a:endParaRPr lang="en-US" altLang="zh-CN">
                <a:latin typeface="Times New Roman" panose="02020603050405020304" charset="0"/>
              </a:endParaRPr>
            </a:p>
          </p:txBody>
        </p:sp>
        <p:sp>
          <p:nvSpPr>
            <p:cNvPr id="372762" name="文本框 372761"/>
            <p:cNvSpPr txBox="1"/>
            <p:nvPr/>
          </p:nvSpPr>
          <p:spPr>
            <a:xfrm>
              <a:off x="3356" y="1531"/>
              <a:ext cx="1448" cy="251"/>
            </a:xfrm>
            <a:prstGeom prst="rect">
              <a:avLst/>
            </a:prstGeom>
            <a:solidFill>
              <a:srgbClr val="FFFFCC">
                <a:alpha val="0"/>
              </a:srgbClr>
            </a:solidFill>
            <a:ln w="9525">
              <a:noFill/>
            </a:ln>
          </p:spPr>
          <p:txBody>
            <a:bodyPr>
              <a:spAutoFit/>
            </a:bodyPr>
            <a:p>
              <a:pPr algn="l">
                <a:spcBef>
                  <a:spcPct val="50000"/>
                </a:spcBef>
              </a:pPr>
              <a:r>
                <a:rPr lang="en-US" altLang="zh-CN" sz="2000">
                  <a:latin typeface="Times New Roman" panose="02020603050405020304" charset="0"/>
                </a:rPr>
                <a:t>  </a:t>
              </a:r>
              <a:r>
                <a:rPr lang="en-US" altLang="zh-CN">
                  <a:latin typeface="Times New Roman" panose="02020603050405020304" charset="0"/>
                </a:rPr>
                <a:t>1        1</a:t>
              </a:r>
              <a:r>
                <a:rPr lang="en-US" altLang="zh-CN" sz="1600">
                  <a:latin typeface="Times New Roman" panose="02020603050405020304" charset="0"/>
                </a:rPr>
                <a:t>   </a:t>
              </a:r>
              <a:r>
                <a:rPr lang="en-US" altLang="zh-CN" sz="2000">
                  <a:latin typeface="Times New Roman" panose="02020603050405020304" charset="0"/>
                </a:rPr>
                <a:t>   </a:t>
              </a:r>
              <a:r>
                <a:rPr lang="en-US" altLang="zh-CN">
                  <a:latin typeface="Times New Roman" panose="02020603050405020304" charset="0"/>
                </a:rPr>
                <a:t> 0       0</a:t>
              </a:r>
              <a:endParaRPr lang="en-US" altLang="zh-CN">
                <a:latin typeface="Times New Roman" panose="02020603050405020304" charset="0"/>
              </a:endParaRPr>
            </a:p>
          </p:txBody>
        </p:sp>
        <p:sp>
          <p:nvSpPr>
            <p:cNvPr id="372763" name="文本框 372762"/>
            <p:cNvSpPr txBox="1"/>
            <p:nvPr/>
          </p:nvSpPr>
          <p:spPr>
            <a:xfrm>
              <a:off x="3742" y="1035"/>
              <a:ext cx="1007" cy="251"/>
            </a:xfrm>
            <a:prstGeom prst="rect">
              <a:avLst/>
            </a:prstGeom>
            <a:solidFill>
              <a:srgbClr val="FFFFCC">
                <a:alpha val="0"/>
              </a:srgbClr>
            </a:solidFill>
            <a:ln w="9525">
              <a:noFill/>
            </a:ln>
          </p:spPr>
          <p:txBody>
            <a:bodyPr>
              <a:spAutoFit/>
            </a:bodyPr>
            <a:p>
              <a:pPr algn="l">
                <a:spcBef>
                  <a:spcPct val="50000"/>
                </a:spcBef>
              </a:pPr>
              <a:r>
                <a:rPr lang="en-US" altLang="zh-CN">
                  <a:latin typeface="Times New Roman" panose="02020603050405020304" charset="0"/>
                </a:rPr>
                <a:t> 0</a:t>
              </a:r>
              <a:r>
                <a:rPr lang="en-US" altLang="zh-CN" sz="1600">
                  <a:latin typeface="Times New Roman" panose="02020603050405020304" charset="0"/>
                </a:rPr>
                <a:t>   </a:t>
              </a:r>
              <a:r>
                <a:rPr lang="en-US" altLang="zh-CN" sz="2000">
                  <a:latin typeface="Times New Roman" panose="02020603050405020304" charset="0"/>
                </a:rPr>
                <a:t>  </a:t>
              </a:r>
              <a:r>
                <a:rPr lang="en-US" altLang="zh-CN">
                  <a:latin typeface="Times New Roman" panose="02020603050405020304" charset="0"/>
                </a:rPr>
                <a:t>   0       0</a:t>
              </a:r>
              <a:endParaRPr lang="en-US" altLang="zh-CN">
                <a:latin typeface="Times New Roman" panose="02020603050405020304" charset="0"/>
              </a:endParaRPr>
            </a:p>
          </p:txBody>
        </p:sp>
        <p:sp>
          <p:nvSpPr>
            <p:cNvPr id="372764" name="文本框 372763"/>
            <p:cNvSpPr txBox="1"/>
            <p:nvPr/>
          </p:nvSpPr>
          <p:spPr>
            <a:xfrm>
              <a:off x="3380" y="499"/>
              <a:ext cx="1448" cy="251"/>
            </a:xfrm>
            <a:prstGeom prst="rect">
              <a:avLst/>
            </a:prstGeom>
            <a:solidFill>
              <a:srgbClr val="FFFFCC">
                <a:alpha val="0"/>
              </a:srgbClr>
            </a:solidFill>
            <a:ln w="9525">
              <a:noFill/>
            </a:ln>
          </p:spPr>
          <p:txBody>
            <a:bodyPr>
              <a:spAutoFit/>
            </a:bodyPr>
            <a:p>
              <a:pPr algn="l">
                <a:spcBef>
                  <a:spcPct val="50000"/>
                </a:spcBef>
              </a:pPr>
              <a:r>
                <a:rPr lang="en-US" altLang="zh-CN" sz="2000">
                  <a:latin typeface="Times New Roman" panose="02020603050405020304" charset="0"/>
                </a:rPr>
                <a:t>  </a:t>
              </a:r>
              <a:r>
                <a:rPr lang="en-US" altLang="zh-CN">
                  <a:latin typeface="Times New Roman" panose="02020603050405020304" charset="0"/>
                </a:rPr>
                <a:t>0        0</a:t>
              </a:r>
              <a:r>
                <a:rPr lang="en-US" altLang="zh-CN" sz="1600">
                  <a:latin typeface="Times New Roman" panose="02020603050405020304" charset="0"/>
                </a:rPr>
                <a:t>   </a:t>
              </a:r>
              <a:r>
                <a:rPr lang="en-US" altLang="zh-CN" sz="2000">
                  <a:latin typeface="Times New Roman" panose="02020603050405020304" charset="0"/>
                </a:rPr>
                <a:t>  </a:t>
              </a:r>
              <a:r>
                <a:rPr lang="en-US" altLang="zh-CN">
                  <a:latin typeface="Times New Roman" panose="02020603050405020304" charset="0"/>
                </a:rPr>
                <a:t>  0       0</a:t>
              </a:r>
              <a:endParaRPr lang="en-US" altLang="zh-CN">
                <a:latin typeface="Times New Roman" panose="02020603050405020304" charset="0"/>
              </a:endParaRPr>
            </a:p>
          </p:txBody>
        </p:sp>
        <p:grpSp>
          <p:nvGrpSpPr>
            <p:cNvPr id="372765" name="组合 372764"/>
            <p:cNvGrpSpPr/>
            <p:nvPr/>
          </p:nvGrpSpPr>
          <p:grpSpPr>
            <a:xfrm>
              <a:off x="3380" y="523"/>
              <a:ext cx="1368" cy="264"/>
              <a:chOff x="504" y="2088"/>
              <a:chExt cx="1368" cy="264"/>
            </a:xfrm>
          </p:grpSpPr>
          <p:sp>
            <p:nvSpPr>
              <p:cNvPr id="372766" name="矩形 372765"/>
              <p:cNvSpPr/>
              <p:nvPr/>
            </p:nvSpPr>
            <p:spPr>
              <a:xfrm>
                <a:off x="504" y="2088"/>
                <a:ext cx="1368" cy="264"/>
              </a:xfrm>
              <a:prstGeom prst="rect">
                <a:avLst/>
              </a:prstGeom>
              <a:noFill/>
              <a:ln w="28575" cap="flat" cmpd="sng">
                <a:solidFill>
                  <a:srgbClr val="000099"/>
                </a:solidFill>
                <a:prstDash val="solid"/>
                <a:miter/>
                <a:headEnd type="none" w="med" len="med"/>
                <a:tailEnd type="none" w="med" len="med"/>
              </a:ln>
            </p:spPr>
            <p:txBody>
              <a:bodyPr/>
              <a:p>
                <a:endParaRPr lang="zh-CN" altLang="en-US"/>
              </a:p>
            </p:txBody>
          </p:sp>
          <p:sp>
            <p:nvSpPr>
              <p:cNvPr id="372767" name="直接连接符 372766"/>
              <p:cNvSpPr/>
              <p:nvPr/>
            </p:nvSpPr>
            <p:spPr>
              <a:xfrm>
                <a:off x="1184" y="2088"/>
                <a:ext cx="0" cy="256"/>
              </a:xfrm>
              <a:prstGeom prst="line">
                <a:avLst/>
              </a:prstGeom>
              <a:ln w="28575" cap="flat" cmpd="sng">
                <a:solidFill>
                  <a:srgbClr val="000099"/>
                </a:solidFill>
                <a:prstDash val="solid"/>
                <a:headEnd type="none" w="med" len="med"/>
                <a:tailEnd type="none" w="med" len="med"/>
              </a:ln>
            </p:spPr>
          </p:sp>
          <p:sp>
            <p:nvSpPr>
              <p:cNvPr id="372768" name="直接连接符 372767"/>
              <p:cNvSpPr/>
              <p:nvPr/>
            </p:nvSpPr>
            <p:spPr>
              <a:xfrm>
                <a:off x="1520" y="2096"/>
                <a:ext cx="0" cy="256"/>
              </a:xfrm>
              <a:prstGeom prst="line">
                <a:avLst/>
              </a:prstGeom>
              <a:ln w="28575" cap="flat" cmpd="sng">
                <a:solidFill>
                  <a:srgbClr val="000099"/>
                </a:solidFill>
                <a:prstDash val="solid"/>
                <a:headEnd type="none" w="med" len="med"/>
                <a:tailEnd type="none" w="med" len="med"/>
              </a:ln>
            </p:spPr>
          </p:sp>
          <p:sp>
            <p:nvSpPr>
              <p:cNvPr id="372769" name="直接连接符 372768"/>
              <p:cNvSpPr/>
              <p:nvPr/>
            </p:nvSpPr>
            <p:spPr>
              <a:xfrm>
                <a:off x="840" y="2096"/>
                <a:ext cx="0" cy="256"/>
              </a:xfrm>
              <a:prstGeom prst="line">
                <a:avLst/>
              </a:prstGeom>
              <a:ln w="28575" cap="flat" cmpd="sng">
                <a:solidFill>
                  <a:srgbClr val="000099"/>
                </a:solidFill>
                <a:prstDash val="solid"/>
                <a:headEnd type="none" w="med" len="med"/>
                <a:tailEnd type="none" w="med" len="med"/>
              </a:ln>
            </p:spPr>
          </p:sp>
        </p:grpSp>
        <p:grpSp>
          <p:nvGrpSpPr>
            <p:cNvPr id="372770" name="组合 372769"/>
            <p:cNvGrpSpPr/>
            <p:nvPr/>
          </p:nvGrpSpPr>
          <p:grpSpPr>
            <a:xfrm>
              <a:off x="3380" y="1027"/>
              <a:ext cx="1368" cy="264"/>
              <a:chOff x="504" y="2088"/>
              <a:chExt cx="1368" cy="264"/>
            </a:xfrm>
          </p:grpSpPr>
          <p:sp>
            <p:nvSpPr>
              <p:cNvPr id="372771" name="矩形 372770"/>
              <p:cNvSpPr/>
              <p:nvPr/>
            </p:nvSpPr>
            <p:spPr>
              <a:xfrm>
                <a:off x="504" y="2088"/>
                <a:ext cx="1368" cy="264"/>
              </a:xfrm>
              <a:prstGeom prst="rect">
                <a:avLst/>
              </a:prstGeom>
              <a:noFill/>
              <a:ln w="28575" cap="flat" cmpd="sng">
                <a:solidFill>
                  <a:srgbClr val="000099"/>
                </a:solidFill>
                <a:prstDash val="solid"/>
                <a:miter/>
                <a:headEnd type="none" w="med" len="med"/>
                <a:tailEnd type="none" w="med" len="med"/>
              </a:ln>
            </p:spPr>
            <p:txBody>
              <a:bodyPr/>
              <a:p>
                <a:endParaRPr lang="zh-CN" altLang="en-US"/>
              </a:p>
            </p:txBody>
          </p:sp>
          <p:sp>
            <p:nvSpPr>
              <p:cNvPr id="372772" name="直接连接符 372771"/>
              <p:cNvSpPr/>
              <p:nvPr/>
            </p:nvSpPr>
            <p:spPr>
              <a:xfrm>
                <a:off x="1184" y="2088"/>
                <a:ext cx="0" cy="256"/>
              </a:xfrm>
              <a:prstGeom prst="line">
                <a:avLst/>
              </a:prstGeom>
              <a:ln w="28575" cap="flat" cmpd="sng">
                <a:solidFill>
                  <a:srgbClr val="000099"/>
                </a:solidFill>
                <a:prstDash val="solid"/>
                <a:headEnd type="none" w="med" len="med"/>
                <a:tailEnd type="none" w="med" len="med"/>
              </a:ln>
            </p:spPr>
          </p:sp>
          <p:sp>
            <p:nvSpPr>
              <p:cNvPr id="372773" name="直接连接符 372772"/>
              <p:cNvSpPr/>
              <p:nvPr/>
            </p:nvSpPr>
            <p:spPr>
              <a:xfrm>
                <a:off x="1520" y="2096"/>
                <a:ext cx="0" cy="256"/>
              </a:xfrm>
              <a:prstGeom prst="line">
                <a:avLst/>
              </a:prstGeom>
              <a:ln w="28575" cap="flat" cmpd="sng">
                <a:solidFill>
                  <a:srgbClr val="000099"/>
                </a:solidFill>
                <a:prstDash val="solid"/>
                <a:headEnd type="none" w="med" len="med"/>
                <a:tailEnd type="none" w="med" len="med"/>
              </a:ln>
            </p:spPr>
          </p:sp>
          <p:sp>
            <p:nvSpPr>
              <p:cNvPr id="372774" name="直接连接符 372773"/>
              <p:cNvSpPr/>
              <p:nvPr/>
            </p:nvSpPr>
            <p:spPr>
              <a:xfrm>
                <a:off x="840" y="2096"/>
                <a:ext cx="0" cy="256"/>
              </a:xfrm>
              <a:prstGeom prst="line">
                <a:avLst/>
              </a:prstGeom>
              <a:ln w="28575" cap="flat" cmpd="sng">
                <a:solidFill>
                  <a:srgbClr val="000099"/>
                </a:solidFill>
                <a:prstDash val="solid"/>
                <a:headEnd type="none" w="med" len="med"/>
                <a:tailEnd type="none" w="med" len="med"/>
              </a:ln>
            </p:spPr>
          </p:sp>
        </p:grpSp>
        <p:grpSp>
          <p:nvGrpSpPr>
            <p:cNvPr id="372775" name="组合 372774"/>
            <p:cNvGrpSpPr/>
            <p:nvPr/>
          </p:nvGrpSpPr>
          <p:grpSpPr>
            <a:xfrm>
              <a:off x="3380" y="1547"/>
              <a:ext cx="1368" cy="264"/>
              <a:chOff x="504" y="2088"/>
              <a:chExt cx="1368" cy="264"/>
            </a:xfrm>
          </p:grpSpPr>
          <p:sp>
            <p:nvSpPr>
              <p:cNvPr id="372776" name="矩形 372775"/>
              <p:cNvSpPr/>
              <p:nvPr/>
            </p:nvSpPr>
            <p:spPr>
              <a:xfrm>
                <a:off x="504" y="2088"/>
                <a:ext cx="1368" cy="264"/>
              </a:xfrm>
              <a:prstGeom prst="rect">
                <a:avLst/>
              </a:prstGeom>
              <a:noFill/>
              <a:ln w="28575" cap="flat" cmpd="sng">
                <a:solidFill>
                  <a:srgbClr val="000099"/>
                </a:solidFill>
                <a:prstDash val="solid"/>
                <a:miter/>
                <a:headEnd type="none" w="med" len="med"/>
                <a:tailEnd type="none" w="med" len="med"/>
              </a:ln>
            </p:spPr>
            <p:txBody>
              <a:bodyPr/>
              <a:p>
                <a:endParaRPr lang="zh-CN" altLang="en-US"/>
              </a:p>
            </p:txBody>
          </p:sp>
          <p:sp>
            <p:nvSpPr>
              <p:cNvPr id="372777" name="直接连接符 372776"/>
              <p:cNvSpPr/>
              <p:nvPr/>
            </p:nvSpPr>
            <p:spPr>
              <a:xfrm>
                <a:off x="1184" y="2088"/>
                <a:ext cx="0" cy="256"/>
              </a:xfrm>
              <a:prstGeom prst="line">
                <a:avLst/>
              </a:prstGeom>
              <a:ln w="28575" cap="flat" cmpd="sng">
                <a:solidFill>
                  <a:srgbClr val="000099"/>
                </a:solidFill>
                <a:prstDash val="solid"/>
                <a:headEnd type="none" w="med" len="med"/>
                <a:tailEnd type="none" w="med" len="med"/>
              </a:ln>
            </p:spPr>
          </p:sp>
          <p:sp>
            <p:nvSpPr>
              <p:cNvPr id="372778" name="直接连接符 372777"/>
              <p:cNvSpPr/>
              <p:nvPr/>
            </p:nvSpPr>
            <p:spPr>
              <a:xfrm>
                <a:off x="1520" y="2096"/>
                <a:ext cx="0" cy="256"/>
              </a:xfrm>
              <a:prstGeom prst="line">
                <a:avLst/>
              </a:prstGeom>
              <a:ln w="28575" cap="flat" cmpd="sng">
                <a:solidFill>
                  <a:srgbClr val="000099"/>
                </a:solidFill>
                <a:prstDash val="solid"/>
                <a:headEnd type="none" w="med" len="med"/>
                <a:tailEnd type="none" w="med" len="med"/>
              </a:ln>
            </p:spPr>
          </p:sp>
          <p:sp>
            <p:nvSpPr>
              <p:cNvPr id="372779" name="直接连接符 372778"/>
              <p:cNvSpPr/>
              <p:nvPr/>
            </p:nvSpPr>
            <p:spPr>
              <a:xfrm>
                <a:off x="840" y="2096"/>
                <a:ext cx="0" cy="256"/>
              </a:xfrm>
              <a:prstGeom prst="line">
                <a:avLst/>
              </a:prstGeom>
              <a:ln w="28575" cap="flat" cmpd="sng">
                <a:solidFill>
                  <a:srgbClr val="000099"/>
                </a:solidFill>
                <a:prstDash val="solid"/>
                <a:headEnd type="none" w="med" len="med"/>
                <a:tailEnd type="none" w="med" len="med"/>
              </a:ln>
            </p:spPr>
          </p:sp>
        </p:grpSp>
        <p:grpSp>
          <p:nvGrpSpPr>
            <p:cNvPr id="372780" name="组合 372779"/>
            <p:cNvGrpSpPr/>
            <p:nvPr/>
          </p:nvGrpSpPr>
          <p:grpSpPr>
            <a:xfrm>
              <a:off x="3404" y="2035"/>
              <a:ext cx="1368" cy="264"/>
              <a:chOff x="504" y="2088"/>
              <a:chExt cx="1368" cy="264"/>
            </a:xfrm>
          </p:grpSpPr>
          <p:sp>
            <p:nvSpPr>
              <p:cNvPr id="372781" name="矩形 372780"/>
              <p:cNvSpPr/>
              <p:nvPr/>
            </p:nvSpPr>
            <p:spPr>
              <a:xfrm>
                <a:off x="504" y="2088"/>
                <a:ext cx="1368" cy="264"/>
              </a:xfrm>
              <a:prstGeom prst="rect">
                <a:avLst/>
              </a:prstGeom>
              <a:noFill/>
              <a:ln w="28575" cap="flat" cmpd="sng">
                <a:solidFill>
                  <a:srgbClr val="000099"/>
                </a:solidFill>
                <a:prstDash val="solid"/>
                <a:miter/>
                <a:headEnd type="none" w="med" len="med"/>
                <a:tailEnd type="none" w="med" len="med"/>
              </a:ln>
            </p:spPr>
            <p:txBody>
              <a:bodyPr/>
              <a:p>
                <a:endParaRPr lang="zh-CN" altLang="en-US"/>
              </a:p>
            </p:txBody>
          </p:sp>
          <p:sp>
            <p:nvSpPr>
              <p:cNvPr id="372782" name="直接连接符 372781"/>
              <p:cNvSpPr/>
              <p:nvPr/>
            </p:nvSpPr>
            <p:spPr>
              <a:xfrm>
                <a:off x="1184" y="2088"/>
                <a:ext cx="0" cy="256"/>
              </a:xfrm>
              <a:prstGeom prst="line">
                <a:avLst/>
              </a:prstGeom>
              <a:ln w="28575" cap="flat" cmpd="sng">
                <a:solidFill>
                  <a:srgbClr val="000099"/>
                </a:solidFill>
                <a:prstDash val="solid"/>
                <a:headEnd type="none" w="med" len="med"/>
                <a:tailEnd type="none" w="med" len="med"/>
              </a:ln>
            </p:spPr>
          </p:sp>
          <p:sp>
            <p:nvSpPr>
              <p:cNvPr id="372783" name="直接连接符 372782"/>
              <p:cNvSpPr/>
              <p:nvPr/>
            </p:nvSpPr>
            <p:spPr>
              <a:xfrm>
                <a:off x="1520" y="2096"/>
                <a:ext cx="0" cy="256"/>
              </a:xfrm>
              <a:prstGeom prst="line">
                <a:avLst/>
              </a:prstGeom>
              <a:ln w="28575" cap="flat" cmpd="sng">
                <a:solidFill>
                  <a:srgbClr val="000099"/>
                </a:solidFill>
                <a:prstDash val="solid"/>
                <a:headEnd type="none" w="med" len="med"/>
                <a:tailEnd type="none" w="med" len="med"/>
              </a:ln>
            </p:spPr>
          </p:sp>
          <p:sp>
            <p:nvSpPr>
              <p:cNvPr id="372784" name="直接连接符 372783"/>
              <p:cNvSpPr/>
              <p:nvPr/>
            </p:nvSpPr>
            <p:spPr>
              <a:xfrm>
                <a:off x="840" y="2096"/>
                <a:ext cx="0" cy="256"/>
              </a:xfrm>
              <a:prstGeom prst="line">
                <a:avLst/>
              </a:prstGeom>
              <a:ln w="28575" cap="flat" cmpd="sng">
                <a:solidFill>
                  <a:srgbClr val="000099"/>
                </a:solidFill>
                <a:prstDash val="solid"/>
                <a:headEnd type="none" w="med" len="med"/>
                <a:tailEnd type="none" w="med" len="med"/>
              </a:ln>
            </p:spPr>
          </p:sp>
        </p:grpSp>
        <p:sp>
          <p:nvSpPr>
            <p:cNvPr id="372785" name="文本框 372784"/>
            <p:cNvSpPr txBox="1"/>
            <p:nvPr/>
          </p:nvSpPr>
          <p:spPr>
            <a:xfrm>
              <a:off x="3364" y="275"/>
              <a:ext cx="1534" cy="250"/>
            </a:xfrm>
            <a:prstGeom prst="rect">
              <a:avLst/>
            </a:prstGeom>
            <a:noFill/>
            <a:ln w="9525">
              <a:noFill/>
            </a:ln>
          </p:spPr>
          <p:txBody>
            <a:bodyPr>
              <a:spAutoFit/>
            </a:bodyPr>
            <a:p>
              <a:pPr algn="l">
                <a:spcBef>
                  <a:spcPct val="50000"/>
                </a:spcBef>
              </a:pPr>
              <a:r>
                <a:rPr lang="en-US" altLang="zh-CN" sz="2000">
                  <a:solidFill>
                    <a:srgbClr val="000099"/>
                  </a:solidFill>
                  <a:latin typeface="Times New Roman" panose="02020603050405020304" charset="0"/>
                  <a:ea typeface="黑体" panose="02010609060101010101" pitchFamily="49" charset="-122"/>
                </a:rPr>
                <a:t>FF</a:t>
              </a:r>
              <a:r>
                <a:rPr lang="en-US" altLang="zh-CN" sz="2000" baseline="-25000">
                  <a:solidFill>
                    <a:srgbClr val="000099"/>
                  </a:solidFill>
                  <a:latin typeface="Times New Roman" panose="02020603050405020304" charset="0"/>
                  <a:ea typeface="黑体" panose="02010609060101010101" pitchFamily="49" charset="-122"/>
                </a:rPr>
                <a:t>0 </a:t>
              </a:r>
              <a:r>
                <a:rPr lang="en-US" altLang="zh-CN" sz="2000">
                  <a:solidFill>
                    <a:srgbClr val="000099"/>
                  </a:solidFill>
                  <a:latin typeface="Times New Roman" panose="02020603050405020304" charset="0"/>
                  <a:ea typeface="黑体" panose="02010609060101010101" pitchFamily="49" charset="-122"/>
                </a:rPr>
                <a:t>  FF</a:t>
              </a:r>
              <a:r>
                <a:rPr lang="en-US" altLang="zh-CN" sz="2000" baseline="-25000">
                  <a:solidFill>
                    <a:srgbClr val="000099"/>
                  </a:solidFill>
                  <a:latin typeface="Times New Roman" panose="02020603050405020304" charset="0"/>
                  <a:ea typeface="黑体" panose="02010609060101010101" pitchFamily="49" charset="-122"/>
                </a:rPr>
                <a:t>1  </a:t>
              </a:r>
              <a:r>
                <a:rPr lang="en-US" altLang="zh-CN" sz="2000">
                  <a:solidFill>
                    <a:srgbClr val="000099"/>
                  </a:solidFill>
                  <a:latin typeface="Times New Roman" panose="02020603050405020304" charset="0"/>
                  <a:ea typeface="黑体" panose="02010609060101010101" pitchFamily="49" charset="-122"/>
                </a:rPr>
                <a:t> FF</a:t>
              </a:r>
              <a:r>
                <a:rPr lang="en-US" altLang="zh-CN" sz="2000" baseline="-25000">
                  <a:solidFill>
                    <a:srgbClr val="000099"/>
                  </a:solidFill>
                  <a:latin typeface="Times New Roman" panose="02020603050405020304" charset="0"/>
                  <a:ea typeface="黑体" panose="02010609060101010101" pitchFamily="49" charset="-122"/>
                </a:rPr>
                <a:t>2</a:t>
              </a:r>
              <a:r>
                <a:rPr lang="en-US" altLang="zh-CN" sz="2000">
                  <a:solidFill>
                    <a:srgbClr val="000099"/>
                  </a:solidFill>
                  <a:latin typeface="Times New Roman" panose="02020603050405020304" charset="0"/>
                  <a:ea typeface="黑体" panose="02010609060101010101" pitchFamily="49" charset="-122"/>
                </a:rPr>
                <a:t>   FF</a:t>
              </a:r>
              <a:r>
                <a:rPr lang="en-US" altLang="zh-CN" sz="2000" baseline="-25000">
                  <a:solidFill>
                    <a:srgbClr val="000099"/>
                  </a:solidFill>
                  <a:latin typeface="Times New Roman" panose="02020603050405020304" charset="0"/>
                  <a:ea typeface="黑体" panose="02010609060101010101" pitchFamily="49" charset="-122"/>
                </a:rPr>
                <a:t>3</a:t>
              </a:r>
              <a:endParaRPr lang="en-US" altLang="zh-CN" sz="2000" baseline="-25000">
                <a:solidFill>
                  <a:srgbClr val="000099"/>
                </a:solidFill>
                <a:latin typeface="Times New Roman" panose="02020603050405020304" charset="0"/>
                <a:ea typeface="黑体" panose="02010609060101010101" pitchFamily="49" charset="-122"/>
              </a:endParaRPr>
            </a:p>
          </p:txBody>
        </p:sp>
        <p:grpSp>
          <p:nvGrpSpPr>
            <p:cNvPr id="372786" name="组合 372785"/>
            <p:cNvGrpSpPr/>
            <p:nvPr/>
          </p:nvGrpSpPr>
          <p:grpSpPr>
            <a:xfrm>
              <a:off x="3396" y="2515"/>
              <a:ext cx="1368" cy="264"/>
              <a:chOff x="504" y="2088"/>
              <a:chExt cx="1368" cy="264"/>
            </a:xfrm>
          </p:grpSpPr>
          <p:sp>
            <p:nvSpPr>
              <p:cNvPr id="372787" name="矩形 372786"/>
              <p:cNvSpPr/>
              <p:nvPr/>
            </p:nvSpPr>
            <p:spPr>
              <a:xfrm>
                <a:off x="504" y="2088"/>
                <a:ext cx="1368" cy="264"/>
              </a:xfrm>
              <a:prstGeom prst="rect">
                <a:avLst/>
              </a:prstGeom>
              <a:noFill/>
              <a:ln w="28575" cap="flat" cmpd="sng">
                <a:solidFill>
                  <a:srgbClr val="000099"/>
                </a:solidFill>
                <a:prstDash val="solid"/>
                <a:miter/>
                <a:headEnd type="none" w="med" len="med"/>
                <a:tailEnd type="none" w="med" len="med"/>
              </a:ln>
            </p:spPr>
            <p:txBody>
              <a:bodyPr/>
              <a:p>
                <a:endParaRPr lang="zh-CN" altLang="en-US"/>
              </a:p>
            </p:txBody>
          </p:sp>
          <p:sp>
            <p:nvSpPr>
              <p:cNvPr id="372788" name="直接连接符 372787"/>
              <p:cNvSpPr/>
              <p:nvPr/>
            </p:nvSpPr>
            <p:spPr>
              <a:xfrm>
                <a:off x="1184" y="2088"/>
                <a:ext cx="0" cy="256"/>
              </a:xfrm>
              <a:prstGeom prst="line">
                <a:avLst/>
              </a:prstGeom>
              <a:ln w="28575" cap="flat" cmpd="sng">
                <a:solidFill>
                  <a:srgbClr val="000099"/>
                </a:solidFill>
                <a:prstDash val="solid"/>
                <a:headEnd type="none" w="med" len="med"/>
                <a:tailEnd type="none" w="med" len="med"/>
              </a:ln>
            </p:spPr>
          </p:sp>
          <p:sp>
            <p:nvSpPr>
              <p:cNvPr id="372789" name="直接连接符 372788"/>
              <p:cNvSpPr/>
              <p:nvPr/>
            </p:nvSpPr>
            <p:spPr>
              <a:xfrm>
                <a:off x="1520" y="2096"/>
                <a:ext cx="0" cy="256"/>
              </a:xfrm>
              <a:prstGeom prst="line">
                <a:avLst/>
              </a:prstGeom>
              <a:ln w="28575" cap="flat" cmpd="sng">
                <a:solidFill>
                  <a:srgbClr val="000099"/>
                </a:solidFill>
                <a:prstDash val="solid"/>
                <a:headEnd type="none" w="med" len="med"/>
                <a:tailEnd type="none" w="med" len="med"/>
              </a:ln>
            </p:spPr>
          </p:sp>
          <p:sp>
            <p:nvSpPr>
              <p:cNvPr id="372790" name="直接连接符 372789"/>
              <p:cNvSpPr/>
              <p:nvPr/>
            </p:nvSpPr>
            <p:spPr>
              <a:xfrm>
                <a:off x="840" y="2096"/>
                <a:ext cx="0" cy="256"/>
              </a:xfrm>
              <a:prstGeom prst="line">
                <a:avLst/>
              </a:prstGeom>
              <a:ln w="28575" cap="flat" cmpd="sng">
                <a:solidFill>
                  <a:srgbClr val="000099"/>
                </a:solidFill>
                <a:prstDash val="solid"/>
                <a:headEnd type="none" w="med" len="med"/>
                <a:tailEnd type="none" w="med" len="med"/>
              </a:ln>
            </p:spPr>
          </p:sp>
        </p:grpSp>
        <p:sp>
          <p:nvSpPr>
            <p:cNvPr id="372791" name="文本框 372790"/>
            <p:cNvSpPr txBox="1"/>
            <p:nvPr/>
          </p:nvSpPr>
          <p:spPr>
            <a:xfrm>
              <a:off x="2245" y="1026"/>
              <a:ext cx="800" cy="288"/>
            </a:xfrm>
            <a:prstGeom prst="rect">
              <a:avLst/>
            </a:prstGeom>
            <a:noFill/>
            <a:ln w="9525">
              <a:noFill/>
            </a:ln>
          </p:spPr>
          <p:txBody>
            <a:bodyPr>
              <a:spAutoFit/>
            </a:bodyPr>
            <a:p>
              <a:pPr algn="l">
                <a:spcBef>
                  <a:spcPct val="50000"/>
                </a:spcBef>
              </a:pPr>
              <a:r>
                <a:rPr lang="en-US" altLang="zh-CN" dirty="0">
                  <a:solidFill>
                    <a:srgbClr val="000099"/>
                  </a:solidFill>
                  <a:latin typeface="Times New Roman" panose="02020603050405020304" charset="0"/>
                  <a:ea typeface="楷体_GB2312" pitchFamily="49" charset="-122"/>
                </a:rPr>
                <a:t>1CP </a:t>
              </a:r>
              <a:r>
                <a:rPr lang="zh-CN" altLang="en-US" dirty="0">
                  <a:solidFill>
                    <a:srgbClr val="000099"/>
                  </a:solidFill>
                  <a:latin typeface="Times New Roman" panose="02020603050405020304" charset="0"/>
                  <a:ea typeface="楷体_GB2312" pitchFamily="49" charset="-122"/>
                </a:rPr>
                <a:t>后</a:t>
              </a:r>
              <a:endParaRPr lang="zh-CN" altLang="en-US" dirty="0">
                <a:solidFill>
                  <a:srgbClr val="000099"/>
                </a:solidFill>
                <a:latin typeface="Times New Roman" panose="02020603050405020304" charset="0"/>
                <a:ea typeface="楷体_GB2312" pitchFamily="49" charset="-122"/>
              </a:endParaRPr>
            </a:p>
          </p:txBody>
        </p:sp>
        <p:sp>
          <p:nvSpPr>
            <p:cNvPr id="372792" name="文本框 372791"/>
            <p:cNvSpPr txBox="1"/>
            <p:nvPr/>
          </p:nvSpPr>
          <p:spPr>
            <a:xfrm>
              <a:off x="2245" y="1530"/>
              <a:ext cx="862" cy="288"/>
            </a:xfrm>
            <a:prstGeom prst="rect">
              <a:avLst/>
            </a:prstGeom>
            <a:noFill/>
            <a:ln w="9525">
              <a:noFill/>
            </a:ln>
          </p:spPr>
          <p:txBody>
            <a:bodyPr>
              <a:spAutoFit/>
            </a:bodyPr>
            <a:p>
              <a:pPr algn="l">
                <a:spcBef>
                  <a:spcPct val="50000"/>
                </a:spcBef>
              </a:pPr>
              <a:r>
                <a:rPr lang="en-US" altLang="zh-CN" dirty="0">
                  <a:solidFill>
                    <a:srgbClr val="000099"/>
                  </a:solidFill>
                  <a:latin typeface="Times New Roman" panose="02020603050405020304" charset="0"/>
                  <a:ea typeface="楷体_GB2312" pitchFamily="49" charset="-122"/>
                </a:rPr>
                <a:t>2CP </a:t>
              </a:r>
              <a:r>
                <a:rPr lang="zh-CN" altLang="en-US" dirty="0">
                  <a:solidFill>
                    <a:srgbClr val="000099"/>
                  </a:solidFill>
                  <a:latin typeface="Times New Roman" panose="02020603050405020304" charset="0"/>
                  <a:ea typeface="楷体_GB2312" pitchFamily="49" charset="-122"/>
                </a:rPr>
                <a:t>后</a:t>
              </a:r>
              <a:endParaRPr lang="zh-CN" altLang="en-US" dirty="0">
                <a:solidFill>
                  <a:srgbClr val="000099"/>
                </a:solidFill>
                <a:latin typeface="Times New Roman" panose="02020603050405020304" charset="0"/>
                <a:ea typeface="楷体_GB2312" pitchFamily="49" charset="-122"/>
              </a:endParaRPr>
            </a:p>
          </p:txBody>
        </p:sp>
        <p:sp>
          <p:nvSpPr>
            <p:cNvPr id="372793" name="文本框 372792"/>
            <p:cNvSpPr txBox="1"/>
            <p:nvPr/>
          </p:nvSpPr>
          <p:spPr>
            <a:xfrm>
              <a:off x="2245" y="1994"/>
              <a:ext cx="739" cy="288"/>
            </a:xfrm>
            <a:prstGeom prst="rect">
              <a:avLst/>
            </a:prstGeom>
            <a:noFill/>
            <a:ln w="9525">
              <a:noFill/>
            </a:ln>
          </p:spPr>
          <p:txBody>
            <a:bodyPr>
              <a:spAutoFit/>
            </a:bodyPr>
            <a:p>
              <a:pPr algn="l">
                <a:spcBef>
                  <a:spcPct val="50000"/>
                </a:spcBef>
              </a:pPr>
              <a:r>
                <a:rPr lang="en-US" altLang="zh-CN" dirty="0">
                  <a:solidFill>
                    <a:srgbClr val="000099"/>
                  </a:solidFill>
                  <a:latin typeface="Times New Roman" panose="02020603050405020304" charset="0"/>
                  <a:ea typeface="楷体_GB2312" pitchFamily="49" charset="-122"/>
                </a:rPr>
                <a:t>3CP </a:t>
              </a:r>
              <a:r>
                <a:rPr lang="zh-CN" altLang="en-US" dirty="0">
                  <a:solidFill>
                    <a:srgbClr val="000099"/>
                  </a:solidFill>
                  <a:latin typeface="Times New Roman" panose="02020603050405020304" charset="0"/>
                  <a:ea typeface="楷体_GB2312" pitchFamily="49" charset="-122"/>
                </a:rPr>
                <a:t>后</a:t>
              </a:r>
              <a:endParaRPr lang="zh-CN" altLang="en-US" dirty="0">
                <a:solidFill>
                  <a:srgbClr val="000099"/>
                </a:solidFill>
                <a:latin typeface="Times New Roman" panose="02020603050405020304" charset="0"/>
                <a:ea typeface="楷体_GB2312" pitchFamily="49" charset="-122"/>
              </a:endParaRPr>
            </a:p>
          </p:txBody>
        </p:sp>
        <p:sp>
          <p:nvSpPr>
            <p:cNvPr id="372794" name="文本框 372793"/>
            <p:cNvSpPr txBox="1"/>
            <p:nvPr/>
          </p:nvSpPr>
          <p:spPr>
            <a:xfrm>
              <a:off x="2245" y="2498"/>
              <a:ext cx="824" cy="288"/>
            </a:xfrm>
            <a:prstGeom prst="rect">
              <a:avLst/>
            </a:prstGeom>
            <a:noFill/>
            <a:ln w="9525">
              <a:noFill/>
            </a:ln>
          </p:spPr>
          <p:txBody>
            <a:bodyPr>
              <a:spAutoFit/>
            </a:bodyPr>
            <a:p>
              <a:pPr algn="l">
                <a:spcBef>
                  <a:spcPct val="50000"/>
                </a:spcBef>
              </a:pPr>
              <a:r>
                <a:rPr lang="en-US" altLang="zh-CN" dirty="0">
                  <a:solidFill>
                    <a:srgbClr val="000099"/>
                  </a:solidFill>
                  <a:latin typeface="Times New Roman" panose="02020603050405020304" charset="0"/>
                  <a:ea typeface="楷体_GB2312" pitchFamily="49" charset="-122"/>
                </a:rPr>
                <a:t>4CP </a:t>
              </a:r>
              <a:r>
                <a:rPr lang="zh-CN" altLang="en-US" dirty="0">
                  <a:solidFill>
                    <a:srgbClr val="000099"/>
                  </a:solidFill>
                  <a:latin typeface="Times New Roman" panose="02020603050405020304" charset="0"/>
                  <a:ea typeface="楷体_GB2312" pitchFamily="49" charset="-122"/>
                </a:rPr>
                <a:t>后</a:t>
              </a:r>
              <a:endParaRPr lang="zh-CN" altLang="en-US" dirty="0">
                <a:solidFill>
                  <a:srgbClr val="000099"/>
                </a:solidFill>
                <a:latin typeface="Times New Roman" panose="02020603050405020304" charset="0"/>
                <a:ea typeface="楷体_GB2312" pitchFamily="49" charset="-122"/>
              </a:endParaRPr>
            </a:p>
          </p:txBody>
        </p:sp>
        <p:sp>
          <p:nvSpPr>
            <p:cNvPr id="372795" name="直接连接符 372794"/>
            <p:cNvSpPr/>
            <p:nvPr/>
          </p:nvSpPr>
          <p:spPr>
            <a:xfrm>
              <a:off x="3588" y="795"/>
              <a:ext cx="320" cy="176"/>
            </a:xfrm>
            <a:prstGeom prst="line">
              <a:avLst/>
            </a:prstGeom>
            <a:ln w="38100" cap="flat" cmpd="sng">
              <a:solidFill>
                <a:srgbClr val="FF33CC"/>
              </a:solidFill>
              <a:prstDash val="solid"/>
              <a:headEnd type="none" w="med" len="med"/>
              <a:tailEnd type="triangle" w="med" len="med"/>
            </a:ln>
          </p:spPr>
        </p:sp>
        <p:sp>
          <p:nvSpPr>
            <p:cNvPr id="372796" name="直接连接符 372795"/>
            <p:cNvSpPr/>
            <p:nvPr/>
          </p:nvSpPr>
          <p:spPr>
            <a:xfrm>
              <a:off x="3956" y="819"/>
              <a:ext cx="320" cy="176"/>
            </a:xfrm>
            <a:prstGeom prst="line">
              <a:avLst/>
            </a:prstGeom>
            <a:ln w="38100" cap="flat" cmpd="sng">
              <a:solidFill>
                <a:srgbClr val="FF33CC"/>
              </a:solidFill>
              <a:prstDash val="solid"/>
              <a:headEnd type="none" w="med" len="med"/>
              <a:tailEnd type="triangle" w="med" len="med"/>
            </a:ln>
          </p:spPr>
        </p:sp>
        <p:sp>
          <p:nvSpPr>
            <p:cNvPr id="372797" name="直接连接符 372796"/>
            <p:cNvSpPr/>
            <p:nvPr/>
          </p:nvSpPr>
          <p:spPr>
            <a:xfrm>
              <a:off x="4300" y="803"/>
              <a:ext cx="320" cy="176"/>
            </a:xfrm>
            <a:prstGeom prst="line">
              <a:avLst/>
            </a:prstGeom>
            <a:ln w="38100" cap="flat" cmpd="sng">
              <a:solidFill>
                <a:srgbClr val="FF33CC"/>
              </a:solidFill>
              <a:prstDash val="solid"/>
              <a:headEnd type="none" w="med" len="med"/>
              <a:tailEnd type="triangle" w="med" len="med"/>
            </a:ln>
          </p:spPr>
        </p:sp>
        <p:sp>
          <p:nvSpPr>
            <p:cNvPr id="372798" name="直接连接符 372797"/>
            <p:cNvSpPr/>
            <p:nvPr/>
          </p:nvSpPr>
          <p:spPr>
            <a:xfrm>
              <a:off x="3532" y="1331"/>
              <a:ext cx="320" cy="176"/>
            </a:xfrm>
            <a:prstGeom prst="line">
              <a:avLst/>
            </a:prstGeom>
            <a:ln w="38100" cap="flat" cmpd="sng">
              <a:solidFill>
                <a:srgbClr val="FF33CC"/>
              </a:solidFill>
              <a:prstDash val="solid"/>
              <a:headEnd type="none" w="med" len="med"/>
              <a:tailEnd type="triangle" w="med" len="med"/>
            </a:ln>
          </p:spPr>
        </p:sp>
        <p:sp>
          <p:nvSpPr>
            <p:cNvPr id="372799" name="直接连接符 372798"/>
            <p:cNvSpPr/>
            <p:nvPr/>
          </p:nvSpPr>
          <p:spPr>
            <a:xfrm>
              <a:off x="3916" y="1331"/>
              <a:ext cx="320" cy="176"/>
            </a:xfrm>
            <a:prstGeom prst="line">
              <a:avLst/>
            </a:prstGeom>
            <a:ln w="38100" cap="flat" cmpd="sng">
              <a:solidFill>
                <a:srgbClr val="FF33CC"/>
              </a:solidFill>
              <a:prstDash val="solid"/>
              <a:headEnd type="none" w="med" len="med"/>
              <a:tailEnd type="triangle" w="med" len="med"/>
            </a:ln>
          </p:spPr>
        </p:sp>
        <p:sp>
          <p:nvSpPr>
            <p:cNvPr id="372800" name="直接连接符 372799"/>
            <p:cNvSpPr/>
            <p:nvPr/>
          </p:nvSpPr>
          <p:spPr>
            <a:xfrm>
              <a:off x="4284" y="1331"/>
              <a:ext cx="320" cy="176"/>
            </a:xfrm>
            <a:prstGeom prst="line">
              <a:avLst/>
            </a:prstGeom>
            <a:ln w="38100" cap="flat" cmpd="sng">
              <a:solidFill>
                <a:srgbClr val="FF33CC"/>
              </a:solidFill>
              <a:prstDash val="solid"/>
              <a:headEnd type="none" w="med" len="med"/>
              <a:tailEnd type="triangle" w="med" len="med"/>
            </a:ln>
          </p:spPr>
        </p:sp>
        <p:sp>
          <p:nvSpPr>
            <p:cNvPr id="372801" name="直接连接符 372800"/>
            <p:cNvSpPr/>
            <p:nvPr/>
          </p:nvSpPr>
          <p:spPr>
            <a:xfrm>
              <a:off x="3548" y="1827"/>
              <a:ext cx="320" cy="176"/>
            </a:xfrm>
            <a:prstGeom prst="line">
              <a:avLst/>
            </a:prstGeom>
            <a:ln w="38100" cap="flat" cmpd="sng">
              <a:solidFill>
                <a:srgbClr val="FF33CC"/>
              </a:solidFill>
              <a:prstDash val="solid"/>
              <a:headEnd type="none" w="med" len="med"/>
              <a:tailEnd type="triangle" w="med" len="med"/>
            </a:ln>
          </p:spPr>
        </p:sp>
        <p:sp>
          <p:nvSpPr>
            <p:cNvPr id="372802" name="直接连接符 372801"/>
            <p:cNvSpPr/>
            <p:nvPr/>
          </p:nvSpPr>
          <p:spPr>
            <a:xfrm>
              <a:off x="3964" y="1835"/>
              <a:ext cx="320" cy="176"/>
            </a:xfrm>
            <a:prstGeom prst="line">
              <a:avLst/>
            </a:prstGeom>
            <a:ln w="38100" cap="flat" cmpd="sng">
              <a:solidFill>
                <a:srgbClr val="FF33CC"/>
              </a:solidFill>
              <a:prstDash val="solid"/>
              <a:headEnd type="none" w="med" len="med"/>
              <a:tailEnd type="triangle" w="med" len="med"/>
            </a:ln>
          </p:spPr>
        </p:sp>
        <p:sp>
          <p:nvSpPr>
            <p:cNvPr id="372803" name="直接连接符 372802"/>
            <p:cNvSpPr/>
            <p:nvPr/>
          </p:nvSpPr>
          <p:spPr>
            <a:xfrm>
              <a:off x="4284" y="1827"/>
              <a:ext cx="320" cy="176"/>
            </a:xfrm>
            <a:prstGeom prst="line">
              <a:avLst/>
            </a:prstGeom>
            <a:ln w="38100" cap="flat" cmpd="sng">
              <a:solidFill>
                <a:srgbClr val="FF33CC"/>
              </a:solidFill>
              <a:prstDash val="solid"/>
              <a:headEnd type="none" w="med" len="med"/>
              <a:tailEnd type="triangle" w="med" len="med"/>
            </a:ln>
          </p:spPr>
        </p:sp>
        <p:sp>
          <p:nvSpPr>
            <p:cNvPr id="372804" name="直接连接符 372803"/>
            <p:cNvSpPr/>
            <p:nvPr/>
          </p:nvSpPr>
          <p:spPr>
            <a:xfrm>
              <a:off x="3596" y="2315"/>
              <a:ext cx="320" cy="176"/>
            </a:xfrm>
            <a:prstGeom prst="line">
              <a:avLst/>
            </a:prstGeom>
            <a:ln w="38100" cap="flat" cmpd="sng">
              <a:solidFill>
                <a:srgbClr val="FF33CC"/>
              </a:solidFill>
              <a:prstDash val="solid"/>
              <a:headEnd type="none" w="med" len="med"/>
              <a:tailEnd type="triangle" w="med" len="med"/>
            </a:ln>
          </p:spPr>
        </p:sp>
        <p:sp>
          <p:nvSpPr>
            <p:cNvPr id="372805" name="直接连接符 372804"/>
            <p:cNvSpPr/>
            <p:nvPr/>
          </p:nvSpPr>
          <p:spPr>
            <a:xfrm>
              <a:off x="3956" y="2307"/>
              <a:ext cx="320" cy="176"/>
            </a:xfrm>
            <a:prstGeom prst="line">
              <a:avLst/>
            </a:prstGeom>
            <a:ln w="38100" cap="flat" cmpd="sng">
              <a:solidFill>
                <a:srgbClr val="FF33CC"/>
              </a:solidFill>
              <a:prstDash val="solid"/>
              <a:headEnd type="none" w="med" len="med"/>
              <a:tailEnd type="triangle" w="med" len="med"/>
            </a:ln>
          </p:spPr>
        </p:sp>
        <p:sp>
          <p:nvSpPr>
            <p:cNvPr id="372806" name="直接连接符 372805"/>
            <p:cNvSpPr/>
            <p:nvPr/>
          </p:nvSpPr>
          <p:spPr>
            <a:xfrm>
              <a:off x="4324" y="2323"/>
              <a:ext cx="320" cy="176"/>
            </a:xfrm>
            <a:prstGeom prst="line">
              <a:avLst/>
            </a:prstGeom>
            <a:ln w="38100" cap="flat" cmpd="sng">
              <a:solidFill>
                <a:srgbClr val="FF33CC"/>
              </a:solidFill>
              <a:prstDash val="solid"/>
              <a:headEnd type="none" w="med" len="med"/>
              <a:tailEnd type="triangle" w="med" len="med"/>
            </a:ln>
          </p:spPr>
        </p:sp>
        <p:grpSp>
          <p:nvGrpSpPr>
            <p:cNvPr id="372807" name="组合 372806"/>
            <p:cNvGrpSpPr/>
            <p:nvPr/>
          </p:nvGrpSpPr>
          <p:grpSpPr>
            <a:xfrm>
              <a:off x="2912" y="986"/>
              <a:ext cx="289" cy="288"/>
              <a:chOff x="559" y="2424"/>
              <a:chExt cx="289" cy="288"/>
            </a:xfrm>
          </p:grpSpPr>
          <p:sp>
            <p:nvSpPr>
              <p:cNvPr id="372808" name="直接连接符 372807"/>
              <p:cNvSpPr/>
              <p:nvPr/>
            </p:nvSpPr>
            <p:spPr>
              <a:xfrm flipV="1">
                <a:off x="704" y="2584"/>
                <a:ext cx="144" cy="8"/>
              </a:xfrm>
              <a:prstGeom prst="line">
                <a:avLst/>
              </a:prstGeom>
              <a:ln w="28575" cap="flat" cmpd="sng">
                <a:solidFill>
                  <a:srgbClr val="000099"/>
                </a:solidFill>
                <a:prstDash val="solid"/>
                <a:headEnd type="none" w="med" len="med"/>
                <a:tailEnd type="triangle" w="med" len="med"/>
              </a:ln>
            </p:spPr>
          </p:sp>
          <p:sp>
            <p:nvSpPr>
              <p:cNvPr id="372809" name="矩形 372808"/>
              <p:cNvSpPr/>
              <p:nvPr/>
            </p:nvSpPr>
            <p:spPr>
              <a:xfrm>
                <a:off x="559" y="2424"/>
                <a:ext cx="212" cy="288"/>
              </a:xfrm>
              <a:prstGeom prst="rect">
                <a:avLst/>
              </a:prstGeom>
              <a:noFill/>
              <a:ln w="9525">
                <a:noFill/>
              </a:ln>
            </p:spPr>
            <p:txBody>
              <a:bodyPr wrap="none" anchor="t">
                <a:spAutoFit/>
              </a:bodyPr>
              <a:p>
                <a:pPr algn="l">
                  <a:spcBef>
                    <a:spcPct val="50000"/>
                  </a:spcBef>
                </a:pPr>
                <a:r>
                  <a:rPr lang="en-US" altLang="zh-CN">
                    <a:solidFill>
                      <a:srgbClr val="000099"/>
                    </a:solidFill>
                    <a:latin typeface="Times New Roman" panose="02020603050405020304" charset="0"/>
                    <a:ea typeface="楷体_GB2312" pitchFamily="49" charset="-122"/>
                  </a:rPr>
                  <a:t>1</a:t>
                </a:r>
                <a:endParaRPr lang="en-US" altLang="zh-CN">
                  <a:solidFill>
                    <a:srgbClr val="000099"/>
                  </a:solidFill>
                  <a:latin typeface="Times New Roman" panose="02020603050405020304" charset="0"/>
                  <a:ea typeface="楷体_GB2312" pitchFamily="49" charset="-122"/>
                </a:endParaRPr>
              </a:p>
            </p:txBody>
          </p:sp>
        </p:grpSp>
        <p:grpSp>
          <p:nvGrpSpPr>
            <p:cNvPr id="372810" name="组合 372809"/>
            <p:cNvGrpSpPr/>
            <p:nvPr/>
          </p:nvGrpSpPr>
          <p:grpSpPr>
            <a:xfrm>
              <a:off x="2938" y="1486"/>
              <a:ext cx="289" cy="288"/>
              <a:chOff x="559" y="2424"/>
              <a:chExt cx="289" cy="288"/>
            </a:xfrm>
          </p:grpSpPr>
          <p:sp>
            <p:nvSpPr>
              <p:cNvPr id="372811" name="直接连接符 372810"/>
              <p:cNvSpPr/>
              <p:nvPr/>
            </p:nvSpPr>
            <p:spPr>
              <a:xfrm flipV="1">
                <a:off x="704" y="2584"/>
                <a:ext cx="144" cy="8"/>
              </a:xfrm>
              <a:prstGeom prst="line">
                <a:avLst/>
              </a:prstGeom>
              <a:ln w="28575" cap="flat" cmpd="sng">
                <a:solidFill>
                  <a:srgbClr val="000099"/>
                </a:solidFill>
                <a:prstDash val="solid"/>
                <a:headEnd type="none" w="med" len="med"/>
                <a:tailEnd type="triangle" w="med" len="med"/>
              </a:ln>
            </p:spPr>
          </p:sp>
          <p:sp>
            <p:nvSpPr>
              <p:cNvPr id="372812" name="矩形 372811"/>
              <p:cNvSpPr/>
              <p:nvPr/>
            </p:nvSpPr>
            <p:spPr>
              <a:xfrm>
                <a:off x="559" y="2424"/>
                <a:ext cx="212" cy="288"/>
              </a:xfrm>
              <a:prstGeom prst="rect">
                <a:avLst/>
              </a:prstGeom>
              <a:noFill/>
              <a:ln w="9525">
                <a:noFill/>
              </a:ln>
            </p:spPr>
            <p:txBody>
              <a:bodyPr wrap="none" anchor="t">
                <a:spAutoFit/>
              </a:bodyPr>
              <a:p>
                <a:pPr algn="l">
                  <a:spcBef>
                    <a:spcPct val="50000"/>
                  </a:spcBef>
                </a:pPr>
                <a:r>
                  <a:rPr lang="en-US" altLang="zh-CN">
                    <a:solidFill>
                      <a:srgbClr val="000099"/>
                    </a:solidFill>
                    <a:latin typeface="Times New Roman" panose="02020603050405020304" charset="0"/>
                    <a:ea typeface="楷体_GB2312" pitchFamily="49" charset="-122"/>
                  </a:rPr>
                  <a:t>1</a:t>
                </a:r>
                <a:endParaRPr lang="en-US" altLang="zh-CN">
                  <a:solidFill>
                    <a:srgbClr val="000099"/>
                  </a:solidFill>
                  <a:latin typeface="Times New Roman" panose="02020603050405020304" charset="0"/>
                  <a:ea typeface="楷体_GB2312" pitchFamily="49" charset="-122"/>
                </a:endParaRPr>
              </a:p>
            </p:txBody>
          </p:sp>
        </p:grpSp>
        <p:grpSp>
          <p:nvGrpSpPr>
            <p:cNvPr id="372813" name="组合 372812"/>
            <p:cNvGrpSpPr/>
            <p:nvPr/>
          </p:nvGrpSpPr>
          <p:grpSpPr>
            <a:xfrm>
              <a:off x="2938" y="1969"/>
              <a:ext cx="289" cy="288"/>
              <a:chOff x="559" y="2424"/>
              <a:chExt cx="289" cy="288"/>
            </a:xfrm>
          </p:grpSpPr>
          <p:sp>
            <p:nvSpPr>
              <p:cNvPr id="372814" name="直接连接符 372813"/>
              <p:cNvSpPr/>
              <p:nvPr/>
            </p:nvSpPr>
            <p:spPr>
              <a:xfrm flipV="1">
                <a:off x="704" y="2584"/>
                <a:ext cx="144" cy="8"/>
              </a:xfrm>
              <a:prstGeom prst="line">
                <a:avLst/>
              </a:prstGeom>
              <a:ln w="28575" cap="flat" cmpd="sng">
                <a:solidFill>
                  <a:srgbClr val="000099"/>
                </a:solidFill>
                <a:prstDash val="solid"/>
                <a:headEnd type="none" w="med" len="med"/>
                <a:tailEnd type="triangle" w="med" len="med"/>
              </a:ln>
            </p:spPr>
          </p:sp>
          <p:sp>
            <p:nvSpPr>
              <p:cNvPr id="372815" name="矩形 372814"/>
              <p:cNvSpPr/>
              <p:nvPr/>
            </p:nvSpPr>
            <p:spPr>
              <a:xfrm>
                <a:off x="559" y="2424"/>
                <a:ext cx="212" cy="288"/>
              </a:xfrm>
              <a:prstGeom prst="rect">
                <a:avLst/>
              </a:prstGeom>
              <a:noFill/>
              <a:ln w="9525">
                <a:noFill/>
              </a:ln>
            </p:spPr>
            <p:txBody>
              <a:bodyPr wrap="none" anchor="t">
                <a:spAutoFit/>
              </a:bodyPr>
              <a:p>
                <a:pPr algn="l">
                  <a:spcBef>
                    <a:spcPct val="50000"/>
                  </a:spcBef>
                </a:pPr>
                <a:r>
                  <a:rPr lang="en-US" altLang="zh-CN">
                    <a:solidFill>
                      <a:srgbClr val="000099"/>
                    </a:solidFill>
                    <a:latin typeface="Times New Roman" panose="02020603050405020304" charset="0"/>
                    <a:ea typeface="楷体_GB2312" pitchFamily="49" charset="-122"/>
                  </a:rPr>
                  <a:t>0</a:t>
                </a:r>
                <a:endParaRPr lang="en-US" altLang="zh-CN">
                  <a:solidFill>
                    <a:srgbClr val="000099"/>
                  </a:solidFill>
                  <a:latin typeface="Times New Roman" panose="02020603050405020304" charset="0"/>
                  <a:ea typeface="楷体_GB2312" pitchFamily="49" charset="-122"/>
                </a:endParaRPr>
              </a:p>
            </p:txBody>
          </p:sp>
        </p:grpSp>
        <p:grpSp>
          <p:nvGrpSpPr>
            <p:cNvPr id="372816" name="组合 372815"/>
            <p:cNvGrpSpPr/>
            <p:nvPr/>
          </p:nvGrpSpPr>
          <p:grpSpPr>
            <a:xfrm>
              <a:off x="2954" y="2460"/>
              <a:ext cx="289" cy="288"/>
              <a:chOff x="559" y="2424"/>
              <a:chExt cx="289" cy="288"/>
            </a:xfrm>
          </p:grpSpPr>
          <p:sp>
            <p:nvSpPr>
              <p:cNvPr id="372817" name="直接连接符 372816"/>
              <p:cNvSpPr/>
              <p:nvPr/>
            </p:nvSpPr>
            <p:spPr>
              <a:xfrm flipV="1">
                <a:off x="704" y="2584"/>
                <a:ext cx="144" cy="8"/>
              </a:xfrm>
              <a:prstGeom prst="line">
                <a:avLst/>
              </a:prstGeom>
              <a:ln w="28575" cap="flat" cmpd="sng">
                <a:solidFill>
                  <a:srgbClr val="000099"/>
                </a:solidFill>
                <a:prstDash val="solid"/>
                <a:headEnd type="none" w="med" len="med"/>
                <a:tailEnd type="triangle" w="med" len="med"/>
              </a:ln>
            </p:spPr>
          </p:sp>
          <p:sp>
            <p:nvSpPr>
              <p:cNvPr id="372818" name="矩形 372817"/>
              <p:cNvSpPr/>
              <p:nvPr/>
            </p:nvSpPr>
            <p:spPr>
              <a:xfrm>
                <a:off x="559" y="2424"/>
                <a:ext cx="212" cy="288"/>
              </a:xfrm>
              <a:prstGeom prst="rect">
                <a:avLst/>
              </a:prstGeom>
              <a:noFill/>
              <a:ln w="9525">
                <a:noFill/>
              </a:ln>
            </p:spPr>
            <p:txBody>
              <a:bodyPr wrap="none" anchor="t">
                <a:spAutoFit/>
              </a:bodyPr>
              <a:p>
                <a:pPr algn="l">
                  <a:spcBef>
                    <a:spcPct val="50000"/>
                  </a:spcBef>
                </a:pPr>
                <a:r>
                  <a:rPr lang="en-US" altLang="zh-CN">
                    <a:solidFill>
                      <a:srgbClr val="000099"/>
                    </a:solidFill>
                    <a:latin typeface="Times New Roman" panose="02020603050405020304" charset="0"/>
                    <a:ea typeface="楷体_GB2312" pitchFamily="49" charset="-122"/>
                  </a:rPr>
                  <a:t>1</a:t>
                </a:r>
                <a:endParaRPr lang="en-US" altLang="zh-CN">
                  <a:solidFill>
                    <a:srgbClr val="000099"/>
                  </a:solidFill>
                  <a:latin typeface="Times New Roman" panose="02020603050405020304" charset="0"/>
                  <a:ea typeface="楷体_GB2312" pitchFamily="49" charset="-122"/>
                </a:endParaRPr>
              </a:p>
            </p:txBody>
          </p:sp>
        </p:grpSp>
        <p:grpSp>
          <p:nvGrpSpPr>
            <p:cNvPr id="372819" name="组合 372818"/>
            <p:cNvGrpSpPr/>
            <p:nvPr/>
          </p:nvGrpSpPr>
          <p:grpSpPr>
            <a:xfrm>
              <a:off x="3379" y="1049"/>
              <a:ext cx="317" cy="304"/>
              <a:chOff x="2473" y="3219"/>
              <a:chExt cx="367" cy="492"/>
            </a:xfrm>
          </p:grpSpPr>
          <p:sp>
            <p:nvSpPr>
              <p:cNvPr id="372820" name="矩形 372819"/>
              <p:cNvSpPr/>
              <p:nvPr/>
            </p:nvSpPr>
            <p:spPr>
              <a:xfrm>
                <a:off x="2473" y="3219"/>
                <a:ext cx="357" cy="339"/>
              </a:xfrm>
              <a:prstGeom prst="rect">
                <a:avLst/>
              </a:prstGeom>
              <a:solidFill>
                <a:srgbClr val="FFFFCC">
                  <a:alpha val="0"/>
                </a:srgbClr>
              </a:solidFill>
              <a:ln w="9525">
                <a:noFill/>
              </a:ln>
            </p:spPr>
            <p:txBody>
              <a:bodyPr/>
              <a:p>
                <a:endParaRPr lang="zh-CN" altLang="en-US"/>
              </a:p>
            </p:txBody>
          </p:sp>
          <p:sp>
            <p:nvSpPr>
              <p:cNvPr id="372821" name="矩形 372820"/>
              <p:cNvSpPr/>
              <p:nvPr/>
            </p:nvSpPr>
            <p:spPr>
              <a:xfrm>
                <a:off x="2516" y="3245"/>
                <a:ext cx="324" cy="466"/>
              </a:xfrm>
              <a:prstGeom prst="rect">
                <a:avLst/>
              </a:prstGeom>
              <a:noFill/>
              <a:ln w="9525">
                <a:noFill/>
              </a:ln>
            </p:spPr>
            <p:txBody>
              <a:bodyPr>
                <a:spAutoFit/>
              </a:bodyPr>
              <a:p>
                <a:pPr algn="l">
                  <a:spcBef>
                    <a:spcPct val="50000"/>
                  </a:spcBef>
                </a:pPr>
                <a:r>
                  <a:rPr lang="en-US" altLang="zh-CN" sz="2000">
                    <a:latin typeface="Times New Roman" panose="02020603050405020304" charset="0"/>
                  </a:rPr>
                  <a:t> </a:t>
                </a:r>
                <a:r>
                  <a:rPr lang="en-US" altLang="zh-CN">
                    <a:latin typeface="Times New Roman" panose="02020603050405020304" charset="0"/>
                  </a:rPr>
                  <a:t>1 </a:t>
                </a:r>
                <a:endParaRPr lang="en-US" altLang="zh-CN">
                  <a:latin typeface="Times New Roman" panose="02020603050405020304" charset="0"/>
                </a:endParaRPr>
              </a:p>
            </p:txBody>
          </p:sp>
        </p:grpSp>
      </p:grpSp>
      <p:grpSp>
        <p:nvGrpSpPr>
          <p:cNvPr id="372829" name="组合 372828"/>
          <p:cNvGrpSpPr/>
          <p:nvPr/>
        </p:nvGrpSpPr>
        <p:grpSpPr>
          <a:xfrm>
            <a:off x="1374140" y="1914843"/>
            <a:ext cx="2979738" cy="2592387"/>
            <a:chOff x="780" y="540"/>
            <a:chExt cx="1877" cy="1633"/>
          </a:xfrm>
        </p:grpSpPr>
        <p:sp>
          <p:nvSpPr>
            <p:cNvPr id="372822" name="矩形 372821"/>
            <p:cNvSpPr/>
            <p:nvPr/>
          </p:nvSpPr>
          <p:spPr>
            <a:xfrm>
              <a:off x="787" y="540"/>
              <a:ext cx="1166" cy="321"/>
            </a:xfrm>
            <a:prstGeom prst="rect">
              <a:avLst/>
            </a:prstGeom>
            <a:noFill/>
            <a:ln w="9525">
              <a:noFill/>
            </a:ln>
          </p:spPr>
          <p:txBody>
            <a:bodyPr/>
            <a:lstStyle>
              <a:lvl1pPr marL="469900" lvl="0" indent="-4699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3000" b="1" u="none" kern="1200" baseline="0">
                  <a:solidFill>
                    <a:schemeClr val="tx1"/>
                  </a:solidFill>
                  <a:latin typeface="Arial Narrow" panose="020B0606020202030204" pitchFamily="34" charset="0"/>
                  <a:ea typeface="楷体_GB2312"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3000" b="1" i="0" u="none" kern="1200" baseline="0">
                  <a:solidFill>
                    <a:schemeClr val="tx1"/>
                  </a:solidFill>
                  <a:latin typeface="Arial Narrow" panose="020B0606020202030204" pitchFamily="34" charset="0"/>
                  <a:ea typeface="楷体_GB2312"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800" b="1" i="0" u="none" kern="1200" baseline="0">
                  <a:solidFill>
                    <a:schemeClr val="tx1"/>
                  </a:solidFill>
                  <a:latin typeface="Arial Narrow" panose="020B0606020202030204" pitchFamily="34" charset="0"/>
                  <a:ea typeface="楷体_GB2312"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400" b="1" i="0" u="none" kern="1200" baseline="0">
                  <a:solidFill>
                    <a:schemeClr val="tx1"/>
                  </a:solidFill>
                  <a:latin typeface="Arial Narrow" panose="020B0606020202030204" pitchFamily="34" charset="0"/>
                  <a:ea typeface="楷体_GB2312"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400" b="1" i="0" u="none" kern="1200" baseline="0">
                  <a:solidFill>
                    <a:schemeClr val="tx1"/>
                  </a:solidFill>
                  <a:latin typeface="Arial Narrow" panose="020B0606020202030204" pitchFamily="34" charset="0"/>
                  <a:ea typeface="楷体_GB2312" pitchFamily="49" charset="-122"/>
                </a:defRPr>
              </a:lvl5pPr>
            </a:lstStyle>
            <a:p>
              <a:pPr lvl="0">
                <a:lnSpc>
                  <a:spcPct val="90000"/>
                </a:lnSpc>
                <a:buNone/>
              </a:pPr>
              <a:r>
                <a:rPr lang="en-US" altLang="zh-CN" sz="2600" i="1">
                  <a:solidFill>
                    <a:srgbClr val="000099"/>
                  </a:solidFill>
                  <a:latin typeface="Times New Roman" panose="02020603050405020304" charset="0"/>
                </a:rPr>
                <a:t>Q</a:t>
              </a:r>
              <a:r>
                <a:rPr lang="en-US" altLang="zh-CN" sz="2600" baseline="-25000">
                  <a:solidFill>
                    <a:srgbClr val="000099"/>
                  </a:solidFill>
                  <a:latin typeface="Times New Roman" panose="02020603050405020304" charset="0"/>
                </a:rPr>
                <a:t>0</a:t>
              </a:r>
              <a:r>
                <a:rPr lang="en-US" altLang="zh-CN" sz="2600" i="1" baseline="30000">
                  <a:solidFill>
                    <a:srgbClr val="000099"/>
                  </a:solidFill>
                  <a:latin typeface="Times New Roman" panose="02020603050405020304" charset="0"/>
                </a:rPr>
                <a:t>n</a:t>
              </a:r>
              <a:r>
                <a:rPr lang="en-US" altLang="zh-CN" sz="2600" baseline="30000">
                  <a:solidFill>
                    <a:srgbClr val="000099"/>
                  </a:solidFill>
                  <a:latin typeface="Times New Roman" panose="02020603050405020304" charset="0"/>
                </a:rPr>
                <a:t>+1</a:t>
              </a:r>
              <a:r>
                <a:rPr lang="en-US" altLang="zh-CN" sz="2600">
                  <a:solidFill>
                    <a:srgbClr val="000099"/>
                  </a:solidFill>
                  <a:latin typeface="Times New Roman" panose="02020603050405020304" charset="0"/>
                </a:rPr>
                <a:t>=D</a:t>
              </a:r>
              <a:r>
                <a:rPr lang="en-US" altLang="zh-CN" sz="2600" baseline="-25000">
                  <a:solidFill>
                    <a:srgbClr val="000099"/>
                  </a:solidFill>
                  <a:latin typeface="Times New Roman" panose="02020603050405020304" charset="0"/>
                </a:rPr>
                <a:t>I</a:t>
              </a:r>
              <a:endParaRPr lang="en-GB" altLang="zh-CN" sz="2600" baseline="-25000">
                <a:solidFill>
                  <a:srgbClr val="000099"/>
                </a:solidFill>
                <a:latin typeface="Times New Roman" panose="02020603050405020304" charset="0"/>
              </a:endParaRPr>
            </a:p>
          </p:txBody>
        </p:sp>
        <p:sp>
          <p:nvSpPr>
            <p:cNvPr id="372823" name="矩形 372822"/>
            <p:cNvSpPr/>
            <p:nvPr/>
          </p:nvSpPr>
          <p:spPr>
            <a:xfrm>
              <a:off x="780" y="1012"/>
              <a:ext cx="1374" cy="321"/>
            </a:xfrm>
            <a:prstGeom prst="rect">
              <a:avLst/>
            </a:prstGeom>
            <a:noFill/>
            <a:ln w="9525">
              <a:noFill/>
            </a:ln>
          </p:spPr>
          <p:txBody>
            <a:bodyPr/>
            <a:lstStyle>
              <a:lvl1pPr marL="469900" lvl="0" indent="-4699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3000" b="1" u="none" kern="1200" baseline="0">
                  <a:solidFill>
                    <a:schemeClr val="tx1"/>
                  </a:solidFill>
                  <a:latin typeface="Arial Narrow" panose="020B0606020202030204" pitchFamily="34" charset="0"/>
                  <a:ea typeface="楷体_GB2312"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3000" b="1" i="0" u="none" kern="1200" baseline="0">
                  <a:solidFill>
                    <a:schemeClr val="tx1"/>
                  </a:solidFill>
                  <a:latin typeface="Arial Narrow" panose="020B0606020202030204" pitchFamily="34" charset="0"/>
                  <a:ea typeface="楷体_GB2312"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800" b="1" i="0" u="none" kern="1200" baseline="0">
                  <a:solidFill>
                    <a:schemeClr val="tx1"/>
                  </a:solidFill>
                  <a:latin typeface="Arial Narrow" panose="020B0606020202030204" pitchFamily="34" charset="0"/>
                  <a:ea typeface="楷体_GB2312"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400" b="1" i="0" u="none" kern="1200" baseline="0">
                  <a:solidFill>
                    <a:schemeClr val="tx1"/>
                  </a:solidFill>
                  <a:latin typeface="Arial Narrow" panose="020B0606020202030204" pitchFamily="34" charset="0"/>
                  <a:ea typeface="楷体_GB2312"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400" b="1" i="0" u="none" kern="1200" baseline="0">
                  <a:solidFill>
                    <a:schemeClr val="tx1"/>
                  </a:solidFill>
                  <a:latin typeface="Arial Narrow" panose="020B0606020202030204" pitchFamily="34" charset="0"/>
                  <a:ea typeface="楷体_GB2312" pitchFamily="49" charset="-122"/>
                </a:defRPr>
              </a:lvl5pPr>
            </a:lstStyle>
            <a:p>
              <a:pPr lvl="0">
                <a:lnSpc>
                  <a:spcPct val="90000"/>
                </a:lnSpc>
                <a:buNone/>
              </a:pPr>
              <a:r>
                <a:rPr lang="en-US" altLang="zh-CN" sz="2600" i="1">
                  <a:solidFill>
                    <a:srgbClr val="000099"/>
                  </a:solidFill>
                  <a:latin typeface="Times New Roman" panose="02020603050405020304" charset="0"/>
                </a:rPr>
                <a:t>Q</a:t>
              </a:r>
              <a:r>
                <a:rPr lang="en-US" altLang="zh-CN" sz="2600" baseline="-25000">
                  <a:solidFill>
                    <a:srgbClr val="000099"/>
                  </a:solidFill>
                  <a:latin typeface="Times New Roman" panose="02020603050405020304" charset="0"/>
                </a:rPr>
                <a:t>1</a:t>
              </a:r>
              <a:r>
                <a:rPr lang="en-US" altLang="zh-CN" sz="2600" i="1" baseline="30000">
                  <a:solidFill>
                    <a:srgbClr val="000099"/>
                  </a:solidFill>
                  <a:latin typeface="Times New Roman" panose="02020603050405020304" charset="0"/>
                </a:rPr>
                <a:t>n</a:t>
              </a:r>
              <a:r>
                <a:rPr lang="en-US" altLang="zh-CN" sz="2600" baseline="30000">
                  <a:solidFill>
                    <a:srgbClr val="000099"/>
                  </a:solidFill>
                  <a:latin typeface="Times New Roman" panose="02020603050405020304" charset="0"/>
                </a:rPr>
                <a:t>+1</a:t>
              </a:r>
              <a:r>
                <a:rPr lang="en-US" altLang="zh-CN" sz="2600">
                  <a:solidFill>
                    <a:srgbClr val="000099"/>
                  </a:solidFill>
                  <a:latin typeface="Times New Roman" panose="02020603050405020304" charset="0"/>
                </a:rPr>
                <a:t> = </a:t>
              </a:r>
              <a:r>
                <a:rPr lang="en-US" altLang="zh-CN" sz="2600" i="1">
                  <a:solidFill>
                    <a:srgbClr val="000099"/>
                  </a:solidFill>
                  <a:latin typeface="Times New Roman" panose="02020603050405020304" charset="0"/>
                </a:rPr>
                <a:t>Q</a:t>
              </a:r>
              <a:r>
                <a:rPr lang="en-US" altLang="zh-CN" sz="2600" baseline="-25000">
                  <a:solidFill>
                    <a:srgbClr val="000099"/>
                  </a:solidFill>
                  <a:latin typeface="Times New Roman" panose="02020603050405020304" charset="0"/>
                </a:rPr>
                <a:t>0</a:t>
              </a:r>
              <a:r>
                <a:rPr lang="en-US" altLang="zh-CN" sz="2600" i="1" baseline="30000">
                  <a:solidFill>
                    <a:srgbClr val="000099"/>
                  </a:solidFill>
                  <a:latin typeface="Times New Roman" panose="02020603050405020304" charset="0"/>
                </a:rPr>
                <a:t>n</a:t>
              </a:r>
              <a:endParaRPr lang="en-US" altLang="zh-CN" sz="2600" i="1" baseline="30000">
                <a:solidFill>
                  <a:srgbClr val="000099"/>
                </a:solidFill>
                <a:latin typeface="Times New Roman" panose="02020603050405020304" charset="0"/>
              </a:endParaRPr>
            </a:p>
          </p:txBody>
        </p:sp>
        <p:sp>
          <p:nvSpPr>
            <p:cNvPr id="372824" name="矩形 372823"/>
            <p:cNvSpPr/>
            <p:nvPr/>
          </p:nvSpPr>
          <p:spPr>
            <a:xfrm>
              <a:off x="780" y="1398"/>
              <a:ext cx="1877" cy="321"/>
            </a:xfrm>
            <a:prstGeom prst="rect">
              <a:avLst/>
            </a:prstGeom>
            <a:noFill/>
            <a:ln w="9525">
              <a:noFill/>
            </a:ln>
          </p:spPr>
          <p:txBody>
            <a:bodyPr/>
            <a:lstStyle>
              <a:lvl1pPr marL="469900" lvl="0" indent="-4699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3000" b="1" u="none" kern="1200" baseline="0">
                  <a:solidFill>
                    <a:schemeClr val="tx1"/>
                  </a:solidFill>
                  <a:latin typeface="Arial Narrow" panose="020B0606020202030204" pitchFamily="34" charset="0"/>
                  <a:ea typeface="楷体_GB2312"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3000" b="1" i="0" u="none" kern="1200" baseline="0">
                  <a:solidFill>
                    <a:schemeClr val="tx1"/>
                  </a:solidFill>
                  <a:latin typeface="Arial Narrow" panose="020B0606020202030204" pitchFamily="34" charset="0"/>
                  <a:ea typeface="楷体_GB2312"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800" b="1" i="0" u="none" kern="1200" baseline="0">
                  <a:solidFill>
                    <a:schemeClr val="tx1"/>
                  </a:solidFill>
                  <a:latin typeface="Arial Narrow" panose="020B0606020202030204" pitchFamily="34" charset="0"/>
                  <a:ea typeface="楷体_GB2312"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400" b="1" i="0" u="none" kern="1200" baseline="0">
                  <a:solidFill>
                    <a:schemeClr val="tx1"/>
                  </a:solidFill>
                  <a:latin typeface="Arial Narrow" panose="020B0606020202030204" pitchFamily="34" charset="0"/>
                  <a:ea typeface="楷体_GB2312"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400" b="1" i="0" u="none" kern="1200" baseline="0">
                  <a:solidFill>
                    <a:schemeClr val="tx1"/>
                  </a:solidFill>
                  <a:latin typeface="Arial Narrow" panose="020B0606020202030204" pitchFamily="34" charset="0"/>
                  <a:ea typeface="楷体_GB2312" pitchFamily="49" charset="-122"/>
                </a:defRPr>
              </a:lvl5pPr>
            </a:lstStyle>
            <a:p>
              <a:pPr lvl="0">
                <a:lnSpc>
                  <a:spcPct val="90000"/>
                </a:lnSpc>
                <a:buNone/>
              </a:pPr>
              <a:r>
                <a:rPr lang="en-US" altLang="zh-CN" sz="2600" i="1">
                  <a:solidFill>
                    <a:srgbClr val="000099"/>
                  </a:solidFill>
                  <a:latin typeface="Times New Roman" panose="02020603050405020304" charset="0"/>
                </a:rPr>
                <a:t>Q</a:t>
              </a:r>
              <a:r>
                <a:rPr lang="en-US" altLang="zh-CN" sz="2600" baseline="-25000">
                  <a:solidFill>
                    <a:srgbClr val="000099"/>
                  </a:solidFill>
                  <a:latin typeface="Times New Roman" panose="02020603050405020304" charset="0"/>
                </a:rPr>
                <a:t>2</a:t>
              </a:r>
              <a:r>
                <a:rPr lang="en-US" altLang="zh-CN" sz="2600" i="1" baseline="30000">
                  <a:solidFill>
                    <a:srgbClr val="000099"/>
                  </a:solidFill>
                  <a:latin typeface="Times New Roman" panose="02020603050405020304" charset="0"/>
                </a:rPr>
                <a:t>n</a:t>
              </a:r>
              <a:r>
                <a:rPr lang="en-US" altLang="zh-CN" sz="2600" baseline="30000">
                  <a:solidFill>
                    <a:srgbClr val="000099"/>
                  </a:solidFill>
                  <a:latin typeface="Times New Roman" panose="02020603050405020304" charset="0"/>
                </a:rPr>
                <a:t>+1</a:t>
              </a:r>
              <a:r>
                <a:rPr lang="en-US" altLang="zh-CN" sz="2600">
                  <a:solidFill>
                    <a:srgbClr val="000099"/>
                  </a:solidFill>
                  <a:latin typeface="Times New Roman" panose="02020603050405020304" charset="0"/>
                </a:rPr>
                <a:t> =</a:t>
              </a:r>
              <a:r>
                <a:rPr lang="en-US" altLang="zh-CN" sz="2600" i="1">
                  <a:solidFill>
                    <a:srgbClr val="000099"/>
                  </a:solidFill>
                  <a:latin typeface="Times New Roman" panose="02020603050405020304" charset="0"/>
                </a:rPr>
                <a:t>Q</a:t>
              </a:r>
              <a:r>
                <a:rPr lang="en-US" altLang="zh-CN" sz="2600" baseline="-25000">
                  <a:solidFill>
                    <a:srgbClr val="000099"/>
                  </a:solidFill>
                  <a:latin typeface="Times New Roman" panose="02020603050405020304" charset="0"/>
                  <a:sym typeface="+mn-ea"/>
                </a:rPr>
                <a:t>1</a:t>
              </a:r>
              <a:r>
                <a:rPr lang="en-US" altLang="zh-CN" sz="2600" i="1" baseline="30000">
                  <a:solidFill>
                    <a:srgbClr val="000099"/>
                  </a:solidFill>
                  <a:latin typeface="Times New Roman" panose="02020603050405020304" charset="0"/>
                </a:rPr>
                <a:t>n</a:t>
              </a:r>
              <a:endParaRPr lang="en-US" altLang="zh-CN" sz="2600" i="1" baseline="30000">
                <a:solidFill>
                  <a:srgbClr val="000099"/>
                </a:solidFill>
                <a:latin typeface="Times New Roman" panose="02020603050405020304" charset="0"/>
              </a:endParaRPr>
            </a:p>
          </p:txBody>
        </p:sp>
        <p:sp>
          <p:nvSpPr>
            <p:cNvPr id="372825" name="矩形 372824"/>
            <p:cNvSpPr/>
            <p:nvPr/>
          </p:nvSpPr>
          <p:spPr>
            <a:xfrm>
              <a:off x="803" y="1852"/>
              <a:ext cx="1503" cy="321"/>
            </a:xfrm>
            <a:prstGeom prst="rect">
              <a:avLst/>
            </a:prstGeom>
            <a:noFill/>
            <a:ln w="9525">
              <a:noFill/>
            </a:ln>
          </p:spPr>
          <p:txBody>
            <a:bodyPr/>
            <a:lstStyle>
              <a:lvl1pPr marL="469900" lvl="0" indent="-4699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3000" b="1" u="none" kern="1200" baseline="0">
                  <a:solidFill>
                    <a:schemeClr val="tx1"/>
                  </a:solidFill>
                  <a:latin typeface="Arial Narrow" panose="020B0606020202030204" pitchFamily="34" charset="0"/>
                  <a:ea typeface="楷体_GB2312"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3000" b="1" i="0" u="none" kern="1200" baseline="0">
                  <a:solidFill>
                    <a:schemeClr val="tx1"/>
                  </a:solidFill>
                  <a:latin typeface="Arial Narrow" panose="020B0606020202030204" pitchFamily="34" charset="0"/>
                  <a:ea typeface="楷体_GB2312"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800" b="1" i="0" u="none" kern="1200" baseline="0">
                  <a:solidFill>
                    <a:schemeClr val="tx1"/>
                  </a:solidFill>
                  <a:latin typeface="Arial Narrow" panose="020B0606020202030204" pitchFamily="34" charset="0"/>
                  <a:ea typeface="楷体_GB2312"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400" b="1" i="0" u="none" kern="1200" baseline="0">
                  <a:solidFill>
                    <a:schemeClr val="tx1"/>
                  </a:solidFill>
                  <a:latin typeface="Arial Narrow" panose="020B0606020202030204" pitchFamily="34" charset="0"/>
                  <a:ea typeface="楷体_GB2312"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400" b="1" i="0" u="none" kern="1200" baseline="0">
                  <a:solidFill>
                    <a:schemeClr val="tx1"/>
                  </a:solidFill>
                  <a:latin typeface="Arial Narrow" panose="020B0606020202030204" pitchFamily="34" charset="0"/>
                  <a:ea typeface="楷体_GB2312" pitchFamily="49" charset="-122"/>
                </a:defRPr>
              </a:lvl5pPr>
            </a:lstStyle>
            <a:p>
              <a:pPr lvl="0">
                <a:lnSpc>
                  <a:spcPct val="90000"/>
                </a:lnSpc>
                <a:buNone/>
              </a:pPr>
              <a:r>
                <a:rPr lang="en-US" altLang="zh-CN" sz="2600" i="1">
                  <a:solidFill>
                    <a:srgbClr val="000099"/>
                  </a:solidFill>
                  <a:latin typeface="Times New Roman" panose="02020603050405020304" charset="0"/>
                </a:rPr>
                <a:t>Q</a:t>
              </a:r>
              <a:r>
                <a:rPr lang="en-US" altLang="zh-CN" sz="2600" baseline="-25000">
                  <a:solidFill>
                    <a:srgbClr val="000099"/>
                  </a:solidFill>
                  <a:latin typeface="Times New Roman" panose="02020603050405020304" charset="0"/>
                </a:rPr>
                <a:t>3</a:t>
              </a:r>
              <a:r>
                <a:rPr lang="en-US" altLang="zh-CN" sz="2600" i="1" baseline="30000">
                  <a:solidFill>
                    <a:srgbClr val="000099"/>
                  </a:solidFill>
                  <a:latin typeface="Times New Roman" panose="02020603050405020304" charset="0"/>
                </a:rPr>
                <a:t>n</a:t>
              </a:r>
              <a:r>
                <a:rPr lang="en-US" altLang="zh-CN" sz="2600" baseline="30000">
                  <a:solidFill>
                    <a:srgbClr val="000099"/>
                  </a:solidFill>
                  <a:latin typeface="Times New Roman" panose="02020603050405020304" charset="0"/>
                </a:rPr>
                <a:t>+1</a:t>
              </a:r>
              <a:r>
                <a:rPr lang="en-US" altLang="zh-CN" sz="2600">
                  <a:solidFill>
                    <a:srgbClr val="000099"/>
                  </a:solidFill>
                  <a:latin typeface="Times New Roman" panose="02020603050405020304" charset="0"/>
                </a:rPr>
                <a:t> =</a:t>
              </a:r>
              <a:r>
                <a:rPr lang="en-US" altLang="zh-CN" sz="2600" i="1">
                  <a:solidFill>
                    <a:srgbClr val="000099"/>
                  </a:solidFill>
                  <a:latin typeface="Times New Roman" panose="02020603050405020304" charset="0"/>
                </a:rPr>
                <a:t>Q</a:t>
              </a:r>
              <a:r>
                <a:rPr lang="en-US" altLang="zh-CN" sz="2600" baseline="-25000">
                  <a:solidFill>
                    <a:srgbClr val="000099"/>
                  </a:solidFill>
                  <a:latin typeface="Times New Roman" panose="02020603050405020304" charset="0"/>
                  <a:sym typeface="+mn-ea"/>
                </a:rPr>
                <a:t>2</a:t>
              </a:r>
              <a:r>
                <a:rPr lang="en-US" altLang="zh-CN" sz="2600" i="1" baseline="30000">
                  <a:solidFill>
                    <a:srgbClr val="000099"/>
                  </a:solidFill>
                  <a:latin typeface="Times New Roman" panose="02020603050405020304" charset="0"/>
                </a:rPr>
                <a:t>n</a:t>
              </a:r>
              <a:endParaRPr lang="en-US" altLang="zh-CN" sz="2600" i="1" baseline="30000">
                <a:solidFill>
                  <a:srgbClr val="000099"/>
                </a:solidFill>
                <a:latin typeface="Times New Roman" panose="0202060305040502030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72827"/>
                                        </p:tgtEl>
                                        <p:attrNameLst>
                                          <p:attrName>style.visibility</p:attrName>
                                        </p:attrNameLst>
                                      </p:cBhvr>
                                      <p:to>
                                        <p:strVal val="visible"/>
                                      </p:to>
                                    </p:set>
                                    <p:animEffect transition="in" filter="box(in)">
                                      <p:cBhvr>
                                        <p:cTn id="7" dur="500"/>
                                        <p:tgtEl>
                                          <p:spTgt spid="3728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72829"/>
                                        </p:tgtEl>
                                        <p:attrNameLst>
                                          <p:attrName>style.visibility</p:attrName>
                                        </p:attrNameLst>
                                      </p:cBhvr>
                                      <p:to>
                                        <p:strVal val="visible"/>
                                      </p:to>
                                    </p:set>
                                    <p:animEffect transition="in" filter="wipe(up)">
                                      <p:cBhvr>
                                        <p:cTn id="12" dur="500"/>
                                        <p:tgtEl>
                                          <p:spTgt spid="3728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72828"/>
                                        </p:tgtEl>
                                        <p:attrNameLst>
                                          <p:attrName>style.visibility</p:attrName>
                                        </p:attrNameLst>
                                      </p:cBhvr>
                                      <p:to>
                                        <p:strVal val="visible"/>
                                      </p:to>
                                    </p:set>
                                    <p:animEffect transition="in" filter="wipe(up)">
                                      <p:cBhvr>
                                        <p:cTn id="17" dur="500"/>
                                        <p:tgtEl>
                                          <p:spTgt spid="372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827"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6.5 </a:t>
            </a:r>
            <a:r>
              <a:rPr lang="zh-CN" b="1" dirty="0">
                <a:solidFill>
                  <a:srgbClr val="FF0000"/>
                </a:solidFill>
                <a:latin typeface="黑体" panose="02010609060101010101" pitchFamily="49" charset="-122"/>
                <a:ea typeface="黑体" panose="02010609060101010101" pitchFamily="49" charset="-122"/>
                <a:sym typeface="+mn-ea"/>
              </a:rPr>
              <a:t>数码寄存器与移位寄存器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374799" name="文本框 374798"/>
          <p:cNvSpPr txBox="1"/>
          <p:nvPr/>
        </p:nvSpPr>
        <p:spPr>
          <a:xfrm>
            <a:off x="757873" y="1197610"/>
            <a:ext cx="6229350" cy="460375"/>
          </a:xfrm>
          <a:prstGeom prst="rect">
            <a:avLst/>
          </a:prstGeom>
          <a:noFill/>
          <a:ln w="9525">
            <a:noFill/>
          </a:ln>
        </p:spPr>
        <p:txBody>
          <a:bodyPr>
            <a:spAutoFit/>
          </a:bodyPr>
          <a:p>
            <a:pPr algn="l">
              <a:spcBef>
                <a:spcPct val="50000"/>
              </a:spcBef>
            </a:pPr>
            <a:r>
              <a:rPr lang="en-US" altLang="zh-CN" sz="2400" i="1">
                <a:solidFill>
                  <a:srgbClr val="000099"/>
                </a:solidFill>
                <a:effectLst>
                  <a:outerShdw blurRad="38100" dist="38100" dir="2700000" algn="tl">
                    <a:srgbClr val="000000">
                      <a:alpha val="43137"/>
                    </a:srgbClr>
                  </a:outerShdw>
                </a:effectLst>
                <a:latin typeface="Times New Roman" panose="02020603050405020304" charset="0"/>
                <a:ea typeface="楷体_GB2312" pitchFamily="49" charset="-122"/>
              </a:rPr>
              <a:t>D</a:t>
            </a:r>
            <a:r>
              <a:rPr lang="en-US" altLang="zh-CN" sz="2400" baseline="-25000">
                <a:solidFill>
                  <a:srgbClr val="000099"/>
                </a:solidFill>
                <a:effectLst>
                  <a:outerShdw blurRad="38100" dist="38100" dir="2700000" algn="tl">
                    <a:srgbClr val="000000">
                      <a:alpha val="43137"/>
                    </a:srgbClr>
                  </a:outerShdw>
                </a:effectLst>
                <a:latin typeface="Times New Roman" panose="02020603050405020304" charset="0"/>
                <a:ea typeface="楷体_GB2312" pitchFamily="49" charset="-122"/>
              </a:rPr>
              <a:t>I</a:t>
            </a:r>
            <a:r>
              <a:rPr lang="en-US" altLang="zh-CN" sz="2400" dirty="0">
                <a:solidFill>
                  <a:srgbClr val="000099"/>
                </a:solidFill>
                <a:effectLst>
                  <a:outerShdw blurRad="38100" dist="38100" dir="2700000" algn="tl">
                    <a:srgbClr val="000000">
                      <a:alpha val="43137"/>
                    </a:srgbClr>
                  </a:outerShdw>
                </a:effectLst>
                <a:latin typeface="Times New Roman" panose="02020603050405020304" charset="0"/>
                <a:ea typeface="楷体_GB2312" pitchFamily="49" charset="-122"/>
              </a:rPr>
              <a:t> =11010000,</a:t>
            </a:r>
            <a:r>
              <a:rPr lang="zh-CN" altLang="en-US" sz="2400" dirty="0">
                <a:solidFill>
                  <a:srgbClr val="000099"/>
                </a:solidFill>
                <a:effectLst>
                  <a:outerShdw blurRad="38100" dist="38100" dir="2700000" algn="tl">
                    <a:srgbClr val="000000">
                      <a:alpha val="43137"/>
                    </a:srgbClr>
                  </a:outerShdw>
                </a:effectLst>
                <a:latin typeface="Times New Roman" panose="02020603050405020304" charset="0"/>
                <a:ea typeface="楷体_GB2312" pitchFamily="49" charset="-122"/>
              </a:rPr>
              <a:t>从高位开始输入</a:t>
            </a:r>
            <a:endParaRPr lang="zh-CN" altLang="en-US" sz="2400" dirty="0">
              <a:solidFill>
                <a:srgbClr val="000099"/>
              </a:solidFill>
              <a:effectLst>
                <a:outerShdw blurRad="38100" dist="38100" dir="2700000" algn="tl">
                  <a:srgbClr val="000000">
                    <a:alpha val="43137"/>
                  </a:srgbClr>
                </a:outerShdw>
              </a:effectLst>
              <a:latin typeface="Times New Roman" panose="02020603050405020304" charset="0"/>
              <a:ea typeface="楷体_GB2312" pitchFamily="49" charset="-122"/>
            </a:endParaRPr>
          </a:p>
        </p:txBody>
      </p:sp>
      <p:pic>
        <p:nvPicPr>
          <p:cNvPr id="9413" name="图片 2850"/>
          <p:cNvPicPr>
            <a:picLocks noChangeAspect="1"/>
          </p:cNvPicPr>
          <p:nvPr/>
        </p:nvPicPr>
        <p:blipFill>
          <a:blip r:embed="rId1"/>
          <a:stretch>
            <a:fillRect/>
          </a:stretch>
        </p:blipFill>
        <p:spPr>
          <a:xfrm>
            <a:off x="1011555" y="1657985"/>
            <a:ext cx="6287135" cy="2968625"/>
          </a:xfrm>
          <a:prstGeom prst="rect">
            <a:avLst/>
          </a:prstGeom>
          <a:noFill/>
          <a:ln>
            <a:noFill/>
          </a:ln>
        </p:spPr>
      </p:pic>
      <p:sp>
        <p:nvSpPr>
          <p:cNvPr id="374805" name="矩形 374804"/>
          <p:cNvSpPr/>
          <p:nvPr/>
        </p:nvSpPr>
        <p:spPr>
          <a:xfrm>
            <a:off x="596900" y="4842352"/>
            <a:ext cx="8093075" cy="829945"/>
          </a:xfrm>
          <a:prstGeom prst="rect">
            <a:avLst/>
          </a:prstGeom>
          <a:solidFill>
            <a:schemeClr val="bg1"/>
          </a:solidFill>
          <a:ln w="9525" cap="flat" cmpd="sng">
            <a:solidFill>
              <a:srgbClr val="000066"/>
            </a:solidFill>
            <a:prstDash val="solid"/>
            <a:miter/>
            <a:headEnd type="none" w="med" len="med"/>
            <a:tailEnd type="none" w="med" len="med"/>
          </a:ln>
        </p:spPr>
        <p:txBody>
          <a:bodyPr anchor="ctr">
            <a:spAutoFit/>
          </a:bodyPr>
          <a:p>
            <a:pPr algn="l" eaLnBrk="0" hangingPunct="0"/>
            <a:r>
              <a:rPr lang="en-US" altLang="zh-CN" sz="2400">
                <a:effectLst>
                  <a:outerShdw blurRad="38100" dist="38100" dir="2700000" algn="tl">
                    <a:srgbClr val="000000">
                      <a:alpha val="43137"/>
                    </a:srgbClr>
                  </a:outerShdw>
                </a:effectLst>
                <a:latin typeface="Times New Roman" panose="02020603050405020304" charset="0"/>
                <a:ea typeface="黑体" panose="02010609060101010101" pitchFamily="49" charset="-122"/>
              </a:rPr>
              <a:t>         </a:t>
            </a:r>
            <a:r>
              <a:rPr lang="zh-CN" altLang="en-US" sz="2400" dirty="0">
                <a:solidFill>
                  <a:srgbClr val="000099"/>
                </a:solidFill>
                <a:effectLst>
                  <a:outerShdw blurRad="38100" dist="38100" dir="2700000" algn="tl">
                    <a:srgbClr val="000000">
                      <a:alpha val="43137"/>
                    </a:srgbClr>
                  </a:outerShdw>
                </a:effectLst>
                <a:latin typeface="Times New Roman" panose="02020603050405020304" charset="0"/>
                <a:ea typeface="楷体_GB2312" pitchFamily="49" charset="-122"/>
              </a:rPr>
              <a:t>经过</a:t>
            </a:r>
            <a:r>
              <a:rPr lang="en-US" altLang="zh-CN" sz="2400" dirty="0">
                <a:solidFill>
                  <a:srgbClr val="000099"/>
                </a:solidFill>
                <a:effectLst>
                  <a:outerShdw blurRad="38100" dist="38100" dir="2700000" algn="tl">
                    <a:srgbClr val="000000">
                      <a:alpha val="43137"/>
                    </a:srgbClr>
                  </a:outerShdw>
                </a:effectLst>
                <a:latin typeface="Times New Roman" panose="02020603050405020304" charset="0"/>
                <a:ea typeface="楷体_GB2312" pitchFamily="49" charset="-122"/>
              </a:rPr>
              <a:t>8</a:t>
            </a:r>
            <a:r>
              <a:rPr lang="zh-CN" altLang="en-US" sz="2400" dirty="0">
                <a:solidFill>
                  <a:srgbClr val="000099"/>
                </a:solidFill>
                <a:effectLst>
                  <a:outerShdw blurRad="38100" dist="38100" dir="2700000" algn="tl">
                    <a:srgbClr val="000000">
                      <a:alpha val="43137"/>
                    </a:srgbClr>
                  </a:outerShdw>
                </a:effectLst>
                <a:latin typeface="Times New Roman" panose="02020603050405020304" charset="0"/>
                <a:ea typeface="楷体_GB2312" pitchFamily="49" charset="-122"/>
              </a:rPr>
              <a:t>个</a:t>
            </a:r>
            <a:r>
              <a:rPr lang="en-US" altLang="zh-CN" sz="2400" dirty="0">
                <a:solidFill>
                  <a:srgbClr val="000099"/>
                </a:solidFill>
                <a:effectLst>
                  <a:outerShdw blurRad="38100" dist="38100" dir="2700000" algn="tl">
                    <a:srgbClr val="000000">
                      <a:alpha val="43137"/>
                    </a:srgbClr>
                  </a:outerShdw>
                </a:effectLst>
                <a:latin typeface="Times New Roman" panose="02020603050405020304" charset="0"/>
                <a:ea typeface="楷体_GB2312" pitchFamily="49" charset="-122"/>
              </a:rPr>
              <a:t>CP</a:t>
            </a:r>
            <a:r>
              <a:rPr lang="zh-CN" altLang="en-US" sz="2400" dirty="0">
                <a:solidFill>
                  <a:srgbClr val="000099"/>
                </a:solidFill>
                <a:effectLst>
                  <a:outerShdw blurRad="38100" dist="38100" dir="2700000" algn="tl">
                    <a:srgbClr val="000000">
                      <a:alpha val="43137"/>
                    </a:srgbClr>
                  </a:outerShdw>
                </a:effectLst>
                <a:latin typeface="Times New Roman" panose="02020603050405020304" charset="0"/>
                <a:ea typeface="楷体_GB2312" pitchFamily="49" charset="-122"/>
              </a:rPr>
              <a:t>脉冲作用后，从</a:t>
            </a:r>
            <a:r>
              <a:rPr lang="en-US" altLang="zh-CN" sz="2400" i="1">
                <a:solidFill>
                  <a:srgbClr val="000099"/>
                </a:solidFill>
                <a:effectLst>
                  <a:outerShdw blurRad="38100" dist="38100" dir="2700000" algn="tl">
                    <a:srgbClr val="000000">
                      <a:alpha val="43137"/>
                    </a:srgbClr>
                  </a:outerShdw>
                </a:effectLst>
                <a:latin typeface="Times New Roman" panose="02020603050405020304" charset="0"/>
                <a:ea typeface="楷体_GB2312" pitchFamily="49" charset="-122"/>
              </a:rPr>
              <a:t>D</a:t>
            </a:r>
            <a:r>
              <a:rPr lang="en-US" altLang="zh-CN" sz="2400" baseline="-25000">
                <a:solidFill>
                  <a:srgbClr val="000099"/>
                </a:solidFill>
                <a:effectLst>
                  <a:outerShdw blurRad="38100" dist="38100" dir="2700000" algn="tl">
                    <a:srgbClr val="000000">
                      <a:alpha val="43137"/>
                    </a:srgbClr>
                  </a:outerShdw>
                </a:effectLst>
                <a:latin typeface="Times New Roman" panose="02020603050405020304" charset="0"/>
                <a:ea typeface="楷体_GB2312" pitchFamily="49" charset="-122"/>
              </a:rPr>
              <a:t>I </a:t>
            </a:r>
            <a:r>
              <a:rPr lang="zh-CN" altLang="en-US" sz="2400" dirty="0">
                <a:solidFill>
                  <a:srgbClr val="000099"/>
                </a:solidFill>
                <a:effectLst>
                  <a:outerShdw blurRad="38100" dist="38100" dir="2700000" algn="tl">
                    <a:srgbClr val="000000">
                      <a:alpha val="43137"/>
                    </a:srgbClr>
                  </a:outerShdw>
                </a:effectLst>
                <a:latin typeface="Times New Roman" panose="02020603050405020304" charset="0"/>
                <a:ea typeface="楷体_GB2312" pitchFamily="49" charset="-122"/>
              </a:rPr>
              <a:t>端串行输入的数码就可以从</a:t>
            </a:r>
            <a:r>
              <a:rPr lang="en-US" altLang="zh-CN" sz="2400" i="1">
                <a:solidFill>
                  <a:srgbClr val="000099"/>
                </a:solidFill>
                <a:effectLst>
                  <a:outerShdw blurRad="38100" dist="38100" dir="2700000" algn="tl">
                    <a:srgbClr val="000000">
                      <a:alpha val="43137"/>
                    </a:srgbClr>
                  </a:outerShdw>
                </a:effectLst>
                <a:latin typeface="Times New Roman" panose="02020603050405020304" charset="0"/>
                <a:ea typeface="楷体_GB2312" pitchFamily="49" charset="-122"/>
              </a:rPr>
              <a:t>Q</a:t>
            </a:r>
            <a:r>
              <a:rPr lang="en-US" altLang="zh-CN" sz="2400" baseline="-25000">
                <a:solidFill>
                  <a:srgbClr val="000099"/>
                </a:solidFill>
                <a:effectLst>
                  <a:outerShdw blurRad="38100" dist="38100" dir="2700000" algn="tl">
                    <a:srgbClr val="000000">
                      <a:alpha val="43137"/>
                    </a:srgbClr>
                  </a:outerShdw>
                </a:effectLst>
                <a:latin typeface="Times New Roman" panose="02020603050405020304" charset="0"/>
                <a:ea typeface="楷体_GB2312" pitchFamily="49" charset="-122"/>
              </a:rPr>
              <a:t>3</a:t>
            </a:r>
            <a:r>
              <a:rPr lang="en-US" altLang="zh-CN" sz="2400" baseline="-25000">
                <a:solidFill>
                  <a:srgbClr val="000099"/>
                </a:solidFill>
                <a:effectLst>
                  <a:outerShdw blurRad="38100" dist="38100" dir="2700000" algn="tl">
                    <a:srgbClr val="000000">
                      <a:alpha val="43137"/>
                    </a:srgbClr>
                  </a:outerShdw>
                </a:effectLst>
                <a:latin typeface="Times New Roman" panose="02020603050405020304" charset="0"/>
                <a:ea typeface="楷体_GB2312" pitchFamily="49" charset="-122"/>
              </a:rPr>
              <a:t> </a:t>
            </a:r>
            <a:r>
              <a:rPr lang="zh-CN" altLang="en-US" sz="2400" dirty="0">
                <a:solidFill>
                  <a:srgbClr val="000099"/>
                </a:solidFill>
                <a:effectLst>
                  <a:outerShdw blurRad="38100" dist="38100" dir="2700000" algn="tl">
                    <a:srgbClr val="000000">
                      <a:alpha val="43137"/>
                    </a:srgbClr>
                  </a:outerShdw>
                </a:effectLst>
                <a:latin typeface="Times New Roman" panose="02020603050405020304" charset="0"/>
                <a:ea typeface="楷体_GB2312" pitchFamily="49" charset="-122"/>
              </a:rPr>
              <a:t>端串行输出。</a:t>
            </a:r>
            <a:r>
              <a:rPr lang="zh-CN" altLang="en-US" sz="2400" dirty="0">
                <a:solidFill>
                  <a:srgbClr val="000099"/>
                </a:solidFill>
                <a:effectLst>
                  <a:outerShdw blurRad="38100" dist="38100" dir="2700000" algn="tl">
                    <a:srgbClr val="000000">
                      <a:alpha val="43137"/>
                    </a:srgbClr>
                  </a:outerShdw>
                </a:effectLst>
                <a:latin typeface="楷体_GB2312" pitchFamily="49" charset="-122"/>
                <a:ea typeface="楷体_GB2312" pitchFamily="49" charset="-122"/>
              </a:rPr>
              <a:t>          串入</a:t>
            </a:r>
            <a:r>
              <a:rPr lang="en-US" altLang="zh-CN" sz="2400" dirty="0">
                <a:solidFill>
                  <a:srgbClr val="000099"/>
                </a:solidFill>
                <a:effectLst>
                  <a:outerShdw blurRad="38100" dist="38100" dir="2700000" algn="tl">
                    <a:srgbClr val="000000">
                      <a:alpha val="43137"/>
                    </a:srgbClr>
                  </a:outerShdw>
                </a:effectLst>
                <a:latin typeface="楷体_GB2312" pitchFamily="49" charset="-122"/>
                <a:ea typeface="楷体_GB2312" pitchFamily="49" charset="-122"/>
                <a:sym typeface="Symbol" panose="05050102010706020507" pitchFamily="18" charset="2"/>
              </a:rPr>
              <a:t></a:t>
            </a:r>
            <a:r>
              <a:rPr lang="zh-CN" altLang="en-US" sz="2400" dirty="0">
                <a:solidFill>
                  <a:srgbClr val="000099"/>
                </a:solidFill>
                <a:effectLst>
                  <a:outerShdw blurRad="38100" dist="38100" dir="2700000" algn="tl">
                    <a:srgbClr val="000000">
                      <a:alpha val="43137"/>
                    </a:srgbClr>
                  </a:outerShdw>
                </a:effectLst>
                <a:latin typeface="楷体_GB2312" pitchFamily="49" charset="-122"/>
                <a:ea typeface="楷体_GB2312" pitchFamily="49" charset="-122"/>
              </a:rPr>
              <a:t>串出</a:t>
            </a:r>
            <a:endParaRPr lang="zh-CN" altLang="en-US" sz="2400" dirty="0">
              <a:solidFill>
                <a:srgbClr val="000099"/>
              </a:solidFill>
              <a:effectLst>
                <a:outerShdw blurRad="38100" dist="38100" dir="2700000" algn="tl">
                  <a:srgbClr val="000000">
                    <a:alpha val="43137"/>
                  </a:srgbClr>
                </a:outerShdw>
              </a:effectLst>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74805"/>
                                        </p:tgtEl>
                                        <p:attrNameLst>
                                          <p:attrName>style.visibility</p:attrName>
                                        </p:attrNameLst>
                                      </p:cBhvr>
                                      <p:to>
                                        <p:strVal val="visible"/>
                                      </p:to>
                                    </p:set>
                                    <p:animEffect transition="in" filter="randombar(horizontal)">
                                      <p:cBhvr>
                                        <p:cTn id="7" dur="500"/>
                                        <p:tgtEl>
                                          <p:spTgt spid="3748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805" grpId="0" bldLvl="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6.5 </a:t>
            </a:r>
            <a:r>
              <a:rPr lang="zh-CN" b="1" dirty="0">
                <a:solidFill>
                  <a:srgbClr val="FF0000"/>
                </a:solidFill>
                <a:latin typeface="黑体" panose="02010609060101010101" pitchFamily="49" charset="-122"/>
                <a:ea typeface="黑体" panose="02010609060101010101" pitchFamily="49" charset="-122"/>
                <a:sym typeface="+mn-ea"/>
              </a:rPr>
              <a:t>数码寄存器与移位寄存器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3" name="文本框 2"/>
          <p:cNvSpPr txBox="1"/>
          <p:nvPr/>
        </p:nvSpPr>
        <p:spPr>
          <a:xfrm>
            <a:off x="932815" y="1170305"/>
            <a:ext cx="5080000" cy="460375"/>
          </a:xfrm>
          <a:prstGeom prst="rect">
            <a:avLst/>
          </a:prstGeom>
          <a:noFill/>
          <a:ln w="9525">
            <a:noFill/>
          </a:ln>
        </p:spPr>
        <p:txBody>
          <a:bodyPr>
            <a:spAutoFit/>
          </a:bodyPr>
          <a:p>
            <a:r>
              <a:rPr lang="en-US" sz="2400" b="1">
                <a:latin typeface="Times New Roman" panose="02020603050405020304" charset="0"/>
              </a:rPr>
              <a:t>(2) 4</a:t>
            </a:r>
            <a:r>
              <a:rPr lang="zh-CN" sz="2400" b="1">
                <a:ea typeface="宋体" panose="02010600030101010101" pitchFamily="2" charset="-122"/>
              </a:rPr>
              <a:t>位</a:t>
            </a:r>
            <a:r>
              <a:rPr lang="zh-CN" altLang="en-US" sz="2400" b="1" noProof="0" smtClean="0">
                <a:ln>
                  <a:noFill/>
                </a:ln>
                <a:solidFill>
                  <a:srgbClr val="000000"/>
                </a:solidFill>
                <a:effectLst>
                  <a:outerShdw blurRad="38100" dist="38100" dir="2700000" algn="tl">
                    <a:srgbClr val="000000">
                      <a:alpha val="43137"/>
                    </a:srgbClr>
                  </a:outerShdw>
                </a:effectLst>
                <a:uLnTx/>
                <a:uFillTx/>
                <a:sym typeface="+mn-ea"/>
              </a:rPr>
              <a:t>左</a:t>
            </a:r>
            <a:r>
              <a:rPr lang="zh-CN" sz="2400" b="1">
                <a:ea typeface="宋体" panose="02010600030101010101" pitchFamily="2" charset="-122"/>
              </a:rPr>
              <a:t>移寄存器电路结构</a:t>
            </a:r>
            <a:endParaRPr lang="zh-CN" altLang="en-US" sz="2400" b="1"/>
          </a:p>
        </p:txBody>
      </p:sp>
      <p:pic>
        <p:nvPicPr>
          <p:cNvPr id="9414" name="图片 2851"/>
          <p:cNvPicPr>
            <a:picLocks noChangeAspect="1"/>
          </p:cNvPicPr>
          <p:nvPr/>
        </p:nvPicPr>
        <p:blipFill>
          <a:blip r:embed="rId1"/>
          <a:stretch>
            <a:fillRect/>
          </a:stretch>
        </p:blipFill>
        <p:spPr>
          <a:xfrm>
            <a:off x="1017905" y="1570990"/>
            <a:ext cx="7096125" cy="2625090"/>
          </a:xfrm>
          <a:prstGeom prst="rect">
            <a:avLst/>
          </a:prstGeom>
          <a:noFill/>
          <a:ln>
            <a:noFill/>
          </a:ln>
        </p:spPr>
      </p:pic>
      <p:sp>
        <p:nvSpPr>
          <p:cNvPr id="58371" name="Rectangle 3"/>
          <p:cNvSpPr>
            <a:spLocks noChangeArrowheads="1"/>
          </p:cNvSpPr>
          <p:nvPr/>
        </p:nvSpPr>
        <p:spPr bwMode="auto">
          <a:xfrm>
            <a:off x="805498" y="4260215"/>
            <a:ext cx="86106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p>
            <a:pPr marL="342900" marR="0" lvl="0" indent="-34290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cs typeface="+mn-cs"/>
              </a:rPr>
              <a:t>结构特点：</a:t>
            </a:r>
            <a:r>
              <a:rPr kumimoji="0" lang="zh-CN" altLang="en-US" sz="24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右边触发器的输出端接左邻触发器的输入端。</a:t>
            </a:r>
            <a:endParaRPr kumimoji="0" lang="zh-CN" altLang="en-US" sz="24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58373" name="Rectangle 5"/>
          <p:cNvSpPr>
            <a:spLocks noChangeArrowheads="1"/>
          </p:cNvSpPr>
          <p:nvPr/>
        </p:nvSpPr>
        <p:spPr bwMode="auto">
          <a:xfrm>
            <a:off x="592773" y="5250498"/>
            <a:ext cx="7705725" cy="1087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L="0" marR="0" lvl="0" indent="0" algn="l" defTabSz="914400" rtl="0" eaLnBrk="1" fontAlgn="base" latinLnBrk="0" hangingPunct="1">
              <a:lnSpc>
                <a:spcPct val="135000"/>
              </a:lnSpc>
              <a:spcBef>
                <a:spcPct val="20000"/>
              </a:spcBef>
              <a:spcAft>
                <a:spcPct val="0"/>
              </a:spcAft>
              <a:buClrTx/>
              <a:buSzTx/>
              <a:buFontTx/>
              <a:buNone/>
              <a:defRPr/>
            </a:pPr>
            <a:r>
              <a:rPr kumimoji="1" lang="zh-CN" altLang="en-US" sz="24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cs typeface="+mn-cs"/>
              </a:rPr>
              <a:t>  将右移寄存器和左移寄存器组合起来，并引入控制端便构成既可左移又可右移的双向移位寄存器。</a:t>
            </a:r>
            <a:endParaRPr kumimoji="1" lang="zh-CN" altLang="en-US" sz="24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cs typeface="+mn-cs"/>
            </a:endParaRPr>
          </a:p>
        </p:txBody>
      </p:sp>
      <p:sp>
        <p:nvSpPr>
          <p:cNvPr id="104" name="文本框 103"/>
          <p:cNvSpPr txBox="1"/>
          <p:nvPr/>
        </p:nvSpPr>
        <p:spPr>
          <a:xfrm>
            <a:off x="523875" y="4841875"/>
            <a:ext cx="5080000" cy="460375"/>
          </a:xfrm>
          <a:prstGeom prst="rect">
            <a:avLst/>
          </a:prstGeom>
          <a:noFill/>
          <a:ln w="9525">
            <a:noFill/>
          </a:ln>
        </p:spPr>
        <p:txBody>
          <a:bodyPr>
            <a:spAutoFit/>
          </a:bodyPr>
          <a:p>
            <a:pPr indent="267970"/>
            <a:r>
              <a:rPr lang="en-US" sz="2400" b="1">
                <a:solidFill>
                  <a:schemeClr val="accent6">
                    <a:lumMod val="60000"/>
                    <a:lumOff val="40000"/>
                  </a:schemeClr>
                </a:solidFill>
                <a:latin typeface="Times New Roman" panose="02020603050405020304" charset="0"/>
                <a:ea typeface="宋体" panose="02010600030101010101" pitchFamily="2" charset="-122"/>
              </a:rPr>
              <a:t>2. </a:t>
            </a:r>
            <a:r>
              <a:rPr lang="zh-CN" sz="2400" b="1">
                <a:solidFill>
                  <a:schemeClr val="accent6">
                    <a:lumMod val="60000"/>
                    <a:lumOff val="40000"/>
                  </a:schemeClr>
                </a:solidFill>
                <a:ea typeface="宋体" panose="02010600030101010101" pitchFamily="2" charset="-122"/>
              </a:rPr>
              <a:t>双向移位寄存器</a:t>
            </a:r>
            <a:endParaRPr lang="zh-CN" altLang="en-US" sz="2400" b="1">
              <a:solidFill>
                <a:schemeClr val="accent6">
                  <a:lumMod val="60000"/>
                  <a:lumOff val="40000"/>
                </a:schemeClr>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8371"/>
                                        </p:tgtEl>
                                        <p:attrNameLst>
                                          <p:attrName>style.visibility</p:attrName>
                                        </p:attrNameLst>
                                      </p:cBhvr>
                                      <p:to>
                                        <p:strVal val="visible"/>
                                      </p:to>
                                    </p:set>
                                    <p:animEffect transition="in" filter="blinds(horizontal)">
                                      <p:cBhvr>
                                        <p:cTn id="7" dur="500"/>
                                        <p:tgtEl>
                                          <p:spTgt spid="5837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4"/>
                                        </p:tgtEl>
                                        <p:attrNameLst>
                                          <p:attrName>style.visibility</p:attrName>
                                        </p:attrNameLst>
                                      </p:cBhvr>
                                      <p:to>
                                        <p:strVal val="visible"/>
                                      </p:to>
                                    </p:set>
                                  </p:childTnLst>
                                </p:cTn>
                              </p:par>
                            </p:childTnLst>
                          </p:cTn>
                        </p:par>
                        <p:par>
                          <p:cTn id="12" fill="hold">
                            <p:stCondLst>
                              <p:cond delay="0"/>
                            </p:stCondLst>
                            <p:childTnLst>
                              <p:par>
                                <p:cTn id="13" presetID="3" presetClass="entr" presetSubtype="10" fill="hold" grpId="0" nodeType="afterEffect">
                                  <p:stCondLst>
                                    <p:cond delay="1000"/>
                                  </p:stCondLst>
                                  <p:childTnLst>
                                    <p:set>
                                      <p:cBhvr>
                                        <p:cTn id="14" dur="1" fill="hold">
                                          <p:stCondLst>
                                            <p:cond delay="0"/>
                                          </p:stCondLst>
                                        </p:cTn>
                                        <p:tgtEl>
                                          <p:spTgt spid="58373"/>
                                        </p:tgtEl>
                                        <p:attrNameLst>
                                          <p:attrName>style.visibility</p:attrName>
                                        </p:attrNameLst>
                                      </p:cBhvr>
                                      <p:to>
                                        <p:strVal val="visible"/>
                                      </p:to>
                                    </p:set>
                                    <p:animEffect transition="in" filter="blinds(horizontal)">
                                      <p:cBhvr>
                                        <p:cTn id="15" dur="500"/>
                                        <p:tgtEl>
                                          <p:spTgt spid="58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ldLvl="0" animBg="1"/>
      <p:bldP spid="58373" grpId="0" bldLvl="0" animBg="1"/>
      <p:bldP spid="104"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6.5 </a:t>
            </a:r>
            <a:r>
              <a:rPr lang="zh-CN" b="1" dirty="0">
                <a:solidFill>
                  <a:srgbClr val="FF0000"/>
                </a:solidFill>
                <a:latin typeface="黑体" panose="02010609060101010101" pitchFamily="49" charset="-122"/>
                <a:ea typeface="黑体" panose="02010609060101010101" pitchFamily="49" charset="-122"/>
                <a:sym typeface="+mn-ea"/>
              </a:rPr>
              <a:t>数码寄存器与移位寄存器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3" name="文本框 2"/>
          <p:cNvSpPr txBox="1"/>
          <p:nvPr/>
        </p:nvSpPr>
        <p:spPr>
          <a:xfrm>
            <a:off x="1043940" y="1135380"/>
            <a:ext cx="5623560" cy="460375"/>
          </a:xfrm>
          <a:prstGeom prst="rect">
            <a:avLst/>
          </a:prstGeom>
          <a:noFill/>
          <a:ln w="9525">
            <a:noFill/>
          </a:ln>
        </p:spPr>
        <p:txBody>
          <a:bodyPr wrap="square">
            <a:spAutoFit/>
          </a:bodyPr>
          <a:p>
            <a:r>
              <a:rPr lang="zh-CN" sz="2400" b="1">
                <a:ea typeface="宋体" panose="02010600030101010101" pitchFamily="2" charset="-122"/>
              </a:rPr>
              <a:t>双向</a:t>
            </a:r>
            <a:r>
              <a:rPr lang="en-US" sz="2400" b="1">
                <a:latin typeface="Times New Roman" panose="02020603050405020304" charset="0"/>
              </a:rPr>
              <a:t>4</a:t>
            </a:r>
            <a:r>
              <a:rPr lang="zh-CN" sz="2400" b="1">
                <a:ea typeface="宋体" panose="02010600030101010101" pitchFamily="2" charset="-122"/>
              </a:rPr>
              <a:t>位移位寄存器</a:t>
            </a:r>
            <a:r>
              <a:rPr lang="en-US" sz="2400" b="1">
                <a:latin typeface="Times New Roman" panose="02020603050405020304" charset="0"/>
              </a:rPr>
              <a:t>74LS194</a:t>
            </a:r>
            <a:r>
              <a:rPr lang="zh-CN" sz="2400" b="1">
                <a:ea typeface="宋体" panose="02010600030101010101" pitchFamily="2" charset="-122"/>
              </a:rPr>
              <a:t>的逻辑电路</a:t>
            </a:r>
            <a:endParaRPr lang="zh-CN" altLang="en-US" sz="2400" b="1"/>
          </a:p>
        </p:txBody>
      </p:sp>
      <p:pic>
        <p:nvPicPr>
          <p:cNvPr id="9415" name="图片 2852"/>
          <p:cNvPicPr>
            <a:picLocks noChangeAspect="1"/>
          </p:cNvPicPr>
          <p:nvPr/>
        </p:nvPicPr>
        <p:blipFill>
          <a:blip r:embed="rId1"/>
          <a:srcRect b="40032"/>
          <a:stretch>
            <a:fillRect/>
          </a:stretch>
        </p:blipFill>
        <p:spPr>
          <a:xfrm>
            <a:off x="656590" y="1595755"/>
            <a:ext cx="8141335" cy="4169410"/>
          </a:xfrm>
          <a:prstGeom prst="rect">
            <a:avLst/>
          </a:prstGeom>
          <a:noFill/>
          <a:ln>
            <a:noFill/>
          </a:ln>
        </p:spPr>
      </p:pic>
      <p:grpSp>
        <p:nvGrpSpPr>
          <p:cNvPr id="150533" name="Group 5"/>
          <p:cNvGrpSpPr/>
          <p:nvPr/>
        </p:nvGrpSpPr>
        <p:grpSpPr>
          <a:xfrm>
            <a:off x="1702753" y="2841308"/>
            <a:ext cx="6516687" cy="804863"/>
            <a:chOff x="975" y="2175"/>
            <a:chExt cx="4105" cy="507"/>
          </a:xfrm>
        </p:grpSpPr>
        <p:sp>
          <p:nvSpPr>
            <p:cNvPr id="150534" name="AutoShape 6"/>
            <p:cNvSpPr>
              <a:spLocks noChangeArrowheads="1"/>
            </p:cNvSpPr>
            <p:nvPr/>
          </p:nvSpPr>
          <p:spPr bwMode="auto">
            <a:xfrm>
              <a:off x="975" y="2175"/>
              <a:ext cx="1022" cy="499"/>
            </a:xfrm>
            <a:prstGeom prst="roundRect">
              <a:avLst>
                <a:gd name="adj" fmla="val 16667"/>
              </a:avLst>
            </a:prstGeom>
            <a:noFill/>
            <a:ln w="28575" algn="ctr">
              <a:solidFill>
                <a:srgbClr val="00B0F0"/>
              </a:solidFill>
              <a:prstDash val="dash"/>
              <a:round/>
            </a:ln>
            <a:effectLst/>
            <a:extLst>
              <a:ext uri="{909E8E84-426E-40DD-AFC4-6F175D3DCCD1}">
                <a14:hiddenFill xmlns:a14="http://schemas.microsoft.com/office/drawing/2010/main">
                  <a:solidFill>
                    <a:srgbClr val="00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1" i="0" u="none" strike="noStrike" kern="1200" cap="none" spc="0" normalizeH="0" baseline="0" noProof="0" smtClean="0">
                <a:ln>
                  <a:noFill/>
                </a:ln>
                <a:solidFill>
                  <a:srgbClr val="000066"/>
                </a:solidFill>
                <a:effectLst>
                  <a:outerShdw blurRad="38100" dist="38100" dir="2700000" algn="tl">
                    <a:srgbClr val="000000">
                      <a:alpha val="43137"/>
                    </a:srgbClr>
                  </a:outerShdw>
                </a:effectLst>
                <a:uLnTx/>
                <a:uFillTx/>
                <a:latin typeface="Tahoma" panose="020B0604030504040204" pitchFamily="34" charset="0"/>
                <a:ea typeface="楷体_GB2312" pitchFamily="49" charset="-122"/>
                <a:cs typeface="+mn-cs"/>
              </a:endParaRPr>
            </a:p>
          </p:txBody>
        </p:sp>
        <p:sp>
          <p:nvSpPr>
            <p:cNvPr id="150535" name="AutoShape 7"/>
            <p:cNvSpPr>
              <a:spLocks noChangeArrowheads="1"/>
            </p:cNvSpPr>
            <p:nvPr/>
          </p:nvSpPr>
          <p:spPr bwMode="auto">
            <a:xfrm>
              <a:off x="2086" y="2183"/>
              <a:ext cx="930" cy="499"/>
            </a:xfrm>
            <a:prstGeom prst="roundRect">
              <a:avLst>
                <a:gd name="adj" fmla="val 16667"/>
              </a:avLst>
            </a:prstGeom>
            <a:noFill/>
            <a:ln w="28575" algn="ctr">
              <a:solidFill>
                <a:srgbClr val="00B0F0"/>
              </a:solidFill>
              <a:prstDash val="dash"/>
              <a:round/>
            </a:ln>
            <a:effectLst/>
            <a:extLst>
              <a:ext uri="{909E8E84-426E-40DD-AFC4-6F175D3DCCD1}">
                <a14:hiddenFill xmlns:a14="http://schemas.microsoft.com/office/drawing/2010/main">
                  <a:solidFill>
                    <a:srgbClr val="00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1" i="0" u="none" strike="noStrike" kern="1200" cap="none" spc="0" normalizeH="0" baseline="0" noProof="0" smtClean="0">
                <a:ln>
                  <a:noFill/>
                </a:ln>
                <a:solidFill>
                  <a:srgbClr val="000066"/>
                </a:solidFill>
                <a:effectLst>
                  <a:outerShdw blurRad="38100" dist="38100" dir="2700000" algn="tl">
                    <a:srgbClr val="000000">
                      <a:alpha val="43137"/>
                    </a:srgbClr>
                  </a:outerShdw>
                </a:effectLst>
                <a:uLnTx/>
                <a:uFillTx/>
                <a:latin typeface="Tahoma" panose="020B0604030504040204" pitchFamily="34" charset="0"/>
                <a:ea typeface="楷体_GB2312" pitchFamily="49" charset="-122"/>
                <a:cs typeface="+mn-cs"/>
              </a:endParaRPr>
            </a:p>
          </p:txBody>
        </p:sp>
        <p:sp>
          <p:nvSpPr>
            <p:cNvPr id="150536" name="AutoShape 8"/>
            <p:cNvSpPr>
              <a:spLocks noChangeArrowheads="1"/>
            </p:cNvSpPr>
            <p:nvPr/>
          </p:nvSpPr>
          <p:spPr bwMode="auto">
            <a:xfrm>
              <a:off x="3129" y="2183"/>
              <a:ext cx="930" cy="499"/>
            </a:xfrm>
            <a:prstGeom prst="roundRect">
              <a:avLst>
                <a:gd name="adj" fmla="val 16667"/>
              </a:avLst>
            </a:prstGeom>
            <a:noFill/>
            <a:ln w="28575" algn="ctr">
              <a:solidFill>
                <a:srgbClr val="00B0F0"/>
              </a:solidFill>
              <a:prstDash val="dash"/>
              <a:round/>
            </a:ln>
            <a:effectLst/>
            <a:extLst>
              <a:ext uri="{909E8E84-426E-40DD-AFC4-6F175D3DCCD1}">
                <a14:hiddenFill xmlns:a14="http://schemas.microsoft.com/office/drawing/2010/main">
                  <a:solidFill>
                    <a:srgbClr val="00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1" i="0" u="none" strike="noStrike" kern="1200" cap="none" spc="0" normalizeH="0" baseline="0" noProof="0" smtClean="0">
                <a:ln>
                  <a:noFill/>
                </a:ln>
                <a:solidFill>
                  <a:srgbClr val="000066"/>
                </a:solidFill>
                <a:effectLst>
                  <a:outerShdw blurRad="38100" dist="38100" dir="2700000" algn="tl">
                    <a:srgbClr val="000000">
                      <a:alpha val="43137"/>
                    </a:srgbClr>
                  </a:outerShdw>
                </a:effectLst>
                <a:uLnTx/>
                <a:uFillTx/>
                <a:latin typeface="Tahoma" panose="020B0604030504040204" pitchFamily="34" charset="0"/>
                <a:ea typeface="楷体_GB2312" pitchFamily="49" charset="-122"/>
                <a:cs typeface="+mn-cs"/>
              </a:endParaRPr>
            </a:p>
          </p:txBody>
        </p:sp>
        <p:sp>
          <p:nvSpPr>
            <p:cNvPr id="150537" name="AutoShape 9"/>
            <p:cNvSpPr>
              <a:spLocks noChangeArrowheads="1"/>
            </p:cNvSpPr>
            <p:nvPr/>
          </p:nvSpPr>
          <p:spPr bwMode="auto">
            <a:xfrm>
              <a:off x="4150" y="2183"/>
              <a:ext cx="930" cy="499"/>
            </a:xfrm>
            <a:prstGeom prst="roundRect">
              <a:avLst>
                <a:gd name="adj" fmla="val 16667"/>
              </a:avLst>
            </a:prstGeom>
            <a:noFill/>
            <a:ln w="28575" algn="ctr">
              <a:solidFill>
                <a:srgbClr val="00B0F0"/>
              </a:solidFill>
              <a:prstDash val="dash"/>
              <a:round/>
            </a:ln>
            <a:effectLst/>
            <a:extLst>
              <a:ext uri="{909E8E84-426E-40DD-AFC4-6F175D3DCCD1}">
                <a14:hiddenFill xmlns:a14="http://schemas.microsoft.com/office/drawing/2010/main">
                  <a:solidFill>
                    <a:srgbClr val="00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1" i="0" u="none" strike="noStrike" kern="1200" cap="none" spc="0" normalizeH="0" baseline="0" noProof="0" smtClean="0">
                <a:ln>
                  <a:noFill/>
                </a:ln>
                <a:solidFill>
                  <a:srgbClr val="000066"/>
                </a:solidFill>
                <a:effectLst>
                  <a:outerShdw blurRad="38100" dist="38100" dir="2700000" algn="tl">
                    <a:srgbClr val="000000">
                      <a:alpha val="43137"/>
                    </a:srgbClr>
                  </a:outerShdw>
                </a:effectLst>
                <a:uLnTx/>
                <a:uFillTx/>
                <a:latin typeface="Tahoma" panose="020B0604030504040204" pitchFamily="34" charset="0"/>
                <a:ea typeface="楷体_GB2312" pitchFamily="49" charset="-122"/>
                <a:cs typeface="+mn-cs"/>
              </a:endParaRPr>
            </a:p>
          </p:txBody>
        </p:sp>
      </p:grpSp>
      <p:sp>
        <p:nvSpPr>
          <p:cNvPr id="150538" name="AutoShape 10"/>
          <p:cNvSpPr>
            <a:spLocks noChangeArrowheads="1"/>
          </p:cNvSpPr>
          <p:nvPr/>
        </p:nvSpPr>
        <p:spPr bwMode="auto">
          <a:xfrm>
            <a:off x="482283" y="1897698"/>
            <a:ext cx="468313" cy="819150"/>
          </a:xfrm>
          <a:prstGeom prst="roundRect">
            <a:avLst>
              <a:gd name="adj" fmla="val 16667"/>
            </a:avLst>
          </a:prstGeom>
          <a:noFill/>
          <a:ln w="28575" algn="ctr">
            <a:solidFill>
              <a:srgbClr val="00B0F0"/>
            </a:solidFill>
            <a:prstDash val="dash"/>
            <a:round/>
          </a:ln>
          <a:effectLst/>
          <a:extLst>
            <a:ext uri="{909E8E84-426E-40DD-AFC4-6F175D3DCCD1}">
              <a14:hiddenFill xmlns:a14="http://schemas.microsoft.com/office/drawing/2010/main">
                <a:solidFill>
                  <a:srgbClr val="00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1" i="0" u="none" strike="noStrike" kern="1200" cap="none" spc="0" normalizeH="0" baseline="0" noProof="0" smtClean="0">
              <a:ln>
                <a:noFill/>
              </a:ln>
              <a:solidFill>
                <a:srgbClr val="000066"/>
              </a:solidFill>
              <a:effectLst>
                <a:outerShdw blurRad="38100" dist="38100" dir="2700000" algn="tl">
                  <a:srgbClr val="000000">
                    <a:alpha val="43137"/>
                  </a:srgbClr>
                </a:outerShdw>
              </a:effectLst>
              <a:uLnTx/>
              <a:uFillTx/>
              <a:latin typeface="Tahoma" panose="020B0604030504040204" pitchFamily="34" charset="0"/>
              <a:ea typeface="楷体_GB2312" pitchFamily="49" charset="-122"/>
              <a:cs typeface="+mn-cs"/>
            </a:endParaRPr>
          </a:p>
        </p:txBody>
      </p:sp>
      <p:sp>
        <p:nvSpPr>
          <p:cNvPr id="150539" name="AutoShape 11"/>
          <p:cNvSpPr>
            <a:spLocks noChangeArrowheads="1"/>
          </p:cNvSpPr>
          <p:nvPr/>
        </p:nvSpPr>
        <p:spPr bwMode="auto">
          <a:xfrm>
            <a:off x="1850073" y="3707130"/>
            <a:ext cx="6516688" cy="1296988"/>
          </a:xfrm>
          <a:prstGeom prst="roundRect">
            <a:avLst>
              <a:gd name="adj" fmla="val 16667"/>
            </a:avLst>
          </a:prstGeom>
          <a:noFill/>
          <a:ln w="28575" algn="ctr">
            <a:solidFill>
              <a:srgbClr val="00B0F0"/>
            </a:solidFill>
            <a:prstDash val="dash"/>
            <a:round/>
          </a:ln>
          <a:effectLst/>
          <a:extLst>
            <a:ext uri="{909E8E84-426E-40DD-AFC4-6F175D3DCCD1}">
              <a14:hiddenFill xmlns:a14="http://schemas.microsoft.com/office/drawing/2010/main">
                <a:solidFill>
                  <a:srgbClr val="00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1" i="0" u="none" strike="noStrike" kern="1200" cap="none" spc="0" normalizeH="0" baseline="0" noProof="0" smtClean="0">
              <a:ln>
                <a:noFill/>
              </a:ln>
              <a:solidFill>
                <a:srgbClr val="000066"/>
              </a:solidFill>
              <a:effectLst>
                <a:outerShdw blurRad="38100" dist="38100" dir="2700000" algn="tl">
                  <a:srgbClr val="000000">
                    <a:alpha val="43137"/>
                  </a:srgbClr>
                </a:outerShdw>
              </a:effectLst>
              <a:uLnTx/>
              <a:uFillTx/>
              <a:latin typeface="Tahoma" panose="020B0604030504040204" pitchFamily="34" charset="0"/>
              <a:ea typeface="楷体_GB2312" pitchFamily="49" charset="-122"/>
              <a:cs typeface="+mn-cs"/>
            </a:endParaRPr>
          </a:p>
        </p:txBody>
      </p:sp>
      <p:sp>
        <p:nvSpPr>
          <p:cNvPr id="150544" name="Rectangle 16"/>
          <p:cNvSpPr>
            <a:spLocks noChangeArrowheads="1"/>
          </p:cNvSpPr>
          <p:nvPr/>
        </p:nvSpPr>
        <p:spPr bwMode="auto">
          <a:xfrm>
            <a:off x="-230505" y="5538788"/>
            <a:ext cx="94678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p>
            <a:pPr marL="342900" marR="0" lvl="0" indent="-342900" algn="just" defTabSz="914400" rtl="0" eaLnBrk="1" fontAlgn="base" latinLnBrk="0" hangingPunct="1">
              <a:lnSpc>
                <a:spcPct val="131000"/>
              </a:lnSpc>
              <a:spcBef>
                <a:spcPct val="20000"/>
              </a:spcBef>
              <a:spcAft>
                <a:spcPct val="0"/>
              </a:spcAft>
              <a:buClrTx/>
              <a:buSzTx/>
              <a:buFontTx/>
              <a:buNone/>
              <a:defRPr/>
            </a:pPr>
            <a:r>
              <a:rPr kumimoji="0" lang="en-US" altLang="zh-CN" sz="2000" b="1" i="1"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          D</a:t>
            </a:r>
            <a:r>
              <a:rPr kumimoji="0" lang="en-US" altLang="zh-CN" sz="1900" b="1" i="0" u="none" strike="noStrike" kern="1200" cap="none" spc="0" normalizeH="0" baseline="-2500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SL</a:t>
            </a:r>
            <a:r>
              <a:rPr kumimoji="0" lang="en-US" altLang="zh-CN" sz="20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 </a:t>
            </a:r>
            <a:r>
              <a:rPr kumimoji="0" lang="zh-CN" altLang="en-US" sz="20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和</a:t>
            </a:r>
            <a:r>
              <a:rPr kumimoji="0" lang="en-US" altLang="zh-CN" sz="2000" b="1" i="1"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D</a:t>
            </a:r>
            <a:r>
              <a:rPr kumimoji="0" lang="en-US" altLang="zh-CN" sz="1900" b="1" i="0" u="none" strike="noStrike" kern="1200" cap="none" spc="0" normalizeH="0" baseline="-2500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SR</a:t>
            </a:r>
            <a:r>
              <a:rPr kumimoji="0" lang="zh-CN" altLang="en-US" sz="20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分别是左移和右移串行输入。</a:t>
            </a:r>
            <a:r>
              <a:rPr kumimoji="0" lang="en-US" altLang="zh-CN" sz="2000" b="1" i="1"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D</a:t>
            </a:r>
            <a:r>
              <a:rPr kumimoji="0" lang="en-US" altLang="zh-CN" sz="1900" b="1" i="0" u="none" strike="noStrike" kern="1200" cap="none" spc="0" normalizeH="0" baseline="-2500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0</a:t>
            </a:r>
            <a:r>
              <a:rPr kumimoji="0" lang="zh-CN" altLang="en-US" sz="20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a:t>
            </a:r>
            <a:r>
              <a:rPr kumimoji="0" lang="en-US" altLang="zh-CN" sz="2000" b="1" i="1"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D</a:t>
            </a:r>
            <a:r>
              <a:rPr kumimoji="0" lang="en-US" altLang="zh-CN" sz="1900" b="1" i="0" u="none" strike="noStrike" kern="1200" cap="none" spc="0" normalizeH="0" baseline="-2500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1</a:t>
            </a:r>
            <a:r>
              <a:rPr kumimoji="0" lang="zh-CN" altLang="en-US" sz="20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a:t>
            </a:r>
            <a:r>
              <a:rPr kumimoji="0" lang="en-US" altLang="zh-CN" sz="2000" b="1" i="1"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D</a:t>
            </a:r>
            <a:r>
              <a:rPr kumimoji="0" lang="en-US" altLang="zh-CN" sz="1900" b="1" i="0" u="none" strike="noStrike" kern="1200" cap="none" spc="0" normalizeH="0" baseline="-2500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宋体" panose="02010600030101010101" pitchFamily="2" charset="-122"/>
                <a:ea typeface="宋体" panose="02010600030101010101" pitchFamily="2" charset="-122"/>
                <a:cs typeface="+mn-cs"/>
              </a:rPr>
              <a:t>2</a:t>
            </a:r>
            <a:r>
              <a:rPr kumimoji="0" lang="zh-CN" altLang="en-US" sz="20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和</a:t>
            </a:r>
            <a:r>
              <a:rPr kumimoji="0" lang="en-US" altLang="zh-CN" sz="2000" b="1" i="1"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D</a:t>
            </a:r>
            <a:r>
              <a:rPr kumimoji="0" lang="en-US" altLang="zh-CN" sz="1900" b="1" i="0" u="none" strike="noStrike" kern="1200" cap="none" spc="0" normalizeH="0" baseline="-2500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3</a:t>
            </a:r>
            <a:r>
              <a:rPr kumimoji="0" lang="zh-CN" altLang="en-US" sz="20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是并行输入端</a:t>
            </a:r>
            <a:endParaRPr kumimoji="0" lang="zh-CN" altLang="en-US" sz="20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50543" name="Rectangle 15"/>
          <p:cNvSpPr>
            <a:spLocks noChangeArrowheads="1"/>
          </p:cNvSpPr>
          <p:nvPr/>
        </p:nvSpPr>
        <p:spPr bwMode="auto">
          <a:xfrm>
            <a:off x="-303530" y="6019483"/>
            <a:ext cx="9540875"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p>
            <a:pPr marL="342900" marR="0" lvl="0" indent="-342900" algn="just" defTabSz="914400" rtl="0" eaLnBrk="1" fontAlgn="base" latinLnBrk="0" hangingPunct="1">
              <a:lnSpc>
                <a:spcPct val="131000"/>
              </a:lnSpc>
              <a:spcBef>
                <a:spcPct val="20000"/>
              </a:spcBef>
              <a:spcAft>
                <a:spcPct val="0"/>
              </a:spcAft>
              <a:buClrTx/>
              <a:buSzTx/>
              <a:buFontTx/>
              <a:buNone/>
              <a:defRPr/>
            </a:pPr>
            <a:r>
              <a:rPr kumimoji="0" lang="en-US" altLang="zh-CN" sz="2000" b="1" i="1"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           Q</a:t>
            </a:r>
            <a:r>
              <a:rPr kumimoji="0" lang="en-US" altLang="zh-CN" sz="1900" b="1" i="0" u="none" strike="noStrike" kern="1200" cap="none" spc="0" normalizeH="0" baseline="-2500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0</a:t>
            </a:r>
            <a:r>
              <a:rPr kumimoji="0" lang="zh-CN" altLang="en-US" sz="20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和</a:t>
            </a:r>
            <a:r>
              <a:rPr kumimoji="0" lang="en-US" altLang="zh-CN" sz="2000" b="1" i="1"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Q</a:t>
            </a:r>
            <a:r>
              <a:rPr kumimoji="0" lang="en-US" altLang="zh-CN" sz="1900" b="1" i="0" u="none" strike="noStrike" kern="1200" cap="none" spc="0" normalizeH="0" baseline="-2500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3</a:t>
            </a:r>
            <a:r>
              <a:rPr kumimoji="0" lang="zh-CN" altLang="en-US" sz="20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分别是左移和右移时的串行输出端，</a:t>
            </a:r>
            <a:r>
              <a:rPr kumimoji="0" lang="en-US" altLang="zh-CN" sz="2000" b="1" i="1"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Q</a:t>
            </a:r>
            <a:r>
              <a:rPr kumimoji="0" lang="en-US" altLang="zh-CN" sz="1900" b="1" i="0" u="none" strike="noStrike" kern="1200" cap="none" spc="0" normalizeH="0" baseline="-2500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0</a:t>
            </a:r>
            <a:r>
              <a:rPr kumimoji="0" lang="zh-CN" altLang="en-US" sz="20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a:t>
            </a:r>
            <a:r>
              <a:rPr kumimoji="0" lang="en-US" altLang="zh-CN" sz="2000" b="1" i="1"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Q</a:t>
            </a:r>
            <a:r>
              <a:rPr kumimoji="0" lang="en-US" altLang="zh-CN" sz="1900" b="1" i="0" u="none" strike="noStrike" kern="1200" cap="none" spc="0" normalizeH="0" baseline="-2500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1</a:t>
            </a:r>
            <a:r>
              <a:rPr kumimoji="0" lang="zh-CN" altLang="en-US" sz="20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a:t>
            </a:r>
            <a:r>
              <a:rPr kumimoji="0" lang="en-US" altLang="zh-CN" sz="2000" b="1" i="1"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Q</a:t>
            </a:r>
            <a:r>
              <a:rPr kumimoji="0" lang="en-US" altLang="zh-CN" sz="1900" b="1" i="0" u="none" strike="noStrike" kern="1200" cap="none" spc="0" normalizeH="0" baseline="-2500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2</a:t>
            </a:r>
            <a:r>
              <a:rPr kumimoji="0" lang="zh-CN" altLang="en-US" sz="20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和</a:t>
            </a:r>
            <a:r>
              <a:rPr kumimoji="0" lang="en-US" altLang="zh-CN" sz="2000" b="1" i="1"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Q</a:t>
            </a:r>
            <a:r>
              <a:rPr kumimoji="0" lang="en-US" altLang="zh-CN" sz="1900" b="1" i="0" u="none" strike="noStrike" kern="1200" cap="none" spc="0" normalizeH="0" baseline="-2500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Times New Roman" panose="02020603050405020304" charset="0"/>
                <a:ea typeface="宋体" panose="02010600030101010101" pitchFamily="2" charset="-122"/>
                <a:cs typeface="+mn-cs"/>
              </a:rPr>
              <a:t>3</a:t>
            </a:r>
            <a:r>
              <a:rPr kumimoji="0" lang="zh-CN" altLang="en-US" sz="20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为并行输出端</a:t>
            </a:r>
            <a:endParaRPr kumimoji="0" lang="zh-CN" altLang="en-US" sz="2000" b="1" i="0" u="none" strike="noStrike" kern="1200" cap="none" spc="0" normalizeH="0" baseline="0" noProof="0" smtClean="0">
              <a:ln>
                <a:noFill/>
              </a:ln>
              <a:gradFill>
                <a:gsLst>
                  <a:gs pos="0">
                    <a:srgbClr val="012D86"/>
                  </a:gs>
                  <a:gs pos="100000">
                    <a:srgbClr val="0E2557"/>
                  </a:gs>
                </a:gsLst>
                <a:lin scaled="0"/>
              </a:gra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0539"/>
                                        </p:tgtEl>
                                        <p:attrNameLst>
                                          <p:attrName>style.visibility</p:attrName>
                                        </p:attrNameLst>
                                      </p:cBhvr>
                                      <p:to>
                                        <p:strVal val="visible"/>
                                      </p:to>
                                    </p:set>
                                    <p:animEffect transition="in" filter="box(out)">
                                      <p:cBhvr>
                                        <p:cTn id="7" dur="500"/>
                                        <p:tgtEl>
                                          <p:spTgt spid="15053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5053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150538"/>
                                        </p:tgtEl>
                                        <p:attrNameLst>
                                          <p:attrName>style.visibility</p:attrName>
                                        </p:attrNameLst>
                                      </p:cBhvr>
                                      <p:to>
                                        <p:strVal val="visible"/>
                                      </p:to>
                                    </p:set>
                                    <p:animEffect transition="in" filter="box(out)">
                                      <p:cBhvr>
                                        <p:cTn id="16" dur="500"/>
                                        <p:tgtEl>
                                          <p:spTgt spid="15053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000" fill="hold">
                                          <p:stCondLst>
                                            <p:cond delay="0"/>
                                          </p:stCondLst>
                                        </p:cTn>
                                        <p:tgtEl>
                                          <p:spTgt spid="150544"/>
                                        </p:tgtEl>
                                        <p:attrNameLst>
                                          <p:attrName>style.visibility</p:attrName>
                                        </p:attrNameLst>
                                      </p:cBhvr>
                                      <p:to>
                                        <p:strVal val="visible"/>
                                      </p:to>
                                    </p:set>
                                    <p:animEffect transition="in" filter="wipe(left)">
                                      <p:cBhvr>
                                        <p:cTn id="21" dur="1000"/>
                                        <p:tgtEl>
                                          <p:spTgt spid="150544"/>
                                        </p:tgtEl>
                                      </p:cBhvr>
                                    </p:animEffect>
                                  </p:childTnLst>
                                </p:cTn>
                              </p:par>
                            </p:childTnLst>
                          </p:cTn>
                        </p:par>
                        <p:par>
                          <p:cTn id="22" fill="hold">
                            <p:stCondLst>
                              <p:cond delay="1000"/>
                            </p:stCondLst>
                            <p:childTnLst>
                              <p:par>
                                <p:cTn id="23" presetID="22" presetClass="entr" presetSubtype="8" fill="hold" grpId="0" nodeType="afterEffect">
                                  <p:stCondLst>
                                    <p:cond delay="1000"/>
                                  </p:stCondLst>
                                  <p:childTnLst>
                                    <p:set>
                                      <p:cBhvr>
                                        <p:cTn id="24" dur="1000" fill="hold">
                                          <p:stCondLst>
                                            <p:cond delay="0"/>
                                          </p:stCondLst>
                                        </p:cTn>
                                        <p:tgtEl>
                                          <p:spTgt spid="150543"/>
                                        </p:tgtEl>
                                        <p:attrNameLst>
                                          <p:attrName>style.visibility</p:attrName>
                                        </p:attrNameLst>
                                      </p:cBhvr>
                                      <p:to>
                                        <p:strVal val="visible"/>
                                      </p:to>
                                    </p:set>
                                    <p:animEffect transition="in" filter="wipe(left)">
                                      <p:cBhvr>
                                        <p:cTn id="25" dur="1000"/>
                                        <p:tgtEl>
                                          <p:spTgt spid="1505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8" grpId="0" bldLvl="0" animBg="1"/>
      <p:bldP spid="150539" grpId="0" bldLvl="0" animBg="1"/>
      <p:bldP spid="150544" grpId="0" bldLvl="0" animBg="1"/>
      <p:bldP spid="150543" grpId="0" bldLvl="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6.5 </a:t>
            </a:r>
            <a:r>
              <a:rPr lang="zh-CN" b="1" dirty="0">
                <a:solidFill>
                  <a:srgbClr val="FF0000"/>
                </a:solidFill>
                <a:latin typeface="黑体" panose="02010609060101010101" pitchFamily="49" charset="-122"/>
                <a:ea typeface="黑体" panose="02010609060101010101" pitchFamily="49" charset="-122"/>
                <a:sym typeface="+mn-ea"/>
              </a:rPr>
              <a:t>数码寄存器与移位寄存器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27657" name="矩形 191548"/>
          <p:cNvSpPr/>
          <p:nvPr/>
        </p:nvSpPr>
        <p:spPr>
          <a:xfrm>
            <a:off x="382588" y="2271713"/>
            <a:ext cx="3889375" cy="144462"/>
          </a:xfrm>
          <a:prstGeom prst="rect">
            <a:avLst/>
          </a:prstGeom>
          <a:solidFill>
            <a:schemeClr val="bg1"/>
          </a:solidFill>
          <a:ln w="9525">
            <a:noFill/>
          </a:ln>
        </p:spPr>
        <p:txBody>
          <a:bodyPr/>
          <a:p>
            <a:endParaRPr lang="zh-CN" altLang="en-US" dirty="0">
              <a:latin typeface="Arial" panose="020B0604020202020204" pitchFamily="34" charset="0"/>
            </a:endParaRPr>
          </a:p>
        </p:txBody>
      </p:sp>
      <p:sp>
        <p:nvSpPr>
          <p:cNvPr id="142341" name="Text Box 5"/>
          <p:cNvSpPr txBox="1">
            <a:spLocks noChangeArrowheads="1"/>
          </p:cNvSpPr>
          <p:nvPr/>
        </p:nvSpPr>
        <p:spPr bwMode="auto">
          <a:xfrm>
            <a:off x="-7937" y="2744788"/>
            <a:ext cx="6477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Tx/>
              <a:buSzTx/>
              <a:buFontTx/>
              <a:defRPr/>
            </a:pPr>
            <a:r>
              <a:rPr kumimoji="0" lang="en-US" altLang="zh-CN" sz="2400" i="1"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Times New Roman" panose="02020603050405020304" charset="0"/>
              </a:rPr>
              <a:t>D</a:t>
            </a:r>
            <a:r>
              <a:rPr kumimoji="0" lang="en-US" altLang="zh-CN" sz="2400" kern="1200" cap="none" spc="0" normalizeH="0" baseline="-2500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1</a:t>
            </a:r>
            <a:endParaRPr kumimoji="0" lang="en-US" altLang="zh-CN" sz="2400" kern="1200" cap="none" spc="0" normalizeH="0" baseline="-2500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endParaRPr>
          </a:p>
        </p:txBody>
      </p:sp>
      <p:sp>
        <p:nvSpPr>
          <p:cNvPr id="142342" name="Line 6"/>
          <p:cNvSpPr>
            <a:spLocks noChangeShapeType="1"/>
          </p:cNvSpPr>
          <p:nvPr/>
        </p:nvSpPr>
        <p:spPr bwMode="auto">
          <a:xfrm>
            <a:off x="2652713" y="2454275"/>
            <a:ext cx="230346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43" name="Rectangle 7"/>
          <p:cNvSpPr>
            <a:spLocks noChangeArrowheads="1"/>
          </p:cNvSpPr>
          <p:nvPr/>
        </p:nvSpPr>
        <p:spPr bwMode="auto">
          <a:xfrm>
            <a:off x="1428750" y="1373188"/>
            <a:ext cx="574675" cy="226695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44" name="Rectangle 8"/>
          <p:cNvSpPr>
            <a:spLocks noChangeArrowheads="1"/>
          </p:cNvSpPr>
          <p:nvPr/>
        </p:nvSpPr>
        <p:spPr bwMode="auto">
          <a:xfrm>
            <a:off x="2003425" y="1373188"/>
            <a:ext cx="504825" cy="291465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宋体" panose="02010600030101010101" pitchFamily="2" charset="-122"/>
                <a:cs typeface="+mn-cs"/>
              </a:rPr>
              <a:t>≥1</a:t>
            </a:r>
            <a:endParaRPr kumimoji="0" lang="en-US" altLang="zh-CN"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45" name="Line 9"/>
          <p:cNvSpPr>
            <a:spLocks noChangeShapeType="1"/>
          </p:cNvSpPr>
          <p:nvPr/>
        </p:nvSpPr>
        <p:spPr bwMode="auto">
          <a:xfrm>
            <a:off x="1428750" y="2114550"/>
            <a:ext cx="57467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46" name="Line 10"/>
          <p:cNvSpPr>
            <a:spLocks noChangeShapeType="1"/>
          </p:cNvSpPr>
          <p:nvPr/>
        </p:nvSpPr>
        <p:spPr bwMode="auto">
          <a:xfrm>
            <a:off x="1428750" y="2865438"/>
            <a:ext cx="57467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47" name="Line 11"/>
          <p:cNvSpPr>
            <a:spLocks noChangeShapeType="1"/>
          </p:cNvSpPr>
          <p:nvPr/>
        </p:nvSpPr>
        <p:spPr bwMode="auto">
          <a:xfrm>
            <a:off x="527050" y="2992438"/>
            <a:ext cx="9017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48" name="Line 12"/>
          <p:cNvSpPr>
            <a:spLocks noChangeShapeType="1"/>
          </p:cNvSpPr>
          <p:nvPr/>
        </p:nvSpPr>
        <p:spPr bwMode="auto">
          <a:xfrm>
            <a:off x="598488" y="3465513"/>
            <a:ext cx="83343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49" name="Text Box 13"/>
          <p:cNvSpPr txBox="1">
            <a:spLocks noChangeArrowheads="1"/>
          </p:cNvSpPr>
          <p:nvPr/>
        </p:nvSpPr>
        <p:spPr bwMode="auto">
          <a:xfrm>
            <a:off x="404813" y="3527425"/>
            <a:ext cx="5397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Tx/>
              <a:buSzTx/>
              <a:buFontTx/>
              <a:defRPr/>
            </a:pPr>
            <a:r>
              <a:rPr kumimoji="0" lang="en-US" altLang="zh-CN" sz="2400" i="1"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Times New Roman" panose="02020603050405020304" charset="0"/>
              </a:rPr>
              <a:t>Q</a:t>
            </a:r>
            <a:r>
              <a:rPr kumimoji="0" lang="en-US" altLang="zh-CN" sz="2400" kern="1200" cap="none" spc="0" normalizeH="0" baseline="-2500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0</a:t>
            </a:r>
            <a:endParaRPr kumimoji="0" lang="en-US" altLang="zh-CN" sz="2400" kern="1200" cap="none" spc="0" normalizeH="0" baseline="-2500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endParaRPr>
          </a:p>
        </p:txBody>
      </p:sp>
      <p:graphicFrame>
        <p:nvGraphicFramePr>
          <p:cNvPr id="23563" name="Object 15"/>
          <p:cNvGraphicFramePr>
            <a:graphicFrameLocks noChangeAspect="1"/>
          </p:cNvGraphicFramePr>
          <p:nvPr>
            <p:ph sz="quarter" idx="1"/>
          </p:nvPr>
        </p:nvGraphicFramePr>
        <p:xfrm>
          <a:off x="619125" y="1520825"/>
          <a:ext cx="371475" cy="504825"/>
        </p:xfrm>
        <a:graphic>
          <a:graphicData uri="http://schemas.openxmlformats.org/presentationml/2006/ole">
            <mc:AlternateContent xmlns:mc="http://schemas.openxmlformats.org/markup-compatibility/2006">
              <mc:Choice xmlns:v="urn:schemas-microsoft-com:vml" Requires="v">
                <p:oleObj spid="_x0000_s3087" name="" r:id="rId1" imgW="177800" imgH="241300" progId="Equation.3">
                  <p:embed/>
                </p:oleObj>
              </mc:Choice>
              <mc:Fallback>
                <p:oleObj name="" r:id="rId1" imgW="177800" imgH="241300" progId="Equation.3">
                  <p:embed/>
                  <p:pic>
                    <p:nvPicPr>
                      <p:cNvPr id="0" name="图片 3086"/>
                      <p:cNvPicPr/>
                      <p:nvPr/>
                    </p:nvPicPr>
                    <p:blipFill>
                      <a:blip r:embed="rId2"/>
                      <a:stretch>
                        <a:fillRect/>
                      </a:stretch>
                    </p:blipFill>
                    <p:spPr>
                      <a:xfrm>
                        <a:off x="619125" y="1520825"/>
                        <a:ext cx="371475" cy="504825"/>
                      </a:xfrm>
                      <a:prstGeom prst="rect">
                        <a:avLst/>
                      </a:prstGeom>
                      <a:noFill/>
                      <a:ln w="38100">
                        <a:noFill/>
                        <a:miter/>
                      </a:ln>
                    </p:spPr>
                  </p:pic>
                </p:oleObj>
              </mc:Fallback>
            </mc:AlternateContent>
          </a:graphicData>
        </a:graphic>
      </p:graphicFrame>
      <p:graphicFrame>
        <p:nvGraphicFramePr>
          <p:cNvPr id="23564" name="Object 16"/>
          <p:cNvGraphicFramePr>
            <a:graphicFrameLocks noChangeAspect="1"/>
          </p:cNvGraphicFramePr>
          <p:nvPr>
            <p:ph sz="quarter" idx="2"/>
          </p:nvPr>
        </p:nvGraphicFramePr>
        <p:xfrm>
          <a:off x="5516563" y="2670175"/>
          <a:ext cx="190500" cy="254000"/>
        </p:xfrm>
        <a:graphic>
          <a:graphicData uri="http://schemas.openxmlformats.org/presentationml/2006/ole">
            <mc:AlternateContent xmlns:mc="http://schemas.openxmlformats.org/markup-compatibility/2006">
              <mc:Choice xmlns:v="urn:schemas-microsoft-com:vml" Requires="v">
                <p:oleObj spid="_x0000_s3084" name="" r:id="rId3" imgW="190500" imgH="254000" progId="Equation.3">
                  <p:embed/>
                </p:oleObj>
              </mc:Choice>
              <mc:Fallback>
                <p:oleObj name="" r:id="rId3" imgW="190500" imgH="254000" progId="Equation.3">
                  <p:embed/>
                  <p:pic>
                    <p:nvPicPr>
                      <p:cNvPr id="0" name="图片 3083"/>
                      <p:cNvPicPr/>
                      <p:nvPr/>
                    </p:nvPicPr>
                    <p:blipFill>
                      <a:blip r:embed="rId4"/>
                      <a:stretch>
                        <a:fillRect/>
                      </a:stretch>
                    </p:blipFill>
                    <p:spPr>
                      <a:xfrm>
                        <a:off x="5516563" y="2670175"/>
                        <a:ext cx="190500" cy="254000"/>
                      </a:xfrm>
                      <a:prstGeom prst="rect">
                        <a:avLst/>
                      </a:prstGeom>
                      <a:noFill/>
                      <a:ln w="38100">
                        <a:noFill/>
                        <a:miter/>
                      </a:ln>
                    </p:spPr>
                  </p:pic>
                </p:oleObj>
              </mc:Fallback>
            </mc:AlternateContent>
          </a:graphicData>
        </a:graphic>
      </p:graphicFrame>
      <p:graphicFrame>
        <p:nvGraphicFramePr>
          <p:cNvPr id="23565" name="Object 48"/>
          <p:cNvGraphicFramePr>
            <a:graphicFrameLocks noChangeAspect="1"/>
          </p:cNvGraphicFramePr>
          <p:nvPr>
            <p:ph sz="quarter" idx="4"/>
          </p:nvPr>
        </p:nvGraphicFramePr>
        <p:xfrm>
          <a:off x="166688" y="3784600"/>
          <a:ext cx="319087" cy="431800"/>
        </p:xfrm>
        <a:graphic>
          <a:graphicData uri="http://schemas.openxmlformats.org/presentationml/2006/ole">
            <mc:AlternateContent xmlns:mc="http://schemas.openxmlformats.org/markup-compatibility/2006">
              <mc:Choice xmlns:v="urn:schemas-microsoft-com:vml" Requires="v">
                <p:oleObj spid="_x0000_s3089" name="" r:id="rId5" imgW="177800" imgH="241300" progId="Equation.3">
                  <p:embed/>
                </p:oleObj>
              </mc:Choice>
              <mc:Fallback>
                <p:oleObj name="" r:id="rId5" imgW="177800" imgH="241300" progId="Equation.3">
                  <p:embed/>
                  <p:pic>
                    <p:nvPicPr>
                      <p:cNvPr id="0" name="图片 3088"/>
                      <p:cNvPicPr/>
                      <p:nvPr/>
                    </p:nvPicPr>
                    <p:blipFill>
                      <a:blip r:embed="rId2"/>
                      <a:stretch>
                        <a:fillRect/>
                      </a:stretch>
                    </p:blipFill>
                    <p:spPr>
                      <a:xfrm>
                        <a:off x="166688" y="3784600"/>
                        <a:ext cx="319087" cy="431800"/>
                      </a:xfrm>
                      <a:prstGeom prst="rect">
                        <a:avLst/>
                      </a:prstGeom>
                      <a:noFill/>
                      <a:ln w="38100">
                        <a:noFill/>
                        <a:miter/>
                      </a:ln>
                    </p:spPr>
                  </p:pic>
                </p:oleObj>
              </mc:Fallback>
            </mc:AlternateContent>
          </a:graphicData>
        </a:graphic>
      </p:graphicFrame>
      <p:sp>
        <p:nvSpPr>
          <p:cNvPr id="142354" name="Text Box 18"/>
          <p:cNvSpPr txBox="1">
            <a:spLocks noChangeArrowheads="1"/>
          </p:cNvSpPr>
          <p:nvPr/>
        </p:nvSpPr>
        <p:spPr bwMode="auto">
          <a:xfrm>
            <a:off x="136525" y="2324100"/>
            <a:ext cx="503238"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Tx/>
              <a:buSzTx/>
              <a:buFontTx/>
              <a:defRPr/>
            </a:pPr>
            <a:r>
              <a:rPr kumimoji="0" lang="en-US" altLang="zh-CN" sz="2400" i="1"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Times New Roman" panose="02020603050405020304" charset="0"/>
              </a:rPr>
              <a:t>S</a:t>
            </a:r>
            <a:r>
              <a:rPr kumimoji="0" lang="en-US" altLang="zh-CN" sz="2400" kern="1200" cap="none" spc="0" normalizeH="0" baseline="-2500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1</a:t>
            </a:r>
            <a:endParaRPr kumimoji="0" lang="en-US" altLang="zh-CN" sz="2400" kern="1200" cap="none" spc="0" normalizeH="0" baseline="-2500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endParaRPr>
          </a:p>
        </p:txBody>
      </p:sp>
      <p:sp>
        <p:nvSpPr>
          <p:cNvPr id="142355" name="Line 19"/>
          <p:cNvSpPr>
            <a:spLocks noChangeShapeType="1"/>
          </p:cNvSpPr>
          <p:nvPr/>
        </p:nvSpPr>
        <p:spPr bwMode="auto">
          <a:xfrm>
            <a:off x="835025" y="2732088"/>
            <a:ext cx="61436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56" name="Line 20"/>
          <p:cNvSpPr>
            <a:spLocks noChangeShapeType="1"/>
          </p:cNvSpPr>
          <p:nvPr/>
        </p:nvSpPr>
        <p:spPr bwMode="auto">
          <a:xfrm>
            <a:off x="887413" y="2278063"/>
            <a:ext cx="54133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57" name="Text Box 21"/>
          <p:cNvSpPr txBox="1">
            <a:spLocks noChangeArrowheads="1"/>
          </p:cNvSpPr>
          <p:nvPr/>
        </p:nvSpPr>
        <p:spPr bwMode="auto">
          <a:xfrm>
            <a:off x="455613" y="2055813"/>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Tx/>
              <a:buSzTx/>
              <a:buFontTx/>
              <a:defRPr/>
            </a:pPr>
            <a:r>
              <a:rPr kumimoji="0" lang="en-US" altLang="zh-CN" sz="2400" i="1"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Q</a:t>
            </a:r>
            <a:r>
              <a:rPr kumimoji="0" lang="en-US" altLang="zh-CN" sz="2400" kern="1200" cap="none" spc="0" normalizeH="0" baseline="-2500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2</a:t>
            </a:r>
            <a:endParaRPr kumimoji="0" lang="en-US" altLang="zh-CN" sz="2400" kern="1200" cap="none" spc="0" normalizeH="0" baseline="-2500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42358" name="Line 22"/>
          <p:cNvSpPr>
            <a:spLocks noChangeShapeType="1"/>
          </p:cNvSpPr>
          <p:nvPr/>
        </p:nvSpPr>
        <p:spPr bwMode="auto">
          <a:xfrm>
            <a:off x="636588" y="1485900"/>
            <a:ext cx="79216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59" name="Line 23"/>
          <p:cNvSpPr>
            <a:spLocks noChangeShapeType="1"/>
          </p:cNvSpPr>
          <p:nvPr/>
        </p:nvSpPr>
        <p:spPr bwMode="auto">
          <a:xfrm>
            <a:off x="636588" y="1981200"/>
            <a:ext cx="79216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60" name="Oval 24"/>
          <p:cNvSpPr>
            <a:spLocks noChangeArrowheads="1"/>
          </p:cNvSpPr>
          <p:nvPr/>
        </p:nvSpPr>
        <p:spPr bwMode="auto">
          <a:xfrm>
            <a:off x="2508250" y="2381250"/>
            <a:ext cx="144463" cy="144463"/>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61" name="Rectangle 25"/>
          <p:cNvSpPr>
            <a:spLocks noChangeArrowheads="1"/>
          </p:cNvSpPr>
          <p:nvPr/>
        </p:nvSpPr>
        <p:spPr bwMode="auto">
          <a:xfrm>
            <a:off x="3516313" y="2093913"/>
            <a:ext cx="647700" cy="71913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1</a:t>
            </a:r>
            <a:endParaRPr kumimoji="0" lang="en-US" altLang="zh-CN" sz="24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pSp>
        <p:nvGrpSpPr>
          <p:cNvPr id="23574" name="Group 26"/>
          <p:cNvGrpSpPr/>
          <p:nvPr/>
        </p:nvGrpSpPr>
        <p:grpSpPr>
          <a:xfrm>
            <a:off x="4884738" y="2138363"/>
            <a:ext cx="1501775" cy="1466850"/>
            <a:chOff x="2789" y="2523"/>
            <a:chExt cx="946" cy="924"/>
          </a:xfrm>
        </p:grpSpPr>
        <p:sp>
          <p:nvSpPr>
            <p:cNvPr id="142363" name="Rectangle 27"/>
            <p:cNvSpPr>
              <a:spLocks noChangeArrowheads="1"/>
            </p:cNvSpPr>
            <p:nvPr/>
          </p:nvSpPr>
          <p:spPr bwMode="auto">
            <a:xfrm>
              <a:off x="2835" y="2523"/>
              <a:ext cx="816" cy="907"/>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      </a:t>
              </a:r>
              <a:endParaRPr kumimoji="0" lang="en-US" altLang="zh-CN" sz="20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      </a:t>
              </a:r>
              <a:endParaRPr kumimoji="0" lang="en-US" altLang="zh-CN" sz="2000" b="1" i="0" u="none" strike="noStrike" kern="1200" cap="none" spc="0" normalizeH="0" baseline="-2500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64" name="Line 28"/>
            <p:cNvSpPr>
              <a:spLocks noChangeShapeType="1"/>
            </p:cNvSpPr>
            <p:nvPr/>
          </p:nvSpPr>
          <p:spPr bwMode="auto">
            <a:xfrm>
              <a:off x="2835" y="2886"/>
              <a:ext cx="136" cy="9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65" name="Line 29"/>
            <p:cNvSpPr>
              <a:spLocks noChangeShapeType="1"/>
            </p:cNvSpPr>
            <p:nvPr/>
          </p:nvSpPr>
          <p:spPr bwMode="auto">
            <a:xfrm flipV="1">
              <a:off x="2835" y="2977"/>
              <a:ext cx="136" cy="9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66" name="Text Box 30"/>
            <p:cNvSpPr txBox="1">
              <a:spLocks noChangeArrowheads="1"/>
            </p:cNvSpPr>
            <p:nvPr/>
          </p:nvSpPr>
          <p:spPr bwMode="auto">
            <a:xfrm>
              <a:off x="2789" y="2614"/>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Tx/>
                <a:buSzTx/>
                <a:buFontTx/>
                <a:defRPr/>
              </a:pPr>
              <a:r>
                <a:rPr kumimoji="0" lang="en-US" altLang="zh-CN" sz="2000" kern="1200" cap="none" spc="0" normalizeH="0" baseline="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S</a:t>
              </a:r>
              <a:endParaRPr kumimoji="0" lang="en-US" altLang="zh-CN" sz="2000" kern="1200" cap="none" spc="0" normalizeH="0" baseline="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endParaRPr>
            </a:p>
          </p:txBody>
        </p:sp>
        <p:sp>
          <p:nvSpPr>
            <p:cNvPr id="142367" name="Text Box 31"/>
            <p:cNvSpPr txBox="1">
              <a:spLocks noChangeArrowheads="1"/>
            </p:cNvSpPr>
            <p:nvPr/>
          </p:nvSpPr>
          <p:spPr bwMode="auto">
            <a:xfrm>
              <a:off x="2789" y="3113"/>
              <a:ext cx="18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Tx/>
                <a:buSzTx/>
                <a:buFontTx/>
                <a:defRPr/>
              </a:pPr>
              <a:r>
                <a:rPr kumimoji="0" lang="en-US" altLang="zh-CN" sz="2000" kern="1200" cap="none" spc="0" normalizeH="0" baseline="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R</a:t>
              </a:r>
              <a:endParaRPr kumimoji="0" lang="en-US" altLang="zh-CN" sz="2000" kern="1200" cap="none" spc="0" normalizeH="0" baseline="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endParaRPr>
            </a:p>
          </p:txBody>
        </p:sp>
        <p:sp>
          <p:nvSpPr>
            <p:cNvPr id="142368" name="Text Box 32"/>
            <p:cNvSpPr txBox="1">
              <a:spLocks noChangeArrowheads="1"/>
            </p:cNvSpPr>
            <p:nvPr/>
          </p:nvSpPr>
          <p:spPr bwMode="auto">
            <a:xfrm>
              <a:off x="3418" y="2614"/>
              <a:ext cx="31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Tx/>
                <a:buSzTx/>
                <a:buFontTx/>
                <a:defRPr/>
              </a:pPr>
              <a:r>
                <a:rPr kumimoji="0" lang="en-US" altLang="zh-CN" sz="20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Q</a:t>
              </a:r>
              <a:endParaRPr kumimoji="0" lang="en-US" altLang="zh-CN" sz="20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42369" name="Text Box 33"/>
            <p:cNvSpPr txBox="1">
              <a:spLocks noChangeArrowheads="1"/>
            </p:cNvSpPr>
            <p:nvPr/>
          </p:nvSpPr>
          <p:spPr bwMode="auto">
            <a:xfrm>
              <a:off x="3113" y="3197"/>
              <a:ext cx="31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Tx/>
                <a:buSzTx/>
                <a:buFontTx/>
                <a:defRPr/>
              </a:pPr>
              <a:r>
                <a:rPr kumimoji="0" lang="en-US" altLang="zh-CN" sz="2000" kern="1200" cap="none" spc="0" normalizeH="0" baseline="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R</a:t>
              </a:r>
              <a:r>
                <a:rPr kumimoji="0" lang="en-US" altLang="zh-CN" sz="2000" kern="1200" cap="none" spc="0" normalizeH="0" baseline="-2500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D</a:t>
              </a:r>
              <a:endParaRPr kumimoji="0" lang="en-US" altLang="zh-CN" sz="2000" kern="1200" cap="none" spc="0" normalizeH="0" baseline="-2500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endParaRPr>
            </a:p>
          </p:txBody>
        </p:sp>
      </p:grpSp>
      <p:sp>
        <p:nvSpPr>
          <p:cNvPr id="142370" name="Line 34"/>
          <p:cNvSpPr>
            <a:spLocks noChangeShapeType="1"/>
          </p:cNvSpPr>
          <p:nvPr/>
        </p:nvSpPr>
        <p:spPr bwMode="auto">
          <a:xfrm>
            <a:off x="6253163" y="2498725"/>
            <a:ext cx="50323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71" name="Line 35"/>
          <p:cNvSpPr>
            <a:spLocks noChangeShapeType="1"/>
          </p:cNvSpPr>
          <p:nvPr/>
        </p:nvSpPr>
        <p:spPr bwMode="auto">
          <a:xfrm flipV="1">
            <a:off x="6756400" y="1635125"/>
            <a:ext cx="0" cy="863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72" name="Text Box 36"/>
          <p:cNvSpPr txBox="1">
            <a:spLocks noChangeArrowheads="1"/>
          </p:cNvSpPr>
          <p:nvPr/>
        </p:nvSpPr>
        <p:spPr bwMode="auto">
          <a:xfrm>
            <a:off x="6829425" y="1417638"/>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Tx/>
              <a:buSzTx/>
              <a:buFontTx/>
              <a:defRPr/>
            </a:pPr>
            <a:r>
              <a:rPr kumimoji="0" lang="en-US" altLang="zh-CN" sz="2400" i="1"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Q</a:t>
            </a:r>
            <a:r>
              <a:rPr kumimoji="0" lang="en-US" altLang="zh-CN" sz="2400" kern="1200" cap="none" spc="0" normalizeH="0" baseline="-2500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1</a:t>
            </a:r>
            <a:endParaRPr kumimoji="0" lang="en-US" altLang="zh-CN" sz="2400" kern="1200" cap="none" spc="0" normalizeH="0" baseline="-2500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42373" name="Oval 37"/>
          <p:cNvSpPr>
            <a:spLocks noChangeArrowheads="1"/>
          </p:cNvSpPr>
          <p:nvPr/>
        </p:nvSpPr>
        <p:spPr bwMode="auto">
          <a:xfrm>
            <a:off x="4802188" y="2786063"/>
            <a:ext cx="144463" cy="144463"/>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74" name="Oval 38"/>
          <p:cNvSpPr>
            <a:spLocks noChangeArrowheads="1"/>
          </p:cNvSpPr>
          <p:nvPr/>
        </p:nvSpPr>
        <p:spPr bwMode="auto">
          <a:xfrm>
            <a:off x="4175125" y="2371725"/>
            <a:ext cx="144463" cy="144463"/>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75" name="Line 39"/>
          <p:cNvSpPr>
            <a:spLocks noChangeShapeType="1"/>
          </p:cNvSpPr>
          <p:nvPr/>
        </p:nvSpPr>
        <p:spPr bwMode="auto">
          <a:xfrm>
            <a:off x="3011488" y="2454275"/>
            <a:ext cx="0" cy="792163"/>
          </a:xfrm>
          <a:prstGeom prst="line">
            <a:avLst/>
          </a:prstGeom>
          <a:noFill/>
          <a:ln w="9525">
            <a:solidFill>
              <a:schemeClr val="tx1"/>
            </a:solidFill>
            <a:round/>
            <a:headEnd type="oval"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76" name="Line 40"/>
          <p:cNvSpPr>
            <a:spLocks noChangeShapeType="1"/>
          </p:cNvSpPr>
          <p:nvPr/>
        </p:nvSpPr>
        <p:spPr bwMode="auto">
          <a:xfrm>
            <a:off x="3011488" y="3265488"/>
            <a:ext cx="194468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77" name="Oval 41"/>
          <p:cNvSpPr>
            <a:spLocks noChangeArrowheads="1"/>
          </p:cNvSpPr>
          <p:nvPr/>
        </p:nvSpPr>
        <p:spPr bwMode="auto">
          <a:xfrm>
            <a:off x="5553075" y="3584575"/>
            <a:ext cx="142875" cy="144463"/>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78" name="Rectangle 42"/>
          <p:cNvSpPr>
            <a:spLocks noChangeArrowheads="1"/>
          </p:cNvSpPr>
          <p:nvPr/>
        </p:nvSpPr>
        <p:spPr bwMode="auto">
          <a:xfrm>
            <a:off x="1431925" y="3578225"/>
            <a:ext cx="576263" cy="720725"/>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80" name="Text Box 44"/>
          <p:cNvSpPr txBox="1">
            <a:spLocks noChangeArrowheads="1"/>
          </p:cNvSpPr>
          <p:nvPr/>
        </p:nvSpPr>
        <p:spPr bwMode="auto">
          <a:xfrm>
            <a:off x="1571625" y="1446213"/>
            <a:ext cx="3587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Tx/>
              <a:buSzTx/>
              <a:buFontTx/>
              <a:defRPr/>
            </a:pPr>
            <a:r>
              <a:rPr kumimoji="0" lang="en-US" altLang="zh-CN" sz="20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&amp;</a:t>
            </a:r>
            <a:endParaRPr kumimoji="0" lang="en-US" altLang="zh-CN" sz="2000"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42383" name="Text Box 47"/>
          <p:cNvSpPr txBox="1">
            <a:spLocks noChangeArrowheads="1"/>
          </p:cNvSpPr>
          <p:nvPr/>
        </p:nvSpPr>
        <p:spPr bwMode="auto">
          <a:xfrm>
            <a:off x="131763" y="5138738"/>
            <a:ext cx="576263"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Tx/>
              <a:buSzTx/>
              <a:buFontTx/>
              <a:defRPr/>
            </a:pPr>
            <a:r>
              <a:rPr kumimoji="0" lang="en-US" altLang="zh-CN" sz="2000" i="1"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Times New Roman" panose="02020603050405020304" charset="0"/>
              </a:rPr>
              <a:t>CP</a:t>
            </a:r>
            <a:endParaRPr kumimoji="0" lang="en-US" altLang="zh-CN" sz="2000" i="1"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Times New Roman" panose="02020603050405020304" charset="0"/>
            </a:endParaRPr>
          </a:p>
        </p:txBody>
      </p:sp>
      <p:sp>
        <p:nvSpPr>
          <p:cNvPr id="142385" name="Line 49"/>
          <p:cNvSpPr>
            <a:spLocks noChangeShapeType="1"/>
          </p:cNvSpPr>
          <p:nvPr/>
        </p:nvSpPr>
        <p:spPr bwMode="auto">
          <a:xfrm>
            <a:off x="887413" y="4205288"/>
            <a:ext cx="54451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86" name="Line 50"/>
          <p:cNvSpPr>
            <a:spLocks noChangeShapeType="1"/>
          </p:cNvSpPr>
          <p:nvPr/>
        </p:nvSpPr>
        <p:spPr bwMode="auto">
          <a:xfrm>
            <a:off x="527050" y="3989388"/>
            <a:ext cx="90487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87" name="Line 51"/>
          <p:cNvSpPr>
            <a:spLocks noChangeShapeType="1"/>
          </p:cNvSpPr>
          <p:nvPr/>
        </p:nvSpPr>
        <p:spPr bwMode="auto">
          <a:xfrm>
            <a:off x="677863" y="5273675"/>
            <a:ext cx="71913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88" name="Oval 52"/>
          <p:cNvSpPr>
            <a:spLocks noChangeArrowheads="1"/>
          </p:cNvSpPr>
          <p:nvPr/>
        </p:nvSpPr>
        <p:spPr bwMode="auto">
          <a:xfrm>
            <a:off x="1966913" y="5214938"/>
            <a:ext cx="142875" cy="142875"/>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aphicFrame>
        <p:nvGraphicFramePr>
          <p:cNvPr id="23590" name="Object 53"/>
          <p:cNvGraphicFramePr>
            <a:graphicFrameLocks noChangeAspect="1"/>
          </p:cNvGraphicFramePr>
          <p:nvPr/>
        </p:nvGraphicFramePr>
        <p:xfrm>
          <a:off x="536575" y="2549525"/>
          <a:ext cx="377825" cy="503238"/>
        </p:xfrm>
        <a:graphic>
          <a:graphicData uri="http://schemas.openxmlformats.org/presentationml/2006/ole">
            <mc:AlternateContent xmlns:mc="http://schemas.openxmlformats.org/markup-compatibility/2006">
              <mc:Choice xmlns:v="urn:schemas-microsoft-com:vml" Requires="v">
                <p:oleObj spid="_x0000_s3085" name="" r:id="rId6" imgW="190500" imgH="254000" progId="Equation.3">
                  <p:embed/>
                </p:oleObj>
              </mc:Choice>
              <mc:Fallback>
                <p:oleObj name="" r:id="rId6" imgW="190500" imgH="254000" progId="Equation.3">
                  <p:embed/>
                  <p:pic>
                    <p:nvPicPr>
                      <p:cNvPr id="0" name="图片 3084"/>
                      <p:cNvPicPr/>
                      <p:nvPr/>
                    </p:nvPicPr>
                    <p:blipFill>
                      <a:blip r:embed="rId4"/>
                      <a:stretch>
                        <a:fillRect/>
                      </a:stretch>
                    </p:blipFill>
                    <p:spPr>
                      <a:xfrm>
                        <a:off x="536575" y="2549525"/>
                        <a:ext cx="377825" cy="503238"/>
                      </a:xfrm>
                      <a:prstGeom prst="rect">
                        <a:avLst/>
                      </a:prstGeom>
                      <a:noFill/>
                      <a:ln w="38100">
                        <a:noFill/>
                        <a:miter/>
                      </a:ln>
                    </p:spPr>
                  </p:pic>
                </p:oleObj>
              </mc:Fallback>
            </mc:AlternateContent>
          </a:graphicData>
        </a:graphic>
      </p:graphicFrame>
      <p:sp>
        <p:nvSpPr>
          <p:cNvPr id="142390" name="Line 54"/>
          <p:cNvSpPr>
            <a:spLocks noChangeShapeType="1"/>
          </p:cNvSpPr>
          <p:nvPr/>
        </p:nvSpPr>
        <p:spPr bwMode="auto">
          <a:xfrm>
            <a:off x="2090738" y="5286375"/>
            <a:ext cx="230346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91" name="Line 55"/>
          <p:cNvSpPr>
            <a:spLocks noChangeShapeType="1"/>
          </p:cNvSpPr>
          <p:nvPr/>
        </p:nvSpPr>
        <p:spPr bwMode="auto">
          <a:xfrm flipV="1">
            <a:off x="4368800" y="2854325"/>
            <a:ext cx="0" cy="24415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92" name="Line 56"/>
          <p:cNvSpPr>
            <a:spLocks noChangeShapeType="1"/>
          </p:cNvSpPr>
          <p:nvPr/>
        </p:nvSpPr>
        <p:spPr bwMode="auto">
          <a:xfrm>
            <a:off x="4368800" y="2854325"/>
            <a:ext cx="431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93" name="Line 57"/>
          <p:cNvSpPr>
            <a:spLocks noChangeShapeType="1"/>
          </p:cNvSpPr>
          <p:nvPr/>
        </p:nvSpPr>
        <p:spPr bwMode="auto">
          <a:xfrm>
            <a:off x="5603875" y="3738563"/>
            <a:ext cx="0" cy="23495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94" name="Line 58"/>
          <p:cNvSpPr>
            <a:spLocks noChangeShapeType="1"/>
          </p:cNvSpPr>
          <p:nvPr/>
        </p:nvSpPr>
        <p:spPr bwMode="auto">
          <a:xfrm>
            <a:off x="646113" y="6119813"/>
            <a:ext cx="496728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97" name="AutoShape 61"/>
          <p:cNvSpPr/>
          <p:nvPr/>
        </p:nvSpPr>
        <p:spPr bwMode="auto">
          <a:xfrm>
            <a:off x="6194108" y="3725863"/>
            <a:ext cx="358775" cy="2565400"/>
          </a:xfrm>
          <a:prstGeom prst="leftBrace">
            <a:avLst>
              <a:gd name="adj1" fmla="val 59587"/>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398" name="Text Box 62"/>
          <p:cNvSpPr txBox="1">
            <a:spLocks noChangeArrowheads="1"/>
          </p:cNvSpPr>
          <p:nvPr/>
        </p:nvSpPr>
        <p:spPr bwMode="auto">
          <a:xfrm>
            <a:off x="6552883" y="3584258"/>
            <a:ext cx="2519363"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Tx/>
              <a:buSzTx/>
              <a:buFontTx/>
              <a:defRPr/>
            </a:pPr>
            <a:r>
              <a:rPr kumimoji="0" lang="en-US" altLang="zh-CN" sz="2400" b="1" i="1" kern="1200" cap="none" spc="0" normalizeH="0" baseline="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S</a:t>
            </a:r>
            <a:r>
              <a:rPr kumimoji="0" lang="en-US" altLang="zh-CN" sz="2400" b="1" kern="1200" cap="none" spc="0" normalizeH="0" baseline="-2500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1</a:t>
            </a:r>
            <a:r>
              <a:rPr kumimoji="0" lang="en-US" altLang="zh-CN" sz="2400" b="1" i="1" kern="1200" cap="none" spc="0" normalizeH="0" baseline="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S</a:t>
            </a:r>
            <a:r>
              <a:rPr kumimoji="0" lang="en-US" altLang="zh-CN" sz="2400" b="1" kern="1200" cap="none" spc="0" normalizeH="0" baseline="-2500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0      </a:t>
            </a:r>
            <a:r>
              <a:rPr kumimoji="0" lang="en-US" altLang="zh-CN" sz="2400" b="1" i="1" kern="1200" cap="none" spc="0" normalizeH="0" baseline="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CP</a:t>
            </a:r>
            <a:r>
              <a:rPr kumimoji="0" lang="en-US" altLang="zh-CN" sz="2400" b="1" i="1" kern="1200" cap="none" spc="0" normalizeH="0" baseline="-2500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i</a:t>
            </a:r>
            <a:r>
              <a:rPr kumimoji="0" lang="en-US" altLang="zh-CN" sz="2400" b="1" kern="1200" cap="none" spc="0" normalizeH="0" baseline="-2500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       </a:t>
            </a:r>
            <a:r>
              <a:rPr kumimoji="0" lang="en-US" altLang="zh-CN" sz="2400" b="1" i="1" kern="1200" cap="none" spc="0" normalizeH="0" baseline="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Q</a:t>
            </a:r>
            <a:r>
              <a:rPr kumimoji="0" lang="en-US" altLang="zh-CN" sz="2400" b="1" kern="1200" cap="none" spc="0" normalizeH="0" baseline="-2500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1</a:t>
            </a:r>
            <a:r>
              <a:rPr kumimoji="0" lang="en-US" altLang="zh-CN" sz="2400" b="1" i="1" kern="1200" cap="none" spc="0" normalizeH="0" baseline="3000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n</a:t>
            </a:r>
            <a:r>
              <a:rPr kumimoji="0" lang="en-US" altLang="zh-CN" sz="2400" b="1" kern="1200" cap="none" spc="0" normalizeH="0" baseline="3000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+1</a:t>
            </a:r>
            <a:endParaRPr kumimoji="0" lang="en-US" altLang="zh-CN" sz="2400" b="1" kern="1200" cap="none" spc="0" normalizeH="0" baseline="-2500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a:p>
            <a:pPr marR="0" defTabSz="914400">
              <a:spcBef>
                <a:spcPct val="50000"/>
              </a:spcBef>
              <a:buClrTx/>
              <a:buSzTx/>
              <a:buFontTx/>
              <a:defRPr/>
            </a:pPr>
            <a:r>
              <a:rPr kumimoji="0" lang="en-US" altLang="zh-CN" sz="2400" b="1" kern="1200" cap="none" spc="0" normalizeH="0" baseline="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0  0      ×      </a:t>
            </a:r>
            <a:r>
              <a:rPr kumimoji="0" lang="en-US" altLang="zh-CN" sz="2400" b="1" i="1" kern="1200" cap="none" spc="0" normalizeH="0" baseline="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Q</a:t>
            </a:r>
            <a:r>
              <a:rPr kumimoji="0" lang="en-US" altLang="zh-CN" sz="2400" b="1" kern="1200" cap="none" spc="0" normalizeH="0" baseline="-2500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1</a:t>
            </a:r>
            <a:r>
              <a:rPr kumimoji="0" lang="en-US" altLang="zh-CN" sz="2400" b="1" i="1" kern="1200" cap="none" spc="0" normalizeH="0" baseline="3000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n</a:t>
            </a:r>
            <a:r>
              <a:rPr kumimoji="0" lang="en-US" altLang="zh-CN" sz="2400" b="1" kern="1200" cap="none" spc="0" normalizeH="0" baseline="3000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 </a:t>
            </a:r>
            <a:endParaRPr kumimoji="0" lang="en-US" altLang="zh-CN" sz="2400" b="1" kern="1200" cap="none" spc="0" normalizeH="0" baseline="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a:p>
            <a:pPr marR="0" defTabSz="914400">
              <a:spcBef>
                <a:spcPct val="50000"/>
              </a:spcBef>
              <a:buClrTx/>
              <a:buSzTx/>
              <a:buFontTx/>
              <a:defRPr/>
            </a:pPr>
            <a:r>
              <a:rPr kumimoji="0" lang="en-US" altLang="zh-CN" sz="2400" b="1" kern="1200" cap="none" spc="0" normalizeH="0" baseline="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0  1      ↑      </a:t>
            </a:r>
            <a:r>
              <a:rPr kumimoji="0" lang="en-US" altLang="zh-CN" sz="2400" b="1" i="1" kern="1200" cap="none" spc="0" normalizeH="0" baseline="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Q</a:t>
            </a:r>
            <a:r>
              <a:rPr kumimoji="0" lang="en-US" altLang="zh-CN" sz="2400" b="1" kern="1200" cap="none" spc="0" normalizeH="0" baseline="-2500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0</a:t>
            </a:r>
            <a:r>
              <a:rPr kumimoji="0" lang="en-US" altLang="zh-CN" sz="2400" b="1" i="1" kern="1200" cap="none" spc="0" normalizeH="0" baseline="3000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n</a:t>
            </a:r>
            <a:r>
              <a:rPr kumimoji="0" lang="en-US" altLang="zh-CN" sz="2400" b="1" kern="1200" cap="none" spc="0" normalizeH="0" baseline="3000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 </a:t>
            </a:r>
            <a:endParaRPr kumimoji="0" lang="en-US" altLang="zh-CN" sz="2400" b="1" kern="1200" cap="none" spc="0" normalizeH="0" baseline="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a:p>
            <a:pPr marR="0" defTabSz="914400">
              <a:spcBef>
                <a:spcPct val="50000"/>
              </a:spcBef>
              <a:buClrTx/>
              <a:buSzTx/>
              <a:buFontTx/>
              <a:defRPr/>
            </a:pPr>
            <a:r>
              <a:rPr kumimoji="0" lang="en-US" altLang="zh-CN" sz="2400" b="1" kern="1200" cap="none" spc="0" normalizeH="0" baseline="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1  0      ↑      </a:t>
            </a:r>
            <a:r>
              <a:rPr kumimoji="0" lang="en-US" altLang="zh-CN" sz="2400" b="1" i="1" kern="1200" cap="none" spc="0" normalizeH="0" baseline="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Q</a:t>
            </a:r>
            <a:r>
              <a:rPr kumimoji="0" lang="en-US" altLang="zh-CN" sz="2400" b="1" kern="1200" cap="none" spc="0" normalizeH="0" baseline="-2500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2</a:t>
            </a:r>
            <a:r>
              <a:rPr kumimoji="0" lang="en-US" altLang="zh-CN" sz="2400" b="1" i="1" kern="1200" cap="none" spc="0" normalizeH="0" baseline="3000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n</a:t>
            </a:r>
            <a:endParaRPr kumimoji="0" lang="en-US" altLang="zh-CN" sz="2400" b="1" kern="1200" cap="none" spc="0" normalizeH="0" baseline="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a:p>
            <a:pPr marR="0" defTabSz="914400">
              <a:spcBef>
                <a:spcPct val="50000"/>
              </a:spcBef>
              <a:buClrTx/>
              <a:buSzTx/>
              <a:buFontTx/>
              <a:defRPr/>
            </a:pPr>
            <a:r>
              <a:rPr kumimoji="0" lang="en-US" altLang="zh-CN" sz="2400" b="1" kern="1200" cap="none" spc="0" normalizeH="0" baseline="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1  1      ↑      </a:t>
            </a:r>
            <a:r>
              <a:rPr kumimoji="0" lang="en-US" altLang="zh-CN" sz="2400" b="1" i="1" kern="1200" cap="none" spc="0" normalizeH="0" baseline="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D</a:t>
            </a:r>
            <a:r>
              <a:rPr kumimoji="0" lang="en-US" altLang="zh-CN" sz="2400" b="1" kern="1200" cap="none" spc="0" normalizeH="0" baseline="-2500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1</a:t>
            </a:r>
            <a:r>
              <a:rPr kumimoji="0" lang="en-US" altLang="zh-CN" sz="2400" b="1" kern="1200" cap="none" spc="0" normalizeH="0" baseline="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rPr>
              <a:t> </a:t>
            </a:r>
            <a:endParaRPr kumimoji="0" lang="en-US" altLang="zh-CN" sz="2400" b="1" kern="1200" cap="none" spc="0" normalizeH="0" baseline="0" noProof="0" smtClean="0">
              <a:gradFill>
                <a:gsLst>
                  <a:gs pos="0">
                    <a:srgbClr val="012D86"/>
                  </a:gs>
                  <a:gs pos="100000">
                    <a:srgbClr val="0E2557"/>
                  </a:gs>
                </a:gsLst>
                <a:lin scaled="0"/>
              </a:gra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cs"/>
            </a:endParaRPr>
          </a:p>
        </p:txBody>
      </p:sp>
      <p:sp>
        <p:nvSpPr>
          <p:cNvPr id="142399" name="Text Box 63"/>
          <p:cNvSpPr txBox="1">
            <a:spLocks noChangeArrowheads="1"/>
          </p:cNvSpPr>
          <p:nvPr/>
        </p:nvSpPr>
        <p:spPr bwMode="auto">
          <a:xfrm>
            <a:off x="5927725" y="5440363"/>
            <a:ext cx="2374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Tx/>
              <a:buSzTx/>
              <a:buFontTx/>
              <a:defRPr/>
            </a:pPr>
            <a:endParaRPr kumimoji="0" lang="zh-CN" altLang="zh-CN" kern="1200" cap="none" spc="0" normalizeH="0" baseline="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endParaRPr>
          </a:p>
        </p:txBody>
      </p:sp>
      <p:sp>
        <p:nvSpPr>
          <p:cNvPr id="142458" name="Rectangle 122"/>
          <p:cNvSpPr>
            <a:spLocks noChangeArrowheads="1"/>
          </p:cNvSpPr>
          <p:nvPr/>
        </p:nvSpPr>
        <p:spPr bwMode="auto">
          <a:xfrm>
            <a:off x="1443038" y="5800725"/>
            <a:ext cx="504825" cy="6477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1</a:t>
            </a:r>
            <a:endParaRPr kumimoji="0" lang="en-US" altLang="zh-CN"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460" name="Oval 124"/>
          <p:cNvSpPr>
            <a:spLocks noChangeArrowheads="1"/>
          </p:cNvSpPr>
          <p:nvPr/>
        </p:nvSpPr>
        <p:spPr bwMode="auto">
          <a:xfrm>
            <a:off x="1947863" y="6037263"/>
            <a:ext cx="144463" cy="144463"/>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461" name="Text Box 125"/>
          <p:cNvSpPr txBox="1">
            <a:spLocks noChangeArrowheads="1"/>
          </p:cNvSpPr>
          <p:nvPr/>
        </p:nvSpPr>
        <p:spPr bwMode="auto">
          <a:xfrm>
            <a:off x="2830513" y="1911350"/>
            <a:ext cx="647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Tx/>
              <a:buSzTx/>
              <a:buFontTx/>
              <a:defRPr/>
            </a:pPr>
            <a:r>
              <a:rPr kumimoji="0" lang="en-US" altLang="zh-CN" sz="2800" kern="1200" cap="none" spc="0" normalizeH="0" baseline="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X</a:t>
            </a:r>
            <a:endParaRPr kumimoji="0" lang="en-US" altLang="zh-CN" sz="2800" kern="1200" cap="none" spc="0" normalizeH="0" baseline="-2500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endParaRPr>
          </a:p>
        </p:txBody>
      </p:sp>
      <p:sp>
        <p:nvSpPr>
          <p:cNvPr id="142462" name="Text Box 126"/>
          <p:cNvSpPr txBox="1">
            <a:spLocks noChangeArrowheads="1"/>
          </p:cNvSpPr>
          <p:nvPr/>
        </p:nvSpPr>
        <p:spPr bwMode="auto">
          <a:xfrm>
            <a:off x="5207000" y="1624013"/>
            <a:ext cx="900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Tx/>
              <a:buSzTx/>
              <a:buFontTx/>
              <a:defRPr/>
            </a:pPr>
            <a:r>
              <a:rPr kumimoji="0" lang="en-US" altLang="zh-CN" sz="2400" kern="1200" cap="none" spc="0" normalizeH="0" baseline="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FF</a:t>
            </a:r>
            <a:r>
              <a:rPr kumimoji="0" lang="en-US" altLang="zh-CN" sz="2400" kern="1200" cap="none" spc="0" normalizeH="0" baseline="-2500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1</a:t>
            </a:r>
            <a:endParaRPr kumimoji="0" lang="en-US" altLang="zh-CN" sz="2400" kern="1200" cap="none" spc="0" normalizeH="0" baseline="-2500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endParaRPr>
          </a:p>
        </p:txBody>
      </p:sp>
      <p:sp>
        <p:nvSpPr>
          <p:cNvPr id="142463" name="Rectangle 127"/>
          <p:cNvSpPr>
            <a:spLocks noChangeArrowheads="1"/>
          </p:cNvSpPr>
          <p:nvPr/>
        </p:nvSpPr>
        <p:spPr bwMode="auto">
          <a:xfrm>
            <a:off x="1452563" y="4946650"/>
            <a:ext cx="504825" cy="6477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rPr>
              <a:t>1</a:t>
            </a:r>
            <a:endParaRPr kumimoji="0" lang="en-US" altLang="zh-CN"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464" name="Line 128"/>
          <p:cNvSpPr>
            <a:spLocks noChangeShapeType="1"/>
          </p:cNvSpPr>
          <p:nvPr/>
        </p:nvSpPr>
        <p:spPr bwMode="auto">
          <a:xfrm>
            <a:off x="887413" y="3773488"/>
            <a:ext cx="53498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465" name="Line 129"/>
          <p:cNvSpPr>
            <a:spLocks noChangeShapeType="1"/>
          </p:cNvSpPr>
          <p:nvPr/>
        </p:nvSpPr>
        <p:spPr bwMode="auto">
          <a:xfrm>
            <a:off x="887413" y="3228975"/>
            <a:ext cx="54451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466" name="Line 130"/>
          <p:cNvSpPr>
            <a:spLocks noChangeShapeType="1"/>
          </p:cNvSpPr>
          <p:nvPr/>
        </p:nvSpPr>
        <p:spPr bwMode="auto">
          <a:xfrm>
            <a:off x="598488" y="2528888"/>
            <a:ext cx="79216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467" name="Line 131"/>
          <p:cNvSpPr>
            <a:spLocks noChangeShapeType="1"/>
          </p:cNvSpPr>
          <p:nvPr/>
        </p:nvSpPr>
        <p:spPr bwMode="auto">
          <a:xfrm>
            <a:off x="887413" y="1747838"/>
            <a:ext cx="50323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42468" name="Text Box 132"/>
          <p:cNvSpPr txBox="1">
            <a:spLocks noChangeArrowheads="1"/>
          </p:cNvSpPr>
          <p:nvPr/>
        </p:nvSpPr>
        <p:spPr bwMode="auto">
          <a:xfrm>
            <a:off x="506413" y="4030663"/>
            <a:ext cx="5048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Tx/>
              <a:buSzTx/>
              <a:buFontTx/>
              <a:defRPr/>
            </a:pPr>
            <a:r>
              <a:rPr kumimoji="0" lang="en-US" altLang="zh-CN" sz="2400" i="1"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Times New Roman" panose="02020603050405020304" charset="0"/>
              </a:rPr>
              <a:t>S</a:t>
            </a:r>
            <a:r>
              <a:rPr kumimoji="0" lang="en-US" altLang="zh-CN" sz="2400" kern="1200" cap="none" spc="0" normalizeH="0" baseline="-2500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0</a:t>
            </a:r>
            <a:endParaRPr kumimoji="0" lang="en-US" altLang="zh-CN" sz="2400" kern="1200" cap="none" spc="0" normalizeH="0" baseline="-2500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endParaRPr>
          </a:p>
        </p:txBody>
      </p:sp>
      <p:sp>
        <p:nvSpPr>
          <p:cNvPr id="142469" name="Text Box 133"/>
          <p:cNvSpPr txBox="1">
            <a:spLocks noChangeArrowheads="1"/>
          </p:cNvSpPr>
          <p:nvPr/>
        </p:nvSpPr>
        <p:spPr bwMode="auto">
          <a:xfrm>
            <a:off x="104775" y="3187700"/>
            <a:ext cx="6477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Tx/>
              <a:buSzTx/>
              <a:buFontTx/>
              <a:defRPr/>
            </a:pPr>
            <a:r>
              <a:rPr kumimoji="0" lang="en-US" altLang="zh-CN" sz="2400" i="1"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Times New Roman" panose="02020603050405020304" charset="0"/>
              </a:rPr>
              <a:t>S</a:t>
            </a:r>
            <a:r>
              <a:rPr kumimoji="0" lang="en-US" altLang="zh-CN" sz="2400" kern="1200" cap="none" spc="0" normalizeH="0" baseline="-2500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0</a:t>
            </a:r>
            <a:endParaRPr kumimoji="0" lang="en-US" altLang="zh-CN" sz="2400" kern="1200" cap="none" spc="0" normalizeH="0" baseline="-2500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endParaRPr>
          </a:p>
        </p:txBody>
      </p:sp>
      <p:sp>
        <p:nvSpPr>
          <p:cNvPr id="142470" name="Text Box 134"/>
          <p:cNvSpPr txBox="1">
            <a:spLocks noChangeArrowheads="1"/>
          </p:cNvSpPr>
          <p:nvPr/>
        </p:nvSpPr>
        <p:spPr bwMode="auto">
          <a:xfrm>
            <a:off x="485775" y="2992438"/>
            <a:ext cx="57467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Tx/>
              <a:buSzTx/>
              <a:buFontTx/>
              <a:defRPr/>
            </a:pPr>
            <a:r>
              <a:rPr kumimoji="0" lang="en-US" altLang="zh-CN" sz="2400" i="1"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Times New Roman" panose="02020603050405020304" charset="0"/>
              </a:rPr>
              <a:t>S</a:t>
            </a:r>
            <a:r>
              <a:rPr kumimoji="0" lang="en-US" altLang="zh-CN" sz="2400" kern="1200" cap="none" spc="0" normalizeH="0" baseline="-2500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1</a:t>
            </a:r>
            <a:endParaRPr kumimoji="0" lang="en-US" altLang="zh-CN" sz="2400" kern="1200" cap="none" spc="0" normalizeH="0" baseline="-2500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endParaRPr>
          </a:p>
        </p:txBody>
      </p:sp>
      <p:graphicFrame>
        <p:nvGraphicFramePr>
          <p:cNvPr id="23611" name="Object 135"/>
          <p:cNvGraphicFramePr>
            <a:graphicFrameLocks noChangeAspect="1"/>
          </p:cNvGraphicFramePr>
          <p:nvPr/>
        </p:nvGraphicFramePr>
        <p:xfrm>
          <a:off x="290513" y="1798638"/>
          <a:ext cx="377825" cy="503237"/>
        </p:xfrm>
        <a:graphic>
          <a:graphicData uri="http://schemas.openxmlformats.org/presentationml/2006/ole">
            <mc:AlternateContent xmlns:mc="http://schemas.openxmlformats.org/markup-compatibility/2006">
              <mc:Choice xmlns:v="urn:schemas-microsoft-com:vml" Requires="v">
                <p:oleObj spid="_x0000_s3090" name="" r:id="rId7" imgW="190500" imgH="254000" progId="Equation.3">
                  <p:embed/>
                </p:oleObj>
              </mc:Choice>
              <mc:Fallback>
                <p:oleObj name="" r:id="rId7" imgW="190500" imgH="254000" progId="Equation.3">
                  <p:embed/>
                  <p:pic>
                    <p:nvPicPr>
                      <p:cNvPr id="0" name="图片 3089"/>
                      <p:cNvPicPr/>
                      <p:nvPr/>
                    </p:nvPicPr>
                    <p:blipFill>
                      <a:blip r:embed="rId4"/>
                      <a:stretch>
                        <a:fillRect/>
                      </a:stretch>
                    </p:blipFill>
                    <p:spPr>
                      <a:xfrm>
                        <a:off x="290513" y="1798638"/>
                        <a:ext cx="377825" cy="503237"/>
                      </a:xfrm>
                      <a:prstGeom prst="rect">
                        <a:avLst/>
                      </a:prstGeom>
                      <a:noFill/>
                      <a:ln w="38100">
                        <a:noFill/>
                        <a:miter/>
                      </a:ln>
                    </p:spPr>
                  </p:pic>
                </p:oleObj>
              </mc:Fallback>
            </mc:AlternateContent>
          </a:graphicData>
        </a:graphic>
      </p:graphicFrame>
      <p:sp>
        <p:nvSpPr>
          <p:cNvPr id="142473" name="Text Box 137"/>
          <p:cNvSpPr txBox="1">
            <a:spLocks noChangeArrowheads="1"/>
          </p:cNvSpPr>
          <p:nvPr/>
        </p:nvSpPr>
        <p:spPr bwMode="auto">
          <a:xfrm>
            <a:off x="166688" y="1219200"/>
            <a:ext cx="5397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marR="0" defTabSz="914400">
              <a:spcBef>
                <a:spcPct val="50000"/>
              </a:spcBef>
              <a:buClrTx/>
              <a:buSzTx/>
              <a:buFontTx/>
              <a:defRPr/>
            </a:pPr>
            <a:r>
              <a:rPr kumimoji="0" lang="en-US" altLang="zh-CN" sz="2400" i="1" kern="1200" cap="none" spc="0" normalizeH="0" baseline="0" noProof="0" smtClean="0">
                <a:effectLst>
                  <a:outerShdw blurRad="38100" dist="38100" dir="2700000" algn="tl">
                    <a:srgbClr val="000000">
                      <a:alpha val="43137"/>
                    </a:srgbClr>
                  </a:outerShdw>
                </a:effectLst>
                <a:latin typeface="Times New Roman" panose="02020603050405020304" charset="0"/>
                <a:ea typeface="宋体" panose="02010600030101010101" pitchFamily="2" charset="-122"/>
                <a:cs typeface="Times New Roman" panose="02020603050405020304" charset="0"/>
              </a:rPr>
              <a:t>Q</a:t>
            </a:r>
            <a:r>
              <a:rPr kumimoji="0" lang="en-US" altLang="zh-CN" sz="2400" kern="1200" cap="none" spc="0" normalizeH="0" baseline="-2500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1</a:t>
            </a:r>
            <a:endParaRPr kumimoji="0" lang="en-US" altLang="zh-CN" sz="2400" kern="1200" cap="none" spc="0" normalizeH="0" baseline="-25000" noProof="0" smtClean="0">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endParaRPr>
          </a:p>
        </p:txBody>
      </p:sp>
      <p:sp>
        <p:nvSpPr>
          <p:cNvPr id="142474" name="Oval 138"/>
          <p:cNvSpPr>
            <a:spLocks noChangeArrowheads="1"/>
          </p:cNvSpPr>
          <p:nvPr/>
        </p:nvSpPr>
        <p:spPr bwMode="auto">
          <a:xfrm>
            <a:off x="1319213" y="6037263"/>
            <a:ext cx="142875" cy="142875"/>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smtClean="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aphicFrame>
        <p:nvGraphicFramePr>
          <p:cNvPr id="23614" name="Object 139"/>
          <p:cNvGraphicFramePr>
            <a:graphicFrameLocks noChangeAspect="1"/>
          </p:cNvGraphicFramePr>
          <p:nvPr>
            <p:ph sz="quarter" idx="3"/>
          </p:nvPr>
        </p:nvGraphicFramePr>
        <p:xfrm>
          <a:off x="166688" y="5872163"/>
          <a:ext cx="477837" cy="477837"/>
        </p:xfrm>
        <a:graphic>
          <a:graphicData uri="http://schemas.openxmlformats.org/presentationml/2006/ole">
            <mc:AlternateContent xmlns:mc="http://schemas.openxmlformats.org/markup-compatibility/2006">
              <mc:Choice xmlns:v="urn:schemas-microsoft-com:vml" Requires="v">
                <p:oleObj spid="_x0000_s3088" name="" r:id="rId8" imgW="177800" imgH="177800" progId="Equation.3">
                  <p:embed/>
                </p:oleObj>
              </mc:Choice>
              <mc:Fallback>
                <p:oleObj name="" r:id="rId8" imgW="177800" imgH="177800" progId="Equation.3">
                  <p:embed/>
                  <p:pic>
                    <p:nvPicPr>
                      <p:cNvPr id="0" name="图片 3087"/>
                      <p:cNvPicPr/>
                      <p:nvPr/>
                    </p:nvPicPr>
                    <p:blipFill>
                      <a:blip r:embed="rId9"/>
                      <a:stretch>
                        <a:fillRect/>
                      </a:stretch>
                    </p:blipFill>
                    <p:spPr>
                      <a:xfrm>
                        <a:off x="166688" y="5872163"/>
                        <a:ext cx="477837" cy="477837"/>
                      </a:xfrm>
                      <a:prstGeom prst="rect">
                        <a:avLst/>
                      </a:prstGeom>
                      <a:noFill/>
                      <a:ln w="38100">
                        <a:noFill/>
                        <a:miter/>
                      </a:ln>
                    </p:spPr>
                  </p:pic>
                </p:oleObj>
              </mc:Fallback>
            </mc:AlternateContent>
          </a:graphicData>
        </a:graphic>
      </p:graphicFrame>
      <p:graphicFrame>
        <p:nvGraphicFramePr>
          <p:cNvPr id="3" name="对象 -2147482478"/>
          <p:cNvGraphicFramePr>
            <a:graphicFrameLocks noChangeAspect="1"/>
          </p:cNvGraphicFramePr>
          <p:nvPr/>
        </p:nvGraphicFramePr>
        <p:xfrm>
          <a:off x="2590165" y="1134110"/>
          <a:ext cx="4414520" cy="414020"/>
        </p:xfrm>
        <a:graphic>
          <a:graphicData uri="http://schemas.openxmlformats.org/presentationml/2006/ole">
            <mc:AlternateContent xmlns:mc="http://schemas.openxmlformats.org/markup-compatibility/2006">
              <mc:Choice xmlns:v="urn:schemas-microsoft-com:vml" Requires="v">
                <p:oleObj spid="_x0000_s3076" name="" r:id="rId10" imgW="2717800" imgH="254000" progId="Equation.3">
                  <p:embed/>
                </p:oleObj>
              </mc:Choice>
              <mc:Fallback>
                <p:oleObj name="" r:id="rId10" imgW="2717800" imgH="254000" progId="Equation.3">
                  <p:embed/>
                  <p:pic>
                    <p:nvPicPr>
                      <p:cNvPr id="0" name="图片 3075"/>
                      <p:cNvPicPr/>
                      <p:nvPr/>
                    </p:nvPicPr>
                    <p:blipFill>
                      <a:blip r:embed="rId11"/>
                      <a:stretch>
                        <a:fillRect/>
                      </a:stretch>
                    </p:blipFill>
                    <p:spPr>
                      <a:xfrm>
                        <a:off x="2590165" y="1134110"/>
                        <a:ext cx="4414520" cy="41402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2397"/>
                                        </p:tgtEl>
                                        <p:attrNameLst>
                                          <p:attrName>style.visibility</p:attrName>
                                        </p:attrNameLst>
                                      </p:cBhvr>
                                      <p:to>
                                        <p:strVal val="visible"/>
                                      </p:to>
                                    </p:set>
                                    <p:animEffect transition="in" filter="wipe(up)">
                                      <p:cBhvr>
                                        <p:cTn id="7" dur="500"/>
                                        <p:tgtEl>
                                          <p:spTgt spid="14239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42398">
                                            <p:txEl>
                                              <p:charRg st="4294967295" end="4294967295"/>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42398">
                                            <p:txEl>
                                              <p:charRg st="0" end="26"/>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42398">
                                            <p:txEl>
                                              <p:charRg st="26" end="48"/>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42398">
                                            <p:txEl>
                                              <p:charRg st="48" end="7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42398">
                                            <p:txEl>
                                              <p:charRg st="70" end="91"/>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42398">
                                            <p:txEl>
                                              <p:charRg st="91" end="1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97" grpId="0" bldLvl="0" animBg="1"/>
      <p:bldP spid="142398" grpId="0" uiExpand="1"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6.5 </a:t>
            </a:r>
            <a:r>
              <a:rPr lang="zh-CN" b="1" dirty="0">
                <a:solidFill>
                  <a:srgbClr val="FF0000"/>
                </a:solidFill>
                <a:latin typeface="黑体" panose="02010609060101010101" pitchFamily="49" charset="-122"/>
                <a:ea typeface="黑体" panose="02010609060101010101" pitchFamily="49" charset="-122"/>
                <a:sym typeface="+mn-ea"/>
              </a:rPr>
              <a:t>数码寄存器与移位寄存器</a:t>
            </a:r>
            <a:endParaRPr lang="zh-CN" b="1" dirty="0">
              <a:solidFill>
                <a:srgbClr val="FF0000"/>
              </a:solidFill>
              <a:latin typeface="黑体" panose="02010609060101010101" pitchFamily="49" charset="-122"/>
              <a:ea typeface="黑体" panose="02010609060101010101" pitchFamily="49" charset="-122"/>
              <a:sym typeface="+mn-ea"/>
            </a:endParaRPr>
          </a:p>
        </p:txBody>
      </p:sp>
      <p:pic>
        <p:nvPicPr>
          <p:cNvPr id="3" name="图片 2"/>
          <p:cNvPicPr>
            <a:picLocks noChangeAspect="1"/>
          </p:cNvPicPr>
          <p:nvPr/>
        </p:nvPicPr>
        <p:blipFill>
          <a:blip r:embed="rId1"/>
          <a:stretch>
            <a:fillRect/>
          </a:stretch>
        </p:blipFill>
        <p:spPr>
          <a:xfrm>
            <a:off x="258445" y="1270000"/>
            <a:ext cx="8489315" cy="3105785"/>
          </a:xfrm>
          <a:prstGeom prst="rect">
            <a:avLst/>
          </a:prstGeom>
        </p:spPr>
      </p:pic>
      <p:cxnSp>
        <p:nvCxnSpPr>
          <p:cNvPr id="4" name="直接连接符 3"/>
          <p:cNvCxnSpPr/>
          <p:nvPr/>
        </p:nvCxnSpPr>
        <p:spPr>
          <a:xfrm>
            <a:off x="739140" y="2367280"/>
            <a:ext cx="197485" cy="0"/>
          </a:xfrm>
          <a:prstGeom prst="line">
            <a:avLst/>
          </a:prstGeom>
          <a:ln w="15875">
            <a:solidFill>
              <a:srgbClr val="000000"/>
            </a:solidFill>
          </a:ln>
        </p:spPr>
        <p:style>
          <a:lnRef idx="1">
            <a:schemeClr val="accent1"/>
          </a:lnRef>
          <a:fillRef idx="0">
            <a:schemeClr val="accent1"/>
          </a:fillRef>
          <a:effectRef idx="0">
            <a:schemeClr val="accent1"/>
          </a:effectRef>
          <a:fontRef idx="minor">
            <a:schemeClr val="tx1"/>
          </a:fontRef>
        </p:style>
      </p:cxnSp>
      <p:pic>
        <p:nvPicPr>
          <p:cNvPr id="9415" name="图片 2852"/>
          <p:cNvPicPr>
            <a:picLocks noChangeAspect="1"/>
          </p:cNvPicPr>
          <p:nvPr/>
        </p:nvPicPr>
        <p:blipFill>
          <a:blip r:embed="rId2"/>
          <a:srcRect t="64860"/>
          <a:stretch>
            <a:fillRect/>
          </a:stretch>
        </p:blipFill>
        <p:spPr>
          <a:xfrm>
            <a:off x="1112520" y="4376420"/>
            <a:ext cx="6918325" cy="2077085"/>
          </a:xfrm>
          <a:prstGeom prst="rect">
            <a:avLst/>
          </a:prstGeom>
          <a:noFill/>
          <a:ln>
            <a:noFill/>
          </a:ln>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6.5 </a:t>
            </a:r>
            <a:r>
              <a:rPr lang="zh-CN" b="1" dirty="0">
                <a:solidFill>
                  <a:srgbClr val="FF0000"/>
                </a:solidFill>
                <a:latin typeface="黑体" panose="02010609060101010101" pitchFamily="49" charset="-122"/>
                <a:ea typeface="黑体" panose="02010609060101010101" pitchFamily="49" charset="-122"/>
                <a:sym typeface="+mn-ea"/>
              </a:rPr>
              <a:t>数码寄存器与移位寄存器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6146" name="Rectangle 2"/>
          <p:cNvSpPr>
            <a:spLocks noGrp="1"/>
          </p:cNvSpPr>
          <p:nvPr>
            <p:ph type="title"/>
          </p:nvPr>
        </p:nvSpPr>
        <p:spPr>
          <a:xfrm>
            <a:off x="906145" y="972820"/>
            <a:ext cx="6847205" cy="868045"/>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sym typeface="+mn-ea"/>
              </a:rPr>
              <a:t>6.5.3 移位寄存器的用途</a:t>
            </a:r>
            <a:endPar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sym typeface="+mn-ea"/>
            </a:endParaRPr>
          </a:p>
        </p:txBody>
      </p:sp>
      <p:sp>
        <p:nvSpPr>
          <p:cNvPr id="104" name="文本框 103"/>
          <p:cNvSpPr txBox="1"/>
          <p:nvPr/>
        </p:nvSpPr>
        <p:spPr>
          <a:xfrm>
            <a:off x="605155" y="1601470"/>
            <a:ext cx="5080000" cy="460375"/>
          </a:xfrm>
          <a:prstGeom prst="rect">
            <a:avLst/>
          </a:prstGeom>
          <a:noFill/>
          <a:ln w="9525">
            <a:noFill/>
          </a:ln>
        </p:spPr>
        <p:txBody>
          <a:bodyPr>
            <a:spAutoFit/>
          </a:bodyPr>
          <a:p>
            <a:pPr indent="267970"/>
            <a:r>
              <a:rPr lang="en-US" sz="2400" b="1">
                <a:solidFill>
                  <a:schemeClr val="accent6">
                    <a:lumMod val="60000"/>
                    <a:lumOff val="40000"/>
                  </a:schemeClr>
                </a:solidFill>
                <a:latin typeface="Times New Roman" panose="02020603050405020304" charset="0"/>
                <a:ea typeface="宋体" panose="02010600030101010101" pitchFamily="2" charset="-122"/>
              </a:rPr>
              <a:t>1. </a:t>
            </a:r>
            <a:r>
              <a:rPr lang="zh-CN" sz="2400" b="1">
                <a:solidFill>
                  <a:schemeClr val="accent6">
                    <a:lumMod val="60000"/>
                    <a:lumOff val="40000"/>
                  </a:schemeClr>
                </a:solidFill>
                <a:ea typeface="宋体" panose="02010600030101010101" pitchFamily="2" charset="-122"/>
              </a:rPr>
              <a:t>功能扩展</a:t>
            </a:r>
            <a:endParaRPr lang="zh-CN" altLang="en-US" sz="2400" b="1">
              <a:solidFill>
                <a:schemeClr val="accent6">
                  <a:lumMod val="60000"/>
                  <a:lumOff val="40000"/>
                </a:schemeClr>
              </a:solidFill>
              <a:ea typeface="宋体" panose="02010600030101010101" pitchFamily="2" charset="-122"/>
            </a:endParaRPr>
          </a:p>
        </p:txBody>
      </p:sp>
      <p:pic>
        <p:nvPicPr>
          <p:cNvPr id="9416" name="图片 2853"/>
          <p:cNvPicPr>
            <a:picLocks noChangeAspect="1"/>
          </p:cNvPicPr>
          <p:nvPr/>
        </p:nvPicPr>
        <p:blipFill>
          <a:blip r:embed="rId1"/>
          <a:stretch>
            <a:fillRect/>
          </a:stretch>
        </p:blipFill>
        <p:spPr>
          <a:xfrm>
            <a:off x="1187450" y="2374900"/>
            <a:ext cx="6769735" cy="2947035"/>
          </a:xfrm>
          <a:prstGeom prst="rect">
            <a:avLst/>
          </a:prstGeom>
          <a:noFill/>
          <a:ln>
            <a:noFill/>
          </a:ln>
        </p:spPr>
      </p:pic>
      <p:sp>
        <p:nvSpPr>
          <p:cNvPr id="3" name="文本框 2"/>
          <p:cNvSpPr txBox="1"/>
          <p:nvPr/>
        </p:nvSpPr>
        <p:spPr>
          <a:xfrm>
            <a:off x="0" y="1976120"/>
            <a:ext cx="9135110" cy="398780"/>
          </a:xfrm>
          <a:prstGeom prst="rect">
            <a:avLst/>
          </a:prstGeom>
          <a:noFill/>
          <a:ln w="9525">
            <a:noFill/>
          </a:ln>
        </p:spPr>
        <p:txBody>
          <a:bodyPr wrap="square">
            <a:spAutoFit/>
          </a:bodyPr>
          <a:p>
            <a:pPr indent="266700"/>
            <a:r>
              <a:rPr lang="zh-CN" sz="2000" b="1">
                <a:ea typeface="宋体" panose="02010600030101010101" pitchFamily="2" charset="-122"/>
              </a:rPr>
              <a:t>【例</a:t>
            </a:r>
            <a:r>
              <a:rPr lang="en-US" sz="2000" b="1">
                <a:latin typeface="Times New Roman" panose="02020603050405020304" charset="0"/>
              </a:rPr>
              <a:t>6-12</a:t>
            </a:r>
            <a:r>
              <a:rPr lang="zh-CN" sz="2000" b="1">
                <a:ea typeface="宋体" panose="02010600030101010101" pitchFamily="2" charset="-122"/>
              </a:rPr>
              <a:t>】</a:t>
            </a:r>
            <a:r>
              <a:rPr lang="en-US" sz="2000" b="1">
                <a:latin typeface="Times New Roman" panose="02020603050405020304" charset="0"/>
              </a:rPr>
              <a:t> </a:t>
            </a:r>
            <a:r>
              <a:rPr lang="zh-CN" sz="2000" b="1">
                <a:ea typeface="宋体" panose="02010600030101010101" pitchFamily="2" charset="-122"/>
              </a:rPr>
              <a:t>试用两片</a:t>
            </a:r>
            <a:r>
              <a:rPr lang="en-US" sz="2000" b="1">
                <a:latin typeface="Times New Roman" panose="02020603050405020304" charset="0"/>
                <a:ea typeface="宋体" panose="02010600030101010101" pitchFamily="2" charset="-122"/>
              </a:rPr>
              <a:t>4</a:t>
            </a:r>
            <a:r>
              <a:rPr lang="zh-CN" sz="2000" b="1">
                <a:ea typeface="宋体" panose="02010600030101010101" pitchFamily="2" charset="-122"/>
              </a:rPr>
              <a:t>位双向移位寄存器</a:t>
            </a:r>
            <a:r>
              <a:rPr lang="en-US" sz="2000" b="1">
                <a:latin typeface="Times New Roman" panose="02020603050405020304" charset="0"/>
                <a:ea typeface="宋体" panose="02010600030101010101" pitchFamily="2" charset="-122"/>
              </a:rPr>
              <a:t>74LS194</a:t>
            </a:r>
            <a:r>
              <a:rPr lang="zh-CN" sz="2000" b="1">
                <a:ea typeface="宋体" panose="02010600030101010101" pitchFamily="2" charset="-122"/>
              </a:rPr>
              <a:t>接成一个</a:t>
            </a:r>
            <a:r>
              <a:rPr lang="en-US" sz="2000" b="1">
                <a:latin typeface="Times New Roman" panose="02020603050405020304" charset="0"/>
                <a:ea typeface="宋体" panose="02010600030101010101" pitchFamily="2" charset="-122"/>
              </a:rPr>
              <a:t>8</a:t>
            </a:r>
            <a:r>
              <a:rPr lang="zh-CN" sz="2000" b="1">
                <a:ea typeface="宋体" panose="02010600030101010101" pitchFamily="2" charset="-122"/>
              </a:rPr>
              <a:t>位双向移位寄存器。</a:t>
            </a:r>
            <a:endParaRPr lang="zh-CN" altLang="en-US" sz="2000" b="1"/>
          </a:p>
        </p:txBody>
      </p:sp>
      <p:sp>
        <p:nvSpPr>
          <p:cNvPr id="4" name="文本框 3"/>
          <p:cNvSpPr txBox="1"/>
          <p:nvPr/>
        </p:nvSpPr>
        <p:spPr>
          <a:xfrm>
            <a:off x="53975" y="5215255"/>
            <a:ext cx="8996680" cy="1322070"/>
          </a:xfrm>
          <a:prstGeom prst="rect">
            <a:avLst/>
          </a:prstGeom>
          <a:noFill/>
          <a:ln w="9525">
            <a:noFill/>
          </a:ln>
        </p:spPr>
        <p:txBody>
          <a:bodyPr wrap="square">
            <a:spAutoFit/>
          </a:bodyPr>
          <a:p>
            <a:r>
              <a:rPr lang="zh-CN" sz="2000" b="1">
                <a:gradFill>
                  <a:gsLst>
                    <a:gs pos="0">
                      <a:srgbClr val="012D86"/>
                    </a:gs>
                    <a:gs pos="100000">
                      <a:srgbClr val="0E2557"/>
                    </a:gs>
                  </a:gsLst>
                  <a:lin scaled="0"/>
                </a:gradFill>
                <a:ea typeface="宋体" panose="02010600030101010101" pitchFamily="2" charset="-122"/>
              </a:rPr>
              <a:t>将</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74LS194(1)</a:t>
            </a:r>
            <a:r>
              <a:rPr lang="zh-CN" sz="2000" b="1">
                <a:gradFill>
                  <a:gsLst>
                    <a:gs pos="0">
                      <a:srgbClr val="012D86"/>
                    </a:gs>
                    <a:gs pos="100000">
                      <a:srgbClr val="0E2557"/>
                    </a:gs>
                  </a:gsLst>
                  <a:lin scaled="0"/>
                </a:gradFill>
                <a:ea typeface="宋体" panose="02010600030101010101" pitchFamily="2" charset="-122"/>
              </a:rPr>
              <a:t>的右移串行输入端作为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8</a:t>
            </a:r>
            <a:r>
              <a:rPr lang="zh-CN" sz="2000" b="1">
                <a:gradFill>
                  <a:gsLst>
                    <a:gs pos="0">
                      <a:srgbClr val="012D86"/>
                    </a:gs>
                    <a:gs pos="100000">
                      <a:srgbClr val="0E2557"/>
                    </a:gs>
                  </a:gsLst>
                  <a:lin scaled="0"/>
                </a:gradFill>
                <a:ea typeface="宋体" panose="02010600030101010101" pitchFamily="2" charset="-122"/>
              </a:rPr>
              <a:t>位双向移位寄存器的右移串行输入端，将</a:t>
            </a:r>
            <a:endParaRPr lang="zh-CN" sz="2000" b="1">
              <a:gradFill>
                <a:gsLst>
                  <a:gs pos="0">
                    <a:srgbClr val="012D86"/>
                  </a:gs>
                  <a:gs pos="100000">
                    <a:srgbClr val="0E2557"/>
                  </a:gs>
                </a:gsLst>
                <a:lin scaled="0"/>
              </a:gradFill>
              <a:ea typeface="宋体" panose="02010600030101010101" pitchFamily="2" charset="-122"/>
            </a:endParaRPr>
          </a:p>
          <a:p>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74LS194(1)</a:t>
            </a:r>
            <a:r>
              <a:rPr lang="zh-CN" sz="2000" b="1">
                <a:gradFill>
                  <a:gsLst>
                    <a:gs pos="0">
                      <a:srgbClr val="012D86"/>
                    </a:gs>
                    <a:gs pos="100000">
                      <a:srgbClr val="0E2557"/>
                    </a:gs>
                  </a:gsLst>
                  <a:lin scaled="0"/>
                </a:gradFill>
                <a:ea typeface="宋体" panose="02010600030101010101" pitchFamily="2" charset="-122"/>
              </a:rPr>
              <a:t>的串行输出端</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rPr>
              <a:t>3</a:t>
            </a:r>
            <a:r>
              <a:rPr lang="zh-CN" sz="2000" b="1">
                <a:gradFill>
                  <a:gsLst>
                    <a:gs pos="0">
                      <a:srgbClr val="012D86"/>
                    </a:gs>
                    <a:gs pos="100000">
                      <a:srgbClr val="0E2557"/>
                    </a:gs>
                  </a:gsLst>
                  <a:lin scaled="0"/>
                </a:gradFill>
                <a:ea typeface="宋体" panose="02010600030101010101" pitchFamily="2" charset="-122"/>
              </a:rPr>
              <a:t>与</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74LS194(2)</a:t>
            </a:r>
            <a:r>
              <a:rPr lang="zh-CN" sz="2000" b="1">
                <a:gradFill>
                  <a:gsLst>
                    <a:gs pos="0">
                      <a:srgbClr val="012D86"/>
                    </a:gs>
                    <a:gs pos="100000">
                      <a:srgbClr val="0E2557"/>
                    </a:gs>
                  </a:gsLst>
                  <a:lin scaled="0"/>
                </a:gradFill>
                <a:ea typeface="宋体" panose="02010600030101010101" pitchFamily="2" charset="-122"/>
              </a:rPr>
              <a:t>的右移串行输入端相连；将</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74LS194(2)</a:t>
            </a:r>
            <a:endParaRPr lang="en-US" sz="2000" b="1">
              <a:gradFill>
                <a:gsLst>
                  <a:gs pos="0">
                    <a:srgbClr val="012D86"/>
                  </a:gs>
                  <a:gs pos="100000">
                    <a:srgbClr val="0E2557"/>
                  </a:gs>
                </a:gsLst>
                <a:lin scaled="0"/>
              </a:gradFill>
              <a:latin typeface="Times New Roman" panose="02020603050405020304" charset="0"/>
              <a:ea typeface="宋体" panose="02010600030101010101" pitchFamily="2" charset="-122"/>
            </a:endParaRPr>
          </a:p>
          <a:p>
            <a:r>
              <a:rPr lang="zh-CN" sz="2000" b="1">
                <a:gradFill>
                  <a:gsLst>
                    <a:gs pos="0">
                      <a:srgbClr val="012D86"/>
                    </a:gs>
                    <a:gs pos="100000">
                      <a:srgbClr val="0E2557"/>
                    </a:gs>
                  </a:gsLst>
                  <a:lin scaled="0"/>
                </a:gradFill>
                <a:ea typeface="宋体" panose="02010600030101010101" pitchFamily="2" charset="-122"/>
              </a:rPr>
              <a:t>的左移输入端作为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8</a:t>
            </a:r>
            <a:r>
              <a:rPr lang="zh-CN" sz="2000" b="1">
                <a:gradFill>
                  <a:gsLst>
                    <a:gs pos="0">
                      <a:srgbClr val="012D86"/>
                    </a:gs>
                    <a:gs pos="100000">
                      <a:srgbClr val="0E2557"/>
                    </a:gs>
                  </a:gsLst>
                  <a:lin scaled="0"/>
                </a:gradFill>
                <a:ea typeface="宋体" panose="02010600030101010101" pitchFamily="2" charset="-122"/>
              </a:rPr>
              <a:t>位双向移位寄存器的左移串行输入端，同时将</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74LS194(2)</a:t>
            </a:r>
            <a:r>
              <a:rPr lang="zh-CN" sz="2000" b="1">
                <a:gradFill>
                  <a:gsLst>
                    <a:gs pos="0">
                      <a:srgbClr val="012D86"/>
                    </a:gs>
                    <a:gs pos="100000">
                      <a:srgbClr val="0E2557"/>
                    </a:gs>
                  </a:gsLst>
                  <a:lin scaled="0"/>
                </a:gradFill>
                <a:ea typeface="宋体" panose="02010600030101010101" pitchFamily="2" charset="-122"/>
              </a:rPr>
              <a:t>的</a:t>
            </a:r>
            <a:endParaRPr lang="zh-CN" sz="2000" b="1">
              <a:gradFill>
                <a:gsLst>
                  <a:gs pos="0">
                    <a:srgbClr val="012D86"/>
                  </a:gs>
                  <a:gs pos="100000">
                    <a:srgbClr val="0E2557"/>
                  </a:gs>
                </a:gsLst>
                <a:lin scaled="0"/>
              </a:gradFill>
              <a:ea typeface="宋体" panose="02010600030101010101" pitchFamily="2" charset="-122"/>
            </a:endParaRPr>
          </a:p>
          <a:p>
            <a:r>
              <a:rPr lang="zh-CN" sz="2000" b="1">
                <a:gradFill>
                  <a:gsLst>
                    <a:gs pos="0">
                      <a:srgbClr val="012D86"/>
                    </a:gs>
                    <a:gs pos="100000">
                      <a:srgbClr val="0E2557"/>
                    </a:gs>
                  </a:gsLst>
                  <a:lin scaled="0"/>
                </a:gradFill>
                <a:ea typeface="宋体" panose="02010600030101010101" pitchFamily="2" charset="-122"/>
              </a:rPr>
              <a:t>串行输出端</a:t>
            </a:r>
            <a:r>
              <a:rPr lang="en-US" sz="2000" b="1" i="1">
                <a:gradFill>
                  <a:gsLst>
                    <a:gs pos="0">
                      <a:srgbClr val="012D86"/>
                    </a:gs>
                    <a:gs pos="100000">
                      <a:srgbClr val="0E2557"/>
                    </a:gs>
                  </a:gsLst>
                  <a:lin scaled="0"/>
                </a:gradFill>
                <a:latin typeface="Times New Roman" panose="02020603050405020304" charset="0"/>
              </a:rPr>
              <a:t>Q</a:t>
            </a:r>
            <a:r>
              <a:rPr lang="en-US" sz="2000" b="1" baseline="-25000">
                <a:gradFill>
                  <a:gsLst>
                    <a:gs pos="0">
                      <a:srgbClr val="012D86"/>
                    </a:gs>
                    <a:gs pos="100000">
                      <a:srgbClr val="0E2557"/>
                    </a:gs>
                  </a:gsLst>
                  <a:lin scaled="0"/>
                </a:gradFill>
                <a:latin typeface="Times New Roman" panose="02020603050405020304" charset="0"/>
              </a:rPr>
              <a:t>4</a:t>
            </a:r>
            <a:r>
              <a:rPr lang="zh-CN" sz="2000" b="1">
                <a:gradFill>
                  <a:gsLst>
                    <a:gs pos="0">
                      <a:srgbClr val="012D86"/>
                    </a:gs>
                    <a:gs pos="100000">
                      <a:srgbClr val="0E2557"/>
                    </a:gs>
                  </a:gsLst>
                  <a:lin scaled="0"/>
                </a:gradFill>
                <a:ea typeface="宋体" panose="02010600030101010101" pitchFamily="2" charset="-122"/>
              </a:rPr>
              <a:t>与</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74LS194(1)</a:t>
            </a:r>
            <a:r>
              <a:rPr lang="zh-CN" sz="2000" b="1">
                <a:gradFill>
                  <a:gsLst>
                    <a:gs pos="0">
                      <a:srgbClr val="012D86"/>
                    </a:gs>
                    <a:gs pos="100000">
                      <a:srgbClr val="0E2557"/>
                    </a:gs>
                  </a:gsLst>
                  <a:lin scaled="0"/>
                </a:gradFill>
                <a:ea typeface="宋体" panose="02010600030101010101" pitchFamily="2" charset="-122"/>
              </a:rPr>
              <a:t>的左移串行输入端相连。</a:t>
            </a:r>
            <a:endParaRPr lang="zh-CN" altLang="en-US" sz="2000" b="1">
              <a:gradFill>
                <a:gsLst>
                  <a:gs pos="0">
                    <a:srgbClr val="012D86"/>
                  </a:gs>
                  <a:gs pos="100000">
                    <a:srgbClr val="0E2557"/>
                  </a:gs>
                </a:gsLst>
                <a:lin scaled="0"/>
              </a:gra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100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wipe(left)">
                                      <p:cBhvr>
                                        <p:cTn id="11" dur="500"/>
                                        <p:tgtEl>
                                          <p:spTgt spid="4">
                                            <p:txEl>
                                              <p:pRg st="1" end="1"/>
                                            </p:txEl>
                                          </p:spTgt>
                                        </p:tgtEl>
                                      </p:cBhvr>
                                    </p:animEffect>
                                  </p:childTnLst>
                                </p:cTn>
                              </p:par>
                            </p:childTnLst>
                          </p:cTn>
                        </p:par>
                        <p:par>
                          <p:cTn id="12" fill="hold">
                            <p:stCondLst>
                              <p:cond delay="2000"/>
                            </p:stCondLst>
                            <p:childTnLst>
                              <p:par>
                                <p:cTn id="13" presetID="22" presetClass="entr" presetSubtype="8" fill="hold" grpId="0" nodeType="afterEffect">
                                  <p:stCondLst>
                                    <p:cond delay="100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left)">
                                      <p:cBhvr>
                                        <p:cTn id="15" dur="500"/>
                                        <p:tgtEl>
                                          <p:spTgt spid="4">
                                            <p:txEl>
                                              <p:pRg st="2" end="2"/>
                                            </p:txEl>
                                          </p:spTgt>
                                        </p:tgtEl>
                                      </p:cBhvr>
                                    </p:animEffect>
                                  </p:childTnLst>
                                </p:cTn>
                              </p:par>
                            </p:childTnLst>
                          </p:cTn>
                        </p:par>
                        <p:par>
                          <p:cTn id="16" fill="hold">
                            <p:stCondLst>
                              <p:cond delay="3500"/>
                            </p:stCondLst>
                            <p:childTnLst>
                              <p:par>
                                <p:cTn id="17" presetID="22" presetClass="entr" presetSubtype="8" fill="hold" grpId="0" nodeType="afterEffect">
                                  <p:stCondLst>
                                    <p:cond delay="100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wipe(left)">
                                      <p:cBhvr>
                                        <p:cTn id="19"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6.5 </a:t>
            </a:r>
            <a:r>
              <a:rPr lang="zh-CN" b="1" dirty="0">
                <a:solidFill>
                  <a:srgbClr val="FF0000"/>
                </a:solidFill>
                <a:latin typeface="黑体" panose="02010609060101010101" pitchFamily="49" charset="-122"/>
                <a:ea typeface="黑体" panose="02010609060101010101" pitchFamily="49" charset="-122"/>
                <a:sym typeface="+mn-ea"/>
              </a:rPr>
              <a:t>数码寄存器与移位寄存器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04" name="文本框 103"/>
          <p:cNvSpPr txBox="1"/>
          <p:nvPr/>
        </p:nvSpPr>
        <p:spPr>
          <a:xfrm>
            <a:off x="949960" y="1066800"/>
            <a:ext cx="5080000" cy="460375"/>
          </a:xfrm>
          <a:prstGeom prst="rect">
            <a:avLst/>
          </a:prstGeom>
          <a:noFill/>
          <a:ln w="9525">
            <a:noFill/>
          </a:ln>
        </p:spPr>
        <p:txBody>
          <a:bodyPr>
            <a:spAutoFit/>
          </a:bodyPr>
          <a:p>
            <a:r>
              <a:rPr lang="en-US" altLang="zh-CN" sz="2400" b="1">
                <a:solidFill>
                  <a:schemeClr val="accent6">
                    <a:lumMod val="60000"/>
                    <a:lumOff val="40000"/>
                  </a:schemeClr>
                </a:solidFill>
                <a:ea typeface="宋体" panose="02010600030101010101" pitchFamily="2" charset="-122"/>
              </a:rPr>
              <a:t>2. </a:t>
            </a:r>
            <a:r>
              <a:rPr lang="zh-CN" sz="2400" b="1">
                <a:solidFill>
                  <a:schemeClr val="accent6">
                    <a:lumMod val="60000"/>
                    <a:lumOff val="40000"/>
                  </a:schemeClr>
                </a:solidFill>
                <a:ea typeface="宋体" panose="02010600030101010101" pitchFamily="2" charset="-122"/>
              </a:rPr>
              <a:t>环形计数器</a:t>
            </a:r>
            <a:endParaRPr lang="zh-CN" altLang="en-US" sz="2400" b="1">
              <a:solidFill>
                <a:schemeClr val="accent6">
                  <a:lumMod val="60000"/>
                  <a:lumOff val="40000"/>
                </a:schemeClr>
              </a:solidFill>
              <a:ea typeface="宋体" panose="02010600030101010101" pitchFamily="2" charset="-122"/>
            </a:endParaRPr>
          </a:p>
        </p:txBody>
      </p:sp>
      <p:sp>
        <p:nvSpPr>
          <p:cNvPr id="3" name="文本框 2"/>
          <p:cNvSpPr txBox="1"/>
          <p:nvPr/>
        </p:nvSpPr>
        <p:spPr>
          <a:xfrm>
            <a:off x="330835" y="1471295"/>
            <a:ext cx="8720455" cy="1938020"/>
          </a:xfrm>
          <a:prstGeom prst="rect">
            <a:avLst/>
          </a:prstGeom>
          <a:noFill/>
          <a:ln w="9525">
            <a:noFill/>
          </a:ln>
        </p:spPr>
        <p:txBody>
          <a:bodyPr wrap="square">
            <a:spAutoFit/>
          </a:bodyPr>
          <a:p>
            <a:r>
              <a:rPr lang="en-US" altLang="zh-CN" sz="2400" b="1">
                <a:gradFill>
                  <a:gsLst>
                    <a:gs pos="0">
                      <a:srgbClr val="012D86"/>
                    </a:gs>
                    <a:gs pos="100000">
                      <a:srgbClr val="0E2557"/>
                    </a:gs>
                  </a:gsLst>
                  <a:lin scaled="0"/>
                </a:gradFill>
                <a:ea typeface="宋体" panose="02010600030101010101" pitchFamily="2" charset="-122"/>
              </a:rPr>
              <a:t>       </a:t>
            </a:r>
            <a:r>
              <a:rPr lang="zh-CN" sz="2400" b="1">
                <a:gradFill>
                  <a:gsLst>
                    <a:gs pos="0">
                      <a:srgbClr val="012D86"/>
                    </a:gs>
                    <a:gs pos="100000">
                      <a:srgbClr val="0E2557"/>
                    </a:gs>
                  </a:gsLst>
                  <a:lin scaled="0"/>
                </a:gradFill>
                <a:ea typeface="宋体" panose="02010600030101010101" pitchFamily="2" charset="-122"/>
              </a:rPr>
              <a:t>将移位寄存器的输出</a:t>
            </a:r>
            <a:r>
              <a:rPr lang="en-US" sz="2400" b="1" i="1">
                <a:gradFill>
                  <a:gsLst>
                    <a:gs pos="0">
                      <a:srgbClr val="012D86"/>
                    </a:gs>
                    <a:gs pos="100000">
                      <a:srgbClr val="0E2557"/>
                    </a:gs>
                  </a:gsLst>
                  <a:lin scaled="0"/>
                </a:gradFill>
                <a:latin typeface="Times New Roman" panose="02020603050405020304" charset="0"/>
              </a:rPr>
              <a:t>Q</a:t>
            </a:r>
            <a:r>
              <a:rPr lang="en-US" sz="2400" b="1" baseline="-25000">
                <a:gradFill>
                  <a:gsLst>
                    <a:gs pos="0">
                      <a:srgbClr val="012D86"/>
                    </a:gs>
                    <a:gs pos="100000">
                      <a:srgbClr val="0E2557"/>
                    </a:gs>
                  </a:gsLst>
                  <a:lin scaled="0"/>
                </a:gradFill>
                <a:latin typeface="Times New Roman" panose="02020603050405020304" charset="0"/>
              </a:rPr>
              <a:t>3</a:t>
            </a:r>
            <a:r>
              <a:rPr lang="zh-CN" sz="2400" b="1">
                <a:gradFill>
                  <a:gsLst>
                    <a:gs pos="0">
                      <a:srgbClr val="012D86"/>
                    </a:gs>
                    <a:gs pos="100000">
                      <a:srgbClr val="0E2557"/>
                    </a:gs>
                  </a:gsLst>
                  <a:lin scaled="0"/>
                </a:gradFill>
                <a:ea typeface="宋体" panose="02010600030101010101" pitchFamily="2" charset="-122"/>
              </a:rPr>
              <a:t>直接反馈到右移数据输入端</a:t>
            </a:r>
            <a:r>
              <a:rPr lang="en-US" sz="2400" b="1" i="1">
                <a:gradFill>
                  <a:gsLst>
                    <a:gs pos="0">
                      <a:srgbClr val="012D86"/>
                    </a:gs>
                    <a:gs pos="100000">
                      <a:srgbClr val="0E2557"/>
                    </a:gs>
                  </a:gsLst>
                  <a:lin scaled="0"/>
                </a:gradFill>
                <a:latin typeface="Times New Roman" panose="02020603050405020304" charset="0"/>
              </a:rPr>
              <a:t>D</a:t>
            </a:r>
            <a:r>
              <a:rPr lang="en-US" sz="2400" b="1" i="1" baseline="-25000">
                <a:gradFill>
                  <a:gsLst>
                    <a:gs pos="0">
                      <a:srgbClr val="012D86"/>
                    </a:gs>
                    <a:gs pos="100000">
                      <a:srgbClr val="0E2557"/>
                    </a:gs>
                  </a:gsLst>
                  <a:lin scaled="0"/>
                </a:gradFill>
                <a:latin typeface="Times New Roman" panose="02020603050405020304" charset="0"/>
              </a:rPr>
              <a:t>SR</a:t>
            </a:r>
            <a:r>
              <a:rPr lang="zh-CN" sz="2400" b="1">
                <a:gradFill>
                  <a:gsLst>
                    <a:gs pos="0">
                      <a:srgbClr val="012D86"/>
                    </a:gs>
                    <a:gs pos="100000">
                      <a:srgbClr val="0E2557"/>
                    </a:gs>
                  </a:gsLst>
                  <a:lin scaled="0"/>
                </a:gradFill>
                <a:ea typeface="宋体" panose="02010600030101010101" pitchFamily="2" charset="-122"/>
              </a:rPr>
              <a:t>。工作过程：按下</a:t>
            </a:r>
            <a:r>
              <a:rPr lang="en-US" sz="2400" b="1">
                <a:gradFill>
                  <a:gsLst>
                    <a:gs pos="0">
                      <a:srgbClr val="012D86"/>
                    </a:gs>
                    <a:gs pos="100000">
                      <a:srgbClr val="0E2557"/>
                    </a:gs>
                  </a:gsLst>
                  <a:lin scaled="0"/>
                </a:gradFill>
                <a:latin typeface="Times New Roman" panose="02020603050405020304" charset="0"/>
              </a:rPr>
              <a:t>START</a:t>
            </a:r>
            <a:r>
              <a:rPr lang="zh-CN" sz="2400" b="1">
                <a:gradFill>
                  <a:gsLst>
                    <a:gs pos="0">
                      <a:srgbClr val="012D86"/>
                    </a:gs>
                    <a:gs pos="100000">
                      <a:srgbClr val="0E2557"/>
                    </a:gs>
                  </a:gsLst>
                  <a:lin scaled="0"/>
                </a:gradFill>
                <a:ea typeface="宋体" panose="02010600030101010101" pitchFamily="2" charset="-122"/>
              </a:rPr>
              <a:t>键时，控制端</a:t>
            </a:r>
            <a:r>
              <a:rPr lang="en-US" sz="2400" b="1" i="1">
                <a:gradFill>
                  <a:gsLst>
                    <a:gs pos="0">
                      <a:srgbClr val="012D86"/>
                    </a:gs>
                    <a:gs pos="100000">
                      <a:srgbClr val="0E2557"/>
                    </a:gs>
                  </a:gsLst>
                  <a:lin scaled="0"/>
                </a:gradFill>
                <a:latin typeface="Times New Roman" panose="02020603050405020304" charset="0"/>
              </a:rPr>
              <a:t>S</a:t>
            </a:r>
            <a:r>
              <a:rPr lang="en-US" sz="2400" b="1" baseline="-25000">
                <a:gradFill>
                  <a:gsLst>
                    <a:gs pos="0">
                      <a:srgbClr val="012D86"/>
                    </a:gs>
                    <a:gs pos="100000">
                      <a:srgbClr val="0E2557"/>
                    </a:gs>
                  </a:gsLst>
                  <a:lin scaled="0"/>
                </a:gradFill>
                <a:latin typeface="Times New Roman" panose="02020603050405020304" charset="0"/>
              </a:rPr>
              <a:t>1</a:t>
            </a:r>
            <a:r>
              <a:rPr lang="en-US" sz="2400" b="1" i="1">
                <a:gradFill>
                  <a:gsLst>
                    <a:gs pos="0">
                      <a:srgbClr val="012D86"/>
                    </a:gs>
                    <a:gs pos="100000">
                      <a:srgbClr val="0E2557"/>
                    </a:gs>
                  </a:gsLst>
                  <a:lin scaled="0"/>
                </a:gradFill>
                <a:latin typeface="Times New Roman" panose="02020603050405020304" charset="0"/>
              </a:rPr>
              <a:t>S</a:t>
            </a:r>
            <a:r>
              <a:rPr lang="en-US" sz="2400" b="1" baseline="-25000">
                <a:gradFill>
                  <a:gsLst>
                    <a:gs pos="0">
                      <a:srgbClr val="012D86"/>
                    </a:gs>
                    <a:gs pos="100000">
                      <a:srgbClr val="0E2557"/>
                    </a:gs>
                  </a:gsLst>
                  <a:lin scaled="0"/>
                </a:gradFill>
                <a:latin typeface="Times New Roman" panose="02020603050405020304" charset="0"/>
              </a:rPr>
              <a:t>0</a:t>
            </a:r>
            <a:r>
              <a:rPr lang="en-US" sz="2400" b="1">
                <a:gradFill>
                  <a:gsLst>
                    <a:gs pos="0">
                      <a:srgbClr val="012D86"/>
                    </a:gs>
                    <a:gs pos="100000">
                      <a:srgbClr val="0E2557"/>
                    </a:gs>
                  </a:gsLst>
                  <a:lin scaled="0"/>
                </a:gradFill>
                <a:latin typeface="Times New Roman" panose="02020603050405020304" charset="0"/>
              </a:rPr>
              <a:t>=11</a:t>
            </a:r>
            <a:r>
              <a:rPr lang="zh-CN" sz="2400" b="1">
                <a:gradFill>
                  <a:gsLst>
                    <a:gs pos="0">
                      <a:srgbClr val="012D86"/>
                    </a:gs>
                    <a:gs pos="100000">
                      <a:srgbClr val="0E2557"/>
                    </a:gs>
                  </a:gsLst>
                  <a:lin scaled="0"/>
                </a:gradFill>
                <a:ea typeface="宋体" panose="02010600030101010101" pitchFamily="2" charset="-122"/>
              </a:rPr>
              <a:t>，移位寄存器处于并行置数状态。</a:t>
            </a:r>
            <a:r>
              <a:rPr lang="en-US" sz="2400" b="1" i="1">
                <a:gradFill>
                  <a:gsLst>
                    <a:gs pos="0">
                      <a:srgbClr val="012D86"/>
                    </a:gs>
                    <a:gs pos="100000">
                      <a:srgbClr val="0E2557"/>
                    </a:gs>
                  </a:gsLst>
                  <a:lin scaled="0"/>
                </a:gradFill>
                <a:latin typeface="Times New Roman" panose="02020603050405020304" charset="0"/>
              </a:rPr>
              <a:t>CP</a:t>
            </a:r>
            <a:r>
              <a:rPr lang="zh-CN" sz="2400" b="1">
                <a:gradFill>
                  <a:gsLst>
                    <a:gs pos="0">
                      <a:srgbClr val="012D86"/>
                    </a:gs>
                    <a:gs pos="100000">
                      <a:srgbClr val="0E2557"/>
                    </a:gs>
                  </a:gsLst>
                  <a:lin scaled="0"/>
                </a:gradFill>
                <a:ea typeface="宋体" panose="02010600030101010101" pitchFamily="2" charset="-122"/>
              </a:rPr>
              <a:t>时钟脉冲上升沿到来时，将初始值</a:t>
            </a:r>
            <a:r>
              <a:rPr lang="en-US" sz="2400" b="1">
                <a:gradFill>
                  <a:gsLst>
                    <a:gs pos="0">
                      <a:srgbClr val="012D86"/>
                    </a:gs>
                    <a:gs pos="100000">
                      <a:srgbClr val="0E2557"/>
                    </a:gs>
                  </a:gsLst>
                  <a:lin scaled="0"/>
                </a:gradFill>
                <a:latin typeface="Times New Roman" panose="02020603050405020304" charset="0"/>
              </a:rPr>
              <a:t>1000</a:t>
            </a:r>
            <a:r>
              <a:rPr lang="zh-CN" sz="2400" b="1">
                <a:gradFill>
                  <a:gsLst>
                    <a:gs pos="0">
                      <a:srgbClr val="012D86"/>
                    </a:gs>
                    <a:gs pos="100000">
                      <a:srgbClr val="0E2557"/>
                    </a:gs>
                  </a:gsLst>
                  <a:lin scaled="0"/>
                </a:gradFill>
                <a:ea typeface="宋体" panose="02010600030101010101" pitchFamily="2" charset="-122"/>
              </a:rPr>
              <a:t>送给</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0</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1</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2</a:t>
            </a:r>
            <a:r>
              <a:rPr lang="en-US" sz="2400" b="1" i="1">
                <a:gradFill>
                  <a:gsLst>
                    <a:gs pos="0">
                      <a:srgbClr val="012D86"/>
                    </a:gs>
                    <a:gs pos="100000">
                      <a:srgbClr val="0E2557"/>
                    </a:gs>
                  </a:gsLst>
                  <a:lin scaled="0"/>
                </a:gradFill>
                <a:latin typeface="Times New Roman" panose="02020603050405020304" charset="0"/>
                <a:sym typeface="+mn-ea"/>
              </a:rPr>
              <a:t>Q</a:t>
            </a:r>
            <a:r>
              <a:rPr lang="en-US" sz="2400" b="1" baseline="-25000">
                <a:gradFill>
                  <a:gsLst>
                    <a:gs pos="0">
                      <a:srgbClr val="012D86"/>
                    </a:gs>
                    <a:gs pos="100000">
                      <a:srgbClr val="0E2557"/>
                    </a:gs>
                  </a:gsLst>
                  <a:lin scaled="0"/>
                </a:gradFill>
                <a:latin typeface="Times New Roman" panose="02020603050405020304" charset="0"/>
                <a:sym typeface="+mn-ea"/>
              </a:rPr>
              <a:t>3</a:t>
            </a:r>
            <a:r>
              <a:rPr lang="en-US" sz="2400" b="1">
                <a:gradFill>
                  <a:gsLst>
                    <a:gs pos="0">
                      <a:srgbClr val="012D86"/>
                    </a:gs>
                    <a:gs pos="100000">
                      <a:srgbClr val="0E2557"/>
                    </a:gs>
                  </a:gsLst>
                  <a:lin scaled="0"/>
                </a:gradFill>
                <a:latin typeface="Times New Roman" panose="02020603050405020304" charset="0"/>
              </a:rPr>
              <a:t>,</a:t>
            </a:r>
            <a:r>
              <a:rPr lang="zh-CN" sz="2400" b="1">
                <a:gradFill>
                  <a:gsLst>
                    <a:gs pos="0">
                      <a:srgbClr val="012D86"/>
                    </a:gs>
                    <a:gs pos="100000">
                      <a:srgbClr val="0E2557"/>
                    </a:gs>
                  </a:gsLst>
                  <a:lin scaled="0"/>
                </a:gradFill>
                <a:ea typeface="宋体" panose="02010600030101010101" pitchFamily="2" charset="-122"/>
              </a:rPr>
              <a:t>使</a:t>
            </a:r>
            <a:r>
              <a:rPr lang="en-US" sz="2400" b="1" i="1">
                <a:gradFill>
                  <a:gsLst>
                    <a:gs pos="0">
                      <a:srgbClr val="012D86"/>
                    </a:gs>
                    <a:gs pos="100000">
                      <a:srgbClr val="0E2557"/>
                    </a:gs>
                  </a:gsLst>
                  <a:lin scaled="0"/>
                </a:gradFill>
                <a:latin typeface="Times New Roman" panose="02020603050405020304" charset="0"/>
              </a:rPr>
              <a:t>Q</a:t>
            </a:r>
            <a:r>
              <a:rPr lang="en-US" sz="2400" b="1" baseline="-25000">
                <a:gradFill>
                  <a:gsLst>
                    <a:gs pos="0">
                      <a:srgbClr val="012D86"/>
                    </a:gs>
                    <a:gs pos="100000">
                      <a:srgbClr val="0E2557"/>
                    </a:gs>
                  </a:gsLst>
                  <a:lin scaled="0"/>
                </a:gradFill>
                <a:latin typeface="Times New Roman" panose="02020603050405020304" charset="0"/>
              </a:rPr>
              <a:t>0</a:t>
            </a:r>
            <a:r>
              <a:rPr lang="en-US" sz="2400" b="1" i="1">
                <a:gradFill>
                  <a:gsLst>
                    <a:gs pos="0">
                      <a:srgbClr val="012D86"/>
                    </a:gs>
                    <a:gs pos="100000">
                      <a:srgbClr val="0E2557"/>
                    </a:gs>
                  </a:gsLst>
                  <a:lin scaled="0"/>
                </a:gradFill>
                <a:latin typeface="Times New Roman" panose="02020603050405020304" charset="0"/>
              </a:rPr>
              <a:t>Q</a:t>
            </a:r>
            <a:r>
              <a:rPr lang="en-US" sz="2400" b="1" baseline="-25000">
                <a:gradFill>
                  <a:gsLst>
                    <a:gs pos="0">
                      <a:srgbClr val="012D86"/>
                    </a:gs>
                    <a:gs pos="100000">
                      <a:srgbClr val="0E2557"/>
                    </a:gs>
                  </a:gsLst>
                  <a:lin scaled="0"/>
                </a:gradFill>
                <a:latin typeface="Times New Roman" panose="02020603050405020304" charset="0"/>
              </a:rPr>
              <a:t>1</a:t>
            </a:r>
            <a:r>
              <a:rPr lang="en-US" sz="2400" b="1" i="1">
                <a:gradFill>
                  <a:gsLst>
                    <a:gs pos="0">
                      <a:srgbClr val="012D86"/>
                    </a:gs>
                    <a:gs pos="100000">
                      <a:srgbClr val="0E2557"/>
                    </a:gs>
                  </a:gsLst>
                  <a:lin scaled="0"/>
                </a:gradFill>
                <a:latin typeface="Times New Roman" panose="02020603050405020304" charset="0"/>
              </a:rPr>
              <a:t>Q</a:t>
            </a:r>
            <a:r>
              <a:rPr lang="en-US" sz="2400" b="1" baseline="-25000">
                <a:gradFill>
                  <a:gsLst>
                    <a:gs pos="0">
                      <a:srgbClr val="012D86"/>
                    </a:gs>
                    <a:gs pos="100000">
                      <a:srgbClr val="0E2557"/>
                    </a:gs>
                  </a:gsLst>
                  <a:lin scaled="0"/>
                </a:gradFill>
                <a:latin typeface="Times New Roman" panose="02020603050405020304" charset="0"/>
              </a:rPr>
              <a:t>2</a:t>
            </a:r>
            <a:r>
              <a:rPr lang="en-US" sz="2400" b="1" i="1">
                <a:gradFill>
                  <a:gsLst>
                    <a:gs pos="0">
                      <a:srgbClr val="012D86"/>
                    </a:gs>
                    <a:gs pos="100000">
                      <a:srgbClr val="0E2557"/>
                    </a:gs>
                  </a:gsLst>
                  <a:lin scaled="0"/>
                </a:gradFill>
                <a:latin typeface="Times New Roman" panose="02020603050405020304" charset="0"/>
              </a:rPr>
              <a:t>Q</a:t>
            </a:r>
            <a:r>
              <a:rPr lang="en-US" sz="2400" b="1" baseline="-25000">
                <a:gradFill>
                  <a:gsLst>
                    <a:gs pos="0">
                      <a:srgbClr val="012D86"/>
                    </a:gs>
                    <a:gs pos="100000">
                      <a:srgbClr val="0E2557"/>
                    </a:gs>
                  </a:gsLst>
                  <a:lin scaled="0"/>
                </a:gradFill>
                <a:latin typeface="Times New Roman" panose="02020603050405020304" charset="0"/>
              </a:rPr>
              <a:t>3</a:t>
            </a:r>
            <a:r>
              <a:rPr lang="en-US" sz="2400" b="1">
                <a:gradFill>
                  <a:gsLst>
                    <a:gs pos="0">
                      <a:srgbClr val="012D86"/>
                    </a:gs>
                    <a:gs pos="100000">
                      <a:srgbClr val="0E2557"/>
                    </a:gs>
                  </a:gsLst>
                  <a:lin scaled="0"/>
                </a:gradFill>
                <a:latin typeface="Times New Roman" panose="02020603050405020304" charset="0"/>
              </a:rPr>
              <a:t>=1000</a:t>
            </a:r>
            <a:r>
              <a:rPr lang="zh-CN" sz="2400" b="1">
                <a:gradFill>
                  <a:gsLst>
                    <a:gs pos="0">
                      <a:srgbClr val="012D86"/>
                    </a:gs>
                    <a:gs pos="100000">
                      <a:srgbClr val="0E2557"/>
                    </a:gs>
                  </a:gsLst>
                  <a:lin scaled="0"/>
                </a:gradFill>
                <a:ea typeface="宋体" panose="02010600030101010101" pitchFamily="2" charset="-122"/>
              </a:rPr>
              <a:t>。松开</a:t>
            </a:r>
            <a:r>
              <a:rPr lang="en-US" sz="2400" b="1">
                <a:gradFill>
                  <a:gsLst>
                    <a:gs pos="0">
                      <a:srgbClr val="012D86"/>
                    </a:gs>
                    <a:gs pos="100000">
                      <a:srgbClr val="0E2557"/>
                    </a:gs>
                  </a:gsLst>
                  <a:lin scaled="0"/>
                </a:gradFill>
                <a:latin typeface="Times New Roman" panose="02020603050405020304" charset="0"/>
              </a:rPr>
              <a:t>START</a:t>
            </a:r>
            <a:r>
              <a:rPr lang="zh-CN" sz="2400" b="1">
                <a:gradFill>
                  <a:gsLst>
                    <a:gs pos="0">
                      <a:srgbClr val="012D86"/>
                    </a:gs>
                    <a:gs pos="100000">
                      <a:srgbClr val="0E2557"/>
                    </a:gs>
                  </a:gsLst>
                  <a:lin scaled="0"/>
                </a:gradFill>
                <a:ea typeface="宋体" panose="02010600030101010101" pitchFamily="2" charset="-122"/>
              </a:rPr>
              <a:t>键后，</a:t>
            </a:r>
            <a:r>
              <a:rPr lang="en-US" sz="2400" b="1" i="1">
                <a:gradFill>
                  <a:gsLst>
                    <a:gs pos="0">
                      <a:srgbClr val="012D86"/>
                    </a:gs>
                    <a:gs pos="100000">
                      <a:srgbClr val="0E2557"/>
                    </a:gs>
                  </a:gsLst>
                  <a:lin scaled="0"/>
                </a:gradFill>
                <a:latin typeface="Times New Roman" panose="02020603050405020304" charset="0"/>
              </a:rPr>
              <a:t>S</a:t>
            </a:r>
            <a:r>
              <a:rPr lang="en-US" sz="2400" b="1" baseline="-25000">
                <a:gradFill>
                  <a:gsLst>
                    <a:gs pos="0">
                      <a:srgbClr val="012D86"/>
                    </a:gs>
                    <a:gs pos="100000">
                      <a:srgbClr val="0E2557"/>
                    </a:gs>
                  </a:gsLst>
                  <a:lin scaled="0"/>
                </a:gradFill>
                <a:latin typeface="Times New Roman" panose="02020603050405020304" charset="0"/>
              </a:rPr>
              <a:t>1</a:t>
            </a:r>
            <a:r>
              <a:rPr lang="en-US" sz="2400" b="1" i="1">
                <a:gradFill>
                  <a:gsLst>
                    <a:gs pos="0">
                      <a:srgbClr val="012D86"/>
                    </a:gs>
                    <a:gs pos="100000">
                      <a:srgbClr val="0E2557"/>
                    </a:gs>
                  </a:gsLst>
                  <a:lin scaled="0"/>
                </a:gradFill>
                <a:latin typeface="Times New Roman" panose="02020603050405020304" charset="0"/>
              </a:rPr>
              <a:t>S</a:t>
            </a:r>
            <a:r>
              <a:rPr lang="en-US" sz="2400" b="1" baseline="-25000">
                <a:gradFill>
                  <a:gsLst>
                    <a:gs pos="0">
                      <a:srgbClr val="012D86"/>
                    </a:gs>
                    <a:gs pos="100000">
                      <a:srgbClr val="0E2557"/>
                    </a:gs>
                  </a:gsLst>
                  <a:lin scaled="0"/>
                </a:gradFill>
                <a:latin typeface="Times New Roman" panose="02020603050405020304" charset="0"/>
              </a:rPr>
              <a:t>0 </a:t>
            </a:r>
            <a:r>
              <a:rPr lang="en-US" sz="2400" b="1">
                <a:gradFill>
                  <a:gsLst>
                    <a:gs pos="0">
                      <a:srgbClr val="012D86"/>
                    </a:gs>
                    <a:gs pos="100000">
                      <a:srgbClr val="0E2557"/>
                    </a:gs>
                  </a:gsLst>
                  <a:lin scaled="0"/>
                </a:gradFill>
                <a:latin typeface="Times New Roman" panose="02020603050405020304" charset="0"/>
              </a:rPr>
              <a:t>= 01</a:t>
            </a:r>
            <a:r>
              <a:rPr lang="zh-CN" sz="2400" b="1">
                <a:gradFill>
                  <a:gsLst>
                    <a:gs pos="0">
                      <a:srgbClr val="012D86"/>
                    </a:gs>
                    <a:gs pos="100000">
                      <a:srgbClr val="0E2557"/>
                    </a:gs>
                  </a:gsLst>
                  <a:lin scaled="0"/>
                </a:gradFill>
                <a:ea typeface="宋体" panose="02010600030101010101" pitchFamily="2" charset="-122"/>
              </a:rPr>
              <a:t>，移位寄存器处于右移工作模式，在</a:t>
            </a:r>
            <a:r>
              <a:rPr lang="en-US" sz="2400" b="1" i="1">
                <a:gradFill>
                  <a:gsLst>
                    <a:gs pos="0">
                      <a:srgbClr val="012D86"/>
                    </a:gs>
                    <a:gs pos="100000">
                      <a:srgbClr val="0E2557"/>
                    </a:gs>
                  </a:gsLst>
                  <a:lin scaled="0"/>
                </a:gradFill>
                <a:latin typeface="Times New Roman" panose="02020603050405020304" charset="0"/>
              </a:rPr>
              <a:t>CP</a:t>
            </a:r>
            <a:r>
              <a:rPr lang="zh-CN" sz="2400" b="1">
                <a:gradFill>
                  <a:gsLst>
                    <a:gs pos="0">
                      <a:srgbClr val="012D86"/>
                    </a:gs>
                    <a:gs pos="100000">
                      <a:srgbClr val="0E2557"/>
                    </a:gs>
                  </a:gsLst>
                  <a:lin scaled="0"/>
                </a:gradFill>
                <a:ea typeface="宋体" panose="02010600030101010101" pitchFamily="2" charset="-122"/>
              </a:rPr>
              <a:t>脉冲作用下，执行右移操作。</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9417" name="图片 2854"/>
          <p:cNvPicPr>
            <a:picLocks noChangeAspect="1"/>
          </p:cNvPicPr>
          <p:nvPr/>
        </p:nvPicPr>
        <p:blipFill>
          <a:blip r:embed="rId1"/>
          <a:stretch>
            <a:fillRect/>
          </a:stretch>
        </p:blipFill>
        <p:spPr>
          <a:xfrm>
            <a:off x="305435" y="3692525"/>
            <a:ext cx="6228715" cy="2535555"/>
          </a:xfrm>
          <a:prstGeom prst="rect">
            <a:avLst/>
          </a:prstGeom>
          <a:noFill/>
          <a:ln>
            <a:noFill/>
          </a:ln>
        </p:spPr>
      </p:pic>
      <p:sp>
        <p:nvSpPr>
          <p:cNvPr id="4" name="文本框 3"/>
          <p:cNvSpPr txBox="1"/>
          <p:nvPr/>
        </p:nvSpPr>
        <p:spPr>
          <a:xfrm>
            <a:off x="880110" y="6200140"/>
            <a:ext cx="5080000" cy="337185"/>
          </a:xfrm>
          <a:prstGeom prst="rect">
            <a:avLst/>
          </a:prstGeom>
          <a:noFill/>
          <a:ln w="9525">
            <a:noFill/>
          </a:ln>
        </p:spPr>
        <p:txBody>
          <a:bodyPr>
            <a:spAutoFit/>
          </a:bodyPr>
          <a:p>
            <a:pPr algn="ctr"/>
            <a:r>
              <a:rPr lang="zh-CN" sz="1600" b="1">
                <a:ea typeface="宋体" panose="02010600030101010101" pitchFamily="2" charset="-122"/>
              </a:rPr>
              <a:t>图</a:t>
            </a:r>
            <a:r>
              <a:rPr lang="en-US" sz="1600" b="1">
                <a:latin typeface="Times New Roman" panose="02020603050405020304" charset="0"/>
                <a:ea typeface="宋体" panose="02010600030101010101" pitchFamily="2" charset="-122"/>
                <a:cs typeface="Times New Roman" panose="02020603050405020304" charset="0"/>
              </a:rPr>
              <a:t>6-</a:t>
            </a:r>
            <a:r>
              <a:rPr lang="en-US" sz="1600" b="1">
                <a:latin typeface="Times New Roman" panose="02020603050405020304" charset="0"/>
                <a:ea typeface="宋体" panose="02010600030101010101" pitchFamily="2" charset="-122"/>
              </a:rPr>
              <a:t>51  </a:t>
            </a:r>
            <a:r>
              <a:rPr lang="zh-CN" sz="1600" b="1">
                <a:ea typeface="宋体" panose="02010600030101010101" pitchFamily="2" charset="-122"/>
              </a:rPr>
              <a:t>双向移位寄存器</a:t>
            </a:r>
            <a:r>
              <a:rPr lang="en-US" sz="1600" b="1">
                <a:latin typeface="Times New Roman" panose="02020603050405020304" charset="0"/>
                <a:ea typeface="宋体" panose="02010600030101010101" pitchFamily="2" charset="-122"/>
              </a:rPr>
              <a:t>74LS194</a:t>
            </a:r>
            <a:r>
              <a:rPr lang="zh-CN" sz="1600" b="1">
                <a:ea typeface="宋体" panose="02010600030101010101" pitchFamily="2" charset="-122"/>
              </a:rPr>
              <a:t>构成的环形计数器</a:t>
            </a:r>
            <a:endParaRPr lang="zh-CN" altLang="en-US" sz="1600" b="1"/>
          </a:p>
        </p:txBody>
      </p:sp>
      <p:sp>
        <p:nvSpPr>
          <p:cNvPr id="5" name="文本框 4"/>
          <p:cNvSpPr txBox="1"/>
          <p:nvPr/>
        </p:nvSpPr>
        <p:spPr>
          <a:xfrm>
            <a:off x="6728460" y="4182745"/>
            <a:ext cx="2322195" cy="1198880"/>
          </a:xfrm>
          <a:prstGeom prst="rect">
            <a:avLst/>
          </a:prstGeom>
          <a:solidFill>
            <a:schemeClr val="bg1"/>
          </a:solidFill>
          <a:ln w="28575" cmpd="sng">
            <a:solidFill>
              <a:srgbClr val="C00000"/>
            </a:solidFill>
            <a:prstDash val="solid"/>
          </a:ln>
        </p:spPr>
        <p:txBody>
          <a:bodyPr wrap="square">
            <a:spAutoFit/>
          </a:bodyPr>
          <a:p>
            <a:pPr indent="266700"/>
            <a:r>
              <a:rPr lang="en-US" sz="2400" b="1" i="1">
                <a:latin typeface="Times New Roman" panose="02020603050405020304" charset="0"/>
              </a:rPr>
              <a:t>n</a:t>
            </a:r>
            <a:r>
              <a:rPr lang="zh-CN" sz="2400" b="1">
                <a:ea typeface="宋体" panose="02010600030101010101" pitchFamily="2" charset="-122"/>
              </a:rPr>
              <a:t>个触发器构成的环形计数器，其模</a:t>
            </a:r>
            <a:r>
              <a:rPr lang="en-US" sz="2400" b="1" i="1">
                <a:latin typeface="Times New Roman" panose="02020603050405020304" charset="0"/>
                <a:cs typeface="Times New Roman" panose="02020603050405020304" charset="0"/>
              </a:rPr>
              <a:t>M</a:t>
            </a:r>
            <a:r>
              <a:rPr lang="en-US" sz="2400" b="1">
                <a:latin typeface="Times New Roman" panose="02020603050405020304" charset="0"/>
              </a:rPr>
              <a:t>=</a:t>
            </a:r>
            <a:r>
              <a:rPr lang="en-US" sz="2400" b="1" i="1">
                <a:latin typeface="Times New Roman" panose="02020603050405020304" charset="0"/>
              </a:rPr>
              <a:t>n</a:t>
            </a:r>
            <a:r>
              <a:rPr lang="zh-CN" sz="2400" b="1">
                <a:ea typeface="宋体" panose="02010600030101010101" pitchFamily="2" charset="-122"/>
              </a:rPr>
              <a:t>。</a:t>
            </a:r>
            <a:endParaRPr lang="zh-CN" altLang="en-US"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500"/>
                                  </p:stCondLst>
                                  <p:childTnLst>
                                    <p:set>
                                      <p:cBhvr>
                                        <p:cTn id="9" dur="1" fill="hold">
                                          <p:stCondLst>
                                            <p:cond delay="0"/>
                                          </p:stCondLst>
                                        </p:cTn>
                                        <p:tgtEl>
                                          <p:spTgt spid="9417"/>
                                        </p:tgtEl>
                                        <p:attrNameLst>
                                          <p:attrName>style.visibility</p:attrName>
                                        </p:attrNameLst>
                                      </p:cBhvr>
                                      <p:to>
                                        <p:strVal val="visible"/>
                                      </p:to>
                                    </p:set>
                                  </p:childTnLst>
                                </p:cTn>
                              </p:par>
                            </p:childTnLst>
                          </p:cTn>
                        </p:par>
                        <p:par>
                          <p:cTn id="10" fill="hold">
                            <p:stCondLst>
                              <p:cond delay="1500"/>
                            </p:stCondLst>
                            <p:childTnLst>
                              <p:par>
                                <p:cTn id="11" presetID="1"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bldLvl="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TextBox 6"/>
          <p:cNvSpPr txBox="1"/>
          <p:nvPr/>
        </p:nvSpPr>
        <p:spPr>
          <a:xfrm>
            <a:off x="1156970" y="483235"/>
            <a:ext cx="6692265"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6.5 </a:t>
            </a:r>
            <a:r>
              <a:rPr lang="zh-CN" b="1" dirty="0">
                <a:solidFill>
                  <a:srgbClr val="FF0000"/>
                </a:solidFill>
                <a:latin typeface="黑体" panose="02010609060101010101" pitchFamily="49" charset="-122"/>
                <a:ea typeface="黑体" panose="02010609060101010101" pitchFamily="49" charset="-122"/>
                <a:sym typeface="+mn-ea"/>
              </a:rPr>
              <a:t>数码寄存器与移位寄存器</a:t>
            </a:r>
            <a:endParaRPr lang="zh-CN" b="1" dirty="0">
              <a:solidFill>
                <a:srgbClr val="FF0000"/>
              </a:solidFill>
              <a:latin typeface="黑体" panose="02010609060101010101" pitchFamily="49" charset="-122"/>
              <a:ea typeface="黑体" panose="02010609060101010101" pitchFamily="49" charset="-122"/>
              <a:sym typeface="+mn-ea"/>
            </a:endParaRPr>
          </a:p>
        </p:txBody>
      </p:sp>
      <p:sp>
        <p:nvSpPr>
          <p:cNvPr id="104" name="文本框 103"/>
          <p:cNvSpPr txBox="1"/>
          <p:nvPr/>
        </p:nvSpPr>
        <p:spPr>
          <a:xfrm>
            <a:off x="949960" y="1066800"/>
            <a:ext cx="5080000" cy="460375"/>
          </a:xfrm>
          <a:prstGeom prst="rect">
            <a:avLst/>
          </a:prstGeom>
          <a:noFill/>
          <a:ln w="9525">
            <a:noFill/>
          </a:ln>
        </p:spPr>
        <p:txBody>
          <a:bodyPr>
            <a:spAutoFit/>
          </a:bodyPr>
          <a:p>
            <a:r>
              <a:rPr lang="en-US" altLang="zh-CN" sz="2400" b="1">
                <a:solidFill>
                  <a:schemeClr val="accent6">
                    <a:lumMod val="60000"/>
                    <a:lumOff val="40000"/>
                  </a:schemeClr>
                </a:solidFill>
                <a:ea typeface="宋体" panose="02010600030101010101" pitchFamily="2" charset="-122"/>
              </a:rPr>
              <a:t>2. 扭</a:t>
            </a:r>
            <a:r>
              <a:rPr lang="zh-CN" sz="2400" b="1">
                <a:solidFill>
                  <a:schemeClr val="accent6">
                    <a:lumMod val="60000"/>
                    <a:lumOff val="40000"/>
                  </a:schemeClr>
                </a:solidFill>
                <a:ea typeface="宋体" panose="02010600030101010101" pitchFamily="2" charset="-122"/>
              </a:rPr>
              <a:t>环形计数器</a:t>
            </a:r>
            <a:endParaRPr lang="zh-CN" altLang="en-US" sz="2400" b="1">
              <a:solidFill>
                <a:schemeClr val="accent6">
                  <a:lumMod val="60000"/>
                  <a:lumOff val="40000"/>
                </a:schemeClr>
              </a:solidFill>
              <a:ea typeface="宋体" panose="02010600030101010101" pitchFamily="2" charset="-122"/>
            </a:endParaRPr>
          </a:p>
        </p:txBody>
      </p:sp>
      <p:sp>
        <p:nvSpPr>
          <p:cNvPr id="3" name="文本框 2"/>
          <p:cNvSpPr txBox="1"/>
          <p:nvPr/>
        </p:nvSpPr>
        <p:spPr>
          <a:xfrm>
            <a:off x="433070" y="1527175"/>
            <a:ext cx="8413750" cy="1568450"/>
          </a:xfrm>
          <a:prstGeom prst="rect">
            <a:avLst/>
          </a:prstGeom>
          <a:noFill/>
          <a:ln w="9525">
            <a:noFill/>
          </a:ln>
        </p:spPr>
        <p:txBody>
          <a:bodyPr wrap="square">
            <a:spAutoFit/>
          </a:bodyPr>
          <a:p>
            <a:pPr indent="266700"/>
            <a:r>
              <a:rPr lang="en-US" altLang="zh-CN" sz="2400" b="1">
                <a:gradFill>
                  <a:gsLst>
                    <a:gs pos="0">
                      <a:srgbClr val="012D86"/>
                    </a:gs>
                    <a:gs pos="100000">
                      <a:srgbClr val="0E2557"/>
                    </a:gs>
                  </a:gsLst>
                  <a:lin scaled="0"/>
                </a:gradFill>
                <a:ea typeface="宋体" panose="02010600030101010101" pitchFamily="2" charset="-122"/>
              </a:rPr>
              <a:t>    </a:t>
            </a:r>
            <a:r>
              <a:rPr lang="zh-CN" sz="2400" b="1">
                <a:gradFill>
                  <a:gsLst>
                    <a:gs pos="0">
                      <a:srgbClr val="012D86"/>
                    </a:gs>
                    <a:gs pos="100000">
                      <a:srgbClr val="0E2557"/>
                    </a:gs>
                  </a:gsLst>
                  <a:lin scaled="0"/>
                </a:gradFill>
                <a:ea typeface="宋体" panose="02010600030101010101" pitchFamily="2" charset="-122"/>
              </a:rPr>
              <a:t>用双向移位寄存器</a:t>
            </a:r>
            <a:r>
              <a:rPr lang="en-US" sz="2400" b="1">
                <a:gradFill>
                  <a:gsLst>
                    <a:gs pos="0">
                      <a:srgbClr val="012D86"/>
                    </a:gs>
                    <a:gs pos="100000">
                      <a:srgbClr val="0E2557"/>
                    </a:gs>
                  </a:gsLst>
                  <a:lin scaled="0"/>
                </a:gradFill>
                <a:latin typeface="Times New Roman" panose="02020603050405020304" charset="0"/>
              </a:rPr>
              <a:t>74LS194</a:t>
            </a:r>
            <a:r>
              <a:rPr lang="zh-CN" sz="2400" b="1">
                <a:gradFill>
                  <a:gsLst>
                    <a:gs pos="0">
                      <a:srgbClr val="012D86"/>
                    </a:gs>
                    <a:gs pos="100000">
                      <a:srgbClr val="0E2557"/>
                    </a:gs>
                  </a:gsLst>
                  <a:lin scaled="0"/>
                </a:gradFill>
                <a:ea typeface="宋体" panose="02010600030101010101" pitchFamily="2" charset="-122"/>
              </a:rPr>
              <a:t>构成扭环形计数器，设置</a:t>
            </a:r>
            <a:r>
              <a:rPr lang="en-US" sz="2400" b="1" i="1">
                <a:gradFill>
                  <a:gsLst>
                    <a:gs pos="0">
                      <a:srgbClr val="012D86"/>
                    </a:gs>
                    <a:gs pos="100000">
                      <a:srgbClr val="0E2557"/>
                    </a:gs>
                  </a:gsLst>
                  <a:lin scaled="0"/>
                </a:gradFill>
                <a:latin typeface="Times New Roman" panose="02020603050405020304" charset="0"/>
              </a:rPr>
              <a:t>S</a:t>
            </a:r>
            <a:r>
              <a:rPr lang="en-US" sz="2400" b="1" baseline="-25000">
                <a:gradFill>
                  <a:gsLst>
                    <a:gs pos="0">
                      <a:srgbClr val="012D86"/>
                    </a:gs>
                    <a:gs pos="100000">
                      <a:srgbClr val="0E2557"/>
                    </a:gs>
                  </a:gsLst>
                  <a:lin scaled="0"/>
                </a:gradFill>
                <a:latin typeface="Times New Roman" panose="02020603050405020304" charset="0"/>
              </a:rPr>
              <a:t>1</a:t>
            </a:r>
            <a:r>
              <a:rPr lang="en-US" sz="2400" b="1" i="1">
                <a:gradFill>
                  <a:gsLst>
                    <a:gs pos="0">
                      <a:srgbClr val="012D86"/>
                    </a:gs>
                    <a:gs pos="100000">
                      <a:srgbClr val="0E2557"/>
                    </a:gs>
                  </a:gsLst>
                  <a:lin scaled="0"/>
                </a:gradFill>
                <a:latin typeface="Times New Roman" panose="02020603050405020304" charset="0"/>
              </a:rPr>
              <a:t>S</a:t>
            </a:r>
            <a:r>
              <a:rPr lang="en-US" sz="2400" b="1" baseline="-25000">
                <a:gradFill>
                  <a:gsLst>
                    <a:gs pos="0">
                      <a:srgbClr val="012D86"/>
                    </a:gs>
                    <a:gs pos="100000">
                      <a:srgbClr val="0E2557"/>
                    </a:gs>
                  </a:gsLst>
                  <a:lin scaled="0"/>
                </a:gradFill>
                <a:latin typeface="Times New Roman" panose="02020603050405020304" charset="0"/>
              </a:rPr>
              <a:t>0 </a:t>
            </a:r>
            <a:r>
              <a:rPr lang="en-US" sz="2400" b="1">
                <a:gradFill>
                  <a:gsLst>
                    <a:gs pos="0">
                      <a:srgbClr val="012D86"/>
                    </a:gs>
                    <a:gs pos="100000">
                      <a:srgbClr val="0E2557"/>
                    </a:gs>
                  </a:gsLst>
                  <a:lin scaled="0"/>
                </a:gradFill>
                <a:latin typeface="Times New Roman" panose="02020603050405020304" charset="0"/>
              </a:rPr>
              <a:t>= 01</a:t>
            </a:r>
            <a:r>
              <a:rPr lang="zh-CN" sz="2400" b="1">
                <a:gradFill>
                  <a:gsLst>
                    <a:gs pos="0">
                      <a:srgbClr val="012D86"/>
                    </a:gs>
                    <a:gs pos="100000">
                      <a:srgbClr val="0E2557"/>
                    </a:gs>
                  </a:gsLst>
                  <a:lin scaled="0"/>
                </a:gradFill>
                <a:ea typeface="宋体" panose="02010600030101010101" pitchFamily="2" charset="-122"/>
              </a:rPr>
              <a:t>，将输出</a:t>
            </a:r>
            <a:r>
              <a:rPr lang="en-US" sz="2400" b="1" i="1">
                <a:gradFill>
                  <a:gsLst>
                    <a:gs pos="0">
                      <a:srgbClr val="012D86"/>
                    </a:gs>
                    <a:gs pos="100000">
                      <a:srgbClr val="0E2557"/>
                    </a:gs>
                  </a:gsLst>
                  <a:lin scaled="0"/>
                </a:gradFill>
                <a:latin typeface="Times New Roman" panose="02020603050405020304" charset="0"/>
              </a:rPr>
              <a:t>Q</a:t>
            </a:r>
            <a:r>
              <a:rPr lang="en-US" sz="2400" b="1" baseline="-25000">
                <a:gradFill>
                  <a:gsLst>
                    <a:gs pos="0">
                      <a:srgbClr val="012D86"/>
                    </a:gs>
                    <a:gs pos="100000">
                      <a:srgbClr val="0E2557"/>
                    </a:gs>
                  </a:gsLst>
                  <a:lin scaled="0"/>
                </a:gradFill>
                <a:latin typeface="Times New Roman" panose="02020603050405020304" charset="0"/>
              </a:rPr>
              <a:t>3</a:t>
            </a:r>
            <a:r>
              <a:rPr lang="zh-CN" sz="2400" b="1">
                <a:gradFill>
                  <a:gsLst>
                    <a:gs pos="0">
                      <a:srgbClr val="012D86"/>
                    </a:gs>
                    <a:gs pos="100000">
                      <a:srgbClr val="0E2557"/>
                    </a:gs>
                  </a:gsLst>
                  <a:lin scaled="0"/>
                </a:gradFill>
                <a:ea typeface="宋体" panose="02010600030101010101" pitchFamily="2" charset="-122"/>
              </a:rPr>
              <a:t>反相后接到串行输入端即可。图</a:t>
            </a:r>
            <a:r>
              <a:rPr lang="en-US" sz="2400" b="1">
                <a:gradFill>
                  <a:gsLst>
                    <a:gs pos="0">
                      <a:srgbClr val="012D86"/>
                    </a:gs>
                    <a:gs pos="100000">
                      <a:srgbClr val="0E2557"/>
                    </a:gs>
                  </a:gsLst>
                  <a:lin scaled="0"/>
                </a:gradFill>
                <a:latin typeface="Times New Roman" panose="02020603050405020304" charset="0"/>
              </a:rPr>
              <a:t>6.52(b)</a:t>
            </a:r>
            <a:r>
              <a:rPr lang="zh-CN" sz="2400" b="1">
                <a:gradFill>
                  <a:gsLst>
                    <a:gs pos="0">
                      <a:srgbClr val="012D86"/>
                    </a:gs>
                    <a:gs pos="100000">
                      <a:srgbClr val="0E2557"/>
                    </a:gs>
                  </a:gsLst>
                  <a:lin scaled="0"/>
                </a:gradFill>
                <a:ea typeface="宋体" panose="02010600030101010101" pitchFamily="2" charset="-122"/>
              </a:rPr>
              <a:t>是其状态转换图。该电路有</a:t>
            </a:r>
            <a:r>
              <a:rPr lang="en-US" sz="2400" b="1">
                <a:gradFill>
                  <a:gsLst>
                    <a:gs pos="0">
                      <a:srgbClr val="012D86"/>
                    </a:gs>
                    <a:gs pos="100000">
                      <a:srgbClr val="0E2557"/>
                    </a:gs>
                  </a:gsLst>
                  <a:lin scaled="0"/>
                </a:gradFill>
                <a:latin typeface="Times New Roman" panose="02020603050405020304" charset="0"/>
              </a:rPr>
              <a:t>8</a:t>
            </a:r>
            <a:r>
              <a:rPr lang="zh-CN" sz="2400" b="1">
                <a:gradFill>
                  <a:gsLst>
                    <a:gs pos="0">
                      <a:srgbClr val="012D86"/>
                    </a:gs>
                    <a:gs pos="100000">
                      <a:srgbClr val="0E2557"/>
                    </a:gs>
                  </a:gsLst>
                  <a:lin scaled="0"/>
                </a:gradFill>
                <a:ea typeface="宋体" panose="02010600030101010101" pitchFamily="2" charset="-122"/>
              </a:rPr>
              <a:t>个有效状态，为模</a:t>
            </a:r>
            <a:r>
              <a:rPr lang="en-US" sz="2400" b="1">
                <a:gradFill>
                  <a:gsLst>
                    <a:gs pos="0">
                      <a:srgbClr val="012D86"/>
                    </a:gs>
                    <a:gs pos="100000">
                      <a:srgbClr val="0E2557"/>
                    </a:gs>
                  </a:gsLst>
                  <a:lin scaled="0"/>
                </a:gradFill>
                <a:latin typeface="Times New Roman" panose="02020603050405020304" charset="0"/>
              </a:rPr>
              <a:t>8</a:t>
            </a:r>
            <a:r>
              <a:rPr lang="zh-CN" sz="2400" b="1">
                <a:gradFill>
                  <a:gsLst>
                    <a:gs pos="0">
                      <a:srgbClr val="012D86"/>
                    </a:gs>
                    <a:gs pos="100000">
                      <a:srgbClr val="0E2557"/>
                    </a:gs>
                  </a:gsLst>
                  <a:lin scaled="0"/>
                </a:gradFill>
                <a:ea typeface="宋体" panose="02010600030101010101" pitchFamily="2" charset="-122"/>
              </a:rPr>
              <a:t>计数器。一般来说，</a:t>
            </a:r>
            <a:r>
              <a:rPr lang="en-US" sz="2400" b="1" i="1">
                <a:gradFill>
                  <a:gsLst>
                    <a:gs pos="0">
                      <a:srgbClr val="012D86"/>
                    </a:gs>
                    <a:gs pos="100000">
                      <a:srgbClr val="0E2557"/>
                    </a:gs>
                  </a:gsLst>
                  <a:lin scaled="0"/>
                </a:gradFill>
                <a:latin typeface="Times New Roman" panose="02020603050405020304" charset="0"/>
              </a:rPr>
              <a:t>n</a:t>
            </a:r>
            <a:r>
              <a:rPr lang="zh-CN" sz="2400" b="1">
                <a:gradFill>
                  <a:gsLst>
                    <a:gs pos="0">
                      <a:srgbClr val="012D86"/>
                    </a:gs>
                    <a:gs pos="100000">
                      <a:srgbClr val="0E2557"/>
                    </a:gs>
                  </a:gsLst>
                  <a:lin scaled="0"/>
                </a:gradFill>
                <a:ea typeface="宋体" panose="02010600030101010101" pitchFamily="2" charset="-122"/>
              </a:rPr>
              <a:t>个触发器构成的扭环形计数器，其模</a:t>
            </a:r>
            <a:r>
              <a:rPr lang="en-US" sz="2400" b="1" i="1">
                <a:gradFill>
                  <a:gsLst>
                    <a:gs pos="0">
                      <a:srgbClr val="012D86"/>
                    </a:gs>
                    <a:gs pos="100000">
                      <a:srgbClr val="0E2557"/>
                    </a:gs>
                  </a:gsLst>
                  <a:lin scaled="0"/>
                </a:gradFill>
                <a:latin typeface="Times New Roman" panose="02020603050405020304" charset="0"/>
                <a:cs typeface="Times New Roman" panose="02020603050405020304" charset="0"/>
              </a:rPr>
              <a:t>M</a:t>
            </a:r>
            <a:r>
              <a:rPr lang="en-US" sz="2400" b="1">
                <a:gradFill>
                  <a:gsLst>
                    <a:gs pos="0">
                      <a:srgbClr val="012D86"/>
                    </a:gs>
                    <a:gs pos="100000">
                      <a:srgbClr val="0E2557"/>
                    </a:gs>
                  </a:gsLst>
                  <a:lin scaled="0"/>
                </a:gradFill>
                <a:latin typeface="Times New Roman" panose="02020603050405020304" charset="0"/>
              </a:rPr>
              <a:t>=2</a:t>
            </a:r>
            <a:r>
              <a:rPr lang="en-US" sz="2400" b="1" i="1">
                <a:gradFill>
                  <a:gsLst>
                    <a:gs pos="0">
                      <a:srgbClr val="012D86"/>
                    </a:gs>
                    <a:gs pos="100000">
                      <a:srgbClr val="0E2557"/>
                    </a:gs>
                  </a:gsLst>
                  <a:lin scaled="0"/>
                </a:gradFill>
                <a:latin typeface="Times New Roman" panose="02020603050405020304" charset="0"/>
              </a:rPr>
              <a:t>n</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9418" name="图片 2855"/>
          <p:cNvPicPr>
            <a:picLocks noChangeAspect="1"/>
          </p:cNvPicPr>
          <p:nvPr/>
        </p:nvPicPr>
        <p:blipFill>
          <a:blip r:embed="rId1"/>
          <a:stretch>
            <a:fillRect/>
          </a:stretch>
        </p:blipFill>
        <p:spPr>
          <a:xfrm>
            <a:off x="949960" y="3353435"/>
            <a:ext cx="7983855" cy="2654935"/>
          </a:xfrm>
          <a:prstGeom prst="rect">
            <a:avLst/>
          </a:prstGeom>
          <a:noFill/>
          <a:ln>
            <a:noFill/>
          </a:ln>
        </p:spPr>
      </p:pic>
      <p:sp>
        <p:nvSpPr>
          <p:cNvPr id="4" name="文本框 3"/>
          <p:cNvSpPr txBox="1"/>
          <p:nvPr/>
        </p:nvSpPr>
        <p:spPr>
          <a:xfrm>
            <a:off x="2280920" y="6116320"/>
            <a:ext cx="5080000" cy="337185"/>
          </a:xfrm>
          <a:prstGeom prst="rect">
            <a:avLst/>
          </a:prstGeom>
          <a:noFill/>
          <a:ln w="9525">
            <a:noFill/>
          </a:ln>
        </p:spPr>
        <p:txBody>
          <a:bodyPr>
            <a:spAutoFit/>
          </a:bodyPr>
          <a:p>
            <a:r>
              <a:rPr lang="zh-CN" sz="1600" b="1">
                <a:ea typeface="宋体" panose="02010600030101010101" pitchFamily="2" charset="-122"/>
              </a:rPr>
              <a:t>图</a:t>
            </a:r>
            <a:r>
              <a:rPr lang="en-US" sz="1600" b="1">
                <a:latin typeface="Times New Roman" panose="02020603050405020304" charset="0"/>
                <a:ea typeface="宋体" panose="02010600030101010101" pitchFamily="2" charset="-122"/>
                <a:cs typeface="Times New Roman" panose="02020603050405020304" charset="0"/>
              </a:rPr>
              <a:t>6-</a:t>
            </a:r>
            <a:r>
              <a:rPr lang="en-US" sz="1600" b="1">
                <a:latin typeface="Times New Roman" panose="02020603050405020304" charset="0"/>
                <a:ea typeface="宋体" panose="02010600030101010101" pitchFamily="2" charset="-122"/>
              </a:rPr>
              <a:t>52  </a:t>
            </a:r>
            <a:r>
              <a:rPr lang="zh-CN" sz="1600" b="1">
                <a:ea typeface="宋体" panose="02010600030101010101" pitchFamily="2" charset="-122"/>
              </a:rPr>
              <a:t>双向移位寄存器</a:t>
            </a:r>
            <a:r>
              <a:rPr lang="en-US" sz="1600" b="1">
                <a:latin typeface="Times New Roman" panose="02020603050405020304" charset="0"/>
                <a:ea typeface="宋体" panose="02010600030101010101" pitchFamily="2" charset="-122"/>
              </a:rPr>
              <a:t>74LS194</a:t>
            </a:r>
            <a:r>
              <a:rPr lang="zh-CN" sz="1600" b="1">
                <a:ea typeface="宋体" panose="02010600030101010101" pitchFamily="2" charset="-122"/>
              </a:rPr>
              <a:t>构成的扭环形计数器</a:t>
            </a:r>
            <a:endParaRPr lang="zh-CN" altLang="en-US" sz="16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9418"/>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5" name="TextBox 6"/>
          <p:cNvSpPr txBox="1"/>
          <p:nvPr/>
        </p:nvSpPr>
        <p:spPr>
          <a:xfrm>
            <a:off x="1784350" y="568325"/>
            <a:ext cx="5704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b="1" dirty="0">
                <a:solidFill>
                  <a:srgbClr val="FF0000"/>
                </a:solidFill>
                <a:latin typeface="黑体" panose="02010609060101010101" pitchFamily="49" charset="-122"/>
                <a:ea typeface="黑体" panose="02010609060101010101" pitchFamily="49" charset="-122"/>
                <a:sym typeface="+mn-ea"/>
              </a:rPr>
              <a:t>本章小结</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104" name="文本框 103"/>
          <p:cNvSpPr txBox="1"/>
          <p:nvPr/>
        </p:nvSpPr>
        <p:spPr>
          <a:xfrm>
            <a:off x="485775" y="1431290"/>
            <a:ext cx="8482330" cy="4556125"/>
          </a:xfrm>
          <a:prstGeom prst="rect">
            <a:avLst/>
          </a:prstGeom>
          <a:noFill/>
          <a:ln w="9525">
            <a:noFill/>
          </a:ln>
        </p:spPr>
        <p:txBody>
          <a:bodyPr wrap="square">
            <a:spAutoFit/>
          </a:bodyPr>
          <a:p>
            <a:pPr>
              <a:lnSpc>
                <a:spcPct val="110000"/>
              </a:lnSpc>
            </a:pPr>
            <a:r>
              <a:rPr lang="en-US" altLang="zh-CN" sz="2400" b="1">
                <a:gradFill>
                  <a:gsLst>
                    <a:gs pos="0">
                      <a:srgbClr val="012D86"/>
                    </a:gs>
                    <a:gs pos="100000">
                      <a:srgbClr val="0E2557"/>
                    </a:gs>
                  </a:gsLst>
                  <a:lin scaled="0"/>
                </a:gradFill>
                <a:ea typeface="宋体" panose="02010600030101010101" pitchFamily="2" charset="-122"/>
              </a:rPr>
              <a:t>(1) </a:t>
            </a:r>
            <a:r>
              <a:rPr lang="zh-CN" sz="2400" b="1">
                <a:gradFill>
                  <a:gsLst>
                    <a:gs pos="0">
                      <a:srgbClr val="012D86"/>
                    </a:gs>
                    <a:gs pos="100000">
                      <a:srgbClr val="0E2557"/>
                    </a:gs>
                  </a:gsLst>
                  <a:lin scaled="0"/>
                </a:gradFill>
                <a:ea typeface="宋体" panose="02010600030101010101" pitchFamily="2" charset="-122"/>
              </a:rPr>
              <a:t>与组合逻辑电路不同，时序逻辑电路任一时刻的输出不仅与当时的输入信号有关，还与电路前一时刻的状态有关。这就是时序逻辑电路在逻辑功能上的特点。而其结构上的特点就是，为了记忆电路的状态，时序逻辑电路通常由组合电路和存储电路两部分组成，而且存储电路的输出和输入信号一起共同决定电路的输出。</a:t>
            </a:r>
            <a:endParaRPr lang="en-US" sz="2400" b="1">
              <a:gradFill>
                <a:gsLst>
                  <a:gs pos="0">
                    <a:srgbClr val="012D86"/>
                  </a:gs>
                  <a:gs pos="100000">
                    <a:srgbClr val="0E2557"/>
                  </a:gs>
                </a:gsLst>
                <a:lin scaled="0"/>
              </a:gradFill>
              <a:latin typeface="Times New Roman" panose="02020603050405020304" charset="0"/>
            </a:endParaRPr>
          </a:p>
          <a:p>
            <a:pPr>
              <a:lnSpc>
                <a:spcPct val="110000"/>
              </a:lnSpc>
            </a:pPr>
            <a:r>
              <a:rPr lang="en-US" altLang="zh-CN" sz="2400" b="1">
                <a:gradFill>
                  <a:gsLst>
                    <a:gs pos="0">
                      <a:srgbClr val="012D86"/>
                    </a:gs>
                    <a:gs pos="100000">
                      <a:srgbClr val="0E2557"/>
                    </a:gs>
                  </a:gsLst>
                  <a:lin scaled="0"/>
                </a:gradFill>
                <a:ea typeface="宋体" panose="02010600030101010101" pitchFamily="2" charset="-122"/>
              </a:rPr>
              <a:t>(2) </a:t>
            </a:r>
            <a:r>
              <a:rPr lang="zh-CN" sz="2400" b="1">
                <a:gradFill>
                  <a:gsLst>
                    <a:gs pos="0">
                      <a:srgbClr val="012D86"/>
                    </a:gs>
                    <a:gs pos="100000">
                      <a:srgbClr val="0E2557"/>
                    </a:gs>
                  </a:gsLst>
                  <a:lin scaled="0"/>
                </a:gradFill>
                <a:ea typeface="宋体" panose="02010600030101010101" pitchFamily="2" charset="-122"/>
              </a:rPr>
              <a:t>时序逻辑电路就工作方式而言，分为同步和异步时序电路。它们的主要区别是：同步时序逻辑电路的各触发器的时钟脉冲输入端接相同的</a:t>
            </a:r>
            <a:r>
              <a:rPr lang="en-US" sz="2400" b="1" i="1">
                <a:gradFill>
                  <a:gsLst>
                    <a:gs pos="0">
                      <a:srgbClr val="012D86"/>
                    </a:gs>
                    <a:gs pos="100000">
                      <a:srgbClr val="0E2557"/>
                    </a:gs>
                  </a:gsLst>
                  <a:lin scaled="0"/>
                </a:gradFill>
                <a:latin typeface="Times New Roman" panose="02020603050405020304" charset="0"/>
              </a:rPr>
              <a:t>CP</a:t>
            </a:r>
            <a:r>
              <a:rPr lang="zh-CN" sz="2400" b="1">
                <a:gradFill>
                  <a:gsLst>
                    <a:gs pos="0">
                      <a:srgbClr val="012D86"/>
                    </a:gs>
                    <a:gs pos="100000">
                      <a:srgbClr val="0E2557"/>
                    </a:gs>
                  </a:gsLst>
                  <a:lin scaled="0"/>
                </a:gradFill>
                <a:ea typeface="宋体" panose="02010600030101010101" pitchFamily="2" charset="-122"/>
              </a:rPr>
              <a:t>脉冲；而在异步时序逻辑电路中，各触发器的时钟脉冲输入端不完全受同一个时钟脉冲控制，因此，它们的分析和设计方法也有所不同，但基本步骤相差不大。</a:t>
            </a:r>
            <a:endParaRPr lang="zh-CN" altLang="en-US" sz="2400" b="1">
              <a:gradFill>
                <a:gsLst>
                  <a:gs pos="0">
                    <a:srgbClr val="012D86"/>
                  </a:gs>
                  <a:gs pos="100000">
                    <a:srgbClr val="0E2557"/>
                  </a:gs>
                </a:gsLst>
                <a:lin scaled="0"/>
              </a:gra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5" name="TextBox 6"/>
          <p:cNvSpPr txBox="1"/>
          <p:nvPr/>
        </p:nvSpPr>
        <p:spPr>
          <a:xfrm>
            <a:off x="1784350" y="568325"/>
            <a:ext cx="5704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b="1" dirty="0">
                <a:solidFill>
                  <a:srgbClr val="FF0000"/>
                </a:solidFill>
                <a:latin typeface="黑体" panose="02010609060101010101" pitchFamily="49" charset="-122"/>
                <a:ea typeface="黑体" panose="02010609060101010101" pitchFamily="49" charset="-122"/>
                <a:sym typeface="+mn-ea"/>
              </a:rPr>
              <a:t>本章小结</a:t>
            </a:r>
            <a:endParaRPr b="1" dirty="0">
              <a:solidFill>
                <a:srgbClr val="FF0000"/>
              </a:solidFill>
              <a:latin typeface="黑体" panose="02010609060101010101" pitchFamily="49" charset="-122"/>
              <a:ea typeface="黑体" panose="02010609060101010101" pitchFamily="49" charset="-122"/>
              <a:sym typeface="+mn-ea"/>
            </a:endParaRPr>
          </a:p>
        </p:txBody>
      </p:sp>
      <p:sp>
        <p:nvSpPr>
          <p:cNvPr id="104" name="文本框 103"/>
          <p:cNvSpPr txBox="1"/>
          <p:nvPr/>
        </p:nvSpPr>
        <p:spPr>
          <a:xfrm>
            <a:off x="143510" y="1407160"/>
            <a:ext cx="8856980" cy="4961890"/>
          </a:xfrm>
          <a:prstGeom prst="rect">
            <a:avLst/>
          </a:prstGeom>
          <a:noFill/>
          <a:ln w="9525">
            <a:noFill/>
          </a:ln>
        </p:spPr>
        <p:txBody>
          <a:bodyPr wrap="square">
            <a:spAutoFit/>
          </a:bodyPr>
          <a:p>
            <a:pPr>
              <a:lnSpc>
                <a:spcPct val="110000"/>
              </a:lnSpc>
            </a:pPr>
            <a:r>
              <a:rPr lang="en-US" altLang="zh-CN" sz="2400" b="1">
                <a:gradFill>
                  <a:gsLst>
                    <a:gs pos="0">
                      <a:srgbClr val="012D86"/>
                    </a:gs>
                    <a:gs pos="100000">
                      <a:srgbClr val="0E2557"/>
                    </a:gs>
                  </a:gsLst>
                  <a:lin scaled="0"/>
                </a:gradFill>
                <a:ea typeface="宋体" panose="02010600030101010101" pitchFamily="2" charset="-122"/>
              </a:rPr>
              <a:t>(3) </a:t>
            </a:r>
            <a:r>
              <a:rPr lang="zh-CN" sz="2400" b="1">
                <a:gradFill>
                  <a:gsLst>
                    <a:gs pos="0">
                      <a:srgbClr val="012D86"/>
                    </a:gs>
                    <a:gs pos="100000">
                      <a:srgbClr val="0E2557"/>
                    </a:gs>
                  </a:gsLst>
                  <a:lin scaled="0"/>
                </a:gradFill>
                <a:ea typeface="宋体" panose="02010600030101010101" pitchFamily="2" charset="-122"/>
              </a:rPr>
              <a:t>时序逻辑电路的分析，首先按照给定电路列出各逻辑方程组、进而列出状态转换表、画出状态转换图和时序图，最后用文字说明电路的逻辑功能，检查电路能否正常工作。</a:t>
            </a:r>
            <a:r>
              <a:rPr lang="en-US" sz="2400" b="1">
                <a:gradFill>
                  <a:gsLst>
                    <a:gs pos="0">
                      <a:srgbClr val="012D86"/>
                    </a:gs>
                    <a:gs pos="100000">
                      <a:srgbClr val="0E2557"/>
                    </a:gs>
                  </a:gsLst>
                  <a:lin scaled="0"/>
                </a:gradFill>
                <a:latin typeface="Times New Roman" panose="02020603050405020304" charset="0"/>
              </a:rPr>
              <a:t>(4)  </a:t>
            </a:r>
            <a:r>
              <a:rPr lang="zh-CN" sz="2400" b="1">
                <a:gradFill>
                  <a:gsLst>
                    <a:gs pos="0">
                      <a:srgbClr val="012D86"/>
                    </a:gs>
                    <a:gs pos="100000">
                      <a:srgbClr val="0E2557"/>
                    </a:gs>
                  </a:gsLst>
                  <a:lin scaled="0"/>
                </a:gradFill>
                <a:ea typeface="宋体" panose="02010600030101010101" pitchFamily="2" charset="-122"/>
              </a:rPr>
              <a:t>时序逻辑电路的设计，首先根据逻辑功能的需求，得出原始状态图或原始状态表，有必要时需进行状态化简，继而对状态进行编码，然后根据状态表求出激励方程组和输出方程组，最后画出逻辑图完成设计任务。</a:t>
            </a:r>
            <a:endParaRPr lang="en-US" sz="2400" b="1">
              <a:gradFill>
                <a:gsLst>
                  <a:gs pos="0">
                    <a:srgbClr val="012D86"/>
                  </a:gs>
                  <a:gs pos="100000">
                    <a:srgbClr val="0E2557"/>
                  </a:gs>
                </a:gsLst>
                <a:lin scaled="0"/>
              </a:gradFill>
              <a:latin typeface="Times New Roman" panose="02020603050405020304" charset="0"/>
            </a:endParaRPr>
          </a:p>
          <a:p>
            <a:pPr>
              <a:lnSpc>
                <a:spcPct val="110000"/>
              </a:lnSpc>
            </a:pPr>
            <a:r>
              <a:rPr lang="en-US" altLang="zh-CN" sz="2400" b="1">
                <a:gradFill>
                  <a:gsLst>
                    <a:gs pos="0">
                      <a:srgbClr val="012D86"/>
                    </a:gs>
                    <a:gs pos="100000">
                      <a:srgbClr val="0E2557"/>
                    </a:gs>
                  </a:gsLst>
                  <a:lin scaled="0"/>
                </a:gradFill>
                <a:ea typeface="宋体" panose="02010600030101010101" pitchFamily="2" charset="-122"/>
              </a:rPr>
              <a:t>(5) </a:t>
            </a:r>
            <a:r>
              <a:rPr lang="zh-CN" sz="2400" b="1">
                <a:gradFill>
                  <a:gsLst>
                    <a:gs pos="0">
                      <a:srgbClr val="012D86"/>
                    </a:gs>
                    <a:gs pos="100000">
                      <a:srgbClr val="0E2557"/>
                    </a:gs>
                  </a:gsLst>
                  <a:lin scaled="0"/>
                </a:gradFill>
                <a:ea typeface="宋体" panose="02010600030101010101" pitchFamily="2" charset="-122"/>
              </a:rPr>
              <a:t>常用的时序逻辑电路有计数器和寄存器。计数器是统计时钟脉冲个数的逻辑电路，有二进制计数器、十进制计数器等，其功能主要有计数、分频、定时、产生脉冲序列。寄存器是用于暂存一组二值代码的逻辑部件，寄存器有数码寄存器和移位寄存器两大类。</a:t>
            </a:r>
            <a:endParaRPr lang="zh-CN" altLang="en-US" sz="2400" b="1">
              <a:gradFill>
                <a:gsLst>
                  <a:gs pos="0">
                    <a:srgbClr val="012D86"/>
                  </a:gs>
                  <a:gs pos="100000">
                    <a:srgbClr val="0E2557"/>
                  </a:gs>
                </a:gsLst>
                <a:lin scaled="0"/>
              </a:gra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本章作业</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7" name="Rectangle 3"/>
          <p:cNvSpPr>
            <a:spLocks noGrp="1"/>
          </p:cNvSpPr>
          <p:nvPr>
            <p:ph idx="1"/>
          </p:nvPr>
        </p:nvSpPr>
        <p:spPr>
          <a:xfrm>
            <a:off x="683260" y="2007235"/>
            <a:ext cx="8003540" cy="2486025"/>
          </a:xfrm>
        </p:spPr>
        <p:txBody>
          <a:bodyPr vert="horz" wrap="square" lIns="91440" tIns="45720" rIns="91440" bIns="45720" anchor="t" anchorCtr="0"/>
          <a:p>
            <a:pPr marL="0" indent="0" algn="ctr" eaLnBrk="1" latinLnBrk="0" hangingPunct="1">
              <a:lnSpc>
                <a:spcPct val="100000"/>
              </a:lnSpc>
              <a:spcBef>
                <a:spcPts val="0"/>
              </a:spcBef>
              <a:buNone/>
            </a:pPr>
            <a:r>
              <a:rPr lang="en-US" altLang="zh-CN" b="1" kern="1200" dirty="0">
                <a:solidFill>
                  <a:srgbClr val="000066"/>
                </a:solidFill>
                <a:latin typeface="Arial" panose="020B0604020202020204" pitchFamily="34" charset="0"/>
                <a:ea typeface="楷体_GB2312" pitchFamily="49" charset="-122"/>
              </a:rPr>
              <a:t>P178-182</a:t>
            </a:r>
            <a:endParaRPr lang="en-US" altLang="zh-CN" b="1" kern="1200" dirty="0">
              <a:solidFill>
                <a:srgbClr val="000066"/>
              </a:solidFill>
              <a:latin typeface="Arial" panose="020B0604020202020204" pitchFamily="34" charset="0"/>
              <a:ea typeface="楷体_GB2312" pitchFamily="49" charset="-122"/>
            </a:endParaRPr>
          </a:p>
          <a:p>
            <a:pPr marL="0" indent="0" algn="ctr" eaLnBrk="1" latinLnBrk="0" hangingPunct="1">
              <a:lnSpc>
                <a:spcPct val="100000"/>
              </a:lnSpc>
              <a:spcBef>
                <a:spcPts val="0"/>
              </a:spcBef>
              <a:buNone/>
            </a:pPr>
            <a:endParaRPr lang="en-US" altLang="zh-CN" sz="1600" b="1" kern="1200" dirty="0">
              <a:solidFill>
                <a:srgbClr val="000066"/>
              </a:solidFill>
              <a:latin typeface="Arial" panose="020B0604020202020204" pitchFamily="34" charset="0"/>
              <a:ea typeface="楷体_GB2312" pitchFamily="49" charset="-122"/>
            </a:endParaRPr>
          </a:p>
          <a:p>
            <a:pPr marL="0" indent="0" eaLnBrk="1" latinLnBrk="0" hangingPunct="1">
              <a:lnSpc>
                <a:spcPct val="120000"/>
              </a:lnSpc>
              <a:spcBef>
                <a:spcPts val="0"/>
              </a:spcBef>
              <a:spcAft>
                <a:spcPts val="600"/>
              </a:spcAft>
              <a:buNone/>
            </a:pPr>
            <a:r>
              <a:rPr lang="en-US" altLang="zh-CN" sz="2400" b="1" kern="1200" dirty="0">
                <a:solidFill>
                  <a:srgbClr val="000066"/>
                </a:solidFill>
                <a:latin typeface="Arial" panose="020B0604020202020204" pitchFamily="34" charset="0"/>
                <a:ea typeface="楷体_GB2312" pitchFamily="49" charset="-122"/>
              </a:rPr>
              <a:t>         </a:t>
            </a:r>
            <a:r>
              <a:rPr lang="en-US" altLang="zh-CN" sz="2800" b="1" kern="1200" dirty="0">
                <a:solidFill>
                  <a:srgbClr val="000066"/>
                </a:solidFill>
                <a:latin typeface="Arial" panose="020B0604020202020204" pitchFamily="34" charset="0"/>
                <a:ea typeface="楷体_GB2312" pitchFamily="49" charset="-122"/>
              </a:rPr>
              <a:t>  </a:t>
            </a:r>
            <a:r>
              <a:rPr lang="zh-CN" altLang="en-US" sz="2800" b="1" kern="1200" dirty="0">
                <a:solidFill>
                  <a:srgbClr val="000066"/>
                </a:solidFill>
                <a:latin typeface="Arial" panose="020B0604020202020204" pitchFamily="34" charset="0"/>
                <a:ea typeface="楷体_GB2312" pitchFamily="49" charset="-122"/>
              </a:rPr>
              <a:t>题</a:t>
            </a:r>
            <a:r>
              <a:rPr lang="en-US" altLang="zh-CN" sz="2800" b="1" kern="1200" dirty="0">
                <a:solidFill>
                  <a:srgbClr val="000066"/>
                </a:solidFill>
                <a:latin typeface="Arial" panose="020B0604020202020204" pitchFamily="34" charset="0"/>
                <a:ea typeface="楷体_GB2312" pitchFamily="49" charset="-122"/>
              </a:rPr>
              <a:t>6-2 </a:t>
            </a:r>
            <a:r>
              <a:rPr lang="zh-CN" altLang="en-US" sz="2800" b="1" kern="1200" dirty="0">
                <a:solidFill>
                  <a:srgbClr val="000066"/>
                </a:solidFill>
                <a:latin typeface="Arial" panose="020B0604020202020204" pitchFamily="34" charset="0"/>
                <a:ea typeface="楷体_GB2312" pitchFamily="49" charset="-122"/>
              </a:rPr>
              <a:t>、</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6-3 </a:t>
            </a:r>
            <a:r>
              <a:rPr lang="zh-CN" altLang="en-US" sz="2800" b="1" kern="1200" dirty="0">
                <a:solidFill>
                  <a:srgbClr val="000066"/>
                </a:solidFill>
                <a:latin typeface="Arial" panose="020B0604020202020204" pitchFamily="34" charset="0"/>
                <a:ea typeface="楷体_GB2312" pitchFamily="49" charset="-122"/>
                <a:sym typeface="+mn-ea"/>
              </a:rPr>
              <a:t>、 题</a:t>
            </a:r>
            <a:r>
              <a:rPr lang="en-US" altLang="zh-CN" sz="2800" b="1" kern="1200" dirty="0">
                <a:solidFill>
                  <a:srgbClr val="000066"/>
                </a:solidFill>
                <a:latin typeface="Arial" panose="020B0604020202020204" pitchFamily="34" charset="0"/>
                <a:ea typeface="楷体_GB2312" pitchFamily="49" charset="-122"/>
                <a:sym typeface="+mn-ea"/>
              </a:rPr>
              <a:t>6</a:t>
            </a:r>
            <a:r>
              <a:rPr lang="en-US" altLang="zh-CN" sz="2800" b="1" kern="1200" dirty="0">
                <a:solidFill>
                  <a:srgbClr val="000066"/>
                </a:solidFill>
                <a:latin typeface="Arial" panose="020B0604020202020204" pitchFamily="34" charset="0"/>
                <a:ea typeface="楷体_GB2312" pitchFamily="49" charset="-122"/>
                <a:sym typeface="+mn-ea"/>
              </a:rPr>
              <a:t>-4 </a:t>
            </a:r>
            <a:r>
              <a:rPr lang="zh-CN" altLang="en-US" sz="2800" b="1" kern="1200" dirty="0">
                <a:solidFill>
                  <a:srgbClr val="000066"/>
                </a:solidFill>
                <a:latin typeface="Arial" panose="020B0604020202020204" pitchFamily="34" charset="0"/>
                <a:ea typeface="楷体_GB2312" pitchFamily="49" charset="-122"/>
                <a:sym typeface="+mn-ea"/>
              </a:rPr>
              <a:t>、</a:t>
            </a:r>
            <a:r>
              <a:rPr lang="en-US" altLang="zh-CN"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6</a:t>
            </a:r>
            <a:r>
              <a:rPr lang="en-US" altLang="zh-CN" sz="2800" b="1" kern="1200" dirty="0">
                <a:solidFill>
                  <a:srgbClr val="000066"/>
                </a:solidFill>
                <a:latin typeface="Arial" panose="020B0604020202020204" pitchFamily="34" charset="0"/>
                <a:ea typeface="楷体_GB2312" pitchFamily="49" charset="-122"/>
                <a:sym typeface="+mn-ea"/>
              </a:rPr>
              <a:t>-5</a:t>
            </a:r>
            <a:r>
              <a:rPr lang="zh-CN" altLang="en-US" sz="2800" b="1" kern="1200" dirty="0">
                <a:solidFill>
                  <a:srgbClr val="000066"/>
                </a:solidFill>
                <a:latin typeface="Arial" panose="020B0604020202020204" pitchFamily="34" charset="0"/>
                <a:ea typeface="楷体_GB2312" pitchFamily="49" charset="-122"/>
                <a:sym typeface="+mn-ea"/>
              </a:rPr>
              <a:t>、</a:t>
            </a:r>
            <a:endParaRPr lang="zh-CN" altLang="en-US" sz="2800" b="1" kern="1200" dirty="0">
              <a:solidFill>
                <a:srgbClr val="000066"/>
              </a:solidFill>
              <a:latin typeface="Arial" panose="020B0604020202020204" pitchFamily="34" charset="0"/>
              <a:ea typeface="楷体_GB2312" pitchFamily="49" charset="-122"/>
              <a:sym typeface="+mn-ea"/>
            </a:endParaRPr>
          </a:p>
          <a:p>
            <a:pPr marL="0" indent="0" eaLnBrk="1" latinLnBrk="0" hangingPunct="1">
              <a:lnSpc>
                <a:spcPct val="120000"/>
              </a:lnSpc>
              <a:spcBef>
                <a:spcPts val="0"/>
              </a:spcBef>
              <a:spcAft>
                <a:spcPts val="600"/>
              </a:spcAft>
              <a:buNone/>
            </a:pPr>
            <a:r>
              <a:rPr lang="en-US" altLang="zh-CN"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6-8</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6-12</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6-1</a:t>
            </a:r>
            <a:r>
              <a:rPr lang="en-US" sz="2800" b="1" kern="1200" dirty="0">
                <a:solidFill>
                  <a:srgbClr val="000066"/>
                </a:solidFill>
                <a:latin typeface="Arial" panose="020B0604020202020204" pitchFamily="34" charset="0"/>
                <a:ea typeface="楷体_GB2312" pitchFamily="49" charset="-122"/>
                <a:sym typeface="+mn-ea"/>
              </a:rPr>
              <a:t>4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6-1</a:t>
            </a:r>
            <a:r>
              <a:rPr lang="en-US" sz="2800" b="1" kern="1200" dirty="0">
                <a:solidFill>
                  <a:srgbClr val="000066"/>
                </a:solidFill>
                <a:latin typeface="Arial" panose="020B0604020202020204" pitchFamily="34" charset="0"/>
                <a:ea typeface="楷体_GB2312" pitchFamily="49" charset="-122"/>
                <a:sym typeface="+mn-ea"/>
              </a:rPr>
              <a:t>5</a:t>
            </a:r>
            <a:endParaRPr lang="en-US" sz="2800" b="1" kern="1200" dirty="0">
              <a:solidFill>
                <a:srgbClr val="000066"/>
              </a:solidFill>
              <a:latin typeface="Arial" panose="020B0604020202020204" pitchFamily="34" charset="0"/>
              <a:ea typeface="楷体_GB2312" pitchFamily="49" charset="-122"/>
              <a:sym typeface="+mn-ea"/>
            </a:endParaRPr>
          </a:p>
          <a:p>
            <a:pPr marL="0" indent="0" eaLnBrk="1" latinLnBrk="0" hangingPunct="1">
              <a:lnSpc>
                <a:spcPct val="120000"/>
              </a:lnSpc>
              <a:spcBef>
                <a:spcPts val="0"/>
              </a:spcBef>
              <a:spcAft>
                <a:spcPts val="600"/>
              </a:spcAft>
              <a:buNone/>
            </a:pPr>
            <a:r>
              <a:rPr lang="en-US" altLang="zh-CN"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6-22</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6-24</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6-26</a:t>
            </a:r>
            <a:r>
              <a:rPr lang="en-US" sz="2800" b="1" kern="1200" dirty="0">
                <a:solidFill>
                  <a:srgbClr val="000066"/>
                </a:solidFill>
                <a:latin typeface="Arial" panose="020B0604020202020204" pitchFamily="34" charset="0"/>
                <a:ea typeface="楷体_GB2312" pitchFamily="49" charset="-122"/>
                <a:sym typeface="+mn-ea"/>
              </a:rPr>
              <a:t>    </a:t>
            </a:r>
            <a:r>
              <a:rPr lang="zh-CN" altLang="en-US" sz="2800" b="1" kern="1200" dirty="0">
                <a:solidFill>
                  <a:srgbClr val="000066"/>
                </a:solidFill>
                <a:latin typeface="Arial" panose="020B0604020202020204" pitchFamily="34" charset="0"/>
                <a:ea typeface="楷体_GB2312" pitchFamily="49" charset="-122"/>
                <a:sym typeface="+mn-ea"/>
              </a:rPr>
              <a:t>题</a:t>
            </a:r>
            <a:r>
              <a:rPr lang="en-US" altLang="zh-CN" sz="2800" b="1" kern="1200" dirty="0">
                <a:solidFill>
                  <a:srgbClr val="000066"/>
                </a:solidFill>
                <a:latin typeface="Arial" panose="020B0604020202020204" pitchFamily="34" charset="0"/>
                <a:ea typeface="楷体_GB2312" pitchFamily="49" charset="-122"/>
                <a:sym typeface="+mn-ea"/>
              </a:rPr>
              <a:t>6-29</a:t>
            </a:r>
            <a:endParaRPr lang="en-US" sz="2800" b="1" kern="1200" dirty="0">
              <a:solidFill>
                <a:srgbClr val="000066"/>
              </a:solidFill>
              <a:latin typeface="Arial" panose="020B0604020202020204" pitchFamily="34" charset="0"/>
              <a:ea typeface="楷体_GB2312" pitchFamily="49" charset="-122"/>
              <a:sym typeface="+mn-ea"/>
            </a:endParaRPr>
          </a:p>
          <a:p>
            <a:pPr marL="0" indent="0" eaLnBrk="1" latinLnBrk="0" hangingPunct="1">
              <a:lnSpc>
                <a:spcPct val="120000"/>
              </a:lnSpc>
              <a:spcBef>
                <a:spcPts val="0"/>
              </a:spcBef>
              <a:spcAft>
                <a:spcPts val="600"/>
              </a:spcAft>
              <a:buNone/>
            </a:pPr>
            <a:endParaRPr lang="zh-CN" altLang="en-US" sz="2800" b="1" kern="1200" dirty="0">
              <a:solidFill>
                <a:srgbClr val="000066"/>
              </a:solidFill>
              <a:latin typeface="Arial" panose="020B0604020202020204" pitchFamily="34" charset="0"/>
              <a:ea typeface="楷体_GB2312" pitchFamily="49" charset="-122"/>
              <a:sym typeface="+mn-ea"/>
            </a:endParaRPr>
          </a:p>
          <a:p>
            <a:pPr marL="0" indent="0" eaLnBrk="1" latinLnBrk="0" hangingPunct="1">
              <a:lnSpc>
                <a:spcPct val="120000"/>
              </a:lnSpc>
              <a:spcBef>
                <a:spcPts val="0"/>
              </a:spcBef>
              <a:spcAft>
                <a:spcPts val="600"/>
              </a:spcAft>
              <a:buNone/>
            </a:pPr>
            <a:r>
              <a:rPr lang="en-US" altLang="zh-CN" sz="2800" b="1" kern="1200" dirty="0">
                <a:solidFill>
                  <a:srgbClr val="000066"/>
                </a:solidFill>
                <a:latin typeface="Arial" panose="020B0604020202020204" pitchFamily="34" charset="0"/>
                <a:ea typeface="楷体_GB2312" pitchFamily="49" charset="-122"/>
                <a:sym typeface="+mn-ea"/>
              </a:rPr>
              <a:t>          </a:t>
            </a:r>
            <a:endParaRPr lang="zh-CN" altLang="en-US" sz="2400" b="1" kern="1200" dirty="0">
              <a:solidFill>
                <a:srgbClr val="000066"/>
              </a:solidFill>
              <a:latin typeface="Arial" panose="020B0604020202020204" pitchFamily="34" charset="0"/>
              <a:ea typeface="楷体_GB2312" pitchFamily="49" charset="-122"/>
            </a:endParaRPr>
          </a:p>
          <a:p>
            <a:pPr marL="0" indent="0" eaLnBrk="1" latinLnBrk="0" hangingPunct="1">
              <a:lnSpc>
                <a:spcPct val="120000"/>
              </a:lnSpc>
              <a:spcBef>
                <a:spcPts val="0"/>
              </a:spcBef>
              <a:buNone/>
            </a:pPr>
            <a:endParaRPr lang="zh-CN" altLang="en-US" sz="2400" b="1" kern="1200" dirty="0">
              <a:solidFill>
                <a:srgbClr val="000066"/>
              </a:solidFill>
              <a:latin typeface="Arial" panose="020B0604020202020204" pitchFamily="34" charset="0"/>
              <a:ea typeface="楷体_GB2312" pitchFamily="49"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3">
      <a:dk1>
        <a:srgbClr val="080808"/>
      </a:dk1>
      <a:lt1>
        <a:srgbClr val="FFFFFF"/>
      </a:lt1>
      <a:dk2>
        <a:srgbClr val="A59A55"/>
      </a:dk2>
      <a:lt2>
        <a:srgbClr val="DDDDDD"/>
      </a:lt2>
      <a:accent1>
        <a:srgbClr val="4AB1E4"/>
      </a:accent1>
      <a:accent2>
        <a:srgbClr val="8F038F"/>
      </a:accent2>
      <a:accent3>
        <a:srgbClr val="FFFFFF"/>
      </a:accent3>
      <a:accent4>
        <a:srgbClr val="060606"/>
      </a:accent4>
      <a:accent5>
        <a:srgbClr val="B1D5EF"/>
      </a:accent5>
      <a:accent6>
        <a:srgbClr val="810281"/>
      </a:accent6>
      <a:hlink>
        <a:srgbClr val="F77A1D"/>
      </a:hlink>
      <a:folHlink>
        <a:srgbClr val="5BBE4E"/>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w="9525" cap="flat" cmpd="sng">
          <a:solidFill>
            <a:schemeClr val="accent1"/>
          </a:solidFill>
          <a:prstDash val="solid"/>
          <a:miter/>
          <a:headEnd type="none" w="med" len="med"/>
          <a:tailEnd type="none" w="med" len="med"/>
        </a:ln>
      </a:spPr>
      <a:bodyPr>
        <a:spAutoFit/>
      </a:bodyPr>
      <a:lstStyle>
        <a:defPPr eaLnBrk="0" hangingPunct="0">
          <a:spcBef>
            <a:spcPct val="50000"/>
          </a:spcBef>
          <a:defRPr lang="en-US" altLang="zh-CN" sz="2400" dirty="0">
            <a:solidFill>
              <a:schemeClr val="tx2"/>
            </a:solidFill>
            <a:latin typeface="Times New Roman" panose="02020603050405020304" charset="0"/>
          </a:defRPr>
        </a:defPPr>
      </a:lstStyle>
    </a:txDef>
  </a:objectDefaults>
  <a:extraClrSchemeLst>
    <a:extraClrScheme>
      <a:clrScheme name="Default Design 1">
        <a:dk1>
          <a:srgbClr val="5F5F5F"/>
        </a:dk1>
        <a:lt1>
          <a:srgbClr val="FFFFFF"/>
        </a:lt1>
        <a:dk2>
          <a:srgbClr val="C36609"/>
        </a:dk2>
        <a:lt2>
          <a:srgbClr val="DDDDDD"/>
        </a:lt2>
        <a:accent1>
          <a:srgbClr val="D2B94E"/>
        </a:accent1>
        <a:accent2>
          <a:srgbClr val="2395B9"/>
        </a:accent2>
        <a:accent3>
          <a:srgbClr val="FFFFFF"/>
        </a:accent3>
        <a:accent4>
          <a:srgbClr val="505050"/>
        </a:accent4>
        <a:accent5>
          <a:srgbClr val="E5D9B2"/>
        </a:accent5>
        <a:accent6>
          <a:srgbClr val="1F87A7"/>
        </a:accent6>
        <a:hlink>
          <a:srgbClr val="5C984E"/>
        </a:hlink>
        <a:folHlink>
          <a:srgbClr val="B5C77B"/>
        </a:folHlink>
      </a:clrScheme>
      <a:clrMap bg1="lt1" tx1="dk1" bg2="lt2" tx2="dk2" accent1="accent1" accent2="accent2" accent3="accent3" accent4="accent4" accent5="accent5" accent6="accent6" hlink="hlink" folHlink="folHlink"/>
    </a:extraClrScheme>
    <a:extraClrScheme>
      <a:clrScheme name="Default Design 2">
        <a:dk1>
          <a:srgbClr val="5F5F5F"/>
        </a:dk1>
        <a:lt1>
          <a:srgbClr val="FFFFFF"/>
        </a:lt1>
        <a:dk2>
          <a:srgbClr val="9FC591"/>
        </a:dk2>
        <a:lt2>
          <a:srgbClr val="DDDDDD"/>
        </a:lt2>
        <a:accent1>
          <a:srgbClr val="7B82B7"/>
        </a:accent1>
        <a:accent2>
          <a:srgbClr val="8D337C"/>
        </a:accent2>
        <a:accent3>
          <a:srgbClr val="FFFFFF"/>
        </a:accent3>
        <a:accent4>
          <a:srgbClr val="505050"/>
        </a:accent4>
        <a:accent5>
          <a:srgbClr val="BFC1D8"/>
        </a:accent5>
        <a:accent6>
          <a:srgbClr val="7F2D70"/>
        </a:accent6>
        <a:hlink>
          <a:srgbClr val="CC87E1"/>
        </a:hlink>
        <a:folHlink>
          <a:srgbClr val="76C5D0"/>
        </a:folHlink>
      </a:clrScheme>
      <a:clrMap bg1="lt1" tx1="dk1" bg2="lt2" tx2="dk2" accent1="accent1" accent2="accent2" accent3="accent3" accent4="accent4" accent5="accent5" accent6="accent6" hlink="hlink" folHlink="folHlink"/>
    </a:extraClrScheme>
    <a:extraClrScheme>
      <a:clrScheme name="Default Design 3">
        <a:dk1>
          <a:srgbClr val="080808"/>
        </a:dk1>
        <a:lt1>
          <a:srgbClr val="FFFFFF"/>
        </a:lt1>
        <a:dk2>
          <a:srgbClr val="A59A55"/>
        </a:dk2>
        <a:lt2>
          <a:srgbClr val="DDDDDD"/>
        </a:lt2>
        <a:accent1>
          <a:srgbClr val="4AB1E4"/>
        </a:accent1>
        <a:accent2>
          <a:srgbClr val="8F038F"/>
        </a:accent2>
        <a:accent3>
          <a:srgbClr val="FFFFFF"/>
        </a:accent3>
        <a:accent4>
          <a:srgbClr val="060606"/>
        </a:accent4>
        <a:accent5>
          <a:srgbClr val="B1D5EF"/>
        </a:accent5>
        <a:accent6>
          <a:srgbClr val="810281"/>
        </a:accent6>
        <a:hlink>
          <a:srgbClr val="F77A1D"/>
        </a:hlink>
        <a:folHlink>
          <a:srgbClr val="5BBE4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12508</Words>
  <Application>WPS 演示</Application>
  <PresentationFormat>全屏显示(4:3)</PresentationFormat>
  <Paragraphs>1749</Paragraphs>
  <Slides>97</Slides>
  <Notes>8</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59</vt:i4>
      </vt:variant>
      <vt:variant>
        <vt:lpstr>幻灯片标题</vt:lpstr>
      </vt:variant>
      <vt:variant>
        <vt:i4>97</vt:i4>
      </vt:variant>
    </vt:vector>
  </HeadingPairs>
  <TitlesOfParts>
    <vt:vector size="177" baseType="lpstr">
      <vt:lpstr>Arial</vt:lpstr>
      <vt:lpstr>宋体</vt:lpstr>
      <vt:lpstr>Wingdings</vt:lpstr>
      <vt:lpstr>Times New Roman</vt:lpstr>
      <vt:lpstr>黑体</vt:lpstr>
      <vt:lpstr>MS PGothic</vt:lpstr>
      <vt:lpstr>楷体_GB2312</vt:lpstr>
      <vt:lpstr>新宋体</vt:lpstr>
      <vt:lpstr>_x000B__x000C_</vt:lpstr>
      <vt:lpstr>Segoe Print</vt:lpstr>
      <vt:lpstr>Calibri</vt:lpstr>
      <vt:lpstr>微软雅黑</vt:lpstr>
      <vt:lpstr>Arial Unicode MS</vt:lpstr>
      <vt:lpstr>Tahoma</vt:lpstr>
      <vt:lpstr>Symbol</vt:lpstr>
      <vt:lpstr>Courier New</vt:lpstr>
      <vt:lpstr>楷体_GB2312</vt:lpstr>
      <vt:lpstr>Monotype Sorts</vt:lpstr>
      <vt:lpstr>Arial Narrow</vt:lpstr>
      <vt:lpstr>Wingdings</vt:lpstr>
      <vt:lpstr>Default Design</vt:lpstr>
      <vt:lpstr>Equation.DSMT4</vt:lpstr>
      <vt:lpstr>Equation.DSMT4</vt:lpstr>
      <vt:lpstr>Equation.DSMT4</vt:lpstr>
      <vt:lpstr>Equation.DSMT4</vt:lpstr>
      <vt:lpstr>Equation.DSMT4</vt:lpstr>
      <vt:lpstr>Paint.Picture</vt:lpstr>
      <vt:lpstr>Equation.DSMT4</vt:lpstr>
      <vt:lpstr>Equation.DSMT4</vt:lpstr>
      <vt:lpstr>Equation.DSMT4</vt:lpstr>
      <vt:lpstr>Paint.Picture</vt:lpstr>
      <vt:lpstr>Equation.3</vt:lpstr>
      <vt:lpstr>Equation.DSMT4</vt:lpstr>
      <vt:lpstr>Equation.3</vt:lpstr>
      <vt:lpstr>Equation.3</vt:lpstr>
      <vt:lpstr>Equation.3</vt:lpstr>
      <vt:lpstr>Equation.KSEE3</vt:lpstr>
      <vt:lpstr>Equation.3</vt:lpstr>
      <vt:lpstr>Equation.3</vt:lpstr>
      <vt:lpstr>Equation.DSMT4</vt:lpstr>
      <vt:lpstr>Equation.DSMT4</vt:lpstr>
      <vt:lpstr>Paint.Picture</vt:lpstr>
      <vt:lpstr>Equation.KSEE3</vt:lpstr>
      <vt:lpstr>Equation.3</vt:lpstr>
      <vt:lpstr>Equation.3</vt:lpstr>
      <vt:lpstr>Equation.3</vt:lpstr>
      <vt:lpstr>Equation.3</vt:lpstr>
      <vt:lpstr>Equation.3</vt:lpstr>
      <vt:lpstr>Paint.Picture</vt:lpstr>
      <vt:lpstr>Equation.DSMT4</vt:lpstr>
      <vt:lpstr>Equation.DSMT4</vt:lpstr>
      <vt:lpstr>Equation.DSMT4</vt:lpstr>
      <vt:lpstr>Equation.DSMT4</vt:lpstr>
      <vt:lpstr>Equation.3</vt:lpstr>
      <vt:lpstr>Equation.KSEE3</vt:lpstr>
      <vt:lpstr>Equation.KSEE3</vt:lpstr>
      <vt:lpstr>Equation.KSEE3</vt:lpstr>
      <vt:lpstr>Equation.KSEE3</vt:lpstr>
      <vt:lpstr>Equation.KSEE3</vt:lpstr>
      <vt:lpstr>Equation.KSEE3</vt:lpstr>
      <vt:lpstr>Equation.KSEE3</vt:lpstr>
      <vt:lpstr>Equation.KSEE3</vt:lpstr>
      <vt:lpstr>Equation.DSMT4</vt:lpstr>
      <vt:lpstr>Equation.KSEE3</vt:lpstr>
      <vt:lpstr>Equation.KSEE3</vt:lpstr>
      <vt:lpstr>Equation.KSEE3</vt:lpstr>
      <vt:lpstr>Equation.KSEE3</vt:lpstr>
      <vt:lpstr>Equation.KSEE3</vt:lpstr>
      <vt:lpstr>Equation.KSEE3</vt:lpstr>
      <vt:lpstr>Equation.3</vt:lpstr>
      <vt:lpstr>Equation.3</vt:lpstr>
      <vt:lpstr>Equation.3</vt:lpstr>
      <vt:lpstr>Equation.3</vt:lpstr>
      <vt:lpstr>Equation.DSMT4</vt:lpstr>
      <vt:lpstr>Equation.3</vt:lpstr>
      <vt:lpstr>Equation.3</vt:lpstr>
      <vt:lpstr>Equation.3</vt:lpstr>
      <vt:lpstr>Equation.DSMT4</vt:lpstr>
      <vt:lpstr>Equation.DSMT4</vt:lpstr>
      <vt:lpstr>Equation.DSMT4</vt:lpstr>
      <vt:lpstr>第6章 时序逻辑电路</vt:lpstr>
      <vt:lpstr>PowerPoint 演示文稿</vt:lpstr>
      <vt:lpstr>PowerPoint 演示文稿</vt:lpstr>
      <vt:lpstr>6.1.1 时序逻辑电路的结构及特点</vt:lpstr>
      <vt:lpstr>PowerPoint 演示文稿</vt:lpstr>
      <vt:lpstr>6.1.2 时序逻辑电路的分类</vt:lpstr>
      <vt:lpstr>6.1.3 时序逻辑电路的描述方法</vt:lpstr>
      <vt:lpstr>6.2.1 分析时序逻辑电路的一般步骤</vt:lpstr>
      <vt:lpstr>6.2.1 分析时序逻辑电路的一般步骤</vt:lpstr>
      <vt:lpstr>PowerPoint 演示文稿</vt:lpstr>
      <vt:lpstr>6.2.2 同步时序逻辑电路的分析举例</vt:lpstr>
      <vt:lpstr>6.2.2 同步时序逻辑电路的分析举例</vt:lpstr>
      <vt:lpstr>PowerPoint 演示文稿</vt:lpstr>
      <vt:lpstr>PowerPoint 演示文稿</vt:lpstr>
      <vt:lpstr>6.2.2 同步时序逻辑电路的分析举例</vt:lpstr>
      <vt:lpstr>PowerPoint 演示文稿</vt:lpstr>
      <vt:lpstr>PowerPoint 演示文稿</vt:lpstr>
      <vt:lpstr>PowerPoint 演示文稿</vt:lpstr>
      <vt:lpstr>PowerPoint 演示文稿</vt:lpstr>
      <vt:lpstr>6.2.3 异步时序逻辑电路的分析举例</vt:lpstr>
      <vt:lpstr>PowerPoint 演示文稿</vt:lpstr>
      <vt:lpstr>PowerPoint 演示文稿</vt:lpstr>
      <vt:lpstr>6.3.1 同步时序逻辑电路的设计方法</vt:lpstr>
      <vt:lpstr>PowerPoint 演示文稿</vt:lpstr>
      <vt:lpstr>PowerPoint 演示文稿</vt:lpstr>
      <vt:lpstr>6.3.2 同步时序逻辑电路设计举例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6.4.1 计数器的概念及分类</vt:lpstr>
      <vt:lpstr>6.4.2 二进制计数器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6.4.3 十进制计数器</vt:lpstr>
      <vt:lpstr>PowerPoint 演示文稿</vt:lpstr>
      <vt:lpstr>PowerPoint 演示文稿</vt:lpstr>
      <vt:lpstr>PowerPoint 演示文稿</vt:lpstr>
      <vt:lpstr>6.4.4 集成计数器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6.4.5 用集成计数器构成任意进制计数器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6.5.1 数码寄存器</vt:lpstr>
      <vt:lpstr>PowerPoint 演示文稿</vt:lpstr>
      <vt:lpstr>6.5.2 移位寄存器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6.5.3 移位寄存器的用途</vt:lpstr>
      <vt:lpstr>PowerPoint 演示文稿</vt:lpstr>
      <vt:lpstr>PowerPoint 演示文稿</vt:lpstr>
      <vt:lpstr>PowerPoint 演示文稿</vt:lpstr>
      <vt:lpstr>PowerPoint 演示文稿</vt:lpstr>
      <vt:lpstr>PowerPoint 演示文稿</vt:lpstr>
    </vt:vector>
  </TitlesOfParts>
  <Company>Guild Design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www.themegallery.com</dc:creator>
  <cp:lastModifiedBy>周来秀</cp:lastModifiedBy>
  <cp:revision>702</cp:revision>
  <dcterms:created xsi:type="dcterms:W3CDTF">2007-02-20T07:59:00Z</dcterms:created>
  <dcterms:modified xsi:type="dcterms:W3CDTF">2022-03-06T13:21:18Z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D7810DE3FFD04D61A08384750A2B3197</vt:lpwstr>
  </property>
  <property fmtid="{D5CDD505-2E9C-101B-9397-08002B2CF9AE}" pid="3" name="KSOProductBuildVer">
    <vt:lpwstr>2052-11.1.0.9999</vt:lpwstr>
  </property>
</Properties>
</file>
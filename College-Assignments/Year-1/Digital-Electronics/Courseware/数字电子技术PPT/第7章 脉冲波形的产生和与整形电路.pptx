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75"/>
  </p:handoutMasterIdLst>
  <p:sldIdLst>
    <p:sldId id="563" r:id="rId3"/>
    <p:sldId id="261" r:id="rId4"/>
    <p:sldId id="259" r:id="rId5"/>
    <p:sldId id="705" r:id="rId6"/>
    <p:sldId id="706" r:id="rId8"/>
    <p:sldId id="707" r:id="rId9"/>
    <p:sldId id="708" r:id="rId10"/>
    <p:sldId id="709" r:id="rId11"/>
    <p:sldId id="710" r:id="rId12"/>
    <p:sldId id="711" r:id="rId13"/>
    <p:sldId id="712" r:id="rId14"/>
    <p:sldId id="713" r:id="rId15"/>
    <p:sldId id="714" r:id="rId16"/>
    <p:sldId id="715" r:id="rId17"/>
    <p:sldId id="551" r:id="rId18"/>
    <p:sldId id="783" r:id="rId19"/>
    <p:sldId id="784" r:id="rId20"/>
    <p:sldId id="1004" r:id="rId21"/>
    <p:sldId id="851" r:id="rId22"/>
    <p:sldId id="852" r:id="rId23"/>
    <p:sldId id="853" r:id="rId24"/>
    <p:sldId id="854" r:id="rId25"/>
    <p:sldId id="922" r:id="rId26"/>
    <p:sldId id="923" r:id="rId27"/>
    <p:sldId id="924" r:id="rId28"/>
    <p:sldId id="930" r:id="rId29"/>
    <p:sldId id="931" r:id="rId30"/>
    <p:sldId id="932" r:id="rId31"/>
    <p:sldId id="933" r:id="rId32"/>
    <p:sldId id="934" r:id="rId33"/>
    <p:sldId id="935" r:id="rId34"/>
    <p:sldId id="936" r:id="rId35"/>
    <p:sldId id="937" r:id="rId36"/>
    <p:sldId id="943" r:id="rId37"/>
    <p:sldId id="945" r:id="rId38"/>
    <p:sldId id="946" r:id="rId39"/>
    <p:sldId id="944" r:id="rId40"/>
    <p:sldId id="947" r:id="rId41"/>
    <p:sldId id="948" r:id="rId42"/>
    <p:sldId id="949" r:id="rId43"/>
    <p:sldId id="950" r:id="rId44"/>
    <p:sldId id="951" r:id="rId45"/>
    <p:sldId id="958" r:id="rId46"/>
    <p:sldId id="963" r:id="rId47"/>
    <p:sldId id="964" r:id="rId48"/>
    <p:sldId id="965" r:id="rId49"/>
    <p:sldId id="966" r:id="rId50"/>
    <p:sldId id="968" r:id="rId51"/>
    <p:sldId id="1059" r:id="rId52"/>
    <p:sldId id="1060" r:id="rId53"/>
    <p:sldId id="1061" r:id="rId54"/>
    <p:sldId id="1063" r:id="rId55"/>
    <p:sldId id="1064" r:id="rId56"/>
    <p:sldId id="1065" r:id="rId57"/>
    <p:sldId id="1070" r:id="rId58"/>
    <p:sldId id="1071" r:id="rId59"/>
    <p:sldId id="1072" r:id="rId60"/>
    <p:sldId id="1073" r:id="rId61"/>
    <p:sldId id="1074" r:id="rId62"/>
    <p:sldId id="1075" r:id="rId63"/>
    <p:sldId id="1076" r:id="rId64"/>
    <p:sldId id="1077" r:id="rId65"/>
    <p:sldId id="1078" r:id="rId66"/>
    <p:sldId id="1079" r:id="rId67"/>
    <p:sldId id="1081" r:id="rId68"/>
    <p:sldId id="1082" r:id="rId69"/>
    <p:sldId id="1083" r:id="rId70"/>
    <p:sldId id="1084" r:id="rId71"/>
    <p:sldId id="541" r:id="rId72"/>
    <p:sldId id="542" r:id="rId73"/>
    <p:sldId id="468" r:id="rId74"/>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ongjie"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E09D6"/>
    <a:srgbClr val="007F00"/>
    <a:srgbClr val="9B9300"/>
    <a:srgbClr val="1318F3"/>
    <a:srgbClr val="02115E"/>
    <a:srgbClr val="FE1CD6"/>
    <a:srgbClr val="070707"/>
    <a:srgbClr val="FF9900"/>
    <a:srgbClr val="92D0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459"/>
        <p:guide pos="2894"/>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commentAuthors" Target="commentAuthors.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69.wmf"/><Relationship Id="rId2" Type="http://schemas.openxmlformats.org/officeDocument/2006/relationships/image" Target="../media/image72.wmf"/><Relationship Id="rId1" Type="http://schemas.openxmlformats.org/officeDocument/2006/relationships/image" Target="../media/image73.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81.e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emf"/><Relationship Id="rId1" Type="http://schemas.openxmlformats.org/officeDocument/2006/relationships/image" Target="../media/image7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31.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105.wmf"/><Relationship Id="rId4" Type="http://schemas.openxmlformats.org/officeDocument/2006/relationships/image" Target="../media/image104.wmf"/><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8.xml"/><Relationship Id="rId4" Type="http://schemas.openxmlformats.org/officeDocument/2006/relationships/slide" Target="slide55.xml"/><Relationship Id="rId3" Type="http://schemas.openxmlformats.org/officeDocument/2006/relationships/slide" Target="slide41.xml"/><Relationship Id="rId2" Type="http://schemas.openxmlformats.org/officeDocument/2006/relationships/slide" Target="slide13.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image" Target="../media/image19.wmf"/><Relationship Id="rId6" Type="http://schemas.openxmlformats.org/officeDocument/2006/relationships/oleObject" Target="../embeddings/oleObject3.bin"/><Relationship Id="rId5" Type="http://schemas.openxmlformats.org/officeDocument/2006/relationships/image" Target="../media/image18.wmf"/><Relationship Id="rId4" Type="http://schemas.openxmlformats.org/officeDocument/2006/relationships/oleObject" Target="../embeddings/oleObject2.bin"/><Relationship Id="rId3" Type="http://schemas.openxmlformats.org/officeDocument/2006/relationships/image" Target="../media/image17.wmf"/><Relationship Id="rId2" Type="http://schemas.openxmlformats.org/officeDocument/2006/relationships/oleObject" Target="../embeddings/oleObject1.bin"/><Relationship Id="rId10" Type="http://schemas.openxmlformats.org/officeDocument/2006/relationships/notesSlide" Target="../notesSlides/notesSlide3.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23.wmf"/><Relationship Id="rId7" Type="http://schemas.openxmlformats.org/officeDocument/2006/relationships/oleObject" Target="../embeddings/oleObject7.bin"/><Relationship Id="rId6" Type="http://schemas.openxmlformats.org/officeDocument/2006/relationships/image" Target="../media/image22.wmf"/><Relationship Id="rId5" Type="http://schemas.openxmlformats.org/officeDocument/2006/relationships/oleObject" Target="../embeddings/oleObject6.bin"/><Relationship Id="rId4" Type="http://schemas.openxmlformats.org/officeDocument/2006/relationships/image" Target="../media/image21.wmf"/><Relationship Id="rId3" Type="http://schemas.openxmlformats.org/officeDocument/2006/relationships/oleObject" Target="../embeddings/oleObject5.bin"/><Relationship Id="rId21" Type="http://schemas.openxmlformats.org/officeDocument/2006/relationships/notesSlide" Target="../notesSlides/notesSlide4.xml"/><Relationship Id="rId20" Type="http://schemas.openxmlformats.org/officeDocument/2006/relationships/vmlDrawing" Target="../drawings/vmlDrawing2.vml"/><Relationship Id="rId2" Type="http://schemas.openxmlformats.org/officeDocument/2006/relationships/image" Target="../media/image20.wmf"/><Relationship Id="rId19" Type="http://schemas.openxmlformats.org/officeDocument/2006/relationships/slideLayout" Target="../slideLayouts/slideLayout2.xml"/><Relationship Id="rId18" Type="http://schemas.openxmlformats.org/officeDocument/2006/relationships/oleObject" Target="../embeddings/oleObject14.bin"/><Relationship Id="rId17" Type="http://schemas.openxmlformats.org/officeDocument/2006/relationships/oleObject" Target="../embeddings/oleObject13.bin"/><Relationship Id="rId16" Type="http://schemas.openxmlformats.org/officeDocument/2006/relationships/oleObject" Target="../embeddings/oleObject12.bin"/><Relationship Id="rId15" Type="http://schemas.openxmlformats.org/officeDocument/2006/relationships/oleObject" Target="../embeddings/oleObject11.bin"/><Relationship Id="rId14" Type="http://schemas.openxmlformats.org/officeDocument/2006/relationships/oleObject" Target="../embeddings/oleObject10.bin"/><Relationship Id="rId13" Type="http://schemas.openxmlformats.org/officeDocument/2006/relationships/image" Target="../media/image26.png"/><Relationship Id="rId12" Type="http://schemas.openxmlformats.org/officeDocument/2006/relationships/image" Target="../media/image25.wmf"/><Relationship Id="rId11" Type="http://schemas.openxmlformats.org/officeDocument/2006/relationships/oleObject" Target="../embeddings/oleObject9.bin"/><Relationship Id="rId10" Type="http://schemas.openxmlformats.org/officeDocument/2006/relationships/image" Target="../media/image24.wmf"/><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29.wmf"/><Relationship Id="rId2" Type="http://schemas.openxmlformats.org/officeDocument/2006/relationships/oleObject" Target="../embeddings/oleObject15.bin"/><Relationship Id="rId1"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8.png"/><Relationship Id="rId4" Type="http://schemas.openxmlformats.org/officeDocument/2006/relationships/image" Target="../media/image29.wmf"/><Relationship Id="rId3" Type="http://schemas.openxmlformats.org/officeDocument/2006/relationships/oleObject" Target="../embeddings/oleObject17.bin"/><Relationship Id="rId2" Type="http://schemas.openxmlformats.org/officeDocument/2006/relationships/image" Target="../media/image31.wmf"/><Relationship Id="rId1"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29.wmf"/><Relationship Id="rId2" Type="http://schemas.openxmlformats.org/officeDocument/2006/relationships/oleObject" Target="../embeddings/oleObject19.bin"/><Relationship Id="rId1"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36.wmf"/><Relationship Id="rId3" Type="http://schemas.openxmlformats.org/officeDocument/2006/relationships/oleObject" Target="../embeddings/oleObject21.bin"/><Relationship Id="rId2" Type="http://schemas.openxmlformats.org/officeDocument/2006/relationships/image" Target="../media/image35.emf"/><Relationship Id="rId1"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wmf"/><Relationship Id="rId1" Type="http://schemas.openxmlformats.org/officeDocument/2006/relationships/oleObject" Target="../embeddings/oleObject22.bin"/></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wmf"/><Relationship Id="rId1" Type="http://schemas.openxmlformats.org/officeDocument/2006/relationships/oleObject" Target="../embeddings/oleObject23.bin"/></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9.wmf"/><Relationship Id="rId1"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25.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41.wmf"/><Relationship Id="rId1"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43.jpeg"/><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7.wmf"/><Relationship Id="rId7" Type="http://schemas.openxmlformats.org/officeDocument/2006/relationships/oleObject" Target="../embeddings/oleObject30.bin"/><Relationship Id="rId6" Type="http://schemas.openxmlformats.org/officeDocument/2006/relationships/image" Target="../media/image46.wmf"/><Relationship Id="rId5" Type="http://schemas.openxmlformats.org/officeDocument/2006/relationships/oleObject" Target="../embeddings/oleObject29.bin"/><Relationship Id="rId4" Type="http://schemas.openxmlformats.org/officeDocument/2006/relationships/image" Target="../media/image45.wmf"/><Relationship Id="rId3" Type="http://schemas.openxmlformats.org/officeDocument/2006/relationships/oleObject" Target="../embeddings/oleObject28.bin"/><Relationship Id="rId2" Type="http://schemas.openxmlformats.org/officeDocument/2006/relationships/image" Target="../media/image44.emf"/><Relationship Id="rId11" Type="http://schemas.openxmlformats.org/officeDocument/2006/relationships/notesSlide" Target="../notesSlides/notesSlide24.xml"/><Relationship Id="rId10" Type="http://schemas.openxmlformats.org/officeDocument/2006/relationships/vmlDrawing" Target="../drawings/vmlDrawing12.vml"/><Relationship Id="rId1" Type="http://schemas.openxmlformats.org/officeDocument/2006/relationships/oleObject" Target="../embeddings/oleObject27.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image" Target="../media/image61.wmf"/><Relationship Id="rId2" Type="http://schemas.openxmlformats.org/officeDocument/2006/relationships/oleObject" Target="../embeddings/oleObject31.bin"/><Relationship Id="rId1" Type="http://schemas.openxmlformats.org/officeDocument/2006/relationships/image" Target="../media/image6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43.jpeg"/><Relationship Id="rId3" Type="http://schemas.openxmlformats.org/officeDocument/2006/relationships/image" Target="../media/image66.wmf"/><Relationship Id="rId2" Type="http://schemas.openxmlformats.org/officeDocument/2006/relationships/oleObject" Target="../embeddings/oleObject32.bin"/><Relationship Id="rId1" Type="http://schemas.openxmlformats.org/officeDocument/2006/relationships/image" Target="../media/image65.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tags" Target="../tags/tag1.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68.wmf"/><Relationship Id="rId3" Type="http://schemas.openxmlformats.org/officeDocument/2006/relationships/oleObject" Target="../embeddings/oleObject33.bin"/><Relationship Id="rId2" Type="http://schemas.openxmlformats.org/officeDocument/2006/relationships/image" Target="../media/image67.png"/><Relationship Id="rId1" Type="http://schemas.openxmlformats.org/officeDocument/2006/relationships/tags" Target="../tags/tag2.xml"/></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2.wmf"/><Relationship Id="rId7" Type="http://schemas.openxmlformats.org/officeDocument/2006/relationships/oleObject" Target="../embeddings/oleObject37.bin"/><Relationship Id="rId6" Type="http://schemas.openxmlformats.org/officeDocument/2006/relationships/image" Target="../media/image71.wmf"/><Relationship Id="rId5" Type="http://schemas.openxmlformats.org/officeDocument/2006/relationships/oleObject" Target="../embeddings/oleObject36.bin"/><Relationship Id="rId4" Type="http://schemas.openxmlformats.org/officeDocument/2006/relationships/image" Target="../media/image70.wmf"/><Relationship Id="rId3" Type="http://schemas.openxmlformats.org/officeDocument/2006/relationships/oleObject" Target="../embeddings/oleObject35.bin"/><Relationship Id="rId2" Type="http://schemas.openxmlformats.org/officeDocument/2006/relationships/image" Target="../media/image69.wmf"/><Relationship Id="rId11" Type="http://schemas.openxmlformats.org/officeDocument/2006/relationships/notesSlide" Target="../notesSlides/notesSlide43.xml"/><Relationship Id="rId10" Type="http://schemas.openxmlformats.org/officeDocument/2006/relationships/vmlDrawing" Target="../drawings/vmlDrawing16.vml"/><Relationship Id="rId1" Type="http://schemas.openxmlformats.org/officeDocument/2006/relationships/oleObject" Target="../embeddings/oleObject34.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74.wmf"/><Relationship Id="rId7" Type="http://schemas.openxmlformats.org/officeDocument/2006/relationships/oleObject" Target="../embeddings/oleObject41.bin"/><Relationship Id="rId6" Type="http://schemas.openxmlformats.org/officeDocument/2006/relationships/image" Target="../media/image69.wmf"/><Relationship Id="rId5" Type="http://schemas.openxmlformats.org/officeDocument/2006/relationships/oleObject" Target="../embeddings/oleObject40.bin"/><Relationship Id="rId4" Type="http://schemas.openxmlformats.org/officeDocument/2006/relationships/image" Target="../media/image72.wmf"/><Relationship Id="rId3" Type="http://schemas.openxmlformats.org/officeDocument/2006/relationships/oleObject" Target="../embeddings/oleObject39.bin"/><Relationship Id="rId2" Type="http://schemas.openxmlformats.org/officeDocument/2006/relationships/image" Target="../media/image73.wmf"/><Relationship Id="rId15" Type="http://schemas.openxmlformats.org/officeDocument/2006/relationships/notesSlide" Target="../notesSlides/notesSlide44.xml"/><Relationship Id="rId14" Type="http://schemas.openxmlformats.org/officeDocument/2006/relationships/vmlDrawing" Target="../drawings/vmlDrawing17.vml"/><Relationship Id="rId13" Type="http://schemas.openxmlformats.org/officeDocument/2006/relationships/slideLayout" Target="../slideLayouts/slideLayout2.xml"/><Relationship Id="rId12" Type="http://schemas.openxmlformats.org/officeDocument/2006/relationships/image" Target="../media/image76.wmf"/><Relationship Id="rId11" Type="http://schemas.openxmlformats.org/officeDocument/2006/relationships/oleObject" Target="../embeddings/oleObject43.bin"/><Relationship Id="rId10" Type="http://schemas.openxmlformats.org/officeDocument/2006/relationships/image" Target="../media/image75.wmf"/><Relationship Id="rId1" Type="http://schemas.openxmlformats.org/officeDocument/2006/relationships/oleObject" Target="../embeddings/oleObject38.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80.wmf"/><Relationship Id="rId7" Type="http://schemas.openxmlformats.org/officeDocument/2006/relationships/oleObject" Target="../embeddings/oleObject47.bin"/><Relationship Id="rId6" Type="http://schemas.openxmlformats.org/officeDocument/2006/relationships/image" Target="../media/image79.wmf"/><Relationship Id="rId5" Type="http://schemas.openxmlformats.org/officeDocument/2006/relationships/oleObject" Target="../embeddings/oleObject46.bin"/><Relationship Id="rId4" Type="http://schemas.openxmlformats.org/officeDocument/2006/relationships/image" Target="../media/image78.emf"/><Relationship Id="rId3" Type="http://schemas.openxmlformats.org/officeDocument/2006/relationships/oleObject" Target="../embeddings/oleObject45.bin"/><Relationship Id="rId2" Type="http://schemas.openxmlformats.org/officeDocument/2006/relationships/image" Target="../media/image77.wmf"/><Relationship Id="rId14" Type="http://schemas.openxmlformats.org/officeDocument/2006/relationships/notesSlide" Target="../notesSlides/notesSlide46.xml"/><Relationship Id="rId13" Type="http://schemas.openxmlformats.org/officeDocument/2006/relationships/vmlDrawing" Target="../drawings/vmlDrawing18.vml"/><Relationship Id="rId12" Type="http://schemas.openxmlformats.org/officeDocument/2006/relationships/slideLayout" Target="../slideLayouts/slideLayout2.xml"/><Relationship Id="rId11" Type="http://schemas.openxmlformats.org/officeDocument/2006/relationships/oleObject" Target="../embeddings/oleObject49.bin"/><Relationship Id="rId10" Type="http://schemas.openxmlformats.org/officeDocument/2006/relationships/image" Target="../media/image81.emf"/><Relationship Id="rId1" Type="http://schemas.openxmlformats.org/officeDocument/2006/relationships/oleObject" Target="../embeddings/oleObject44.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83.wmf"/><Relationship Id="rId2" Type="http://schemas.openxmlformats.org/officeDocument/2006/relationships/oleObject" Target="../embeddings/oleObject50.bin"/><Relationship Id="rId1" Type="http://schemas.openxmlformats.org/officeDocument/2006/relationships/image" Target="../media/image82.png"/></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2.xml"/><Relationship Id="rId7" Type="http://schemas.openxmlformats.org/officeDocument/2006/relationships/image" Target="../media/image86.wmf"/><Relationship Id="rId6" Type="http://schemas.openxmlformats.org/officeDocument/2006/relationships/oleObject" Target="../embeddings/oleObject53.bin"/><Relationship Id="rId5" Type="http://schemas.openxmlformats.org/officeDocument/2006/relationships/image" Target="../media/image85.wmf"/><Relationship Id="rId4" Type="http://schemas.openxmlformats.org/officeDocument/2006/relationships/oleObject" Target="../embeddings/oleObject52.bin"/><Relationship Id="rId3" Type="http://schemas.openxmlformats.org/officeDocument/2006/relationships/image" Target="../media/image84.wmf"/><Relationship Id="rId2" Type="http://schemas.openxmlformats.org/officeDocument/2006/relationships/oleObject" Target="../embeddings/oleObject51.bin"/><Relationship Id="rId10" Type="http://schemas.openxmlformats.org/officeDocument/2006/relationships/notesSlide" Target="../notesSlides/notesSlide49.xml"/><Relationship Id="rId1" Type="http://schemas.openxmlformats.org/officeDocument/2006/relationships/image" Target="../media/image43.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57.xml.rels><?xml version="1.0" encoding="UTF-8" standalone="yes"?>
<Relationships xmlns="http://schemas.openxmlformats.org/package/2006/relationships"><Relationship Id="rId9" Type="http://schemas.openxmlformats.org/officeDocument/2006/relationships/image" Target="../media/image90.wmf"/><Relationship Id="rId8" Type="http://schemas.openxmlformats.org/officeDocument/2006/relationships/oleObject" Target="../embeddings/oleObject58.bin"/><Relationship Id="rId7" Type="http://schemas.openxmlformats.org/officeDocument/2006/relationships/image" Target="../media/image89.wmf"/><Relationship Id="rId6" Type="http://schemas.openxmlformats.org/officeDocument/2006/relationships/oleObject" Target="../embeddings/oleObject57.bin"/><Relationship Id="rId5" Type="http://schemas.openxmlformats.org/officeDocument/2006/relationships/oleObject" Target="../embeddings/oleObject56.bin"/><Relationship Id="rId4" Type="http://schemas.openxmlformats.org/officeDocument/2006/relationships/image" Target="../media/image88.wmf"/><Relationship Id="rId3" Type="http://schemas.openxmlformats.org/officeDocument/2006/relationships/oleObject" Target="../embeddings/oleObject55.bin"/><Relationship Id="rId2" Type="http://schemas.openxmlformats.org/officeDocument/2006/relationships/image" Target="../media/image31.wmf"/><Relationship Id="rId16" Type="http://schemas.openxmlformats.org/officeDocument/2006/relationships/notesSlide" Target="../notesSlides/notesSlide51.xml"/><Relationship Id="rId15" Type="http://schemas.openxmlformats.org/officeDocument/2006/relationships/vmlDrawing" Target="../drawings/vmlDrawing21.vml"/><Relationship Id="rId14" Type="http://schemas.openxmlformats.org/officeDocument/2006/relationships/slideLayout" Target="../slideLayouts/slideLayout2.xml"/><Relationship Id="rId13" Type="http://schemas.openxmlformats.org/officeDocument/2006/relationships/image" Target="../media/image92.wmf"/><Relationship Id="rId12" Type="http://schemas.openxmlformats.org/officeDocument/2006/relationships/oleObject" Target="../embeddings/oleObject60.bin"/><Relationship Id="rId11" Type="http://schemas.openxmlformats.org/officeDocument/2006/relationships/image" Target="../media/image91.wmf"/><Relationship Id="rId10" Type="http://schemas.openxmlformats.org/officeDocument/2006/relationships/oleObject" Target="../embeddings/oleObject59.bin"/><Relationship Id="rId1" Type="http://schemas.openxmlformats.org/officeDocument/2006/relationships/oleObject" Target="../embeddings/oleObject54.bin"/></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52.xml"/><Relationship Id="rId7" Type="http://schemas.openxmlformats.org/officeDocument/2006/relationships/vmlDrawing" Target="../drawings/vmlDrawing22.vml"/><Relationship Id="rId6" Type="http://schemas.openxmlformats.org/officeDocument/2006/relationships/slideLayout" Target="../slideLayouts/slideLayout2.xml"/><Relationship Id="rId5" Type="http://schemas.openxmlformats.org/officeDocument/2006/relationships/image" Target="../media/image95.wmf"/><Relationship Id="rId4" Type="http://schemas.openxmlformats.org/officeDocument/2006/relationships/oleObject" Target="../embeddings/oleObject62.bin"/><Relationship Id="rId3" Type="http://schemas.openxmlformats.org/officeDocument/2006/relationships/image" Target="../media/image94.png"/><Relationship Id="rId2" Type="http://schemas.openxmlformats.org/officeDocument/2006/relationships/image" Target="../media/image93.wmf"/><Relationship Id="rId1" Type="http://schemas.openxmlformats.org/officeDocument/2006/relationships/oleObject" Target="../embeddings/oleObject61.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98.png"/><Relationship Id="rId1" Type="http://schemas.openxmlformats.org/officeDocument/2006/relationships/image" Target="../media/image97.png"/></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55.xml"/><Relationship Id="rId6" Type="http://schemas.openxmlformats.org/officeDocument/2006/relationships/vmlDrawing" Target="../drawings/vmlDrawing23.vml"/><Relationship Id="rId5" Type="http://schemas.openxmlformats.org/officeDocument/2006/relationships/slideLayout" Target="../slideLayouts/slideLayout2.xml"/><Relationship Id="rId4" Type="http://schemas.openxmlformats.org/officeDocument/2006/relationships/image" Target="../media/image100.wmf"/><Relationship Id="rId3" Type="http://schemas.openxmlformats.org/officeDocument/2006/relationships/oleObject" Target="../embeddings/oleObject64.bin"/><Relationship Id="rId2" Type="http://schemas.openxmlformats.org/officeDocument/2006/relationships/image" Target="../media/image99.wmf"/><Relationship Id="rId1" Type="http://schemas.openxmlformats.org/officeDocument/2006/relationships/oleObject" Target="../embeddings/oleObject63.bin"/></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100.wmf"/><Relationship Id="rId1" Type="http://schemas.openxmlformats.org/officeDocument/2006/relationships/oleObject" Target="../embeddings/oleObject65.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104.wmf"/><Relationship Id="rId7" Type="http://schemas.openxmlformats.org/officeDocument/2006/relationships/oleObject" Target="../embeddings/oleObject69.bin"/><Relationship Id="rId6" Type="http://schemas.openxmlformats.org/officeDocument/2006/relationships/image" Target="../media/image103.wmf"/><Relationship Id="rId5" Type="http://schemas.openxmlformats.org/officeDocument/2006/relationships/oleObject" Target="../embeddings/oleObject68.bin"/><Relationship Id="rId4" Type="http://schemas.openxmlformats.org/officeDocument/2006/relationships/image" Target="../media/image102.wmf"/><Relationship Id="rId3" Type="http://schemas.openxmlformats.org/officeDocument/2006/relationships/oleObject" Target="../embeddings/oleObject67.bin"/><Relationship Id="rId2" Type="http://schemas.openxmlformats.org/officeDocument/2006/relationships/image" Target="../media/image101.wmf"/><Relationship Id="rId13" Type="http://schemas.openxmlformats.org/officeDocument/2006/relationships/notesSlide" Target="../notesSlides/notesSlide57.xml"/><Relationship Id="rId12" Type="http://schemas.openxmlformats.org/officeDocument/2006/relationships/vmlDrawing" Target="../drawings/vmlDrawing25.vml"/><Relationship Id="rId11" Type="http://schemas.openxmlformats.org/officeDocument/2006/relationships/slideLayout" Target="../slideLayouts/slideLayout2.xml"/><Relationship Id="rId10" Type="http://schemas.openxmlformats.org/officeDocument/2006/relationships/image" Target="../media/image105.wmf"/><Relationship Id="rId1" Type="http://schemas.openxmlformats.org/officeDocument/2006/relationships/oleObject" Target="../embeddings/oleObject66.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108.png"/><Relationship Id="rId1" Type="http://schemas.openxmlformats.org/officeDocument/2006/relationships/image" Target="../media/image107.png"/></Relationships>
</file>

<file path=ppt/slides/_rels/slide6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oleObject" Target="../embeddings/oleObject74.bin"/><Relationship Id="rId7" Type="http://schemas.openxmlformats.org/officeDocument/2006/relationships/image" Target="../media/image112.wmf"/><Relationship Id="rId6" Type="http://schemas.openxmlformats.org/officeDocument/2006/relationships/oleObject" Target="../embeddings/oleObject73.bin"/><Relationship Id="rId5" Type="http://schemas.openxmlformats.org/officeDocument/2006/relationships/image" Target="../media/image111.wmf"/><Relationship Id="rId4" Type="http://schemas.openxmlformats.org/officeDocument/2006/relationships/oleObject" Target="../embeddings/oleObject72.bin"/><Relationship Id="rId3" Type="http://schemas.openxmlformats.org/officeDocument/2006/relationships/image" Target="../media/image110.wmf"/><Relationship Id="rId2" Type="http://schemas.openxmlformats.org/officeDocument/2006/relationships/oleObject" Target="../embeddings/oleObject71.bin"/><Relationship Id="rId11" Type="http://schemas.openxmlformats.org/officeDocument/2006/relationships/notesSlide" Target="../notesSlides/notesSlide60.xml"/><Relationship Id="rId10" Type="http://schemas.openxmlformats.org/officeDocument/2006/relationships/vmlDrawing" Target="../drawings/vmlDrawing26.vml"/><Relationship Id="rId1" Type="http://schemas.openxmlformats.org/officeDocument/2006/relationships/image" Target="../media/image109.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113.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image" Target="../media/image115.png"/><Relationship Id="rId1" Type="http://schemas.openxmlformats.org/officeDocument/2006/relationships/image" Target="../media/image1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8"/>
          <p:cNvSpPr txBox="1">
            <a:spLocks noChangeArrowheads="1"/>
          </p:cNvSpPr>
          <p:nvPr/>
        </p:nvSpPr>
        <p:spPr bwMode="auto">
          <a:xfrm>
            <a:off x="1066800" y="2362200"/>
            <a:ext cx="678688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20000"/>
              </a:lnSpc>
            </a:pPr>
            <a:r>
              <a:rPr lang="zh-CN" altLang="en-US" sz="4400" b="1" dirty="0">
                <a:solidFill>
                  <a:srgbClr val="FF0000"/>
                </a:solidFill>
                <a:latin typeface="微软雅黑" panose="020B0503020204020204" charset="-122"/>
                <a:ea typeface="微软雅黑" panose="020B0503020204020204" charset="-122"/>
              </a:rPr>
              <a:t>《数字电子技术》</a:t>
            </a:r>
            <a:endParaRPr lang="zh-CN" altLang="en-US" sz="4400" b="1" dirty="0">
              <a:solidFill>
                <a:srgbClr val="FF0000"/>
              </a:solidFill>
              <a:latin typeface="微软雅黑" panose="020B0503020204020204" charset="-122"/>
              <a:ea typeface="微软雅黑" panose="020B0503020204020204" charset="-122"/>
            </a:endParaRPr>
          </a:p>
        </p:txBody>
      </p:sp>
      <p:pic>
        <p:nvPicPr>
          <p:cNvPr id="100" name="图片 99"/>
          <p:cNvPicPr/>
          <p:nvPr/>
        </p:nvPicPr>
        <p:blipFill>
          <a:blip r:embed="rId1"/>
          <a:srcRect l="6440" t="10369" r="5160" b="7142"/>
          <a:stretch>
            <a:fillRect/>
          </a:stretch>
        </p:blipFill>
        <p:spPr>
          <a:xfrm>
            <a:off x="0" y="4953000"/>
            <a:ext cx="3024000" cy="2014855"/>
          </a:xfrm>
          <a:prstGeom prst="rect">
            <a:avLst/>
          </a:prstGeom>
          <a:noFill/>
          <a:ln w="9525">
            <a:noFill/>
          </a:ln>
        </p:spPr>
      </p:pic>
      <p:pic>
        <p:nvPicPr>
          <p:cNvPr id="2" name="图片 1"/>
          <p:cNvPicPr/>
          <p:nvPr/>
        </p:nvPicPr>
        <p:blipFill>
          <a:blip r:embed="rId2"/>
          <a:stretch>
            <a:fillRect/>
          </a:stretch>
        </p:blipFill>
        <p:spPr>
          <a:xfrm>
            <a:off x="3013710" y="4953000"/>
            <a:ext cx="3024000" cy="2026920"/>
          </a:xfrm>
          <a:prstGeom prst="rect">
            <a:avLst/>
          </a:prstGeom>
          <a:noFill/>
          <a:ln w="9525">
            <a:noFill/>
          </a:ln>
        </p:spPr>
      </p:pic>
      <p:pic>
        <p:nvPicPr>
          <p:cNvPr id="101" name="图片 100"/>
          <p:cNvPicPr/>
          <p:nvPr/>
        </p:nvPicPr>
        <p:blipFill>
          <a:blip r:embed="rId3"/>
          <a:srcRect l="11780" t="21920" r="10760" b="21160"/>
          <a:stretch>
            <a:fillRect/>
          </a:stretch>
        </p:blipFill>
        <p:spPr>
          <a:xfrm>
            <a:off x="6041390" y="4953000"/>
            <a:ext cx="3096895" cy="204343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left)">
                                      <p:cBhvr>
                                        <p:cTn id="11" dur="500"/>
                                        <p:tgtEl>
                                          <p:spTgt spid="10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wipe(left)">
                                      <p:cBhvr>
                                        <p:cTn id="1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1" name="Rectangle 9"/>
          <p:cNvSpPr>
            <a:spLocks noGrp="1"/>
          </p:cNvSpPr>
          <p:nvPr>
            <p:ph type="title"/>
          </p:nvPr>
        </p:nvSpPr>
        <p:spPr>
          <a:xfrm>
            <a:off x="3048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7</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脉冲波形的产生与整形</a:t>
            </a:r>
            <a:r>
              <a:rPr lang="zh-CN" altLang="en-US" sz="3200" i="0" kern="1200" dirty="0">
                <a:solidFill>
                  <a:srgbClr val="FF0000"/>
                </a:solidFill>
                <a:latin typeface="黑体" panose="02010609060101010101" pitchFamily="49" charset="-122"/>
                <a:ea typeface="黑体" panose="02010609060101010101" pitchFamily="49" charset="-122"/>
                <a:cs typeface="+mn-cs"/>
              </a:rPr>
              <a:t>电路</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sp>
        <p:nvSpPr>
          <p:cNvPr id="2" name="Line 3"/>
          <p:cNvSpPr/>
          <p:nvPr/>
        </p:nvSpPr>
        <p:spPr>
          <a:xfrm>
            <a:off x="2835910" y="3657600"/>
            <a:ext cx="463550" cy="612775"/>
          </a:xfrm>
          <a:prstGeom prst="line">
            <a:avLst/>
          </a:prstGeom>
          <a:ln w="12700" cap="rnd" cmpd="sng">
            <a:solidFill>
              <a:srgbClr val="003366"/>
            </a:solidFill>
            <a:prstDash val="sysDot"/>
            <a:headEnd type="none" w="med" len="med"/>
            <a:tailEnd type="none" w="med" len="med"/>
          </a:ln>
        </p:spPr>
      </p:sp>
      <p:sp>
        <p:nvSpPr>
          <p:cNvPr id="5123" name="Line 2"/>
          <p:cNvSpPr/>
          <p:nvPr/>
        </p:nvSpPr>
        <p:spPr>
          <a:xfrm flipV="1">
            <a:off x="2671763" y="1948180"/>
            <a:ext cx="531812" cy="838200"/>
          </a:xfrm>
          <a:prstGeom prst="line">
            <a:avLst/>
          </a:prstGeom>
          <a:ln w="12700" cap="rnd" cmpd="sng">
            <a:solidFill>
              <a:srgbClr val="003366"/>
            </a:solidFill>
            <a:prstDash val="sysDot"/>
            <a:headEnd type="none" w="med" len="med"/>
            <a:tailEnd type="none" w="med" len="med"/>
          </a:ln>
        </p:spPr>
      </p:sp>
      <p:sp>
        <p:nvSpPr>
          <p:cNvPr id="13" name="Line 2"/>
          <p:cNvSpPr/>
          <p:nvPr/>
        </p:nvSpPr>
        <p:spPr>
          <a:xfrm flipV="1">
            <a:off x="2895600" y="2681605"/>
            <a:ext cx="447040" cy="399415"/>
          </a:xfrm>
          <a:prstGeom prst="line">
            <a:avLst/>
          </a:prstGeom>
          <a:ln w="12700" cap="rnd" cmpd="sng">
            <a:solidFill>
              <a:srgbClr val="003366"/>
            </a:solidFill>
            <a:prstDash val="sysDot"/>
            <a:headEnd type="none" w="med" len="med"/>
            <a:tailEnd type="none" w="med" len="med"/>
          </a:ln>
        </p:spPr>
      </p:sp>
      <p:sp>
        <p:nvSpPr>
          <p:cNvPr id="5125" name="Line 3"/>
          <p:cNvSpPr/>
          <p:nvPr/>
        </p:nvSpPr>
        <p:spPr>
          <a:xfrm>
            <a:off x="2738120" y="4436110"/>
            <a:ext cx="463550" cy="612775"/>
          </a:xfrm>
          <a:prstGeom prst="line">
            <a:avLst/>
          </a:prstGeom>
          <a:ln w="12700" cap="rnd" cmpd="sng">
            <a:solidFill>
              <a:srgbClr val="003366"/>
            </a:solidFill>
            <a:prstDash val="sysDot"/>
            <a:headEnd type="none" w="med" len="med"/>
            <a:tailEnd type="none" w="med" len="med"/>
          </a:ln>
        </p:spPr>
      </p:sp>
      <p:sp>
        <p:nvSpPr>
          <p:cNvPr id="5126" name="Line 4"/>
          <p:cNvSpPr/>
          <p:nvPr/>
        </p:nvSpPr>
        <p:spPr>
          <a:xfrm>
            <a:off x="3203575" y="1948180"/>
            <a:ext cx="609600" cy="0"/>
          </a:xfrm>
          <a:prstGeom prst="line">
            <a:avLst/>
          </a:prstGeom>
          <a:ln w="12700" cap="rnd" cmpd="sng">
            <a:solidFill>
              <a:srgbClr val="003366"/>
            </a:solidFill>
            <a:prstDash val="sysDot"/>
            <a:headEnd type="none" w="med" len="med"/>
            <a:tailEnd type="none" w="med" len="med"/>
          </a:ln>
        </p:spPr>
      </p:sp>
      <p:sp>
        <p:nvSpPr>
          <p:cNvPr id="5127" name="Line 5"/>
          <p:cNvSpPr/>
          <p:nvPr/>
        </p:nvSpPr>
        <p:spPr>
          <a:xfrm>
            <a:off x="3201670" y="5048885"/>
            <a:ext cx="609600" cy="0"/>
          </a:xfrm>
          <a:prstGeom prst="line">
            <a:avLst/>
          </a:prstGeom>
          <a:ln w="12700" cap="rnd" cmpd="sng">
            <a:solidFill>
              <a:srgbClr val="003366"/>
            </a:solidFill>
            <a:prstDash val="sysDot"/>
            <a:headEnd type="none" w="med" len="med"/>
            <a:tailEnd type="none" w="med" len="med"/>
          </a:ln>
        </p:spPr>
      </p:sp>
      <p:sp>
        <p:nvSpPr>
          <p:cNvPr id="5129" name="Line 7"/>
          <p:cNvSpPr/>
          <p:nvPr/>
        </p:nvSpPr>
        <p:spPr>
          <a:xfrm>
            <a:off x="3185160" y="3460750"/>
            <a:ext cx="609600" cy="0"/>
          </a:xfrm>
          <a:prstGeom prst="line">
            <a:avLst/>
          </a:prstGeom>
          <a:ln w="12700" cap="rnd" cmpd="sng">
            <a:solidFill>
              <a:srgbClr val="003366"/>
            </a:solidFill>
            <a:prstDash val="sysDot"/>
            <a:headEnd type="none" w="med" len="med"/>
            <a:tailEnd type="none" w="med" len="med"/>
          </a:ln>
        </p:spPr>
      </p:sp>
      <p:grpSp>
        <p:nvGrpSpPr>
          <p:cNvPr id="5132" name="Group 10"/>
          <p:cNvGrpSpPr/>
          <p:nvPr/>
        </p:nvGrpSpPr>
        <p:grpSpPr>
          <a:xfrm>
            <a:off x="682625" y="2128838"/>
            <a:ext cx="2673350" cy="2671762"/>
            <a:chOff x="140" y="1419"/>
            <a:chExt cx="1684" cy="1683"/>
          </a:xfrm>
        </p:grpSpPr>
        <p:sp>
          <p:nvSpPr>
            <p:cNvPr id="7179"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0"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1"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60"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1"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2"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3"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4"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5165"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3" name="AutoShape 20">
            <a:hlinkClick r:id="" action="ppaction://hlinkshowjump?jump=nextslide"/>
          </p:cNvPr>
          <p:cNvSpPr/>
          <p:nvPr/>
        </p:nvSpPr>
        <p:spPr>
          <a:xfrm>
            <a:off x="3806825" y="1676400"/>
            <a:ext cx="227711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4" name="Rectangle 21">
            <a:hlinkClick r:id="" action="ppaction://hlinkshowjump?jump=nextslide"/>
          </p:cNvPr>
          <p:cNvSpPr/>
          <p:nvPr/>
        </p:nvSpPr>
        <p:spPr>
          <a:xfrm>
            <a:off x="4121150" y="1676400"/>
            <a:ext cx="14097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7.1 </a:t>
            </a:r>
            <a:r>
              <a:rPr lang="zh-CN" altLang="en-US" sz="2400" b="1" dirty="0">
                <a:solidFill>
                  <a:srgbClr val="000000"/>
                </a:solidFill>
                <a:latin typeface="黑体" panose="02010609060101010101" pitchFamily="49" charset="-122"/>
                <a:ea typeface="黑体" panose="02010609060101010101" pitchFamily="49" charset="-122"/>
              </a:rPr>
              <a:t>概述</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15" name="AutoShape 22"/>
          <p:cNvSpPr/>
          <p:nvPr/>
        </p:nvSpPr>
        <p:spPr>
          <a:xfrm>
            <a:off x="3787775" y="3222625"/>
            <a:ext cx="360934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20" name="Rectangle 23">
            <a:hlinkClick r:id="rId2" action="ppaction://hlinksldjump"/>
          </p:cNvPr>
          <p:cNvSpPr/>
          <p:nvPr/>
        </p:nvSpPr>
        <p:spPr>
          <a:xfrm>
            <a:off x="4121150" y="3222625"/>
            <a:ext cx="30378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7.3 </a:t>
            </a:r>
            <a:r>
              <a:rPr lang="zh-CN" altLang="en-US" sz="2400" b="1" dirty="0">
                <a:solidFill>
                  <a:srgbClr val="000000"/>
                </a:solidFill>
                <a:latin typeface="黑体" panose="02010609060101010101" pitchFamily="49" charset="-122"/>
                <a:ea typeface="黑体" panose="02010609060101010101" pitchFamily="49" charset="-122"/>
              </a:rPr>
              <a:t>单稳态</a:t>
            </a:r>
            <a:r>
              <a:rPr lang="zh-CN" altLang="en-US" sz="2400" b="1" dirty="0">
                <a:solidFill>
                  <a:srgbClr val="000000"/>
                </a:solidFill>
                <a:latin typeface="黑体" panose="02010609060101010101" pitchFamily="49" charset="-122"/>
                <a:ea typeface="黑体" panose="02010609060101010101" pitchFamily="49" charset="-122"/>
              </a:rPr>
              <a:t>触发器</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7" name="AutoShape 24"/>
          <p:cNvSpPr/>
          <p:nvPr/>
        </p:nvSpPr>
        <p:spPr>
          <a:xfrm>
            <a:off x="3810000" y="4011930"/>
            <a:ext cx="451294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21" name="Rectangle 25">
            <a:hlinkClick r:id="rId3" action="ppaction://hlinksldjump"/>
          </p:cNvPr>
          <p:cNvSpPr/>
          <p:nvPr/>
        </p:nvSpPr>
        <p:spPr>
          <a:xfrm>
            <a:off x="4117975" y="4011930"/>
            <a:ext cx="4295775"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7.4 </a:t>
            </a:r>
            <a:r>
              <a:rPr lang="zh-CN" altLang="en-US" sz="2400" b="1" dirty="0">
                <a:solidFill>
                  <a:srgbClr val="000000"/>
                </a:solidFill>
                <a:latin typeface="黑体" panose="02010609060101010101" pitchFamily="49" charset="-122"/>
                <a:ea typeface="黑体" panose="02010609060101010101" pitchFamily="49" charset="-122"/>
              </a:rPr>
              <a:t>施密特</a:t>
            </a:r>
            <a:r>
              <a:rPr lang="zh-CN" altLang="en-US" sz="2400" b="1" dirty="0">
                <a:solidFill>
                  <a:srgbClr val="000000"/>
                </a:solidFill>
                <a:latin typeface="黑体" panose="02010609060101010101" pitchFamily="49" charset="-122"/>
                <a:ea typeface="黑体" panose="02010609060101010101" pitchFamily="49" charset="-122"/>
              </a:rPr>
              <a:t>触发器</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9" name="Oval 26"/>
          <p:cNvSpPr/>
          <p:nvPr/>
        </p:nvSpPr>
        <p:spPr>
          <a:xfrm>
            <a:off x="3598545" y="1837055"/>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22" name="Oval 28"/>
          <p:cNvSpPr>
            <a:spLocks noChangeArrowheads="1"/>
          </p:cNvSpPr>
          <p:nvPr/>
        </p:nvSpPr>
        <p:spPr bwMode="gray">
          <a:xfrm>
            <a:off x="3569335" y="33528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AutoShape 29"/>
          <p:cNvSpPr/>
          <p:nvPr/>
        </p:nvSpPr>
        <p:spPr>
          <a:xfrm>
            <a:off x="3806825" y="4817110"/>
            <a:ext cx="497141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3" name="Rectangle 30">
            <a:hlinkClick r:id="rId4" action="ppaction://hlinksldjump"/>
          </p:cNvPr>
          <p:cNvSpPr/>
          <p:nvPr/>
        </p:nvSpPr>
        <p:spPr>
          <a:xfrm>
            <a:off x="4121150" y="4817110"/>
            <a:ext cx="39776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7.5 </a:t>
            </a:r>
            <a:r>
              <a:rPr lang="zh-CN" altLang="en-US" sz="2400" b="1" dirty="0">
                <a:solidFill>
                  <a:srgbClr val="000000"/>
                </a:solidFill>
                <a:latin typeface="黑体" panose="02010609060101010101" pitchFamily="49" charset="-122"/>
                <a:ea typeface="黑体" panose="02010609060101010101" pitchFamily="49" charset="-122"/>
              </a:rPr>
              <a:t>多谐振荡器</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47" name="Oval 34"/>
          <p:cNvSpPr/>
          <p:nvPr/>
        </p:nvSpPr>
        <p:spPr>
          <a:xfrm>
            <a:off x="3594100" y="494728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8" name="Line 6"/>
          <p:cNvSpPr/>
          <p:nvPr/>
        </p:nvSpPr>
        <p:spPr>
          <a:xfrm flipV="1">
            <a:off x="3352800" y="2680653"/>
            <a:ext cx="533400" cy="0"/>
          </a:xfrm>
          <a:prstGeom prst="line">
            <a:avLst/>
          </a:prstGeom>
          <a:ln w="12700" cap="rnd" cmpd="sng">
            <a:solidFill>
              <a:srgbClr val="003366"/>
            </a:solidFill>
            <a:prstDash val="sysDot"/>
            <a:headEnd type="none" w="med" len="med"/>
            <a:tailEnd type="none" w="med" len="med"/>
          </a:ln>
        </p:spPr>
      </p:sp>
      <p:sp>
        <p:nvSpPr>
          <p:cNvPr id="5149" name="AutoShape 22">
            <a:hlinkClick r:id="rId5" action="ppaction://hlinksldjump"/>
          </p:cNvPr>
          <p:cNvSpPr/>
          <p:nvPr/>
        </p:nvSpPr>
        <p:spPr>
          <a:xfrm>
            <a:off x="3800475" y="2438400"/>
            <a:ext cx="299275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50" name="Rectangle 23">
            <a:hlinkClick r:id="rId6" action="ppaction://hlinksldjump"/>
          </p:cNvPr>
          <p:cNvSpPr/>
          <p:nvPr/>
        </p:nvSpPr>
        <p:spPr>
          <a:xfrm>
            <a:off x="4114800" y="2438400"/>
            <a:ext cx="217678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7.2 555</a:t>
            </a:r>
            <a:r>
              <a:rPr lang="zh-CN" altLang="en-US" sz="2400" b="1" dirty="0">
                <a:solidFill>
                  <a:srgbClr val="000000"/>
                </a:solidFill>
                <a:latin typeface="黑体" panose="02010609060101010101" pitchFamily="49" charset="-122"/>
                <a:ea typeface="黑体" panose="02010609060101010101" pitchFamily="49" charset="-122"/>
              </a:rPr>
              <a:t>定时器</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24" name="Line 6"/>
          <p:cNvSpPr/>
          <p:nvPr/>
        </p:nvSpPr>
        <p:spPr>
          <a:xfrm flipV="1">
            <a:off x="3293110" y="4294188"/>
            <a:ext cx="533400" cy="0"/>
          </a:xfrm>
          <a:prstGeom prst="line">
            <a:avLst/>
          </a:prstGeom>
          <a:ln w="12700" cap="rnd" cmpd="sng">
            <a:solidFill>
              <a:srgbClr val="003366"/>
            </a:solidFill>
            <a:prstDash val="sysDot"/>
            <a:headEnd type="none" w="med" len="med"/>
            <a:tailEnd type="none" w="med" len="med"/>
          </a:ln>
        </p:spPr>
      </p:sp>
      <p:sp>
        <p:nvSpPr>
          <p:cNvPr id="25" name="Oval 27"/>
          <p:cNvSpPr/>
          <p:nvPr/>
        </p:nvSpPr>
        <p:spPr>
          <a:xfrm>
            <a:off x="3582035" y="256857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4" name="Oval 31"/>
          <p:cNvSpPr/>
          <p:nvPr/>
        </p:nvSpPr>
        <p:spPr>
          <a:xfrm>
            <a:off x="3582035" y="417671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143000"/>
            <a:ext cx="8003540" cy="161861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在数字电路中， 常常需要各种各样的数字波形， 比如时序逻辑电路中的时钟脉冲信号、 数字频率计中的闸门信号等。</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Rectangle 3"/>
          <p:cNvSpPr>
            <a:spLocks noGrp="1"/>
          </p:cNvSpPr>
          <p:nvPr/>
        </p:nvSpPr>
        <p:spPr>
          <a:xfrm>
            <a:off x="672465" y="2514600"/>
            <a:ext cx="8003540" cy="28441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Times New Roman" panose="02020603050405020304" charset="0"/>
                <a:ea typeface="楷体" panose="02010609060101010101" charset="-122"/>
                <a:cs typeface="Times New Roman" panose="02020603050405020304" charset="0"/>
              </a:rPr>
              <a:t>两种基本途径</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1.利用各种数字脉 冲产生电路直接产生数字波形</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，如</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algn="just" eaLnBrk="1" latinLnBrk="0" hangingPunct="1">
              <a:lnSpc>
                <a:spcPct val="120000"/>
              </a:lnSpc>
              <a:spcBef>
                <a:spcPts val="0"/>
              </a:spcBef>
              <a:buNone/>
            </a:pP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多谐振荡器</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algn="just" eaLnBrk="1" latinLnBrk="0" hangingPunct="1">
              <a:lnSpc>
                <a:spcPct val="120000"/>
              </a:lnSpc>
              <a:spcBef>
                <a:spcPts val="0"/>
              </a:spcBef>
              <a:buSzTx/>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2.利用波形变换电路将非数字波形转 换成数字波形</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如</a:t>
            </a:r>
            <a:r>
              <a:rPr lang="en-US" altLang="zh-CN" sz="2400" b="1" kern="1200" dirty="0">
                <a:solidFill>
                  <a:srgbClr val="FF0000"/>
                </a:solidFill>
                <a:latin typeface="Times New Roman" panose="02020603050405020304" charset="0"/>
                <a:ea typeface="楷体" panose="02010609060101010101" charset="-122"/>
                <a:cs typeface="Times New Roman" panose="02020603050405020304" charset="0"/>
              </a:rPr>
              <a:t>单稳态触发器</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和</a:t>
            </a:r>
            <a:r>
              <a:rPr lang="en-US" altLang="zh-CN" sz="2400" b="1" kern="1200" dirty="0">
                <a:solidFill>
                  <a:srgbClr val="FF0000"/>
                </a:solidFill>
                <a:latin typeface="Times New Roman" panose="02020603050405020304" charset="0"/>
                <a:ea typeface="楷体" panose="02010609060101010101" charset="-122"/>
                <a:cs typeface="Times New Roman" panose="02020603050405020304" charset="0"/>
              </a:rPr>
              <a:t>施密特触发器</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 name="Rectangle 3"/>
          <p:cNvSpPr>
            <a:spLocks noGrp="1"/>
          </p:cNvSpPr>
          <p:nvPr/>
        </p:nvSpPr>
        <p:spPr>
          <a:xfrm>
            <a:off x="685800" y="4876800"/>
            <a:ext cx="7976235" cy="13525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多谐振荡器、单稳态触发器和施密特触 发器都可以由</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algn="just" eaLnBrk="1" latinLnBrk="0" hangingPunct="1">
              <a:lnSpc>
                <a:spcPct val="120000"/>
              </a:lnSpc>
              <a:spcBef>
                <a:spcPts val="0"/>
              </a:spcBef>
              <a:buNone/>
            </a:pP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门电路和</a:t>
            </a:r>
            <a:r>
              <a:rPr lang="en-US" altLang="zh-CN" sz="2400" b="1" kern="1200" dirty="0">
                <a:solidFill>
                  <a:srgbClr val="FF0000"/>
                </a:solidFill>
                <a:latin typeface="Times New Roman" panose="02020603050405020304" charset="0"/>
                <a:ea typeface="楷体" panose="02010609060101010101" charset="-122"/>
                <a:cs typeface="Times New Roman" panose="02020603050405020304" charset="0"/>
              </a:rPr>
              <a:t>555</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定时器</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构成</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000" fill="hold">
                                          <p:stCondLst>
                                            <p:cond delay="0"/>
                                          </p:stCondLst>
                                        </p:cTn>
                                        <p:tgtEl>
                                          <p:spTgt spid="6">
                                            <p:txEl>
                                              <p:pRg st="0" end="0"/>
                                            </p:txEl>
                                          </p:spTgt>
                                        </p:tgtEl>
                                        <p:attrNameLst>
                                          <p:attrName>style.visibility</p:attrName>
                                        </p:attrNameLst>
                                      </p:cBhvr>
                                      <p:to>
                                        <p:strVal val="visible"/>
                                      </p:to>
                                    </p:set>
                                    <p:animEffect transition="in" filter="circle(in)">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000" fill="hold">
                                          <p:stCondLst>
                                            <p:cond delay="0"/>
                                          </p:stCondLst>
                                        </p:cTn>
                                        <p:tgtEl>
                                          <p:spTgt spid="6">
                                            <p:txEl>
                                              <p:pRg st="1" end="1"/>
                                            </p:txEl>
                                          </p:spTgt>
                                        </p:tgtEl>
                                        <p:attrNameLst>
                                          <p:attrName>style.visibility</p:attrName>
                                        </p:attrNameLst>
                                      </p:cBhvr>
                                      <p:to>
                                        <p:strVal val="visible"/>
                                      </p:to>
                                    </p:set>
                                    <p:animEffect transition="in" filter="circle(in)">
                                      <p:cBhvr>
                                        <p:cTn id="12" dur="1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000" fill="hold">
                                          <p:stCondLst>
                                            <p:cond delay="0"/>
                                          </p:stCondLst>
                                        </p:cTn>
                                        <p:tgtEl>
                                          <p:spTgt spid="6">
                                            <p:txEl>
                                              <p:pRg st="2" end="2"/>
                                            </p:txEl>
                                          </p:spTgt>
                                        </p:tgtEl>
                                        <p:attrNameLst>
                                          <p:attrName>style.visibility</p:attrName>
                                        </p:attrNameLst>
                                      </p:cBhvr>
                                      <p:to>
                                        <p:strVal val="visible"/>
                                      </p:to>
                                    </p:set>
                                    <p:animEffect transition="in" filter="circle(in)">
                                      <p:cBhvr>
                                        <p:cTn id="17" dur="1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000" fill="hold">
                                          <p:stCondLst>
                                            <p:cond delay="0"/>
                                          </p:stCondLst>
                                        </p:cTn>
                                        <p:tgtEl>
                                          <p:spTgt spid="6">
                                            <p:txEl>
                                              <p:pRg st="3" end="3"/>
                                            </p:txEl>
                                          </p:spTgt>
                                        </p:tgtEl>
                                        <p:attrNameLst>
                                          <p:attrName>style.visibility</p:attrName>
                                        </p:attrNameLst>
                                      </p:cBhvr>
                                      <p:to>
                                        <p:strVal val="visible"/>
                                      </p:to>
                                    </p:set>
                                    <p:animEffect transition="in" filter="circle(in)">
                                      <p:cBhvr>
                                        <p:cTn id="22" dur="1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000" fill="hold">
                                          <p:stCondLst>
                                            <p:cond delay="0"/>
                                          </p:stCondLst>
                                        </p:cTn>
                                        <p:tgtEl>
                                          <p:spTgt spid="9">
                                            <p:txEl>
                                              <p:pRg st="0" end="0"/>
                                            </p:txEl>
                                          </p:spTgt>
                                        </p:tgtEl>
                                        <p:attrNameLst>
                                          <p:attrName>style.visibility</p:attrName>
                                        </p:attrNameLst>
                                      </p:cBhvr>
                                      <p:to>
                                        <p:strVal val="visible"/>
                                      </p:to>
                                    </p:set>
                                    <p:animEffect transition="in" filter="circle(in)">
                                      <p:cBhvr>
                                        <p:cTn id="27" dur="10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000" fill="hold">
                                          <p:stCondLst>
                                            <p:cond delay="0"/>
                                          </p:stCondLst>
                                        </p:cTn>
                                        <p:tgtEl>
                                          <p:spTgt spid="9">
                                            <p:txEl>
                                              <p:pRg st="1" end="1"/>
                                            </p:txEl>
                                          </p:spTgt>
                                        </p:tgtEl>
                                        <p:attrNameLst>
                                          <p:attrName>style.visibility</p:attrName>
                                        </p:attrNameLst>
                                      </p:cBhvr>
                                      <p:to>
                                        <p:strVal val="visible"/>
                                      </p:to>
                                    </p:set>
                                    <p:animEffect transition="in" filter="circle(in)">
                                      <p:cBhvr>
                                        <p:cTn id="32" dur="1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7.1.1 </a:t>
            </a:r>
            <a:r>
              <a:rPr lang="zh-CN" altLang="en-US" sz="2800" i="0" dirty="0">
                <a:solidFill>
                  <a:srgbClr val="0070C0"/>
                </a:solidFill>
                <a:latin typeface="黑体" panose="02010609060101010101" pitchFamily="49" charset="-122"/>
                <a:ea typeface="黑体" panose="02010609060101010101" pitchFamily="49" charset="-122"/>
              </a:rPr>
              <a:t>脉冲波形的产生电路与整形电路的</a:t>
            </a:r>
            <a:r>
              <a:rPr lang="zh-CN" altLang="en-US" sz="2800" i="0" dirty="0">
                <a:solidFill>
                  <a:srgbClr val="0070C0"/>
                </a:solidFill>
                <a:latin typeface="黑体" panose="02010609060101010101" pitchFamily="49" charset="-122"/>
                <a:ea typeface="黑体" panose="02010609060101010101" pitchFamily="49" charset="-122"/>
              </a:rPr>
              <a:t>特点</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3260" y="1752600"/>
            <a:ext cx="8003540" cy="138620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脉冲产生电路能够直接产生矩形脉冲或方波，它主要由</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开关器件</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和</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延时环节</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组成。</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4" name="Rectangle 3"/>
          <p:cNvSpPr>
            <a:spLocks noGrp="1"/>
          </p:cNvSpPr>
          <p:nvPr/>
        </p:nvSpPr>
        <p:spPr>
          <a:xfrm>
            <a:off x="648335" y="4572000"/>
            <a:ext cx="8077835" cy="11125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sz="2400" b="1" kern="1200" dirty="0">
                <a:solidFill>
                  <a:srgbClr val="000066"/>
                </a:solidFill>
                <a:latin typeface="Times New Roman" panose="02020603050405020304" charset="0"/>
                <a:ea typeface="楷体" panose="02010609060101010101" charset="-122"/>
                <a:cs typeface="Times New Roman" panose="02020603050405020304" charset="0"/>
              </a:rPr>
              <a:t>典型 的矩形脉冲产生电路有双稳态触发电路、 单稳态触发电路和多谐振荡电路</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圆角矩形标注 5"/>
          <p:cNvSpPr/>
          <p:nvPr/>
        </p:nvSpPr>
        <p:spPr>
          <a:xfrm>
            <a:off x="1066800" y="3200400"/>
            <a:ext cx="2536825" cy="760730"/>
          </a:xfrm>
          <a:prstGeom prst="wedgeRoundRectCallout">
            <a:avLst>
              <a:gd name="adj1" fmla="val -34201"/>
              <a:gd name="adj2" fmla="val -114761"/>
              <a:gd name="adj3" fmla="val 16667"/>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gradFill>
                  <a:gsLst>
                    <a:gs pos="0">
                      <a:srgbClr val="012D86"/>
                    </a:gs>
                    <a:gs pos="100000">
                      <a:srgbClr val="0E2557"/>
                    </a:gs>
                  </a:gsLst>
                  <a:lin scaled="0"/>
                </a:gradFill>
                <a:latin typeface="Times New Roman" panose="02020603050405020304" charset="0"/>
                <a:ea typeface="楷体" panose="02010609060101010101" charset="-122"/>
              </a:rPr>
              <a:t>使电路在不同状态之间转换</a:t>
            </a:r>
            <a:endParaRPr lang="zh-CN" altLang="en-US" sz="2400" b="1">
              <a:gradFill>
                <a:gsLst>
                  <a:gs pos="0">
                    <a:srgbClr val="012D86"/>
                  </a:gs>
                  <a:gs pos="100000">
                    <a:srgbClr val="0E2557"/>
                  </a:gs>
                </a:gsLst>
                <a:lin scaled="0"/>
              </a:gradFill>
              <a:latin typeface="Times New Roman" panose="02020603050405020304" charset="0"/>
              <a:ea typeface="楷体" panose="02010609060101010101" charset="-122"/>
            </a:endParaRPr>
          </a:p>
        </p:txBody>
      </p:sp>
      <p:sp>
        <p:nvSpPr>
          <p:cNvPr id="7" name="圆角矩形标注 6"/>
          <p:cNvSpPr/>
          <p:nvPr/>
        </p:nvSpPr>
        <p:spPr>
          <a:xfrm>
            <a:off x="4114800" y="3200400"/>
            <a:ext cx="2536825" cy="760730"/>
          </a:xfrm>
          <a:prstGeom prst="wedgeRoundRectCallout">
            <a:avLst>
              <a:gd name="adj1" fmla="val -86270"/>
              <a:gd name="adj2" fmla="val -123956"/>
              <a:gd name="adj3" fmla="val 16667"/>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gradFill>
                  <a:gsLst>
                    <a:gs pos="0">
                      <a:srgbClr val="012D86"/>
                    </a:gs>
                    <a:gs pos="100000">
                      <a:srgbClr val="0E2557"/>
                    </a:gs>
                  </a:gsLst>
                  <a:lin scaled="0"/>
                </a:gradFill>
                <a:latin typeface="Times New Roman" panose="02020603050405020304" charset="0"/>
                <a:ea typeface="楷体" panose="02010609060101010101" charset="-122"/>
              </a:rPr>
              <a:t>决定了状态持续的时间</a:t>
            </a:r>
            <a:endParaRPr lang="zh-CN" altLang="en-US" sz="2400" b="1">
              <a:gradFill>
                <a:gsLst>
                  <a:gs pos="0">
                    <a:srgbClr val="012D86"/>
                  </a:gs>
                  <a:gs pos="100000">
                    <a:srgbClr val="0E2557"/>
                  </a:gs>
                </a:gsLst>
                <a:lin scaled="0"/>
              </a:gra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linds(horizontal)">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P spid="6" grpId="0" animBg="1"/>
      <p:bldP spid="6" grpId="1" animBg="1"/>
      <p:bldP spid="7" grpId="0" bldLvl="0" animBg="1"/>
      <p:bldP spid="7" grpId="1" animBg="1"/>
      <p:bldP spid="4" grpId="0"/>
      <p:bldP spid="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1527175" y="1295400"/>
            <a:ext cx="7480300" cy="138620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双稳态触发电路</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具有两个稳定状态，其状态的转换需要在外加触发脉冲的作用下才能进行</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4" name="Rectangle 3"/>
          <p:cNvSpPr>
            <a:spLocks noGrp="1"/>
          </p:cNvSpPr>
          <p:nvPr/>
        </p:nvSpPr>
        <p:spPr>
          <a:xfrm>
            <a:off x="1276985" y="2139315"/>
            <a:ext cx="7710805" cy="20955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(2)</a:t>
            </a:r>
            <a:r>
              <a:rPr sz="2400" b="1" kern="1200" dirty="0">
                <a:solidFill>
                  <a:srgbClr val="FF0000"/>
                </a:solidFill>
                <a:latin typeface="Times New Roman" panose="02020603050405020304" charset="0"/>
                <a:ea typeface="楷体" panose="02010609060101010101" charset="-122"/>
                <a:cs typeface="Times New Roman" panose="02020603050405020304" charset="0"/>
              </a:rPr>
              <a:t>单稳态触发电路</a:t>
            </a:r>
            <a:r>
              <a:rPr sz="2400" b="1" kern="1200" dirty="0">
                <a:solidFill>
                  <a:srgbClr val="000066"/>
                </a:solidFill>
                <a:latin typeface="Times New Roman" panose="02020603050405020304" charset="0"/>
                <a:ea typeface="楷体" panose="02010609060101010101" charset="-122"/>
                <a:cs typeface="Times New Roman" panose="02020603050405020304" charset="0"/>
              </a:rPr>
              <a:t>只有一种稳定状态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另一种状态称为暂稳态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不能长久保持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当外加触发信号触发时</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电路便从稳定状态转换到暂稳态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经过一定的时间之后</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电路又会由暂 稳态重新回到稳态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8" name="Rectangle 3"/>
          <p:cNvSpPr>
            <a:spLocks noGrp="1"/>
          </p:cNvSpPr>
          <p:nvPr/>
        </p:nvSpPr>
        <p:spPr>
          <a:xfrm>
            <a:off x="1386205" y="3886200"/>
            <a:ext cx="7146290" cy="5340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    (3)</a:t>
            </a:r>
            <a:r>
              <a:rPr sz="2400" b="1" kern="1200" dirty="0">
                <a:solidFill>
                  <a:srgbClr val="FF0000"/>
                </a:solidFill>
                <a:latin typeface="Times New Roman" panose="02020603050405020304" charset="0"/>
                <a:ea typeface="楷体" panose="02010609060101010101" charset="-122"/>
                <a:cs typeface="Times New Roman" panose="02020603050405020304" charset="0"/>
              </a:rPr>
              <a:t>多谐振荡电路</a:t>
            </a:r>
            <a:r>
              <a:rPr sz="2400" b="1" kern="1200" dirty="0">
                <a:solidFill>
                  <a:srgbClr val="000066"/>
                </a:solidFill>
                <a:latin typeface="Times New Roman" panose="02020603050405020304" charset="0"/>
                <a:ea typeface="楷体" panose="02010609060101010101" charset="-122"/>
                <a:cs typeface="Times New Roman" panose="02020603050405020304" charset="0"/>
              </a:rPr>
              <a:t>能够自激产生脉冲波形</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它没有稳定状态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只有两个暂稳态</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矩形 5"/>
          <p:cNvSpPr/>
          <p:nvPr/>
        </p:nvSpPr>
        <p:spPr>
          <a:xfrm>
            <a:off x="516890" y="5257800"/>
            <a:ext cx="8077200" cy="1229995"/>
          </a:xfrm>
          <a:prstGeom prst="rect">
            <a:avLst/>
          </a:prstGeom>
          <a:noFill/>
          <a:ln w="9525">
            <a:noFill/>
          </a:ln>
        </p:spPr>
        <p:txBody>
          <a:bodyPr vert="horz" wrap="square" lIns="91440" tIns="45720" rIns="91440" bIns="45720" rtlCol="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lvl="0" algn="just" eaLnBrk="1" hangingPunct="1">
              <a:lnSpc>
                <a:spcPct val="120000"/>
              </a:lnSpc>
              <a:spcBef>
                <a:spcPts val="0"/>
              </a:spcBef>
              <a:buSzTx/>
              <a:buNone/>
            </a:pP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sz="2400" b="1" dirty="0">
                <a:solidFill>
                  <a:srgbClr val="FF0000"/>
                </a:solidFill>
                <a:latin typeface="Times New Roman" panose="02020603050405020304" charset="0"/>
                <a:ea typeface="楷体" panose="02010609060101010101" charset="-122"/>
                <a:cs typeface="Times New Roman" panose="02020603050405020304" charset="0"/>
                <a:sym typeface="+mn-ea"/>
              </a:rPr>
              <a:t>施密特触发器</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就是常用的整形电路</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它能把变化非常缓慢的输入波形整形成数字</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电路所需要的矩形脉冲</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17" name="Rectangle 3"/>
          <p:cNvSpPr>
            <a:spLocks noGrp="1"/>
          </p:cNvSpPr>
          <p:nvPr/>
        </p:nvSpPr>
        <p:spPr>
          <a:xfrm>
            <a:off x="228600" y="4800600"/>
            <a:ext cx="8003540" cy="6318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chemeClr val="accent6">
                    <a:lumMod val="40000"/>
                    <a:lumOff val="60000"/>
                  </a:schemeClr>
                </a:solidFill>
                <a:latin typeface="Times New Roman" panose="02020603050405020304" charset="0"/>
                <a:ea typeface="楷体" panose="02010609060101010101" charset="-122"/>
                <a:cs typeface="Times New Roman" panose="02020603050405020304" charset="0"/>
              </a:rPr>
              <a:t>脉冲整形电路</a:t>
            </a:r>
            <a:endParaRPr lang="zh-CN" altLang="en-US" sz="2400" b="1" kern="1200" dirty="0">
              <a:solidFill>
                <a:schemeClr val="accent6">
                  <a:lumMod val="40000"/>
                  <a:lumOff val="60000"/>
                </a:schemeClr>
              </a:solidFill>
              <a:latin typeface="Times New Roman" panose="02020603050405020304" charset="0"/>
              <a:ea typeface="楷体" panose="02010609060101010101" charset="-122"/>
              <a:cs typeface="Times New Roman" panose="02020603050405020304" charset="0"/>
            </a:endParaRPr>
          </a:p>
        </p:txBody>
      </p:sp>
      <p:grpSp>
        <p:nvGrpSpPr>
          <p:cNvPr id="19" name="组合 18"/>
          <p:cNvGrpSpPr/>
          <p:nvPr/>
        </p:nvGrpSpPr>
        <p:grpSpPr>
          <a:xfrm>
            <a:off x="422275" y="1676400"/>
            <a:ext cx="796925" cy="2945130"/>
            <a:chOff x="-55" y="2549"/>
            <a:chExt cx="1255" cy="4638"/>
          </a:xfrm>
        </p:grpSpPr>
        <p:sp>
          <p:nvSpPr>
            <p:cNvPr id="7" name="文本框 6"/>
            <p:cNvSpPr txBox="1"/>
            <p:nvPr/>
          </p:nvSpPr>
          <p:spPr>
            <a:xfrm>
              <a:off x="-55" y="3140"/>
              <a:ext cx="869" cy="3456"/>
            </a:xfrm>
            <a:prstGeom prst="rect">
              <a:avLst/>
            </a:prstGeom>
            <a:noFill/>
          </p:spPr>
          <p:txBody>
            <a:bodyPr vert="eaVert" wrap="square" rtlCol="0">
              <a:spAutoFit/>
            </a:bodyPr>
            <a:p>
              <a:r>
                <a:rPr lang="zh-CN" altLang="en-US" sz="2400" b="1">
                  <a:solidFill>
                    <a:schemeClr val="accent6">
                      <a:lumMod val="40000"/>
                      <a:lumOff val="60000"/>
                    </a:schemeClr>
                  </a:solidFill>
                  <a:latin typeface="Times New Roman" panose="02020603050405020304" charset="0"/>
                  <a:ea typeface="楷体" panose="02010609060101010101" charset="-122"/>
                </a:rPr>
                <a:t>脉冲产生电路</a:t>
              </a:r>
              <a:endParaRPr lang="zh-CN" altLang="en-US" sz="2400" b="1">
                <a:solidFill>
                  <a:schemeClr val="accent6">
                    <a:lumMod val="40000"/>
                    <a:lumOff val="60000"/>
                  </a:schemeClr>
                </a:solidFill>
                <a:latin typeface="Times New Roman" panose="02020603050405020304" charset="0"/>
                <a:ea typeface="楷体" panose="02010609060101010101" charset="-122"/>
              </a:endParaRPr>
            </a:p>
          </p:txBody>
        </p:sp>
        <p:sp>
          <p:nvSpPr>
            <p:cNvPr id="18" name="左大括号 17"/>
            <p:cNvSpPr/>
            <p:nvPr/>
          </p:nvSpPr>
          <p:spPr>
            <a:xfrm>
              <a:off x="600" y="2549"/>
              <a:ext cx="600" cy="4639"/>
            </a:xfrm>
            <a:prstGeom prst="leftBrace">
              <a:avLst>
                <a:gd name="adj1" fmla="val 8333"/>
                <a:gd name="adj2" fmla="val 50614"/>
              </a:avLst>
            </a:prstGeom>
            <a:ln w="28575" cmpd="sng">
              <a:solidFill>
                <a:srgbClr val="1318F3"/>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2">
                    <a:lumMod val="60000"/>
                    <a:lumOff val="40000"/>
                  </a:schemeClr>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147">
                                            <p:txEl>
                                              <p:pRg st="0" end="0"/>
                                            </p:txEl>
                                          </p:spTgt>
                                        </p:tgtEl>
                                        <p:attrNameLst>
                                          <p:attrName>style.visibility</p:attrName>
                                        </p:attrNameLst>
                                      </p:cBhvr>
                                      <p:to>
                                        <p:strVal val="visible"/>
                                      </p:to>
                                    </p:set>
                                    <p:animEffect transition="in" filter="blinds(horizontal)">
                                      <p:cBhvr>
                                        <p:cTn id="11" dur="500"/>
                                        <p:tgtEl>
                                          <p:spTgt spid="614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9" presetClass="entr" presetSubtype="0" decel="10000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 calcmode="lin" valueType="num">
                                      <p:cBhvr>
                                        <p:cTn id="24" dur="500" fill="hold"/>
                                        <p:tgtEl>
                                          <p:spTgt spid="8"/>
                                        </p:tgtEl>
                                        <p:attrNameLst>
                                          <p:attrName>style.rotation</p:attrName>
                                        </p:attrNameLst>
                                      </p:cBhvr>
                                      <p:tavLst>
                                        <p:tav tm="0">
                                          <p:val>
                                            <p:fltVal val="360"/>
                                          </p:val>
                                        </p:tav>
                                        <p:tav tm="100000">
                                          <p:val>
                                            <p:fltVal val="0"/>
                                          </p:val>
                                        </p:tav>
                                      </p:tavLst>
                                    </p:anim>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blinds(horizontal)">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6147" grpId="0" build="p"/>
      <p:bldP spid="6147" grpId="1" build="p"/>
      <p:bldP spid="17" grpId="0"/>
      <p:bldP spid="17" grpId="1"/>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381000" y="1600200"/>
            <a:ext cx="8003540" cy="61023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脉冲电路的工作过程通常采用暂态法进行分析</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897890" y="10668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7.1.2 </a:t>
            </a:r>
            <a:r>
              <a:rPr lang="zh-CN" altLang="en-US" sz="2800" i="0" dirty="0">
                <a:solidFill>
                  <a:srgbClr val="0070C0"/>
                </a:solidFill>
                <a:latin typeface="黑体" panose="02010609060101010101" pitchFamily="49" charset="-122"/>
                <a:ea typeface="黑体" panose="02010609060101010101" pitchFamily="49" charset="-122"/>
              </a:rPr>
              <a:t>电路基本分析方法</a:t>
            </a:r>
            <a:endParaRPr lang="zh-CN" altLang="en-US" sz="2800" i="0" dirty="0">
              <a:solidFill>
                <a:srgbClr val="0070C0"/>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609600" y="2461895"/>
            <a:ext cx="2609850" cy="2905125"/>
          </a:xfrm>
          <a:prstGeom prst="rect">
            <a:avLst/>
          </a:prstGeom>
        </p:spPr>
      </p:pic>
      <p:grpSp>
        <p:nvGrpSpPr>
          <p:cNvPr id="13" name="组合 12"/>
          <p:cNvGrpSpPr/>
          <p:nvPr/>
        </p:nvGrpSpPr>
        <p:grpSpPr>
          <a:xfrm>
            <a:off x="3219450" y="2197735"/>
            <a:ext cx="5747385" cy="829945"/>
            <a:chOff x="5070" y="3461"/>
            <a:chExt cx="9051" cy="1307"/>
          </a:xfrm>
        </p:grpSpPr>
        <p:sp>
          <p:nvSpPr>
            <p:cNvPr id="7" name="文本框 6"/>
            <p:cNvSpPr txBox="1"/>
            <p:nvPr/>
          </p:nvSpPr>
          <p:spPr>
            <a:xfrm>
              <a:off x="5070" y="3461"/>
              <a:ext cx="9051" cy="1307"/>
            </a:xfrm>
            <a:prstGeom prst="rect">
              <a:avLst/>
            </a:prstGeom>
            <a:noFill/>
          </p:spPr>
          <p:txBody>
            <a:bodyPr wrap="square" rtlCol="0" anchor="t">
              <a:spAutoFit/>
            </a:bodyPr>
            <a:p>
              <a:pPr>
                <a:buClrTx/>
                <a:buSzTx/>
                <a:buFontTx/>
              </a:pPr>
              <a:r>
                <a:rPr lang="zh-CN" altLang="en-US" sz="2400" b="1" dirty="0">
                  <a:solidFill>
                    <a:srgbClr val="000066"/>
                  </a:solidFill>
                  <a:latin typeface="Times New Roman" panose="02020603050405020304" charset="0"/>
                  <a:ea typeface="楷体" panose="02010609060101010101" charset="-122"/>
                </a:rPr>
                <a:t>①开关接通一瞬间，电容器上电压不能突变，根据换路定则有</a:t>
              </a:r>
              <a:endParaRPr lang="zh-CN" altLang="en-US" sz="2400" b="1" dirty="0">
                <a:solidFill>
                  <a:srgbClr val="000066"/>
                </a:solidFill>
                <a:latin typeface="Times New Roman" panose="02020603050405020304" charset="0"/>
                <a:ea typeface="楷体" panose="02010609060101010101" charset="-122"/>
              </a:endParaRPr>
            </a:p>
          </p:txBody>
        </p:sp>
        <p:graphicFrame>
          <p:nvGraphicFramePr>
            <p:cNvPr id="2" name="对象 38"/>
            <p:cNvGraphicFramePr>
              <a:graphicFrameLocks noChangeAspect="1"/>
            </p:cNvGraphicFramePr>
            <p:nvPr/>
          </p:nvGraphicFramePr>
          <p:xfrm>
            <a:off x="9720" y="4080"/>
            <a:ext cx="2892" cy="687"/>
          </p:xfrm>
          <a:graphic>
            <a:graphicData uri="http://schemas.openxmlformats.org/presentationml/2006/ole">
              <mc:AlternateContent xmlns:mc="http://schemas.openxmlformats.org/markup-compatibility/2006">
                <mc:Choice xmlns:v="urn:schemas-microsoft-com:vml" Requires="v">
                  <p:oleObj spid="_x0000_s3076" name="" r:id="rId2" imgW="1016000" imgH="241300" progId="Equation.KSEE3">
                    <p:embed/>
                  </p:oleObj>
                </mc:Choice>
                <mc:Fallback>
                  <p:oleObj name="" r:id="rId2" imgW="1016000" imgH="241300" progId="Equation.KSEE3">
                    <p:embed/>
                    <p:pic>
                      <p:nvPicPr>
                        <p:cNvPr id="0" name="图片 3075"/>
                        <p:cNvPicPr/>
                        <p:nvPr/>
                      </p:nvPicPr>
                      <p:blipFill>
                        <a:blip r:embed="rId3"/>
                        <a:stretch>
                          <a:fillRect/>
                        </a:stretch>
                      </p:blipFill>
                      <p:spPr>
                        <a:xfrm>
                          <a:off x="9720" y="4080"/>
                          <a:ext cx="2892" cy="687"/>
                        </a:xfrm>
                        <a:prstGeom prst="rect">
                          <a:avLst/>
                        </a:prstGeom>
                        <a:noFill/>
                        <a:ln w="38100">
                          <a:noFill/>
                          <a:miter/>
                        </a:ln>
                      </p:spPr>
                    </p:pic>
                  </p:oleObj>
                </mc:Fallback>
              </mc:AlternateContent>
            </a:graphicData>
          </a:graphic>
        </p:graphicFrame>
      </p:grpSp>
      <p:sp>
        <p:nvSpPr>
          <p:cNvPr id="9" name="文本框 8"/>
          <p:cNvSpPr txBox="1"/>
          <p:nvPr/>
        </p:nvSpPr>
        <p:spPr>
          <a:xfrm>
            <a:off x="3219450" y="4267200"/>
            <a:ext cx="5795010" cy="1198880"/>
          </a:xfrm>
          <a:prstGeom prst="rect">
            <a:avLst/>
          </a:prstGeom>
          <a:noFill/>
        </p:spPr>
        <p:txBody>
          <a:bodyPr wrap="square" rtlCol="0" anchor="t">
            <a:spAutoFit/>
          </a:bodyPr>
          <a:p>
            <a:pPr>
              <a:buClrTx/>
              <a:buSzTx/>
              <a:buFontTx/>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③</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电路的时间常数</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RC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决定了暂态时间的大小。根据三要素公式，可以得到电压</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或电流</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随时间变化的方程为：</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grpSp>
        <p:nvGrpSpPr>
          <p:cNvPr id="12" name="组合 11"/>
          <p:cNvGrpSpPr/>
          <p:nvPr/>
        </p:nvGrpSpPr>
        <p:grpSpPr>
          <a:xfrm>
            <a:off x="3219450" y="3200400"/>
            <a:ext cx="5681980" cy="840740"/>
            <a:chOff x="4920" y="5040"/>
            <a:chExt cx="8948" cy="1324"/>
          </a:xfrm>
        </p:grpSpPr>
        <p:sp>
          <p:nvSpPr>
            <p:cNvPr id="100" name="文本框 99"/>
            <p:cNvSpPr txBox="1"/>
            <p:nvPr/>
          </p:nvSpPr>
          <p:spPr>
            <a:xfrm>
              <a:off x="4920" y="5040"/>
              <a:ext cx="8949" cy="725"/>
            </a:xfrm>
            <a:prstGeom prst="rect">
              <a:avLst/>
            </a:prstGeom>
            <a:noFill/>
          </p:spPr>
          <p:txBody>
            <a:bodyPr wrap="square" rtlCol="0" anchor="t">
              <a:spAutoFit/>
            </a:bodyPr>
            <a:p>
              <a:pPr>
                <a:buClrTx/>
                <a:buSzTx/>
                <a:buFontTx/>
              </a:pPr>
              <a:r>
                <a:rPr lang="zh-CN" altLang="en-US" sz="2400" b="1" dirty="0">
                  <a:solidFill>
                    <a:srgbClr val="000066"/>
                  </a:solidFill>
                  <a:latin typeface="Times New Roman" panose="02020603050405020304" charset="0"/>
                  <a:ea typeface="楷体" panose="02010609060101010101" charset="-122"/>
                  <a:sym typeface="+mn-ea"/>
                </a:rPr>
                <a:t>②暂态过程结束后，流过电容器的电流</a:t>
              </a:r>
              <a:endParaRPr lang="zh-CN" altLang="en-US" sz="2400" b="1" dirty="0">
                <a:solidFill>
                  <a:srgbClr val="000066"/>
                </a:solidFill>
                <a:latin typeface="Times New Roman" panose="02020603050405020304" charset="0"/>
                <a:ea typeface="楷体" panose="02010609060101010101" charset="-122"/>
                <a:sym typeface="+mn-ea"/>
              </a:endParaRPr>
            </a:p>
          </p:txBody>
        </p:sp>
        <p:sp>
          <p:nvSpPr>
            <p:cNvPr id="101" name="文本框 100"/>
            <p:cNvSpPr txBox="1"/>
            <p:nvPr/>
          </p:nvSpPr>
          <p:spPr>
            <a:xfrm>
              <a:off x="6840" y="5640"/>
              <a:ext cx="6779" cy="725"/>
            </a:xfrm>
            <a:prstGeom prst="rect">
              <a:avLst/>
            </a:prstGeom>
            <a:noFill/>
          </p:spPr>
          <p:txBody>
            <a:bodyPr wrap="square" rtlCol="0" anchor="t">
              <a:spAutoFit/>
            </a:bodyPr>
            <a:p>
              <a:pPr>
                <a:buClrTx/>
                <a:buSzTx/>
                <a:buFontTx/>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为</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，即电容器相当于开路。</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graphicFrame>
          <p:nvGraphicFramePr>
            <p:cNvPr id="3" name="对象 -2147481990"/>
            <p:cNvGraphicFramePr>
              <a:graphicFrameLocks noChangeAspect="1"/>
            </p:cNvGraphicFramePr>
            <p:nvPr/>
          </p:nvGraphicFramePr>
          <p:xfrm>
            <a:off x="5520" y="5599"/>
            <a:ext cx="1134" cy="756"/>
          </p:xfrm>
          <a:graphic>
            <a:graphicData uri="http://schemas.openxmlformats.org/presentationml/2006/ole">
              <mc:AlternateContent xmlns:mc="http://schemas.openxmlformats.org/markup-compatibility/2006">
                <mc:Choice xmlns:v="urn:schemas-microsoft-com:vml" Requires="v">
                  <p:oleObj spid="_x0000_s11" name="" r:id="rId4" imgW="342900" imgH="228600" progId="Equation.KSEE3">
                    <p:embed/>
                  </p:oleObj>
                </mc:Choice>
                <mc:Fallback>
                  <p:oleObj name="" r:id="rId4" imgW="342900" imgH="228600" progId="Equation.KSEE3">
                    <p:embed/>
                    <p:pic>
                      <p:nvPicPr>
                        <p:cNvPr id="0" name="图片 10"/>
                        <p:cNvPicPr/>
                        <p:nvPr/>
                      </p:nvPicPr>
                      <p:blipFill>
                        <a:blip r:embed="rId5"/>
                        <a:stretch>
                          <a:fillRect/>
                        </a:stretch>
                      </p:blipFill>
                      <p:spPr>
                        <a:xfrm>
                          <a:off x="5520" y="5599"/>
                          <a:ext cx="1134" cy="756"/>
                        </a:xfrm>
                        <a:prstGeom prst="rect">
                          <a:avLst/>
                        </a:prstGeom>
                        <a:noFill/>
                        <a:ln w="38100">
                          <a:noFill/>
                          <a:miter/>
                        </a:ln>
                      </p:spPr>
                    </p:pic>
                  </p:oleObj>
                </mc:Fallback>
              </mc:AlternateContent>
            </a:graphicData>
          </a:graphic>
        </p:graphicFrame>
      </p:grpSp>
      <p:graphicFrame>
        <p:nvGraphicFramePr>
          <p:cNvPr id="5" name="对象 49"/>
          <p:cNvGraphicFramePr>
            <a:graphicFrameLocks noChangeAspect="1"/>
          </p:cNvGraphicFramePr>
          <p:nvPr/>
        </p:nvGraphicFramePr>
        <p:xfrm>
          <a:off x="2411730" y="5618480"/>
          <a:ext cx="4286885" cy="638175"/>
        </p:xfrm>
        <a:graphic>
          <a:graphicData uri="http://schemas.openxmlformats.org/presentationml/2006/ole">
            <mc:AlternateContent xmlns:mc="http://schemas.openxmlformats.org/markup-compatibility/2006">
              <mc:Choice xmlns:v="urn:schemas-microsoft-com:vml" Requires="v">
                <p:oleObj spid="_x0000_s14" name="" r:id="rId6" imgW="1917065" imgH="330200" progId="Equation.KSEE3">
                  <p:embed/>
                </p:oleObj>
              </mc:Choice>
              <mc:Fallback>
                <p:oleObj name="" r:id="rId6" imgW="1917065" imgH="330200" progId="Equation.KSEE3">
                  <p:embed/>
                  <p:pic>
                    <p:nvPicPr>
                      <p:cNvPr id="0" name="图片 13"/>
                      <p:cNvPicPr/>
                      <p:nvPr/>
                    </p:nvPicPr>
                    <p:blipFill>
                      <a:blip r:embed="rId7"/>
                      <a:stretch>
                        <a:fillRect/>
                      </a:stretch>
                    </p:blipFill>
                    <p:spPr>
                      <a:xfrm>
                        <a:off x="2411730" y="5618480"/>
                        <a:ext cx="4286885" cy="6381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P spid="9" grpId="0"/>
      <p:bldP spid="9"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4035" y="1447800"/>
            <a:ext cx="8373110" cy="94805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如果</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是</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和</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之间的某一转换值，那么从暂态过程的起始值</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变到</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所经历的时间可表示</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为</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2" name="对象 -2147482044"/>
          <p:cNvGraphicFramePr>
            <a:graphicFrameLocks noChangeAspect="1"/>
          </p:cNvGraphicFramePr>
          <p:nvPr/>
        </p:nvGraphicFramePr>
        <p:xfrm>
          <a:off x="1752600" y="1548765"/>
          <a:ext cx="1137920" cy="353060"/>
        </p:xfrm>
        <a:graphic>
          <a:graphicData uri="http://schemas.openxmlformats.org/presentationml/2006/ole">
            <mc:AlternateContent xmlns:mc="http://schemas.openxmlformats.org/markup-compatibility/2006">
              <mc:Choice xmlns:v="urn:schemas-microsoft-com:vml" Requires="v">
                <p:oleObj spid="_x0000_s3076" name="" r:id="rId1" imgW="736600" imgH="228600" progId="Equation.KSEE3">
                  <p:embed/>
                </p:oleObj>
              </mc:Choice>
              <mc:Fallback>
                <p:oleObj name="" r:id="rId1" imgW="736600" imgH="228600" progId="Equation.KSEE3">
                  <p:embed/>
                  <p:pic>
                    <p:nvPicPr>
                      <p:cNvPr id="0" name="图片 3075"/>
                      <p:cNvPicPr/>
                      <p:nvPr/>
                    </p:nvPicPr>
                    <p:blipFill>
                      <a:blip r:embed="rId2"/>
                      <a:stretch>
                        <a:fillRect/>
                      </a:stretch>
                    </p:blipFill>
                    <p:spPr>
                      <a:xfrm>
                        <a:off x="1752600" y="1548765"/>
                        <a:ext cx="1137920" cy="353060"/>
                      </a:xfrm>
                      <a:prstGeom prst="rect">
                        <a:avLst/>
                      </a:prstGeom>
                      <a:noFill/>
                      <a:ln w="38100">
                        <a:noFill/>
                        <a:miter/>
                      </a:ln>
                    </p:spPr>
                  </p:pic>
                </p:oleObj>
              </mc:Fallback>
            </mc:AlternateContent>
          </a:graphicData>
        </a:graphic>
      </p:graphicFrame>
      <p:graphicFrame>
        <p:nvGraphicFramePr>
          <p:cNvPr id="3" name="对象 -2147482043"/>
          <p:cNvGraphicFramePr>
            <a:graphicFrameLocks noChangeAspect="1"/>
          </p:cNvGraphicFramePr>
          <p:nvPr/>
        </p:nvGraphicFramePr>
        <p:xfrm>
          <a:off x="3237230" y="1548765"/>
          <a:ext cx="728345" cy="354965"/>
        </p:xfrm>
        <a:graphic>
          <a:graphicData uri="http://schemas.openxmlformats.org/presentationml/2006/ole">
            <mc:AlternateContent xmlns:mc="http://schemas.openxmlformats.org/markup-compatibility/2006">
              <mc:Choice xmlns:v="urn:schemas-microsoft-com:vml" Requires="v">
                <p:oleObj spid="_x0000_s5" name="" r:id="rId3" imgW="495300" imgH="241300" progId="Equation.KSEE3">
                  <p:embed/>
                </p:oleObj>
              </mc:Choice>
              <mc:Fallback>
                <p:oleObj name="" r:id="rId3" imgW="495300" imgH="241300" progId="Equation.KSEE3">
                  <p:embed/>
                  <p:pic>
                    <p:nvPicPr>
                      <p:cNvPr id="0" name="图片 4"/>
                      <p:cNvPicPr/>
                      <p:nvPr/>
                    </p:nvPicPr>
                    <p:blipFill>
                      <a:blip r:embed="rId4"/>
                      <a:stretch>
                        <a:fillRect/>
                      </a:stretch>
                    </p:blipFill>
                    <p:spPr>
                      <a:xfrm>
                        <a:off x="3237230" y="1548765"/>
                        <a:ext cx="728345" cy="354965"/>
                      </a:xfrm>
                      <a:prstGeom prst="rect">
                        <a:avLst/>
                      </a:prstGeom>
                      <a:noFill/>
                      <a:ln w="38100">
                        <a:noFill/>
                        <a:miter/>
                      </a:ln>
                    </p:spPr>
                  </p:pic>
                </p:oleObj>
              </mc:Fallback>
            </mc:AlternateContent>
          </a:graphicData>
        </a:graphic>
      </p:graphicFrame>
      <p:graphicFrame>
        <p:nvGraphicFramePr>
          <p:cNvPr id="4" name="对象 -2147482042"/>
          <p:cNvGraphicFramePr>
            <a:graphicFrameLocks noChangeAspect="1"/>
          </p:cNvGraphicFramePr>
          <p:nvPr/>
        </p:nvGraphicFramePr>
        <p:xfrm>
          <a:off x="4318635" y="1558925"/>
          <a:ext cx="706120" cy="353060"/>
        </p:xfrm>
        <a:graphic>
          <a:graphicData uri="http://schemas.openxmlformats.org/presentationml/2006/ole">
            <mc:AlternateContent xmlns:mc="http://schemas.openxmlformats.org/markup-compatibility/2006">
              <mc:Choice xmlns:v="urn:schemas-microsoft-com:vml" Requires="v">
                <p:oleObj spid="_x0000_s6" name="" r:id="rId5" imgW="457200" imgH="228600" progId="Equation.KSEE3">
                  <p:embed/>
                </p:oleObj>
              </mc:Choice>
              <mc:Fallback>
                <p:oleObj name="" r:id="rId5" imgW="457200" imgH="228600" progId="Equation.KSEE3">
                  <p:embed/>
                  <p:pic>
                    <p:nvPicPr>
                      <p:cNvPr id="0" name="图片 5"/>
                      <p:cNvPicPr/>
                      <p:nvPr/>
                    </p:nvPicPr>
                    <p:blipFill>
                      <a:blip r:embed="rId6"/>
                      <a:stretch>
                        <a:fillRect/>
                      </a:stretch>
                    </p:blipFill>
                    <p:spPr>
                      <a:xfrm>
                        <a:off x="4318635" y="1558925"/>
                        <a:ext cx="706120" cy="353060"/>
                      </a:xfrm>
                      <a:prstGeom prst="rect">
                        <a:avLst/>
                      </a:prstGeom>
                      <a:noFill/>
                      <a:ln w="38100">
                        <a:noFill/>
                        <a:miter/>
                      </a:ln>
                    </p:spPr>
                  </p:pic>
                </p:oleObj>
              </mc:Fallback>
            </mc:AlternateContent>
          </a:graphicData>
        </a:graphic>
      </p:graphicFrame>
      <p:graphicFrame>
        <p:nvGraphicFramePr>
          <p:cNvPr id="7" name="对象 -2147482041"/>
          <p:cNvGraphicFramePr>
            <a:graphicFrameLocks noChangeAspect="1"/>
          </p:cNvGraphicFramePr>
          <p:nvPr/>
        </p:nvGraphicFramePr>
        <p:xfrm>
          <a:off x="3133725" y="1965325"/>
          <a:ext cx="624840" cy="352425"/>
        </p:xfrm>
        <a:graphic>
          <a:graphicData uri="http://schemas.openxmlformats.org/presentationml/2006/ole">
            <mc:AlternateContent xmlns:mc="http://schemas.openxmlformats.org/markup-compatibility/2006">
              <mc:Choice xmlns:v="urn:schemas-microsoft-com:vml" Requires="v">
                <p:oleObj spid="_x0000_s8" name="" r:id="rId7" imgW="405765" imgH="228600" progId="Equation.KSEE3">
                  <p:embed/>
                </p:oleObj>
              </mc:Choice>
              <mc:Fallback>
                <p:oleObj name="" r:id="rId7" imgW="405765" imgH="228600" progId="Equation.KSEE3">
                  <p:embed/>
                  <p:pic>
                    <p:nvPicPr>
                      <p:cNvPr id="0" name="图片 6"/>
                      <p:cNvPicPr/>
                      <p:nvPr/>
                    </p:nvPicPr>
                    <p:blipFill>
                      <a:blip r:embed="rId8"/>
                      <a:stretch>
                        <a:fillRect/>
                      </a:stretch>
                    </p:blipFill>
                    <p:spPr>
                      <a:xfrm>
                        <a:off x="3133725" y="1965325"/>
                        <a:ext cx="624840" cy="352425"/>
                      </a:xfrm>
                      <a:prstGeom prst="rect">
                        <a:avLst/>
                      </a:prstGeom>
                      <a:noFill/>
                      <a:ln w="38100">
                        <a:noFill/>
                        <a:miter/>
                      </a:ln>
                    </p:spPr>
                  </p:pic>
                </p:oleObj>
              </mc:Fallback>
            </mc:AlternateContent>
          </a:graphicData>
        </a:graphic>
      </p:graphicFrame>
      <p:graphicFrame>
        <p:nvGraphicFramePr>
          <p:cNvPr id="9" name="对象 -2147482040"/>
          <p:cNvGraphicFramePr>
            <a:graphicFrameLocks noChangeAspect="1"/>
          </p:cNvGraphicFramePr>
          <p:nvPr/>
        </p:nvGraphicFramePr>
        <p:xfrm>
          <a:off x="4495800" y="1967865"/>
          <a:ext cx="307975" cy="375920"/>
        </p:xfrm>
        <a:graphic>
          <a:graphicData uri="http://schemas.openxmlformats.org/presentationml/2006/ole">
            <mc:AlternateContent xmlns:mc="http://schemas.openxmlformats.org/markup-compatibility/2006">
              <mc:Choice xmlns:v="urn:schemas-microsoft-com:vml" Requires="v">
                <p:oleObj spid="_x0000_s16" name="" r:id="rId9" imgW="177165" imgH="215900" progId="Equation.KSEE3">
                  <p:embed/>
                </p:oleObj>
              </mc:Choice>
              <mc:Fallback>
                <p:oleObj name="" r:id="rId9" imgW="177165" imgH="215900" progId="Equation.KSEE3">
                  <p:embed/>
                  <p:pic>
                    <p:nvPicPr>
                      <p:cNvPr id="0" name="图片 15"/>
                      <p:cNvPicPr/>
                      <p:nvPr/>
                    </p:nvPicPr>
                    <p:blipFill>
                      <a:blip r:embed="rId10"/>
                      <a:stretch>
                        <a:fillRect/>
                      </a:stretch>
                    </p:blipFill>
                    <p:spPr>
                      <a:xfrm>
                        <a:off x="4495800" y="1967865"/>
                        <a:ext cx="307975" cy="375920"/>
                      </a:xfrm>
                      <a:prstGeom prst="rect">
                        <a:avLst/>
                      </a:prstGeom>
                      <a:noFill/>
                      <a:ln w="38100">
                        <a:noFill/>
                        <a:miter/>
                      </a:ln>
                    </p:spPr>
                  </p:pic>
                </p:oleObj>
              </mc:Fallback>
            </mc:AlternateContent>
          </a:graphicData>
        </a:graphic>
      </p:graphicFrame>
      <p:graphicFrame>
        <p:nvGraphicFramePr>
          <p:cNvPr id="10" name="对象 -2147482038"/>
          <p:cNvGraphicFramePr>
            <a:graphicFrameLocks noChangeAspect="1"/>
          </p:cNvGraphicFramePr>
          <p:nvPr/>
        </p:nvGraphicFramePr>
        <p:xfrm>
          <a:off x="2890520" y="2514600"/>
          <a:ext cx="3183890" cy="1039495"/>
        </p:xfrm>
        <a:graphic>
          <a:graphicData uri="http://schemas.openxmlformats.org/presentationml/2006/ole">
            <mc:AlternateContent xmlns:mc="http://schemas.openxmlformats.org/markup-compatibility/2006">
              <mc:Choice xmlns:v="urn:schemas-microsoft-com:vml" Requires="v">
                <p:oleObj spid="_x0000_s17" name="" r:id="rId11" imgW="1612900" imgH="457200" progId="Equation.KSEE3">
                  <p:embed/>
                </p:oleObj>
              </mc:Choice>
              <mc:Fallback>
                <p:oleObj name="" r:id="rId11" imgW="1612900" imgH="457200" progId="Equation.KSEE3">
                  <p:embed/>
                  <p:pic>
                    <p:nvPicPr>
                      <p:cNvPr id="0" name="图片 16"/>
                      <p:cNvPicPr/>
                      <p:nvPr/>
                    </p:nvPicPr>
                    <p:blipFill>
                      <a:blip r:embed="rId12"/>
                      <a:stretch>
                        <a:fillRect/>
                      </a:stretch>
                    </p:blipFill>
                    <p:spPr>
                      <a:xfrm>
                        <a:off x="2890520" y="2514600"/>
                        <a:ext cx="3183890" cy="1039495"/>
                      </a:xfrm>
                      <a:prstGeom prst="rect">
                        <a:avLst/>
                      </a:prstGeom>
                      <a:noFill/>
                      <a:ln w="38100">
                        <a:noFill/>
                        <a:miter/>
                      </a:ln>
                    </p:spPr>
                  </p:pic>
                </p:oleObj>
              </mc:Fallback>
            </mc:AlternateContent>
          </a:graphicData>
        </a:graphic>
      </p:graphicFrame>
      <p:sp>
        <p:nvSpPr>
          <p:cNvPr id="101" name="矩形 100"/>
          <p:cNvSpPr/>
          <p:nvPr/>
        </p:nvSpPr>
        <p:spPr>
          <a:xfrm>
            <a:off x="957580" y="3507105"/>
            <a:ext cx="7525385" cy="665480"/>
          </a:xfrm>
          <a:prstGeom prst="rect">
            <a:avLst/>
          </a:prstGeom>
          <a:noFill/>
          <a:ln w="9525">
            <a:noFill/>
          </a:ln>
        </p:spPr>
        <p:txBody>
          <a:bodyPr vert="horz" wrap="square" lIns="91440" tIns="45720" rIns="91440" bIns="45720" rtlCol="0" anchor="t" anchorCtr="0"/>
          <a:p>
            <a:pPr lvl="0" algn="just">
              <a:lnSpc>
                <a:spcPct val="120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电容器上</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的</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电压</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i="1" baseline="-25000" dirty="0">
                <a:solidFill>
                  <a:srgbClr val="000066"/>
                </a:solidFill>
                <a:latin typeface="Times New Roman" panose="02020603050405020304" charset="0"/>
                <a:ea typeface="楷体" panose="02010609060101010101" charset="-122"/>
                <a:cs typeface="Times New Roman" panose="02020603050405020304" charset="0"/>
                <a:sym typeface="+mn-ea"/>
              </a:rPr>
              <a:t>C</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随时间</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mn-ea"/>
              </a:rPr>
              <a:t>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的变化曲线如图</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7.2</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所示</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pic>
        <p:nvPicPr>
          <p:cNvPr id="18" name="图片 17"/>
          <p:cNvPicPr>
            <a:picLocks noChangeAspect="1"/>
          </p:cNvPicPr>
          <p:nvPr/>
        </p:nvPicPr>
        <p:blipFill>
          <a:blip r:embed="rId13"/>
          <a:stretch>
            <a:fillRect/>
          </a:stretch>
        </p:blipFill>
        <p:spPr>
          <a:xfrm>
            <a:off x="2769235" y="4038600"/>
            <a:ext cx="3305175" cy="2371725"/>
          </a:xfrm>
          <a:prstGeom prst="rect">
            <a:avLst/>
          </a:prstGeom>
        </p:spPr>
      </p:pic>
      <p:grpSp>
        <p:nvGrpSpPr>
          <p:cNvPr id="30" name="组合 29"/>
          <p:cNvGrpSpPr/>
          <p:nvPr/>
        </p:nvGrpSpPr>
        <p:grpSpPr>
          <a:xfrm>
            <a:off x="534035" y="1447800"/>
            <a:ext cx="8373110" cy="947420"/>
            <a:chOff x="841" y="2280"/>
            <a:chExt cx="13186" cy="1492"/>
          </a:xfrm>
        </p:grpSpPr>
        <p:sp>
          <p:nvSpPr>
            <p:cNvPr id="19" name="Rectangle 3"/>
            <p:cNvSpPr>
              <a:spLocks noGrp="1"/>
            </p:cNvSpPr>
            <p:nvPr/>
          </p:nvSpPr>
          <p:spPr>
            <a:xfrm>
              <a:off x="841" y="2280"/>
              <a:ext cx="13186" cy="149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如果</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是</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和</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之间的某一转换值，那么从暂态过程的起始值</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变到</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所经历的时间可表示</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为</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20" name="对象 -2147482044"/>
            <p:cNvGraphicFramePr>
              <a:graphicFrameLocks noChangeAspect="1"/>
            </p:cNvGraphicFramePr>
            <p:nvPr/>
          </p:nvGraphicFramePr>
          <p:xfrm>
            <a:off x="2760" y="2439"/>
            <a:ext cx="1792" cy="556"/>
          </p:xfrm>
          <a:graphic>
            <a:graphicData uri="http://schemas.openxmlformats.org/presentationml/2006/ole">
              <mc:AlternateContent xmlns:mc="http://schemas.openxmlformats.org/markup-compatibility/2006">
                <mc:Choice xmlns:v="urn:schemas-microsoft-com:vml" Requires="v">
                  <p:oleObj spid="_x0000_s21" name="" r:id="rId14" imgW="736600" imgH="228600" progId="Equation.KSEE3">
                    <p:embed/>
                  </p:oleObj>
                </mc:Choice>
                <mc:Fallback>
                  <p:oleObj name="" r:id="rId14" imgW="736600" imgH="228600" progId="Equation.KSEE3">
                    <p:embed/>
                    <p:pic>
                      <p:nvPicPr>
                        <p:cNvPr id="0" name="图片 3075"/>
                        <p:cNvPicPr/>
                        <p:nvPr/>
                      </p:nvPicPr>
                      <p:blipFill>
                        <a:blip r:embed="rId2"/>
                        <a:stretch>
                          <a:fillRect/>
                        </a:stretch>
                      </p:blipFill>
                      <p:spPr>
                        <a:xfrm>
                          <a:off x="2760" y="2439"/>
                          <a:ext cx="1792" cy="556"/>
                        </a:xfrm>
                        <a:prstGeom prst="rect">
                          <a:avLst/>
                        </a:prstGeom>
                        <a:noFill/>
                        <a:ln w="38100">
                          <a:noFill/>
                          <a:miter/>
                        </a:ln>
                      </p:spPr>
                    </p:pic>
                  </p:oleObj>
                </mc:Fallback>
              </mc:AlternateContent>
            </a:graphicData>
          </a:graphic>
        </p:graphicFrame>
        <p:graphicFrame>
          <p:nvGraphicFramePr>
            <p:cNvPr id="22" name="对象 -2147482043"/>
            <p:cNvGraphicFramePr>
              <a:graphicFrameLocks noChangeAspect="1"/>
            </p:cNvGraphicFramePr>
            <p:nvPr/>
          </p:nvGraphicFramePr>
          <p:xfrm>
            <a:off x="5098" y="2439"/>
            <a:ext cx="1147" cy="559"/>
          </p:xfrm>
          <a:graphic>
            <a:graphicData uri="http://schemas.openxmlformats.org/presentationml/2006/ole">
              <mc:AlternateContent xmlns:mc="http://schemas.openxmlformats.org/markup-compatibility/2006">
                <mc:Choice xmlns:v="urn:schemas-microsoft-com:vml" Requires="v">
                  <p:oleObj spid="_x0000_s23" name="" r:id="rId15" imgW="495300" imgH="241300" progId="Equation.KSEE3">
                    <p:embed/>
                  </p:oleObj>
                </mc:Choice>
                <mc:Fallback>
                  <p:oleObj name="" r:id="rId15" imgW="495300" imgH="241300" progId="Equation.KSEE3">
                    <p:embed/>
                    <p:pic>
                      <p:nvPicPr>
                        <p:cNvPr id="0" name="图片 4"/>
                        <p:cNvPicPr/>
                        <p:nvPr/>
                      </p:nvPicPr>
                      <p:blipFill>
                        <a:blip r:embed="rId4"/>
                        <a:stretch>
                          <a:fillRect/>
                        </a:stretch>
                      </p:blipFill>
                      <p:spPr>
                        <a:xfrm>
                          <a:off x="5098" y="2439"/>
                          <a:ext cx="1147" cy="559"/>
                        </a:xfrm>
                        <a:prstGeom prst="rect">
                          <a:avLst/>
                        </a:prstGeom>
                        <a:noFill/>
                        <a:ln w="38100">
                          <a:noFill/>
                          <a:miter/>
                        </a:ln>
                      </p:spPr>
                    </p:pic>
                  </p:oleObj>
                </mc:Fallback>
              </mc:AlternateContent>
            </a:graphicData>
          </a:graphic>
        </p:graphicFrame>
        <p:graphicFrame>
          <p:nvGraphicFramePr>
            <p:cNvPr id="24" name="对象 -2147482042"/>
            <p:cNvGraphicFramePr>
              <a:graphicFrameLocks noChangeAspect="1"/>
            </p:cNvGraphicFramePr>
            <p:nvPr/>
          </p:nvGraphicFramePr>
          <p:xfrm>
            <a:off x="6801" y="2455"/>
            <a:ext cx="1112" cy="556"/>
          </p:xfrm>
          <a:graphic>
            <a:graphicData uri="http://schemas.openxmlformats.org/presentationml/2006/ole">
              <mc:AlternateContent xmlns:mc="http://schemas.openxmlformats.org/markup-compatibility/2006">
                <mc:Choice xmlns:v="urn:schemas-microsoft-com:vml" Requires="v">
                  <p:oleObj spid="_x0000_s25" name="" r:id="rId16" imgW="457200" imgH="228600" progId="Equation.KSEE3">
                    <p:embed/>
                  </p:oleObj>
                </mc:Choice>
                <mc:Fallback>
                  <p:oleObj name="" r:id="rId16" imgW="457200" imgH="228600" progId="Equation.KSEE3">
                    <p:embed/>
                    <p:pic>
                      <p:nvPicPr>
                        <p:cNvPr id="0" name="图片 5"/>
                        <p:cNvPicPr/>
                        <p:nvPr/>
                      </p:nvPicPr>
                      <p:blipFill>
                        <a:blip r:embed="rId6"/>
                        <a:stretch>
                          <a:fillRect/>
                        </a:stretch>
                      </p:blipFill>
                      <p:spPr>
                        <a:xfrm>
                          <a:off x="6801" y="2455"/>
                          <a:ext cx="1112" cy="556"/>
                        </a:xfrm>
                        <a:prstGeom prst="rect">
                          <a:avLst/>
                        </a:prstGeom>
                        <a:noFill/>
                        <a:ln w="38100">
                          <a:noFill/>
                          <a:miter/>
                        </a:ln>
                      </p:spPr>
                    </p:pic>
                  </p:oleObj>
                </mc:Fallback>
              </mc:AlternateContent>
            </a:graphicData>
          </a:graphic>
        </p:graphicFrame>
        <p:graphicFrame>
          <p:nvGraphicFramePr>
            <p:cNvPr id="26" name="对象 -2147482041"/>
            <p:cNvGraphicFramePr>
              <a:graphicFrameLocks noChangeAspect="1"/>
            </p:cNvGraphicFramePr>
            <p:nvPr/>
          </p:nvGraphicFramePr>
          <p:xfrm>
            <a:off x="4935" y="3095"/>
            <a:ext cx="984" cy="555"/>
          </p:xfrm>
          <a:graphic>
            <a:graphicData uri="http://schemas.openxmlformats.org/presentationml/2006/ole">
              <mc:AlternateContent xmlns:mc="http://schemas.openxmlformats.org/markup-compatibility/2006">
                <mc:Choice xmlns:v="urn:schemas-microsoft-com:vml" Requires="v">
                  <p:oleObj spid="_x0000_s27" name="" r:id="rId17" imgW="405765" imgH="228600" progId="Equation.KSEE3">
                    <p:embed/>
                  </p:oleObj>
                </mc:Choice>
                <mc:Fallback>
                  <p:oleObj name="" r:id="rId17" imgW="405765" imgH="228600" progId="Equation.KSEE3">
                    <p:embed/>
                    <p:pic>
                      <p:nvPicPr>
                        <p:cNvPr id="0" name="图片 6"/>
                        <p:cNvPicPr/>
                        <p:nvPr/>
                      </p:nvPicPr>
                      <p:blipFill>
                        <a:blip r:embed="rId8"/>
                        <a:stretch>
                          <a:fillRect/>
                        </a:stretch>
                      </p:blipFill>
                      <p:spPr>
                        <a:xfrm>
                          <a:off x="4935" y="3095"/>
                          <a:ext cx="984" cy="555"/>
                        </a:xfrm>
                        <a:prstGeom prst="rect">
                          <a:avLst/>
                        </a:prstGeom>
                        <a:noFill/>
                        <a:ln w="38100">
                          <a:noFill/>
                          <a:miter/>
                        </a:ln>
                      </p:spPr>
                    </p:pic>
                  </p:oleObj>
                </mc:Fallback>
              </mc:AlternateContent>
            </a:graphicData>
          </a:graphic>
        </p:graphicFrame>
        <p:graphicFrame>
          <p:nvGraphicFramePr>
            <p:cNvPr id="28" name="对象 -2147482040"/>
            <p:cNvGraphicFramePr>
              <a:graphicFrameLocks noChangeAspect="1"/>
            </p:cNvGraphicFramePr>
            <p:nvPr/>
          </p:nvGraphicFramePr>
          <p:xfrm>
            <a:off x="7080" y="3099"/>
            <a:ext cx="485" cy="592"/>
          </p:xfrm>
          <a:graphic>
            <a:graphicData uri="http://schemas.openxmlformats.org/presentationml/2006/ole">
              <mc:AlternateContent xmlns:mc="http://schemas.openxmlformats.org/markup-compatibility/2006">
                <mc:Choice xmlns:v="urn:schemas-microsoft-com:vml" Requires="v">
                  <p:oleObj spid="_x0000_s29" name="" r:id="rId18" imgW="177165" imgH="215900" progId="Equation.KSEE3">
                    <p:embed/>
                  </p:oleObj>
                </mc:Choice>
                <mc:Fallback>
                  <p:oleObj name="" r:id="rId18" imgW="177165" imgH="215900" progId="Equation.KSEE3">
                    <p:embed/>
                    <p:pic>
                      <p:nvPicPr>
                        <p:cNvPr id="0" name="图片 15"/>
                        <p:cNvPicPr/>
                        <p:nvPr/>
                      </p:nvPicPr>
                      <p:blipFill>
                        <a:blip r:embed="rId10"/>
                        <a:stretch>
                          <a:fillRect/>
                        </a:stretch>
                      </p:blipFill>
                      <p:spPr>
                        <a:xfrm>
                          <a:off x="7080" y="3099"/>
                          <a:ext cx="485" cy="592"/>
                        </a:xfrm>
                        <a:prstGeom prst="rect">
                          <a:avLst/>
                        </a:prstGeom>
                        <a:noFill/>
                        <a:ln w="38100">
                          <a:noFill/>
                          <a:miter/>
                        </a:ln>
                      </p:spPr>
                    </p:pic>
                  </p:oleObj>
                </mc:Fallback>
              </mc:AlternateContent>
            </a:graphicData>
          </a:graphic>
        </p:graphicFrame>
      </p:grpSp>
      <p:sp>
        <p:nvSpPr>
          <p:cNvPr id="6148" name="TextBox 6"/>
          <p:cNvSpPr txBox="1"/>
          <p:nvPr/>
        </p:nvSpPr>
        <p:spPr>
          <a:xfrm>
            <a:off x="356108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blinds(horizontal)">
                                      <p:cBhvr>
                                        <p:cTn id="12" dur="500"/>
                                        <p:tgtEl>
                                          <p:spTgt spid="101"/>
                                        </p:tgtEl>
                                      </p:cBhvr>
                                    </p:animEffect>
                                  </p:childTnLst>
                                </p:cTn>
                              </p:par>
                              <p:par>
                                <p:cTn id="13" presetID="3" presetClass="entr" presetSubtype="1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143000"/>
            <a:ext cx="8003540" cy="13747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555定时器是一个应用十分广泛的精密计时器，是集模拟-数字为一体的中规模集成电路，可以构成定时器或振荡器，常用于信号的产生、变换、控制与检测。</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208655" y="533400"/>
            <a:ext cx="296481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7.2 555</a:t>
            </a:r>
            <a:r>
              <a:rPr lang="zh-CN" altLang="en-US" b="1" dirty="0">
                <a:solidFill>
                  <a:srgbClr val="FF0000"/>
                </a:solidFill>
                <a:latin typeface="黑体" panose="02010609060101010101" pitchFamily="49" charset="-122"/>
                <a:ea typeface="黑体" panose="02010609060101010101" pitchFamily="49" charset="-122"/>
              </a:rPr>
              <a:t>定时器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1"/>
          <a:stretch>
            <a:fillRect/>
          </a:stretch>
        </p:blipFill>
        <p:spPr>
          <a:xfrm>
            <a:off x="762000" y="2743200"/>
            <a:ext cx="7810500" cy="3390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1430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7.2.1 </a:t>
            </a:r>
            <a:r>
              <a:rPr lang="zh-CN" altLang="en-US" sz="2800" i="0" dirty="0">
                <a:solidFill>
                  <a:srgbClr val="0070C0"/>
                </a:solidFill>
                <a:latin typeface="黑体" panose="02010609060101010101" pitchFamily="49" charset="-122"/>
                <a:ea typeface="黑体" panose="02010609060101010101" pitchFamily="49" charset="-122"/>
              </a:rPr>
              <a:t>555定时器的电路结构</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3260" y="1676400"/>
            <a:ext cx="8003540" cy="14389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如图所示，555定时器主要由以下4部分组成：</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 name="Rectangle 3"/>
          <p:cNvSpPr>
            <a:spLocks noGrp="1"/>
          </p:cNvSpPr>
          <p:nvPr/>
        </p:nvSpPr>
        <p:spPr>
          <a:xfrm>
            <a:off x="4254500" y="2133600"/>
            <a:ext cx="4587875" cy="720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algn="just" eaLnBrk="1" latinLnBrk="0" hangingPunct="1">
              <a:lnSpc>
                <a:spcPct val="120000"/>
              </a:lnSpc>
              <a:spcBef>
                <a:spcPts val="0"/>
              </a:spcBef>
              <a:buSzTx/>
              <a:buNone/>
            </a:pP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(1)555定时器的名字来自3个5KΩ电阻，这些电阻</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用作分压器。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 name="Rectangle 3"/>
          <p:cNvSpPr>
            <a:spLocks noGrp="1"/>
          </p:cNvSpPr>
          <p:nvPr/>
        </p:nvSpPr>
        <p:spPr>
          <a:xfrm>
            <a:off x="4343400" y="3124200"/>
            <a:ext cx="4498975" cy="9613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(2)</a:t>
            </a:r>
            <a:r>
              <a:rPr sz="2400" b="1" kern="1200" dirty="0">
                <a:solidFill>
                  <a:srgbClr val="000066"/>
                </a:solidFill>
                <a:latin typeface="Times New Roman" panose="02020603050405020304" charset="0"/>
                <a:ea typeface="楷体" panose="02010609060101010101" charset="-122"/>
                <a:cs typeface="Times New Roman" panose="02020603050405020304" charset="0"/>
              </a:rPr>
              <a:t>两个电压比较器C</a:t>
            </a:r>
            <a:r>
              <a:rPr sz="2400" b="1" kern="1200" baseline="-25000" dirty="0">
                <a:solidFill>
                  <a:srgbClr val="000066"/>
                </a:solidFill>
                <a:latin typeface="Times New Roman" panose="02020603050405020304" charset="0"/>
                <a:ea typeface="楷体" panose="02010609060101010101" charset="-122"/>
                <a:cs typeface="Times New Roman" panose="02020603050405020304" charset="0"/>
              </a:rPr>
              <a:t>1</a:t>
            </a:r>
            <a:r>
              <a:rPr sz="2400" b="1" kern="1200" dirty="0">
                <a:solidFill>
                  <a:srgbClr val="000066"/>
                </a:solidFill>
                <a:latin typeface="Times New Roman" panose="02020603050405020304" charset="0"/>
                <a:ea typeface="楷体" panose="02010609060101010101" charset="-122"/>
                <a:cs typeface="Times New Roman" panose="02020603050405020304" charset="0"/>
              </a:rPr>
              <a:t>和C</a:t>
            </a:r>
            <a:r>
              <a:rPr sz="2400" b="1" kern="1200" baseline="-25000" dirty="0">
                <a:solidFill>
                  <a:srgbClr val="000066"/>
                </a:solidFill>
                <a:latin typeface="Times New Roman" panose="02020603050405020304" charset="0"/>
                <a:ea typeface="楷体" panose="02010609060101010101" charset="-122"/>
                <a:cs typeface="Times New Roman" panose="02020603050405020304" charset="0"/>
              </a:rPr>
              <a:t>2</a:t>
            </a:r>
            <a:r>
              <a:rPr sz="2400" b="1" kern="1200" dirty="0">
                <a:solidFill>
                  <a:srgbClr val="000066"/>
                </a:solidFill>
                <a:latin typeface="Times New Roman" panose="02020603050405020304" charset="0"/>
                <a:ea typeface="楷体" panose="02010609060101010101" charset="-122"/>
                <a:cs typeface="Times New Roman" panose="02020603050405020304" charset="0"/>
              </a:rPr>
              <a:t>。电压比较器的功能： 当</a:t>
            </a:r>
            <a:r>
              <a:rPr sz="2400" b="1" i="1" kern="1200" dirty="0">
                <a:solidFill>
                  <a:srgbClr val="000066"/>
                </a:solidFill>
                <a:latin typeface="Times New Roman" panose="02020603050405020304" charset="0"/>
                <a:ea typeface="楷体" panose="02010609060101010101" charset="-122"/>
                <a:cs typeface="Times New Roman" panose="02020603050405020304" charset="0"/>
              </a:rPr>
              <a:t>V</a:t>
            </a:r>
            <a:r>
              <a:rPr sz="2400" b="1" kern="1200" dirty="0">
                <a:solidFill>
                  <a:srgbClr val="000066"/>
                </a:solidFill>
                <a:latin typeface="Times New Roman" panose="02020603050405020304" charset="0"/>
                <a:ea typeface="楷体" panose="02010609060101010101" charset="-122"/>
                <a:cs typeface="Times New Roman" panose="02020603050405020304" charset="0"/>
              </a:rPr>
              <a:t>+&gt;</a:t>
            </a:r>
            <a:r>
              <a:rPr sz="2400" b="1" i="1" kern="1200" dirty="0">
                <a:solidFill>
                  <a:srgbClr val="000066"/>
                </a:solidFill>
                <a:latin typeface="Times New Roman" panose="02020603050405020304" charset="0"/>
                <a:ea typeface="楷体" panose="02010609060101010101" charset="-122"/>
                <a:cs typeface="Times New Roman" panose="02020603050405020304" charset="0"/>
              </a:rPr>
              <a:t>V</a:t>
            </a:r>
            <a:r>
              <a:rPr sz="2400" b="1" kern="1200" dirty="0">
                <a:solidFill>
                  <a:srgbClr val="000066"/>
                </a:solidFill>
                <a:latin typeface="Times New Roman" panose="02020603050405020304" charset="0"/>
                <a:ea typeface="楷体" panose="02010609060101010101" charset="-122"/>
                <a:cs typeface="Times New Roman" panose="02020603050405020304" charset="0"/>
              </a:rPr>
              <a:t>- 时，比较器输出为高电平；当</a:t>
            </a:r>
            <a:r>
              <a:rPr sz="2400" b="1" i="1" kern="1200" dirty="0">
                <a:solidFill>
                  <a:srgbClr val="000066"/>
                </a:solidFill>
                <a:latin typeface="Times New Roman" panose="02020603050405020304" charset="0"/>
                <a:ea typeface="楷体" panose="02010609060101010101" charset="-122"/>
                <a:cs typeface="Times New Roman" panose="02020603050405020304" charset="0"/>
              </a:rPr>
              <a:t>V</a:t>
            </a:r>
            <a:r>
              <a:rPr sz="2400" b="1" kern="1200" dirty="0">
                <a:solidFill>
                  <a:srgbClr val="000066"/>
                </a:solidFill>
                <a:latin typeface="Times New Roman" panose="02020603050405020304" charset="0"/>
                <a:ea typeface="楷体" panose="02010609060101010101" charset="-122"/>
                <a:cs typeface="Times New Roman" panose="02020603050405020304" charset="0"/>
              </a:rPr>
              <a:t>+&lt;</a:t>
            </a:r>
            <a:r>
              <a:rPr sz="2400" b="1" i="1" kern="1200" dirty="0">
                <a:solidFill>
                  <a:srgbClr val="000066"/>
                </a:solidFill>
                <a:latin typeface="Times New Roman" panose="02020603050405020304" charset="0"/>
                <a:ea typeface="楷体" panose="02010609060101010101" charset="-122"/>
                <a:cs typeface="Times New Roman" panose="02020603050405020304" charset="0"/>
              </a:rPr>
              <a:t>V</a:t>
            </a:r>
            <a:r>
              <a:rPr sz="2400" b="1" kern="1200" dirty="0">
                <a:solidFill>
                  <a:srgbClr val="000066"/>
                </a:solidFill>
                <a:latin typeface="Times New Roman" panose="02020603050405020304" charset="0"/>
                <a:ea typeface="楷体" panose="02010609060101010101" charset="-122"/>
                <a:cs typeface="Times New Roman" panose="02020603050405020304" charset="0"/>
              </a:rPr>
              <a:t>- 时 ，比较器输出为低电平。</a:t>
            </a:r>
            <a:endParaRPr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208655" y="533400"/>
            <a:ext cx="296481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7.2 555</a:t>
            </a:r>
            <a:r>
              <a:rPr lang="zh-CN" altLang="en-US" b="1" dirty="0">
                <a:solidFill>
                  <a:srgbClr val="FF0000"/>
                </a:solidFill>
                <a:latin typeface="黑体" panose="02010609060101010101" pitchFamily="49" charset="-122"/>
                <a:ea typeface="黑体" panose="02010609060101010101" pitchFamily="49" charset="-122"/>
              </a:rPr>
              <a:t>定时器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22" name="图片 21"/>
          <p:cNvPicPr>
            <a:picLocks noChangeAspect="1"/>
          </p:cNvPicPr>
          <p:nvPr/>
        </p:nvPicPr>
        <p:blipFill>
          <a:blip r:embed="rId1"/>
          <a:stretch>
            <a:fillRect/>
          </a:stretch>
        </p:blipFill>
        <p:spPr>
          <a:xfrm>
            <a:off x="381000" y="2209800"/>
            <a:ext cx="3498850" cy="3187065"/>
          </a:xfrm>
          <a:prstGeom prst="rect">
            <a:avLst/>
          </a:prstGeom>
        </p:spPr>
      </p:pic>
      <p:sp>
        <p:nvSpPr>
          <p:cNvPr id="24" name="Rectangle 3"/>
          <p:cNvSpPr>
            <a:spLocks noGrp="1"/>
          </p:cNvSpPr>
          <p:nvPr/>
        </p:nvSpPr>
        <p:spPr>
          <a:xfrm>
            <a:off x="4298950" y="5818505"/>
            <a:ext cx="4498975" cy="9613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Times New Roman" panose="02020603050405020304" charset="0"/>
                <a:ea typeface="楷体" panose="02010609060101010101" charset="-122"/>
                <a:cs typeface="Times New Roman" panose="02020603050405020304" charset="0"/>
              </a:rPr>
              <a:t>(4)放电三极管T及缓冲输出门G。</a:t>
            </a:r>
            <a:endParaRPr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5" name="圆角矩形 24"/>
          <p:cNvSpPr/>
          <p:nvPr/>
        </p:nvSpPr>
        <p:spPr>
          <a:xfrm>
            <a:off x="685800" y="2319655"/>
            <a:ext cx="279400" cy="2371090"/>
          </a:xfrm>
          <a:prstGeom prst="roundRect">
            <a:avLst/>
          </a:prstGeom>
          <a:noFill/>
          <a:ln>
            <a:solidFill>
              <a:srgbClr val="1318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圆角矩形 26"/>
          <p:cNvSpPr/>
          <p:nvPr/>
        </p:nvSpPr>
        <p:spPr>
          <a:xfrm>
            <a:off x="812800" y="2767330"/>
            <a:ext cx="798830" cy="1468120"/>
          </a:xfrm>
          <a:prstGeom prst="roundRect">
            <a:avLst/>
          </a:prstGeom>
          <a:noFill/>
          <a:ln>
            <a:solidFill>
              <a:srgbClr val="1318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圆角矩形 27"/>
          <p:cNvSpPr/>
          <p:nvPr/>
        </p:nvSpPr>
        <p:spPr>
          <a:xfrm>
            <a:off x="1758950" y="2772410"/>
            <a:ext cx="871855" cy="1426845"/>
          </a:xfrm>
          <a:prstGeom prst="roundRect">
            <a:avLst/>
          </a:prstGeom>
          <a:noFill/>
          <a:ln>
            <a:solidFill>
              <a:srgbClr val="1318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1" name="组合 30"/>
          <p:cNvGrpSpPr/>
          <p:nvPr/>
        </p:nvGrpSpPr>
        <p:grpSpPr>
          <a:xfrm>
            <a:off x="1123950" y="3376295"/>
            <a:ext cx="2487930" cy="1576705"/>
            <a:chOff x="1770" y="5317"/>
            <a:chExt cx="3918" cy="2483"/>
          </a:xfrm>
        </p:grpSpPr>
        <p:sp>
          <p:nvSpPr>
            <p:cNvPr id="29" name="圆角矩形 28"/>
            <p:cNvSpPr/>
            <p:nvPr/>
          </p:nvSpPr>
          <p:spPr>
            <a:xfrm>
              <a:off x="1770" y="7110"/>
              <a:ext cx="768" cy="690"/>
            </a:xfrm>
            <a:prstGeom prst="roundRect">
              <a:avLst/>
            </a:prstGeom>
            <a:noFill/>
            <a:ln>
              <a:solidFill>
                <a:srgbClr val="1318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圆角矩形 29"/>
            <p:cNvSpPr/>
            <p:nvPr/>
          </p:nvSpPr>
          <p:spPr>
            <a:xfrm>
              <a:off x="4920" y="5317"/>
              <a:ext cx="768" cy="1116"/>
            </a:xfrm>
            <a:prstGeom prst="roundRect">
              <a:avLst/>
            </a:prstGeom>
            <a:noFill/>
            <a:ln>
              <a:solidFill>
                <a:srgbClr val="1318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 name="组合 2"/>
          <p:cNvGrpSpPr/>
          <p:nvPr/>
        </p:nvGrpSpPr>
        <p:grpSpPr>
          <a:xfrm>
            <a:off x="4298950" y="4953000"/>
            <a:ext cx="4498340" cy="961390"/>
            <a:chOff x="6770" y="7800"/>
            <a:chExt cx="7084" cy="1514"/>
          </a:xfrm>
        </p:grpSpPr>
        <p:sp>
          <p:nvSpPr>
            <p:cNvPr id="23" name="Rectangle 3"/>
            <p:cNvSpPr>
              <a:spLocks noGrp="1"/>
            </p:cNvSpPr>
            <p:nvPr/>
          </p:nvSpPr>
          <p:spPr>
            <a:xfrm>
              <a:off x="6770" y="7800"/>
              <a:ext cx="7085" cy="151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algn="just" eaLnBrk="1" latinLnBrk="0" hangingPunct="1">
                <a:lnSpc>
                  <a:spcPct val="120000"/>
                </a:lnSpc>
                <a:spcBef>
                  <a:spcPts val="0"/>
                </a:spcBef>
                <a:buSzTx/>
                <a:buNone/>
              </a:pPr>
              <a:r>
                <a:rPr sz="2400" b="1" kern="1200" dirty="0">
                  <a:solidFill>
                    <a:srgbClr val="000066"/>
                  </a:solidFill>
                  <a:latin typeface="Times New Roman" panose="02020603050405020304" charset="0"/>
                  <a:ea typeface="楷体" panose="02010609060101010101" charset="-122"/>
                  <a:cs typeface="Times New Roman" panose="02020603050405020304" charset="0"/>
                </a:rPr>
                <a:t>(3)一个基本RS锁存器。</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带有清零端(</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2" name="对象 1">
              <a:hlinkClick r:id="" action="ppaction://ole?verb="/>
            </p:cNvPr>
            <p:cNvGraphicFramePr>
              <a:graphicFrameLocks noChangeAspect="1"/>
            </p:cNvGraphicFramePr>
            <p:nvPr/>
          </p:nvGraphicFramePr>
          <p:xfrm>
            <a:off x="8160" y="8655"/>
            <a:ext cx="623" cy="659"/>
          </p:xfrm>
          <a:graphic>
            <a:graphicData uri="http://schemas.openxmlformats.org/presentationml/2006/ole">
              <mc:AlternateContent xmlns:mc="http://schemas.openxmlformats.org/markup-compatibility/2006">
                <mc:Choice xmlns:v="urn:schemas-microsoft-com:vml" Requires="v">
                  <p:oleObj spid="_x0000_s1025" name="" r:id="rId2" imgW="228600" imgH="241300" progId="Equation.KSEE3">
                    <p:embed/>
                  </p:oleObj>
                </mc:Choice>
                <mc:Fallback>
                  <p:oleObj name="" r:id="rId2" imgW="228600" imgH="241300" progId="Equation.KSEE3">
                    <p:embed/>
                    <p:pic>
                      <p:nvPicPr>
                        <p:cNvPr id="0" name="图片 1024"/>
                        <p:cNvPicPr/>
                        <p:nvPr/>
                      </p:nvPicPr>
                      <p:blipFill>
                        <a:blip r:embed="rId3"/>
                        <a:stretch>
                          <a:fillRect/>
                        </a:stretch>
                      </p:blipFill>
                      <p:spPr>
                        <a:xfrm>
                          <a:off x="8160" y="8655"/>
                          <a:ext cx="623" cy="659"/>
                        </a:xfrm>
                        <a:prstGeom prst="rect">
                          <a:avLst/>
                        </a:prstGeom>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25"/>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2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linds(horizontal)">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500" fill="hold"/>
                                        <p:tgtEl>
                                          <p:spTgt spid="28"/>
                                        </p:tgtEl>
                                        <p:attrNameLst>
                                          <p:attrName>ppt_x</p:attrName>
                                        </p:attrNameLst>
                                      </p:cBhvr>
                                      <p:tavLst>
                                        <p:tav tm="0">
                                          <p:val>
                                            <p:strVal val="#ppt_x"/>
                                          </p:val>
                                        </p:tav>
                                        <p:tav tm="100000">
                                          <p:val>
                                            <p:strVal val="#ppt_x"/>
                                          </p:val>
                                        </p:tav>
                                      </p:tavLst>
                                    </p:anim>
                                    <p:anim calcmode="lin" valueType="num">
                                      <p:cBhvr additive="base">
                                        <p:cTn id="35" dur="500" fill="hold"/>
                                        <p:tgtEl>
                                          <p:spTgt spid="28"/>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28"/>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40" presetClass="entr" presetSubtype="0" fill="hold" grpId="0" nodeType="clickEffect">
                                  <p:stCondLst>
                                    <p:cond delay="0"/>
                                  </p:stCondLst>
                                  <p:iterate type="lt">
                                    <p:tmPct val="10000"/>
                                  </p:iterate>
                                  <p:childTnLst>
                                    <p:set>
                                      <p:cBhvr>
                                        <p:cTn id="39" dur="500"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anim calcmode="lin" valueType="num">
                                      <p:cBhvr>
                                        <p:cTn id="41" dur="500" fill="hold"/>
                                        <p:tgtEl>
                                          <p:spTgt spid="24"/>
                                        </p:tgtEl>
                                        <p:attrNameLst>
                                          <p:attrName>ppt_x</p:attrName>
                                        </p:attrNameLst>
                                      </p:cBhvr>
                                      <p:tavLst>
                                        <p:tav tm="0">
                                          <p:val>
                                            <p:strVal val="#ppt_x-.1"/>
                                          </p:val>
                                        </p:tav>
                                        <p:tav tm="100000">
                                          <p:val>
                                            <p:strVal val="#ppt_x"/>
                                          </p:val>
                                        </p:tav>
                                      </p:tavLst>
                                    </p:anim>
                                    <p:anim calcmode="lin" valueType="num">
                                      <p:cBhvr>
                                        <p:cTn id="4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fill="hold"/>
                                        <p:tgtEl>
                                          <p:spTgt spid="31"/>
                                        </p:tgtEl>
                                        <p:attrNameLst>
                                          <p:attrName>ppt_x</p:attrName>
                                        </p:attrNameLst>
                                      </p:cBhvr>
                                      <p:tavLst>
                                        <p:tav tm="0">
                                          <p:val>
                                            <p:strVal val="#ppt_x"/>
                                          </p:val>
                                        </p:tav>
                                        <p:tav tm="100000">
                                          <p:val>
                                            <p:strVal val="#ppt_x"/>
                                          </p:val>
                                        </p:tav>
                                      </p:tavLst>
                                    </p:anim>
                                    <p:anim calcmode="lin" valueType="num">
                                      <p:cBhvr additive="base">
                                        <p:cTn id="48" dur="500" fill="hold"/>
                                        <p:tgtEl>
                                          <p:spTgt spid="31"/>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3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ldLvl="0" animBg="1"/>
      <p:bldP spid="25" grpId="1" animBg="1"/>
      <p:bldP spid="17" grpId="0"/>
      <p:bldP spid="17" grpId="1"/>
      <p:bldP spid="27" grpId="0" bldLvl="0" animBg="1"/>
      <p:bldP spid="27" grpId="1" animBg="1"/>
      <p:bldP spid="28" grpId="0" bldLvl="0" animBg="1"/>
      <p:bldP spid="28" grpId="1" animBg="1"/>
      <p:bldP spid="15" grpId="0"/>
      <p:bldP spid="1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3869690" y="1447800"/>
            <a:ext cx="2814320" cy="499110"/>
          </a:xfrm>
        </p:spPr>
        <p:txBody>
          <a:bodyPr vert="horz" wrap="square" lIns="91440" tIns="45720" rIns="91440" bIns="45720" anchor="t" anchorCtr="0"/>
          <a:p>
            <a:pPr marL="0" indent="0" algn="just" eaLnBrk="1" latinLnBrk="0" hangingPunct="1">
              <a:lnSpc>
                <a:spcPct val="120000"/>
              </a:lnSpc>
              <a:spcBef>
                <a:spcPts val="0"/>
              </a:spcBef>
              <a:buNone/>
            </a:pPr>
            <a:r>
              <a:rPr lang="en-US" sz="2400" b="1" kern="1200" dirty="0">
                <a:solidFill>
                  <a:srgbClr val="1318F3"/>
                </a:solidFill>
                <a:latin typeface="Times New Roman" panose="02020603050405020304" charset="0"/>
                <a:ea typeface="楷体" panose="02010609060101010101" charset="-122"/>
                <a:cs typeface="Times New Roman" panose="02020603050405020304" charset="0"/>
              </a:rPr>
              <a:t>1</a:t>
            </a:r>
            <a:r>
              <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rPr>
              <a:t>脚：ground 地</a:t>
            </a:r>
            <a:endPar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17" name="Rectangle 3"/>
          <p:cNvSpPr>
            <a:spLocks noGrp="1"/>
          </p:cNvSpPr>
          <p:nvPr/>
        </p:nvSpPr>
        <p:spPr>
          <a:xfrm>
            <a:off x="609600" y="111696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rPr>
              <a:t>      </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555</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定时器的引脚分布如图</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pic>
        <p:nvPicPr>
          <p:cNvPr id="2" name="图片 1"/>
          <p:cNvPicPr>
            <a:picLocks noChangeAspect="1"/>
          </p:cNvPicPr>
          <p:nvPr/>
        </p:nvPicPr>
        <p:blipFill>
          <a:blip r:embed="rId1"/>
          <a:stretch>
            <a:fillRect/>
          </a:stretch>
        </p:blipFill>
        <p:spPr>
          <a:xfrm>
            <a:off x="533400" y="1905000"/>
            <a:ext cx="2819400" cy="2714625"/>
          </a:xfrm>
          <a:prstGeom prst="rect">
            <a:avLst/>
          </a:prstGeom>
        </p:spPr>
      </p:pic>
      <p:sp>
        <p:nvSpPr>
          <p:cNvPr id="7" name="Rectangle 3"/>
          <p:cNvSpPr>
            <a:spLocks noGrp="1"/>
          </p:cNvSpPr>
          <p:nvPr/>
        </p:nvSpPr>
        <p:spPr>
          <a:xfrm>
            <a:off x="3869690" y="2078355"/>
            <a:ext cx="4157980"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FF0000"/>
                </a:solidFill>
                <a:latin typeface="Times New Roman" panose="02020603050405020304" charset="0"/>
                <a:ea typeface="楷体" panose="02010609060101010101" charset="-122"/>
                <a:cs typeface="Times New Roman" panose="02020603050405020304" charset="0"/>
              </a:rPr>
              <a:t>2</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脚：trigger 触发输入端</a:t>
            </a:r>
            <a:endPar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11" name="Rectangle 3"/>
          <p:cNvSpPr>
            <a:spLocks noGrp="1"/>
          </p:cNvSpPr>
          <p:nvPr/>
        </p:nvSpPr>
        <p:spPr>
          <a:xfrm>
            <a:off x="3869690" y="2708910"/>
            <a:ext cx="4157980"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FF0000"/>
                </a:solidFill>
                <a:latin typeface="Times New Roman" panose="02020603050405020304" charset="0"/>
                <a:ea typeface="楷体" panose="02010609060101010101" charset="-122"/>
                <a:cs typeface="Times New Roman" panose="02020603050405020304" charset="0"/>
              </a:rPr>
              <a:t>3</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脚：output 输出端</a:t>
            </a:r>
            <a:endPar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12" name="Rectangle 3"/>
          <p:cNvSpPr>
            <a:spLocks noGrp="1"/>
          </p:cNvSpPr>
          <p:nvPr/>
        </p:nvSpPr>
        <p:spPr>
          <a:xfrm>
            <a:off x="3869690" y="3339465"/>
            <a:ext cx="4157980"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4</a:t>
            </a:r>
            <a:r>
              <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rPr>
              <a:t>脚：reset 复位端</a:t>
            </a:r>
            <a:endPar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15" name="Rectangle 3"/>
          <p:cNvSpPr>
            <a:spLocks noGrp="1"/>
          </p:cNvSpPr>
          <p:nvPr/>
        </p:nvSpPr>
        <p:spPr>
          <a:xfrm>
            <a:off x="3869690" y="3970020"/>
            <a:ext cx="5196205"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5</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脚：control voltage控制电压输入端</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 name="Rectangle 3"/>
          <p:cNvSpPr>
            <a:spLocks noGrp="1"/>
          </p:cNvSpPr>
          <p:nvPr/>
        </p:nvSpPr>
        <p:spPr>
          <a:xfrm>
            <a:off x="3869690" y="4600575"/>
            <a:ext cx="4734560"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FF0000"/>
                </a:solidFill>
                <a:latin typeface="Times New Roman" panose="02020603050405020304" charset="0"/>
                <a:ea typeface="楷体" panose="02010609060101010101" charset="-122"/>
                <a:cs typeface="Times New Roman" panose="02020603050405020304" charset="0"/>
              </a:rPr>
              <a:t>6</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脚：threshhold 阈值输入端</a:t>
            </a:r>
            <a:endPar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19" name="Rectangle 3"/>
          <p:cNvSpPr>
            <a:spLocks noGrp="1"/>
          </p:cNvSpPr>
          <p:nvPr/>
        </p:nvSpPr>
        <p:spPr>
          <a:xfrm>
            <a:off x="3869690" y="5231130"/>
            <a:ext cx="4734560"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FF0000"/>
                </a:solidFill>
                <a:latin typeface="Times New Roman" panose="02020603050405020304" charset="0"/>
                <a:ea typeface="楷体" panose="02010609060101010101" charset="-122"/>
                <a:cs typeface="Times New Roman" panose="02020603050405020304" charset="0"/>
              </a:rPr>
              <a:t>7</a:t>
            </a:r>
            <a:r>
              <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rPr>
              <a:t>脚：discharge 放电端</a:t>
            </a:r>
            <a:endParaRPr lang="zh-CN" altLang="en-US" sz="2400" b="1" kern="1200"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42" name="Rectangle 3"/>
          <p:cNvSpPr>
            <a:spLocks noGrp="1"/>
          </p:cNvSpPr>
          <p:nvPr/>
        </p:nvSpPr>
        <p:spPr>
          <a:xfrm>
            <a:off x="3869690" y="5861685"/>
            <a:ext cx="4734560" cy="49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8</a:t>
            </a:r>
            <a:r>
              <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rPr>
              <a:t>脚：</a:t>
            </a:r>
            <a:r>
              <a:rPr lang="zh-CN" altLang="en-US" sz="2400" b="1" i="1" kern="1200" dirty="0">
                <a:solidFill>
                  <a:srgbClr val="1318F3"/>
                </a:solidFill>
                <a:latin typeface="Times New Roman" panose="02020603050405020304" charset="0"/>
                <a:ea typeface="楷体" panose="02010609060101010101" charset="-122"/>
                <a:cs typeface="Times New Roman" panose="02020603050405020304" charset="0"/>
              </a:rPr>
              <a:t>V</a:t>
            </a:r>
            <a:r>
              <a:rPr lang="zh-CN" altLang="en-US" sz="2400" b="1" kern="1200" baseline="-25000" dirty="0">
                <a:solidFill>
                  <a:srgbClr val="1318F3"/>
                </a:solidFill>
                <a:latin typeface="Times New Roman" panose="02020603050405020304" charset="0"/>
                <a:ea typeface="楷体" panose="02010609060101010101" charset="-122"/>
                <a:cs typeface="Times New Roman" panose="02020603050405020304" charset="0"/>
              </a:rPr>
              <a:t>CC</a:t>
            </a:r>
            <a:r>
              <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rPr>
              <a:t> 电源输入端</a:t>
            </a:r>
            <a:endParaRPr lang="zh-CN" altLang="en-US" sz="2400" b="1" kern="1200"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208655" y="533400"/>
            <a:ext cx="296481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7.2 555</a:t>
            </a:r>
            <a:r>
              <a:rPr lang="zh-CN" altLang="en-US" b="1" dirty="0">
                <a:solidFill>
                  <a:srgbClr val="FF0000"/>
                </a:solidFill>
                <a:latin typeface="黑体" panose="02010609060101010101" pitchFamily="49" charset="-122"/>
                <a:ea typeface="黑体" panose="02010609060101010101" pitchFamily="49" charset="-122"/>
              </a:rPr>
              <a:t>定时器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08655" y="533400"/>
            <a:ext cx="296481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7.2 555</a:t>
            </a:r>
            <a:r>
              <a:rPr lang="zh-CN" altLang="en-US" b="1" dirty="0">
                <a:solidFill>
                  <a:srgbClr val="FF0000"/>
                </a:solidFill>
                <a:latin typeface="黑体" panose="02010609060101010101" pitchFamily="49" charset="-122"/>
                <a:ea typeface="黑体" panose="02010609060101010101" pitchFamily="49" charset="-122"/>
              </a:rPr>
              <a:t>定时器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10668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7.2.2 </a:t>
            </a:r>
            <a:r>
              <a:rPr lang="zh-CN" altLang="en-US" sz="2800" i="0" dirty="0">
                <a:solidFill>
                  <a:srgbClr val="0070C0"/>
                </a:solidFill>
                <a:latin typeface="黑体" panose="02010609060101010101" pitchFamily="49" charset="-122"/>
                <a:ea typeface="黑体" panose="02010609060101010101" pitchFamily="49" charset="-122"/>
              </a:rPr>
              <a:t>555定时器工作</a:t>
            </a:r>
            <a:r>
              <a:rPr lang="zh-CN" altLang="en-US" sz="2800" i="0" dirty="0">
                <a:solidFill>
                  <a:srgbClr val="0070C0"/>
                </a:solidFill>
                <a:latin typeface="黑体" panose="02010609060101010101" pitchFamily="49" charset="-122"/>
                <a:ea typeface="黑体" panose="02010609060101010101" pitchFamily="49" charset="-122"/>
              </a:rPr>
              <a:t>原理</a:t>
            </a:r>
            <a:endParaRPr lang="zh-CN" altLang="en-US" sz="2800" i="0" dirty="0">
              <a:solidFill>
                <a:srgbClr val="0070C0"/>
              </a:solidFill>
              <a:latin typeface="黑体" panose="02010609060101010101" pitchFamily="49" charset="-122"/>
              <a:ea typeface="黑体" panose="02010609060101010101" pitchFamily="49" charset="-122"/>
            </a:endParaRPr>
          </a:p>
        </p:txBody>
      </p:sp>
      <p:graphicFrame>
        <p:nvGraphicFramePr>
          <p:cNvPr id="7" name="对象 6">
            <a:hlinkClick r:id="" action="ppaction://ole?verb="/>
          </p:cNvPr>
          <p:cNvGraphicFramePr>
            <a:graphicFrameLocks noChangeAspect="1"/>
          </p:cNvGraphicFramePr>
          <p:nvPr/>
        </p:nvGraphicFramePr>
        <p:xfrm>
          <a:off x="4030345" y="3978910"/>
          <a:ext cx="114300" cy="215265"/>
        </p:xfrm>
        <a:graphic>
          <a:graphicData uri="http://schemas.openxmlformats.org/presentationml/2006/ole">
            <mc:AlternateContent xmlns:mc="http://schemas.openxmlformats.org/markup-compatibility/2006">
              <mc:Choice xmlns:v="urn:schemas-microsoft-com:vml" Requires="v">
                <p:oleObj spid="_x0000_s2049" name="" r:id="rId1" imgW="114300" imgH="215265" progId="Equation.KSEE3">
                  <p:embed/>
                </p:oleObj>
              </mc:Choice>
              <mc:Fallback>
                <p:oleObj name="" r:id="rId1" imgW="114300" imgH="215265" progId="Equation.KSEE3">
                  <p:embed/>
                  <p:pic>
                    <p:nvPicPr>
                      <p:cNvPr id="0" name="图片 2048"/>
                      <p:cNvPicPr/>
                      <p:nvPr/>
                    </p:nvPicPr>
                    <p:blipFill>
                      <a:blip r:embed="rId2"/>
                      <a:stretch>
                        <a:fillRect/>
                      </a:stretch>
                    </p:blipFill>
                    <p:spPr>
                      <a:xfrm>
                        <a:off x="4030345" y="3978910"/>
                        <a:ext cx="114300" cy="215265"/>
                      </a:xfrm>
                      <a:prstGeom prst="rect">
                        <a:avLst/>
                      </a:prstGeom>
                    </p:spPr>
                  </p:pic>
                </p:oleObj>
              </mc:Fallback>
            </mc:AlternateContent>
          </a:graphicData>
        </a:graphic>
      </p:graphicFrame>
      <p:grpSp>
        <p:nvGrpSpPr>
          <p:cNvPr id="14" name="组合 13"/>
          <p:cNvGrpSpPr/>
          <p:nvPr/>
        </p:nvGrpSpPr>
        <p:grpSpPr>
          <a:xfrm>
            <a:off x="5257800" y="1178560"/>
            <a:ext cx="2395220" cy="461645"/>
            <a:chOff x="8280" y="1876"/>
            <a:chExt cx="3772" cy="727"/>
          </a:xfrm>
        </p:grpSpPr>
        <p:sp>
          <p:nvSpPr>
            <p:cNvPr id="342029" name="Rectangle 13"/>
            <p:cNvSpPr/>
            <p:nvPr/>
          </p:nvSpPr>
          <p:spPr>
            <a:xfrm>
              <a:off x="8280" y="1876"/>
              <a:ext cx="3772" cy="727"/>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CC3300"/>
                  </a:solidFill>
                  <a:latin typeface="Times New Roman" panose="02020603050405020304" charset="0"/>
                  <a:ea typeface="楷体" panose="02010609060101010101" charset="-122"/>
                  <a:cs typeface="Times New Roman" panose="02020603050405020304" charset="0"/>
                </a:rPr>
                <a:t>设</a:t>
              </a:r>
              <a:r>
                <a:rPr lang="en-US" altLang="zh-CN" sz="2400" b="1" dirty="0">
                  <a:solidFill>
                    <a:srgbClr val="CC3300"/>
                  </a:solidFill>
                  <a:latin typeface="Times New Roman" panose="02020603050405020304" charset="0"/>
                  <a:ea typeface="楷体" panose="02010609060101010101" charset="-122"/>
                  <a:cs typeface="Times New Roman" panose="02020603050405020304" charset="0"/>
                </a:rPr>
                <a:t>     =1,5</a:t>
              </a:r>
              <a:r>
                <a:rPr lang="zh-CN" altLang="en-US" sz="2400" b="1" dirty="0">
                  <a:solidFill>
                    <a:srgbClr val="CC3300"/>
                  </a:solidFill>
                  <a:latin typeface="Times New Roman" panose="02020603050405020304" charset="0"/>
                  <a:ea typeface="楷体" panose="02010609060101010101" charset="-122"/>
                  <a:cs typeface="Times New Roman" panose="02020603050405020304" charset="0"/>
                </a:rPr>
                <a:t>脚悬空</a:t>
              </a:r>
              <a:endParaRPr lang="zh-CN" altLang="en-US" sz="2400" b="1" dirty="0">
                <a:solidFill>
                  <a:srgbClr val="CC3300"/>
                </a:solidFill>
                <a:latin typeface="Times New Roman" panose="02020603050405020304" charset="0"/>
                <a:ea typeface="楷体" panose="02010609060101010101" charset="-122"/>
                <a:cs typeface="Times New Roman" panose="02020603050405020304" charset="0"/>
              </a:endParaRPr>
            </a:p>
          </p:txBody>
        </p:sp>
        <p:graphicFrame>
          <p:nvGraphicFramePr>
            <p:cNvPr id="9" name="对象 8">
              <a:hlinkClick r:id="" action="ppaction://ole?verb="/>
            </p:cNvPr>
            <p:cNvGraphicFramePr>
              <a:graphicFrameLocks noChangeAspect="1"/>
            </p:cNvGraphicFramePr>
            <p:nvPr/>
          </p:nvGraphicFramePr>
          <p:xfrm>
            <a:off x="8880" y="1876"/>
            <a:ext cx="623" cy="659"/>
          </p:xfrm>
          <a:graphic>
            <a:graphicData uri="http://schemas.openxmlformats.org/presentationml/2006/ole">
              <mc:AlternateContent xmlns:mc="http://schemas.openxmlformats.org/markup-compatibility/2006">
                <mc:Choice xmlns:v="urn:schemas-microsoft-com:vml" Requires="v">
                  <p:oleObj spid="_x0000_s11" name="" r:id="rId3" imgW="228600" imgH="241300" progId="Equation.KSEE3">
                    <p:embed/>
                  </p:oleObj>
                </mc:Choice>
                <mc:Fallback>
                  <p:oleObj name="" r:id="rId3" imgW="228600" imgH="241300" progId="Equation.KSEE3">
                    <p:embed/>
                    <p:pic>
                      <p:nvPicPr>
                        <p:cNvPr id="0" name="图片 1024"/>
                        <p:cNvPicPr/>
                        <p:nvPr/>
                      </p:nvPicPr>
                      <p:blipFill>
                        <a:blip r:embed="rId4"/>
                        <a:stretch>
                          <a:fillRect/>
                        </a:stretch>
                      </p:blipFill>
                      <p:spPr>
                        <a:xfrm>
                          <a:off x="8880" y="1876"/>
                          <a:ext cx="623" cy="659"/>
                        </a:xfrm>
                        <a:prstGeom prst="rect">
                          <a:avLst/>
                        </a:prstGeom>
                      </p:spPr>
                    </p:pic>
                  </p:oleObj>
                </mc:Fallback>
              </mc:AlternateContent>
            </a:graphicData>
          </a:graphic>
        </p:graphicFrame>
      </p:grpSp>
      <p:sp>
        <p:nvSpPr>
          <p:cNvPr id="342018" name="Text Box 2"/>
          <p:cNvSpPr txBox="1"/>
          <p:nvPr/>
        </p:nvSpPr>
        <p:spPr>
          <a:xfrm>
            <a:off x="4030345" y="5003800"/>
            <a:ext cx="5131435" cy="83121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(4)</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I1</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&gt;2/3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I2</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&lt;1/3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endPar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spcBef>
                <a:spcPct val="0"/>
              </a:spcBef>
              <a:buClrTx/>
              <a:buSzTx/>
              <a:buFontTx/>
              <a:buNone/>
            </a:pP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Q</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截止</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42019" name="Text Box 3"/>
          <p:cNvSpPr txBox="1"/>
          <p:nvPr/>
        </p:nvSpPr>
        <p:spPr>
          <a:xfrm>
            <a:off x="4030345" y="3200400"/>
            <a:ext cx="5039995" cy="83121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I1</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&lt;2/3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I2</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&gt;1/3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endPar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spcBef>
                <a:spcPct val="0"/>
              </a:spcBef>
              <a:buClrTx/>
              <a:buSzTx/>
              <a:buFontTx/>
              <a:buNone/>
            </a:pP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 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Q</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保持</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保持</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保持</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42020" name="Text Box 4"/>
          <p:cNvSpPr txBox="1"/>
          <p:nvPr/>
        </p:nvSpPr>
        <p:spPr>
          <a:xfrm>
            <a:off x="4030345" y="4183380"/>
            <a:ext cx="4730750" cy="83121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I1</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&lt;2/3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I2</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&lt;1/3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endPar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spcBef>
                <a:spcPct val="0"/>
              </a:spcBef>
              <a:buClrTx/>
              <a:buSzTx/>
              <a:buFontTx/>
              <a:buNone/>
            </a:pP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Q</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截止</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42021" name="Text Box 5"/>
          <p:cNvSpPr txBox="1"/>
          <p:nvPr/>
        </p:nvSpPr>
        <p:spPr>
          <a:xfrm>
            <a:off x="4030345" y="2338070"/>
            <a:ext cx="4911725" cy="83121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I1</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&gt;2/3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I2</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&gt;1/3</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CC</a:t>
            </a:r>
            <a:endPar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spcBef>
                <a:spcPct val="0"/>
              </a:spcBef>
              <a:buClrTx/>
              <a:buSz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Q</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en-US" altLang="zh-CN" sz="2400" b="1" dirty="0">
                <a:solidFill>
                  <a:srgbClr val="000066"/>
                </a:solidFill>
                <a:latin typeface="Arial" panose="020B0604020202020204" pitchFamily="34" charset="0"/>
                <a:ea typeface="楷体" panose="02010609060101010101" charset="-122"/>
                <a:cs typeface="Arial" panose="020B0604020202020204" pitchFamily="34" charset="0"/>
                <a:sym typeface="Wingdings" panose="05000000000000000000" pitchFamily="2" charset="2"/>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T</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导通</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342030" name="Rectangle 14"/>
          <p:cNvSpPr/>
          <p:nvPr/>
        </p:nvSpPr>
        <p:spPr>
          <a:xfrm>
            <a:off x="4030345" y="1887220"/>
            <a:ext cx="4808855" cy="46164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66"/>
                </a:solidFill>
                <a:latin typeface="Times New Roman" panose="02020603050405020304" charset="0"/>
                <a:ea typeface="楷体" panose="02010609060101010101" charset="-122"/>
              </a:rPr>
              <a:t>由于三个电阻的分压关系，</a:t>
            </a:r>
            <a:endParaRPr lang="zh-CN" altLang="en-US" sz="2400" b="1" dirty="0">
              <a:solidFill>
                <a:srgbClr val="000066"/>
              </a:solidFill>
              <a:latin typeface="Times New Roman" panose="02020603050405020304" charset="0"/>
              <a:ea typeface="楷体" panose="02010609060101010101" charset="-122"/>
            </a:endParaRPr>
          </a:p>
        </p:txBody>
      </p:sp>
      <p:pic>
        <p:nvPicPr>
          <p:cNvPr id="17" name="图片 16"/>
          <p:cNvPicPr>
            <a:picLocks noChangeAspect="1"/>
          </p:cNvPicPr>
          <p:nvPr/>
        </p:nvPicPr>
        <p:blipFill>
          <a:blip r:embed="rId5"/>
          <a:stretch>
            <a:fillRect/>
          </a:stretch>
        </p:blipFill>
        <p:spPr>
          <a:xfrm>
            <a:off x="304800" y="1994535"/>
            <a:ext cx="3498850" cy="3187065"/>
          </a:xfrm>
          <a:prstGeom prst="rect">
            <a:avLst/>
          </a:prstGeom>
        </p:spPr>
      </p:pic>
      <p:grpSp>
        <p:nvGrpSpPr>
          <p:cNvPr id="40" name="组合 39"/>
          <p:cNvGrpSpPr/>
          <p:nvPr/>
        </p:nvGrpSpPr>
        <p:grpSpPr>
          <a:xfrm>
            <a:off x="-9525" y="2279650"/>
            <a:ext cx="701040" cy="386715"/>
            <a:chOff x="105" y="3110"/>
            <a:chExt cx="1104" cy="609"/>
          </a:xfrm>
        </p:grpSpPr>
        <p:sp>
          <p:nvSpPr>
            <p:cNvPr id="342028" name="Rectangle 12"/>
            <p:cNvSpPr/>
            <p:nvPr/>
          </p:nvSpPr>
          <p:spPr>
            <a:xfrm>
              <a:off x="105" y="3110"/>
              <a:ext cx="1104" cy="485"/>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400" b="1" dirty="0">
                  <a:solidFill>
                    <a:srgbClr val="FF0000"/>
                  </a:solidFill>
                  <a:latin typeface="Times New Roman" panose="02020603050405020304" charset="0"/>
                </a:rPr>
                <a:t>2/3V</a:t>
              </a:r>
              <a:r>
                <a:rPr lang="en-US" altLang="zh-CN" sz="1400" b="1" baseline="-25000" dirty="0">
                  <a:solidFill>
                    <a:srgbClr val="FF0000"/>
                  </a:solidFill>
                  <a:latin typeface="Times New Roman" panose="02020603050405020304" charset="0"/>
                </a:rPr>
                <a:t>CC</a:t>
              </a:r>
              <a:endParaRPr lang="en-US" altLang="zh-CN" sz="1400" b="1" baseline="-25000" dirty="0">
                <a:solidFill>
                  <a:srgbClr val="FF0000"/>
                </a:solidFill>
                <a:latin typeface="Times New Roman" panose="02020603050405020304" charset="0"/>
              </a:endParaRPr>
            </a:p>
          </p:txBody>
        </p:sp>
        <p:cxnSp>
          <p:nvCxnSpPr>
            <p:cNvPr id="18" name="直接箭头连接符 17"/>
            <p:cNvCxnSpPr/>
            <p:nvPr/>
          </p:nvCxnSpPr>
          <p:spPr>
            <a:xfrm>
              <a:off x="720" y="3595"/>
              <a:ext cx="480" cy="125"/>
            </a:xfrm>
            <a:prstGeom prst="straightConnector1">
              <a:avLst/>
            </a:prstGeom>
            <a:ln w="28575" cmpd="sng">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24765" y="3250565"/>
            <a:ext cx="761365" cy="330835"/>
            <a:chOff x="81" y="4639"/>
            <a:chExt cx="1199" cy="521"/>
          </a:xfrm>
        </p:grpSpPr>
        <p:sp>
          <p:nvSpPr>
            <p:cNvPr id="342027" name="Rectangle 11"/>
            <p:cNvSpPr/>
            <p:nvPr/>
          </p:nvSpPr>
          <p:spPr>
            <a:xfrm>
              <a:off x="81" y="4639"/>
              <a:ext cx="1104" cy="485"/>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400" b="1" dirty="0">
                  <a:solidFill>
                    <a:srgbClr val="FF0000"/>
                  </a:solidFill>
                  <a:latin typeface="Times New Roman" panose="02020603050405020304" charset="0"/>
                </a:rPr>
                <a:t>1/3V</a:t>
              </a:r>
              <a:r>
                <a:rPr lang="en-US" altLang="zh-CN" sz="1400" b="1" baseline="-25000" dirty="0">
                  <a:solidFill>
                    <a:srgbClr val="FF0000"/>
                  </a:solidFill>
                  <a:latin typeface="Times New Roman" panose="02020603050405020304" charset="0"/>
                </a:rPr>
                <a:t>CC</a:t>
              </a:r>
              <a:endParaRPr lang="en-US" altLang="zh-CN" sz="1400" b="1" baseline="-25000" dirty="0">
                <a:solidFill>
                  <a:srgbClr val="FF0000"/>
                </a:solidFill>
                <a:latin typeface="Times New Roman" panose="02020603050405020304" charset="0"/>
              </a:endParaRPr>
            </a:p>
          </p:txBody>
        </p:sp>
        <p:cxnSp>
          <p:nvCxnSpPr>
            <p:cNvPr id="19" name="直接箭头连接符 18"/>
            <p:cNvCxnSpPr/>
            <p:nvPr/>
          </p:nvCxnSpPr>
          <p:spPr>
            <a:xfrm>
              <a:off x="840" y="5040"/>
              <a:ext cx="441" cy="120"/>
            </a:xfrm>
            <a:prstGeom prst="straightConnector1">
              <a:avLst/>
            </a:prstGeom>
            <a:ln w="28575" cmpd="sng">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442595" y="5715635"/>
            <a:ext cx="4129405" cy="461645"/>
            <a:chOff x="720" y="9000"/>
            <a:chExt cx="6503" cy="727"/>
          </a:xfrm>
        </p:grpSpPr>
        <p:sp>
          <p:nvSpPr>
            <p:cNvPr id="342023" name="Text Box 7"/>
            <p:cNvSpPr txBox="1"/>
            <p:nvPr/>
          </p:nvSpPr>
          <p:spPr>
            <a:xfrm>
              <a:off x="720" y="9000"/>
              <a:ext cx="6503" cy="727"/>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CC3300"/>
                  </a:solidFill>
                  <a:latin typeface="Times New Roman" panose="02020603050405020304" charset="0"/>
                  <a:ea typeface="楷体" panose="02010609060101010101" charset="-122"/>
                  <a:cs typeface="Times New Roman" panose="02020603050405020304" charset="0"/>
                </a:rPr>
                <a:t>     =0</a:t>
              </a:r>
              <a:r>
                <a:rPr lang="zh-CN" altLang="en-US" sz="2400" b="1" dirty="0">
                  <a:solidFill>
                    <a:srgbClr val="CC3300"/>
                  </a:solidFill>
                  <a:latin typeface="Times New Roman" panose="02020603050405020304" charset="0"/>
                  <a:ea typeface="楷体" panose="02010609060101010101" charset="-122"/>
                  <a:cs typeface="Times New Roman" panose="02020603050405020304" charset="0"/>
                </a:rPr>
                <a:t>时，</a:t>
              </a:r>
              <a:r>
                <a:rPr lang="en-US" altLang="zh-CN" sz="2400" b="1" dirty="0">
                  <a:latin typeface="Times New Roman" panose="02020603050405020304" charset="0"/>
                  <a:ea typeface="楷体" panose="02010609060101010101" charset="-122"/>
                  <a:cs typeface="Times New Roman" panose="02020603050405020304" charset="0"/>
                </a:rPr>
                <a:t>T</a:t>
              </a:r>
              <a:r>
                <a:rPr lang="en-US" altLang="zh-CN" sz="2400" b="1" baseline="-25000" dirty="0">
                  <a:latin typeface="Times New Roman" panose="02020603050405020304" charset="0"/>
                  <a:ea typeface="楷体" panose="02010609060101010101" charset="-122"/>
                  <a:cs typeface="Times New Roman" panose="02020603050405020304" charset="0"/>
                </a:rPr>
                <a:t>D</a:t>
              </a:r>
              <a:r>
                <a:rPr lang="zh-CN" altLang="en-US" sz="2400" b="1" dirty="0">
                  <a:latin typeface="Times New Roman" panose="02020603050405020304" charset="0"/>
                  <a:ea typeface="楷体" panose="02010609060101010101" charset="-122"/>
                  <a:cs typeface="Times New Roman" panose="02020603050405020304" charset="0"/>
                </a:rPr>
                <a:t>导通，</a:t>
              </a:r>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O</a:t>
              </a:r>
              <a:r>
                <a:rPr lang="en-US" altLang="zh-CN" sz="2400" b="1" dirty="0">
                  <a:latin typeface="Times New Roman" panose="02020603050405020304" charset="0"/>
                  <a:ea typeface="楷体" panose="02010609060101010101" charset="-122"/>
                  <a:cs typeface="Times New Roman" panose="02020603050405020304" charset="0"/>
                </a:rPr>
                <a:t>=0</a:t>
              </a:r>
              <a:endParaRPr lang="en-US" altLang="zh-CN" sz="2400" b="1" dirty="0">
                <a:latin typeface="Times New Roman" panose="02020603050405020304" charset="0"/>
                <a:ea typeface="楷体" panose="02010609060101010101" charset="-122"/>
                <a:cs typeface="Times New Roman" panose="02020603050405020304" charset="0"/>
              </a:endParaRPr>
            </a:p>
          </p:txBody>
        </p:sp>
        <p:graphicFrame>
          <p:nvGraphicFramePr>
            <p:cNvPr id="32" name="对象 31">
              <a:hlinkClick r:id="" action="ppaction://ole?verb="/>
            </p:cNvPr>
            <p:cNvGraphicFramePr>
              <a:graphicFrameLocks noChangeAspect="1"/>
            </p:cNvGraphicFramePr>
            <p:nvPr/>
          </p:nvGraphicFramePr>
          <p:xfrm>
            <a:off x="840" y="9000"/>
            <a:ext cx="623" cy="659"/>
          </p:xfrm>
          <a:graphic>
            <a:graphicData uri="http://schemas.openxmlformats.org/presentationml/2006/ole">
              <mc:AlternateContent xmlns:mc="http://schemas.openxmlformats.org/markup-compatibility/2006">
                <mc:Choice xmlns:v="urn:schemas-microsoft-com:vml" Requires="v">
                  <p:oleObj spid="_x0000_s33" name="" r:id="rId6" imgW="228600" imgH="241300" progId="Equation.KSEE3">
                    <p:embed/>
                  </p:oleObj>
                </mc:Choice>
                <mc:Fallback>
                  <p:oleObj name="" r:id="rId6" imgW="228600" imgH="241300" progId="Equation.KSEE3">
                    <p:embed/>
                    <p:pic>
                      <p:nvPicPr>
                        <p:cNvPr id="0" name="图片 1024"/>
                        <p:cNvPicPr/>
                        <p:nvPr/>
                      </p:nvPicPr>
                      <p:blipFill>
                        <a:blip r:embed="rId4"/>
                        <a:stretch>
                          <a:fillRect/>
                        </a:stretch>
                      </p:blipFill>
                      <p:spPr>
                        <a:xfrm>
                          <a:off x="840" y="9000"/>
                          <a:ext cx="623" cy="659"/>
                        </a:xfrm>
                        <a:prstGeom prst="rect">
                          <a:avLst/>
                        </a:prstGeom>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linds(horizontal)">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2030"/>
                                        </p:tgtEl>
                                        <p:attrNameLst>
                                          <p:attrName>style.visibility</p:attrName>
                                        </p:attrNameLst>
                                      </p:cBhvr>
                                      <p:to>
                                        <p:strVal val="visible"/>
                                      </p:to>
                                    </p:set>
                                    <p:animEffect transition="in" filter="checkerboard(across)">
                                      <p:cBhvr>
                                        <p:cTn id="17" dur="500"/>
                                        <p:tgtEl>
                                          <p:spTgt spid="34203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500" fill="hold"/>
                                        <p:tgtEl>
                                          <p:spTgt spid="40"/>
                                        </p:tgtEl>
                                        <p:attrNameLst>
                                          <p:attrName>ppt_x</p:attrName>
                                        </p:attrNameLst>
                                      </p:cBhvr>
                                      <p:tavLst>
                                        <p:tav tm="0">
                                          <p:val>
                                            <p:strVal val="#ppt_x"/>
                                          </p:val>
                                        </p:tav>
                                        <p:tav tm="100000">
                                          <p:val>
                                            <p:strVal val="#ppt_x"/>
                                          </p:val>
                                        </p:tav>
                                      </p:tavLst>
                                    </p:anim>
                                    <p:anim calcmode="lin" valueType="num">
                                      <p:cBhvr additive="base">
                                        <p:cTn id="2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ppt_x"/>
                                          </p:val>
                                        </p:tav>
                                        <p:tav tm="100000">
                                          <p:val>
                                            <p:strVal val="#ppt_x"/>
                                          </p:val>
                                        </p:tav>
                                      </p:tavLst>
                                    </p:anim>
                                    <p:anim calcmode="lin" valueType="num">
                                      <p:cBhvr additive="base">
                                        <p:cTn id="29"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42021"/>
                                        </p:tgtEl>
                                        <p:attrNameLst>
                                          <p:attrName>style.visibility</p:attrName>
                                        </p:attrNameLst>
                                      </p:cBhvr>
                                      <p:to>
                                        <p:strVal val="visible"/>
                                      </p:to>
                                    </p:set>
                                    <p:animEffect transition="in" filter="blinds(horizontal)">
                                      <p:cBhvr>
                                        <p:cTn id="34" dur="500"/>
                                        <p:tgtEl>
                                          <p:spTgt spid="342021"/>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42019"/>
                                        </p:tgtEl>
                                        <p:attrNameLst>
                                          <p:attrName>style.visibility</p:attrName>
                                        </p:attrNameLst>
                                      </p:cBhvr>
                                      <p:to>
                                        <p:strVal val="visible"/>
                                      </p:to>
                                    </p:set>
                                    <p:animEffect transition="in" filter="blinds(horizontal)">
                                      <p:cBhvr>
                                        <p:cTn id="39" dur="500"/>
                                        <p:tgtEl>
                                          <p:spTgt spid="342019"/>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42020"/>
                                        </p:tgtEl>
                                        <p:attrNameLst>
                                          <p:attrName>style.visibility</p:attrName>
                                        </p:attrNameLst>
                                      </p:cBhvr>
                                      <p:to>
                                        <p:strVal val="visible"/>
                                      </p:to>
                                    </p:set>
                                    <p:animEffect transition="in" filter="blinds(horizontal)">
                                      <p:cBhvr>
                                        <p:cTn id="44" dur="500"/>
                                        <p:tgtEl>
                                          <p:spTgt spid="342020"/>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42018"/>
                                        </p:tgtEl>
                                        <p:attrNameLst>
                                          <p:attrName>style.visibility</p:attrName>
                                        </p:attrNameLst>
                                      </p:cBhvr>
                                      <p:to>
                                        <p:strVal val="visible"/>
                                      </p:to>
                                    </p:set>
                                    <p:animEffect transition="in" filter="blinds(horizontal)">
                                      <p:cBhvr>
                                        <p:cTn id="49" dur="500"/>
                                        <p:tgtEl>
                                          <p:spTgt spid="342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30" grpId="0"/>
      <p:bldP spid="342019" grpId="0"/>
      <p:bldP spid="342019" grpId="1"/>
      <p:bldP spid="342020" grpId="0"/>
      <p:bldP spid="342020" grpId="1"/>
      <p:bldP spid="342018" grpId="0"/>
      <p:bldP spid="342018" grpId="1"/>
      <p:bldP spid="342021" grpId="0"/>
      <p:bldP spid="34202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08655" y="533400"/>
            <a:ext cx="296481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7.2 555</a:t>
            </a:r>
            <a:r>
              <a:rPr lang="zh-CN" altLang="en-US" b="1" dirty="0">
                <a:solidFill>
                  <a:srgbClr val="FF0000"/>
                </a:solidFill>
                <a:latin typeface="黑体" panose="02010609060101010101" pitchFamily="49" charset="-122"/>
                <a:ea typeface="黑体" panose="02010609060101010101" pitchFamily="49" charset="-122"/>
              </a:rPr>
              <a:t>定时器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9634" name="灯片编号占位符 2"/>
          <p:cNvSpPr txBox="1">
            <a:spLocks noGrp="1"/>
          </p:cNvSpPr>
          <p:nvPr>
            <p:ph type="sldNum" sz="quarter" idx="11"/>
          </p:nvPr>
        </p:nvSpPr>
        <p:spPr>
          <a:xfrm>
            <a:off x="3124200" y="6080125"/>
            <a:ext cx="2895600" cy="244475"/>
          </a:xfrm>
        </p:spPr>
        <p:txBody>
          <a:bodyPr anchor="b" anchorCtr="0"/>
          <a:p>
            <a:pPr marL="0" indent="0" algn="r" eaLnBrk="1" hangingPunct="1">
              <a:spcBef>
                <a:spcPct val="0"/>
              </a:spcBef>
              <a:buClrTx/>
              <a:buSzTx/>
              <a:buFontTx/>
              <a:buNone/>
            </a:pPr>
            <a:fld id="{9A0DB2DC-4C9A-4742-B13C-FB6460FD3503}" type="slidenum">
              <a:rPr lang="en-US" altLang="zh-CN" sz="1200" dirty="0">
                <a:latin typeface="Times New Roman" panose="02020603050405020304" charset="0"/>
                <a:ea typeface="楷体" panose="02010609060101010101" charset="-122"/>
                <a:cs typeface="Times New Roman" panose="02020603050405020304" charset="0"/>
              </a:rPr>
            </a:fld>
            <a:endParaRPr lang="en-US" altLang="zh-CN" sz="1200" dirty="0">
              <a:latin typeface="Times New Roman" panose="02020603050405020304" charset="0"/>
              <a:ea typeface="楷体" panose="02010609060101010101" charset="-122"/>
              <a:cs typeface="Times New Roman" panose="02020603050405020304" charset="0"/>
            </a:endParaRPr>
          </a:p>
        </p:txBody>
      </p:sp>
      <p:sp>
        <p:nvSpPr>
          <p:cNvPr id="343102" name="Text Box 62"/>
          <p:cNvSpPr txBox="1"/>
          <p:nvPr/>
        </p:nvSpPr>
        <p:spPr>
          <a:xfrm>
            <a:off x="1218883" y="5791518"/>
            <a:ext cx="5181600" cy="45720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1318F3"/>
                </a:solidFill>
                <a:latin typeface="Times New Roman" panose="02020603050405020304" charset="0"/>
                <a:ea typeface="楷体" panose="02010609060101010101" charset="-122"/>
              </a:rPr>
              <a:t>则电路相应的所有阈值都发生变化。</a:t>
            </a:r>
            <a:endParaRPr lang="zh-CN" altLang="en-US" sz="2400" b="1" dirty="0">
              <a:solidFill>
                <a:srgbClr val="1318F3"/>
              </a:solidFill>
              <a:latin typeface="Times New Roman" panose="02020603050405020304" charset="0"/>
              <a:ea typeface="楷体" panose="02010609060101010101" charset="-122"/>
            </a:endParaRPr>
          </a:p>
        </p:txBody>
      </p:sp>
      <p:sp>
        <p:nvSpPr>
          <p:cNvPr id="343109" name="Text Box 69"/>
          <p:cNvSpPr txBox="1"/>
          <p:nvPr/>
        </p:nvSpPr>
        <p:spPr>
          <a:xfrm>
            <a:off x="7886700" y="3830003"/>
            <a:ext cx="1259205" cy="646430"/>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b="1" i="1" dirty="0">
                <a:solidFill>
                  <a:schemeClr val="accent2">
                    <a:lumMod val="40000"/>
                    <a:lumOff val="60000"/>
                  </a:schemeClr>
                </a:solidFill>
                <a:latin typeface="Times New Roman" panose="02020603050405020304" charset="0"/>
              </a:rPr>
              <a:t>R</a:t>
            </a:r>
            <a:r>
              <a:rPr lang="en-US" altLang="zh-CN" sz="1800" b="1" dirty="0">
                <a:solidFill>
                  <a:schemeClr val="accent2">
                    <a:lumMod val="40000"/>
                    <a:lumOff val="60000"/>
                  </a:schemeClr>
                </a:solidFill>
                <a:latin typeface="Times New Roman" panose="02020603050405020304" charset="0"/>
              </a:rPr>
              <a:t>=0</a:t>
            </a:r>
            <a:endParaRPr lang="en-US" altLang="zh-CN" sz="1800" b="1" dirty="0">
              <a:solidFill>
                <a:schemeClr val="accent2">
                  <a:lumMod val="40000"/>
                  <a:lumOff val="60000"/>
                </a:schemeClr>
              </a:solidFill>
              <a:latin typeface="Times New Roman" panose="02020603050405020304" charset="0"/>
            </a:endParaRPr>
          </a:p>
          <a:p>
            <a:pPr marL="0" lvl="0" indent="0" algn="ctr" eaLnBrk="1" hangingPunct="1">
              <a:spcBef>
                <a:spcPct val="0"/>
              </a:spcBef>
              <a:buClrTx/>
              <a:buSzTx/>
              <a:buFontTx/>
              <a:buNone/>
            </a:pPr>
            <a:r>
              <a:rPr lang="en-US" altLang="zh-CN" sz="1800" b="1" i="1" dirty="0">
                <a:solidFill>
                  <a:schemeClr val="accent2">
                    <a:lumMod val="40000"/>
                    <a:lumOff val="60000"/>
                  </a:schemeClr>
                </a:solidFill>
                <a:latin typeface="Times New Roman" panose="02020603050405020304" charset="0"/>
              </a:rPr>
              <a:t>S</a:t>
            </a:r>
            <a:r>
              <a:rPr lang="en-US" altLang="zh-CN" sz="1800" b="1" dirty="0">
                <a:solidFill>
                  <a:schemeClr val="accent2">
                    <a:lumMod val="40000"/>
                    <a:lumOff val="60000"/>
                  </a:schemeClr>
                </a:solidFill>
                <a:latin typeface="Times New Roman" panose="02020603050405020304" charset="0"/>
              </a:rPr>
              <a:t>=1</a:t>
            </a:r>
            <a:endParaRPr lang="en-US" altLang="zh-CN" sz="1800" b="1" dirty="0">
              <a:solidFill>
                <a:schemeClr val="accent2">
                  <a:lumMod val="40000"/>
                  <a:lumOff val="60000"/>
                </a:schemeClr>
              </a:solidFill>
              <a:latin typeface="Times New Roman" panose="02020603050405020304" charset="0"/>
            </a:endParaRPr>
          </a:p>
        </p:txBody>
      </p:sp>
      <p:sp>
        <p:nvSpPr>
          <p:cNvPr id="343110" name="Text Box 70"/>
          <p:cNvSpPr txBox="1"/>
          <p:nvPr/>
        </p:nvSpPr>
        <p:spPr>
          <a:xfrm>
            <a:off x="7886700" y="3315018"/>
            <a:ext cx="1258888" cy="64643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b="1" i="1" dirty="0">
                <a:solidFill>
                  <a:srgbClr val="0033CC"/>
                </a:solidFill>
                <a:latin typeface="Times New Roman" panose="02020603050405020304" charset="0"/>
              </a:rPr>
              <a:t>R</a:t>
            </a:r>
            <a:r>
              <a:rPr lang="en-US" altLang="zh-CN" sz="1800" b="1" dirty="0">
                <a:solidFill>
                  <a:srgbClr val="0033CC"/>
                </a:solidFill>
                <a:latin typeface="Times New Roman" panose="02020603050405020304" charset="0"/>
              </a:rPr>
              <a:t>=1</a:t>
            </a:r>
            <a:endParaRPr lang="en-US" altLang="zh-CN" sz="1800" b="1" dirty="0">
              <a:solidFill>
                <a:srgbClr val="0033CC"/>
              </a:solidFill>
              <a:latin typeface="Times New Roman" panose="02020603050405020304" charset="0"/>
            </a:endParaRPr>
          </a:p>
          <a:p>
            <a:pPr marL="0" lvl="0" indent="0" algn="ctr" eaLnBrk="1" hangingPunct="1">
              <a:spcBef>
                <a:spcPct val="0"/>
              </a:spcBef>
              <a:buClrTx/>
              <a:buSzTx/>
              <a:buFontTx/>
              <a:buNone/>
            </a:pPr>
            <a:r>
              <a:rPr lang="en-US" altLang="zh-CN" sz="1800" b="1" i="1" dirty="0">
                <a:solidFill>
                  <a:srgbClr val="0033CC"/>
                </a:solidFill>
                <a:latin typeface="Times New Roman" panose="02020603050405020304" charset="0"/>
              </a:rPr>
              <a:t>S</a:t>
            </a:r>
            <a:r>
              <a:rPr lang="en-US" altLang="zh-CN" sz="1800" b="1" dirty="0">
                <a:solidFill>
                  <a:srgbClr val="0033CC"/>
                </a:solidFill>
                <a:latin typeface="Times New Roman" panose="02020603050405020304" charset="0"/>
              </a:rPr>
              <a:t>=0</a:t>
            </a:r>
            <a:endParaRPr lang="en-US" altLang="zh-CN" sz="1800" b="1" dirty="0">
              <a:solidFill>
                <a:srgbClr val="0033CC"/>
              </a:solidFill>
              <a:latin typeface="Times New Roman" panose="02020603050405020304" charset="0"/>
            </a:endParaRPr>
          </a:p>
        </p:txBody>
      </p:sp>
      <p:sp>
        <p:nvSpPr>
          <p:cNvPr id="343111" name="Text Box 71"/>
          <p:cNvSpPr txBox="1"/>
          <p:nvPr/>
        </p:nvSpPr>
        <p:spPr>
          <a:xfrm>
            <a:off x="7886700" y="4344988"/>
            <a:ext cx="1258888" cy="64643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b="1" i="1" dirty="0">
                <a:solidFill>
                  <a:srgbClr val="000066"/>
                </a:solidFill>
                <a:latin typeface="Times New Roman" panose="02020603050405020304" charset="0"/>
              </a:rPr>
              <a:t>R</a:t>
            </a:r>
            <a:r>
              <a:rPr lang="en-US" altLang="zh-CN" sz="1800" b="1" dirty="0">
                <a:solidFill>
                  <a:srgbClr val="000066"/>
                </a:solidFill>
                <a:latin typeface="Times New Roman" panose="02020603050405020304" charset="0"/>
              </a:rPr>
              <a:t>=1</a:t>
            </a:r>
            <a:endParaRPr lang="en-US" altLang="zh-CN" sz="1800" b="1" dirty="0">
              <a:solidFill>
                <a:srgbClr val="000066"/>
              </a:solidFill>
              <a:latin typeface="Times New Roman" panose="02020603050405020304" charset="0"/>
            </a:endParaRPr>
          </a:p>
          <a:p>
            <a:pPr marL="0" lvl="0" indent="0" algn="ctr" eaLnBrk="1" hangingPunct="1">
              <a:spcBef>
                <a:spcPct val="0"/>
              </a:spcBef>
              <a:buClrTx/>
              <a:buSzTx/>
              <a:buFontTx/>
              <a:buNone/>
            </a:pPr>
            <a:r>
              <a:rPr lang="en-US" altLang="zh-CN" sz="1800" b="1" i="1" dirty="0">
                <a:solidFill>
                  <a:srgbClr val="000066"/>
                </a:solidFill>
                <a:latin typeface="Times New Roman" panose="02020603050405020304" charset="0"/>
              </a:rPr>
              <a:t>S</a:t>
            </a:r>
            <a:r>
              <a:rPr lang="en-US" altLang="zh-CN" sz="1800" b="1" dirty="0">
                <a:solidFill>
                  <a:srgbClr val="000066"/>
                </a:solidFill>
                <a:latin typeface="Times New Roman" panose="02020603050405020304" charset="0"/>
              </a:rPr>
              <a:t>=1</a:t>
            </a:r>
            <a:endParaRPr lang="en-US" altLang="zh-CN" sz="1800" b="1" dirty="0">
              <a:solidFill>
                <a:srgbClr val="000066"/>
              </a:solidFill>
              <a:latin typeface="Times New Roman" panose="02020603050405020304" charset="0"/>
            </a:endParaRPr>
          </a:p>
        </p:txBody>
      </p:sp>
      <p:pic>
        <p:nvPicPr>
          <p:cNvPr id="29" name="图片 28"/>
          <p:cNvPicPr>
            <a:picLocks noChangeAspect="1"/>
          </p:cNvPicPr>
          <p:nvPr/>
        </p:nvPicPr>
        <p:blipFill>
          <a:blip r:embed="rId1"/>
          <a:stretch>
            <a:fillRect/>
          </a:stretch>
        </p:blipFill>
        <p:spPr>
          <a:xfrm>
            <a:off x="533400" y="1327785"/>
            <a:ext cx="7727950" cy="3776980"/>
          </a:xfrm>
          <a:prstGeom prst="rect">
            <a:avLst/>
          </a:prstGeom>
        </p:spPr>
      </p:pic>
      <p:grpSp>
        <p:nvGrpSpPr>
          <p:cNvPr id="34" name="组合 33"/>
          <p:cNvGrpSpPr/>
          <p:nvPr/>
        </p:nvGrpSpPr>
        <p:grpSpPr>
          <a:xfrm>
            <a:off x="419100" y="5267960"/>
            <a:ext cx="8458200" cy="508000"/>
            <a:chOff x="660" y="8296"/>
            <a:chExt cx="13320" cy="800"/>
          </a:xfrm>
        </p:grpSpPr>
        <p:sp>
          <p:nvSpPr>
            <p:cNvPr id="343104" name="Rectangle 64"/>
            <p:cNvSpPr/>
            <p:nvPr/>
          </p:nvSpPr>
          <p:spPr>
            <a:xfrm>
              <a:off x="660" y="8370"/>
              <a:ext cx="13320" cy="727"/>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思考</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时，若加控制电压</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CO</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，如何？</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30" name="对象 29">
              <a:hlinkClick r:id="" action="ppaction://ole?verb="/>
            </p:cNvPr>
            <p:cNvGraphicFramePr>
              <a:graphicFrameLocks noChangeAspect="1"/>
            </p:cNvGraphicFramePr>
            <p:nvPr/>
          </p:nvGraphicFramePr>
          <p:xfrm>
            <a:off x="2040" y="8296"/>
            <a:ext cx="623" cy="659"/>
          </p:xfrm>
          <a:graphic>
            <a:graphicData uri="http://schemas.openxmlformats.org/presentationml/2006/ole">
              <mc:AlternateContent xmlns:mc="http://schemas.openxmlformats.org/markup-compatibility/2006">
                <mc:Choice xmlns:v="urn:schemas-microsoft-com:vml" Requires="v">
                  <p:oleObj spid="_x0000_s31" name="" r:id="rId2" imgW="228600" imgH="241300" progId="Equation.KSEE3">
                    <p:embed/>
                  </p:oleObj>
                </mc:Choice>
                <mc:Fallback>
                  <p:oleObj name="" r:id="rId2" imgW="228600" imgH="241300" progId="Equation.KSEE3">
                    <p:embed/>
                    <p:pic>
                      <p:nvPicPr>
                        <p:cNvPr id="0" name="图片 1024"/>
                        <p:cNvPicPr/>
                        <p:nvPr/>
                      </p:nvPicPr>
                      <p:blipFill>
                        <a:blip r:embed="rId3"/>
                        <a:stretch>
                          <a:fillRect/>
                        </a:stretch>
                      </p:blipFill>
                      <p:spPr>
                        <a:xfrm>
                          <a:off x="2040" y="8296"/>
                          <a:ext cx="623" cy="659"/>
                        </a:xfrm>
                        <a:prstGeom prst="rect">
                          <a:avLst/>
                        </a:prstGeom>
                      </p:spPr>
                    </p:pic>
                  </p:oleObj>
                </mc:Fallback>
              </mc:AlternateContent>
            </a:graphicData>
          </a:graphic>
        </p:graphicFrame>
      </p:grpSp>
      <p:sp>
        <p:nvSpPr>
          <p:cNvPr id="368649" name="Rectangle 9"/>
          <p:cNvSpPr/>
          <p:nvPr/>
        </p:nvSpPr>
        <p:spPr>
          <a:xfrm>
            <a:off x="6629083" y="5289233"/>
            <a:ext cx="1823085" cy="954405"/>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charset="0"/>
              </a:rPr>
              <a:t>v</a:t>
            </a:r>
            <a:r>
              <a:rPr lang="en-US" altLang="zh-CN" sz="2800" b="1" baseline="-25000" dirty="0">
                <a:latin typeface="Times New Roman" panose="02020603050405020304" charset="0"/>
              </a:rPr>
              <a:t>IC</a:t>
            </a:r>
            <a:r>
              <a:rPr lang="en-US" altLang="zh-CN" sz="2800" b="1" dirty="0">
                <a:latin typeface="Times New Roman" panose="02020603050405020304" charset="0"/>
              </a:rPr>
              <a:t>=</a:t>
            </a:r>
            <a:r>
              <a:rPr lang="en-US" altLang="zh-CN" sz="2800" b="1" i="1" dirty="0">
                <a:latin typeface="Times New Roman" panose="02020603050405020304" charset="0"/>
              </a:rPr>
              <a:t>V</a:t>
            </a:r>
            <a:r>
              <a:rPr lang="en-US" altLang="zh-CN" sz="2800" b="1" baseline="-25000" dirty="0">
                <a:latin typeface="Times New Roman" panose="02020603050405020304" charset="0"/>
              </a:rPr>
              <a:t>CO</a:t>
            </a:r>
            <a:endParaRPr lang="en-US" altLang="zh-CN" sz="2800" b="1" baseline="-25000" dirty="0">
              <a:latin typeface="Times New Roman" panose="02020603050405020304" charset="0"/>
            </a:endParaRPr>
          </a:p>
          <a:p>
            <a:pPr marL="0" lvl="0" indent="0" eaLnBrk="1" hangingPunct="1">
              <a:spcBef>
                <a:spcPct val="0"/>
              </a:spcBef>
              <a:buClrTx/>
              <a:buSzTx/>
              <a:buFontTx/>
              <a:buNone/>
            </a:pPr>
            <a:r>
              <a:rPr lang="en-US" altLang="zh-CN" sz="2800" b="1" dirty="0">
                <a:latin typeface="Times New Roman" panose="02020603050405020304" charset="0"/>
              </a:rPr>
              <a:t>v</a:t>
            </a:r>
            <a:r>
              <a:rPr lang="en-US" altLang="zh-CN" sz="2800" b="1" baseline="-25000" dirty="0">
                <a:latin typeface="Times New Roman" panose="02020603050405020304" charset="0"/>
              </a:rPr>
              <a:t>I2</a:t>
            </a:r>
            <a:r>
              <a:rPr lang="en-US" altLang="zh-CN" sz="2800" b="1" dirty="0">
                <a:latin typeface="Times New Roman" panose="02020603050405020304" charset="0"/>
              </a:rPr>
              <a:t>=1/2</a:t>
            </a:r>
            <a:r>
              <a:rPr lang="en-US" altLang="zh-CN" sz="2800" b="1" i="1" dirty="0">
                <a:latin typeface="Times New Roman" panose="02020603050405020304" charset="0"/>
              </a:rPr>
              <a:t>V</a:t>
            </a:r>
            <a:r>
              <a:rPr lang="en-US" altLang="zh-CN" sz="2800" b="1" baseline="-25000" dirty="0">
                <a:latin typeface="Times New Roman" panose="02020603050405020304" charset="0"/>
              </a:rPr>
              <a:t>CO</a:t>
            </a:r>
            <a:endParaRPr lang="en-US" altLang="zh-CN" sz="2800" b="1" dirty="0">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31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3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3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blinds(horizontal)">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43102"/>
                                        </p:tgtEl>
                                        <p:attrNameLst>
                                          <p:attrName>style.visibility</p:attrName>
                                        </p:attrNameLst>
                                      </p:cBhvr>
                                      <p:to>
                                        <p:strVal val="visible"/>
                                      </p:to>
                                    </p:set>
                                    <p:animEffect transition="in" filter="wipe(left)">
                                      <p:cBhvr>
                                        <p:cTn id="24" dur="500"/>
                                        <p:tgtEl>
                                          <p:spTgt spid="34310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86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102" grpId="0"/>
      <p:bldP spid="343109" grpId="0"/>
      <p:bldP spid="343110" grpId="0"/>
      <p:bldP spid="343111" grpId="0"/>
      <p:bldP spid="368649" grpId="0"/>
      <p:bldP spid="368649"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0865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268" name="Line 14"/>
          <p:cNvSpPr/>
          <p:nvPr/>
        </p:nvSpPr>
        <p:spPr>
          <a:xfrm>
            <a:off x="1403350" y="1125538"/>
            <a:ext cx="6624638" cy="0"/>
          </a:xfrm>
          <a:prstGeom prst="line">
            <a:avLst/>
          </a:prstGeom>
          <a:ln w="76200" cap="flat" cmpd="tri">
            <a:solidFill>
              <a:srgbClr val="FF33CC"/>
            </a:solidFill>
            <a:prstDash val="solid"/>
            <a:headEnd type="none" w="med" len="med"/>
            <a:tailEnd type="none" w="med" len="med"/>
          </a:ln>
        </p:spPr>
      </p:sp>
      <p:sp>
        <p:nvSpPr>
          <p:cNvPr id="282639" name="Text Box 15"/>
          <p:cNvSpPr txBox="1"/>
          <p:nvPr/>
        </p:nvSpPr>
        <p:spPr>
          <a:xfrm>
            <a:off x="179388" y="1916113"/>
            <a:ext cx="8964612" cy="249047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1)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电路有一个稳态</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和一个暂稳态</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600" b="1"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lnSpc>
                <a:spcPct val="120000"/>
              </a:lnSpc>
              <a:spcBef>
                <a:spcPct val="0"/>
              </a:spcBef>
              <a:buClrTx/>
              <a:buSzTx/>
              <a:buFontTx/>
              <a:buNone/>
            </a:pP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2)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在外加触发信号的作用下，电路由稳态</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变为暂稳态；</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lnSpc>
                <a:spcPct val="120000"/>
              </a:lnSpc>
              <a:spcBef>
                <a:spcPct val="0"/>
              </a:spcBef>
              <a:buClrTx/>
              <a:buSzTx/>
              <a:buFontTx/>
              <a:buNone/>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3)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经过一段时间，电路将自动由暂稳态返回到稳态；</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lnSpc>
                <a:spcPct val="120000"/>
              </a:lnSpc>
              <a:spcBef>
                <a:spcPct val="0"/>
              </a:spcBef>
              <a:buClrTx/>
              <a:buSzTx/>
              <a:buFontTx/>
              <a:buNone/>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4)</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暂态的持续时间只取决于电路参数，而与所加触发信号的宽度无关。</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82640" name="Rectangle 16"/>
          <p:cNvSpPr/>
          <p:nvPr/>
        </p:nvSpPr>
        <p:spPr>
          <a:xfrm>
            <a:off x="3635375" y="5110163"/>
            <a:ext cx="3851275" cy="519112"/>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CC3300"/>
                </a:solidFill>
                <a:latin typeface="Times New Roman" panose="02020603050405020304" charset="0"/>
                <a:ea typeface="楷体" panose="02010609060101010101" charset="-122"/>
                <a:cs typeface="Times New Roman" panose="02020603050405020304" charset="0"/>
              </a:rPr>
              <a:t>与基本</a:t>
            </a:r>
            <a:r>
              <a:rPr lang="en-US" altLang="zh-CN" sz="2800" b="1" i="1" dirty="0">
                <a:solidFill>
                  <a:srgbClr val="CC3300"/>
                </a:solidFill>
                <a:latin typeface="Times New Roman" panose="02020603050405020304" charset="0"/>
                <a:ea typeface="楷体" panose="02010609060101010101" charset="-122"/>
                <a:cs typeface="Times New Roman" panose="02020603050405020304" charset="0"/>
              </a:rPr>
              <a:t>RS</a:t>
            </a:r>
            <a:r>
              <a:rPr lang="zh-CN" altLang="en-US" sz="2800" b="1" dirty="0">
                <a:solidFill>
                  <a:srgbClr val="CC3300"/>
                </a:solidFill>
                <a:latin typeface="Times New Roman" panose="02020603050405020304" charset="0"/>
                <a:ea typeface="楷体" panose="02010609060101010101" charset="-122"/>
                <a:cs typeface="Times New Roman" panose="02020603050405020304" charset="0"/>
              </a:rPr>
              <a:t>触发器区别！</a:t>
            </a:r>
            <a:endParaRPr lang="zh-CN" altLang="en-US" sz="2800" b="1" dirty="0">
              <a:solidFill>
                <a:srgbClr val="CC3300"/>
              </a:solidFill>
              <a:latin typeface="Times New Roman" panose="02020603050405020304" charset="0"/>
              <a:ea typeface="楷体" panose="02010609060101010101" charset="-122"/>
              <a:cs typeface="Times New Roman" panose="02020603050405020304" charset="0"/>
            </a:endParaRPr>
          </a:p>
        </p:txBody>
      </p:sp>
      <p:sp>
        <p:nvSpPr>
          <p:cNvPr id="282641" name="Rectangle 17"/>
          <p:cNvSpPr/>
          <p:nvPr/>
        </p:nvSpPr>
        <p:spPr>
          <a:xfrm>
            <a:off x="684213" y="1341438"/>
            <a:ext cx="5400675" cy="519112"/>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10000"/>
              </a:spcBef>
              <a:buClrTx/>
              <a:buSzTx/>
              <a:buFontTx/>
              <a:buNone/>
            </a:pPr>
            <a:r>
              <a:rPr lang="zh-CN" altLang="en-US" sz="2800" b="1" dirty="0">
                <a:solidFill>
                  <a:schemeClr val="accent2">
                    <a:lumMod val="40000"/>
                    <a:lumOff val="60000"/>
                  </a:schemeClr>
                </a:solidFill>
                <a:latin typeface="Times New Roman" panose="02020603050405020304" charset="0"/>
                <a:ea typeface="楷体" panose="02010609060101010101" charset="-122"/>
              </a:rPr>
              <a:t>单稳态触发器的特点：</a:t>
            </a:r>
            <a:endParaRPr lang="zh-CN" altLang="en-US" sz="2800" b="1" dirty="0">
              <a:solidFill>
                <a:schemeClr val="accent2">
                  <a:lumMod val="40000"/>
                  <a:lumOff val="60000"/>
                </a:schemeClr>
              </a:solidFill>
              <a:latin typeface="Times New Roman" panose="02020603050405020304" charset="0"/>
              <a:ea typeface="楷体" panose="02010609060101010101" charset="-122"/>
            </a:endParaRPr>
          </a:p>
        </p:txBody>
      </p:sp>
      <p:grpSp>
        <p:nvGrpSpPr>
          <p:cNvPr id="282642" name="Group 18"/>
          <p:cNvGrpSpPr/>
          <p:nvPr/>
        </p:nvGrpSpPr>
        <p:grpSpPr>
          <a:xfrm>
            <a:off x="1331913" y="4797425"/>
            <a:ext cx="1752600" cy="1219200"/>
            <a:chOff x="1296" y="1584"/>
            <a:chExt cx="1248" cy="816"/>
          </a:xfrm>
        </p:grpSpPr>
        <p:sp>
          <p:nvSpPr>
            <p:cNvPr id="11275" name="AutoShape 19"/>
            <p:cNvSpPr/>
            <p:nvPr/>
          </p:nvSpPr>
          <p:spPr>
            <a:xfrm>
              <a:off x="1296" y="1584"/>
              <a:ext cx="1248" cy="816"/>
            </a:xfrm>
            <a:prstGeom prst="irregularSeal1">
              <a:avLst/>
            </a:prstGeom>
            <a:gradFill rotWithShape="0">
              <a:gsLst>
                <a:gs pos="0">
                  <a:srgbClr val="760000"/>
                </a:gs>
                <a:gs pos="50000">
                  <a:srgbClr val="FF0000"/>
                </a:gs>
                <a:gs pos="100000">
                  <a:srgbClr val="760000"/>
                </a:gs>
              </a:gsLst>
              <a:lin ang="5400000" scaled="1"/>
              <a:tileRect/>
            </a:gradFill>
            <a:ln w="15875" cap="flat" cmpd="sng">
              <a:solidFill>
                <a:schemeClr val="tx1"/>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800" dirty="0">
                <a:latin typeface="Times New Roman" panose="02020603050405020304" charset="0"/>
                <a:ea typeface="楷体" panose="02010609060101010101" charset="-122"/>
                <a:cs typeface="Times New Roman" panose="02020603050405020304" charset="0"/>
              </a:endParaRPr>
            </a:p>
          </p:txBody>
        </p:sp>
        <p:sp>
          <p:nvSpPr>
            <p:cNvPr id="11276" name="Rectangle 20"/>
            <p:cNvSpPr/>
            <p:nvPr/>
          </p:nvSpPr>
          <p:spPr>
            <a:xfrm>
              <a:off x="1632" y="1824"/>
              <a:ext cx="566" cy="306"/>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FF00"/>
                  </a:solidFill>
                  <a:latin typeface="Times New Roman" panose="02020603050405020304" charset="0"/>
                  <a:ea typeface="楷体" panose="02010609060101010101" charset="-122"/>
                  <a:cs typeface="Times New Roman" panose="02020603050405020304" charset="0"/>
                </a:rPr>
                <a:t>注意</a:t>
              </a:r>
              <a:r>
                <a:rPr lang="en-US" altLang="zh-CN" sz="2400" b="1" dirty="0">
                  <a:solidFill>
                    <a:srgbClr val="FFFF00"/>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FFFF00"/>
                </a:solidFill>
                <a:latin typeface="Times New Roman" panose="02020603050405020304" charset="0"/>
                <a:ea typeface="楷体" panose="02010609060101010101" charset="-122"/>
                <a:cs typeface="Times New Roman" panose="02020603050405020304" charset="0"/>
              </a:endParaRPr>
            </a:p>
          </p:txBody>
        </p:sp>
      </p:grpSp>
      <p:sp>
        <p:nvSpPr>
          <p:cNvPr id="282645" name="Rectangle 21"/>
          <p:cNvSpPr/>
          <p:nvPr/>
        </p:nvSpPr>
        <p:spPr>
          <a:xfrm>
            <a:off x="4140200" y="5665788"/>
            <a:ext cx="4176713" cy="519112"/>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rgbClr val="0033CC"/>
                </a:solidFill>
                <a:latin typeface="Times New Roman" panose="02020603050405020304" charset="0"/>
                <a:ea typeface="楷体" panose="02010609060101010101" charset="-122"/>
                <a:cs typeface="Times New Roman" panose="02020603050405020304" charset="0"/>
              </a:rPr>
              <a:t>——</a:t>
            </a:r>
            <a:r>
              <a:rPr lang="zh-CN" altLang="en-US" sz="2800" b="1" dirty="0">
                <a:solidFill>
                  <a:srgbClr val="0033CC"/>
                </a:solidFill>
                <a:latin typeface="Times New Roman" panose="02020603050405020304" charset="0"/>
                <a:ea typeface="楷体" panose="02010609060101010101" charset="-122"/>
                <a:cs typeface="Times New Roman" panose="02020603050405020304" charset="0"/>
              </a:rPr>
              <a:t>后者为双稳态电路</a:t>
            </a:r>
            <a:endParaRPr lang="zh-CN" altLang="en-US" sz="2800" b="1" dirty="0">
              <a:solidFill>
                <a:srgbClr val="0033CC"/>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2641"/>
                                        </p:tgtEl>
                                        <p:attrNameLst>
                                          <p:attrName>style.visibility</p:attrName>
                                        </p:attrNameLst>
                                      </p:cBhvr>
                                      <p:to>
                                        <p:strVal val="visible"/>
                                      </p:to>
                                    </p:set>
                                    <p:animEffect transition="in" filter="box(in)">
                                      <p:cBhvr>
                                        <p:cTn id="7" dur="500"/>
                                        <p:tgtEl>
                                          <p:spTgt spid="2826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2639">
                                            <p:txEl>
                                              <p:charRg st="0" end="22"/>
                                            </p:txEl>
                                          </p:spTgt>
                                        </p:tgtEl>
                                        <p:attrNameLst>
                                          <p:attrName>style.visibility</p:attrName>
                                        </p:attrNameLst>
                                      </p:cBhvr>
                                      <p:to>
                                        <p:strVal val="visible"/>
                                      </p:to>
                                    </p:set>
                                    <p:animEffect transition="in" filter="wipe(up)">
                                      <p:cBhvr>
                                        <p:cTn id="12" dur="500"/>
                                        <p:tgtEl>
                                          <p:spTgt spid="282639">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2639">
                                            <p:txEl>
                                              <p:charRg st="22" end="54"/>
                                            </p:txEl>
                                          </p:spTgt>
                                        </p:tgtEl>
                                        <p:attrNameLst>
                                          <p:attrName>style.visibility</p:attrName>
                                        </p:attrNameLst>
                                      </p:cBhvr>
                                      <p:to>
                                        <p:strVal val="visible"/>
                                      </p:to>
                                    </p:set>
                                    <p:animEffect transition="in" filter="wipe(up)">
                                      <p:cBhvr>
                                        <p:cTn id="17" dur="500"/>
                                        <p:tgtEl>
                                          <p:spTgt spid="282639">
                                            <p:txEl>
                                              <p:charRg st="22" end="5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82639">
                                            <p:txEl>
                                              <p:charRg st="54" end="84"/>
                                            </p:txEl>
                                          </p:spTgt>
                                        </p:tgtEl>
                                        <p:attrNameLst>
                                          <p:attrName>style.visibility</p:attrName>
                                        </p:attrNameLst>
                                      </p:cBhvr>
                                      <p:to>
                                        <p:strVal val="visible"/>
                                      </p:to>
                                    </p:set>
                                    <p:animEffect transition="in" filter="wipe(up)">
                                      <p:cBhvr>
                                        <p:cTn id="22" dur="500"/>
                                        <p:tgtEl>
                                          <p:spTgt spid="282639">
                                            <p:txEl>
                                              <p:charRg st="54" end="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82639">
                                            <p:txEl>
                                              <p:charRg st="84" end="121"/>
                                            </p:txEl>
                                          </p:spTgt>
                                        </p:tgtEl>
                                        <p:attrNameLst>
                                          <p:attrName>style.visibility</p:attrName>
                                        </p:attrNameLst>
                                      </p:cBhvr>
                                      <p:to>
                                        <p:strVal val="visible"/>
                                      </p:to>
                                    </p:set>
                                    <p:animEffect transition="in" filter="wipe(up)">
                                      <p:cBhvr>
                                        <p:cTn id="27" dur="500"/>
                                        <p:tgtEl>
                                          <p:spTgt spid="282639">
                                            <p:txEl>
                                              <p:charRg st="84" end="12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282642"/>
                                        </p:tgtEl>
                                        <p:attrNameLst>
                                          <p:attrName>style.visibility</p:attrName>
                                        </p:attrNameLst>
                                      </p:cBhvr>
                                      <p:to>
                                        <p:strVal val="visible"/>
                                      </p:to>
                                    </p:set>
                                    <p:anim calcmode="lin" valueType="num">
                                      <p:cBhvr>
                                        <p:cTn id="32" dur="500" fill="hold"/>
                                        <p:tgtEl>
                                          <p:spTgt spid="282642"/>
                                        </p:tgtEl>
                                        <p:attrNameLst>
                                          <p:attrName>ppt_w</p:attrName>
                                        </p:attrNameLst>
                                      </p:cBhvr>
                                      <p:tavLst>
                                        <p:tav tm="0">
                                          <p:val>
                                            <p:fltVal val="0.000000"/>
                                          </p:val>
                                        </p:tav>
                                        <p:tav tm="100000">
                                          <p:val>
                                            <p:strVal val="#ppt_w"/>
                                          </p:val>
                                        </p:tav>
                                      </p:tavLst>
                                    </p:anim>
                                    <p:anim calcmode="lin" valueType="num">
                                      <p:cBhvr>
                                        <p:cTn id="33" dur="500" fill="hold"/>
                                        <p:tgtEl>
                                          <p:spTgt spid="282642"/>
                                        </p:tgtEl>
                                        <p:attrNameLst>
                                          <p:attrName>ppt_h</p:attrName>
                                        </p:attrNameLst>
                                      </p:cBhvr>
                                      <p:tavLst>
                                        <p:tav tm="0">
                                          <p:val>
                                            <p:fltVal val="0.000000"/>
                                          </p:val>
                                        </p:tav>
                                        <p:tav tm="100000">
                                          <p:val>
                                            <p:strVal val="#ppt_h"/>
                                          </p:val>
                                        </p:tav>
                                      </p:tavLst>
                                    </p:anim>
                                  </p:childTnLst>
                                </p:cTn>
                              </p:par>
                            </p:childTnLst>
                          </p:cTn>
                        </p:par>
                        <p:par>
                          <p:cTn id="34" fill="hold">
                            <p:stCondLst>
                              <p:cond delay="500"/>
                            </p:stCondLst>
                            <p:childTnLst>
                              <p:par>
                                <p:cTn id="35" presetID="3" presetClass="entr" presetSubtype="10" fill="hold" grpId="0" nodeType="afterEffect">
                                  <p:stCondLst>
                                    <p:cond delay="0"/>
                                  </p:stCondLst>
                                  <p:childTnLst>
                                    <p:set>
                                      <p:cBhvr>
                                        <p:cTn id="36" dur="1" fill="hold">
                                          <p:stCondLst>
                                            <p:cond delay="0"/>
                                          </p:stCondLst>
                                        </p:cTn>
                                        <p:tgtEl>
                                          <p:spTgt spid="282640"/>
                                        </p:tgtEl>
                                        <p:attrNameLst>
                                          <p:attrName>style.visibility</p:attrName>
                                        </p:attrNameLst>
                                      </p:cBhvr>
                                      <p:to>
                                        <p:strVal val="visible"/>
                                      </p:to>
                                    </p:set>
                                    <p:animEffect transition="in" filter="blinds(horizontal)">
                                      <p:cBhvr>
                                        <p:cTn id="37" dur="500"/>
                                        <p:tgtEl>
                                          <p:spTgt spid="28264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82645"/>
                                        </p:tgtEl>
                                        <p:attrNameLst>
                                          <p:attrName>style.visibility</p:attrName>
                                        </p:attrNameLst>
                                      </p:cBhvr>
                                      <p:to>
                                        <p:strVal val="visible"/>
                                      </p:to>
                                    </p:set>
                                    <p:animEffect transition="in" filter="blinds(horizontal)">
                                      <p:cBhvr>
                                        <p:cTn id="42" dur="500"/>
                                        <p:tgtEl>
                                          <p:spTgt spid="282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39" grpId="0" advAuto="1000" uiExpand="1" build="p"/>
      <p:bldP spid="282640" grpId="0"/>
      <p:bldP spid="282641" grpId="0"/>
      <p:bldP spid="2826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3"/>
          <p:cNvSpPr>
            <a:spLocks noGrp="1"/>
          </p:cNvSpPr>
          <p:nvPr/>
        </p:nvSpPr>
        <p:spPr>
          <a:xfrm>
            <a:off x="1122680" y="12192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zh-CN" altLang="en-US" sz="2400" b="1" kern="1200" dirty="0">
                <a:solidFill>
                  <a:srgbClr val="FE09D6"/>
                </a:solidFill>
                <a:latin typeface="Times New Roman" panose="02020603050405020304" charset="0"/>
                <a:ea typeface="楷体_GB2312" panose="02010609030101010101" pitchFamily="49" charset="-122"/>
                <a:cs typeface="Times New Roman" panose="02020603050405020304" charset="0"/>
              </a:rPr>
              <a:t>分类：</a:t>
            </a:r>
            <a:endParaRPr lang="zh-CN" altLang="en-US" sz="2400" b="1" kern="1200" dirty="0">
              <a:solidFill>
                <a:srgbClr val="FE09D6"/>
              </a:solidFill>
              <a:latin typeface="Times New Roman" panose="02020603050405020304" charset="0"/>
              <a:ea typeface="楷体_GB2312" panose="02010609030101010101" pitchFamily="49" charset="-122"/>
              <a:cs typeface="Times New Roman" panose="02020603050405020304" charset="0"/>
            </a:endParaRPr>
          </a:p>
        </p:txBody>
      </p:sp>
      <p:sp>
        <p:nvSpPr>
          <p:cNvPr id="6148" name="TextBox 6"/>
          <p:cNvSpPr txBox="1"/>
          <p:nvPr/>
        </p:nvSpPr>
        <p:spPr>
          <a:xfrm>
            <a:off x="320865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42030" name="Rectangle 14"/>
          <p:cNvSpPr/>
          <p:nvPr/>
        </p:nvSpPr>
        <p:spPr>
          <a:xfrm>
            <a:off x="990600" y="1829435"/>
            <a:ext cx="4808855" cy="46164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66"/>
                </a:solidFill>
                <a:latin typeface="Times New Roman" panose="02020603050405020304" charset="0"/>
                <a:ea typeface="楷体" panose="02010609060101010101" charset="-122"/>
              </a:rPr>
              <a:t>不可重复</a:t>
            </a:r>
            <a:r>
              <a:rPr lang="zh-CN" altLang="en-US" sz="2400" b="1" dirty="0">
                <a:solidFill>
                  <a:srgbClr val="000066"/>
                </a:solidFill>
                <a:latin typeface="Times New Roman" panose="02020603050405020304" charset="0"/>
                <a:ea typeface="楷体" panose="02010609060101010101" charset="-122"/>
              </a:rPr>
              <a:t>触发</a:t>
            </a:r>
            <a:endParaRPr lang="zh-CN" altLang="en-US" sz="2400" b="1" dirty="0">
              <a:solidFill>
                <a:srgbClr val="000066"/>
              </a:solidFill>
              <a:latin typeface="Times New Roman" panose="02020603050405020304" charset="0"/>
              <a:ea typeface="楷体" panose="02010609060101010101" charset="-122"/>
            </a:endParaRPr>
          </a:p>
        </p:txBody>
      </p:sp>
      <p:sp>
        <p:nvSpPr>
          <p:cNvPr id="6" name="Rectangle 14"/>
          <p:cNvSpPr/>
          <p:nvPr/>
        </p:nvSpPr>
        <p:spPr>
          <a:xfrm>
            <a:off x="4648200" y="1829435"/>
            <a:ext cx="3787775" cy="46164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66"/>
                </a:solidFill>
                <a:latin typeface="Times New Roman" panose="02020603050405020304" charset="0"/>
                <a:ea typeface="楷体" panose="02010609060101010101" charset="-122"/>
              </a:rPr>
              <a:t>可重复</a:t>
            </a:r>
            <a:r>
              <a:rPr lang="zh-CN" altLang="en-US" sz="2400" b="1" dirty="0">
                <a:solidFill>
                  <a:srgbClr val="000066"/>
                </a:solidFill>
                <a:latin typeface="Times New Roman" panose="02020603050405020304" charset="0"/>
                <a:ea typeface="楷体" panose="02010609060101010101" charset="-122"/>
              </a:rPr>
              <a:t>触发</a:t>
            </a:r>
            <a:endParaRPr lang="zh-CN" altLang="en-US" sz="2400" b="1" dirty="0">
              <a:solidFill>
                <a:srgbClr val="000066"/>
              </a:solidFill>
              <a:latin typeface="Times New Roman" panose="02020603050405020304" charset="0"/>
              <a:ea typeface="楷体" panose="02010609060101010101" charset="-122"/>
            </a:endParaRPr>
          </a:p>
        </p:txBody>
      </p:sp>
      <p:pic>
        <p:nvPicPr>
          <p:cNvPr id="7" name="图片 6"/>
          <p:cNvPicPr>
            <a:picLocks noChangeAspect="1"/>
          </p:cNvPicPr>
          <p:nvPr/>
        </p:nvPicPr>
        <p:blipFill>
          <a:blip r:embed="rId1"/>
          <a:stretch>
            <a:fillRect/>
          </a:stretch>
        </p:blipFill>
        <p:spPr>
          <a:xfrm>
            <a:off x="381000" y="2896235"/>
            <a:ext cx="4210050" cy="2533650"/>
          </a:xfrm>
          <a:prstGeom prst="rect">
            <a:avLst/>
          </a:prstGeom>
        </p:spPr>
      </p:pic>
      <p:pic>
        <p:nvPicPr>
          <p:cNvPr id="8" name="图片 7"/>
          <p:cNvPicPr>
            <a:picLocks noChangeAspect="1"/>
          </p:cNvPicPr>
          <p:nvPr/>
        </p:nvPicPr>
        <p:blipFill>
          <a:blip r:embed="rId2"/>
          <a:stretch>
            <a:fillRect/>
          </a:stretch>
        </p:blipFill>
        <p:spPr>
          <a:xfrm>
            <a:off x="4800600" y="2743835"/>
            <a:ext cx="3733800" cy="266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2030"/>
                                        </p:tgtEl>
                                        <p:attrNameLst>
                                          <p:attrName>style.visibility</p:attrName>
                                        </p:attrNameLst>
                                      </p:cBhvr>
                                      <p:to>
                                        <p:strVal val="visible"/>
                                      </p:to>
                                    </p:set>
                                    <p:animEffect transition="in" filter="checkerboard(across)">
                                      <p:cBhvr>
                                        <p:cTn id="7" dur="500"/>
                                        <p:tgtEl>
                                          <p:spTgt spid="3420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30"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6"/>
          <p:cNvSpPr txBox="1"/>
          <p:nvPr/>
        </p:nvSpPr>
        <p:spPr>
          <a:xfrm>
            <a:off x="309562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113688" name="对象 113687"/>
          <p:cNvGraphicFramePr/>
          <p:nvPr/>
        </p:nvGraphicFramePr>
        <p:xfrm>
          <a:off x="1468120" y="2144872"/>
          <a:ext cx="4772660" cy="4446270"/>
        </p:xfrm>
        <a:graphic>
          <a:graphicData uri="http://schemas.openxmlformats.org/presentationml/2006/ole">
            <mc:AlternateContent xmlns:mc="http://schemas.openxmlformats.org/markup-compatibility/2006">
              <mc:Choice xmlns:v="urn:schemas-microsoft-com:vml" Requires="v">
                <p:oleObj spid="_x0000_s3133" name="" r:id="rId1" imgW="3638550" imgH="3038475" progId="Word.Picture.8">
                  <p:embed/>
                </p:oleObj>
              </mc:Choice>
              <mc:Fallback>
                <p:oleObj name="" r:id="rId1" imgW="3638550" imgH="3038475" progId="Word.Picture.8">
                  <p:embed/>
                  <p:pic>
                    <p:nvPicPr>
                      <p:cNvPr id="0" name="图片 3132"/>
                      <p:cNvPicPr/>
                      <p:nvPr/>
                    </p:nvPicPr>
                    <p:blipFill>
                      <a:blip r:embed="rId2"/>
                      <a:stretch>
                        <a:fillRect/>
                      </a:stretch>
                    </p:blipFill>
                    <p:spPr>
                      <a:xfrm>
                        <a:off x="1468120" y="2144872"/>
                        <a:ext cx="4772660" cy="4446270"/>
                      </a:xfrm>
                      <a:prstGeom prst="rect">
                        <a:avLst/>
                      </a:prstGeom>
                      <a:noFill/>
                      <a:ln w="38100">
                        <a:noFill/>
                        <a:miter/>
                      </a:ln>
                    </p:spPr>
                  </p:pic>
                </p:oleObj>
              </mc:Fallback>
            </mc:AlternateContent>
          </a:graphicData>
        </a:graphic>
      </p:graphicFrame>
      <p:graphicFrame>
        <p:nvGraphicFramePr>
          <p:cNvPr id="3" name="对象 2"/>
          <p:cNvGraphicFramePr/>
          <p:nvPr/>
        </p:nvGraphicFramePr>
        <p:xfrm>
          <a:off x="6096000" y="1232535"/>
          <a:ext cx="2743200" cy="2774950"/>
        </p:xfrm>
        <a:graphic>
          <a:graphicData uri="http://schemas.openxmlformats.org/presentationml/2006/ole">
            <mc:AlternateContent xmlns:mc="http://schemas.openxmlformats.org/markup-compatibility/2006">
              <mc:Choice xmlns:v="urn:schemas-microsoft-com:vml" Requires="v">
                <p:oleObj spid="_x0000_s5" name="" r:id="rId3" imgW="4933950" imgH="4733925" progId="Paint.Picture">
                  <p:embed/>
                </p:oleObj>
              </mc:Choice>
              <mc:Fallback>
                <p:oleObj name="" r:id="rId3" imgW="4933950" imgH="4733925" progId="Paint.Picture">
                  <p:embed/>
                  <p:pic>
                    <p:nvPicPr>
                      <p:cNvPr id="0" name="图片 4"/>
                      <p:cNvPicPr/>
                      <p:nvPr/>
                    </p:nvPicPr>
                    <p:blipFill>
                      <a:blip r:embed="rId4"/>
                      <a:stretch>
                        <a:fillRect/>
                      </a:stretch>
                    </p:blipFill>
                    <p:spPr>
                      <a:xfrm>
                        <a:off x="6096000" y="1232535"/>
                        <a:ext cx="2743200" cy="2774950"/>
                      </a:xfrm>
                      <a:prstGeom prst="rect">
                        <a:avLst/>
                      </a:prstGeom>
                    </p:spPr>
                  </p:pic>
                </p:oleObj>
              </mc:Fallback>
            </mc:AlternateContent>
          </a:graphicData>
        </a:graphic>
      </p:graphicFrame>
      <p:grpSp>
        <p:nvGrpSpPr>
          <p:cNvPr id="8" name="组合 7"/>
          <p:cNvGrpSpPr/>
          <p:nvPr/>
        </p:nvGrpSpPr>
        <p:grpSpPr>
          <a:xfrm>
            <a:off x="313690" y="1827530"/>
            <a:ext cx="4269105" cy="4591050"/>
            <a:chOff x="494" y="2878"/>
            <a:chExt cx="6723" cy="7230"/>
          </a:xfrm>
        </p:grpSpPr>
        <p:sp>
          <p:nvSpPr>
            <p:cNvPr id="113686" name="矩形 113685"/>
            <p:cNvSpPr/>
            <p:nvPr/>
          </p:nvSpPr>
          <p:spPr>
            <a:xfrm>
              <a:off x="6107" y="2878"/>
              <a:ext cx="1110" cy="580"/>
            </a:xfrm>
            <a:prstGeom prst="rect">
              <a:avLst/>
            </a:prstGeom>
            <a:solidFill>
              <a:srgbClr val="FFFFFF">
                <a:alpha val="0"/>
              </a:srgbClr>
            </a:solidFill>
            <a:ln w="38100">
              <a:noFill/>
            </a:ln>
          </p:spPr>
          <p:txBody>
            <a:bodyPr>
              <a:spAutoFit/>
            </a:bodyPr>
            <a:p>
              <a:pPr algn="ctr"/>
              <a:r>
                <a:rPr lang="en-US" altLang="zh-CN" b="1" i="1">
                  <a:latin typeface="Times New Roman" panose="02020603050405020304" charset="0"/>
                  <a:ea typeface="Batang" pitchFamily="18" charset="-127"/>
                  <a:cs typeface="Times New Roman" panose="02020603050405020304" charset="0"/>
                </a:rPr>
                <a:t>V</a:t>
              </a:r>
              <a:r>
                <a:rPr lang="en-US" altLang="zh-CN" b="1" baseline="-25000">
                  <a:latin typeface="Times New Roman" panose="02020603050405020304" charset="0"/>
                  <a:cs typeface="Times New Roman" panose="02020603050405020304" charset="0"/>
                </a:rPr>
                <a:t>CC</a:t>
              </a:r>
              <a:endParaRPr lang="en-US" altLang="zh-CN" b="1" baseline="-25000">
                <a:latin typeface="Times New Roman" panose="02020603050405020304" charset="0"/>
                <a:cs typeface="Times New Roman" panose="02020603050405020304" charset="0"/>
              </a:endParaRPr>
            </a:p>
          </p:txBody>
        </p:sp>
        <p:grpSp>
          <p:nvGrpSpPr>
            <p:cNvPr id="7" name="组合 6"/>
            <p:cNvGrpSpPr/>
            <p:nvPr/>
          </p:nvGrpSpPr>
          <p:grpSpPr>
            <a:xfrm>
              <a:off x="494" y="3296"/>
              <a:ext cx="5820" cy="6812"/>
              <a:chOff x="478" y="2926"/>
              <a:chExt cx="5820" cy="6812"/>
            </a:xfrm>
          </p:grpSpPr>
          <p:grpSp>
            <p:nvGrpSpPr>
              <p:cNvPr id="113689" name="组合 113688"/>
              <p:cNvGrpSpPr/>
              <p:nvPr/>
            </p:nvGrpSpPr>
            <p:grpSpPr>
              <a:xfrm>
                <a:off x="478" y="2926"/>
                <a:ext cx="5820" cy="6812"/>
                <a:chOff x="210" y="1169"/>
                <a:chExt cx="2328" cy="2725"/>
              </a:xfrm>
            </p:grpSpPr>
            <p:sp>
              <p:nvSpPr>
                <p:cNvPr id="113690" name="直接连接符 113689"/>
                <p:cNvSpPr/>
                <p:nvPr/>
              </p:nvSpPr>
              <p:spPr>
                <a:xfrm>
                  <a:off x="584" y="1202"/>
                  <a:ext cx="1954" cy="0"/>
                </a:xfrm>
                <a:prstGeom prst="line">
                  <a:avLst/>
                </a:prstGeom>
                <a:ln w="28575" cap="flat" cmpd="sng">
                  <a:solidFill>
                    <a:schemeClr val="tx1"/>
                  </a:solidFill>
                  <a:prstDash val="solid"/>
                  <a:headEnd type="none" w="med" len="med"/>
                  <a:tailEnd type="none" w="med" len="med"/>
                </a:ln>
              </p:spPr>
            </p:sp>
            <p:grpSp>
              <p:nvGrpSpPr>
                <p:cNvPr id="113691" name="组合 113690"/>
                <p:cNvGrpSpPr/>
                <p:nvPr/>
              </p:nvGrpSpPr>
              <p:grpSpPr>
                <a:xfrm>
                  <a:off x="210" y="1169"/>
                  <a:ext cx="1038" cy="2725"/>
                  <a:chOff x="210" y="1169"/>
                  <a:chExt cx="1038" cy="2725"/>
                </a:xfrm>
              </p:grpSpPr>
              <p:sp>
                <p:nvSpPr>
                  <p:cNvPr id="113692" name="直接连接符 113691"/>
                  <p:cNvSpPr/>
                  <p:nvPr/>
                </p:nvSpPr>
                <p:spPr>
                  <a:xfrm>
                    <a:off x="591" y="3607"/>
                    <a:ext cx="0" cy="269"/>
                  </a:xfrm>
                  <a:prstGeom prst="line">
                    <a:avLst/>
                  </a:prstGeom>
                  <a:ln w="28575" cap="flat" cmpd="sng">
                    <a:solidFill>
                      <a:schemeClr val="tx1"/>
                    </a:solidFill>
                    <a:prstDash val="solid"/>
                    <a:headEnd type="none" w="med" len="med"/>
                    <a:tailEnd type="none" w="med" len="med"/>
                  </a:ln>
                </p:spPr>
              </p:sp>
              <p:sp>
                <p:nvSpPr>
                  <p:cNvPr id="113693" name="矩形 113692"/>
                  <p:cNvSpPr/>
                  <p:nvPr/>
                </p:nvSpPr>
                <p:spPr>
                  <a:xfrm>
                    <a:off x="210" y="2523"/>
                    <a:ext cx="270" cy="288"/>
                  </a:xfrm>
                  <a:prstGeom prst="rect">
                    <a:avLst/>
                  </a:prstGeom>
                  <a:noFill/>
                  <a:ln w="38100">
                    <a:noFill/>
                  </a:ln>
                </p:spPr>
                <p:txBody>
                  <a:bodyPr wrap="none" anchor="t" anchorCtr="0">
                    <a:spAutoFit/>
                  </a:bodyPr>
                  <a:p>
                    <a:pPr algn="ctr"/>
                    <a:r>
                      <a:rPr lang="en-US" altLang="zh-CN" sz="2400" b="1" i="1" err="1">
                        <a:latin typeface="Bookman Old Style" panose="02050604050505020204" pitchFamily="18" charset="0"/>
                        <a:ea typeface="Batang" pitchFamily="18" charset="-127"/>
                      </a:rPr>
                      <a:t>v</a:t>
                    </a:r>
                    <a:r>
                      <a:rPr lang="en-US" altLang="zh-CN" sz="2400" b="1" baseline="-25000" err="1">
                        <a:latin typeface="Times New Roman" panose="02020603050405020304" charset="0"/>
                      </a:rPr>
                      <a:t>I</a:t>
                    </a:r>
                    <a:endParaRPr lang="en-US" altLang="zh-CN" sz="2400" b="1" baseline="-25000">
                      <a:latin typeface="Times New Roman" panose="02020603050405020304" charset="0"/>
                    </a:endParaRPr>
                  </a:p>
                </p:txBody>
              </p:sp>
              <p:sp>
                <p:nvSpPr>
                  <p:cNvPr id="113694" name="直接连接符 113693"/>
                  <p:cNvSpPr/>
                  <p:nvPr/>
                </p:nvSpPr>
                <p:spPr>
                  <a:xfrm flipH="1">
                    <a:off x="264" y="2887"/>
                    <a:ext cx="700" cy="0"/>
                  </a:xfrm>
                  <a:prstGeom prst="line">
                    <a:avLst/>
                  </a:prstGeom>
                  <a:ln w="28575" cap="flat" cmpd="sng">
                    <a:solidFill>
                      <a:schemeClr val="tx1"/>
                    </a:solidFill>
                    <a:prstDash val="solid"/>
                    <a:headEnd type="none" w="med" len="med"/>
                    <a:tailEnd type="none" w="med" len="med"/>
                  </a:ln>
                </p:spPr>
              </p:sp>
              <p:sp>
                <p:nvSpPr>
                  <p:cNvPr id="113695" name="椭圆 113694"/>
                  <p:cNvSpPr/>
                  <p:nvPr/>
                </p:nvSpPr>
                <p:spPr>
                  <a:xfrm>
                    <a:off x="561" y="1954"/>
                    <a:ext cx="54" cy="64"/>
                  </a:xfrm>
                  <a:prstGeom prst="ellipse">
                    <a:avLst/>
                  </a:prstGeom>
                  <a:solidFill>
                    <a:srgbClr val="000000"/>
                  </a:solidFill>
                  <a:ln w="9525">
                    <a:noFill/>
                  </a:ln>
                </p:spPr>
                <p:txBody>
                  <a:bodyPr/>
                  <a:p>
                    <a:endParaRPr lang="zh-CN" altLang="en-US"/>
                  </a:p>
                </p:txBody>
              </p:sp>
              <p:sp>
                <p:nvSpPr>
                  <p:cNvPr id="113696" name="直接连接符 113695"/>
                  <p:cNvSpPr/>
                  <p:nvPr/>
                </p:nvSpPr>
                <p:spPr>
                  <a:xfrm>
                    <a:off x="591" y="1815"/>
                    <a:ext cx="0" cy="1727"/>
                  </a:xfrm>
                  <a:prstGeom prst="line">
                    <a:avLst/>
                  </a:prstGeom>
                  <a:ln w="28575" cap="flat" cmpd="sng">
                    <a:solidFill>
                      <a:schemeClr val="tx1"/>
                    </a:solidFill>
                    <a:prstDash val="solid"/>
                    <a:headEnd type="none" w="med" len="med"/>
                    <a:tailEnd type="none" w="med" len="med"/>
                  </a:ln>
                </p:spPr>
              </p:sp>
              <p:sp>
                <p:nvSpPr>
                  <p:cNvPr id="113697" name="矩形 113696"/>
                  <p:cNvSpPr/>
                  <p:nvPr/>
                </p:nvSpPr>
                <p:spPr>
                  <a:xfrm>
                    <a:off x="558" y="1474"/>
                    <a:ext cx="81" cy="340"/>
                  </a:xfrm>
                  <a:prstGeom prst="rect">
                    <a:avLst/>
                  </a:prstGeom>
                  <a:noFill/>
                  <a:ln w="28575" cap="flat" cmpd="sng">
                    <a:solidFill>
                      <a:schemeClr val="tx1"/>
                    </a:solidFill>
                    <a:prstDash val="solid"/>
                    <a:miter/>
                    <a:headEnd type="none" w="med" len="med"/>
                    <a:tailEnd type="none" w="med" len="med"/>
                  </a:ln>
                </p:spPr>
                <p:txBody>
                  <a:bodyPr/>
                  <a:p>
                    <a:endParaRPr lang="zh-CN" altLang="en-US"/>
                  </a:p>
                </p:txBody>
              </p:sp>
              <p:sp>
                <p:nvSpPr>
                  <p:cNvPr id="113698" name="直接连接符 113697"/>
                  <p:cNvSpPr/>
                  <p:nvPr/>
                </p:nvSpPr>
                <p:spPr>
                  <a:xfrm>
                    <a:off x="591" y="1192"/>
                    <a:ext cx="0" cy="284"/>
                  </a:xfrm>
                  <a:prstGeom prst="line">
                    <a:avLst/>
                  </a:prstGeom>
                  <a:ln w="28575" cap="flat" cmpd="sng">
                    <a:solidFill>
                      <a:schemeClr val="tx1"/>
                    </a:solidFill>
                    <a:prstDash val="solid"/>
                    <a:headEnd type="none" w="med" len="med"/>
                    <a:tailEnd type="none" w="med" len="med"/>
                  </a:ln>
                </p:spPr>
              </p:sp>
              <p:sp>
                <p:nvSpPr>
                  <p:cNvPr id="113699" name="椭圆 113698"/>
                  <p:cNvSpPr/>
                  <p:nvPr/>
                </p:nvSpPr>
                <p:spPr>
                  <a:xfrm>
                    <a:off x="558" y="3382"/>
                    <a:ext cx="54" cy="65"/>
                  </a:xfrm>
                  <a:prstGeom prst="ellipse">
                    <a:avLst/>
                  </a:prstGeom>
                  <a:solidFill>
                    <a:srgbClr val="000000"/>
                  </a:solidFill>
                  <a:ln w="9525">
                    <a:noFill/>
                  </a:ln>
                </p:spPr>
                <p:txBody>
                  <a:bodyPr/>
                  <a:p>
                    <a:endParaRPr lang="zh-CN" altLang="en-US"/>
                  </a:p>
                </p:txBody>
              </p:sp>
              <p:sp>
                <p:nvSpPr>
                  <p:cNvPr id="113700" name="直接连接符 113699"/>
                  <p:cNvSpPr/>
                  <p:nvPr/>
                </p:nvSpPr>
                <p:spPr>
                  <a:xfrm>
                    <a:off x="511" y="3611"/>
                    <a:ext cx="160" cy="0"/>
                  </a:xfrm>
                  <a:prstGeom prst="line">
                    <a:avLst/>
                  </a:prstGeom>
                  <a:ln w="28575" cap="flat" cmpd="sng">
                    <a:solidFill>
                      <a:schemeClr val="tx1"/>
                    </a:solidFill>
                    <a:prstDash val="solid"/>
                    <a:headEnd type="none" w="med" len="med"/>
                    <a:tailEnd type="none" w="med" len="med"/>
                  </a:ln>
                </p:spPr>
              </p:sp>
              <p:sp>
                <p:nvSpPr>
                  <p:cNvPr id="113701" name="直接连接符 113700"/>
                  <p:cNvSpPr/>
                  <p:nvPr/>
                </p:nvSpPr>
                <p:spPr>
                  <a:xfrm>
                    <a:off x="515" y="3552"/>
                    <a:ext cx="161" cy="0"/>
                  </a:xfrm>
                  <a:prstGeom prst="line">
                    <a:avLst/>
                  </a:prstGeom>
                  <a:ln w="28575" cap="flat" cmpd="sng">
                    <a:solidFill>
                      <a:schemeClr val="tx1"/>
                    </a:solidFill>
                    <a:prstDash val="solid"/>
                    <a:headEnd type="none" w="med" len="med"/>
                    <a:tailEnd type="none" w="med" len="med"/>
                  </a:ln>
                </p:spPr>
              </p:sp>
              <p:sp>
                <p:nvSpPr>
                  <p:cNvPr id="113702" name="直接连接符 113701"/>
                  <p:cNvSpPr/>
                  <p:nvPr/>
                </p:nvSpPr>
                <p:spPr>
                  <a:xfrm>
                    <a:off x="600" y="3862"/>
                    <a:ext cx="582" cy="0"/>
                  </a:xfrm>
                  <a:prstGeom prst="line">
                    <a:avLst/>
                  </a:prstGeom>
                  <a:ln w="28575" cap="flat" cmpd="sng">
                    <a:solidFill>
                      <a:schemeClr val="tx1"/>
                    </a:solidFill>
                    <a:prstDash val="solid"/>
                    <a:headEnd type="none" w="med" len="med"/>
                    <a:tailEnd type="none" w="med" len="med"/>
                  </a:ln>
                </p:spPr>
              </p:sp>
              <p:sp>
                <p:nvSpPr>
                  <p:cNvPr id="113703" name="直接连接符 113702"/>
                  <p:cNvSpPr/>
                  <p:nvPr/>
                </p:nvSpPr>
                <p:spPr>
                  <a:xfrm flipH="1">
                    <a:off x="592" y="1988"/>
                    <a:ext cx="370" cy="4"/>
                  </a:xfrm>
                  <a:prstGeom prst="line">
                    <a:avLst/>
                  </a:prstGeom>
                  <a:ln w="28575" cap="flat" cmpd="sng">
                    <a:solidFill>
                      <a:schemeClr val="tx1"/>
                    </a:solidFill>
                    <a:prstDash val="solid"/>
                    <a:headEnd type="none" w="med" len="med"/>
                    <a:tailEnd type="none" w="med" len="med"/>
                  </a:ln>
                </p:spPr>
              </p:sp>
              <p:sp>
                <p:nvSpPr>
                  <p:cNvPr id="113704" name="直接连接符 113703"/>
                  <p:cNvSpPr/>
                  <p:nvPr/>
                </p:nvSpPr>
                <p:spPr>
                  <a:xfrm flipH="1">
                    <a:off x="605" y="3417"/>
                    <a:ext cx="350" cy="2"/>
                  </a:xfrm>
                  <a:prstGeom prst="line">
                    <a:avLst/>
                  </a:prstGeom>
                  <a:ln w="28575" cap="flat" cmpd="sng">
                    <a:solidFill>
                      <a:schemeClr val="tx1"/>
                    </a:solidFill>
                    <a:prstDash val="solid"/>
                    <a:headEnd type="none" w="med" len="med"/>
                    <a:tailEnd type="none" w="med" len="med"/>
                  </a:ln>
                </p:spPr>
              </p:sp>
              <p:sp>
                <p:nvSpPr>
                  <p:cNvPr id="113705" name="椭圆 113704"/>
                  <p:cNvSpPr/>
                  <p:nvPr/>
                </p:nvSpPr>
                <p:spPr>
                  <a:xfrm>
                    <a:off x="1194" y="1169"/>
                    <a:ext cx="54" cy="65"/>
                  </a:xfrm>
                  <a:prstGeom prst="ellipse">
                    <a:avLst/>
                  </a:prstGeom>
                  <a:solidFill>
                    <a:srgbClr val="000000"/>
                  </a:solidFill>
                  <a:ln w="9525">
                    <a:noFill/>
                  </a:ln>
                </p:spPr>
                <p:txBody>
                  <a:bodyPr/>
                  <a:p>
                    <a:endParaRPr lang="zh-CN" altLang="en-US"/>
                  </a:p>
                </p:txBody>
              </p:sp>
              <p:sp>
                <p:nvSpPr>
                  <p:cNvPr id="113706" name="椭圆 113705"/>
                  <p:cNvSpPr/>
                  <p:nvPr/>
                </p:nvSpPr>
                <p:spPr>
                  <a:xfrm>
                    <a:off x="1180" y="3829"/>
                    <a:ext cx="54" cy="65"/>
                  </a:xfrm>
                  <a:prstGeom prst="ellipse">
                    <a:avLst/>
                  </a:prstGeom>
                  <a:solidFill>
                    <a:schemeClr val="tx1"/>
                  </a:solidFill>
                  <a:ln w="9525">
                    <a:noFill/>
                  </a:ln>
                </p:spPr>
                <p:txBody>
                  <a:bodyPr/>
                  <a:p>
                    <a:endParaRPr lang="zh-CN" altLang="en-US"/>
                  </a:p>
                </p:txBody>
              </p:sp>
            </p:grpSp>
          </p:grpSp>
          <p:sp>
            <p:nvSpPr>
              <p:cNvPr id="6" name="椭圆 5"/>
              <p:cNvSpPr/>
              <p:nvPr/>
            </p:nvSpPr>
            <p:spPr>
              <a:xfrm>
                <a:off x="4875" y="2953"/>
                <a:ext cx="135" cy="162"/>
              </a:xfrm>
              <a:prstGeom prst="ellipse">
                <a:avLst/>
              </a:prstGeom>
              <a:solidFill>
                <a:srgbClr val="000000"/>
              </a:solidFill>
              <a:ln w="9525">
                <a:noFill/>
              </a:ln>
            </p:spPr>
            <p:txBody>
              <a:bodyPr/>
              <a:p>
                <a:endParaRPr lang="zh-CN" altLang="en-US"/>
              </a:p>
            </p:txBody>
          </p:sp>
        </p:grpSp>
      </p:grpSp>
      <p:sp>
        <p:nvSpPr>
          <p:cNvPr id="382020" name="Text Box 68"/>
          <p:cNvSpPr txBox="1"/>
          <p:nvPr/>
        </p:nvSpPr>
        <p:spPr>
          <a:xfrm>
            <a:off x="5181600" y="4838065"/>
            <a:ext cx="3931285" cy="1323340"/>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2115E"/>
                </a:solidFill>
                <a:latin typeface="Times New Roman" panose="02020603050405020304" charset="0"/>
                <a:ea typeface="楷体" panose="02010609060101010101" charset="-122"/>
                <a:cs typeface="Times New Roman" panose="02020603050405020304" charset="0"/>
              </a:rPr>
              <a:t>触发信号从触发输入端</a:t>
            </a:r>
            <a:r>
              <a:rPr lang="en-US" altLang="zh-CN" sz="2000" b="1" i="1" dirty="0">
                <a:solidFill>
                  <a:srgbClr val="02115E"/>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2115E"/>
                </a:solidFill>
                <a:latin typeface="Times New Roman" panose="02020603050405020304" charset="0"/>
                <a:ea typeface="楷体" panose="02010609060101010101" charset="-122"/>
                <a:cs typeface="Times New Roman" panose="02020603050405020304" charset="0"/>
              </a:rPr>
              <a:t>I2</a:t>
            </a:r>
            <a:r>
              <a:rPr lang="en-US" altLang="zh-CN" sz="2000" dirty="0">
                <a:solidFill>
                  <a:srgbClr val="02115E"/>
                </a:solidFill>
                <a:latin typeface="Times New Roman" panose="02020603050405020304" charset="0"/>
                <a:ea typeface="楷体" panose="02010609060101010101" charset="-122"/>
                <a:cs typeface="Times New Roman" panose="02020603050405020304" charset="0"/>
              </a:rPr>
              <a:t> (2)</a:t>
            </a:r>
            <a:r>
              <a:rPr lang="en-US" altLang="zh-CN" sz="2000" b="1" i="1" dirty="0">
                <a:solidFill>
                  <a:srgbClr val="02115E"/>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02115E"/>
                </a:solidFill>
                <a:latin typeface="Times New Roman" panose="02020603050405020304" charset="0"/>
                <a:ea typeface="楷体" panose="02010609060101010101" charset="-122"/>
                <a:cs typeface="Times New Roman" panose="02020603050405020304" charset="0"/>
              </a:rPr>
              <a:t>输入，将放电端</a:t>
            </a:r>
            <a:r>
              <a:rPr lang="en-US" altLang="zh-CN" sz="2000" dirty="0">
                <a:solidFill>
                  <a:srgbClr val="02115E"/>
                </a:solidFill>
                <a:latin typeface="Times New Roman" panose="02020603050405020304" charset="0"/>
                <a:ea typeface="楷体" panose="02010609060101010101" charset="-122"/>
                <a:cs typeface="Times New Roman" panose="02020603050405020304" charset="0"/>
              </a:rPr>
              <a:t>(7)</a:t>
            </a:r>
            <a:r>
              <a:rPr lang="zh-CN" altLang="en-US" sz="2000" b="1" dirty="0">
                <a:solidFill>
                  <a:srgbClr val="02115E"/>
                </a:solidFill>
                <a:latin typeface="Times New Roman" panose="02020603050405020304" charset="0"/>
                <a:ea typeface="楷体" panose="02010609060101010101" charset="-122"/>
                <a:cs typeface="Times New Roman" panose="02020603050405020304" charset="0"/>
              </a:rPr>
              <a:t>与阈值输入端</a:t>
            </a:r>
            <a:r>
              <a:rPr lang="en-US" altLang="zh-CN" sz="2000" dirty="0">
                <a:solidFill>
                  <a:srgbClr val="02115E"/>
                </a:solidFill>
                <a:latin typeface="Times New Roman" panose="02020603050405020304" charset="0"/>
                <a:ea typeface="楷体" panose="02010609060101010101" charset="-122"/>
                <a:cs typeface="Times New Roman" panose="02020603050405020304" charset="0"/>
              </a:rPr>
              <a:t>(6)</a:t>
            </a:r>
            <a:r>
              <a:rPr lang="en-US" altLang="zh-CN" sz="2000" i="1" dirty="0">
                <a:solidFill>
                  <a:srgbClr val="02115E"/>
                </a:solidFill>
                <a:latin typeface="Times New Roman" panose="02020603050405020304" charset="0"/>
                <a:ea typeface="楷体" panose="02010609060101010101" charset="-122"/>
                <a:cs typeface="Times New Roman" panose="02020603050405020304" charset="0"/>
              </a:rPr>
              <a:t>v</a:t>
            </a:r>
            <a:r>
              <a:rPr lang="en-US" altLang="zh-CN" sz="2000" baseline="-25000" dirty="0">
                <a:solidFill>
                  <a:srgbClr val="02115E"/>
                </a:solidFill>
                <a:latin typeface="Times New Roman" panose="02020603050405020304" charset="0"/>
                <a:ea typeface="楷体" panose="02010609060101010101" charset="-122"/>
                <a:cs typeface="Times New Roman" panose="02020603050405020304" charset="0"/>
              </a:rPr>
              <a:t>I1</a:t>
            </a:r>
            <a:r>
              <a:rPr lang="zh-CN" altLang="en-US" sz="2000" b="1" dirty="0">
                <a:solidFill>
                  <a:srgbClr val="02115E"/>
                </a:solidFill>
                <a:latin typeface="Times New Roman" panose="02020603050405020304" charset="0"/>
                <a:ea typeface="楷体" panose="02010609060101010101" charset="-122"/>
                <a:cs typeface="Times New Roman" panose="02020603050405020304" charset="0"/>
              </a:rPr>
              <a:t>相连，同时对电源和对地分别接入</a:t>
            </a:r>
            <a:r>
              <a:rPr lang="en-US" altLang="zh-CN" sz="2000" i="1" dirty="0">
                <a:solidFill>
                  <a:srgbClr val="02115E"/>
                </a:solidFill>
                <a:latin typeface="Times New Roman" panose="02020603050405020304" charset="0"/>
                <a:ea typeface="楷体" panose="02010609060101010101" charset="-122"/>
                <a:cs typeface="Times New Roman" panose="02020603050405020304" charset="0"/>
              </a:rPr>
              <a:t>R</a:t>
            </a:r>
            <a:r>
              <a:rPr lang="en-US" altLang="zh-CN" sz="2000" baseline="-25000" dirty="0">
                <a:solidFill>
                  <a:srgbClr val="02115E"/>
                </a:solidFill>
                <a:latin typeface="Times New Roman" panose="02020603050405020304" charset="0"/>
                <a:ea typeface="楷体" panose="02010609060101010101" charset="-122"/>
                <a:cs typeface="Times New Roman" panose="02020603050405020304" charset="0"/>
              </a:rPr>
              <a:t>1</a:t>
            </a:r>
            <a:r>
              <a:rPr lang="zh-CN" altLang="en-US" sz="2000" b="1" dirty="0">
                <a:solidFill>
                  <a:srgbClr val="02115E"/>
                </a:solidFill>
                <a:latin typeface="Times New Roman" panose="02020603050405020304" charset="0"/>
                <a:ea typeface="楷体" panose="02010609060101010101" charset="-122"/>
                <a:cs typeface="Times New Roman" panose="02020603050405020304" charset="0"/>
              </a:rPr>
              <a:t>和</a:t>
            </a:r>
            <a:r>
              <a:rPr lang="en-US" altLang="zh-CN" sz="2000" i="1" dirty="0">
                <a:solidFill>
                  <a:srgbClr val="02115E"/>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2115E"/>
                </a:solidFill>
                <a:latin typeface="Times New Roman" panose="02020603050405020304" charset="0"/>
                <a:ea typeface="楷体" panose="02010609060101010101" charset="-122"/>
                <a:cs typeface="Times New Roman" panose="02020603050405020304" charset="0"/>
              </a:rPr>
              <a:t>。</a:t>
            </a:r>
            <a:endParaRPr lang="zh-CN" altLang="en-US" sz="2000" b="1" dirty="0">
              <a:solidFill>
                <a:srgbClr val="02115E"/>
              </a:solidFill>
              <a:latin typeface="Times New Roman" panose="02020603050405020304" charset="0"/>
              <a:ea typeface="楷体" panose="02010609060101010101" charset="-122"/>
              <a:cs typeface="Times New Roman" panose="02020603050405020304" charset="0"/>
            </a:endParaRPr>
          </a:p>
        </p:txBody>
      </p:sp>
      <p:sp>
        <p:nvSpPr>
          <p:cNvPr id="6146" name="Rectangle 2"/>
          <p:cNvSpPr>
            <a:spLocks noGrp="1"/>
          </p:cNvSpPr>
          <p:nvPr>
            <p:ph type="title"/>
          </p:nvPr>
        </p:nvSpPr>
        <p:spPr>
          <a:xfrm>
            <a:off x="762000" y="106680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7.3.1 </a:t>
            </a:r>
            <a:r>
              <a:rPr lang="zh-CN" altLang="en-US" sz="2400" i="0" dirty="0">
                <a:solidFill>
                  <a:srgbClr val="0070C0"/>
                </a:solidFill>
                <a:latin typeface="黑体" panose="02010609060101010101" pitchFamily="49" charset="-122"/>
                <a:ea typeface="黑体" panose="02010609060101010101" pitchFamily="49" charset="-122"/>
              </a:rPr>
              <a:t>555定时器构成的单稳态触发器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4" name="矩形 3">
            <a:hlinkClick r:id="" action="ppaction://noaction"/>
          </p:cNvPr>
          <p:cNvSpPr/>
          <p:nvPr/>
        </p:nvSpPr>
        <p:spPr>
          <a:xfrm>
            <a:off x="866140" y="1590040"/>
            <a:ext cx="1826895"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1</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结构</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688"/>
                                        </p:tgtEl>
                                        <p:attrNameLst>
                                          <p:attrName>style.visibility</p:attrName>
                                        </p:attrNameLst>
                                      </p:cBhvr>
                                      <p:to>
                                        <p:strVal val="visible"/>
                                      </p:to>
                                    </p:set>
                                    <p:animEffect transition="in" filter="wipe(left)">
                                      <p:cBhvr>
                                        <p:cTn id="7" dur="500"/>
                                        <p:tgtEl>
                                          <p:spTgt spid="1136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2020"/>
                                        </p:tgtEl>
                                        <p:attrNameLst>
                                          <p:attrName>style.visibility</p:attrName>
                                        </p:attrNameLst>
                                      </p:cBhvr>
                                      <p:to>
                                        <p:strVal val="visible"/>
                                      </p:to>
                                    </p:set>
                                    <p:animEffect transition="in" filter="blinds(horizontal)">
                                      <p:cBhvr>
                                        <p:cTn id="12" dur="500"/>
                                        <p:tgtEl>
                                          <p:spTgt spid="3820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020" grpId="0"/>
      <p:bldP spid="38202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TextBox 6"/>
          <p:cNvSpPr txBox="1"/>
          <p:nvPr/>
        </p:nvSpPr>
        <p:spPr>
          <a:xfrm>
            <a:off x="294322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3685" name="矩形 113684">
            <a:hlinkClick r:id="" action="ppaction://noaction"/>
          </p:cNvPr>
          <p:cNvSpPr/>
          <p:nvPr/>
        </p:nvSpPr>
        <p:spPr>
          <a:xfrm>
            <a:off x="1014730" y="1219200"/>
            <a:ext cx="1826895"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2</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工作原理</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383043" name="Rectangle 67"/>
          <p:cNvSpPr/>
          <p:nvPr/>
        </p:nvSpPr>
        <p:spPr>
          <a:xfrm>
            <a:off x="3865880" y="1898015"/>
            <a:ext cx="5076825" cy="461645"/>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a.</a:t>
            </a:r>
            <a:r>
              <a:rPr lang="zh-CN" altLang="en-US" sz="2400" b="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电路的稳态</a:t>
            </a:r>
            <a:r>
              <a:rPr lang="en-US" altLang="zh-CN" sz="2400" b="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a:t>
            </a:r>
            <a:r>
              <a:rPr lang="en-US" altLang="zh-CN" sz="2400" i="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v</a:t>
            </a:r>
            <a:r>
              <a:rPr lang="en-US" altLang="zh-CN" sz="2400" baseline="-250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c</a:t>
            </a:r>
            <a:r>
              <a:rPr lang="en-US" altLang="zh-CN" sz="24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=0</a:t>
            </a:r>
            <a:r>
              <a:rPr lang="zh-CN" altLang="en-US" sz="24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a:t>
            </a:r>
            <a:r>
              <a:rPr lang="en-US" altLang="zh-CN" sz="2400" i="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v</a:t>
            </a:r>
            <a:r>
              <a:rPr lang="en-US" altLang="zh-CN" sz="2400" baseline="-250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o</a:t>
            </a:r>
            <a:r>
              <a:rPr lang="en-US" altLang="zh-CN" sz="24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=0</a:t>
            </a:r>
            <a:r>
              <a:rPr lang="zh-CN" altLang="en-US" sz="24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a:t>
            </a:r>
            <a:r>
              <a:rPr lang="zh-CN" altLang="en-US" sz="2400" b="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 </a:t>
            </a:r>
            <a:r>
              <a:rPr lang="en-US" altLang="zh-CN" sz="2400" i="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R</a:t>
            </a:r>
            <a:r>
              <a:rPr lang="en-US" altLang="zh-CN" sz="2400" b="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a:t>
            </a:r>
            <a:r>
              <a:rPr lang="en-US" altLang="zh-CN" sz="2400" i="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S</a:t>
            </a:r>
            <a:r>
              <a:rPr lang="en-US" altLang="zh-CN" sz="2400" b="1"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a:t>
            </a:r>
            <a:r>
              <a:rPr lang="en-US" altLang="zh-CN" sz="24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rPr>
              <a:t>1</a:t>
            </a:r>
            <a:endParaRPr lang="en-US" altLang="zh-CN" sz="2400" dirty="0">
              <a:solidFill>
                <a:schemeClr val="accent2">
                  <a:lumMod val="60000"/>
                  <a:lumOff val="40000"/>
                </a:schemeClr>
              </a:solidFill>
              <a:latin typeface="Times New Roman" panose="02020603050405020304" charset="0"/>
              <a:ea typeface="楷体" panose="02010609060101010101" charset="-122"/>
              <a:cs typeface="Times New Roman" panose="02020603050405020304" charset="0"/>
            </a:endParaRPr>
          </a:p>
        </p:txBody>
      </p:sp>
      <p:sp>
        <p:nvSpPr>
          <p:cNvPr id="383044" name="Text Box 68"/>
          <p:cNvSpPr txBox="1"/>
          <p:nvPr/>
        </p:nvSpPr>
        <p:spPr>
          <a:xfrm>
            <a:off x="4038600" y="2408555"/>
            <a:ext cx="3384550" cy="461645"/>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未加触发负脉冲</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383045" name="Rectangle 69"/>
          <p:cNvSpPr/>
          <p:nvPr/>
        </p:nvSpPr>
        <p:spPr>
          <a:xfrm>
            <a:off x="3962400" y="2857500"/>
            <a:ext cx="5181600" cy="2750820"/>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400" b="1" dirty="0">
                <a:solidFill>
                  <a:srgbClr val="02115E"/>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2115E"/>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2115E"/>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2115E"/>
                </a:solidFill>
                <a:latin typeface="Times New Roman" panose="02020603050405020304" charset="0"/>
                <a:ea typeface="楷体" panose="02010609060101010101" charset="-122"/>
                <a:cs typeface="Times New Roman" panose="02020603050405020304" charset="0"/>
                <a:sym typeface="+mn-ea"/>
              </a:rPr>
              <a:t>o</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导通</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2115E"/>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2115E"/>
                </a:solidFill>
                <a:latin typeface="Times New Roman" panose="02020603050405020304" charset="0"/>
                <a:ea typeface="楷体" panose="02010609060101010101" charset="-122"/>
                <a:cs typeface="Times New Roman" panose="02020603050405020304" charset="0"/>
                <a:sym typeface="+mn-ea"/>
              </a:rPr>
              <a:t>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迅速放电至</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0V</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 →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sym typeface="+mn-ea"/>
              </a:rPr>
              <a:t>o</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保持低电平不变</a:t>
            </a:r>
            <a:r>
              <a:rPr lang="zh-CN" altLang="en-US" sz="2400" b="1" dirty="0">
                <a:solidFill>
                  <a:srgbClr val="0000FF"/>
                </a:solidFill>
                <a:latin typeface="Times New Roman" panose="02020603050405020304" charset="0"/>
                <a:ea typeface="楷体" panose="02010609060101010101" charset="-122"/>
                <a:cs typeface="Times New Roman" panose="02020603050405020304" charset="0"/>
              </a:rPr>
              <a:t> </a:t>
            </a:r>
            <a:endParaRPr lang="zh-CN" altLang="en-US" sz="2400" b="1" dirty="0">
              <a:solidFill>
                <a:srgbClr val="0000FF"/>
              </a:solidFill>
              <a:latin typeface="Times New Roman" panose="02020603050405020304" charset="0"/>
              <a:ea typeface="楷体" panose="02010609060101010101" charset="-122"/>
              <a:cs typeface="Times New Roman" panose="02020603050405020304" charset="0"/>
            </a:endParaRPr>
          </a:p>
          <a:p>
            <a:pPr marL="0" lvl="0" indent="0" eaLnBrk="1" hangingPunct="1">
              <a:lnSpc>
                <a:spcPct val="120000"/>
              </a:lnSpc>
              <a:spcBef>
                <a:spcPct val="0"/>
              </a:spcBef>
              <a:buClrTx/>
              <a:buSzTx/>
              <a:buFontTx/>
              <a:buNone/>
            </a:pP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2</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a:t>
            </a:r>
            <a:r>
              <a:rPr lang="en-US" altLang="zh-CN" sz="2400" b="1" i="1" dirty="0">
                <a:solidFill>
                  <a:srgbClr val="02115E"/>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2115E"/>
                </a:solidFill>
                <a:latin typeface="Times New Roman" panose="02020603050405020304" charset="0"/>
                <a:ea typeface="楷体" panose="02010609060101010101" charset="-122"/>
                <a:cs typeface="Times New Roman" panose="02020603050405020304" charset="0"/>
                <a:sym typeface="+mn-ea"/>
              </a:rPr>
              <a:t>o</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=1</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T</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sym typeface="Wingdings" panose="05000000000000000000" pitchFamily="2" charset="2"/>
              </a:rPr>
              <a:t>截止，</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2115E"/>
                </a:solidFill>
                <a:effectLst/>
                <a:latin typeface="Times New Roman" panose="02020603050405020304" charset="0"/>
                <a:ea typeface="楷体" panose="02010609060101010101" charset="-122"/>
                <a:cs typeface="Times New Roman" panose="02020603050405020304" charset="0"/>
              </a:rPr>
              <a:t>CC</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经</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R</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向</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C</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充电，当</a:t>
            </a:r>
            <a:r>
              <a:rPr lang="en-US" altLang="zh-CN" sz="2400" b="1" i="1" dirty="0">
                <a:solidFill>
                  <a:srgbClr val="02115E"/>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2115E"/>
                </a:solidFill>
                <a:latin typeface="Times New Roman" panose="02020603050405020304" charset="0"/>
                <a:ea typeface="楷体" panose="02010609060101010101" charset="-122"/>
                <a:cs typeface="Times New Roman" panose="02020603050405020304" charset="0"/>
                <a:sym typeface="+mn-ea"/>
              </a:rPr>
              <a:t>c</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↑≥2/3</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 V</a:t>
            </a:r>
            <a:r>
              <a:rPr lang="en-US" altLang="zh-CN" sz="2400" b="1" baseline="-25000" dirty="0">
                <a:solidFill>
                  <a:srgbClr val="02115E"/>
                </a:solidFill>
                <a:effectLst/>
                <a:latin typeface="Times New Roman" panose="02020603050405020304" charset="0"/>
                <a:ea typeface="楷体" panose="02010609060101010101" charset="-122"/>
                <a:cs typeface="Times New Roman" panose="02020603050405020304" charset="0"/>
              </a:rPr>
              <a:t>CC</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时，</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R</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=0</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S</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=1 → </a:t>
            </a:r>
            <a:r>
              <a:rPr lang="en-US" altLang="zh-CN" sz="2400" b="1" i="1" dirty="0">
                <a:solidFill>
                  <a:srgbClr val="02115E"/>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2115E"/>
                </a:solidFill>
                <a:latin typeface="Times New Roman" panose="02020603050405020304" charset="0"/>
                <a:ea typeface="楷体" panose="02010609060101010101" charset="-122"/>
                <a:cs typeface="Times New Roman" panose="02020603050405020304" charset="0"/>
                <a:sym typeface="+mn-ea"/>
              </a:rPr>
              <a:t>o</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=0V→T</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导通， </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2115E"/>
                </a:solidFill>
                <a:effectLst/>
                <a:latin typeface="Times New Roman" panose="02020603050405020304" charset="0"/>
                <a:ea typeface="楷体" panose="02010609060101010101" charset="-122"/>
                <a:cs typeface="Times New Roman" panose="02020603050405020304" charset="0"/>
              </a:rPr>
              <a:t>C</a:t>
            </a:r>
            <a:r>
              <a:rPr lang="zh-CN" altLang="en-US" sz="2400" b="1" dirty="0">
                <a:solidFill>
                  <a:srgbClr val="02115E"/>
                </a:solidFill>
                <a:effectLst/>
                <a:latin typeface="Times New Roman" panose="02020603050405020304" charset="0"/>
                <a:ea typeface="楷体" panose="02010609060101010101" charset="-122"/>
                <a:cs typeface="Times New Roman" panose="02020603050405020304" charset="0"/>
              </a:rPr>
              <a:t>迅速放电至</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0V → </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R</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a:t>
            </a:r>
            <a:r>
              <a:rPr lang="en-US" altLang="zh-CN" sz="2400" b="1" i="1" dirty="0">
                <a:solidFill>
                  <a:srgbClr val="02115E"/>
                </a:solidFill>
                <a:effectLst/>
                <a:latin typeface="Times New Roman" panose="02020603050405020304" charset="0"/>
                <a:ea typeface="楷体" panose="02010609060101010101" charset="-122"/>
                <a:cs typeface="Times New Roman" panose="02020603050405020304" charset="0"/>
              </a:rPr>
              <a:t>S</a:t>
            </a:r>
            <a:r>
              <a:rPr lang="en-US" altLang="zh-CN" sz="2400" b="1" dirty="0">
                <a:solidFill>
                  <a:srgbClr val="02115E"/>
                </a:solidFill>
                <a:effectLst/>
                <a:latin typeface="Times New Roman" panose="02020603050405020304" charset="0"/>
                <a:ea typeface="楷体" panose="02010609060101010101" charset="-122"/>
                <a:cs typeface="Times New Roman" panose="02020603050405020304" charset="0"/>
              </a:rPr>
              <a:t>=1 </a:t>
            </a:r>
            <a:r>
              <a:rPr lang="en-US" altLang="zh-CN" sz="2400" b="1" dirty="0">
                <a:latin typeface="Times New Roman" panose="02020603050405020304" charset="0"/>
                <a:ea typeface="楷体" panose="02010609060101010101" charset="-122"/>
                <a:cs typeface="Times New Roman" panose="02020603050405020304" charset="0"/>
              </a:rPr>
              <a:t>→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保持低电平不变 </a:t>
            </a:r>
            <a:endParaRPr lang="zh-CN" altLang="en-US" sz="2400" b="1" dirty="0">
              <a:solidFill>
                <a:srgbClr val="FF0000"/>
              </a:solidFill>
              <a:latin typeface="Times New Roman" panose="02020603050405020304" charset="0"/>
              <a:ea typeface="楷体" panose="02010609060101010101" charset="-122"/>
              <a:cs typeface="Times New Roman" panose="02020603050405020304" charset="0"/>
            </a:endParaRPr>
          </a:p>
        </p:txBody>
      </p:sp>
      <p:graphicFrame>
        <p:nvGraphicFramePr>
          <p:cNvPr id="14" name="对象 13"/>
          <p:cNvGraphicFramePr/>
          <p:nvPr/>
        </p:nvGraphicFramePr>
        <p:xfrm>
          <a:off x="76200" y="1588135"/>
          <a:ext cx="3756025" cy="3031490"/>
        </p:xfrm>
        <a:graphic>
          <a:graphicData uri="http://schemas.openxmlformats.org/presentationml/2006/ole">
            <mc:AlternateContent xmlns:mc="http://schemas.openxmlformats.org/markup-compatibility/2006">
              <mc:Choice xmlns:v="urn:schemas-microsoft-com:vml" Requires="v">
                <p:oleObj spid="_x0000_s15" name="" r:id="rId1" imgW="3752850" imgH="3028950" progId="Paint.Picture">
                  <p:embed/>
                </p:oleObj>
              </mc:Choice>
              <mc:Fallback>
                <p:oleObj name="" r:id="rId1" imgW="3752850" imgH="3028950" progId="Paint.Picture">
                  <p:embed/>
                  <p:pic>
                    <p:nvPicPr>
                      <p:cNvPr id="0" name="图片 14"/>
                      <p:cNvPicPr/>
                      <p:nvPr/>
                    </p:nvPicPr>
                    <p:blipFill>
                      <a:blip r:embed="rId2"/>
                      <a:stretch>
                        <a:fillRect/>
                      </a:stretch>
                    </p:blipFill>
                    <p:spPr>
                      <a:xfrm>
                        <a:off x="76200" y="1588135"/>
                        <a:ext cx="3756025" cy="3031490"/>
                      </a:xfrm>
                      <a:prstGeom prst="rect">
                        <a:avLst/>
                      </a:prstGeom>
                    </p:spPr>
                  </p:pic>
                </p:oleObj>
              </mc:Fallback>
            </mc:AlternateContent>
          </a:graphicData>
        </a:graphic>
      </p:graphicFrame>
      <p:pic>
        <p:nvPicPr>
          <p:cNvPr id="16" name="图片 15"/>
          <p:cNvPicPr>
            <a:picLocks noChangeAspect="1"/>
          </p:cNvPicPr>
          <p:nvPr/>
        </p:nvPicPr>
        <p:blipFill>
          <a:blip r:embed="rId3"/>
          <a:stretch>
            <a:fillRect/>
          </a:stretch>
        </p:blipFill>
        <p:spPr>
          <a:xfrm>
            <a:off x="381000" y="4516120"/>
            <a:ext cx="2739390" cy="2265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3043"/>
                                        </p:tgtEl>
                                        <p:attrNameLst>
                                          <p:attrName>style.visibility</p:attrName>
                                        </p:attrNameLst>
                                      </p:cBhvr>
                                      <p:to>
                                        <p:strVal val="visible"/>
                                      </p:to>
                                    </p:set>
                                    <p:animEffect transition="in" filter="blinds(horizontal)">
                                      <p:cBhvr>
                                        <p:cTn id="7" dur="500"/>
                                        <p:tgtEl>
                                          <p:spTgt spid="383043"/>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383044"/>
                                        </p:tgtEl>
                                        <p:attrNameLst>
                                          <p:attrName>style.visibility</p:attrName>
                                        </p:attrNameLst>
                                      </p:cBhvr>
                                      <p:to>
                                        <p:strVal val="visible"/>
                                      </p:to>
                                    </p:set>
                                    <p:animEffect transition="in" filter="checkerboard(across)">
                                      <p:cBhvr>
                                        <p:cTn id="11" dur="500"/>
                                        <p:tgtEl>
                                          <p:spTgt spid="38304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83045">
                                            <p:txEl>
                                              <p:charRg st="0" end="43"/>
                                            </p:txEl>
                                          </p:spTgt>
                                        </p:tgtEl>
                                        <p:attrNameLst>
                                          <p:attrName>style.visibility</p:attrName>
                                        </p:attrNameLst>
                                      </p:cBhvr>
                                      <p:to>
                                        <p:strVal val="visible"/>
                                      </p:to>
                                    </p:set>
                                    <p:anim calcmode="lin" valueType="num">
                                      <p:cBhvr additive="base">
                                        <p:cTn id="16" dur="500" fill="hold"/>
                                        <p:tgtEl>
                                          <p:spTgt spid="383045">
                                            <p:txEl>
                                              <p:charRg st="0" end="4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83045">
                                            <p:txEl>
                                              <p:charRg st="0" end="43"/>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83045">
                                            <p:txEl>
                                              <p:charRg st="43" end="133"/>
                                            </p:txEl>
                                          </p:spTgt>
                                        </p:tgtEl>
                                        <p:attrNameLst>
                                          <p:attrName>style.visibility</p:attrName>
                                        </p:attrNameLst>
                                      </p:cBhvr>
                                      <p:to>
                                        <p:strVal val="visible"/>
                                      </p:to>
                                    </p:set>
                                    <p:anim calcmode="lin" valueType="num">
                                      <p:cBhvr additive="base">
                                        <p:cTn id="22" dur="500" fill="hold"/>
                                        <p:tgtEl>
                                          <p:spTgt spid="383045">
                                            <p:txEl>
                                              <p:charRg st="43" end="13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83045">
                                            <p:txEl>
                                              <p:charRg st="43" end="13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5" grpId="0"/>
      <p:bldP spid="383043" grpId="0"/>
      <p:bldP spid="3830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Box 6"/>
          <p:cNvSpPr txBox="1"/>
          <p:nvPr/>
        </p:nvSpPr>
        <p:spPr>
          <a:xfrm>
            <a:off x="294322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3685" name="矩形 113684">
            <a:hlinkClick r:id="" action="ppaction://noaction"/>
          </p:cNvPr>
          <p:cNvSpPr/>
          <p:nvPr/>
        </p:nvSpPr>
        <p:spPr>
          <a:xfrm>
            <a:off x="1014730" y="1219200"/>
            <a:ext cx="1826895"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2</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工作原理</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graphicFrame>
        <p:nvGraphicFramePr>
          <p:cNvPr id="14" name="对象 13"/>
          <p:cNvGraphicFramePr/>
          <p:nvPr/>
        </p:nvGraphicFramePr>
        <p:xfrm>
          <a:off x="76200" y="1588135"/>
          <a:ext cx="3756025" cy="3031490"/>
        </p:xfrm>
        <a:graphic>
          <a:graphicData uri="http://schemas.openxmlformats.org/presentationml/2006/ole">
            <mc:AlternateContent xmlns:mc="http://schemas.openxmlformats.org/markup-compatibility/2006">
              <mc:Choice xmlns:v="urn:schemas-microsoft-com:vml" Requires="v">
                <p:oleObj spid="_x0000_s15" name="" r:id="rId1" imgW="3752850" imgH="3028950" progId="Paint.Picture">
                  <p:embed/>
                </p:oleObj>
              </mc:Choice>
              <mc:Fallback>
                <p:oleObj name="" r:id="rId1" imgW="3752850" imgH="3028950" progId="Paint.Picture">
                  <p:embed/>
                  <p:pic>
                    <p:nvPicPr>
                      <p:cNvPr id="0" name="图片 14"/>
                      <p:cNvPicPr/>
                      <p:nvPr/>
                    </p:nvPicPr>
                    <p:blipFill>
                      <a:blip r:embed="rId2"/>
                      <a:stretch>
                        <a:fillRect/>
                      </a:stretch>
                    </p:blipFill>
                    <p:spPr>
                      <a:xfrm>
                        <a:off x="76200" y="1588135"/>
                        <a:ext cx="3756025" cy="3031490"/>
                      </a:xfrm>
                      <a:prstGeom prst="rect">
                        <a:avLst/>
                      </a:prstGeom>
                    </p:spPr>
                  </p:pic>
                </p:oleObj>
              </mc:Fallback>
            </mc:AlternateContent>
          </a:graphicData>
        </a:graphic>
      </p:graphicFrame>
      <p:sp>
        <p:nvSpPr>
          <p:cNvPr id="383046" name="Text Box 70"/>
          <p:cNvSpPr txBox="1"/>
          <p:nvPr/>
        </p:nvSpPr>
        <p:spPr>
          <a:xfrm>
            <a:off x="3886200" y="1295400"/>
            <a:ext cx="5121910" cy="186499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eaLnBrk="1" hangingPunct="1">
              <a:lnSpc>
                <a:spcPct val="120000"/>
              </a:lnSpc>
              <a:spcBef>
                <a:spcPct val="0"/>
              </a:spcBef>
              <a:buClrTx/>
              <a:buSzTx/>
              <a:buFontTx/>
              <a:buNone/>
            </a:pPr>
            <a:r>
              <a:rPr lang="en-US" altLang="zh-CN" sz="2400" b="1" dirty="0">
                <a:solidFill>
                  <a:srgbClr val="FE1CD6"/>
                </a:solidFill>
                <a:latin typeface="Times New Roman" panose="02020603050405020304" charset="0"/>
                <a:ea typeface="楷体" panose="02010609060101010101" charset="-122"/>
                <a:cs typeface="Times New Roman" panose="02020603050405020304" charset="0"/>
              </a:rPr>
              <a:t>b. </a:t>
            </a:r>
            <a:r>
              <a:rPr lang="en-US" altLang="zh-CN" sz="2400" b="1" i="1" dirty="0">
                <a:solidFill>
                  <a:srgbClr val="FE1CD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E1CD6"/>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FE1CD6"/>
                </a:solidFill>
                <a:latin typeface="Times New Roman" panose="02020603050405020304" charset="0"/>
                <a:ea typeface="楷体" panose="02010609060101010101" charset="-122"/>
                <a:cs typeface="Times New Roman" panose="02020603050405020304" charset="0"/>
              </a:rPr>
              <a:t>加触发负脉冲，电路翻转为暂态：</a:t>
            </a:r>
            <a:endParaRPr lang="zh-CN" altLang="en-US" sz="2400" b="1" dirty="0">
              <a:solidFill>
                <a:srgbClr val="FF0000"/>
              </a:solidFill>
              <a:latin typeface="Times New Roman" panose="02020603050405020304" charset="0"/>
              <a:ea typeface="楷体" panose="02010609060101010101" charset="-122"/>
              <a:cs typeface="Times New Roman" panose="02020603050405020304" charset="0"/>
            </a:endParaRPr>
          </a:p>
          <a:p>
            <a:pPr marL="457200" lvl="0" indent="-457200" eaLnBrk="1" hangingPunct="1">
              <a:lnSpc>
                <a:spcPct val="120000"/>
              </a:lnSpc>
              <a:spcBef>
                <a:spcPct val="0"/>
              </a:spcBef>
              <a:buClrTx/>
              <a:buSzTx/>
              <a:buFontTx/>
              <a:buNone/>
            </a:pPr>
            <a:r>
              <a:rPr lang="zh-CN" altLang="en-US" sz="2400" b="1" dirty="0">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mn-ea"/>
              </a:rPr>
              <a:t>I</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下跳变，当</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mn-ea"/>
              </a:rPr>
              <a:t>I</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1/3</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400" b="1" dirty="0">
                <a:solidFill>
                  <a:srgbClr val="000066"/>
                </a:solidFill>
                <a:effectLst/>
                <a:latin typeface="Times New Roman" panose="02020603050405020304" charset="0"/>
                <a:ea typeface="楷体" panose="02010609060101010101" charset="-122"/>
                <a:cs typeface="Times New Roman" panose="02020603050405020304" charset="0"/>
                <a:sym typeface="+mn-ea"/>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Q</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sym typeface="+mn-ea"/>
              </a:rPr>
              <a:t>o</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跳变为高电平，</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与此同时，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截止，电容被充电 。</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384067" name="Rectangle 67"/>
          <p:cNvSpPr/>
          <p:nvPr/>
        </p:nvSpPr>
        <p:spPr>
          <a:xfrm>
            <a:off x="4038600" y="3581400"/>
            <a:ext cx="4968875" cy="249047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600" b="1" dirty="0">
                <a:solidFill>
                  <a:srgbClr val="FE09D6"/>
                </a:solidFill>
                <a:latin typeface="Times New Roman" panose="02020603050405020304" charset="0"/>
                <a:ea typeface="楷体" panose="02010609060101010101" charset="-122"/>
                <a:cs typeface="Times New Roman" panose="02020603050405020304" charset="0"/>
              </a:rPr>
              <a:t>c. </a:t>
            </a:r>
            <a:r>
              <a:rPr lang="zh-CN" altLang="en-US" sz="2600" b="1" dirty="0">
                <a:solidFill>
                  <a:srgbClr val="FE09D6"/>
                </a:solidFill>
                <a:latin typeface="Times New Roman" panose="02020603050405020304" charset="0"/>
                <a:ea typeface="楷体" panose="02010609060101010101" charset="-122"/>
                <a:cs typeface="Times New Roman" panose="02020603050405020304" charset="0"/>
              </a:rPr>
              <a:t>当</a:t>
            </a:r>
            <a:r>
              <a:rPr lang="en-US" altLang="zh-CN" sz="2600" b="1" i="1" dirty="0">
                <a:solidFill>
                  <a:srgbClr val="FE09D6"/>
                </a:solidFill>
                <a:latin typeface="Times New Roman" panose="02020603050405020304" charset="0"/>
                <a:ea typeface="楷体" panose="02010609060101010101" charset="-122"/>
                <a:cs typeface="Times New Roman" panose="02020603050405020304" charset="0"/>
              </a:rPr>
              <a:t>C</a:t>
            </a:r>
            <a:r>
              <a:rPr lang="zh-CN" altLang="en-US" sz="2600" b="1" dirty="0">
                <a:solidFill>
                  <a:srgbClr val="FE09D6"/>
                </a:solidFill>
                <a:latin typeface="Times New Roman" panose="02020603050405020304" charset="0"/>
                <a:ea typeface="楷体" panose="02010609060101010101" charset="-122"/>
                <a:cs typeface="Times New Roman" panose="02020603050405020304" charset="0"/>
              </a:rPr>
              <a:t>充电至</a:t>
            </a:r>
            <a:r>
              <a:rPr lang="en-US" altLang="zh-CN" sz="2600" b="1" dirty="0">
                <a:solidFill>
                  <a:srgbClr val="FE09D6"/>
                </a:solidFill>
                <a:latin typeface="Times New Roman" panose="02020603050405020304" charset="0"/>
                <a:ea typeface="楷体" panose="02010609060101010101" charset="-122"/>
                <a:cs typeface="Times New Roman" panose="02020603050405020304" charset="0"/>
              </a:rPr>
              <a:t>2/3</a:t>
            </a:r>
            <a:r>
              <a:rPr lang="en-US" altLang="zh-CN" sz="2600" b="1" i="1" dirty="0">
                <a:solidFill>
                  <a:srgbClr val="FE09D6"/>
                </a:solidFill>
                <a:latin typeface="Times New Roman" panose="02020603050405020304" charset="0"/>
                <a:ea typeface="楷体" panose="02010609060101010101" charset="-122"/>
                <a:cs typeface="Times New Roman" panose="02020603050405020304" charset="0"/>
              </a:rPr>
              <a:t>V</a:t>
            </a:r>
            <a:r>
              <a:rPr lang="en-US" altLang="zh-CN" sz="2600" b="1" baseline="-25000" dirty="0">
                <a:solidFill>
                  <a:srgbClr val="FE09D6"/>
                </a:solidFill>
                <a:latin typeface="Times New Roman" panose="02020603050405020304" charset="0"/>
                <a:ea typeface="楷体" panose="02010609060101010101" charset="-122"/>
                <a:cs typeface="Times New Roman" panose="02020603050405020304" charset="0"/>
              </a:rPr>
              <a:t>CC</a:t>
            </a:r>
            <a:r>
              <a:rPr lang="zh-CN" altLang="en-US" sz="2600" b="1" dirty="0">
                <a:solidFill>
                  <a:srgbClr val="FE09D6"/>
                </a:solidFill>
                <a:latin typeface="Times New Roman" panose="02020603050405020304" charset="0"/>
                <a:ea typeface="楷体" panose="02010609060101010101" charset="-122"/>
                <a:cs typeface="Times New Roman" panose="02020603050405020304" charset="0"/>
              </a:rPr>
              <a:t>时， </a:t>
            </a:r>
            <a:r>
              <a:rPr lang="en-US" altLang="zh-CN" sz="2600" b="1" i="1" dirty="0">
                <a:solidFill>
                  <a:srgbClr val="FE09D6"/>
                </a:solidFill>
                <a:latin typeface="Times New Roman" panose="02020603050405020304" charset="0"/>
                <a:ea typeface="楷体" panose="02010609060101010101" charset="-122"/>
                <a:cs typeface="Times New Roman" panose="02020603050405020304" charset="0"/>
              </a:rPr>
              <a:t>R</a:t>
            </a:r>
            <a:r>
              <a:rPr lang="en-US" altLang="zh-CN" sz="2600" b="1" dirty="0">
                <a:solidFill>
                  <a:srgbClr val="FE09D6"/>
                </a:solidFill>
                <a:latin typeface="Times New Roman" panose="02020603050405020304" charset="0"/>
                <a:ea typeface="楷体" panose="02010609060101010101" charset="-122"/>
                <a:cs typeface="Times New Roman" panose="02020603050405020304" charset="0"/>
              </a:rPr>
              <a:t>=0</a:t>
            </a:r>
            <a:r>
              <a:rPr lang="zh-CN" altLang="en-US" sz="2600" b="1" dirty="0">
                <a:solidFill>
                  <a:srgbClr val="FE09D6"/>
                </a:solidFill>
                <a:latin typeface="Times New Roman" panose="02020603050405020304" charset="0"/>
                <a:ea typeface="楷体" panose="02010609060101010101" charset="-122"/>
                <a:cs typeface="Times New Roman" panose="02020603050405020304" charset="0"/>
              </a:rPr>
              <a:t>。</a:t>
            </a:r>
            <a:r>
              <a:rPr lang="en-US" altLang="zh-CN" sz="2600" b="1" dirty="0">
                <a:solidFill>
                  <a:srgbClr val="FE09D6"/>
                </a:solidFill>
                <a:latin typeface="Times New Roman" panose="02020603050405020304" charset="0"/>
                <a:ea typeface="楷体" panose="02010609060101010101" charset="-122"/>
                <a:cs typeface="Times New Roman" panose="02020603050405020304" charset="0"/>
              </a:rPr>
              <a:t>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如输入端触发负脉冲已消失，即</a:t>
            </a:r>
            <a:r>
              <a:rPr lang="en-US" altLang="zh-CN" sz="26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600" b="1" dirty="0">
                <a:solidFill>
                  <a:srgbClr val="000066"/>
                </a:solidFill>
                <a:effectLst/>
                <a:latin typeface="Times New Roman" panose="02020603050405020304" charset="0"/>
                <a:ea typeface="楷体" panose="02010609060101010101" charset="-122"/>
                <a:cs typeface="Times New Roman" panose="02020603050405020304" charset="0"/>
                <a:sym typeface="+mn-ea"/>
              </a:rPr>
              <a:t>→ </a:t>
            </a:r>
            <a:r>
              <a:rPr lang="en-US" altLang="zh-CN" sz="26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Q</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，于是</a:t>
            </a:r>
            <a:r>
              <a:rPr lang="en-US" altLang="zh-CN" sz="26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600" b="1" baseline="-25000" dirty="0">
                <a:solidFill>
                  <a:srgbClr val="000066"/>
                </a:solidFill>
                <a:latin typeface="Times New Roman" panose="02020603050405020304" charset="0"/>
                <a:ea typeface="楷体" panose="02010609060101010101" charset="-122"/>
                <a:cs typeface="Times New Roman" panose="02020603050405020304" charset="0"/>
              </a:rPr>
              <a:t>O</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跳变为低电平，同时</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导通，电容迅速放电至</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0V</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，电路恢复到稳态。</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pic>
        <p:nvPicPr>
          <p:cNvPr id="16" name="图片 15"/>
          <p:cNvPicPr>
            <a:picLocks noChangeAspect="1"/>
          </p:cNvPicPr>
          <p:nvPr/>
        </p:nvPicPr>
        <p:blipFill>
          <a:blip r:embed="rId3"/>
          <a:stretch>
            <a:fillRect/>
          </a:stretch>
        </p:blipFill>
        <p:spPr>
          <a:xfrm>
            <a:off x="381000" y="4516120"/>
            <a:ext cx="2739390" cy="2265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3046">
                                            <p:txEl>
                                              <p:charRg st="0" end="21"/>
                                            </p:txEl>
                                          </p:spTgt>
                                        </p:tgtEl>
                                        <p:attrNameLst>
                                          <p:attrName>style.visibility</p:attrName>
                                        </p:attrNameLst>
                                      </p:cBhvr>
                                      <p:to>
                                        <p:strVal val="visible"/>
                                      </p:to>
                                    </p:set>
                                    <p:animEffect transition="in" filter="wipe(left)">
                                      <p:cBhvr>
                                        <p:cTn id="7" dur="500"/>
                                        <p:tgtEl>
                                          <p:spTgt spid="383046">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3046">
                                            <p:txEl>
                                              <p:charRg st="21" end="90"/>
                                            </p:txEl>
                                          </p:spTgt>
                                        </p:tgtEl>
                                        <p:attrNameLst>
                                          <p:attrName>style.visibility</p:attrName>
                                        </p:attrNameLst>
                                      </p:cBhvr>
                                      <p:to>
                                        <p:strVal val="visible"/>
                                      </p:to>
                                    </p:set>
                                    <p:animEffect transition="in" filter="wipe(left)">
                                      <p:cBhvr>
                                        <p:cTn id="12" dur="500"/>
                                        <p:tgtEl>
                                          <p:spTgt spid="383046">
                                            <p:txEl>
                                              <p:charRg st="21" end="9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384067"/>
                                        </p:tgtEl>
                                        <p:attrNameLst>
                                          <p:attrName>style.visibility</p:attrName>
                                        </p:attrNameLst>
                                      </p:cBhvr>
                                      <p:to>
                                        <p:strVal val="visible"/>
                                      </p:to>
                                    </p:set>
                                    <p:anim calcmode="lin" valueType="num">
                                      <p:cBhvr>
                                        <p:cTn id="17" dur="1000" fill="hold"/>
                                        <p:tgtEl>
                                          <p:spTgt spid="384067"/>
                                        </p:tgtEl>
                                        <p:attrNameLst>
                                          <p:attrName>ppt_x</p:attrName>
                                        </p:attrNameLst>
                                      </p:cBhvr>
                                      <p:tavLst>
                                        <p:tav tm="0">
                                          <p:val>
                                            <p:strVal val="#ppt_x-.2"/>
                                          </p:val>
                                        </p:tav>
                                        <p:tav tm="100000">
                                          <p:val>
                                            <p:strVal val="#ppt_x"/>
                                          </p:val>
                                        </p:tav>
                                      </p:tavLst>
                                    </p:anim>
                                    <p:anim calcmode="lin" valueType="num">
                                      <p:cBhvr>
                                        <p:cTn id="18" dur="1000" fill="hold"/>
                                        <p:tgtEl>
                                          <p:spTgt spid="384067"/>
                                        </p:tgtEl>
                                        <p:attrNameLst>
                                          <p:attrName>ppt_y</p:attrName>
                                        </p:attrNameLst>
                                      </p:cBhvr>
                                      <p:tavLst>
                                        <p:tav tm="0">
                                          <p:val>
                                            <p:strVal val="#ppt_y"/>
                                          </p:val>
                                        </p:tav>
                                        <p:tav tm="100000">
                                          <p:val>
                                            <p:strVal val="#ppt_y"/>
                                          </p:val>
                                        </p:tav>
                                      </p:tavLst>
                                    </p:anim>
                                    <p:animEffect transition="in" filter="wipe(right)" prLst="gradientSize: 0.1">
                                      <p:cBhvr>
                                        <p:cTn id="19" dur="1000"/>
                                        <p:tgtEl>
                                          <p:spTgt spid="384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5" grpId="0"/>
      <p:bldP spid="383046" grpId="0" build="p"/>
      <p:bldP spid="38406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Box 6"/>
          <p:cNvSpPr txBox="1"/>
          <p:nvPr/>
        </p:nvSpPr>
        <p:spPr>
          <a:xfrm>
            <a:off x="294322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3685" name="矩形 113684">
            <a:hlinkClick r:id="" action="ppaction://noaction"/>
          </p:cNvPr>
          <p:cNvSpPr/>
          <p:nvPr/>
        </p:nvSpPr>
        <p:spPr>
          <a:xfrm>
            <a:off x="1014730" y="1219200"/>
            <a:ext cx="1826895"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工作</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波形</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grpSp>
        <p:nvGrpSpPr>
          <p:cNvPr id="94427" name="组合 94426"/>
          <p:cNvGrpSpPr/>
          <p:nvPr/>
        </p:nvGrpSpPr>
        <p:grpSpPr>
          <a:xfrm>
            <a:off x="5429250" y="1955800"/>
            <a:ext cx="3382963" cy="2449513"/>
            <a:chOff x="5357" y="2028"/>
            <a:chExt cx="2131" cy="1718"/>
          </a:xfrm>
        </p:grpSpPr>
        <p:sp>
          <p:nvSpPr>
            <p:cNvPr id="94255" name="矩形 94254"/>
            <p:cNvSpPr/>
            <p:nvPr/>
          </p:nvSpPr>
          <p:spPr>
            <a:xfrm>
              <a:off x="7458" y="2994"/>
              <a:ext cx="30" cy="161"/>
            </a:xfrm>
            <a:prstGeom prst="rect">
              <a:avLst/>
            </a:prstGeom>
            <a:noFill/>
            <a:ln w="9525">
              <a:noFill/>
            </a:ln>
          </p:spPr>
          <p:txBody>
            <a:bodyPr wrap="none" lIns="0" tIns="0" rIns="0" bIns="0">
              <a:spAutoFit/>
            </a:bodyPr>
            <a:p>
              <a:pPr algn="ctr"/>
              <a:r>
                <a:rPr lang="en-US" altLang="zh-CN" sz="1500" b="1">
                  <a:solidFill>
                    <a:srgbClr val="000000"/>
                  </a:solidFill>
                  <a:latin typeface="Times New Roman" panose="02020603050405020304" charset="0"/>
                </a:rPr>
                <a:t> </a:t>
              </a:r>
              <a:endParaRPr lang="en-US" altLang="zh-CN" sz="2400" b="1">
                <a:latin typeface="Arial Narrow" panose="020B0606020202030204" pitchFamily="34" charset="0"/>
              </a:endParaRPr>
            </a:p>
          </p:txBody>
        </p:sp>
        <p:sp>
          <p:nvSpPr>
            <p:cNvPr id="94275" name="直接连接符 94274"/>
            <p:cNvSpPr/>
            <p:nvPr/>
          </p:nvSpPr>
          <p:spPr>
            <a:xfrm flipV="1">
              <a:off x="6120" y="3434"/>
              <a:ext cx="2" cy="312"/>
            </a:xfrm>
            <a:prstGeom prst="line">
              <a:avLst/>
            </a:prstGeom>
            <a:ln w="23813" cap="flat" cmpd="sng">
              <a:solidFill>
                <a:srgbClr val="000000"/>
              </a:solidFill>
              <a:prstDash val="solid"/>
              <a:headEnd type="none" w="med" len="med"/>
              <a:tailEnd type="none" w="med" len="med"/>
            </a:ln>
          </p:spPr>
        </p:sp>
        <p:sp>
          <p:nvSpPr>
            <p:cNvPr id="94277" name="直接连接符 94276"/>
            <p:cNvSpPr/>
            <p:nvPr/>
          </p:nvSpPr>
          <p:spPr>
            <a:xfrm flipV="1">
              <a:off x="6671" y="3434"/>
              <a:ext cx="2" cy="312"/>
            </a:xfrm>
            <a:prstGeom prst="line">
              <a:avLst/>
            </a:prstGeom>
            <a:ln w="23813" cap="flat" cmpd="sng">
              <a:solidFill>
                <a:srgbClr val="000000"/>
              </a:solidFill>
              <a:prstDash val="solid"/>
              <a:headEnd type="none" w="med" len="med"/>
              <a:tailEnd type="none" w="med" len="med"/>
            </a:ln>
          </p:spPr>
        </p:sp>
        <p:sp>
          <p:nvSpPr>
            <p:cNvPr id="94307" name="矩形 94306"/>
            <p:cNvSpPr/>
            <p:nvPr/>
          </p:nvSpPr>
          <p:spPr>
            <a:xfrm>
              <a:off x="7458" y="2312"/>
              <a:ext cx="30" cy="160"/>
            </a:xfrm>
            <a:prstGeom prst="rect">
              <a:avLst/>
            </a:prstGeom>
            <a:noFill/>
            <a:ln w="9525">
              <a:noFill/>
            </a:ln>
          </p:spPr>
          <p:txBody>
            <a:bodyPr wrap="none" lIns="0" tIns="0" rIns="0" bIns="0">
              <a:spAutoFit/>
            </a:bodyPr>
            <a:p>
              <a:pPr algn="ctr"/>
              <a:r>
                <a:rPr lang="en-US" altLang="zh-CN" sz="1500" b="1">
                  <a:solidFill>
                    <a:srgbClr val="000000"/>
                  </a:solidFill>
                  <a:latin typeface="Times New Roman" panose="02020603050405020304" charset="0"/>
                </a:rPr>
                <a:t> </a:t>
              </a:r>
              <a:endParaRPr lang="en-US" altLang="zh-CN" sz="2400" b="1">
                <a:latin typeface="Arial Narrow" panose="020B0606020202030204" pitchFamily="34" charset="0"/>
              </a:endParaRPr>
            </a:p>
          </p:txBody>
        </p:sp>
        <p:grpSp>
          <p:nvGrpSpPr>
            <p:cNvPr id="94426" name="组合 94425"/>
            <p:cNvGrpSpPr/>
            <p:nvPr/>
          </p:nvGrpSpPr>
          <p:grpSpPr>
            <a:xfrm>
              <a:off x="5357" y="2028"/>
              <a:ext cx="2072" cy="1708"/>
              <a:chOff x="5357" y="2028"/>
              <a:chExt cx="2072" cy="1708"/>
            </a:xfrm>
          </p:grpSpPr>
          <p:sp>
            <p:nvSpPr>
              <p:cNvPr id="94237" name="任意多边形 94236"/>
              <p:cNvSpPr/>
              <p:nvPr/>
            </p:nvSpPr>
            <p:spPr>
              <a:xfrm>
                <a:off x="7168" y="2368"/>
                <a:ext cx="142" cy="30"/>
              </a:xfrm>
              <a:custGeom>
                <a:avLst/>
                <a:gdLst/>
                <a:ahLst/>
                <a:cxnLst/>
                <a:pathLst>
                  <a:path w="100" h="25">
                    <a:moveTo>
                      <a:pt x="100" y="12"/>
                    </a:moveTo>
                    <a:lnTo>
                      <a:pt x="0" y="25"/>
                    </a:lnTo>
                    <a:lnTo>
                      <a:pt x="0" y="0"/>
                    </a:lnTo>
                    <a:lnTo>
                      <a:pt x="100" y="12"/>
                    </a:lnTo>
                    <a:close/>
                  </a:path>
                </a:pathLst>
              </a:custGeom>
              <a:solidFill>
                <a:srgbClr val="000000"/>
              </a:solidFill>
              <a:ln w="9525">
                <a:noFill/>
              </a:ln>
            </p:spPr>
            <p:txBody>
              <a:bodyPr/>
              <a:p>
                <a:endParaRPr lang="zh-CN" altLang="en-US"/>
              </a:p>
            </p:txBody>
          </p:sp>
          <p:sp>
            <p:nvSpPr>
              <p:cNvPr id="94238" name="任意多边形 94237"/>
              <p:cNvSpPr/>
              <p:nvPr/>
            </p:nvSpPr>
            <p:spPr>
              <a:xfrm>
                <a:off x="7168" y="2368"/>
                <a:ext cx="142" cy="30"/>
              </a:xfrm>
              <a:custGeom>
                <a:avLst/>
                <a:gdLst/>
                <a:ahLst/>
                <a:cxnLst/>
                <a:pathLst>
                  <a:path w="100" h="25">
                    <a:moveTo>
                      <a:pt x="100" y="12"/>
                    </a:moveTo>
                    <a:lnTo>
                      <a:pt x="0" y="25"/>
                    </a:lnTo>
                    <a:lnTo>
                      <a:pt x="0" y="0"/>
                    </a:lnTo>
                    <a:lnTo>
                      <a:pt x="100" y="12"/>
                    </a:lnTo>
                    <a:close/>
                  </a:path>
                </a:pathLst>
              </a:custGeom>
              <a:solidFill>
                <a:srgbClr val="FFFFFF"/>
              </a:solidFill>
              <a:ln w="23813" cap="flat" cmpd="sng">
                <a:solidFill>
                  <a:srgbClr val="FFFFFF"/>
                </a:solidFill>
                <a:prstDash val="solid"/>
                <a:headEnd type="none" w="med" len="med"/>
                <a:tailEnd type="none" w="med" len="med"/>
              </a:ln>
            </p:spPr>
            <p:txBody>
              <a:bodyPr/>
              <a:p>
                <a:endParaRPr lang="zh-CN" altLang="en-US"/>
              </a:p>
            </p:txBody>
          </p:sp>
          <p:sp>
            <p:nvSpPr>
              <p:cNvPr id="94244" name="直接连接符 94243"/>
              <p:cNvSpPr/>
              <p:nvPr/>
            </p:nvSpPr>
            <p:spPr>
              <a:xfrm>
                <a:off x="6120" y="2028"/>
                <a:ext cx="2" cy="311"/>
              </a:xfrm>
              <a:prstGeom prst="line">
                <a:avLst/>
              </a:prstGeom>
              <a:ln w="23813" cap="flat" cmpd="sng">
                <a:solidFill>
                  <a:srgbClr val="000000"/>
                </a:solidFill>
                <a:prstDash val="solid"/>
                <a:headEnd type="none" w="med" len="med"/>
                <a:tailEnd type="none" w="med" len="med"/>
              </a:ln>
            </p:spPr>
          </p:sp>
          <p:sp>
            <p:nvSpPr>
              <p:cNvPr id="94245" name="直接连接符 94244"/>
              <p:cNvSpPr/>
              <p:nvPr/>
            </p:nvSpPr>
            <p:spPr>
              <a:xfrm>
                <a:off x="6109" y="2332"/>
                <a:ext cx="161" cy="1"/>
              </a:xfrm>
              <a:prstGeom prst="line">
                <a:avLst/>
              </a:prstGeom>
              <a:ln w="23813" cap="flat" cmpd="sng">
                <a:solidFill>
                  <a:srgbClr val="000000"/>
                </a:solidFill>
                <a:prstDash val="solid"/>
                <a:headEnd type="none" w="med" len="med"/>
                <a:tailEnd type="none" w="med" len="med"/>
              </a:ln>
            </p:spPr>
          </p:sp>
          <p:sp>
            <p:nvSpPr>
              <p:cNvPr id="94246" name="直接连接符 94245"/>
              <p:cNvSpPr/>
              <p:nvPr/>
            </p:nvSpPr>
            <p:spPr>
              <a:xfrm>
                <a:off x="6262" y="2028"/>
                <a:ext cx="1" cy="311"/>
              </a:xfrm>
              <a:prstGeom prst="line">
                <a:avLst/>
              </a:prstGeom>
              <a:ln w="23813" cap="flat" cmpd="sng">
                <a:solidFill>
                  <a:srgbClr val="000000"/>
                </a:solidFill>
                <a:prstDash val="solid"/>
                <a:headEnd type="none" w="med" len="med"/>
                <a:tailEnd type="none" w="med" len="med"/>
              </a:ln>
            </p:spPr>
          </p:sp>
          <p:sp>
            <p:nvSpPr>
              <p:cNvPr id="94248" name="直接连接符 94247"/>
              <p:cNvSpPr/>
              <p:nvPr/>
            </p:nvSpPr>
            <p:spPr>
              <a:xfrm>
                <a:off x="5405" y="2038"/>
                <a:ext cx="722" cy="1"/>
              </a:xfrm>
              <a:prstGeom prst="line">
                <a:avLst/>
              </a:prstGeom>
              <a:ln w="23813" cap="flat" cmpd="sng">
                <a:solidFill>
                  <a:srgbClr val="000000"/>
                </a:solidFill>
                <a:prstDash val="solid"/>
                <a:headEnd type="none" w="med" len="med"/>
                <a:tailEnd type="none" w="med" len="med"/>
              </a:ln>
            </p:spPr>
          </p:sp>
          <p:sp>
            <p:nvSpPr>
              <p:cNvPr id="94249" name="直接连接符 94248"/>
              <p:cNvSpPr/>
              <p:nvPr/>
            </p:nvSpPr>
            <p:spPr>
              <a:xfrm>
                <a:off x="6255" y="2038"/>
                <a:ext cx="703" cy="1"/>
              </a:xfrm>
              <a:prstGeom prst="line">
                <a:avLst/>
              </a:prstGeom>
              <a:ln w="23813" cap="flat" cmpd="sng">
                <a:solidFill>
                  <a:srgbClr val="000000"/>
                </a:solidFill>
                <a:prstDash val="solid"/>
                <a:headEnd type="none" w="med" len="med"/>
                <a:tailEnd type="none" w="med" len="med"/>
              </a:ln>
            </p:spPr>
          </p:sp>
          <p:sp>
            <p:nvSpPr>
              <p:cNvPr id="94251" name="任意多边形 94250"/>
              <p:cNvSpPr>
                <a:spLocks noEditPoints="1"/>
              </p:cNvSpPr>
              <p:nvPr/>
            </p:nvSpPr>
            <p:spPr>
              <a:xfrm>
                <a:off x="5839" y="2717"/>
                <a:ext cx="15" cy="737"/>
              </a:xfrm>
              <a:custGeom>
                <a:avLst/>
                <a:gdLst/>
                <a:ahLst/>
                <a:cxnLst/>
                <a:pathLst>
                  <a:path w="11" h="617">
                    <a:moveTo>
                      <a:pt x="0" y="611"/>
                    </a:moveTo>
                    <a:lnTo>
                      <a:pt x="0" y="575"/>
                    </a:lnTo>
                    <a:lnTo>
                      <a:pt x="0" y="573"/>
                    </a:lnTo>
                    <a:lnTo>
                      <a:pt x="1" y="571"/>
                    </a:lnTo>
                    <a:lnTo>
                      <a:pt x="3" y="570"/>
                    </a:lnTo>
                    <a:lnTo>
                      <a:pt x="5" y="570"/>
                    </a:lnTo>
                    <a:lnTo>
                      <a:pt x="7" y="570"/>
                    </a:lnTo>
                    <a:lnTo>
                      <a:pt x="9" y="571"/>
                    </a:lnTo>
                    <a:lnTo>
                      <a:pt x="11" y="573"/>
                    </a:lnTo>
                    <a:lnTo>
                      <a:pt x="11" y="575"/>
                    </a:lnTo>
                    <a:lnTo>
                      <a:pt x="11" y="611"/>
                    </a:lnTo>
                    <a:lnTo>
                      <a:pt x="11" y="613"/>
                    </a:lnTo>
                    <a:lnTo>
                      <a:pt x="9" y="615"/>
                    </a:lnTo>
                    <a:lnTo>
                      <a:pt x="7" y="617"/>
                    </a:lnTo>
                    <a:lnTo>
                      <a:pt x="5" y="617"/>
                    </a:lnTo>
                    <a:lnTo>
                      <a:pt x="3" y="617"/>
                    </a:lnTo>
                    <a:lnTo>
                      <a:pt x="1" y="615"/>
                    </a:lnTo>
                    <a:lnTo>
                      <a:pt x="0" y="613"/>
                    </a:lnTo>
                    <a:lnTo>
                      <a:pt x="0" y="611"/>
                    </a:lnTo>
                    <a:lnTo>
                      <a:pt x="0" y="611"/>
                    </a:lnTo>
                    <a:close/>
                    <a:moveTo>
                      <a:pt x="0" y="528"/>
                    </a:moveTo>
                    <a:lnTo>
                      <a:pt x="0" y="492"/>
                    </a:lnTo>
                    <a:lnTo>
                      <a:pt x="0" y="490"/>
                    </a:lnTo>
                    <a:lnTo>
                      <a:pt x="1" y="488"/>
                    </a:lnTo>
                    <a:lnTo>
                      <a:pt x="3" y="488"/>
                    </a:lnTo>
                    <a:lnTo>
                      <a:pt x="5" y="486"/>
                    </a:lnTo>
                    <a:lnTo>
                      <a:pt x="7" y="488"/>
                    </a:lnTo>
                    <a:lnTo>
                      <a:pt x="9" y="488"/>
                    </a:lnTo>
                    <a:lnTo>
                      <a:pt x="11" y="490"/>
                    </a:lnTo>
                    <a:lnTo>
                      <a:pt x="11" y="492"/>
                    </a:lnTo>
                    <a:lnTo>
                      <a:pt x="11" y="528"/>
                    </a:lnTo>
                    <a:lnTo>
                      <a:pt x="11" y="530"/>
                    </a:lnTo>
                    <a:lnTo>
                      <a:pt x="9" y="532"/>
                    </a:lnTo>
                    <a:lnTo>
                      <a:pt x="7" y="534"/>
                    </a:lnTo>
                    <a:lnTo>
                      <a:pt x="5" y="534"/>
                    </a:lnTo>
                    <a:lnTo>
                      <a:pt x="3" y="534"/>
                    </a:lnTo>
                    <a:lnTo>
                      <a:pt x="1" y="532"/>
                    </a:lnTo>
                    <a:lnTo>
                      <a:pt x="0" y="530"/>
                    </a:lnTo>
                    <a:lnTo>
                      <a:pt x="0" y="528"/>
                    </a:lnTo>
                    <a:lnTo>
                      <a:pt x="0" y="528"/>
                    </a:lnTo>
                    <a:close/>
                    <a:moveTo>
                      <a:pt x="0" y="445"/>
                    </a:moveTo>
                    <a:lnTo>
                      <a:pt x="0" y="411"/>
                    </a:lnTo>
                    <a:lnTo>
                      <a:pt x="0" y="407"/>
                    </a:lnTo>
                    <a:lnTo>
                      <a:pt x="1" y="405"/>
                    </a:lnTo>
                    <a:lnTo>
                      <a:pt x="3" y="405"/>
                    </a:lnTo>
                    <a:lnTo>
                      <a:pt x="5" y="405"/>
                    </a:lnTo>
                    <a:lnTo>
                      <a:pt x="7" y="405"/>
                    </a:lnTo>
                    <a:lnTo>
                      <a:pt x="9" y="405"/>
                    </a:lnTo>
                    <a:lnTo>
                      <a:pt x="11" y="407"/>
                    </a:lnTo>
                    <a:lnTo>
                      <a:pt x="11" y="411"/>
                    </a:lnTo>
                    <a:lnTo>
                      <a:pt x="11" y="445"/>
                    </a:lnTo>
                    <a:lnTo>
                      <a:pt x="11" y="448"/>
                    </a:lnTo>
                    <a:lnTo>
                      <a:pt x="9" y="450"/>
                    </a:lnTo>
                    <a:lnTo>
                      <a:pt x="7" y="450"/>
                    </a:lnTo>
                    <a:lnTo>
                      <a:pt x="5" y="452"/>
                    </a:lnTo>
                    <a:lnTo>
                      <a:pt x="3" y="450"/>
                    </a:lnTo>
                    <a:lnTo>
                      <a:pt x="1" y="450"/>
                    </a:lnTo>
                    <a:lnTo>
                      <a:pt x="0" y="448"/>
                    </a:lnTo>
                    <a:lnTo>
                      <a:pt x="0" y="445"/>
                    </a:lnTo>
                    <a:lnTo>
                      <a:pt x="0" y="445"/>
                    </a:lnTo>
                    <a:close/>
                    <a:moveTo>
                      <a:pt x="0" y="363"/>
                    </a:moveTo>
                    <a:lnTo>
                      <a:pt x="0" y="327"/>
                    </a:lnTo>
                    <a:lnTo>
                      <a:pt x="0" y="325"/>
                    </a:lnTo>
                    <a:lnTo>
                      <a:pt x="1" y="323"/>
                    </a:lnTo>
                    <a:lnTo>
                      <a:pt x="3" y="322"/>
                    </a:lnTo>
                    <a:lnTo>
                      <a:pt x="5" y="322"/>
                    </a:lnTo>
                    <a:lnTo>
                      <a:pt x="7" y="322"/>
                    </a:lnTo>
                    <a:lnTo>
                      <a:pt x="9" y="323"/>
                    </a:lnTo>
                    <a:lnTo>
                      <a:pt x="11" y="325"/>
                    </a:lnTo>
                    <a:lnTo>
                      <a:pt x="11" y="327"/>
                    </a:lnTo>
                    <a:lnTo>
                      <a:pt x="11" y="363"/>
                    </a:lnTo>
                    <a:lnTo>
                      <a:pt x="11" y="365"/>
                    </a:lnTo>
                    <a:lnTo>
                      <a:pt x="9" y="367"/>
                    </a:lnTo>
                    <a:lnTo>
                      <a:pt x="7" y="369"/>
                    </a:lnTo>
                    <a:lnTo>
                      <a:pt x="5" y="369"/>
                    </a:lnTo>
                    <a:lnTo>
                      <a:pt x="3" y="369"/>
                    </a:lnTo>
                    <a:lnTo>
                      <a:pt x="1" y="367"/>
                    </a:lnTo>
                    <a:lnTo>
                      <a:pt x="0" y="365"/>
                    </a:lnTo>
                    <a:lnTo>
                      <a:pt x="0" y="363"/>
                    </a:lnTo>
                    <a:lnTo>
                      <a:pt x="0" y="363"/>
                    </a:lnTo>
                    <a:close/>
                    <a:moveTo>
                      <a:pt x="0" y="280"/>
                    </a:moveTo>
                    <a:lnTo>
                      <a:pt x="0" y="244"/>
                    </a:lnTo>
                    <a:lnTo>
                      <a:pt x="0" y="242"/>
                    </a:lnTo>
                    <a:lnTo>
                      <a:pt x="1" y="240"/>
                    </a:lnTo>
                    <a:lnTo>
                      <a:pt x="3" y="238"/>
                    </a:lnTo>
                    <a:lnTo>
                      <a:pt x="5" y="238"/>
                    </a:lnTo>
                    <a:lnTo>
                      <a:pt x="7" y="238"/>
                    </a:lnTo>
                    <a:lnTo>
                      <a:pt x="9" y="240"/>
                    </a:lnTo>
                    <a:lnTo>
                      <a:pt x="11" y="242"/>
                    </a:lnTo>
                    <a:lnTo>
                      <a:pt x="11" y="244"/>
                    </a:lnTo>
                    <a:lnTo>
                      <a:pt x="11" y="280"/>
                    </a:lnTo>
                    <a:lnTo>
                      <a:pt x="11" y="282"/>
                    </a:lnTo>
                    <a:lnTo>
                      <a:pt x="9" y="284"/>
                    </a:lnTo>
                    <a:lnTo>
                      <a:pt x="7" y="286"/>
                    </a:lnTo>
                    <a:lnTo>
                      <a:pt x="5" y="286"/>
                    </a:lnTo>
                    <a:lnTo>
                      <a:pt x="3" y="286"/>
                    </a:lnTo>
                    <a:lnTo>
                      <a:pt x="1" y="284"/>
                    </a:lnTo>
                    <a:lnTo>
                      <a:pt x="0" y="282"/>
                    </a:lnTo>
                    <a:lnTo>
                      <a:pt x="0" y="280"/>
                    </a:lnTo>
                    <a:lnTo>
                      <a:pt x="0" y="280"/>
                    </a:lnTo>
                    <a:close/>
                    <a:moveTo>
                      <a:pt x="0" y="197"/>
                    </a:moveTo>
                    <a:lnTo>
                      <a:pt x="0" y="161"/>
                    </a:lnTo>
                    <a:lnTo>
                      <a:pt x="0" y="159"/>
                    </a:lnTo>
                    <a:lnTo>
                      <a:pt x="1" y="157"/>
                    </a:lnTo>
                    <a:lnTo>
                      <a:pt x="3" y="157"/>
                    </a:lnTo>
                    <a:lnTo>
                      <a:pt x="5" y="155"/>
                    </a:lnTo>
                    <a:lnTo>
                      <a:pt x="7" y="157"/>
                    </a:lnTo>
                    <a:lnTo>
                      <a:pt x="9" y="157"/>
                    </a:lnTo>
                    <a:lnTo>
                      <a:pt x="11" y="159"/>
                    </a:lnTo>
                    <a:lnTo>
                      <a:pt x="11" y="161"/>
                    </a:lnTo>
                    <a:lnTo>
                      <a:pt x="11" y="197"/>
                    </a:lnTo>
                    <a:lnTo>
                      <a:pt x="11" y="199"/>
                    </a:lnTo>
                    <a:lnTo>
                      <a:pt x="9" y="200"/>
                    </a:lnTo>
                    <a:lnTo>
                      <a:pt x="7" y="202"/>
                    </a:lnTo>
                    <a:lnTo>
                      <a:pt x="5" y="202"/>
                    </a:lnTo>
                    <a:lnTo>
                      <a:pt x="3" y="202"/>
                    </a:lnTo>
                    <a:lnTo>
                      <a:pt x="1" y="200"/>
                    </a:lnTo>
                    <a:lnTo>
                      <a:pt x="0" y="199"/>
                    </a:lnTo>
                    <a:lnTo>
                      <a:pt x="0" y="197"/>
                    </a:lnTo>
                    <a:lnTo>
                      <a:pt x="0" y="197"/>
                    </a:lnTo>
                    <a:close/>
                    <a:moveTo>
                      <a:pt x="0" y="113"/>
                    </a:moveTo>
                    <a:lnTo>
                      <a:pt x="0" y="79"/>
                    </a:lnTo>
                    <a:lnTo>
                      <a:pt x="0" y="75"/>
                    </a:lnTo>
                    <a:lnTo>
                      <a:pt x="1" y="74"/>
                    </a:lnTo>
                    <a:lnTo>
                      <a:pt x="3" y="74"/>
                    </a:lnTo>
                    <a:lnTo>
                      <a:pt x="5" y="74"/>
                    </a:lnTo>
                    <a:lnTo>
                      <a:pt x="7" y="74"/>
                    </a:lnTo>
                    <a:lnTo>
                      <a:pt x="9" y="74"/>
                    </a:lnTo>
                    <a:lnTo>
                      <a:pt x="11" y="75"/>
                    </a:lnTo>
                    <a:lnTo>
                      <a:pt x="11" y="79"/>
                    </a:lnTo>
                    <a:lnTo>
                      <a:pt x="11" y="113"/>
                    </a:lnTo>
                    <a:lnTo>
                      <a:pt x="11" y="117"/>
                    </a:lnTo>
                    <a:lnTo>
                      <a:pt x="9" y="119"/>
                    </a:lnTo>
                    <a:lnTo>
                      <a:pt x="7" y="119"/>
                    </a:lnTo>
                    <a:lnTo>
                      <a:pt x="5" y="121"/>
                    </a:lnTo>
                    <a:lnTo>
                      <a:pt x="3" y="119"/>
                    </a:lnTo>
                    <a:lnTo>
                      <a:pt x="1" y="119"/>
                    </a:lnTo>
                    <a:lnTo>
                      <a:pt x="0" y="117"/>
                    </a:lnTo>
                    <a:lnTo>
                      <a:pt x="0" y="113"/>
                    </a:lnTo>
                    <a:lnTo>
                      <a:pt x="0" y="113"/>
                    </a:lnTo>
                    <a:close/>
                    <a:moveTo>
                      <a:pt x="0" y="32"/>
                    </a:moveTo>
                    <a:lnTo>
                      <a:pt x="0" y="5"/>
                    </a:lnTo>
                    <a:lnTo>
                      <a:pt x="0" y="4"/>
                    </a:lnTo>
                    <a:lnTo>
                      <a:pt x="1" y="2"/>
                    </a:lnTo>
                    <a:lnTo>
                      <a:pt x="3" y="0"/>
                    </a:lnTo>
                    <a:lnTo>
                      <a:pt x="5" y="0"/>
                    </a:lnTo>
                    <a:lnTo>
                      <a:pt x="7" y="0"/>
                    </a:lnTo>
                    <a:lnTo>
                      <a:pt x="9" y="2"/>
                    </a:lnTo>
                    <a:lnTo>
                      <a:pt x="11" y="4"/>
                    </a:lnTo>
                    <a:lnTo>
                      <a:pt x="11" y="5"/>
                    </a:lnTo>
                    <a:lnTo>
                      <a:pt x="11" y="32"/>
                    </a:lnTo>
                    <a:lnTo>
                      <a:pt x="11" y="34"/>
                    </a:lnTo>
                    <a:lnTo>
                      <a:pt x="9" y="36"/>
                    </a:lnTo>
                    <a:lnTo>
                      <a:pt x="7" y="38"/>
                    </a:lnTo>
                    <a:lnTo>
                      <a:pt x="5" y="38"/>
                    </a:lnTo>
                    <a:lnTo>
                      <a:pt x="3" y="38"/>
                    </a:lnTo>
                    <a:lnTo>
                      <a:pt x="1" y="36"/>
                    </a:lnTo>
                    <a:lnTo>
                      <a:pt x="0" y="34"/>
                    </a:lnTo>
                    <a:lnTo>
                      <a:pt x="0" y="32"/>
                    </a:lnTo>
                    <a:lnTo>
                      <a:pt x="0" y="32"/>
                    </a:lnTo>
                    <a:close/>
                  </a:path>
                </a:pathLst>
              </a:custGeom>
              <a:solidFill>
                <a:srgbClr val="000000"/>
              </a:solidFill>
              <a:ln w="3175" cap="flat" cmpd="sng">
                <a:solidFill>
                  <a:srgbClr val="000000"/>
                </a:solidFill>
                <a:prstDash val="solid"/>
                <a:headEnd type="none" w="med" len="med"/>
                <a:tailEnd type="none" w="med" len="med"/>
              </a:ln>
            </p:spPr>
            <p:txBody>
              <a:bodyPr/>
              <a:p>
                <a:endParaRPr lang="zh-CN" altLang="en-US"/>
              </a:p>
            </p:txBody>
          </p:sp>
          <p:sp>
            <p:nvSpPr>
              <p:cNvPr id="94252" name="任意多边形 94251"/>
              <p:cNvSpPr>
                <a:spLocks noEditPoints="1"/>
              </p:cNvSpPr>
              <p:nvPr/>
            </p:nvSpPr>
            <p:spPr>
              <a:xfrm>
                <a:off x="6115" y="2314"/>
                <a:ext cx="15" cy="1145"/>
              </a:xfrm>
              <a:custGeom>
                <a:avLst/>
                <a:gdLst/>
                <a:ahLst/>
                <a:cxnLst/>
                <a:pathLst>
                  <a:path w="11" h="958">
                    <a:moveTo>
                      <a:pt x="0" y="952"/>
                    </a:moveTo>
                    <a:lnTo>
                      <a:pt x="0" y="916"/>
                    </a:lnTo>
                    <a:lnTo>
                      <a:pt x="0" y="914"/>
                    </a:lnTo>
                    <a:lnTo>
                      <a:pt x="2" y="912"/>
                    </a:lnTo>
                    <a:lnTo>
                      <a:pt x="4" y="910"/>
                    </a:lnTo>
                    <a:lnTo>
                      <a:pt x="6" y="910"/>
                    </a:lnTo>
                    <a:lnTo>
                      <a:pt x="8" y="910"/>
                    </a:lnTo>
                    <a:lnTo>
                      <a:pt x="9" y="912"/>
                    </a:lnTo>
                    <a:lnTo>
                      <a:pt x="11" y="914"/>
                    </a:lnTo>
                    <a:lnTo>
                      <a:pt x="11" y="916"/>
                    </a:lnTo>
                    <a:lnTo>
                      <a:pt x="11" y="952"/>
                    </a:lnTo>
                    <a:lnTo>
                      <a:pt x="11" y="954"/>
                    </a:lnTo>
                    <a:lnTo>
                      <a:pt x="9" y="956"/>
                    </a:lnTo>
                    <a:lnTo>
                      <a:pt x="8" y="958"/>
                    </a:lnTo>
                    <a:lnTo>
                      <a:pt x="6" y="958"/>
                    </a:lnTo>
                    <a:lnTo>
                      <a:pt x="4" y="958"/>
                    </a:lnTo>
                    <a:lnTo>
                      <a:pt x="2" y="956"/>
                    </a:lnTo>
                    <a:lnTo>
                      <a:pt x="0" y="954"/>
                    </a:lnTo>
                    <a:lnTo>
                      <a:pt x="0" y="952"/>
                    </a:lnTo>
                    <a:lnTo>
                      <a:pt x="0" y="952"/>
                    </a:lnTo>
                    <a:close/>
                    <a:moveTo>
                      <a:pt x="0" y="869"/>
                    </a:moveTo>
                    <a:lnTo>
                      <a:pt x="0" y="833"/>
                    </a:lnTo>
                    <a:lnTo>
                      <a:pt x="0" y="831"/>
                    </a:lnTo>
                    <a:lnTo>
                      <a:pt x="2" y="829"/>
                    </a:lnTo>
                    <a:lnTo>
                      <a:pt x="4" y="829"/>
                    </a:lnTo>
                    <a:lnTo>
                      <a:pt x="6" y="827"/>
                    </a:lnTo>
                    <a:lnTo>
                      <a:pt x="8" y="829"/>
                    </a:lnTo>
                    <a:lnTo>
                      <a:pt x="9" y="829"/>
                    </a:lnTo>
                    <a:lnTo>
                      <a:pt x="11" y="831"/>
                    </a:lnTo>
                    <a:lnTo>
                      <a:pt x="11" y="833"/>
                    </a:lnTo>
                    <a:lnTo>
                      <a:pt x="11" y="869"/>
                    </a:lnTo>
                    <a:lnTo>
                      <a:pt x="11" y="871"/>
                    </a:lnTo>
                    <a:lnTo>
                      <a:pt x="9" y="873"/>
                    </a:lnTo>
                    <a:lnTo>
                      <a:pt x="8" y="874"/>
                    </a:lnTo>
                    <a:lnTo>
                      <a:pt x="6" y="874"/>
                    </a:lnTo>
                    <a:lnTo>
                      <a:pt x="4" y="874"/>
                    </a:lnTo>
                    <a:lnTo>
                      <a:pt x="2" y="873"/>
                    </a:lnTo>
                    <a:lnTo>
                      <a:pt x="0" y="871"/>
                    </a:lnTo>
                    <a:lnTo>
                      <a:pt x="0" y="869"/>
                    </a:lnTo>
                    <a:lnTo>
                      <a:pt x="0" y="869"/>
                    </a:lnTo>
                    <a:close/>
                    <a:moveTo>
                      <a:pt x="0" y="785"/>
                    </a:moveTo>
                    <a:lnTo>
                      <a:pt x="0" y="751"/>
                    </a:lnTo>
                    <a:lnTo>
                      <a:pt x="0" y="749"/>
                    </a:lnTo>
                    <a:lnTo>
                      <a:pt x="2" y="748"/>
                    </a:lnTo>
                    <a:lnTo>
                      <a:pt x="4" y="746"/>
                    </a:lnTo>
                    <a:lnTo>
                      <a:pt x="6" y="746"/>
                    </a:lnTo>
                    <a:lnTo>
                      <a:pt x="8" y="746"/>
                    </a:lnTo>
                    <a:lnTo>
                      <a:pt x="9" y="748"/>
                    </a:lnTo>
                    <a:lnTo>
                      <a:pt x="11" y="749"/>
                    </a:lnTo>
                    <a:lnTo>
                      <a:pt x="11" y="751"/>
                    </a:lnTo>
                    <a:lnTo>
                      <a:pt x="11" y="785"/>
                    </a:lnTo>
                    <a:lnTo>
                      <a:pt x="11" y="789"/>
                    </a:lnTo>
                    <a:lnTo>
                      <a:pt x="9" y="791"/>
                    </a:lnTo>
                    <a:lnTo>
                      <a:pt x="8" y="791"/>
                    </a:lnTo>
                    <a:lnTo>
                      <a:pt x="6" y="793"/>
                    </a:lnTo>
                    <a:lnTo>
                      <a:pt x="4" y="791"/>
                    </a:lnTo>
                    <a:lnTo>
                      <a:pt x="2" y="791"/>
                    </a:lnTo>
                    <a:lnTo>
                      <a:pt x="0" y="789"/>
                    </a:lnTo>
                    <a:lnTo>
                      <a:pt x="0" y="785"/>
                    </a:lnTo>
                    <a:lnTo>
                      <a:pt x="0" y="785"/>
                    </a:lnTo>
                    <a:close/>
                    <a:moveTo>
                      <a:pt x="0" y="704"/>
                    </a:moveTo>
                    <a:lnTo>
                      <a:pt x="0" y="668"/>
                    </a:lnTo>
                    <a:lnTo>
                      <a:pt x="0" y="666"/>
                    </a:lnTo>
                    <a:lnTo>
                      <a:pt x="2" y="664"/>
                    </a:lnTo>
                    <a:lnTo>
                      <a:pt x="4" y="662"/>
                    </a:lnTo>
                    <a:lnTo>
                      <a:pt x="6" y="662"/>
                    </a:lnTo>
                    <a:lnTo>
                      <a:pt x="8" y="662"/>
                    </a:lnTo>
                    <a:lnTo>
                      <a:pt x="9" y="664"/>
                    </a:lnTo>
                    <a:lnTo>
                      <a:pt x="11" y="666"/>
                    </a:lnTo>
                    <a:lnTo>
                      <a:pt x="11" y="668"/>
                    </a:lnTo>
                    <a:lnTo>
                      <a:pt x="11" y="704"/>
                    </a:lnTo>
                    <a:lnTo>
                      <a:pt x="11" y="706"/>
                    </a:lnTo>
                    <a:lnTo>
                      <a:pt x="9" y="708"/>
                    </a:lnTo>
                    <a:lnTo>
                      <a:pt x="8" y="710"/>
                    </a:lnTo>
                    <a:lnTo>
                      <a:pt x="6" y="710"/>
                    </a:lnTo>
                    <a:lnTo>
                      <a:pt x="4" y="710"/>
                    </a:lnTo>
                    <a:lnTo>
                      <a:pt x="2" y="708"/>
                    </a:lnTo>
                    <a:lnTo>
                      <a:pt x="0" y="706"/>
                    </a:lnTo>
                    <a:lnTo>
                      <a:pt x="0" y="704"/>
                    </a:lnTo>
                    <a:lnTo>
                      <a:pt x="0" y="704"/>
                    </a:lnTo>
                    <a:close/>
                    <a:moveTo>
                      <a:pt x="0" y="621"/>
                    </a:moveTo>
                    <a:lnTo>
                      <a:pt x="0" y="585"/>
                    </a:lnTo>
                    <a:lnTo>
                      <a:pt x="0" y="583"/>
                    </a:lnTo>
                    <a:lnTo>
                      <a:pt x="2" y="581"/>
                    </a:lnTo>
                    <a:lnTo>
                      <a:pt x="4" y="579"/>
                    </a:lnTo>
                    <a:lnTo>
                      <a:pt x="6" y="579"/>
                    </a:lnTo>
                    <a:lnTo>
                      <a:pt x="8" y="579"/>
                    </a:lnTo>
                    <a:lnTo>
                      <a:pt x="9" y="581"/>
                    </a:lnTo>
                    <a:lnTo>
                      <a:pt x="11" y="583"/>
                    </a:lnTo>
                    <a:lnTo>
                      <a:pt x="11" y="585"/>
                    </a:lnTo>
                    <a:lnTo>
                      <a:pt x="11" y="621"/>
                    </a:lnTo>
                    <a:lnTo>
                      <a:pt x="11" y="623"/>
                    </a:lnTo>
                    <a:lnTo>
                      <a:pt x="9" y="625"/>
                    </a:lnTo>
                    <a:lnTo>
                      <a:pt x="8" y="626"/>
                    </a:lnTo>
                    <a:lnTo>
                      <a:pt x="6" y="626"/>
                    </a:lnTo>
                    <a:lnTo>
                      <a:pt x="4" y="626"/>
                    </a:lnTo>
                    <a:lnTo>
                      <a:pt x="2" y="625"/>
                    </a:lnTo>
                    <a:lnTo>
                      <a:pt x="0" y="623"/>
                    </a:lnTo>
                    <a:lnTo>
                      <a:pt x="0" y="621"/>
                    </a:lnTo>
                    <a:lnTo>
                      <a:pt x="0" y="621"/>
                    </a:lnTo>
                    <a:close/>
                    <a:moveTo>
                      <a:pt x="0" y="537"/>
                    </a:moveTo>
                    <a:lnTo>
                      <a:pt x="0" y="501"/>
                    </a:lnTo>
                    <a:lnTo>
                      <a:pt x="0" y="500"/>
                    </a:lnTo>
                    <a:lnTo>
                      <a:pt x="2" y="498"/>
                    </a:lnTo>
                    <a:lnTo>
                      <a:pt x="4" y="498"/>
                    </a:lnTo>
                    <a:lnTo>
                      <a:pt x="6" y="496"/>
                    </a:lnTo>
                    <a:lnTo>
                      <a:pt x="8" y="498"/>
                    </a:lnTo>
                    <a:lnTo>
                      <a:pt x="9" y="498"/>
                    </a:lnTo>
                    <a:lnTo>
                      <a:pt x="11" y="500"/>
                    </a:lnTo>
                    <a:lnTo>
                      <a:pt x="11" y="501"/>
                    </a:lnTo>
                    <a:lnTo>
                      <a:pt x="11" y="537"/>
                    </a:lnTo>
                    <a:lnTo>
                      <a:pt x="11" y="539"/>
                    </a:lnTo>
                    <a:lnTo>
                      <a:pt x="9" y="541"/>
                    </a:lnTo>
                    <a:lnTo>
                      <a:pt x="8" y="543"/>
                    </a:lnTo>
                    <a:lnTo>
                      <a:pt x="6" y="543"/>
                    </a:lnTo>
                    <a:lnTo>
                      <a:pt x="4" y="543"/>
                    </a:lnTo>
                    <a:lnTo>
                      <a:pt x="2" y="541"/>
                    </a:lnTo>
                    <a:lnTo>
                      <a:pt x="0" y="539"/>
                    </a:lnTo>
                    <a:lnTo>
                      <a:pt x="0" y="537"/>
                    </a:lnTo>
                    <a:lnTo>
                      <a:pt x="0" y="537"/>
                    </a:lnTo>
                    <a:close/>
                    <a:moveTo>
                      <a:pt x="0" y="454"/>
                    </a:moveTo>
                    <a:lnTo>
                      <a:pt x="0" y="420"/>
                    </a:lnTo>
                    <a:lnTo>
                      <a:pt x="0" y="418"/>
                    </a:lnTo>
                    <a:lnTo>
                      <a:pt x="2" y="416"/>
                    </a:lnTo>
                    <a:lnTo>
                      <a:pt x="4" y="414"/>
                    </a:lnTo>
                    <a:lnTo>
                      <a:pt x="6" y="414"/>
                    </a:lnTo>
                    <a:lnTo>
                      <a:pt x="8" y="414"/>
                    </a:lnTo>
                    <a:lnTo>
                      <a:pt x="9" y="416"/>
                    </a:lnTo>
                    <a:lnTo>
                      <a:pt x="11" y="418"/>
                    </a:lnTo>
                    <a:lnTo>
                      <a:pt x="11" y="420"/>
                    </a:lnTo>
                    <a:lnTo>
                      <a:pt x="11" y="454"/>
                    </a:lnTo>
                    <a:lnTo>
                      <a:pt x="11" y="458"/>
                    </a:lnTo>
                    <a:lnTo>
                      <a:pt x="9" y="460"/>
                    </a:lnTo>
                    <a:lnTo>
                      <a:pt x="8" y="460"/>
                    </a:lnTo>
                    <a:lnTo>
                      <a:pt x="6" y="462"/>
                    </a:lnTo>
                    <a:lnTo>
                      <a:pt x="4" y="460"/>
                    </a:lnTo>
                    <a:lnTo>
                      <a:pt x="2" y="460"/>
                    </a:lnTo>
                    <a:lnTo>
                      <a:pt x="0" y="458"/>
                    </a:lnTo>
                    <a:lnTo>
                      <a:pt x="0" y="454"/>
                    </a:lnTo>
                    <a:lnTo>
                      <a:pt x="0" y="454"/>
                    </a:lnTo>
                    <a:close/>
                    <a:moveTo>
                      <a:pt x="0" y="373"/>
                    </a:moveTo>
                    <a:lnTo>
                      <a:pt x="0" y="337"/>
                    </a:lnTo>
                    <a:lnTo>
                      <a:pt x="0" y="335"/>
                    </a:lnTo>
                    <a:lnTo>
                      <a:pt x="2" y="333"/>
                    </a:lnTo>
                    <a:lnTo>
                      <a:pt x="4" y="331"/>
                    </a:lnTo>
                    <a:lnTo>
                      <a:pt x="6" y="331"/>
                    </a:lnTo>
                    <a:lnTo>
                      <a:pt x="8" y="331"/>
                    </a:lnTo>
                    <a:lnTo>
                      <a:pt x="9" y="333"/>
                    </a:lnTo>
                    <a:lnTo>
                      <a:pt x="11" y="335"/>
                    </a:lnTo>
                    <a:lnTo>
                      <a:pt x="11" y="337"/>
                    </a:lnTo>
                    <a:lnTo>
                      <a:pt x="11" y="373"/>
                    </a:lnTo>
                    <a:lnTo>
                      <a:pt x="11" y="375"/>
                    </a:lnTo>
                    <a:lnTo>
                      <a:pt x="9" y="377"/>
                    </a:lnTo>
                    <a:lnTo>
                      <a:pt x="8" y="378"/>
                    </a:lnTo>
                    <a:lnTo>
                      <a:pt x="6" y="378"/>
                    </a:lnTo>
                    <a:lnTo>
                      <a:pt x="4" y="378"/>
                    </a:lnTo>
                    <a:lnTo>
                      <a:pt x="2" y="377"/>
                    </a:lnTo>
                    <a:lnTo>
                      <a:pt x="0" y="375"/>
                    </a:lnTo>
                    <a:lnTo>
                      <a:pt x="0" y="373"/>
                    </a:lnTo>
                    <a:lnTo>
                      <a:pt x="0" y="373"/>
                    </a:lnTo>
                    <a:close/>
                    <a:moveTo>
                      <a:pt x="0" y="289"/>
                    </a:moveTo>
                    <a:lnTo>
                      <a:pt x="0" y="253"/>
                    </a:lnTo>
                    <a:lnTo>
                      <a:pt x="0" y="252"/>
                    </a:lnTo>
                    <a:lnTo>
                      <a:pt x="2" y="250"/>
                    </a:lnTo>
                    <a:lnTo>
                      <a:pt x="4" y="248"/>
                    </a:lnTo>
                    <a:lnTo>
                      <a:pt x="6" y="248"/>
                    </a:lnTo>
                    <a:lnTo>
                      <a:pt x="8" y="248"/>
                    </a:lnTo>
                    <a:lnTo>
                      <a:pt x="9" y="250"/>
                    </a:lnTo>
                    <a:lnTo>
                      <a:pt x="11" y="252"/>
                    </a:lnTo>
                    <a:lnTo>
                      <a:pt x="11" y="253"/>
                    </a:lnTo>
                    <a:lnTo>
                      <a:pt x="11" y="289"/>
                    </a:lnTo>
                    <a:lnTo>
                      <a:pt x="11" y="291"/>
                    </a:lnTo>
                    <a:lnTo>
                      <a:pt x="9" y="293"/>
                    </a:lnTo>
                    <a:lnTo>
                      <a:pt x="8" y="295"/>
                    </a:lnTo>
                    <a:lnTo>
                      <a:pt x="6" y="295"/>
                    </a:lnTo>
                    <a:lnTo>
                      <a:pt x="4" y="295"/>
                    </a:lnTo>
                    <a:lnTo>
                      <a:pt x="2" y="293"/>
                    </a:lnTo>
                    <a:lnTo>
                      <a:pt x="0" y="291"/>
                    </a:lnTo>
                    <a:lnTo>
                      <a:pt x="0" y="289"/>
                    </a:lnTo>
                    <a:lnTo>
                      <a:pt x="0" y="289"/>
                    </a:lnTo>
                    <a:close/>
                    <a:moveTo>
                      <a:pt x="0" y="206"/>
                    </a:moveTo>
                    <a:lnTo>
                      <a:pt x="0" y="170"/>
                    </a:lnTo>
                    <a:lnTo>
                      <a:pt x="0" y="168"/>
                    </a:lnTo>
                    <a:lnTo>
                      <a:pt x="2" y="166"/>
                    </a:lnTo>
                    <a:lnTo>
                      <a:pt x="4" y="166"/>
                    </a:lnTo>
                    <a:lnTo>
                      <a:pt x="6" y="164"/>
                    </a:lnTo>
                    <a:lnTo>
                      <a:pt x="8" y="166"/>
                    </a:lnTo>
                    <a:lnTo>
                      <a:pt x="9" y="166"/>
                    </a:lnTo>
                    <a:lnTo>
                      <a:pt x="11" y="168"/>
                    </a:lnTo>
                    <a:lnTo>
                      <a:pt x="11" y="170"/>
                    </a:lnTo>
                    <a:lnTo>
                      <a:pt x="11" y="206"/>
                    </a:lnTo>
                    <a:lnTo>
                      <a:pt x="11" y="208"/>
                    </a:lnTo>
                    <a:lnTo>
                      <a:pt x="9" y="210"/>
                    </a:lnTo>
                    <a:lnTo>
                      <a:pt x="8" y="212"/>
                    </a:lnTo>
                    <a:lnTo>
                      <a:pt x="6" y="212"/>
                    </a:lnTo>
                    <a:lnTo>
                      <a:pt x="4" y="212"/>
                    </a:lnTo>
                    <a:lnTo>
                      <a:pt x="2" y="210"/>
                    </a:lnTo>
                    <a:lnTo>
                      <a:pt x="0" y="208"/>
                    </a:lnTo>
                    <a:lnTo>
                      <a:pt x="0" y="206"/>
                    </a:lnTo>
                    <a:lnTo>
                      <a:pt x="0" y="206"/>
                    </a:lnTo>
                    <a:close/>
                    <a:moveTo>
                      <a:pt x="0" y="123"/>
                    </a:moveTo>
                    <a:lnTo>
                      <a:pt x="0" y="89"/>
                    </a:lnTo>
                    <a:lnTo>
                      <a:pt x="0" y="87"/>
                    </a:lnTo>
                    <a:lnTo>
                      <a:pt x="2" y="85"/>
                    </a:lnTo>
                    <a:lnTo>
                      <a:pt x="4" y="83"/>
                    </a:lnTo>
                    <a:lnTo>
                      <a:pt x="6" y="83"/>
                    </a:lnTo>
                    <a:lnTo>
                      <a:pt x="8" y="83"/>
                    </a:lnTo>
                    <a:lnTo>
                      <a:pt x="9" y="85"/>
                    </a:lnTo>
                    <a:lnTo>
                      <a:pt x="11" y="87"/>
                    </a:lnTo>
                    <a:lnTo>
                      <a:pt x="11" y="89"/>
                    </a:lnTo>
                    <a:lnTo>
                      <a:pt x="11" y="123"/>
                    </a:lnTo>
                    <a:lnTo>
                      <a:pt x="11" y="127"/>
                    </a:lnTo>
                    <a:lnTo>
                      <a:pt x="9" y="128"/>
                    </a:lnTo>
                    <a:lnTo>
                      <a:pt x="8" y="128"/>
                    </a:lnTo>
                    <a:lnTo>
                      <a:pt x="6" y="130"/>
                    </a:lnTo>
                    <a:lnTo>
                      <a:pt x="4" y="128"/>
                    </a:lnTo>
                    <a:lnTo>
                      <a:pt x="2" y="128"/>
                    </a:lnTo>
                    <a:lnTo>
                      <a:pt x="0" y="127"/>
                    </a:lnTo>
                    <a:lnTo>
                      <a:pt x="0" y="123"/>
                    </a:lnTo>
                    <a:lnTo>
                      <a:pt x="0" y="123"/>
                    </a:lnTo>
                    <a:close/>
                    <a:moveTo>
                      <a:pt x="0" y="41"/>
                    </a:moveTo>
                    <a:lnTo>
                      <a:pt x="0" y="5"/>
                    </a:lnTo>
                    <a:lnTo>
                      <a:pt x="0" y="4"/>
                    </a:lnTo>
                    <a:lnTo>
                      <a:pt x="2" y="2"/>
                    </a:lnTo>
                    <a:lnTo>
                      <a:pt x="4" y="0"/>
                    </a:lnTo>
                    <a:lnTo>
                      <a:pt x="6" y="0"/>
                    </a:lnTo>
                    <a:lnTo>
                      <a:pt x="8" y="0"/>
                    </a:lnTo>
                    <a:lnTo>
                      <a:pt x="9" y="2"/>
                    </a:lnTo>
                    <a:lnTo>
                      <a:pt x="11" y="4"/>
                    </a:lnTo>
                    <a:lnTo>
                      <a:pt x="11" y="5"/>
                    </a:lnTo>
                    <a:lnTo>
                      <a:pt x="11" y="41"/>
                    </a:lnTo>
                    <a:lnTo>
                      <a:pt x="11" y="43"/>
                    </a:lnTo>
                    <a:lnTo>
                      <a:pt x="9" y="45"/>
                    </a:lnTo>
                    <a:lnTo>
                      <a:pt x="8" y="47"/>
                    </a:lnTo>
                    <a:lnTo>
                      <a:pt x="6" y="47"/>
                    </a:lnTo>
                    <a:lnTo>
                      <a:pt x="4" y="47"/>
                    </a:lnTo>
                    <a:lnTo>
                      <a:pt x="2" y="45"/>
                    </a:lnTo>
                    <a:lnTo>
                      <a:pt x="0" y="43"/>
                    </a:lnTo>
                    <a:lnTo>
                      <a:pt x="0" y="41"/>
                    </a:lnTo>
                    <a:lnTo>
                      <a:pt x="0" y="41"/>
                    </a:lnTo>
                    <a:close/>
                  </a:path>
                </a:pathLst>
              </a:custGeom>
              <a:solidFill>
                <a:srgbClr val="000000"/>
              </a:solidFill>
              <a:ln w="3175" cap="flat" cmpd="sng">
                <a:solidFill>
                  <a:srgbClr val="000000"/>
                </a:solidFill>
                <a:prstDash val="solid"/>
                <a:headEnd type="none" w="med" len="med"/>
                <a:tailEnd type="none" w="med" len="med"/>
              </a:ln>
            </p:spPr>
            <p:txBody>
              <a:bodyPr/>
              <a:p>
                <a:endParaRPr lang="zh-CN" altLang="en-US"/>
              </a:p>
            </p:txBody>
          </p:sp>
          <p:sp>
            <p:nvSpPr>
              <p:cNvPr id="94253" name="任意多边形 94252"/>
              <p:cNvSpPr>
                <a:spLocks noEditPoints="1"/>
              </p:cNvSpPr>
              <p:nvPr/>
            </p:nvSpPr>
            <p:spPr>
              <a:xfrm>
                <a:off x="6654" y="2811"/>
                <a:ext cx="20" cy="653"/>
              </a:xfrm>
              <a:custGeom>
                <a:avLst/>
                <a:gdLst/>
                <a:ahLst/>
                <a:cxnLst/>
                <a:pathLst>
                  <a:path w="14" h="546">
                    <a:moveTo>
                      <a:pt x="0" y="540"/>
                    </a:moveTo>
                    <a:lnTo>
                      <a:pt x="0" y="504"/>
                    </a:lnTo>
                    <a:lnTo>
                      <a:pt x="0" y="502"/>
                    </a:lnTo>
                    <a:lnTo>
                      <a:pt x="2" y="500"/>
                    </a:lnTo>
                    <a:lnTo>
                      <a:pt x="4" y="498"/>
                    </a:lnTo>
                    <a:lnTo>
                      <a:pt x="6" y="498"/>
                    </a:lnTo>
                    <a:lnTo>
                      <a:pt x="8" y="498"/>
                    </a:lnTo>
                    <a:lnTo>
                      <a:pt x="10" y="500"/>
                    </a:lnTo>
                    <a:lnTo>
                      <a:pt x="12" y="502"/>
                    </a:lnTo>
                    <a:lnTo>
                      <a:pt x="12" y="504"/>
                    </a:lnTo>
                    <a:lnTo>
                      <a:pt x="12" y="540"/>
                    </a:lnTo>
                    <a:lnTo>
                      <a:pt x="12" y="542"/>
                    </a:lnTo>
                    <a:lnTo>
                      <a:pt x="10" y="544"/>
                    </a:lnTo>
                    <a:lnTo>
                      <a:pt x="8" y="546"/>
                    </a:lnTo>
                    <a:lnTo>
                      <a:pt x="6" y="546"/>
                    </a:lnTo>
                    <a:lnTo>
                      <a:pt x="4" y="546"/>
                    </a:lnTo>
                    <a:lnTo>
                      <a:pt x="2" y="544"/>
                    </a:lnTo>
                    <a:lnTo>
                      <a:pt x="0" y="542"/>
                    </a:lnTo>
                    <a:lnTo>
                      <a:pt x="0" y="540"/>
                    </a:lnTo>
                    <a:lnTo>
                      <a:pt x="0" y="540"/>
                    </a:lnTo>
                    <a:close/>
                    <a:moveTo>
                      <a:pt x="0" y="457"/>
                    </a:moveTo>
                    <a:lnTo>
                      <a:pt x="0" y="421"/>
                    </a:lnTo>
                    <a:lnTo>
                      <a:pt x="0" y="419"/>
                    </a:lnTo>
                    <a:lnTo>
                      <a:pt x="2" y="417"/>
                    </a:lnTo>
                    <a:lnTo>
                      <a:pt x="4" y="415"/>
                    </a:lnTo>
                    <a:lnTo>
                      <a:pt x="6" y="415"/>
                    </a:lnTo>
                    <a:lnTo>
                      <a:pt x="8" y="415"/>
                    </a:lnTo>
                    <a:lnTo>
                      <a:pt x="10" y="417"/>
                    </a:lnTo>
                    <a:lnTo>
                      <a:pt x="12" y="419"/>
                    </a:lnTo>
                    <a:lnTo>
                      <a:pt x="12" y="421"/>
                    </a:lnTo>
                    <a:lnTo>
                      <a:pt x="12" y="457"/>
                    </a:lnTo>
                    <a:lnTo>
                      <a:pt x="12" y="458"/>
                    </a:lnTo>
                    <a:lnTo>
                      <a:pt x="10" y="460"/>
                    </a:lnTo>
                    <a:lnTo>
                      <a:pt x="8" y="462"/>
                    </a:lnTo>
                    <a:lnTo>
                      <a:pt x="6" y="462"/>
                    </a:lnTo>
                    <a:lnTo>
                      <a:pt x="4" y="462"/>
                    </a:lnTo>
                    <a:lnTo>
                      <a:pt x="2" y="460"/>
                    </a:lnTo>
                    <a:lnTo>
                      <a:pt x="0" y="458"/>
                    </a:lnTo>
                    <a:lnTo>
                      <a:pt x="0" y="457"/>
                    </a:lnTo>
                    <a:lnTo>
                      <a:pt x="0" y="457"/>
                    </a:lnTo>
                    <a:close/>
                    <a:moveTo>
                      <a:pt x="0" y="373"/>
                    </a:moveTo>
                    <a:lnTo>
                      <a:pt x="0" y="337"/>
                    </a:lnTo>
                    <a:lnTo>
                      <a:pt x="0" y="335"/>
                    </a:lnTo>
                    <a:lnTo>
                      <a:pt x="2" y="333"/>
                    </a:lnTo>
                    <a:lnTo>
                      <a:pt x="4" y="333"/>
                    </a:lnTo>
                    <a:lnTo>
                      <a:pt x="6" y="332"/>
                    </a:lnTo>
                    <a:lnTo>
                      <a:pt x="8" y="333"/>
                    </a:lnTo>
                    <a:lnTo>
                      <a:pt x="10" y="333"/>
                    </a:lnTo>
                    <a:lnTo>
                      <a:pt x="12" y="335"/>
                    </a:lnTo>
                    <a:lnTo>
                      <a:pt x="12" y="337"/>
                    </a:lnTo>
                    <a:lnTo>
                      <a:pt x="12" y="373"/>
                    </a:lnTo>
                    <a:lnTo>
                      <a:pt x="12" y="375"/>
                    </a:lnTo>
                    <a:lnTo>
                      <a:pt x="10" y="377"/>
                    </a:lnTo>
                    <a:lnTo>
                      <a:pt x="8" y="379"/>
                    </a:lnTo>
                    <a:lnTo>
                      <a:pt x="6" y="379"/>
                    </a:lnTo>
                    <a:lnTo>
                      <a:pt x="4" y="379"/>
                    </a:lnTo>
                    <a:lnTo>
                      <a:pt x="2" y="377"/>
                    </a:lnTo>
                    <a:lnTo>
                      <a:pt x="0" y="375"/>
                    </a:lnTo>
                    <a:lnTo>
                      <a:pt x="0" y="373"/>
                    </a:lnTo>
                    <a:lnTo>
                      <a:pt x="0" y="373"/>
                    </a:lnTo>
                    <a:close/>
                    <a:moveTo>
                      <a:pt x="0" y="290"/>
                    </a:moveTo>
                    <a:lnTo>
                      <a:pt x="0" y="256"/>
                    </a:lnTo>
                    <a:lnTo>
                      <a:pt x="0" y="252"/>
                    </a:lnTo>
                    <a:lnTo>
                      <a:pt x="2" y="250"/>
                    </a:lnTo>
                    <a:lnTo>
                      <a:pt x="4" y="250"/>
                    </a:lnTo>
                    <a:lnTo>
                      <a:pt x="6" y="250"/>
                    </a:lnTo>
                    <a:lnTo>
                      <a:pt x="10" y="250"/>
                    </a:lnTo>
                    <a:lnTo>
                      <a:pt x="12" y="250"/>
                    </a:lnTo>
                    <a:lnTo>
                      <a:pt x="12" y="252"/>
                    </a:lnTo>
                    <a:lnTo>
                      <a:pt x="12" y="256"/>
                    </a:lnTo>
                    <a:lnTo>
                      <a:pt x="12" y="290"/>
                    </a:lnTo>
                    <a:lnTo>
                      <a:pt x="12" y="294"/>
                    </a:lnTo>
                    <a:lnTo>
                      <a:pt x="12" y="296"/>
                    </a:lnTo>
                    <a:lnTo>
                      <a:pt x="10" y="296"/>
                    </a:lnTo>
                    <a:lnTo>
                      <a:pt x="6" y="297"/>
                    </a:lnTo>
                    <a:lnTo>
                      <a:pt x="4" y="296"/>
                    </a:lnTo>
                    <a:lnTo>
                      <a:pt x="2" y="296"/>
                    </a:lnTo>
                    <a:lnTo>
                      <a:pt x="0" y="294"/>
                    </a:lnTo>
                    <a:lnTo>
                      <a:pt x="0" y="290"/>
                    </a:lnTo>
                    <a:lnTo>
                      <a:pt x="0" y="290"/>
                    </a:lnTo>
                    <a:close/>
                    <a:moveTo>
                      <a:pt x="0" y="209"/>
                    </a:moveTo>
                    <a:lnTo>
                      <a:pt x="0" y="173"/>
                    </a:lnTo>
                    <a:lnTo>
                      <a:pt x="2" y="171"/>
                    </a:lnTo>
                    <a:lnTo>
                      <a:pt x="2" y="169"/>
                    </a:lnTo>
                    <a:lnTo>
                      <a:pt x="4" y="167"/>
                    </a:lnTo>
                    <a:lnTo>
                      <a:pt x="6" y="167"/>
                    </a:lnTo>
                    <a:lnTo>
                      <a:pt x="10" y="167"/>
                    </a:lnTo>
                    <a:lnTo>
                      <a:pt x="12" y="169"/>
                    </a:lnTo>
                    <a:lnTo>
                      <a:pt x="12" y="171"/>
                    </a:lnTo>
                    <a:lnTo>
                      <a:pt x="14" y="173"/>
                    </a:lnTo>
                    <a:lnTo>
                      <a:pt x="14" y="209"/>
                    </a:lnTo>
                    <a:lnTo>
                      <a:pt x="12" y="210"/>
                    </a:lnTo>
                    <a:lnTo>
                      <a:pt x="12" y="212"/>
                    </a:lnTo>
                    <a:lnTo>
                      <a:pt x="10" y="214"/>
                    </a:lnTo>
                    <a:lnTo>
                      <a:pt x="6" y="214"/>
                    </a:lnTo>
                    <a:lnTo>
                      <a:pt x="4" y="214"/>
                    </a:lnTo>
                    <a:lnTo>
                      <a:pt x="2" y="212"/>
                    </a:lnTo>
                    <a:lnTo>
                      <a:pt x="2" y="210"/>
                    </a:lnTo>
                    <a:lnTo>
                      <a:pt x="0" y="209"/>
                    </a:lnTo>
                    <a:lnTo>
                      <a:pt x="0" y="209"/>
                    </a:lnTo>
                    <a:close/>
                    <a:moveTo>
                      <a:pt x="0" y="125"/>
                    </a:moveTo>
                    <a:lnTo>
                      <a:pt x="0" y="89"/>
                    </a:lnTo>
                    <a:lnTo>
                      <a:pt x="2" y="87"/>
                    </a:lnTo>
                    <a:lnTo>
                      <a:pt x="2" y="85"/>
                    </a:lnTo>
                    <a:lnTo>
                      <a:pt x="4" y="84"/>
                    </a:lnTo>
                    <a:lnTo>
                      <a:pt x="6" y="84"/>
                    </a:lnTo>
                    <a:lnTo>
                      <a:pt x="10" y="84"/>
                    </a:lnTo>
                    <a:lnTo>
                      <a:pt x="12" y="85"/>
                    </a:lnTo>
                    <a:lnTo>
                      <a:pt x="12" y="87"/>
                    </a:lnTo>
                    <a:lnTo>
                      <a:pt x="14" y="89"/>
                    </a:lnTo>
                    <a:lnTo>
                      <a:pt x="14" y="125"/>
                    </a:lnTo>
                    <a:lnTo>
                      <a:pt x="12" y="127"/>
                    </a:lnTo>
                    <a:lnTo>
                      <a:pt x="12" y="129"/>
                    </a:lnTo>
                    <a:lnTo>
                      <a:pt x="10" y="131"/>
                    </a:lnTo>
                    <a:lnTo>
                      <a:pt x="6" y="131"/>
                    </a:lnTo>
                    <a:lnTo>
                      <a:pt x="4" y="131"/>
                    </a:lnTo>
                    <a:lnTo>
                      <a:pt x="2" y="129"/>
                    </a:lnTo>
                    <a:lnTo>
                      <a:pt x="2" y="127"/>
                    </a:lnTo>
                    <a:lnTo>
                      <a:pt x="0" y="125"/>
                    </a:lnTo>
                    <a:lnTo>
                      <a:pt x="0" y="125"/>
                    </a:lnTo>
                    <a:close/>
                    <a:moveTo>
                      <a:pt x="0" y="42"/>
                    </a:moveTo>
                    <a:lnTo>
                      <a:pt x="0" y="6"/>
                    </a:lnTo>
                    <a:lnTo>
                      <a:pt x="2" y="4"/>
                    </a:lnTo>
                    <a:lnTo>
                      <a:pt x="2" y="2"/>
                    </a:lnTo>
                    <a:lnTo>
                      <a:pt x="4" y="2"/>
                    </a:lnTo>
                    <a:lnTo>
                      <a:pt x="8" y="0"/>
                    </a:lnTo>
                    <a:lnTo>
                      <a:pt x="10" y="2"/>
                    </a:lnTo>
                    <a:lnTo>
                      <a:pt x="12" y="2"/>
                    </a:lnTo>
                    <a:lnTo>
                      <a:pt x="12" y="4"/>
                    </a:lnTo>
                    <a:lnTo>
                      <a:pt x="14" y="6"/>
                    </a:lnTo>
                    <a:lnTo>
                      <a:pt x="14" y="42"/>
                    </a:lnTo>
                    <a:lnTo>
                      <a:pt x="12" y="44"/>
                    </a:lnTo>
                    <a:lnTo>
                      <a:pt x="12" y="46"/>
                    </a:lnTo>
                    <a:lnTo>
                      <a:pt x="10" y="48"/>
                    </a:lnTo>
                    <a:lnTo>
                      <a:pt x="8" y="48"/>
                    </a:lnTo>
                    <a:lnTo>
                      <a:pt x="4" y="48"/>
                    </a:lnTo>
                    <a:lnTo>
                      <a:pt x="2" y="46"/>
                    </a:lnTo>
                    <a:lnTo>
                      <a:pt x="2" y="44"/>
                    </a:lnTo>
                    <a:lnTo>
                      <a:pt x="0" y="42"/>
                    </a:lnTo>
                    <a:lnTo>
                      <a:pt x="0" y="42"/>
                    </a:lnTo>
                    <a:close/>
                  </a:path>
                </a:pathLst>
              </a:custGeom>
              <a:solidFill>
                <a:srgbClr val="000000"/>
              </a:solidFill>
              <a:ln w="3175" cap="flat" cmpd="sng">
                <a:solidFill>
                  <a:srgbClr val="000000"/>
                </a:solidFill>
                <a:prstDash val="solid"/>
                <a:headEnd type="none" w="med" len="med"/>
                <a:tailEnd type="none" w="med" len="med"/>
              </a:ln>
            </p:spPr>
            <p:txBody>
              <a:bodyPr/>
              <a:p>
                <a:endParaRPr lang="zh-CN" altLang="en-US"/>
              </a:p>
            </p:txBody>
          </p:sp>
          <p:sp>
            <p:nvSpPr>
              <p:cNvPr id="94254" name="矩形 94253"/>
              <p:cNvSpPr/>
              <p:nvPr/>
            </p:nvSpPr>
            <p:spPr>
              <a:xfrm>
                <a:off x="7425" y="2999"/>
                <a:ext cx="1" cy="256"/>
              </a:xfrm>
              <a:prstGeom prst="rect">
                <a:avLst/>
              </a:prstGeom>
              <a:noFill/>
              <a:ln w="9525">
                <a:noFill/>
              </a:ln>
            </p:spPr>
            <p:txBody>
              <a:bodyPr wrap="none" lIns="0" tIns="0" rIns="0" bIns="0">
                <a:spAutoFit/>
              </a:bodyPr>
              <a:p>
                <a:pPr algn="ctr"/>
                <a:endParaRPr sz="2400" b="1" dirty="0">
                  <a:latin typeface="Arial Narrow" panose="020B0606020202030204" pitchFamily="34" charset="0"/>
                </a:endParaRPr>
              </a:p>
            </p:txBody>
          </p:sp>
          <p:sp>
            <p:nvSpPr>
              <p:cNvPr id="94274" name="直接连接符 94273"/>
              <p:cNvSpPr/>
              <p:nvPr/>
            </p:nvSpPr>
            <p:spPr>
              <a:xfrm>
                <a:off x="5833" y="3735"/>
                <a:ext cx="285" cy="1"/>
              </a:xfrm>
              <a:prstGeom prst="line">
                <a:avLst/>
              </a:prstGeom>
              <a:ln w="23813" cap="flat" cmpd="sng">
                <a:solidFill>
                  <a:srgbClr val="000000"/>
                </a:solidFill>
                <a:prstDash val="solid"/>
                <a:headEnd type="none" w="med" len="med"/>
                <a:tailEnd type="none" w="med" len="med"/>
              </a:ln>
            </p:spPr>
          </p:sp>
          <p:sp>
            <p:nvSpPr>
              <p:cNvPr id="94276" name="直接连接符 94275"/>
              <p:cNvSpPr/>
              <p:nvPr/>
            </p:nvSpPr>
            <p:spPr>
              <a:xfrm>
                <a:off x="6109" y="3442"/>
                <a:ext cx="572" cy="1"/>
              </a:xfrm>
              <a:prstGeom prst="line">
                <a:avLst/>
              </a:prstGeom>
              <a:ln w="23813" cap="flat" cmpd="sng">
                <a:solidFill>
                  <a:srgbClr val="000000"/>
                </a:solidFill>
                <a:prstDash val="solid"/>
                <a:headEnd type="none" w="med" len="med"/>
                <a:tailEnd type="none" w="med" len="med"/>
              </a:ln>
            </p:spPr>
          </p:sp>
          <p:sp>
            <p:nvSpPr>
              <p:cNvPr id="94278" name="直接连接符 94277"/>
              <p:cNvSpPr/>
              <p:nvPr/>
            </p:nvSpPr>
            <p:spPr>
              <a:xfrm>
                <a:off x="6674" y="3735"/>
                <a:ext cx="284" cy="1"/>
              </a:xfrm>
              <a:prstGeom prst="line">
                <a:avLst/>
              </a:prstGeom>
              <a:ln w="23813" cap="flat" cmpd="sng">
                <a:solidFill>
                  <a:srgbClr val="000000"/>
                </a:solidFill>
                <a:prstDash val="solid"/>
                <a:headEnd type="none" w="med" len="med"/>
                <a:tailEnd type="none" w="med" len="med"/>
              </a:ln>
            </p:spPr>
          </p:sp>
          <p:sp>
            <p:nvSpPr>
              <p:cNvPr id="94282" name="任意多边形 94281"/>
              <p:cNvSpPr/>
              <p:nvPr/>
            </p:nvSpPr>
            <p:spPr>
              <a:xfrm>
                <a:off x="7171" y="3067"/>
                <a:ext cx="139" cy="32"/>
              </a:xfrm>
              <a:custGeom>
                <a:avLst/>
                <a:gdLst/>
                <a:ahLst/>
                <a:cxnLst/>
                <a:pathLst>
                  <a:path w="98" h="27">
                    <a:moveTo>
                      <a:pt x="98" y="13"/>
                    </a:moveTo>
                    <a:lnTo>
                      <a:pt x="0" y="27"/>
                    </a:lnTo>
                    <a:lnTo>
                      <a:pt x="0" y="0"/>
                    </a:lnTo>
                    <a:lnTo>
                      <a:pt x="98" y="13"/>
                    </a:lnTo>
                    <a:close/>
                  </a:path>
                </a:pathLst>
              </a:custGeom>
              <a:solidFill>
                <a:srgbClr val="000000"/>
              </a:solidFill>
              <a:ln w="9525">
                <a:noFill/>
              </a:ln>
            </p:spPr>
            <p:txBody>
              <a:bodyPr/>
              <a:p>
                <a:endParaRPr lang="zh-CN" altLang="en-US"/>
              </a:p>
            </p:txBody>
          </p:sp>
          <p:sp>
            <p:nvSpPr>
              <p:cNvPr id="94283" name="任意多边形 94282"/>
              <p:cNvSpPr/>
              <p:nvPr/>
            </p:nvSpPr>
            <p:spPr>
              <a:xfrm>
                <a:off x="7171" y="3067"/>
                <a:ext cx="139" cy="32"/>
              </a:xfrm>
              <a:custGeom>
                <a:avLst/>
                <a:gdLst/>
                <a:ahLst/>
                <a:cxnLst/>
                <a:pathLst>
                  <a:path w="98" h="27">
                    <a:moveTo>
                      <a:pt x="98" y="13"/>
                    </a:moveTo>
                    <a:lnTo>
                      <a:pt x="0" y="27"/>
                    </a:lnTo>
                    <a:lnTo>
                      <a:pt x="0" y="0"/>
                    </a:lnTo>
                    <a:lnTo>
                      <a:pt x="98" y="13"/>
                    </a:lnTo>
                    <a:close/>
                  </a:path>
                </a:pathLst>
              </a:custGeom>
              <a:solidFill>
                <a:srgbClr val="FFFFFF"/>
              </a:solidFill>
              <a:ln w="23813" cap="flat" cmpd="sng">
                <a:solidFill>
                  <a:srgbClr val="FFFFFF"/>
                </a:solidFill>
                <a:prstDash val="solid"/>
                <a:headEnd type="none" w="med" len="med"/>
                <a:tailEnd type="none" w="med" len="med"/>
              </a:ln>
            </p:spPr>
            <p:txBody>
              <a:bodyPr/>
              <a:p>
                <a:endParaRPr lang="zh-CN" altLang="en-US"/>
              </a:p>
            </p:txBody>
          </p:sp>
          <p:sp>
            <p:nvSpPr>
              <p:cNvPr id="94287" name="直接连接符 94286"/>
              <p:cNvSpPr/>
              <p:nvPr/>
            </p:nvSpPr>
            <p:spPr>
              <a:xfrm>
                <a:off x="6806" y="3051"/>
                <a:ext cx="152" cy="2"/>
              </a:xfrm>
              <a:prstGeom prst="line">
                <a:avLst/>
              </a:prstGeom>
              <a:ln w="23813" cap="flat" cmpd="sng">
                <a:solidFill>
                  <a:srgbClr val="000000"/>
                </a:solidFill>
                <a:prstDash val="solid"/>
                <a:headEnd type="none" w="med" len="med"/>
                <a:tailEnd type="none" w="med" len="med"/>
              </a:ln>
            </p:spPr>
          </p:sp>
          <p:sp>
            <p:nvSpPr>
              <p:cNvPr id="94304" name="矩形 94303"/>
              <p:cNvSpPr/>
              <p:nvPr/>
            </p:nvSpPr>
            <p:spPr>
              <a:xfrm>
                <a:off x="5475" y="3531"/>
                <a:ext cx="185" cy="190"/>
              </a:xfrm>
              <a:prstGeom prst="rect">
                <a:avLst/>
              </a:prstGeom>
              <a:solidFill>
                <a:srgbClr val="FFFFFF"/>
              </a:solidFill>
              <a:ln w="9525">
                <a:noFill/>
              </a:ln>
            </p:spPr>
            <p:txBody>
              <a:bodyPr/>
              <a:p>
                <a:endParaRPr lang="zh-CN" altLang="en-US"/>
              </a:p>
            </p:txBody>
          </p:sp>
          <p:sp>
            <p:nvSpPr>
              <p:cNvPr id="94305" name="矩形 94304"/>
              <p:cNvSpPr/>
              <p:nvPr/>
            </p:nvSpPr>
            <p:spPr>
              <a:xfrm>
                <a:off x="5674" y="3594"/>
                <a:ext cx="20" cy="105"/>
              </a:xfrm>
              <a:prstGeom prst="rect">
                <a:avLst/>
              </a:prstGeom>
              <a:noFill/>
              <a:ln w="9525">
                <a:noFill/>
              </a:ln>
            </p:spPr>
            <p:txBody>
              <a:bodyPr wrap="none" lIns="0" tIns="0" rIns="0" bIns="0">
                <a:spAutoFit/>
              </a:bodyPr>
              <a:p>
                <a:pPr algn="ctr"/>
                <a:r>
                  <a:rPr lang="en-US" altLang="zh-CN" sz="1000">
                    <a:solidFill>
                      <a:srgbClr val="000000"/>
                    </a:solidFill>
                    <a:latin typeface="Times New Roman" panose="02020603050405020304" charset="0"/>
                  </a:rPr>
                  <a:t> </a:t>
                </a:r>
                <a:endParaRPr lang="en-US" altLang="zh-CN" sz="2400" b="1">
                  <a:latin typeface="Arial Narrow" panose="020B0606020202030204" pitchFamily="34" charset="0"/>
                </a:endParaRPr>
              </a:p>
            </p:txBody>
          </p:sp>
          <p:sp>
            <p:nvSpPr>
              <p:cNvPr id="94306" name="矩形 94305"/>
              <p:cNvSpPr/>
              <p:nvPr/>
            </p:nvSpPr>
            <p:spPr>
              <a:xfrm>
                <a:off x="7423" y="2314"/>
                <a:ext cx="6" cy="263"/>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p>
                <a:pPr algn="ctr"/>
                <a:endParaRPr sz="2400" b="1" dirty="0">
                  <a:latin typeface="Arial Narrow" panose="020B0606020202030204" pitchFamily="34" charset="0"/>
                </a:endParaRPr>
              </a:p>
            </p:txBody>
          </p:sp>
          <p:sp>
            <p:nvSpPr>
              <p:cNvPr id="94308" name="矩形 94307"/>
              <p:cNvSpPr/>
              <p:nvPr/>
            </p:nvSpPr>
            <p:spPr>
              <a:xfrm>
                <a:off x="5949" y="3105"/>
                <a:ext cx="33" cy="160"/>
              </a:xfrm>
              <a:prstGeom prst="rect">
                <a:avLst/>
              </a:prstGeom>
              <a:noFill/>
              <a:ln w="9525">
                <a:noFill/>
              </a:ln>
            </p:spPr>
            <p:txBody>
              <a:bodyPr wrap="none" lIns="0" tIns="0" rIns="0" bIns="0">
                <a:spAutoFit/>
              </a:bodyPr>
              <a:p>
                <a:pPr algn="ctr"/>
                <a:r>
                  <a:rPr lang="en-US" altLang="zh-CN" sz="1500" i="1">
                    <a:solidFill>
                      <a:srgbClr val="000000"/>
                    </a:solidFill>
                    <a:latin typeface="Times New Roman" panose="02020603050405020304" charset="0"/>
                  </a:rPr>
                  <a:t>t</a:t>
                </a:r>
                <a:endParaRPr lang="en-US" altLang="zh-CN" sz="2400" b="1">
                  <a:latin typeface="Arial Narrow" panose="020B0606020202030204" pitchFamily="34" charset="0"/>
                </a:endParaRPr>
              </a:p>
            </p:txBody>
          </p:sp>
          <p:sp>
            <p:nvSpPr>
              <p:cNvPr id="94309" name="矩形 94308"/>
              <p:cNvSpPr/>
              <p:nvPr/>
            </p:nvSpPr>
            <p:spPr>
              <a:xfrm>
                <a:off x="5986" y="3163"/>
                <a:ext cx="40" cy="105"/>
              </a:xfrm>
              <a:prstGeom prst="rect">
                <a:avLst/>
              </a:prstGeom>
              <a:noFill/>
              <a:ln w="9525">
                <a:noFill/>
              </a:ln>
            </p:spPr>
            <p:txBody>
              <a:bodyPr wrap="none" lIns="0" tIns="0" rIns="0" bIns="0">
                <a:spAutoFit/>
              </a:bodyPr>
              <a:p>
                <a:pPr algn="ctr"/>
                <a:r>
                  <a:rPr lang="en-US" altLang="zh-CN" sz="1000">
                    <a:solidFill>
                      <a:srgbClr val="000000"/>
                    </a:solidFill>
                    <a:latin typeface="Times New Roman" panose="02020603050405020304" charset="0"/>
                  </a:rPr>
                  <a:t>2</a:t>
                </a:r>
                <a:endParaRPr lang="en-US" altLang="zh-CN" sz="2400" b="1">
                  <a:latin typeface="Arial Narrow" panose="020B0606020202030204" pitchFamily="34" charset="0"/>
                </a:endParaRPr>
              </a:p>
            </p:txBody>
          </p:sp>
          <p:sp>
            <p:nvSpPr>
              <p:cNvPr id="94310" name="矩形 94309"/>
              <p:cNvSpPr/>
              <p:nvPr/>
            </p:nvSpPr>
            <p:spPr>
              <a:xfrm>
                <a:off x="6052" y="3105"/>
                <a:ext cx="30" cy="160"/>
              </a:xfrm>
              <a:prstGeom prst="rect">
                <a:avLst/>
              </a:prstGeom>
              <a:noFill/>
              <a:ln w="9525">
                <a:noFill/>
              </a:ln>
            </p:spPr>
            <p:txBody>
              <a:bodyPr wrap="none" lIns="0" tIns="0" rIns="0" bIns="0">
                <a:spAutoFit/>
              </a:bodyPr>
              <a:p>
                <a:pPr algn="ctr"/>
                <a:r>
                  <a:rPr lang="en-US" altLang="zh-CN" sz="1500">
                    <a:solidFill>
                      <a:srgbClr val="000000"/>
                    </a:solidFill>
                    <a:latin typeface="Times New Roman" panose="02020603050405020304" charset="0"/>
                  </a:rPr>
                  <a:t> </a:t>
                </a:r>
                <a:endParaRPr lang="en-US" altLang="zh-CN" sz="2400" b="1">
                  <a:latin typeface="Arial Narrow" panose="020B0606020202030204" pitchFamily="34" charset="0"/>
                </a:endParaRPr>
              </a:p>
            </p:txBody>
          </p:sp>
          <p:sp>
            <p:nvSpPr>
              <p:cNvPr id="94311" name="矩形 94310"/>
              <p:cNvSpPr/>
              <p:nvPr/>
            </p:nvSpPr>
            <p:spPr>
              <a:xfrm>
                <a:off x="5357" y="3105"/>
                <a:ext cx="33" cy="160"/>
              </a:xfrm>
              <a:prstGeom prst="rect">
                <a:avLst/>
              </a:prstGeom>
              <a:noFill/>
              <a:ln w="9525">
                <a:noFill/>
              </a:ln>
            </p:spPr>
            <p:txBody>
              <a:bodyPr wrap="none" lIns="0" tIns="0" rIns="0" bIns="0">
                <a:spAutoFit/>
              </a:bodyPr>
              <a:p>
                <a:pPr algn="ctr"/>
                <a:r>
                  <a:rPr lang="en-US" altLang="zh-CN" sz="1500" i="1">
                    <a:solidFill>
                      <a:srgbClr val="000000"/>
                    </a:solidFill>
                    <a:latin typeface="Times New Roman" panose="02020603050405020304" charset="0"/>
                  </a:rPr>
                  <a:t>t</a:t>
                </a:r>
                <a:endParaRPr lang="en-US" altLang="zh-CN" sz="2400" b="1">
                  <a:latin typeface="Arial Narrow" panose="020B0606020202030204" pitchFamily="34" charset="0"/>
                </a:endParaRPr>
              </a:p>
            </p:txBody>
          </p:sp>
          <p:sp>
            <p:nvSpPr>
              <p:cNvPr id="94312" name="矩形 94311"/>
              <p:cNvSpPr/>
              <p:nvPr/>
            </p:nvSpPr>
            <p:spPr>
              <a:xfrm>
                <a:off x="5397" y="3163"/>
                <a:ext cx="40" cy="105"/>
              </a:xfrm>
              <a:prstGeom prst="rect">
                <a:avLst/>
              </a:prstGeom>
              <a:noFill/>
              <a:ln w="9525">
                <a:noFill/>
              </a:ln>
            </p:spPr>
            <p:txBody>
              <a:bodyPr wrap="none" lIns="0" tIns="0" rIns="0" bIns="0">
                <a:spAutoFit/>
              </a:bodyPr>
              <a:p>
                <a:pPr algn="ctr"/>
                <a:r>
                  <a:rPr lang="en-US" altLang="zh-CN" sz="1000">
                    <a:solidFill>
                      <a:srgbClr val="000000"/>
                    </a:solidFill>
                    <a:latin typeface="Times New Roman" panose="02020603050405020304" charset="0"/>
                  </a:rPr>
                  <a:t>1</a:t>
                </a:r>
                <a:endParaRPr lang="en-US" altLang="zh-CN" sz="2400" b="1">
                  <a:latin typeface="Arial Narrow" panose="020B0606020202030204" pitchFamily="34" charset="0"/>
                </a:endParaRPr>
              </a:p>
            </p:txBody>
          </p:sp>
          <p:sp>
            <p:nvSpPr>
              <p:cNvPr id="94313" name="矩形 94312"/>
              <p:cNvSpPr/>
              <p:nvPr/>
            </p:nvSpPr>
            <p:spPr>
              <a:xfrm>
                <a:off x="5461" y="3105"/>
                <a:ext cx="30" cy="160"/>
              </a:xfrm>
              <a:prstGeom prst="rect">
                <a:avLst/>
              </a:prstGeom>
              <a:noFill/>
              <a:ln w="9525">
                <a:noFill/>
              </a:ln>
            </p:spPr>
            <p:txBody>
              <a:bodyPr wrap="none" lIns="0" tIns="0" rIns="0" bIns="0">
                <a:spAutoFit/>
              </a:bodyPr>
              <a:p>
                <a:pPr algn="ctr"/>
                <a:r>
                  <a:rPr lang="en-US" altLang="zh-CN" sz="1500">
                    <a:solidFill>
                      <a:srgbClr val="000000"/>
                    </a:solidFill>
                    <a:latin typeface="Times New Roman" panose="02020603050405020304" charset="0"/>
                  </a:rPr>
                  <a:t> </a:t>
                </a:r>
                <a:endParaRPr lang="en-US" altLang="zh-CN" sz="2400" b="1">
                  <a:latin typeface="Arial Narrow" panose="020B0606020202030204" pitchFamily="34" charset="0"/>
                </a:endParaRPr>
              </a:p>
            </p:txBody>
          </p:sp>
          <p:sp>
            <p:nvSpPr>
              <p:cNvPr id="94318" name="任意多边形 94317"/>
              <p:cNvSpPr/>
              <p:nvPr/>
            </p:nvSpPr>
            <p:spPr>
              <a:xfrm rot="-11173398" flipV="1">
                <a:off x="6108" y="2784"/>
                <a:ext cx="604" cy="271"/>
              </a:xfrm>
              <a:custGeom>
                <a:avLst/>
                <a:gdLst>
                  <a:gd name="txL" fmla="*/ 0 w 23199"/>
                  <a:gd name="txT" fmla="*/ 0 h 21600"/>
                  <a:gd name="txR" fmla="*/ 23199 w 23199"/>
                  <a:gd name="txB" fmla="*/ 21600 h 21600"/>
                </a:gdLst>
                <a:ahLst/>
                <a:cxnLst>
                  <a:cxn ang="180">
                    <a:pos x="0" y="60"/>
                  </a:cxn>
                  <a:cxn ang="0">
                    <a:pos x="23199" y="20886"/>
                  </a:cxn>
                  <a:cxn ang="90">
                    <a:pos x="1611" y="21600"/>
                  </a:cxn>
                </a:cxnLst>
                <a:rect l="txL" t="txT" r="txR" b="txB"/>
                <a:pathLst>
                  <a:path w="23199" h="21600" fill="none">
                    <a:moveTo>
                      <a:pt x="0" y="60"/>
                    </a:moveTo>
                    <a:arcTo wR="21600" hR="21600" stAng="-5656635" swAng="5542977"/>
                  </a:path>
                  <a:path w="23199" h="21600" stroke="0">
                    <a:moveTo>
                      <a:pt x="0" y="60"/>
                    </a:moveTo>
                    <a:arcTo wR="21600" hR="21600" stAng="-5656635" swAng="5542977"/>
                    <a:lnTo>
                      <a:pt x="1611" y="21600"/>
                    </a:lnTo>
                    <a:close/>
                  </a:path>
                </a:pathLst>
              </a:custGeom>
              <a:noFill/>
              <a:ln w="28575" cap="flat" cmpd="sng">
                <a:solidFill>
                  <a:schemeClr val="tx1"/>
                </a:solidFill>
                <a:prstDash val="solid"/>
                <a:headEnd type="none" w="med" len="med"/>
                <a:tailEnd type="none" w="med" len="med"/>
              </a:ln>
            </p:spPr>
            <p:txBody>
              <a:bodyPr/>
              <a:p>
                <a:endParaRPr lang="zh-CN" altLang="en-US"/>
              </a:p>
            </p:txBody>
          </p:sp>
          <p:sp>
            <p:nvSpPr>
              <p:cNvPr id="94319" name="任意多边形 94318"/>
              <p:cNvSpPr/>
              <p:nvPr/>
            </p:nvSpPr>
            <p:spPr>
              <a:xfrm rot="10444076">
                <a:off x="6705" y="2750"/>
                <a:ext cx="361" cy="305"/>
              </a:xfrm>
              <a:custGeom>
                <a:avLst/>
                <a:gdLst>
                  <a:gd name="txL" fmla="*/ 0 w 21600"/>
                  <a:gd name="txT" fmla="*/ 0 h 16055"/>
                  <a:gd name="txR" fmla="*/ 21600 w 21600"/>
                  <a:gd name="txB" fmla="*/ 16055 h 16055"/>
                </a:gdLst>
                <a:ahLst/>
                <a:cxnLst>
                  <a:cxn ang="270">
                    <a:pos x="14450" y="0"/>
                  </a:cxn>
                  <a:cxn ang="0">
                    <a:pos x="21600" y="16055"/>
                  </a:cxn>
                  <a:cxn ang="180">
                    <a:pos x="0" y="16055"/>
                  </a:cxn>
                </a:cxnLst>
                <a:rect l="txL" t="txT" r="txR" b="txB"/>
                <a:pathLst>
                  <a:path w="21600" h="16055" fill="none">
                    <a:moveTo>
                      <a:pt x="14450" y="0"/>
                    </a:moveTo>
                    <a:arcTo wR="21600" hR="21600" stAng="-2880708" swAng="2880708"/>
                  </a:path>
                  <a:path w="21600" h="16055" stroke="0">
                    <a:moveTo>
                      <a:pt x="14450" y="0"/>
                    </a:moveTo>
                    <a:arcTo wR="21600" hR="21600" stAng="-2880708" swAng="2880708"/>
                    <a:lnTo>
                      <a:pt x="0" y="16055"/>
                    </a:lnTo>
                    <a:close/>
                  </a:path>
                </a:pathLst>
              </a:custGeom>
              <a:noFill/>
              <a:ln w="28575" cap="flat" cmpd="sng">
                <a:solidFill>
                  <a:schemeClr val="tx1"/>
                </a:solidFill>
                <a:prstDash val="solid"/>
                <a:headEnd type="none" w="med" len="med"/>
                <a:tailEnd type="none" w="med" len="med"/>
              </a:ln>
            </p:spPr>
            <p:txBody>
              <a:bodyPr/>
              <a:p>
                <a:endParaRPr lang="zh-CN" altLang="en-US"/>
              </a:p>
            </p:txBody>
          </p:sp>
        </p:grpSp>
      </p:grpSp>
      <p:grpSp>
        <p:nvGrpSpPr>
          <p:cNvPr id="94382" name="组合 94381"/>
          <p:cNvGrpSpPr/>
          <p:nvPr/>
        </p:nvGrpSpPr>
        <p:grpSpPr>
          <a:xfrm>
            <a:off x="5229225" y="1965325"/>
            <a:ext cx="223838" cy="495300"/>
            <a:chOff x="3521" y="11258"/>
            <a:chExt cx="1100" cy="344"/>
          </a:xfrm>
        </p:grpSpPr>
        <p:sp>
          <p:nvSpPr>
            <p:cNvPr id="94383" name="直接连接符 94382"/>
            <p:cNvSpPr/>
            <p:nvPr/>
          </p:nvSpPr>
          <p:spPr>
            <a:xfrm>
              <a:off x="3525" y="11586"/>
              <a:ext cx="1096" cy="1"/>
            </a:xfrm>
            <a:prstGeom prst="line">
              <a:avLst/>
            </a:prstGeom>
            <a:ln w="28575" cap="flat" cmpd="sng">
              <a:solidFill>
                <a:srgbClr val="FF0000"/>
              </a:solidFill>
              <a:prstDash val="solid"/>
              <a:headEnd type="none" w="sm" len="lg"/>
              <a:tailEnd type="none" w="sm" len="lg"/>
            </a:ln>
          </p:spPr>
        </p:sp>
        <p:sp>
          <p:nvSpPr>
            <p:cNvPr id="94384" name="直接连接符 94383"/>
            <p:cNvSpPr/>
            <p:nvPr/>
          </p:nvSpPr>
          <p:spPr>
            <a:xfrm flipH="1" flipV="1">
              <a:off x="3521" y="11258"/>
              <a:ext cx="2" cy="344"/>
            </a:xfrm>
            <a:prstGeom prst="line">
              <a:avLst/>
            </a:prstGeom>
            <a:ln w="28575" cap="flat" cmpd="sng">
              <a:solidFill>
                <a:srgbClr val="FF0000"/>
              </a:solidFill>
              <a:prstDash val="solid"/>
              <a:headEnd type="none" w="sm" len="lg"/>
              <a:tailEnd type="none" w="sm" len="lg"/>
            </a:ln>
          </p:spPr>
        </p:sp>
      </p:grpSp>
      <p:grpSp>
        <p:nvGrpSpPr>
          <p:cNvPr id="94385" name="组合 94384"/>
          <p:cNvGrpSpPr/>
          <p:nvPr/>
        </p:nvGrpSpPr>
        <p:grpSpPr>
          <a:xfrm>
            <a:off x="5256213" y="3946525"/>
            <a:ext cx="893762" cy="420688"/>
            <a:chOff x="3000" y="11256"/>
            <a:chExt cx="519" cy="344"/>
          </a:xfrm>
        </p:grpSpPr>
        <p:sp>
          <p:nvSpPr>
            <p:cNvPr id="94386" name="直接连接符 94385"/>
            <p:cNvSpPr/>
            <p:nvPr/>
          </p:nvSpPr>
          <p:spPr>
            <a:xfrm flipH="1" flipV="1">
              <a:off x="3005" y="11256"/>
              <a:ext cx="2" cy="344"/>
            </a:xfrm>
            <a:prstGeom prst="line">
              <a:avLst/>
            </a:prstGeom>
            <a:ln w="28575" cap="flat" cmpd="sng">
              <a:solidFill>
                <a:srgbClr val="FF0000"/>
              </a:solidFill>
              <a:prstDash val="solid"/>
              <a:headEnd type="none" w="sm" len="lg"/>
              <a:tailEnd type="none" w="sm" len="lg"/>
            </a:ln>
          </p:spPr>
        </p:sp>
        <p:sp>
          <p:nvSpPr>
            <p:cNvPr id="94387" name="直接连接符 94386"/>
            <p:cNvSpPr/>
            <p:nvPr/>
          </p:nvSpPr>
          <p:spPr>
            <a:xfrm>
              <a:off x="3000" y="11271"/>
              <a:ext cx="519" cy="1"/>
            </a:xfrm>
            <a:prstGeom prst="line">
              <a:avLst/>
            </a:prstGeom>
            <a:ln w="28575" cap="flat" cmpd="sng">
              <a:solidFill>
                <a:srgbClr val="FF0000"/>
              </a:solidFill>
              <a:prstDash val="solid"/>
              <a:headEnd type="none" w="sm" len="lg"/>
              <a:tailEnd type="none" w="sm" len="lg"/>
            </a:ln>
          </p:spPr>
        </p:sp>
      </p:grpSp>
      <p:sp>
        <p:nvSpPr>
          <p:cNvPr id="94388" name="任意多边形 94387"/>
          <p:cNvSpPr/>
          <p:nvPr/>
        </p:nvSpPr>
        <p:spPr>
          <a:xfrm rot="-11173398" flipV="1">
            <a:off x="5253038" y="2936875"/>
            <a:ext cx="989012" cy="436563"/>
          </a:xfrm>
          <a:custGeom>
            <a:avLst/>
            <a:gdLst>
              <a:gd name="txL" fmla="*/ 0 w 23110"/>
              <a:gd name="txT" fmla="*/ 0 h 21600"/>
              <a:gd name="txR" fmla="*/ 23110 w 23110"/>
              <a:gd name="txB" fmla="*/ 21600 h 21600"/>
            </a:gdLst>
            <a:ahLst/>
            <a:cxnLst>
              <a:cxn ang="180">
                <a:pos x="0" y="60"/>
              </a:cxn>
              <a:cxn ang="0">
                <a:pos x="23109" y="19510"/>
              </a:cxn>
              <a:cxn ang="90">
                <a:pos x="1611" y="21600"/>
              </a:cxn>
            </a:cxnLst>
            <a:rect l="txL" t="txT" r="txR" b="txB"/>
            <a:pathLst>
              <a:path w="23110" h="21600" fill="none">
                <a:moveTo>
                  <a:pt x="0" y="60"/>
                </a:moveTo>
                <a:arcTo wR="21600" hR="21600" stAng="-5656635" swAng="5323470"/>
              </a:path>
              <a:path w="23110" h="21600" stroke="0">
                <a:moveTo>
                  <a:pt x="0" y="60"/>
                </a:moveTo>
                <a:arcTo wR="21600" hR="21600" stAng="-5656635" swAng="5323470"/>
                <a:lnTo>
                  <a:pt x="1611" y="21600"/>
                </a:lnTo>
                <a:close/>
              </a:path>
            </a:pathLst>
          </a:custGeom>
          <a:noFill/>
          <a:ln w="28575" cap="flat" cmpd="sng">
            <a:solidFill>
              <a:srgbClr val="FF0000"/>
            </a:solidFill>
            <a:prstDash val="solid"/>
            <a:headEnd type="none" w="med" len="med"/>
            <a:tailEnd type="none" w="med" len="med"/>
          </a:ln>
        </p:spPr>
        <p:txBody>
          <a:bodyPr/>
          <a:p>
            <a:endParaRPr lang="zh-CN" altLang="en-US"/>
          </a:p>
        </p:txBody>
      </p:sp>
      <p:grpSp>
        <p:nvGrpSpPr>
          <p:cNvPr id="94435" name="组合 94434"/>
          <p:cNvGrpSpPr/>
          <p:nvPr/>
        </p:nvGrpSpPr>
        <p:grpSpPr>
          <a:xfrm>
            <a:off x="5453063" y="1978025"/>
            <a:ext cx="739775" cy="501650"/>
            <a:chOff x="3451" y="1214"/>
            <a:chExt cx="466" cy="316"/>
          </a:xfrm>
        </p:grpSpPr>
        <p:sp>
          <p:nvSpPr>
            <p:cNvPr id="94243" name="直接连接符 94242"/>
            <p:cNvSpPr/>
            <p:nvPr/>
          </p:nvSpPr>
          <p:spPr>
            <a:xfrm>
              <a:off x="3451" y="1219"/>
              <a:ext cx="2" cy="311"/>
            </a:xfrm>
            <a:prstGeom prst="line">
              <a:avLst/>
            </a:prstGeom>
            <a:ln w="28575" cap="flat" cmpd="sng">
              <a:solidFill>
                <a:srgbClr val="FF0000"/>
              </a:solidFill>
              <a:prstDash val="solid"/>
              <a:headEnd type="none" w="med" len="med"/>
              <a:tailEnd type="none" w="med" len="med"/>
            </a:ln>
          </p:spPr>
        </p:sp>
        <p:sp>
          <p:nvSpPr>
            <p:cNvPr id="94389" name="直接连接符 94388"/>
            <p:cNvSpPr/>
            <p:nvPr/>
          </p:nvSpPr>
          <p:spPr>
            <a:xfrm>
              <a:off x="3464" y="1214"/>
              <a:ext cx="453" cy="1"/>
            </a:xfrm>
            <a:prstGeom prst="line">
              <a:avLst/>
            </a:prstGeom>
            <a:ln w="28575" cap="flat" cmpd="sng">
              <a:solidFill>
                <a:srgbClr val="FF0000"/>
              </a:solidFill>
              <a:prstDash val="solid"/>
              <a:headEnd type="none" w="sm" len="lg"/>
              <a:tailEnd type="none" w="sm" len="lg"/>
            </a:ln>
          </p:spPr>
        </p:sp>
      </p:grpSp>
      <p:grpSp>
        <p:nvGrpSpPr>
          <p:cNvPr id="94390" name="组合 94389"/>
          <p:cNvGrpSpPr/>
          <p:nvPr/>
        </p:nvGrpSpPr>
        <p:grpSpPr>
          <a:xfrm>
            <a:off x="6172200" y="3951288"/>
            <a:ext cx="225425" cy="407987"/>
            <a:chOff x="3521" y="11258"/>
            <a:chExt cx="1100" cy="344"/>
          </a:xfrm>
        </p:grpSpPr>
        <p:sp>
          <p:nvSpPr>
            <p:cNvPr id="94391" name="直接连接符 94390"/>
            <p:cNvSpPr/>
            <p:nvPr/>
          </p:nvSpPr>
          <p:spPr>
            <a:xfrm>
              <a:off x="3525" y="11586"/>
              <a:ext cx="1096" cy="1"/>
            </a:xfrm>
            <a:prstGeom prst="line">
              <a:avLst/>
            </a:prstGeom>
            <a:ln w="28575" cap="flat" cmpd="sng">
              <a:solidFill>
                <a:srgbClr val="FF0000"/>
              </a:solidFill>
              <a:prstDash val="solid"/>
              <a:headEnd type="none" w="sm" len="lg"/>
              <a:tailEnd type="none" w="sm" len="lg"/>
            </a:ln>
          </p:spPr>
        </p:sp>
        <p:sp>
          <p:nvSpPr>
            <p:cNvPr id="94392" name="直接连接符 94391"/>
            <p:cNvSpPr/>
            <p:nvPr/>
          </p:nvSpPr>
          <p:spPr>
            <a:xfrm flipH="1" flipV="1">
              <a:off x="3521" y="11258"/>
              <a:ext cx="2" cy="344"/>
            </a:xfrm>
            <a:prstGeom prst="line">
              <a:avLst/>
            </a:prstGeom>
            <a:ln w="28575" cap="flat" cmpd="sng">
              <a:solidFill>
                <a:srgbClr val="FF0000"/>
              </a:solidFill>
              <a:prstDash val="solid"/>
              <a:headEnd type="none" w="sm" len="lg"/>
              <a:tailEnd type="none" w="sm" len="lg"/>
            </a:ln>
          </p:spPr>
        </p:sp>
      </p:grpSp>
      <p:sp>
        <p:nvSpPr>
          <p:cNvPr id="94393" name="任意多边形 94392"/>
          <p:cNvSpPr/>
          <p:nvPr/>
        </p:nvSpPr>
        <p:spPr>
          <a:xfrm rot="10444076">
            <a:off x="6197600" y="2849563"/>
            <a:ext cx="363538" cy="496887"/>
          </a:xfrm>
          <a:custGeom>
            <a:avLst/>
            <a:gdLst>
              <a:gd name="txL" fmla="*/ 0 w 21600"/>
              <a:gd name="txT" fmla="*/ 0 h 19229"/>
              <a:gd name="txR" fmla="*/ 21600 w 21600"/>
              <a:gd name="txB" fmla="*/ 19229 h 19229"/>
            </a:gdLst>
            <a:ahLst/>
            <a:cxnLst>
              <a:cxn ang="270">
                <a:pos x="9839" y="0"/>
              </a:cxn>
              <a:cxn ang="0">
                <a:pos x="21600" y="19229"/>
              </a:cxn>
              <a:cxn ang="180">
                <a:pos x="0" y="19229"/>
              </a:cxn>
            </a:cxnLst>
            <a:rect l="txL" t="txT" r="txR" b="txB"/>
            <a:pathLst>
              <a:path w="21600" h="19229" fill="none">
                <a:moveTo>
                  <a:pt x="9839" y="0"/>
                </a:moveTo>
                <a:arcTo wR="21600" hR="21600" stAng="-3774138" swAng="3774138"/>
              </a:path>
              <a:path w="21600" h="19229" stroke="0">
                <a:moveTo>
                  <a:pt x="9839" y="0"/>
                </a:moveTo>
                <a:arcTo wR="21600" hR="21600" stAng="-3774138" swAng="3774138"/>
                <a:lnTo>
                  <a:pt x="0" y="19229"/>
                </a:lnTo>
                <a:close/>
              </a:path>
            </a:pathLst>
          </a:custGeom>
          <a:noFill/>
          <a:ln w="28575" cap="flat" cmpd="sng">
            <a:solidFill>
              <a:srgbClr val="FF0000"/>
            </a:solidFill>
            <a:prstDash val="solid"/>
            <a:headEnd type="none" w="med" len="med"/>
            <a:tailEnd type="none" w="med" len="med"/>
          </a:ln>
        </p:spPr>
        <p:txBody>
          <a:bodyPr/>
          <a:p>
            <a:endParaRPr lang="zh-CN" altLang="en-US"/>
          </a:p>
        </p:txBody>
      </p:sp>
      <p:grpSp>
        <p:nvGrpSpPr>
          <p:cNvPr id="94399" name="组合 94398"/>
          <p:cNvGrpSpPr/>
          <p:nvPr/>
        </p:nvGrpSpPr>
        <p:grpSpPr>
          <a:xfrm>
            <a:off x="5748338" y="1976438"/>
            <a:ext cx="225425" cy="493712"/>
            <a:chOff x="3544" y="3529"/>
            <a:chExt cx="58" cy="132"/>
          </a:xfrm>
        </p:grpSpPr>
        <p:sp>
          <p:nvSpPr>
            <p:cNvPr id="94400" name="直接连接符 94399"/>
            <p:cNvSpPr/>
            <p:nvPr/>
          </p:nvSpPr>
          <p:spPr>
            <a:xfrm>
              <a:off x="3599" y="3529"/>
              <a:ext cx="0" cy="132"/>
            </a:xfrm>
            <a:prstGeom prst="line">
              <a:avLst/>
            </a:prstGeom>
            <a:ln w="28575" cap="flat" cmpd="sng">
              <a:solidFill>
                <a:srgbClr val="0000FF"/>
              </a:solidFill>
              <a:prstDash val="dash"/>
              <a:headEnd type="none" w="med" len="med"/>
              <a:tailEnd type="none" w="med" len="med"/>
            </a:ln>
          </p:spPr>
        </p:sp>
        <p:sp>
          <p:nvSpPr>
            <p:cNvPr id="94401" name="直接连接符 94400"/>
            <p:cNvSpPr/>
            <p:nvPr/>
          </p:nvSpPr>
          <p:spPr>
            <a:xfrm flipV="1">
              <a:off x="3544" y="3658"/>
              <a:ext cx="58" cy="0"/>
            </a:xfrm>
            <a:prstGeom prst="line">
              <a:avLst/>
            </a:prstGeom>
            <a:ln w="28575" cap="flat" cmpd="sng">
              <a:solidFill>
                <a:srgbClr val="0000FF"/>
              </a:solidFill>
              <a:prstDash val="dash"/>
              <a:headEnd type="none" w="med" len="med"/>
              <a:tailEnd type="none" w="med" len="med"/>
            </a:ln>
          </p:spPr>
        </p:sp>
        <p:sp>
          <p:nvSpPr>
            <p:cNvPr id="94402" name="直接连接符 94401"/>
            <p:cNvSpPr/>
            <p:nvPr/>
          </p:nvSpPr>
          <p:spPr>
            <a:xfrm>
              <a:off x="3547" y="3529"/>
              <a:ext cx="0" cy="132"/>
            </a:xfrm>
            <a:prstGeom prst="line">
              <a:avLst/>
            </a:prstGeom>
            <a:ln w="28575" cap="flat" cmpd="sng">
              <a:solidFill>
                <a:srgbClr val="0000FF"/>
              </a:solidFill>
              <a:prstDash val="dash"/>
              <a:headEnd type="none" w="med" len="med"/>
              <a:tailEnd type="none" w="med" len="med"/>
            </a:ln>
          </p:spPr>
        </p:sp>
      </p:grpSp>
      <p:grpSp>
        <p:nvGrpSpPr>
          <p:cNvPr id="94439" name="组合 94438"/>
          <p:cNvGrpSpPr/>
          <p:nvPr/>
        </p:nvGrpSpPr>
        <p:grpSpPr>
          <a:xfrm>
            <a:off x="5286375" y="4268788"/>
            <a:ext cx="900113" cy="444500"/>
            <a:chOff x="3330" y="3669"/>
            <a:chExt cx="567" cy="280"/>
          </a:xfrm>
        </p:grpSpPr>
        <p:sp>
          <p:nvSpPr>
            <p:cNvPr id="94404" name="直接连接符 94403"/>
            <p:cNvSpPr/>
            <p:nvPr/>
          </p:nvSpPr>
          <p:spPr>
            <a:xfrm>
              <a:off x="3330" y="3669"/>
              <a:ext cx="567" cy="0"/>
            </a:xfrm>
            <a:prstGeom prst="line">
              <a:avLst/>
            </a:prstGeom>
            <a:ln w="28575" cap="flat" cmpd="sng">
              <a:solidFill>
                <a:srgbClr val="FF0000"/>
              </a:solidFill>
              <a:prstDash val="solid"/>
              <a:headEnd type="triangle" w="med" len="med"/>
              <a:tailEnd type="triangle" w="med" len="med"/>
            </a:ln>
          </p:spPr>
        </p:sp>
        <p:sp>
          <p:nvSpPr>
            <p:cNvPr id="94405" name="文本框 94404"/>
            <p:cNvSpPr txBox="1"/>
            <p:nvPr/>
          </p:nvSpPr>
          <p:spPr>
            <a:xfrm>
              <a:off x="3421" y="3700"/>
              <a:ext cx="312" cy="249"/>
            </a:xfrm>
            <a:prstGeom prst="rect">
              <a:avLst/>
            </a:prstGeom>
            <a:noFill/>
            <a:ln w="28575" cap="flat" cmpd="sng">
              <a:solidFill>
                <a:srgbClr val="FF0000">
                  <a:alpha val="0"/>
                </a:srgbClr>
              </a:solidFill>
              <a:prstDash val="solid"/>
              <a:miter/>
              <a:headEnd type="none" w="med" len="med"/>
              <a:tailEnd type="none" w="med" len="med"/>
            </a:ln>
          </p:spPr>
          <p:txBody>
            <a:bodyPr>
              <a:spAutoFit/>
            </a:bodyPr>
            <a:p>
              <a:pPr algn="ctr">
                <a:spcBef>
                  <a:spcPct val="50000"/>
                </a:spcBef>
              </a:pPr>
              <a:r>
                <a:rPr lang="en-US" altLang="zh-CN" b="1" err="1">
                  <a:latin typeface="Times New Roman" panose="02020603050405020304" charset="0"/>
                </a:rPr>
                <a:t>t</a:t>
              </a:r>
              <a:r>
                <a:rPr lang="en-US" altLang="zh-CN" b="1" baseline="-25000" err="1">
                  <a:latin typeface="Times New Roman" panose="02020603050405020304" charset="0"/>
                </a:rPr>
                <a:t>W</a:t>
              </a:r>
              <a:endParaRPr lang="en-US" altLang="zh-CN" b="1" baseline="-25000">
                <a:latin typeface="Times New Roman" panose="02020603050405020304" charset="0"/>
              </a:endParaRPr>
            </a:p>
          </p:txBody>
        </p:sp>
      </p:grpSp>
      <p:sp>
        <p:nvSpPr>
          <p:cNvPr id="94406" name="直接连接符 94405"/>
          <p:cNvSpPr/>
          <p:nvPr/>
        </p:nvSpPr>
        <p:spPr>
          <a:xfrm>
            <a:off x="6424613" y="3344863"/>
            <a:ext cx="180975" cy="0"/>
          </a:xfrm>
          <a:prstGeom prst="line">
            <a:avLst/>
          </a:prstGeom>
          <a:ln w="28575" cap="flat" cmpd="sng">
            <a:solidFill>
              <a:srgbClr val="FF0000"/>
            </a:solidFill>
            <a:prstDash val="solid"/>
            <a:headEnd type="none" w="sm" len="lg"/>
            <a:tailEnd type="none" w="sm" len="lg"/>
          </a:ln>
        </p:spPr>
      </p:sp>
      <p:graphicFrame>
        <p:nvGraphicFramePr>
          <p:cNvPr id="94436" name="对象 94435"/>
          <p:cNvGraphicFramePr/>
          <p:nvPr/>
        </p:nvGraphicFramePr>
        <p:xfrm>
          <a:off x="4265613" y="1231900"/>
          <a:ext cx="4148137" cy="3386138"/>
        </p:xfrm>
        <a:graphic>
          <a:graphicData uri="http://schemas.openxmlformats.org/presentationml/2006/ole">
            <mc:AlternateContent xmlns:mc="http://schemas.openxmlformats.org/markup-compatibility/2006">
              <mc:Choice xmlns:v="urn:schemas-microsoft-com:vml" Requires="v">
                <p:oleObj spid="_x0000_s3112" name="" r:id="rId1" imgW="2491105" imgH="2409190" progId="Word.Picture.8">
                  <p:embed/>
                </p:oleObj>
              </mc:Choice>
              <mc:Fallback>
                <p:oleObj name="" r:id="rId1" imgW="2491105" imgH="2409190" progId="Word.Picture.8">
                  <p:embed/>
                  <p:pic>
                    <p:nvPicPr>
                      <p:cNvPr id="0" name="图片 3111"/>
                      <p:cNvPicPr/>
                      <p:nvPr/>
                    </p:nvPicPr>
                    <p:blipFill>
                      <a:blip r:embed="rId2"/>
                      <a:stretch>
                        <a:fillRect/>
                      </a:stretch>
                    </p:blipFill>
                    <p:spPr>
                      <a:xfrm>
                        <a:off x="4265613" y="1231900"/>
                        <a:ext cx="4148137" cy="3386138"/>
                      </a:xfrm>
                      <a:prstGeom prst="rect">
                        <a:avLst/>
                      </a:prstGeom>
                      <a:noFill/>
                      <a:ln w="38100">
                        <a:noFill/>
                        <a:miter/>
                      </a:ln>
                    </p:spPr>
                  </p:pic>
                </p:oleObj>
              </mc:Fallback>
            </mc:AlternateContent>
          </a:graphicData>
        </a:graphic>
      </p:graphicFrame>
      <p:sp>
        <p:nvSpPr>
          <p:cNvPr id="94438" name="直接连接符 94437"/>
          <p:cNvSpPr/>
          <p:nvPr/>
        </p:nvSpPr>
        <p:spPr>
          <a:xfrm>
            <a:off x="4784725" y="1949450"/>
            <a:ext cx="449263" cy="0"/>
          </a:xfrm>
          <a:prstGeom prst="line">
            <a:avLst/>
          </a:prstGeom>
          <a:ln w="28575" cap="flat" cmpd="sng">
            <a:solidFill>
              <a:schemeClr val="accent2"/>
            </a:solidFill>
            <a:prstDash val="solid"/>
            <a:headEnd type="none" w="med" len="med"/>
            <a:tailEnd type="none" w="med" len="med"/>
          </a:ln>
        </p:spPr>
      </p:sp>
      <p:sp>
        <p:nvSpPr>
          <p:cNvPr id="94440" name="矩形 94439"/>
          <p:cNvSpPr/>
          <p:nvPr/>
        </p:nvSpPr>
        <p:spPr>
          <a:xfrm>
            <a:off x="609283" y="4157663"/>
            <a:ext cx="3702050" cy="460375"/>
          </a:xfrm>
          <a:prstGeom prst="rect">
            <a:avLst/>
          </a:prstGeom>
          <a:noFill/>
          <a:ln w="9525">
            <a:noFill/>
          </a:ln>
        </p:spPr>
        <p:txBody>
          <a:bodyPr wrap="none" anchor="t" anchorCtr="0">
            <a:spAutoFit/>
          </a:bodyPr>
          <a:p>
            <a:pPr>
              <a:spcBef>
                <a:spcPct val="5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电路是可重复触发的单稳</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endPar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94442" name="矩形 94441"/>
          <p:cNvSpPr/>
          <p:nvPr/>
        </p:nvSpPr>
        <p:spPr>
          <a:xfrm>
            <a:off x="457200" y="5486400"/>
            <a:ext cx="8446770" cy="460375"/>
          </a:xfrm>
          <a:prstGeom prst="rect">
            <a:avLst/>
          </a:prstGeom>
          <a:noFill/>
          <a:ln w="9525">
            <a:noFill/>
          </a:ln>
        </p:spPr>
        <p:txBody>
          <a:bodyPr wrap="square">
            <a:spAutoFit/>
          </a:bodyPr>
          <a:p>
            <a:pPr>
              <a:spcBef>
                <a:spcPct val="5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如将</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5</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脚接电压</a:t>
            </a:r>
            <a:r>
              <a:rPr lang="en-US" altLang="zh-CN" sz="24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V</a:t>
            </a:r>
            <a:r>
              <a:rPr lang="zh-CN" altLang="en-US"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电路的脉宽会改变吗</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4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V</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增加</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脉宽如何改变</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endParaRPr lang="en-US" altLang="zh-CN"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94443" name="直接连接符 94442"/>
          <p:cNvSpPr/>
          <p:nvPr/>
        </p:nvSpPr>
        <p:spPr>
          <a:xfrm>
            <a:off x="4835525" y="4333875"/>
            <a:ext cx="409575" cy="0"/>
          </a:xfrm>
          <a:prstGeom prst="line">
            <a:avLst/>
          </a:prstGeom>
          <a:ln w="28575" cap="flat" cmpd="sng">
            <a:solidFill>
              <a:schemeClr val="accent2"/>
            </a:solidFill>
            <a:prstDash val="solid"/>
            <a:headEnd type="none" w="med" len="med"/>
            <a:tailEnd type="none" w="med" len="med"/>
          </a:ln>
        </p:spPr>
      </p:sp>
      <p:pic>
        <p:nvPicPr>
          <p:cNvPr id="16" name="图片 15"/>
          <p:cNvPicPr>
            <a:picLocks noChangeAspect="1"/>
          </p:cNvPicPr>
          <p:nvPr/>
        </p:nvPicPr>
        <p:blipFill>
          <a:blip r:embed="rId3"/>
          <a:stretch>
            <a:fillRect/>
          </a:stretch>
        </p:blipFill>
        <p:spPr>
          <a:xfrm>
            <a:off x="838200" y="1707515"/>
            <a:ext cx="2739390" cy="2265680"/>
          </a:xfrm>
          <a:prstGeom prst="rect">
            <a:avLst/>
          </a:prstGeom>
        </p:spPr>
      </p:pic>
      <p:sp>
        <p:nvSpPr>
          <p:cNvPr id="385087" name="Rectangle 63"/>
          <p:cNvSpPr/>
          <p:nvPr/>
        </p:nvSpPr>
        <p:spPr>
          <a:xfrm>
            <a:off x="533400" y="4618038"/>
            <a:ext cx="3752850" cy="400050"/>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1318F3"/>
                </a:solidFill>
                <a:latin typeface="Times New Roman" panose="02020603050405020304" charset="0"/>
                <a:ea typeface="楷体" panose="02010609060101010101" charset="-122"/>
                <a:sym typeface="Wingdings" panose="05000000000000000000" pitchFamily="2" charset="2"/>
              </a:rPr>
              <a:t>该触发器是不可重复触发的单稳</a:t>
            </a:r>
            <a:endParaRPr lang="zh-CN" altLang="en-US" sz="2000" b="1" dirty="0">
              <a:solidFill>
                <a:srgbClr val="1318F3"/>
              </a:solidFill>
              <a:latin typeface="Times New Roman" panose="02020603050405020304" charset="0"/>
              <a:ea typeface="楷体" panose="02010609060101010101" charset="-122"/>
              <a:sym typeface="Wingdings" panose="05000000000000000000" pitchFamily="2" charset="2"/>
            </a:endParaRPr>
          </a:p>
        </p:txBody>
      </p:sp>
      <p:sp>
        <p:nvSpPr>
          <p:cNvPr id="385088" name="Rectangle 64"/>
          <p:cNvSpPr/>
          <p:nvPr/>
        </p:nvSpPr>
        <p:spPr>
          <a:xfrm>
            <a:off x="533083" y="5029200"/>
            <a:ext cx="8424862" cy="40005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1318F3"/>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因为触发器回</a:t>
            </a:r>
            <a:r>
              <a:rPr lang="en-US" altLang="zh-CN" sz="2000" b="1" dirty="0">
                <a:solidFill>
                  <a:srgbClr val="1318F3"/>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的唯一条件是</a:t>
            </a:r>
            <a:r>
              <a:rPr lang="en-US" altLang="zh-CN" sz="20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1318F3"/>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rPr>
              <a:t>上升至</a:t>
            </a:r>
            <a:r>
              <a:rPr lang="en-US" altLang="zh-CN" sz="2000" b="1" dirty="0">
                <a:solidFill>
                  <a:srgbClr val="1318F3"/>
                </a:solidFill>
                <a:latin typeface="Times New Roman" panose="02020603050405020304" charset="0"/>
                <a:ea typeface="楷体" panose="02010609060101010101" charset="-122"/>
                <a:cs typeface="Times New Roman" panose="02020603050405020304" charset="0"/>
              </a:rPr>
              <a:t>2/3V</a:t>
            </a:r>
            <a:r>
              <a:rPr lang="en-US" altLang="zh-CN" sz="2000" b="1" baseline="-25000" dirty="0">
                <a:solidFill>
                  <a:srgbClr val="1318F3"/>
                </a:solidFill>
                <a:latin typeface="Times New Roman" panose="02020603050405020304" charset="0"/>
                <a:ea typeface="楷体" panose="02010609060101010101" charset="-122"/>
                <a:cs typeface="Times New Roman" panose="02020603050405020304" charset="0"/>
              </a:rPr>
              <a:t>CC</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rPr>
              <a:t>时，</a:t>
            </a:r>
            <a:r>
              <a:rPr lang="en-US" altLang="zh-CN" sz="2000" b="1" i="1" dirty="0">
                <a:solidFill>
                  <a:srgbClr val="1318F3"/>
                </a:solidFill>
                <a:latin typeface="Times New Roman" panose="02020603050405020304" charset="0"/>
                <a:ea typeface="楷体" panose="02010609060101010101" charset="-122"/>
                <a:cs typeface="Times New Roman" panose="02020603050405020304" charset="0"/>
              </a:rPr>
              <a:t>R</a:t>
            </a:r>
            <a:r>
              <a:rPr lang="en-US" altLang="zh-CN" sz="2000" b="1" dirty="0">
                <a:solidFill>
                  <a:srgbClr val="1318F3"/>
                </a:solidFill>
                <a:latin typeface="Times New Roman" panose="02020603050405020304" charset="0"/>
                <a:ea typeface="楷体" panose="02010609060101010101" charset="-122"/>
                <a:cs typeface="Times New Roman" panose="02020603050405020304" charset="0"/>
              </a:rPr>
              <a:t>=0</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rPr>
              <a:t>。</a:t>
            </a:r>
            <a:endParaRPr lang="zh-CN" altLang="en-US" sz="2000" b="1" dirty="0">
              <a:solidFill>
                <a:srgbClr val="1318F3"/>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94382"/>
                                        </p:tgtEl>
                                        <p:attrNameLst>
                                          <p:attrName>style.visibility</p:attrName>
                                        </p:attrNameLst>
                                      </p:cBhvr>
                                      <p:to>
                                        <p:strVal val="visible"/>
                                      </p:to>
                                    </p:set>
                                    <p:animEffect transition="in" filter="strips(downRight)">
                                      <p:cBhvr>
                                        <p:cTn id="7" dur="500"/>
                                        <p:tgtEl>
                                          <p:spTgt spid="9438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94385"/>
                                        </p:tgtEl>
                                        <p:attrNameLst>
                                          <p:attrName>style.visibility</p:attrName>
                                        </p:attrNameLst>
                                      </p:cBhvr>
                                      <p:to>
                                        <p:strVal val="visible"/>
                                      </p:to>
                                    </p:set>
                                    <p:animEffect transition="in" filter="strips(upRight)">
                                      <p:cBhvr>
                                        <p:cTn id="12" dur="500"/>
                                        <p:tgtEl>
                                          <p:spTgt spid="9438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94388"/>
                                        </p:tgtEl>
                                        <p:attrNameLst>
                                          <p:attrName>style.visibility</p:attrName>
                                        </p:attrNameLst>
                                      </p:cBhvr>
                                      <p:to>
                                        <p:strVal val="visible"/>
                                      </p:to>
                                    </p:set>
                                    <p:animEffect transition="in" filter="strips(upRight)">
                                      <p:cBhvr>
                                        <p:cTn id="17" dur="500"/>
                                        <p:tgtEl>
                                          <p:spTgt spid="943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4435"/>
                                        </p:tgtEl>
                                        <p:attrNameLst>
                                          <p:attrName>style.visibility</p:attrName>
                                        </p:attrNameLst>
                                      </p:cBhvr>
                                      <p:to>
                                        <p:strVal val="visible"/>
                                      </p:to>
                                    </p:set>
                                    <p:animEffect transition="in" filter="wipe(left)">
                                      <p:cBhvr>
                                        <p:cTn id="22" dur="500"/>
                                        <p:tgtEl>
                                          <p:spTgt spid="9443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4390"/>
                                        </p:tgtEl>
                                        <p:attrNameLst>
                                          <p:attrName>style.visibility</p:attrName>
                                        </p:attrNameLst>
                                      </p:cBhvr>
                                      <p:to>
                                        <p:strVal val="visible"/>
                                      </p:to>
                                    </p:set>
                                    <p:animEffect transition="in" filter="strips(downRight)">
                                      <p:cBhvr>
                                        <p:cTn id="27" dur="500"/>
                                        <p:tgtEl>
                                          <p:spTgt spid="9439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94393"/>
                                        </p:tgtEl>
                                        <p:attrNameLst>
                                          <p:attrName>style.visibility</p:attrName>
                                        </p:attrNameLst>
                                      </p:cBhvr>
                                      <p:to>
                                        <p:strVal val="visible"/>
                                      </p:to>
                                    </p:set>
                                    <p:animEffect transition="in" filter="strips(downRight)">
                                      <p:cBhvr>
                                        <p:cTn id="32" dur="500"/>
                                        <p:tgtEl>
                                          <p:spTgt spid="9439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94406"/>
                                        </p:tgtEl>
                                        <p:attrNameLst>
                                          <p:attrName>style.visibility</p:attrName>
                                        </p:attrNameLst>
                                      </p:cBhvr>
                                      <p:to>
                                        <p:strVal val="visible"/>
                                      </p:to>
                                    </p:set>
                                    <p:animEffect transition="in" filter="strips(upRight)">
                                      <p:cBhvr>
                                        <p:cTn id="37" dur="500"/>
                                        <p:tgtEl>
                                          <p:spTgt spid="9440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4439"/>
                                        </p:tgtEl>
                                        <p:attrNameLst>
                                          <p:attrName>style.visibility</p:attrName>
                                        </p:attrNameLst>
                                      </p:cBhvr>
                                      <p:to>
                                        <p:strVal val="visible"/>
                                      </p:to>
                                    </p:set>
                                    <p:animEffect transition="in" filter="wipe(left)">
                                      <p:cBhvr>
                                        <p:cTn id="42" dur="500"/>
                                        <p:tgtEl>
                                          <p:spTgt spid="9443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4427"/>
                                        </p:tgtEl>
                                        <p:attrNameLst>
                                          <p:attrName>style.visibility</p:attrName>
                                        </p:attrNameLst>
                                      </p:cBhvr>
                                      <p:to>
                                        <p:strVal val="visible"/>
                                      </p:to>
                                    </p:set>
                                    <p:animEffect transition="in" filter="wipe(left)">
                                      <p:cBhvr>
                                        <p:cTn id="47" dur="500"/>
                                        <p:tgtEl>
                                          <p:spTgt spid="94427"/>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94399"/>
                                        </p:tgtEl>
                                        <p:attrNameLst>
                                          <p:attrName>style.visibility</p:attrName>
                                        </p:attrNameLst>
                                      </p:cBhvr>
                                      <p:to>
                                        <p:strVal val="visible"/>
                                      </p:to>
                                    </p:set>
                                    <p:animEffect transition="in" filter="strips(downLeft)">
                                      <p:cBhvr>
                                        <p:cTn id="52" dur="500"/>
                                        <p:tgtEl>
                                          <p:spTgt spid="94399"/>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94440"/>
                                        </p:tgtEl>
                                        <p:attrNameLst>
                                          <p:attrName>style.visibility</p:attrName>
                                        </p:attrNameLst>
                                      </p:cBhvr>
                                      <p:to>
                                        <p:strVal val="visible"/>
                                      </p:to>
                                    </p:set>
                                    <p:animEffect transition="in" filter="strips(downRight)">
                                      <p:cBhvr>
                                        <p:cTn id="57" dur="500"/>
                                        <p:tgtEl>
                                          <p:spTgt spid="94440"/>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94442"/>
                                        </p:tgtEl>
                                        <p:attrNameLst>
                                          <p:attrName>style.visibility</p:attrName>
                                        </p:attrNameLst>
                                      </p:cBhvr>
                                      <p:to>
                                        <p:strVal val="visible"/>
                                      </p:to>
                                    </p:set>
                                    <p:animEffect transition="in" filter="strips(downRight)">
                                      <p:cBhvr>
                                        <p:cTn id="62" dur="500"/>
                                        <p:tgtEl>
                                          <p:spTgt spid="94442"/>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85087"/>
                                        </p:tgtEl>
                                        <p:attrNameLst>
                                          <p:attrName>style.visibility</p:attrName>
                                        </p:attrNameLst>
                                      </p:cBhvr>
                                      <p:to>
                                        <p:strVal val="visible"/>
                                      </p:to>
                                    </p:set>
                                    <p:animEffect transition="in" filter="dissolve">
                                      <p:cBhvr>
                                        <p:cTn id="67" dur="500"/>
                                        <p:tgtEl>
                                          <p:spTgt spid="38508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85088"/>
                                        </p:tgtEl>
                                        <p:attrNameLst>
                                          <p:attrName>style.visibility</p:attrName>
                                        </p:attrNameLst>
                                      </p:cBhvr>
                                      <p:to>
                                        <p:strVal val="visible"/>
                                      </p:to>
                                    </p:set>
                                    <p:animEffect transition="in" filter="blinds(horizontal)">
                                      <p:cBhvr>
                                        <p:cTn id="72" dur="500"/>
                                        <p:tgtEl>
                                          <p:spTgt spid="385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40" grpId="0"/>
      <p:bldP spid="94442" grpId="0"/>
      <p:bldP spid="385087" grpId="0"/>
      <p:bldP spid="38508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3"/>
          <p:cNvSpPr>
            <a:spLocks noGrp="1"/>
          </p:cNvSpPr>
          <p:nvPr/>
        </p:nvSpPr>
        <p:spPr>
          <a:xfrm>
            <a:off x="908050" y="1177290"/>
            <a:ext cx="711517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anose="02010609030101010101" pitchFamily="49" charset="-122"/>
                <a:cs typeface="Times New Roman" panose="02020603050405020304" charset="0"/>
              </a:rPr>
              <a:t>3. </a:t>
            </a:r>
            <a:r>
              <a:rPr lang="zh-CN" altLang="en-US" sz="2400" b="1" dirty="0">
                <a:solidFill>
                  <a:srgbClr val="FE09D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输出电压脉冲宽度</a:t>
            </a:r>
            <a:r>
              <a:rPr lang="en-US" altLang="zh-CN" sz="2400" b="1" i="1" dirty="0">
                <a:solidFill>
                  <a:srgbClr val="FE09D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t</a:t>
            </a:r>
            <a:r>
              <a:rPr lang="en-US" altLang="zh-CN" sz="2400" b="1" baseline="-25000" dirty="0">
                <a:solidFill>
                  <a:srgbClr val="FE09D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W</a:t>
            </a:r>
            <a:r>
              <a:rPr lang="en-US" altLang="zh-CN" sz="2400" b="1" dirty="0">
                <a:solidFill>
                  <a:srgbClr val="FE09D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a:t>
            </a:r>
            <a:r>
              <a:rPr lang="zh-CN" altLang="en-US" sz="2400" b="1" dirty="0">
                <a:solidFill>
                  <a:srgbClr val="1318F3"/>
                </a:solidFill>
                <a:latin typeface="Times New Roman" panose="02020603050405020304" charset="0"/>
                <a:ea typeface="楷体_GB2312" panose="02010609030101010101" pitchFamily="49" charset="-122"/>
                <a:cs typeface="Times New Roman" panose="02020603050405020304" charset="0"/>
                <a:sym typeface="Wingdings" panose="05000000000000000000" pitchFamily="2" charset="2"/>
              </a:rPr>
              <a:t>由过渡过程三要素法求得</a:t>
            </a:r>
            <a:endParaRPr lang="zh-CN" altLang="en-US" sz="2400" b="1" dirty="0">
              <a:solidFill>
                <a:srgbClr val="1318F3"/>
              </a:solidFill>
              <a:latin typeface="Times New Roman" panose="02020603050405020304" charset="0"/>
              <a:sym typeface="Wingdings" panose="05000000000000000000" pitchFamily="2" charset="2"/>
            </a:endParaRPr>
          </a:p>
          <a:p>
            <a:pPr marL="0" indent="0" eaLnBrk="1" latinLnBrk="0" hangingPunct="1">
              <a:lnSpc>
                <a:spcPct val="120000"/>
              </a:lnSpc>
              <a:spcBef>
                <a:spcPts val="0"/>
              </a:spcBef>
              <a:buNone/>
            </a:pPr>
            <a:endParaRPr lang="zh-CN" altLang="en-US" sz="2400" b="1" kern="1200" dirty="0">
              <a:solidFill>
                <a:srgbClr val="1318F3"/>
              </a:solidFill>
              <a:latin typeface="Times New Roman" panose="02020603050405020304" charset="0"/>
              <a:ea typeface="楷体_GB2312" panose="02010609030101010101" pitchFamily="49" charset="-122"/>
              <a:cs typeface="Times New Roman" panose="02020603050405020304" charset="0"/>
              <a:sym typeface="Wingdings" panose="05000000000000000000" pitchFamily="2" charset="2"/>
            </a:endParaRPr>
          </a:p>
        </p:txBody>
      </p:sp>
      <p:sp>
        <p:nvSpPr>
          <p:cNvPr id="9" name="TextBox 6"/>
          <p:cNvSpPr txBox="1"/>
          <p:nvPr/>
        </p:nvSpPr>
        <p:spPr>
          <a:xfrm>
            <a:off x="294322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76803" name="Group 2"/>
          <p:cNvGrpSpPr/>
          <p:nvPr/>
        </p:nvGrpSpPr>
        <p:grpSpPr>
          <a:xfrm>
            <a:off x="2500313" y="1662113"/>
            <a:ext cx="4025900" cy="2362200"/>
            <a:chOff x="480" y="672"/>
            <a:chExt cx="2536" cy="1488"/>
          </a:xfrm>
        </p:grpSpPr>
        <p:sp>
          <p:nvSpPr>
            <p:cNvPr id="76808" name="Freeform 3"/>
            <p:cNvSpPr/>
            <p:nvPr/>
          </p:nvSpPr>
          <p:spPr>
            <a:xfrm>
              <a:off x="1871" y="983"/>
              <a:ext cx="1008" cy="518"/>
            </a:xfrm>
            <a:custGeom>
              <a:avLst/>
              <a:gdLst/>
              <a:ahLst/>
              <a:cxnLst>
                <a:cxn ang="0">
                  <a:pos x="0" y="489"/>
                </a:cxn>
                <a:cxn ang="0">
                  <a:pos x="829" y="8"/>
                </a:cxn>
              </a:cxnLst>
              <a:pathLst>
                <a:path w="1225" h="549">
                  <a:moveTo>
                    <a:pt x="0" y="549"/>
                  </a:moveTo>
                  <a:cubicBezTo>
                    <a:pt x="48" y="376"/>
                    <a:pt x="148" y="0"/>
                    <a:pt x="1225" y="8"/>
                  </a:cubicBezTo>
                </a:path>
              </a:pathLst>
            </a:custGeom>
            <a:noFill/>
            <a:ln w="19050" cap="flat" cmpd="sng">
              <a:solidFill>
                <a:schemeClr val="tx1">
                  <a:alpha val="100000"/>
                </a:schemeClr>
              </a:solidFill>
              <a:prstDash val="lgDash"/>
              <a:round/>
              <a:headEnd type="none" w="med" len="med"/>
              <a:tailEnd type="none" w="med" len="med"/>
            </a:ln>
          </p:spPr>
          <p:txBody>
            <a:bodyPr/>
            <a:p>
              <a:endParaRPr lang="zh-CN" altLang="en-US"/>
            </a:p>
          </p:txBody>
        </p:sp>
        <p:sp>
          <p:nvSpPr>
            <p:cNvPr id="76809" name="Line 4"/>
            <p:cNvSpPr/>
            <p:nvPr/>
          </p:nvSpPr>
          <p:spPr>
            <a:xfrm flipV="1">
              <a:off x="1871" y="1689"/>
              <a:ext cx="0" cy="424"/>
            </a:xfrm>
            <a:prstGeom prst="line">
              <a:avLst/>
            </a:prstGeom>
            <a:ln w="28575" cap="flat" cmpd="sng">
              <a:solidFill>
                <a:schemeClr val="tx1"/>
              </a:solidFill>
              <a:prstDash val="solid"/>
              <a:headEnd type="none" w="med" len="med"/>
              <a:tailEnd type="none" w="med" len="med"/>
            </a:ln>
          </p:spPr>
        </p:sp>
        <p:sp>
          <p:nvSpPr>
            <p:cNvPr id="76810" name="Line 5"/>
            <p:cNvSpPr/>
            <p:nvPr/>
          </p:nvSpPr>
          <p:spPr>
            <a:xfrm>
              <a:off x="1871" y="1689"/>
              <a:ext cx="329" cy="0"/>
            </a:xfrm>
            <a:prstGeom prst="line">
              <a:avLst/>
            </a:prstGeom>
            <a:ln w="28575" cap="flat" cmpd="sng">
              <a:solidFill>
                <a:schemeClr val="tx1"/>
              </a:solidFill>
              <a:prstDash val="solid"/>
              <a:headEnd type="none" w="med" len="med"/>
              <a:tailEnd type="none" w="med" len="med"/>
            </a:ln>
          </p:spPr>
        </p:sp>
        <p:sp>
          <p:nvSpPr>
            <p:cNvPr id="76811" name="Freeform 6"/>
            <p:cNvSpPr/>
            <p:nvPr/>
          </p:nvSpPr>
          <p:spPr>
            <a:xfrm>
              <a:off x="1871" y="1108"/>
              <a:ext cx="316" cy="399"/>
            </a:xfrm>
            <a:custGeom>
              <a:avLst/>
              <a:gdLst/>
              <a:ahLst/>
              <a:cxnLst>
                <a:cxn ang="0">
                  <a:pos x="0" y="392"/>
                </a:cxn>
                <a:cxn ang="0">
                  <a:pos x="260" y="0"/>
                </a:cxn>
              </a:cxnLst>
              <a:pathLst>
                <a:path w="384" h="406">
                  <a:moveTo>
                    <a:pt x="0" y="406"/>
                  </a:moveTo>
                  <a:cubicBezTo>
                    <a:pt x="75" y="117"/>
                    <a:pt x="244" y="77"/>
                    <a:pt x="384"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76812" name="Line 7"/>
            <p:cNvSpPr/>
            <p:nvPr/>
          </p:nvSpPr>
          <p:spPr>
            <a:xfrm>
              <a:off x="1871" y="1501"/>
              <a:ext cx="0" cy="659"/>
            </a:xfrm>
            <a:prstGeom prst="line">
              <a:avLst/>
            </a:prstGeom>
            <a:ln w="12700" cap="flat" cmpd="sng">
              <a:solidFill>
                <a:schemeClr val="tx1"/>
              </a:solidFill>
              <a:prstDash val="lgDash"/>
              <a:headEnd type="none" w="med" len="med"/>
              <a:tailEnd type="none" w="med" len="med"/>
            </a:ln>
          </p:spPr>
        </p:sp>
        <p:sp>
          <p:nvSpPr>
            <p:cNvPr id="76813" name="Line 8"/>
            <p:cNvSpPr/>
            <p:nvPr/>
          </p:nvSpPr>
          <p:spPr>
            <a:xfrm>
              <a:off x="2187" y="1124"/>
              <a:ext cx="0" cy="1036"/>
            </a:xfrm>
            <a:prstGeom prst="line">
              <a:avLst/>
            </a:prstGeom>
            <a:ln w="12700" cap="flat" cmpd="sng">
              <a:solidFill>
                <a:schemeClr val="tx1"/>
              </a:solidFill>
              <a:prstDash val="lgDash"/>
              <a:headEnd type="none" w="med" len="med"/>
              <a:tailEnd type="none" w="med" len="med"/>
            </a:ln>
          </p:spPr>
        </p:sp>
        <p:sp>
          <p:nvSpPr>
            <p:cNvPr id="76814" name="Line 9"/>
            <p:cNvSpPr/>
            <p:nvPr/>
          </p:nvSpPr>
          <p:spPr>
            <a:xfrm>
              <a:off x="2200" y="1689"/>
              <a:ext cx="0" cy="424"/>
            </a:xfrm>
            <a:prstGeom prst="line">
              <a:avLst/>
            </a:prstGeom>
            <a:ln w="28575" cap="flat" cmpd="sng">
              <a:solidFill>
                <a:schemeClr val="tx1"/>
              </a:solidFill>
              <a:prstDash val="solid"/>
              <a:headEnd type="none" w="med" len="med"/>
              <a:tailEnd type="none" w="med" len="med"/>
            </a:ln>
          </p:spPr>
        </p:sp>
        <p:sp>
          <p:nvSpPr>
            <p:cNvPr id="76815" name="Text Box 10"/>
            <p:cNvSpPr txBox="1"/>
            <p:nvPr/>
          </p:nvSpPr>
          <p:spPr>
            <a:xfrm>
              <a:off x="480" y="936"/>
              <a:ext cx="427" cy="288"/>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rPr>
                <a:t>V</a:t>
              </a:r>
              <a:r>
                <a:rPr lang="en-US" altLang="zh-CN" sz="2400" b="1" baseline="-25000" dirty="0">
                  <a:latin typeface="Times New Roman" panose="02020603050405020304" charset="0"/>
                </a:rPr>
                <a:t>TH</a:t>
              </a:r>
              <a:endParaRPr lang="en-US" altLang="zh-CN" sz="2400" b="1" baseline="-25000" dirty="0">
                <a:latin typeface="Times New Roman" panose="02020603050405020304" charset="0"/>
              </a:endParaRPr>
            </a:p>
          </p:txBody>
        </p:sp>
        <p:sp>
          <p:nvSpPr>
            <p:cNvPr id="76816" name="Line 11"/>
            <p:cNvSpPr/>
            <p:nvPr/>
          </p:nvSpPr>
          <p:spPr>
            <a:xfrm>
              <a:off x="883" y="1124"/>
              <a:ext cx="2094" cy="0"/>
            </a:xfrm>
            <a:prstGeom prst="line">
              <a:avLst/>
            </a:prstGeom>
            <a:ln w="12700" cap="flat" cmpd="sng">
              <a:solidFill>
                <a:schemeClr val="tx1"/>
              </a:solidFill>
              <a:prstDash val="lgDash"/>
              <a:headEnd type="none" w="med" len="med"/>
              <a:tailEnd type="none" w="med" len="med"/>
            </a:ln>
          </p:spPr>
        </p:sp>
        <p:sp>
          <p:nvSpPr>
            <p:cNvPr id="76817" name="Freeform 12"/>
            <p:cNvSpPr/>
            <p:nvPr/>
          </p:nvSpPr>
          <p:spPr>
            <a:xfrm>
              <a:off x="883" y="983"/>
              <a:ext cx="1008" cy="518"/>
            </a:xfrm>
            <a:custGeom>
              <a:avLst/>
              <a:gdLst/>
              <a:ahLst/>
              <a:cxnLst>
                <a:cxn ang="0">
                  <a:pos x="0" y="489"/>
                </a:cxn>
                <a:cxn ang="0">
                  <a:pos x="829" y="8"/>
                </a:cxn>
              </a:cxnLst>
              <a:pathLst>
                <a:path w="1225" h="549">
                  <a:moveTo>
                    <a:pt x="0" y="549"/>
                  </a:moveTo>
                  <a:cubicBezTo>
                    <a:pt x="48" y="376"/>
                    <a:pt x="148" y="0"/>
                    <a:pt x="1225" y="8"/>
                  </a:cubicBezTo>
                </a:path>
              </a:pathLst>
            </a:custGeom>
            <a:noFill/>
            <a:ln w="19050" cap="flat" cmpd="sng">
              <a:solidFill>
                <a:schemeClr val="tx1">
                  <a:alpha val="100000"/>
                </a:schemeClr>
              </a:solidFill>
              <a:prstDash val="lgDash"/>
              <a:round/>
              <a:headEnd type="none" w="med" len="med"/>
              <a:tailEnd type="none" w="med" len="med"/>
            </a:ln>
          </p:spPr>
          <p:txBody>
            <a:bodyPr/>
            <a:p>
              <a:endParaRPr lang="zh-CN" altLang="en-US"/>
            </a:p>
          </p:txBody>
        </p:sp>
        <p:sp>
          <p:nvSpPr>
            <p:cNvPr id="76818" name="Line 13"/>
            <p:cNvSpPr/>
            <p:nvPr/>
          </p:nvSpPr>
          <p:spPr>
            <a:xfrm flipV="1">
              <a:off x="883" y="795"/>
              <a:ext cx="0" cy="706"/>
            </a:xfrm>
            <a:prstGeom prst="line">
              <a:avLst/>
            </a:prstGeom>
            <a:ln w="28575" cap="flat" cmpd="sng">
              <a:solidFill>
                <a:schemeClr val="tx1"/>
              </a:solidFill>
              <a:prstDash val="solid"/>
              <a:headEnd type="none" w="med" len="med"/>
              <a:tailEnd type="triangle" w="med" len="med"/>
            </a:ln>
          </p:spPr>
        </p:sp>
        <p:sp>
          <p:nvSpPr>
            <p:cNvPr id="76819" name="Line 14"/>
            <p:cNvSpPr/>
            <p:nvPr/>
          </p:nvSpPr>
          <p:spPr>
            <a:xfrm>
              <a:off x="883" y="1501"/>
              <a:ext cx="2133" cy="0"/>
            </a:xfrm>
            <a:prstGeom prst="line">
              <a:avLst/>
            </a:prstGeom>
            <a:ln w="28575" cap="flat" cmpd="sng">
              <a:solidFill>
                <a:schemeClr val="tx1"/>
              </a:solidFill>
              <a:prstDash val="solid"/>
              <a:headEnd type="none" w="med" len="med"/>
              <a:tailEnd type="triangle" w="med" len="med"/>
            </a:ln>
          </p:spPr>
        </p:sp>
        <p:sp>
          <p:nvSpPr>
            <p:cNvPr id="76820" name="Text Box 15"/>
            <p:cNvSpPr txBox="1"/>
            <p:nvPr/>
          </p:nvSpPr>
          <p:spPr>
            <a:xfrm>
              <a:off x="598" y="672"/>
              <a:ext cx="291" cy="291"/>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cs typeface="Times New Roman" panose="02020603050405020304" charset="0"/>
                </a:rPr>
                <a:t>v</a:t>
              </a:r>
              <a:r>
                <a:rPr lang="en-US" altLang="zh-CN" sz="2400" b="1" baseline="-25000" dirty="0">
                  <a:latin typeface="Times New Roman" panose="02020603050405020304" charset="0"/>
                </a:rPr>
                <a:t>C</a:t>
              </a:r>
              <a:endParaRPr lang="en-US" altLang="zh-CN" sz="2400" b="1" baseline="-25000" dirty="0">
                <a:latin typeface="Times New Roman" panose="02020603050405020304" charset="0"/>
              </a:endParaRPr>
            </a:p>
          </p:txBody>
        </p:sp>
        <p:sp>
          <p:nvSpPr>
            <p:cNvPr id="76821" name="Line 16"/>
            <p:cNvSpPr/>
            <p:nvPr/>
          </p:nvSpPr>
          <p:spPr>
            <a:xfrm flipV="1">
              <a:off x="883" y="1501"/>
              <a:ext cx="0" cy="659"/>
            </a:xfrm>
            <a:prstGeom prst="line">
              <a:avLst/>
            </a:prstGeom>
            <a:ln w="28575" cap="flat" cmpd="sng">
              <a:solidFill>
                <a:schemeClr val="tx1"/>
              </a:solidFill>
              <a:prstDash val="solid"/>
              <a:headEnd type="none" w="med" len="med"/>
              <a:tailEnd type="triangle" w="med" len="med"/>
            </a:ln>
          </p:spPr>
        </p:sp>
        <p:sp>
          <p:nvSpPr>
            <p:cNvPr id="76822" name="Line 17"/>
            <p:cNvSpPr/>
            <p:nvPr/>
          </p:nvSpPr>
          <p:spPr>
            <a:xfrm>
              <a:off x="883" y="2160"/>
              <a:ext cx="2133" cy="0"/>
            </a:xfrm>
            <a:prstGeom prst="line">
              <a:avLst/>
            </a:prstGeom>
            <a:ln w="28575" cap="flat" cmpd="sng">
              <a:solidFill>
                <a:schemeClr val="tx1"/>
              </a:solidFill>
              <a:prstDash val="solid"/>
              <a:headEnd type="none" w="med" len="med"/>
              <a:tailEnd type="triangle" w="med" len="med"/>
            </a:ln>
          </p:spPr>
        </p:sp>
        <p:sp>
          <p:nvSpPr>
            <p:cNvPr id="76823" name="Text Box 18"/>
            <p:cNvSpPr txBox="1"/>
            <p:nvPr/>
          </p:nvSpPr>
          <p:spPr>
            <a:xfrm>
              <a:off x="646" y="1519"/>
              <a:ext cx="299" cy="291"/>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cs typeface="Times New Roman" panose="02020603050405020304" charset="0"/>
                </a:rPr>
                <a:t>v</a:t>
              </a:r>
              <a:r>
                <a:rPr lang="en-US" altLang="zh-CN" sz="2400" b="1" baseline="-25000" dirty="0">
                  <a:latin typeface="Times New Roman" panose="02020603050405020304" charset="0"/>
                </a:rPr>
                <a:t>O</a:t>
              </a:r>
              <a:endParaRPr lang="en-US" altLang="zh-CN" sz="2400" b="1" baseline="-25000" dirty="0">
                <a:latin typeface="Times New Roman" panose="02020603050405020304" charset="0"/>
              </a:endParaRPr>
            </a:p>
          </p:txBody>
        </p:sp>
        <p:sp>
          <p:nvSpPr>
            <p:cNvPr id="76824" name="Line 19"/>
            <p:cNvSpPr/>
            <p:nvPr/>
          </p:nvSpPr>
          <p:spPr>
            <a:xfrm>
              <a:off x="883" y="983"/>
              <a:ext cx="2094" cy="0"/>
            </a:xfrm>
            <a:prstGeom prst="line">
              <a:avLst/>
            </a:prstGeom>
            <a:ln w="12700" cap="flat" cmpd="sng">
              <a:solidFill>
                <a:schemeClr val="tx1"/>
              </a:solidFill>
              <a:prstDash val="lgDash"/>
              <a:headEnd type="none" w="med" len="med"/>
              <a:tailEnd type="none" w="med" len="med"/>
            </a:ln>
          </p:spPr>
        </p:sp>
        <p:sp>
          <p:nvSpPr>
            <p:cNvPr id="76825" name="Text Box 20"/>
            <p:cNvSpPr txBox="1"/>
            <p:nvPr/>
          </p:nvSpPr>
          <p:spPr>
            <a:xfrm>
              <a:off x="1397" y="700"/>
              <a:ext cx="426" cy="288"/>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rPr>
                <a:t>V</a:t>
              </a:r>
              <a:r>
                <a:rPr lang="en-US" altLang="zh-CN" sz="2400" b="1" baseline="-25000" dirty="0">
                  <a:latin typeface="Times New Roman" panose="02020603050405020304" charset="0"/>
                </a:rPr>
                <a:t>CC</a:t>
              </a:r>
              <a:endParaRPr lang="en-US" altLang="zh-CN" sz="2400" b="1" baseline="-25000" dirty="0">
                <a:latin typeface="Times New Roman" panose="02020603050405020304" charset="0"/>
              </a:endParaRPr>
            </a:p>
          </p:txBody>
        </p:sp>
        <p:sp>
          <p:nvSpPr>
            <p:cNvPr id="76826" name="Line 21"/>
            <p:cNvSpPr/>
            <p:nvPr/>
          </p:nvSpPr>
          <p:spPr>
            <a:xfrm flipV="1">
              <a:off x="1199" y="1689"/>
              <a:ext cx="0" cy="424"/>
            </a:xfrm>
            <a:prstGeom prst="line">
              <a:avLst/>
            </a:prstGeom>
            <a:ln w="28575" cap="flat" cmpd="sng">
              <a:solidFill>
                <a:schemeClr val="tx1"/>
              </a:solidFill>
              <a:prstDash val="solid"/>
              <a:headEnd type="none" w="med" len="med"/>
              <a:tailEnd type="none" w="med" len="med"/>
            </a:ln>
          </p:spPr>
        </p:sp>
        <p:sp>
          <p:nvSpPr>
            <p:cNvPr id="76827" name="Freeform 22"/>
            <p:cNvSpPr/>
            <p:nvPr/>
          </p:nvSpPr>
          <p:spPr>
            <a:xfrm>
              <a:off x="883" y="983"/>
              <a:ext cx="1008" cy="518"/>
            </a:xfrm>
            <a:custGeom>
              <a:avLst/>
              <a:gdLst/>
              <a:ahLst/>
              <a:cxnLst>
                <a:cxn ang="0">
                  <a:pos x="0" y="489"/>
                </a:cxn>
                <a:cxn ang="0">
                  <a:pos x="829" y="8"/>
                </a:cxn>
              </a:cxnLst>
              <a:pathLst>
                <a:path w="1225" h="549">
                  <a:moveTo>
                    <a:pt x="0" y="549"/>
                  </a:moveTo>
                  <a:cubicBezTo>
                    <a:pt x="48" y="376"/>
                    <a:pt x="148" y="0"/>
                    <a:pt x="1225" y="8"/>
                  </a:cubicBezTo>
                </a:path>
              </a:pathLst>
            </a:custGeom>
            <a:noFill/>
            <a:ln w="19050" cap="flat" cmpd="sng">
              <a:solidFill>
                <a:schemeClr val="tx1">
                  <a:alpha val="100000"/>
                </a:schemeClr>
              </a:solidFill>
              <a:prstDash val="lgDash"/>
              <a:round/>
              <a:headEnd type="none" w="med" len="med"/>
              <a:tailEnd type="none" w="med" len="med"/>
            </a:ln>
          </p:spPr>
          <p:txBody>
            <a:bodyPr/>
            <a:p>
              <a:endParaRPr lang="zh-CN" altLang="en-US"/>
            </a:p>
          </p:txBody>
        </p:sp>
        <p:sp>
          <p:nvSpPr>
            <p:cNvPr id="76828" name="Freeform 23"/>
            <p:cNvSpPr/>
            <p:nvPr/>
          </p:nvSpPr>
          <p:spPr>
            <a:xfrm>
              <a:off x="883" y="1103"/>
              <a:ext cx="316" cy="398"/>
            </a:xfrm>
            <a:custGeom>
              <a:avLst/>
              <a:gdLst/>
              <a:ahLst/>
              <a:cxnLst>
                <a:cxn ang="0">
                  <a:pos x="0" y="390"/>
                </a:cxn>
                <a:cxn ang="0">
                  <a:pos x="260" y="0"/>
                </a:cxn>
              </a:cxnLst>
              <a:pathLst>
                <a:path w="384" h="406">
                  <a:moveTo>
                    <a:pt x="0" y="406"/>
                  </a:moveTo>
                  <a:cubicBezTo>
                    <a:pt x="75" y="117"/>
                    <a:pt x="244" y="77"/>
                    <a:pt x="384"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76829" name="Line 24"/>
            <p:cNvSpPr/>
            <p:nvPr/>
          </p:nvSpPr>
          <p:spPr>
            <a:xfrm flipH="1">
              <a:off x="883" y="1689"/>
              <a:ext cx="316" cy="0"/>
            </a:xfrm>
            <a:prstGeom prst="line">
              <a:avLst/>
            </a:prstGeom>
            <a:ln w="28575" cap="flat" cmpd="sng">
              <a:solidFill>
                <a:schemeClr val="tx1"/>
              </a:solidFill>
              <a:prstDash val="solid"/>
              <a:headEnd type="none" w="med" len="med"/>
              <a:tailEnd type="none" w="med" len="med"/>
            </a:ln>
          </p:spPr>
        </p:sp>
        <p:sp>
          <p:nvSpPr>
            <p:cNvPr id="76830" name="Line 25"/>
            <p:cNvSpPr/>
            <p:nvPr/>
          </p:nvSpPr>
          <p:spPr>
            <a:xfrm>
              <a:off x="1199" y="2113"/>
              <a:ext cx="672" cy="0"/>
            </a:xfrm>
            <a:prstGeom prst="line">
              <a:avLst/>
            </a:prstGeom>
            <a:ln w="28575" cap="flat" cmpd="sng">
              <a:solidFill>
                <a:schemeClr val="tx1"/>
              </a:solidFill>
              <a:prstDash val="solid"/>
              <a:headEnd type="none" w="med" len="med"/>
              <a:tailEnd type="none" w="med" len="med"/>
            </a:ln>
          </p:spPr>
        </p:sp>
        <p:sp>
          <p:nvSpPr>
            <p:cNvPr id="76831" name="Freeform 26"/>
            <p:cNvSpPr/>
            <p:nvPr/>
          </p:nvSpPr>
          <p:spPr>
            <a:xfrm>
              <a:off x="1201" y="1100"/>
              <a:ext cx="275" cy="391"/>
            </a:xfrm>
            <a:custGeom>
              <a:avLst/>
              <a:gdLst/>
              <a:ahLst/>
              <a:cxnLst>
                <a:cxn ang="0">
                  <a:pos x="0" y="0"/>
                </a:cxn>
                <a:cxn ang="0">
                  <a:pos x="93" y="383"/>
                </a:cxn>
              </a:cxnLst>
              <a:pathLst>
                <a:path w="816" h="399">
                  <a:moveTo>
                    <a:pt x="0" y="0"/>
                  </a:moveTo>
                  <a:cubicBezTo>
                    <a:pt x="48" y="90"/>
                    <a:pt x="105" y="336"/>
                    <a:pt x="816" y="399"/>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76832" name="Line 27"/>
            <p:cNvSpPr/>
            <p:nvPr/>
          </p:nvSpPr>
          <p:spPr>
            <a:xfrm>
              <a:off x="2200" y="2113"/>
              <a:ext cx="751" cy="0"/>
            </a:xfrm>
            <a:prstGeom prst="line">
              <a:avLst/>
            </a:prstGeom>
            <a:ln w="28575" cap="flat" cmpd="sng">
              <a:solidFill>
                <a:schemeClr val="tx1"/>
              </a:solidFill>
              <a:prstDash val="solid"/>
              <a:headEnd type="none" w="med" len="med"/>
              <a:tailEnd type="none" w="med" len="med"/>
            </a:ln>
          </p:spPr>
        </p:sp>
        <p:sp>
          <p:nvSpPr>
            <p:cNvPr id="76833" name="Freeform 28"/>
            <p:cNvSpPr/>
            <p:nvPr/>
          </p:nvSpPr>
          <p:spPr>
            <a:xfrm>
              <a:off x="2188" y="1100"/>
              <a:ext cx="275" cy="391"/>
            </a:xfrm>
            <a:custGeom>
              <a:avLst/>
              <a:gdLst/>
              <a:ahLst/>
              <a:cxnLst>
                <a:cxn ang="0">
                  <a:pos x="0" y="0"/>
                </a:cxn>
                <a:cxn ang="0">
                  <a:pos x="93" y="383"/>
                </a:cxn>
              </a:cxnLst>
              <a:pathLst>
                <a:path w="816" h="399">
                  <a:moveTo>
                    <a:pt x="0" y="0"/>
                  </a:moveTo>
                  <a:cubicBezTo>
                    <a:pt x="48" y="90"/>
                    <a:pt x="105" y="336"/>
                    <a:pt x="816" y="399"/>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76834" name="Line 29"/>
            <p:cNvSpPr/>
            <p:nvPr/>
          </p:nvSpPr>
          <p:spPr>
            <a:xfrm>
              <a:off x="1673" y="1972"/>
              <a:ext cx="198" cy="0"/>
            </a:xfrm>
            <a:prstGeom prst="line">
              <a:avLst/>
            </a:prstGeom>
            <a:ln w="28575" cap="flat" cmpd="sng">
              <a:solidFill>
                <a:schemeClr val="tx1"/>
              </a:solidFill>
              <a:prstDash val="solid"/>
              <a:headEnd type="none" w="med" len="med"/>
              <a:tailEnd type="triangle" w="med" len="med"/>
            </a:ln>
          </p:spPr>
        </p:sp>
        <p:sp>
          <p:nvSpPr>
            <p:cNvPr id="76835" name="Line 30"/>
            <p:cNvSpPr/>
            <p:nvPr/>
          </p:nvSpPr>
          <p:spPr>
            <a:xfrm flipH="1">
              <a:off x="2226" y="1972"/>
              <a:ext cx="198" cy="0"/>
            </a:xfrm>
            <a:prstGeom prst="line">
              <a:avLst/>
            </a:prstGeom>
            <a:ln w="28575" cap="flat" cmpd="sng">
              <a:solidFill>
                <a:schemeClr val="tx1"/>
              </a:solidFill>
              <a:prstDash val="solid"/>
              <a:headEnd type="none" w="med" len="med"/>
              <a:tailEnd type="triangle" w="med" len="med"/>
            </a:ln>
          </p:spPr>
        </p:sp>
        <p:sp>
          <p:nvSpPr>
            <p:cNvPr id="76836" name="Text Box 31"/>
            <p:cNvSpPr txBox="1"/>
            <p:nvPr/>
          </p:nvSpPr>
          <p:spPr>
            <a:xfrm>
              <a:off x="1910" y="1830"/>
              <a:ext cx="306" cy="288"/>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rPr>
                <a:t>t</a:t>
              </a:r>
              <a:r>
                <a:rPr lang="en-US" altLang="zh-CN" sz="2400" b="1" baseline="-25000" dirty="0">
                  <a:latin typeface="Times New Roman" panose="02020603050405020304" charset="0"/>
                </a:rPr>
                <a:t>W</a:t>
              </a:r>
              <a:endParaRPr lang="en-US" altLang="zh-CN" sz="2400" b="1" baseline="-25000" dirty="0">
                <a:latin typeface="Times New Roman" panose="02020603050405020304" charset="0"/>
              </a:endParaRPr>
            </a:p>
          </p:txBody>
        </p:sp>
      </p:grpSp>
      <p:sp>
        <p:nvSpPr>
          <p:cNvPr id="387108" name="Rectangle 36"/>
          <p:cNvSpPr/>
          <p:nvPr/>
        </p:nvSpPr>
        <p:spPr>
          <a:xfrm>
            <a:off x="1219200" y="4330700"/>
            <a:ext cx="7086600" cy="461645"/>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t</a:t>
            </a:r>
            <a:r>
              <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W</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对应</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从</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0V</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充电到</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2/3V</a:t>
            </a:r>
            <a:r>
              <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所需的时间</a:t>
            </a:r>
            <a:endParaRPr lang="zh-CN" altLang="en-US" sz="24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3" name="对象 12"/>
          <p:cNvGraphicFramePr/>
          <p:nvPr/>
        </p:nvGraphicFramePr>
        <p:xfrm>
          <a:off x="1366520" y="4792345"/>
          <a:ext cx="6410325" cy="1573530"/>
        </p:xfrm>
        <a:graphic>
          <a:graphicData uri="http://schemas.openxmlformats.org/presentationml/2006/ole">
            <mc:AlternateContent xmlns:mc="http://schemas.openxmlformats.org/markup-compatibility/2006">
              <mc:Choice xmlns:v="urn:schemas-microsoft-com:vml" Requires="v">
                <p:oleObj spid="_x0000_s17" name="" r:id="rId1" imgW="3048000" imgH="685800" progId="Equation.KSEE3">
                  <p:embed/>
                </p:oleObj>
              </mc:Choice>
              <mc:Fallback>
                <p:oleObj name="" r:id="rId1" imgW="3048000" imgH="685800" progId="Equation.KSEE3">
                  <p:embed/>
                  <p:pic>
                    <p:nvPicPr>
                      <p:cNvPr id="0" name="图片 16"/>
                      <p:cNvPicPr/>
                      <p:nvPr/>
                    </p:nvPicPr>
                    <p:blipFill>
                      <a:blip r:embed="rId2"/>
                      <a:stretch>
                        <a:fillRect/>
                      </a:stretch>
                    </p:blipFill>
                    <p:spPr>
                      <a:xfrm>
                        <a:off x="1366520" y="4792345"/>
                        <a:ext cx="6410325" cy="157353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7108"/>
                                        </p:tgtEl>
                                        <p:attrNameLst>
                                          <p:attrName>style.visibility</p:attrName>
                                        </p:attrNameLst>
                                      </p:cBhvr>
                                      <p:to>
                                        <p:strVal val="visible"/>
                                      </p:to>
                                    </p:set>
                                    <p:animEffect transition="in" filter="checkerboard(across)">
                                      <p:cBhvr>
                                        <p:cTn id="7" dur="500"/>
                                        <p:tgtEl>
                                          <p:spTgt spid="38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10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TextBox 6"/>
          <p:cNvSpPr txBox="1"/>
          <p:nvPr/>
        </p:nvSpPr>
        <p:spPr>
          <a:xfrm>
            <a:off x="2943225"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5" name="Rectangle 3"/>
          <p:cNvSpPr>
            <a:spLocks noGrp="1"/>
          </p:cNvSpPr>
          <p:nvPr/>
        </p:nvSpPr>
        <p:spPr>
          <a:xfrm>
            <a:off x="908050" y="1177290"/>
            <a:ext cx="200215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anose="02010609030101010101" pitchFamily="49" charset="-122"/>
                <a:cs typeface="Times New Roman" panose="02020603050405020304" charset="0"/>
              </a:rPr>
              <a:t>4. </a:t>
            </a:r>
            <a:r>
              <a:rPr lang="zh-CN" altLang="en-US" sz="2400" b="1" kern="1200" dirty="0">
                <a:solidFill>
                  <a:srgbClr val="FE09D6"/>
                </a:solidFill>
                <a:latin typeface="Times New Roman" panose="02020603050405020304" charset="0"/>
                <a:ea typeface="楷体_GB2312" panose="02010609030101010101" pitchFamily="49" charset="-122"/>
                <a:cs typeface="Times New Roman" panose="02020603050405020304" charset="0"/>
              </a:rPr>
              <a:t>恢复时间</a:t>
            </a:r>
            <a:r>
              <a:rPr lang="en-US" altLang="zh-CN" sz="2400" b="1" i="1" dirty="0">
                <a:solidFill>
                  <a:srgbClr val="FE09D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t</a:t>
            </a:r>
            <a:r>
              <a:rPr lang="en-US" altLang="zh-CN" sz="2400" b="1" baseline="-25000" dirty="0">
                <a:solidFill>
                  <a:srgbClr val="FE09D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re</a:t>
            </a:r>
            <a:endParaRPr lang="zh-CN" altLang="en-US" sz="2400" b="1" kern="1200" dirty="0">
              <a:solidFill>
                <a:srgbClr val="1318F3"/>
              </a:solidFill>
              <a:latin typeface="Times New Roman" panose="02020603050405020304" charset="0"/>
              <a:ea typeface="楷体_GB2312" panose="02010609030101010101" pitchFamily="49" charset="-122"/>
              <a:cs typeface="Times New Roman" panose="02020603050405020304" charset="0"/>
              <a:sym typeface="Wingdings" panose="05000000000000000000" pitchFamily="2" charset="2"/>
            </a:endParaRPr>
          </a:p>
        </p:txBody>
      </p:sp>
      <p:sp>
        <p:nvSpPr>
          <p:cNvPr id="6" name="文本框 5"/>
          <p:cNvSpPr txBox="1"/>
          <p:nvPr/>
        </p:nvSpPr>
        <p:spPr>
          <a:xfrm>
            <a:off x="762000" y="2057400"/>
            <a:ext cx="7814945" cy="2306320"/>
          </a:xfrm>
          <a:prstGeom prst="rect">
            <a:avLst/>
          </a:prstGeom>
          <a:noFill/>
        </p:spPr>
        <p:txBody>
          <a:bodyPr wrap="square" rtlCol="0" anchor="t">
            <a:spAutoFit/>
          </a:bodyPr>
          <a:p>
            <a:pPr>
              <a:lnSpc>
                <a:spcPct val="12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暂稳态结束后， 还需要一段恢复时间，使电容 </a:t>
            </a: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C</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在暂态期间所充的电荷放完</a:t>
            </a:r>
            <a:r>
              <a:rPr 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电路才能回到初始稳态， 一般情况下</a:t>
            </a: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re</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3</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3</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τ</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由于放电管的饱和电阻很小</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因此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555</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定时器构成的单稳态触发器的恢复时间很短</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脉冲下降沿很陡。</a:t>
            </a:r>
            <a:endParaRPr lang="en-US" altLang="zh-CN" sz="24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226820" y="1101090"/>
            <a:ext cx="500761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5.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可重复触发单稳态触发器</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5"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88099" name="Text Box 3"/>
          <p:cNvSpPr txBox="1"/>
          <p:nvPr/>
        </p:nvSpPr>
        <p:spPr>
          <a:xfrm>
            <a:off x="611188" y="4894263"/>
            <a:ext cx="8153400" cy="1012825"/>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30000"/>
              </a:spcBef>
              <a:buClrTx/>
              <a:buSzTx/>
              <a:buFontTx/>
              <a:buNone/>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加一个</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PNP</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型放电管</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spcBef>
                <a:spcPct val="30000"/>
              </a:spcBef>
              <a:buClrTx/>
              <a:buSzTx/>
              <a:buFontTx/>
              <a:buNone/>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其</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e</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极接</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6</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7</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脚，</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极接地，</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b</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极接</a:t>
            </a:r>
            <a:r>
              <a:rPr lang="en-US" altLang="zh-CN" sz="26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6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88165" name="Rectangle 69"/>
          <p:cNvSpPr/>
          <p:nvPr/>
        </p:nvSpPr>
        <p:spPr>
          <a:xfrm>
            <a:off x="609600" y="6013450"/>
            <a:ext cx="8534400" cy="488950"/>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使</a:t>
            </a:r>
            <a:r>
              <a:rPr lang="en-US" altLang="zh-CN" sz="26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600" b="1" baseline="-25000" dirty="0">
                <a:solidFill>
                  <a:srgbClr val="1318F3"/>
                </a:solidFill>
                <a:latin typeface="Times New Roman" panose="02020603050405020304" charset="0"/>
                <a:ea typeface="楷体" panose="02010609060101010101" charset="-122"/>
                <a:cs typeface="Times New Roman" panose="02020603050405020304" charset="0"/>
              </a:rPr>
              <a:t>C</a:t>
            </a:r>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多了一个放电途径，当</a:t>
            </a:r>
            <a:r>
              <a:rPr lang="en-US" altLang="zh-CN" sz="26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600" b="1" baseline="-25000" dirty="0">
                <a:solidFill>
                  <a:srgbClr val="1318F3"/>
                </a:solidFill>
                <a:latin typeface="Times New Roman" panose="02020603050405020304" charset="0"/>
                <a:ea typeface="楷体" panose="02010609060101010101" charset="-122"/>
                <a:cs typeface="Times New Roman" panose="02020603050405020304" charset="0"/>
              </a:rPr>
              <a:t>I</a:t>
            </a:r>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为</a:t>
            </a:r>
            <a:r>
              <a:rPr lang="en-US" altLang="zh-CN" sz="2600" b="1" dirty="0">
                <a:solidFill>
                  <a:srgbClr val="1318F3"/>
                </a:solidFill>
                <a:latin typeface="Times New Roman" panose="02020603050405020304" charset="0"/>
                <a:ea typeface="楷体" panose="02010609060101010101" charset="-122"/>
                <a:cs typeface="Times New Roman" panose="02020603050405020304" charset="0"/>
              </a:rPr>
              <a:t>0</a:t>
            </a:r>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时，</a:t>
            </a:r>
            <a:r>
              <a:rPr lang="en-US" altLang="zh-CN" sz="2600" b="1" dirty="0">
                <a:solidFill>
                  <a:srgbClr val="1318F3"/>
                </a:solidFill>
                <a:latin typeface="Times New Roman" panose="02020603050405020304" charset="0"/>
                <a:ea typeface="楷体" panose="02010609060101010101" charset="-122"/>
                <a:cs typeface="Times New Roman" panose="02020603050405020304" charset="0"/>
              </a:rPr>
              <a:t>T</a:t>
            </a:r>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导通， </a:t>
            </a:r>
            <a:r>
              <a:rPr lang="en-US" altLang="zh-CN" sz="26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600" b="1" baseline="-25000" dirty="0">
                <a:solidFill>
                  <a:srgbClr val="1318F3"/>
                </a:solidFill>
                <a:latin typeface="Times New Roman" panose="02020603050405020304" charset="0"/>
                <a:ea typeface="楷体" panose="02010609060101010101" charset="-122"/>
                <a:cs typeface="Times New Roman" panose="02020603050405020304" charset="0"/>
              </a:rPr>
              <a:t>C</a:t>
            </a:r>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放电。</a:t>
            </a:r>
            <a:endParaRPr lang="zh-CN" altLang="en-US" sz="2600" b="1"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388166" name="AutoShape 70"/>
          <p:cNvSpPr/>
          <p:nvPr/>
        </p:nvSpPr>
        <p:spPr>
          <a:xfrm>
            <a:off x="5791200" y="4240213"/>
            <a:ext cx="2133600" cy="1219200"/>
          </a:xfrm>
          <a:prstGeom prst="cloudCallout">
            <a:avLst>
              <a:gd name="adj1" fmla="val -79537"/>
              <a:gd name="adj2" fmla="val 48569"/>
            </a:avLst>
          </a:prstGeom>
          <a:noFill/>
          <a:ln w="31750" cap="flat" cmpd="sng">
            <a:solidFill>
              <a:srgbClr val="FF00FF"/>
            </a:solidFill>
            <a:prstDash val="solid"/>
            <a:headEnd type="none" w="med" len="med"/>
            <a:tailEnd type="none" w="med" len="med"/>
          </a:ln>
        </p:spPr>
        <p:txBody>
          <a:bodyPr lIns="90000" tIns="46800" rIns="90000" bIns="4680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600" b="1" dirty="0">
                <a:solidFill>
                  <a:srgbClr val="993300"/>
                </a:solidFill>
                <a:latin typeface="Times New Roman" panose="02020603050405020304" charset="0"/>
                <a:ea typeface="楷体" panose="02010609060101010101" charset="-122"/>
              </a:rPr>
              <a:t>起什么</a:t>
            </a:r>
            <a:endParaRPr lang="zh-CN" altLang="en-US" sz="2600" b="1" dirty="0">
              <a:solidFill>
                <a:srgbClr val="993300"/>
              </a:solidFill>
              <a:latin typeface="Times New Roman" panose="02020603050405020304" charset="0"/>
              <a:ea typeface="楷体" panose="02010609060101010101" charset="-122"/>
            </a:endParaRPr>
          </a:p>
          <a:p>
            <a:pPr marL="0" lvl="0" indent="0" algn="ctr" eaLnBrk="1" hangingPunct="1">
              <a:spcBef>
                <a:spcPct val="0"/>
              </a:spcBef>
              <a:buClrTx/>
              <a:buSzTx/>
              <a:buFontTx/>
              <a:buNone/>
            </a:pPr>
            <a:r>
              <a:rPr lang="zh-CN" altLang="en-US" sz="2600" b="1" dirty="0">
                <a:solidFill>
                  <a:srgbClr val="993300"/>
                </a:solidFill>
                <a:latin typeface="Times New Roman" panose="02020603050405020304" charset="0"/>
                <a:ea typeface="楷体" panose="02010609060101010101" charset="-122"/>
              </a:rPr>
              <a:t>作用</a:t>
            </a:r>
            <a:r>
              <a:rPr lang="en-US" altLang="zh-CN" sz="2600" b="1" dirty="0">
                <a:solidFill>
                  <a:srgbClr val="993300"/>
                </a:solidFill>
                <a:latin typeface="Times New Roman" panose="02020603050405020304" charset="0"/>
                <a:ea typeface="楷体" panose="02010609060101010101" charset="-122"/>
              </a:rPr>
              <a:t>?</a:t>
            </a:r>
            <a:endParaRPr lang="en-US" altLang="zh-CN" sz="2600" b="1" dirty="0">
              <a:solidFill>
                <a:srgbClr val="993300"/>
              </a:solidFill>
              <a:latin typeface="Times New Roman" panose="02020603050405020304" charset="0"/>
              <a:ea typeface="楷体" panose="02010609060101010101" charset="-122"/>
            </a:endParaRPr>
          </a:p>
        </p:txBody>
      </p:sp>
      <p:graphicFrame>
        <p:nvGraphicFramePr>
          <p:cNvPr id="8" name="对象 7"/>
          <p:cNvGraphicFramePr/>
          <p:nvPr/>
        </p:nvGraphicFramePr>
        <p:xfrm>
          <a:off x="2438400" y="1600200"/>
          <a:ext cx="3463290" cy="2904490"/>
        </p:xfrm>
        <a:graphic>
          <a:graphicData uri="http://schemas.openxmlformats.org/presentationml/2006/ole">
            <mc:AlternateContent xmlns:mc="http://schemas.openxmlformats.org/markup-compatibility/2006">
              <mc:Choice xmlns:v="urn:schemas-microsoft-com:vml" Requires="v">
                <p:oleObj spid="_x0000_s12" name="" r:id="rId1" imgW="3810000" imgH="3209925" progId="Paint.Picture">
                  <p:embed/>
                </p:oleObj>
              </mc:Choice>
              <mc:Fallback>
                <p:oleObj name="" r:id="rId1" imgW="3810000" imgH="3209925" progId="Paint.Picture">
                  <p:embed/>
                  <p:pic>
                    <p:nvPicPr>
                      <p:cNvPr id="0" name="图片 11"/>
                      <p:cNvPicPr/>
                      <p:nvPr/>
                    </p:nvPicPr>
                    <p:blipFill>
                      <a:blip r:embed="rId2"/>
                      <a:stretch>
                        <a:fillRect/>
                      </a:stretch>
                    </p:blipFill>
                    <p:spPr>
                      <a:xfrm>
                        <a:off x="2438400" y="1600200"/>
                        <a:ext cx="3463290" cy="290449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8099"/>
                                        </p:tgtEl>
                                        <p:attrNameLst>
                                          <p:attrName>style.visibility</p:attrName>
                                        </p:attrNameLst>
                                      </p:cBhvr>
                                      <p:to>
                                        <p:strVal val="visible"/>
                                      </p:to>
                                    </p:set>
                                    <p:animEffect transition="in" filter="wipe(left)">
                                      <p:cBhvr>
                                        <p:cTn id="7" dur="500"/>
                                        <p:tgtEl>
                                          <p:spTgt spid="38809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88166"/>
                                        </p:tgtEl>
                                        <p:attrNameLst>
                                          <p:attrName>style.visibility</p:attrName>
                                        </p:attrNameLst>
                                      </p:cBhvr>
                                      <p:to>
                                        <p:strVal val="visible"/>
                                      </p:to>
                                    </p:set>
                                    <p:anim calcmode="lin" valueType="num">
                                      <p:cBhvr additive="base">
                                        <p:cTn id="12" dur="500" fill="hold"/>
                                        <p:tgtEl>
                                          <p:spTgt spid="388166"/>
                                        </p:tgtEl>
                                        <p:attrNameLst>
                                          <p:attrName>ppt_x</p:attrName>
                                        </p:attrNameLst>
                                      </p:cBhvr>
                                      <p:tavLst>
                                        <p:tav tm="0">
                                          <p:val>
                                            <p:strVal val="1+#ppt_w/2"/>
                                          </p:val>
                                        </p:tav>
                                        <p:tav tm="100000">
                                          <p:val>
                                            <p:strVal val="#ppt_x"/>
                                          </p:val>
                                        </p:tav>
                                      </p:tavLst>
                                    </p:anim>
                                    <p:anim calcmode="lin" valueType="num">
                                      <p:cBhvr additive="base">
                                        <p:cTn id="13" dur="500" fill="hold"/>
                                        <p:tgtEl>
                                          <p:spTgt spid="38816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88165"/>
                                        </p:tgtEl>
                                        <p:attrNameLst>
                                          <p:attrName>style.visibility</p:attrName>
                                        </p:attrNameLst>
                                      </p:cBhvr>
                                      <p:to>
                                        <p:strVal val="visible"/>
                                      </p:to>
                                    </p:set>
                                    <p:animEffect transition="in" filter="dissolve">
                                      <p:cBhvr>
                                        <p:cTn id="18" dur="500"/>
                                        <p:tgtEl>
                                          <p:spTgt spid="388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p:bldP spid="388165" grpId="0"/>
      <p:bldP spid="38816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nvSpPr>
        <p:spPr>
          <a:xfrm>
            <a:off x="0" y="593598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81922" name="灯片编号占位符 2"/>
          <p:cNvSpPr txBox="1">
            <a:spLocks noGrp="1"/>
          </p:cNvSpPr>
          <p:nvPr>
            <p:ph type="sldNum" sz="quarter" idx="11"/>
          </p:nvPr>
        </p:nvSpPr>
        <p:spPr>
          <a:xfrm>
            <a:off x="3124200" y="7223125"/>
            <a:ext cx="2895600" cy="244475"/>
          </a:xfrm>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389123" name="Text Box 3"/>
          <p:cNvSpPr txBox="1"/>
          <p:nvPr/>
        </p:nvSpPr>
        <p:spPr>
          <a:xfrm>
            <a:off x="0" y="1508760"/>
            <a:ext cx="4587240" cy="1323340"/>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eaLnBrk="1" hangingPunct="1">
              <a:spcBef>
                <a:spcPct val="0"/>
              </a:spcBef>
              <a:buClrTx/>
              <a:buSzTx/>
              <a:buFontTx/>
              <a:buAutoNum type="arabicParenBoth"/>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触发脉冲</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下跳变，进入暂稳态，</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a:p>
            <a:pPr marL="0" lvl="0" indent="0" eaLnBrk="1" hangingPunct="1">
              <a:spcBef>
                <a:spcPct val="0"/>
              </a:spcBef>
              <a:buClrTx/>
              <a:buSzTx/>
              <a:buFontTx/>
              <a:buNone/>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导通，</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放电。</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，此时</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000" b="1" dirty="0">
                <a:solidFill>
                  <a:srgbClr val="000066"/>
                </a:solidFill>
                <a:effectLst/>
                <a:latin typeface="Times New Roman" panose="02020603050405020304" charset="0"/>
                <a:ea typeface="楷体" panose="02010609060101010101" charset="-122"/>
                <a:cs typeface="Times New Roman" panose="02020603050405020304" charset="0"/>
                <a:sym typeface="+mn-ea"/>
              </a:rPr>
              <a: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Q</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跳变为高电平，电路进入暂稳态；与此同时，</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截止</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389124" name="Rectangle 4"/>
          <p:cNvSpPr/>
          <p:nvPr/>
        </p:nvSpPr>
        <p:spPr>
          <a:xfrm>
            <a:off x="4754880" y="6400800"/>
            <a:ext cx="4019550" cy="461645"/>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可重复触发单稳触发器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389125" name="Group 5"/>
          <p:cNvGrpSpPr/>
          <p:nvPr/>
        </p:nvGrpSpPr>
        <p:grpSpPr>
          <a:xfrm>
            <a:off x="4772025" y="1593850"/>
            <a:ext cx="347663" cy="4652963"/>
            <a:chOff x="2832" y="432"/>
            <a:chExt cx="240" cy="2928"/>
          </a:xfrm>
        </p:grpSpPr>
        <p:sp>
          <p:nvSpPr>
            <p:cNvPr id="82068" name="Line 6"/>
            <p:cNvSpPr/>
            <p:nvPr/>
          </p:nvSpPr>
          <p:spPr>
            <a:xfrm>
              <a:off x="2832" y="432"/>
              <a:ext cx="240" cy="0"/>
            </a:xfrm>
            <a:prstGeom prst="line">
              <a:avLst/>
            </a:prstGeom>
            <a:ln w="38100" cap="flat" cmpd="sng">
              <a:solidFill>
                <a:schemeClr val="tx1"/>
              </a:solidFill>
              <a:prstDash val="solid"/>
              <a:headEnd type="none" w="med" len="med"/>
              <a:tailEnd type="none" w="med" len="med"/>
            </a:ln>
          </p:spPr>
        </p:sp>
        <p:sp>
          <p:nvSpPr>
            <p:cNvPr id="82069" name="Line 7"/>
            <p:cNvSpPr/>
            <p:nvPr/>
          </p:nvSpPr>
          <p:spPr>
            <a:xfrm>
              <a:off x="2832" y="3360"/>
              <a:ext cx="240" cy="0"/>
            </a:xfrm>
            <a:prstGeom prst="line">
              <a:avLst/>
            </a:prstGeom>
            <a:ln w="38100" cap="flat" cmpd="sng">
              <a:solidFill>
                <a:schemeClr val="tx1"/>
              </a:solidFill>
              <a:prstDash val="solid"/>
              <a:headEnd type="none" w="med" len="med"/>
              <a:tailEnd type="none" w="med" len="med"/>
            </a:ln>
          </p:spPr>
        </p:sp>
        <p:sp>
          <p:nvSpPr>
            <p:cNvPr id="82070" name="Line 8"/>
            <p:cNvSpPr/>
            <p:nvPr/>
          </p:nvSpPr>
          <p:spPr>
            <a:xfrm>
              <a:off x="2832" y="1728"/>
              <a:ext cx="240" cy="0"/>
            </a:xfrm>
            <a:prstGeom prst="line">
              <a:avLst/>
            </a:prstGeom>
            <a:ln w="38100" cap="flat" cmpd="sng">
              <a:solidFill>
                <a:schemeClr val="tx1"/>
              </a:solidFill>
              <a:prstDash val="solid"/>
              <a:headEnd type="none" w="med" len="med"/>
              <a:tailEnd type="none" w="med" len="med"/>
            </a:ln>
          </p:spPr>
        </p:sp>
        <p:sp>
          <p:nvSpPr>
            <p:cNvPr id="82071" name="Line 9"/>
            <p:cNvSpPr/>
            <p:nvPr/>
          </p:nvSpPr>
          <p:spPr>
            <a:xfrm>
              <a:off x="2832" y="2160"/>
              <a:ext cx="240" cy="0"/>
            </a:xfrm>
            <a:prstGeom prst="line">
              <a:avLst/>
            </a:prstGeom>
            <a:ln w="38100" cap="flat" cmpd="sng">
              <a:solidFill>
                <a:schemeClr val="tx1"/>
              </a:solidFill>
              <a:prstDash val="solid"/>
              <a:headEnd type="none" w="med" len="med"/>
              <a:tailEnd type="none" w="med" len="med"/>
            </a:ln>
          </p:spPr>
        </p:sp>
      </p:grpSp>
      <p:grpSp>
        <p:nvGrpSpPr>
          <p:cNvPr id="389130" name="Group 10"/>
          <p:cNvGrpSpPr/>
          <p:nvPr/>
        </p:nvGrpSpPr>
        <p:grpSpPr>
          <a:xfrm>
            <a:off x="5127625" y="1598613"/>
            <a:ext cx="138113" cy="4724400"/>
            <a:chOff x="3072" y="432"/>
            <a:chExt cx="96" cy="2976"/>
          </a:xfrm>
        </p:grpSpPr>
        <p:sp>
          <p:nvSpPr>
            <p:cNvPr id="82060" name="Line 11"/>
            <p:cNvSpPr/>
            <p:nvPr/>
          </p:nvSpPr>
          <p:spPr>
            <a:xfrm flipV="1">
              <a:off x="3168" y="432"/>
              <a:ext cx="0" cy="432"/>
            </a:xfrm>
            <a:prstGeom prst="line">
              <a:avLst/>
            </a:prstGeom>
            <a:ln w="28575" cap="flat" cmpd="sng">
              <a:solidFill>
                <a:schemeClr val="tx1"/>
              </a:solidFill>
              <a:prstDash val="solid"/>
              <a:headEnd type="none" w="med" len="med"/>
              <a:tailEnd type="none" w="med" len="med"/>
            </a:ln>
          </p:spPr>
        </p:sp>
        <p:grpSp>
          <p:nvGrpSpPr>
            <p:cNvPr id="82061" name="Group 12"/>
            <p:cNvGrpSpPr/>
            <p:nvPr/>
          </p:nvGrpSpPr>
          <p:grpSpPr>
            <a:xfrm>
              <a:off x="3072" y="480"/>
              <a:ext cx="96" cy="2928"/>
              <a:chOff x="3072" y="480"/>
              <a:chExt cx="96" cy="2928"/>
            </a:xfrm>
          </p:grpSpPr>
          <p:grpSp>
            <p:nvGrpSpPr>
              <p:cNvPr id="82062" name="Group 13"/>
              <p:cNvGrpSpPr/>
              <p:nvPr/>
            </p:nvGrpSpPr>
            <p:grpSpPr>
              <a:xfrm>
                <a:off x="3072" y="864"/>
                <a:ext cx="96" cy="2064"/>
                <a:chOff x="3072" y="864"/>
                <a:chExt cx="96" cy="2064"/>
              </a:xfrm>
            </p:grpSpPr>
            <p:sp>
              <p:nvSpPr>
                <p:cNvPr id="82064" name="Line 14"/>
                <p:cNvSpPr/>
                <p:nvPr/>
              </p:nvSpPr>
              <p:spPr>
                <a:xfrm>
                  <a:off x="3072" y="864"/>
                  <a:ext cx="96" cy="0"/>
                </a:xfrm>
                <a:prstGeom prst="line">
                  <a:avLst/>
                </a:prstGeom>
                <a:ln w="28575" cap="flat" cmpd="sng">
                  <a:solidFill>
                    <a:schemeClr val="tx1"/>
                  </a:solidFill>
                  <a:prstDash val="solid"/>
                  <a:headEnd type="none" w="med" len="med"/>
                  <a:tailEnd type="none" w="med" len="med"/>
                </a:ln>
              </p:spPr>
            </p:sp>
            <p:sp>
              <p:nvSpPr>
                <p:cNvPr id="82065" name="Line 15"/>
                <p:cNvSpPr/>
                <p:nvPr/>
              </p:nvSpPr>
              <p:spPr>
                <a:xfrm>
                  <a:off x="3072" y="2928"/>
                  <a:ext cx="96" cy="0"/>
                </a:xfrm>
                <a:prstGeom prst="line">
                  <a:avLst/>
                </a:prstGeom>
                <a:ln w="28575" cap="flat" cmpd="sng">
                  <a:solidFill>
                    <a:schemeClr val="tx1"/>
                  </a:solidFill>
                  <a:prstDash val="solid"/>
                  <a:headEnd type="none" w="med" len="med"/>
                  <a:tailEnd type="none" w="med" len="med"/>
                </a:ln>
              </p:spPr>
            </p:sp>
            <p:sp>
              <p:nvSpPr>
                <p:cNvPr id="82066" name="Line 16"/>
                <p:cNvSpPr/>
                <p:nvPr/>
              </p:nvSpPr>
              <p:spPr>
                <a:xfrm>
                  <a:off x="3072" y="1728"/>
                  <a:ext cx="96" cy="0"/>
                </a:xfrm>
                <a:prstGeom prst="line">
                  <a:avLst/>
                </a:prstGeom>
                <a:ln w="28575" cap="flat" cmpd="sng">
                  <a:solidFill>
                    <a:schemeClr val="tx1"/>
                  </a:solidFill>
                  <a:prstDash val="solid"/>
                  <a:headEnd type="none" w="med" len="med"/>
                  <a:tailEnd type="none" w="med" len="med"/>
                </a:ln>
              </p:spPr>
            </p:sp>
            <p:sp>
              <p:nvSpPr>
                <p:cNvPr id="82067" name="Line 17"/>
                <p:cNvSpPr/>
                <p:nvPr/>
              </p:nvSpPr>
              <p:spPr>
                <a:xfrm>
                  <a:off x="3072" y="2160"/>
                  <a:ext cx="96" cy="0"/>
                </a:xfrm>
                <a:prstGeom prst="line">
                  <a:avLst/>
                </a:prstGeom>
                <a:ln w="28575" cap="flat" cmpd="sng">
                  <a:solidFill>
                    <a:schemeClr val="tx1"/>
                  </a:solidFill>
                  <a:prstDash val="solid"/>
                  <a:headEnd type="none" w="med" len="med"/>
                  <a:tailEnd type="none" w="med" len="med"/>
                </a:ln>
              </p:spPr>
            </p:sp>
          </p:grpSp>
          <p:sp>
            <p:nvSpPr>
              <p:cNvPr id="82063" name="Line 18"/>
              <p:cNvSpPr/>
              <p:nvPr/>
            </p:nvSpPr>
            <p:spPr>
              <a:xfrm>
                <a:off x="3168" y="480"/>
                <a:ext cx="0" cy="2928"/>
              </a:xfrm>
              <a:prstGeom prst="line">
                <a:avLst/>
              </a:prstGeom>
              <a:ln w="12700" cap="flat" cmpd="sng">
                <a:solidFill>
                  <a:schemeClr val="tx1"/>
                </a:solidFill>
                <a:prstDash val="lgDash"/>
                <a:headEnd type="none" w="med" len="med"/>
                <a:tailEnd type="none" w="med" len="med"/>
              </a:ln>
            </p:spPr>
          </p:sp>
        </p:grpSp>
      </p:grpSp>
      <p:grpSp>
        <p:nvGrpSpPr>
          <p:cNvPr id="389139" name="Group 19"/>
          <p:cNvGrpSpPr/>
          <p:nvPr/>
        </p:nvGrpSpPr>
        <p:grpSpPr>
          <a:xfrm>
            <a:off x="5127625" y="1598613"/>
            <a:ext cx="74613" cy="4648200"/>
            <a:chOff x="3072" y="432"/>
            <a:chExt cx="0" cy="2928"/>
          </a:xfrm>
        </p:grpSpPr>
        <p:sp>
          <p:nvSpPr>
            <p:cNvPr id="82057" name="Line 20"/>
            <p:cNvSpPr/>
            <p:nvPr/>
          </p:nvSpPr>
          <p:spPr>
            <a:xfrm>
              <a:off x="3072" y="432"/>
              <a:ext cx="0" cy="432"/>
            </a:xfrm>
            <a:prstGeom prst="line">
              <a:avLst/>
            </a:prstGeom>
            <a:ln w="28575" cap="flat" cmpd="sng">
              <a:solidFill>
                <a:schemeClr val="tx1"/>
              </a:solidFill>
              <a:prstDash val="solid"/>
              <a:headEnd type="none" w="med" len="med"/>
              <a:tailEnd type="none" w="med" len="med"/>
            </a:ln>
          </p:spPr>
        </p:sp>
        <p:sp>
          <p:nvSpPr>
            <p:cNvPr id="82058" name="Line 21"/>
            <p:cNvSpPr/>
            <p:nvPr/>
          </p:nvSpPr>
          <p:spPr>
            <a:xfrm flipV="1">
              <a:off x="3072" y="2928"/>
              <a:ext cx="0" cy="432"/>
            </a:xfrm>
            <a:prstGeom prst="line">
              <a:avLst/>
            </a:prstGeom>
            <a:ln w="28575" cap="flat" cmpd="sng">
              <a:solidFill>
                <a:schemeClr val="tx1"/>
              </a:solidFill>
              <a:prstDash val="solid"/>
              <a:headEnd type="none" w="med" len="med"/>
              <a:tailEnd type="none" w="med" len="med"/>
            </a:ln>
          </p:spPr>
        </p:sp>
        <p:sp>
          <p:nvSpPr>
            <p:cNvPr id="82059" name="Line 22"/>
            <p:cNvSpPr/>
            <p:nvPr/>
          </p:nvSpPr>
          <p:spPr>
            <a:xfrm>
              <a:off x="3072" y="432"/>
              <a:ext cx="0" cy="2928"/>
            </a:xfrm>
            <a:prstGeom prst="line">
              <a:avLst/>
            </a:prstGeom>
            <a:ln w="12700" cap="flat" cmpd="sng">
              <a:solidFill>
                <a:schemeClr val="tx1"/>
              </a:solidFill>
              <a:prstDash val="lgDash"/>
              <a:headEnd type="none" w="med" len="med"/>
              <a:tailEnd type="none" w="med" len="med"/>
            </a:ln>
          </p:spPr>
        </p:sp>
      </p:grpSp>
      <p:grpSp>
        <p:nvGrpSpPr>
          <p:cNvPr id="389143" name="Group 23"/>
          <p:cNvGrpSpPr/>
          <p:nvPr/>
        </p:nvGrpSpPr>
        <p:grpSpPr>
          <a:xfrm>
            <a:off x="5249863" y="1593850"/>
            <a:ext cx="1770062" cy="4724400"/>
            <a:chOff x="3168" y="432"/>
            <a:chExt cx="1225" cy="2976"/>
          </a:xfrm>
        </p:grpSpPr>
        <p:grpSp>
          <p:nvGrpSpPr>
            <p:cNvPr id="82049" name="Group 24"/>
            <p:cNvGrpSpPr/>
            <p:nvPr/>
          </p:nvGrpSpPr>
          <p:grpSpPr>
            <a:xfrm>
              <a:off x="3168" y="432"/>
              <a:ext cx="1225" cy="2496"/>
              <a:chOff x="3168" y="432"/>
              <a:chExt cx="1225" cy="2496"/>
            </a:xfrm>
          </p:grpSpPr>
          <p:sp>
            <p:nvSpPr>
              <p:cNvPr id="82051" name="Line 25"/>
              <p:cNvSpPr/>
              <p:nvPr/>
            </p:nvSpPr>
            <p:spPr>
              <a:xfrm>
                <a:off x="3168" y="432"/>
                <a:ext cx="336" cy="0"/>
              </a:xfrm>
              <a:prstGeom prst="line">
                <a:avLst/>
              </a:prstGeom>
              <a:ln w="28575" cap="flat" cmpd="sng">
                <a:solidFill>
                  <a:schemeClr val="tx1"/>
                </a:solidFill>
                <a:prstDash val="solid"/>
                <a:headEnd type="none" w="med" len="med"/>
                <a:tailEnd type="none" w="med" len="med"/>
              </a:ln>
            </p:spPr>
          </p:sp>
          <p:grpSp>
            <p:nvGrpSpPr>
              <p:cNvPr id="82052" name="Group 26"/>
              <p:cNvGrpSpPr/>
              <p:nvPr/>
            </p:nvGrpSpPr>
            <p:grpSpPr>
              <a:xfrm>
                <a:off x="3168" y="1248"/>
                <a:ext cx="1225" cy="480"/>
                <a:chOff x="2832" y="1248"/>
                <a:chExt cx="1225" cy="528"/>
              </a:xfrm>
            </p:grpSpPr>
            <p:sp>
              <p:nvSpPr>
                <p:cNvPr id="82055" name="Freeform 27"/>
                <p:cNvSpPr/>
                <p:nvPr/>
              </p:nvSpPr>
              <p:spPr>
                <a:xfrm>
                  <a:off x="2832" y="1248"/>
                  <a:ext cx="1225" cy="528"/>
                </a:xfrm>
                <a:custGeom>
                  <a:avLst/>
                  <a:gdLst/>
                  <a:ahLst/>
                  <a:cxnLst>
                    <a:cxn ang="0">
                      <a:pos x="0" y="508"/>
                    </a:cxn>
                    <a:cxn ang="0">
                      <a:pos x="1225" y="8"/>
                    </a:cxn>
                  </a:cxnLst>
                  <a:pathLst>
                    <a:path w="1225" h="549">
                      <a:moveTo>
                        <a:pt x="0" y="549"/>
                      </a:moveTo>
                      <a:cubicBezTo>
                        <a:pt x="48" y="376"/>
                        <a:pt x="148" y="0"/>
                        <a:pt x="1225" y="8"/>
                      </a:cubicBezTo>
                    </a:path>
                  </a:pathLst>
                </a:custGeom>
                <a:noFill/>
                <a:ln w="19050" cap="flat" cmpd="sng">
                  <a:solidFill>
                    <a:schemeClr val="tx1">
                      <a:alpha val="100000"/>
                    </a:schemeClr>
                  </a:solidFill>
                  <a:prstDash val="lgDash"/>
                  <a:round/>
                  <a:headEnd type="none" w="med" len="med"/>
                  <a:tailEnd type="none" w="med" len="med"/>
                </a:ln>
              </p:spPr>
              <p:txBody>
                <a:bodyPr/>
                <a:p>
                  <a:endParaRPr lang="zh-CN" altLang="en-US"/>
                </a:p>
              </p:txBody>
            </p:sp>
            <p:sp>
              <p:nvSpPr>
                <p:cNvPr id="82056" name="Freeform 28"/>
                <p:cNvSpPr/>
                <p:nvPr/>
              </p:nvSpPr>
              <p:spPr>
                <a:xfrm>
                  <a:off x="2832" y="1370"/>
                  <a:ext cx="384" cy="406"/>
                </a:xfrm>
                <a:custGeom>
                  <a:avLst/>
                  <a:gdLst/>
                  <a:ahLst/>
                  <a:cxnLst>
                    <a:cxn ang="0">
                      <a:pos x="0" y="406"/>
                    </a:cxn>
                    <a:cxn ang="0">
                      <a:pos x="384" y="0"/>
                    </a:cxn>
                  </a:cxnLst>
                  <a:pathLst>
                    <a:path w="384" h="406">
                      <a:moveTo>
                        <a:pt x="0" y="406"/>
                      </a:moveTo>
                      <a:cubicBezTo>
                        <a:pt x="75" y="117"/>
                        <a:pt x="244" y="77"/>
                        <a:pt x="384"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sp>
            <p:nvSpPr>
              <p:cNvPr id="82053" name="Line 29"/>
              <p:cNvSpPr/>
              <p:nvPr/>
            </p:nvSpPr>
            <p:spPr>
              <a:xfrm>
                <a:off x="3168" y="2160"/>
                <a:ext cx="336" cy="0"/>
              </a:xfrm>
              <a:prstGeom prst="line">
                <a:avLst/>
              </a:prstGeom>
              <a:ln w="28575" cap="flat" cmpd="sng">
                <a:solidFill>
                  <a:schemeClr val="tx1"/>
                </a:solidFill>
                <a:prstDash val="solid"/>
                <a:headEnd type="none" w="med" len="med"/>
                <a:tailEnd type="none" w="med" len="med"/>
              </a:ln>
            </p:spPr>
          </p:sp>
          <p:sp>
            <p:nvSpPr>
              <p:cNvPr id="82054" name="Line 30"/>
              <p:cNvSpPr/>
              <p:nvPr/>
            </p:nvSpPr>
            <p:spPr>
              <a:xfrm>
                <a:off x="3168" y="2928"/>
                <a:ext cx="384" cy="0"/>
              </a:xfrm>
              <a:prstGeom prst="line">
                <a:avLst/>
              </a:prstGeom>
              <a:ln w="28575" cap="flat" cmpd="sng">
                <a:solidFill>
                  <a:schemeClr val="tx1"/>
                </a:solidFill>
                <a:prstDash val="solid"/>
                <a:headEnd type="none" w="med" len="med"/>
                <a:tailEnd type="none" w="med" len="med"/>
              </a:ln>
            </p:spPr>
          </p:sp>
        </p:grpSp>
        <p:sp>
          <p:nvSpPr>
            <p:cNvPr id="82050" name="Line 31"/>
            <p:cNvSpPr/>
            <p:nvPr/>
          </p:nvSpPr>
          <p:spPr>
            <a:xfrm>
              <a:off x="3504" y="432"/>
              <a:ext cx="0" cy="2976"/>
            </a:xfrm>
            <a:prstGeom prst="line">
              <a:avLst/>
            </a:prstGeom>
            <a:ln w="12700" cap="flat" cmpd="sng">
              <a:solidFill>
                <a:schemeClr val="tx1"/>
              </a:solidFill>
              <a:prstDash val="lgDash"/>
              <a:headEnd type="none" w="med" len="med"/>
              <a:tailEnd type="none" w="med" len="med"/>
            </a:ln>
          </p:spPr>
        </p:sp>
      </p:grpSp>
      <p:grpSp>
        <p:nvGrpSpPr>
          <p:cNvPr id="389152" name="Group 32"/>
          <p:cNvGrpSpPr/>
          <p:nvPr/>
        </p:nvGrpSpPr>
        <p:grpSpPr>
          <a:xfrm>
            <a:off x="5762625" y="1598613"/>
            <a:ext cx="74613" cy="4724400"/>
            <a:chOff x="3504" y="432"/>
            <a:chExt cx="48" cy="2976"/>
          </a:xfrm>
        </p:grpSpPr>
        <p:sp>
          <p:nvSpPr>
            <p:cNvPr id="82043" name="Line 33"/>
            <p:cNvSpPr/>
            <p:nvPr/>
          </p:nvSpPr>
          <p:spPr>
            <a:xfrm>
              <a:off x="3504" y="2160"/>
              <a:ext cx="0" cy="384"/>
            </a:xfrm>
            <a:prstGeom prst="line">
              <a:avLst/>
            </a:prstGeom>
            <a:ln w="28575" cap="flat" cmpd="sng">
              <a:solidFill>
                <a:schemeClr val="tx1"/>
              </a:solidFill>
              <a:prstDash val="solid"/>
              <a:headEnd type="none" w="med" len="med"/>
              <a:tailEnd type="none" w="med" len="med"/>
            </a:ln>
          </p:spPr>
        </p:sp>
        <p:grpSp>
          <p:nvGrpSpPr>
            <p:cNvPr id="82044" name="Group 34"/>
            <p:cNvGrpSpPr/>
            <p:nvPr/>
          </p:nvGrpSpPr>
          <p:grpSpPr>
            <a:xfrm>
              <a:off x="3504" y="432"/>
              <a:ext cx="48" cy="2976"/>
              <a:chOff x="3504" y="432"/>
              <a:chExt cx="48" cy="2976"/>
            </a:xfrm>
          </p:grpSpPr>
          <p:sp>
            <p:nvSpPr>
              <p:cNvPr id="82045" name="Line 35"/>
              <p:cNvSpPr/>
              <p:nvPr/>
            </p:nvSpPr>
            <p:spPr>
              <a:xfrm>
                <a:off x="3552" y="2928"/>
                <a:ext cx="0" cy="432"/>
              </a:xfrm>
              <a:prstGeom prst="line">
                <a:avLst/>
              </a:prstGeom>
              <a:ln w="28575" cap="flat" cmpd="sng">
                <a:solidFill>
                  <a:schemeClr val="tx1"/>
                </a:solidFill>
                <a:prstDash val="solid"/>
                <a:headEnd type="none" w="med" len="med"/>
                <a:tailEnd type="none" w="med" len="med"/>
              </a:ln>
            </p:spPr>
          </p:sp>
          <p:sp>
            <p:nvSpPr>
              <p:cNvPr id="82046" name="Line 36"/>
              <p:cNvSpPr/>
              <p:nvPr/>
            </p:nvSpPr>
            <p:spPr>
              <a:xfrm>
                <a:off x="3552" y="432"/>
                <a:ext cx="0" cy="2976"/>
              </a:xfrm>
              <a:prstGeom prst="line">
                <a:avLst/>
              </a:prstGeom>
              <a:ln w="12700" cap="flat" cmpd="sng">
                <a:solidFill>
                  <a:schemeClr val="tx1"/>
                </a:solidFill>
                <a:prstDash val="lgDash"/>
                <a:headEnd type="none" w="med" len="med"/>
                <a:tailEnd type="none" w="med" len="med"/>
              </a:ln>
            </p:spPr>
          </p:sp>
          <p:sp>
            <p:nvSpPr>
              <p:cNvPr id="82047" name="Line 37"/>
              <p:cNvSpPr/>
              <p:nvPr/>
            </p:nvSpPr>
            <p:spPr>
              <a:xfrm>
                <a:off x="3504" y="2544"/>
                <a:ext cx="48" cy="0"/>
              </a:xfrm>
              <a:prstGeom prst="line">
                <a:avLst/>
              </a:prstGeom>
              <a:ln w="28575" cap="flat" cmpd="sng">
                <a:solidFill>
                  <a:schemeClr val="tx1"/>
                </a:solidFill>
                <a:prstDash val="solid"/>
                <a:headEnd type="none" w="med" len="med"/>
                <a:tailEnd type="none" w="med" len="med"/>
              </a:ln>
            </p:spPr>
          </p:sp>
          <p:sp>
            <p:nvSpPr>
              <p:cNvPr id="82048" name="Line 38"/>
              <p:cNvSpPr/>
              <p:nvPr/>
            </p:nvSpPr>
            <p:spPr>
              <a:xfrm flipV="1">
                <a:off x="3552" y="2160"/>
                <a:ext cx="0" cy="384"/>
              </a:xfrm>
              <a:prstGeom prst="line">
                <a:avLst/>
              </a:prstGeom>
              <a:ln w="28575" cap="flat" cmpd="sng">
                <a:solidFill>
                  <a:schemeClr val="tx1"/>
                </a:solidFill>
                <a:prstDash val="solid"/>
                <a:headEnd type="none" w="med" len="med"/>
                <a:tailEnd type="none" w="med" len="med"/>
              </a:ln>
            </p:spPr>
          </p:sp>
        </p:grpSp>
      </p:grpSp>
      <p:grpSp>
        <p:nvGrpSpPr>
          <p:cNvPr id="389159" name="Group 39"/>
          <p:cNvGrpSpPr/>
          <p:nvPr/>
        </p:nvGrpSpPr>
        <p:grpSpPr>
          <a:xfrm>
            <a:off x="5746750" y="1589088"/>
            <a:ext cx="595313" cy="4657725"/>
            <a:chOff x="3264" y="624"/>
            <a:chExt cx="384" cy="2928"/>
          </a:xfrm>
        </p:grpSpPr>
        <p:sp>
          <p:nvSpPr>
            <p:cNvPr id="82035" name="Line 40"/>
            <p:cNvSpPr/>
            <p:nvPr/>
          </p:nvSpPr>
          <p:spPr>
            <a:xfrm>
              <a:off x="3264" y="624"/>
              <a:ext cx="384" cy="0"/>
            </a:xfrm>
            <a:prstGeom prst="line">
              <a:avLst/>
            </a:prstGeom>
            <a:ln w="28575" cap="flat" cmpd="sng">
              <a:solidFill>
                <a:schemeClr val="tx1"/>
              </a:solidFill>
              <a:prstDash val="solid"/>
              <a:headEnd type="none" w="med" len="med"/>
              <a:tailEnd type="none" w="med" len="med"/>
            </a:ln>
          </p:spPr>
        </p:sp>
        <p:grpSp>
          <p:nvGrpSpPr>
            <p:cNvPr id="82036" name="Group 41"/>
            <p:cNvGrpSpPr/>
            <p:nvPr/>
          </p:nvGrpSpPr>
          <p:grpSpPr>
            <a:xfrm>
              <a:off x="3312" y="624"/>
              <a:ext cx="336" cy="2928"/>
              <a:chOff x="3312" y="624"/>
              <a:chExt cx="336" cy="2928"/>
            </a:xfrm>
          </p:grpSpPr>
          <p:sp>
            <p:nvSpPr>
              <p:cNvPr id="82037" name="Freeform 42"/>
              <p:cNvSpPr/>
              <p:nvPr/>
            </p:nvSpPr>
            <p:spPr>
              <a:xfrm>
                <a:off x="3314" y="1559"/>
                <a:ext cx="190" cy="361"/>
              </a:xfrm>
              <a:custGeom>
                <a:avLst/>
                <a:gdLst/>
                <a:ahLst/>
                <a:cxnLst>
                  <a:cxn ang="0">
                    <a:pos x="0" y="0"/>
                  </a:cxn>
                  <a:cxn ang="0">
                    <a:pos x="44" y="327"/>
                  </a:cxn>
                </a:cxnLst>
                <a:pathLst>
                  <a:path w="816" h="399">
                    <a:moveTo>
                      <a:pt x="0" y="0"/>
                    </a:moveTo>
                    <a:cubicBezTo>
                      <a:pt x="48" y="90"/>
                      <a:pt x="105" y="336"/>
                      <a:pt x="816" y="399"/>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nvGrpSpPr>
              <p:cNvPr id="82038" name="Group 43"/>
              <p:cNvGrpSpPr/>
              <p:nvPr/>
            </p:nvGrpSpPr>
            <p:grpSpPr>
              <a:xfrm>
                <a:off x="3312" y="624"/>
                <a:ext cx="336" cy="2928"/>
                <a:chOff x="3552" y="432"/>
                <a:chExt cx="336" cy="2928"/>
              </a:xfrm>
            </p:grpSpPr>
            <p:sp>
              <p:nvSpPr>
                <p:cNvPr id="82039" name="Line 44"/>
                <p:cNvSpPr/>
                <p:nvPr/>
              </p:nvSpPr>
              <p:spPr>
                <a:xfrm>
                  <a:off x="3552" y="3360"/>
                  <a:ext cx="336" cy="0"/>
                </a:xfrm>
                <a:prstGeom prst="line">
                  <a:avLst/>
                </a:prstGeom>
                <a:ln w="28575" cap="flat" cmpd="sng">
                  <a:solidFill>
                    <a:schemeClr val="tx1"/>
                  </a:solidFill>
                  <a:prstDash val="solid"/>
                  <a:headEnd type="none" w="med" len="med"/>
                  <a:tailEnd type="none" w="med" len="med"/>
                </a:ln>
              </p:spPr>
            </p:sp>
            <p:sp>
              <p:nvSpPr>
                <p:cNvPr id="82040" name="Line 45"/>
                <p:cNvSpPr/>
                <p:nvPr/>
              </p:nvSpPr>
              <p:spPr>
                <a:xfrm>
                  <a:off x="3552" y="2160"/>
                  <a:ext cx="336" cy="0"/>
                </a:xfrm>
                <a:prstGeom prst="line">
                  <a:avLst/>
                </a:prstGeom>
                <a:ln w="28575" cap="flat" cmpd="sng">
                  <a:solidFill>
                    <a:schemeClr val="tx1"/>
                  </a:solidFill>
                  <a:prstDash val="solid"/>
                  <a:headEnd type="none" w="med" len="med"/>
                  <a:tailEnd type="none" w="med" len="med"/>
                </a:ln>
              </p:spPr>
            </p:sp>
            <p:sp>
              <p:nvSpPr>
                <p:cNvPr id="82041" name="Line 46"/>
                <p:cNvSpPr/>
                <p:nvPr/>
              </p:nvSpPr>
              <p:spPr>
                <a:xfrm>
                  <a:off x="3744" y="1728"/>
                  <a:ext cx="144" cy="0"/>
                </a:xfrm>
                <a:prstGeom prst="line">
                  <a:avLst/>
                </a:prstGeom>
                <a:ln w="28575" cap="flat" cmpd="sng">
                  <a:solidFill>
                    <a:schemeClr val="tx1"/>
                  </a:solidFill>
                  <a:prstDash val="solid"/>
                  <a:headEnd type="none" w="med" len="med"/>
                  <a:tailEnd type="none" w="med" len="med"/>
                </a:ln>
              </p:spPr>
            </p:sp>
            <p:sp>
              <p:nvSpPr>
                <p:cNvPr id="82042" name="Line 47"/>
                <p:cNvSpPr/>
                <p:nvPr/>
              </p:nvSpPr>
              <p:spPr>
                <a:xfrm>
                  <a:off x="3888" y="432"/>
                  <a:ext cx="0" cy="2928"/>
                </a:xfrm>
                <a:prstGeom prst="line">
                  <a:avLst/>
                </a:prstGeom>
                <a:ln w="12700" cap="flat" cmpd="sng">
                  <a:solidFill>
                    <a:schemeClr val="tx1"/>
                  </a:solidFill>
                  <a:prstDash val="lgDash"/>
                  <a:headEnd type="none" w="med" len="med"/>
                  <a:tailEnd type="none" w="med" len="med"/>
                </a:ln>
              </p:spPr>
            </p:sp>
          </p:grpSp>
        </p:grpSp>
      </p:grpSp>
      <p:grpSp>
        <p:nvGrpSpPr>
          <p:cNvPr id="389168" name="Group 48"/>
          <p:cNvGrpSpPr/>
          <p:nvPr/>
        </p:nvGrpSpPr>
        <p:grpSpPr>
          <a:xfrm>
            <a:off x="6370638" y="1589088"/>
            <a:ext cx="0" cy="4646612"/>
            <a:chOff x="4059" y="754"/>
            <a:chExt cx="0" cy="2927"/>
          </a:xfrm>
        </p:grpSpPr>
        <p:sp>
          <p:nvSpPr>
            <p:cNvPr id="82033" name="Line 49"/>
            <p:cNvSpPr/>
            <p:nvPr/>
          </p:nvSpPr>
          <p:spPr>
            <a:xfrm>
              <a:off x="4059" y="754"/>
              <a:ext cx="0" cy="432"/>
            </a:xfrm>
            <a:prstGeom prst="line">
              <a:avLst/>
            </a:prstGeom>
            <a:ln w="28575" cap="flat" cmpd="sng">
              <a:solidFill>
                <a:schemeClr val="tx1"/>
              </a:solidFill>
              <a:prstDash val="solid"/>
              <a:headEnd type="none" w="med" len="med"/>
              <a:tailEnd type="none" w="med" len="med"/>
            </a:ln>
          </p:spPr>
        </p:sp>
        <p:sp>
          <p:nvSpPr>
            <p:cNvPr id="82034" name="Line 50"/>
            <p:cNvSpPr/>
            <p:nvPr/>
          </p:nvSpPr>
          <p:spPr>
            <a:xfrm flipV="1">
              <a:off x="4059" y="3249"/>
              <a:ext cx="0" cy="432"/>
            </a:xfrm>
            <a:prstGeom prst="line">
              <a:avLst/>
            </a:prstGeom>
            <a:ln w="28575" cap="flat" cmpd="sng">
              <a:solidFill>
                <a:schemeClr val="tx1"/>
              </a:solidFill>
              <a:prstDash val="solid"/>
              <a:headEnd type="none" w="med" len="med"/>
              <a:tailEnd type="none" w="med" len="med"/>
            </a:ln>
          </p:spPr>
        </p:sp>
      </p:grpSp>
      <p:grpSp>
        <p:nvGrpSpPr>
          <p:cNvPr id="389171" name="Group 51"/>
          <p:cNvGrpSpPr/>
          <p:nvPr/>
        </p:nvGrpSpPr>
        <p:grpSpPr>
          <a:xfrm>
            <a:off x="6524625" y="1598613"/>
            <a:ext cx="277813" cy="4724400"/>
            <a:chOff x="3744" y="624"/>
            <a:chExt cx="192" cy="2976"/>
          </a:xfrm>
        </p:grpSpPr>
        <p:sp>
          <p:nvSpPr>
            <p:cNvPr id="82028" name="Line 52"/>
            <p:cNvSpPr/>
            <p:nvPr/>
          </p:nvSpPr>
          <p:spPr>
            <a:xfrm>
              <a:off x="3744" y="624"/>
              <a:ext cx="192" cy="0"/>
            </a:xfrm>
            <a:prstGeom prst="line">
              <a:avLst/>
            </a:prstGeom>
            <a:ln w="28575" cap="flat" cmpd="sng">
              <a:solidFill>
                <a:schemeClr val="tx1"/>
              </a:solidFill>
              <a:prstDash val="solid"/>
              <a:headEnd type="none" w="med" len="med"/>
              <a:tailEnd type="none" w="med" len="med"/>
            </a:ln>
          </p:spPr>
        </p:sp>
        <p:sp>
          <p:nvSpPr>
            <p:cNvPr id="82029" name="Freeform 53"/>
            <p:cNvSpPr/>
            <p:nvPr/>
          </p:nvSpPr>
          <p:spPr>
            <a:xfrm>
              <a:off x="3744" y="1653"/>
              <a:ext cx="190" cy="267"/>
            </a:xfrm>
            <a:custGeom>
              <a:avLst/>
              <a:gdLst/>
              <a:ahLst/>
              <a:cxnLst>
                <a:cxn ang="0">
                  <a:pos x="0" y="267"/>
                </a:cxn>
                <a:cxn ang="0">
                  <a:pos x="190" y="0"/>
                </a:cxn>
              </a:cxnLst>
              <a:pathLst>
                <a:path w="190" h="267">
                  <a:moveTo>
                    <a:pt x="0" y="267"/>
                  </a:moveTo>
                  <a:cubicBezTo>
                    <a:pt x="48" y="108"/>
                    <a:pt x="88" y="59"/>
                    <a:pt x="190"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2030" name="Line 54"/>
            <p:cNvSpPr/>
            <p:nvPr/>
          </p:nvSpPr>
          <p:spPr>
            <a:xfrm>
              <a:off x="3744" y="2352"/>
              <a:ext cx="192" cy="0"/>
            </a:xfrm>
            <a:prstGeom prst="line">
              <a:avLst/>
            </a:prstGeom>
            <a:ln w="28575" cap="flat" cmpd="sng">
              <a:solidFill>
                <a:schemeClr val="tx1"/>
              </a:solidFill>
              <a:prstDash val="solid"/>
              <a:headEnd type="none" w="med" len="med"/>
              <a:tailEnd type="none" w="med" len="med"/>
            </a:ln>
          </p:spPr>
        </p:sp>
        <p:sp>
          <p:nvSpPr>
            <p:cNvPr id="82031" name="Line 55"/>
            <p:cNvSpPr/>
            <p:nvPr/>
          </p:nvSpPr>
          <p:spPr>
            <a:xfrm>
              <a:off x="3744" y="3120"/>
              <a:ext cx="192" cy="0"/>
            </a:xfrm>
            <a:prstGeom prst="line">
              <a:avLst/>
            </a:prstGeom>
            <a:ln w="28575" cap="flat" cmpd="sng">
              <a:solidFill>
                <a:schemeClr val="tx1"/>
              </a:solidFill>
              <a:prstDash val="solid"/>
              <a:headEnd type="none" w="med" len="med"/>
              <a:tailEnd type="none" w="med" len="med"/>
            </a:ln>
          </p:spPr>
        </p:sp>
        <p:sp>
          <p:nvSpPr>
            <p:cNvPr id="82032" name="Line 56"/>
            <p:cNvSpPr/>
            <p:nvPr/>
          </p:nvSpPr>
          <p:spPr>
            <a:xfrm>
              <a:off x="3936" y="624"/>
              <a:ext cx="0" cy="2976"/>
            </a:xfrm>
            <a:prstGeom prst="line">
              <a:avLst/>
            </a:prstGeom>
            <a:ln w="12700" cap="flat" cmpd="sng">
              <a:solidFill>
                <a:schemeClr val="tx1"/>
              </a:solidFill>
              <a:prstDash val="lgDash"/>
              <a:headEnd type="none" w="med" len="med"/>
              <a:tailEnd type="none" w="med" len="med"/>
            </a:ln>
          </p:spPr>
        </p:sp>
      </p:grpSp>
      <p:grpSp>
        <p:nvGrpSpPr>
          <p:cNvPr id="389177" name="Group 57"/>
          <p:cNvGrpSpPr/>
          <p:nvPr/>
        </p:nvGrpSpPr>
        <p:grpSpPr>
          <a:xfrm>
            <a:off x="6376988" y="1589088"/>
            <a:ext cx="138112" cy="4724400"/>
            <a:chOff x="3072" y="432"/>
            <a:chExt cx="96" cy="2976"/>
          </a:xfrm>
        </p:grpSpPr>
        <p:sp>
          <p:nvSpPr>
            <p:cNvPr id="82020" name="Line 58"/>
            <p:cNvSpPr/>
            <p:nvPr/>
          </p:nvSpPr>
          <p:spPr>
            <a:xfrm flipV="1">
              <a:off x="3168" y="432"/>
              <a:ext cx="0" cy="432"/>
            </a:xfrm>
            <a:prstGeom prst="line">
              <a:avLst/>
            </a:prstGeom>
            <a:ln w="28575" cap="flat" cmpd="sng">
              <a:solidFill>
                <a:schemeClr val="tx1"/>
              </a:solidFill>
              <a:prstDash val="solid"/>
              <a:headEnd type="none" w="med" len="med"/>
              <a:tailEnd type="none" w="med" len="med"/>
            </a:ln>
          </p:spPr>
        </p:sp>
        <p:grpSp>
          <p:nvGrpSpPr>
            <p:cNvPr id="82021" name="Group 59"/>
            <p:cNvGrpSpPr/>
            <p:nvPr/>
          </p:nvGrpSpPr>
          <p:grpSpPr>
            <a:xfrm>
              <a:off x="3072" y="480"/>
              <a:ext cx="96" cy="2928"/>
              <a:chOff x="3072" y="480"/>
              <a:chExt cx="96" cy="2928"/>
            </a:xfrm>
          </p:grpSpPr>
          <p:grpSp>
            <p:nvGrpSpPr>
              <p:cNvPr id="82022" name="Group 60"/>
              <p:cNvGrpSpPr/>
              <p:nvPr/>
            </p:nvGrpSpPr>
            <p:grpSpPr>
              <a:xfrm>
                <a:off x="3072" y="864"/>
                <a:ext cx="96" cy="2064"/>
                <a:chOff x="3072" y="864"/>
                <a:chExt cx="96" cy="2064"/>
              </a:xfrm>
            </p:grpSpPr>
            <p:sp>
              <p:nvSpPr>
                <p:cNvPr id="82024" name="Line 61"/>
                <p:cNvSpPr/>
                <p:nvPr/>
              </p:nvSpPr>
              <p:spPr>
                <a:xfrm>
                  <a:off x="3072" y="864"/>
                  <a:ext cx="96" cy="0"/>
                </a:xfrm>
                <a:prstGeom prst="line">
                  <a:avLst/>
                </a:prstGeom>
                <a:ln w="28575" cap="flat" cmpd="sng">
                  <a:solidFill>
                    <a:schemeClr val="tx1"/>
                  </a:solidFill>
                  <a:prstDash val="solid"/>
                  <a:headEnd type="none" w="med" len="med"/>
                  <a:tailEnd type="none" w="med" len="med"/>
                </a:ln>
              </p:spPr>
            </p:sp>
            <p:sp>
              <p:nvSpPr>
                <p:cNvPr id="82025" name="Line 62"/>
                <p:cNvSpPr/>
                <p:nvPr/>
              </p:nvSpPr>
              <p:spPr>
                <a:xfrm>
                  <a:off x="3072" y="2928"/>
                  <a:ext cx="96" cy="0"/>
                </a:xfrm>
                <a:prstGeom prst="line">
                  <a:avLst/>
                </a:prstGeom>
                <a:ln w="28575" cap="flat" cmpd="sng">
                  <a:solidFill>
                    <a:schemeClr val="tx1"/>
                  </a:solidFill>
                  <a:prstDash val="solid"/>
                  <a:headEnd type="none" w="med" len="med"/>
                  <a:tailEnd type="none" w="med" len="med"/>
                </a:ln>
              </p:spPr>
            </p:sp>
            <p:sp>
              <p:nvSpPr>
                <p:cNvPr id="82026" name="Line 63"/>
                <p:cNvSpPr/>
                <p:nvPr/>
              </p:nvSpPr>
              <p:spPr>
                <a:xfrm>
                  <a:off x="3072" y="1728"/>
                  <a:ext cx="96" cy="0"/>
                </a:xfrm>
                <a:prstGeom prst="line">
                  <a:avLst/>
                </a:prstGeom>
                <a:ln w="28575" cap="flat" cmpd="sng">
                  <a:solidFill>
                    <a:schemeClr val="tx1"/>
                  </a:solidFill>
                  <a:prstDash val="solid"/>
                  <a:headEnd type="none" w="med" len="med"/>
                  <a:tailEnd type="none" w="med" len="med"/>
                </a:ln>
              </p:spPr>
            </p:sp>
            <p:sp>
              <p:nvSpPr>
                <p:cNvPr id="82027" name="Line 64"/>
                <p:cNvSpPr/>
                <p:nvPr/>
              </p:nvSpPr>
              <p:spPr>
                <a:xfrm>
                  <a:off x="3072" y="2160"/>
                  <a:ext cx="96" cy="0"/>
                </a:xfrm>
                <a:prstGeom prst="line">
                  <a:avLst/>
                </a:prstGeom>
                <a:ln w="28575" cap="flat" cmpd="sng">
                  <a:solidFill>
                    <a:schemeClr val="tx1"/>
                  </a:solidFill>
                  <a:prstDash val="solid"/>
                  <a:headEnd type="none" w="med" len="med"/>
                  <a:tailEnd type="none" w="med" len="med"/>
                </a:ln>
              </p:spPr>
            </p:sp>
          </p:grpSp>
          <p:sp>
            <p:nvSpPr>
              <p:cNvPr id="82023" name="Line 65"/>
              <p:cNvSpPr/>
              <p:nvPr/>
            </p:nvSpPr>
            <p:spPr>
              <a:xfrm>
                <a:off x="3168" y="480"/>
                <a:ext cx="0" cy="2928"/>
              </a:xfrm>
              <a:prstGeom prst="line">
                <a:avLst/>
              </a:prstGeom>
              <a:ln w="12700" cap="flat" cmpd="sng">
                <a:solidFill>
                  <a:schemeClr val="tx1"/>
                </a:solidFill>
                <a:prstDash val="lgDash"/>
                <a:headEnd type="none" w="med" len="med"/>
                <a:tailEnd type="none" w="med" len="med"/>
              </a:ln>
            </p:spPr>
          </p:sp>
        </p:grpSp>
      </p:grpSp>
      <p:grpSp>
        <p:nvGrpSpPr>
          <p:cNvPr id="389186" name="Group 66"/>
          <p:cNvGrpSpPr/>
          <p:nvPr/>
        </p:nvGrpSpPr>
        <p:grpSpPr>
          <a:xfrm>
            <a:off x="6799263" y="1598613"/>
            <a:ext cx="142875" cy="4724400"/>
            <a:chOff x="3933" y="624"/>
            <a:chExt cx="99" cy="2976"/>
          </a:xfrm>
        </p:grpSpPr>
        <p:sp>
          <p:nvSpPr>
            <p:cNvPr id="82013" name="Line 67"/>
            <p:cNvSpPr/>
            <p:nvPr/>
          </p:nvSpPr>
          <p:spPr>
            <a:xfrm>
              <a:off x="3936" y="624"/>
              <a:ext cx="0" cy="432"/>
            </a:xfrm>
            <a:prstGeom prst="line">
              <a:avLst/>
            </a:prstGeom>
            <a:ln w="28575" cap="flat" cmpd="sng">
              <a:solidFill>
                <a:schemeClr val="tx1"/>
              </a:solidFill>
              <a:prstDash val="solid"/>
              <a:headEnd type="none" w="med" len="med"/>
              <a:tailEnd type="none" w="med" len="med"/>
            </a:ln>
          </p:spPr>
        </p:sp>
        <p:sp>
          <p:nvSpPr>
            <p:cNvPr id="82014" name="Line 68"/>
            <p:cNvSpPr/>
            <p:nvPr/>
          </p:nvSpPr>
          <p:spPr>
            <a:xfrm flipV="1">
              <a:off x="4032" y="624"/>
              <a:ext cx="0" cy="432"/>
            </a:xfrm>
            <a:prstGeom prst="line">
              <a:avLst/>
            </a:prstGeom>
            <a:ln w="28575" cap="flat" cmpd="sng">
              <a:solidFill>
                <a:schemeClr val="tx1"/>
              </a:solidFill>
              <a:prstDash val="solid"/>
              <a:headEnd type="none" w="med" len="med"/>
              <a:tailEnd type="none" w="med" len="med"/>
            </a:ln>
          </p:spPr>
        </p:sp>
        <p:sp>
          <p:nvSpPr>
            <p:cNvPr id="82015" name="Line 69"/>
            <p:cNvSpPr/>
            <p:nvPr/>
          </p:nvSpPr>
          <p:spPr>
            <a:xfrm>
              <a:off x="3936" y="1056"/>
              <a:ext cx="96" cy="0"/>
            </a:xfrm>
            <a:prstGeom prst="line">
              <a:avLst/>
            </a:prstGeom>
            <a:ln w="28575" cap="flat" cmpd="sng">
              <a:solidFill>
                <a:schemeClr val="tx1"/>
              </a:solidFill>
              <a:prstDash val="solid"/>
              <a:headEnd type="none" w="med" len="med"/>
              <a:tailEnd type="none" w="med" len="med"/>
            </a:ln>
          </p:spPr>
        </p:sp>
        <p:sp>
          <p:nvSpPr>
            <p:cNvPr id="82016" name="Line 70"/>
            <p:cNvSpPr/>
            <p:nvPr/>
          </p:nvSpPr>
          <p:spPr>
            <a:xfrm>
              <a:off x="4032" y="672"/>
              <a:ext cx="0" cy="2928"/>
            </a:xfrm>
            <a:prstGeom prst="line">
              <a:avLst/>
            </a:prstGeom>
            <a:ln w="12700" cap="flat" cmpd="sng">
              <a:solidFill>
                <a:schemeClr val="tx1"/>
              </a:solidFill>
              <a:prstDash val="lgDash"/>
              <a:headEnd type="none" w="med" len="med"/>
              <a:tailEnd type="none" w="med" len="med"/>
            </a:ln>
          </p:spPr>
        </p:sp>
        <p:sp>
          <p:nvSpPr>
            <p:cNvPr id="82017" name="Freeform 71"/>
            <p:cNvSpPr/>
            <p:nvPr/>
          </p:nvSpPr>
          <p:spPr>
            <a:xfrm>
              <a:off x="3933" y="1650"/>
              <a:ext cx="99" cy="270"/>
            </a:xfrm>
            <a:custGeom>
              <a:avLst/>
              <a:gdLst/>
              <a:ahLst/>
              <a:cxnLst>
                <a:cxn ang="0">
                  <a:pos x="0" y="0"/>
                </a:cxn>
                <a:cxn ang="0">
                  <a:pos x="99" y="270"/>
                </a:cxn>
              </a:cxnLst>
              <a:pathLst>
                <a:path w="99" h="270">
                  <a:moveTo>
                    <a:pt x="0" y="0"/>
                  </a:moveTo>
                  <a:cubicBezTo>
                    <a:pt x="6" y="54"/>
                    <a:pt x="15" y="232"/>
                    <a:pt x="99" y="27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2018" name="Line 72"/>
            <p:cNvSpPr/>
            <p:nvPr/>
          </p:nvSpPr>
          <p:spPr>
            <a:xfrm>
              <a:off x="3936" y="2352"/>
              <a:ext cx="96" cy="0"/>
            </a:xfrm>
            <a:prstGeom prst="line">
              <a:avLst/>
            </a:prstGeom>
            <a:ln w="28575" cap="flat" cmpd="sng">
              <a:solidFill>
                <a:schemeClr val="tx1"/>
              </a:solidFill>
              <a:prstDash val="solid"/>
              <a:headEnd type="none" w="med" len="med"/>
              <a:tailEnd type="none" w="med" len="med"/>
            </a:ln>
          </p:spPr>
        </p:sp>
        <p:sp>
          <p:nvSpPr>
            <p:cNvPr id="82019" name="Line 73"/>
            <p:cNvSpPr/>
            <p:nvPr/>
          </p:nvSpPr>
          <p:spPr>
            <a:xfrm>
              <a:off x="3936" y="3120"/>
              <a:ext cx="96" cy="0"/>
            </a:xfrm>
            <a:prstGeom prst="line">
              <a:avLst/>
            </a:prstGeom>
            <a:ln w="28575" cap="flat" cmpd="sng">
              <a:solidFill>
                <a:schemeClr val="tx1"/>
              </a:solidFill>
              <a:prstDash val="solid"/>
              <a:headEnd type="none" w="med" len="med"/>
              <a:tailEnd type="none" w="med" len="med"/>
            </a:ln>
          </p:spPr>
        </p:sp>
      </p:grpSp>
      <p:grpSp>
        <p:nvGrpSpPr>
          <p:cNvPr id="389194" name="Group 74"/>
          <p:cNvGrpSpPr/>
          <p:nvPr/>
        </p:nvGrpSpPr>
        <p:grpSpPr>
          <a:xfrm>
            <a:off x="6937375" y="1598613"/>
            <a:ext cx="207963" cy="3962400"/>
            <a:chOff x="4032" y="624"/>
            <a:chExt cx="144" cy="2496"/>
          </a:xfrm>
        </p:grpSpPr>
        <p:sp>
          <p:nvSpPr>
            <p:cNvPr id="82009" name="Line 75"/>
            <p:cNvSpPr/>
            <p:nvPr/>
          </p:nvSpPr>
          <p:spPr>
            <a:xfrm>
              <a:off x="4032" y="624"/>
              <a:ext cx="144" cy="0"/>
            </a:xfrm>
            <a:prstGeom prst="line">
              <a:avLst/>
            </a:prstGeom>
            <a:ln w="28575" cap="flat" cmpd="sng">
              <a:solidFill>
                <a:schemeClr val="tx1"/>
              </a:solidFill>
              <a:prstDash val="solid"/>
              <a:headEnd type="none" w="med" len="med"/>
              <a:tailEnd type="none" w="med" len="med"/>
            </a:ln>
          </p:spPr>
        </p:sp>
        <p:sp>
          <p:nvSpPr>
            <p:cNvPr id="82010" name="Freeform 76"/>
            <p:cNvSpPr/>
            <p:nvPr/>
          </p:nvSpPr>
          <p:spPr>
            <a:xfrm>
              <a:off x="4032" y="1680"/>
              <a:ext cx="144" cy="240"/>
            </a:xfrm>
            <a:custGeom>
              <a:avLst/>
              <a:gdLst/>
              <a:ahLst/>
              <a:cxnLst>
                <a:cxn ang="0">
                  <a:pos x="0" y="240"/>
                </a:cxn>
                <a:cxn ang="0">
                  <a:pos x="144" y="0"/>
                </a:cxn>
              </a:cxnLst>
              <a:pathLst>
                <a:path w="144" h="240">
                  <a:moveTo>
                    <a:pt x="0" y="240"/>
                  </a:moveTo>
                  <a:cubicBezTo>
                    <a:pt x="48" y="81"/>
                    <a:pt x="60" y="69"/>
                    <a:pt x="144"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2011" name="Line 77"/>
            <p:cNvSpPr/>
            <p:nvPr/>
          </p:nvSpPr>
          <p:spPr>
            <a:xfrm>
              <a:off x="4032" y="2352"/>
              <a:ext cx="144" cy="0"/>
            </a:xfrm>
            <a:prstGeom prst="line">
              <a:avLst/>
            </a:prstGeom>
            <a:ln w="28575" cap="flat" cmpd="sng">
              <a:solidFill>
                <a:schemeClr val="tx1"/>
              </a:solidFill>
              <a:prstDash val="solid"/>
              <a:headEnd type="none" w="med" len="med"/>
              <a:tailEnd type="none" w="med" len="med"/>
            </a:ln>
          </p:spPr>
        </p:sp>
        <p:sp>
          <p:nvSpPr>
            <p:cNvPr id="82012" name="Line 78"/>
            <p:cNvSpPr/>
            <p:nvPr/>
          </p:nvSpPr>
          <p:spPr>
            <a:xfrm>
              <a:off x="4032" y="3120"/>
              <a:ext cx="144" cy="0"/>
            </a:xfrm>
            <a:prstGeom prst="line">
              <a:avLst/>
            </a:prstGeom>
            <a:ln w="28575" cap="flat" cmpd="sng">
              <a:solidFill>
                <a:schemeClr val="tx1"/>
              </a:solidFill>
              <a:prstDash val="solid"/>
              <a:headEnd type="none" w="med" len="med"/>
              <a:tailEnd type="none" w="med" len="med"/>
            </a:ln>
          </p:spPr>
        </p:sp>
      </p:grpSp>
      <p:grpSp>
        <p:nvGrpSpPr>
          <p:cNvPr id="389199" name="Group 79"/>
          <p:cNvGrpSpPr/>
          <p:nvPr/>
        </p:nvGrpSpPr>
        <p:grpSpPr>
          <a:xfrm>
            <a:off x="7159625" y="1598613"/>
            <a:ext cx="207963" cy="4724400"/>
            <a:chOff x="4176" y="624"/>
            <a:chExt cx="144" cy="2976"/>
          </a:xfrm>
        </p:grpSpPr>
        <p:sp>
          <p:nvSpPr>
            <p:cNvPr id="82001" name="Line 80"/>
            <p:cNvSpPr/>
            <p:nvPr/>
          </p:nvSpPr>
          <p:spPr>
            <a:xfrm>
              <a:off x="4176" y="624"/>
              <a:ext cx="0" cy="432"/>
            </a:xfrm>
            <a:prstGeom prst="line">
              <a:avLst/>
            </a:prstGeom>
            <a:ln w="28575" cap="flat" cmpd="sng">
              <a:solidFill>
                <a:schemeClr val="tx1"/>
              </a:solidFill>
              <a:prstDash val="solid"/>
              <a:headEnd type="none" w="med" len="med"/>
              <a:tailEnd type="none" w="med" len="med"/>
            </a:ln>
          </p:spPr>
        </p:sp>
        <p:sp>
          <p:nvSpPr>
            <p:cNvPr id="82002" name="Line 81"/>
            <p:cNvSpPr/>
            <p:nvPr/>
          </p:nvSpPr>
          <p:spPr>
            <a:xfrm>
              <a:off x="4176" y="1056"/>
              <a:ext cx="144" cy="0"/>
            </a:xfrm>
            <a:prstGeom prst="line">
              <a:avLst/>
            </a:prstGeom>
            <a:ln w="28575" cap="flat" cmpd="sng">
              <a:solidFill>
                <a:schemeClr val="tx1"/>
              </a:solidFill>
              <a:prstDash val="solid"/>
              <a:headEnd type="none" w="med" len="med"/>
              <a:tailEnd type="none" w="med" len="med"/>
            </a:ln>
          </p:spPr>
        </p:sp>
        <p:sp>
          <p:nvSpPr>
            <p:cNvPr id="82003" name="Line 82"/>
            <p:cNvSpPr/>
            <p:nvPr/>
          </p:nvSpPr>
          <p:spPr>
            <a:xfrm flipV="1">
              <a:off x="4320" y="624"/>
              <a:ext cx="0" cy="432"/>
            </a:xfrm>
            <a:prstGeom prst="line">
              <a:avLst/>
            </a:prstGeom>
            <a:ln w="28575" cap="flat" cmpd="sng">
              <a:solidFill>
                <a:schemeClr val="tx1"/>
              </a:solidFill>
              <a:prstDash val="solid"/>
              <a:headEnd type="none" w="med" len="med"/>
              <a:tailEnd type="none" w="med" len="med"/>
            </a:ln>
          </p:spPr>
        </p:sp>
        <p:sp>
          <p:nvSpPr>
            <p:cNvPr id="82004" name="Line 83"/>
            <p:cNvSpPr/>
            <p:nvPr/>
          </p:nvSpPr>
          <p:spPr>
            <a:xfrm>
              <a:off x="4176" y="672"/>
              <a:ext cx="0" cy="2928"/>
            </a:xfrm>
            <a:prstGeom prst="line">
              <a:avLst/>
            </a:prstGeom>
            <a:ln w="12700" cap="flat" cmpd="sng">
              <a:solidFill>
                <a:schemeClr val="tx1"/>
              </a:solidFill>
              <a:prstDash val="lgDash"/>
              <a:headEnd type="none" w="med" len="med"/>
              <a:tailEnd type="none" w="med" len="med"/>
            </a:ln>
          </p:spPr>
        </p:sp>
        <p:sp>
          <p:nvSpPr>
            <p:cNvPr id="82005" name="Line 84"/>
            <p:cNvSpPr/>
            <p:nvPr/>
          </p:nvSpPr>
          <p:spPr>
            <a:xfrm>
              <a:off x="4320" y="672"/>
              <a:ext cx="0" cy="2928"/>
            </a:xfrm>
            <a:prstGeom prst="line">
              <a:avLst/>
            </a:prstGeom>
            <a:ln w="12700" cap="flat" cmpd="sng">
              <a:solidFill>
                <a:schemeClr val="tx1"/>
              </a:solidFill>
              <a:prstDash val="lgDash"/>
              <a:headEnd type="none" w="med" len="med"/>
              <a:tailEnd type="none" w="med" len="med"/>
            </a:ln>
          </p:spPr>
        </p:sp>
        <p:sp>
          <p:nvSpPr>
            <p:cNvPr id="82006" name="Freeform 85"/>
            <p:cNvSpPr/>
            <p:nvPr/>
          </p:nvSpPr>
          <p:spPr>
            <a:xfrm>
              <a:off x="4176" y="1680"/>
              <a:ext cx="144" cy="255"/>
            </a:xfrm>
            <a:custGeom>
              <a:avLst/>
              <a:gdLst/>
              <a:ahLst/>
              <a:cxnLst>
                <a:cxn ang="0">
                  <a:pos x="0" y="0"/>
                </a:cxn>
                <a:cxn ang="0">
                  <a:pos x="144" y="249"/>
                </a:cxn>
              </a:cxnLst>
              <a:pathLst>
                <a:path w="144" h="255">
                  <a:moveTo>
                    <a:pt x="0" y="0"/>
                  </a:moveTo>
                  <a:cubicBezTo>
                    <a:pt x="6" y="48"/>
                    <a:pt x="24" y="255"/>
                    <a:pt x="144" y="249"/>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2007" name="Line 86"/>
            <p:cNvSpPr/>
            <p:nvPr/>
          </p:nvSpPr>
          <p:spPr>
            <a:xfrm>
              <a:off x="4176" y="2352"/>
              <a:ext cx="144" cy="0"/>
            </a:xfrm>
            <a:prstGeom prst="line">
              <a:avLst/>
            </a:prstGeom>
            <a:ln w="28575" cap="flat" cmpd="sng">
              <a:solidFill>
                <a:schemeClr val="tx1"/>
              </a:solidFill>
              <a:prstDash val="solid"/>
              <a:headEnd type="none" w="med" len="med"/>
              <a:tailEnd type="none" w="med" len="med"/>
            </a:ln>
          </p:spPr>
        </p:sp>
        <p:sp>
          <p:nvSpPr>
            <p:cNvPr id="82008" name="Line 87"/>
            <p:cNvSpPr/>
            <p:nvPr/>
          </p:nvSpPr>
          <p:spPr>
            <a:xfrm>
              <a:off x="4176" y="3120"/>
              <a:ext cx="144" cy="0"/>
            </a:xfrm>
            <a:prstGeom prst="line">
              <a:avLst/>
            </a:prstGeom>
            <a:ln w="28575" cap="flat" cmpd="sng">
              <a:solidFill>
                <a:schemeClr val="tx1"/>
              </a:solidFill>
              <a:prstDash val="solid"/>
              <a:headEnd type="none" w="med" len="med"/>
              <a:tailEnd type="none" w="med" len="med"/>
            </a:ln>
          </p:spPr>
        </p:sp>
      </p:grpSp>
      <p:grpSp>
        <p:nvGrpSpPr>
          <p:cNvPr id="389208" name="Group 88"/>
          <p:cNvGrpSpPr/>
          <p:nvPr/>
        </p:nvGrpSpPr>
        <p:grpSpPr>
          <a:xfrm>
            <a:off x="7388225" y="1598613"/>
            <a:ext cx="415925" cy="3962400"/>
            <a:chOff x="4320" y="624"/>
            <a:chExt cx="288" cy="2496"/>
          </a:xfrm>
        </p:grpSpPr>
        <p:sp>
          <p:nvSpPr>
            <p:cNvPr id="81997" name="Line 89"/>
            <p:cNvSpPr/>
            <p:nvPr/>
          </p:nvSpPr>
          <p:spPr>
            <a:xfrm>
              <a:off x="4320" y="624"/>
              <a:ext cx="288" cy="0"/>
            </a:xfrm>
            <a:prstGeom prst="line">
              <a:avLst/>
            </a:prstGeom>
            <a:ln w="28575" cap="flat" cmpd="sng">
              <a:solidFill>
                <a:schemeClr val="tx1"/>
              </a:solidFill>
              <a:prstDash val="solid"/>
              <a:headEnd type="none" w="med" len="med"/>
              <a:tailEnd type="none" w="med" len="med"/>
            </a:ln>
          </p:spPr>
        </p:sp>
        <p:sp>
          <p:nvSpPr>
            <p:cNvPr id="81998" name="Freeform 90"/>
            <p:cNvSpPr/>
            <p:nvPr/>
          </p:nvSpPr>
          <p:spPr>
            <a:xfrm>
              <a:off x="4320" y="1611"/>
              <a:ext cx="285" cy="321"/>
            </a:xfrm>
            <a:custGeom>
              <a:avLst/>
              <a:gdLst/>
              <a:ahLst/>
              <a:cxnLst>
                <a:cxn ang="0">
                  <a:pos x="0" y="321"/>
                </a:cxn>
                <a:cxn ang="0">
                  <a:pos x="285" y="0"/>
                </a:cxn>
              </a:cxnLst>
              <a:pathLst>
                <a:path w="285" h="321">
                  <a:moveTo>
                    <a:pt x="0" y="321"/>
                  </a:moveTo>
                  <a:cubicBezTo>
                    <a:pt x="48" y="164"/>
                    <a:pt x="141" y="53"/>
                    <a:pt x="285"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1999" name="Line 91"/>
            <p:cNvSpPr/>
            <p:nvPr/>
          </p:nvSpPr>
          <p:spPr>
            <a:xfrm>
              <a:off x="4320" y="2352"/>
              <a:ext cx="288" cy="0"/>
            </a:xfrm>
            <a:prstGeom prst="line">
              <a:avLst/>
            </a:prstGeom>
            <a:ln w="28575" cap="flat" cmpd="sng">
              <a:solidFill>
                <a:schemeClr val="tx1"/>
              </a:solidFill>
              <a:prstDash val="solid"/>
              <a:headEnd type="none" w="med" len="med"/>
              <a:tailEnd type="none" w="med" len="med"/>
            </a:ln>
          </p:spPr>
        </p:sp>
        <p:sp>
          <p:nvSpPr>
            <p:cNvPr id="82000" name="Line 92"/>
            <p:cNvSpPr/>
            <p:nvPr/>
          </p:nvSpPr>
          <p:spPr>
            <a:xfrm>
              <a:off x="4320" y="3120"/>
              <a:ext cx="288" cy="0"/>
            </a:xfrm>
            <a:prstGeom prst="line">
              <a:avLst/>
            </a:prstGeom>
            <a:ln w="28575" cap="flat" cmpd="sng">
              <a:solidFill>
                <a:schemeClr val="tx1"/>
              </a:solidFill>
              <a:prstDash val="solid"/>
              <a:headEnd type="none" w="med" len="med"/>
              <a:tailEnd type="none" w="med" len="med"/>
            </a:ln>
          </p:spPr>
        </p:sp>
      </p:grpSp>
      <p:grpSp>
        <p:nvGrpSpPr>
          <p:cNvPr id="389213" name="Group 93"/>
          <p:cNvGrpSpPr/>
          <p:nvPr/>
        </p:nvGrpSpPr>
        <p:grpSpPr>
          <a:xfrm>
            <a:off x="7807325" y="1598613"/>
            <a:ext cx="138113" cy="4724400"/>
            <a:chOff x="4608" y="624"/>
            <a:chExt cx="96" cy="2976"/>
          </a:xfrm>
        </p:grpSpPr>
        <p:sp>
          <p:nvSpPr>
            <p:cNvPr id="81989" name="Line 94"/>
            <p:cNvSpPr/>
            <p:nvPr/>
          </p:nvSpPr>
          <p:spPr>
            <a:xfrm>
              <a:off x="4608" y="624"/>
              <a:ext cx="0" cy="432"/>
            </a:xfrm>
            <a:prstGeom prst="line">
              <a:avLst/>
            </a:prstGeom>
            <a:ln w="28575" cap="flat" cmpd="sng">
              <a:solidFill>
                <a:schemeClr val="tx1"/>
              </a:solidFill>
              <a:prstDash val="solid"/>
              <a:headEnd type="none" w="med" len="med"/>
              <a:tailEnd type="none" w="med" len="med"/>
            </a:ln>
          </p:spPr>
        </p:sp>
        <p:sp>
          <p:nvSpPr>
            <p:cNvPr id="81990" name="Line 95"/>
            <p:cNvSpPr/>
            <p:nvPr/>
          </p:nvSpPr>
          <p:spPr>
            <a:xfrm>
              <a:off x="4608" y="1056"/>
              <a:ext cx="96" cy="0"/>
            </a:xfrm>
            <a:prstGeom prst="line">
              <a:avLst/>
            </a:prstGeom>
            <a:ln w="28575" cap="flat" cmpd="sng">
              <a:solidFill>
                <a:schemeClr val="tx1"/>
              </a:solidFill>
              <a:prstDash val="solid"/>
              <a:headEnd type="none" w="med" len="med"/>
              <a:tailEnd type="none" w="med" len="med"/>
            </a:ln>
          </p:spPr>
        </p:sp>
        <p:sp>
          <p:nvSpPr>
            <p:cNvPr id="81991" name="Line 96"/>
            <p:cNvSpPr/>
            <p:nvPr/>
          </p:nvSpPr>
          <p:spPr>
            <a:xfrm>
              <a:off x="4704" y="624"/>
              <a:ext cx="0" cy="432"/>
            </a:xfrm>
            <a:prstGeom prst="line">
              <a:avLst/>
            </a:prstGeom>
            <a:ln w="28575" cap="flat" cmpd="sng">
              <a:solidFill>
                <a:schemeClr val="tx1"/>
              </a:solidFill>
              <a:prstDash val="solid"/>
              <a:headEnd type="none" w="med" len="med"/>
              <a:tailEnd type="none" w="med" len="med"/>
            </a:ln>
          </p:spPr>
        </p:sp>
        <p:sp>
          <p:nvSpPr>
            <p:cNvPr id="81992" name="Line 97"/>
            <p:cNvSpPr/>
            <p:nvPr/>
          </p:nvSpPr>
          <p:spPr>
            <a:xfrm>
              <a:off x="4608" y="672"/>
              <a:ext cx="0" cy="2928"/>
            </a:xfrm>
            <a:prstGeom prst="line">
              <a:avLst/>
            </a:prstGeom>
            <a:ln w="12700" cap="flat" cmpd="sng">
              <a:solidFill>
                <a:schemeClr val="tx1"/>
              </a:solidFill>
              <a:prstDash val="lgDash"/>
              <a:headEnd type="none" w="med" len="med"/>
              <a:tailEnd type="none" w="med" len="med"/>
            </a:ln>
          </p:spPr>
        </p:sp>
        <p:sp>
          <p:nvSpPr>
            <p:cNvPr id="81993" name="Line 98"/>
            <p:cNvSpPr/>
            <p:nvPr/>
          </p:nvSpPr>
          <p:spPr>
            <a:xfrm>
              <a:off x="4704" y="672"/>
              <a:ext cx="0" cy="2928"/>
            </a:xfrm>
            <a:prstGeom prst="line">
              <a:avLst/>
            </a:prstGeom>
            <a:ln w="12700" cap="flat" cmpd="sng">
              <a:solidFill>
                <a:schemeClr val="tx1"/>
              </a:solidFill>
              <a:prstDash val="lgDash"/>
              <a:headEnd type="none" w="med" len="med"/>
              <a:tailEnd type="none" w="med" len="med"/>
            </a:ln>
          </p:spPr>
        </p:sp>
        <p:sp>
          <p:nvSpPr>
            <p:cNvPr id="81994" name="Freeform 99"/>
            <p:cNvSpPr/>
            <p:nvPr/>
          </p:nvSpPr>
          <p:spPr>
            <a:xfrm>
              <a:off x="4611" y="1611"/>
              <a:ext cx="93" cy="309"/>
            </a:xfrm>
            <a:custGeom>
              <a:avLst/>
              <a:gdLst/>
              <a:ahLst/>
              <a:cxnLst>
                <a:cxn ang="0">
                  <a:pos x="0" y="0"/>
                </a:cxn>
                <a:cxn ang="0">
                  <a:pos x="93" y="309"/>
                </a:cxn>
              </a:cxnLst>
              <a:pathLst>
                <a:path w="93" h="309">
                  <a:moveTo>
                    <a:pt x="0" y="0"/>
                  </a:moveTo>
                  <a:cubicBezTo>
                    <a:pt x="6" y="65"/>
                    <a:pt x="9" y="264"/>
                    <a:pt x="93" y="309"/>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1995" name="Line 100"/>
            <p:cNvSpPr/>
            <p:nvPr/>
          </p:nvSpPr>
          <p:spPr>
            <a:xfrm>
              <a:off x="4608" y="2352"/>
              <a:ext cx="96" cy="0"/>
            </a:xfrm>
            <a:prstGeom prst="line">
              <a:avLst/>
            </a:prstGeom>
            <a:ln w="28575" cap="flat" cmpd="sng">
              <a:solidFill>
                <a:schemeClr val="tx1"/>
              </a:solidFill>
              <a:prstDash val="solid"/>
              <a:headEnd type="none" w="med" len="med"/>
              <a:tailEnd type="none" w="med" len="med"/>
            </a:ln>
          </p:spPr>
        </p:sp>
        <p:sp>
          <p:nvSpPr>
            <p:cNvPr id="81996" name="Line 101"/>
            <p:cNvSpPr/>
            <p:nvPr/>
          </p:nvSpPr>
          <p:spPr>
            <a:xfrm>
              <a:off x="4608" y="3120"/>
              <a:ext cx="96" cy="0"/>
            </a:xfrm>
            <a:prstGeom prst="line">
              <a:avLst/>
            </a:prstGeom>
            <a:ln w="28575" cap="flat" cmpd="sng">
              <a:solidFill>
                <a:schemeClr val="tx1"/>
              </a:solidFill>
              <a:prstDash val="solid"/>
              <a:headEnd type="none" w="med" len="med"/>
              <a:tailEnd type="none" w="med" len="med"/>
            </a:ln>
          </p:spPr>
        </p:sp>
      </p:grpSp>
      <p:grpSp>
        <p:nvGrpSpPr>
          <p:cNvPr id="389222" name="Group 102"/>
          <p:cNvGrpSpPr/>
          <p:nvPr/>
        </p:nvGrpSpPr>
        <p:grpSpPr>
          <a:xfrm>
            <a:off x="7959725" y="1598613"/>
            <a:ext cx="971550" cy="3962400"/>
            <a:chOff x="4704" y="624"/>
            <a:chExt cx="672" cy="2496"/>
          </a:xfrm>
        </p:grpSpPr>
        <p:sp>
          <p:nvSpPr>
            <p:cNvPr id="81985" name="Line 103"/>
            <p:cNvSpPr/>
            <p:nvPr/>
          </p:nvSpPr>
          <p:spPr>
            <a:xfrm>
              <a:off x="4704" y="624"/>
              <a:ext cx="672" cy="0"/>
            </a:xfrm>
            <a:prstGeom prst="line">
              <a:avLst/>
            </a:prstGeom>
            <a:ln w="28575" cap="flat" cmpd="sng">
              <a:solidFill>
                <a:schemeClr val="tx1"/>
              </a:solidFill>
              <a:prstDash val="solid"/>
              <a:headEnd type="none" w="med" len="med"/>
              <a:tailEnd type="none" w="med" len="med"/>
            </a:ln>
          </p:spPr>
        </p:sp>
        <p:sp>
          <p:nvSpPr>
            <p:cNvPr id="81986" name="Freeform 104"/>
            <p:cNvSpPr/>
            <p:nvPr/>
          </p:nvSpPr>
          <p:spPr>
            <a:xfrm>
              <a:off x="4704" y="1568"/>
              <a:ext cx="384" cy="358"/>
            </a:xfrm>
            <a:custGeom>
              <a:avLst/>
              <a:gdLst/>
              <a:ahLst/>
              <a:cxnLst>
                <a:cxn ang="0">
                  <a:pos x="0" y="316"/>
                </a:cxn>
                <a:cxn ang="0">
                  <a:pos x="384" y="0"/>
                </a:cxn>
              </a:cxnLst>
              <a:pathLst>
                <a:path w="384" h="406">
                  <a:moveTo>
                    <a:pt x="0" y="406"/>
                  </a:moveTo>
                  <a:cubicBezTo>
                    <a:pt x="75" y="117"/>
                    <a:pt x="244" y="77"/>
                    <a:pt x="384"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1987" name="Line 105"/>
            <p:cNvSpPr/>
            <p:nvPr/>
          </p:nvSpPr>
          <p:spPr>
            <a:xfrm>
              <a:off x="4704" y="2352"/>
              <a:ext cx="336" cy="0"/>
            </a:xfrm>
            <a:prstGeom prst="line">
              <a:avLst/>
            </a:prstGeom>
            <a:ln w="28575" cap="flat" cmpd="sng">
              <a:solidFill>
                <a:schemeClr val="tx1"/>
              </a:solidFill>
              <a:prstDash val="solid"/>
              <a:headEnd type="none" w="med" len="med"/>
              <a:tailEnd type="none" w="med" len="med"/>
            </a:ln>
          </p:spPr>
        </p:sp>
        <p:sp>
          <p:nvSpPr>
            <p:cNvPr id="81988" name="Line 106"/>
            <p:cNvSpPr/>
            <p:nvPr/>
          </p:nvSpPr>
          <p:spPr>
            <a:xfrm>
              <a:off x="4704" y="3120"/>
              <a:ext cx="384" cy="0"/>
            </a:xfrm>
            <a:prstGeom prst="line">
              <a:avLst/>
            </a:prstGeom>
            <a:ln w="28575" cap="flat" cmpd="sng">
              <a:solidFill>
                <a:schemeClr val="tx1"/>
              </a:solidFill>
              <a:prstDash val="solid"/>
              <a:headEnd type="none" w="med" len="med"/>
              <a:tailEnd type="none" w="med" len="med"/>
            </a:ln>
          </p:spPr>
        </p:sp>
      </p:grpSp>
      <p:grpSp>
        <p:nvGrpSpPr>
          <p:cNvPr id="389227" name="Group 107"/>
          <p:cNvGrpSpPr/>
          <p:nvPr/>
        </p:nvGrpSpPr>
        <p:grpSpPr>
          <a:xfrm>
            <a:off x="8429625" y="1585913"/>
            <a:ext cx="344488" cy="4724400"/>
            <a:chOff x="5040" y="624"/>
            <a:chExt cx="238" cy="2976"/>
          </a:xfrm>
        </p:grpSpPr>
        <p:sp>
          <p:nvSpPr>
            <p:cNvPr id="81976" name="Line 108"/>
            <p:cNvSpPr/>
            <p:nvPr/>
          </p:nvSpPr>
          <p:spPr>
            <a:xfrm>
              <a:off x="5040" y="624"/>
              <a:ext cx="0" cy="2976"/>
            </a:xfrm>
            <a:prstGeom prst="line">
              <a:avLst/>
            </a:prstGeom>
            <a:ln w="12700" cap="flat" cmpd="sng">
              <a:solidFill>
                <a:schemeClr val="tx1"/>
              </a:solidFill>
              <a:prstDash val="lgDash"/>
              <a:headEnd type="none" w="med" len="med"/>
              <a:tailEnd type="none" w="med" len="med"/>
            </a:ln>
          </p:spPr>
        </p:sp>
        <p:sp>
          <p:nvSpPr>
            <p:cNvPr id="81977" name="Line 109"/>
            <p:cNvSpPr/>
            <p:nvPr/>
          </p:nvSpPr>
          <p:spPr>
            <a:xfrm>
              <a:off x="5088" y="624"/>
              <a:ext cx="0" cy="2976"/>
            </a:xfrm>
            <a:prstGeom prst="line">
              <a:avLst/>
            </a:prstGeom>
            <a:ln w="12700" cap="flat" cmpd="sng">
              <a:solidFill>
                <a:schemeClr val="tx1"/>
              </a:solidFill>
              <a:prstDash val="lgDash"/>
              <a:headEnd type="none" w="med" len="med"/>
              <a:tailEnd type="none" w="med" len="med"/>
            </a:ln>
          </p:spPr>
        </p:sp>
        <p:sp>
          <p:nvSpPr>
            <p:cNvPr id="81978" name="Line 110"/>
            <p:cNvSpPr/>
            <p:nvPr/>
          </p:nvSpPr>
          <p:spPr>
            <a:xfrm>
              <a:off x="5040" y="2352"/>
              <a:ext cx="0" cy="384"/>
            </a:xfrm>
            <a:prstGeom prst="line">
              <a:avLst/>
            </a:prstGeom>
            <a:ln w="28575" cap="flat" cmpd="sng">
              <a:solidFill>
                <a:schemeClr val="tx1"/>
              </a:solidFill>
              <a:prstDash val="solid"/>
              <a:headEnd type="none" w="med" len="med"/>
              <a:tailEnd type="none" w="med" len="med"/>
            </a:ln>
          </p:spPr>
        </p:sp>
        <p:sp>
          <p:nvSpPr>
            <p:cNvPr id="81979" name="Line 111"/>
            <p:cNvSpPr/>
            <p:nvPr/>
          </p:nvSpPr>
          <p:spPr>
            <a:xfrm>
              <a:off x="5088" y="3120"/>
              <a:ext cx="0" cy="432"/>
            </a:xfrm>
            <a:prstGeom prst="line">
              <a:avLst/>
            </a:prstGeom>
            <a:ln w="28575" cap="flat" cmpd="sng">
              <a:solidFill>
                <a:schemeClr val="tx1"/>
              </a:solidFill>
              <a:prstDash val="solid"/>
              <a:headEnd type="none" w="med" len="med"/>
              <a:tailEnd type="none" w="med" len="med"/>
            </a:ln>
          </p:spPr>
        </p:sp>
        <p:sp>
          <p:nvSpPr>
            <p:cNvPr id="81980" name="Line 112"/>
            <p:cNvSpPr/>
            <p:nvPr/>
          </p:nvSpPr>
          <p:spPr>
            <a:xfrm>
              <a:off x="5040" y="2736"/>
              <a:ext cx="48" cy="0"/>
            </a:xfrm>
            <a:prstGeom prst="line">
              <a:avLst/>
            </a:prstGeom>
            <a:ln w="28575" cap="flat" cmpd="sng">
              <a:solidFill>
                <a:schemeClr val="tx1"/>
              </a:solidFill>
              <a:prstDash val="solid"/>
              <a:headEnd type="none" w="med" len="med"/>
              <a:tailEnd type="none" w="med" len="med"/>
            </a:ln>
          </p:spPr>
        </p:sp>
        <p:sp>
          <p:nvSpPr>
            <p:cNvPr id="81981" name="Line 113"/>
            <p:cNvSpPr/>
            <p:nvPr/>
          </p:nvSpPr>
          <p:spPr>
            <a:xfrm flipV="1">
              <a:off x="5088" y="2352"/>
              <a:ext cx="0" cy="384"/>
            </a:xfrm>
            <a:prstGeom prst="line">
              <a:avLst/>
            </a:prstGeom>
            <a:ln w="28575" cap="flat" cmpd="sng">
              <a:solidFill>
                <a:schemeClr val="tx1"/>
              </a:solidFill>
              <a:prstDash val="solid"/>
              <a:headEnd type="none" w="med" len="med"/>
              <a:tailEnd type="none" w="med" len="med"/>
            </a:ln>
          </p:spPr>
        </p:sp>
        <p:sp>
          <p:nvSpPr>
            <p:cNvPr id="81982" name="Line 114"/>
            <p:cNvSpPr/>
            <p:nvPr/>
          </p:nvSpPr>
          <p:spPr>
            <a:xfrm>
              <a:off x="5088" y="3552"/>
              <a:ext cx="144" cy="0"/>
            </a:xfrm>
            <a:prstGeom prst="line">
              <a:avLst/>
            </a:prstGeom>
            <a:ln w="28575" cap="flat" cmpd="sng">
              <a:solidFill>
                <a:schemeClr val="tx1"/>
              </a:solidFill>
              <a:prstDash val="solid"/>
              <a:headEnd type="none" w="med" len="med"/>
              <a:tailEnd type="none" w="med" len="med"/>
            </a:ln>
          </p:spPr>
        </p:sp>
        <p:sp>
          <p:nvSpPr>
            <p:cNvPr id="81983" name="Line 115"/>
            <p:cNvSpPr/>
            <p:nvPr/>
          </p:nvSpPr>
          <p:spPr>
            <a:xfrm>
              <a:off x="5088" y="2352"/>
              <a:ext cx="144" cy="0"/>
            </a:xfrm>
            <a:prstGeom prst="line">
              <a:avLst/>
            </a:prstGeom>
            <a:ln w="28575" cap="flat" cmpd="sng">
              <a:solidFill>
                <a:schemeClr val="tx1"/>
              </a:solidFill>
              <a:prstDash val="solid"/>
              <a:headEnd type="none" w="med" len="med"/>
              <a:tailEnd type="none" w="med" len="med"/>
            </a:ln>
          </p:spPr>
        </p:sp>
        <p:sp>
          <p:nvSpPr>
            <p:cNvPr id="81984" name="Freeform 116"/>
            <p:cNvSpPr/>
            <p:nvPr/>
          </p:nvSpPr>
          <p:spPr>
            <a:xfrm>
              <a:off x="5088" y="1575"/>
              <a:ext cx="190" cy="361"/>
            </a:xfrm>
            <a:custGeom>
              <a:avLst/>
              <a:gdLst/>
              <a:ahLst/>
              <a:cxnLst>
                <a:cxn ang="0">
                  <a:pos x="0" y="0"/>
                </a:cxn>
                <a:cxn ang="0">
                  <a:pos x="44" y="327"/>
                </a:cxn>
              </a:cxnLst>
              <a:pathLst>
                <a:path w="816" h="399">
                  <a:moveTo>
                    <a:pt x="0" y="0"/>
                  </a:moveTo>
                  <a:cubicBezTo>
                    <a:pt x="48" y="90"/>
                    <a:pt x="105" y="336"/>
                    <a:pt x="816" y="399"/>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389237" name="Group 117"/>
          <p:cNvGrpSpPr/>
          <p:nvPr/>
        </p:nvGrpSpPr>
        <p:grpSpPr>
          <a:xfrm>
            <a:off x="4148112" y="2452688"/>
            <a:ext cx="4002113" cy="830295"/>
            <a:chOff x="2112" y="1152"/>
            <a:chExt cx="3024" cy="568"/>
          </a:xfrm>
        </p:grpSpPr>
        <p:grpSp>
          <p:nvGrpSpPr>
            <p:cNvPr id="81970" name="Group 118"/>
            <p:cNvGrpSpPr/>
            <p:nvPr/>
          </p:nvGrpSpPr>
          <p:grpSpPr>
            <a:xfrm>
              <a:off x="2112" y="1448"/>
              <a:ext cx="3024" cy="272"/>
              <a:chOff x="2352" y="1256"/>
              <a:chExt cx="3024" cy="272"/>
            </a:xfrm>
          </p:grpSpPr>
          <p:sp>
            <p:nvSpPr>
              <p:cNvPr id="81974" name="Text Box 119"/>
              <p:cNvSpPr txBox="1"/>
              <p:nvPr/>
            </p:nvSpPr>
            <p:spPr>
              <a:xfrm>
                <a:off x="2352" y="1256"/>
                <a:ext cx="701" cy="272"/>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FF0000"/>
                    </a:solidFill>
                    <a:latin typeface="Times New Roman" panose="02020603050405020304" charset="0"/>
                  </a:rPr>
                  <a:t>2/3V</a:t>
                </a:r>
                <a:r>
                  <a:rPr lang="en-US" altLang="zh-CN" sz="2000" b="1" baseline="-25000" dirty="0">
                    <a:solidFill>
                      <a:srgbClr val="FF0000"/>
                    </a:solidFill>
                    <a:latin typeface="Times New Roman" panose="02020603050405020304" charset="0"/>
                  </a:rPr>
                  <a:t>CC</a:t>
                </a:r>
                <a:endParaRPr lang="en-US" altLang="zh-CN" sz="2000" b="1" baseline="-25000" dirty="0">
                  <a:solidFill>
                    <a:srgbClr val="FF0000"/>
                  </a:solidFill>
                  <a:latin typeface="Times New Roman" panose="02020603050405020304" charset="0"/>
                </a:endParaRPr>
              </a:p>
            </p:txBody>
          </p:sp>
          <p:sp>
            <p:nvSpPr>
              <p:cNvPr id="81975" name="Line 120"/>
              <p:cNvSpPr/>
              <p:nvPr/>
            </p:nvSpPr>
            <p:spPr>
              <a:xfrm>
                <a:off x="2832" y="1392"/>
                <a:ext cx="2544" cy="0"/>
              </a:xfrm>
              <a:prstGeom prst="line">
                <a:avLst/>
              </a:prstGeom>
              <a:ln w="12700" cap="flat" cmpd="sng">
                <a:solidFill>
                  <a:schemeClr val="tx1"/>
                </a:solidFill>
                <a:prstDash val="lgDash"/>
                <a:headEnd type="none" w="med" len="med"/>
                <a:tailEnd type="none" w="med" len="med"/>
              </a:ln>
            </p:spPr>
          </p:sp>
        </p:grpSp>
        <p:grpSp>
          <p:nvGrpSpPr>
            <p:cNvPr id="81971" name="Group 121"/>
            <p:cNvGrpSpPr/>
            <p:nvPr/>
          </p:nvGrpSpPr>
          <p:grpSpPr>
            <a:xfrm>
              <a:off x="2592" y="1152"/>
              <a:ext cx="2544" cy="313"/>
              <a:chOff x="2832" y="960"/>
              <a:chExt cx="2544" cy="313"/>
            </a:xfrm>
          </p:grpSpPr>
          <p:sp>
            <p:nvSpPr>
              <p:cNvPr id="81972" name="Line 122"/>
              <p:cNvSpPr/>
              <p:nvPr/>
            </p:nvSpPr>
            <p:spPr>
              <a:xfrm>
                <a:off x="2832" y="1248"/>
                <a:ext cx="2544" cy="0"/>
              </a:xfrm>
              <a:prstGeom prst="line">
                <a:avLst/>
              </a:prstGeom>
              <a:ln w="12700" cap="flat" cmpd="sng">
                <a:solidFill>
                  <a:schemeClr val="tx1"/>
                </a:solidFill>
                <a:prstDash val="lgDash"/>
                <a:headEnd type="none" w="med" len="med"/>
                <a:tailEnd type="none" w="med" len="med"/>
              </a:ln>
            </p:spPr>
          </p:sp>
          <p:sp>
            <p:nvSpPr>
              <p:cNvPr id="81973" name="Text Box 123"/>
              <p:cNvSpPr txBox="1"/>
              <p:nvPr/>
            </p:nvSpPr>
            <p:spPr>
              <a:xfrm>
                <a:off x="3456" y="960"/>
                <a:ext cx="511" cy="313"/>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rPr>
                  <a:t>V</a:t>
                </a:r>
                <a:r>
                  <a:rPr lang="en-US" altLang="zh-CN" sz="2400" b="1" baseline="-25000" dirty="0">
                    <a:latin typeface="Times New Roman" panose="02020603050405020304" charset="0"/>
                  </a:rPr>
                  <a:t>CC</a:t>
                </a:r>
                <a:endParaRPr lang="en-US" altLang="zh-CN" sz="2400" b="1" baseline="-25000" dirty="0">
                  <a:latin typeface="Times New Roman" panose="02020603050405020304" charset="0"/>
                </a:endParaRPr>
              </a:p>
            </p:txBody>
          </p:sp>
        </p:grpSp>
      </p:grpSp>
      <p:grpSp>
        <p:nvGrpSpPr>
          <p:cNvPr id="389244" name="Group 124"/>
          <p:cNvGrpSpPr/>
          <p:nvPr/>
        </p:nvGrpSpPr>
        <p:grpSpPr>
          <a:xfrm>
            <a:off x="5075238" y="5699125"/>
            <a:ext cx="865187" cy="457200"/>
            <a:chOff x="2832" y="3194"/>
            <a:chExt cx="516" cy="288"/>
          </a:xfrm>
        </p:grpSpPr>
        <p:sp>
          <p:nvSpPr>
            <p:cNvPr id="81967" name="Line 125"/>
            <p:cNvSpPr/>
            <p:nvPr/>
          </p:nvSpPr>
          <p:spPr>
            <a:xfrm flipH="1">
              <a:off x="2832" y="3360"/>
              <a:ext cx="144" cy="0"/>
            </a:xfrm>
            <a:prstGeom prst="line">
              <a:avLst/>
            </a:prstGeom>
            <a:ln w="28575" cap="flat" cmpd="sng">
              <a:solidFill>
                <a:schemeClr val="tx1"/>
              </a:solidFill>
              <a:prstDash val="solid"/>
              <a:headEnd type="none" w="med" len="med"/>
              <a:tailEnd type="triangle" w="med" len="med"/>
            </a:ln>
          </p:spPr>
        </p:sp>
        <p:sp>
          <p:nvSpPr>
            <p:cNvPr id="81968" name="Line 126"/>
            <p:cNvSpPr/>
            <p:nvPr/>
          </p:nvSpPr>
          <p:spPr>
            <a:xfrm>
              <a:off x="3168" y="3360"/>
              <a:ext cx="144" cy="0"/>
            </a:xfrm>
            <a:prstGeom prst="line">
              <a:avLst/>
            </a:prstGeom>
            <a:ln w="28575" cap="flat" cmpd="sng">
              <a:solidFill>
                <a:schemeClr val="tx1"/>
              </a:solidFill>
              <a:prstDash val="solid"/>
              <a:headEnd type="none" w="med" len="med"/>
              <a:tailEnd type="triangle" w="med" len="med"/>
            </a:ln>
          </p:spPr>
        </p:sp>
        <p:sp>
          <p:nvSpPr>
            <p:cNvPr id="81969" name="Text Box 127"/>
            <p:cNvSpPr txBox="1"/>
            <p:nvPr/>
          </p:nvSpPr>
          <p:spPr>
            <a:xfrm>
              <a:off x="2928" y="3194"/>
              <a:ext cx="420" cy="288"/>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rPr>
                <a:t>t</a:t>
              </a:r>
              <a:r>
                <a:rPr lang="en-US" altLang="zh-CN" sz="2400" b="1" baseline="-25000" dirty="0">
                  <a:latin typeface="Times New Roman" panose="02020603050405020304" charset="0"/>
                </a:rPr>
                <a:t>W</a:t>
              </a:r>
              <a:endParaRPr lang="en-US" altLang="zh-CN" sz="2400" b="1" baseline="-25000" dirty="0">
                <a:latin typeface="Times New Roman" panose="02020603050405020304" charset="0"/>
              </a:endParaRPr>
            </a:p>
          </p:txBody>
        </p:sp>
      </p:grpSp>
      <p:grpSp>
        <p:nvGrpSpPr>
          <p:cNvPr id="389248" name="Group 128"/>
          <p:cNvGrpSpPr/>
          <p:nvPr/>
        </p:nvGrpSpPr>
        <p:grpSpPr>
          <a:xfrm>
            <a:off x="7810500" y="5637213"/>
            <a:ext cx="758825" cy="457200"/>
            <a:chOff x="2832" y="3194"/>
            <a:chExt cx="516" cy="288"/>
          </a:xfrm>
        </p:grpSpPr>
        <p:sp>
          <p:nvSpPr>
            <p:cNvPr id="81964" name="Line 129"/>
            <p:cNvSpPr/>
            <p:nvPr/>
          </p:nvSpPr>
          <p:spPr>
            <a:xfrm flipH="1">
              <a:off x="2832" y="3360"/>
              <a:ext cx="144" cy="0"/>
            </a:xfrm>
            <a:prstGeom prst="line">
              <a:avLst/>
            </a:prstGeom>
            <a:ln w="28575" cap="flat" cmpd="sng">
              <a:solidFill>
                <a:schemeClr val="tx1"/>
              </a:solidFill>
              <a:prstDash val="solid"/>
              <a:headEnd type="none" w="med" len="med"/>
              <a:tailEnd type="triangle" w="med" len="med"/>
            </a:ln>
          </p:spPr>
        </p:sp>
        <p:sp>
          <p:nvSpPr>
            <p:cNvPr id="81965" name="Line 130"/>
            <p:cNvSpPr/>
            <p:nvPr/>
          </p:nvSpPr>
          <p:spPr>
            <a:xfrm>
              <a:off x="3168" y="3360"/>
              <a:ext cx="144" cy="0"/>
            </a:xfrm>
            <a:prstGeom prst="line">
              <a:avLst/>
            </a:prstGeom>
            <a:ln w="28575" cap="flat" cmpd="sng">
              <a:solidFill>
                <a:schemeClr val="tx1"/>
              </a:solidFill>
              <a:prstDash val="solid"/>
              <a:headEnd type="none" w="med" len="med"/>
              <a:tailEnd type="triangle" w="med" len="med"/>
            </a:ln>
          </p:spPr>
        </p:sp>
        <p:sp>
          <p:nvSpPr>
            <p:cNvPr id="81966" name="Text Box 131"/>
            <p:cNvSpPr txBox="1"/>
            <p:nvPr/>
          </p:nvSpPr>
          <p:spPr>
            <a:xfrm>
              <a:off x="2928" y="3194"/>
              <a:ext cx="420" cy="288"/>
            </a:xfrm>
            <a:prstGeom prst="rect">
              <a:avLst/>
            </a:prstGeom>
            <a:noFill/>
            <a:ln w="28575">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rPr>
                <a:t>t</a:t>
              </a:r>
              <a:r>
                <a:rPr lang="en-US" altLang="zh-CN" sz="2400" b="1" baseline="-25000" dirty="0">
                  <a:latin typeface="Times New Roman" panose="02020603050405020304" charset="0"/>
                </a:rPr>
                <a:t>W</a:t>
              </a:r>
              <a:endParaRPr lang="en-US" altLang="zh-CN" sz="2400" b="1" baseline="-25000" dirty="0">
                <a:latin typeface="Times New Roman" panose="02020603050405020304" charset="0"/>
              </a:endParaRPr>
            </a:p>
          </p:txBody>
        </p:sp>
      </p:grpSp>
      <p:sp>
        <p:nvSpPr>
          <p:cNvPr id="389252" name="Oval 132"/>
          <p:cNvSpPr/>
          <p:nvPr/>
        </p:nvSpPr>
        <p:spPr>
          <a:xfrm>
            <a:off x="5146675" y="3460750"/>
            <a:ext cx="288925" cy="288925"/>
          </a:xfrm>
          <a:prstGeom prst="ellipse">
            <a:avLst/>
          </a:prstGeom>
          <a:noFill/>
          <a:ln w="28575" cap="flat" cmpd="sng">
            <a:solidFill>
              <a:srgbClr val="FF00FF"/>
            </a:solidFill>
            <a:prstDash val="solid"/>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800" dirty="0"/>
          </a:p>
        </p:txBody>
      </p:sp>
      <p:sp>
        <p:nvSpPr>
          <p:cNvPr id="389253" name="Rectangle 133"/>
          <p:cNvSpPr/>
          <p:nvPr/>
        </p:nvSpPr>
        <p:spPr>
          <a:xfrm>
            <a:off x="7315200" y="7164388"/>
            <a:ext cx="411163" cy="366712"/>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FF0000"/>
                </a:solidFill>
                <a:latin typeface="Times New Roman" panose="02020603050405020304" charset="0"/>
              </a:rPr>
              <a:t>※</a:t>
            </a:r>
            <a:endParaRPr lang="en-US" altLang="zh-CN" sz="1800" b="1" dirty="0">
              <a:solidFill>
                <a:srgbClr val="FF0000"/>
              </a:solidFill>
              <a:latin typeface="Times New Roman" panose="02020603050405020304" charset="0"/>
            </a:endParaRPr>
          </a:p>
        </p:txBody>
      </p:sp>
      <p:sp>
        <p:nvSpPr>
          <p:cNvPr id="389254" name="Rectangle 134"/>
          <p:cNvSpPr/>
          <p:nvPr/>
        </p:nvSpPr>
        <p:spPr>
          <a:xfrm>
            <a:off x="533400" y="2832100"/>
            <a:ext cx="2722245" cy="400050"/>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1318F3"/>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rPr>
              <a:t>上跳变，</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电容充电。 </a:t>
            </a:r>
            <a:endParaRPr lang="zh-CN" altLang="en-US" sz="2000" b="1" dirty="0">
              <a:solidFill>
                <a:srgbClr val="1318F3"/>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389255" name="Text Box 135"/>
          <p:cNvSpPr txBox="1"/>
          <p:nvPr/>
        </p:nvSpPr>
        <p:spPr>
          <a:xfrm>
            <a:off x="110490" y="4800600"/>
            <a:ext cx="4101465" cy="1631315"/>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(3)</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若在</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未充电到</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2/3V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时，输入端又有触发脉冲，则电容通过</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放电，在负脉冲消失后再次充电</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暂</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稳态一直持续到两个触发脉冲的间隔大于</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t</a:t>
            </a:r>
            <a:r>
              <a:rPr lang="en-US" altLang="zh-CN" sz="2000" b="1" baseline="-20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W</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充电至</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2/3V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时为止。</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89256" name="Text Box 136"/>
          <p:cNvSpPr txBox="1"/>
          <p:nvPr/>
        </p:nvSpPr>
        <p:spPr>
          <a:xfrm>
            <a:off x="76200" y="3261360"/>
            <a:ext cx="4350385" cy="1323340"/>
          </a:xfrm>
          <a:prstGeom prst="rect">
            <a:avLst/>
          </a:prstGeom>
          <a:noFill/>
          <a:ln w="28575">
            <a:noFill/>
          </a:ln>
        </p:spPr>
        <p:txBody>
          <a:bodyPr wrap="squar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当</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充电至</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2/3</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时，</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，并</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000" b="1" dirty="0">
                <a:solidFill>
                  <a:srgbClr val="000066"/>
                </a:solidFill>
                <a:effectLst/>
                <a:latin typeface="Times New Roman" panose="02020603050405020304" charset="0"/>
                <a:ea typeface="楷体" panose="02010609060101010101" charset="-122"/>
                <a:cs typeface="Times New Roman" panose="02020603050405020304" charset="0"/>
                <a:sym typeface="+mn-ea"/>
              </a:rPr>
              <a: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Q</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，于是</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跳变为低电平，同时</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导通，电容迅速放电至</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0V</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，电路恢复到稳态。</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grpSp>
        <p:nvGrpSpPr>
          <p:cNvPr id="81950" name="Group 137"/>
          <p:cNvGrpSpPr/>
          <p:nvPr/>
        </p:nvGrpSpPr>
        <p:grpSpPr>
          <a:xfrm>
            <a:off x="4352925" y="1143000"/>
            <a:ext cx="4648200" cy="5180013"/>
            <a:chOff x="2304" y="337"/>
            <a:chExt cx="3216" cy="3263"/>
          </a:xfrm>
        </p:grpSpPr>
        <p:sp>
          <p:nvSpPr>
            <p:cNvPr id="81951" name="Line 138"/>
            <p:cNvSpPr/>
            <p:nvPr/>
          </p:nvSpPr>
          <p:spPr>
            <a:xfrm flipV="1">
              <a:off x="2592" y="384"/>
              <a:ext cx="0" cy="720"/>
            </a:xfrm>
            <a:prstGeom prst="line">
              <a:avLst/>
            </a:prstGeom>
            <a:ln w="28575" cap="flat" cmpd="sng">
              <a:solidFill>
                <a:schemeClr val="tx1"/>
              </a:solidFill>
              <a:prstDash val="solid"/>
              <a:headEnd type="none" w="med" len="med"/>
              <a:tailEnd type="triangle" w="med" len="med"/>
            </a:ln>
          </p:spPr>
        </p:sp>
        <p:sp>
          <p:nvSpPr>
            <p:cNvPr id="81952" name="Line 139"/>
            <p:cNvSpPr/>
            <p:nvPr/>
          </p:nvSpPr>
          <p:spPr>
            <a:xfrm flipV="1">
              <a:off x="2592" y="1248"/>
              <a:ext cx="0" cy="720"/>
            </a:xfrm>
            <a:prstGeom prst="line">
              <a:avLst/>
            </a:prstGeom>
            <a:ln w="28575" cap="flat" cmpd="sng">
              <a:solidFill>
                <a:schemeClr val="tx1"/>
              </a:solidFill>
              <a:prstDash val="solid"/>
              <a:headEnd type="none" w="med" len="med"/>
              <a:tailEnd type="triangle" w="med" len="med"/>
            </a:ln>
          </p:spPr>
        </p:sp>
        <p:sp>
          <p:nvSpPr>
            <p:cNvPr id="81953" name="Line 140"/>
            <p:cNvSpPr/>
            <p:nvPr/>
          </p:nvSpPr>
          <p:spPr>
            <a:xfrm flipV="1">
              <a:off x="2592" y="2112"/>
              <a:ext cx="0" cy="672"/>
            </a:xfrm>
            <a:prstGeom prst="line">
              <a:avLst/>
            </a:prstGeom>
            <a:ln w="28575" cap="flat" cmpd="sng">
              <a:solidFill>
                <a:schemeClr val="tx1"/>
              </a:solidFill>
              <a:prstDash val="solid"/>
              <a:headEnd type="none" w="med" len="med"/>
              <a:tailEnd type="triangle" w="med" len="med"/>
            </a:ln>
          </p:spPr>
        </p:sp>
        <p:sp>
          <p:nvSpPr>
            <p:cNvPr id="81954" name="Text Box 141"/>
            <p:cNvSpPr txBox="1"/>
            <p:nvPr/>
          </p:nvSpPr>
          <p:spPr>
            <a:xfrm>
              <a:off x="2304" y="2143"/>
              <a:ext cx="243" cy="250"/>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latin typeface="Times New Roman" panose="02020603050405020304" charset="0"/>
                </a:rPr>
                <a:t>R</a:t>
              </a:r>
              <a:endParaRPr lang="en-US" altLang="zh-CN" sz="2000" b="1" baseline="-25000" dirty="0">
                <a:latin typeface="Times New Roman" panose="02020603050405020304" charset="0"/>
              </a:endParaRPr>
            </a:p>
          </p:txBody>
        </p:sp>
        <p:sp>
          <p:nvSpPr>
            <p:cNvPr id="81955" name="Text Box 142"/>
            <p:cNvSpPr txBox="1"/>
            <p:nvPr/>
          </p:nvSpPr>
          <p:spPr>
            <a:xfrm>
              <a:off x="2304" y="1123"/>
              <a:ext cx="316" cy="291"/>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cs typeface="Times New Roman" panose="02020603050405020304" charset="0"/>
                </a:rPr>
                <a:t>v</a:t>
              </a:r>
              <a:r>
                <a:rPr lang="en-US" altLang="zh-CN" sz="2400" b="1" baseline="-25000" dirty="0">
                  <a:latin typeface="Times New Roman" panose="02020603050405020304" charset="0"/>
                </a:rPr>
                <a:t>C</a:t>
              </a:r>
              <a:endParaRPr lang="en-US" altLang="zh-CN" sz="2400" b="1" baseline="-25000" dirty="0">
                <a:latin typeface="Times New Roman" panose="02020603050405020304" charset="0"/>
              </a:endParaRPr>
            </a:p>
          </p:txBody>
        </p:sp>
        <p:sp>
          <p:nvSpPr>
            <p:cNvPr id="81956" name="Text Box 143"/>
            <p:cNvSpPr txBox="1"/>
            <p:nvPr/>
          </p:nvSpPr>
          <p:spPr>
            <a:xfrm>
              <a:off x="2335" y="337"/>
              <a:ext cx="271" cy="291"/>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charset="0"/>
                  <a:cs typeface="Times New Roman" panose="02020603050405020304" charset="0"/>
                </a:rPr>
                <a:t>v</a:t>
              </a:r>
              <a:r>
                <a:rPr lang="en-US" altLang="zh-CN" sz="2400" b="1" baseline="-25000" dirty="0">
                  <a:latin typeface="Times New Roman" panose="02020603050405020304" charset="0"/>
                </a:rPr>
                <a:t>I</a:t>
              </a:r>
              <a:endParaRPr lang="en-US" altLang="zh-CN" sz="2400" b="1" dirty="0">
                <a:latin typeface="Times New Roman" panose="02020603050405020304" charset="0"/>
              </a:endParaRPr>
            </a:p>
          </p:txBody>
        </p:sp>
        <p:sp>
          <p:nvSpPr>
            <p:cNvPr id="81957" name="Line 144"/>
            <p:cNvSpPr/>
            <p:nvPr/>
          </p:nvSpPr>
          <p:spPr>
            <a:xfrm flipV="1">
              <a:off x="2592" y="2928"/>
              <a:ext cx="0" cy="672"/>
            </a:xfrm>
            <a:prstGeom prst="line">
              <a:avLst/>
            </a:prstGeom>
            <a:ln w="28575" cap="flat" cmpd="sng">
              <a:solidFill>
                <a:schemeClr val="tx1"/>
              </a:solidFill>
              <a:prstDash val="solid"/>
              <a:headEnd type="none" w="med" len="med"/>
              <a:tailEnd type="triangle" w="med" len="med"/>
            </a:ln>
          </p:spPr>
        </p:sp>
        <p:grpSp>
          <p:nvGrpSpPr>
            <p:cNvPr id="81958" name="Group 145"/>
            <p:cNvGrpSpPr/>
            <p:nvPr/>
          </p:nvGrpSpPr>
          <p:grpSpPr>
            <a:xfrm>
              <a:off x="2592" y="1104"/>
              <a:ext cx="2928" cy="2496"/>
              <a:chOff x="2832" y="912"/>
              <a:chExt cx="2592" cy="2496"/>
            </a:xfrm>
          </p:grpSpPr>
          <p:sp>
            <p:nvSpPr>
              <p:cNvPr id="81960" name="Line 146"/>
              <p:cNvSpPr/>
              <p:nvPr/>
            </p:nvSpPr>
            <p:spPr>
              <a:xfrm>
                <a:off x="2832" y="912"/>
                <a:ext cx="2592" cy="0"/>
              </a:xfrm>
              <a:prstGeom prst="line">
                <a:avLst/>
              </a:prstGeom>
              <a:ln w="28575" cap="flat" cmpd="sng">
                <a:solidFill>
                  <a:schemeClr val="tx1"/>
                </a:solidFill>
                <a:prstDash val="solid"/>
                <a:headEnd type="none" w="med" len="med"/>
                <a:tailEnd type="triangle" w="med" len="med"/>
              </a:ln>
            </p:spPr>
          </p:sp>
          <p:sp>
            <p:nvSpPr>
              <p:cNvPr id="81961" name="Line 147"/>
              <p:cNvSpPr/>
              <p:nvPr/>
            </p:nvSpPr>
            <p:spPr>
              <a:xfrm>
                <a:off x="2832" y="1776"/>
                <a:ext cx="2592" cy="0"/>
              </a:xfrm>
              <a:prstGeom prst="line">
                <a:avLst/>
              </a:prstGeom>
              <a:ln w="28575" cap="flat" cmpd="sng">
                <a:solidFill>
                  <a:schemeClr val="tx1"/>
                </a:solidFill>
                <a:prstDash val="solid"/>
                <a:headEnd type="none" w="med" len="med"/>
                <a:tailEnd type="triangle" w="med" len="med"/>
              </a:ln>
            </p:spPr>
          </p:sp>
          <p:sp>
            <p:nvSpPr>
              <p:cNvPr id="81962" name="Line 148"/>
              <p:cNvSpPr/>
              <p:nvPr/>
            </p:nvSpPr>
            <p:spPr>
              <a:xfrm>
                <a:off x="2832" y="2592"/>
                <a:ext cx="2592" cy="0"/>
              </a:xfrm>
              <a:prstGeom prst="line">
                <a:avLst/>
              </a:prstGeom>
              <a:ln w="28575" cap="flat" cmpd="sng">
                <a:solidFill>
                  <a:schemeClr val="tx1"/>
                </a:solidFill>
                <a:prstDash val="solid"/>
                <a:headEnd type="none" w="med" len="med"/>
                <a:tailEnd type="triangle" w="med" len="med"/>
              </a:ln>
            </p:spPr>
          </p:sp>
          <p:sp>
            <p:nvSpPr>
              <p:cNvPr id="81963" name="Line 149"/>
              <p:cNvSpPr/>
              <p:nvPr/>
            </p:nvSpPr>
            <p:spPr>
              <a:xfrm>
                <a:off x="2832" y="3408"/>
                <a:ext cx="2592" cy="0"/>
              </a:xfrm>
              <a:prstGeom prst="line">
                <a:avLst/>
              </a:prstGeom>
              <a:ln w="28575" cap="flat" cmpd="sng">
                <a:solidFill>
                  <a:schemeClr val="tx1"/>
                </a:solidFill>
                <a:prstDash val="solid"/>
                <a:headEnd type="none" w="med" len="med"/>
                <a:tailEnd type="triangle" w="med" len="med"/>
              </a:ln>
            </p:spPr>
          </p:sp>
        </p:grpSp>
        <p:sp>
          <p:nvSpPr>
            <p:cNvPr id="81959" name="Text Box 150"/>
            <p:cNvSpPr txBox="1"/>
            <p:nvPr/>
          </p:nvSpPr>
          <p:spPr>
            <a:xfrm>
              <a:off x="2304" y="2947"/>
              <a:ext cx="328" cy="288"/>
            </a:xfrm>
            <a:prstGeom prst="rect">
              <a:avLst/>
            </a:prstGeom>
            <a:noFill/>
            <a:ln w="28575">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Monotype Corsiva" panose="03010101010201010101" pitchFamily="66" charset="0"/>
                </a:rPr>
                <a:t>v</a:t>
              </a:r>
              <a:r>
                <a:rPr lang="en-US" altLang="zh-CN" sz="2400" b="1" baseline="-25000" dirty="0">
                  <a:latin typeface="Times New Roman" panose="02020603050405020304" charset="0"/>
                </a:rPr>
                <a:t>O</a:t>
              </a:r>
              <a:endParaRPr lang="en-US" altLang="zh-CN" sz="2400" b="1" baseline="-25000" dirty="0">
                <a:latin typeface="Times New Roman" panose="0202060305040502030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9123"/>
                                        </p:tgtEl>
                                        <p:attrNameLst>
                                          <p:attrName>style.visibility</p:attrName>
                                        </p:attrNameLst>
                                      </p:cBhvr>
                                      <p:to>
                                        <p:strVal val="visible"/>
                                      </p:to>
                                    </p:set>
                                    <p:animEffect transition="in" filter="wipe(up)">
                                      <p:cBhvr>
                                        <p:cTn id="7" dur="500"/>
                                        <p:tgtEl>
                                          <p:spTgt spid="389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89125"/>
                                        </p:tgtEl>
                                        <p:attrNameLst>
                                          <p:attrName>style.visibility</p:attrName>
                                        </p:attrNameLst>
                                      </p:cBhvr>
                                      <p:to>
                                        <p:strVal val="visible"/>
                                      </p:to>
                                    </p:set>
                                    <p:animEffect transition="in" filter="wipe(left)">
                                      <p:cBhvr>
                                        <p:cTn id="12" dur="500"/>
                                        <p:tgtEl>
                                          <p:spTgt spid="38912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89254"/>
                                        </p:tgtEl>
                                        <p:attrNameLst>
                                          <p:attrName>style.visibility</p:attrName>
                                        </p:attrNameLst>
                                      </p:cBhvr>
                                      <p:to>
                                        <p:strVal val="visible"/>
                                      </p:to>
                                    </p:set>
                                    <p:animEffect transition="in" filter="box(in)">
                                      <p:cBhvr>
                                        <p:cTn id="17" dur="500"/>
                                        <p:tgtEl>
                                          <p:spTgt spid="38925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38913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389130"/>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3892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89143"/>
                                        </p:tgtEl>
                                        <p:attrNameLst>
                                          <p:attrName>style.visibility</p:attrName>
                                        </p:attrNameLst>
                                      </p:cBhvr>
                                      <p:to>
                                        <p:strVal val="visible"/>
                                      </p:to>
                                    </p:set>
                                    <p:animEffect transition="in" filter="wipe(left)">
                                      <p:cBhvr>
                                        <p:cTn id="33" dur="500"/>
                                        <p:tgtEl>
                                          <p:spTgt spid="38914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89256"/>
                                        </p:tgtEl>
                                        <p:attrNameLst>
                                          <p:attrName>style.visibility</p:attrName>
                                        </p:attrNameLst>
                                      </p:cBhvr>
                                      <p:to>
                                        <p:strVal val="visible"/>
                                      </p:to>
                                    </p:set>
                                    <p:animEffect transition="in" filter="wipe(up)">
                                      <p:cBhvr>
                                        <p:cTn id="38" dur="500"/>
                                        <p:tgtEl>
                                          <p:spTgt spid="38925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89237"/>
                                        </p:tgtEl>
                                        <p:attrNameLst>
                                          <p:attrName>style.visibility</p:attrName>
                                        </p:attrNameLst>
                                      </p:cBhvr>
                                      <p:to>
                                        <p:strVal val="visible"/>
                                      </p:to>
                                    </p:set>
                                    <p:animEffect transition="in" filter="wipe(left)">
                                      <p:cBhvr>
                                        <p:cTn id="43" dur="500"/>
                                        <p:tgtEl>
                                          <p:spTgt spid="38923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38915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89159"/>
                                        </p:tgtEl>
                                        <p:attrNameLst>
                                          <p:attrName>style.visibility</p:attrName>
                                        </p:attrNameLst>
                                      </p:cBhvr>
                                      <p:to>
                                        <p:strVal val="visible"/>
                                      </p:to>
                                    </p:set>
                                    <p:animEffect transition="in" filter="wipe(left)">
                                      <p:cBhvr>
                                        <p:cTn id="52" dur="500"/>
                                        <p:tgtEl>
                                          <p:spTgt spid="389159"/>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8916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89177"/>
                                        </p:tgtEl>
                                        <p:attrNameLst>
                                          <p:attrName>style.visibility</p:attrName>
                                        </p:attrNameLst>
                                      </p:cBhvr>
                                      <p:to>
                                        <p:strVal val="visible"/>
                                      </p:to>
                                    </p:set>
                                    <p:animEffect transition="in" filter="wipe(left)">
                                      <p:cBhvr>
                                        <p:cTn id="61" dur="500"/>
                                        <p:tgtEl>
                                          <p:spTgt spid="389177"/>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389255"/>
                                        </p:tgtEl>
                                        <p:attrNameLst>
                                          <p:attrName>style.visibility</p:attrName>
                                        </p:attrNameLst>
                                      </p:cBhvr>
                                      <p:to>
                                        <p:strVal val="visible"/>
                                      </p:to>
                                    </p:set>
                                    <p:animEffect transition="in" filter="slide(fromBottom)">
                                      <p:cBhvr>
                                        <p:cTn id="66" dur="500"/>
                                        <p:tgtEl>
                                          <p:spTgt spid="38925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38917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389186"/>
                                        </p:tgtEl>
                                        <p:attrNameLst>
                                          <p:attrName>style.visibility</p:attrName>
                                        </p:attrNameLst>
                                      </p:cBhvr>
                                      <p:to>
                                        <p:strVal val="visible"/>
                                      </p:to>
                                    </p:set>
                                    <p:animEffect transition="in" filter="wipe(left)">
                                      <p:cBhvr>
                                        <p:cTn id="75" dur="500"/>
                                        <p:tgtEl>
                                          <p:spTgt spid="38918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389194"/>
                                        </p:tgtEl>
                                        <p:attrNameLst>
                                          <p:attrName>style.visibility</p:attrName>
                                        </p:attrNameLst>
                                      </p:cBhvr>
                                      <p:to>
                                        <p:strVal val="visible"/>
                                      </p:to>
                                    </p:set>
                                    <p:animEffect transition="in" filter="wipe(left)">
                                      <p:cBhvr>
                                        <p:cTn id="80" dur="500"/>
                                        <p:tgtEl>
                                          <p:spTgt spid="38919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89199"/>
                                        </p:tgtEl>
                                        <p:attrNameLst>
                                          <p:attrName>style.visibility</p:attrName>
                                        </p:attrNameLst>
                                      </p:cBhvr>
                                      <p:to>
                                        <p:strVal val="visible"/>
                                      </p:to>
                                    </p:set>
                                    <p:animEffect transition="in" filter="wipe(left)">
                                      <p:cBhvr>
                                        <p:cTn id="85" dur="500"/>
                                        <p:tgtEl>
                                          <p:spTgt spid="38919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389208"/>
                                        </p:tgtEl>
                                        <p:attrNameLst>
                                          <p:attrName>style.visibility</p:attrName>
                                        </p:attrNameLst>
                                      </p:cBhvr>
                                      <p:to>
                                        <p:strVal val="visible"/>
                                      </p:to>
                                    </p:set>
                                    <p:animEffect transition="in" filter="wipe(left)">
                                      <p:cBhvr>
                                        <p:cTn id="90" dur="500"/>
                                        <p:tgtEl>
                                          <p:spTgt spid="38920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89213"/>
                                        </p:tgtEl>
                                        <p:attrNameLst>
                                          <p:attrName>style.visibility</p:attrName>
                                        </p:attrNameLst>
                                      </p:cBhvr>
                                      <p:to>
                                        <p:strVal val="visible"/>
                                      </p:to>
                                    </p:set>
                                    <p:animEffect transition="in" filter="wipe(left)">
                                      <p:cBhvr>
                                        <p:cTn id="95" dur="500"/>
                                        <p:tgtEl>
                                          <p:spTgt spid="38921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389222"/>
                                        </p:tgtEl>
                                        <p:attrNameLst>
                                          <p:attrName>style.visibility</p:attrName>
                                        </p:attrNameLst>
                                      </p:cBhvr>
                                      <p:to>
                                        <p:strVal val="visible"/>
                                      </p:to>
                                    </p:set>
                                    <p:animEffect transition="in" filter="wipe(left)">
                                      <p:cBhvr>
                                        <p:cTn id="100" dur="500"/>
                                        <p:tgtEl>
                                          <p:spTgt spid="389222"/>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389227"/>
                                        </p:tgtEl>
                                        <p:attrNameLst>
                                          <p:attrName>style.visibility</p:attrName>
                                        </p:attrNameLst>
                                      </p:cBhvr>
                                      <p:to>
                                        <p:strVal val="visible"/>
                                      </p:to>
                                    </p:set>
                                    <p:animEffect transition="in" filter="wipe(left)">
                                      <p:cBhvr>
                                        <p:cTn id="105" dur="500"/>
                                        <p:tgtEl>
                                          <p:spTgt spid="389227"/>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4" fill="hold" nodeType="clickEffect">
                                  <p:stCondLst>
                                    <p:cond delay="0"/>
                                  </p:stCondLst>
                                  <p:childTnLst>
                                    <p:set>
                                      <p:cBhvr>
                                        <p:cTn id="109" dur="1" fill="hold">
                                          <p:stCondLst>
                                            <p:cond delay="0"/>
                                          </p:stCondLst>
                                        </p:cTn>
                                        <p:tgtEl>
                                          <p:spTgt spid="389244"/>
                                        </p:tgtEl>
                                        <p:attrNameLst>
                                          <p:attrName>style.visibility</p:attrName>
                                        </p:attrNameLst>
                                      </p:cBhvr>
                                      <p:to>
                                        <p:strVal val="visible"/>
                                      </p:to>
                                    </p:set>
                                    <p:animEffect transition="in" filter="slide(fromBottom)">
                                      <p:cBhvr>
                                        <p:cTn id="110" dur="500"/>
                                        <p:tgtEl>
                                          <p:spTgt spid="389244"/>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4" fill="hold" nodeType="clickEffect">
                                  <p:stCondLst>
                                    <p:cond delay="0"/>
                                  </p:stCondLst>
                                  <p:childTnLst>
                                    <p:set>
                                      <p:cBhvr>
                                        <p:cTn id="114" dur="1" fill="hold">
                                          <p:stCondLst>
                                            <p:cond delay="0"/>
                                          </p:stCondLst>
                                        </p:cTn>
                                        <p:tgtEl>
                                          <p:spTgt spid="389248"/>
                                        </p:tgtEl>
                                        <p:attrNameLst>
                                          <p:attrName>style.visibility</p:attrName>
                                        </p:attrNameLst>
                                      </p:cBhvr>
                                      <p:to>
                                        <p:strVal val="visible"/>
                                      </p:to>
                                    </p:set>
                                    <p:animEffect transition="in" filter="slide(fromBottom)">
                                      <p:cBhvr>
                                        <p:cTn id="115" dur="500"/>
                                        <p:tgtEl>
                                          <p:spTgt spid="389248"/>
                                        </p:tgtEl>
                                      </p:cBhvr>
                                    </p:animEffect>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389124"/>
                                        </p:tgtEl>
                                        <p:attrNameLst>
                                          <p:attrName>style.visibility</p:attrName>
                                        </p:attrNameLst>
                                      </p:cBhvr>
                                      <p:to>
                                        <p:strVal val="visible"/>
                                      </p:to>
                                    </p:set>
                                    <p:animEffect transition="in" filter="dissolve">
                                      <p:cBhvr>
                                        <p:cTn id="120" dur="500"/>
                                        <p:tgtEl>
                                          <p:spTgt spid="389124"/>
                                        </p:tgtEl>
                                      </p:cBhvr>
                                    </p:animEffect>
                                  </p:childTnLst>
                                </p:cTn>
                              </p:par>
                            </p:childTnLst>
                          </p:cTn>
                        </p:par>
                        <p:par>
                          <p:cTn id="121" fill="hold">
                            <p:stCondLst>
                              <p:cond delay="500"/>
                            </p:stCondLst>
                            <p:childTnLst>
                              <p:par>
                                <p:cTn id="122" presetID="2" presetClass="entr" presetSubtype="4" fill="hold" grpId="0" nodeType="afterEffect">
                                  <p:stCondLst>
                                    <p:cond delay="0"/>
                                  </p:stCondLst>
                                  <p:childTnLst>
                                    <p:set>
                                      <p:cBhvr>
                                        <p:cTn id="123" dur="1" fill="hold">
                                          <p:stCondLst>
                                            <p:cond delay="0"/>
                                          </p:stCondLst>
                                        </p:cTn>
                                        <p:tgtEl>
                                          <p:spTgt spid="389253"/>
                                        </p:tgtEl>
                                        <p:attrNameLst>
                                          <p:attrName>style.visibility</p:attrName>
                                        </p:attrNameLst>
                                      </p:cBhvr>
                                      <p:to>
                                        <p:strVal val="visible"/>
                                      </p:to>
                                    </p:set>
                                    <p:anim calcmode="lin" valueType="num">
                                      <p:cBhvr additive="base">
                                        <p:cTn id="124" dur="500" fill="hold"/>
                                        <p:tgtEl>
                                          <p:spTgt spid="389253"/>
                                        </p:tgtEl>
                                        <p:attrNameLst>
                                          <p:attrName>ppt_x</p:attrName>
                                        </p:attrNameLst>
                                      </p:cBhvr>
                                      <p:tavLst>
                                        <p:tav tm="0">
                                          <p:val>
                                            <p:strVal val="#ppt_x"/>
                                          </p:val>
                                        </p:tav>
                                        <p:tav tm="100000">
                                          <p:val>
                                            <p:strVal val="#ppt_x"/>
                                          </p:val>
                                        </p:tav>
                                      </p:tavLst>
                                    </p:anim>
                                    <p:anim calcmode="lin" valueType="num">
                                      <p:cBhvr additive="base">
                                        <p:cTn id="125" dur="500" fill="hold"/>
                                        <p:tgtEl>
                                          <p:spTgt spid="3892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3" grpId="0"/>
      <p:bldP spid="389124" grpId="0"/>
      <p:bldP spid="389252" grpId="0" bldLvl="0" animBg="1"/>
      <p:bldP spid="389253" grpId="0"/>
      <p:bldP spid="389254" grpId="0"/>
      <p:bldP spid="389255" grpId="0"/>
      <p:bldP spid="3892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90600" y="106680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7.3.2 </a:t>
            </a:r>
            <a:r>
              <a:rPr lang="zh-CN" altLang="en-US" sz="2400" i="0" dirty="0">
                <a:solidFill>
                  <a:srgbClr val="0070C0"/>
                </a:solidFill>
                <a:latin typeface="黑体" panose="02010609060101010101" pitchFamily="49" charset="-122"/>
                <a:ea typeface="黑体" panose="02010609060101010101" pitchFamily="49" charset="-122"/>
              </a:rPr>
              <a:t>由</a:t>
            </a:r>
            <a:r>
              <a:rPr lang="zh-CN" altLang="en-US" sz="2400" i="0" dirty="0">
                <a:solidFill>
                  <a:srgbClr val="0070C0"/>
                </a:solidFill>
                <a:latin typeface="黑体" panose="02010609060101010101" pitchFamily="49" charset="-122"/>
                <a:ea typeface="黑体" panose="02010609060101010101" pitchFamily="49" charset="-122"/>
              </a:rPr>
              <a:t>门电路构成的单稳态触发器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8" name="矩形 7">
            <a:hlinkClick r:id="" action="ppaction://noaction"/>
          </p:cNvPr>
          <p:cNvSpPr/>
          <p:nvPr/>
        </p:nvSpPr>
        <p:spPr>
          <a:xfrm>
            <a:off x="866140" y="1590040"/>
            <a:ext cx="1826895"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1</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组成</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pic>
        <p:nvPicPr>
          <p:cNvPr id="12" name="图片 11"/>
          <p:cNvPicPr>
            <a:picLocks noChangeAspect="1"/>
          </p:cNvPicPr>
          <p:nvPr/>
        </p:nvPicPr>
        <p:blipFill>
          <a:blip r:embed="rId1"/>
          <a:stretch>
            <a:fillRect/>
          </a:stretch>
        </p:blipFill>
        <p:spPr>
          <a:xfrm>
            <a:off x="1066800" y="2362200"/>
            <a:ext cx="6486525" cy="2828925"/>
          </a:xfrm>
          <a:prstGeom prst="rect">
            <a:avLst/>
          </a:prstGeom>
        </p:spPr>
      </p:pic>
      <p:sp>
        <p:nvSpPr>
          <p:cNvPr id="283843" name="AutoShape 195" descr="羊皮纸"/>
          <p:cNvSpPr/>
          <p:nvPr/>
        </p:nvSpPr>
        <p:spPr>
          <a:xfrm>
            <a:off x="6400800" y="1066800"/>
            <a:ext cx="2599690" cy="975995"/>
          </a:xfrm>
          <a:prstGeom prst="wedgeRoundRectCallout">
            <a:avLst>
              <a:gd name="adj1" fmla="val -54592"/>
              <a:gd name="adj2" fmla="val 130351"/>
              <a:gd name="adj3" fmla="val 16667"/>
            </a:avLst>
          </a:prstGeom>
          <a:blipFill rotWithShape="1">
            <a:blip r:embed="rId2"/>
          </a:blipFill>
          <a:ln w="28575" cap="flat" cmpd="sng">
            <a:solidFill>
              <a:srgbClr val="0033CC"/>
            </a:solidFill>
            <a:prstDash val="solid"/>
            <a:miter/>
            <a:headEnd type="none" w="med" len="med"/>
            <a:tailEnd type="none" w="med" len="med"/>
          </a:ln>
        </p:spPr>
        <p:txBody>
          <a:bodyPr lIns="90000" tIns="46800" rIns="90000" bIns="4680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与基本</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RS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锁存器有何不同？</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83843"/>
                                        </p:tgtEl>
                                        <p:attrNameLst>
                                          <p:attrName>style.visibility</p:attrName>
                                        </p:attrNameLst>
                                      </p:cBhvr>
                                      <p:to>
                                        <p:strVal val="visible"/>
                                      </p:to>
                                    </p:set>
                                    <p:animEffect transition="in" filter="strips(downLeft)">
                                      <p:cBhvr>
                                        <p:cTn id="7" dur="500"/>
                                        <p:tgtEl>
                                          <p:spTgt spid="283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84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8"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 name="矩形 8">
            <a:hlinkClick r:id="" action="ppaction://noaction"/>
          </p:cNvPr>
          <p:cNvSpPr/>
          <p:nvPr/>
        </p:nvSpPr>
        <p:spPr>
          <a:xfrm>
            <a:off x="1075055" y="1143000"/>
            <a:ext cx="7145655"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2</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、工作原理</a:t>
            </a:r>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400" b="1" dirty="0">
                <a:solidFill>
                  <a:srgbClr val="1318F3"/>
                </a:solidFill>
                <a:latin typeface="Times New Roman" panose="02020603050405020304" charset="0"/>
                <a:ea typeface="楷体" panose="02010609060101010101" charset="-122"/>
                <a:sym typeface="+mn-ea"/>
              </a:rPr>
              <a:t>或非门组成的微分型单稳态触发器</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grpSp>
        <p:nvGrpSpPr>
          <p:cNvPr id="12" name="Group 41"/>
          <p:cNvGrpSpPr/>
          <p:nvPr/>
        </p:nvGrpSpPr>
        <p:grpSpPr>
          <a:xfrm>
            <a:off x="4648200" y="1382713"/>
            <a:ext cx="4343400" cy="5303837"/>
            <a:chOff x="2640" y="163"/>
            <a:chExt cx="2736" cy="3341"/>
          </a:xfrm>
        </p:grpSpPr>
        <p:sp>
          <p:nvSpPr>
            <p:cNvPr id="13" name="Line 29"/>
            <p:cNvSpPr/>
            <p:nvPr/>
          </p:nvSpPr>
          <p:spPr>
            <a:xfrm flipV="1">
              <a:off x="2640" y="240"/>
              <a:ext cx="0" cy="624"/>
            </a:xfrm>
            <a:prstGeom prst="line">
              <a:avLst/>
            </a:prstGeom>
            <a:ln w="28575" cap="flat" cmpd="sng">
              <a:solidFill>
                <a:schemeClr val="tx1"/>
              </a:solidFill>
              <a:prstDash val="solid"/>
              <a:round/>
              <a:headEnd type="none" w="med" len="med"/>
              <a:tailEnd type="triangle" w="med" len="med"/>
            </a:ln>
          </p:spPr>
        </p:sp>
        <p:sp>
          <p:nvSpPr>
            <p:cNvPr id="14" name="Line 30"/>
            <p:cNvSpPr/>
            <p:nvPr/>
          </p:nvSpPr>
          <p:spPr>
            <a:xfrm>
              <a:off x="2640" y="864"/>
              <a:ext cx="2736" cy="0"/>
            </a:xfrm>
            <a:prstGeom prst="line">
              <a:avLst/>
            </a:prstGeom>
            <a:ln w="28575" cap="flat" cmpd="sng">
              <a:solidFill>
                <a:schemeClr val="tx1"/>
              </a:solidFill>
              <a:prstDash val="solid"/>
              <a:round/>
              <a:headEnd type="none" w="med" len="med"/>
              <a:tailEnd type="triangle" w="med" len="med"/>
            </a:ln>
          </p:spPr>
        </p:sp>
        <p:sp>
          <p:nvSpPr>
            <p:cNvPr id="15" name="Line 31"/>
            <p:cNvSpPr/>
            <p:nvPr/>
          </p:nvSpPr>
          <p:spPr>
            <a:xfrm flipV="1">
              <a:off x="2640" y="1056"/>
              <a:ext cx="0" cy="672"/>
            </a:xfrm>
            <a:prstGeom prst="line">
              <a:avLst/>
            </a:prstGeom>
            <a:ln w="28575" cap="flat" cmpd="sng">
              <a:solidFill>
                <a:schemeClr val="tx1"/>
              </a:solidFill>
              <a:prstDash val="solid"/>
              <a:round/>
              <a:headEnd type="none" w="med" len="med"/>
              <a:tailEnd type="triangle" w="med" len="med"/>
            </a:ln>
          </p:spPr>
        </p:sp>
        <p:sp>
          <p:nvSpPr>
            <p:cNvPr id="16" name="Line 32"/>
            <p:cNvSpPr/>
            <p:nvPr/>
          </p:nvSpPr>
          <p:spPr>
            <a:xfrm>
              <a:off x="2640" y="1728"/>
              <a:ext cx="2736" cy="0"/>
            </a:xfrm>
            <a:prstGeom prst="line">
              <a:avLst/>
            </a:prstGeom>
            <a:ln w="28575" cap="flat" cmpd="sng">
              <a:solidFill>
                <a:schemeClr val="tx1"/>
              </a:solidFill>
              <a:prstDash val="solid"/>
              <a:round/>
              <a:headEnd type="none" w="med" len="med"/>
              <a:tailEnd type="triangle" w="med" len="med"/>
            </a:ln>
          </p:spPr>
        </p:sp>
        <p:sp>
          <p:nvSpPr>
            <p:cNvPr id="17" name="Line 33"/>
            <p:cNvSpPr/>
            <p:nvPr/>
          </p:nvSpPr>
          <p:spPr>
            <a:xfrm flipV="1">
              <a:off x="2640" y="1872"/>
              <a:ext cx="0" cy="768"/>
            </a:xfrm>
            <a:prstGeom prst="line">
              <a:avLst/>
            </a:prstGeom>
            <a:ln w="28575" cap="flat" cmpd="sng">
              <a:solidFill>
                <a:schemeClr val="tx1"/>
              </a:solidFill>
              <a:prstDash val="solid"/>
              <a:round/>
              <a:headEnd type="none" w="med" len="med"/>
              <a:tailEnd type="triangle" w="med" len="med"/>
            </a:ln>
          </p:spPr>
        </p:sp>
        <p:sp>
          <p:nvSpPr>
            <p:cNvPr id="18" name="Line 34"/>
            <p:cNvSpPr/>
            <p:nvPr/>
          </p:nvSpPr>
          <p:spPr>
            <a:xfrm>
              <a:off x="2640" y="2640"/>
              <a:ext cx="2736" cy="0"/>
            </a:xfrm>
            <a:prstGeom prst="line">
              <a:avLst/>
            </a:prstGeom>
            <a:ln w="28575" cap="flat" cmpd="sng">
              <a:solidFill>
                <a:schemeClr val="tx1"/>
              </a:solidFill>
              <a:prstDash val="solid"/>
              <a:round/>
              <a:headEnd type="none" w="med" len="med"/>
              <a:tailEnd type="triangle" w="med" len="med"/>
            </a:ln>
          </p:spPr>
        </p:sp>
        <p:sp>
          <p:nvSpPr>
            <p:cNvPr id="19" name="Line 35"/>
            <p:cNvSpPr/>
            <p:nvPr/>
          </p:nvSpPr>
          <p:spPr>
            <a:xfrm flipV="1">
              <a:off x="2640" y="2784"/>
              <a:ext cx="0" cy="720"/>
            </a:xfrm>
            <a:prstGeom prst="line">
              <a:avLst/>
            </a:prstGeom>
            <a:ln w="28575" cap="flat" cmpd="sng">
              <a:solidFill>
                <a:schemeClr val="tx1"/>
              </a:solidFill>
              <a:prstDash val="solid"/>
              <a:round/>
              <a:headEnd type="none" w="med" len="med"/>
              <a:tailEnd type="triangle" w="med" len="med"/>
            </a:ln>
          </p:spPr>
        </p:sp>
        <p:sp>
          <p:nvSpPr>
            <p:cNvPr id="20" name="Line 36"/>
            <p:cNvSpPr/>
            <p:nvPr/>
          </p:nvSpPr>
          <p:spPr>
            <a:xfrm>
              <a:off x="2640" y="3504"/>
              <a:ext cx="2736" cy="0"/>
            </a:xfrm>
            <a:prstGeom prst="line">
              <a:avLst/>
            </a:prstGeom>
            <a:ln w="28575" cap="flat" cmpd="sng">
              <a:solidFill>
                <a:schemeClr val="tx1"/>
              </a:solidFill>
              <a:prstDash val="solid"/>
              <a:round/>
              <a:headEnd type="none" w="med" len="med"/>
              <a:tailEnd type="triangle" w="med" len="med"/>
            </a:ln>
          </p:spPr>
        </p:sp>
        <p:sp>
          <p:nvSpPr>
            <p:cNvPr id="21" name="Text Box 37"/>
            <p:cNvSpPr txBox="1"/>
            <p:nvPr/>
          </p:nvSpPr>
          <p:spPr>
            <a:xfrm>
              <a:off x="2688" y="163"/>
              <a:ext cx="246"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I</a:t>
              </a:r>
              <a:endParaRPr lang="en-US" altLang="zh-CN" sz="2400" b="1" baseline="-25000" dirty="0">
                <a:latin typeface="Times New Roman" panose="02020603050405020304" charset="0"/>
                <a:ea typeface="宋体" panose="02010600030101010101" pitchFamily="2" charset="-122"/>
              </a:endParaRPr>
            </a:p>
          </p:txBody>
        </p:sp>
        <p:sp>
          <p:nvSpPr>
            <p:cNvPr id="22" name="Text Box 38"/>
            <p:cNvSpPr txBox="1"/>
            <p:nvPr/>
          </p:nvSpPr>
          <p:spPr>
            <a:xfrm>
              <a:off x="2688" y="931"/>
              <a:ext cx="358"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O1</a:t>
              </a:r>
              <a:endParaRPr lang="en-US" altLang="zh-CN" sz="2400" b="1" baseline="-25000" dirty="0">
                <a:latin typeface="Times New Roman" panose="02020603050405020304" charset="0"/>
                <a:ea typeface="宋体" panose="02010600030101010101" pitchFamily="2" charset="-122"/>
              </a:endParaRPr>
            </a:p>
          </p:txBody>
        </p:sp>
        <p:sp>
          <p:nvSpPr>
            <p:cNvPr id="23" name="Text Box 39"/>
            <p:cNvSpPr txBox="1"/>
            <p:nvPr/>
          </p:nvSpPr>
          <p:spPr>
            <a:xfrm>
              <a:off x="2688" y="1843"/>
              <a:ext cx="309"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I2</a:t>
              </a:r>
              <a:endParaRPr lang="en-US" altLang="zh-CN" sz="2400" b="1" baseline="-25000" dirty="0">
                <a:latin typeface="Times New Roman" panose="02020603050405020304" charset="0"/>
                <a:ea typeface="宋体" panose="02010600030101010101" pitchFamily="2" charset="-122"/>
              </a:endParaRPr>
            </a:p>
          </p:txBody>
        </p:sp>
        <p:sp>
          <p:nvSpPr>
            <p:cNvPr id="24" name="Text Box 40"/>
            <p:cNvSpPr txBox="1"/>
            <p:nvPr/>
          </p:nvSpPr>
          <p:spPr>
            <a:xfrm>
              <a:off x="2688" y="2700"/>
              <a:ext cx="295"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grpSp>
      <p:sp>
        <p:nvSpPr>
          <p:cNvPr id="25" name="Text Box 42"/>
          <p:cNvSpPr txBox="1"/>
          <p:nvPr/>
        </p:nvSpPr>
        <p:spPr>
          <a:xfrm>
            <a:off x="395288" y="4741863"/>
            <a:ext cx="3505200" cy="400050"/>
          </a:xfrm>
          <a:prstGeom prst="rect">
            <a:avLst/>
          </a:prstGeom>
          <a:noFill/>
          <a:ln w="28575">
            <a:noFill/>
          </a:ln>
        </p:spPr>
        <p:txBody>
          <a:bodyPr lIns="90000" tIns="46800" rIns="90000" bIns="46800" anchor="t" anchorCtr="0">
            <a:spAutoFit/>
          </a:bodyPr>
          <a:p>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未加单正脉冲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=0</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6" name="Text Box 43"/>
          <p:cNvSpPr txBox="1"/>
          <p:nvPr/>
        </p:nvSpPr>
        <p:spPr>
          <a:xfrm>
            <a:off x="158750" y="5173663"/>
            <a:ext cx="3200400" cy="461645"/>
          </a:xfrm>
          <a:prstGeom prst="rect">
            <a:avLst/>
          </a:prstGeom>
          <a:noFill/>
          <a:ln w="28575">
            <a:noFill/>
          </a:ln>
        </p:spPr>
        <p:txBody>
          <a:bodyPr lIns="90000" tIns="46800" rIns="90000" bIns="46800" anchor="t" anchorCtr="0">
            <a:spAutoFit/>
          </a:bodyPr>
          <a:p>
            <a:pPr>
              <a:lnSpc>
                <a:spcPct val="120000"/>
              </a:lnSpc>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稳态时</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开路</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I2</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a:t>
            </a:r>
            <a:endPar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27" name="Group 49"/>
          <p:cNvGrpSpPr/>
          <p:nvPr/>
        </p:nvGrpSpPr>
        <p:grpSpPr>
          <a:xfrm>
            <a:off x="4648200" y="2419350"/>
            <a:ext cx="685800" cy="4191000"/>
            <a:chOff x="2640" y="816"/>
            <a:chExt cx="432" cy="2640"/>
          </a:xfrm>
        </p:grpSpPr>
        <p:sp>
          <p:nvSpPr>
            <p:cNvPr id="28" name="Line 44"/>
            <p:cNvSpPr/>
            <p:nvPr/>
          </p:nvSpPr>
          <p:spPr>
            <a:xfrm>
              <a:off x="2640" y="816"/>
              <a:ext cx="432" cy="0"/>
            </a:xfrm>
            <a:prstGeom prst="line">
              <a:avLst/>
            </a:prstGeom>
            <a:ln w="57150" cap="flat" cmpd="sng">
              <a:solidFill>
                <a:srgbClr val="CC3300"/>
              </a:solidFill>
              <a:prstDash val="solid"/>
              <a:round/>
              <a:headEnd type="none" w="med" len="med"/>
              <a:tailEnd type="none" w="med" len="med"/>
            </a:ln>
          </p:spPr>
        </p:sp>
        <p:sp>
          <p:nvSpPr>
            <p:cNvPr id="29" name="Line 45"/>
            <p:cNvSpPr/>
            <p:nvPr/>
          </p:nvSpPr>
          <p:spPr>
            <a:xfrm>
              <a:off x="2640" y="1296"/>
              <a:ext cx="432" cy="0"/>
            </a:xfrm>
            <a:prstGeom prst="line">
              <a:avLst/>
            </a:prstGeom>
            <a:ln w="57150" cap="flat" cmpd="sng">
              <a:solidFill>
                <a:srgbClr val="CC3300"/>
              </a:solidFill>
              <a:prstDash val="solid"/>
              <a:round/>
              <a:headEnd type="none" w="med" len="med"/>
              <a:tailEnd type="none" w="med" len="med"/>
            </a:ln>
          </p:spPr>
        </p:sp>
        <p:sp>
          <p:nvSpPr>
            <p:cNvPr id="30" name="Line 46"/>
            <p:cNvSpPr/>
            <p:nvPr/>
          </p:nvSpPr>
          <p:spPr>
            <a:xfrm>
              <a:off x="2640" y="2208"/>
              <a:ext cx="432" cy="0"/>
            </a:xfrm>
            <a:prstGeom prst="line">
              <a:avLst/>
            </a:prstGeom>
            <a:ln w="57150" cap="flat" cmpd="sng">
              <a:solidFill>
                <a:srgbClr val="CC3300"/>
              </a:solidFill>
              <a:prstDash val="solid"/>
              <a:round/>
              <a:headEnd type="none" w="med" len="med"/>
              <a:tailEnd type="none" w="med" len="med"/>
            </a:ln>
          </p:spPr>
        </p:sp>
        <p:sp>
          <p:nvSpPr>
            <p:cNvPr id="31" name="Line 47"/>
            <p:cNvSpPr/>
            <p:nvPr/>
          </p:nvSpPr>
          <p:spPr>
            <a:xfrm>
              <a:off x="2640" y="3456"/>
              <a:ext cx="432" cy="0"/>
            </a:xfrm>
            <a:prstGeom prst="line">
              <a:avLst/>
            </a:prstGeom>
            <a:ln w="57150" cap="flat" cmpd="sng">
              <a:solidFill>
                <a:srgbClr val="CC3300"/>
              </a:solidFill>
              <a:prstDash val="solid"/>
              <a:round/>
              <a:headEnd type="none" w="med" len="med"/>
              <a:tailEnd type="none" w="med" len="med"/>
            </a:ln>
          </p:spPr>
        </p:sp>
      </p:grpSp>
      <p:sp>
        <p:nvSpPr>
          <p:cNvPr id="32" name="Text Box 51"/>
          <p:cNvSpPr txBox="1"/>
          <p:nvPr/>
        </p:nvSpPr>
        <p:spPr>
          <a:xfrm>
            <a:off x="1763713" y="3205163"/>
            <a:ext cx="554037" cy="457200"/>
          </a:xfrm>
          <a:prstGeom prst="rect">
            <a:avLst/>
          </a:prstGeom>
          <a:noFill/>
          <a:ln w="28575">
            <a:noFill/>
          </a:ln>
        </p:spPr>
        <p:txBody>
          <a:bodyPr wrap="none" lIns="90000" tIns="46800" rIns="90000" bIns="46800" anchor="t" anchorCtr="0">
            <a:spAutoFit/>
          </a:bodyPr>
          <a:p>
            <a:r>
              <a:rPr lang="en-US" altLang="zh-CN" sz="2400" b="1" dirty="0">
                <a:solidFill>
                  <a:srgbClr val="CC3300"/>
                </a:solidFill>
                <a:latin typeface="Times New Roman" panose="02020603050405020304" charset="0"/>
                <a:ea typeface="宋体" panose="02010600030101010101" pitchFamily="2" charset="-122"/>
              </a:rPr>
              <a:t>0V</a:t>
            </a:r>
            <a:endParaRPr lang="en-US" altLang="zh-CN" sz="2400" b="1" dirty="0">
              <a:solidFill>
                <a:srgbClr val="CC3300"/>
              </a:solidFill>
              <a:latin typeface="Times New Roman" panose="02020603050405020304" charset="0"/>
              <a:ea typeface="宋体" panose="02010600030101010101" pitchFamily="2" charset="-122"/>
            </a:endParaRPr>
          </a:p>
        </p:txBody>
      </p:sp>
      <p:sp>
        <p:nvSpPr>
          <p:cNvPr id="33" name="Text Box 52"/>
          <p:cNvSpPr txBox="1"/>
          <p:nvPr/>
        </p:nvSpPr>
        <p:spPr>
          <a:xfrm>
            <a:off x="468313" y="4094163"/>
            <a:ext cx="333375" cy="457200"/>
          </a:xfrm>
          <a:prstGeom prst="rect">
            <a:avLst/>
          </a:prstGeom>
          <a:noFill/>
          <a:ln w="28575">
            <a:noFill/>
          </a:ln>
        </p:spPr>
        <p:txBody>
          <a:bodyPr wrap="none" lIns="90000" tIns="46800" rIns="90000" bIns="46800" anchor="t" anchorCtr="0">
            <a:spAutoFit/>
          </a:bodyPr>
          <a:p>
            <a:r>
              <a:rPr lang="en-US" altLang="zh-CN" sz="2400" b="1" dirty="0">
                <a:solidFill>
                  <a:srgbClr val="CC3300"/>
                </a:solidFill>
                <a:latin typeface="Times New Roman" panose="02020603050405020304" charset="0"/>
                <a:ea typeface="宋体" panose="02010600030101010101" pitchFamily="2" charset="-122"/>
              </a:rPr>
              <a:t>0</a:t>
            </a:r>
            <a:endParaRPr lang="en-US" altLang="zh-CN" sz="2400" b="1" dirty="0">
              <a:solidFill>
                <a:srgbClr val="CC3300"/>
              </a:solidFill>
              <a:latin typeface="Times New Roman" panose="02020603050405020304" charset="0"/>
              <a:ea typeface="宋体" panose="02010600030101010101" pitchFamily="2" charset="-122"/>
            </a:endParaRPr>
          </a:p>
        </p:txBody>
      </p:sp>
      <p:sp>
        <p:nvSpPr>
          <p:cNvPr id="34" name="Text Box 53"/>
          <p:cNvSpPr txBox="1"/>
          <p:nvPr/>
        </p:nvSpPr>
        <p:spPr>
          <a:xfrm>
            <a:off x="684213" y="1717675"/>
            <a:ext cx="333375" cy="457200"/>
          </a:xfrm>
          <a:prstGeom prst="rect">
            <a:avLst/>
          </a:prstGeom>
          <a:noFill/>
          <a:ln w="28575">
            <a:noFill/>
          </a:ln>
        </p:spPr>
        <p:txBody>
          <a:bodyPr wrap="none" lIns="90000" tIns="46800" rIns="90000" bIns="46800" anchor="t" anchorCtr="0">
            <a:spAutoFit/>
          </a:bodyPr>
          <a:p>
            <a:r>
              <a:rPr lang="en-US" altLang="zh-CN" sz="2400" b="1" dirty="0">
                <a:solidFill>
                  <a:srgbClr val="CC3300"/>
                </a:solidFill>
                <a:latin typeface="Times New Roman" panose="02020603050405020304" charset="0"/>
                <a:ea typeface="宋体" panose="02010600030101010101" pitchFamily="2" charset="-122"/>
              </a:rPr>
              <a:t>1</a:t>
            </a:r>
            <a:endParaRPr lang="en-US" altLang="zh-CN" sz="2400" b="1" dirty="0">
              <a:solidFill>
                <a:srgbClr val="CC3300"/>
              </a:solidFill>
              <a:latin typeface="Times New Roman" panose="02020603050405020304" charset="0"/>
              <a:ea typeface="宋体" panose="02010600030101010101" pitchFamily="2" charset="-122"/>
            </a:endParaRPr>
          </a:p>
        </p:txBody>
      </p:sp>
      <p:sp>
        <p:nvSpPr>
          <p:cNvPr id="35" name="Text Box 54"/>
          <p:cNvSpPr txBox="1"/>
          <p:nvPr/>
        </p:nvSpPr>
        <p:spPr>
          <a:xfrm>
            <a:off x="2987675" y="1789113"/>
            <a:ext cx="333375" cy="457200"/>
          </a:xfrm>
          <a:prstGeom prst="rect">
            <a:avLst/>
          </a:prstGeom>
          <a:noFill/>
          <a:ln w="28575">
            <a:noFill/>
          </a:ln>
        </p:spPr>
        <p:txBody>
          <a:bodyPr wrap="none" lIns="90000" tIns="46800" rIns="90000" bIns="46800" anchor="t" anchorCtr="0">
            <a:spAutoFit/>
          </a:bodyPr>
          <a:p>
            <a:r>
              <a:rPr lang="en-US" altLang="zh-CN" sz="2400" b="1" dirty="0">
                <a:solidFill>
                  <a:srgbClr val="CC3300"/>
                </a:solidFill>
                <a:latin typeface="Times New Roman" panose="02020603050405020304" charset="0"/>
                <a:ea typeface="宋体" panose="02010600030101010101" pitchFamily="2" charset="-122"/>
              </a:rPr>
              <a:t>0</a:t>
            </a:r>
            <a:endParaRPr lang="en-US" altLang="zh-CN" sz="2400" b="1" dirty="0">
              <a:solidFill>
                <a:srgbClr val="CC3300"/>
              </a:solidFill>
              <a:latin typeface="Times New Roman" panose="02020603050405020304" charset="0"/>
              <a:ea typeface="宋体" panose="02010600030101010101" pitchFamily="2" charset="-122"/>
            </a:endParaRPr>
          </a:p>
        </p:txBody>
      </p:sp>
      <p:sp>
        <p:nvSpPr>
          <p:cNvPr id="36" name="Text Box 55"/>
          <p:cNvSpPr txBox="1"/>
          <p:nvPr/>
        </p:nvSpPr>
        <p:spPr>
          <a:xfrm>
            <a:off x="3419475" y="2870200"/>
            <a:ext cx="333375" cy="457200"/>
          </a:xfrm>
          <a:prstGeom prst="rect">
            <a:avLst/>
          </a:prstGeom>
          <a:noFill/>
          <a:ln w="28575">
            <a:noFill/>
          </a:ln>
        </p:spPr>
        <p:txBody>
          <a:bodyPr wrap="none" lIns="90000" tIns="46800" rIns="90000" bIns="46800" anchor="t" anchorCtr="0">
            <a:spAutoFit/>
          </a:bodyPr>
          <a:p>
            <a:r>
              <a:rPr lang="en-US" altLang="zh-CN" sz="2400" b="1" dirty="0">
                <a:solidFill>
                  <a:srgbClr val="CC3300"/>
                </a:solidFill>
                <a:latin typeface="Times New Roman" panose="02020603050405020304" charset="0"/>
                <a:ea typeface="宋体" panose="02010600030101010101" pitchFamily="2" charset="-122"/>
              </a:rPr>
              <a:t>1</a:t>
            </a:r>
            <a:endParaRPr lang="en-US" altLang="zh-CN" sz="2400" b="1" dirty="0">
              <a:solidFill>
                <a:srgbClr val="CC3300"/>
              </a:solidFill>
              <a:latin typeface="Times New Roman" panose="02020603050405020304" charset="0"/>
              <a:ea typeface="宋体" panose="02010600030101010101" pitchFamily="2" charset="-122"/>
            </a:endParaRPr>
          </a:p>
        </p:txBody>
      </p:sp>
      <p:sp>
        <p:nvSpPr>
          <p:cNvPr id="38" name="Rectangle 61"/>
          <p:cNvSpPr/>
          <p:nvPr/>
        </p:nvSpPr>
        <p:spPr>
          <a:xfrm>
            <a:off x="228600" y="5715000"/>
            <a:ext cx="4572000" cy="400050"/>
          </a:xfrm>
          <a:prstGeom prst="rect">
            <a:avLst/>
          </a:prstGeom>
          <a:noFill/>
          <a:ln w="28575">
            <a:noFill/>
          </a:ln>
        </p:spPr>
        <p:txBody>
          <a:bodyPr lIns="90000" tIns="46800" rIns="90000" bIns="46800" anchor="t" anchorCtr="0">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电容两端电压相等，</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=0V</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9" name="Rectangle 62"/>
          <p:cNvSpPr/>
          <p:nvPr/>
        </p:nvSpPr>
        <p:spPr>
          <a:xfrm>
            <a:off x="304483" y="6172200"/>
            <a:ext cx="3168650" cy="400050"/>
          </a:xfrm>
          <a:prstGeom prst="rect">
            <a:avLst/>
          </a:prstGeom>
          <a:noFill/>
          <a:ln w="28575">
            <a:noFill/>
          </a:ln>
        </p:spPr>
        <p:txBody>
          <a:bodyPr lIns="90000" tIns="46800" rIns="90000" bIns="46800" anchor="t" anchorCtr="0">
            <a:spAutoFit/>
          </a:bodyPr>
          <a:p>
            <a:r>
              <a:rPr lang="zh-CN" altLang="en-US" sz="2000" b="1" dirty="0">
                <a:solidFill>
                  <a:srgbClr val="000066"/>
                </a:solidFill>
                <a:latin typeface="Times New Roman" panose="02020603050405020304" charset="0"/>
                <a:ea typeface="楷体" panose="02010609060101010101" charset="-122"/>
              </a:rPr>
              <a:t>电路处于稳态</a:t>
            </a:r>
            <a:endParaRPr lang="zh-CN" altLang="en-US" sz="2000" b="1" dirty="0">
              <a:solidFill>
                <a:srgbClr val="000066"/>
              </a:solidFill>
              <a:latin typeface="Times New Roman" panose="02020603050405020304" charset="0"/>
              <a:ea typeface="楷体" panose="02010609060101010101" charset="-122"/>
            </a:endParaRPr>
          </a:p>
        </p:txBody>
      </p:sp>
      <p:grpSp>
        <p:nvGrpSpPr>
          <p:cNvPr id="40" name="Group 63"/>
          <p:cNvGrpSpPr/>
          <p:nvPr/>
        </p:nvGrpSpPr>
        <p:grpSpPr>
          <a:xfrm>
            <a:off x="250825" y="1357313"/>
            <a:ext cx="3400425" cy="3384550"/>
            <a:chOff x="96" y="981"/>
            <a:chExt cx="2142" cy="2132"/>
          </a:xfrm>
        </p:grpSpPr>
        <p:sp>
          <p:nvSpPr>
            <p:cNvPr id="41" name="Rectangle 64"/>
            <p:cNvSpPr/>
            <p:nvPr/>
          </p:nvSpPr>
          <p:spPr>
            <a:xfrm>
              <a:off x="384" y="1653"/>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rPr>
                <a:t>≥1</a:t>
              </a:r>
              <a:endParaRPr lang="en-US" altLang="zh-CN" sz="2400" b="1" dirty="0">
                <a:latin typeface="Times New Roman" panose="02020603050405020304" charset="0"/>
                <a:ea typeface="宋体" panose="02010600030101010101" pitchFamily="2" charset="-122"/>
              </a:endParaRPr>
            </a:p>
          </p:txBody>
        </p:sp>
        <p:sp>
          <p:nvSpPr>
            <p:cNvPr id="42" name="Oval 65"/>
            <p:cNvSpPr/>
            <p:nvPr/>
          </p:nvSpPr>
          <p:spPr>
            <a:xfrm>
              <a:off x="576" y="1557"/>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43" name="Line 66"/>
            <p:cNvSpPr/>
            <p:nvPr/>
          </p:nvSpPr>
          <p:spPr>
            <a:xfrm>
              <a:off x="480" y="1941"/>
              <a:ext cx="0" cy="1035"/>
            </a:xfrm>
            <a:prstGeom prst="line">
              <a:avLst/>
            </a:prstGeom>
            <a:ln w="28575" cap="flat" cmpd="sng">
              <a:solidFill>
                <a:schemeClr val="tx1"/>
              </a:solidFill>
              <a:prstDash val="solid"/>
              <a:round/>
              <a:headEnd type="none" w="med" len="med"/>
              <a:tailEnd type="none" w="med" len="med"/>
            </a:ln>
          </p:spPr>
        </p:sp>
        <p:sp>
          <p:nvSpPr>
            <p:cNvPr id="44" name="Line 67"/>
            <p:cNvSpPr/>
            <p:nvPr/>
          </p:nvSpPr>
          <p:spPr>
            <a:xfrm flipV="1">
              <a:off x="624" y="1125"/>
              <a:ext cx="0" cy="432"/>
            </a:xfrm>
            <a:prstGeom prst="line">
              <a:avLst/>
            </a:prstGeom>
            <a:ln w="28575" cap="flat" cmpd="sng">
              <a:solidFill>
                <a:schemeClr val="tx1"/>
              </a:solidFill>
              <a:prstDash val="solid"/>
              <a:round/>
              <a:headEnd type="none" w="med" len="med"/>
              <a:tailEnd type="none" w="med" len="med"/>
            </a:ln>
          </p:spPr>
        </p:sp>
        <p:sp>
          <p:nvSpPr>
            <p:cNvPr id="45" name="Rectangle 68"/>
            <p:cNvSpPr/>
            <p:nvPr/>
          </p:nvSpPr>
          <p:spPr>
            <a:xfrm>
              <a:off x="1440" y="1653"/>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rPr>
                <a:t>≥1</a:t>
              </a:r>
              <a:endParaRPr lang="en-US" altLang="zh-CN" sz="2400" b="1" dirty="0">
                <a:latin typeface="Times New Roman" panose="02020603050405020304" charset="0"/>
                <a:ea typeface="宋体" panose="02010600030101010101" pitchFamily="2" charset="-122"/>
              </a:endParaRPr>
            </a:p>
          </p:txBody>
        </p:sp>
        <p:sp>
          <p:nvSpPr>
            <p:cNvPr id="46" name="Oval 69"/>
            <p:cNvSpPr/>
            <p:nvPr/>
          </p:nvSpPr>
          <p:spPr>
            <a:xfrm>
              <a:off x="1632" y="1557"/>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47" name="Line 70"/>
            <p:cNvSpPr/>
            <p:nvPr/>
          </p:nvSpPr>
          <p:spPr>
            <a:xfrm flipV="1">
              <a:off x="1680" y="1125"/>
              <a:ext cx="0" cy="432"/>
            </a:xfrm>
            <a:prstGeom prst="line">
              <a:avLst/>
            </a:prstGeom>
            <a:ln w="28575" cap="flat" cmpd="sng">
              <a:solidFill>
                <a:schemeClr val="tx1"/>
              </a:solidFill>
              <a:prstDash val="solid"/>
              <a:round/>
              <a:headEnd type="none" w="med" len="med"/>
              <a:tailEnd type="none" w="med" len="med"/>
            </a:ln>
          </p:spPr>
        </p:sp>
        <p:sp>
          <p:nvSpPr>
            <p:cNvPr id="48" name="Line 71"/>
            <p:cNvSpPr/>
            <p:nvPr/>
          </p:nvSpPr>
          <p:spPr>
            <a:xfrm>
              <a:off x="624" y="1365"/>
              <a:ext cx="288" cy="0"/>
            </a:xfrm>
            <a:prstGeom prst="line">
              <a:avLst/>
            </a:prstGeom>
            <a:ln w="28575" cap="flat" cmpd="sng">
              <a:solidFill>
                <a:schemeClr val="tx1"/>
              </a:solidFill>
              <a:prstDash val="solid"/>
              <a:round/>
              <a:headEnd type="none" w="med" len="med"/>
              <a:tailEnd type="none" w="med" len="med"/>
            </a:ln>
          </p:spPr>
        </p:sp>
        <p:sp>
          <p:nvSpPr>
            <p:cNvPr id="49" name="Line 72"/>
            <p:cNvSpPr/>
            <p:nvPr/>
          </p:nvSpPr>
          <p:spPr>
            <a:xfrm>
              <a:off x="1392" y="1989"/>
              <a:ext cx="0" cy="288"/>
            </a:xfrm>
            <a:prstGeom prst="line">
              <a:avLst/>
            </a:prstGeom>
            <a:ln w="28575" cap="flat" cmpd="sng">
              <a:solidFill>
                <a:schemeClr val="tx1"/>
              </a:solidFill>
              <a:prstDash val="solid"/>
              <a:round/>
              <a:headEnd type="none" w="med" len="med"/>
              <a:tailEnd type="none" w="med" len="med"/>
            </a:ln>
          </p:spPr>
        </p:sp>
        <p:sp>
          <p:nvSpPr>
            <p:cNvPr id="50" name="Line 73"/>
            <p:cNvSpPr/>
            <p:nvPr/>
          </p:nvSpPr>
          <p:spPr>
            <a:xfrm>
              <a:off x="1440" y="1989"/>
              <a:ext cx="0" cy="288"/>
            </a:xfrm>
            <a:prstGeom prst="line">
              <a:avLst/>
            </a:prstGeom>
            <a:ln w="28575" cap="flat" cmpd="sng">
              <a:solidFill>
                <a:schemeClr val="tx1"/>
              </a:solidFill>
              <a:prstDash val="solid"/>
              <a:round/>
              <a:headEnd type="none" w="med" len="med"/>
              <a:tailEnd type="none" w="med" len="med"/>
            </a:ln>
          </p:spPr>
        </p:sp>
        <p:sp>
          <p:nvSpPr>
            <p:cNvPr id="51" name="Line 74"/>
            <p:cNvSpPr/>
            <p:nvPr/>
          </p:nvSpPr>
          <p:spPr>
            <a:xfrm>
              <a:off x="1440" y="2133"/>
              <a:ext cx="351" cy="0"/>
            </a:xfrm>
            <a:prstGeom prst="line">
              <a:avLst/>
            </a:prstGeom>
            <a:ln w="28575" cap="flat" cmpd="sng">
              <a:solidFill>
                <a:schemeClr val="tx1"/>
              </a:solidFill>
              <a:prstDash val="solid"/>
              <a:round/>
              <a:headEnd type="none" w="med" len="med"/>
              <a:tailEnd type="none" w="med" len="med"/>
            </a:ln>
          </p:spPr>
        </p:sp>
        <p:sp>
          <p:nvSpPr>
            <p:cNvPr id="52" name="Rectangle 75"/>
            <p:cNvSpPr/>
            <p:nvPr/>
          </p:nvSpPr>
          <p:spPr>
            <a:xfrm>
              <a:off x="1565" y="2229"/>
              <a:ext cx="96" cy="288"/>
            </a:xfrm>
            <a:prstGeom prst="rect">
              <a:avLst/>
            </a:prstGeom>
            <a:noFill/>
            <a:ln w="28575" cap="flat" cmpd="sng">
              <a:solidFill>
                <a:schemeClr val="tx1"/>
              </a:solidFill>
              <a:prstDash val="solid"/>
              <a:miter/>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53" name="Line 76"/>
            <p:cNvSpPr/>
            <p:nvPr/>
          </p:nvSpPr>
          <p:spPr>
            <a:xfrm>
              <a:off x="1610" y="1941"/>
              <a:ext cx="0" cy="288"/>
            </a:xfrm>
            <a:prstGeom prst="line">
              <a:avLst/>
            </a:prstGeom>
            <a:ln w="28575" cap="flat" cmpd="sng">
              <a:solidFill>
                <a:schemeClr val="tx1"/>
              </a:solidFill>
              <a:prstDash val="solid"/>
              <a:round/>
              <a:headEnd type="none" w="med" len="med"/>
              <a:tailEnd type="none" w="med" len="med"/>
            </a:ln>
          </p:spPr>
        </p:sp>
        <p:sp>
          <p:nvSpPr>
            <p:cNvPr id="54" name="Line 77"/>
            <p:cNvSpPr/>
            <p:nvPr/>
          </p:nvSpPr>
          <p:spPr>
            <a:xfrm>
              <a:off x="1610" y="2517"/>
              <a:ext cx="0" cy="323"/>
            </a:xfrm>
            <a:prstGeom prst="line">
              <a:avLst/>
            </a:prstGeom>
            <a:ln w="28575" cap="flat" cmpd="sng">
              <a:solidFill>
                <a:schemeClr val="tx1"/>
              </a:solidFill>
              <a:prstDash val="solid"/>
              <a:round/>
              <a:headEnd type="none" w="med" len="med"/>
              <a:tailEnd type="none" w="med" len="med"/>
            </a:ln>
          </p:spPr>
        </p:sp>
        <p:sp>
          <p:nvSpPr>
            <p:cNvPr id="55" name="Line 78"/>
            <p:cNvSpPr/>
            <p:nvPr/>
          </p:nvSpPr>
          <p:spPr>
            <a:xfrm flipH="1">
              <a:off x="1392" y="1365"/>
              <a:ext cx="288" cy="0"/>
            </a:xfrm>
            <a:prstGeom prst="line">
              <a:avLst/>
            </a:prstGeom>
            <a:ln w="28575" cap="flat" cmpd="sng">
              <a:solidFill>
                <a:schemeClr val="tx1"/>
              </a:solidFill>
              <a:prstDash val="solid"/>
              <a:round/>
              <a:headEnd type="none" w="med" len="med"/>
              <a:tailEnd type="none" w="med" len="med"/>
            </a:ln>
          </p:spPr>
        </p:sp>
        <p:sp>
          <p:nvSpPr>
            <p:cNvPr id="56" name="Line 79"/>
            <p:cNvSpPr/>
            <p:nvPr/>
          </p:nvSpPr>
          <p:spPr>
            <a:xfrm>
              <a:off x="768" y="1941"/>
              <a:ext cx="0" cy="192"/>
            </a:xfrm>
            <a:prstGeom prst="line">
              <a:avLst/>
            </a:prstGeom>
            <a:ln w="28575" cap="flat" cmpd="sng">
              <a:solidFill>
                <a:schemeClr val="tx1"/>
              </a:solidFill>
              <a:prstDash val="solid"/>
              <a:round/>
              <a:headEnd type="none" w="med" len="med"/>
              <a:tailEnd type="none" w="med" len="med"/>
            </a:ln>
          </p:spPr>
        </p:sp>
        <p:sp>
          <p:nvSpPr>
            <p:cNvPr id="57" name="Line 80"/>
            <p:cNvSpPr/>
            <p:nvPr/>
          </p:nvSpPr>
          <p:spPr>
            <a:xfrm>
              <a:off x="768" y="2133"/>
              <a:ext cx="192" cy="0"/>
            </a:xfrm>
            <a:prstGeom prst="line">
              <a:avLst/>
            </a:prstGeom>
            <a:ln w="28575" cap="flat" cmpd="sng">
              <a:solidFill>
                <a:schemeClr val="tx1"/>
              </a:solidFill>
              <a:prstDash val="solid"/>
              <a:round/>
              <a:headEnd type="none" w="med" len="med"/>
              <a:tailEnd type="none" w="med" len="med"/>
            </a:ln>
          </p:spPr>
        </p:sp>
        <p:sp>
          <p:nvSpPr>
            <p:cNvPr id="58" name="Line 81"/>
            <p:cNvSpPr/>
            <p:nvPr/>
          </p:nvSpPr>
          <p:spPr>
            <a:xfrm flipH="1">
              <a:off x="960" y="1365"/>
              <a:ext cx="432" cy="768"/>
            </a:xfrm>
            <a:prstGeom prst="line">
              <a:avLst/>
            </a:prstGeom>
            <a:ln w="28575" cap="flat" cmpd="sng">
              <a:solidFill>
                <a:schemeClr val="tx1"/>
              </a:solidFill>
              <a:prstDash val="solid"/>
              <a:round/>
              <a:headEnd type="none" w="med" len="med"/>
              <a:tailEnd type="none" w="med" len="med"/>
            </a:ln>
          </p:spPr>
        </p:sp>
        <p:sp>
          <p:nvSpPr>
            <p:cNvPr id="59" name="Line 82"/>
            <p:cNvSpPr/>
            <p:nvPr/>
          </p:nvSpPr>
          <p:spPr>
            <a:xfrm>
              <a:off x="912" y="1365"/>
              <a:ext cx="336" cy="768"/>
            </a:xfrm>
            <a:prstGeom prst="line">
              <a:avLst/>
            </a:prstGeom>
            <a:ln w="28575" cap="flat" cmpd="sng">
              <a:solidFill>
                <a:schemeClr val="tx1"/>
              </a:solidFill>
              <a:prstDash val="solid"/>
              <a:round/>
              <a:headEnd type="none" w="med" len="med"/>
              <a:tailEnd type="none" w="med" len="med"/>
            </a:ln>
          </p:spPr>
        </p:sp>
        <p:sp>
          <p:nvSpPr>
            <p:cNvPr id="60" name="Line 83"/>
            <p:cNvSpPr/>
            <p:nvPr/>
          </p:nvSpPr>
          <p:spPr>
            <a:xfrm>
              <a:off x="1248" y="2133"/>
              <a:ext cx="144" cy="0"/>
            </a:xfrm>
            <a:prstGeom prst="line">
              <a:avLst/>
            </a:prstGeom>
            <a:ln w="28575" cap="flat" cmpd="sng">
              <a:solidFill>
                <a:schemeClr val="tx1"/>
              </a:solidFill>
              <a:prstDash val="solid"/>
              <a:round/>
              <a:headEnd type="none" w="med" len="med"/>
              <a:tailEnd type="none" w="med" len="med"/>
            </a:ln>
          </p:spPr>
        </p:sp>
        <p:sp>
          <p:nvSpPr>
            <p:cNvPr id="61" name="Text Box 84"/>
            <p:cNvSpPr txBox="1"/>
            <p:nvPr/>
          </p:nvSpPr>
          <p:spPr>
            <a:xfrm>
              <a:off x="615" y="1007"/>
              <a:ext cx="363" cy="288"/>
            </a:xfrm>
            <a:prstGeom prst="rect">
              <a:avLst/>
            </a:prstGeom>
            <a:noFill/>
            <a:ln w="28575">
              <a:noFill/>
            </a:ln>
          </p:spPr>
          <p:txBody>
            <a:bodyPr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O1</a:t>
              </a:r>
              <a:endParaRPr lang="en-US" altLang="zh-CN" sz="2400" b="1" baseline="-25000" dirty="0">
                <a:latin typeface="Times New Roman" panose="02020603050405020304" charset="0"/>
                <a:ea typeface="宋体" panose="02010600030101010101" pitchFamily="2" charset="-122"/>
              </a:endParaRPr>
            </a:p>
          </p:txBody>
        </p:sp>
        <p:sp>
          <p:nvSpPr>
            <p:cNvPr id="62" name="Text Box 85"/>
            <p:cNvSpPr txBox="1"/>
            <p:nvPr/>
          </p:nvSpPr>
          <p:spPr>
            <a:xfrm>
              <a:off x="1680" y="981"/>
              <a:ext cx="363" cy="288"/>
            </a:xfrm>
            <a:prstGeom prst="rect">
              <a:avLst/>
            </a:prstGeom>
            <a:noFill/>
            <a:ln w="28575">
              <a:noFill/>
            </a:ln>
          </p:spPr>
          <p:txBody>
            <a:bodyPr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sp>
          <p:nvSpPr>
            <p:cNvPr id="63" name="Text Box 86"/>
            <p:cNvSpPr txBox="1"/>
            <p:nvPr/>
          </p:nvSpPr>
          <p:spPr>
            <a:xfrm>
              <a:off x="1911" y="1631"/>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G</a:t>
              </a:r>
              <a:r>
                <a:rPr lang="en-US" altLang="zh-CN" sz="2400" b="1" baseline="-25000" dirty="0">
                  <a:latin typeface="Times New Roman" panose="02020603050405020304" charset="0"/>
                  <a:ea typeface="宋体" panose="02010600030101010101" pitchFamily="2" charset="-122"/>
                </a:rPr>
                <a:t>2</a:t>
              </a:r>
              <a:endParaRPr lang="en-US" altLang="zh-CN" sz="2400" b="1" baseline="-25000" dirty="0">
                <a:latin typeface="Times New Roman" panose="02020603050405020304" charset="0"/>
                <a:ea typeface="宋体" panose="02010600030101010101" pitchFamily="2" charset="-122"/>
              </a:endParaRPr>
            </a:p>
          </p:txBody>
        </p:sp>
        <p:sp>
          <p:nvSpPr>
            <p:cNvPr id="64" name="Text Box 87"/>
            <p:cNvSpPr txBox="1"/>
            <p:nvPr/>
          </p:nvSpPr>
          <p:spPr>
            <a:xfrm>
              <a:off x="96" y="1653"/>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G</a:t>
              </a:r>
              <a:r>
                <a:rPr lang="en-US" altLang="zh-CN" sz="2400" b="1" baseline="-25000" dirty="0">
                  <a:latin typeface="Times New Roman" panose="02020603050405020304" charset="0"/>
                  <a:ea typeface="宋体" panose="02010600030101010101" pitchFamily="2" charset="-122"/>
                </a:rPr>
                <a:t>1</a:t>
              </a:r>
              <a:endParaRPr lang="en-US" altLang="zh-CN" sz="2400" b="1" baseline="-25000" dirty="0">
                <a:latin typeface="Times New Roman" panose="02020603050405020304" charset="0"/>
                <a:ea typeface="宋体" panose="02010600030101010101" pitchFamily="2" charset="-122"/>
              </a:endParaRPr>
            </a:p>
          </p:txBody>
        </p:sp>
        <p:sp>
          <p:nvSpPr>
            <p:cNvPr id="65" name="Text Box 88"/>
            <p:cNvSpPr txBox="1"/>
            <p:nvPr/>
          </p:nvSpPr>
          <p:spPr>
            <a:xfrm>
              <a:off x="431" y="2659"/>
              <a:ext cx="363" cy="288"/>
            </a:xfrm>
            <a:prstGeom prst="rect">
              <a:avLst/>
            </a:prstGeom>
            <a:noFill/>
            <a:ln w="28575">
              <a:noFill/>
            </a:ln>
          </p:spPr>
          <p:txBody>
            <a:bodyPr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I</a:t>
              </a:r>
              <a:endParaRPr lang="en-US" altLang="zh-CN" sz="2400" b="1" baseline="-25000" dirty="0">
                <a:latin typeface="Times New Roman" panose="02020603050405020304" charset="0"/>
                <a:ea typeface="宋体" panose="02010600030101010101" pitchFamily="2" charset="-122"/>
              </a:endParaRPr>
            </a:p>
          </p:txBody>
        </p:sp>
        <p:sp>
          <p:nvSpPr>
            <p:cNvPr id="66" name="Text Box 89"/>
            <p:cNvSpPr txBox="1"/>
            <p:nvPr/>
          </p:nvSpPr>
          <p:spPr>
            <a:xfrm>
              <a:off x="1474" y="2825"/>
              <a:ext cx="437" cy="288"/>
            </a:xfrm>
            <a:prstGeom prst="rect">
              <a:avLst/>
            </a:prstGeom>
            <a:noFill/>
            <a:ln w="28575">
              <a:noFill/>
            </a:ln>
          </p:spPr>
          <p:txBody>
            <a:bodyPr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DD</a:t>
              </a:r>
              <a:endParaRPr lang="en-US" altLang="zh-CN" sz="2400" b="1" baseline="-25000" dirty="0">
                <a:latin typeface="Times New Roman" panose="02020603050405020304" charset="0"/>
                <a:ea typeface="宋体" panose="02010600030101010101" pitchFamily="2" charset="-122"/>
              </a:endParaRPr>
            </a:p>
          </p:txBody>
        </p:sp>
        <p:sp>
          <p:nvSpPr>
            <p:cNvPr id="67" name="Text Box 90"/>
            <p:cNvSpPr txBox="1"/>
            <p:nvPr/>
          </p:nvSpPr>
          <p:spPr>
            <a:xfrm>
              <a:off x="1882" y="1872"/>
              <a:ext cx="313"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I2</a:t>
              </a:r>
              <a:endParaRPr lang="en-US" altLang="zh-CN" sz="2400" b="1" baseline="-25000" dirty="0">
                <a:latin typeface="Times New Roman" panose="02020603050405020304" charset="0"/>
                <a:ea typeface="宋体" panose="02010600030101010101" pitchFamily="2" charset="-122"/>
              </a:endParaRPr>
            </a:p>
          </p:txBody>
        </p:sp>
        <p:sp>
          <p:nvSpPr>
            <p:cNvPr id="68" name="Line 91"/>
            <p:cNvSpPr/>
            <p:nvPr/>
          </p:nvSpPr>
          <p:spPr>
            <a:xfrm>
              <a:off x="1791" y="1933"/>
              <a:ext cx="0" cy="227"/>
            </a:xfrm>
            <a:prstGeom prst="line">
              <a:avLst/>
            </a:prstGeom>
            <a:ln w="28575" cap="flat" cmpd="sng">
              <a:solidFill>
                <a:schemeClr val="tx1"/>
              </a:solidFill>
              <a:prstDash val="solid"/>
              <a:round/>
              <a:headEnd type="none" w="med" len="med"/>
              <a:tailEnd type="none" w="med" len="med"/>
            </a:ln>
          </p:spPr>
        </p:sp>
        <p:sp>
          <p:nvSpPr>
            <p:cNvPr id="69" name="Line 92"/>
            <p:cNvSpPr/>
            <p:nvPr/>
          </p:nvSpPr>
          <p:spPr>
            <a:xfrm>
              <a:off x="1791" y="2115"/>
              <a:ext cx="182" cy="0"/>
            </a:xfrm>
            <a:prstGeom prst="line">
              <a:avLst/>
            </a:prstGeom>
            <a:ln w="38100" cap="flat" cmpd="sng">
              <a:solidFill>
                <a:srgbClr val="FF00FF"/>
              </a:solidFill>
              <a:prstDash val="sysDot"/>
              <a:round/>
              <a:headEnd type="none" w="med" len="med"/>
              <a:tailEnd type="none" w="med" len="med"/>
            </a:ln>
          </p:spPr>
        </p:sp>
        <p:sp>
          <p:nvSpPr>
            <p:cNvPr id="70" name="AutoShape 93"/>
            <p:cNvSpPr/>
            <p:nvPr/>
          </p:nvSpPr>
          <p:spPr>
            <a:xfrm flipV="1">
              <a:off x="1882" y="2387"/>
              <a:ext cx="182" cy="136"/>
            </a:xfrm>
            <a:prstGeom prst="triangle">
              <a:avLst>
                <a:gd name="adj" fmla="val 50000"/>
              </a:avLst>
            </a:prstGeom>
            <a:noFill/>
            <a:ln w="28575" cap="flat" cmpd="sng">
              <a:solidFill>
                <a:srgbClr val="FF00FF"/>
              </a:solidFill>
              <a:prstDash val="solid"/>
              <a:miter/>
              <a:headEnd type="none" w="med" len="med"/>
              <a:tailEnd type="none" w="med" len="med"/>
            </a:ln>
          </p:spPr>
          <p:txBody>
            <a:bodyPr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71" name="Line 94"/>
            <p:cNvSpPr/>
            <p:nvPr/>
          </p:nvSpPr>
          <p:spPr>
            <a:xfrm>
              <a:off x="1973" y="2115"/>
              <a:ext cx="0" cy="272"/>
            </a:xfrm>
            <a:prstGeom prst="line">
              <a:avLst/>
            </a:prstGeom>
            <a:ln w="38100" cap="flat" cmpd="sng">
              <a:solidFill>
                <a:srgbClr val="FF00FF"/>
              </a:solidFill>
              <a:prstDash val="sysDot"/>
              <a:round/>
              <a:headEnd type="none" w="med" len="med"/>
              <a:tailEnd type="none" w="med" len="med"/>
            </a:ln>
          </p:spPr>
        </p:sp>
        <p:sp>
          <p:nvSpPr>
            <p:cNvPr id="72" name="Line 95"/>
            <p:cNvSpPr/>
            <p:nvPr/>
          </p:nvSpPr>
          <p:spPr>
            <a:xfrm>
              <a:off x="1882" y="2523"/>
              <a:ext cx="182" cy="0"/>
            </a:xfrm>
            <a:prstGeom prst="line">
              <a:avLst/>
            </a:prstGeom>
            <a:ln w="28575" cap="flat" cmpd="sng">
              <a:solidFill>
                <a:srgbClr val="FF00FF"/>
              </a:solidFill>
              <a:prstDash val="solid"/>
              <a:round/>
              <a:headEnd type="none" w="med" len="med"/>
              <a:tailEnd type="none" w="med" len="med"/>
            </a:ln>
          </p:spPr>
        </p:sp>
        <p:sp>
          <p:nvSpPr>
            <p:cNvPr id="73" name="Line 96"/>
            <p:cNvSpPr/>
            <p:nvPr/>
          </p:nvSpPr>
          <p:spPr>
            <a:xfrm>
              <a:off x="1973" y="2523"/>
              <a:ext cx="0" cy="181"/>
            </a:xfrm>
            <a:prstGeom prst="line">
              <a:avLst/>
            </a:prstGeom>
            <a:ln w="38100" cap="flat" cmpd="sng">
              <a:solidFill>
                <a:srgbClr val="FF00FF"/>
              </a:solidFill>
              <a:prstDash val="sysDot"/>
              <a:round/>
              <a:headEnd type="none" w="med" len="med"/>
              <a:tailEnd type="none" w="med" len="med"/>
            </a:ln>
          </p:spPr>
        </p:sp>
        <p:sp>
          <p:nvSpPr>
            <p:cNvPr id="74" name="Line 97"/>
            <p:cNvSpPr/>
            <p:nvPr/>
          </p:nvSpPr>
          <p:spPr>
            <a:xfrm flipH="1">
              <a:off x="1610" y="2704"/>
              <a:ext cx="363" cy="0"/>
            </a:xfrm>
            <a:prstGeom prst="line">
              <a:avLst/>
            </a:prstGeom>
            <a:ln w="38100" cap="flat" cmpd="sng">
              <a:solidFill>
                <a:srgbClr val="FF00FF"/>
              </a:solidFill>
              <a:prstDash val="sysDot"/>
              <a:round/>
              <a:headEnd type="none" w="med" len="med"/>
              <a:tailEnd type="none" w="med" len="med"/>
            </a:ln>
          </p:spPr>
        </p:sp>
        <p:sp>
          <p:nvSpPr>
            <p:cNvPr id="75" name="Text Box 98"/>
            <p:cNvSpPr txBox="1"/>
            <p:nvPr/>
          </p:nvSpPr>
          <p:spPr>
            <a:xfrm>
              <a:off x="1629" y="2251"/>
              <a:ext cx="253"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R</a:t>
              </a:r>
              <a:endParaRPr lang="en-US" altLang="zh-CN" sz="2400" b="1" dirty="0">
                <a:latin typeface="Times New Roman" panose="02020603050405020304" charset="0"/>
                <a:ea typeface="宋体" panose="02010600030101010101" pitchFamily="2" charset="-122"/>
              </a:endParaRPr>
            </a:p>
          </p:txBody>
        </p:sp>
        <p:sp>
          <p:nvSpPr>
            <p:cNvPr id="76" name="Text Box 99"/>
            <p:cNvSpPr txBox="1"/>
            <p:nvPr/>
          </p:nvSpPr>
          <p:spPr>
            <a:xfrm>
              <a:off x="1292" y="2235"/>
              <a:ext cx="253"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C</a:t>
              </a:r>
              <a:endParaRPr lang="en-US" altLang="zh-CN" sz="2400" b="1" dirty="0">
                <a:latin typeface="Times New Roman" panose="02020603050405020304" charset="0"/>
                <a:ea typeface="宋体" panose="02010600030101010101" pitchFamily="2" charset="-122"/>
              </a:endParaRPr>
            </a:p>
          </p:txBody>
        </p:sp>
      </p:grpSp>
      <p:grpSp>
        <p:nvGrpSpPr>
          <p:cNvPr id="77" name="Group 106"/>
          <p:cNvGrpSpPr/>
          <p:nvPr/>
        </p:nvGrpSpPr>
        <p:grpSpPr>
          <a:xfrm>
            <a:off x="1330325" y="1931988"/>
            <a:ext cx="1443038" cy="1223962"/>
            <a:chOff x="838" y="1071"/>
            <a:chExt cx="909" cy="771"/>
          </a:xfrm>
        </p:grpSpPr>
        <p:sp>
          <p:nvSpPr>
            <p:cNvPr id="78" name="Line 107"/>
            <p:cNvSpPr/>
            <p:nvPr/>
          </p:nvSpPr>
          <p:spPr>
            <a:xfrm flipH="1">
              <a:off x="1475" y="1071"/>
              <a:ext cx="272" cy="0"/>
            </a:xfrm>
            <a:prstGeom prst="line">
              <a:avLst/>
            </a:prstGeom>
            <a:ln w="57150" cap="flat" cmpd="sng">
              <a:solidFill>
                <a:srgbClr val="CC3300"/>
              </a:solidFill>
              <a:prstDash val="solid"/>
              <a:round/>
              <a:headEnd type="none" w="med" len="med"/>
              <a:tailEnd type="none" w="med" len="med"/>
            </a:ln>
          </p:spPr>
        </p:sp>
        <p:sp>
          <p:nvSpPr>
            <p:cNvPr id="79" name="Line 108"/>
            <p:cNvSpPr/>
            <p:nvPr/>
          </p:nvSpPr>
          <p:spPr>
            <a:xfrm flipH="1">
              <a:off x="1020" y="1071"/>
              <a:ext cx="455" cy="771"/>
            </a:xfrm>
            <a:prstGeom prst="line">
              <a:avLst/>
            </a:prstGeom>
            <a:ln w="57150" cap="flat" cmpd="sng">
              <a:solidFill>
                <a:srgbClr val="CC3300"/>
              </a:solidFill>
              <a:prstDash val="solid"/>
              <a:round/>
              <a:headEnd type="none" w="med" len="med"/>
              <a:tailEnd type="none" w="med" len="med"/>
            </a:ln>
          </p:spPr>
        </p:sp>
        <p:sp>
          <p:nvSpPr>
            <p:cNvPr id="80" name="Line 109"/>
            <p:cNvSpPr/>
            <p:nvPr/>
          </p:nvSpPr>
          <p:spPr>
            <a:xfrm flipH="1">
              <a:off x="838" y="1842"/>
              <a:ext cx="182" cy="0"/>
            </a:xfrm>
            <a:prstGeom prst="line">
              <a:avLst/>
            </a:prstGeom>
            <a:ln w="57150" cap="flat" cmpd="sng">
              <a:solidFill>
                <a:srgbClr val="CC3300"/>
              </a:solidFill>
              <a:prstDash val="solid"/>
              <a:round/>
              <a:headEnd type="none" w="med" len="med"/>
              <a:tailEnd type="none" w="med" len="med"/>
            </a:ln>
          </p:spPr>
        </p:sp>
        <p:sp>
          <p:nvSpPr>
            <p:cNvPr id="81" name="Line 110"/>
            <p:cNvSpPr/>
            <p:nvPr/>
          </p:nvSpPr>
          <p:spPr>
            <a:xfrm flipV="1">
              <a:off x="840" y="1661"/>
              <a:ext cx="0" cy="181"/>
            </a:xfrm>
            <a:prstGeom prst="line">
              <a:avLst/>
            </a:prstGeom>
            <a:ln w="57150" cap="flat" cmpd="sng">
              <a:solidFill>
                <a:srgbClr val="CC3300"/>
              </a:solidFill>
              <a:prstDash val="solid"/>
              <a:round/>
              <a:headEnd type="none" w="med" len="med"/>
              <a:tailEnd type="triangle" w="med" len="med"/>
            </a:ln>
          </p:spPr>
        </p:sp>
      </p:grpSp>
      <p:sp>
        <p:nvSpPr>
          <p:cNvPr id="82" name="Text Box 111"/>
          <p:cNvSpPr txBox="1"/>
          <p:nvPr/>
        </p:nvSpPr>
        <p:spPr>
          <a:xfrm>
            <a:off x="2351088" y="2797175"/>
            <a:ext cx="384175" cy="519113"/>
          </a:xfrm>
          <a:prstGeom prst="rect">
            <a:avLst/>
          </a:prstGeom>
          <a:noFill/>
          <a:ln w="28575">
            <a:noFill/>
          </a:ln>
        </p:spPr>
        <p:txBody>
          <a:bodyPr wrap="none" lIns="90000" tIns="46800" rIns="90000" bIns="46800" anchor="t" anchorCtr="0">
            <a:spAutoFit/>
          </a:bodyPr>
          <a:p>
            <a:r>
              <a:rPr lang="en-US" altLang="zh-CN" b="1" dirty="0">
                <a:solidFill>
                  <a:srgbClr val="0033CC"/>
                </a:solidFill>
                <a:latin typeface="Times New Roman" panose="02020603050405020304" charset="0"/>
                <a:ea typeface="宋体" panose="02010600030101010101" pitchFamily="2" charset="-122"/>
              </a:rPr>
              <a:t>+</a:t>
            </a:r>
            <a:endParaRPr lang="en-US" altLang="zh-CN" b="1" dirty="0">
              <a:solidFill>
                <a:srgbClr val="0033CC"/>
              </a:solidFill>
              <a:latin typeface="Times New Roman" panose="02020603050405020304" charset="0"/>
              <a:ea typeface="宋体" panose="02010600030101010101" pitchFamily="2" charset="-122"/>
            </a:endParaRPr>
          </a:p>
        </p:txBody>
      </p:sp>
      <p:sp>
        <p:nvSpPr>
          <p:cNvPr id="83" name="Text Box 112"/>
          <p:cNvSpPr txBox="1"/>
          <p:nvPr/>
        </p:nvSpPr>
        <p:spPr>
          <a:xfrm>
            <a:off x="1908175" y="2865438"/>
            <a:ext cx="436563" cy="396875"/>
          </a:xfrm>
          <a:prstGeom prst="rect">
            <a:avLst/>
          </a:prstGeom>
          <a:noFill/>
          <a:ln w="28575">
            <a:noFill/>
          </a:ln>
        </p:spPr>
        <p:txBody>
          <a:bodyPr wrap="none" lIns="90000" tIns="46800" rIns="90000" bIns="46800" anchor="t" anchorCtr="0">
            <a:spAutoFit/>
          </a:bodyPr>
          <a:p>
            <a:r>
              <a:rPr lang="zh-CN" altLang="en-US" sz="2000" b="1" dirty="0">
                <a:solidFill>
                  <a:srgbClr val="0033CC"/>
                </a:solidFill>
                <a:latin typeface="Times New Roman" panose="02020603050405020304" charset="0"/>
                <a:ea typeface="宋体" panose="02010600030101010101" pitchFamily="2" charset="-122"/>
              </a:rPr>
              <a:t>－</a:t>
            </a:r>
            <a:endParaRPr lang="zh-CN" altLang="en-US" sz="2000" b="1" dirty="0">
              <a:solidFill>
                <a:srgbClr val="0033CC"/>
              </a:solidFill>
              <a:latin typeface="Times New Roman" panose="02020603050405020304" charset="0"/>
              <a:ea typeface="宋体" panose="02010600030101010101" pitchFamily="2" charset="-122"/>
            </a:endParaRPr>
          </a:p>
        </p:txBody>
      </p:sp>
      <p:sp>
        <p:nvSpPr>
          <p:cNvPr id="84" name="Rectangle 114"/>
          <p:cNvSpPr/>
          <p:nvPr/>
        </p:nvSpPr>
        <p:spPr>
          <a:xfrm>
            <a:off x="3146108" y="5181283"/>
            <a:ext cx="1323975" cy="461645"/>
          </a:xfrm>
          <a:prstGeom prst="rect">
            <a:avLst/>
          </a:prstGeom>
          <a:noFill/>
          <a:ln w="28575">
            <a:noFill/>
          </a:ln>
        </p:spPr>
        <p:txBody>
          <a:bodyPr wrap="none" lIns="90000" tIns="46800" rIns="90000" bIns="46800" anchor="t" anchorCtr="0">
            <a:spAutoFit/>
          </a:bodyPr>
          <a:p>
            <a:pPr>
              <a:lnSpc>
                <a:spcPct val="120000"/>
              </a:lnSpc>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O1</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DD</a:t>
            </a:r>
            <a:endPar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85" name="Rectangle 115"/>
          <p:cNvSpPr/>
          <p:nvPr/>
        </p:nvSpPr>
        <p:spPr>
          <a:xfrm>
            <a:off x="2511425" y="3013075"/>
            <a:ext cx="260350" cy="366713"/>
          </a:xfrm>
          <a:prstGeom prst="rect">
            <a:avLst/>
          </a:prstGeom>
          <a:noFill/>
          <a:ln w="28575">
            <a:noFill/>
          </a:ln>
        </p:spPr>
        <p:txBody>
          <a:bodyPr wrap="none" lIns="90000" tIns="46800" rIns="90000" bIns="46800" anchor="t" anchorCtr="0">
            <a:spAutoFit/>
          </a:bodyPr>
          <a:p>
            <a:r>
              <a:rPr lang="en-US" altLang="zh-CN" sz="1800" b="1" dirty="0">
                <a:latin typeface="Arial" panose="020B0604020202020204" pitchFamily="34" charset="0"/>
                <a:ea typeface="宋体" panose="02010600030101010101" pitchFamily="2" charset="-122"/>
              </a:rPr>
              <a:t>•</a:t>
            </a:r>
            <a:endParaRPr lang="en-US" altLang="zh-CN" sz="1800" b="1"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6"/>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2000"/>
                                  </p:stCondLst>
                                  <p:childTnLst>
                                    <p:set>
                                      <p:cBhvr>
                                        <p:cTn id="23" dur="1" fill="hold">
                                          <p:stCondLst>
                                            <p:cond delay="499"/>
                                          </p:stCondLst>
                                        </p:cTn>
                                        <p:tgtEl>
                                          <p:spTgt spid="3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
                                            <p:txEl>
                                              <p:charRg st="0" end="19"/>
                                            </p:txEl>
                                          </p:spTgt>
                                        </p:tgtEl>
                                        <p:attrNameLst>
                                          <p:attrName>style.visibility</p:attrName>
                                        </p:attrNameLst>
                                      </p:cBhvr>
                                      <p:to>
                                        <p:strVal val="visible"/>
                                      </p:to>
                                    </p:set>
                                    <p:animEffect transition="in" filter="wipe(left)">
                                      <p:cBhvr>
                                        <p:cTn id="28" dur="500"/>
                                        <p:tgtEl>
                                          <p:spTgt spid="26">
                                            <p:txEl>
                                              <p:charRg st="0" end="19"/>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strips(downLeft)">
                                      <p:cBhvr>
                                        <p:cTn id="33" dur="500"/>
                                        <p:tgtEl>
                                          <p:spTgt spid="7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left)">
                                      <p:cBhvr>
                                        <p:cTn id="38" dur="500"/>
                                        <p:tgtEl>
                                          <p:spTgt spid="84"/>
                                        </p:tgtEl>
                                      </p:cBhvr>
                                    </p:animEffec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blinds(horizontal)">
                                      <p:cBhvr>
                                        <p:cTn id="46" dur="500"/>
                                        <p:tgtEl>
                                          <p:spTgt spid="3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left)">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blinds(horizontal)">
                                      <p:cBhvr>
                                        <p:cTn id="6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build="p"/>
      <p:bldP spid="32" grpId="0"/>
      <p:bldP spid="33" grpId="0"/>
      <p:bldP spid="34" grpId="0"/>
      <p:bldP spid="35" grpId="0"/>
      <p:bldP spid="36" grpId="0"/>
      <p:bldP spid="38" grpId="0"/>
      <p:bldP spid="39" grpId="0"/>
      <p:bldP spid="8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6386" name="Group 2"/>
          <p:cNvGrpSpPr/>
          <p:nvPr/>
        </p:nvGrpSpPr>
        <p:grpSpPr>
          <a:xfrm>
            <a:off x="4191000" y="1371600"/>
            <a:ext cx="4343400" cy="5294313"/>
            <a:chOff x="2640" y="169"/>
            <a:chExt cx="2736" cy="3335"/>
          </a:xfrm>
        </p:grpSpPr>
        <p:sp>
          <p:nvSpPr>
            <p:cNvPr id="16387" name="Line 3"/>
            <p:cNvSpPr/>
            <p:nvPr/>
          </p:nvSpPr>
          <p:spPr>
            <a:xfrm flipV="1">
              <a:off x="2640" y="240"/>
              <a:ext cx="0" cy="624"/>
            </a:xfrm>
            <a:prstGeom prst="line">
              <a:avLst/>
            </a:prstGeom>
            <a:ln w="28575" cap="flat" cmpd="sng">
              <a:solidFill>
                <a:schemeClr val="tx1"/>
              </a:solidFill>
              <a:prstDash val="solid"/>
              <a:round/>
              <a:headEnd type="none" w="med" len="med"/>
              <a:tailEnd type="triangle" w="med" len="med"/>
            </a:ln>
          </p:spPr>
        </p:sp>
        <p:sp>
          <p:nvSpPr>
            <p:cNvPr id="16388" name="Line 4"/>
            <p:cNvSpPr/>
            <p:nvPr/>
          </p:nvSpPr>
          <p:spPr>
            <a:xfrm>
              <a:off x="2640" y="864"/>
              <a:ext cx="2736" cy="0"/>
            </a:xfrm>
            <a:prstGeom prst="line">
              <a:avLst/>
            </a:prstGeom>
            <a:ln w="28575" cap="flat" cmpd="sng">
              <a:solidFill>
                <a:schemeClr val="tx1"/>
              </a:solidFill>
              <a:prstDash val="solid"/>
              <a:round/>
              <a:headEnd type="none" w="med" len="med"/>
              <a:tailEnd type="triangle" w="med" len="med"/>
            </a:ln>
          </p:spPr>
        </p:sp>
        <p:sp>
          <p:nvSpPr>
            <p:cNvPr id="16389" name="Line 5"/>
            <p:cNvSpPr/>
            <p:nvPr/>
          </p:nvSpPr>
          <p:spPr>
            <a:xfrm flipV="1">
              <a:off x="2640" y="1056"/>
              <a:ext cx="0" cy="672"/>
            </a:xfrm>
            <a:prstGeom prst="line">
              <a:avLst/>
            </a:prstGeom>
            <a:ln w="28575" cap="flat" cmpd="sng">
              <a:solidFill>
                <a:schemeClr val="tx1"/>
              </a:solidFill>
              <a:prstDash val="solid"/>
              <a:round/>
              <a:headEnd type="none" w="med" len="med"/>
              <a:tailEnd type="triangle" w="med" len="med"/>
            </a:ln>
          </p:spPr>
        </p:sp>
        <p:sp>
          <p:nvSpPr>
            <p:cNvPr id="16390" name="Line 6"/>
            <p:cNvSpPr/>
            <p:nvPr/>
          </p:nvSpPr>
          <p:spPr>
            <a:xfrm>
              <a:off x="2640" y="1728"/>
              <a:ext cx="2736" cy="0"/>
            </a:xfrm>
            <a:prstGeom prst="line">
              <a:avLst/>
            </a:prstGeom>
            <a:ln w="28575" cap="flat" cmpd="sng">
              <a:solidFill>
                <a:schemeClr val="tx1"/>
              </a:solidFill>
              <a:prstDash val="solid"/>
              <a:round/>
              <a:headEnd type="none" w="med" len="med"/>
              <a:tailEnd type="triangle" w="med" len="med"/>
            </a:ln>
          </p:spPr>
        </p:sp>
        <p:sp>
          <p:nvSpPr>
            <p:cNvPr id="16391" name="Line 7"/>
            <p:cNvSpPr/>
            <p:nvPr/>
          </p:nvSpPr>
          <p:spPr>
            <a:xfrm flipV="1">
              <a:off x="2640" y="1872"/>
              <a:ext cx="0" cy="768"/>
            </a:xfrm>
            <a:prstGeom prst="line">
              <a:avLst/>
            </a:prstGeom>
            <a:ln w="28575" cap="flat" cmpd="sng">
              <a:solidFill>
                <a:schemeClr val="tx1"/>
              </a:solidFill>
              <a:prstDash val="solid"/>
              <a:round/>
              <a:headEnd type="none" w="med" len="med"/>
              <a:tailEnd type="triangle" w="med" len="med"/>
            </a:ln>
          </p:spPr>
        </p:sp>
        <p:sp>
          <p:nvSpPr>
            <p:cNvPr id="16392" name="Line 8"/>
            <p:cNvSpPr/>
            <p:nvPr/>
          </p:nvSpPr>
          <p:spPr>
            <a:xfrm>
              <a:off x="2640" y="2640"/>
              <a:ext cx="2736" cy="0"/>
            </a:xfrm>
            <a:prstGeom prst="line">
              <a:avLst/>
            </a:prstGeom>
            <a:ln w="28575" cap="flat" cmpd="sng">
              <a:solidFill>
                <a:schemeClr val="tx1"/>
              </a:solidFill>
              <a:prstDash val="solid"/>
              <a:round/>
              <a:headEnd type="none" w="med" len="med"/>
              <a:tailEnd type="triangle" w="med" len="med"/>
            </a:ln>
          </p:spPr>
        </p:sp>
        <p:sp>
          <p:nvSpPr>
            <p:cNvPr id="16393" name="Line 9"/>
            <p:cNvSpPr/>
            <p:nvPr/>
          </p:nvSpPr>
          <p:spPr>
            <a:xfrm flipV="1">
              <a:off x="2640" y="2784"/>
              <a:ext cx="0" cy="720"/>
            </a:xfrm>
            <a:prstGeom prst="line">
              <a:avLst/>
            </a:prstGeom>
            <a:ln w="28575" cap="flat" cmpd="sng">
              <a:solidFill>
                <a:schemeClr val="tx1"/>
              </a:solidFill>
              <a:prstDash val="solid"/>
              <a:round/>
              <a:headEnd type="none" w="med" len="med"/>
              <a:tailEnd type="triangle" w="med" len="med"/>
            </a:ln>
          </p:spPr>
        </p:sp>
        <p:sp>
          <p:nvSpPr>
            <p:cNvPr id="16394" name="Line 10"/>
            <p:cNvSpPr/>
            <p:nvPr/>
          </p:nvSpPr>
          <p:spPr>
            <a:xfrm>
              <a:off x="2640" y="3504"/>
              <a:ext cx="2736" cy="0"/>
            </a:xfrm>
            <a:prstGeom prst="line">
              <a:avLst/>
            </a:prstGeom>
            <a:ln w="28575" cap="flat" cmpd="sng">
              <a:solidFill>
                <a:schemeClr val="tx1"/>
              </a:solidFill>
              <a:prstDash val="solid"/>
              <a:round/>
              <a:headEnd type="none" w="med" len="med"/>
              <a:tailEnd type="triangle" w="med" len="med"/>
            </a:ln>
          </p:spPr>
        </p:sp>
        <p:sp>
          <p:nvSpPr>
            <p:cNvPr id="16395" name="Text Box 11"/>
            <p:cNvSpPr txBox="1"/>
            <p:nvPr/>
          </p:nvSpPr>
          <p:spPr>
            <a:xfrm>
              <a:off x="2688" y="169"/>
              <a:ext cx="246"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6396" name="Text Box 12"/>
            <p:cNvSpPr txBox="1"/>
            <p:nvPr/>
          </p:nvSpPr>
          <p:spPr>
            <a:xfrm>
              <a:off x="2688" y="931"/>
              <a:ext cx="36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6397" name="Text Box 13"/>
            <p:cNvSpPr txBox="1"/>
            <p:nvPr/>
          </p:nvSpPr>
          <p:spPr>
            <a:xfrm>
              <a:off x="2688" y="1843"/>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6398" name="Text Box 14"/>
            <p:cNvSpPr txBox="1"/>
            <p:nvPr/>
          </p:nvSpPr>
          <p:spPr>
            <a:xfrm>
              <a:off x="2688" y="2707"/>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grpSp>
        <p:nvGrpSpPr>
          <p:cNvPr id="16399" name="Group 15"/>
          <p:cNvGrpSpPr/>
          <p:nvPr/>
        </p:nvGrpSpPr>
        <p:grpSpPr>
          <a:xfrm>
            <a:off x="4191000" y="2398713"/>
            <a:ext cx="685800" cy="4191000"/>
            <a:chOff x="2640" y="816"/>
            <a:chExt cx="432" cy="2640"/>
          </a:xfrm>
        </p:grpSpPr>
        <p:sp>
          <p:nvSpPr>
            <p:cNvPr id="16400" name="Line 16"/>
            <p:cNvSpPr/>
            <p:nvPr/>
          </p:nvSpPr>
          <p:spPr>
            <a:xfrm>
              <a:off x="2640" y="816"/>
              <a:ext cx="432" cy="0"/>
            </a:xfrm>
            <a:prstGeom prst="line">
              <a:avLst/>
            </a:prstGeom>
            <a:ln w="57150" cap="flat" cmpd="sng">
              <a:solidFill>
                <a:srgbClr val="CC3300"/>
              </a:solidFill>
              <a:prstDash val="solid"/>
              <a:round/>
              <a:headEnd type="none" w="med" len="med"/>
              <a:tailEnd type="none" w="med" len="med"/>
            </a:ln>
          </p:spPr>
        </p:sp>
        <p:sp>
          <p:nvSpPr>
            <p:cNvPr id="16401" name="Line 17"/>
            <p:cNvSpPr/>
            <p:nvPr/>
          </p:nvSpPr>
          <p:spPr>
            <a:xfrm>
              <a:off x="2640" y="1296"/>
              <a:ext cx="432" cy="0"/>
            </a:xfrm>
            <a:prstGeom prst="line">
              <a:avLst/>
            </a:prstGeom>
            <a:ln w="57150" cap="flat" cmpd="sng">
              <a:solidFill>
                <a:srgbClr val="CC3300"/>
              </a:solidFill>
              <a:prstDash val="solid"/>
              <a:round/>
              <a:headEnd type="none" w="med" len="med"/>
              <a:tailEnd type="none" w="med" len="med"/>
            </a:ln>
          </p:spPr>
        </p:sp>
        <p:sp>
          <p:nvSpPr>
            <p:cNvPr id="16402" name="Line 18"/>
            <p:cNvSpPr/>
            <p:nvPr/>
          </p:nvSpPr>
          <p:spPr>
            <a:xfrm>
              <a:off x="2640" y="2208"/>
              <a:ext cx="432" cy="0"/>
            </a:xfrm>
            <a:prstGeom prst="line">
              <a:avLst/>
            </a:prstGeom>
            <a:ln w="57150" cap="flat" cmpd="sng">
              <a:solidFill>
                <a:srgbClr val="CC3300"/>
              </a:solidFill>
              <a:prstDash val="solid"/>
              <a:round/>
              <a:headEnd type="none" w="med" len="med"/>
              <a:tailEnd type="none" w="med" len="med"/>
            </a:ln>
          </p:spPr>
        </p:sp>
        <p:sp>
          <p:nvSpPr>
            <p:cNvPr id="16403" name="Line 19"/>
            <p:cNvSpPr/>
            <p:nvPr/>
          </p:nvSpPr>
          <p:spPr>
            <a:xfrm>
              <a:off x="2640" y="3456"/>
              <a:ext cx="432" cy="0"/>
            </a:xfrm>
            <a:prstGeom prst="line">
              <a:avLst/>
            </a:prstGeom>
            <a:ln w="57150" cap="flat" cmpd="sng">
              <a:solidFill>
                <a:srgbClr val="CC3300"/>
              </a:solidFill>
              <a:prstDash val="solid"/>
              <a:round/>
              <a:headEnd type="none" w="med" len="med"/>
              <a:tailEnd type="none" w="med" len="med"/>
            </a:ln>
          </p:spPr>
        </p:sp>
      </p:grpSp>
      <p:grpSp>
        <p:nvGrpSpPr>
          <p:cNvPr id="16404" name="Group 20"/>
          <p:cNvGrpSpPr/>
          <p:nvPr/>
        </p:nvGrpSpPr>
        <p:grpSpPr>
          <a:xfrm>
            <a:off x="381000" y="1331913"/>
            <a:ext cx="3400425" cy="2860675"/>
            <a:chOff x="240" y="144"/>
            <a:chExt cx="2142" cy="1802"/>
          </a:xfrm>
        </p:grpSpPr>
        <p:grpSp>
          <p:nvGrpSpPr>
            <p:cNvPr id="16405" name="Group 21"/>
            <p:cNvGrpSpPr/>
            <p:nvPr/>
          </p:nvGrpSpPr>
          <p:grpSpPr>
            <a:xfrm>
              <a:off x="240" y="144"/>
              <a:ext cx="2142" cy="1802"/>
              <a:chOff x="144" y="1776"/>
              <a:chExt cx="2142" cy="1802"/>
            </a:xfrm>
          </p:grpSpPr>
          <p:sp>
            <p:nvSpPr>
              <p:cNvPr id="16406" name="Rectangle 22"/>
              <p:cNvSpPr/>
              <p:nvPr/>
            </p:nvSpPr>
            <p:spPr>
              <a:xfrm>
                <a:off x="432"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rPr>
                  <a:t>≥1</a:t>
                </a:r>
                <a:endParaRPr lang="en-US" altLang="zh-CN" sz="2400" b="1" dirty="0">
                  <a:latin typeface="Times New Roman" panose="02020603050405020304" charset="0"/>
                  <a:ea typeface="宋体" panose="02010600030101010101" pitchFamily="2" charset="-122"/>
                </a:endParaRPr>
              </a:p>
            </p:txBody>
          </p:sp>
          <p:sp>
            <p:nvSpPr>
              <p:cNvPr id="16407" name="Oval 23"/>
              <p:cNvSpPr/>
              <p:nvPr/>
            </p:nvSpPr>
            <p:spPr>
              <a:xfrm>
                <a:off x="624"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16408" name="Line 24"/>
              <p:cNvSpPr/>
              <p:nvPr/>
            </p:nvSpPr>
            <p:spPr>
              <a:xfrm>
                <a:off x="528" y="2736"/>
                <a:ext cx="0" cy="768"/>
              </a:xfrm>
              <a:prstGeom prst="line">
                <a:avLst/>
              </a:prstGeom>
              <a:ln w="28575" cap="flat" cmpd="sng">
                <a:solidFill>
                  <a:schemeClr val="tx1"/>
                </a:solidFill>
                <a:prstDash val="solid"/>
                <a:round/>
                <a:headEnd type="none" w="med" len="med"/>
                <a:tailEnd type="none" w="med" len="med"/>
              </a:ln>
            </p:spPr>
          </p:sp>
          <p:sp>
            <p:nvSpPr>
              <p:cNvPr id="16409" name="Line 25"/>
              <p:cNvSpPr/>
              <p:nvPr/>
            </p:nvSpPr>
            <p:spPr>
              <a:xfrm flipV="1">
                <a:off x="672" y="1920"/>
                <a:ext cx="0" cy="432"/>
              </a:xfrm>
              <a:prstGeom prst="line">
                <a:avLst/>
              </a:prstGeom>
              <a:ln w="28575" cap="flat" cmpd="sng">
                <a:solidFill>
                  <a:schemeClr val="tx1"/>
                </a:solidFill>
                <a:prstDash val="solid"/>
                <a:round/>
                <a:headEnd type="none" w="med" len="med"/>
                <a:tailEnd type="none" w="med" len="med"/>
              </a:ln>
            </p:spPr>
          </p:sp>
          <p:sp>
            <p:nvSpPr>
              <p:cNvPr id="16410" name="Rectangle 26"/>
              <p:cNvSpPr/>
              <p:nvPr/>
            </p:nvSpPr>
            <p:spPr>
              <a:xfrm>
                <a:off x="1488"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rPr>
                  <a:t>≥1</a:t>
                </a:r>
                <a:endParaRPr lang="en-US" altLang="zh-CN" sz="2400" b="1" dirty="0">
                  <a:latin typeface="Times New Roman" panose="02020603050405020304" charset="0"/>
                  <a:ea typeface="宋体" panose="02010600030101010101" pitchFamily="2" charset="-122"/>
                </a:endParaRPr>
              </a:p>
            </p:txBody>
          </p:sp>
          <p:sp>
            <p:nvSpPr>
              <p:cNvPr id="16411" name="Oval 27"/>
              <p:cNvSpPr/>
              <p:nvPr/>
            </p:nvSpPr>
            <p:spPr>
              <a:xfrm>
                <a:off x="1680"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16412" name="Line 28"/>
              <p:cNvSpPr/>
              <p:nvPr/>
            </p:nvSpPr>
            <p:spPr>
              <a:xfrm flipV="1">
                <a:off x="1728" y="1920"/>
                <a:ext cx="0" cy="432"/>
              </a:xfrm>
              <a:prstGeom prst="line">
                <a:avLst/>
              </a:prstGeom>
              <a:ln w="28575" cap="flat" cmpd="sng">
                <a:solidFill>
                  <a:schemeClr val="tx1"/>
                </a:solidFill>
                <a:prstDash val="solid"/>
                <a:round/>
                <a:headEnd type="none" w="med" len="med"/>
                <a:tailEnd type="none" w="med" len="med"/>
              </a:ln>
            </p:spPr>
          </p:sp>
          <p:sp>
            <p:nvSpPr>
              <p:cNvPr id="16413" name="Line 29"/>
              <p:cNvSpPr/>
              <p:nvPr/>
            </p:nvSpPr>
            <p:spPr>
              <a:xfrm>
                <a:off x="672" y="2160"/>
                <a:ext cx="288" cy="0"/>
              </a:xfrm>
              <a:prstGeom prst="line">
                <a:avLst/>
              </a:prstGeom>
              <a:ln w="28575" cap="flat" cmpd="sng">
                <a:solidFill>
                  <a:schemeClr val="tx1"/>
                </a:solidFill>
                <a:prstDash val="solid"/>
                <a:round/>
                <a:headEnd type="none" w="med" len="med"/>
                <a:tailEnd type="none" w="med" len="med"/>
              </a:ln>
            </p:spPr>
          </p:sp>
          <p:sp>
            <p:nvSpPr>
              <p:cNvPr id="16414" name="Line 30"/>
              <p:cNvSpPr/>
              <p:nvPr/>
            </p:nvSpPr>
            <p:spPr>
              <a:xfrm>
                <a:off x="1440" y="2784"/>
                <a:ext cx="0" cy="288"/>
              </a:xfrm>
              <a:prstGeom prst="line">
                <a:avLst/>
              </a:prstGeom>
              <a:ln w="28575" cap="flat" cmpd="sng">
                <a:solidFill>
                  <a:schemeClr val="tx1"/>
                </a:solidFill>
                <a:prstDash val="solid"/>
                <a:round/>
                <a:headEnd type="none" w="med" len="med"/>
                <a:tailEnd type="none" w="med" len="med"/>
              </a:ln>
            </p:spPr>
          </p:sp>
          <p:sp>
            <p:nvSpPr>
              <p:cNvPr id="16415" name="Line 31"/>
              <p:cNvSpPr/>
              <p:nvPr/>
            </p:nvSpPr>
            <p:spPr>
              <a:xfrm>
                <a:off x="1488" y="2784"/>
                <a:ext cx="0" cy="288"/>
              </a:xfrm>
              <a:prstGeom prst="line">
                <a:avLst/>
              </a:prstGeom>
              <a:ln w="28575" cap="flat" cmpd="sng">
                <a:solidFill>
                  <a:schemeClr val="tx1"/>
                </a:solidFill>
                <a:prstDash val="solid"/>
                <a:round/>
                <a:headEnd type="none" w="med" len="med"/>
                <a:tailEnd type="none" w="med" len="med"/>
              </a:ln>
            </p:spPr>
          </p:sp>
          <p:sp>
            <p:nvSpPr>
              <p:cNvPr id="16416" name="Line 32"/>
              <p:cNvSpPr/>
              <p:nvPr/>
            </p:nvSpPr>
            <p:spPr>
              <a:xfrm>
                <a:off x="1488" y="2928"/>
                <a:ext cx="240" cy="0"/>
              </a:xfrm>
              <a:prstGeom prst="line">
                <a:avLst/>
              </a:prstGeom>
              <a:ln w="28575" cap="flat" cmpd="sng">
                <a:solidFill>
                  <a:schemeClr val="tx1"/>
                </a:solidFill>
                <a:prstDash val="solid"/>
                <a:round/>
                <a:headEnd type="none" w="med" len="med"/>
                <a:tailEnd type="none" w="med" len="med"/>
              </a:ln>
            </p:spPr>
          </p:sp>
          <p:sp>
            <p:nvSpPr>
              <p:cNvPr id="16417" name="Rectangle 33"/>
              <p:cNvSpPr/>
              <p:nvPr/>
            </p:nvSpPr>
            <p:spPr>
              <a:xfrm>
                <a:off x="1680" y="3024"/>
                <a:ext cx="96" cy="288"/>
              </a:xfrm>
              <a:prstGeom prst="rect">
                <a:avLst/>
              </a:prstGeom>
              <a:noFill/>
              <a:ln w="38100" cap="flat" cmpd="sng">
                <a:solidFill>
                  <a:schemeClr val="tx1"/>
                </a:solidFill>
                <a:prstDash val="solid"/>
                <a:miter/>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sp>
            <p:nvSpPr>
              <p:cNvPr id="16418" name="Line 34"/>
              <p:cNvSpPr/>
              <p:nvPr/>
            </p:nvSpPr>
            <p:spPr>
              <a:xfrm>
                <a:off x="1728" y="2736"/>
                <a:ext cx="0" cy="288"/>
              </a:xfrm>
              <a:prstGeom prst="line">
                <a:avLst/>
              </a:prstGeom>
              <a:ln w="28575" cap="flat" cmpd="sng">
                <a:solidFill>
                  <a:schemeClr val="tx1"/>
                </a:solidFill>
                <a:prstDash val="solid"/>
                <a:round/>
                <a:headEnd type="none" w="med" len="med"/>
                <a:tailEnd type="none" w="med" len="med"/>
              </a:ln>
            </p:spPr>
          </p:sp>
          <p:sp>
            <p:nvSpPr>
              <p:cNvPr id="16419" name="Line 35"/>
              <p:cNvSpPr/>
              <p:nvPr/>
            </p:nvSpPr>
            <p:spPr>
              <a:xfrm>
                <a:off x="1728" y="3312"/>
                <a:ext cx="0" cy="192"/>
              </a:xfrm>
              <a:prstGeom prst="line">
                <a:avLst/>
              </a:prstGeom>
              <a:ln w="28575" cap="flat" cmpd="sng">
                <a:solidFill>
                  <a:schemeClr val="tx1"/>
                </a:solidFill>
                <a:prstDash val="solid"/>
                <a:round/>
                <a:headEnd type="none" w="med" len="med"/>
                <a:tailEnd type="none" w="med" len="med"/>
              </a:ln>
            </p:spPr>
          </p:sp>
          <p:sp>
            <p:nvSpPr>
              <p:cNvPr id="16420" name="Line 36"/>
              <p:cNvSpPr/>
              <p:nvPr/>
            </p:nvSpPr>
            <p:spPr>
              <a:xfrm flipH="1">
                <a:off x="1440" y="2160"/>
                <a:ext cx="288" cy="0"/>
              </a:xfrm>
              <a:prstGeom prst="line">
                <a:avLst/>
              </a:prstGeom>
              <a:ln w="28575" cap="flat" cmpd="sng">
                <a:solidFill>
                  <a:schemeClr val="tx1"/>
                </a:solidFill>
                <a:prstDash val="solid"/>
                <a:round/>
                <a:headEnd type="none" w="med" len="med"/>
                <a:tailEnd type="none" w="med" len="med"/>
              </a:ln>
            </p:spPr>
          </p:sp>
          <p:sp>
            <p:nvSpPr>
              <p:cNvPr id="16421" name="Line 37"/>
              <p:cNvSpPr/>
              <p:nvPr/>
            </p:nvSpPr>
            <p:spPr>
              <a:xfrm>
                <a:off x="816" y="2736"/>
                <a:ext cx="0" cy="192"/>
              </a:xfrm>
              <a:prstGeom prst="line">
                <a:avLst/>
              </a:prstGeom>
              <a:ln w="28575" cap="flat" cmpd="sng">
                <a:solidFill>
                  <a:schemeClr val="tx1"/>
                </a:solidFill>
                <a:prstDash val="solid"/>
                <a:round/>
                <a:headEnd type="none" w="med" len="med"/>
                <a:tailEnd type="none" w="med" len="med"/>
              </a:ln>
            </p:spPr>
          </p:sp>
          <p:sp>
            <p:nvSpPr>
              <p:cNvPr id="16422" name="Line 38"/>
              <p:cNvSpPr/>
              <p:nvPr/>
            </p:nvSpPr>
            <p:spPr>
              <a:xfrm>
                <a:off x="816" y="2928"/>
                <a:ext cx="192" cy="0"/>
              </a:xfrm>
              <a:prstGeom prst="line">
                <a:avLst/>
              </a:prstGeom>
              <a:ln w="28575" cap="flat" cmpd="sng">
                <a:solidFill>
                  <a:schemeClr val="tx1"/>
                </a:solidFill>
                <a:prstDash val="solid"/>
                <a:round/>
                <a:headEnd type="none" w="med" len="med"/>
                <a:tailEnd type="none" w="med" len="med"/>
              </a:ln>
            </p:spPr>
          </p:sp>
          <p:sp>
            <p:nvSpPr>
              <p:cNvPr id="16423" name="Line 39"/>
              <p:cNvSpPr/>
              <p:nvPr/>
            </p:nvSpPr>
            <p:spPr>
              <a:xfrm flipH="1">
                <a:off x="1008" y="2160"/>
                <a:ext cx="432" cy="768"/>
              </a:xfrm>
              <a:prstGeom prst="line">
                <a:avLst/>
              </a:prstGeom>
              <a:ln w="28575" cap="flat" cmpd="sng">
                <a:solidFill>
                  <a:schemeClr val="tx1"/>
                </a:solidFill>
                <a:prstDash val="solid"/>
                <a:round/>
                <a:headEnd type="none" w="med" len="med"/>
                <a:tailEnd type="none" w="med" len="med"/>
              </a:ln>
            </p:spPr>
          </p:sp>
          <p:sp>
            <p:nvSpPr>
              <p:cNvPr id="16424" name="Line 40"/>
              <p:cNvSpPr/>
              <p:nvPr/>
            </p:nvSpPr>
            <p:spPr>
              <a:xfrm>
                <a:off x="960" y="2160"/>
                <a:ext cx="336" cy="768"/>
              </a:xfrm>
              <a:prstGeom prst="line">
                <a:avLst/>
              </a:prstGeom>
              <a:ln w="28575" cap="flat" cmpd="sng">
                <a:solidFill>
                  <a:schemeClr val="tx1"/>
                </a:solidFill>
                <a:prstDash val="solid"/>
                <a:round/>
                <a:headEnd type="none" w="med" len="med"/>
                <a:tailEnd type="none" w="med" len="med"/>
              </a:ln>
            </p:spPr>
          </p:sp>
          <p:sp>
            <p:nvSpPr>
              <p:cNvPr id="16425" name="Line 41"/>
              <p:cNvSpPr/>
              <p:nvPr/>
            </p:nvSpPr>
            <p:spPr>
              <a:xfrm>
                <a:off x="1296" y="2928"/>
                <a:ext cx="144" cy="0"/>
              </a:xfrm>
              <a:prstGeom prst="line">
                <a:avLst/>
              </a:prstGeom>
              <a:ln w="28575" cap="flat" cmpd="sng">
                <a:solidFill>
                  <a:schemeClr val="tx1"/>
                </a:solidFill>
                <a:prstDash val="solid"/>
                <a:round/>
                <a:headEnd type="none" w="med" len="med"/>
                <a:tailEnd type="none" w="med" len="med"/>
              </a:ln>
            </p:spPr>
          </p:sp>
          <p:sp>
            <p:nvSpPr>
              <p:cNvPr id="16426" name="Text Box 42"/>
              <p:cNvSpPr txBox="1"/>
              <p:nvPr/>
            </p:nvSpPr>
            <p:spPr>
              <a:xfrm>
                <a:off x="663" y="1802"/>
                <a:ext cx="363" cy="291"/>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O1</a:t>
                </a:r>
                <a:endParaRPr lang="en-US" altLang="zh-CN" sz="2400" b="1" baseline="-25000" dirty="0">
                  <a:latin typeface="Times New Roman" panose="02020603050405020304" charset="0"/>
                  <a:ea typeface="宋体" panose="02010600030101010101" pitchFamily="2" charset="-122"/>
                </a:endParaRPr>
              </a:p>
            </p:txBody>
          </p:sp>
          <p:sp>
            <p:nvSpPr>
              <p:cNvPr id="16427" name="Text Box 43"/>
              <p:cNvSpPr txBox="1"/>
              <p:nvPr/>
            </p:nvSpPr>
            <p:spPr>
              <a:xfrm>
                <a:off x="1728" y="1776"/>
                <a:ext cx="363" cy="291"/>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sp>
            <p:nvSpPr>
              <p:cNvPr id="16428" name="Text Box 44"/>
              <p:cNvSpPr txBox="1"/>
              <p:nvPr/>
            </p:nvSpPr>
            <p:spPr>
              <a:xfrm>
                <a:off x="1959" y="2426"/>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G</a:t>
                </a:r>
                <a:r>
                  <a:rPr lang="en-US" altLang="zh-CN" sz="2400" b="1" baseline="-25000" dirty="0">
                    <a:latin typeface="Times New Roman" panose="02020603050405020304" charset="0"/>
                    <a:ea typeface="宋体" panose="02010600030101010101" pitchFamily="2" charset="-122"/>
                  </a:rPr>
                  <a:t>2</a:t>
                </a:r>
                <a:endParaRPr lang="en-US" altLang="zh-CN" sz="2400" b="1" baseline="-25000" dirty="0">
                  <a:latin typeface="Times New Roman" panose="02020603050405020304" charset="0"/>
                  <a:ea typeface="宋体" panose="02010600030101010101" pitchFamily="2" charset="-122"/>
                </a:endParaRPr>
              </a:p>
            </p:txBody>
          </p:sp>
          <p:sp>
            <p:nvSpPr>
              <p:cNvPr id="16429" name="Text Box 45"/>
              <p:cNvSpPr txBox="1"/>
              <p:nvPr/>
            </p:nvSpPr>
            <p:spPr>
              <a:xfrm>
                <a:off x="144" y="2448"/>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G</a:t>
                </a:r>
                <a:r>
                  <a:rPr lang="en-US" altLang="zh-CN" sz="2400" b="1" baseline="-25000" dirty="0">
                    <a:latin typeface="Times New Roman" panose="02020603050405020304" charset="0"/>
                    <a:ea typeface="宋体" panose="02010600030101010101" pitchFamily="2" charset="-122"/>
                  </a:rPr>
                  <a:t>1</a:t>
                </a:r>
                <a:endParaRPr lang="en-US" altLang="zh-CN" sz="2400" b="1" baseline="-25000" dirty="0">
                  <a:latin typeface="Times New Roman" panose="02020603050405020304" charset="0"/>
                  <a:ea typeface="宋体" panose="02010600030101010101" pitchFamily="2" charset="-122"/>
                </a:endParaRPr>
              </a:p>
            </p:txBody>
          </p:sp>
          <p:sp>
            <p:nvSpPr>
              <p:cNvPr id="16430" name="Text Box 46"/>
              <p:cNvSpPr txBox="1"/>
              <p:nvPr/>
            </p:nvSpPr>
            <p:spPr>
              <a:xfrm>
                <a:off x="528" y="3264"/>
                <a:ext cx="363" cy="291"/>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6431" name="Text Box 47"/>
              <p:cNvSpPr txBox="1"/>
              <p:nvPr/>
            </p:nvSpPr>
            <p:spPr>
              <a:xfrm>
                <a:off x="1719" y="3290"/>
                <a:ext cx="437" cy="288"/>
              </a:xfrm>
              <a:prstGeom prst="rect">
                <a:avLst/>
              </a:prstGeom>
              <a:noFill/>
              <a:ln w="28575">
                <a:noFill/>
              </a:ln>
            </p:spPr>
            <p:txBody>
              <a:bodyPr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DD</a:t>
                </a:r>
                <a:endParaRPr lang="en-US" altLang="zh-CN" sz="2400" b="1" baseline="-25000" dirty="0">
                  <a:latin typeface="Times New Roman" panose="02020603050405020304" charset="0"/>
                  <a:ea typeface="宋体" panose="02010600030101010101" pitchFamily="2" charset="-122"/>
                </a:endParaRPr>
              </a:p>
            </p:txBody>
          </p:sp>
        </p:grpSp>
        <p:sp>
          <p:nvSpPr>
            <p:cNvPr id="16432" name="Text Box 48"/>
            <p:cNvSpPr txBox="1"/>
            <p:nvPr/>
          </p:nvSpPr>
          <p:spPr>
            <a:xfrm>
              <a:off x="1815" y="1149"/>
              <a:ext cx="309"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rPr>
                <a:t>I2</a:t>
              </a:r>
              <a:endParaRPr lang="en-US" altLang="zh-CN" sz="2400" b="1" baseline="-25000" dirty="0">
                <a:latin typeface="Times New Roman" panose="02020603050405020304" charset="0"/>
                <a:ea typeface="宋体" panose="02010600030101010101" pitchFamily="2" charset="-122"/>
              </a:endParaRPr>
            </a:p>
          </p:txBody>
        </p:sp>
      </p:grpSp>
      <p:sp>
        <p:nvSpPr>
          <p:cNvPr id="29746" name="Text Box 50"/>
          <p:cNvSpPr txBox="1"/>
          <p:nvPr/>
        </p:nvSpPr>
        <p:spPr>
          <a:xfrm>
            <a:off x="304800" y="4387533"/>
            <a:ext cx="3748088" cy="708025"/>
          </a:xfrm>
          <a:prstGeom prst="rect">
            <a:avLst/>
          </a:prstGeom>
          <a:noFill/>
          <a:ln w="28575">
            <a:noFill/>
          </a:ln>
        </p:spPr>
        <p:txBody>
          <a:bodyPr lIns="90000" tIns="46800" rIns="90000" bIns="46800" anchor="t" anchorCtr="0">
            <a:spAutoFit/>
          </a:bodyPr>
          <a:p>
            <a:r>
              <a:rPr lang="en-US" altLang="zh-CN" sz="2000" b="1" dirty="0">
                <a:solidFill>
                  <a:srgbClr val="0033CC"/>
                </a:solidFill>
                <a:latin typeface="Times New Roman" panose="02020603050405020304" charset="0"/>
                <a:ea typeface="楷体" panose="02010609060101010101" charset="-122"/>
                <a:cs typeface="Times New Roman" panose="02020603050405020304" charset="0"/>
              </a:rPr>
              <a:t>(2) </a:t>
            </a:r>
            <a:r>
              <a:rPr lang="en-US" altLang="zh-CN" sz="2000" b="1" i="1" dirty="0">
                <a:solidFill>
                  <a:srgbClr val="0033CC"/>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33CC"/>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33CC"/>
                </a:solidFill>
                <a:latin typeface="Times New Roman" panose="02020603050405020304" charset="0"/>
                <a:ea typeface="楷体" panose="02010609060101010101" charset="-122"/>
                <a:cs typeface="Times New Roman" panose="02020603050405020304" charset="0"/>
              </a:rPr>
              <a:t>加触发单正脉冲</a:t>
            </a:r>
            <a:r>
              <a:rPr lang="en-US" altLang="zh-CN" sz="2000" b="1" dirty="0">
                <a:solidFill>
                  <a:srgbClr val="0033CC"/>
                </a:solidFill>
                <a:latin typeface="Times New Roman" panose="02020603050405020304" charset="0"/>
                <a:ea typeface="楷体" panose="02010609060101010101" charset="-122"/>
                <a:cs typeface="Times New Roman" panose="02020603050405020304" charset="0"/>
              </a:rPr>
              <a:t>,</a:t>
            </a:r>
            <a:endParaRPr lang="en-US" altLang="zh-CN" sz="2000" b="1" dirty="0">
              <a:solidFill>
                <a:srgbClr val="0033CC"/>
              </a:solidFill>
              <a:latin typeface="Times New Roman" panose="02020603050405020304" charset="0"/>
              <a:ea typeface="楷体" panose="02010609060101010101" charset="-122"/>
              <a:cs typeface="Times New Roman" panose="02020603050405020304" charset="0"/>
            </a:endParaRPr>
          </a:p>
          <a:p>
            <a:r>
              <a:rPr lang="zh-CN" altLang="en-US" sz="2000" b="1" dirty="0">
                <a:solidFill>
                  <a:srgbClr val="0033CC"/>
                </a:solidFill>
                <a:latin typeface="Times New Roman" panose="02020603050405020304" charset="0"/>
                <a:ea typeface="楷体" panose="02010609060101010101" charset="-122"/>
                <a:cs typeface="Times New Roman" panose="02020603050405020304" charset="0"/>
              </a:rPr>
              <a:t>电路进入</a:t>
            </a:r>
            <a:r>
              <a:rPr lang="zh-CN" altLang="en-US" sz="20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暂稳态</a:t>
            </a:r>
            <a:r>
              <a:rPr lang="en-US" altLang="zh-CN" sz="20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endParaRPr lang="en-US" altLang="zh-CN" sz="20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29748" name="Line 52"/>
          <p:cNvSpPr/>
          <p:nvPr/>
        </p:nvSpPr>
        <p:spPr>
          <a:xfrm flipV="1">
            <a:off x="4876800" y="1712913"/>
            <a:ext cx="0" cy="685800"/>
          </a:xfrm>
          <a:prstGeom prst="line">
            <a:avLst/>
          </a:prstGeom>
          <a:ln w="57150" cap="flat" cmpd="sng">
            <a:solidFill>
              <a:srgbClr val="FF00FF"/>
            </a:solidFill>
            <a:prstDash val="solid"/>
            <a:round/>
            <a:headEnd type="none" w="med" len="med"/>
            <a:tailEnd type="triangle" w="med" len="med"/>
          </a:ln>
        </p:spPr>
      </p:sp>
      <p:sp>
        <p:nvSpPr>
          <p:cNvPr id="29749" name="Line 53"/>
          <p:cNvSpPr/>
          <p:nvPr/>
        </p:nvSpPr>
        <p:spPr>
          <a:xfrm>
            <a:off x="4876800" y="3160713"/>
            <a:ext cx="0" cy="685800"/>
          </a:xfrm>
          <a:prstGeom prst="line">
            <a:avLst/>
          </a:prstGeom>
          <a:ln w="57150" cap="flat" cmpd="sng">
            <a:solidFill>
              <a:srgbClr val="FF00FF"/>
            </a:solidFill>
            <a:prstDash val="solid"/>
            <a:round/>
            <a:headEnd type="none" w="med" len="med"/>
            <a:tailEnd type="triangle" w="med" len="med"/>
          </a:ln>
        </p:spPr>
      </p:sp>
      <p:sp>
        <p:nvSpPr>
          <p:cNvPr id="29750" name="Line 54"/>
          <p:cNvSpPr/>
          <p:nvPr/>
        </p:nvSpPr>
        <p:spPr>
          <a:xfrm>
            <a:off x="4876800" y="4608513"/>
            <a:ext cx="0" cy="685800"/>
          </a:xfrm>
          <a:prstGeom prst="line">
            <a:avLst/>
          </a:prstGeom>
          <a:ln w="57150" cap="flat" cmpd="sng">
            <a:solidFill>
              <a:srgbClr val="FF00FF"/>
            </a:solidFill>
            <a:prstDash val="solid"/>
            <a:round/>
            <a:headEnd type="none" w="med" len="med"/>
            <a:tailEnd type="triangle" w="med" len="med"/>
          </a:ln>
        </p:spPr>
      </p:sp>
      <p:sp>
        <p:nvSpPr>
          <p:cNvPr id="29751" name="Line 55"/>
          <p:cNvSpPr/>
          <p:nvPr/>
        </p:nvSpPr>
        <p:spPr>
          <a:xfrm flipV="1">
            <a:off x="4876800" y="5903913"/>
            <a:ext cx="0" cy="685800"/>
          </a:xfrm>
          <a:prstGeom prst="line">
            <a:avLst/>
          </a:prstGeom>
          <a:ln w="57150" cap="flat" cmpd="sng">
            <a:solidFill>
              <a:srgbClr val="FF00FF"/>
            </a:solidFill>
            <a:prstDash val="solid"/>
            <a:round/>
            <a:headEnd type="none" w="med" len="med"/>
            <a:tailEnd type="triangle" w="med" len="med"/>
          </a:ln>
        </p:spPr>
      </p:sp>
      <p:sp>
        <p:nvSpPr>
          <p:cNvPr id="29752" name="Text Box 56"/>
          <p:cNvSpPr txBox="1"/>
          <p:nvPr/>
        </p:nvSpPr>
        <p:spPr>
          <a:xfrm>
            <a:off x="228600" y="5065713"/>
            <a:ext cx="3733800" cy="708025"/>
          </a:xfrm>
          <a:prstGeom prst="rect">
            <a:avLst/>
          </a:prstGeom>
          <a:noFill/>
          <a:ln w="28575">
            <a:noFill/>
          </a:ln>
        </p:spPr>
        <p:txBody>
          <a:bodyPr lIns="90000" tIns="46800" rIns="90000" bIns="46800" anchor="t" anchorCtr="0">
            <a:spAutoFit/>
          </a:bodyPr>
          <a:p>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O1</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，电容电压不能突变</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I2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下跳变 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29753" name="Text Box 57"/>
          <p:cNvSpPr txBox="1"/>
          <p:nvPr/>
        </p:nvSpPr>
        <p:spPr>
          <a:xfrm>
            <a:off x="2238375" y="3308350"/>
            <a:ext cx="474345" cy="461645"/>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C</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29754" name="Text Box 58"/>
          <p:cNvSpPr txBox="1"/>
          <p:nvPr/>
        </p:nvSpPr>
        <p:spPr>
          <a:xfrm>
            <a:off x="228600" y="5751513"/>
            <a:ext cx="5791200" cy="1016000"/>
          </a:xfrm>
          <a:prstGeom prst="rect">
            <a:avLst/>
          </a:prstGeom>
          <a:noFill/>
          <a:ln w="28575">
            <a:noFill/>
          </a:ln>
        </p:spPr>
        <p:txBody>
          <a:bodyPr lIns="90000" tIns="46800" rIns="90000" bIns="46800" anchor="t" anchorCtr="0">
            <a:spAutoFit/>
          </a:bodyPr>
          <a:p>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O1</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形成正反馈，即使</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正脉冲消失，</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输出仍能维持</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自锁。</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29756" name="Text Box 60"/>
          <p:cNvSpPr txBox="1"/>
          <p:nvPr/>
        </p:nvSpPr>
        <p:spPr>
          <a:xfrm>
            <a:off x="1662113" y="1373188"/>
            <a:ext cx="333375"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rPr>
              <a:t>0</a:t>
            </a:r>
            <a:endParaRPr lang="en-US" altLang="zh-CN" sz="2400" b="1" dirty="0">
              <a:solidFill>
                <a:srgbClr val="FF0000"/>
              </a:solidFill>
              <a:latin typeface="Times New Roman" panose="02020603050405020304" charset="0"/>
              <a:ea typeface="宋体" panose="02010600030101010101" pitchFamily="2" charset="-122"/>
            </a:endParaRPr>
          </a:p>
        </p:txBody>
      </p:sp>
      <p:sp>
        <p:nvSpPr>
          <p:cNvPr id="29758" name="Text Box 62"/>
          <p:cNvSpPr txBox="1"/>
          <p:nvPr/>
        </p:nvSpPr>
        <p:spPr>
          <a:xfrm>
            <a:off x="3429000" y="1331913"/>
            <a:ext cx="333375"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rPr>
              <a:t>1</a:t>
            </a:r>
            <a:endParaRPr lang="en-US" altLang="zh-CN" sz="2400" b="1" dirty="0">
              <a:solidFill>
                <a:srgbClr val="FF0000"/>
              </a:solidFill>
              <a:latin typeface="Times New Roman" panose="02020603050405020304" charset="0"/>
              <a:ea typeface="宋体" panose="02010600030101010101" pitchFamily="2" charset="-122"/>
            </a:endParaRPr>
          </a:p>
        </p:txBody>
      </p:sp>
      <p:grpSp>
        <p:nvGrpSpPr>
          <p:cNvPr id="29765" name="Group 69"/>
          <p:cNvGrpSpPr/>
          <p:nvPr/>
        </p:nvGrpSpPr>
        <p:grpSpPr>
          <a:xfrm>
            <a:off x="1403350" y="1898650"/>
            <a:ext cx="1371600" cy="1219200"/>
            <a:chOff x="864" y="576"/>
            <a:chExt cx="864" cy="768"/>
          </a:xfrm>
        </p:grpSpPr>
        <p:sp>
          <p:nvSpPr>
            <p:cNvPr id="16444" name="Line 65"/>
            <p:cNvSpPr/>
            <p:nvPr/>
          </p:nvSpPr>
          <p:spPr>
            <a:xfrm flipH="1">
              <a:off x="1584" y="576"/>
              <a:ext cx="144" cy="0"/>
            </a:xfrm>
            <a:prstGeom prst="line">
              <a:avLst/>
            </a:prstGeom>
            <a:ln w="57150" cap="flat" cmpd="sng">
              <a:solidFill>
                <a:srgbClr val="CC3300"/>
              </a:solidFill>
              <a:prstDash val="solid"/>
              <a:round/>
              <a:headEnd type="none" w="med" len="med"/>
              <a:tailEnd type="none" w="med" len="med"/>
            </a:ln>
          </p:spPr>
        </p:sp>
        <p:sp>
          <p:nvSpPr>
            <p:cNvPr id="16445" name="Line 66"/>
            <p:cNvSpPr/>
            <p:nvPr/>
          </p:nvSpPr>
          <p:spPr>
            <a:xfrm flipH="1">
              <a:off x="1152" y="576"/>
              <a:ext cx="432" cy="768"/>
            </a:xfrm>
            <a:prstGeom prst="line">
              <a:avLst/>
            </a:prstGeom>
            <a:ln w="57150" cap="flat" cmpd="sng">
              <a:solidFill>
                <a:srgbClr val="CC3300"/>
              </a:solidFill>
              <a:prstDash val="solid"/>
              <a:round/>
              <a:headEnd type="none" w="med" len="med"/>
              <a:tailEnd type="none" w="med" len="med"/>
            </a:ln>
          </p:spPr>
        </p:sp>
        <p:sp>
          <p:nvSpPr>
            <p:cNvPr id="16446" name="Line 67"/>
            <p:cNvSpPr/>
            <p:nvPr/>
          </p:nvSpPr>
          <p:spPr>
            <a:xfrm flipH="1">
              <a:off x="864" y="1344"/>
              <a:ext cx="288" cy="0"/>
            </a:xfrm>
            <a:prstGeom prst="line">
              <a:avLst/>
            </a:prstGeom>
            <a:ln w="57150" cap="flat" cmpd="sng">
              <a:solidFill>
                <a:srgbClr val="CC3300"/>
              </a:solidFill>
              <a:prstDash val="solid"/>
              <a:round/>
              <a:headEnd type="none" w="med" len="med"/>
              <a:tailEnd type="none" w="med" len="med"/>
            </a:ln>
          </p:spPr>
        </p:sp>
        <p:sp>
          <p:nvSpPr>
            <p:cNvPr id="16447" name="Line 68"/>
            <p:cNvSpPr/>
            <p:nvPr/>
          </p:nvSpPr>
          <p:spPr>
            <a:xfrm flipV="1">
              <a:off x="864" y="1152"/>
              <a:ext cx="0" cy="192"/>
            </a:xfrm>
            <a:prstGeom prst="line">
              <a:avLst/>
            </a:prstGeom>
            <a:ln w="57150" cap="flat" cmpd="sng">
              <a:solidFill>
                <a:srgbClr val="CC3300"/>
              </a:solidFill>
              <a:prstDash val="solid"/>
              <a:round/>
              <a:headEnd type="none" w="med" len="med"/>
              <a:tailEnd type="triangle" w="med" len="med"/>
            </a:ln>
          </p:spPr>
        </p:sp>
      </p:grpSp>
      <p:grpSp>
        <p:nvGrpSpPr>
          <p:cNvPr id="29770" name="Group 74"/>
          <p:cNvGrpSpPr/>
          <p:nvPr/>
        </p:nvGrpSpPr>
        <p:grpSpPr>
          <a:xfrm>
            <a:off x="1371600" y="3922713"/>
            <a:ext cx="304800" cy="304800"/>
            <a:chOff x="4080" y="3888"/>
            <a:chExt cx="192" cy="192"/>
          </a:xfrm>
        </p:grpSpPr>
        <p:sp>
          <p:nvSpPr>
            <p:cNvPr id="16449" name="Line 71"/>
            <p:cNvSpPr/>
            <p:nvPr/>
          </p:nvSpPr>
          <p:spPr>
            <a:xfrm>
              <a:off x="4176" y="3888"/>
              <a:ext cx="96" cy="0"/>
            </a:xfrm>
            <a:prstGeom prst="line">
              <a:avLst/>
            </a:prstGeom>
            <a:ln w="57150" cap="flat" cmpd="sng">
              <a:solidFill>
                <a:srgbClr val="FF0000"/>
              </a:solidFill>
              <a:prstDash val="solid"/>
              <a:round/>
              <a:headEnd type="none" w="med" len="med"/>
              <a:tailEnd type="none" w="med" len="med"/>
            </a:ln>
          </p:spPr>
        </p:sp>
        <p:sp>
          <p:nvSpPr>
            <p:cNvPr id="16450" name="Line 72"/>
            <p:cNvSpPr/>
            <p:nvPr/>
          </p:nvSpPr>
          <p:spPr>
            <a:xfrm>
              <a:off x="4080" y="4080"/>
              <a:ext cx="96" cy="0"/>
            </a:xfrm>
            <a:prstGeom prst="line">
              <a:avLst/>
            </a:prstGeom>
            <a:ln w="57150" cap="flat" cmpd="sng">
              <a:solidFill>
                <a:srgbClr val="FF0000"/>
              </a:solidFill>
              <a:prstDash val="solid"/>
              <a:round/>
              <a:headEnd type="none" w="med" len="med"/>
              <a:tailEnd type="none" w="med" len="med"/>
            </a:ln>
          </p:spPr>
        </p:sp>
        <p:sp>
          <p:nvSpPr>
            <p:cNvPr id="16451" name="Line 73"/>
            <p:cNvSpPr/>
            <p:nvPr/>
          </p:nvSpPr>
          <p:spPr>
            <a:xfrm>
              <a:off x="4176" y="3888"/>
              <a:ext cx="0" cy="192"/>
            </a:xfrm>
            <a:prstGeom prst="line">
              <a:avLst/>
            </a:prstGeom>
            <a:ln w="57150" cap="flat" cmpd="sng">
              <a:solidFill>
                <a:srgbClr val="FF0000"/>
              </a:solidFill>
              <a:prstDash val="solid"/>
              <a:round/>
              <a:headEnd type="triangle" w="med" len="med"/>
              <a:tailEnd type="none" w="med" len="med"/>
            </a:ln>
          </p:spPr>
        </p:sp>
      </p:grpSp>
      <p:sp>
        <p:nvSpPr>
          <p:cNvPr id="29755" name="Text Box 59" descr="羊皮纸"/>
          <p:cNvSpPr txBox="1"/>
          <p:nvPr/>
        </p:nvSpPr>
        <p:spPr>
          <a:xfrm>
            <a:off x="1331913" y="3811588"/>
            <a:ext cx="504825" cy="485775"/>
          </a:xfrm>
          <a:prstGeom prst="rect">
            <a:avLst/>
          </a:prstGeom>
          <a:blipFill rotWithShape="1">
            <a:blip r:embed="rId1"/>
          </a:blipFill>
          <a:ln w="28575" cap="flat" cmpd="sng">
            <a:solidFill>
              <a:srgbClr val="FF0000"/>
            </a:solidFill>
            <a:prstDash val="solid"/>
            <a:miter/>
            <a:headEnd type="none" w="med" len="med"/>
            <a:tailEnd type="none" w="med" len="med"/>
          </a:ln>
        </p:spPr>
        <p:txBody>
          <a:bodyPr lIns="90000" tIns="46800" rIns="90000" bIns="46800" anchor="t" anchorCtr="0">
            <a:spAutoFit/>
          </a:bodyPr>
          <a:p>
            <a:pPr algn="ctr"/>
            <a:r>
              <a:rPr lang="en-US" altLang="zh-CN" sz="2400" b="1" dirty="0">
                <a:latin typeface="Times New Roman" panose="02020603050405020304" charset="0"/>
                <a:ea typeface="宋体" panose="02010600030101010101" pitchFamily="2" charset="-122"/>
              </a:rPr>
              <a:t>0</a:t>
            </a:r>
            <a:endParaRPr lang="en-US" altLang="zh-CN" sz="2400" b="1" dirty="0">
              <a:latin typeface="Times New Roman" panose="02020603050405020304" charset="0"/>
              <a:ea typeface="宋体" panose="02010600030101010101" pitchFamily="2" charset="-122"/>
            </a:endParaRPr>
          </a:p>
        </p:txBody>
      </p:sp>
      <p:grpSp>
        <p:nvGrpSpPr>
          <p:cNvPr id="29771" name="Group 75"/>
          <p:cNvGrpSpPr/>
          <p:nvPr/>
        </p:nvGrpSpPr>
        <p:grpSpPr>
          <a:xfrm>
            <a:off x="4876800" y="1712913"/>
            <a:ext cx="990600" cy="685800"/>
            <a:chOff x="3072" y="384"/>
            <a:chExt cx="624" cy="432"/>
          </a:xfrm>
        </p:grpSpPr>
        <p:sp>
          <p:nvSpPr>
            <p:cNvPr id="16454" name="Line 76"/>
            <p:cNvSpPr/>
            <p:nvPr/>
          </p:nvSpPr>
          <p:spPr>
            <a:xfrm>
              <a:off x="3072" y="384"/>
              <a:ext cx="96" cy="0"/>
            </a:xfrm>
            <a:prstGeom prst="line">
              <a:avLst/>
            </a:prstGeom>
            <a:ln w="57150" cap="flat" cmpd="sng">
              <a:solidFill>
                <a:srgbClr val="006600"/>
              </a:solidFill>
              <a:prstDash val="solid"/>
              <a:round/>
              <a:headEnd type="none" w="med" len="med"/>
              <a:tailEnd type="none" w="med" len="med"/>
            </a:ln>
          </p:spPr>
        </p:sp>
        <p:sp>
          <p:nvSpPr>
            <p:cNvPr id="16455" name="Line 77"/>
            <p:cNvSpPr/>
            <p:nvPr/>
          </p:nvSpPr>
          <p:spPr>
            <a:xfrm>
              <a:off x="3168" y="384"/>
              <a:ext cx="0" cy="432"/>
            </a:xfrm>
            <a:prstGeom prst="line">
              <a:avLst/>
            </a:prstGeom>
            <a:ln w="57150" cap="flat" cmpd="sng">
              <a:solidFill>
                <a:srgbClr val="006600"/>
              </a:solidFill>
              <a:prstDash val="solid"/>
              <a:round/>
              <a:headEnd type="none" w="med" len="med"/>
              <a:tailEnd type="none" w="med" len="med"/>
            </a:ln>
          </p:spPr>
        </p:sp>
        <p:sp>
          <p:nvSpPr>
            <p:cNvPr id="16456" name="Line 78"/>
            <p:cNvSpPr/>
            <p:nvPr/>
          </p:nvSpPr>
          <p:spPr>
            <a:xfrm>
              <a:off x="3168" y="816"/>
              <a:ext cx="528" cy="0"/>
            </a:xfrm>
            <a:prstGeom prst="line">
              <a:avLst/>
            </a:prstGeom>
            <a:ln w="57150" cap="flat" cmpd="sng">
              <a:solidFill>
                <a:srgbClr val="006600"/>
              </a:solidFill>
              <a:prstDash val="solid"/>
              <a:round/>
              <a:headEnd type="none" w="med" len="med"/>
              <a:tailEnd type="triangle" w="med" len="med"/>
            </a:ln>
          </p:spPr>
        </p:sp>
      </p:grpSp>
      <p:sp>
        <p:nvSpPr>
          <p:cNvPr id="29775" name="Line 79"/>
          <p:cNvSpPr/>
          <p:nvPr/>
        </p:nvSpPr>
        <p:spPr>
          <a:xfrm>
            <a:off x="4876800" y="3770313"/>
            <a:ext cx="990600" cy="0"/>
          </a:xfrm>
          <a:prstGeom prst="line">
            <a:avLst/>
          </a:prstGeom>
          <a:ln w="57150" cap="flat" cmpd="sng">
            <a:solidFill>
              <a:srgbClr val="006600"/>
            </a:solidFill>
            <a:prstDash val="solid"/>
            <a:round/>
            <a:headEnd type="none" w="med" len="med"/>
            <a:tailEnd type="triangle" w="med" len="med"/>
          </a:ln>
        </p:spPr>
      </p:sp>
      <p:sp>
        <p:nvSpPr>
          <p:cNvPr id="29776" name="Line 80"/>
          <p:cNvSpPr/>
          <p:nvPr/>
        </p:nvSpPr>
        <p:spPr>
          <a:xfrm>
            <a:off x="4876800" y="5903913"/>
            <a:ext cx="990600" cy="0"/>
          </a:xfrm>
          <a:prstGeom prst="line">
            <a:avLst/>
          </a:prstGeom>
          <a:ln w="57150" cap="flat" cmpd="sng">
            <a:solidFill>
              <a:srgbClr val="006600"/>
            </a:solidFill>
            <a:prstDash val="solid"/>
            <a:round/>
            <a:headEnd type="none" w="med" len="med"/>
            <a:tailEnd type="triangle" w="med" len="med"/>
          </a:ln>
        </p:spPr>
      </p:sp>
      <p:sp>
        <p:nvSpPr>
          <p:cNvPr id="29782" name="AutoShape 86"/>
          <p:cNvSpPr/>
          <p:nvPr/>
        </p:nvSpPr>
        <p:spPr>
          <a:xfrm>
            <a:off x="6324600" y="5562600"/>
            <a:ext cx="1944370" cy="911860"/>
          </a:xfrm>
          <a:prstGeom prst="wedgeRoundRectCallout">
            <a:avLst>
              <a:gd name="adj1" fmla="val -93631"/>
              <a:gd name="adj2" fmla="val -10584"/>
              <a:gd name="adj3" fmla="val 16667"/>
            </a:avLst>
          </a:prstGeom>
          <a:solidFill>
            <a:srgbClr val="CCFFCC"/>
          </a:solidFill>
          <a:ln w="19050" cap="flat" cmpd="sng">
            <a:solidFill>
              <a:srgbClr val="FFCC00"/>
            </a:solidFill>
            <a:prstDash val="solid"/>
            <a:miter/>
            <a:headEnd type="none" w="med" len="med"/>
            <a:tailEnd type="none" w="med" len="med"/>
          </a:ln>
        </p:spPr>
        <p:txBody>
          <a:bodyPr lIns="90000" tIns="46800" rIns="90000" bIns="46800" anchor="t" anchorCtr="0"/>
          <a:p>
            <a:r>
              <a:rPr lang="zh-CN" altLang="en-US" sz="2000" b="1" dirty="0">
                <a:solidFill>
                  <a:srgbClr val="CC0000"/>
                </a:solidFill>
                <a:latin typeface="楷体" panose="02010609060101010101" charset="-122"/>
                <a:ea typeface="楷体" panose="02010609060101010101" charset="-122"/>
              </a:rPr>
              <a:t>此状态能否一直保持下去？</a:t>
            </a:r>
            <a:endParaRPr lang="zh-CN" altLang="en-US" sz="2000" b="1" dirty="0">
              <a:solidFill>
                <a:srgbClr val="CC0000"/>
              </a:solidFill>
              <a:latin typeface="楷体" panose="02010609060101010101" charset="-122"/>
              <a:ea typeface="楷体" panose="02010609060101010101" charset="-122"/>
            </a:endParaRPr>
          </a:p>
        </p:txBody>
      </p:sp>
      <p:grpSp>
        <p:nvGrpSpPr>
          <p:cNvPr id="29783" name="Group 87"/>
          <p:cNvGrpSpPr/>
          <p:nvPr/>
        </p:nvGrpSpPr>
        <p:grpSpPr>
          <a:xfrm>
            <a:off x="3276600" y="2947988"/>
            <a:ext cx="304800" cy="304800"/>
            <a:chOff x="864" y="1776"/>
            <a:chExt cx="192" cy="192"/>
          </a:xfrm>
        </p:grpSpPr>
        <p:sp>
          <p:nvSpPr>
            <p:cNvPr id="16462" name="Line 88"/>
            <p:cNvSpPr/>
            <p:nvPr/>
          </p:nvSpPr>
          <p:spPr>
            <a:xfrm>
              <a:off x="960" y="1776"/>
              <a:ext cx="96" cy="0"/>
            </a:xfrm>
            <a:prstGeom prst="line">
              <a:avLst/>
            </a:prstGeom>
            <a:ln w="57150" cap="flat" cmpd="sng">
              <a:solidFill>
                <a:srgbClr val="FF0000"/>
              </a:solidFill>
              <a:prstDash val="solid"/>
              <a:round/>
              <a:headEnd type="none" w="med" len="med"/>
              <a:tailEnd type="none" w="med" len="med"/>
            </a:ln>
          </p:spPr>
        </p:sp>
        <p:sp>
          <p:nvSpPr>
            <p:cNvPr id="16463" name="Line 89"/>
            <p:cNvSpPr/>
            <p:nvPr/>
          </p:nvSpPr>
          <p:spPr>
            <a:xfrm>
              <a:off x="864" y="1968"/>
              <a:ext cx="96" cy="0"/>
            </a:xfrm>
            <a:prstGeom prst="line">
              <a:avLst/>
            </a:prstGeom>
            <a:ln w="57150" cap="flat" cmpd="sng">
              <a:solidFill>
                <a:srgbClr val="FF0000"/>
              </a:solidFill>
              <a:prstDash val="solid"/>
              <a:round/>
              <a:headEnd type="none" w="med" len="med"/>
              <a:tailEnd type="none" w="med" len="med"/>
            </a:ln>
          </p:spPr>
        </p:sp>
        <p:sp>
          <p:nvSpPr>
            <p:cNvPr id="16464" name="Line 90"/>
            <p:cNvSpPr/>
            <p:nvPr/>
          </p:nvSpPr>
          <p:spPr>
            <a:xfrm>
              <a:off x="960" y="1776"/>
              <a:ext cx="0" cy="192"/>
            </a:xfrm>
            <a:prstGeom prst="line">
              <a:avLst/>
            </a:prstGeom>
            <a:ln w="57150" cap="flat" cmpd="sng">
              <a:solidFill>
                <a:srgbClr val="FF0000"/>
              </a:solidFill>
              <a:prstDash val="solid"/>
              <a:round/>
              <a:headEnd type="none" w="med" len="med"/>
              <a:tailEnd type="triangle" w="med" len="med"/>
            </a:ln>
          </p:spPr>
        </p:sp>
      </p:grpSp>
      <p:sp>
        <p:nvSpPr>
          <p:cNvPr id="16465" name="Text Box 91"/>
          <p:cNvSpPr txBox="1"/>
          <p:nvPr/>
        </p:nvSpPr>
        <p:spPr>
          <a:xfrm>
            <a:off x="2493963" y="3140075"/>
            <a:ext cx="384175" cy="519113"/>
          </a:xfrm>
          <a:prstGeom prst="rect">
            <a:avLst/>
          </a:prstGeom>
          <a:noFill/>
          <a:ln w="28575">
            <a:noFill/>
          </a:ln>
        </p:spPr>
        <p:txBody>
          <a:bodyPr wrap="none" lIns="90000" tIns="46800" rIns="90000" bIns="46800" anchor="t" anchorCtr="0">
            <a:spAutoFit/>
          </a:bodyPr>
          <a:p>
            <a:r>
              <a:rPr lang="en-US" altLang="zh-CN" b="1" dirty="0">
                <a:solidFill>
                  <a:srgbClr val="0033CC"/>
                </a:solidFill>
                <a:latin typeface="Times New Roman" panose="02020603050405020304" charset="0"/>
                <a:ea typeface="宋体" panose="02010600030101010101" pitchFamily="2" charset="-122"/>
              </a:rPr>
              <a:t>+</a:t>
            </a:r>
            <a:endParaRPr lang="en-US" altLang="zh-CN" b="1" dirty="0">
              <a:solidFill>
                <a:srgbClr val="0033CC"/>
              </a:solidFill>
              <a:latin typeface="Times New Roman" panose="02020603050405020304" charset="0"/>
              <a:ea typeface="宋体" panose="02010600030101010101" pitchFamily="2" charset="-122"/>
            </a:endParaRPr>
          </a:p>
        </p:txBody>
      </p:sp>
      <p:sp>
        <p:nvSpPr>
          <p:cNvPr id="16466" name="Text Box 92"/>
          <p:cNvSpPr txBox="1"/>
          <p:nvPr/>
        </p:nvSpPr>
        <p:spPr>
          <a:xfrm>
            <a:off x="2051050" y="3132138"/>
            <a:ext cx="436563" cy="396875"/>
          </a:xfrm>
          <a:prstGeom prst="rect">
            <a:avLst/>
          </a:prstGeom>
          <a:noFill/>
          <a:ln w="28575">
            <a:noFill/>
          </a:ln>
        </p:spPr>
        <p:txBody>
          <a:bodyPr wrap="none" lIns="90000" tIns="46800" rIns="90000" bIns="46800" anchor="t" anchorCtr="0">
            <a:spAutoFit/>
          </a:bodyPr>
          <a:p>
            <a:r>
              <a:rPr lang="zh-CN" altLang="en-US" sz="2000" b="1" dirty="0">
                <a:solidFill>
                  <a:srgbClr val="0033CC"/>
                </a:solidFill>
                <a:latin typeface="Times New Roman" panose="02020603050405020304" charset="0"/>
                <a:ea typeface="宋体" panose="02010600030101010101" pitchFamily="2" charset="-122"/>
              </a:rPr>
              <a:t>－</a:t>
            </a:r>
            <a:endParaRPr lang="zh-CN" altLang="en-US" sz="2000" b="1" dirty="0">
              <a:solidFill>
                <a:srgbClr val="0033CC"/>
              </a:solidFill>
              <a:latin typeface="Times New Roman" panose="02020603050405020304" charset="0"/>
              <a:ea typeface="宋体" panose="02010600030101010101" pitchFamily="2" charset="-122"/>
            </a:endParaRPr>
          </a:p>
        </p:txBody>
      </p:sp>
      <p:sp>
        <p:nvSpPr>
          <p:cNvPr id="16467" name="Line 93"/>
          <p:cNvSpPr/>
          <p:nvPr/>
        </p:nvSpPr>
        <p:spPr>
          <a:xfrm flipH="1">
            <a:off x="2627313" y="2822575"/>
            <a:ext cx="12700" cy="347663"/>
          </a:xfrm>
          <a:prstGeom prst="line">
            <a:avLst/>
          </a:prstGeom>
          <a:ln w="38100" cap="flat" cmpd="sng">
            <a:solidFill>
              <a:schemeClr val="tx1"/>
            </a:solidFill>
            <a:prstDash val="solid"/>
            <a:round/>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46"/>
                                        </p:tgtEl>
                                        <p:attrNameLst>
                                          <p:attrName>style.visibility</p:attrName>
                                        </p:attrNameLst>
                                      </p:cBhvr>
                                      <p:to>
                                        <p:strVal val="visible"/>
                                      </p:to>
                                    </p:set>
                                    <p:animEffect transition="in" filter="wipe(left)">
                                      <p:cBhvr>
                                        <p:cTn id="7" dur="500"/>
                                        <p:tgtEl>
                                          <p:spTgt spid="29746"/>
                                        </p:tgtEl>
                                      </p:cBhvr>
                                    </p:animEffect>
                                  </p:childTnLst>
                                </p:cTn>
                              </p:par>
                            </p:childTnLst>
                          </p:cTn>
                        </p:par>
                        <p:par>
                          <p:cTn id="8" fill="hold">
                            <p:stCondLst>
                              <p:cond delay="500"/>
                            </p:stCondLst>
                            <p:childTnLst>
                              <p:par>
                                <p:cTn id="9" presetID="17" presetClass="entr" presetSubtype="4" fill="hold" nodeType="afterEffect">
                                  <p:stCondLst>
                                    <p:cond delay="0"/>
                                  </p:stCondLst>
                                  <p:childTnLst>
                                    <p:set>
                                      <p:cBhvr>
                                        <p:cTn id="10" dur="1" fill="hold">
                                          <p:stCondLst>
                                            <p:cond delay="0"/>
                                          </p:stCondLst>
                                        </p:cTn>
                                        <p:tgtEl>
                                          <p:spTgt spid="29770"/>
                                        </p:tgtEl>
                                        <p:attrNameLst>
                                          <p:attrName>style.visibility</p:attrName>
                                        </p:attrNameLst>
                                      </p:cBhvr>
                                      <p:to>
                                        <p:strVal val="visible"/>
                                      </p:to>
                                    </p:set>
                                    <p:anim calcmode="lin" valueType="num">
                                      <p:cBhvr>
                                        <p:cTn id="11" dur="500" fill="hold"/>
                                        <p:tgtEl>
                                          <p:spTgt spid="29770"/>
                                        </p:tgtEl>
                                        <p:attrNameLst>
                                          <p:attrName>ppt_x</p:attrName>
                                        </p:attrNameLst>
                                      </p:cBhvr>
                                      <p:tavLst>
                                        <p:tav tm="0">
                                          <p:val>
                                            <p:strVal val="#ppt_x"/>
                                          </p:val>
                                        </p:tav>
                                        <p:tav tm="100000">
                                          <p:val>
                                            <p:strVal val="#ppt_x"/>
                                          </p:val>
                                        </p:tav>
                                      </p:tavLst>
                                    </p:anim>
                                    <p:anim calcmode="lin" valueType="num">
                                      <p:cBhvr>
                                        <p:cTn id="12" dur="500" fill="hold"/>
                                        <p:tgtEl>
                                          <p:spTgt spid="29770"/>
                                        </p:tgtEl>
                                        <p:attrNameLst>
                                          <p:attrName>ppt_y</p:attrName>
                                        </p:attrNameLst>
                                      </p:cBhvr>
                                      <p:tavLst>
                                        <p:tav tm="0">
                                          <p:val>
                                            <p:strVal val="#ppt_y+#ppt_h/2"/>
                                          </p:val>
                                        </p:tav>
                                        <p:tav tm="100000">
                                          <p:val>
                                            <p:strVal val="#ppt_y"/>
                                          </p:val>
                                        </p:tav>
                                      </p:tavLst>
                                    </p:anim>
                                    <p:anim calcmode="lin" valueType="num">
                                      <p:cBhvr>
                                        <p:cTn id="13" dur="500" fill="hold"/>
                                        <p:tgtEl>
                                          <p:spTgt spid="29770"/>
                                        </p:tgtEl>
                                        <p:attrNameLst>
                                          <p:attrName>ppt_w</p:attrName>
                                        </p:attrNameLst>
                                      </p:cBhvr>
                                      <p:tavLst>
                                        <p:tav tm="0">
                                          <p:val>
                                            <p:strVal val="#ppt_w"/>
                                          </p:val>
                                        </p:tav>
                                        <p:tav tm="100000">
                                          <p:val>
                                            <p:strVal val="#ppt_w"/>
                                          </p:val>
                                        </p:tav>
                                      </p:tavLst>
                                    </p:anim>
                                    <p:anim calcmode="lin" valueType="num">
                                      <p:cBhvr>
                                        <p:cTn id="14" dur="500" fill="hold"/>
                                        <p:tgtEl>
                                          <p:spTgt spid="29770"/>
                                        </p:tgtEl>
                                        <p:attrNameLst>
                                          <p:attrName>ppt_h</p:attrName>
                                        </p:attrNameLst>
                                      </p:cBhvr>
                                      <p:tavLst>
                                        <p:tav tm="0">
                                          <p:val>
                                            <p:fltVal val="0.000000"/>
                                          </p:val>
                                        </p:tav>
                                        <p:tav tm="100000">
                                          <p:val>
                                            <p:strVal val="#ppt_h"/>
                                          </p:val>
                                        </p:tav>
                                      </p:tavLst>
                                    </p:anim>
                                  </p:childTnLst>
                                </p:cTn>
                              </p:par>
                            </p:childTnLst>
                          </p:cTn>
                        </p:par>
                        <p:par>
                          <p:cTn id="15" fill="hold">
                            <p:stCondLst>
                              <p:cond delay="1000"/>
                            </p:stCondLst>
                            <p:childTnLst>
                              <p:par>
                                <p:cTn id="16" presetID="22" presetClass="entr" presetSubtype="4" fill="hold" nodeType="afterEffect">
                                  <p:stCondLst>
                                    <p:cond delay="1000"/>
                                  </p:stCondLst>
                                  <p:childTnLst>
                                    <p:set>
                                      <p:cBhvr>
                                        <p:cTn id="17" dur="1" fill="hold">
                                          <p:stCondLst>
                                            <p:cond delay="0"/>
                                          </p:stCondLst>
                                        </p:cTn>
                                        <p:tgtEl>
                                          <p:spTgt spid="29748"/>
                                        </p:tgtEl>
                                        <p:attrNameLst>
                                          <p:attrName>style.visibility</p:attrName>
                                        </p:attrNameLst>
                                      </p:cBhvr>
                                      <p:to>
                                        <p:strVal val="visible"/>
                                      </p:to>
                                    </p:set>
                                    <p:animEffect transition="in" filter="wipe(down)">
                                      <p:cBhvr>
                                        <p:cTn id="18" dur="500"/>
                                        <p:tgtEl>
                                          <p:spTgt spid="2974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756"/>
                                        </p:tgtEl>
                                        <p:attrNameLst>
                                          <p:attrName>style.visibility</p:attrName>
                                        </p:attrNameLst>
                                      </p:cBhvr>
                                      <p:to>
                                        <p:strVal val="visible"/>
                                      </p:to>
                                    </p:set>
                                  </p:childTnLst>
                                </p:cTn>
                              </p:par>
                            </p:childTnLst>
                          </p:cTn>
                        </p:par>
                        <p:par>
                          <p:cTn id="23" fill="hold">
                            <p:stCondLst>
                              <p:cond delay="500"/>
                            </p:stCondLst>
                            <p:childTnLst>
                              <p:par>
                                <p:cTn id="24" presetID="22" presetClass="entr" presetSubtype="1" fill="hold" nodeType="afterEffect">
                                  <p:stCondLst>
                                    <p:cond delay="1000"/>
                                  </p:stCondLst>
                                  <p:childTnLst>
                                    <p:set>
                                      <p:cBhvr>
                                        <p:cTn id="25" dur="1" fill="hold">
                                          <p:stCondLst>
                                            <p:cond delay="0"/>
                                          </p:stCondLst>
                                        </p:cTn>
                                        <p:tgtEl>
                                          <p:spTgt spid="29749"/>
                                        </p:tgtEl>
                                        <p:attrNameLst>
                                          <p:attrName>style.visibility</p:attrName>
                                        </p:attrNameLst>
                                      </p:cBhvr>
                                      <p:to>
                                        <p:strVal val="visible"/>
                                      </p:to>
                                    </p:set>
                                    <p:animEffect transition="in" filter="wipe(up)">
                                      <p:cBhvr>
                                        <p:cTn id="26" dur="500"/>
                                        <p:tgtEl>
                                          <p:spTgt spid="2974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752"/>
                                        </p:tgtEl>
                                        <p:attrNameLst>
                                          <p:attrName>style.visibility</p:attrName>
                                        </p:attrNameLst>
                                      </p:cBhvr>
                                      <p:to>
                                        <p:strVal val="visible"/>
                                      </p:to>
                                    </p:set>
                                    <p:animEffect transition="in" filter="wipe(left)">
                                      <p:cBhvr>
                                        <p:cTn id="31" dur="500"/>
                                        <p:tgtEl>
                                          <p:spTgt spid="29752"/>
                                        </p:tgtEl>
                                      </p:cBhvr>
                                    </p:animEffect>
                                  </p:childTnLst>
                                </p:cTn>
                              </p:par>
                            </p:childTnLst>
                          </p:cTn>
                        </p:par>
                        <p:par>
                          <p:cTn id="32" fill="hold">
                            <p:stCondLst>
                              <p:cond delay="500"/>
                            </p:stCondLst>
                            <p:childTnLst>
                              <p:par>
                                <p:cTn id="33" presetID="1" presetClass="entr" presetSubtype="0" fill="hold" grpId="0" nodeType="afterEffect">
                                  <p:stCondLst>
                                    <p:cond delay="2000"/>
                                  </p:stCondLst>
                                  <p:childTnLst>
                                    <p:set>
                                      <p:cBhvr>
                                        <p:cTn id="34" dur="1" fill="hold">
                                          <p:stCondLst>
                                            <p:cond delay="499"/>
                                          </p:stCondLst>
                                        </p:cTn>
                                        <p:tgtEl>
                                          <p:spTgt spid="297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9783"/>
                                        </p:tgtEl>
                                        <p:attrNameLst>
                                          <p:attrName>style.visibility</p:attrName>
                                        </p:attrNameLst>
                                      </p:cBhvr>
                                      <p:to>
                                        <p:strVal val="visible"/>
                                      </p:to>
                                    </p:set>
                                    <p:animEffect transition="in" filter="wipe(up)">
                                      <p:cBhvr>
                                        <p:cTn id="39" dur="500"/>
                                        <p:tgtEl>
                                          <p:spTgt spid="29783"/>
                                        </p:tgtEl>
                                      </p:cBhvr>
                                    </p:animEffect>
                                  </p:childTnLst>
                                </p:cTn>
                              </p:par>
                            </p:childTnLst>
                          </p:cTn>
                        </p:par>
                        <p:par>
                          <p:cTn id="40" fill="hold">
                            <p:stCondLst>
                              <p:cond delay="500"/>
                            </p:stCondLst>
                            <p:childTnLst>
                              <p:par>
                                <p:cTn id="41" presetID="22" presetClass="entr" presetSubtype="1" fill="hold" nodeType="afterEffect">
                                  <p:stCondLst>
                                    <p:cond delay="2000"/>
                                  </p:stCondLst>
                                  <p:childTnLst>
                                    <p:set>
                                      <p:cBhvr>
                                        <p:cTn id="42" dur="1" fill="hold">
                                          <p:stCondLst>
                                            <p:cond delay="0"/>
                                          </p:stCondLst>
                                        </p:cTn>
                                        <p:tgtEl>
                                          <p:spTgt spid="29750"/>
                                        </p:tgtEl>
                                        <p:attrNameLst>
                                          <p:attrName>style.visibility</p:attrName>
                                        </p:attrNameLst>
                                      </p:cBhvr>
                                      <p:to>
                                        <p:strVal val="visible"/>
                                      </p:to>
                                    </p:set>
                                    <p:animEffect transition="in" filter="wipe(up)">
                                      <p:cBhvr>
                                        <p:cTn id="43" dur="500"/>
                                        <p:tgtEl>
                                          <p:spTgt spid="2975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9751"/>
                                        </p:tgtEl>
                                        <p:attrNameLst>
                                          <p:attrName>style.visibility</p:attrName>
                                        </p:attrNameLst>
                                      </p:cBhvr>
                                      <p:to>
                                        <p:strVal val="visible"/>
                                      </p:to>
                                    </p:set>
                                    <p:animEffect transition="in" filter="wipe(down)">
                                      <p:cBhvr>
                                        <p:cTn id="48" dur="500"/>
                                        <p:tgtEl>
                                          <p:spTgt spid="29751"/>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2975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754"/>
                                        </p:tgtEl>
                                        <p:attrNameLst>
                                          <p:attrName>style.visibility</p:attrName>
                                        </p:attrNameLst>
                                      </p:cBhvr>
                                      <p:to>
                                        <p:strVal val="visible"/>
                                      </p:to>
                                    </p:set>
                                    <p:animEffect transition="in" filter="wipe(left)">
                                      <p:cBhvr>
                                        <p:cTn id="57" dur="500"/>
                                        <p:tgtEl>
                                          <p:spTgt spid="29754"/>
                                        </p:tgtEl>
                                      </p:cBhvr>
                                    </p:animEffect>
                                  </p:childTnLst>
                                </p:cTn>
                              </p:par>
                            </p:childTnLst>
                          </p:cTn>
                        </p:par>
                        <p:par>
                          <p:cTn id="58" fill="hold">
                            <p:stCondLst>
                              <p:cond delay="500"/>
                            </p:stCondLst>
                            <p:childTnLst>
                              <p:par>
                                <p:cTn id="59" presetID="22" presetClass="entr" presetSubtype="2" fill="hold" nodeType="afterEffect">
                                  <p:stCondLst>
                                    <p:cond delay="1000"/>
                                  </p:stCondLst>
                                  <p:childTnLst>
                                    <p:set>
                                      <p:cBhvr>
                                        <p:cTn id="60" dur="1" fill="hold">
                                          <p:stCondLst>
                                            <p:cond delay="0"/>
                                          </p:stCondLst>
                                        </p:cTn>
                                        <p:tgtEl>
                                          <p:spTgt spid="29765"/>
                                        </p:tgtEl>
                                        <p:attrNameLst>
                                          <p:attrName>style.visibility</p:attrName>
                                        </p:attrNameLst>
                                      </p:cBhvr>
                                      <p:to>
                                        <p:strVal val="visible"/>
                                      </p:to>
                                    </p:set>
                                    <p:animEffect transition="in" filter="wipe(right)">
                                      <p:cBhvr>
                                        <p:cTn id="61" dur="500"/>
                                        <p:tgtEl>
                                          <p:spTgt spid="29765"/>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29755"/>
                                        </p:tgtEl>
                                        <p:attrNameLst>
                                          <p:attrName>style.visibility</p:attrName>
                                        </p:attrNameLst>
                                      </p:cBhvr>
                                      <p:to>
                                        <p:strVal val="visible"/>
                                      </p:to>
                                    </p:set>
                                  </p:childTnLst>
                                </p:cTn>
                              </p:par>
                            </p:childTnLst>
                          </p:cTn>
                        </p:par>
                        <p:par>
                          <p:cTn id="66" fill="hold">
                            <p:stCondLst>
                              <p:cond delay="500"/>
                            </p:stCondLst>
                            <p:childTnLst>
                              <p:par>
                                <p:cTn id="67" presetID="22" presetClass="entr" presetSubtype="8" fill="hold" nodeType="afterEffect">
                                  <p:stCondLst>
                                    <p:cond delay="2000"/>
                                  </p:stCondLst>
                                  <p:childTnLst>
                                    <p:set>
                                      <p:cBhvr>
                                        <p:cTn id="68" dur="1" fill="hold">
                                          <p:stCondLst>
                                            <p:cond delay="0"/>
                                          </p:stCondLst>
                                        </p:cTn>
                                        <p:tgtEl>
                                          <p:spTgt spid="29771"/>
                                        </p:tgtEl>
                                        <p:attrNameLst>
                                          <p:attrName>style.visibility</p:attrName>
                                        </p:attrNameLst>
                                      </p:cBhvr>
                                      <p:to>
                                        <p:strVal val="visible"/>
                                      </p:to>
                                    </p:set>
                                    <p:animEffect transition="in" filter="wipe(left)">
                                      <p:cBhvr>
                                        <p:cTn id="69" dur="500"/>
                                        <p:tgtEl>
                                          <p:spTgt spid="29771"/>
                                        </p:tgtEl>
                                      </p:cBhvr>
                                    </p:animEffect>
                                  </p:childTnLst>
                                </p:cTn>
                              </p:par>
                            </p:childTnLst>
                          </p:cTn>
                        </p:par>
                        <p:par>
                          <p:cTn id="70" fill="hold">
                            <p:stCondLst>
                              <p:cond delay="3000"/>
                            </p:stCondLst>
                            <p:childTnLst>
                              <p:par>
                                <p:cTn id="71" presetID="22" presetClass="entr" presetSubtype="8" fill="hold" nodeType="afterEffect">
                                  <p:stCondLst>
                                    <p:cond delay="0"/>
                                  </p:stCondLst>
                                  <p:childTnLst>
                                    <p:set>
                                      <p:cBhvr>
                                        <p:cTn id="72" dur="1" fill="hold">
                                          <p:stCondLst>
                                            <p:cond delay="0"/>
                                          </p:stCondLst>
                                        </p:cTn>
                                        <p:tgtEl>
                                          <p:spTgt spid="29775"/>
                                        </p:tgtEl>
                                        <p:attrNameLst>
                                          <p:attrName>style.visibility</p:attrName>
                                        </p:attrNameLst>
                                      </p:cBhvr>
                                      <p:to>
                                        <p:strVal val="visible"/>
                                      </p:to>
                                    </p:set>
                                    <p:animEffect transition="in" filter="wipe(left)">
                                      <p:cBhvr>
                                        <p:cTn id="73" dur="500"/>
                                        <p:tgtEl>
                                          <p:spTgt spid="29775"/>
                                        </p:tgtEl>
                                      </p:cBhvr>
                                    </p:animEffect>
                                  </p:childTnLst>
                                </p:cTn>
                              </p:par>
                            </p:childTnLst>
                          </p:cTn>
                        </p:par>
                        <p:par>
                          <p:cTn id="74" fill="hold">
                            <p:stCondLst>
                              <p:cond delay="3500"/>
                            </p:stCondLst>
                            <p:childTnLst>
                              <p:par>
                                <p:cTn id="75" presetID="22" presetClass="entr" presetSubtype="8" fill="hold" nodeType="afterEffect">
                                  <p:stCondLst>
                                    <p:cond delay="2000"/>
                                  </p:stCondLst>
                                  <p:childTnLst>
                                    <p:set>
                                      <p:cBhvr>
                                        <p:cTn id="76" dur="1" fill="hold">
                                          <p:stCondLst>
                                            <p:cond delay="0"/>
                                          </p:stCondLst>
                                        </p:cTn>
                                        <p:tgtEl>
                                          <p:spTgt spid="29776"/>
                                        </p:tgtEl>
                                        <p:attrNameLst>
                                          <p:attrName>style.visibility</p:attrName>
                                        </p:attrNameLst>
                                      </p:cBhvr>
                                      <p:to>
                                        <p:strVal val="visible"/>
                                      </p:to>
                                    </p:set>
                                    <p:animEffect transition="in" filter="wipe(left)">
                                      <p:cBhvr>
                                        <p:cTn id="77" dur="500"/>
                                        <p:tgtEl>
                                          <p:spTgt spid="29776"/>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29782"/>
                                        </p:tgtEl>
                                        <p:attrNameLst>
                                          <p:attrName>style.visibility</p:attrName>
                                        </p:attrNameLst>
                                      </p:cBhvr>
                                      <p:to>
                                        <p:strVal val="visible"/>
                                      </p:to>
                                    </p:set>
                                    <p:animEffect transition="in" filter="dissolve">
                                      <p:cBhvr>
                                        <p:cTn id="82" dur="500"/>
                                        <p:tgtEl>
                                          <p:spTgt spid="29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46" grpId="0"/>
      <p:bldP spid="29752" grpId="0"/>
      <p:bldP spid="29753" grpId="0"/>
      <p:bldP spid="29754" grpId="0"/>
      <p:bldP spid="29756" grpId="0"/>
      <p:bldP spid="29758" grpId="0"/>
      <p:bldP spid="29755" grpId="0" bldLvl="0" animBg="1"/>
      <p:bldP spid="29782"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6" name="Group 3"/>
          <p:cNvGrpSpPr/>
          <p:nvPr/>
        </p:nvGrpSpPr>
        <p:grpSpPr>
          <a:xfrm>
            <a:off x="4191000" y="1349375"/>
            <a:ext cx="4343400" cy="5303838"/>
            <a:chOff x="2640" y="163"/>
            <a:chExt cx="2736" cy="3341"/>
          </a:xfrm>
        </p:grpSpPr>
        <p:sp>
          <p:nvSpPr>
            <p:cNvPr id="7" name="Line 4"/>
            <p:cNvSpPr/>
            <p:nvPr/>
          </p:nvSpPr>
          <p:spPr>
            <a:xfrm flipV="1">
              <a:off x="2640" y="240"/>
              <a:ext cx="0" cy="624"/>
            </a:xfrm>
            <a:prstGeom prst="line">
              <a:avLst/>
            </a:prstGeom>
            <a:ln w="28575" cap="flat" cmpd="sng">
              <a:solidFill>
                <a:schemeClr val="tx1"/>
              </a:solidFill>
              <a:prstDash val="solid"/>
              <a:round/>
              <a:headEnd type="none" w="med" len="med"/>
              <a:tailEnd type="triangle" w="med" len="med"/>
            </a:ln>
          </p:spPr>
        </p:sp>
        <p:sp>
          <p:nvSpPr>
            <p:cNvPr id="8" name="Line 5"/>
            <p:cNvSpPr/>
            <p:nvPr/>
          </p:nvSpPr>
          <p:spPr>
            <a:xfrm>
              <a:off x="2640" y="864"/>
              <a:ext cx="2736" cy="0"/>
            </a:xfrm>
            <a:prstGeom prst="line">
              <a:avLst/>
            </a:prstGeom>
            <a:ln w="28575" cap="flat" cmpd="sng">
              <a:solidFill>
                <a:schemeClr val="tx1"/>
              </a:solidFill>
              <a:prstDash val="solid"/>
              <a:round/>
              <a:headEnd type="none" w="med" len="med"/>
              <a:tailEnd type="triangle" w="med" len="med"/>
            </a:ln>
          </p:spPr>
        </p:sp>
        <p:sp>
          <p:nvSpPr>
            <p:cNvPr id="9" name="Line 6"/>
            <p:cNvSpPr/>
            <p:nvPr/>
          </p:nvSpPr>
          <p:spPr>
            <a:xfrm flipV="1">
              <a:off x="2640" y="1056"/>
              <a:ext cx="0" cy="672"/>
            </a:xfrm>
            <a:prstGeom prst="line">
              <a:avLst/>
            </a:prstGeom>
            <a:ln w="28575" cap="flat" cmpd="sng">
              <a:solidFill>
                <a:schemeClr val="tx1"/>
              </a:solidFill>
              <a:prstDash val="solid"/>
              <a:round/>
              <a:headEnd type="none" w="med" len="med"/>
              <a:tailEnd type="triangle" w="med" len="med"/>
            </a:ln>
          </p:spPr>
        </p:sp>
        <p:sp>
          <p:nvSpPr>
            <p:cNvPr id="11" name="Line 7"/>
            <p:cNvSpPr/>
            <p:nvPr/>
          </p:nvSpPr>
          <p:spPr>
            <a:xfrm>
              <a:off x="2640" y="1728"/>
              <a:ext cx="2736" cy="0"/>
            </a:xfrm>
            <a:prstGeom prst="line">
              <a:avLst/>
            </a:prstGeom>
            <a:ln w="28575" cap="flat" cmpd="sng">
              <a:solidFill>
                <a:schemeClr val="tx1"/>
              </a:solidFill>
              <a:prstDash val="solid"/>
              <a:round/>
              <a:headEnd type="none" w="med" len="med"/>
              <a:tailEnd type="triangle" w="med" len="med"/>
            </a:ln>
          </p:spPr>
        </p:sp>
        <p:sp>
          <p:nvSpPr>
            <p:cNvPr id="12" name="Line 8"/>
            <p:cNvSpPr/>
            <p:nvPr/>
          </p:nvSpPr>
          <p:spPr>
            <a:xfrm flipV="1">
              <a:off x="2640" y="1872"/>
              <a:ext cx="0" cy="768"/>
            </a:xfrm>
            <a:prstGeom prst="line">
              <a:avLst/>
            </a:prstGeom>
            <a:ln w="28575" cap="flat" cmpd="sng">
              <a:solidFill>
                <a:schemeClr val="tx1"/>
              </a:solidFill>
              <a:prstDash val="solid"/>
              <a:round/>
              <a:headEnd type="none" w="med" len="med"/>
              <a:tailEnd type="triangle" w="med" len="med"/>
            </a:ln>
          </p:spPr>
        </p:sp>
        <p:sp>
          <p:nvSpPr>
            <p:cNvPr id="13" name="Line 9"/>
            <p:cNvSpPr/>
            <p:nvPr/>
          </p:nvSpPr>
          <p:spPr>
            <a:xfrm>
              <a:off x="2640" y="2640"/>
              <a:ext cx="2736" cy="0"/>
            </a:xfrm>
            <a:prstGeom prst="line">
              <a:avLst/>
            </a:prstGeom>
            <a:ln w="28575" cap="flat" cmpd="sng">
              <a:solidFill>
                <a:schemeClr val="tx1"/>
              </a:solidFill>
              <a:prstDash val="solid"/>
              <a:round/>
              <a:headEnd type="none" w="med" len="med"/>
              <a:tailEnd type="triangle" w="med" len="med"/>
            </a:ln>
          </p:spPr>
        </p:sp>
        <p:sp>
          <p:nvSpPr>
            <p:cNvPr id="14" name="Line 10"/>
            <p:cNvSpPr/>
            <p:nvPr/>
          </p:nvSpPr>
          <p:spPr>
            <a:xfrm flipV="1">
              <a:off x="2640" y="2784"/>
              <a:ext cx="0" cy="720"/>
            </a:xfrm>
            <a:prstGeom prst="line">
              <a:avLst/>
            </a:prstGeom>
            <a:ln w="28575" cap="flat" cmpd="sng">
              <a:solidFill>
                <a:schemeClr val="tx1"/>
              </a:solidFill>
              <a:prstDash val="solid"/>
              <a:round/>
              <a:headEnd type="none" w="med" len="med"/>
              <a:tailEnd type="triangle" w="med" len="med"/>
            </a:ln>
          </p:spPr>
        </p:sp>
        <p:sp>
          <p:nvSpPr>
            <p:cNvPr id="15" name="Line 11"/>
            <p:cNvSpPr/>
            <p:nvPr/>
          </p:nvSpPr>
          <p:spPr>
            <a:xfrm>
              <a:off x="2640" y="3504"/>
              <a:ext cx="2736" cy="0"/>
            </a:xfrm>
            <a:prstGeom prst="line">
              <a:avLst/>
            </a:prstGeom>
            <a:ln w="28575" cap="flat" cmpd="sng">
              <a:solidFill>
                <a:schemeClr val="tx1"/>
              </a:solidFill>
              <a:prstDash val="solid"/>
              <a:round/>
              <a:headEnd type="none" w="med" len="med"/>
              <a:tailEnd type="triangle" w="med" len="med"/>
            </a:ln>
          </p:spPr>
        </p:sp>
        <p:sp>
          <p:nvSpPr>
            <p:cNvPr id="16" name="Text Box 12"/>
            <p:cNvSpPr txBox="1"/>
            <p:nvPr/>
          </p:nvSpPr>
          <p:spPr>
            <a:xfrm>
              <a:off x="2688" y="163"/>
              <a:ext cx="246"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7" name="Text Box 13"/>
            <p:cNvSpPr txBox="1"/>
            <p:nvPr/>
          </p:nvSpPr>
          <p:spPr>
            <a:xfrm>
              <a:off x="2688" y="931"/>
              <a:ext cx="36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 name="Text Box 14"/>
            <p:cNvSpPr txBox="1"/>
            <p:nvPr/>
          </p:nvSpPr>
          <p:spPr>
            <a:xfrm>
              <a:off x="2688" y="1843"/>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 name="Text Box 15"/>
            <p:cNvSpPr txBox="1"/>
            <p:nvPr/>
          </p:nvSpPr>
          <p:spPr>
            <a:xfrm>
              <a:off x="2688" y="2707"/>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grpSp>
        <p:nvGrpSpPr>
          <p:cNvPr id="20" name="Group 16"/>
          <p:cNvGrpSpPr/>
          <p:nvPr/>
        </p:nvGrpSpPr>
        <p:grpSpPr>
          <a:xfrm>
            <a:off x="4191000" y="2386013"/>
            <a:ext cx="685800" cy="4191000"/>
            <a:chOff x="2640" y="816"/>
            <a:chExt cx="432" cy="2640"/>
          </a:xfrm>
        </p:grpSpPr>
        <p:sp>
          <p:nvSpPr>
            <p:cNvPr id="21" name="Line 17"/>
            <p:cNvSpPr/>
            <p:nvPr/>
          </p:nvSpPr>
          <p:spPr>
            <a:xfrm>
              <a:off x="2640" y="816"/>
              <a:ext cx="432" cy="0"/>
            </a:xfrm>
            <a:prstGeom prst="line">
              <a:avLst/>
            </a:prstGeom>
            <a:ln w="57150" cap="flat" cmpd="sng">
              <a:solidFill>
                <a:srgbClr val="CC3300"/>
              </a:solidFill>
              <a:prstDash val="solid"/>
              <a:round/>
              <a:headEnd type="none" w="med" len="med"/>
              <a:tailEnd type="none" w="med" len="med"/>
            </a:ln>
          </p:spPr>
        </p:sp>
        <p:sp>
          <p:nvSpPr>
            <p:cNvPr id="22" name="Line 18"/>
            <p:cNvSpPr/>
            <p:nvPr/>
          </p:nvSpPr>
          <p:spPr>
            <a:xfrm>
              <a:off x="2640" y="1296"/>
              <a:ext cx="432" cy="0"/>
            </a:xfrm>
            <a:prstGeom prst="line">
              <a:avLst/>
            </a:prstGeom>
            <a:ln w="57150" cap="flat" cmpd="sng">
              <a:solidFill>
                <a:srgbClr val="CC3300"/>
              </a:solidFill>
              <a:prstDash val="solid"/>
              <a:round/>
              <a:headEnd type="none" w="med" len="med"/>
              <a:tailEnd type="none" w="med" len="med"/>
            </a:ln>
          </p:spPr>
        </p:sp>
        <p:sp>
          <p:nvSpPr>
            <p:cNvPr id="23" name="Line 19"/>
            <p:cNvSpPr/>
            <p:nvPr/>
          </p:nvSpPr>
          <p:spPr>
            <a:xfrm>
              <a:off x="2640" y="2208"/>
              <a:ext cx="432" cy="0"/>
            </a:xfrm>
            <a:prstGeom prst="line">
              <a:avLst/>
            </a:prstGeom>
            <a:ln w="57150" cap="flat" cmpd="sng">
              <a:solidFill>
                <a:srgbClr val="CC3300"/>
              </a:solidFill>
              <a:prstDash val="solid"/>
              <a:round/>
              <a:headEnd type="none" w="med" len="med"/>
              <a:tailEnd type="none" w="med" len="med"/>
            </a:ln>
          </p:spPr>
        </p:sp>
        <p:sp>
          <p:nvSpPr>
            <p:cNvPr id="24" name="Line 20"/>
            <p:cNvSpPr/>
            <p:nvPr/>
          </p:nvSpPr>
          <p:spPr>
            <a:xfrm>
              <a:off x="2640" y="3456"/>
              <a:ext cx="432" cy="0"/>
            </a:xfrm>
            <a:prstGeom prst="line">
              <a:avLst/>
            </a:prstGeom>
            <a:ln w="57150" cap="flat" cmpd="sng">
              <a:solidFill>
                <a:srgbClr val="CC3300"/>
              </a:solidFill>
              <a:prstDash val="solid"/>
              <a:round/>
              <a:headEnd type="none" w="med" len="med"/>
              <a:tailEnd type="none" w="med" len="med"/>
            </a:ln>
          </p:spPr>
        </p:sp>
      </p:grpSp>
      <p:grpSp>
        <p:nvGrpSpPr>
          <p:cNvPr id="25" name="Group 21"/>
          <p:cNvGrpSpPr/>
          <p:nvPr/>
        </p:nvGrpSpPr>
        <p:grpSpPr>
          <a:xfrm>
            <a:off x="381000" y="1319213"/>
            <a:ext cx="3400425" cy="2860675"/>
            <a:chOff x="240" y="144"/>
            <a:chExt cx="2142" cy="1802"/>
          </a:xfrm>
        </p:grpSpPr>
        <p:grpSp>
          <p:nvGrpSpPr>
            <p:cNvPr id="26" name="Group 22"/>
            <p:cNvGrpSpPr/>
            <p:nvPr/>
          </p:nvGrpSpPr>
          <p:grpSpPr>
            <a:xfrm>
              <a:off x="240" y="144"/>
              <a:ext cx="2142" cy="1802"/>
              <a:chOff x="144" y="1776"/>
              <a:chExt cx="2142" cy="1802"/>
            </a:xfrm>
          </p:grpSpPr>
          <p:sp>
            <p:nvSpPr>
              <p:cNvPr id="27" name="Rectangle 23"/>
              <p:cNvSpPr/>
              <p:nvPr/>
            </p:nvSpPr>
            <p:spPr>
              <a:xfrm>
                <a:off x="432"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cs typeface="Times New Roman" panose="02020603050405020304" charset="0"/>
                  </a:rPr>
                  <a:t>≥1</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28" name="Oval 24"/>
              <p:cNvSpPr/>
              <p:nvPr/>
            </p:nvSpPr>
            <p:spPr>
              <a:xfrm>
                <a:off x="624"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29" name="Line 25"/>
              <p:cNvSpPr/>
              <p:nvPr/>
            </p:nvSpPr>
            <p:spPr>
              <a:xfrm>
                <a:off x="528" y="2736"/>
                <a:ext cx="0" cy="768"/>
              </a:xfrm>
              <a:prstGeom prst="line">
                <a:avLst/>
              </a:prstGeom>
              <a:ln w="28575" cap="flat" cmpd="sng">
                <a:solidFill>
                  <a:schemeClr val="tx1"/>
                </a:solidFill>
                <a:prstDash val="solid"/>
                <a:round/>
                <a:headEnd type="none" w="med" len="med"/>
                <a:tailEnd type="none" w="med" len="med"/>
              </a:ln>
            </p:spPr>
          </p:sp>
          <p:sp>
            <p:nvSpPr>
              <p:cNvPr id="30" name="Line 26"/>
              <p:cNvSpPr/>
              <p:nvPr/>
            </p:nvSpPr>
            <p:spPr>
              <a:xfrm flipV="1">
                <a:off x="672" y="1920"/>
                <a:ext cx="0" cy="432"/>
              </a:xfrm>
              <a:prstGeom prst="line">
                <a:avLst/>
              </a:prstGeom>
              <a:ln w="28575" cap="flat" cmpd="sng">
                <a:solidFill>
                  <a:schemeClr val="tx1"/>
                </a:solidFill>
                <a:prstDash val="solid"/>
                <a:round/>
                <a:headEnd type="none" w="med" len="med"/>
                <a:tailEnd type="none" w="med" len="med"/>
              </a:ln>
            </p:spPr>
          </p:sp>
          <p:sp>
            <p:nvSpPr>
              <p:cNvPr id="31" name="Rectangle 27"/>
              <p:cNvSpPr/>
              <p:nvPr/>
            </p:nvSpPr>
            <p:spPr>
              <a:xfrm>
                <a:off x="1488"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cs typeface="Times New Roman" panose="02020603050405020304" charset="0"/>
                  </a:rPr>
                  <a:t>≥1</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32" name="Oval 28"/>
              <p:cNvSpPr/>
              <p:nvPr/>
            </p:nvSpPr>
            <p:spPr>
              <a:xfrm>
                <a:off x="1680"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33" name="Line 29"/>
              <p:cNvSpPr/>
              <p:nvPr/>
            </p:nvSpPr>
            <p:spPr>
              <a:xfrm flipV="1">
                <a:off x="1728" y="1920"/>
                <a:ext cx="0" cy="432"/>
              </a:xfrm>
              <a:prstGeom prst="line">
                <a:avLst/>
              </a:prstGeom>
              <a:ln w="28575" cap="flat" cmpd="sng">
                <a:solidFill>
                  <a:schemeClr val="tx1"/>
                </a:solidFill>
                <a:prstDash val="solid"/>
                <a:round/>
                <a:headEnd type="none" w="med" len="med"/>
                <a:tailEnd type="none" w="med" len="med"/>
              </a:ln>
            </p:spPr>
          </p:sp>
          <p:sp>
            <p:nvSpPr>
              <p:cNvPr id="34" name="Line 30"/>
              <p:cNvSpPr/>
              <p:nvPr/>
            </p:nvSpPr>
            <p:spPr>
              <a:xfrm>
                <a:off x="672" y="2160"/>
                <a:ext cx="288" cy="0"/>
              </a:xfrm>
              <a:prstGeom prst="line">
                <a:avLst/>
              </a:prstGeom>
              <a:ln w="28575" cap="flat" cmpd="sng">
                <a:solidFill>
                  <a:schemeClr val="tx1"/>
                </a:solidFill>
                <a:prstDash val="solid"/>
                <a:round/>
                <a:headEnd type="none" w="med" len="med"/>
                <a:tailEnd type="none" w="med" len="med"/>
              </a:ln>
            </p:spPr>
          </p:sp>
          <p:sp>
            <p:nvSpPr>
              <p:cNvPr id="35" name="Line 31"/>
              <p:cNvSpPr/>
              <p:nvPr/>
            </p:nvSpPr>
            <p:spPr>
              <a:xfrm>
                <a:off x="1440" y="2784"/>
                <a:ext cx="0" cy="288"/>
              </a:xfrm>
              <a:prstGeom prst="line">
                <a:avLst/>
              </a:prstGeom>
              <a:ln w="28575" cap="flat" cmpd="sng">
                <a:solidFill>
                  <a:schemeClr val="tx1"/>
                </a:solidFill>
                <a:prstDash val="solid"/>
                <a:round/>
                <a:headEnd type="none" w="med" len="med"/>
                <a:tailEnd type="none" w="med" len="med"/>
              </a:ln>
            </p:spPr>
          </p:sp>
          <p:sp>
            <p:nvSpPr>
              <p:cNvPr id="36" name="Line 32"/>
              <p:cNvSpPr/>
              <p:nvPr/>
            </p:nvSpPr>
            <p:spPr>
              <a:xfrm>
                <a:off x="1488" y="2784"/>
                <a:ext cx="0" cy="288"/>
              </a:xfrm>
              <a:prstGeom prst="line">
                <a:avLst/>
              </a:prstGeom>
              <a:ln w="28575" cap="flat" cmpd="sng">
                <a:solidFill>
                  <a:schemeClr val="tx1"/>
                </a:solidFill>
                <a:prstDash val="solid"/>
                <a:round/>
                <a:headEnd type="none" w="med" len="med"/>
                <a:tailEnd type="none" w="med" len="med"/>
              </a:ln>
            </p:spPr>
          </p:sp>
          <p:sp>
            <p:nvSpPr>
              <p:cNvPr id="37" name="Line 33"/>
              <p:cNvSpPr/>
              <p:nvPr/>
            </p:nvSpPr>
            <p:spPr>
              <a:xfrm>
                <a:off x="1488" y="2928"/>
                <a:ext cx="240" cy="0"/>
              </a:xfrm>
              <a:prstGeom prst="line">
                <a:avLst/>
              </a:prstGeom>
              <a:ln w="28575" cap="flat" cmpd="sng">
                <a:solidFill>
                  <a:schemeClr val="tx1"/>
                </a:solidFill>
                <a:prstDash val="solid"/>
                <a:round/>
                <a:headEnd type="none" w="med" len="med"/>
                <a:tailEnd type="none" w="med" len="med"/>
              </a:ln>
            </p:spPr>
          </p:sp>
          <p:sp>
            <p:nvSpPr>
              <p:cNvPr id="38" name="Rectangle 34"/>
              <p:cNvSpPr/>
              <p:nvPr/>
            </p:nvSpPr>
            <p:spPr>
              <a:xfrm>
                <a:off x="1680" y="3024"/>
                <a:ext cx="96" cy="288"/>
              </a:xfrm>
              <a:prstGeom prst="rect">
                <a:avLst/>
              </a:prstGeom>
              <a:noFill/>
              <a:ln w="38100" cap="flat" cmpd="sng">
                <a:solidFill>
                  <a:schemeClr val="tx1"/>
                </a:solidFill>
                <a:prstDash val="solid"/>
                <a:miter/>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39" name="Line 35"/>
              <p:cNvSpPr/>
              <p:nvPr/>
            </p:nvSpPr>
            <p:spPr>
              <a:xfrm>
                <a:off x="1728" y="2736"/>
                <a:ext cx="0" cy="288"/>
              </a:xfrm>
              <a:prstGeom prst="line">
                <a:avLst/>
              </a:prstGeom>
              <a:ln w="28575" cap="flat" cmpd="sng">
                <a:solidFill>
                  <a:schemeClr val="tx1"/>
                </a:solidFill>
                <a:prstDash val="solid"/>
                <a:round/>
                <a:headEnd type="none" w="med" len="med"/>
                <a:tailEnd type="none" w="med" len="med"/>
              </a:ln>
            </p:spPr>
          </p:sp>
          <p:sp>
            <p:nvSpPr>
              <p:cNvPr id="40" name="Line 36"/>
              <p:cNvSpPr/>
              <p:nvPr/>
            </p:nvSpPr>
            <p:spPr>
              <a:xfrm>
                <a:off x="1728" y="3312"/>
                <a:ext cx="0" cy="192"/>
              </a:xfrm>
              <a:prstGeom prst="line">
                <a:avLst/>
              </a:prstGeom>
              <a:ln w="28575" cap="flat" cmpd="sng">
                <a:solidFill>
                  <a:schemeClr val="tx1"/>
                </a:solidFill>
                <a:prstDash val="solid"/>
                <a:round/>
                <a:headEnd type="none" w="med" len="med"/>
                <a:tailEnd type="none" w="med" len="med"/>
              </a:ln>
            </p:spPr>
          </p:sp>
          <p:sp>
            <p:nvSpPr>
              <p:cNvPr id="41" name="Line 37"/>
              <p:cNvSpPr/>
              <p:nvPr/>
            </p:nvSpPr>
            <p:spPr>
              <a:xfrm flipH="1">
                <a:off x="1440" y="2160"/>
                <a:ext cx="288" cy="0"/>
              </a:xfrm>
              <a:prstGeom prst="line">
                <a:avLst/>
              </a:prstGeom>
              <a:ln w="28575" cap="flat" cmpd="sng">
                <a:solidFill>
                  <a:schemeClr val="tx1"/>
                </a:solidFill>
                <a:prstDash val="solid"/>
                <a:round/>
                <a:headEnd type="none" w="med" len="med"/>
                <a:tailEnd type="none" w="med" len="med"/>
              </a:ln>
            </p:spPr>
          </p:sp>
          <p:sp>
            <p:nvSpPr>
              <p:cNvPr id="42" name="Line 38"/>
              <p:cNvSpPr/>
              <p:nvPr/>
            </p:nvSpPr>
            <p:spPr>
              <a:xfrm>
                <a:off x="816" y="2736"/>
                <a:ext cx="0" cy="192"/>
              </a:xfrm>
              <a:prstGeom prst="line">
                <a:avLst/>
              </a:prstGeom>
              <a:ln w="28575" cap="flat" cmpd="sng">
                <a:solidFill>
                  <a:schemeClr val="tx1"/>
                </a:solidFill>
                <a:prstDash val="solid"/>
                <a:round/>
                <a:headEnd type="none" w="med" len="med"/>
                <a:tailEnd type="none" w="med" len="med"/>
              </a:ln>
            </p:spPr>
          </p:sp>
          <p:sp>
            <p:nvSpPr>
              <p:cNvPr id="43" name="Line 39"/>
              <p:cNvSpPr/>
              <p:nvPr/>
            </p:nvSpPr>
            <p:spPr>
              <a:xfrm>
                <a:off x="816" y="2928"/>
                <a:ext cx="192" cy="0"/>
              </a:xfrm>
              <a:prstGeom prst="line">
                <a:avLst/>
              </a:prstGeom>
              <a:ln w="28575" cap="flat" cmpd="sng">
                <a:solidFill>
                  <a:schemeClr val="tx1"/>
                </a:solidFill>
                <a:prstDash val="solid"/>
                <a:round/>
                <a:headEnd type="none" w="med" len="med"/>
                <a:tailEnd type="none" w="med" len="med"/>
              </a:ln>
            </p:spPr>
          </p:sp>
          <p:sp>
            <p:nvSpPr>
              <p:cNvPr id="44" name="Line 40"/>
              <p:cNvSpPr/>
              <p:nvPr/>
            </p:nvSpPr>
            <p:spPr>
              <a:xfrm flipH="1">
                <a:off x="1008" y="2160"/>
                <a:ext cx="432" cy="768"/>
              </a:xfrm>
              <a:prstGeom prst="line">
                <a:avLst/>
              </a:prstGeom>
              <a:ln w="28575" cap="flat" cmpd="sng">
                <a:solidFill>
                  <a:schemeClr val="tx1"/>
                </a:solidFill>
                <a:prstDash val="solid"/>
                <a:round/>
                <a:headEnd type="none" w="med" len="med"/>
                <a:tailEnd type="none" w="med" len="med"/>
              </a:ln>
            </p:spPr>
          </p:sp>
          <p:sp>
            <p:nvSpPr>
              <p:cNvPr id="45" name="Line 41"/>
              <p:cNvSpPr/>
              <p:nvPr/>
            </p:nvSpPr>
            <p:spPr>
              <a:xfrm>
                <a:off x="960" y="2160"/>
                <a:ext cx="336" cy="768"/>
              </a:xfrm>
              <a:prstGeom prst="line">
                <a:avLst/>
              </a:prstGeom>
              <a:ln w="28575" cap="flat" cmpd="sng">
                <a:solidFill>
                  <a:schemeClr val="tx1"/>
                </a:solidFill>
                <a:prstDash val="solid"/>
                <a:round/>
                <a:headEnd type="none" w="med" len="med"/>
                <a:tailEnd type="none" w="med" len="med"/>
              </a:ln>
            </p:spPr>
          </p:sp>
          <p:sp>
            <p:nvSpPr>
              <p:cNvPr id="46" name="Line 42"/>
              <p:cNvSpPr/>
              <p:nvPr/>
            </p:nvSpPr>
            <p:spPr>
              <a:xfrm>
                <a:off x="1296" y="2928"/>
                <a:ext cx="144" cy="0"/>
              </a:xfrm>
              <a:prstGeom prst="line">
                <a:avLst/>
              </a:prstGeom>
              <a:ln w="28575" cap="flat" cmpd="sng">
                <a:solidFill>
                  <a:schemeClr val="tx1"/>
                </a:solidFill>
                <a:prstDash val="solid"/>
                <a:round/>
                <a:headEnd type="none" w="med" len="med"/>
                <a:tailEnd type="none" w="med" len="med"/>
              </a:ln>
            </p:spPr>
          </p:sp>
          <p:sp>
            <p:nvSpPr>
              <p:cNvPr id="47" name="Text Box 43"/>
              <p:cNvSpPr txBox="1"/>
              <p:nvPr/>
            </p:nvSpPr>
            <p:spPr>
              <a:xfrm>
                <a:off x="663" y="1802"/>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solidFill>
                    <a:srgbClr val="CC3300"/>
                  </a:solidFill>
                  <a:latin typeface="Times New Roman" panose="02020603050405020304" charset="0"/>
                  <a:ea typeface="宋体" panose="02010600030101010101" pitchFamily="2" charset="-122"/>
                  <a:cs typeface="Times New Roman" panose="02020603050405020304" charset="0"/>
                </a:endParaRPr>
              </a:p>
            </p:txBody>
          </p:sp>
          <p:sp>
            <p:nvSpPr>
              <p:cNvPr id="48" name="Text Box 44"/>
              <p:cNvSpPr txBox="1"/>
              <p:nvPr/>
            </p:nvSpPr>
            <p:spPr>
              <a:xfrm>
                <a:off x="1728" y="1776"/>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49" name="Text Box 45"/>
              <p:cNvSpPr txBox="1"/>
              <p:nvPr/>
            </p:nvSpPr>
            <p:spPr>
              <a:xfrm>
                <a:off x="1959" y="2426"/>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G</a:t>
                </a:r>
                <a:r>
                  <a:rPr lang="en-US" altLang="zh-CN" sz="2400" b="1" baseline="-25000" dirty="0">
                    <a:latin typeface="Times New Roman" panose="02020603050405020304" charset="0"/>
                    <a:ea typeface="宋体" panose="02010600030101010101" pitchFamily="2" charset="-122"/>
                    <a:cs typeface="Times New Roman" panose="02020603050405020304" charset="0"/>
                  </a:rPr>
                  <a:t>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50" name="Text Box 46"/>
              <p:cNvSpPr txBox="1"/>
              <p:nvPr/>
            </p:nvSpPr>
            <p:spPr>
              <a:xfrm>
                <a:off x="144" y="2448"/>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G</a:t>
                </a:r>
                <a:r>
                  <a:rPr lang="en-US" altLang="zh-CN" sz="2400" b="1" baseline="-25000" dirty="0">
                    <a:latin typeface="Times New Roman" panose="02020603050405020304" charset="0"/>
                    <a:ea typeface="宋体" panose="02010600030101010101" pitchFamily="2" charset="-122"/>
                    <a:cs typeface="Times New Roman" panose="02020603050405020304" charset="0"/>
                  </a:rPr>
                  <a:t>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51" name="Text Box 47"/>
              <p:cNvSpPr txBox="1"/>
              <p:nvPr/>
            </p:nvSpPr>
            <p:spPr>
              <a:xfrm>
                <a:off x="528" y="3264"/>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52" name="Text Box 48"/>
              <p:cNvSpPr txBox="1"/>
              <p:nvPr/>
            </p:nvSpPr>
            <p:spPr>
              <a:xfrm>
                <a:off x="1719" y="3290"/>
                <a:ext cx="437" cy="288"/>
              </a:xfrm>
              <a:prstGeom prst="rect">
                <a:avLst/>
              </a:prstGeom>
              <a:noFill/>
              <a:ln w="28575">
                <a:noFill/>
              </a:ln>
            </p:spPr>
            <p:txBody>
              <a:bodyPr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DD</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53" name="Text Box 49"/>
            <p:cNvSpPr txBox="1"/>
            <p:nvPr/>
          </p:nvSpPr>
          <p:spPr>
            <a:xfrm>
              <a:off x="1815" y="1149"/>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grpSp>
        <p:nvGrpSpPr>
          <p:cNvPr id="54" name="Group 66"/>
          <p:cNvGrpSpPr/>
          <p:nvPr/>
        </p:nvGrpSpPr>
        <p:grpSpPr>
          <a:xfrm>
            <a:off x="4876800" y="1700213"/>
            <a:ext cx="0" cy="4876800"/>
            <a:chOff x="3072" y="384"/>
            <a:chExt cx="0" cy="3072"/>
          </a:xfrm>
        </p:grpSpPr>
        <p:sp>
          <p:nvSpPr>
            <p:cNvPr id="55" name="Line 51"/>
            <p:cNvSpPr/>
            <p:nvPr/>
          </p:nvSpPr>
          <p:spPr>
            <a:xfrm flipV="1">
              <a:off x="3072" y="384"/>
              <a:ext cx="0" cy="432"/>
            </a:xfrm>
            <a:prstGeom prst="line">
              <a:avLst/>
            </a:prstGeom>
            <a:ln w="57150" cap="flat" cmpd="sng">
              <a:solidFill>
                <a:srgbClr val="FF00FF"/>
              </a:solidFill>
              <a:prstDash val="solid"/>
              <a:round/>
              <a:headEnd type="none" w="med" len="med"/>
              <a:tailEnd type="none" w="med" len="med"/>
            </a:ln>
          </p:spPr>
        </p:sp>
        <p:sp>
          <p:nvSpPr>
            <p:cNvPr id="56" name="Line 52"/>
            <p:cNvSpPr/>
            <p:nvPr/>
          </p:nvSpPr>
          <p:spPr>
            <a:xfrm>
              <a:off x="3072" y="1296"/>
              <a:ext cx="0" cy="432"/>
            </a:xfrm>
            <a:prstGeom prst="line">
              <a:avLst/>
            </a:prstGeom>
            <a:ln w="57150" cap="flat" cmpd="sng">
              <a:solidFill>
                <a:srgbClr val="FF00FF"/>
              </a:solidFill>
              <a:prstDash val="solid"/>
              <a:round/>
              <a:headEnd type="none" w="med" len="med"/>
              <a:tailEnd type="none" w="med" len="med"/>
            </a:ln>
          </p:spPr>
        </p:sp>
        <p:sp>
          <p:nvSpPr>
            <p:cNvPr id="57" name="Line 53"/>
            <p:cNvSpPr/>
            <p:nvPr/>
          </p:nvSpPr>
          <p:spPr>
            <a:xfrm>
              <a:off x="3072" y="2208"/>
              <a:ext cx="0" cy="432"/>
            </a:xfrm>
            <a:prstGeom prst="line">
              <a:avLst/>
            </a:prstGeom>
            <a:ln w="57150" cap="flat" cmpd="sng">
              <a:solidFill>
                <a:srgbClr val="FF00FF"/>
              </a:solidFill>
              <a:prstDash val="solid"/>
              <a:round/>
              <a:headEnd type="none" w="med" len="med"/>
              <a:tailEnd type="none" w="med" len="med"/>
            </a:ln>
          </p:spPr>
        </p:sp>
        <p:sp>
          <p:nvSpPr>
            <p:cNvPr id="58" name="Line 54"/>
            <p:cNvSpPr/>
            <p:nvPr/>
          </p:nvSpPr>
          <p:spPr>
            <a:xfrm flipV="1">
              <a:off x="3072" y="3024"/>
              <a:ext cx="0" cy="432"/>
            </a:xfrm>
            <a:prstGeom prst="line">
              <a:avLst/>
            </a:prstGeom>
            <a:ln w="57150" cap="flat" cmpd="sng">
              <a:solidFill>
                <a:srgbClr val="FF00FF"/>
              </a:solidFill>
              <a:prstDash val="solid"/>
              <a:round/>
              <a:headEnd type="none" w="med" len="med"/>
              <a:tailEnd type="none" w="med" len="med"/>
            </a:ln>
          </p:spPr>
        </p:sp>
      </p:grpSp>
      <p:sp>
        <p:nvSpPr>
          <p:cNvPr id="59" name="Text Box 55"/>
          <p:cNvSpPr txBox="1"/>
          <p:nvPr/>
        </p:nvSpPr>
        <p:spPr>
          <a:xfrm>
            <a:off x="228600" y="4443413"/>
            <a:ext cx="3810000" cy="831215"/>
          </a:xfrm>
          <a:prstGeom prst="rect">
            <a:avLst/>
          </a:prstGeom>
          <a:noFill/>
          <a:ln w="28575">
            <a:noFill/>
          </a:ln>
        </p:spPr>
        <p:txBody>
          <a:bodyPr lIns="90000" tIns="46800" rIns="90000" bIns="46800" anchor="t" anchorCtr="0">
            <a:spAutoFit/>
          </a:bodyPr>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(3) 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DD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经</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R</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向电容</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充电，</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I2</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逐渐升高；</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0" name="Text Box 56"/>
          <p:cNvSpPr txBox="1"/>
          <p:nvPr/>
        </p:nvSpPr>
        <p:spPr>
          <a:xfrm>
            <a:off x="1600200" y="1395413"/>
            <a:ext cx="333375" cy="457200"/>
          </a:xfrm>
          <a:prstGeom prst="rect">
            <a:avLst/>
          </a:prstGeom>
          <a:noFill/>
          <a:ln w="28575">
            <a:noFill/>
          </a:ln>
        </p:spPr>
        <p:txBody>
          <a:bodyPr wrap="none" lIns="90000" tIns="46800" rIns="90000" bIns="46800" anchor="t" anchorCtr="0">
            <a:spAutoFit/>
          </a:bodyPr>
          <a:p>
            <a:r>
              <a:rPr lang="en-US" altLang="zh-CN" sz="2400" b="1" dirty="0">
                <a:solidFill>
                  <a:srgbClr val="CC3300"/>
                </a:solidFill>
                <a:latin typeface="Times New Roman" panose="02020603050405020304" charset="0"/>
                <a:ea typeface="宋体" panose="02010600030101010101" pitchFamily="2" charset="-122"/>
                <a:cs typeface="Times New Roman" panose="02020603050405020304" charset="0"/>
              </a:rPr>
              <a:t>0</a:t>
            </a:r>
            <a:endParaRPr lang="en-US" altLang="zh-CN" sz="2400" b="1" dirty="0">
              <a:solidFill>
                <a:srgbClr val="CC3300"/>
              </a:solidFill>
              <a:latin typeface="Times New Roman" panose="02020603050405020304" charset="0"/>
              <a:ea typeface="宋体" panose="02010600030101010101" pitchFamily="2" charset="-122"/>
              <a:cs typeface="Times New Roman" panose="02020603050405020304" charset="0"/>
            </a:endParaRPr>
          </a:p>
        </p:txBody>
      </p:sp>
      <p:sp>
        <p:nvSpPr>
          <p:cNvPr id="61" name="Freeform 57"/>
          <p:cNvSpPr/>
          <p:nvPr/>
        </p:nvSpPr>
        <p:spPr>
          <a:xfrm>
            <a:off x="1692275" y="2030413"/>
            <a:ext cx="1223963" cy="1981200"/>
          </a:xfrm>
          <a:custGeom>
            <a:avLst/>
            <a:gdLst/>
            <a:ahLst/>
            <a:cxnLst>
              <a:cxn ang="0">
                <a:pos x="1905705665" y="2147483647"/>
              </a:cxn>
              <a:cxn ang="0">
                <a:pos x="1913150259" y="2086689375"/>
              </a:cxn>
              <a:cxn ang="0">
                <a:pos x="1637716052" y="1806952825"/>
              </a:cxn>
              <a:cxn ang="0">
                <a:pos x="952852833" y="1814512500"/>
              </a:cxn>
              <a:cxn ang="0">
                <a:pos x="714640018" y="1693545000"/>
              </a:cxn>
              <a:cxn ang="0">
                <a:pos x="0" y="0"/>
              </a:cxn>
            </a:cxnLst>
            <a:pathLst>
              <a:path w="777" h="1248">
                <a:moveTo>
                  <a:pt x="768" y="1248"/>
                </a:moveTo>
                <a:cubicBezTo>
                  <a:pt x="768" y="1178"/>
                  <a:pt x="777" y="924"/>
                  <a:pt x="771" y="828"/>
                </a:cubicBezTo>
                <a:cubicBezTo>
                  <a:pt x="765" y="732"/>
                  <a:pt x="726" y="717"/>
                  <a:pt x="660" y="717"/>
                </a:cubicBezTo>
                <a:cubicBezTo>
                  <a:pt x="594" y="717"/>
                  <a:pt x="405" y="720"/>
                  <a:pt x="384" y="720"/>
                </a:cubicBezTo>
                <a:cubicBezTo>
                  <a:pt x="363" y="720"/>
                  <a:pt x="315" y="723"/>
                  <a:pt x="288" y="672"/>
                </a:cubicBezTo>
                <a:cubicBezTo>
                  <a:pt x="261" y="621"/>
                  <a:pt x="112" y="276"/>
                  <a:pt x="0" y="0"/>
                </a:cubicBezTo>
              </a:path>
            </a:pathLst>
          </a:custGeom>
          <a:noFill/>
          <a:ln w="57150" cap="flat" cmpd="sng">
            <a:solidFill>
              <a:srgbClr val="CC3300"/>
            </a:solidFill>
            <a:prstDash val="solid"/>
            <a:round/>
            <a:headEnd type="none" w="med" len="med"/>
            <a:tailEnd type="triangle" w="med" len="med"/>
          </a:ln>
        </p:spPr>
        <p:txBody>
          <a:bodyPr/>
          <a:p>
            <a:endParaRPr lang="zh-CN" altLang="en-US">
              <a:latin typeface="Times New Roman" panose="02020603050405020304" charset="0"/>
              <a:cs typeface="Times New Roman" panose="02020603050405020304" charset="0"/>
            </a:endParaRPr>
          </a:p>
        </p:txBody>
      </p:sp>
      <p:grpSp>
        <p:nvGrpSpPr>
          <p:cNvPr id="62" name="Group 72"/>
          <p:cNvGrpSpPr/>
          <p:nvPr/>
        </p:nvGrpSpPr>
        <p:grpSpPr>
          <a:xfrm>
            <a:off x="4876800" y="1700213"/>
            <a:ext cx="990600" cy="685800"/>
            <a:chOff x="3072" y="384"/>
            <a:chExt cx="624" cy="432"/>
          </a:xfrm>
        </p:grpSpPr>
        <p:sp>
          <p:nvSpPr>
            <p:cNvPr id="63" name="Line 58"/>
            <p:cNvSpPr/>
            <p:nvPr/>
          </p:nvSpPr>
          <p:spPr>
            <a:xfrm>
              <a:off x="3072" y="384"/>
              <a:ext cx="96" cy="0"/>
            </a:xfrm>
            <a:prstGeom prst="line">
              <a:avLst/>
            </a:prstGeom>
            <a:ln w="57150" cap="flat" cmpd="sng">
              <a:solidFill>
                <a:srgbClr val="006600"/>
              </a:solidFill>
              <a:prstDash val="solid"/>
              <a:round/>
              <a:headEnd type="none" w="med" len="med"/>
              <a:tailEnd type="none" w="med" len="med"/>
            </a:ln>
          </p:spPr>
        </p:sp>
        <p:sp>
          <p:nvSpPr>
            <p:cNvPr id="64" name="Line 59"/>
            <p:cNvSpPr/>
            <p:nvPr/>
          </p:nvSpPr>
          <p:spPr>
            <a:xfrm>
              <a:off x="3168" y="384"/>
              <a:ext cx="0" cy="432"/>
            </a:xfrm>
            <a:prstGeom prst="line">
              <a:avLst/>
            </a:prstGeom>
            <a:ln w="57150" cap="flat" cmpd="sng">
              <a:solidFill>
                <a:srgbClr val="006600"/>
              </a:solidFill>
              <a:prstDash val="solid"/>
              <a:round/>
              <a:headEnd type="none" w="med" len="med"/>
              <a:tailEnd type="none" w="med" len="med"/>
            </a:ln>
          </p:spPr>
        </p:sp>
        <p:sp>
          <p:nvSpPr>
            <p:cNvPr id="65" name="Line 60"/>
            <p:cNvSpPr/>
            <p:nvPr/>
          </p:nvSpPr>
          <p:spPr>
            <a:xfrm>
              <a:off x="3168" y="816"/>
              <a:ext cx="528" cy="0"/>
            </a:xfrm>
            <a:prstGeom prst="line">
              <a:avLst/>
            </a:prstGeom>
            <a:ln w="57150" cap="flat" cmpd="sng">
              <a:solidFill>
                <a:srgbClr val="006600"/>
              </a:solidFill>
              <a:prstDash val="solid"/>
              <a:round/>
              <a:headEnd type="none" w="med" len="med"/>
              <a:tailEnd type="triangle" w="med" len="med"/>
            </a:ln>
          </p:spPr>
        </p:sp>
      </p:grpSp>
      <p:sp>
        <p:nvSpPr>
          <p:cNvPr id="66" name="Line 61"/>
          <p:cNvSpPr/>
          <p:nvPr/>
        </p:nvSpPr>
        <p:spPr>
          <a:xfrm>
            <a:off x="4876800" y="3759200"/>
            <a:ext cx="990600" cy="0"/>
          </a:xfrm>
          <a:prstGeom prst="line">
            <a:avLst/>
          </a:prstGeom>
          <a:ln w="57150" cap="flat" cmpd="sng">
            <a:solidFill>
              <a:srgbClr val="006600"/>
            </a:solidFill>
            <a:prstDash val="solid"/>
            <a:round/>
            <a:headEnd type="none" w="med" len="med"/>
            <a:tailEnd type="triangle" w="med" len="med"/>
          </a:ln>
        </p:spPr>
      </p:sp>
      <p:sp>
        <p:nvSpPr>
          <p:cNvPr id="67" name="Freeform 62"/>
          <p:cNvSpPr/>
          <p:nvPr/>
        </p:nvSpPr>
        <p:spPr>
          <a:xfrm>
            <a:off x="4876800" y="4900613"/>
            <a:ext cx="990600" cy="381000"/>
          </a:xfrm>
          <a:custGeom>
            <a:avLst/>
            <a:gdLst/>
            <a:ahLst/>
            <a:cxnLst>
              <a:cxn ang="0">
                <a:pos x="0" y="756046875"/>
              </a:cxn>
              <a:cxn ang="0">
                <a:pos x="1572577500" y="0"/>
              </a:cxn>
            </a:cxnLst>
            <a:pathLst>
              <a:path w="624" h="192">
                <a:moveTo>
                  <a:pt x="0" y="192"/>
                </a:moveTo>
                <a:cubicBezTo>
                  <a:pt x="158" y="113"/>
                  <a:pt x="405" y="31"/>
                  <a:pt x="624" y="0"/>
                </a:cubicBezTo>
              </a:path>
            </a:pathLst>
          </a:custGeom>
          <a:noFill/>
          <a:ln w="57150" cap="flat" cmpd="sng">
            <a:solidFill>
              <a:srgbClr val="006600"/>
            </a:solidFill>
            <a:prstDash val="solid"/>
            <a:round/>
            <a:headEnd type="none" w="med" len="med"/>
            <a:tailEnd type="triangle" w="med" len="med"/>
          </a:ln>
        </p:spPr>
        <p:txBody>
          <a:bodyPr/>
          <a:p>
            <a:endParaRPr lang="zh-CN" altLang="en-US">
              <a:latin typeface="Times New Roman" panose="02020603050405020304" charset="0"/>
              <a:cs typeface="Times New Roman" panose="02020603050405020304" charset="0"/>
            </a:endParaRPr>
          </a:p>
        </p:txBody>
      </p:sp>
      <p:sp>
        <p:nvSpPr>
          <p:cNvPr id="68" name="Line 64"/>
          <p:cNvSpPr/>
          <p:nvPr/>
        </p:nvSpPr>
        <p:spPr>
          <a:xfrm>
            <a:off x="4876800" y="5891213"/>
            <a:ext cx="990600" cy="0"/>
          </a:xfrm>
          <a:prstGeom prst="line">
            <a:avLst/>
          </a:prstGeom>
          <a:ln w="57150" cap="flat" cmpd="sng">
            <a:solidFill>
              <a:srgbClr val="006600"/>
            </a:solidFill>
            <a:prstDash val="solid"/>
            <a:round/>
            <a:headEnd type="none" w="med" len="med"/>
            <a:tailEnd type="triangle" w="med" len="med"/>
          </a:ln>
        </p:spPr>
      </p:sp>
      <p:sp>
        <p:nvSpPr>
          <p:cNvPr id="69" name="Line 65"/>
          <p:cNvSpPr/>
          <p:nvPr/>
        </p:nvSpPr>
        <p:spPr>
          <a:xfrm>
            <a:off x="5867400" y="2386013"/>
            <a:ext cx="0" cy="4267200"/>
          </a:xfrm>
          <a:prstGeom prst="line">
            <a:avLst/>
          </a:prstGeom>
          <a:ln w="12700" cap="flat" cmpd="sng">
            <a:solidFill>
              <a:schemeClr val="tx1"/>
            </a:solidFill>
            <a:prstDash val="lgDash"/>
            <a:round/>
            <a:headEnd type="none" w="med" len="med"/>
            <a:tailEnd type="none" w="med" len="med"/>
          </a:ln>
        </p:spPr>
      </p:sp>
      <p:grpSp>
        <p:nvGrpSpPr>
          <p:cNvPr id="70" name="Group 73"/>
          <p:cNvGrpSpPr/>
          <p:nvPr/>
        </p:nvGrpSpPr>
        <p:grpSpPr>
          <a:xfrm>
            <a:off x="4191000" y="4484688"/>
            <a:ext cx="1676400" cy="457200"/>
            <a:chOff x="2640" y="2138"/>
            <a:chExt cx="1056" cy="288"/>
          </a:xfrm>
        </p:grpSpPr>
        <p:sp>
          <p:nvSpPr>
            <p:cNvPr id="71" name="Line 63"/>
            <p:cNvSpPr/>
            <p:nvPr/>
          </p:nvSpPr>
          <p:spPr>
            <a:xfrm>
              <a:off x="2640" y="2400"/>
              <a:ext cx="1056" cy="0"/>
            </a:xfrm>
            <a:prstGeom prst="line">
              <a:avLst/>
            </a:prstGeom>
            <a:ln w="12700" cap="flat" cmpd="sng">
              <a:solidFill>
                <a:schemeClr val="tx1"/>
              </a:solidFill>
              <a:prstDash val="lgDash"/>
              <a:round/>
              <a:headEnd type="none" w="med" len="med"/>
              <a:tailEnd type="none" w="med" len="med"/>
            </a:ln>
          </p:spPr>
        </p:sp>
        <p:sp>
          <p:nvSpPr>
            <p:cNvPr id="72" name="Text Box 68"/>
            <p:cNvSpPr txBox="1"/>
            <p:nvPr/>
          </p:nvSpPr>
          <p:spPr>
            <a:xfrm>
              <a:off x="3207" y="2138"/>
              <a:ext cx="438"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73" name="Text Box 71"/>
          <p:cNvSpPr txBox="1"/>
          <p:nvPr/>
        </p:nvSpPr>
        <p:spPr>
          <a:xfrm>
            <a:off x="228600" y="5510213"/>
            <a:ext cx="3505200" cy="1187450"/>
          </a:xfrm>
          <a:prstGeom prst="rect">
            <a:avLst/>
          </a:prstGeom>
          <a:noFill/>
          <a:ln w="28575">
            <a:noFill/>
          </a:ln>
        </p:spPr>
        <p:txBody>
          <a:bodyPr lIns="90000" tIns="46800" rIns="90000" bIns="46800" anchor="t" anchorCtr="0">
            <a:spAutoFit/>
          </a:bodyPr>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(4)</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当</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I2</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阈值电压</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th</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时，电路状态将发生突变：</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74" name="Text Box 78"/>
          <p:cNvSpPr txBox="1"/>
          <p:nvPr/>
        </p:nvSpPr>
        <p:spPr>
          <a:xfrm>
            <a:off x="2493963" y="3127375"/>
            <a:ext cx="384175" cy="519113"/>
          </a:xfrm>
          <a:prstGeom prst="rect">
            <a:avLst/>
          </a:prstGeom>
          <a:noFill/>
          <a:ln w="28575">
            <a:noFill/>
          </a:ln>
        </p:spPr>
        <p:txBody>
          <a:bodyPr wrap="none" lIns="90000" tIns="46800" rIns="90000" bIns="46800" anchor="t" anchorCtr="0">
            <a:spAutoFit/>
          </a:bodyPr>
          <a:p>
            <a:r>
              <a:rPr lang="en-US" altLang="zh-CN" b="1" dirty="0">
                <a:solidFill>
                  <a:srgbClr val="0033CC"/>
                </a:solidFill>
                <a:latin typeface="Times New Roman" panose="02020603050405020304" charset="0"/>
                <a:ea typeface="宋体" panose="02010600030101010101" pitchFamily="2" charset="-122"/>
                <a:cs typeface="Times New Roman" panose="02020603050405020304" charset="0"/>
              </a:rPr>
              <a:t>+</a:t>
            </a:r>
            <a:endParaRPr lang="en-US" altLang="zh-CN" b="1" dirty="0">
              <a:solidFill>
                <a:srgbClr val="0033CC"/>
              </a:solidFill>
              <a:latin typeface="Times New Roman" panose="02020603050405020304" charset="0"/>
              <a:ea typeface="宋体" panose="02010600030101010101" pitchFamily="2" charset="-122"/>
              <a:cs typeface="Times New Roman" panose="02020603050405020304" charset="0"/>
            </a:endParaRPr>
          </a:p>
        </p:txBody>
      </p:sp>
      <p:sp>
        <p:nvSpPr>
          <p:cNvPr id="75" name="Text Box 79"/>
          <p:cNvSpPr txBox="1"/>
          <p:nvPr/>
        </p:nvSpPr>
        <p:spPr>
          <a:xfrm>
            <a:off x="2051050" y="3119438"/>
            <a:ext cx="436563" cy="396875"/>
          </a:xfrm>
          <a:prstGeom prst="rect">
            <a:avLst/>
          </a:prstGeom>
          <a:noFill/>
          <a:ln w="28575">
            <a:noFill/>
          </a:ln>
        </p:spPr>
        <p:txBody>
          <a:bodyPr wrap="none" lIns="90000" tIns="46800" rIns="90000" bIns="46800" anchor="t" anchorCtr="0">
            <a:spAutoFit/>
          </a:bodyPr>
          <a:p>
            <a:r>
              <a:rPr lang="zh-CN" altLang="en-US" sz="2000" b="1" dirty="0">
                <a:solidFill>
                  <a:srgbClr val="0033CC"/>
                </a:solidFill>
                <a:latin typeface="Times New Roman" panose="02020603050405020304" charset="0"/>
                <a:ea typeface="宋体" panose="02010600030101010101" pitchFamily="2" charset="-122"/>
              </a:rPr>
              <a:t>－</a:t>
            </a:r>
            <a:endParaRPr lang="zh-CN" altLang="en-US" sz="2000" b="1" dirty="0">
              <a:solidFill>
                <a:srgbClr val="0033CC"/>
              </a:solidFill>
              <a:latin typeface="Times New Roman" panose="02020603050405020304" charset="0"/>
              <a:ea typeface="宋体" panose="02010600030101010101" pitchFamily="2" charset="-122"/>
            </a:endParaRPr>
          </a:p>
        </p:txBody>
      </p:sp>
      <p:sp>
        <p:nvSpPr>
          <p:cNvPr id="76" name="Line 81"/>
          <p:cNvSpPr/>
          <p:nvPr/>
        </p:nvSpPr>
        <p:spPr>
          <a:xfrm flipH="1">
            <a:off x="2665413" y="2822575"/>
            <a:ext cx="12700" cy="347663"/>
          </a:xfrm>
          <a:prstGeom prst="line">
            <a:avLst/>
          </a:prstGeom>
          <a:ln w="38100" cap="flat" cmpd="sng">
            <a:solidFill>
              <a:schemeClr val="tx1"/>
            </a:solidFill>
            <a:prstDash val="solid"/>
            <a:round/>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wipe(right)">
                                      <p:cBhvr>
                                        <p:cTn id="12" dur="5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wipe(left)">
                                      <p:cBhvr>
                                        <p:cTn id="17" dur="500"/>
                                        <p:tgtEl>
                                          <p:spTgt spid="67"/>
                                        </p:tgtEl>
                                      </p:cBhvr>
                                    </p:animEffect>
                                  </p:childTnLst>
                                </p:cTn>
                              </p:par>
                            </p:childTnLst>
                          </p:cTn>
                        </p:par>
                        <p:par>
                          <p:cTn id="18" fill="hold">
                            <p:stCondLst>
                              <p:cond delay="500"/>
                            </p:stCondLst>
                            <p:childTnLst>
                              <p:par>
                                <p:cTn id="19" presetID="22" presetClass="entr" presetSubtype="1" fill="hold" grpId="0" nodeType="afterEffect">
                                  <p:stCondLst>
                                    <p:cond delay="1000"/>
                                  </p:stCondLst>
                                  <p:childTnLst>
                                    <p:set>
                                      <p:cBhvr>
                                        <p:cTn id="20" dur="1" fill="hold">
                                          <p:stCondLst>
                                            <p:cond delay="0"/>
                                          </p:stCondLst>
                                        </p:cTn>
                                        <p:tgtEl>
                                          <p:spTgt spid="73"/>
                                        </p:tgtEl>
                                        <p:attrNameLst>
                                          <p:attrName>style.visibility</p:attrName>
                                        </p:attrNameLst>
                                      </p:cBhvr>
                                      <p:to>
                                        <p:strVal val="visible"/>
                                      </p:to>
                                    </p:set>
                                    <p:animEffect transition="in" filter="wipe(up)">
                                      <p:cBhvr>
                                        <p:cTn id="21" dur="500"/>
                                        <p:tgtEl>
                                          <p:spTgt spid="7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6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7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905" y="5968365"/>
            <a:ext cx="9144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8434" name="Group 2"/>
          <p:cNvGrpSpPr/>
          <p:nvPr/>
        </p:nvGrpSpPr>
        <p:grpSpPr>
          <a:xfrm>
            <a:off x="4191000" y="1020763"/>
            <a:ext cx="4343400" cy="5303837"/>
            <a:chOff x="2640" y="163"/>
            <a:chExt cx="2736" cy="3341"/>
          </a:xfrm>
        </p:grpSpPr>
        <p:sp>
          <p:nvSpPr>
            <p:cNvPr id="18435" name="Line 3"/>
            <p:cNvSpPr/>
            <p:nvPr/>
          </p:nvSpPr>
          <p:spPr>
            <a:xfrm flipV="1">
              <a:off x="2640" y="240"/>
              <a:ext cx="0" cy="624"/>
            </a:xfrm>
            <a:prstGeom prst="line">
              <a:avLst/>
            </a:prstGeom>
            <a:ln w="28575" cap="flat" cmpd="sng">
              <a:solidFill>
                <a:schemeClr val="tx1"/>
              </a:solidFill>
              <a:prstDash val="solid"/>
              <a:round/>
              <a:headEnd type="none" w="med" len="med"/>
              <a:tailEnd type="triangle" w="med" len="med"/>
            </a:ln>
          </p:spPr>
        </p:sp>
        <p:sp>
          <p:nvSpPr>
            <p:cNvPr id="18436" name="Line 4"/>
            <p:cNvSpPr/>
            <p:nvPr/>
          </p:nvSpPr>
          <p:spPr>
            <a:xfrm>
              <a:off x="2640" y="864"/>
              <a:ext cx="2736" cy="0"/>
            </a:xfrm>
            <a:prstGeom prst="line">
              <a:avLst/>
            </a:prstGeom>
            <a:ln w="28575" cap="flat" cmpd="sng">
              <a:solidFill>
                <a:schemeClr val="tx1"/>
              </a:solidFill>
              <a:prstDash val="solid"/>
              <a:round/>
              <a:headEnd type="none" w="med" len="med"/>
              <a:tailEnd type="triangle" w="med" len="med"/>
            </a:ln>
          </p:spPr>
        </p:sp>
        <p:sp>
          <p:nvSpPr>
            <p:cNvPr id="18437" name="Line 5"/>
            <p:cNvSpPr/>
            <p:nvPr/>
          </p:nvSpPr>
          <p:spPr>
            <a:xfrm flipV="1">
              <a:off x="2640" y="1056"/>
              <a:ext cx="0" cy="672"/>
            </a:xfrm>
            <a:prstGeom prst="line">
              <a:avLst/>
            </a:prstGeom>
            <a:ln w="28575" cap="flat" cmpd="sng">
              <a:solidFill>
                <a:schemeClr val="tx1"/>
              </a:solidFill>
              <a:prstDash val="solid"/>
              <a:round/>
              <a:headEnd type="none" w="med" len="med"/>
              <a:tailEnd type="triangle" w="med" len="med"/>
            </a:ln>
          </p:spPr>
        </p:sp>
        <p:sp>
          <p:nvSpPr>
            <p:cNvPr id="18438" name="Line 6"/>
            <p:cNvSpPr/>
            <p:nvPr/>
          </p:nvSpPr>
          <p:spPr>
            <a:xfrm>
              <a:off x="2640" y="1728"/>
              <a:ext cx="2736" cy="0"/>
            </a:xfrm>
            <a:prstGeom prst="line">
              <a:avLst/>
            </a:prstGeom>
            <a:ln w="28575" cap="flat" cmpd="sng">
              <a:solidFill>
                <a:schemeClr val="tx1"/>
              </a:solidFill>
              <a:prstDash val="solid"/>
              <a:round/>
              <a:headEnd type="none" w="med" len="med"/>
              <a:tailEnd type="triangle" w="med" len="med"/>
            </a:ln>
          </p:spPr>
        </p:sp>
        <p:sp>
          <p:nvSpPr>
            <p:cNvPr id="18439" name="Line 7"/>
            <p:cNvSpPr/>
            <p:nvPr/>
          </p:nvSpPr>
          <p:spPr>
            <a:xfrm flipV="1">
              <a:off x="2640" y="1872"/>
              <a:ext cx="0" cy="768"/>
            </a:xfrm>
            <a:prstGeom prst="line">
              <a:avLst/>
            </a:prstGeom>
            <a:ln w="28575" cap="flat" cmpd="sng">
              <a:solidFill>
                <a:schemeClr val="tx1"/>
              </a:solidFill>
              <a:prstDash val="solid"/>
              <a:round/>
              <a:headEnd type="none" w="med" len="med"/>
              <a:tailEnd type="triangle" w="med" len="med"/>
            </a:ln>
          </p:spPr>
        </p:sp>
        <p:sp>
          <p:nvSpPr>
            <p:cNvPr id="18440" name="Line 8"/>
            <p:cNvSpPr/>
            <p:nvPr/>
          </p:nvSpPr>
          <p:spPr>
            <a:xfrm>
              <a:off x="2640" y="2640"/>
              <a:ext cx="2736" cy="0"/>
            </a:xfrm>
            <a:prstGeom prst="line">
              <a:avLst/>
            </a:prstGeom>
            <a:ln w="28575" cap="flat" cmpd="sng">
              <a:solidFill>
                <a:schemeClr val="tx1"/>
              </a:solidFill>
              <a:prstDash val="solid"/>
              <a:round/>
              <a:headEnd type="none" w="med" len="med"/>
              <a:tailEnd type="triangle" w="med" len="med"/>
            </a:ln>
          </p:spPr>
        </p:sp>
        <p:sp>
          <p:nvSpPr>
            <p:cNvPr id="18441" name="Line 9"/>
            <p:cNvSpPr/>
            <p:nvPr/>
          </p:nvSpPr>
          <p:spPr>
            <a:xfrm flipV="1">
              <a:off x="2640" y="2784"/>
              <a:ext cx="0" cy="720"/>
            </a:xfrm>
            <a:prstGeom prst="line">
              <a:avLst/>
            </a:prstGeom>
            <a:ln w="28575" cap="flat" cmpd="sng">
              <a:solidFill>
                <a:schemeClr val="tx1"/>
              </a:solidFill>
              <a:prstDash val="solid"/>
              <a:round/>
              <a:headEnd type="none" w="med" len="med"/>
              <a:tailEnd type="triangle" w="med" len="med"/>
            </a:ln>
          </p:spPr>
        </p:sp>
        <p:sp>
          <p:nvSpPr>
            <p:cNvPr id="18442" name="Line 10"/>
            <p:cNvSpPr/>
            <p:nvPr/>
          </p:nvSpPr>
          <p:spPr>
            <a:xfrm>
              <a:off x="2640" y="3504"/>
              <a:ext cx="2736" cy="0"/>
            </a:xfrm>
            <a:prstGeom prst="line">
              <a:avLst/>
            </a:prstGeom>
            <a:ln w="28575" cap="flat" cmpd="sng">
              <a:solidFill>
                <a:schemeClr val="tx1"/>
              </a:solidFill>
              <a:prstDash val="solid"/>
              <a:round/>
              <a:headEnd type="none" w="med" len="med"/>
              <a:tailEnd type="triangle" w="med" len="med"/>
            </a:ln>
          </p:spPr>
        </p:sp>
        <p:sp>
          <p:nvSpPr>
            <p:cNvPr id="18443" name="Text Box 11"/>
            <p:cNvSpPr txBox="1"/>
            <p:nvPr/>
          </p:nvSpPr>
          <p:spPr>
            <a:xfrm>
              <a:off x="2688" y="163"/>
              <a:ext cx="24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44" name="Text Box 12"/>
            <p:cNvSpPr txBox="1"/>
            <p:nvPr/>
          </p:nvSpPr>
          <p:spPr>
            <a:xfrm>
              <a:off x="2688" y="931"/>
              <a:ext cx="36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45" name="Text Box 13"/>
            <p:cNvSpPr txBox="1"/>
            <p:nvPr/>
          </p:nvSpPr>
          <p:spPr>
            <a:xfrm>
              <a:off x="2688" y="1843"/>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46" name="Text Box 14"/>
            <p:cNvSpPr txBox="1"/>
            <p:nvPr/>
          </p:nvSpPr>
          <p:spPr>
            <a:xfrm>
              <a:off x="2688" y="2707"/>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grpSp>
        <p:nvGrpSpPr>
          <p:cNvPr id="18447" name="Group 15"/>
          <p:cNvGrpSpPr/>
          <p:nvPr/>
        </p:nvGrpSpPr>
        <p:grpSpPr>
          <a:xfrm>
            <a:off x="4191000" y="2057400"/>
            <a:ext cx="685800" cy="4191000"/>
            <a:chOff x="2640" y="816"/>
            <a:chExt cx="432" cy="2640"/>
          </a:xfrm>
        </p:grpSpPr>
        <p:sp>
          <p:nvSpPr>
            <p:cNvPr id="18448" name="Line 16"/>
            <p:cNvSpPr/>
            <p:nvPr/>
          </p:nvSpPr>
          <p:spPr>
            <a:xfrm>
              <a:off x="2640" y="816"/>
              <a:ext cx="432" cy="0"/>
            </a:xfrm>
            <a:prstGeom prst="line">
              <a:avLst/>
            </a:prstGeom>
            <a:ln w="57150" cap="flat" cmpd="sng">
              <a:solidFill>
                <a:srgbClr val="CC3300"/>
              </a:solidFill>
              <a:prstDash val="solid"/>
              <a:round/>
              <a:headEnd type="none" w="med" len="med"/>
              <a:tailEnd type="none" w="med" len="med"/>
            </a:ln>
          </p:spPr>
        </p:sp>
        <p:sp>
          <p:nvSpPr>
            <p:cNvPr id="18449" name="Line 17"/>
            <p:cNvSpPr/>
            <p:nvPr/>
          </p:nvSpPr>
          <p:spPr>
            <a:xfrm>
              <a:off x="2640" y="1296"/>
              <a:ext cx="432" cy="0"/>
            </a:xfrm>
            <a:prstGeom prst="line">
              <a:avLst/>
            </a:prstGeom>
            <a:ln w="57150" cap="flat" cmpd="sng">
              <a:solidFill>
                <a:srgbClr val="CC3300"/>
              </a:solidFill>
              <a:prstDash val="solid"/>
              <a:round/>
              <a:headEnd type="none" w="med" len="med"/>
              <a:tailEnd type="none" w="med" len="med"/>
            </a:ln>
          </p:spPr>
        </p:sp>
        <p:sp>
          <p:nvSpPr>
            <p:cNvPr id="18450" name="Line 18"/>
            <p:cNvSpPr/>
            <p:nvPr/>
          </p:nvSpPr>
          <p:spPr>
            <a:xfrm>
              <a:off x="2640" y="2208"/>
              <a:ext cx="432" cy="0"/>
            </a:xfrm>
            <a:prstGeom prst="line">
              <a:avLst/>
            </a:prstGeom>
            <a:ln w="57150" cap="flat" cmpd="sng">
              <a:solidFill>
                <a:srgbClr val="CC3300"/>
              </a:solidFill>
              <a:prstDash val="solid"/>
              <a:round/>
              <a:headEnd type="none" w="med" len="med"/>
              <a:tailEnd type="none" w="med" len="med"/>
            </a:ln>
          </p:spPr>
        </p:sp>
        <p:sp>
          <p:nvSpPr>
            <p:cNvPr id="18451" name="Line 19"/>
            <p:cNvSpPr/>
            <p:nvPr/>
          </p:nvSpPr>
          <p:spPr>
            <a:xfrm>
              <a:off x="2640" y="3456"/>
              <a:ext cx="432" cy="0"/>
            </a:xfrm>
            <a:prstGeom prst="line">
              <a:avLst/>
            </a:prstGeom>
            <a:ln w="57150" cap="flat" cmpd="sng">
              <a:solidFill>
                <a:srgbClr val="CC3300"/>
              </a:solidFill>
              <a:prstDash val="solid"/>
              <a:round/>
              <a:headEnd type="none" w="med" len="med"/>
              <a:tailEnd type="none" w="med" len="med"/>
            </a:ln>
          </p:spPr>
        </p:sp>
      </p:grpSp>
      <p:grpSp>
        <p:nvGrpSpPr>
          <p:cNvPr id="18452" name="Group 20"/>
          <p:cNvGrpSpPr/>
          <p:nvPr/>
        </p:nvGrpSpPr>
        <p:grpSpPr>
          <a:xfrm>
            <a:off x="381000" y="1114425"/>
            <a:ext cx="3400425" cy="2860675"/>
            <a:chOff x="240" y="144"/>
            <a:chExt cx="2142" cy="1802"/>
          </a:xfrm>
        </p:grpSpPr>
        <p:grpSp>
          <p:nvGrpSpPr>
            <p:cNvPr id="18453" name="Group 21"/>
            <p:cNvGrpSpPr/>
            <p:nvPr/>
          </p:nvGrpSpPr>
          <p:grpSpPr>
            <a:xfrm>
              <a:off x="240" y="144"/>
              <a:ext cx="2142" cy="1802"/>
              <a:chOff x="144" y="1776"/>
              <a:chExt cx="2142" cy="1802"/>
            </a:xfrm>
          </p:grpSpPr>
          <p:sp>
            <p:nvSpPr>
              <p:cNvPr id="18454" name="Rectangle 22"/>
              <p:cNvSpPr/>
              <p:nvPr/>
            </p:nvSpPr>
            <p:spPr>
              <a:xfrm>
                <a:off x="432"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cs typeface="Times New Roman" panose="02020603050405020304" charset="0"/>
                  </a:rPr>
                  <a:t>≥1</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18455" name="Oval 23"/>
              <p:cNvSpPr/>
              <p:nvPr/>
            </p:nvSpPr>
            <p:spPr>
              <a:xfrm>
                <a:off x="624"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8456" name="Line 24"/>
              <p:cNvSpPr/>
              <p:nvPr/>
            </p:nvSpPr>
            <p:spPr>
              <a:xfrm>
                <a:off x="528" y="2736"/>
                <a:ext cx="0" cy="768"/>
              </a:xfrm>
              <a:prstGeom prst="line">
                <a:avLst/>
              </a:prstGeom>
              <a:ln w="28575" cap="flat" cmpd="sng">
                <a:solidFill>
                  <a:schemeClr val="tx1"/>
                </a:solidFill>
                <a:prstDash val="solid"/>
                <a:round/>
                <a:headEnd type="none" w="med" len="med"/>
                <a:tailEnd type="none" w="med" len="med"/>
              </a:ln>
            </p:spPr>
          </p:sp>
          <p:sp>
            <p:nvSpPr>
              <p:cNvPr id="18457" name="Line 25"/>
              <p:cNvSpPr/>
              <p:nvPr/>
            </p:nvSpPr>
            <p:spPr>
              <a:xfrm flipV="1">
                <a:off x="672" y="1920"/>
                <a:ext cx="0" cy="432"/>
              </a:xfrm>
              <a:prstGeom prst="line">
                <a:avLst/>
              </a:prstGeom>
              <a:ln w="28575" cap="flat" cmpd="sng">
                <a:solidFill>
                  <a:schemeClr val="tx1"/>
                </a:solidFill>
                <a:prstDash val="solid"/>
                <a:round/>
                <a:headEnd type="none" w="med" len="med"/>
                <a:tailEnd type="none" w="med" len="med"/>
              </a:ln>
            </p:spPr>
          </p:sp>
          <p:sp>
            <p:nvSpPr>
              <p:cNvPr id="18458" name="Rectangle 26"/>
              <p:cNvSpPr/>
              <p:nvPr/>
            </p:nvSpPr>
            <p:spPr>
              <a:xfrm>
                <a:off x="1488"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cs typeface="Times New Roman" panose="02020603050405020304" charset="0"/>
                  </a:rPr>
                  <a:t>≥1</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18459" name="Oval 27"/>
              <p:cNvSpPr/>
              <p:nvPr/>
            </p:nvSpPr>
            <p:spPr>
              <a:xfrm>
                <a:off x="1680"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8460" name="Line 28"/>
              <p:cNvSpPr/>
              <p:nvPr/>
            </p:nvSpPr>
            <p:spPr>
              <a:xfrm flipV="1">
                <a:off x="1728" y="1920"/>
                <a:ext cx="0" cy="432"/>
              </a:xfrm>
              <a:prstGeom prst="line">
                <a:avLst/>
              </a:prstGeom>
              <a:ln w="28575" cap="flat" cmpd="sng">
                <a:solidFill>
                  <a:schemeClr val="tx1"/>
                </a:solidFill>
                <a:prstDash val="solid"/>
                <a:round/>
                <a:headEnd type="none" w="med" len="med"/>
                <a:tailEnd type="none" w="med" len="med"/>
              </a:ln>
            </p:spPr>
          </p:sp>
          <p:sp>
            <p:nvSpPr>
              <p:cNvPr id="18461" name="Line 29"/>
              <p:cNvSpPr/>
              <p:nvPr/>
            </p:nvSpPr>
            <p:spPr>
              <a:xfrm>
                <a:off x="672" y="2160"/>
                <a:ext cx="288" cy="0"/>
              </a:xfrm>
              <a:prstGeom prst="line">
                <a:avLst/>
              </a:prstGeom>
              <a:ln w="28575" cap="flat" cmpd="sng">
                <a:solidFill>
                  <a:schemeClr val="tx1"/>
                </a:solidFill>
                <a:prstDash val="solid"/>
                <a:round/>
                <a:headEnd type="none" w="med" len="med"/>
                <a:tailEnd type="none" w="med" len="med"/>
              </a:ln>
            </p:spPr>
          </p:sp>
          <p:sp>
            <p:nvSpPr>
              <p:cNvPr id="18462" name="Line 30"/>
              <p:cNvSpPr/>
              <p:nvPr/>
            </p:nvSpPr>
            <p:spPr>
              <a:xfrm>
                <a:off x="1440" y="2784"/>
                <a:ext cx="0" cy="288"/>
              </a:xfrm>
              <a:prstGeom prst="line">
                <a:avLst/>
              </a:prstGeom>
              <a:ln w="28575" cap="flat" cmpd="sng">
                <a:solidFill>
                  <a:schemeClr val="tx1"/>
                </a:solidFill>
                <a:prstDash val="solid"/>
                <a:round/>
                <a:headEnd type="none" w="med" len="med"/>
                <a:tailEnd type="none" w="med" len="med"/>
              </a:ln>
            </p:spPr>
          </p:sp>
          <p:sp>
            <p:nvSpPr>
              <p:cNvPr id="18463" name="Line 31"/>
              <p:cNvSpPr/>
              <p:nvPr/>
            </p:nvSpPr>
            <p:spPr>
              <a:xfrm>
                <a:off x="1488" y="2784"/>
                <a:ext cx="0" cy="288"/>
              </a:xfrm>
              <a:prstGeom prst="line">
                <a:avLst/>
              </a:prstGeom>
              <a:ln w="28575" cap="flat" cmpd="sng">
                <a:solidFill>
                  <a:schemeClr val="tx1"/>
                </a:solidFill>
                <a:prstDash val="solid"/>
                <a:round/>
                <a:headEnd type="none" w="med" len="med"/>
                <a:tailEnd type="none" w="med" len="med"/>
              </a:ln>
            </p:spPr>
          </p:sp>
          <p:sp>
            <p:nvSpPr>
              <p:cNvPr id="18464" name="Line 32"/>
              <p:cNvSpPr/>
              <p:nvPr/>
            </p:nvSpPr>
            <p:spPr>
              <a:xfrm>
                <a:off x="1488" y="2928"/>
                <a:ext cx="240" cy="0"/>
              </a:xfrm>
              <a:prstGeom prst="line">
                <a:avLst/>
              </a:prstGeom>
              <a:ln w="28575" cap="flat" cmpd="sng">
                <a:solidFill>
                  <a:schemeClr val="tx1"/>
                </a:solidFill>
                <a:prstDash val="solid"/>
                <a:round/>
                <a:headEnd type="none" w="med" len="med"/>
                <a:tailEnd type="none" w="med" len="med"/>
              </a:ln>
            </p:spPr>
          </p:sp>
          <p:sp>
            <p:nvSpPr>
              <p:cNvPr id="18465" name="Rectangle 33"/>
              <p:cNvSpPr/>
              <p:nvPr/>
            </p:nvSpPr>
            <p:spPr>
              <a:xfrm>
                <a:off x="1680" y="3024"/>
                <a:ext cx="96" cy="288"/>
              </a:xfrm>
              <a:prstGeom prst="rect">
                <a:avLst/>
              </a:prstGeom>
              <a:noFill/>
              <a:ln w="28575" cap="flat" cmpd="sng">
                <a:solidFill>
                  <a:schemeClr val="tx1"/>
                </a:solidFill>
                <a:prstDash val="solid"/>
                <a:miter/>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8466" name="Line 34"/>
              <p:cNvSpPr/>
              <p:nvPr/>
            </p:nvSpPr>
            <p:spPr>
              <a:xfrm>
                <a:off x="1728" y="2736"/>
                <a:ext cx="0" cy="288"/>
              </a:xfrm>
              <a:prstGeom prst="line">
                <a:avLst/>
              </a:prstGeom>
              <a:ln w="28575" cap="flat" cmpd="sng">
                <a:solidFill>
                  <a:schemeClr val="tx1"/>
                </a:solidFill>
                <a:prstDash val="solid"/>
                <a:round/>
                <a:headEnd type="none" w="med" len="med"/>
                <a:tailEnd type="none" w="med" len="med"/>
              </a:ln>
            </p:spPr>
          </p:sp>
          <p:sp>
            <p:nvSpPr>
              <p:cNvPr id="18467" name="Line 35"/>
              <p:cNvSpPr/>
              <p:nvPr/>
            </p:nvSpPr>
            <p:spPr>
              <a:xfrm>
                <a:off x="1728" y="3312"/>
                <a:ext cx="0" cy="192"/>
              </a:xfrm>
              <a:prstGeom prst="line">
                <a:avLst/>
              </a:prstGeom>
              <a:ln w="28575" cap="flat" cmpd="sng">
                <a:solidFill>
                  <a:schemeClr val="tx1"/>
                </a:solidFill>
                <a:prstDash val="solid"/>
                <a:round/>
                <a:headEnd type="none" w="med" len="med"/>
                <a:tailEnd type="none" w="med" len="med"/>
              </a:ln>
            </p:spPr>
          </p:sp>
          <p:sp>
            <p:nvSpPr>
              <p:cNvPr id="18468" name="Line 36"/>
              <p:cNvSpPr/>
              <p:nvPr/>
            </p:nvSpPr>
            <p:spPr>
              <a:xfrm flipH="1">
                <a:off x="1440" y="2160"/>
                <a:ext cx="288" cy="0"/>
              </a:xfrm>
              <a:prstGeom prst="line">
                <a:avLst/>
              </a:prstGeom>
              <a:ln w="28575" cap="flat" cmpd="sng">
                <a:solidFill>
                  <a:schemeClr val="tx1"/>
                </a:solidFill>
                <a:prstDash val="solid"/>
                <a:round/>
                <a:headEnd type="none" w="med" len="med"/>
                <a:tailEnd type="none" w="med" len="med"/>
              </a:ln>
            </p:spPr>
          </p:sp>
          <p:sp>
            <p:nvSpPr>
              <p:cNvPr id="18469" name="Line 37"/>
              <p:cNvSpPr/>
              <p:nvPr/>
            </p:nvSpPr>
            <p:spPr>
              <a:xfrm>
                <a:off x="816" y="2736"/>
                <a:ext cx="0" cy="192"/>
              </a:xfrm>
              <a:prstGeom prst="line">
                <a:avLst/>
              </a:prstGeom>
              <a:ln w="28575" cap="flat" cmpd="sng">
                <a:solidFill>
                  <a:schemeClr val="tx1"/>
                </a:solidFill>
                <a:prstDash val="solid"/>
                <a:round/>
                <a:headEnd type="none" w="med" len="med"/>
                <a:tailEnd type="none" w="med" len="med"/>
              </a:ln>
            </p:spPr>
          </p:sp>
          <p:sp>
            <p:nvSpPr>
              <p:cNvPr id="18470" name="Line 38"/>
              <p:cNvSpPr/>
              <p:nvPr/>
            </p:nvSpPr>
            <p:spPr>
              <a:xfrm>
                <a:off x="816" y="2928"/>
                <a:ext cx="192" cy="0"/>
              </a:xfrm>
              <a:prstGeom prst="line">
                <a:avLst/>
              </a:prstGeom>
              <a:ln w="28575" cap="flat" cmpd="sng">
                <a:solidFill>
                  <a:schemeClr val="tx1"/>
                </a:solidFill>
                <a:prstDash val="solid"/>
                <a:round/>
                <a:headEnd type="none" w="med" len="med"/>
                <a:tailEnd type="none" w="med" len="med"/>
              </a:ln>
            </p:spPr>
          </p:sp>
          <p:sp>
            <p:nvSpPr>
              <p:cNvPr id="18471" name="Line 39"/>
              <p:cNvSpPr/>
              <p:nvPr/>
            </p:nvSpPr>
            <p:spPr>
              <a:xfrm flipH="1">
                <a:off x="1008" y="2160"/>
                <a:ext cx="432" cy="768"/>
              </a:xfrm>
              <a:prstGeom prst="line">
                <a:avLst/>
              </a:prstGeom>
              <a:ln w="28575" cap="flat" cmpd="sng">
                <a:solidFill>
                  <a:schemeClr val="tx1"/>
                </a:solidFill>
                <a:prstDash val="solid"/>
                <a:round/>
                <a:headEnd type="none" w="med" len="med"/>
                <a:tailEnd type="none" w="med" len="med"/>
              </a:ln>
            </p:spPr>
          </p:sp>
          <p:sp>
            <p:nvSpPr>
              <p:cNvPr id="18472" name="Line 40"/>
              <p:cNvSpPr/>
              <p:nvPr/>
            </p:nvSpPr>
            <p:spPr>
              <a:xfrm>
                <a:off x="960" y="2160"/>
                <a:ext cx="336" cy="768"/>
              </a:xfrm>
              <a:prstGeom prst="line">
                <a:avLst/>
              </a:prstGeom>
              <a:ln w="28575" cap="flat" cmpd="sng">
                <a:solidFill>
                  <a:schemeClr val="tx1"/>
                </a:solidFill>
                <a:prstDash val="solid"/>
                <a:round/>
                <a:headEnd type="none" w="med" len="med"/>
                <a:tailEnd type="none" w="med" len="med"/>
              </a:ln>
            </p:spPr>
          </p:sp>
          <p:sp>
            <p:nvSpPr>
              <p:cNvPr id="18473" name="Line 41"/>
              <p:cNvSpPr/>
              <p:nvPr/>
            </p:nvSpPr>
            <p:spPr>
              <a:xfrm>
                <a:off x="1296" y="2928"/>
                <a:ext cx="144" cy="0"/>
              </a:xfrm>
              <a:prstGeom prst="line">
                <a:avLst/>
              </a:prstGeom>
              <a:ln w="28575" cap="flat" cmpd="sng">
                <a:solidFill>
                  <a:schemeClr val="tx1"/>
                </a:solidFill>
                <a:prstDash val="solid"/>
                <a:round/>
                <a:headEnd type="none" w="med" len="med"/>
                <a:tailEnd type="none" w="med" len="med"/>
              </a:ln>
            </p:spPr>
          </p:sp>
          <p:sp>
            <p:nvSpPr>
              <p:cNvPr id="18474" name="Text Box 42"/>
              <p:cNvSpPr txBox="1"/>
              <p:nvPr/>
            </p:nvSpPr>
            <p:spPr>
              <a:xfrm>
                <a:off x="663" y="1802"/>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75" name="Text Box 43"/>
              <p:cNvSpPr txBox="1"/>
              <p:nvPr/>
            </p:nvSpPr>
            <p:spPr>
              <a:xfrm>
                <a:off x="1728" y="1776"/>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76" name="Text Box 44"/>
              <p:cNvSpPr txBox="1"/>
              <p:nvPr/>
            </p:nvSpPr>
            <p:spPr>
              <a:xfrm>
                <a:off x="1959" y="2426"/>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G</a:t>
                </a:r>
                <a:r>
                  <a:rPr lang="en-US" altLang="zh-CN" sz="2400" b="1" baseline="-25000" dirty="0">
                    <a:latin typeface="Times New Roman" panose="02020603050405020304" charset="0"/>
                    <a:ea typeface="宋体" panose="02010600030101010101" pitchFamily="2" charset="-122"/>
                    <a:cs typeface="Times New Roman" panose="02020603050405020304" charset="0"/>
                  </a:rPr>
                  <a:t>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77" name="Text Box 45"/>
              <p:cNvSpPr txBox="1"/>
              <p:nvPr/>
            </p:nvSpPr>
            <p:spPr>
              <a:xfrm>
                <a:off x="144" y="2448"/>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G</a:t>
                </a:r>
                <a:r>
                  <a:rPr lang="en-US" altLang="zh-CN" sz="2400" b="1" baseline="-25000" dirty="0">
                    <a:latin typeface="Times New Roman" panose="02020603050405020304" charset="0"/>
                    <a:ea typeface="宋体" panose="02010600030101010101" pitchFamily="2" charset="-122"/>
                    <a:cs typeface="Times New Roman" panose="02020603050405020304" charset="0"/>
                  </a:rPr>
                  <a:t>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78" name="Text Box 46"/>
              <p:cNvSpPr txBox="1"/>
              <p:nvPr/>
            </p:nvSpPr>
            <p:spPr>
              <a:xfrm>
                <a:off x="528" y="3264"/>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8479" name="Text Box 47"/>
              <p:cNvSpPr txBox="1"/>
              <p:nvPr/>
            </p:nvSpPr>
            <p:spPr>
              <a:xfrm>
                <a:off x="1719" y="3290"/>
                <a:ext cx="437" cy="288"/>
              </a:xfrm>
              <a:prstGeom prst="rect">
                <a:avLst/>
              </a:prstGeom>
              <a:noFill/>
              <a:ln w="28575">
                <a:noFill/>
              </a:ln>
            </p:spPr>
            <p:txBody>
              <a:bodyPr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DD</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18480" name="Text Box 48"/>
            <p:cNvSpPr txBox="1"/>
            <p:nvPr/>
          </p:nvSpPr>
          <p:spPr>
            <a:xfrm>
              <a:off x="1815" y="1149"/>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grpSp>
        <p:nvGrpSpPr>
          <p:cNvPr id="18481" name="Group 49"/>
          <p:cNvGrpSpPr/>
          <p:nvPr/>
        </p:nvGrpSpPr>
        <p:grpSpPr>
          <a:xfrm>
            <a:off x="4876800" y="1371600"/>
            <a:ext cx="0" cy="4876800"/>
            <a:chOff x="3072" y="384"/>
            <a:chExt cx="0" cy="3072"/>
          </a:xfrm>
        </p:grpSpPr>
        <p:sp>
          <p:nvSpPr>
            <p:cNvPr id="18482" name="Line 50"/>
            <p:cNvSpPr/>
            <p:nvPr/>
          </p:nvSpPr>
          <p:spPr>
            <a:xfrm flipV="1">
              <a:off x="3072" y="384"/>
              <a:ext cx="0" cy="432"/>
            </a:xfrm>
            <a:prstGeom prst="line">
              <a:avLst/>
            </a:prstGeom>
            <a:ln w="57150" cap="flat" cmpd="sng">
              <a:solidFill>
                <a:srgbClr val="FF00FF"/>
              </a:solidFill>
              <a:prstDash val="solid"/>
              <a:round/>
              <a:headEnd type="none" w="med" len="med"/>
              <a:tailEnd type="none" w="med" len="med"/>
            </a:ln>
          </p:spPr>
        </p:sp>
        <p:sp>
          <p:nvSpPr>
            <p:cNvPr id="18483" name="Line 51"/>
            <p:cNvSpPr/>
            <p:nvPr/>
          </p:nvSpPr>
          <p:spPr>
            <a:xfrm>
              <a:off x="3072" y="1296"/>
              <a:ext cx="0" cy="432"/>
            </a:xfrm>
            <a:prstGeom prst="line">
              <a:avLst/>
            </a:prstGeom>
            <a:ln w="57150" cap="flat" cmpd="sng">
              <a:solidFill>
                <a:srgbClr val="FF00FF"/>
              </a:solidFill>
              <a:prstDash val="solid"/>
              <a:round/>
              <a:headEnd type="none" w="med" len="med"/>
              <a:tailEnd type="none" w="med" len="med"/>
            </a:ln>
          </p:spPr>
        </p:sp>
        <p:sp>
          <p:nvSpPr>
            <p:cNvPr id="18484" name="Line 52"/>
            <p:cNvSpPr/>
            <p:nvPr/>
          </p:nvSpPr>
          <p:spPr>
            <a:xfrm>
              <a:off x="3072" y="2208"/>
              <a:ext cx="0" cy="432"/>
            </a:xfrm>
            <a:prstGeom prst="line">
              <a:avLst/>
            </a:prstGeom>
            <a:ln w="57150" cap="flat" cmpd="sng">
              <a:solidFill>
                <a:srgbClr val="FF00FF"/>
              </a:solidFill>
              <a:prstDash val="solid"/>
              <a:round/>
              <a:headEnd type="none" w="med" len="med"/>
              <a:tailEnd type="none" w="med" len="med"/>
            </a:ln>
          </p:spPr>
        </p:sp>
        <p:sp>
          <p:nvSpPr>
            <p:cNvPr id="18485" name="Line 53"/>
            <p:cNvSpPr/>
            <p:nvPr/>
          </p:nvSpPr>
          <p:spPr>
            <a:xfrm flipV="1">
              <a:off x="3072" y="3024"/>
              <a:ext cx="0" cy="432"/>
            </a:xfrm>
            <a:prstGeom prst="line">
              <a:avLst/>
            </a:prstGeom>
            <a:ln w="57150" cap="flat" cmpd="sng">
              <a:solidFill>
                <a:srgbClr val="FF00FF"/>
              </a:solidFill>
              <a:prstDash val="solid"/>
              <a:round/>
              <a:headEnd type="none" w="med" len="med"/>
              <a:tailEnd type="none" w="med" len="med"/>
            </a:ln>
          </p:spPr>
        </p:sp>
      </p:grpSp>
      <p:sp>
        <p:nvSpPr>
          <p:cNvPr id="335926" name="Line 54"/>
          <p:cNvSpPr/>
          <p:nvPr/>
        </p:nvSpPr>
        <p:spPr>
          <a:xfrm>
            <a:off x="5867400" y="5562600"/>
            <a:ext cx="0" cy="762000"/>
          </a:xfrm>
          <a:prstGeom prst="line">
            <a:avLst/>
          </a:prstGeom>
          <a:ln w="57150" cap="flat" cmpd="sng">
            <a:solidFill>
              <a:srgbClr val="0033CC"/>
            </a:solidFill>
            <a:prstDash val="solid"/>
            <a:round/>
            <a:headEnd type="none" w="med" len="med"/>
            <a:tailEnd type="triangle" w="med" len="med"/>
          </a:ln>
        </p:spPr>
      </p:sp>
      <p:sp>
        <p:nvSpPr>
          <p:cNvPr id="335927" name="Line 55"/>
          <p:cNvSpPr/>
          <p:nvPr/>
        </p:nvSpPr>
        <p:spPr>
          <a:xfrm flipV="1">
            <a:off x="5867400" y="2743200"/>
            <a:ext cx="0" cy="685800"/>
          </a:xfrm>
          <a:prstGeom prst="line">
            <a:avLst/>
          </a:prstGeom>
          <a:ln w="57150" cap="flat" cmpd="sng">
            <a:solidFill>
              <a:srgbClr val="0033CC"/>
            </a:solidFill>
            <a:prstDash val="solid"/>
            <a:round/>
            <a:headEnd type="none" w="med" len="med"/>
            <a:tailEnd type="triangle" w="med" len="med"/>
          </a:ln>
        </p:spPr>
      </p:sp>
      <p:sp>
        <p:nvSpPr>
          <p:cNvPr id="335928" name="Line 56"/>
          <p:cNvSpPr/>
          <p:nvPr/>
        </p:nvSpPr>
        <p:spPr>
          <a:xfrm flipV="1">
            <a:off x="5867400" y="3733800"/>
            <a:ext cx="0" cy="838200"/>
          </a:xfrm>
          <a:prstGeom prst="line">
            <a:avLst/>
          </a:prstGeom>
          <a:ln w="57150" cap="flat" cmpd="sng">
            <a:solidFill>
              <a:srgbClr val="0033CC"/>
            </a:solidFill>
            <a:prstDash val="solid"/>
            <a:round/>
            <a:headEnd type="none" w="med" len="med"/>
            <a:tailEnd type="triangle" w="med" len="med"/>
          </a:ln>
        </p:spPr>
      </p:sp>
      <p:sp>
        <p:nvSpPr>
          <p:cNvPr id="335929" name="Text Box 57"/>
          <p:cNvSpPr txBox="1"/>
          <p:nvPr/>
        </p:nvSpPr>
        <p:spPr>
          <a:xfrm>
            <a:off x="5943600" y="3657600"/>
            <a:ext cx="1381125" cy="457200"/>
          </a:xfrm>
          <a:prstGeom prst="rect">
            <a:avLst/>
          </a:prstGeom>
          <a:noFill/>
          <a:ln w="28575">
            <a:noFill/>
          </a:ln>
        </p:spPr>
        <p:txBody>
          <a:bodyPr lIns="90000" tIns="46800" rIns="90000" bIns="46800" anchor="t" anchorCtr="0">
            <a:spAutoFit/>
          </a:bodyPr>
          <a:p>
            <a:r>
              <a:rPr lang="en-US" altLang="zh-CN" sz="2400" b="1" dirty="0">
                <a:solidFill>
                  <a:srgbClr val="0033CC"/>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rgbClr val="0033CC"/>
                </a:solidFill>
                <a:latin typeface="Times New Roman" panose="02020603050405020304" charset="0"/>
                <a:ea typeface="宋体" panose="02010600030101010101" pitchFamily="2" charset="-122"/>
                <a:cs typeface="Times New Roman" panose="02020603050405020304" charset="0"/>
              </a:rPr>
              <a:t>DD</a:t>
            </a:r>
            <a:r>
              <a:rPr lang="en-US" altLang="zh-CN" sz="2400" b="1" dirty="0">
                <a:solidFill>
                  <a:srgbClr val="0033CC"/>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rgbClr val="0033CC"/>
                </a:solidFill>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solidFill>
                <a:srgbClr val="0033CC"/>
              </a:solidFill>
              <a:latin typeface="Times New Roman" panose="02020603050405020304" charset="0"/>
              <a:ea typeface="宋体" panose="02010600030101010101" pitchFamily="2" charset="-122"/>
              <a:cs typeface="Times New Roman" panose="02020603050405020304" charset="0"/>
            </a:endParaRPr>
          </a:p>
        </p:txBody>
      </p:sp>
      <p:sp>
        <p:nvSpPr>
          <p:cNvPr id="335930" name="Line 58"/>
          <p:cNvSpPr/>
          <p:nvPr/>
        </p:nvSpPr>
        <p:spPr>
          <a:xfrm flipV="1">
            <a:off x="5867400" y="4038600"/>
            <a:ext cx="0" cy="533400"/>
          </a:xfrm>
          <a:prstGeom prst="line">
            <a:avLst/>
          </a:prstGeom>
          <a:ln w="76200" cap="flat" cmpd="sng">
            <a:solidFill>
              <a:srgbClr val="FF0000"/>
            </a:solidFill>
            <a:prstDash val="solid"/>
            <a:round/>
            <a:headEnd type="none" w="med" len="med"/>
            <a:tailEnd type="triangle" w="med" len="med"/>
          </a:ln>
        </p:spPr>
      </p:sp>
      <p:sp>
        <p:nvSpPr>
          <p:cNvPr id="335931" name="Text Box 59"/>
          <p:cNvSpPr txBox="1"/>
          <p:nvPr/>
        </p:nvSpPr>
        <p:spPr>
          <a:xfrm>
            <a:off x="5929313" y="4003675"/>
            <a:ext cx="1287462"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DD</a:t>
            </a:r>
            <a:r>
              <a:rPr lang="en-US" altLang="zh-CN" sz="2400" b="1" dirty="0">
                <a:latin typeface="Times New Roman" panose="02020603050405020304" charset="0"/>
                <a:ea typeface="宋体" panose="02010600030101010101" pitchFamily="2" charset="-122"/>
                <a:cs typeface="Times New Roman" panose="02020603050405020304" charset="0"/>
              </a:rPr>
              <a:t>+Δ</a:t>
            </a:r>
            <a:r>
              <a:rPr lang="en-US" altLang="zh-CN" sz="2400" b="1" baseline="-25000" dirty="0">
                <a:latin typeface="Times New Roman" panose="02020603050405020304" charset="0"/>
                <a:ea typeface="宋体" panose="02010600030101010101" pitchFamily="2" charset="-122"/>
                <a:cs typeface="Times New Roman" panose="02020603050405020304" charset="0"/>
              </a:rPr>
              <a:t>+</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335932" name="Text Box 60"/>
          <p:cNvSpPr txBox="1"/>
          <p:nvPr/>
        </p:nvSpPr>
        <p:spPr>
          <a:xfrm>
            <a:off x="153670" y="4038283"/>
            <a:ext cx="3940175" cy="708025"/>
          </a:xfrm>
          <a:prstGeom prst="rect">
            <a:avLst/>
          </a:prstGeom>
          <a:noFill/>
          <a:ln w="28575">
            <a:noFill/>
          </a:ln>
        </p:spPr>
        <p:txBody>
          <a:bodyPr lIns="90000" tIns="46800" rIns="90000" bIns="46800" anchor="t" anchorCtr="0">
            <a:spAutoFit/>
          </a:bodyPr>
          <a:p>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由</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变</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O1</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r>
              <a:rPr lang="en-US" altLang="zh-CN" sz="20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zh-CN" altLang="en-US" sz="20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注意：∵此时</a:t>
            </a:r>
            <a:r>
              <a:rPr lang="en-US" altLang="zh-CN" sz="2000" b="1" i="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I</a:t>
            </a:r>
            <a:r>
              <a:rPr lang="zh-CN" altLang="en-US" sz="20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的正脉冲已撤消</a:t>
            </a:r>
            <a:r>
              <a:rPr lang="en-US" altLang="zh-CN" sz="20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endParaRPr lang="en-US" altLang="zh-CN" sz="20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335933" name="Text Box 61"/>
          <p:cNvSpPr txBox="1"/>
          <p:nvPr/>
        </p:nvSpPr>
        <p:spPr>
          <a:xfrm>
            <a:off x="153353" y="4800600"/>
            <a:ext cx="3824287" cy="708025"/>
          </a:xfrm>
          <a:prstGeom prst="rect">
            <a:avLst/>
          </a:prstGeom>
          <a:noFill/>
          <a:ln w="28575">
            <a:noFill/>
          </a:ln>
        </p:spPr>
        <p:txBody>
          <a:bodyPr lIns="90000" tIns="46800" rIns="90000" bIns="46800" anchor="t" anchorCtr="0">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电容电压不能突变</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th </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I2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上升到</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DD</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th</a:t>
            </a:r>
            <a:endPar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335934" name="Text Box 62"/>
          <p:cNvSpPr txBox="1"/>
          <p:nvPr/>
        </p:nvSpPr>
        <p:spPr>
          <a:xfrm>
            <a:off x="86360" y="6075045"/>
            <a:ext cx="5213985" cy="708025"/>
          </a:xfrm>
          <a:prstGeom prst="rect">
            <a:avLst/>
          </a:prstGeom>
          <a:noFill/>
          <a:ln w="28575">
            <a:noFill/>
          </a:ln>
        </p:spPr>
        <p:txBody>
          <a:bodyPr wrap="square" lIns="90000" tIns="46800" rIns="90000" bIns="46800" anchor="t" anchorCtr="0">
            <a:spAutoFit/>
          </a:bodyPr>
          <a:p>
            <a:pPr>
              <a:buClr>
                <a:srgbClr val="FF0000"/>
              </a:buClr>
              <a:buFont typeface="Wingdings" panose="05000000000000000000" pitchFamily="2" charset="2"/>
              <a:buChar char="v"/>
            </a:pPr>
            <a:r>
              <a:rPr lang="zh-CN" altLang="en-US" sz="2000" b="1" dirty="0">
                <a:latin typeface="Times New Roman" panose="02020603050405020304" charset="0"/>
                <a:ea typeface="楷体" panose="02010609060101010101" charset="-122"/>
                <a:cs typeface="Times New Roman" panose="02020603050405020304" charset="0"/>
              </a:rPr>
              <a:t>如果</a:t>
            </a:r>
            <a:r>
              <a:rPr lang="en-US" altLang="zh-CN" sz="2000" b="1" dirty="0">
                <a:latin typeface="Times New Roman" panose="02020603050405020304" charset="0"/>
                <a:ea typeface="楷体" panose="02010609060101010101" charset="-122"/>
                <a:cs typeface="Times New Roman" panose="02020603050405020304" charset="0"/>
              </a:rPr>
              <a:t>G</a:t>
            </a:r>
            <a:r>
              <a:rPr lang="en-US" altLang="zh-CN" sz="2000" b="1" baseline="-25000" dirty="0">
                <a:latin typeface="Times New Roman" panose="02020603050405020304" charset="0"/>
                <a:ea typeface="楷体" panose="02010609060101010101" charset="-122"/>
                <a:cs typeface="Times New Roman" panose="02020603050405020304" charset="0"/>
              </a:rPr>
              <a:t>2</a:t>
            </a:r>
            <a:r>
              <a:rPr lang="zh-CN" altLang="en-US" sz="2000" b="1" dirty="0">
                <a:latin typeface="Times New Roman" panose="02020603050405020304" charset="0"/>
                <a:ea typeface="楷体" panose="02010609060101010101" charset="-122"/>
                <a:cs typeface="Times New Roman" panose="02020603050405020304" charset="0"/>
              </a:rPr>
              <a:t>是</a:t>
            </a:r>
            <a:r>
              <a:rPr lang="en-US" altLang="zh-CN" sz="2000" b="1" dirty="0">
                <a:latin typeface="Times New Roman" panose="02020603050405020304" charset="0"/>
                <a:ea typeface="楷体" panose="02010609060101010101" charset="-122"/>
                <a:cs typeface="Times New Roman" panose="02020603050405020304" charset="0"/>
              </a:rPr>
              <a:t>CMOS</a:t>
            </a:r>
            <a:r>
              <a:rPr lang="zh-CN" altLang="en-US" sz="2000" b="1" dirty="0">
                <a:latin typeface="Times New Roman" panose="02020603050405020304" charset="0"/>
                <a:ea typeface="楷体" panose="02010609060101010101" charset="-122"/>
                <a:cs typeface="Times New Roman" panose="02020603050405020304" charset="0"/>
              </a:rPr>
              <a:t>门，由于保护</a:t>
            </a:r>
            <a:endParaRPr lang="zh-CN" altLang="en-US" sz="2000" b="1" dirty="0">
              <a:latin typeface="Times New Roman" panose="02020603050405020304" charset="0"/>
              <a:ea typeface="楷体" panose="02010609060101010101" charset="-122"/>
              <a:cs typeface="Times New Roman" panose="02020603050405020304" charset="0"/>
            </a:endParaRPr>
          </a:p>
          <a:p>
            <a:pPr>
              <a:buClr>
                <a:srgbClr val="FF0000"/>
              </a:buClr>
              <a:buFont typeface="Wingdings" panose="05000000000000000000" pitchFamily="2" charset="2"/>
            </a:pPr>
            <a:r>
              <a:rPr lang="zh-CN" altLang="en-US" sz="2000" b="1" dirty="0">
                <a:latin typeface="Times New Roman" panose="02020603050405020304" charset="0"/>
                <a:ea typeface="楷体" panose="02010609060101010101" charset="-122"/>
                <a:cs typeface="Times New Roman" panose="02020603050405020304" charset="0"/>
              </a:rPr>
              <a:t>二极管的钳位作用，</a:t>
            </a:r>
            <a:r>
              <a:rPr lang="en-US" altLang="zh-CN" sz="2000" b="1" i="1" dirty="0">
                <a:latin typeface="Times New Roman" panose="02020603050405020304" charset="0"/>
                <a:ea typeface="楷体" panose="02010609060101010101" charset="-122"/>
                <a:cs typeface="Times New Roman" panose="02020603050405020304" charset="0"/>
              </a:rPr>
              <a:t>v</a:t>
            </a:r>
            <a:r>
              <a:rPr lang="en-US" altLang="zh-CN" sz="2000" b="1" baseline="-25000" dirty="0">
                <a:latin typeface="Times New Roman" panose="02020603050405020304" charset="0"/>
                <a:ea typeface="楷体" panose="02010609060101010101" charset="-122"/>
                <a:cs typeface="Times New Roman" panose="02020603050405020304" charset="0"/>
              </a:rPr>
              <a:t>I2</a:t>
            </a:r>
            <a:r>
              <a:rPr lang="zh-CN" altLang="en-US" sz="2000" b="1" dirty="0">
                <a:latin typeface="Times New Roman" panose="02020603050405020304" charset="0"/>
                <a:ea typeface="楷体" panose="02010609060101010101" charset="-122"/>
                <a:cs typeface="Times New Roman" panose="02020603050405020304" charset="0"/>
              </a:rPr>
              <a:t>只能上升到</a:t>
            </a:r>
            <a:r>
              <a:rPr lang="en-US" altLang="zh-CN" sz="2000" b="1" dirty="0">
                <a:latin typeface="Times New Roman" panose="02020603050405020304" charset="0"/>
                <a:ea typeface="楷体" panose="02010609060101010101" charset="-122"/>
                <a:cs typeface="Times New Roman" panose="02020603050405020304" charset="0"/>
              </a:rPr>
              <a:t>V</a:t>
            </a:r>
            <a:r>
              <a:rPr lang="en-US" altLang="zh-CN" sz="2000" b="1" baseline="-25000" dirty="0">
                <a:latin typeface="Times New Roman" panose="02020603050405020304" charset="0"/>
                <a:ea typeface="楷体" panose="02010609060101010101" charset="-122"/>
                <a:cs typeface="Times New Roman" panose="02020603050405020304" charset="0"/>
              </a:rPr>
              <a:t>DD</a:t>
            </a:r>
            <a:r>
              <a:rPr lang="en-US" altLang="zh-CN" sz="2000" b="1" dirty="0">
                <a:latin typeface="Times New Roman" panose="02020603050405020304" charset="0"/>
                <a:ea typeface="楷体" panose="02010609060101010101" charset="-122"/>
                <a:cs typeface="Times New Roman" panose="02020603050405020304" charset="0"/>
              </a:rPr>
              <a:t>+Δ</a:t>
            </a:r>
            <a:r>
              <a:rPr lang="en-US" altLang="zh-CN" sz="2000" b="1" baseline="-25000" dirty="0">
                <a:latin typeface="Times New Roman" panose="02020603050405020304" charset="0"/>
                <a:ea typeface="楷体" panose="02010609060101010101" charset="-122"/>
                <a:cs typeface="Times New Roman" panose="02020603050405020304" charset="0"/>
              </a:rPr>
              <a:t>+</a:t>
            </a:r>
            <a:endParaRPr lang="en-US" altLang="zh-CN" sz="2000" b="1" baseline="-25000" dirty="0">
              <a:latin typeface="Times New Roman" panose="02020603050405020304" charset="0"/>
              <a:ea typeface="楷体" panose="02010609060101010101" charset="-122"/>
              <a:cs typeface="Times New Roman" panose="02020603050405020304" charset="0"/>
            </a:endParaRPr>
          </a:p>
        </p:txBody>
      </p:sp>
      <p:grpSp>
        <p:nvGrpSpPr>
          <p:cNvPr id="18495" name="Group 63"/>
          <p:cNvGrpSpPr/>
          <p:nvPr/>
        </p:nvGrpSpPr>
        <p:grpSpPr>
          <a:xfrm>
            <a:off x="4191000" y="1382713"/>
            <a:ext cx="1676400" cy="4953000"/>
            <a:chOff x="2640" y="384"/>
            <a:chExt cx="1056" cy="3120"/>
          </a:xfrm>
        </p:grpSpPr>
        <p:sp>
          <p:nvSpPr>
            <p:cNvPr id="18496" name="Line 64"/>
            <p:cNvSpPr/>
            <p:nvPr/>
          </p:nvSpPr>
          <p:spPr>
            <a:xfrm>
              <a:off x="3072" y="384"/>
              <a:ext cx="96" cy="0"/>
            </a:xfrm>
            <a:prstGeom prst="line">
              <a:avLst/>
            </a:prstGeom>
            <a:ln w="57150" cap="flat" cmpd="sng">
              <a:solidFill>
                <a:srgbClr val="006600"/>
              </a:solidFill>
              <a:prstDash val="solid"/>
              <a:round/>
              <a:headEnd type="none" w="med" len="med"/>
              <a:tailEnd type="none" w="med" len="med"/>
            </a:ln>
          </p:spPr>
        </p:sp>
        <p:sp>
          <p:nvSpPr>
            <p:cNvPr id="18497" name="Line 65"/>
            <p:cNvSpPr/>
            <p:nvPr/>
          </p:nvSpPr>
          <p:spPr>
            <a:xfrm>
              <a:off x="3168" y="384"/>
              <a:ext cx="0" cy="432"/>
            </a:xfrm>
            <a:prstGeom prst="line">
              <a:avLst/>
            </a:prstGeom>
            <a:ln w="57150" cap="flat" cmpd="sng">
              <a:solidFill>
                <a:srgbClr val="006600"/>
              </a:solidFill>
              <a:prstDash val="solid"/>
              <a:round/>
              <a:headEnd type="none" w="med" len="med"/>
              <a:tailEnd type="none" w="med" len="med"/>
            </a:ln>
          </p:spPr>
        </p:sp>
        <p:sp>
          <p:nvSpPr>
            <p:cNvPr id="18498" name="Line 66"/>
            <p:cNvSpPr/>
            <p:nvPr/>
          </p:nvSpPr>
          <p:spPr>
            <a:xfrm>
              <a:off x="3168" y="816"/>
              <a:ext cx="528" cy="0"/>
            </a:xfrm>
            <a:prstGeom prst="line">
              <a:avLst/>
            </a:prstGeom>
            <a:ln w="57150" cap="flat" cmpd="sng">
              <a:solidFill>
                <a:srgbClr val="006600"/>
              </a:solidFill>
              <a:prstDash val="solid"/>
              <a:round/>
              <a:headEnd type="none" w="med" len="med"/>
              <a:tailEnd type="none" w="med" len="med"/>
            </a:ln>
          </p:spPr>
        </p:sp>
        <p:sp>
          <p:nvSpPr>
            <p:cNvPr id="18499" name="Line 67"/>
            <p:cNvSpPr/>
            <p:nvPr/>
          </p:nvSpPr>
          <p:spPr>
            <a:xfrm>
              <a:off x="3072" y="1680"/>
              <a:ext cx="624" cy="0"/>
            </a:xfrm>
            <a:prstGeom prst="line">
              <a:avLst/>
            </a:prstGeom>
            <a:ln w="57150" cap="flat" cmpd="sng">
              <a:solidFill>
                <a:srgbClr val="006600"/>
              </a:solidFill>
              <a:prstDash val="solid"/>
              <a:round/>
              <a:headEnd type="none" w="med" len="med"/>
              <a:tailEnd type="none" w="med" len="med"/>
            </a:ln>
          </p:spPr>
        </p:sp>
        <p:sp>
          <p:nvSpPr>
            <p:cNvPr id="18500" name="Freeform 68"/>
            <p:cNvSpPr/>
            <p:nvPr/>
          </p:nvSpPr>
          <p:spPr>
            <a:xfrm>
              <a:off x="3072" y="2400"/>
              <a:ext cx="624" cy="240"/>
            </a:xfrm>
            <a:custGeom>
              <a:avLst/>
              <a:gdLst/>
              <a:ahLst/>
              <a:cxnLst>
                <a:cxn ang="0">
                  <a:pos x="0" y="300"/>
                </a:cxn>
                <a:cxn ang="0">
                  <a:pos x="624" y="0"/>
                </a:cxn>
              </a:cxnLst>
              <a:pathLst>
                <a:path w="624" h="192">
                  <a:moveTo>
                    <a:pt x="0" y="192"/>
                  </a:moveTo>
                  <a:cubicBezTo>
                    <a:pt x="158" y="113"/>
                    <a:pt x="405" y="31"/>
                    <a:pt x="624" y="0"/>
                  </a:cubicBezTo>
                </a:path>
              </a:pathLst>
            </a:custGeom>
            <a:noFill/>
            <a:ln w="57150" cap="flat" cmpd="sng">
              <a:solidFill>
                <a:srgbClr val="006600"/>
              </a:solidFill>
              <a:prstDash val="solid"/>
              <a:round/>
              <a:headEnd type="none" w="med" len="med"/>
              <a:tailEnd type="none" w="med" len="med"/>
            </a:ln>
          </p:spPr>
          <p:txBody>
            <a:bodyPr/>
            <a:p>
              <a:endParaRPr lang="zh-CN" altLang="en-US">
                <a:latin typeface="Times New Roman" panose="02020603050405020304" charset="0"/>
                <a:cs typeface="Times New Roman" panose="02020603050405020304" charset="0"/>
              </a:endParaRPr>
            </a:p>
          </p:txBody>
        </p:sp>
        <p:sp>
          <p:nvSpPr>
            <p:cNvPr id="18501" name="Line 69"/>
            <p:cNvSpPr/>
            <p:nvPr/>
          </p:nvSpPr>
          <p:spPr>
            <a:xfrm>
              <a:off x="2640" y="2400"/>
              <a:ext cx="1056" cy="0"/>
            </a:xfrm>
            <a:prstGeom prst="line">
              <a:avLst/>
            </a:prstGeom>
            <a:ln w="12700" cap="flat" cmpd="sng">
              <a:solidFill>
                <a:schemeClr val="tx2"/>
              </a:solidFill>
              <a:prstDash val="lgDash"/>
              <a:round/>
              <a:headEnd type="none" w="med" len="med"/>
              <a:tailEnd type="none" w="med" len="med"/>
            </a:ln>
          </p:spPr>
        </p:sp>
        <p:sp>
          <p:nvSpPr>
            <p:cNvPr id="18502" name="Line 70"/>
            <p:cNvSpPr/>
            <p:nvPr/>
          </p:nvSpPr>
          <p:spPr>
            <a:xfrm>
              <a:off x="3072" y="3024"/>
              <a:ext cx="624" cy="0"/>
            </a:xfrm>
            <a:prstGeom prst="line">
              <a:avLst/>
            </a:prstGeom>
            <a:ln w="57150" cap="flat" cmpd="sng">
              <a:solidFill>
                <a:srgbClr val="006600"/>
              </a:solidFill>
              <a:prstDash val="solid"/>
              <a:round/>
              <a:headEnd type="none" w="med" len="med"/>
              <a:tailEnd type="none" w="med" len="med"/>
            </a:ln>
          </p:spPr>
        </p:sp>
        <p:sp>
          <p:nvSpPr>
            <p:cNvPr id="18503" name="Line 71"/>
            <p:cNvSpPr/>
            <p:nvPr/>
          </p:nvSpPr>
          <p:spPr>
            <a:xfrm>
              <a:off x="3696" y="816"/>
              <a:ext cx="0" cy="2688"/>
            </a:xfrm>
            <a:prstGeom prst="line">
              <a:avLst/>
            </a:prstGeom>
            <a:ln w="12700" cap="flat" cmpd="sng">
              <a:solidFill>
                <a:schemeClr val="tx2"/>
              </a:solidFill>
              <a:prstDash val="lgDash"/>
              <a:round/>
              <a:headEnd type="none" w="med" len="med"/>
              <a:tailEnd type="none" w="med" len="med"/>
            </a:ln>
          </p:spPr>
        </p:sp>
        <p:sp>
          <p:nvSpPr>
            <p:cNvPr id="18504" name="Text Box 72"/>
            <p:cNvSpPr txBox="1"/>
            <p:nvPr/>
          </p:nvSpPr>
          <p:spPr>
            <a:xfrm>
              <a:off x="3207" y="2138"/>
              <a:ext cx="438"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335945" name="Line 73"/>
          <p:cNvSpPr/>
          <p:nvPr/>
        </p:nvSpPr>
        <p:spPr>
          <a:xfrm>
            <a:off x="5410200" y="4114800"/>
            <a:ext cx="1524000" cy="0"/>
          </a:xfrm>
          <a:prstGeom prst="line">
            <a:avLst/>
          </a:prstGeom>
          <a:ln w="28575" cap="flat" cmpd="sng">
            <a:solidFill>
              <a:srgbClr val="CC3300"/>
            </a:solidFill>
            <a:prstDash val="sysDot"/>
            <a:round/>
            <a:headEnd type="none" w="med" len="med"/>
            <a:tailEnd type="none" w="med" len="med"/>
          </a:ln>
        </p:spPr>
      </p:sp>
      <p:sp>
        <p:nvSpPr>
          <p:cNvPr id="335947" name="Rectangle 75"/>
          <p:cNvSpPr/>
          <p:nvPr/>
        </p:nvSpPr>
        <p:spPr>
          <a:xfrm>
            <a:off x="3203575" y="2581275"/>
            <a:ext cx="582613"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V</a:t>
            </a:r>
            <a:r>
              <a:rPr lang="en-US" altLang="zh-CN" sz="2400" b="1" baseline="-22000" dirty="0">
                <a:solidFill>
                  <a:srgbClr val="FF0000"/>
                </a:solidFill>
                <a:latin typeface="Times New Roman" panose="02020603050405020304" charset="0"/>
                <a:ea typeface="宋体" panose="02010600030101010101" pitchFamily="2" charset="-122"/>
                <a:cs typeface="Times New Roman" panose="02020603050405020304" charset="0"/>
              </a:rPr>
              <a:t>th</a:t>
            </a:r>
            <a:endParaRPr lang="en-US" altLang="zh-CN" sz="2400" b="1" baseline="-22000" dirty="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335948" name="Rectangle 76"/>
          <p:cNvSpPr/>
          <p:nvPr/>
        </p:nvSpPr>
        <p:spPr>
          <a:xfrm>
            <a:off x="2987675" y="1435100"/>
            <a:ext cx="333375"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0</a:t>
            </a:r>
            <a:endPar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335949" name="Rectangle 77"/>
          <p:cNvSpPr/>
          <p:nvPr/>
        </p:nvSpPr>
        <p:spPr>
          <a:xfrm>
            <a:off x="1116013" y="2659063"/>
            <a:ext cx="333375"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0</a:t>
            </a:r>
            <a:endPar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335950" name="Rectangle 78"/>
          <p:cNvSpPr/>
          <p:nvPr/>
        </p:nvSpPr>
        <p:spPr>
          <a:xfrm>
            <a:off x="684213" y="2659063"/>
            <a:ext cx="333375"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0</a:t>
            </a:r>
            <a:endPar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335951" name="Rectangle 79"/>
          <p:cNvSpPr/>
          <p:nvPr/>
        </p:nvSpPr>
        <p:spPr>
          <a:xfrm>
            <a:off x="854075" y="1362075"/>
            <a:ext cx="333375" cy="457200"/>
          </a:xfrm>
          <a:prstGeom prst="rect">
            <a:avLst/>
          </a:prstGeom>
          <a:noFill/>
          <a:ln w="28575">
            <a:noFill/>
          </a:ln>
        </p:spPr>
        <p:txBody>
          <a:bodyPr wrap="none"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1</a:t>
            </a:r>
            <a:endPar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335952" name="Text Box 80" descr="羊皮纸"/>
          <p:cNvSpPr txBox="1"/>
          <p:nvPr/>
        </p:nvSpPr>
        <p:spPr>
          <a:xfrm>
            <a:off x="754698" y="5593080"/>
            <a:ext cx="2376487" cy="400050"/>
          </a:xfrm>
          <a:prstGeom prst="rect">
            <a:avLst/>
          </a:prstGeom>
          <a:blipFill rotWithShape="1">
            <a:blip r:embed="rId1"/>
          </a:blipFill>
          <a:ln w="19050" cap="flat" cmpd="sng">
            <a:solidFill>
              <a:srgbClr val="FFCC00"/>
            </a:solidFill>
            <a:prstDash val="solid"/>
            <a:miter/>
            <a:headEnd type="none" w="med" len="med"/>
            <a:tailEnd type="none" w="med" len="med"/>
          </a:ln>
        </p:spPr>
        <p:txBody>
          <a:bodyPr lIns="90000" tIns="46800" rIns="90000" bIns="46800" anchor="t" anchorCtr="0">
            <a:spAutoFit/>
          </a:bodyPr>
          <a:p>
            <a:pPr algn="ctr"/>
            <a:r>
              <a:rPr lang="zh-CN" altLang="en-US" sz="2000" b="1" dirty="0">
                <a:solidFill>
                  <a:srgbClr val="1318F3"/>
                </a:solidFill>
                <a:latin typeface="Times New Roman" panose="02020603050405020304" charset="0"/>
                <a:ea typeface="楷体" panose="02010609060101010101" charset="-122"/>
              </a:rPr>
              <a:t>暂态过程结束</a:t>
            </a:r>
            <a:endParaRPr lang="zh-CN" altLang="en-US" sz="2000" b="1" dirty="0">
              <a:solidFill>
                <a:srgbClr val="1318F3"/>
              </a:solidFill>
              <a:latin typeface="Times New Roman" panose="02020603050405020304" charset="0"/>
              <a:ea typeface="楷体" panose="02010609060101010101" charset="-122"/>
            </a:endParaRPr>
          </a:p>
        </p:txBody>
      </p:sp>
      <p:grpSp>
        <p:nvGrpSpPr>
          <p:cNvPr id="335953" name="Group 81"/>
          <p:cNvGrpSpPr/>
          <p:nvPr/>
        </p:nvGrpSpPr>
        <p:grpSpPr>
          <a:xfrm>
            <a:off x="1473200" y="1722438"/>
            <a:ext cx="1443038" cy="1223962"/>
            <a:chOff x="838" y="1071"/>
            <a:chExt cx="909" cy="771"/>
          </a:xfrm>
        </p:grpSpPr>
        <p:sp>
          <p:nvSpPr>
            <p:cNvPr id="18514" name="Line 82"/>
            <p:cNvSpPr/>
            <p:nvPr/>
          </p:nvSpPr>
          <p:spPr>
            <a:xfrm flipH="1">
              <a:off x="1475" y="1071"/>
              <a:ext cx="272" cy="0"/>
            </a:xfrm>
            <a:prstGeom prst="line">
              <a:avLst/>
            </a:prstGeom>
            <a:ln w="57150" cap="flat" cmpd="sng">
              <a:solidFill>
                <a:srgbClr val="CC3300"/>
              </a:solidFill>
              <a:prstDash val="solid"/>
              <a:round/>
              <a:headEnd type="none" w="med" len="med"/>
              <a:tailEnd type="none" w="med" len="med"/>
            </a:ln>
          </p:spPr>
        </p:sp>
        <p:sp>
          <p:nvSpPr>
            <p:cNvPr id="18515" name="Line 83"/>
            <p:cNvSpPr/>
            <p:nvPr/>
          </p:nvSpPr>
          <p:spPr>
            <a:xfrm flipH="1">
              <a:off x="1020" y="1071"/>
              <a:ext cx="455" cy="771"/>
            </a:xfrm>
            <a:prstGeom prst="line">
              <a:avLst/>
            </a:prstGeom>
            <a:ln w="57150" cap="flat" cmpd="sng">
              <a:solidFill>
                <a:srgbClr val="CC3300"/>
              </a:solidFill>
              <a:prstDash val="solid"/>
              <a:round/>
              <a:headEnd type="none" w="med" len="med"/>
              <a:tailEnd type="none" w="med" len="med"/>
            </a:ln>
          </p:spPr>
        </p:sp>
        <p:sp>
          <p:nvSpPr>
            <p:cNvPr id="18516" name="Line 84"/>
            <p:cNvSpPr/>
            <p:nvPr/>
          </p:nvSpPr>
          <p:spPr>
            <a:xfrm flipH="1">
              <a:off x="838" y="1842"/>
              <a:ext cx="182" cy="0"/>
            </a:xfrm>
            <a:prstGeom prst="line">
              <a:avLst/>
            </a:prstGeom>
            <a:ln w="57150" cap="flat" cmpd="sng">
              <a:solidFill>
                <a:srgbClr val="CC3300"/>
              </a:solidFill>
              <a:prstDash val="solid"/>
              <a:round/>
              <a:headEnd type="none" w="med" len="med"/>
              <a:tailEnd type="none" w="med" len="med"/>
            </a:ln>
          </p:spPr>
        </p:sp>
        <p:sp>
          <p:nvSpPr>
            <p:cNvPr id="18517" name="Line 85"/>
            <p:cNvSpPr/>
            <p:nvPr/>
          </p:nvSpPr>
          <p:spPr>
            <a:xfrm flipV="1">
              <a:off x="840" y="1661"/>
              <a:ext cx="0" cy="181"/>
            </a:xfrm>
            <a:prstGeom prst="line">
              <a:avLst/>
            </a:prstGeom>
            <a:ln w="57150" cap="flat" cmpd="sng">
              <a:solidFill>
                <a:srgbClr val="CC3300"/>
              </a:solidFill>
              <a:prstDash val="solid"/>
              <a:round/>
              <a:headEnd type="none" w="med" len="med"/>
              <a:tailEnd type="triangle" w="med" len="med"/>
            </a:ln>
          </p:spPr>
        </p:sp>
      </p:grpSp>
      <p:sp>
        <p:nvSpPr>
          <p:cNvPr id="18518" name="Text Box 86"/>
          <p:cNvSpPr txBox="1"/>
          <p:nvPr/>
        </p:nvSpPr>
        <p:spPr>
          <a:xfrm>
            <a:off x="2493963" y="2846388"/>
            <a:ext cx="384175" cy="519112"/>
          </a:xfrm>
          <a:prstGeom prst="rect">
            <a:avLst/>
          </a:prstGeom>
          <a:noFill/>
          <a:ln w="28575">
            <a:noFill/>
          </a:ln>
        </p:spPr>
        <p:txBody>
          <a:bodyPr wrap="none" lIns="90000" tIns="46800" rIns="90000" bIns="46800" anchor="t" anchorCtr="0">
            <a:spAutoFit/>
          </a:bodyPr>
          <a:p>
            <a:r>
              <a:rPr lang="en-US" altLang="zh-CN" b="1" dirty="0">
                <a:solidFill>
                  <a:srgbClr val="0033CC"/>
                </a:solidFill>
                <a:latin typeface="Times New Roman" panose="02020603050405020304" charset="0"/>
                <a:ea typeface="宋体" panose="02010600030101010101" pitchFamily="2" charset="-122"/>
                <a:cs typeface="Times New Roman" panose="02020603050405020304" charset="0"/>
              </a:rPr>
              <a:t>+</a:t>
            </a:r>
            <a:endParaRPr lang="en-US" altLang="zh-CN" b="1" dirty="0">
              <a:solidFill>
                <a:srgbClr val="0033CC"/>
              </a:solidFill>
              <a:latin typeface="Times New Roman" panose="02020603050405020304" charset="0"/>
              <a:ea typeface="宋体" panose="02010600030101010101" pitchFamily="2" charset="-122"/>
              <a:cs typeface="Times New Roman" panose="02020603050405020304" charset="0"/>
            </a:endParaRPr>
          </a:p>
        </p:txBody>
      </p:sp>
      <p:sp>
        <p:nvSpPr>
          <p:cNvPr id="18519" name="Text Box 87"/>
          <p:cNvSpPr txBox="1"/>
          <p:nvPr/>
        </p:nvSpPr>
        <p:spPr>
          <a:xfrm>
            <a:off x="2051050" y="2914650"/>
            <a:ext cx="436563" cy="396875"/>
          </a:xfrm>
          <a:prstGeom prst="rect">
            <a:avLst/>
          </a:prstGeom>
          <a:noFill/>
          <a:ln w="28575">
            <a:noFill/>
          </a:ln>
        </p:spPr>
        <p:txBody>
          <a:bodyPr wrap="none" lIns="90000" tIns="46800" rIns="90000" bIns="46800" anchor="t" anchorCtr="0">
            <a:spAutoFit/>
          </a:bodyPr>
          <a:p>
            <a:r>
              <a:rPr lang="zh-CN" altLang="en-US" sz="2000" b="1" dirty="0">
                <a:solidFill>
                  <a:srgbClr val="0033CC"/>
                </a:solidFill>
                <a:latin typeface="Times New Roman" panose="02020603050405020304" charset="0"/>
                <a:ea typeface="宋体" panose="02010600030101010101" pitchFamily="2" charset="-122"/>
              </a:rPr>
              <a:t>－</a:t>
            </a:r>
            <a:endParaRPr lang="zh-CN" altLang="en-US" sz="2000" b="1" dirty="0">
              <a:solidFill>
                <a:srgbClr val="0033CC"/>
              </a:solidFill>
              <a:latin typeface="Times New Roman" panose="02020603050405020304" charset="0"/>
              <a:ea typeface="宋体" panose="02010600030101010101" pitchFamily="2" charset="-122"/>
            </a:endParaRPr>
          </a:p>
        </p:txBody>
      </p:sp>
      <p:sp>
        <p:nvSpPr>
          <p:cNvPr id="18520" name="Line 88"/>
          <p:cNvSpPr/>
          <p:nvPr/>
        </p:nvSpPr>
        <p:spPr>
          <a:xfrm>
            <a:off x="2700338" y="2606675"/>
            <a:ext cx="0" cy="360363"/>
          </a:xfrm>
          <a:prstGeom prst="line">
            <a:avLst/>
          </a:prstGeom>
          <a:ln w="28575" cap="flat" cmpd="sng">
            <a:solidFill>
              <a:schemeClr val="tx1"/>
            </a:solidFill>
            <a:prstDash val="solid"/>
            <a:round/>
            <a:headEnd type="none" w="med" len="med"/>
            <a:tailEnd type="none" w="med" len="med"/>
          </a:ln>
        </p:spPr>
      </p:sp>
      <p:grpSp>
        <p:nvGrpSpPr>
          <p:cNvPr id="335961" name="Group 89"/>
          <p:cNvGrpSpPr/>
          <p:nvPr/>
        </p:nvGrpSpPr>
        <p:grpSpPr>
          <a:xfrm>
            <a:off x="2914650" y="2895600"/>
            <a:ext cx="433388" cy="935038"/>
            <a:chOff x="3514" y="1933"/>
            <a:chExt cx="273" cy="589"/>
          </a:xfrm>
        </p:grpSpPr>
        <p:sp>
          <p:nvSpPr>
            <p:cNvPr id="18522" name="Line 90"/>
            <p:cNvSpPr/>
            <p:nvPr/>
          </p:nvSpPr>
          <p:spPr>
            <a:xfrm>
              <a:off x="3514" y="1933"/>
              <a:ext cx="182" cy="0"/>
            </a:xfrm>
            <a:prstGeom prst="line">
              <a:avLst/>
            </a:prstGeom>
            <a:ln w="38100" cap="flat" cmpd="sng">
              <a:solidFill>
                <a:srgbClr val="CC3300"/>
              </a:solidFill>
              <a:prstDash val="sysDot"/>
              <a:round/>
              <a:headEnd type="none" w="med" len="med"/>
              <a:tailEnd type="none" w="med" len="med"/>
            </a:ln>
          </p:spPr>
        </p:sp>
        <p:sp>
          <p:nvSpPr>
            <p:cNvPr id="18523" name="AutoShape 91"/>
            <p:cNvSpPr/>
            <p:nvPr/>
          </p:nvSpPr>
          <p:spPr>
            <a:xfrm flipV="1">
              <a:off x="3605" y="2160"/>
              <a:ext cx="182" cy="136"/>
            </a:xfrm>
            <a:prstGeom prst="triangle">
              <a:avLst>
                <a:gd name="adj" fmla="val 50000"/>
              </a:avLst>
            </a:prstGeom>
            <a:noFill/>
            <a:ln w="28575" cap="flat" cmpd="sng">
              <a:solidFill>
                <a:srgbClr val="CC3300"/>
              </a:solidFill>
              <a:prstDash val="solid"/>
              <a:miter/>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8524" name="Line 92"/>
            <p:cNvSpPr/>
            <p:nvPr/>
          </p:nvSpPr>
          <p:spPr>
            <a:xfrm>
              <a:off x="3696" y="1933"/>
              <a:ext cx="0" cy="227"/>
            </a:xfrm>
            <a:prstGeom prst="line">
              <a:avLst/>
            </a:prstGeom>
            <a:ln w="38100" cap="flat" cmpd="sng">
              <a:solidFill>
                <a:srgbClr val="CC3300"/>
              </a:solidFill>
              <a:prstDash val="sysDot"/>
              <a:round/>
              <a:headEnd type="none" w="med" len="med"/>
              <a:tailEnd type="none" w="med" len="med"/>
            </a:ln>
          </p:spPr>
        </p:sp>
        <p:sp>
          <p:nvSpPr>
            <p:cNvPr id="18525" name="Line 93"/>
            <p:cNvSpPr/>
            <p:nvPr/>
          </p:nvSpPr>
          <p:spPr>
            <a:xfrm>
              <a:off x="3605" y="2296"/>
              <a:ext cx="182" cy="0"/>
            </a:xfrm>
            <a:prstGeom prst="line">
              <a:avLst/>
            </a:prstGeom>
            <a:ln w="28575" cap="flat" cmpd="sng">
              <a:solidFill>
                <a:srgbClr val="CC3300"/>
              </a:solidFill>
              <a:prstDash val="solid"/>
              <a:round/>
              <a:headEnd type="none" w="med" len="med"/>
              <a:tailEnd type="none" w="med" len="med"/>
            </a:ln>
          </p:spPr>
        </p:sp>
        <p:sp>
          <p:nvSpPr>
            <p:cNvPr id="18526" name="Line 94"/>
            <p:cNvSpPr/>
            <p:nvPr/>
          </p:nvSpPr>
          <p:spPr>
            <a:xfrm>
              <a:off x="3696" y="2341"/>
              <a:ext cx="0" cy="181"/>
            </a:xfrm>
            <a:prstGeom prst="line">
              <a:avLst/>
            </a:prstGeom>
            <a:ln w="38100" cap="flat" cmpd="sng">
              <a:solidFill>
                <a:srgbClr val="CC3300"/>
              </a:solidFill>
              <a:prstDash val="sysDot"/>
              <a:round/>
              <a:headEnd type="none" w="med" len="med"/>
              <a:tailEnd type="none" w="med" len="med"/>
            </a:ln>
          </p:spPr>
        </p:sp>
        <p:sp>
          <p:nvSpPr>
            <p:cNvPr id="18527" name="Line 95"/>
            <p:cNvSpPr/>
            <p:nvPr/>
          </p:nvSpPr>
          <p:spPr>
            <a:xfrm flipH="1">
              <a:off x="3515" y="2522"/>
              <a:ext cx="181" cy="0"/>
            </a:xfrm>
            <a:prstGeom prst="line">
              <a:avLst/>
            </a:prstGeom>
            <a:ln w="38100" cap="flat" cmpd="sng">
              <a:solidFill>
                <a:srgbClr val="CC3300"/>
              </a:solidFill>
              <a:prstDash val="sysDot"/>
              <a:round/>
              <a:headEnd type="none" w="med" len="med"/>
              <a:tailEnd type="none" w="med" len="med"/>
            </a:ln>
          </p:spPr>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59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59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nodeType="clickEffect">
                                  <p:stCondLst>
                                    <p:cond delay="0"/>
                                  </p:stCondLst>
                                  <p:childTnLst>
                                    <p:set>
                                      <p:cBhvr>
                                        <p:cTn id="14" dur="1" fill="hold">
                                          <p:stCondLst>
                                            <p:cond delay="0"/>
                                          </p:stCondLst>
                                        </p:cTn>
                                        <p:tgtEl>
                                          <p:spTgt spid="335953"/>
                                        </p:tgtEl>
                                        <p:attrNameLst>
                                          <p:attrName>style.visibility</p:attrName>
                                        </p:attrNameLst>
                                      </p:cBhvr>
                                      <p:to>
                                        <p:strVal val="visible"/>
                                      </p:to>
                                    </p:set>
                                    <p:animEffect transition="in" filter="strips(downLeft)">
                                      <p:cBhvr>
                                        <p:cTn id="15" dur="500"/>
                                        <p:tgtEl>
                                          <p:spTgt spid="33595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3594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3595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3595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5932"/>
                                        </p:tgtEl>
                                        <p:attrNameLst>
                                          <p:attrName>style.visibility</p:attrName>
                                        </p:attrNameLst>
                                      </p:cBhvr>
                                      <p:to>
                                        <p:strVal val="visible"/>
                                      </p:to>
                                    </p:set>
                                    <p:animEffect transition="in" filter="wipe(left)">
                                      <p:cBhvr>
                                        <p:cTn id="32" dur="500"/>
                                        <p:tgtEl>
                                          <p:spTgt spid="3359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35926"/>
                                        </p:tgtEl>
                                        <p:attrNameLst>
                                          <p:attrName>style.visibility</p:attrName>
                                        </p:attrNameLst>
                                      </p:cBhvr>
                                      <p:to>
                                        <p:strVal val="visible"/>
                                      </p:to>
                                    </p:set>
                                    <p:animEffect transition="in" filter="wipe(up)">
                                      <p:cBhvr>
                                        <p:cTn id="37" dur="500"/>
                                        <p:tgtEl>
                                          <p:spTgt spid="3359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35927"/>
                                        </p:tgtEl>
                                        <p:attrNameLst>
                                          <p:attrName>style.visibility</p:attrName>
                                        </p:attrNameLst>
                                      </p:cBhvr>
                                      <p:to>
                                        <p:strVal val="visible"/>
                                      </p:to>
                                    </p:set>
                                    <p:animEffect transition="in" filter="wipe(down)">
                                      <p:cBhvr>
                                        <p:cTn id="42" dur="500"/>
                                        <p:tgtEl>
                                          <p:spTgt spid="3359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5933"/>
                                        </p:tgtEl>
                                        <p:attrNameLst>
                                          <p:attrName>style.visibility</p:attrName>
                                        </p:attrNameLst>
                                      </p:cBhvr>
                                      <p:to>
                                        <p:strVal val="visible"/>
                                      </p:to>
                                    </p:set>
                                    <p:animEffect transition="in" filter="wipe(left)">
                                      <p:cBhvr>
                                        <p:cTn id="47" dur="500"/>
                                        <p:tgtEl>
                                          <p:spTgt spid="33593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35928"/>
                                        </p:tgtEl>
                                        <p:attrNameLst>
                                          <p:attrName>style.visibility</p:attrName>
                                        </p:attrNameLst>
                                      </p:cBhvr>
                                      <p:to>
                                        <p:strVal val="visible"/>
                                      </p:to>
                                    </p:set>
                                    <p:animEffect transition="in" filter="wipe(down)">
                                      <p:cBhvr>
                                        <p:cTn id="52" dur="500"/>
                                        <p:tgtEl>
                                          <p:spTgt spid="335928"/>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3359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35952"/>
                                        </p:tgtEl>
                                        <p:attrNameLst>
                                          <p:attrName>style.visibility</p:attrName>
                                        </p:attrNameLst>
                                      </p:cBhvr>
                                      <p:to>
                                        <p:strVal val="visible"/>
                                      </p:to>
                                    </p:set>
                                    <p:animEffect transition="in" filter="blinds(horizontal)">
                                      <p:cBhvr>
                                        <p:cTn id="61" dur="500"/>
                                        <p:tgtEl>
                                          <p:spTgt spid="33595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35934"/>
                                        </p:tgtEl>
                                        <p:attrNameLst>
                                          <p:attrName>style.visibility</p:attrName>
                                        </p:attrNameLst>
                                      </p:cBhvr>
                                      <p:to>
                                        <p:strVal val="visible"/>
                                      </p:to>
                                    </p:set>
                                    <p:animEffect transition="in" filter="wipe(left)">
                                      <p:cBhvr>
                                        <p:cTn id="66" dur="500"/>
                                        <p:tgtEl>
                                          <p:spTgt spid="335934"/>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3596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335930"/>
                                        </p:tgtEl>
                                        <p:attrNameLst>
                                          <p:attrName>style.visibility</p:attrName>
                                        </p:attrNameLst>
                                      </p:cBhvr>
                                      <p:to>
                                        <p:strVal val="visible"/>
                                      </p:to>
                                    </p:set>
                                    <p:animEffect transition="in" filter="wipe(down)">
                                      <p:cBhvr>
                                        <p:cTn id="75" dur="500"/>
                                        <p:tgtEl>
                                          <p:spTgt spid="33593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335931"/>
                                        </p:tgtEl>
                                        <p:attrNameLst>
                                          <p:attrName>style.visibility</p:attrName>
                                        </p:attrNameLst>
                                      </p:cBhvr>
                                      <p:to>
                                        <p:strVal val="visible"/>
                                      </p:to>
                                    </p:set>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499"/>
                                          </p:stCondLst>
                                        </p:cTn>
                                        <p:tgtEl>
                                          <p:spTgt spid="3359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929" grpId="0"/>
      <p:bldP spid="335931" grpId="0"/>
      <p:bldP spid="335932" grpId="0"/>
      <p:bldP spid="335933" grpId="0"/>
      <p:bldP spid="335934" grpId="0"/>
      <p:bldP spid="335947" grpId="0"/>
      <p:bldP spid="335948" grpId="0"/>
      <p:bldP spid="335949" grpId="0"/>
      <p:bldP spid="335950" grpId="0"/>
      <p:bldP spid="335951" grpId="0"/>
      <p:bldP spid="33595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0" y="5943600"/>
            <a:ext cx="9144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4"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9458" name="Group 2"/>
          <p:cNvGrpSpPr/>
          <p:nvPr/>
        </p:nvGrpSpPr>
        <p:grpSpPr>
          <a:xfrm>
            <a:off x="381000" y="1022350"/>
            <a:ext cx="3400425" cy="2860675"/>
            <a:chOff x="240" y="144"/>
            <a:chExt cx="2142" cy="1802"/>
          </a:xfrm>
        </p:grpSpPr>
        <p:grpSp>
          <p:nvGrpSpPr>
            <p:cNvPr id="19459" name="Group 3"/>
            <p:cNvGrpSpPr/>
            <p:nvPr/>
          </p:nvGrpSpPr>
          <p:grpSpPr>
            <a:xfrm>
              <a:off x="240" y="144"/>
              <a:ext cx="2142" cy="1802"/>
              <a:chOff x="144" y="1776"/>
              <a:chExt cx="2142" cy="1802"/>
            </a:xfrm>
          </p:grpSpPr>
          <p:sp>
            <p:nvSpPr>
              <p:cNvPr id="19460" name="Rectangle 4"/>
              <p:cNvSpPr/>
              <p:nvPr/>
            </p:nvSpPr>
            <p:spPr>
              <a:xfrm>
                <a:off x="432"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cs typeface="Times New Roman" panose="02020603050405020304" charset="0"/>
                  </a:rPr>
                  <a:t>≥1</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19461" name="Oval 5"/>
              <p:cNvSpPr/>
              <p:nvPr/>
            </p:nvSpPr>
            <p:spPr>
              <a:xfrm>
                <a:off x="624"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9462" name="Line 6"/>
              <p:cNvSpPr/>
              <p:nvPr/>
            </p:nvSpPr>
            <p:spPr>
              <a:xfrm>
                <a:off x="528" y="2736"/>
                <a:ext cx="0" cy="768"/>
              </a:xfrm>
              <a:prstGeom prst="line">
                <a:avLst/>
              </a:prstGeom>
              <a:ln w="28575" cap="flat" cmpd="sng">
                <a:solidFill>
                  <a:schemeClr val="tx1"/>
                </a:solidFill>
                <a:prstDash val="solid"/>
                <a:round/>
                <a:headEnd type="none" w="med" len="med"/>
                <a:tailEnd type="none" w="med" len="med"/>
              </a:ln>
            </p:spPr>
          </p:sp>
          <p:sp>
            <p:nvSpPr>
              <p:cNvPr id="19463" name="Line 7"/>
              <p:cNvSpPr/>
              <p:nvPr/>
            </p:nvSpPr>
            <p:spPr>
              <a:xfrm flipV="1">
                <a:off x="672" y="1920"/>
                <a:ext cx="0" cy="432"/>
              </a:xfrm>
              <a:prstGeom prst="line">
                <a:avLst/>
              </a:prstGeom>
              <a:ln w="28575" cap="flat" cmpd="sng">
                <a:solidFill>
                  <a:schemeClr val="tx1"/>
                </a:solidFill>
                <a:prstDash val="solid"/>
                <a:round/>
                <a:headEnd type="none" w="med" len="med"/>
                <a:tailEnd type="none" w="med" len="med"/>
              </a:ln>
            </p:spPr>
          </p:sp>
          <p:sp>
            <p:nvSpPr>
              <p:cNvPr id="19464" name="Rectangle 8"/>
              <p:cNvSpPr/>
              <p:nvPr/>
            </p:nvSpPr>
            <p:spPr>
              <a:xfrm>
                <a:off x="1488" y="2448"/>
                <a:ext cx="480" cy="288"/>
              </a:xfrm>
              <a:prstGeom prst="rect">
                <a:avLst/>
              </a:prstGeom>
              <a:noFill/>
              <a:ln w="38100" cap="flat" cmpd="sng">
                <a:solidFill>
                  <a:schemeClr val="tx1"/>
                </a:solidFill>
                <a:prstDash val="solid"/>
                <a:miter/>
                <a:headEnd type="none" w="med" len="med"/>
                <a:tailEnd type="none" w="med" len="med"/>
              </a:ln>
            </p:spPr>
            <p:txBody>
              <a:bodyPr lIns="90000" tIns="46800" rIns="90000" bIns="46800" anchor="ctr" anchorCtr="0"/>
              <a:p>
                <a:pPr algn="ctr"/>
                <a:r>
                  <a:rPr lang="en-US" altLang="zh-CN" sz="2400" b="1" dirty="0">
                    <a:latin typeface="Times New Roman" panose="02020603050405020304" charset="0"/>
                    <a:ea typeface="宋体" panose="02010600030101010101" pitchFamily="2" charset="-122"/>
                    <a:cs typeface="Times New Roman" panose="02020603050405020304" charset="0"/>
                  </a:rPr>
                  <a:t>≥1</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19465" name="Oval 9"/>
              <p:cNvSpPr/>
              <p:nvPr/>
            </p:nvSpPr>
            <p:spPr>
              <a:xfrm>
                <a:off x="1680" y="2352"/>
                <a:ext cx="96" cy="96"/>
              </a:xfrm>
              <a:prstGeom prst="ellipse">
                <a:avLst/>
              </a:prstGeom>
              <a:noFill/>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9466" name="Line 10"/>
              <p:cNvSpPr/>
              <p:nvPr/>
            </p:nvSpPr>
            <p:spPr>
              <a:xfrm flipV="1">
                <a:off x="1728" y="1920"/>
                <a:ext cx="0" cy="432"/>
              </a:xfrm>
              <a:prstGeom prst="line">
                <a:avLst/>
              </a:prstGeom>
              <a:ln w="28575" cap="flat" cmpd="sng">
                <a:solidFill>
                  <a:schemeClr val="tx1"/>
                </a:solidFill>
                <a:prstDash val="solid"/>
                <a:round/>
                <a:headEnd type="none" w="med" len="med"/>
                <a:tailEnd type="none" w="med" len="med"/>
              </a:ln>
            </p:spPr>
          </p:sp>
          <p:sp>
            <p:nvSpPr>
              <p:cNvPr id="19467" name="Line 11"/>
              <p:cNvSpPr/>
              <p:nvPr/>
            </p:nvSpPr>
            <p:spPr>
              <a:xfrm>
                <a:off x="672" y="2160"/>
                <a:ext cx="288" cy="0"/>
              </a:xfrm>
              <a:prstGeom prst="line">
                <a:avLst/>
              </a:prstGeom>
              <a:ln w="28575" cap="flat" cmpd="sng">
                <a:solidFill>
                  <a:schemeClr val="tx1"/>
                </a:solidFill>
                <a:prstDash val="solid"/>
                <a:round/>
                <a:headEnd type="none" w="med" len="med"/>
                <a:tailEnd type="none" w="med" len="med"/>
              </a:ln>
            </p:spPr>
          </p:sp>
          <p:sp>
            <p:nvSpPr>
              <p:cNvPr id="19468" name="Line 12"/>
              <p:cNvSpPr/>
              <p:nvPr/>
            </p:nvSpPr>
            <p:spPr>
              <a:xfrm>
                <a:off x="1440" y="2784"/>
                <a:ext cx="0" cy="288"/>
              </a:xfrm>
              <a:prstGeom prst="line">
                <a:avLst/>
              </a:prstGeom>
              <a:ln w="28575" cap="flat" cmpd="sng">
                <a:solidFill>
                  <a:schemeClr val="tx1"/>
                </a:solidFill>
                <a:prstDash val="solid"/>
                <a:round/>
                <a:headEnd type="none" w="med" len="med"/>
                <a:tailEnd type="none" w="med" len="med"/>
              </a:ln>
            </p:spPr>
          </p:sp>
          <p:sp>
            <p:nvSpPr>
              <p:cNvPr id="19469" name="Line 13"/>
              <p:cNvSpPr/>
              <p:nvPr/>
            </p:nvSpPr>
            <p:spPr>
              <a:xfrm>
                <a:off x="1488" y="2784"/>
                <a:ext cx="0" cy="288"/>
              </a:xfrm>
              <a:prstGeom prst="line">
                <a:avLst/>
              </a:prstGeom>
              <a:ln w="28575" cap="flat" cmpd="sng">
                <a:solidFill>
                  <a:schemeClr val="tx1"/>
                </a:solidFill>
                <a:prstDash val="solid"/>
                <a:round/>
                <a:headEnd type="none" w="med" len="med"/>
                <a:tailEnd type="none" w="med" len="med"/>
              </a:ln>
            </p:spPr>
          </p:sp>
          <p:sp>
            <p:nvSpPr>
              <p:cNvPr id="19470" name="Line 14"/>
              <p:cNvSpPr/>
              <p:nvPr/>
            </p:nvSpPr>
            <p:spPr>
              <a:xfrm>
                <a:off x="1488" y="2928"/>
                <a:ext cx="240" cy="0"/>
              </a:xfrm>
              <a:prstGeom prst="line">
                <a:avLst/>
              </a:prstGeom>
              <a:ln w="28575" cap="flat" cmpd="sng">
                <a:solidFill>
                  <a:schemeClr val="tx1"/>
                </a:solidFill>
                <a:prstDash val="solid"/>
                <a:round/>
                <a:headEnd type="none" w="med" len="med"/>
                <a:tailEnd type="none" w="med" len="med"/>
              </a:ln>
            </p:spPr>
          </p:sp>
          <p:sp>
            <p:nvSpPr>
              <p:cNvPr id="19471" name="Rectangle 15"/>
              <p:cNvSpPr/>
              <p:nvPr/>
            </p:nvSpPr>
            <p:spPr>
              <a:xfrm>
                <a:off x="1680" y="3024"/>
                <a:ext cx="96" cy="288"/>
              </a:xfrm>
              <a:prstGeom prst="rect">
                <a:avLst/>
              </a:prstGeom>
              <a:noFill/>
              <a:ln w="38100" cap="flat" cmpd="sng">
                <a:solidFill>
                  <a:schemeClr val="tx1"/>
                </a:solidFill>
                <a:prstDash val="solid"/>
                <a:miter/>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9472" name="Line 16"/>
              <p:cNvSpPr/>
              <p:nvPr/>
            </p:nvSpPr>
            <p:spPr>
              <a:xfrm>
                <a:off x="1728" y="2736"/>
                <a:ext cx="0" cy="288"/>
              </a:xfrm>
              <a:prstGeom prst="line">
                <a:avLst/>
              </a:prstGeom>
              <a:ln w="28575" cap="flat" cmpd="sng">
                <a:solidFill>
                  <a:schemeClr val="tx1"/>
                </a:solidFill>
                <a:prstDash val="solid"/>
                <a:round/>
                <a:headEnd type="none" w="med" len="med"/>
                <a:tailEnd type="none" w="med" len="med"/>
              </a:ln>
            </p:spPr>
          </p:sp>
          <p:sp>
            <p:nvSpPr>
              <p:cNvPr id="19473" name="Line 17"/>
              <p:cNvSpPr/>
              <p:nvPr/>
            </p:nvSpPr>
            <p:spPr>
              <a:xfrm>
                <a:off x="1728" y="3312"/>
                <a:ext cx="0" cy="192"/>
              </a:xfrm>
              <a:prstGeom prst="line">
                <a:avLst/>
              </a:prstGeom>
              <a:ln w="28575" cap="flat" cmpd="sng">
                <a:solidFill>
                  <a:schemeClr val="tx1"/>
                </a:solidFill>
                <a:prstDash val="solid"/>
                <a:round/>
                <a:headEnd type="none" w="med" len="med"/>
                <a:tailEnd type="none" w="med" len="med"/>
              </a:ln>
            </p:spPr>
          </p:sp>
          <p:sp>
            <p:nvSpPr>
              <p:cNvPr id="19474" name="Line 18"/>
              <p:cNvSpPr/>
              <p:nvPr/>
            </p:nvSpPr>
            <p:spPr>
              <a:xfrm flipH="1">
                <a:off x="1440" y="2160"/>
                <a:ext cx="288" cy="0"/>
              </a:xfrm>
              <a:prstGeom prst="line">
                <a:avLst/>
              </a:prstGeom>
              <a:ln w="28575" cap="flat" cmpd="sng">
                <a:solidFill>
                  <a:schemeClr val="tx1"/>
                </a:solidFill>
                <a:prstDash val="solid"/>
                <a:round/>
                <a:headEnd type="none" w="med" len="med"/>
                <a:tailEnd type="none" w="med" len="med"/>
              </a:ln>
            </p:spPr>
          </p:sp>
          <p:sp>
            <p:nvSpPr>
              <p:cNvPr id="19475" name="Line 19"/>
              <p:cNvSpPr/>
              <p:nvPr/>
            </p:nvSpPr>
            <p:spPr>
              <a:xfrm>
                <a:off x="816" y="2736"/>
                <a:ext cx="0" cy="192"/>
              </a:xfrm>
              <a:prstGeom prst="line">
                <a:avLst/>
              </a:prstGeom>
              <a:ln w="28575" cap="flat" cmpd="sng">
                <a:solidFill>
                  <a:schemeClr val="tx1"/>
                </a:solidFill>
                <a:prstDash val="solid"/>
                <a:round/>
                <a:headEnd type="none" w="med" len="med"/>
                <a:tailEnd type="none" w="med" len="med"/>
              </a:ln>
            </p:spPr>
          </p:sp>
          <p:sp>
            <p:nvSpPr>
              <p:cNvPr id="19476" name="Line 20"/>
              <p:cNvSpPr/>
              <p:nvPr/>
            </p:nvSpPr>
            <p:spPr>
              <a:xfrm>
                <a:off x="816" y="2928"/>
                <a:ext cx="192" cy="0"/>
              </a:xfrm>
              <a:prstGeom prst="line">
                <a:avLst/>
              </a:prstGeom>
              <a:ln w="28575" cap="flat" cmpd="sng">
                <a:solidFill>
                  <a:schemeClr val="tx1"/>
                </a:solidFill>
                <a:prstDash val="solid"/>
                <a:round/>
                <a:headEnd type="none" w="med" len="med"/>
                <a:tailEnd type="none" w="med" len="med"/>
              </a:ln>
            </p:spPr>
          </p:sp>
          <p:sp>
            <p:nvSpPr>
              <p:cNvPr id="19477" name="Line 21"/>
              <p:cNvSpPr/>
              <p:nvPr/>
            </p:nvSpPr>
            <p:spPr>
              <a:xfrm flipH="1">
                <a:off x="1008" y="2160"/>
                <a:ext cx="432" cy="768"/>
              </a:xfrm>
              <a:prstGeom prst="line">
                <a:avLst/>
              </a:prstGeom>
              <a:ln w="28575" cap="flat" cmpd="sng">
                <a:solidFill>
                  <a:schemeClr val="tx1"/>
                </a:solidFill>
                <a:prstDash val="solid"/>
                <a:round/>
                <a:headEnd type="none" w="med" len="med"/>
                <a:tailEnd type="none" w="med" len="med"/>
              </a:ln>
            </p:spPr>
          </p:sp>
          <p:sp>
            <p:nvSpPr>
              <p:cNvPr id="19478" name="Line 22"/>
              <p:cNvSpPr/>
              <p:nvPr/>
            </p:nvSpPr>
            <p:spPr>
              <a:xfrm>
                <a:off x="960" y="2160"/>
                <a:ext cx="336" cy="768"/>
              </a:xfrm>
              <a:prstGeom prst="line">
                <a:avLst/>
              </a:prstGeom>
              <a:ln w="28575" cap="flat" cmpd="sng">
                <a:solidFill>
                  <a:schemeClr val="tx1"/>
                </a:solidFill>
                <a:prstDash val="solid"/>
                <a:round/>
                <a:headEnd type="none" w="med" len="med"/>
                <a:tailEnd type="none" w="med" len="med"/>
              </a:ln>
            </p:spPr>
          </p:sp>
          <p:sp>
            <p:nvSpPr>
              <p:cNvPr id="19479" name="Line 23"/>
              <p:cNvSpPr/>
              <p:nvPr/>
            </p:nvSpPr>
            <p:spPr>
              <a:xfrm>
                <a:off x="1296" y="2928"/>
                <a:ext cx="144" cy="0"/>
              </a:xfrm>
              <a:prstGeom prst="line">
                <a:avLst/>
              </a:prstGeom>
              <a:ln w="28575" cap="flat" cmpd="sng">
                <a:solidFill>
                  <a:schemeClr val="tx1"/>
                </a:solidFill>
                <a:prstDash val="solid"/>
                <a:round/>
                <a:headEnd type="none" w="med" len="med"/>
                <a:tailEnd type="none" w="med" len="med"/>
              </a:ln>
            </p:spPr>
          </p:sp>
          <p:sp>
            <p:nvSpPr>
              <p:cNvPr id="19480" name="Text Box 24"/>
              <p:cNvSpPr txBox="1"/>
              <p:nvPr/>
            </p:nvSpPr>
            <p:spPr>
              <a:xfrm>
                <a:off x="663" y="1802"/>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481" name="Text Box 25"/>
              <p:cNvSpPr txBox="1"/>
              <p:nvPr/>
            </p:nvSpPr>
            <p:spPr>
              <a:xfrm>
                <a:off x="1728" y="1776"/>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482" name="Text Box 26"/>
              <p:cNvSpPr txBox="1"/>
              <p:nvPr/>
            </p:nvSpPr>
            <p:spPr>
              <a:xfrm>
                <a:off x="1959" y="2426"/>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G</a:t>
                </a:r>
                <a:r>
                  <a:rPr lang="en-US" altLang="zh-CN" sz="2400" b="1" baseline="-25000" dirty="0">
                    <a:latin typeface="Times New Roman" panose="02020603050405020304" charset="0"/>
                    <a:ea typeface="宋体" panose="02010600030101010101" pitchFamily="2" charset="-122"/>
                    <a:cs typeface="Times New Roman" panose="02020603050405020304" charset="0"/>
                  </a:rPr>
                  <a:t>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483" name="Text Box 27"/>
              <p:cNvSpPr txBox="1"/>
              <p:nvPr/>
            </p:nvSpPr>
            <p:spPr>
              <a:xfrm>
                <a:off x="144" y="2448"/>
                <a:ext cx="327"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G</a:t>
                </a:r>
                <a:r>
                  <a:rPr lang="en-US" altLang="zh-CN" sz="2400" b="1" baseline="-25000" dirty="0">
                    <a:latin typeface="Times New Roman" panose="02020603050405020304" charset="0"/>
                    <a:ea typeface="宋体" panose="02010600030101010101" pitchFamily="2" charset="-122"/>
                    <a:cs typeface="Times New Roman" panose="02020603050405020304" charset="0"/>
                  </a:rPr>
                  <a:t>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484" name="Text Box 28"/>
              <p:cNvSpPr txBox="1"/>
              <p:nvPr/>
            </p:nvSpPr>
            <p:spPr>
              <a:xfrm>
                <a:off x="528" y="3264"/>
                <a:ext cx="363" cy="288"/>
              </a:xfrm>
              <a:prstGeom prst="rect">
                <a:avLst/>
              </a:prstGeom>
              <a:noFill/>
              <a:ln w="28575">
                <a:noFill/>
              </a:ln>
            </p:spPr>
            <p:txBody>
              <a:bodyPr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485" name="Text Box 29"/>
              <p:cNvSpPr txBox="1"/>
              <p:nvPr/>
            </p:nvSpPr>
            <p:spPr>
              <a:xfrm>
                <a:off x="1719" y="3290"/>
                <a:ext cx="437" cy="288"/>
              </a:xfrm>
              <a:prstGeom prst="rect">
                <a:avLst/>
              </a:prstGeom>
              <a:noFill/>
              <a:ln w="28575">
                <a:noFill/>
              </a:ln>
            </p:spPr>
            <p:txBody>
              <a:bodyPr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DD</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19486" name="Text Box 30"/>
            <p:cNvSpPr txBox="1"/>
            <p:nvPr/>
          </p:nvSpPr>
          <p:spPr>
            <a:xfrm>
              <a:off x="1815" y="1149"/>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19487" name="Line 31"/>
          <p:cNvSpPr/>
          <p:nvPr/>
        </p:nvSpPr>
        <p:spPr>
          <a:xfrm>
            <a:off x="5105400" y="1403350"/>
            <a:ext cx="152400" cy="0"/>
          </a:xfrm>
          <a:prstGeom prst="line">
            <a:avLst/>
          </a:prstGeom>
          <a:ln w="57150" cap="flat" cmpd="sng">
            <a:solidFill>
              <a:schemeClr val="tx2"/>
            </a:solidFill>
            <a:prstDash val="solid"/>
            <a:round/>
            <a:headEnd type="none" w="med" len="med"/>
            <a:tailEnd type="none" w="med" len="med"/>
          </a:ln>
        </p:spPr>
      </p:sp>
      <p:sp>
        <p:nvSpPr>
          <p:cNvPr id="19488" name="Line 32"/>
          <p:cNvSpPr/>
          <p:nvPr/>
        </p:nvSpPr>
        <p:spPr>
          <a:xfrm>
            <a:off x="5257800" y="1403350"/>
            <a:ext cx="0" cy="685800"/>
          </a:xfrm>
          <a:prstGeom prst="line">
            <a:avLst/>
          </a:prstGeom>
          <a:ln w="57150" cap="flat" cmpd="sng">
            <a:solidFill>
              <a:schemeClr val="tx2"/>
            </a:solidFill>
            <a:prstDash val="solid"/>
            <a:round/>
            <a:headEnd type="none" w="med" len="med"/>
            <a:tailEnd type="none" w="med" len="med"/>
          </a:ln>
        </p:spPr>
      </p:sp>
      <p:sp>
        <p:nvSpPr>
          <p:cNvPr id="19489" name="Line 33"/>
          <p:cNvSpPr/>
          <p:nvPr/>
        </p:nvSpPr>
        <p:spPr>
          <a:xfrm>
            <a:off x="5257800" y="2089150"/>
            <a:ext cx="838200" cy="0"/>
          </a:xfrm>
          <a:prstGeom prst="line">
            <a:avLst/>
          </a:prstGeom>
          <a:ln w="57150" cap="flat" cmpd="sng">
            <a:solidFill>
              <a:schemeClr val="tx2"/>
            </a:solidFill>
            <a:prstDash val="solid"/>
            <a:round/>
            <a:headEnd type="none" w="med" len="med"/>
            <a:tailEnd type="none" w="med" len="med"/>
          </a:ln>
        </p:spPr>
      </p:sp>
      <p:sp>
        <p:nvSpPr>
          <p:cNvPr id="19490" name="Line 34"/>
          <p:cNvSpPr/>
          <p:nvPr/>
        </p:nvSpPr>
        <p:spPr>
          <a:xfrm>
            <a:off x="5105400" y="3460750"/>
            <a:ext cx="990600" cy="0"/>
          </a:xfrm>
          <a:prstGeom prst="line">
            <a:avLst/>
          </a:prstGeom>
          <a:ln w="57150" cap="flat" cmpd="sng">
            <a:solidFill>
              <a:schemeClr val="tx2"/>
            </a:solidFill>
            <a:prstDash val="solid"/>
            <a:round/>
            <a:headEnd type="none" w="med" len="med"/>
            <a:tailEnd type="none" w="med" len="med"/>
          </a:ln>
        </p:spPr>
      </p:sp>
      <p:sp>
        <p:nvSpPr>
          <p:cNvPr id="19491" name="Freeform 35"/>
          <p:cNvSpPr/>
          <p:nvPr/>
        </p:nvSpPr>
        <p:spPr>
          <a:xfrm>
            <a:off x="5105400" y="4603750"/>
            <a:ext cx="990600" cy="381000"/>
          </a:xfrm>
          <a:custGeom>
            <a:avLst/>
            <a:gdLst/>
            <a:ahLst/>
            <a:cxnLst>
              <a:cxn ang="0">
                <a:pos x="0" y="756046875"/>
              </a:cxn>
              <a:cxn ang="0">
                <a:pos x="1572577500" y="0"/>
              </a:cxn>
            </a:cxnLst>
            <a:pathLst>
              <a:path w="624" h="192">
                <a:moveTo>
                  <a:pt x="0" y="192"/>
                </a:moveTo>
                <a:cubicBezTo>
                  <a:pt x="158" y="113"/>
                  <a:pt x="405" y="31"/>
                  <a:pt x="624" y="0"/>
                </a:cubicBezTo>
              </a:path>
            </a:pathLst>
          </a:custGeom>
          <a:noFill/>
          <a:ln w="57150" cap="flat" cmpd="sng">
            <a:solidFill>
              <a:schemeClr val="tx2"/>
            </a:solidFill>
            <a:prstDash val="solid"/>
            <a:round/>
            <a:headEnd type="none" w="med" len="med"/>
            <a:tailEnd type="none" w="med" len="med"/>
          </a:ln>
        </p:spPr>
        <p:txBody>
          <a:bodyPr/>
          <a:p>
            <a:endParaRPr lang="zh-CN" altLang="en-US">
              <a:latin typeface="Times New Roman" panose="02020603050405020304" charset="0"/>
              <a:cs typeface="Times New Roman" panose="02020603050405020304" charset="0"/>
            </a:endParaRPr>
          </a:p>
        </p:txBody>
      </p:sp>
      <p:sp>
        <p:nvSpPr>
          <p:cNvPr id="19492" name="Line 36"/>
          <p:cNvSpPr/>
          <p:nvPr/>
        </p:nvSpPr>
        <p:spPr>
          <a:xfrm>
            <a:off x="4419600" y="4603750"/>
            <a:ext cx="1676400" cy="0"/>
          </a:xfrm>
          <a:prstGeom prst="line">
            <a:avLst/>
          </a:prstGeom>
          <a:ln w="12700" cap="flat" cmpd="sng">
            <a:solidFill>
              <a:schemeClr val="tx2"/>
            </a:solidFill>
            <a:prstDash val="lgDash"/>
            <a:round/>
            <a:headEnd type="none" w="med" len="med"/>
            <a:tailEnd type="none" w="med" len="med"/>
          </a:ln>
        </p:spPr>
      </p:sp>
      <p:sp>
        <p:nvSpPr>
          <p:cNvPr id="19493" name="Line 37"/>
          <p:cNvSpPr/>
          <p:nvPr/>
        </p:nvSpPr>
        <p:spPr>
          <a:xfrm>
            <a:off x="5105400" y="5594350"/>
            <a:ext cx="990600" cy="0"/>
          </a:xfrm>
          <a:prstGeom prst="line">
            <a:avLst/>
          </a:prstGeom>
          <a:ln w="57150" cap="flat" cmpd="sng">
            <a:solidFill>
              <a:schemeClr val="tx2"/>
            </a:solidFill>
            <a:prstDash val="solid"/>
            <a:round/>
            <a:headEnd type="none" w="med" len="med"/>
            <a:tailEnd type="none" w="med" len="med"/>
          </a:ln>
        </p:spPr>
      </p:sp>
      <p:sp>
        <p:nvSpPr>
          <p:cNvPr id="19494" name="Line 38"/>
          <p:cNvSpPr/>
          <p:nvPr/>
        </p:nvSpPr>
        <p:spPr>
          <a:xfrm>
            <a:off x="6096000" y="2089150"/>
            <a:ext cx="0" cy="4267200"/>
          </a:xfrm>
          <a:prstGeom prst="line">
            <a:avLst/>
          </a:prstGeom>
          <a:ln w="12700" cap="flat" cmpd="sng">
            <a:solidFill>
              <a:schemeClr val="tx2"/>
            </a:solidFill>
            <a:prstDash val="lgDash"/>
            <a:round/>
            <a:headEnd type="none" w="med" len="med"/>
            <a:tailEnd type="none" w="med" len="med"/>
          </a:ln>
        </p:spPr>
      </p:sp>
      <p:sp>
        <p:nvSpPr>
          <p:cNvPr id="19495" name="Text Box 39"/>
          <p:cNvSpPr txBox="1"/>
          <p:nvPr/>
        </p:nvSpPr>
        <p:spPr>
          <a:xfrm>
            <a:off x="5319713" y="4187825"/>
            <a:ext cx="695325" cy="457200"/>
          </a:xfrm>
          <a:prstGeom prst="rect">
            <a:avLst/>
          </a:prstGeom>
          <a:noFill/>
          <a:ln w="28575">
            <a:noFill/>
          </a:ln>
        </p:spPr>
        <p:txBody>
          <a:bodyPr wrap="none" lIns="90000" tIns="46800" rIns="90000" bIns="46800" anchor="t" anchorCtr="0">
            <a:spAutoFit/>
          </a:bodyPr>
          <a:p>
            <a:r>
              <a:rPr lang="en-US" altLang="zh-CN" sz="2400" b="1" dirty="0">
                <a:solidFill>
                  <a:schemeClr val="tx2"/>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chemeClr val="tx2"/>
                </a:solidFill>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solidFill>
                <a:schemeClr val="tx2"/>
              </a:solidFill>
              <a:latin typeface="Times New Roman" panose="02020603050405020304" charset="0"/>
              <a:ea typeface="宋体" panose="02010600030101010101" pitchFamily="2" charset="-122"/>
              <a:cs typeface="Times New Roman" panose="02020603050405020304" charset="0"/>
            </a:endParaRPr>
          </a:p>
        </p:txBody>
      </p:sp>
      <p:sp>
        <p:nvSpPr>
          <p:cNvPr id="19496" name="Text Box 40"/>
          <p:cNvSpPr txBox="1"/>
          <p:nvPr/>
        </p:nvSpPr>
        <p:spPr>
          <a:xfrm>
            <a:off x="2493963" y="2754313"/>
            <a:ext cx="384175" cy="519112"/>
          </a:xfrm>
          <a:prstGeom prst="rect">
            <a:avLst/>
          </a:prstGeom>
          <a:noFill/>
          <a:ln w="28575">
            <a:noFill/>
          </a:ln>
        </p:spPr>
        <p:txBody>
          <a:bodyPr wrap="none" lIns="90000" tIns="46800" rIns="90000" bIns="46800" anchor="t" anchorCtr="0">
            <a:spAutoFit/>
          </a:bodyPr>
          <a:p>
            <a:r>
              <a:rPr lang="en-US" altLang="zh-CN" b="1" dirty="0">
                <a:solidFill>
                  <a:srgbClr val="0033CC"/>
                </a:solidFill>
                <a:latin typeface="Times New Roman" panose="02020603050405020304" charset="0"/>
                <a:ea typeface="宋体" panose="02010600030101010101" pitchFamily="2" charset="-122"/>
                <a:cs typeface="Times New Roman" panose="02020603050405020304" charset="0"/>
              </a:rPr>
              <a:t>+</a:t>
            </a:r>
            <a:endParaRPr lang="en-US" altLang="zh-CN" b="1" dirty="0">
              <a:solidFill>
                <a:srgbClr val="0033CC"/>
              </a:solidFill>
              <a:latin typeface="Times New Roman" panose="02020603050405020304" charset="0"/>
              <a:ea typeface="宋体" panose="02010600030101010101" pitchFamily="2" charset="-122"/>
              <a:cs typeface="Times New Roman" panose="02020603050405020304" charset="0"/>
            </a:endParaRPr>
          </a:p>
        </p:txBody>
      </p:sp>
      <p:sp>
        <p:nvSpPr>
          <p:cNvPr id="19497" name="Text Box 41"/>
          <p:cNvSpPr txBox="1"/>
          <p:nvPr/>
        </p:nvSpPr>
        <p:spPr>
          <a:xfrm>
            <a:off x="2051050" y="2822575"/>
            <a:ext cx="436563" cy="396875"/>
          </a:xfrm>
          <a:prstGeom prst="rect">
            <a:avLst/>
          </a:prstGeom>
          <a:noFill/>
          <a:ln w="28575">
            <a:noFill/>
          </a:ln>
        </p:spPr>
        <p:txBody>
          <a:bodyPr wrap="none" lIns="90000" tIns="46800" rIns="90000" bIns="46800" anchor="t" anchorCtr="0">
            <a:spAutoFit/>
          </a:bodyPr>
          <a:p>
            <a:r>
              <a:rPr lang="zh-CN" altLang="en-US" sz="2000" b="1" dirty="0">
                <a:solidFill>
                  <a:srgbClr val="0033CC"/>
                </a:solidFill>
                <a:latin typeface="Times New Roman" panose="02020603050405020304" charset="0"/>
                <a:ea typeface="宋体" panose="02010600030101010101" pitchFamily="2" charset="-122"/>
              </a:rPr>
              <a:t>－</a:t>
            </a:r>
            <a:endParaRPr lang="zh-CN" altLang="en-US" sz="2000" b="1" dirty="0">
              <a:solidFill>
                <a:srgbClr val="0033CC"/>
              </a:solidFill>
              <a:latin typeface="Times New Roman" panose="02020603050405020304" charset="0"/>
              <a:ea typeface="宋体" panose="02010600030101010101" pitchFamily="2" charset="-122"/>
            </a:endParaRPr>
          </a:p>
        </p:txBody>
      </p:sp>
      <p:sp>
        <p:nvSpPr>
          <p:cNvPr id="19498" name="Text Box 42"/>
          <p:cNvSpPr txBox="1"/>
          <p:nvPr/>
        </p:nvSpPr>
        <p:spPr>
          <a:xfrm>
            <a:off x="6172200" y="4298950"/>
            <a:ext cx="1290638"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DD</a:t>
            </a:r>
            <a:r>
              <a:rPr lang="en-US" altLang="zh-CN" sz="2400" b="1" dirty="0">
                <a:latin typeface="Times New Roman" panose="02020603050405020304" charset="0"/>
                <a:ea typeface="宋体" panose="02010600030101010101" pitchFamily="2" charset="-122"/>
                <a:cs typeface="Times New Roman" panose="02020603050405020304" charset="0"/>
              </a:rPr>
              <a:t>+Δ</a:t>
            </a:r>
            <a:r>
              <a:rPr lang="en-US" altLang="zh-CN" sz="2400" b="1" baseline="-25000" dirty="0">
                <a:latin typeface="Times New Roman" panose="02020603050405020304" charset="0"/>
                <a:ea typeface="宋体" panose="02010600030101010101" pitchFamily="2" charset="-122"/>
                <a:cs typeface="Times New Roman" panose="02020603050405020304" charset="0"/>
              </a:rPr>
              <a:t>+</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499" name="Text Box 43"/>
          <p:cNvSpPr txBox="1"/>
          <p:nvPr/>
        </p:nvSpPr>
        <p:spPr>
          <a:xfrm>
            <a:off x="6172200" y="3460750"/>
            <a:ext cx="1381125" cy="457200"/>
          </a:xfrm>
          <a:prstGeom prst="rect">
            <a:avLst/>
          </a:prstGeom>
          <a:noFill/>
          <a:ln w="28575">
            <a:noFill/>
          </a:ln>
        </p:spPr>
        <p:txBody>
          <a:bodyPr lIns="90000" tIns="46800" rIns="90000" bIns="46800" anchor="t" anchorCtr="0">
            <a:spAutoFit/>
          </a:bodyPr>
          <a:p>
            <a:r>
              <a:rPr lang="en-US" altLang="zh-CN" sz="2400" b="1" dirty="0">
                <a:solidFill>
                  <a:srgbClr val="0033CC"/>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rgbClr val="0033CC"/>
                </a:solidFill>
                <a:latin typeface="Times New Roman" panose="02020603050405020304" charset="0"/>
                <a:ea typeface="宋体" panose="02010600030101010101" pitchFamily="2" charset="-122"/>
                <a:cs typeface="Times New Roman" panose="02020603050405020304" charset="0"/>
              </a:rPr>
              <a:t>DD</a:t>
            </a:r>
            <a:r>
              <a:rPr lang="en-US" altLang="zh-CN" sz="2400" b="1" dirty="0">
                <a:solidFill>
                  <a:srgbClr val="0033CC"/>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rgbClr val="0033CC"/>
                </a:solidFill>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solidFill>
                <a:srgbClr val="0033CC"/>
              </a:solidFill>
              <a:latin typeface="Times New Roman" panose="02020603050405020304" charset="0"/>
              <a:ea typeface="宋体" panose="02010600030101010101" pitchFamily="2" charset="-122"/>
              <a:cs typeface="Times New Roman" panose="02020603050405020304" charset="0"/>
            </a:endParaRPr>
          </a:p>
        </p:txBody>
      </p:sp>
      <p:sp>
        <p:nvSpPr>
          <p:cNvPr id="336940" name="Line 44"/>
          <p:cNvSpPr/>
          <p:nvPr/>
        </p:nvSpPr>
        <p:spPr>
          <a:xfrm>
            <a:off x="4419600" y="4298950"/>
            <a:ext cx="4343400" cy="0"/>
          </a:xfrm>
          <a:prstGeom prst="line">
            <a:avLst/>
          </a:prstGeom>
          <a:ln w="12700" cap="flat" cmpd="sng">
            <a:solidFill>
              <a:schemeClr val="tx1"/>
            </a:solidFill>
            <a:prstDash val="lgDash"/>
            <a:round/>
            <a:headEnd type="none" w="med" len="med"/>
            <a:tailEnd type="none" w="med" len="med"/>
          </a:ln>
        </p:spPr>
      </p:sp>
      <p:grpSp>
        <p:nvGrpSpPr>
          <p:cNvPr id="19501" name="Group 45"/>
          <p:cNvGrpSpPr/>
          <p:nvPr/>
        </p:nvGrpSpPr>
        <p:grpSpPr>
          <a:xfrm>
            <a:off x="4419600" y="1052513"/>
            <a:ext cx="4343400" cy="5303837"/>
            <a:chOff x="2640" y="163"/>
            <a:chExt cx="2736" cy="3341"/>
          </a:xfrm>
        </p:grpSpPr>
        <p:sp>
          <p:nvSpPr>
            <p:cNvPr id="19502" name="Line 46"/>
            <p:cNvSpPr/>
            <p:nvPr/>
          </p:nvSpPr>
          <p:spPr>
            <a:xfrm flipV="1">
              <a:off x="2640" y="240"/>
              <a:ext cx="0" cy="624"/>
            </a:xfrm>
            <a:prstGeom prst="line">
              <a:avLst/>
            </a:prstGeom>
            <a:ln w="28575" cap="flat" cmpd="sng">
              <a:solidFill>
                <a:schemeClr val="tx1"/>
              </a:solidFill>
              <a:prstDash val="solid"/>
              <a:round/>
              <a:headEnd type="none" w="med" len="med"/>
              <a:tailEnd type="triangle" w="med" len="med"/>
            </a:ln>
          </p:spPr>
        </p:sp>
        <p:sp>
          <p:nvSpPr>
            <p:cNvPr id="19503" name="Line 47"/>
            <p:cNvSpPr/>
            <p:nvPr/>
          </p:nvSpPr>
          <p:spPr>
            <a:xfrm>
              <a:off x="2640" y="864"/>
              <a:ext cx="2736" cy="0"/>
            </a:xfrm>
            <a:prstGeom prst="line">
              <a:avLst/>
            </a:prstGeom>
            <a:ln w="28575" cap="flat" cmpd="sng">
              <a:solidFill>
                <a:schemeClr val="tx1"/>
              </a:solidFill>
              <a:prstDash val="solid"/>
              <a:round/>
              <a:headEnd type="none" w="med" len="med"/>
              <a:tailEnd type="triangle" w="med" len="med"/>
            </a:ln>
          </p:spPr>
        </p:sp>
        <p:sp>
          <p:nvSpPr>
            <p:cNvPr id="19504" name="Line 48"/>
            <p:cNvSpPr/>
            <p:nvPr/>
          </p:nvSpPr>
          <p:spPr>
            <a:xfrm flipV="1">
              <a:off x="2640" y="1056"/>
              <a:ext cx="0" cy="672"/>
            </a:xfrm>
            <a:prstGeom prst="line">
              <a:avLst/>
            </a:prstGeom>
            <a:ln w="28575" cap="flat" cmpd="sng">
              <a:solidFill>
                <a:schemeClr val="tx1"/>
              </a:solidFill>
              <a:prstDash val="solid"/>
              <a:round/>
              <a:headEnd type="none" w="med" len="med"/>
              <a:tailEnd type="triangle" w="med" len="med"/>
            </a:ln>
          </p:spPr>
        </p:sp>
        <p:sp>
          <p:nvSpPr>
            <p:cNvPr id="19505" name="Line 49"/>
            <p:cNvSpPr/>
            <p:nvPr/>
          </p:nvSpPr>
          <p:spPr>
            <a:xfrm>
              <a:off x="2640" y="1728"/>
              <a:ext cx="2736" cy="0"/>
            </a:xfrm>
            <a:prstGeom prst="line">
              <a:avLst/>
            </a:prstGeom>
            <a:ln w="28575" cap="flat" cmpd="sng">
              <a:solidFill>
                <a:schemeClr val="tx1"/>
              </a:solidFill>
              <a:prstDash val="solid"/>
              <a:round/>
              <a:headEnd type="none" w="med" len="med"/>
              <a:tailEnd type="triangle" w="med" len="med"/>
            </a:ln>
          </p:spPr>
        </p:sp>
        <p:sp>
          <p:nvSpPr>
            <p:cNvPr id="19506" name="Line 50"/>
            <p:cNvSpPr/>
            <p:nvPr/>
          </p:nvSpPr>
          <p:spPr>
            <a:xfrm flipV="1">
              <a:off x="2640" y="1872"/>
              <a:ext cx="0" cy="768"/>
            </a:xfrm>
            <a:prstGeom prst="line">
              <a:avLst/>
            </a:prstGeom>
            <a:ln w="28575" cap="flat" cmpd="sng">
              <a:solidFill>
                <a:schemeClr val="tx1"/>
              </a:solidFill>
              <a:prstDash val="solid"/>
              <a:round/>
              <a:headEnd type="none" w="med" len="med"/>
              <a:tailEnd type="triangle" w="med" len="med"/>
            </a:ln>
          </p:spPr>
        </p:sp>
        <p:sp>
          <p:nvSpPr>
            <p:cNvPr id="19507" name="Line 51"/>
            <p:cNvSpPr/>
            <p:nvPr/>
          </p:nvSpPr>
          <p:spPr>
            <a:xfrm>
              <a:off x="2640" y="2640"/>
              <a:ext cx="2736" cy="0"/>
            </a:xfrm>
            <a:prstGeom prst="line">
              <a:avLst/>
            </a:prstGeom>
            <a:ln w="28575" cap="flat" cmpd="sng">
              <a:solidFill>
                <a:schemeClr val="tx1"/>
              </a:solidFill>
              <a:prstDash val="solid"/>
              <a:round/>
              <a:headEnd type="none" w="med" len="med"/>
              <a:tailEnd type="triangle" w="med" len="med"/>
            </a:ln>
          </p:spPr>
        </p:sp>
        <p:sp>
          <p:nvSpPr>
            <p:cNvPr id="19508" name="Line 52"/>
            <p:cNvSpPr/>
            <p:nvPr/>
          </p:nvSpPr>
          <p:spPr>
            <a:xfrm flipV="1">
              <a:off x="2640" y="2784"/>
              <a:ext cx="0" cy="720"/>
            </a:xfrm>
            <a:prstGeom prst="line">
              <a:avLst/>
            </a:prstGeom>
            <a:ln w="28575" cap="flat" cmpd="sng">
              <a:solidFill>
                <a:schemeClr val="tx1"/>
              </a:solidFill>
              <a:prstDash val="solid"/>
              <a:round/>
              <a:headEnd type="none" w="med" len="med"/>
              <a:tailEnd type="triangle" w="med" len="med"/>
            </a:ln>
          </p:spPr>
        </p:sp>
        <p:sp>
          <p:nvSpPr>
            <p:cNvPr id="19509" name="Line 53"/>
            <p:cNvSpPr/>
            <p:nvPr/>
          </p:nvSpPr>
          <p:spPr>
            <a:xfrm>
              <a:off x="2640" y="3504"/>
              <a:ext cx="2736" cy="0"/>
            </a:xfrm>
            <a:prstGeom prst="line">
              <a:avLst/>
            </a:prstGeom>
            <a:ln w="28575" cap="flat" cmpd="sng">
              <a:solidFill>
                <a:schemeClr val="tx1"/>
              </a:solidFill>
              <a:prstDash val="solid"/>
              <a:round/>
              <a:headEnd type="none" w="med" len="med"/>
              <a:tailEnd type="triangle" w="med" len="med"/>
            </a:ln>
          </p:spPr>
        </p:sp>
        <p:sp>
          <p:nvSpPr>
            <p:cNvPr id="19510" name="Text Box 54"/>
            <p:cNvSpPr txBox="1"/>
            <p:nvPr/>
          </p:nvSpPr>
          <p:spPr>
            <a:xfrm>
              <a:off x="2688" y="163"/>
              <a:ext cx="24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511" name="Text Box 55"/>
            <p:cNvSpPr txBox="1"/>
            <p:nvPr/>
          </p:nvSpPr>
          <p:spPr>
            <a:xfrm>
              <a:off x="2688" y="931"/>
              <a:ext cx="36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O1</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512" name="Text Box 56"/>
            <p:cNvSpPr txBox="1"/>
            <p:nvPr/>
          </p:nvSpPr>
          <p:spPr>
            <a:xfrm>
              <a:off x="2688" y="1843"/>
              <a:ext cx="313"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19513" name="Text Box 57"/>
            <p:cNvSpPr txBox="1"/>
            <p:nvPr/>
          </p:nvSpPr>
          <p:spPr>
            <a:xfrm>
              <a:off x="2688" y="2707"/>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grpSp>
        <p:nvGrpSpPr>
          <p:cNvPr id="19514" name="Group 58"/>
          <p:cNvGrpSpPr/>
          <p:nvPr/>
        </p:nvGrpSpPr>
        <p:grpSpPr>
          <a:xfrm>
            <a:off x="4419600" y="2089150"/>
            <a:ext cx="685800" cy="4191000"/>
            <a:chOff x="2640" y="816"/>
            <a:chExt cx="432" cy="2640"/>
          </a:xfrm>
        </p:grpSpPr>
        <p:sp>
          <p:nvSpPr>
            <p:cNvPr id="19515" name="Line 59"/>
            <p:cNvSpPr/>
            <p:nvPr/>
          </p:nvSpPr>
          <p:spPr>
            <a:xfrm>
              <a:off x="2640" y="816"/>
              <a:ext cx="432" cy="0"/>
            </a:xfrm>
            <a:prstGeom prst="line">
              <a:avLst/>
            </a:prstGeom>
            <a:ln w="57150" cap="flat" cmpd="sng">
              <a:solidFill>
                <a:srgbClr val="CC3300"/>
              </a:solidFill>
              <a:prstDash val="solid"/>
              <a:round/>
              <a:headEnd type="none" w="med" len="med"/>
              <a:tailEnd type="none" w="med" len="med"/>
            </a:ln>
          </p:spPr>
        </p:sp>
        <p:sp>
          <p:nvSpPr>
            <p:cNvPr id="19516" name="Line 60"/>
            <p:cNvSpPr/>
            <p:nvPr/>
          </p:nvSpPr>
          <p:spPr>
            <a:xfrm>
              <a:off x="2640" y="1296"/>
              <a:ext cx="432" cy="0"/>
            </a:xfrm>
            <a:prstGeom prst="line">
              <a:avLst/>
            </a:prstGeom>
            <a:ln w="57150" cap="flat" cmpd="sng">
              <a:solidFill>
                <a:srgbClr val="CC3300"/>
              </a:solidFill>
              <a:prstDash val="solid"/>
              <a:round/>
              <a:headEnd type="none" w="med" len="med"/>
              <a:tailEnd type="none" w="med" len="med"/>
            </a:ln>
          </p:spPr>
        </p:sp>
        <p:sp>
          <p:nvSpPr>
            <p:cNvPr id="19517" name="Line 61"/>
            <p:cNvSpPr/>
            <p:nvPr/>
          </p:nvSpPr>
          <p:spPr>
            <a:xfrm>
              <a:off x="2640" y="2208"/>
              <a:ext cx="432" cy="0"/>
            </a:xfrm>
            <a:prstGeom prst="line">
              <a:avLst/>
            </a:prstGeom>
            <a:ln w="57150" cap="flat" cmpd="sng">
              <a:solidFill>
                <a:srgbClr val="CC3300"/>
              </a:solidFill>
              <a:prstDash val="solid"/>
              <a:round/>
              <a:headEnd type="none" w="med" len="med"/>
              <a:tailEnd type="none" w="med" len="med"/>
            </a:ln>
          </p:spPr>
        </p:sp>
        <p:sp>
          <p:nvSpPr>
            <p:cNvPr id="19518" name="Line 62"/>
            <p:cNvSpPr/>
            <p:nvPr/>
          </p:nvSpPr>
          <p:spPr>
            <a:xfrm>
              <a:off x="2640" y="3456"/>
              <a:ext cx="432" cy="0"/>
            </a:xfrm>
            <a:prstGeom prst="line">
              <a:avLst/>
            </a:prstGeom>
            <a:ln w="57150" cap="flat" cmpd="sng">
              <a:solidFill>
                <a:srgbClr val="CC3300"/>
              </a:solidFill>
              <a:prstDash val="solid"/>
              <a:round/>
              <a:headEnd type="none" w="med" len="med"/>
              <a:tailEnd type="none" w="med" len="med"/>
            </a:ln>
          </p:spPr>
        </p:sp>
      </p:grpSp>
      <p:grpSp>
        <p:nvGrpSpPr>
          <p:cNvPr id="19519" name="Group 63"/>
          <p:cNvGrpSpPr/>
          <p:nvPr/>
        </p:nvGrpSpPr>
        <p:grpSpPr>
          <a:xfrm>
            <a:off x="5105400" y="1403350"/>
            <a:ext cx="0" cy="4876800"/>
            <a:chOff x="3072" y="384"/>
            <a:chExt cx="0" cy="3072"/>
          </a:xfrm>
        </p:grpSpPr>
        <p:sp>
          <p:nvSpPr>
            <p:cNvPr id="19520" name="Line 64"/>
            <p:cNvSpPr/>
            <p:nvPr/>
          </p:nvSpPr>
          <p:spPr>
            <a:xfrm flipV="1">
              <a:off x="3072" y="384"/>
              <a:ext cx="0" cy="432"/>
            </a:xfrm>
            <a:prstGeom prst="line">
              <a:avLst/>
            </a:prstGeom>
            <a:ln w="57150" cap="flat" cmpd="sng">
              <a:solidFill>
                <a:srgbClr val="FF00FF"/>
              </a:solidFill>
              <a:prstDash val="solid"/>
              <a:round/>
              <a:headEnd type="none" w="med" len="med"/>
              <a:tailEnd type="none" w="med" len="med"/>
            </a:ln>
          </p:spPr>
        </p:sp>
        <p:sp>
          <p:nvSpPr>
            <p:cNvPr id="19521" name="Line 65"/>
            <p:cNvSpPr/>
            <p:nvPr/>
          </p:nvSpPr>
          <p:spPr>
            <a:xfrm>
              <a:off x="3072" y="1296"/>
              <a:ext cx="0" cy="432"/>
            </a:xfrm>
            <a:prstGeom prst="line">
              <a:avLst/>
            </a:prstGeom>
            <a:ln w="57150" cap="flat" cmpd="sng">
              <a:solidFill>
                <a:srgbClr val="FF00FF"/>
              </a:solidFill>
              <a:prstDash val="solid"/>
              <a:round/>
              <a:headEnd type="none" w="med" len="med"/>
              <a:tailEnd type="none" w="med" len="med"/>
            </a:ln>
          </p:spPr>
        </p:sp>
        <p:sp>
          <p:nvSpPr>
            <p:cNvPr id="19522" name="Line 66"/>
            <p:cNvSpPr/>
            <p:nvPr/>
          </p:nvSpPr>
          <p:spPr>
            <a:xfrm>
              <a:off x="3072" y="2208"/>
              <a:ext cx="0" cy="432"/>
            </a:xfrm>
            <a:prstGeom prst="line">
              <a:avLst/>
            </a:prstGeom>
            <a:ln w="57150" cap="flat" cmpd="sng">
              <a:solidFill>
                <a:srgbClr val="FF00FF"/>
              </a:solidFill>
              <a:prstDash val="solid"/>
              <a:round/>
              <a:headEnd type="none" w="med" len="med"/>
              <a:tailEnd type="none" w="med" len="med"/>
            </a:ln>
          </p:spPr>
        </p:sp>
        <p:sp>
          <p:nvSpPr>
            <p:cNvPr id="19523" name="Line 67"/>
            <p:cNvSpPr/>
            <p:nvPr/>
          </p:nvSpPr>
          <p:spPr>
            <a:xfrm flipV="1">
              <a:off x="3072" y="3024"/>
              <a:ext cx="0" cy="432"/>
            </a:xfrm>
            <a:prstGeom prst="line">
              <a:avLst/>
            </a:prstGeom>
            <a:ln w="57150" cap="flat" cmpd="sng">
              <a:solidFill>
                <a:srgbClr val="FF00FF"/>
              </a:solidFill>
              <a:prstDash val="solid"/>
              <a:round/>
              <a:headEnd type="none" w="med" len="med"/>
              <a:tailEnd type="none" w="med" len="med"/>
            </a:ln>
          </p:spPr>
        </p:sp>
      </p:grpSp>
      <p:sp>
        <p:nvSpPr>
          <p:cNvPr id="19524" name="Line 68"/>
          <p:cNvSpPr/>
          <p:nvPr/>
        </p:nvSpPr>
        <p:spPr>
          <a:xfrm>
            <a:off x="6096000" y="5594350"/>
            <a:ext cx="0" cy="685800"/>
          </a:xfrm>
          <a:prstGeom prst="line">
            <a:avLst/>
          </a:prstGeom>
          <a:ln w="57150" cap="flat" cmpd="sng">
            <a:solidFill>
              <a:srgbClr val="0033CC"/>
            </a:solidFill>
            <a:prstDash val="solid"/>
            <a:round/>
            <a:headEnd type="none" w="med" len="med"/>
            <a:tailEnd type="none" w="med" len="med"/>
          </a:ln>
        </p:spPr>
      </p:sp>
      <p:sp>
        <p:nvSpPr>
          <p:cNvPr id="19525" name="Line 69"/>
          <p:cNvSpPr/>
          <p:nvPr/>
        </p:nvSpPr>
        <p:spPr>
          <a:xfrm flipV="1">
            <a:off x="6096000" y="3765550"/>
            <a:ext cx="0" cy="838200"/>
          </a:xfrm>
          <a:prstGeom prst="line">
            <a:avLst/>
          </a:prstGeom>
          <a:ln w="57150" cap="flat" cmpd="sng">
            <a:solidFill>
              <a:srgbClr val="0033CC"/>
            </a:solidFill>
            <a:prstDash val="solid"/>
            <a:round/>
            <a:headEnd type="none" w="med" len="med"/>
            <a:tailEnd type="none" w="med" len="med"/>
          </a:ln>
        </p:spPr>
      </p:sp>
      <p:sp>
        <p:nvSpPr>
          <p:cNvPr id="19526" name="Line 70"/>
          <p:cNvSpPr/>
          <p:nvPr/>
        </p:nvSpPr>
        <p:spPr>
          <a:xfrm flipV="1">
            <a:off x="6096000" y="4070350"/>
            <a:ext cx="0" cy="533400"/>
          </a:xfrm>
          <a:prstGeom prst="line">
            <a:avLst/>
          </a:prstGeom>
          <a:ln w="76200" cap="flat" cmpd="sng">
            <a:solidFill>
              <a:srgbClr val="33CCCC"/>
            </a:solidFill>
            <a:prstDash val="solid"/>
            <a:round/>
            <a:headEnd type="none" w="med" len="med"/>
            <a:tailEnd type="none" w="med" len="med"/>
          </a:ln>
        </p:spPr>
      </p:sp>
      <p:sp>
        <p:nvSpPr>
          <p:cNvPr id="19527" name="Line 71"/>
          <p:cNvSpPr/>
          <p:nvPr/>
        </p:nvSpPr>
        <p:spPr>
          <a:xfrm flipV="1">
            <a:off x="6096000" y="2851150"/>
            <a:ext cx="0" cy="609600"/>
          </a:xfrm>
          <a:prstGeom prst="line">
            <a:avLst/>
          </a:prstGeom>
          <a:ln w="57150" cap="flat" cmpd="sng">
            <a:solidFill>
              <a:srgbClr val="0033CC"/>
            </a:solidFill>
            <a:prstDash val="solid"/>
            <a:round/>
            <a:headEnd type="none" w="med" len="med"/>
            <a:tailEnd type="none" w="med" len="med"/>
          </a:ln>
        </p:spPr>
      </p:sp>
      <p:sp>
        <p:nvSpPr>
          <p:cNvPr id="336968" name="Line 72"/>
          <p:cNvSpPr/>
          <p:nvPr/>
        </p:nvSpPr>
        <p:spPr>
          <a:xfrm>
            <a:off x="6096000" y="2089150"/>
            <a:ext cx="1981200" cy="0"/>
          </a:xfrm>
          <a:prstGeom prst="line">
            <a:avLst/>
          </a:prstGeom>
          <a:ln w="57150" cap="flat" cmpd="sng">
            <a:solidFill>
              <a:srgbClr val="CC3300"/>
            </a:solidFill>
            <a:prstDash val="solid"/>
            <a:round/>
            <a:headEnd type="none" w="med" len="med"/>
            <a:tailEnd type="triangle" w="med" len="med"/>
          </a:ln>
        </p:spPr>
      </p:sp>
      <p:sp>
        <p:nvSpPr>
          <p:cNvPr id="336969" name="Line 73"/>
          <p:cNvSpPr/>
          <p:nvPr/>
        </p:nvSpPr>
        <p:spPr>
          <a:xfrm>
            <a:off x="6096000" y="2851150"/>
            <a:ext cx="1981200" cy="0"/>
          </a:xfrm>
          <a:prstGeom prst="line">
            <a:avLst/>
          </a:prstGeom>
          <a:ln w="57150" cap="flat" cmpd="sng">
            <a:solidFill>
              <a:srgbClr val="CC3300"/>
            </a:solidFill>
            <a:prstDash val="solid"/>
            <a:round/>
            <a:headEnd type="none" w="med" len="med"/>
            <a:tailEnd type="triangle" w="med" len="med"/>
          </a:ln>
        </p:spPr>
      </p:sp>
      <p:sp>
        <p:nvSpPr>
          <p:cNvPr id="336970" name="Line 74"/>
          <p:cNvSpPr/>
          <p:nvPr/>
        </p:nvSpPr>
        <p:spPr>
          <a:xfrm>
            <a:off x="6096000" y="6280150"/>
            <a:ext cx="2362200" cy="0"/>
          </a:xfrm>
          <a:prstGeom prst="line">
            <a:avLst/>
          </a:prstGeom>
          <a:ln w="57150" cap="flat" cmpd="sng">
            <a:solidFill>
              <a:srgbClr val="CC3300"/>
            </a:solidFill>
            <a:prstDash val="solid"/>
            <a:round/>
            <a:headEnd type="none" w="med" len="med"/>
            <a:tailEnd type="triangle" w="med" len="med"/>
          </a:ln>
        </p:spPr>
      </p:sp>
      <p:sp>
        <p:nvSpPr>
          <p:cNvPr id="336971" name="Freeform 75"/>
          <p:cNvSpPr/>
          <p:nvPr/>
        </p:nvSpPr>
        <p:spPr>
          <a:xfrm>
            <a:off x="6100763" y="3765550"/>
            <a:ext cx="2205037" cy="533400"/>
          </a:xfrm>
          <a:custGeom>
            <a:avLst/>
            <a:gdLst/>
            <a:ahLst/>
            <a:cxnLst>
              <a:cxn ang="0">
                <a:pos x="0" y="0"/>
              </a:cxn>
              <a:cxn ang="0">
                <a:pos x="2064006707" y="829132200"/>
              </a:cxn>
              <a:cxn ang="0">
                <a:pos x="2147483647" y="846772500"/>
              </a:cxn>
            </a:cxnLst>
            <a:pathLst>
              <a:path w="1389" h="336">
                <a:moveTo>
                  <a:pt x="0" y="0"/>
                </a:moveTo>
                <a:cubicBezTo>
                  <a:pt x="165" y="153"/>
                  <a:pt x="336" y="329"/>
                  <a:pt x="819" y="329"/>
                </a:cubicBezTo>
                <a:cubicBezTo>
                  <a:pt x="1067" y="334"/>
                  <a:pt x="1220" y="336"/>
                  <a:pt x="1389" y="336"/>
                </a:cubicBezTo>
              </a:path>
            </a:pathLst>
          </a:custGeom>
          <a:noFill/>
          <a:ln w="57150" cap="flat" cmpd="sng">
            <a:solidFill>
              <a:srgbClr val="0033CC"/>
            </a:solidFill>
            <a:prstDash val="solid"/>
            <a:round/>
            <a:headEnd type="none" w="med" len="med"/>
            <a:tailEnd type="triangle" w="med" len="med"/>
          </a:ln>
        </p:spPr>
        <p:txBody>
          <a:bodyPr/>
          <a:p>
            <a:endParaRPr lang="zh-CN" altLang="en-US">
              <a:latin typeface="Times New Roman" panose="02020603050405020304" charset="0"/>
              <a:cs typeface="Times New Roman" panose="02020603050405020304" charset="0"/>
            </a:endParaRPr>
          </a:p>
        </p:txBody>
      </p:sp>
      <p:sp>
        <p:nvSpPr>
          <p:cNvPr id="336972" name="Text Box 76"/>
          <p:cNvSpPr txBox="1"/>
          <p:nvPr/>
        </p:nvSpPr>
        <p:spPr>
          <a:xfrm>
            <a:off x="228600" y="3841750"/>
            <a:ext cx="2147888" cy="400050"/>
          </a:xfrm>
          <a:prstGeom prst="rect">
            <a:avLst/>
          </a:prstGeom>
          <a:noFill/>
          <a:ln w="28575">
            <a:noFill/>
          </a:ln>
        </p:spPr>
        <p:txBody>
          <a:bodyPr lIns="90000" tIns="46800" rIns="90000" bIns="46800" anchor="t" anchorCtr="0">
            <a:spAutoFit/>
          </a:bodyPr>
          <a:p>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(5)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恢复过程</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36973" name="Text Box 77"/>
          <p:cNvSpPr txBox="1"/>
          <p:nvPr/>
        </p:nvSpPr>
        <p:spPr>
          <a:xfrm>
            <a:off x="152400" y="4527550"/>
            <a:ext cx="3505200" cy="1631315"/>
          </a:xfrm>
          <a:prstGeom prst="rect">
            <a:avLst/>
          </a:prstGeom>
          <a:noFill/>
          <a:ln w="28575">
            <a:noFill/>
          </a:ln>
        </p:spPr>
        <p:txBody>
          <a:bodyPr lIns="90000" tIns="46800" rIns="90000" bIns="46800" anchor="t" anchorCtr="0">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电路返回稳态</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a:p>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a:p>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I2</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DD</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a:p>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a:p>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O1</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9534" name="Line 78"/>
          <p:cNvSpPr/>
          <p:nvPr/>
        </p:nvSpPr>
        <p:spPr>
          <a:xfrm>
            <a:off x="6223000" y="4197350"/>
            <a:ext cx="0" cy="533400"/>
          </a:xfrm>
          <a:prstGeom prst="line">
            <a:avLst/>
          </a:prstGeom>
          <a:ln w="57150" cap="flat" cmpd="sng">
            <a:solidFill>
              <a:srgbClr val="CC3300"/>
            </a:solidFill>
            <a:prstDash val="solid"/>
            <a:round/>
            <a:headEnd type="none" w="med" len="med"/>
            <a:tailEnd type="none" w="med" len="med"/>
          </a:ln>
        </p:spPr>
      </p:sp>
      <p:sp>
        <p:nvSpPr>
          <p:cNvPr id="336975" name="Freeform 79"/>
          <p:cNvSpPr/>
          <p:nvPr/>
        </p:nvSpPr>
        <p:spPr>
          <a:xfrm>
            <a:off x="6096000" y="4070350"/>
            <a:ext cx="2205038" cy="228600"/>
          </a:xfrm>
          <a:custGeom>
            <a:avLst/>
            <a:gdLst/>
            <a:ahLst/>
            <a:cxnLst>
              <a:cxn ang="0">
                <a:pos x="0" y="0"/>
              </a:cxn>
              <a:cxn ang="0">
                <a:pos x="2064009231" y="152289782"/>
              </a:cxn>
              <a:cxn ang="0">
                <a:pos x="2147483647" y="155529643"/>
              </a:cxn>
            </a:cxnLst>
            <a:pathLst>
              <a:path w="1389" h="336">
                <a:moveTo>
                  <a:pt x="0" y="0"/>
                </a:moveTo>
                <a:cubicBezTo>
                  <a:pt x="165" y="153"/>
                  <a:pt x="336" y="329"/>
                  <a:pt x="819" y="329"/>
                </a:cubicBezTo>
                <a:cubicBezTo>
                  <a:pt x="1067" y="334"/>
                  <a:pt x="1220" y="336"/>
                  <a:pt x="1389" y="336"/>
                </a:cubicBezTo>
              </a:path>
            </a:pathLst>
          </a:custGeom>
          <a:noFill/>
          <a:ln w="57150" cap="flat" cmpd="sng">
            <a:solidFill>
              <a:srgbClr val="CC3300"/>
            </a:solidFill>
            <a:prstDash val="solid"/>
            <a:round/>
            <a:headEnd type="none" w="med" len="med"/>
            <a:tailEnd type="triangle" w="med" len="med"/>
          </a:ln>
        </p:spPr>
        <p:txBody>
          <a:bodyPr/>
          <a:p>
            <a:endParaRPr lang="zh-CN" altLang="en-US">
              <a:latin typeface="Times New Roman" panose="02020603050405020304" charset="0"/>
              <a:cs typeface="Times New Roman" panose="02020603050405020304" charset="0"/>
            </a:endParaRPr>
          </a:p>
        </p:txBody>
      </p:sp>
      <p:sp>
        <p:nvSpPr>
          <p:cNvPr id="336976" name="Rectangle 80"/>
          <p:cNvSpPr/>
          <p:nvPr/>
        </p:nvSpPr>
        <p:spPr>
          <a:xfrm>
            <a:off x="152400" y="4222750"/>
            <a:ext cx="4572000" cy="400050"/>
          </a:xfrm>
          <a:prstGeom prst="rect">
            <a:avLst/>
          </a:prstGeom>
          <a:noFill/>
          <a:ln w="28575">
            <a:noFill/>
          </a:ln>
        </p:spPr>
        <p:txBody>
          <a:bodyPr lIns="90000" tIns="46800" rIns="90000" bIns="46800" anchor="t" anchorCtr="0">
            <a:spAutoFit/>
          </a:bodyPr>
          <a:p>
            <a:pPr>
              <a:spcBef>
                <a:spcPct val="5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电容放电，</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恢复到稳态值 </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36977" name="Rectangle 81"/>
          <p:cNvSpPr/>
          <p:nvPr/>
        </p:nvSpPr>
        <p:spPr>
          <a:xfrm>
            <a:off x="1547813" y="5233988"/>
            <a:ext cx="2763837" cy="400050"/>
          </a:xfrm>
          <a:prstGeom prst="rect">
            <a:avLst/>
          </a:prstGeom>
          <a:noFill/>
          <a:ln w="28575">
            <a:noFill/>
          </a:ln>
        </p:spPr>
        <p:txBody>
          <a:bodyPr lIns="90000" tIns="46800" rIns="90000" bIns="46800" anchor="t" anchorCtr="0">
            <a:spAutoFit/>
          </a:bodyPr>
          <a:p>
            <a:r>
              <a:rPr lang="zh-CN" altLang="en-US" sz="2000" b="1" dirty="0">
                <a:solidFill>
                  <a:srgbClr val="CC3300"/>
                </a:solidFill>
                <a:latin typeface="楷体" panose="02010609060101010101" charset="-122"/>
                <a:ea typeface="楷体" panose="02010609060101010101" charset="-122"/>
              </a:rPr>
              <a:t>等待下一次触发</a:t>
            </a:r>
            <a:endParaRPr lang="zh-CN" altLang="en-US" sz="2000" b="1" dirty="0">
              <a:solidFill>
                <a:srgbClr val="CC3300"/>
              </a:solidFill>
              <a:latin typeface="楷体" panose="02010609060101010101" charset="-122"/>
              <a:ea typeface="楷体" panose="02010609060101010101" charset="-122"/>
            </a:endParaRPr>
          </a:p>
        </p:txBody>
      </p:sp>
      <p:sp>
        <p:nvSpPr>
          <p:cNvPr id="336979" name="Rectangle 83" descr="羊皮纸"/>
          <p:cNvSpPr/>
          <p:nvPr/>
        </p:nvSpPr>
        <p:spPr>
          <a:xfrm>
            <a:off x="998538" y="6129338"/>
            <a:ext cx="3168650" cy="708025"/>
          </a:xfrm>
          <a:prstGeom prst="rect">
            <a:avLst/>
          </a:prstGeom>
          <a:blipFill rotWithShape="1">
            <a:blip r:embed="rId1"/>
          </a:blipFill>
          <a:ln w="19050" cap="flat" cmpd="sng">
            <a:solidFill>
              <a:srgbClr val="CC3300"/>
            </a:solidFill>
            <a:prstDash val="solid"/>
            <a:miter/>
            <a:headEnd type="none" w="med" len="med"/>
            <a:tailEnd type="none" w="med" len="med"/>
          </a:ln>
        </p:spPr>
        <p:txBody>
          <a:bodyPr lIns="90000" tIns="46800" rIns="90000" bIns="46800" anchor="t" anchorCtr="0">
            <a:spAutoFit/>
          </a:bodyPr>
          <a:p>
            <a:pPr algn="ctr"/>
            <a:r>
              <a:rPr lang="zh-CN" altLang="en-US" sz="2000" b="1" dirty="0">
                <a:solidFill>
                  <a:srgbClr val="CC3300"/>
                </a:solidFill>
                <a:latin typeface="Times New Roman" panose="02020603050405020304" charset="0"/>
                <a:ea typeface="楷体" panose="02010609060101010101" charset="-122"/>
                <a:cs typeface="Times New Roman" panose="02020603050405020304" charset="0"/>
              </a:rPr>
              <a:t>特点</a:t>
            </a:r>
            <a:r>
              <a:rPr lang="en-US" altLang="zh-CN" sz="2000" b="1" dirty="0">
                <a:solidFill>
                  <a:srgbClr val="CC3300"/>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1318F3"/>
                </a:solidFill>
                <a:latin typeface="Times New Roman" panose="02020603050405020304" charset="0"/>
                <a:ea typeface="楷体" panose="02010609060101010101" charset="-122"/>
                <a:cs typeface="Times New Roman" panose="02020603050405020304" charset="0"/>
              </a:rPr>
              <a:t>输入窄脉冲，</a:t>
            </a:r>
            <a:endParaRPr lang="zh-CN" altLang="en-US" sz="2000" b="1" dirty="0">
              <a:solidFill>
                <a:srgbClr val="1318F3"/>
              </a:solidFill>
              <a:latin typeface="Times New Roman" panose="02020603050405020304" charset="0"/>
              <a:ea typeface="楷体" panose="02010609060101010101" charset="-122"/>
              <a:cs typeface="Times New Roman" panose="02020603050405020304" charset="0"/>
            </a:endParaRPr>
          </a:p>
          <a:p>
            <a:pPr algn="ctr"/>
            <a:r>
              <a:rPr lang="zh-CN" altLang="en-US" sz="2000" b="1" dirty="0">
                <a:solidFill>
                  <a:srgbClr val="1318F3"/>
                </a:solidFill>
                <a:latin typeface="Times New Roman" panose="02020603050405020304" charset="0"/>
                <a:ea typeface="楷体" panose="02010609060101010101" charset="-122"/>
                <a:cs typeface="Times New Roman" panose="02020603050405020304" charset="0"/>
              </a:rPr>
              <a:t>           输出宽脉冲。</a:t>
            </a:r>
            <a:endParaRPr lang="zh-CN" altLang="en-US" sz="2000" b="1"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19540" name="Line 84"/>
          <p:cNvSpPr/>
          <p:nvPr/>
        </p:nvSpPr>
        <p:spPr>
          <a:xfrm>
            <a:off x="2700338" y="2525713"/>
            <a:ext cx="0" cy="360362"/>
          </a:xfrm>
          <a:prstGeom prst="line">
            <a:avLst/>
          </a:prstGeom>
          <a:ln w="28575" cap="flat" cmpd="sng">
            <a:solidFill>
              <a:schemeClr val="tx1"/>
            </a:solidFill>
            <a:prstDash val="solid"/>
            <a:round/>
            <a:headEnd type="none" w="med" len="med"/>
            <a:tailEnd type="none" w="med" len="med"/>
          </a:ln>
        </p:spPr>
      </p:sp>
      <p:grpSp>
        <p:nvGrpSpPr>
          <p:cNvPr id="19541" name="Group 85"/>
          <p:cNvGrpSpPr/>
          <p:nvPr/>
        </p:nvGrpSpPr>
        <p:grpSpPr>
          <a:xfrm>
            <a:off x="2914650" y="2816225"/>
            <a:ext cx="433388" cy="935038"/>
            <a:chOff x="3514" y="1933"/>
            <a:chExt cx="273" cy="589"/>
          </a:xfrm>
        </p:grpSpPr>
        <p:sp>
          <p:nvSpPr>
            <p:cNvPr id="19542" name="Line 86"/>
            <p:cNvSpPr/>
            <p:nvPr/>
          </p:nvSpPr>
          <p:spPr>
            <a:xfrm>
              <a:off x="3514" y="1933"/>
              <a:ext cx="182" cy="0"/>
            </a:xfrm>
            <a:prstGeom prst="line">
              <a:avLst/>
            </a:prstGeom>
            <a:ln w="38100" cap="flat" cmpd="sng">
              <a:solidFill>
                <a:srgbClr val="CC3300"/>
              </a:solidFill>
              <a:prstDash val="sysDot"/>
              <a:round/>
              <a:headEnd type="none" w="med" len="med"/>
              <a:tailEnd type="none" w="med" len="med"/>
            </a:ln>
          </p:spPr>
        </p:sp>
        <p:sp>
          <p:nvSpPr>
            <p:cNvPr id="19543" name="AutoShape 87"/>
            <p:cNvSpPr/>
            <p:nvPr/>
          </p:nvSpPr>
          <p:spPr>
            <a:xfrm flipV="1">
              <a:off x="3605" y="2160"/>
              <a:ext cx="182" cy="136"/>
            </a:xfrm>
            <a:prstGeom prst="triangle">
              <a:avLst>
                <a:gd name="adj" fmla="val 50000"/>
              </a:avLst>
            </a:prstGeom>
            <a:noFill/>
            <a:ln w="28575" cap="flat" cmpd="sng">
              <a:solidFill>
                <a:srgbClr val="CC3300"/>
              </a:solidFill>
              <a:prstDash val="solid"/>
              <a:miter/>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sp>
          <p:nvSpPr>
            <p:cNvPr id="19544" name="Line 88"/>
            <p:cNvSpPr/>
            <p:nvPr/>
          </p:nvSpPr>
          <p:spPr>
            <a:xfrm>
              <a:off x="3696" y="1933"/>
              <a:ext cx="0" cy="227"/>
            </a:xfrm>
            <a:prstGeom prst="line">
              <a:avLst/>
            </a:prstGeom>
            <a:ln w="38100" cap="flat" cmpd="sng">
              <a:solidFill>
                <a:srgbClr val="CC3300"/>
              </a:solidFill>
              <a:prstDash val="sysDot"/>
              <a:round/>
              <a:headEnd type="none" w="med" len="med"/>
              <a:tailEnd type="none" w="med" len="med"/>
            </a:ln>
          </p:spPr>
        </p:sp>
        <p:sp>
          <p:nvSpPr>
            <p:cNvPr id="19545" name="Line 89"/>
            <p:cNvSpPr/>
            <p:nvPr/>
          </p:nvSpPr>
          <p:spPr>
            <a:xfrm>
              <a:off x="3605" y="2296"/>
              <a:ext cx="182" cy="0"/>
            </a:xfrm>
            <a:prstGeom prst="line">
              <a:avLst/>
            </a:prstGeom>
            <a:ln w="28575" cap="flat" cmpd="sng">
              <a:solidFill>
                <a:srgbClr val="CC3300"/>
              </a:solidFill>
              <a:prstDash val="solid"/>
              <a:round/>
              <a:headEnd type="none" w="med" len="med"/>
              <a:tailEnd type="none" w="med" len="med"/>
            </a:ln>
          </p:spPr>
        </p:sp>
        <p:sp>
          <p:nvSpPr>
            <p:cNvPr id="19546" name="Line 90"/>
            <p:cNvSpPr/>
            <p:nvPr/>
          </p:nvSpPr>
          <p:spPr>
            <a:xfrm>
              <a:off x="3696" y="2341"/>
              <a:ext cx="0" cy="181"/>
            </a:xfrm>
            <a:prstGeom prst="line">
              <a:avLst/>
            </a:prstGeom>
            <a:ln w="38100" cap="flat" cmpd="sng">
              <a:solidFill>
                <a:srgbClr val="CC3300"/>
              </a:solidFill>
              <a:prstDash val="sysDot"/>
              <a:round/>
              <a:headEnd type="none" w="med" len="med"/>
              <a:tailEnd type="none" w="med" len="med"/>
            </a:ln>
          </p:spPr>
        </p:sp>
        <p:sp>
          <p:nvSpPr>
            <p:cNvPr id="19547" name="Line 91"/>
            <p:cNvSpPr/>
            <p:nvPr/>
          </p:nvSpPr>
          <p:spPr>
            <a:xfrm flipH="1">
              <a:off x="3515" y="2522"/>
              <a:ext cx="181" cy="0"/>
            </a:xfrm>
            <a:prstGeom prst="line">
              <a:avLst/>
            </a:prstGeom>
            <a:ln w="38100" cap="flat" cmpd="sng">
              <a:solidFill>
                <a:srgbClr val="CC3300"/>
              </a:solidFill>
              <a:prstDash val="sysDot"/>
              <a:round/>
              <a:headEnd type="none" w="med" len="med"/>
              <a:tailEnd type="none" w="med" len="med"/>
            </a:ln>
          </p:spPr>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6972"/>
                                        </p:tgtEl>
                                        <p:attrNameLst>
                                          <p:attrName>style.visibility</p:attrName>
                                        </p:attrNameLst>
                                      </p:cBhvr>
                                      <p:to>
                                        <p:strVal val="visible"/>
                                      </p:to>
                                    </p:set>
                                    <p:animEffect transition="in" filter="wipe(up)">
                                      <p:cBhvr>
                                        <p:cTn id="7" dur="500"/>
                                        <p:tgtEl>
                                          <p:spTgt spid="33697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6976"/>
                                        </p:tgtEl>
                                        <p:attrNameLst>
                                          <p:attrName>style.visibility</p:attrName>
                                        </p:attrNameLst>
                                      </p:cBhvr>
                                      <p:to>
                                        <p:strVal val="visible"/>
                                      </p:to>
                                    </p:set>
                                    <p:animEffect transition="in" filter="checkerboard(across)">
                                      <p:cBhvr>
                                        <p:cTn id="12" dur="500"/>
                                        <p:tgtEl>
                                          <p:spTgt spid="3369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6940"/>
                                        </p:tgtEl>
                                        <p:attrNameLst>
                                          <p:attrName>style.visibility</p:attrName>
                                        </p:attrNameLst>
                                      </p:cBhvr>
                                      <p:to>
                                        <p:strVal val="visible"/>
                                      </p:to>
                                    </p:set>
                                    <p:animEffect transition="in" filter="wipe(left)">
                                      <p:cBhvr>
                                        <p:cTn id="17" dur="500"/>
                                        <p:tgtEl>
                                          <p:spTgt spid="3369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6971"/>
                                        </p:tgtEl>
                                        <p:attrNameLst>
                                          <p:attrName>style.visibility</p:attrName>
                                        </p:attrNameLst>
                                      </p:cBhvr>
                                      <p:to>
                                        <p:strVal val="visible"/>
                                      </p:to>
                                    </p:set>
                                    <p:animEffect transition="in" filter="wipe(left)">
                                      <p:cBhvr>
                                        <p:cTn id="22" dur="500"/>
                                        <p:tgtEl>
                                          <p:spTgt spid="3369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6975"/>
                                        </p:tgtEl>
                                        <p:attrNameLst>
                                          <p:attrName>style.visibility</p:attrName>
                                        </p:attrNameLst>
                                      </p:cBhvr>
                                      <p:to>
                                        <p:strVal val="visible"/>
                                      </p:to>
                                    </p:set>
                                    <p:animEffect transition="in" filter="wipe(left)">
                                      <p:cBhvr>
                                        <p:cTn id="27" dur="500"/>
                                        <p:tgtEl>
                                          <p:spTgt spid="3369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36973"/>
                                        </p:tgtEl>
                                        <p:attrNameLst>
                                          <p:attrName>style.visibility</p:attrName>
                                        </p:attrNameLst>
                                      </p:cBhvr>
                                      <p:to>
                                        <p:strVal val="visible"/>
                                      </p:to>
                                    </p:set>
                                    <p:animEffect transition="in" filter="wipe(up)">
                                      <p:cBhvr>
                                        <p:cTn id="32" dur="500"/>
                                        <p:tgtEl>
                                          <p:spTgt spid="33697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36968"/>
                                        </p:tgtEl>
                                        <p:attrNameLst>
                                          <p:attrName>style.visibility</p:attrName>
                                        </p:attrNameLst>
                                      </p:cBhvr>
                                      <p:to>
                                        <p:strVal val="visible"/>
                                      </p:to>
                                    </p:set>
                                    <p:animEffect transition="in" filter="wipe(left)">
                                      <p:cBhvr>
                                        <p:cTn id="37" dur="500"/>
                                        <p:tgtEl>
                                          <p:spTgt spid="336968"/>
                                        </p:tgtEl>
                                      </p:cBhvr>
                                    </p:animEffect>
                                  </p:childTnLst>
                                </p:cTn>
                              </p:par>
                            </p:childTnLst>
                          </p:cTn>
                        </p:par>
                        <p:par>
                          <p:cTn id="38" fill="hold">
                            <p:stCondLst>
                              <p:cond delay="500"/>
                            </p:stCondLst>
                            <p:childTnLst>
                              <p:par>
                                <p:cTn id="39" presetID="22" presetClass="entr" presetSubtype="8" fill="hold" nodeType="afterEffect">
                                  <p:stCondLst>
                                    <p:cond delay="500"/>
                                  </p:stCondLst>
                                  <p:childTnLst>
                                    <p:set>
                                      <p:cBhvr>
                                        <p:cTn id="40" dur="1" fill="hold">
                                          <p:stCondLst>
                                            <p:cond delay="0"/>
                                          </p:stCondLst>
                                        </p:cTn>
                                        <p:tgtEl>
                                          <p:spTgt spid="336969"/>
                                        </p:tgtEl>
                                        <p:attrNameLst>
                                          <p:attrName>style.visibility</p:attrName>
                                        </p:attrNameLst>
                                      </p:cBhvr>
                                      <p:to>
                                        <p:strVal val="visible"/>
                                      </p:to>
                                    </p:set>
                                    <p:animEffect transition="in" filter="wipe(left)">
                                      <p:cBhvr>
                                        <p:cTn id="41" dur="500"/>
                                        <p:tgtEl>
                                          <p:spTgt spid="336969"/>
                                        </p:tgtEl>
                                      </p:cBhvr>
                                    </p:animEffect>
                                  </p:childTnLst>
                                </p:cTn>
                              </p:par>
                            </p:childTnLst>
                          </p:cTn>
                        </p:par>
                        <p:par>
                          <p:cTn id="42" fill="hold">
                            <p:stCondLst>
                              <p:cond delay="1500"/>
                            </p:stCondLst>
                            <p:childTnLst>
                              <p:par>
                                <p:cTn id="43" presetID="22" presetClass="entr" presetSubtype="8" fill="hold" nodeType="afterEffect">
                                  <p:stCondLst>
                                    <p:cond delay="500"/>
                                  </p:stCondLst>
                                  <p:childTnLst>
                                    <p:set>
                                      <p:cBhvr>
                                        <p:cTn id="44" dur="1" fill="hold">
                                          <p:stCondLst>
                                            <p:cond delay="0"/>
                                          </p:stCondLst>
                                        </p:cTn>
                                        <p:tgtEl>
                                          <p:spTgt spid="336970"/>
                                        </p:tgtEl>
                                        <p:attrNameLst>
                                          <p:attrName>style.visibility</p:attrName>
                                        </p:attrNameLst>
                                      </p:cBhvr>
                                      <p:to>
                                        <p:strVal val="visible"/>
                                      </p:to>
                                    </p:set>
                                    <p:animEffect transition="in" filter="wipe(left)">
                                      <p:cBhvr>
                                        <p:cTn id="45" dur="500"/>
                                        <p:tgtEl>
                                          <p:spTgt spid="33697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36977"/>
                                        </p:tgtEl>
                                        <p:attrNameLst>
                                          <p:attrName>style.visibility</p:attrName>
                                        </p:attrNameLst>
                                      </p:cBhvr>
                                      <p:to>
                                        <p:strVal val="visible"/>
                                      </p:to>
                                    </p:set>
                                    <p:animEffect transition="in" filter="blinds(horizontal)">
                                      <p:cBhvr>
                                        <p:cTn id="50" dur="500"/>
                                        <p:tgtEl>
                                          <p:spTgt spid="336977"/>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36979"/>
                                        </p:tgtEl>
                                        <p:attrNameLst>
                                          <p:attrName>style.visibility</p:attrName>
                                        </p:attrNameLst>
                                      </p:cBhvr>
                                      <p:to>
                                        <p:strVal val="visible"/>
                                      </p:to>
                                    </p:set>
                                    <p:animEffect transition="in" filter="blinds(horizontal)">
                                      <p:cBhvr>
                                        <p:cTn id="55" dur="500"/>
                                        <p:tgtEl>
                                          <p:spTgt spid="336979"/>
                                        </p:tgtEl>
                                      </p:cBhvr>
                                    </p:animEffect>
                                  </p:childTnLst>
                                </p:cTn>
                              </p:par>
                            </p:childTnLst>
                          </p:cTn>
                        </p:par>
                        <p:par>
                          <p:cTn id="56" fill="hold">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336979">
                                            <p:txEl>
                                              <p:charRg st="0" end="11"/>
                                            </p:txEl>
                                          </p:spTgt>
                                        </p:tgtEl>
                                        <p:attrNameLst>
                                          <p:attrName>style.visibility</p:attrName>
                                        </p:attrNameLst>
                                      </p:cBhvr>
                                      <p:to>
                                        <p:strVal val="visible"/>
                                      </p:to>
                                    </p:set>
                                    <p:animEffect transition="in" filter="blinds(horizontal)">
                                      <p:cBhvr>
                                        <p:cTn id="59" dur="500"/>
                                        <p:tgtEl>
                                          <p:spTgt spid="336979">
                                            <p:txEl>
                                              <p:charRg st="0" end="11"/>
                                            </p:txEl>
                                          </p:spTgt>
                                        </p:tgtEl>
                                      </p:cBhvr>
                                    </p:animEffect>
                                  </p:childTnLst>
                                </p:cTn>
                              </p:par>
                            </p:childTnLst>
                          </p:cTn>
                        </p:par>
                        <p:par>
                          <p:cTn id="60" fill="hold">
                            <p:stCondLst>
                              <p:cond delay="1000"/>
                            </p:stCondLst>
                            <p:childTnLst>
                              <p:par>
                                <p:cTn id="61" presetID="3" presetClass="entr" presetSubtype="10" fill="hold" grpId="0" nodeType="afterEffect">
                                  <p:stCondLst>
                                    <p:cond delay="0"/>
                                  </p:stCondLst>
                                  <p:childTnLst>
                                    <p:set>
                                      <p:cBhvr>
                                        <p:cTn id="62" dur="1" fill="hold">
                                          <p:stCondLst>
                                            <p:cond delay="0"/>
                                          </p:stCondLst>
                                        </p:cTn>
                                        <p:tgtEl>
                                          <p:spTgt spid="336979">
                                            <p:txEl>
                                              <p:charRg st="11" end="29"/>
                                            </p:txEl>
                                          </p:spTgt>
                                        </p:tgtEl>
                                        <p:attrNameLst>
                                          <p:attrName>style.visibility</p:attrName>
                                        </p:attrNameLst>
                                      </p:cBhvr>
                                      <p:to>
                                        <p:strVal val="visible"/>
                                      </p:to>
                                    </p:set>
                                    <p:animEffect transition="in" filter="blinds(horizontal)">
                                      <p:cBhvr>
                                        <p:cTn id="63" dur="500"/>
                                        <p:tgtEl>
                                          <p:spTgt spid="336979">
                                            <p:txEl>
                                              <p:charRg st="11" end="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72" grpId="0"/>
      <p:bldP spid="336973" grpId="0"/>
      <p:bldP spid="336976" grpId="0"/>
      <p:bldP spid="336977" grpId="0"/>
      <p:bldP spid="336979" grpId="0" animBg="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Box 6"/>
          <p:cNvSpPr txBox="1"/>
          <p:nvPr/>
        </p:nvSpPr>
        <p:spPr>
          <a:xfrm>
            <a:off x="2971800" y="517525"/>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 name="矩形 10">
            <a:hlinkClick r:id="" action="ppaction://noaction"/>
          </p:cNvPr>
          <p:cNvSpPr/>
          <p:nvPr/>
        </p:nvSpPr>
        <p:spPr>
          <a:xfrm>
            <a:off x="990600" y="1219200"/>
            <a:ext cx="386969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3</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、输出电压脉冲宽度</a:t>
            </a:r>
            <a:r>
              <a:rPr lang="en-US" altLang="zh-CN" sz="2400" b="1" i="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t</a:t>
            </a:r>
            <a:r>
              <a:rPr lang="en-US" altLang="zh-CN" sz="2400" b="1" baseline="-250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W</a:t>
            </a:r>
            <a:endParaRPr lang="en-US" altLang="zh-CN" sz="2400" b="1" baseline="-250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17" name="Text Box 4"/>
          <p:cNvSpPr txBox="1"/>
          <p:nvPr/>
        </p:nvSpPr>
        <p:spPr>
          <a:xfrm>
            <a:off x="2344738" y="1628775"/>
            <a:ext cx="1381125" cy="457200"/>
          </a:xfrm>
          <a:prstGeom prst="rect">
            <a:avLst/>
          </a:prstGeom>
          <a:noFill/>
          <a:ln w="28575">
            <a:noFill/>
          </a:ln>
        </p:spPr>
        <p:txBody>
          <a:bodyPr lIns="90000" tIns="46800" rIns="90000" bIns="46800" anchor="t" anchorCtr="0">
            <a:spAutoFit/>
          </a:bodyPr>
          <a:p>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rgbClr val="FF0000"/>
                </a:solidFill>
                <a:latin typeface="Times New Roman" panose="02020603050405020304" charset="0"/>
                <a:ea typeface="宋体" panose="02010600030101010101" pitchFamily="2" charset="-122"/>
                <a:cs typeface="Times New Roman" panose="02020603050405020304" charset="0"/>
              </a:rPr>
              <a:t>DD</a:t>
            </a:r>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+V</a:t>
            </a:r>
            <a:r>
              <a:rPr lang="en-US" altLang="zh-CN" sz="2400" b="1" baseline="-25000" dirty="0">
                <a:solidFill>
                  <a:srgbClr val="FF0000"/>
                </a:solidFill>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18" name="Line 5"/>
          <p:cNvSpPr/>
          <p:nvPr/>
        </p:nvSpPr>
        <p:spPr>
          <a:xfrm flipV="1">
            <a:off x="515938" y="1857375"/>
            <a:ext cx="0" cy="1219200"/>
          </a:xfrm>
          <a:prstGeom prst="line">
            <a:avLst/>
          </a:prstGeom>
          <a:ln w="28575" cap="flat" cmpd="sng">
            <a:solidFill>
              <a:schemeClr val="tx1"/>
            </a:solidFill>
            <a:prstDash val="solid"/>
            <a:round/>
            <a:headEnd type="none" w="med" len="med"/>
            <a:tailEnd type="triangle" w="med" len="med"/>
          </a:ln>
        </p:spPr>
      </p:sp>
      <p:sp>
        <p:nvSpPr>
          <p:cNvPr id="19" name="Line 6"/>
          <p:cNvSpPr/>
          <p:nvPr/>
        </p:nvSpPr>
        <p:spPr>
          <a:xfrm>
            <a:off x="515938" y="3076575"/>
            <a:ext cx="4343400" cy="0"/>
          </a:xfrm>
          <a:prstGeom prst="line">
            <a:avLst/>
          </a:prstGeom>
          <a:ln w="28575" cap="flat" cmpd="sng">
            <a:solidFill>
              <a:schemeClr val="tx1"/>
            </a:solidFill>
            <a:prstDash val="solid"/>
            <a:round/>
            <a:headEnd type="none" w="med" len="med"/>
            <a:tailEnd type="triangle" w="med" len="med"/>
          </a:ln>
        </p:spPr>
      </p:sp>
      <p:sp>
        <p:nvSpPr>
          <p:cNvPr id="20" name="Line 7"/>
          <p:cNvSpPr/>
          <p:nvPr/>
        </p:nvSpPr>
        <p:spPr>
          <a:xfrm flipV="1">
            <a:off x="515938" y="3305175"/>
            <a:ext cx="0" cy="1143000"/>
          </a:xfrm>
          <a:prstGeom prst="line">
            <a:avLst/>
          </a:prstGeom>
          <a:ln w="28575" cap="flat" cmpd="sng">
            <a:solidFill>
              <a:schemeClr val="tx1"/>
            </a:solidFill>
            <a:prstDash val="solid"/>
            <a:round/>
            <a:headEnd type="none" w="med" len="med"/>
            <a:tailEnd type="triangle" w="med" len="med"/>
          </a:ln>
        </p:spPr>
      </p:sp>
      <p:sp>
        <p:nvSpPr>
          <p:cNvPr id="21" name="Line 8"/>
          <p:cNvSpPr/>
          <p:nvPr/>
        </p:nvSpPr>
        <p:spPr>
          <a:xfrm>
            <a:off x="515938" y="4448175"/>
            <a:ext cx="4343400" cy="0"/>
          </a:xfrm>
          <a:prstGeom prst="line">
            <a:avLst/>
          </a:prstGeom>
          <a:ln w="28575" cap="flat" cmpd="sng">
            <a:solidFill>
              <a:schemeClr val="tx1"/>
            </a:solidFill>
            <a:prstDash val="solid"/>
            <a:round/>
            <a:headEnd type="none" w="med" len="med"/>
            <a:tailEnd type="triangle" w="med" len="med"/>
          </a:ln>
        </p:spPr>
      </p:sp>
      <p:sp>
        <p:nvSpPr>
          <p:cNvPr id="22" name="Text Box 9"/>
          <p:cNvSpPr txBox="1"/>
          <p:nvPr/>
        </p:nvSpPr>
        <p:spPr>
          <a:xfrm>
            <a:off x="592138" y="1811338"/>
            <a:ext cx="496887" cy="457200"/>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I2</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23" name="Text Box 10"/>
          <p:cNvSpPr txBox="1"/>
          <p:nvPr/>
        </p:nvSpPr>
        <p:spPr>
          <a:xfrm>
            <a:off x="592138" y="3182938"/>
            <a:ext cx="474662" cy="457200"/>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O</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24" name="Line 11"/>
          <p:cNvSpPr/>
          <p:nvPr/>
        </p:nvSpPr>
        <p:spPr>
          <a:xfrm>
            <a:off x="515938" y="2390775"/>
            <a:ext cx="685800" cy="0"/>
          </a:xfrm>
          <a:prstGeom prst="line">
            <a:avLst/>
          </a:prstGeom>
          <a:ln w="57150" cap="flat" cmpd="sng">
            <a:solidFill>
              <a:srgbClr val="CC3300"/>
            </a:solidFill>
            <a:prstDash val="solid"/>
            <a:round/>
            <a:headEnd type="none" w="med" len="med"/>
            <a:tailEnd type="none" w="med" len="med"/>
          </a:ln>
        </p:spPr>
      </p:sp>
      <p:sp>
        <p:nvSpPr>
          <p:cNvPr id="25" name="Line 12"/>
          <p:cNvSpPr/>
          <p:nvPr/>
        </p:nvSpPr>
        <p:spPr>
          <a:xfrm>
            <a:off x="515938" y="4371975"/>
            <a:ext cx="685800" cy="0"/>
          </a:xfrm>
          <a:prstGeom prst="line">
            <a:avLst/>
          </a:prstGeom>
          <a:ln w="57150" cap="flat" cmpd="sng">
            <a:solidFill>
              <a:srgbClr val="CC3300"/>
            </a:solidFill>
            <a:prstDash val="solid"/>
            <a:round/>
            <a:headEnd type="none" w="med" len="med"/>
            <a:tailEnd type="none" w="med" len="med"/>
          </a:ln>
        </p:spPr>
      </p:sp>
      <p:sp>
        <p:nvSpPr>
          <p:cNvPr id="26" name="Line 13"/>
          <p:cNvSpPr/>
          <p:nvPr/>
        </p:nvSpPr>
        <p:spPr>
          <a:xfrm>
            <a:off x="1201738" y="2390775"/>
            <a:ext cx="0" cy="685800"/>
          </a:xfrm>
          <a:prstGeom prst="line">
            <a:avLst/>
          </a:prstGeom>
          <a:ln w="57150" cap="flat" cmpd="sng">
            <a:solidFill>
              <a:srgbClr val="FF33CC"/>
            </a:solidFill>
            <a:prstDash val="solid"/>
            <a:round/>
            <a:headEnd type="none" w="med" len="med"/>
            <a:tailEnd type="none" w="med" len="med"/>
          </a:ln>
        </p:spPr>
      </p:sp>
      <p:sp>
        <p:nvSpPr>
          <p:cNvPr id="27" name="Line 14"/>
          <p:cNvSpPr/>
          <p:nvPr/>
        </p:nvSpPr>
        <p:spPr>
          <a:xfrm flipV="1">
            <a:off x="1201738" y="3686175"/>
            <a:ext cx="0" cy="685800"/>
          </a:xfrm>
          <a:prstGeom prst="line">
            <a:avLst/>
          </a:prstGeom>
          <a:ln w="57150" cap="flat" cmpd="sng">
            <a:solidFill>
              <a:srgbClr val="FF33CC"/>
            </a:solidFill>
            <a:prstDash val="solid"/>
            <a:round/>
            <a:headEnd type="none" w="med" len="med"/>
            <a:tailEnd type="none" w="med" len="med"/>
          </a:ln>
        </p:spPr>
      </p:sp>
      <p:sp>
        <p:nvSpPr>
          <p:cNvPr id="28" name="Freeform 15"/>
          <p:cNvSpPr/>
          <p:nvPr/>
        </p:nvSpPr>
        <p:spPr>
          <a:xfrm>
            <a:off x="1201738" y="2695575"/>
            <a:ext cx="990600" cy="381000"/>
          </a:xfrm>
          <a:custGeom>
            <a:avLst/>
            <a:gdLst/>
            <a:ahLst/>
            <a:cxnLst>
              <a:cxn ang="0">
                <a:pos x="0" y="756046875"/>
              </a:cxn>
              <a:cxn ang="0">
                <a:pos x="1572577500" y="0"/>
              </a:cxn>
            </a:cxnLst>
            <a:pathLst>
              <a:path w="624" h="192">
                <a:moveTo>
                  <a:pt x="0" y="192"/>
                </a:moveTo>
                <a:cubicBezTo>
                  <a:pt x="158" y="113"/>
                  <a:pt x="405" y="31"/>
                  <a:pt x="624" y="0"/>
                </a:cubicBezTo>
              </a:path>
            </a:pathLst>
          </a:custGeom>
          <a:noFill/>
          <a:ln w="57150" cap="flat" cmpd="sng">
            <a:solidFill>
              <a:srgbClr val="006600"/>
            </a:solidFill>
            <a:prstDash val="solid"/>
            <a:round/>
            <a:headEnd type="none" w="med" len="med"/>
            <a:tailEnd type="none" w="med" len="med"/>
          </a:ln>
        </p:spPr>
        <p:txBody>
          <a:bodyPr/>
          <a:p>
            <a:endParaRPr lang="zh-CN" altLang="en-US">
              <a:latin typeface="Times New Roman" panose="02020603050405020304" charset="0"/>
              <a:cs typeface="Times New Roman" panose="02020603050405020304" charset="0"/>
            </a:endParaRPr>
          </a:p>
        </p:txBody>
      </p:sp>
      <p:sp>
        <p:nvSpPr>
          <p:cNvPr id="29" name="Line 16"/>
          <p:cNvSpPr/>
          <p:nvPr/>
        </p:nvSpPr>
        <p:spPr>
          <a:xfrm>
            <a:off x="515938" y="2695575"/>
            <a:ext cx="1676400" cy="0"/>
          </a:xfrm>
          <a:prstGeom prst="line">
            <a:avLst/>
          </a:prstGeom>
          <a:ln w="12700" cap="flat" cmpd="sng">
            <a:solidFill>
              <a:schemeClr val="tx1"/>
            </a:solidFill>
            <a:prstDash val="lgDash"/>
            <a:round/>
            <a:headEnd type="none" w="med" len="med"/>
            <a:tailEnd type="none" w="med" len="med"/>
          </a:ln>
        </p:spPr>
      </p:sp>
      <p:sp>
        <p:nvSpPr>
          <p:cNvPr id="30" name="Line 17"/>
          <p:cNvSpPr/>
          <p:nvPr/>
        </p:nvSpPr>
        <p:spPr>
          <a:xfrm>
            <a:off x="1201738" y="3686175"/>
            <a:ext cx="990600" cy="0"/>
          </a:xfrm>
          <a:prstGeom prst="line">
            <a:avLst/>
          </a:prstGeom>
          <a:ln w="57150" cap="flat" cmpd="sng">
            <a:solidFill>
              <a:srgbClr val="006600"/>
            </a:solidFill>
            <a:prstDash val="solid"/>
            <a:round/>
            <a:headEnd type="none" w="med" len="med"/>
            <a:tailEnd type="none" w="med" len="med"/>
          </a:ln>
        </p:spPr>
      </p:sp>
      <p:sp>
        <p:nvSpPr>
          <p:cNvPr id="31" name="Text Box 18"/>
          <p:cNvSpPr txBox="1"/>
          <p:nvPr/>
        </p:nvSpPr>
        <p:spPr>
          <a:xfrm>
            <a:off x="1322388" y="2284413"/>
            <a:ext cx="695325"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TH</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32" name="Line 19"/>
          <p:cNvSpPr/>
          <p:nvPr/>
        </p:nvSpPr>
        <p:spPr>
          <a:xfrm>
            <a:off x="2192338" y="3686175"/>
            <a:ext cx="0" cy="685800"/>
          </a:xfrm>
          <a:prstGeom prst="line">
            <a:avLst/>
          </a:prstGeom>
          <a:ln w="57150" cap="flat" cmpd="sng">
            <a:solidFill>
              <a:srgbClr val="0033CC"/>
            </a:solidFill>
            <a:prstDash val="solid"/>
            <a:round/>
            <a:headEnd type="none" w="med" len="med"/>
            <a:tailEnd type="none" w="med" len="med"/>
          </a:ln>
        </p:spPr>
      </p:sp>
      <p:sp>
        <p:nvSpPr>
          <p:cNvPr id="33" name="Line 20"/>
          <p:cNvSpPr/>
          <p:nvPr/>
        </p:nvSpPr>
        <p:spPr>
          <a:xfrm flipV="1">
            <a:off x="2192338" y="1857375"/>
            <a:ext cx="0" cy="838200"/>
          </a:xfrm>
          <a:prstGeom prst="line">
            <a:avLst/>
          </a:prstGeom>
          <a:ln w="57150" cap="flat" cmpd="sng">
            <a:solidFill>
              <a:srgbClr val="CC3300"/>
            </a:solidFill>
            <a:prstDash val="solid"/>
            <a:round/>
            <a:headEnd type="none" w="med" len="med"/>
            <a:tailEnd type="none" w="med" len="med"/>
          </a:ln>
        </p:spPr>
      </p:sp>
      <p:sp>
        <p:nvSpPr>
          <p:cNvPr id="34" name="Line 21"/>
          <p:cNvSpPr/>
          <p:nvPr/>
        </p:nvSpPr>
        <p:spPr>
          <a:xfrm flipV="1">
            <a:off x="2192338" y="2162175"/>
            <a:ext cx="0" cy="533400"/>
          </a:xfrm>
          <a:prstGeom prst="line">
            <a:avLst/>
          </a:prstGeom>
          <a:ln w="76200" cap="flat" cmpd="sng">
            <a:solidFill>
              <a:srgbClr val="0033CC"/>
            </a:solidFill>
            <a:prstDash val="solid"/>
            <a:round/>
            <a:headEnd type="none" w="med" len="med"/>
            <a:tailEnd type="none" w="med" len="med"/>
          </a:ln>
        </p:spPr>
      </p:sp>
      <p:sp>
        <p:nvSpPr>
          <p:cNvPr id="35" name="Text Box 22"/>
          <p:cNvSpPr txBox="1"/>
          <p:nvPr/>
        </p:nvSpPr>
        <p:spPr>
          <a:xfrm>
            <a:off x="2268538" y="2390775"/>
            <a:ext cx="1290637"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V</a:t>
            </a:r>
            <a:r>
              <a:rPr lang="en-US" altLang="zh-CN" sz="2400" b="1" baseline="-25000" dirty="0">
                <a:latin typeface="Times New Roman" panose="02020603050405020304" charset="0"/>
                <a:ea typeface="宋体" panose="02010600030101010101" pitchFamily="2" charset="-122"/>
                <a:cs typeface="Times New Roman" panose="02020603050405020304" charset="0"/>
              </a:rPr>
              <a:t>DD</a:t>
            </a:r>
            <a:r>
              <a:rPr lang="en-US" altLang="zh-CN" sz="2400" b="1" dirty="0">
                <a:latin typeface="Times New Roman" panose="02020603050405020304" charset="0"/>
                <a:ea typeface="宋体" panose="02010600030101010101" pitchFamily="2" charset="-122"/>
                <a:cs typeface="Times New Roman" panose="02020603050405020304" charset="0"/>
              </a:rPr>
              <a:t>+Δ</a:t>
            </a:r>
            <a:r>
              <a:rPr lang="en-US" altLang="zh-CN" sz="2400" b="1" baseline="-25000" dirty="0">
                <a:latin typeface="Times New Roman" panose="02020603050405020304" charset="0"/>
                <a:ea typeface="宋体" panose="02010600030101010101" pitchFamily="2" charset="-122"/>
                <a:cs typeface="Times New Roman" panose="02020603050405020304" charset="0"/>
              </a:rPr>
              <a:t>+</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sp>
        <p:nvSpPr>
          <p:cNvPr id="36" name="Line 23"/>
          <p:cNvSpPr/>
          <p:nvPr/>
        </p:nvSpPr>
        <p:spPr>
          <a:xfrm>
            <a:off x="515938" y="2427288"/>
            <a:ext cx="4343400" cy="0"/>
          </a:xfrm>
          <a:prstGeom prst="line">
            <a:avLst/>
          </a:prstGeom>
          <a:ln w="12700" cap="flat" cmpd="sng">
            <a:solidFill>
              <a:srgbClr val="0033CC"/>
            </a:solidFill>
            <a:prstDash val="lgDash"/>
            <a:round/>
            <a:headEnd type="none" w="med" len="med"/>
            <a:tailEnd type="none" w="med" len="med"/>
          </a:ln>
        </p:spPr>
      </p:sp>
      <p:sp>
        <p:nvSpPr>
          <p:cNvPr id="37" name="Line 24"/>
          <p:cNvSpPr/>
          <p:nvPr/>
        </p:nvSpPr>
        <p:spPr>
          <a:xfrm>
            <a:off x="2192338" y="4371975"/>
            <a:ext cx="2362200" cy="0"/>
          </a:xfrm>
          <a:prstGeom prst="line">
            <a:avLst/>
          </a:prstGeom>
          <a:ln w="57150" cap="flat" cmpd="sng">
            <a:solidFill>
              <a:srgbClr val="0033CC"/>
            </a:solidFill>
            <a:prstDash val="solid"/>
            <a:round/>
            <a:headEnd type="none" w="med" len="med"/>
            <a:tailEnd type="triangle" w="med" len="med"/>
          </a:ln>
        </p:spPr>
      </p:sp>
      <p:sp>
        <p:nvSpPr>
          <p:cNvPr id="38" name="Freeform 25"/>
          <p:cNvSpPr/>
          <p:nvPr/>
        </p:nvSpPr>
        <p:spPr>
          <a:xfrm>
            <a:off x="2192338" y="1857375"/>
            <a:ext cx="2205037" cy="533400"/>
          </a:xfrm>
          <a:custGeom>
            <a:avLst/>
            <a:gdLst/>
            <a:ahLst/>
            <a:cxnLst>
              <a:cxn ang="0">
                <a:pos x="0" y="0"/>
              </a:cxn>
              <a:cxn ang="0">
                <a:pos x="2064006707" y="829132200"/>
              </a:cxn>
              <a:cxn ang="0">
                <a:pos x="2147483647" y="846772500"/>
              </a:cxn>
            </a:cxnLst>
            <a:pathLst>
              <a:path w="1389" h="336">
                <a:moveTo>
                  <a:pt x="0" y="0"/>
                </a:moveTo>
                <a:cubicBezTo>
                  <a:pt x="165" y="153"/>
                  <a:pt x="336" y="329"/>
                  <a:pt x="819" y="329"/>
                </a:cubicBezTo>
                <a:cubicBezTo>
                  <a:pt x="1067" y="334"/>
                  <a:pt x="1220" y="336"/>
                  <a:pt x="1389" y="336"/>
                </a:cubicBezTo>
              </a:path>
            </a:pathLst>
          </a:custGeom>
          <a:noFill/>
          <a:ln w="57150" cap="flat" cmpd="sng">
            <a:solidFill>
              <a:srgbClr val="CC3300"/>
            </a:solidFill>
            <a:prstDash val="solid"/>
            <a:round/>
            <a:headEnd type="none" w="med" len="med"/>
            <a:tailEnd type="triangle" w="med" len="med"/>
          </a:ln>
        </p:spPr>
        <p:txBody>
          <a:bodyPr/>
          <a:p>
            <a:endParaRPr lang="zh-CN" altLang="en-US">
              <a:latin typeface="Times New Roman" panose="02020603050405020304" charset="0"/>
              <a:cs typeface="Times New Roman" panose="02020603050405020304" charset="0"/>
            </a:endParaRPr>
          </a:p>
        </p:txBody>
      </p:sp>
      <p:sp>
        <p:nvSpPr>
          <p:cNvPr id="39" name="Freeform 26"/>
          <p:cNvSpPr/>
          <p:nvPr/>
        </p:nvSpPr>
        <p:spPr>
          <a:xfrm>
            <a:off x="2192338" y="2162175"/>
            <a:ext cx="2205037" cy="228600"/>
          </a:xfrm>
          <a:custGeom>
            <a:avLst/>
            <a:gdLst/>
            <a:ahLst/>
            <a:cxnLst>
              <a:cxn ang="0">
                <a:pos x="0" y="0"/>
              </a:cxn>
              <a:cxn ang="0">
                <a:pos x="2064006707" y="152289782"/>
              </a:cxn>
              <a:cxn ang="0">
                <a:pos x="2147483647" y="155529643"/>
              </a:cxn>
            </a:cxnLst>
            <a:pathLst>
              <a:path w="1389" h="336">
                <a:moveTo>
                  <a:pt x="0" y="0"/>
                </a:moveTo>
                <a:cubicBezTo>
                  <a:pt x="165" y="153"/>
                  <a:pt x="336" y="329"/>
                  <a:pt x="819" y="329"/>
                </a:cubicBezTo>
                <a:cubicBezTo>
                  <a:pt x="1067" y="334"/>
                  <a:pt x="1220" y="336"/>
                  <a:pt x="1389" y="336"/>
                </a:cubicBezTo>
              </a:path>
            </a:pathLst>
          </a:custGeom>
          <a:noFill/>
          <a:ln w="57150" cap="flat" cmpd="sng">
            <a:solidFill>
              <a:srgbClr val="0033CC"/>
            </a:solidFill>
            <a:prstDash val="solid"/>
            <a:round/>
            <a:headEnd type="none" w="med" len="med"/>
            <a:tailEnd type="triangle" w="med" len="med"/>
          </a:ln>
        </p:spPr>
        <p:txBody>
          <a:bodyPr/>
          <a:p>
            <a:endParaRPr lang="zh-CN" altLang="en-US">
              <a:latin typeface="Times New Roman" panose="02020603050405020304" charset="0"/>
              <a:cs typeface="Times New Roman" panose="02020603050405020304" charset="0"/>
            </a:endParaRPr>
          </a:p>
        </p:txBody>
      </p:sp>
      <p:sp>
        <p:nvSpPr>
          <p:cNvPr id="40" name="Text Box 56"/>
          <p:cNvSpPr txBox="1"/>
          <p:nvPr/>
        </p:nvSpPr>
        <p:spPr>
          <a:xfrm>
            <a:off x="1049338" y="4371975"/>
            <a:ext cx="333375"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0</a:t>
            </a: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
        <p:nvSpPr>
          <p:cNvPr id="41" name="Text Box 57"/>
          <p:cNvSpPr txBox="1"/>
          <p:nvPr/>
        </p:nvSpPr>
        <p:spPr>
          <a:xfrm>
            <a:off x="2039938" y="4371975"/>
            <a:ext cx="485775"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t</a:t>
            </a:r>
            <a:r>
              <a:rPr lang="en-US" altLang="zh-CN" sz="2400" b="1" baseline="-25000" dirty="0">
                <a:latin typeface="Times New Roman" panose="02020603050405020304" charset="0"/>
                <a:ea typeface="宋体" panose="02010600030101010101" pitchFamily="2" charset="-122"/>
                <a:cs typeface="Times New Roman" panose="02020603050405020304" charset="0"/>
              </a:rPr>
              <a:t>W</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aphicFrame>
        <p:nvGraphicFramePr>
          <p:cNvPr id="42" name="Object 58"/>
          <p:cNvGraphicFramePr>
            <a:graphicFrameLocks noChangeAspect="1"/>
          </p:cNvGraphicFramePr>
          <p:nvPr/>
        </p:nvGraphicFramePr>
        <p:xfrm>
          <a:off x="6826250" y="4235450"/>
          <a:ext cx="257175" cy="463550"/>
        </p:xfrm>
        <a:graphic>
          <a:graphicData uri="http://schemas.openxmlformats.org/presentationml/2006/ole">
            <mc:AlternateContent xmlns:mc="http://schemas.openxmlformats.org/markup-compatibility/2006">
              <mc:Choice xmlns:v="urn:schemas-microsoft-com:vml" Requires="v">
                <p:oleObj spid="_x0000_s43" name="" r:id="rId1" imgW="88265" imgH="176530" progId="Equation.3">
                  <p:embed/>
                </p:oleObj>
              </mc:Choice>
              <mc:Fallback>
                <p:oleObj name="" r:id="rId1" imgW="88265" imgH="176530" progId="Equation.3">
                  <p:embed/>
                  <p:pic>
                    <p:nvPicPr>
                      <p:cNvPr id="0" name="图片 3082"/>
                      <p:cNvPicPr/>
                      <p:nvPr/>
                    </p:nvPicPr>
                    <p:blipFill>
                      <a:blip r:embed="rId2">
                        <a:clrChange>
                          <a:clrFrom>
                            <a:srgbClr val="000000"/>
                          </a:clrFrom>
                          <a:clrTo>
                            <a:srgbClr val="000000">
                              <a:alpha val="0"/>
                            </a:srgbClr>
                          </a:clrTo>
                        </a:clrChange>
                      </a:blip>
                      <a:stretch>
                        <a:fillRect/>
                      </a:stretch>
                    </p:blipFill>
                    <p:spPr>
                      <a:xfrm>
                        <a:off x="6826250" y="4235450"/>
                        <a:ext cx="257175" cy="463550"/>
                      </a:xfrm>
                      <a:prstGeom prst="rect">
                        <a:avLst/>
                      </a:prstGeom>
                      <a:noFill/>
                      <a:ln w="38100">
                        <a:noFill/>
                        <a:miter/>
                      </a:ln>
                    </p:spPr>
                  </p:pic>
                </p:oleObj>
              </mc:Fallback>
            </mc:AlternateContent>
          </a:graphicData>
        </a:graphic>
      </p:graphicFrame>
      <p:sp>
        <p:nvSpPr>
          <p:cNvPr id="44" name="Text Box 59"/>
          <p:cNvSpPr txBox="1"/>
          <p:nvPr/>
        </p:nvSpPr>
        <p:spPr>
          <a:xfrm>
            <a:off x="2546350" y="3724275"/>
            <a:ext cx="1682750" cy="519113"/>
          </a:xfrm>
          <a:prstGeom prst="rect">
            <a:avLst/>
          </a:prstGeom>
          <a:noFill/>
          <a:ln w="28575">
            <a:noFill/>
          </a:ln>
        </p:spPr>
        <p:txBody>
          <a:bodyPr lIns="90000" tIns="46800" rIns="90000" bIns="46800" anchor="t" anchorCtr="0">
            <a:spAutoFit/>
          </a:bodyPr>
          <a:p>
            <a:r>
              <a:rPr lang="en-US" altLang="zh-CN" b="1" i="1" dirty="0">
                <a:solidFill>
                  <a:srgbClr val="CC3300"/>
                </a:solidFill>
                <a:latin typeface="Times New Roman" panose="02020603050405020304" charset="0"/>
                <a:ea typeface="宋体" panose="02010600030101010101" pitchFamily="2" charset="-122"/>
                <a:cs typeface="Times New Roman" panose="02020603050405020304" charset="0"/>
              </a:rPr>
              <a:t>t</a:t>
            </a:r>
            <a:r>
              <a:rPr lang="en-US" altLang="zh-CN" b="1" baseline="-25000" dirty="0">
                <a:solidFill>
                  <a:srgbClr val="CC3300"/>
                </a:solidFill>
                <a:latin typeface="Times New Roman" panose="02020603050405020304" charset="0"/>
                <a:ea typeface="宋体" panose="02010600030101010101" pitchFamily="2" charset="-122"/>
                <a:cs typeface="Times New Roman" panose="02020603050405020304" charset="0"/>
              </a:rPr>
              <a:t>W</a:t>
            </a:r>
            <a:r>
              <a:rPr lang="en-US" altLang="zh-CN" b="1" dirty="0">
                <a:solidFill>
                  <a:srgbClr val="CC3300"/>
                </a:solidFill>
                <a:latin typeface="Times New Roman" panose="02020603050405020304" charset="0"/>
                <a:ea typeface="宋体" panose="02010600030101010101" pitchFamily="2" charset="-122"/>
                <a:cs typeface="Times New Roman" panose="02020603050405020304" charset="0"/>
              </a:rPr>
              <a:t>=0.7RC</a:t>
            </a:r>
            <a:endParaRPr lang="en-US" altLang="zh-CN" b="1" dirty="0">
              <a:solidFill>
                <a:srgbClr val="CC3300"/>
              </a:solidFill>
              <a:latin typeface="Times New Roman" panose="02020603050405020304" charset="0"/>
              <a:ea typeface="宋体" panose="02010600030101010101" pitchFamily="2" charset="-122"/>
              <a:cs typeface="Times New Roman" panose="02020603050405020304" charset="0"/>
            </a:endParaRPr>
          </a:p>
        </p:txBody>
      </p:sp>
      <p:sp>
        <p:nvSpPr>
          <p:cNvPr id="45" name="Text Box 60"/>
          <p:cNvSpPr txBox="1"/>
          <p:nvPr/>
        </p:nvSpPr>
        <p:spPr>
          <a:xfrm>
            <a:off x="395605" y="5386705"/>
            <a:ext cx="5556250" cy="831215"/>
          </a:xfrm>
          <a:prstGeom prst="rect">
            <a:avLst/>
          </a:prstGeom>
          <a:noFill/>
          <a:ln w="28575">
            <a:noFill/>
          </a:ln>
        </p:spPr>
        <p:txBody>
          <a:bodyPr wrap="square" lIns="90000" tIns="46800" rIns="90000" bIns="46800" anchor="t" anchorCtr="0">
            <a:spAutoFit/>
          </a:bodyPr>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只取决于电路参数，与输入脉冲宽度无关。调节</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或</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，可改变</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W</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宽度。</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47" name="Group 62"/>
          <p:cNvGrpSpPr/>
          <p:nvPr/>
        </p:nvGrpSpPr>
        <p:grpSpPr>
          <a:xfrm>
            <a:off x="1177925" y="3724275"/>
            <a:ext cx="1008063" cy="457200"/>
            <a:chOff x="657" y="1752"/>
            <a:chExt cx="635" cy="288"/>
          </a:xfrm>
        </p:grpSpPr>
        <p:sp>
          <p:nvSpPr>
            <p:cNvPr id="48" name="Line 63"/>
            <p:cNvSpPr/>
            <p:nvPr/>
          </p:nvSpPr>
          <p:spPr>
            <a:xfrm>
              <a:off x="657" y="2024"/>
              <a:ext cx="635" cy="0"/>
            </a:xfrm>
            <a:prstGeom prst="line">
              <a:avLst/>
            </a:prstGeom>
            <a:ln w="38100" cap="flat" cmpd="sng">
              <a:solidFill>
                <a:srgbClr val="FF33CC"/>
              </a:solidFill>
              <a:prstDash val="solid"/>
              <a:round/>
              <a:headEnd type="triangle" w="med" len="med"/>
              <a:tailEnd type="triangle" w="med" len="med"/>
            </a:ln>
          </p:spPr>
        </p:sp>
        <p:sp>
          <p:nvSpPr>
            <p:cNvPr id="49" name="Rectangle 64"/>
            <p:cNvSpPr/>
            <p:nvPr/>
          </p:nvSpPr>
          <p:spPr>
            <a:xfrm>
              <a:off x="839" y="1752"/>
              <a:ext cx="306"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cs typeface="Times New Roman" panose="02020603050405020304" charset="0"/>
                </a:rPr>
                <a:t>t</a:t>
              </a:r>
              <a:r>
                <a:rPr lang="en-US" altLang="zh-CN" sz="2400" b="1" baseline="-25000" dirty="0">
                  <a:latin typeface="Times New Roman" panose="02020603050405020304" charset="0"/>
                  <a:ea typeface="宋体" panose="02010600030101010101" pitchFamily="2" charset="-122"/>
                  <a:cs typeface="Times New Roman" panose="02020603050405020304" charset="0"/>
                </a:rPr>
                <a:t>W</a:t>
              </a:r>
              <a:endParaRPr lang="en-US" altLang="zh-CN" sz="2400" b="1" baseline="-25000" dirty="0">
                <a:latin typeface="Times New Roman" panose="02020603050405020304" charset="0"/>
                <a:ea typeface="宋体" panose="02010600030101010101" pitchFamily="2" charset="-122"/>
                <a:cs typeface="Times New Roman" panose="02020603050405020304" charset="0"/>
              </a:endParaRPr>
            </a:p>
          </p:txBody>
        </p:sp>
      </p:grpSp>
      <p:sp>
        <p:nvSpPr>
          <p:cNvPr id="54" name="Rectangle 69"/>
          <p:cNvSpPr/>
          <p:nvPr/>
        </p:nvSpPr>
        <p:spPr>
          <a:xfrm>
            <a:off x="5257483" y="1588135"/>
            <a:ext cx="3671887" cy="936625"/>
          </a:xfrm>
          <a:prstGeom prst="rect">
            <a:avLst/>
          </a:prstGeom>
          <a:noFill/>
          <a:ln w="9525">
            <a:noFill/>
          </a:ln>
        </p:spPr>
        <p:txBody>
          <a:bodyPr anchor="ctr" anchorCtr="0"/>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根据</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电路瞬态分析的三要素法：</a:t>
            </a:r>
            <a:endParaRPr lang="zh-CN" altLang="en-US" sz="24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56" name="Rectangle 71"/>
          <p:cNvSpPr/>
          <p:nvPr/>
        </p:nvSpPr>
        <p:spPr>
          <a:xfrm>
            <a:off x="611188" y="4843463"/>
            <a:ext cx="3600450" cy="400050"/>
          </a:xfrm>
          <a:prstGeom prst="rect">
            <a:avLst/>
          </a:prstGeom>
          <a:noFill/>
          <a:ln w="28575">
            <a:noFill/>
          </a:ln>
        </p:spPr>
        <p:txBody>
          <a:bodyPr lIns="90000" tIns="46800" rIns="90000" bIns="46800" anchor="t" anchorCtr="0">
            <a:spAutoFit/>
          </a:bodyPr>
          <a:p>
            <a:pPr algn="ctr"/>
            <a:r>
              <a:rPr lang="en-US" altLang="zh-CN" sz="2000" b="1" dirty="0">
                <a:solidFill>
                  <a:srgbClr val="0033CC"/>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33CC"/>
                </a:solidFill>
                <a:latin typeface="Times New Roman" panose="02020603050405020304" charset="0"/>
                <a:ea typeface="楷体" panose="02010609060101010101" charset="-122"/>
                <a:cs typeface="Times New Roman" panose="02020603050405020304" charset="0"/>
              </a:rPr>
              <a:t>TH</a:t>
            </a:r>
            <a:r>
              <a:rPr lang="en-US" altLang="zh-CN" sz="2000" b="1" dirty="0">
                <a:solidFill>
                  <a:srgbClr val="0033CC"/>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33CC"/>
                </a:solidFill>
                <a:latin typeface="Times New Roman" panose="02020603050405020304" charset="0"/>
                <a:ea typeface="楷体" panose="02010609060101010101" charset="-122"/>
                <a:cs typeface="Times New Roman" panose="02020603050405020304" charset="0"/>
              </a:rPr>
              <a:t>DD</a:t>
            </a:r>
            <a:r>
              <a:rPr lang="en-US" altLang="zh-CN" sz="2000" b="1" dirty="0">
                <a:solidFill>
                  <a:srgbClr val="0033CC"/>
                </a:solidFill>
                <a:latin typeface="Times New Roman" panose="02020603050405020304" charset="0"/>
                <a:ea typeface="楷体" panose="02010609060101010101" charset="-122"/>
                <a:cs typeface="Times New Roman" panose="02020603050405020304" charset="0"/>
              </a:rPr>
              <a:t>/2</a:t>
            </a:r>
            <a:endParaRPr lang="en-US" altLang="zh-CN" sz="2000" b="1" baseline="-25000" dirty="0">
              <a:solidFill>
                <a:srgbClr val="0033CC"/>
              </a:solidFill>
              <a:latin typeface="Times New Roman" panose="02020603050405020304" charset="0"/>
              <a:ea typeface="楷体" panose="02010609060101010101" charset="-122"/>
              <a:cs typeface="Times New Roman" panose="02020603050405020304" charset="0"/>
            </a:endParaRPr>
          </a:p>
        </p:txBody>
      </p:sp>
      <p:graphicFrame>
        <p:nvGraphicFramePr>
          <p:cNvPr id="57" name="Object 72"/>
          <p:cNvGraphicFramePr>
            <a:graphicFrameLocks noChangeAspect="1"/>
          </p:cNvGraphicFramePr>
          <p:nvPr/>
        </p:nvGraphicFramePr>
        <p:xfrm>
          <a:off x="5651500" y="3710305"/>
          <a:ext cx="2349500" cy="897890"/>
        </p:xfrm>
        <a:graphic>
          <a:graphicData uri="http://schemas.openxmlformats.org/presentationml/2006/ole">
            <mc:AlternateContent xmlns:mc="http://schemas.openxmlformats.org/markup-compatibility/2006">
              <mc:Choice xmlns:v="urn:schemas-microsoft-com:vml" Requires="v">
                <p:oleObj spid="_x0000_s58" name="" r:id="rId3" imgW="1129665" imgH="431800" progId="Equation.3">
                  <p:embed/>
                </p:oleObj>
              </mc:Choice>
              <mc:Fallback>
                <p:oleObj name="" r:id="rId3" imgW="1129665" imgH="431800" progId="Equation.3">
                  <p:embed/>
                  <p:pic>
                    <p:nvPicPr>
                      <p:cNvPr id="0" name="图片 3080"/>
                      <p:cNvPicPr/>
                      <p:nvPr/>
                    </p:nvPicPr>
                    <p:blipFill>
                      <a:blip r:embed="rId4"/>
                      <a:stretch>
                        <a:fillRect/>
                      </a:stretch>
                    </p:blipFill>
                    <p:spPr>
                      <a:xfrm>
                        <a:off x="5651500" y="3710305"/>
                        <a:ext cx="2349500" cy="897890"/>
                      </a:xfrm>
                      <a:prstGeom prst="rect">
                        <a:avLst/>
                      </a:prstGeom>
                      <a:noFill/>
                      <a:ln w="38100">
                        <a:noFill/>
                        <a:miter/>
                      </a:ln>
                    </p:spPr>
                  </p:pic>
                </p:oleObj>
              </mc:Fallback>
            </mc:AlternateContent>
          </a:graphicData>
        </a:graphic>
      </p:graphicFrame>
      <p:graphicFrame>
        <p:nvGraphicFramePr>
          <p:cNvPr id="59" name="Object 73"/>
          <p:cNvGraphicFramePr>
            <a:graphicFrameLocks noChangeAspect="1"/>
          </p:cNvGraphicFramePr>
          <p:nvPr/>
        </p:nvGraphicFramePr>
        <p:xfrm>
          <a:off x="5638800" y="4724400"/>
          <a:ext cx="2546350" cy="386715"/>
        </p:xfrm>
        <a:graphic>
          <a:graphicData uri="http://schemas.openxmlformats.org/presentationml/2006/ole">
            <mc:AlternateContent xmlns:mc="http://schemas.openxmlformats.org/markup-compatibility/2006">
              <mc:Choice xmlns:v="urn:schemas-microsoft-com:vml" Requires="v">
                <p:oleObj spid="_x0000_s60" name="" r:id="rId5" imgW="1167765" imgH="177800" progId="Equation.3">
                  <p:embed/>
                </p:oleObj>
              </mc:Choice>
              <mc:Fallback>
                <p:oleObj name="" r:id="rId5" imgW="1167765" imgH="177800" progId="Equation.3">
                  <p:embed/>
                  <p:pic>
                    <p:nvPicPr>
                      <p:cNvPr id="0" name="图片 3081"/>
                      <p:cNvPicPr/>
                      <p:nvPr/>
                    </p:nvPicPr>
                    <p:blipFill>
                      <a:blip r:embed="rId6"/>
                      <a:stretch>
                        <a:fillRect/>
                      </a:stretch>
                    </p:blipFill>
                    <p:spPr>
                      <a:xfrm>
                        <a:off x="5638800" y="4724400"/>
                        <a:ext cx="2546350" cy="386715"/>
                      </a:xfrm>
                      <a:prstGeom prst="rect">
                        <a:avLst/>
                      </a:prstGeom>
                      <a:noFill/>
                      <a:ln w="38100">
                        <a:noFill/>
                        <a:miter/>
                      </a:ln>
                    </p:spPr>
                  </p:pic>
                </p:oleObj>
              </mc:Fallback>
            </mc:AlternateContent>
          </a:graphicData>
        </a:graphic>
      </p:graphicFrame>
      <p:graphicFrame>
        <p:nvGraphicFramePr>
          <p:cNvPr id="70" name="对象 69"/>
          <p:cNvGraphicFramePr/>
          <p:nvPr/>
        </p:nvGraphicFramePr>
        <p:xfrm>
          <a:off x="5436870" y="2514600"/>
          <a:ext cx="3204845" cy="1092200"/>
        </p:xfrm>
        <a:graphic>
          <a:graphicData uri="http://schemas.openxmlformats.org/presentationml/2006/ole">
            <mc:AlternateContent xmlns:mc="http://schemas.openxmlformats.org/markup-compatibility/2006">
              <mc:Choice xmlns:v="urn:schemas-microsoft-com:vml" Requires="v">
                <p:oleObj spid="_x0000_s71" name="" r:id="rId7" imgW="2919095" imgH="1007745" progId="Equation.KSEE3">
                  <p:embed/>
                </p:oleObj>
              </mc:Choice>
              <mc:Fallback>
                <p:oleObj name="" r:id="rId7" imgW="2919095" imgH="1007745" progId="Equation.KSEE3">
                  <p:embed/>
                  <p:pic>
                    <p:nvPicPr>
                      <p:cNvPr id="0" name="图片 70"/>
                      <p:cNvPicPr/>
                      <p:nvPr/>
                    </p:nvPicPr>
                    <p:blipFill>
                      <a:blip r:embed="rId8"/>
                      <a:stretch>
                        <a:fillRect/>
                      </a:stretch>
                    </p:blipFill>
                    <p:spPr>
                      <a:xfrm>
                        <a:off x="5436870" y="2514600"/>
                        <a:ext cx="3204845" cy="1092200"/>
                      </a:xfrm>
                      <a:prstGeom prst="rect">
                        <a:avLst/>
                      </a:prstGeom>
                      <a:ln w="28575" cmpd="sng">
                        <a:solidFill>
                          <a:srgbClr val="FF0000"/>
                        </a:solidFill>
                        <a:prstDash val="solid"/>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up)">
                                      <p:cBhvr>
                                        <p:cTn id="19" dur="500"/>
                                        <p:tgtEl>
                                          <p:spTgt spid="4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wipe(left)">
                                      <p:cBhvr>
                                        <p:cTn id="24" dur="500"/>
                                        <p:tgtEl>
                                          <p:spTgt spid="5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left)">
                                      <p:cBhvr>
                                        <p:cTn id="29" dur="500"/>
                                        <p:tgtEl>
                                          <p:spTgt spid="5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wipe(left)">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wipe(up)">
                                      <p:cBhvr>
                                        <p:cTn id="39" dur="500"/>
                                        <p:tgtEl>
                                          <p:spTgt spid="4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up)">
                                      <p:cBhvr>
                                        <p:cTn id="4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4" grpId="0"/>
      <p:bldP spid="45" grpId="0"/>
      <p:bldP spid="5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90600" y="106680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7.3.3 </a:t>
            </a:r>
            <a:r>
              <a:rPr lang="zh-CN" altLang="en-US" sz="2400" i="0" dirty="0">
                <a:solidFill>
                  <a:srgbClr val="0070C0"/>
                </a:solidFill>
                <a:latin typeface="黑体" panose="02010609060101010101" pitchFamily="49" charset="-122"/>
                <a:ea typeface="黑体" panose="02010609060101010101" pitchFamily="49" charset="-122"/>
              </a:rPr>
              <a:t>集成单稳态触发器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4" name="文本框 3"/>
          <p:cNvSpPr txBox="1"/>
          <p:nvPr/>
        </p:nvSpPr>
        <p:spPr>
          <a:xfrm>
            <a:off x="914400" y="1905000"/>
            <a:ext cx="7209790" cy="1198880"/>
          </a:xfrm>
          <a:prstGeom prst="rect">
            <a:avLst/>
          </a:prstGeom>
          <a:noFill/>
        </p:spPr>
        <p:txBody>
          <a:bodyPr wrap="square" rtlCol="0" anchor="t">
            <a:spAutoFit/>
          </a:bodyPr>
          <a:p>
            <a:pPr>
              <a:lnSpc>
                <a:spcPct val="15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TTL</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系列的例如</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74121</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74122</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74123</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等</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a:p>
            <a:pPr>
              <a:lnSpc>
                <a:spcPct val="15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CMOS</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系列的例如</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4098</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4528</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4538</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 等</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5" name="文本框 4"/>
          <p:cNvSpPr txBox="1"/>
          <p:nvPr/>
        </p:nvSpPr>
        <p:spPr>
          <a:xfrm>
            <a:off x="433705" y="3429000"/>
            <a:ext cx="7685405" cy="1198880"/>
          </a:xfrm>
          <a:prstGeom prst="rect">
            <a:avLst/>
          </a:prstGeom>
          <a:noFill/>
        </p:spPr>
        <p:txBody>
          <a:bodyPr wrap="square" rtlCol="0" anchor="t">
            <a:spAutoFit/>
          </a:bodyPr>
          <a:p>
            <a:pPr lvl="0" algn="l">
              <a:lnSpc>
                <a:spcPct val="150000"/>
              </a:lnSpc>
              <a:buClrTx/>
              <a:buSzTx/>
              <a:buFontTx/>
            </a:pP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使用时</a:t>
            </a:r>
            <a:r>
              <a:rPr lang="zh-CN" altLang="en-US"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只需要外接很少的元件和导线</a:t>
            </a:r>
            <a:r>
              <a:rPr lang="zh-CN" altLang="en-US"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就可以构成单稳态触发器</a:t>
            </a:r>
            <a:r>
              <a:rPr lang="zh-CN" altLang="en-US"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使用非常方便</a:t>
            </a:r>
            <a:endPar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8" name="矩形 17">
            <a:hlinkClick r:id="" action="ppaction://noaction"/>
          </p:cNvPr>
          <p:cNvSpPr/>
          <p:nvPr/>
        </p:nvSpPr>
        <p:spPr>
          <a:xfrm>
            <a:off x="1066800" y="1219200"/>
            <a:ext cx="604520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不可重复触发的集成单稳态触发器</a:t>
            </a:r>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rPr>
              <a:t>74121</a:t>
            </a:r>
            <a:endPar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pic>
        <p:nvPicPr>
          <p:cNvPr id="19" name="图片 18"/>
          <p:cNvPicPr>
            <a:picLocks noChangeAspect="1"/>
          </p:cNvPicPr>
          <p:nvPr/>
        </p:nvPicPr>
        <p:blipFill>
          <a:blip r:embed="rId1"/>
          <a:stretch>
            <a:fillRect/>
          </a:stretch>
        </p:blipFill>
        <p:spPr>
          <a:xfrm>
            <a:off x="914400" y="1566545"/>
            <a:ext cx="6867525" cy="3724275"/>
          </a:xfrm>
          <a:prstGeom prst="rect">
            <a:avLst/>
          </a:prstGeom>
        </p:spPr>
      </p:pic>
      <p:sp>
        <p:nvSpPr>
          <p:cNvPr id="20" name="Rectangle 17"/>
          <p:cNvSpPr/>
          <p:nvPr/>
        </p:nvSpPr>
        <p:spPr>
          <a:xfrm>
            <a:off x="3505200" y="2322195"/>
            <a:ext cx="3162935" cy="2623820"/>
          </a:xfrm>
          <a:prstGeom prst="rect">
            <a:avLst/>
          </a:prstGeom>
          <a:solidFill>
            <a:srgbClr val="6666FF">
              <a:alpha val="21959"/>
            </a:srgbClr>
          </a:solidFill>
          <a:ln w="9525">
            <a:noFill/>
          </a:ln>
        </p:spPr>
        <p:txBody>
          <a:bodyPr wrap="none" anchor="ctr" anchorCtr="0"/>
          <a:p>
            <a:pPr algn="ctr"/>
            <a:endParaRPr lang="zh-CN" altLang="zh-CN" sz="1800" b="1" dirty="0">
              <a:latin typeface="Arial Narrow" panose="020B0606020202030204" pitchFamily="34" charset="0"/>
              <a:ea typeface="宋体" panose="02010600030101010101" pitchFamily="2" charset="-122"/>
            </a:endParaRPr>
          </a:p>
        </p:txBody>
      </p:sp>
      <p:sp>
        <p:nvSpPr>
          <p:cNvPr id="21" name="Rectangle 18"/>
          <p:cNvSpPr/>
          <p:nvPr/>
        </p:nvSpPr>
        <p:spPr>
          <a:xfrm>
            <a:off x="6668135" y="2300605"/>
            <a:ext cx="601345" cy="2611755"/>
          </a:xfrm>
          <a:prstGeom prst="rect">
            <a:avLst/>
          </a:prstGeom>
          <a:solidFill>
            <a:srgbClr val="FF00FF">
              <a:alpha val="21959"/>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2" name="Rectangle 19"/>
          <p:cNvSpPr/>
          <p:nvPr/>
        </p:nvSpPr>
        <p:spPr>
          <a:xfrm>
            <a:off x="1361440" y="2267585"/>
            <a:ext cx="2086610" cy="2677795"/>
          </a:xfrm>
          <a:prstGeom prst="rect">
            <a:avLst/>
          </a:prstGeom>
          <a:solidFill>
            <a:srgbClr val="FFFF00">
              <a:alpha val="21959"/>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7768" name="Text Box 24"/>
          <p:cNvSpPr txBox="1"/>
          <p:nvPr/>
        </p:nvSpPr>
        <p:spPr>
          <a:xfrm>
            <a:off x="900113" y="5387975"/>
            <a:ext cx="2908300" cy="457200"/>
          </a:xfrm>
          <a:prstGeom prst="rect">
            <a:avLst/>
          </a:prstGeom>
          <a:noFill/>
          <a:ln w="9525">
            <a:noFill/>
          </a:ln>
        </p:spPr>
        <p:txBody>
          <a:bodyPr anchor="t" anchorCtr="0">
            <a:spAutoFit/>
          </a:bodyPr>
          <a:p>
            <a:pPr algn="ctr">
              <a:spcBef>
                <a:spcPct val="50000"/>
              </a:spcBef>
            </a:pPr>
            <a:r>
              <a:rPr lang="zh-CN" altLang="en-US" sz="2400" b="1" dirty="0">
                <a:solidFill>
                  <a:srgbClr val="000066"/>
                </a:solidFill>
                <a:latin typeface="Times New Roman" panose="02020603050405020304" charset="0"/>
                <a:ea typeface="楷体" panose="02010609060101010101" charset="-122"/>
              </a:rPr>
              <a:t>定时元件的连接：</a:t>
            </a:r>
            <a:endParaRPr lang="zh-CN" altLang="en-US" sz="2400" b="1" dirty="0">
              <a:solidFill>
                <a:srgbClr val="000066"/>
              </a:solidFill>
              <a:latin typeface="Times New Roman" panose="02020603050405020304" charset="0"/>
              <a:ea typeface="楷体" panose="02010609060101010101" charset="-122"/>
            </a:endParaRPr>
          </a:p>
        </p:txBody>
      </p:sp>
      <p:sp>
        <p:nvSpPr>
          <p:cNvPr id="287769" name="Rectangle 25"/>
          <p:cNvSpPr/>
          <p:nvPr/>
        </p:nvSpPr>
        <p:spPr>
          <a:xfrm>
            <a:off x="3348038" y="5907088"/>
            <a:ext cx="4679950" cy="457200"/>
          </a:xfrm>
          <a:prstGeom prst="rect">
            <a:avLst/>
          </a:prstGeom>
          <a:noFill/>
          <a:ln w="9525">
            <a:noFill/>
          </a:ln>
        </p:spPr>
        <p:txBody>
          <a:bodyPr anchor="t" anchorCtr="0">
            <a:spAutoFit/>
          </a:bodyPr>
          <a:p>
            <a:pPr algn="ct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i="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：外接电阻或采用内部电阻</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87770" name="Rectangle 26"/>
          <p:cNvSpPr/>
          <p:nvPr/>
        </p:nvSpPr>
        <p:spPr>
          <a:xfrm>
            <a:off x="3511550" y="5402263"/>
            <a:ext cx="2168525" cy="457200"/>
          </a:xfrm>
          <a:prstGeom prst="rect">
            <a:avLst/>
          </a:prstGeom>
          <a:noFill/>
          <a:ln w="9525">
            <a:noFill/>
          </a:ln>
        </p:spPr>
        <p:txBody>
          <a:bodyPr wrap="none" anchor="t" anchorCtr="0">
            <a:spAutoFit/>
          </a:bodyPr>
          <a:p>
            <a:pPr algn="ct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i="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：外接电容</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i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randombar(vertic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87768"/>
                                        </p:tgtEl>
                                        <p:attrNameLst>
                                          <p:attrName>style.visibility</p:attrName>
                                        </p:attrNameLst>
                                      </p:cBhvr>
                                      <p:to>
                                        <p:strVal val="visible"/>
                                      </p:to>
                                    </p:set>
                                    <p:animEffect transition="in" filter="strips(downRight)">
                                      <p:cBhvr>
                                        <p:cTn id="22" dur="500"/>
                                        <p:tgtEl>
                                          <p:spTgt spid="28776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87770"/>
                                        </p:tgtEl>
                                        <p:attrNameLst>
                                          <p:attrName>style.visibility</p:attrName>
                                        </p:attrNameLst>
                                      </p:cBhvr>
                                      <p:to>
                                        <p:strVal val="visible"/>
                                      </p:to>
                                    </p:set>
                                    <p:animEffect transition="in" filter="strips(downRight)">
                                      <p:cBhvr>
                                        <p:cTn id="27" dur="500"/>
                                        <p:tgtEl>
                                          <p:spTgt spid="28777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87769"/>
                                        </p:tgtEl>
                                        <p:attrNameLst>
                                          <p:attrName>style.visibility</p:attrName>
                                        </p:attrNameLst>
                                      </p:cBhvr>
                                      <p:to>
                                        <p:strVal val="visible"/>
                                      </p:to>
                                    </p:set>
                                    <p:animEffect transition="in" filter="strips(downRight)">
                                      <p:cBhvr>
                                        <p:cTn id="32" dur="500"/>
                                        <p:tgtEl>
                                          <p:spTgt spid="287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bldLvl="0" animBg="1"/>
      <p:bldP spid="22" grpId="0" bldLvl="0" animBg="1"/>
      <p:bldP spid="287768" grpId="0"/>
      <p:bldP spid="287769" grpId="0"/>
      <p:bldP spid="28777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0" name="文本框 99"/>
          <p:cNvSpPr txBox="1"/>
          <p:nvPr/>
        </p:nvSpPr>
        <p:spPr>
          <a:xfrm>
            <a:off x="6782435" y="3903345"/>
            <a:ext cx="1089025"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逻辑符号</a:t>
            </a:r>
            <a:endParaRPr lang="zh-CN" sz="1600">
              <a:latin typeface="Times New Roman" panose="02020603050405020304" charset="0"/>
              <a:ea typeface="宋体" panose="02010600030101010101" pitchFamily="2" charset="-122"/>
            </a:endParaRPr>
          </a:p>
        </p:txBody>
      </p:sp>
      <p:pic>
        <p:nvPicPr>
          <p:cNvPr id="11" name="图片 10"/>
          <p:cNvPicPr>
            <a:picLocks noChangeAspect="1"/>
          </p:cNvPicPr>
          <p:nvPr/>
        </p:nvPicPr>
        <p:blipFill>
          <a:blip r:embed="rId1"/>
          <a:stretch>
            <a:fillRect/>
          </a:stretch>
        </p:blipFill>
        <p:spPr>
          <a:xfrm>
            <a:off x="5791835" y="1219200"/>
            <a:ext cx="2651125" cy="2659380"/>
          </a:xfrm>
          <a:prstGeom prst="rect">
            <a:avLst/>
          </a:prstGeom>
        </p:spPr>
      </p:pic>
      <p:sp>
        <p:nvSpPr>
          <p:cNvPr id="17" name="文本框 16"/>
          <p:cNvSpPr txBox="1"/>
          <p:nvPr/>
        </p:nvSpPr>
        <p:spPr>
          <a:xfrm>
            <a:off x="304800" y="2286000"/>
            <a:ext cx="5487035" cy="1863725"/>
          </a:xfrm>
          <a:prstGeom prst="rect">
            <a:avLst/>
          </a:prstGeom>
          <a:noFill/>
          <a:ln w="9525">
            <a:noFill/>
          </a:ln>
        </p:spPr>
        <p:txBody>
          <a:bodyPr wrap="square">
            <a:spAutoFit/>
          </a:bodyPr>
          <a:p>
            <a:pPr>
              <a:lnSpc>
                <a:spcPct val="120000"/>
              </a:lnSpc>
            </a:pPr>
            <a:r>
              <a:rPr lang="en-US" sz="2400" b="1">
                <a:solidFill>
                  <a:srgbClr val="000066"/>
                </a:solidFill>
                <a:latin typeface="Times New Roman" panose="02020603050405020304" charset="0"/>
                <a:ea typeface="楷体" panose="02010609060101010101" charset="-122"/>
                <a:cs typeface="Times New Roman" panose="02020603050405020304" charset="0"/>
              </a:rPr>
              <a:t>     74121</a:t>
            </a:r>
            <a:r>
              <a:rPr lang="zh-CN" sz="2400" b="1">
                <a:solidFill>
                  <a:srgbClr val="000066"/>
                </a:solidFill>
                <a:latin typeface="Times New Roman" panose="02020603050405020304" charset="0"/>
                <a:ea typeface="楷体" panose="02010609060101010101" charset="-122"/>
                <a:cs typeface="Times New Roman" panose="02020603050405020304" charset="0"/>
              </a:rPr>
              <a:t>在使用的时候需要外接电容</a:t>
            </a:r>
            <a:r>
              <a:rPr lang="en-US" sz="2400" b="1" i="1">
                <a:solidFill>
                  <a:srgbClr val="000066"/>
                </a:solidFill>
                <a:latin typeface="Times New Roman" panose="02020603050405020304" charset="0"/>
                <a:ea typeface="楷体" panose="02010609060101010101" charset="-122"/>
                <a:cs typeface="Times New Roman" panose="02020603050405020304" charset="0"/>
              </a:rPr>
              <a:t>C</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ext</a:t>
            </a:r>
            <a:r>
              <a:rPr lang="zh-CN" sz="2400" b="1">
                <a:solidFill>
                  <a:srgbClr val="000066"/>
                </a:solidFill>
                <a:latin typeface="Times New Roman" panose="02020603050405020304" charset="0"/>
                <a:ea typeface="楷体" panose="02010609060101010101" charset="-122"/>
                <a:cs typeface="Times New Roman" panose="02020603050405020304" charset="0"/>
              </a:rPr>
              <a:t>，其输出脉冲宽度由定时电阻</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zh-CN" sz="2400" b="1">
                <a:solidFill>
                  <a:srgbClr val="000066"/>
                </a:solidFill>
                <a:latin typeface="Times New Roman" panose="02020603050405020304" charset="0"/>
                <a:ea typeface="楷体" panose="02010609060101010101" charset="-122"/>
                <a:cs typeface="Times New Roman" panose="02020603050405020304" charset="0"/>
              </a:rPr>
              <a:t>和</a:t>
            </a:r>
            <a:r>
              <a:rPr lang="en-US" sz="2400" b="1" i="1">
                <a:solidFill>
                  <a:srgbClr val="000066"/>
                </a:solidFill>
                <a:latin typeface="Times New Roman" panose="02020603050405020304" charset="0"/>
                <a:ea typeface="楷体" panose="02010609060101010101" charset="-122"/>
                <a:cs typeface="Times New Roman" panose="02020603050405020304" charset="0"/>
              </a:rPr>
              <a:t>C</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ext</a:t>
            </a:r>
            <a:r>
              <a:rPr lang="zh-CN" sz="2400" b="1">
                <a:solidFill>
                  <a:srgbClr val="000066"/>
                </a:solidFill>
                <a:latin typeface="Times New Roman" panose="02020603050405020304" charset="0"/>
                <a:ea typeface="楷体" panose="02010609060101010101" charset="-122"/>
                <a:cs typeface="Times New Roman" panose="02020603050405020304" charset="0"/>
              </a:rPr>
              <a:t>决定。根据脉宽的要求，</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zh-CN" sz="2400" b="1">
                <a:solidFill>
                  <a:srgbClr val="000066"/>
                </a:solidFill>
                <a:latin typeface="Times New Roman" panose="02020603050405020304" charset="0"/>
                <a:ea typeface="楷体" panose="02010609060101010101" charset="-122"/>
                <a:cs typeface="Times New Roman" panose="02020603050405020304" charset="0"/>
              </a:rPr>
              <a:t>可采用外接电阻</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ext</a:t>
            </a:r>
            <a:r>
              <a:rPr lang="zh-CN" sz="2400" b="1">
                <a:solidFill>
                  <a:srgbClr val="000066"/>
                </a:solidFill>
                <a:latin typeface="Times New Roman" panose="02020603050405020304" charset="0"/>
                <a:ea typeface="楷体" panose="02010609060101010101" charset="-122"/>
                <a:cs typeface="Times New Roman" panose="02020603050405020304" charset="0"/>
              </a:rPr>
              <a:t>或芯片内部电阻</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int</a:t>
            </a:r>
            <a:r>
              <a:rPr lang="en-US" sz="2400" b="1">
                <a:solidFill>
                  <a:srgbClr val="000066"/>
                </a:solidFill>
                <a:latin typeface="Times New Roman" panose="02020603050405020304" charset="0"/>
                <a:ea typeface="楷体" panose="02010609060101010101" charset="-122"/>
                <a:cs typeface="Times New Roman" panose="02020603050405020304" charset="0"/>
              </a:rPr>
              <a:t>(2kΩ)</a:t>
            </a:r>
            <a:r>
              <a:rPr lang="zh-CN" sz="2400" b="1">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8" name="Rectangle 60"/>
          <p:cNvSpPr/>
          <p:nvPr/>
        </p:nvSpPr>
        <p:spPr>
          <a:xfrm>
            <a:off x="837883" y="1371600"/>
            <a:ext cx="3652837" cy="461645"/>
          </a:xfrm>
          <a:prstGeom prst="rect">
            <a:avLst/>
          </a:prstGeom>
          <a:noFill/>
          <a:ln w="28575">
            <a:noFill/>
          </a:ln>
        </p:spPr>
        <p:txBody>
          <a:bodyPr lIns="90000" tIns="46800" rIns="90000" bIns="46800" anchor="t" anchorCtr="0">
            <a:spAutoFit/>
          </a:bodyPr>
          <a:p>
            <a:pPr>
              <a:spcBef>
                <a:spcPct val="30000"/>
              </a:spcBef>
            </a:pP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A</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A</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2</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B</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触发输入</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grpSp>
        <p:nvGrpSpPr>
          <p:cNvPr id="19" name="Group 64"/>
          <p:cNvGrpSpPr/>
          <p:nvPr/>
        </p:nvGrpSpPr>
        <p:grpSpPr>
          <a:xfrm>
            <a:off x="915670" y="1876425"/>
            <a:ext cx="2232025" cy="457200"/>
            <a:chOff x="480" y="2568"/>
            <a:chExt cx="1406" cy="288"/>
          </a:xfrm>
        </p:grpSpPr>
        <p:sp>
          <p:nvSpPr>
            <p:cNvPr id="20" name="Line 41"/>
            <p:cNvSpPr/>
            <p:nvPr/>
          </p:nvSpPr>
          <p:spPr>
            <a:xfrm>
              <a:off x="884" y="2613"/>
              <a:ext cx="136" cy="1"/>
            </a:xfrm>
            <a:prstGeom prst="line">
              <a:avLst/>
            </a:prstGeom>
            <a:ln w="28575" cap="flat" cmpd="sng">
              <a:solidFill>
                <a:srgbClr val="1318F3"/>
              </a:solidFill>
              <a:prstDash val="solid"/>
              <a:round/>
              <a:headEnd type="none" w="med" len="med"/>
              <a:tailEnd type="none" w="med" len="med"/>
            </a:ln>
          </p:spPr>
        </p:sp>
        <p:sp>
          <p:nvSpPr>
            <p:cNvPr id="21" name="Rectangle 62"/>
            <p:cNvSpPr/>
            <p:nvPr/>
          </p:nvSpPr>
          <p:spPr>
            <a:xfrm>
              <a:off x="480" y="2568"/>
              <a:ext cx="1406" cy="288"/>
            </a:xfrm>
            <a:prstGeom prst="rect">
              <a:avLst/>
            </a:prstGeom>
            <a:noFill/>
            <a:ln w="28575">
              <a:noFill/>
            </a:ln>
          </p:spPr>
          <p:txBody>
            <a:bodyPr lIns="90000" tIns="46800" rIns="90000" bIns="46800" anchor="t" anchorCtr="0">
              <a:spAutoFit/>
            </a:bodyPr>
            <a:p>
              <a:pPr>
                <a:spcBef>
                  <a:spcPct val="30000"/>
                </a:spcBef>
              </a:pP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Q</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Q </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输出</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grpSp>
      <p:pic>
        <p:nvPicPr>
          <p:cNvPr id="27" name="图片 26"/>
          <p:cNvPicPr>
            <a:picLocks noChangeAspect="1"/>
          </p:cNvPicPr>
          <p:nvPr/>
        </p:nvPicPr>
        <p:blipFill>
          <a:blip r:embed="rId2"/>
          <a:stretch>
            <a:fillRect/>
          </a:stretch>
        </p:blipFill>
        <p:spPr>
          <a:xfrm>
            <a:off x="1143635" y="4105275"/>
            <a:ext cx="1684020" cy="2558415"/>
          </a:xfrm>
          <a:prstGeom prst="rect">
            <a:avLst/>
          </a:prstGeom>
        </p:spPr>
      </p:pic>
      <p:pic>
        <p:nvPicPr>
          <p:cNvPr id="28" name="图片 27"/>
          <p:cNvPicPr>
            <a:picLocks noChangeAspect="1"/>
          </p:cNvPicPr>
          <p:nvPr/>
        </p:nvPicPr>
        <p:blipFill>
          <a:blip r:embed="rId3"/>
          <a:stretch>
            <a:fillRect/>
          </a:stretch>
        </p:blipFill>
        <p:spPr>
          <a:xfrm>
            <a:off x="5029835" y="4191000"/>
            <a:ext cx="1617980" cy="2399665"/>
          </a:xfrm>
          <a:prstGeom prst="rect">
            <a:avLst/>
          </a:prstGeom>
        </p:spPr>
      </p:pic>
      <p:sp>
        <p:nvSpPr>
          <p:cNvPr id="16"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linds(horizont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7" grpId="0"/>
      <p:bldP spid="17"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42545"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2" name="图片 1"/>
          <p:cNvPicPr>
            <a:picLocks noChangeAspect="1"/>
          </p:cNvPicPr>
          <p:nvPr/>
        </p:nvPicPr>
        <p:blipFill>
          <a:blip r:embed="rId1"/>
          <a:stretch>
            <a:fillRect/>
          </a:stretch>
        </p:blipFill>
        <p:spPr>
          <a:xfrm>
            <a:off x="228600" y="1143000"/>
            <a:ext cx="7315200" cy="3873500"/>
          </a:xfrm>
          <a:prstGeom prst="rect">
            <a:avLst/>
          </a:prstGeom>
        </p:spPr>
      </p:pic>
      <p:grpSp>
        <p:nvGrpSpPr>
          <p:cNvPr id="288895" name="Group 127"/>
          <p:cNvGrpSpPr/>
          <p:nvPr/>
        </p:nvGrpSpPr>
        <p:grpSpPr>
          <a:xfrm>
            <a:off x="7596505" y="2290069"/>
            <a:ext cx="1035050" cy="961766"/>
            <a:chOff x="4966" y="1236"/>
            <a:chExt cx="652" cy="352"/>
          </a:xfrm>
        </p:grpSpPr>
        <p:sp>
          <p:nvSpPr>
            <p:cNvPr id="31859" name="AutoShape 125"/>
            <p:cNvSpPr/>
            <p:nvPr/>
          </p:nvSpPr>
          <p:spPr>
            <a:xfrm>
              <a:off x="4966" y="1236"/>
              <a:ext cx="91" cy="352"/>
            </a:xfrm>
            <a:prstGeom prst="rightBrace">
              <a:avLst>
                <a:gd name="adj1" fmla="val 87222"/>
                <a:gd name="adj2" fmla="val 50000"/>
              </a:avLst>
            </a:prstGeom>
            <a:noFill/>
            <a:ln w="28575" cap="flat" cmpd="sng">
              <a:solidFill>
                <a:schemeClr val="tx1"/>
              </a:solidFill>
              <a:prstDash val="solid"/>
              <a:round/>
              <a:headEnd type="none" w="med" len="med"/>
              <a:tailEnd type="none" w="med" len="med"/>
            </a:ln>
          </p:spPr>
          <p:txBody>
            <a:bodyPr wrap="square" lIns="90000" tIns="46800" rIns="90000" bIns="46800" anchor="ctr" anchorCtr="0">
              <a:spAutoFit/>
            </a:bodyPr>
            <a:p>
              <a:endParaRPr lang="zh-CN" altLang="en-US" sz="1600" dirty="0">
                <a:latin typeface="Times New Roman" panose="02020603050405020304" charset="0"/>
                <a:ea typeface="楷体" panose="02010609060101010101" charset="-122"/>
                <a:cs typeface="Times New Roman" panose="02020603050405020304" charset="0"/>
              </a:endParaRPr>
            </a:p>
          </p:txBody>
        </p:sp>
        <p:sp>
          <p:nvSpPr>
            <p:cNvPr id="31860" name="Text Box 126"/>
            <p:cNvSpPr txBox="1"/>
            <p:nvPr/>
          </p:nvSpPr>
          <p:spPr>
            <a:xfrm>
              <a:off x="5118" y="1302"/>
              <a:ext cx="500" cy="259"/>
            </a:xfrm>
            <a:prstGeom prst="rect">
              <a:avLst/>
            </a:prstGeom>
            <a:noFill/>
            <a:ln w="28575">
              <a:noFill/>
            </a:ln>
          </p:spPr>
          <p:txBody>
            <a:bodyPr wrap="square" lIns="90000" tIns="46800" rIns="90000" bIns="46800" anchor="t" anchorCtr="0">
              <a:spAutoFit/>
            </a:bodyPr>
            <a:p>
              <a:r>
                <a:rPr lang="zh-CN" altLang="en-US" sz="2000" b="1" dirty="0">
                  <a:latin typeface="Times New Roman" panose="02020603050405020304" charset="0"/>
                  <a:ea typeface="楷体" panose="02010609060101010101" charset="-122"/>
                </a:rPr>
                <a:t>不可</a:t>
              </a:r>
              <a:endParaRPr lang="zh-CN" altLang="en-US" sz="2000" b="1" dirty="0">
                <a:latin typeface="Times New Roman" panose="02020603050405020304" charset="0"/>
                <a:ea typeface="楷体" panose="02010609060101010101" charset="-122"/>
              </a:endParaRPr>
            </a:p>
            <a:p>
              <a:r>
                <a:rPr lang="zh-CN" altLang="en-US" sz="2000" b="1" dirty="0">
                  <a:latin typeface="Times New Roman" panose="02020603050405020304" charset="0"/>
                  <a:ea typeface="楷体" panose="02010609060101010101" charset="-122"/>
                </a:rPr>
                <a:t>触发</a:t>
              </a:r>
              <a:endParaRPr lang="zh-CN" altLang="en-US" sz="2000" b="1" dirty="0">
                <a:latin typeface="Times New Roman" panose="02020603050405020304" charset="0"/>
                <a:ea typeface="楷体" panose="02010609060101010101" charset="-122"/>
              </a:endParaRPr>
            </a:p>
          </p:txBody>
        </p:sp>
      </p:grpSp>
      <p:grpSp>
        <p:nvGrpSpPr>
          <p:cNvPr id="288899" name="Group 131"/>
          <p:cNvGrpSpPr/>
          <p:nvPr/>
        </p:nvGrpSpPr>
        <p:grpSpPr>
          <a:xfrm>
            <a:off x="7590790" y="3401651"/>
            <a:ext cx="1387475" cy="788079"/>
            <a:chOff x="4922" y="2116"/>
            <a:chExt cx="874" cy="270"/>
          </a:xfrm>
        </p:grpSpPr>
        <p:sp>
          <p:nvSpPr>
            <p:cNvPr id="31862" name="AutoShape 128"/>
            <p:cNvSpPr/>
            <p:nvPr/>
          </p:nvSpPr>
          <p:spPr>
            <a:xfrm>
              <a:off x="4922" y="2116"/>
              <a:ext cx="90" cy="270"/>
            </a:xfrm>
            <a:prstGeom prst="rightBrace">
              <a:avLst>
                <a:gd name="adj1" fmla="val 58763"/>
                <a:gd name="adj2" fmla="val 50000"/>
              </a:avLst>
            </a:prstGeom>
            <a:noFill/>
            <a:ln w="28575" cap="flat" cmpd="sng">
              <a:solidFill>
                <a:srgbClr val="0033CC"/>
              </a:solidFill>
              <a:prstDash val="solid"/>
              <a:round/>
              <a:headEnd type="none" w="med" len="med"/>
              <a:tailEnd type="none" w="med" len="med"/>
            </a:ln>
          </p:spPr>
          <p:txBody>
            <a:bodyPr wrap="square" lIns="90000" tIns="46800" rIns="90000" bIns="46800" anchor="ctr" anchorCtr="0">
              <a:spAutoFit/>
            </a:bodyPr>
            <a:p>
              <a:endParaRPr lang="zh-CN" altLang="en-US" sz="1600" dirty="0">
                <a:latin typeface="Times New Roman" panose="02020603050405020304" charset="0"/>
                <a:ea typeface="楷体" panose="02010609060101010101" charset="-122"/>
                <a:cs typeface="Times New Roman" panose="02020603050405020304" charset="0"/>
              </a:endParaRPr>
            </a:p>
          </p:txBody>
        </p:sp>
        <p:sp>
          <p:nvSpPr>
            <p:cNvPr id="31863" name="Text Box 130"/>
            <p:cNvSpPr txBox="1"/>
            <p:nvPr/>
          </p:nvSpPr>
          <p:spPr>
            <a:xfrm>
              <a:off x="4922" y="2116"/>
              <a:ext cx="874" cy="243"/>
            </a:xfrm>
            <a:prstGeom prst="rect">
              <a:avLst/>
            </a:prstGeom>
            <a:noFill/>
            <a:ln w="28575">
              <a:noFill/>
            </a:ln>
          </p:spPr>
          <p:txBody>
            <a:bodyPr lIns="90000" tIns="46800" rIns="90000" bIns="46800" anchor="t" anchorCtr="0">
              <a:spAutoFit/>
            </a:bodyPr>
            <a:p>
              <a:pPr algn="ctr"/>
              <a:r>
                <a:rPr lang="zh-CN" altLang="en-US" sz="2000" b="1" dirty="0">
                  <a:solidFill>
                    <a:srgbClr val="0033CC"/>
                  </a:solidFill>
                  <a:latin typeface="Times New Roman" panose="02020603050405020304" charset="0"/>
                  <a:ea typeface="楷体" panose="02010609060101010101" charset="-122"/>
                </a:rPr>
                <a:t>下降沿</a:t>
              </a:r>
              <a:endParaRPr lang="zh-CN" altLang="en-US" sz="2000" b="1" dirty="0">
                <a:solidFill>
                  <a:srgbClr val="0033CC"/>
                </a:solidFill>
                <a:latin typeface="Times New Roman" panose="02020603050405020304" charset="0"/>
                <a:ea typeface="楷体" panose="02010609060101010101" charset="-122"/>
              </a:endParaRPr>
            </a:p>
            <a:p>
              <a:pPr algn="ctr"/>
              <a:r>
                <a:rPr lang="zh-CN" altLang="en-US" sz="2000" b="1" dirty="0">
                  <a:solidFill>
                    <a:srgbClr val="0033CC"/>
                  </a:solidFill>
                  <a:latin typeface="Times New Roman" panose="02020603050405020304" charset="0"/>
                  <a:ea typeface="楷体" panose="02010609060101010101" charset="-122"/>
                </a:rPr>
                <a:t>触发</a:t>
              </a:r>
              <a:endParaRPr lang="zh-CN" altLang="en-US" sz="2000" b="1" dirty="0">
                <a:solidFill>
                  <a:srgbClr val="0033CC"/>
                </a:solidFill>
                <a:latin typeface="Times New Roman" panose="02020603050405020304" charset="0"/>
                <a:ea typeface="楷体" panose="02010609060101010101" charset="-122"/>
              </a:endParaRPr>
            </a:p>
          </p:txBody>
        </p:sp>
      </p:grpSp>
      <p:grpSp>
        <p:nvGrpSpPr>
          <p:cNvPr id="288903" name="Group 135"/>
          <p:cNvGrpSpPr/>
          <p:nvPr/>
        </p:nvGrpSpPr>
        <p:grpSpPr>
          <a:xfrm>
            <a:off x="7590790" y="4267200"/>
            <a:ext cx="1387475" cy="708211"/>
            <a:chOff x="4785" y="2614"/>
            <a:chExt cx="874" cy="739"/>
          </a:xfrm>
        </p:grpSpPr>
        <p:sp>
          <p:nvSpPr>
            <p:cNvPr id="31865" name="AutoShape 133"/>
            <p:cNvSpPr/>
            <p:nvPr/>
          </p:nvSpPr>
          <p:spPr>
            <a:xfrm>
              <a:off x="4785" y="2687"/>
              <a:ext cx="136" cy="397"/>
            </a:xfrm>
            <a:prstGeom prst="rightBrace">
              <a:avLst>
                <a:gd name="adj1" fmla="val 33314"/>
                <a:gd name="adj2" fmla="val 50000"/>
              </a:avLst>
            </a:prstGeom>
            <a:noFill/>
            <a:ln w="28575" cap="flat" cmpd="sng">
              <a:solidFill>
                <a:srgbClr val="CC3300"/>
              </a:solidFill>
              <a:prstDash val="solid"/>
              <a:round/>
              <a:headEnd type="none" w="med" len="med"/>
              <a:tailEnd type="none" w="med" len="med"/>
            </a:ln>
          </p:spPr>
          <p:txBody>
            <a:bodyPr lIns="90000" tIns="46800" rIns="90000" bIns="46800" anchor="ctr" anchorCtr="0">
              <a:spAutoFit/>
            </a:bodyPr>
            <a:p>
              <a:endParaRPr lang="zh-CN" altLang="en-US" sz="1600" dirty="0">
                <a:latin typeface="Times New Roman" panose="02020603050405020304" charset="0"/>
                <a:ea typeface="楷体" panose="02010609060101010101" charset="-122"/>
                <a:cs typeface="Times New Roman" panose="02020603050405020304" charset="0"/>
              </a:endParaRPr>
            </a:p>
          </p:txBody>
        </p:sp>
        <p:sp>
          <p:nvSpPr>
            <p:cNvPr id="31866" name="Text Box 134"/>
            <p:cNvSpPr txBox="1"/>
            <p:nvPr/>
          </p:nvSpPr>
          <p:spPr>
            <a:xfrm>
              <a:off x="4785" y="2614"/>
              <a:ext cx="874" cy="739"/>
            </a:xfrm>
            <a:prstGeom prst="rect">
              <a:avLst/>
            </a:prstGeom>
            <a:noFill/>
            <a:ln w="28575">
              <a:noFill/>
            </a:ln>
          </p:spPr>
          <p:txBody>
            <a:bodyPr lIns="90000" tIns="46800" rIns="90000" bIns="46800" anchor="t" anchorCtr="0">
              <a:spAutoFit/>
            </a:bodyPr>
            <a:p>
              <a:pPr algn="ctr"/>
              <a:r>
                <a:rPr lang="zh-CN" altLang="en-US" sz="2000" b="1" dirty="0">
                  <a:solidFill>
                    <a:srgbClr val="CC3300"/>
                  </a:solidFill>
                  <a:latin typeface="Times New Roman" panose="02020603050405020304" charset="0"/>
                  <a:ea typeface="楷体" panose="02010609060101010101" charset="-122"/>
                </a:rPr>
                <a:t>上升沿</a:t>
              </a:r>
              <a:endParaRPr lang="zh-CN" altLang="en-US" sz="2000" b="1" dirty="0">
                <a:solidFill>
                  <a:srgbClr val="CC3300"/>
                </a:solidFill>
                <a:latin typeface="Times New Roman" panose="02020603050405020304" charset="0"/>
                <a:ea typeface="楷体" panose="02010609060101010101" charset="-122"/>
              </a:endParaRPr>
            </a:p>
            <a:p>
              <a:pPr algn="ctr"/>
              <a:r>
                <a:rPr lang="zh-CN" altLang="en-US" sz="2000" b="1" dirty="0">
                  <a:solidFill>
                    <a:srgbClr val="CC3300"/>
                  </a:solidFill>
                  <a:latin typeface="Times New Roman" panose="02020603050405020304" charset="0"/>
                  <a:ea typeface="楷体" panose="02010609060101010101" charset="-122"/>
                </a:rPr>
                <a:t>触发</a:t>
              </a:r>
              <a:endParaRPr lang="zh-CN" altLang="en-US" sz="2000" b="1" dirty="0">
                <a:solidFill>
                  <a:srgbClr val="CC3300"/>
                </a:solidFill>
                <a:latin typeface="Times New Roman" panose="02020603050405020304" charset="0"/>
                <a:ea typeface="楷体" panose="02010609060101010101" charset="-122"/>
              </a:endParaRPr>
            </a:p>
          </p:txBody>
        </p:sp>
      </p:grpSp>
      <p:sp>
        <p:nvSpPr>
          <p:cNvPr id="288905" name="Rectangle 137"/>
          <p:cNvSpPr/>
          <p:nvPr/>
        </p:nvSpPr>
        <p:spPr>
          <a:xfrm>
            <a:off x="457200" y="2113915"/>
            <a:ext cx="6943090" cy="1200785"/>
          </a:xfrm>
          <a:prstGeom prst="rect">
            <a:avLst/>
          </a:prstGeom>
          <a:solidFill>
            <a:srgbClr val="3333FF">
              <a:alpha val="27843"/>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8906" name="Rectangle 138"/>
          <p:cNvSpPr/>
          <p:nvPr/>
        </p:nvSpPr>
        <p:spPr>
          <a:xfrm>
            <a:off x="457200" y="3314700"/>
            <a:ext cx="6942455" cy="934085"/>
          </a:xfrm>
          <a:prstGeom prst="rect">
            <a:avLst/>
          </a:prstGeom>
          <a:solidFill>
            <a:srgbClr val="FFCCCC">
              <a:alpha val="50194"/>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8907" name="Rectangle 139"/>
          <p:cNvSpPr/>
          <p:nvPr/>
        </p:nvSpPr>
        <p:spPr>
          <a:xfrm>
            <a:off x="457200" y="4239895"/>
            <a:ext cx="6942455" cy="657225"/>
          </a:xfrm>
          <a:prstGeom prst="rect">
            <a:avLst/>
          </a:prstGeom>
          <a:solidFill>
            <a:srgbClr val="FFFF00">
              <a:alpha val="50194"/>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0" name="文本框 99"/>
          <p:cNvSpPr txBox="1"/>
          <p:nvPr/>
        </p:nvSpPr>
        <p:spPr>
          <a:xfrm>
            <a:off x="228600" y="5182235"/>
            <a:ext cx="8420735" cy="1198880"/>
          </a:xfrm>
          <a:prstGeom prst="rect">
            <a:avLst/>
          </a:prstGeom>
          <a:noFill/>
          <a:ln w="9525">
            <a:noFill/>
          </a:ln>
        </p:spPr>
        <p:txBody>
          <a:bodyPr wrap="square">
            <a:spAutoFit/>
          </a:bodyPr>
          <a:p>
            <a:pPr indent="266700"/>
            <a:r>
              <a:rPr lang="zh-CN" sz="2400" b="1">
                <a:solidFill>
                  <a:srgbClr val="000066"/>
                </a:solidFill>
                <a:latin typeface="Times New Roman" panose="02020603050405020304" charset="0"/>
                <a:ea typeface="楷体" panose="02010609060101010101" charset="-122"/>
                <a:cs typeface="Times New Roman" panose="02020603050405020304" charset="0"/>
              </a:rPr>
              <a:t>由功能表可以看出，电路要输出正脉冲的条件是：</a:t>
            </a:r>
            <a:r>
              <a:rPr lang="en-US" sz="2400" b="1">
                <a:solidFill>
                  <a:srgbClr val="000066"/>
                </a:solidFill>
                <a:latin typeface="Times New Roman" panose="02020603050405020304" charset="0"/>
                <a:ea typeface="楷体" panose="02010609060101010101" charset="-122"/>
                <a:cs typeface="Times New Roman" panose="02020603050405020304" charset="0"/>
              </a:rPr>
              <a:t>①</a:t>
            </a:r>
            <a:r>
              <a:rPr lang="zh-CN" sz="2400" b="1">
                <a:solidFill>
                  <a:srgbClr val="000066"/>
                </a:solidFill>
                <a:latin typeface="Times New Roman" panose="02020603050405020304" charset="0"/>
                <a:ea typeface="楷体" panose="02010609060101010101" charset="-122"/>
                <a:cs typeface="Times New Roman" panose="02020603050405020304" charset="0"/>
              </a:rPr>
              <a:t>正触发脉冲从</a:t>
            </a:r>
            <a:r>
              <a:rPr lang="en-US" sz="2400" b="1" i="1">
                <a:solidFill>
                  <a:srgbClr val="000066"/>
                </a:solidFill>
                <a:latin typeface="Times New Roman" panose="02020603050405020304" charset="0"/>
                <a:ea typeface="楷体" panose="02010609060101010101" charset="-122"/>
                <a:cs typeface="Times New Roman" panose="02020603050405020304" charset="0"/>
              </a:rPr>
              <a:t>B</a:t>
            </a:r>
            <a:r>
              <a:rPr lang="zh-CN" sz="2400" b="1">
                <a:solidFill>
                  <a:srgbClr val="000066"/>
                </a:solidFill>
                <a:latin typeface="Times New Roman" panose="02020603050405020304" charset="0"/>
                <a:ea typeface="楷体" panose="02010609060101010101" charset="-122"/>
                <a:cs typeface="Times New Roman" panose="02020603050405020304" charset="0"/>
              </a:rPr>
              <a:t>端输入，同时</a:t>
            </a:r>
            <a:r>
              <a:rPr lang="en-US" sz="2400" b="1" i="1">
                <a:solidFill>
                  <a:srgbClr val="000066"/>
                </a:solidFill>
                <a:latin typeface="Times New Roman" panose="02020603050405020304" charset="0"/>
                <a:ea typeface="楷体" panose="02010609060101010101" charset="-122"/>
                <a:cs typeface="Times New Roman" panose="02020603050405020304" charset="0"/>
              </a:rPr>
              <a:t>A</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400" b="1">
                <a:solidFill>
                  <a:srgbClr val="000066"/>
                </a:solidFill>
                <a:latin typeface="Times New Roman" panose="02020603050405020304" charset="0"/>
                <a:ea typeface="楷体" panose="02010609060101010101" charset="-122"/>
                <a:cs typeface="Times New Roman" panose="02020603050405020304" charset="0"/>
              </a:rPr>
              <a:t>、</a:t>
            </a:r>
            <a:r>
              <a:rPr lang="en-US" sz="2400" b="1" i="1">
                <a:solidFill>
                  <a:srgbClr val="000066"/>
                </a:solidFill>
                <a:latin typeface="Times New Roman" panose="02020603050405020304" charset="0"/>
                <a:ea typeface="楷体" panose="02010609060101010101" charset="-122"/>
                <a:cs typeface="Times New Roman" panose="02020603050405020304" charset="0"/>
              </a:rPr>
              <a:t>A</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400" b="1">
                <a:solidFill>
                  <a:srgbClr val="000066"/>
                </a:solidFill>
                <a:latin typeface="Times New Roman" panose="02020603050405020304" charset="0"/>
                <a:ea typeface="楷体" panose="02010609060101010101" charset="-122"/>
                <a:cs typeface="Times New Roman" panose="02020603050405020304" charset="0"/>
              </a:rPr>
              <a:t>至少有一个为</a:t>
            </a:r>
            <a:r>
              <a:rPr lang="en-US" sz="2400" b="1">
                <a:solidFill>
                  <a:srgbClr val="000066"/>
                </a:solidFill>
                <a:latin typeface="Times New Roman" panose="02020603050405020304" charset="0"/>
                <a:ea typeface="楷体" panose="02010609060101010101" charset="-122"/>
                <a:cs typeface="Times New Roman" panose="02020603050405020304" charset="0"/>
              </a:rPr>
              <a:t>0</a:t>
            </a:r>
            <a:r>
              <a:rPr lang="zh-CN" sz="2400" b="1">
                <a:solidFill>
                  <a:srgbClr val="000066"/>
                </a:solidFill>
                <a:latin typeface="Times New Roman" panose="02020603050405020304" charset="0"/>
                <a:ea typeface="楷体" panose="02010609060101010101" charset="-122"/>
                <a:cs typeface="Times New Roman" panose="02020603050405020304" charset="0"/>
              </a:rPr>
              <a:t>；</a:t>
            </a:r>
            <a:r>
              <a:rPr lang="en-US" sz="2400" b="1">
                <a:solidFill>
                  <a:srgbClr val="000066"/>
                </a:solidFill>
                <a:latin typeface="Times New Roman" panose="02020603050405020304" charset="0"/>
                <a:ea typeface="楷体" panose="02010609060101010101" charset="-122"/>
                <a:cs typeface="Times New Roman" panose="02020603050405020304" charset="0"/>
              </a:rPr>
              <a:t>②</a:t>
            </a:r>
            <a:r>
              <a:rPr lang="zh-CN" sz="2400" b="1">
                <a:solidFill>
                  <a:srgbClr val="000066"/>
                </a:solidFill>
                <a:latin typeface="Times New Roman" panose="02020603050405020304" charset="0"/>
                <a:ea typeface="楷体" panose="02010609060101010101" charset="-122"/>
                <a:cs typeface="Times New Roman" panose="02020603050405020304" charset="0"/>
              </a:rPr>
              <a:t>负触发脉冲从</a:t>
            </a:r>
            <a:r>
              <a:rPr lang="en-US" sz="2400" b="1" i="1">
                <a:solidFill>
                  <a:srgbClr val="000066"/>
                </a:solidFill>
                <a:latin typeface="Times New Roman" panose="02020603050405020304" charset="0"/>
                <a:ea typeface="楷体" panose="02010609060101010101" charset="-122"/>
                <a:cs typeface="Times New Roman" panose="02020603050405020304" charset="0"/>
              </a:rPr>
              <a:t>A</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400" b="1">
                <a:solidFill>
                  <a:srgbClr val="000066"/>
                </a:solidFill>
                <a:latin typeface="Times New Roman" panose="02020603050405020304" charset="0"/>
                <a:ea typeface="楷体" panose="02010609060101010101" charset="-122"/>
                <a:cs typeface="Times New Roman" panose="02020603050405020304" charset="0"/>
              </a:rPr>
              <a:t>或</a:t>
            </a:r>
            <a:r>
              <a:rPr lang="en-US" sz="2400" b="1" i="1">
                <a:solidFill>
                  <a:srgbClr val="000066"/>
                </a:solidFill>
                <a:latin typeface="Times New Roman" panose="02020603050405020304" charset="0"/>
                <a:ea typeface="楷体" panose="02010609060101010101" charset="-122"/>
                <a:cs typeface="Times New Roman" panose="02020603050405020304" charset="0"/>
              </a:rPr>
              <a:t>A</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400" b="1">
                <a:solidFill>
                  <a:srgbClr val="000066"/>
                </a:solidFill>
                <a:latin typeface="Times New Roman" panose="02020603050405020304" charset="0"/>
                <a:ea typeface="楷体" panose="02010609060101010101" charset="-122"/>
                <a:cs typeface="Times New Roman" panose="02020603050405020304" charset="0"/>
              </a:rPr>
              <a:t>输入，同时</a:t>
            </a:r>
            <a:r>
              <a:rPr lang="en-US" sz="2400" b="1" i="1">
                <a:solidFill>
                  <a:srgbClr val="000066"/>
                </a:solidFill>
                <a:latin typeface="Times New Roman" panose="02020603050405020304" charset="0"/>
                <a:ea typeface="楷体" panose="02010609060101010101" charset="-122"/>
                <a:cs typeface="Times New Roman" panose="02020603050405020304" charset="0"/>
              </a:rPr>
              <a:t>B</a:t>
            </a:r>
            <a:r>
              <a:rPr lang="zh-CN" sz="2400" b="1">
                <a:solidFill>
                  <a:srgbClr val="000066"/>
                </a:solidFill>
                <a:latin typeface="Times New Roman" panose="02020603050405020304" charset="0"/>
                <a:ea typeface="楷体" panose="02010609060101010101" charset="-122"/>
                <a:cs typeface="Times New Roman" panose="02020603050405020304" charset="0"/>
              </a:rPr>
              <a:t>保持为</a:t>
            </a:r>
            <a:r>
              <a:rPr lang="en-US" sz="2400" b="1">
                <a:solidFill>
                  <a:srgbClr val="000066"/>
                </a:solidFill>
                <a:latin typeface="Times New Roman" panose="02020603050405020304" charset="0"/>
                <a:ea typeface="楷体" panose="02010609060101010101" charset="-122"/>
                <a:cs typeface="Times New Roman" panose="02020603050405020304" charset="0"/>
              </a:rPr>
              <a:t>1</a:t>
            </a:r>
            <a:r>
              <a:rPr lang="zh-CN" sz="2400" b="1">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8905"/>
                                        </p:tgtEl>
                                        <p:attrNameLst>
                                          <p:attrName>style.visibility</p:attrName>
                                        </p:attrNameLst>
                                      </p:cBhvr>
                                      <p:to>
                                        <p:strVal val="visible"/>
                                      </p:to>
                                    </p:set>
                                    <p:animEffect transition="in" filter="wipe(up)">
                                      <p:cBhvr>
                                        <p:cTn id="7" dur="500"/>
                                        <p:tgtEl>
                                          <p:spTgt spid="28890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88895"/>
                                        </p:tgtEl>
                                        <p:attrNameLst>
                                          <p:attrName>style.visibility</p:attrName>
                                        </p:attrNameLst>
                                      </p:cBhvr>
                                      <p:to>
                                        <p:strVal val="visible"/>
                                      </p:to>
                                    </p:set>
                                    <p:animEffect transition="in" filter="wipe(left)">
                                      <p:cBhvr>
                                        <p:cTn id="11" dur="500"/>
                                        <p:tgtEl>
                                          <p:spTgt spid="288895"/>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88906"/>
                                        </p:tgtEl>
                                        <p:attrNameLst>
                                          <p:attrName>style.visibility</p:attrName>
                                        </p:attrNameLst>
                                      </p:cBhvr>
                                      <p:to>
                                        <p:strVal val="visible"/>
                                      </p:to>
                                    </p:set>
                                    <p:animEffect transition="in" filter="box(in)">
                                      <p:cBhvr>
                                        <p:cTn id="16" dur="500"/>
                                        <p:tgtEl>
                                          <p:spTgt spid="28890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88899"/>
                                        </p:tgtEl>
                                        <p:attrNameLst>
                                          <p:attrName>style.visibility</p:attrName>
                                        </p:attrNameLst>
                                      </p:cBhvr>
                                      <p:to>
                                        <p:strVal val="visible"/>
                                      </p:to>
                                    </p:set>
                                    <p:animEffect transition="in" filter="wipe(left)">
                                      <p:cBhvr>
                                        <p:cTn id="20" dur="500"/>
                                        <p:tgtEl>
                                          <p:spTgt spid="28889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88907"/>
                                        </p:tgtEl>
                                        <p:attrNameLst>
                                          <p:attrName>style.visibility</p:attrName>
                                        </p:attrNameLst>
                                      </p:cBhvr>
                                      <p:to>
                                        <p:strVal val="visible"/>
                                      </p:to>
                                    </p:set>
                                    <p:animEffect transition="in" filter="box(in)">
                                      <p:cBhvr>
                                        <p:cTn id="25" dur="500"/>
                                        <p:tgtEl>
                                          <p:spTgt spid="28890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288903"/>
                                        </p:tgtEl>
                                        <p:attrNameLst>
                                          <p:attrName>style.visibility</p:attrName>
                                        </p:attrNameLst>
                                      </p:cBhvr>
                                      <p:to>
                                        <p:strVal val="visible"/>
                                      </p:to>
                                    </p:set>
                                    <p:animEffect transition="in" filter="wipe(left)">
                                      <p:cBhvr>
                                        <p:cTn id="29" dur="500"/>
                                        <p:tgtEl>
                                          <p:spTgt spid="28890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00"/>
                                        </p:tgtEl>
                                        <p:attrNameLst>
                                          <p:attrName>style.visibility</p:attrName>
                                        </p:attrNameLst>
                                      </p:cBhvr>
                                      <p:to>
                                        <p:strVal val="visible"/>
                                      </p:to>
                                    </p:set>
                                    <p:animEffect transition="in" filter="blinds(horizontal)">
                                      <p:cBhvr>
                                        <p:cTn id="34"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905" grpId="0" bldLvl="0" animBg="1"/>
      <p:bldP spid="288906" grpId="0" bldLvl="0" animBg="1"/>
      <p:bldP spid="288907" grpId="0" bldLvl="0" animBg="1"/>
      <p:bldP spid="100" grpId="0"/>
      <p:bldP spid="100"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4" name="图片 3"/>
          <p:cNvPicPr>
            <a:picLocks noChangeAspect="1"/>
          </p:cNvPicPr>
          <p:nvPr/>
        </p:nvPicPr>
        <p:blipFill>
          <a:blip r:embed="rId1"/>
          <a:stretch>
            <a:fillRect/>
          </a:stretch>
        </p:blipFill>
        <p:spPr>
          <a:xfrm>
            <a:off x="2438400" y="1295400"/>
            <a:ext cx="4097655" cy="5488940"/>
          </a:xfrm>
          <a:prstGeom prst="rect">
            <a:avLst/>
          </a:prstGeom>
        </p:spPr>
      </p:pic>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2771" name="Rectangle 3"/>
          <p:cNvSpPr/>
          <p:nvPr/>
        </p:nvSpPr>
        <p:spPr>
          <a:xfrm>
            <a:off x="914400" y="1143000"/>
            <a:ext cx="3024188" cy="461645"/>
          </a:xfrm>
          <a:prstGeom prst="rect">
            <a:avLst/>
          </a:prstGeom>
          <a:noFill/>
          <a:ln w="28575">
            <a:noFill/>
          </a:ln>
        </p:spPr>
        <p:txBody>
          <a:bodyPr lIns="90000" tIns="46800" rIns="90000" bIns="46800" anchor="t" anchorCtr="0">
            <a:spAutoFit/>
          </a:bodyPr>
          <a:p>
            <a:r>
              <a:rPr lang="zh-CN" altLang="en-US" sz="2400" b="1" dirty="0">
                <a:solidFill>
                  <a:srgbClr val="FE09D6"/>
                </a:solidFill>
                <a:latin typeface="楷体" panose="02010609060101010101" charset="-122"/>
                <a:ea typeface="楷体" panose="02010609060101010101" charset="-122"/>
              </a:rPr>
              <a:t>工作波形：</a:t>
            </a:r>
            <a:endParaRPr lang="zh-CN" altLang="en-US" sz="2400" b="1" dirty="0">
              <a:solidFill>
                <a:srgbClr val="FE09D6"/>
              </a:solidFill>
              <a:latin typeface="楷体" panose="02010609060101010101" charset="-122"/>
              <a:ea typeface="楷体" panose="02010609060101010101" charset="-122"/>
            </a:endParaRPr>
          </a:p>
        </p:txBody>
      </p:sp>
      <p:sp>
        <p:nvSpPr>
          <p:cNvPr id="131076" name="Line 4"/>
          <p:cNvSpPr/>
          <p:nvPr/>
        </p:nvSpPr>
        <p:spPr>
          <a:xfrm flipV="1">
            <a:off x="3124200" y="2035175"/>
            <a:ext cx="0" cy="4724400"/>
          </a:xfrm>
          <a:prstGeom prst="line">
            <a:avLst/>
          </a:prstGeom>
          <a:ln w="28575" cap="flat" cmpd="sng">
            <a:solidFill>
              <a:srgbClr val="FF0000"/>
            </a:solidFill>
            <a:prstDash val="dash"/>
            <a:round/>
            <a:headEnd type="none" w="med" len="med"/>
            <a:tailEnd type="none" w="med" len="med"/>
          </a:ln>
        </p:spPr>
      </p:sp>
      <p:sp>
        <p:nvSpPr>
          <p:cNvPr id="131077" name="AutoShape 5"/>
          <p:cNvSpPr/>
          <p:nvPr/>
        </p:nvSpPr>
        <p:spPr>
          <a:xfrm>
            <a:off x="781050" y="3756025"/>
            <a:ext cx="1600200" cy="833438"/>
          </a:xfrm>
          <a:prstGeom prst="wedgeRoundRectCallout">
            <a:avLst>
              <a:gd name="adj1" fmla="val 93750"/>
              <a:gd name="adj2" fmla="val 155903"/>
              <a:gd name="adj3" fmla="val 16667"/>
            </a:avLst>
          </a:prstGeom>
          <a:noFill/>
          <a:ln w="28575" cap="flat" cmpd="sng">
            <a:solidFill>
              <a:srgbClr val="FF0000"/>
            </a:solidFill>
            <a:prstDash val="solid"/>
            <a:miter/>
            <a:headEnd type="none" w="med" len="med"/>
            <a:tailEnd type="none" w="med" len="med"/>
          </a:ln>
        </p:spPr>
        <p:txBody>
          <a:bodyPr lIns="90000" tIns="46800" rIns="90000" bIns="46800" anchor="t" anchorCtr="0">
            <a:spAutoFit/>
          </a:bodyPr>
          <a:p>
            <a:pPr algn="ctr">
              <a:lnSpc>
                <a:spcPct val="120000"/>
              </a:lnSpc>
            </a:pPr>
            <a:r>
              <a:rPr lang="en-US" altLang="zh-CN" sz="1800" b="1" dirty="0">
                <a:solidFill>
                  <a:srgbClr val="CC3300"/>
                </a:solidFill>
                <a:latin typeface="Times New Roman" panose="02020603050405020304" charset="0"/>
                <a:ea typeface="楷体" panose="02010609060101010101" charset="-122"/>
                <a:cs typeface="Times New Roman" panose="02020603050405020304" charset="0"/>
              </a:rPr>
              <a:t>A</a:t>
            </a:r>
            <a:r>
              <a:rPr lang="en-US" altLang="zh-CN" sz="1800" b="1" baseline="-25000" dirty="0">
                <a:solidFill>
                  <a:srgbClr val="CC3300"/>
                </a:solidFill>
                <a:latin typeface="Times New Roman" panose="02020603050405020304" charset="0"/>
                <a:ea typeface="楷体" panose="02010609060101010101" charset="-122"/>
                <a:cs typeface="Times New Roman" panose="02020603050405020304" charset="0"/>
              </a:rPr>
              <a:t>1</a:t>
            </a:r>
            <a:r>
              <a:rPr lang="en-US" altLang="zh-CN" sz="1800" b="1" dirty="0">
                <a:solidFill>
                  <a:srgbClr val="CC3300"/>
                </a:solidFill>
                <a:latin typeface="Times New Roman" panose="02020603050405020304" charset="0"/>
                <a:ea typeface="楷体" panose="02010609060101010101" charset="-122"/>
                <a:cs typeface="Times New Roman" panose="02020603050405020304" charset="0"/>
              </a:rPr>
              <a:t>A</a:t>
            </a:r>
            <a:r>
              <a:rPr lang="en-US" altLang="zh-CN" sz="1800" b="1" baseline="-25000" dirty="0">
                <a:solidFill>
                  <a:srgbClr val="CC3300"/>
                </a:solidFill>
                <a:latin typeface="Times New Roman" panose="02020603050405020304" charset="0"/>
                <a:ea typeface="楷体" panose="02010609060101010101" charset="-122"/>
                <a:cs typeface="Times New Roman" panose="02020603050405020304" charset="0"/>
              </a:rPr>
              <a:t>2</a:t>
            </a:r>
            <a:r>
              <a:rPr lang="en-US" altLang="zh-CN" sz="1800" b="1" dirty="0">
                <a:solidFill>
                  <a:srgbClr val="CC3300"/>
                </a:solidFill>
                <a:latin typeface="Times New Roman" panose="02020603050405020304" charset="0"/>
                <a:ea typeface="楷体" panose="02010609060101010101" charset="-122"/>
                <a:cs typeface="Times New Roman" panose="02020603050405020304" charset="0"/>
              </a:rPr>
              <a:t>=0</a:t>
            </a:r>
            <a:endParaRPr lang="en-US" altLang="zh-CN" sz="1800" b="1" dirty="0">
              <a:solidFill>
                <a:srgbClr val="CC3300"/>
              </a:solidFill>
              <a:latin typeface="Times New Roman" panose="02020603050405020304" charset="0"/>
              <a:ea typeface="楷体" panose="02010609060101010101" charset="-122"/>
              <a:cs typeface="Times New Roman" panose="02020603050405020304" charset="0"/>
            </a:endParaRPr>
          </a:p>
          <a:p>
            <a:pPr algn="ctr">
              <a:lnSpc>
                <a:spcPct val="120000"/>
              </a:lnSpc>
            </a:pPr>
            <a:r>
              <a:rPr lang="en-US" altLang="zh-CN" sz="1800" b="1" dirty="0">
                <a:solidFill>
                  <a:srgbClr val="CC3300"/>
                </a:solidFill>
                <a:latin typeface="Times New Roman" panose="02020603050405020304" charset="0"/>
                <a:ea typeface="楷体" panose="02010609060101010101" charset="-122"/>
                <a:cs typeface="Times New Roman" panose="02020603050405020304" charset="0"/>
              </a:rPr>
              <a:t>B</a:t>
            </a:r>
            <a:r>
              <a:rPr lang="zh-CN" altLang="en-US" sz="1800" b="1" dirty="0">
                <a:solidFill>
                  <a:srgbClr val="CC3300"/>
                </a:solidFill>
                <a:latin typeface="Times New Roman" panose="02020603050405020304" charset="0"/>
                <a:ea typeface="楷体" panose="02010609060101010101" charset="-122"/>
                <a:cs typeface="Times New Roman" panose="02020603050405020304" charset="0"/>
              </a:rPr>
              <a:t>有上升沿</a:t>
            </a:r>
            <a:endParaRPr lang="zh-CN" altLang="en-US" sz="1800" b="1" dirty="0">
              <a:solidFill>
                <a:srgbClr val="CC3300"/>
              </a:solidFill>
              <a:latin typeface="Times New Roman" panose="02020603050405020304" charset="0"/>
              <a:ea typeface="楷体" panose="02010609060101010101" charset="-122"/>
              <a:cs typeface="Times New Roman" panose="02020603050405020304" charset="0"/>
            </a:endParaRPr>
          </a:p>
        </p:txBody>
      </p:sp>
      <p:sp>
        <p:nvSpPr>
          <p:cNvPr id="131078" name="Line 6"/>
          <p:cNvSpPr/>
          <p:nvPr/>
        </p:nvSpPr>
        <p:spPr>
          <a:xfrm flipV="1">
            <a:off x="4724400" y="2035175"/>
            <a:ext cx="0" cy="4724400"/>
          </a:xfrm>
          <a:prstGeom prst="line">
            <a:avLst/>
          </a:prstGeom>
          <a:ln w="28575" cap="flat" cmpd="sng">
            <a:solidFill>
              <a:srgbClr val="0033CC"/>
            </a:solidFill>
            <a:prstDash val="dash"/>
            <a:round/>
            <a:headEnd type="none" w="med" len="med"/>
            <a:tailEnd type="none" w="med" len="med"/>
          </a:ln>
        </p:spPr>
      </p:sp>
      <p:sp>
        <p:nvSpPr>
          <p:cNvPr id="131079" name="AutoShape 7"/>
          <p:cNvSpPr/>
          <p:nvPr/>
        </p:nvSpPr>
        <p:spPr>
          <a:xfrm>
            <a:off x="781050" y="1630680"/>
            <a:ext cx="1761490" cy="838808"/>
          </a:xfrm>
          <a:prstGeom prst="wedgeRoundRectCallout">
            <a:avLst>
              <a:gd name="adj1" fmla="val 166041"/>
              <a:gd name="adj2" fmla="val 91412"/>
              <a:gd name="adj3" fmla="val 16667"/>
            </a:avLst>
          </a:prstGeom>
          <a:noFill/>
          <a:ln w="28575" cap="flat" cmpd="sng">
            <a:solidFill>
              <a:srgbClr val="0033CC"/>
            </a:solidFill>
            <a:prstDash val="solid"/>
            <a:miter/>
            <a:headEnd type="none" w="med" len="med"/>
            <a:tailEnd type="none" w="med" len="med"/>
          </a:ln>
        </p:spPr>
        <p:txBody>
          <a:bodyPr wrap="square" lIns="90000" tIns="46800" rIns="90000" bIns="46800" anchor="t" anchorCtr="0">
            <a:spAutoFit/>
          </a:bodyPr>
          <a:p>
            <a:pPr algn="ctr">
              <a:lnSpc>
                <a:spcPct val="120000"/>
              </a:lnSpc>
            </a:pP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B=1, A</a:t>
            </a:r>
            <a:r>
              <a:rPr lang="en-US" altLang="zh-CN" sz="1800" b="1" baseline="-25000" dirty="0">
                <a:solidFill>
                  <a:srgbClr val="0033CC"/>
                </a:solidFill>
                <a:latin typeface="Times New Roman" panose="02020603050405020304" charset="0"/>
                <a:ea typeface="楷体" panose="02010609060101010101" charset="-122"/>
                <a:cs typeface="Times New Roman" panose="02020603050405020304" charset="0"/>
              </a:rPr>
              <a:t>1</a:t>
            </a: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A</a:t>
            </a:r>
            <a:r>
              <a:rPr lang="en-US" altLang="zh-CN" sz="1800" b="1" baseline="-25000" dirty="0">
                <a:solidFill>
                  <a:srgbClr val="0033CC"/>
                </a:solidFill>
                <a:latin typeface="Times New Roman" panose="02020603050405020304" charset="0"/>
                <a:ea typeface="楷体" panose="02010609060101010101" charset="-122"/>
                <a:cs typeface="Times New Roman" panose="02020603050405020304" charset="0"/>
              </a:rPr>
              <a:t>2</a:t>
            </a: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=1</a:t>
            </a:r>
            <a:endParaRPr lang="en-US" altLang="zh-CN" sz="1800" b="1" dirty="0">
              <a:solidFill>
                <a:srgbClr val="0033CC"/>
              </a:solidFill>
              <a:latin typeface="Times New Roman" panose="02020603050405020304" charset="0"/>
              <a:ea typeface="楷体" panose="02010609060101010101" charset="-122"/>
              <a:cs typeface="Times New Roman" panose="02020603050405020304" charset="0"/>
            </a:endParaRPr>
          </a:p>
          <a:p>
            <a:pPr algn="ctr">
              <a:lnSpc>
                <a:spcPct val="120000"/>
              </a:lnSpc>
            </a:pPr>
            <a:r>
              <a:rPr lang="zh-CN" altLang="en-US" sz="1800" b="1" dirty="0">
                <a:solidFill>
                  <a:srgbClr val="0033CC"/>
                </a:solidFill>
                <a:latin typeface="Times New Roman" panose="02020603050405020304" charset="0"/>
                <a:ea typeface="楷体" panose="02010609060101010101" charset="-122"/>
                <a:cs typeface="Times New Roman" panose="02020603050405020304" charset="0"/>
              </a:rPr>
              <a:t>且</a:t>
            </a: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A</a:t>
            </a:r>
            <a:r>
              <a:rPr lang="en-US" altLang="zh-CN" sz="1800" b="1" baseline="-25000" dirty="0">
                <a:solidFill>
                  <a:srgbClr val="0033CC"/>
                </a:solidFill>
                <a:latin typeface="Times New Roman" panose="02020603050405020304" charset="0"/>
                <a:ea typeface="楷体" panose="02010609060101010101" charset="-122"/>
                <a:cs typeface="Times New Roman" panose="02020603050405020304" charset="0"/>
              </a:rPr>
              <a:t>2</a:t>
            </a:r>
            <a:r>
              <a:rPr lang="zh-CN" altLang="en-US" sz="1800" b="1" dirty="0">
                <a:solidFill>
                  <a:srgbClr val="0033CC"/>
                </a:solidFill>
                <a:latin typeface="Times New Roman" panose="02020603050405020304" charset="0"/>
                <a:ea typeface="楷体" panose="02010609060101010101" charset="-122"/>
                <a:cs typeface="Times New Roman" panose="02020603050405020304" charset="0"/>
              </a:rPr>
              <a:t>有下降沿</a:t>
            </a:r>
            <a:endParaRPr lang="zh-CN" altLang="en-US" sz="1800" b="1" dirty="0">
              <a:solidFill>
                <a:srgbClr val="0033CC"/>
              </a:solidFill>
              <a:latin typeface="Times New Roman" panose="02020603050405020304" charset="0"/>
              <a:ea typeface="楷体" panose="02010609060101010101" charset="-122"/>
              <a:cs typeface="Times New Roman" panose="02020603050405020304" charset="0"/>
            </a:endParaRPr>
          </a:p>
        </p:txBody>
      </p:sp>
      <p:sp>
        <p:nvSpPr>
          <p:cNvPr id="131080" name="Line 8"/>
          <p:cNvSpPr/>
          <p:nvPr/>
        </p:nvSpPr>
        <p:spPr>
          <a:xfrm flipV="1">
            <a:off x="5526088" y="2035175"/>
            <a:ext cx="0" cy="4724400"/>
          </a:xfrm>
          <a:prstGeom prst="line">
            <a:avLst/>
          </a:prstGeom>
          <a:ln w="28575" cap="flat" cmpd="sng">
            <a:solidFill>
              <a:srgbClr val="0033CC"/>
            </a:solidFill>
            <a:prstDash val="dash"/>
            <a:round/>
            <a:headEnd type="none" w="med" len="med"/>
            <a:tailEnd type="none" w="med" len="med"/>
          </a:ln>
        </p:spPr>
      </p:sp>
      <p:sp>
        <p:nvSpPr>
          <p:cNvPr id="131081" name="AutoShape 9"/>
          <p:cNvSpPr/>
          <p:nvPr/>
        </p:nvSpPr>
        <p:spPr>
          <a:xfrm>
            <a:off x="6477000" y="1676400"/>
            <a:ext cx="2515235" cy="839462"/>
          </a:xfrm>
          <a:prstGeom prst="wedgeRoundRectCallout">
            <a:avLst>
              <a:gd name="adj1" fmla="val -83173"/>
              <a:gd name="adj2" fmla="val 150076"/>
              <a:gd name="adj3" fmla="val 16667"/>
            </a:avLst>
          </a:prstGeom>
          <a:noFill/>
          <a:ln w="28575" cap="flat" cmpd="sng">
            <a:solidFill>
              <a:srgbClr val="0033CC"/>
            </a:solidFill>
            <a:prstDash val="solid"/>
            <a:miter/>
            <a:headEnd type="none" w="med" len="med"/>
            <a:tailEnd type="none" w="med" len="med"/>
          </a:ln>
        </p:spPr>
        <p:txBody>
          <a:bodyPr wrap="square" lIns="90000" tIns="46800" rIns="90000" bIns="46800" anchor="t" anchorCtr="0">
            <a:spAutoFit/>
          </a:bodyPr>
          <a:p>
            <a:pPr algn="ctr">
              <a:lnSpc>
                <a:spcPct val="120000"/>
              </a:lnSpc>
            </a:pP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B=1, A</a:t>
            </a:r>
            <a:r>
              <a:rPr lang="en-US" altLang="zh-CN" sz="1800" b="1" baseline="-25000" dirty="0">
                <a:solidFill>
                  <a:srgbClr val="0033CC"/>
                </a:solidFill>
                <a:latin typeface="Times New Roman" panose="02020603050405020304" charset="0"/>
                <a:ea typeface="楷体" panose="02010609060101010101" charset="-122"/>
                <a:cs typeface="Times New Roman" panose="02020603050405020304" charset="0"/>
              </a:rPr>
              <a:t>1</a:t>
            </a: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A</a:t>
            </a:r>
            <a:r>
              <a:rPr lang="en-US" altLang="zh-CN" sz="1800" b="1" baseline="-25000" dirty="0">
                <a:solidFill>
                  <a:srgbClr val="0033CC"/>
                </a:solidFill>
                <a:latin typeface="Times New Roman" panose="02020603050405020304" charset="0"/>
                <a:ea typeface="楷体" panose="02010609060101010101" charset="-122"/>
                <a:cs typeface="Times New Roman" panose="02020603050405020304" charset="0"/>
              </a:rPr>
              <a:t>2</a:t>
            </a: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=1</a:t>
            </a:r>
            <a:endParaRPr lang="en-US" altLang="zh-CN" sz="1800" b="1" dirty="0">
              <a:solidFill>
                <a:srgbClr val="0033CC"/>
              </a:solidFill>
              <a:latin typeface="Times New Roman" panose="02020603050405020304" charset="0"/>
              <a:ea typeface="楷体" panose="02010609060101010101" charset="-122"/>
              <a:cs typeface="Times New Roman" panose="02020603050405020304" charset="0"/>
            </a:endParaRPr>
          </a:p>
          <a:p>
            <a:pPr algn="ctr">
              <a:lnSpc>
                <a:spcPct val="120000"/>
              </a:lnSpc>
            </a:pPr>
            <a:r>
              <a:rPr lang="zh-CN" altLang="en-US" sz="1800" b="1" dirty="0">
                <a:solidFill>
                  <a:srgbClr val="0033CC"/>
                </a:solidFill>
                <a:latin typeface="Times New Roman" panose="02020603050405020304" charset="0"/>
                <a:ea typeface="楷体" panose="02010609060101010101" charset="-122"/>
                <a:cs typeface="Times New Roman" panose="02020603050405020304" charset="0"/>
              </a:rPr>
              <a:t>且</a:t>
            </a:r>
            <a:r>
              <a:rPr lang="en-US" altLang="zh-CN" sz="1800" b="1" dirty="0">
                <a:solidFill>
                  <a:srgbClr val="0033CC"/>
                </a:solidFill>
                <a:latin typeface="Times New Roman" panose="02020603050405020304" charset="0"/>
                <a:ea typeface="楷体" panose="02010609060101010101" charset="-122"/>
                <a:cs typeface="Times New Roman" panose="02020603050405020304" charset="0"/>
              </a:rPr>
              <a:t>A</a:t>
            </a:r>
            <a:r>
              <a:rPr lang="en-US" altLang="zh-CN" sz="1800" b="1" baseline="-25000" dirty="0">
                <a:solidFill>
                  <a:srgbClr val="0033CC"/>
                </a:solidFill>
                <a:latin typeface="Times New Roman" panose="02020603050405020304" charset="0"/>
                <a:ea typeface="楷体" panose="02010609060101010101" charset="-122"/>
                <a:cs typeface="Times New Roman" panose="02020603050405020304" charset="0"/>
              </a:rPr>
              <a:t>1</a:t>
            </a:r>
            <a:r>
              <a:rPr lang="zh-CN" altLang="en-US" sz="1800" b="1" dirty="0">
                <a:solidFill>
                  <a:srgbClr val="0033CC"/>
                </a:solidFill>
                <a:latin typeface="Times New Roman" panose="02020603050405020304" charset="0"/>
                <a:ea typeface="楷体" panose="02010609060101010101" charset="-122"/>
                <a:cs typeface="Times New Roman" panose="02020603050405020304" charset="0"/>
              </a:rPr>
              <a:t>有下降沿</a:t>
            </a:r>
            <a:endParaRPr lang="zh-CN" altLang="en-US" sz="1800" b="1" dirty="0">
              <a:solidFill>
                <a:srgbClr val="0033CC"/>
              </a:solidFill>
              <a:latin typeface="Times New Roman" panose="02020603050405020304" charset="0"/>
              <a:ea typeface="楷体" panose="02010609060101010101" charset="-122"/>
              <a:cs typeface="Times New Roman" panose="02020603050405020304" charset="0"/>
            </a:endParaRPr>
          </a:p>
        </p:txBody>
      </p:sp>
      <p:sp>
        <p:nvSpPr>
          <p:cNvPr id="16"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1076"/>
                                        </p:tgtEl>
                                        <p:attrNameLst>
                                          <p:attrName>style.visibility</p:attrName>
                                        </p:attrNameLst>
                                      </p:cBhvr>
                                      <p:to>
                                        <p:strVal val="visible"/>
                                      </p:to>
                                    </p:set>
                                    <p:animEffect transition="in" filter="wipe(up)">
                                      <p:cBhvr>
                                        <p:cTn id="7" dur="500"/>
                                        <p:tgtEl>
                                          <p:spTgt spid="1310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1077"/>
                                        </p:tgtEl>
                                        <p:attrNameLst>
                                          <p:attrName>style.visibility</p:attrName>
                                        </p:attrNameLst>
                                      </p:cBhvr>
                                      <p:to>
                                        <p:strVal val="visible"/>
                                      </p:to>
                                    </p:set>
                                    <p:anim calcmode="lin" valueType="num">
                                      <p:cBhvr>
                                        <p:cTn id="12" dur="500" fill="hold"/>
                                        <p:tgtEl>
                                          <p:spTgt spid="131077"/>
                                        </p:tgtEl>
                                        <p:attrNameLst>
                                          <p:attrName>ppt_x</p:attrName>
                                        </p:attrNameLst>
                                      </p:cBhvr>
                                      <p:tavLst>
                                        <p:tav tm="0">
                                          <p:val>
                                            <p:strVal val="0-#ppt_w/2"/>
                                          </p:val>
                                        </p:tav>
                                        <p:tav tm="100000">
                                          <p:val>
                                            <p:strVal val="#ppt_x"/>
                                          </p:val>
                                        </p:tav>
                                      </p:tavLst>
                                    </p:anim>
                                    <p:anim calcmode="lin" valueType="num">
                                      <p:cBhvr>
                                        <p:cTn id="13" dur="500" fill="hold"/>
                                        <p:tgtEl>
                                          <p:spTgt spid="13107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31078"/>
                                        </p:tgtEl>
                                        <p:attrNameLst>
                                          <p:attrName>style.visibility</p:attrName>
                                        </p:attrNameLst>
                                      </p:cBhvr>
                                      <p:to>
                                        <p:strVal val="visible"/>
                                      </p:to>
                                    </p:set>
                                    <p:animEffect transition="in" filter="wipe(up)">
                                      <p:cBhvr>
                                        <p:cTn id="18" dur="500"/>
                                        <p:tgtEl>
                                          <p:spTgt spid="13107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131079"/>
                                        </p:tgtEl>
                                        <p:attrNameLst>
                                          <p:attrName>style.visibility</p:attrName>
                                        </p:attrNameLst>
                                      </p:cBhvr>
                                      <p:to>
                                        <p:strVal val="visible"/>
                                      </p:to>
                                    </p:set>
                                    <p:anim calcmode="lin" valueType="num">
                                      <p:cBhvr>
                                        <p:cTn id="23" dur="500" fill="hold"/>
                                        <p:tgtEl>
                                          <p:spTgt spid="131079"/>
                                        </p:tgtEl>
                                        <p:attrNameLst>
                                          <p:attrName>ppt_x</p:attrName>
                                        </p:attrNameLst>
                                      </p:cBhvr>
                                      <p:tavLst>
                                        <p:tav tm="0">
                                          <p:val>
                                            <p:strVal val="#ppt_x"/>
                                          </p:val>
                                        </p:tav>
                                        <p:tav tm="100000">
                                          <p:val>
                                            <p:strVal val="#ppt_x"/>
                                          </p:val>
                                        </p:tav>
                                      </p:tavLst>
                                    </p:anim>
                                    <p:anim calcmode="lin" valueType="num">
                                      <p:cBhvr>
                                        <p:cTn id="24" dur="500" fill="hold"/>
                                        <p:tgtEl>
                                          <p:spTgt spid="131079"/>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31080"/>
                                        </p:tgtEl>
                                        <p:attrNameLst>
                                          <p:attrName>style.visibility</p:attrName>
                                        </p:attrNameLst>
                                      </p:cBhvr>
                                      <p:to>
                                        <p:strVal val="visible"/>
                                      </p:to>
                                    </p:set>
                                    <p:animEffect transition="in" filter="wipe(up)">
                                      <p:cBhvr>
                                        <p:cTn id="29" dur="500"/>
                                        <p:tgtEl>
                                          <p:spTgt spid="13108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31081"/>
                                        </p:tgtEl>
                                        <p:attrNameLst>
                                          <p:attrName>style.visibility</p:attrName>
                                        </p:attrNameLst>
                                      </p:cBhvr>
                                      <p:to>
                                        <p:strVal val="visible"/>
                                      </p:to>
                                    </p:set>
                                    <p:anim calcmode="lin" valueType="num">
                                      <p:cBhvr>
                                        <p:cTn id="34" dur="500" fill="hold"/>
                                        <p:tgtEl>
                                          <p:spTgt spid="131081"/>
                                        </p:tgtEl>
                                        <p:attrNameLst>
                                          <p:attrName>ppt_x</p:attrName>
                                        </p:attrNameLst>
                                      </p:cBhvr>
                                      <p:tavLst>
                                        <p:tav tm="0">
                                          <p:val>
                                            <p:strVal val="1+#ppt_w/2"/>
                                          </p:val>
                                        </p:tav>
                                        <p:tav tm="100000">
                                          <p:val>
                                            <p:strVal val="#ppt_x"/>
                                          </p:val>
                                        </p:tav>
                                      </p:tavLst>
                                    </p:anim>
                                    <p:anim calcmode="lin" valueType="num">
                                      <p:cBhvr>
                                        <p:cTn id="35" dur="500" fill="hold"/>
                                        <p:tgtEl>
                                          <p:spTgt spid="1310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bldLvl="0" animBg="1"/>
      <p:bldP spid="131079" grpId="0" bldLvl="0" animBg="1"/>
      <p:bldP spid="13108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9525" y="594360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13" name="图片 12"/>
          <p:cNvPicPr>
            <a:picLocks noChangeAspect="1"/>
          </p:cNvPicPr>
          <p:nvPr/>
        </p:nvPicPr>
        <p:blipFill>
          <a:blip r:embed="rId1"/>
          <a:stretch>
            <a:fillRect/>
          </a:stretch>
        </p:blipFill>
        <p:spPr>
          <a:xfrm>
            <a:off x="2438400" y="3464560"/>
            <a:ext cx="4885690" cy="3299460"/>
          </a:xfrm>
          <a:prstGeom prst="rect">
            <a:avLst/>
          </a:prstGeom>
        </p:spPr>
      </p:pic>
      <p:sp>
        <p:nvSpPr>
          <p:cNvPr id="16"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32098" name="Text Box 2"/>
          <p:cNvSpPr txBox="1"/>
          <p:nvPr/>
        </p:nvSpPr>
        <p:spPr>
          <a:xfrm>
            <a:off x="290513" y="1581150"/>
            <a:ext cx="8320087" cy="892810"/>
          </a:xfrm>
          <a:prstGeom prst="rect">
            <a:avLst/>
          </a:prstGeom>
          <a:noFill/>
          <a:ln w="28575">
            <a:noFill/>
          </a:ln>
        </p:spPr>
        <p:txBody>
          <a:bodyPr lIns="90000" tIns="46800" rIns="90000" bIns="46800" anchor="t" anchorCtr="0">
            <a:spAutoFit/>
          </a:bodyPr>
          <a:p>
            <a:pPr>
              <a:lnSpc>
                <a:spcPct val="120000"/>
              </a:lnSpc>
              <a:spcBef>
                <a:spcPct val="2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外接电容接在</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引脚</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之间，</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spcBef>
                <a:spcPct val="2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如果</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有极性，正极接</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脚</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2099" name="Text Box 3"/>
          <p:cNvSpPr txBox="1"/>
          <p:nvPr/>
        </p:nvSpPr>
        <p:spPr>
          <a:xfrm>
            <a:off x="255588" y="2419350"/>
            <a:ext cx="6882765" cy="892810"/>
          </a:xfrm>
          <a:prstGeom prst="rect">
            <a:avLst/>
          </a:prstGeom>
          <a:noFill/>
          <a:ln w="28575">
            <a:noFill/>
          </a:ln>
        </p:spPr>
        <p:txBody>
          <a:bodyPr wrap="none" lIns="90000" tIns="46800" rIns="90000" bIns="46800" anchor="t" anchorCtr="0">
            <a:spAutoFit/>
          </a:bodyPr>
          <a:p>
            <a:pPr>
              <a:lnSpc>
                <a:spcPct val="120000"/>
              </a:lnSpc>
              <a:spcBef>
                <a:spcPct val="2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若使用内部电阻</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(2k)</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，把</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9</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引脚</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int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接</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CC</a:t>
            </a:r>
            <a:endPar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spcBef>
                <a:spcPct val="2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若使用外部电阻</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(1.4~40k)</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，电阻两端分别接</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11,14</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脚</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ext</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0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2100" name="Text Box 4"/>
          <p:cNvSpPr txBox="1"/>
          <p:nvPr/>
        </p:nvSpPr>
        <p:spPr>
          <a:xfrm>
            <a:off x="1066800" y="1181100"/>
            <a:ext cx="5867400" cy="461645"/>
          </a:xfrm>
          <a:prstGeom prst="rect">
            <a:avLst/>
          </a:prstGeom>
          <a:noFill/>
          <a:ln w="28575">
            <a:noFill/>
          </a:ln>
        </p:spPr>
        <p:txBody>
          <a:bodyPr lIns="90000" tIns="46800" rIns="90000" bIns="46800" anchor="t" anchorCtr="0">
            <a:spAutoFit/>
          </a:bodyPr>
          <a:p>
            <a:r>
              <a:rPr lang="zh-CN" altLang="en-US" sz="2400" b="1" dirty="0">
                <a:solidFill>
                  <a:srgbClr val="0033CC"/>
                </a:solidFill>
                <a:latin typeface="Times New Roman" panose="02020603050405020304" charset="0"/>
                <a:ea typeface="楷体" panose="02010609060101010101" charset="-122"/>
                <a:cs typeface="Times New Roman" panose="02020603050405020304" charset="0"/>
              </a:rPr>
              <a:t>输出脉冲宽度</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rPr>
              <a:t>w</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rPr>
              <a:t>=0.7</a:t>
            </a:r>
            <a:r>
              <a:rPr lang="en-US" altLang="zh-CN" sz="2400" b="1" i="1" dirty="0">
                <a:solidFill>
                  <a:srgbClr val="0033CC"/>
                </a:solidFill>
                <a:latin typeface="Times New Roman" panose="02020603050405020304" charset="0"/>
                <a:ea typeface="楷体" panose="02010609060101010101" charset="-122"/>
                <a:cs typeface="Times New Roman" panose="02020603050405020304" charset="0"/>
              </a:rPr>
              <a:t>RC</a:t>
            </a:r>
            <a:endParaRPr lang="en-US" altLang="zh-CN" sz="2400" b="1" i="1" dirty="0">
              <a:solidFill>
                <a:srgbClr val="0033CC"/>
              </a:solidFill>
              <a:latin typeface="Times New Roman" panose="02020603050405020304" charset="0"/>
              <a:ea typeface="楷体" panose="02010609060101010101" charset="-122"/>
              <a:cs typeface="Times New Roman" panose="02020603050405020304" charset="0"/>
            </a:endParaRPr>
          </a:p>
        </p:txBody>
      </p:sp>
      <p:sp>
        <p:nvSpPr>
          <p:cNvPr id="132109" name="Oval 13"/>
          <p:cNvSpPr/>
          <p:nvPr/>
        </p:nvSpPr>
        <p:spPr>
          <a:xfrm>
            <a:off x="3352800" y="3539210"/>
            <a:ext cx="571500" cy="503480"/>
          </a:xfrm>
          <a:prstGeom prst="ellipse">
            <a:avLst/>
          </a:prstGeom>
          <a:noFill/>
          <a:ln w="28575" cap="flat" cmpd="sng">
            <a:solidFill>
              <a:srgbClr val="FF33CC"/>
            </a:solidFill>
            <a:prstDash val="solid"/>
            <a:round/>
            <a:headEnd type="none" w="med" len="med"/>
            <a:tailEnd type="none" w="med" len="med"/>
          </a:ln>
        </p:spPr>
        <p:txBody>
          <a:bodyPr wrap="square" lIns="90000" tIns="46800" rIns="90000" bIns="46800" anchor="ctr" anchorCtr="0">
            <a:spAutoFit/>
          </a:bodyPr>
          <a:p>
            <a:endParaRPr lang="zh-CN" altLang="en-US" dirty="0">
              <a:latin typeface="Times New Roman" panose="02020603050405020304" charset="0"/>
              <a:ea typeface="宋体" panose="02010600030101010101" pitchFamily="2" charset="-122"/>
              <a:cs typeface="Times New Roman" panose="02020603050405020304" charset="0"/>
            </a:endParaRPr>
          </a:p>
        </p:txBody>
      </p:sp>
      <p:grpSp>
        <p:nvGrpSpPr>
          <p:cNvPr id="132113" name="Group 17"/>
          <p:cNvGrpSpPr/>
          <p:nvPr/>
        </p:nvGrpSpPr>
        <p:grpSpPr>
          <a:xfrm>
            <a:off x="5483225" y="3498850"/>
            <a:ext cx="738188" cy="457200"/>
            <a:chOff x="3564" y="2024"/>
            <a:chExt cx="465" cy="288"/>
          </a:xfrm>
        </p:grpSpPr>
        <p:sp>
          <p:nvSpPr>
            <p:cNvPr id="33805" name="Text Box 15"/>
            <p:cNvSpPr txBox="1"/>
            <p:nvPr/>
          </p:nvSpPr>
          <p:spPr>
            <a:xfrm>
              <a:off x="3564" y="2024"/>
              <a:ext cx="223" cy="288"/>
            </a:xfrm>
            <a:prstGeom prst="rect">
              <a:avLst/>
            </a:prstGeom>
            <a:noFill/>
            <a:ln w="28575">
              <a:noFill/>
            </a:ln>
          </p:spPr>
          <p:txBody>
            <a:bodyPr wrap="none" lIns="90000" tIns="46800" rIns="90000" bIns="46800" anchor="t" anchorCtr="0">
              <a:spAutoFit/>
            </a:bodyPr>
            <a:p>
              <a:r>
                <a:rPr lang="en-US" altLang="zh-CN" sz="2400" b="1" dirty="0">
                  <a:solidFill>
                    <a:srgbClr val="FF3300"/>
                  </a:solidFill>
                  <a:latin typeface="Times New Roman" panose="02020603050405020304" charset="0"/>
                  <a:ea typeface="宋体" panose="02010600030101010101" pitchFamily="2" charset="-122"/>
                  <a:cs typeface="Times New Roman" panose="02020603050405020304" charset="0"/>
                </a:rPr>
                <a:t>+</a:t>
              </a:r>
              <a:endParaRPr lang="en-US" altLang="zh-CN" sz="2400" b="1" dirty="0">
                <a:solidFill>
                  <a:srgbClr val="FF3300"/>
                </a:solidFill>
                <a:latin typeface="Times New Roman" panose="02020603050405020304" charset="0"/>
                <a:ea typeface="宋体" panose="02010600030101010101" pitchFamily="2" charset="-122"/>
                <a:cs typeface="Times New Roman" panose="02020603050405020304" charset="0"/>
              </a:endParaRPr>
            </a:p>
          </p:txBody>
        </p:sp>
        <p:sp>
          <p:nvSpPr>
            <p:cNvPr id="33806" name="Text Box 16"/>
            <p:cNvSpPr txBox="1"/>
            <p:nvPr/>
          </p:nvSpPr>
          <p:spPr>
            <a:xfrm>
              <a:off x="3787" y="2062"/>
              <a:ext cx="242" cy="212"/>
            </a:xfrm>
            <a:prstGeom prst="rect">
              <a:avLst/>
            </a:prstGeom>
            <a:noFill/>
            <a:ln w="28575">
              <a:noFill/>
            </a:ln>
          </p:spPr>
          <p:txBody>
            <a:bodyPr wrap="none" lIns="90000" tIns="46800" rIns="90000" bIns="46800" anchor="t" anchorCtr="0">
              <a:spAutoFit/>
            </a:bodyPr>
            <a:p>
              <a:r>
                <a:rPr lang="zh-CN" altLang="en-US" sz="1600" b="1" dirty="0">
                  <a:solidFill>
                    <a:srgbClr val="FF3300"/>
                  </a:solidFill>
                  <a:latin typeface="Times New Roman" panose="02020603050405020304" charset="0"/>
                  <a:ea typeface="宋体" panose="02010600030101010101" pitchFamily="2" charset="-122"/>
                </a:rPr>
                <a:t>－</a:t>
              </a:r>
              <a:endParaRPr lang="zh-CN" altLang="en-US" sz="1600" b="1" dirty="0">
                <a:solidFill>
                  <a:srgbClr val="FF3300"/>
                </a:solidFill>
                <a:latin typeface="Times New Roman" panose="02020603050405020304" charset="0"/>
                <a:ea typeface="宋体" panose="02010600030101010101" pitchFamily="2" charset="-122"/>
              </a:endParaRPr>
            </a:p>
          </p:txBody>
        </p:sp>
      </p:grpSp>
      <p:grpSp>
        <p:nvGrpSpPr>
          <p:cNvPr id="132114" name="Group 18"/>
          <p:cNvGrpSpPr/>
          <p:nvPr/>
        </p:nvGrpSpPr>
        <p:grpSpPr>
          <a:xfrm>
            <a:off x="2700338" y="3498850"/>
            <a:ext cx="731838" cy="457200"/>
            <a:chOff x="3564" y="2024"/>
            <a:chExt cx="461" cy="288"/>
          </a:xfrm>
        </p:grpSpPr>
        <p:sp>
          <p:nvSpPr>
            <p:cNvPr id="33808" name="Text Box 19"/>
            <p:cNvSpPr txBox="1"/>
            <p:nvPr/>
          </p:nvSpPr>
          <p:spPr>
            <a:xfrm>
              <a:off x="3564" y="2024"/>
              <a:ext cx="223" cy="288"/>
            </a:xfrm>
            <a:prstGeom prst="rect">
              <a:avLst/>
            </a:prstGeom>
            <a:noFill/>
            <a:ln w="28575">
              <a:noFill/>
            </a:ln>
          </p:spPr>
          <p:txBody>
            <a:bodyPr wrap="none" lIns="90000" tIns="46800" rIns="90000" bIns="46800" anchor="t" anchorCtr="0">
              <a:spAutoFit/>
            </a:bodyPr>
            <a:p>
              <a:r>
                <a:rPr lang="en-US" altLang="zh-CN" sz="2400" b="1" dirty="0">
                  <a:solidFill>
                    <a:srgbClr val="FF3300"/>
                  </a:solidFill>
                  <a:latin typeface="Times New Roman" panose="02020603050405020304" charset="0"/>
                  <a:ea typeface="宋体" panose="02010600030101010101" pitchFamily="2" charset="-122"/>
                  <a:cs typeface="Times New Roman" panose="02020603050405020304" charset="0"/>
                </a:rPr>
                <a:t>+</a:t>
              </a:r>
              <a:endParaRPr lang="en-US" altLang="zh-CN" sz="2400" b="1" dirty="0">
                <a:solidFill>
                  <a:srgbClr val="FF3300"/>
                </a:solidFill>
                <a:latin typeface="Times New Roman" panose="02020603050405020304" charset="0"/>
                <a:ea typeface="宋体" panose="02010600030101010101" pitchFamily="2" charset="-122"/>
                <a:cs typeface="Times New Roman" panose="02020603050405020304" charset="0"/>
              </a:endParaRPr>
            </a:p>
          </p:txBody>
        </p:sp>
        <p:sp>
          <p:nvSpPr>
            <p:cNvPr id="33809" name="Text Box 20"/>
            <p:cNvSpPr txBox="1"/>
            <p:nvPr/>
          </p:nvSpPr>
          <p:spPr>
            <a:xfrm>
              <a:off x="3783" y="2076"/>
              <a:ext cx="242" cy="212"/>
            </a:xfrm>
            <a:prstGeom prst="rect">
              <a:avLst/>
            </a:prstGeom>
            <a:noFill/>
            <a:ln w="28575">
              <a:noFill/>
            </a:ln>
          </p:spPr>
          <p:txBody>
            <a:bodyPr wrap="none" lIns="90000" tIns="46800" rIns="90000" bIns="46800" anchor="t" anchorCtr="0">
              <a:spAutoFit/>
            </a:bodyPr>
            <a:p>
              <a:r>
                <a:rPr lang="zh-CN" altLang="en-US" sz="1600" b="1" dirty="0">
                  <a:solidFill>
                    <a:srgbClr val="FF3300"/>
                  </a:solidFill>
                  <a:latin typeface="Times New Roman" panose="02020603050405020304" charset="0"/>
                  <a:ea typeface="宋体" panose="02010600030101010101" pitchFamily="2" charset="-122"/>
                </a:rPr>
                <a:t>－</a:t>
              </a:r>
              <a:endParaRPr lang="zh-CN" altLang="en-US" sz="1600" b="1" dirty="0">
                <a:solidFill>
                  <a:srgbClr val="FF3300"/>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animEffect transition="in" filter="wipe(left)">
                                      <p:cBhvr>
                                        <p:cTn id="7" dur="500"/>
                                        <p:tgtEl>
                                          <p:spTgt spid="1321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098"/>
                                        </p:tgtEl>
                                        <p:attrNameLst>
                                          <p:attrName>style.visibility</p:attrName>
                                        </p:attrNameLst>
                                      </p:cBhvr>
                                      <p:to>
                                        <p:strVal val="visible"/>
                                      </p:to>
                                    </p:set>
                                    <p:animEffect transition="in" filter="wipe(left)">
                                      <p:cBhvr>
                                        <p:cTn id="12" dur="500"/>
                                        <p:tgtEl>
                                          <p:spTgt spid="13209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211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321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2099"/>
                                        </p:tgtEl>
                                        <p:attrNameLst>
                                          <p:attrName>style.visibility</p:attrName>
                                        </p:attrNameLst>
                                      </p:cBhvr>
                                      <p:to>
                                        <p:strVal val="visible"/>
                                      </p:to>
                                    </p:set>
                                    <p:animEffect transition="in" filter="wipe(left)">
                                      <p:cBhvr>
                                        <p:cTn id="24" dur="500"/>
                                        <p:tgtEl>
                                          <p:spTgt spid="13209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2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p:bldP spid="132099" grpId="0"/>
      <p:bldP spid="132100" grpId="0"/>
      <p:bldP spid="132109"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5"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90600" y="106680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7.3.4 </a:t>
            </a:r>
            <a:r>
              <a:rPr lang="zh-CN" altLang="en-US" sz="2400" i="0" dirty="0">
                <a:solidFill>
                  <a:srgbClr val="0070C0"/>
                </a:solidFill>
                <a:latin typeface="黑体" panose="02010609060101010101" pitchFamily="49" charset="-122"/>
                <a:ea typeface="黑体" panose="02010609060101010101" pitchFamily="49" charset="-122"/>
              </a:rPr>
              <a:t>单稳态触发器的</a:t>
            </a:r>
            <a:r>
              <a:rPr lang="zh-CN" altLang="en-US" sz="2400" i="0" dirty="0">
                <a:solidFill>
                  <a:srgbClr val="0070C0"/>
                </a:solidFill>
                <a:latin typeface="黑体" panose="02010609060101010101" pitchFamily="49" charset="-122"/>
                <a:ea typeface="黑体" panose="02010609060101010101" pitchFamily="49" charset="-122"/>
              </a:rPr>
              <a:t>应用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7" name="矩形 6">
            <a:hlinkClick r:id="" action="ppaction://noaction"/>
          </p:cNvPr>
          <p:cNvSpPr/>
          <p:nvPr/>
        </p:nvSpPr>
        <p:spPr>
          <a:xfrm>
            <a:off x="680085" y="1600200"/>
            <a:ext cx="604520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1</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、定时和</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延时</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sp>
        <p:nvSpPr>
          <p:cNvPr id="133123" name="Text Box 3"/>
          <p:cNvSpPr txBox="1"/>
          <p:nvPr/>
        </p:nvSpPr>
        <p:spPr>
          <a:xfrm>
            <a:off x="136525" y="1981200"/>
            <a:ext cx="9006840" cy="831215"/>
          </a:xfrm>
          <a:prstGeom prst="rect">
            <a:avLst/>
          </a:prstGeom>
          <a:noFill/>
          <a:ln w="28575">
            <a:noFill/>
          </a:ln>
        </p:spPr>
        <p:txBody>
          <a:bodyPr wrap="square" lIns="90000" tIns="46800" rIns="90000" bIns="46800" anchor="t" anchorCtr="0">
            <a:spAutoFit/>
          </a:bodyPr>
          <a:p>
            <a:pPr marL="377825" indent="-377825"/>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定时</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利用单稳态触发器输出一定宽度的脉冲，控制其它电路，使之在</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W</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时间内动作或不动作。</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8" name="图片 7"/>
          <p:cNvPicPr>
            <a:picLocks noChangeAspect="1"/>
          </p:cNvPicPr>
          <p:nvPr/>
        </p:nvPicPr>
        <p:blipFill>
          <a:blip r:embed="rId1"/>
          <a:stretch>
            <a:fillRect/>
          </a:stretch>
        </p:blipFill>
        <p:spPr>
          <a:xfrm>
            <a:off x="1371600" y="2743835"/>
            <a:ext cx="5734050" cy="3947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23"/>
                                        </p:tgtEl>
                                        <p:attrNameLst>
                                          <p:attrName>style.visibility</p:attrName>
                                        </p:attrNameLst>
                                      </p:cBhvr>
                                      <p:to>
                                        <p:strVal val="visible"/>
                                      </p:to>
                                    </p:set>
                                    <p:animEffect transition="in" filter="wipe(left)">
                                      <p:cBhvr>
                                        <p:cTn id="7" dur="500"/>
                                        <p:tgtEl>
                                          <p:spTgt spid="1331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6350" y="597535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5855" name="Rectangle 19"/>
          <p:cNvSpPr/>
          <p:nvPr/>
        </p:nvSpPr>
        <p:spPr>
          <a:xfrm>
            <a:off x="838200" y="1295400"/>
            <a:ext cx="7848600" cy="519113"/>
          </a:xfrm>
          <a:prstGeom prst="rect">
            <a:avLst/>
          </a:prstGeom>
          <a:noFill/>
          <a:ln w="9525">
            <a:noFill/>
          </a:ln>
        </p:spPr>
        <p:txBody>
          <a:bodyPr anchor="ctr" anchorCtr="0"/>
          <a:p>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延时</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将输入信号延迟一定时间之后输出。</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7" name="图片 6"/>
          <p:cNvPicPr>
            <a:picLocks noChangeAspect="1"/>
          </p:cNvPicPr>
          <p:nvPr/>
        </p:nvPicPr>
        <p:blipFill>
          <a:blip r:embed="rId1"/>
          <a:stretch>
            <a:fillRect/>
          </a:stretch>
        </p:blipFill>
        <p:spPr>
          <a:xfrm>
            <a:off x="4876800" y="2286000"/>
            <a:ext cx="3959860" cy="3576320"/>
          </a:xfrm>
          <a:prstGeom prst="rect">
            <a:avLst/>
          </a:prstGeom>
        </p:spPr>
      </p:pic>
      <p:sp>
        <p:nvSpPr>
          <p:cNvPr id="12" name="文本框 11"/>
          <p:cNvSpPr txBox="1"/>
          <p:nvPr/>
        </p:nvSpPr>
        <p:spPr>
          <a:xfrm>
            <a:off x="228600" y="2209800"/>
            <a:ext cx="4648200" cy="3928110"/>
          </a:xfrm>
          <a:prstGeom prst="rect">
            <a:avLst/>
          </a:prstGeom>
          <a:noFill/>
          <a:ln w="9525">
            <a:noFill/>
          </a:ln>
        </p:spPr>
        <p:txBody>
          <a:bodyPr wrap="square">
            <a:spAutoFit/>
          </a:bodyPr>
          <a:p>
            <a:pPr>
              <a:lnSpc>
                <a:spcPct val="13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当人用手触摸一下金属片</a:t>
            </a:r>
            <a:r>
              <a:rPr lang="en-US" sz="2400" b="1">
                <a:solidFill>
                  <a:srgbClr val="000066"/>
                </a:solidFill>
                <a:latin typeface="Times New Roman" panose="02020603050405020304" charset="0"/>
                <a:ea typeface="楷体" panose="02010609060101010101" charset="-122"/>
                <a:cs typeface="Times New Roman" panose="02020603050405020304" charset="0"/>
              </a:rPr>
              <a:t>P</a:t>
            </a:r>
            <a:r>
              <a:rPr lang="zh-CN" sz="2400" b="1">
                <a:solidFill>
                  <a:srgbClr val="000066"/>
                </a:solidFill>
                <a:latin typeface="Times New Roman" panose="02020603050405020304" charset="0"/>
                <a:ea typeface="楷体" panose="02010609060101010101" charset="-122"/>
                <a:cs typeface="Times New Roman" panose="02020603050405020304" charset="0"/>
              </a:rPr>
              <a:t>时，由于人体感应电压相当于在触发输入端加入一个负脉冲，</a:t>
            </a:r>
            <a:r>
              <a:rPr lang="en-US" sz="2400" b="1">
                <a:solidFill>
                  <a:srgbClr val="000066"/>
                </a:solidFill>
                <a:latin typeface="Times New Roman" panose="02020603050405020304" charset="0"/>
                <a:ea typeface="楷体" panose="02010609060101010101" charset="-122"/>
                <a:cs typeface="Times New Roman" panose="02020603050405020304" charset="0"/>
              </a:rPr>
              <a:t>555</a:t>
            </a:r>
            <a:r>
              <a:rPr lang="zh-CN" sz="2400" b="1">
                <a:solidFill>
                  <a:srgbClr val="000066"/>
                </a:solidFill>
                <a:latin typeface="Times New Roman" panose="02020603050405020304" charset="0"/>
                <a:ea typeface="楷体" panose="02010609060101010101" charset="-122"/>
                <a:cs typeface="Times New Roman" panose="02020603050405020304" charset="0"/>
              </a:rPr>
              <a:t>输出端输出高电平，灯泡发光，当暂稳态时间</a:t>
            </a:r>
            <a:r>
              <a:rPr lang="en-US" sz="2400" b="1" i="1">
                <a:solidFill>
                  <a:srgbClr val="000066"/>
                </a:solidFill>
                <a:latin typeface="Times New Roman" panose="02020603050405020304" charset="0"/>
                <a:ea typeface="楷体" panose="02010609060101010101" charset="-122"/>
                <a:cs typeface="Times New Roman" panose="02020603050405020304" charset="0"/>
              </a:rPr>
              <a:t>t</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W</a:t>
            </a:r>
            <a:r>
              <a:rPr lang="zh-CN" sz="2400" b="1">
                <a:solidFill>
                  <a:srgbClr val="000066"/>
                </a:solidFill>
                <a:latin typeface="Times New Roman" panose="02020603050405020304" charset="0"/>
                <a:ea typeface="楷体" panose="02010609060101010101" charset="-122"/>
                <a:cs typeface="Times New Roman" panose="02020603050405020304" charset="0"/>
              </a:rPr>
              <a:t>结束时，</a:t>
            </a:r>
            <a:r>
              <a:rPr lang="en-US" sz="2400" b="1">
                <a:solidFill>
                  <a:srgbClr val="000066"/>
                </a:solidFill>
                <a:latin typeface="Times New Roman" panose="02020603050405020304" charset="0"/>
                <a:ea typeface="楷体" panose="02010609060101010101" charset="-122"/>
                <a:cs typeface="Times New Roman" panose="02020603050405020304" charset="0"/>
              </a:rPr>
              <a:t>555</a:t>
            </a:r>
            <a:r>
              <a:rPr lang="zh-CN" sz="2400" b="1">
                <a:solidFill>
                  <a:srgbClr val="000066"/>
                </a:solidFill>
                <a:latin typeface="Times New Roman" panose="02020603050405020304" charset="0"/>
                <a:ea typeface="楷体" panose="02010609060101010101" charset="-122"/>
                <a:cs typeface="Times New Roman" panose="02020603050405020304" charset="0"/>
              </a:rPr>
              <a:t>输出端恢复低电平，灯泡熄灭。该触摸开关可用于夜间延时照明，延时时间可由</a:t>
            </a:r>
            <a:r>
              <a:rPr lang="en-US" sz="2400" b="1" i="1">
                <a:solidFill>
                  <a:srgbClr val="000066"/>
                </a:solidFill>
                <a:latin typeface="Times New Roman" panose="02020603050405020304" charset="0"/>
                <a:ea typeface="楷体" panose="02010609060101010101" charset="-122"/>
                <a:cs typeface="Times New Roman" panose="02020603050405020304" charset="0"/>
              </a:rPr>
              <a:t>RC</a:t>
            </a:r>
            <a:r>
              <a:rPr lang="zh-CN" sz="2400" b="1">
                <a:solidFill>
                  <a:srgbClr val="000066"/>
                </a:solidFill>
                <a:latin typeface="Times New Roman" panose="02020603050405020304" charset="0"/>
                <a:ea typeface="楷体" panose="02010609060101010101" charset="-122"/>
                <a:cs typeface="Times New Roman" panose="02020603050405020304" charset="0"/>
              </a:rPr>
              <a:t>参数调节。</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855"/>
                                        </p:tgtEl>
                                        <p:attrNameLst>
                                          <p:attrName>style.visibility</p:attrName>
                                        </p:attrNameLst>
                                      </p:cBhvr>
                                      <p:to>
                                        <p:strVal val="visible"/>
                                      </p:to>
                                    </p:set>
                                    <p:animEffect transition="in" filter="wipe(down)">
                                      <p:cBhvr>
                                        <p:cTn id="7" dur="500"/>
                                        <p:tgtEl>
                                          <p:spTgt spid="358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5" grpId="0"/>
      <p:bldP spid="35855" grpId="1"/>
      <p:bldP spid="12" grpId="0"/>
      <p:bldP spid="12"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6350" y="597535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8" name="矩形 7">
            <a:hlinkClick r:id="" action="ppaction://noaction"/>
          </p:cNvPr>
          <p:cNvSpPr/>
          <p:nvPr/>
        </p:nvSpPr>
        <p:spPr>
          <a:xfrm>
            <a:off x="999490" y="1219200"/>
            <a:ext cx="604520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dirty="0">
                <a:solidFill>
                  <a:srgbClr val="FE09D6"/>
                </a:solidFill>
                <a:latin typeface="Times New Roman" panose="02020603050405020304" charset="0"/>
                <a:ea typeface="楷体" panose="02010609060101010101" charset="-122"/>
                <a:cs typeface="Times New Roman" panose="02020603050405020304" charset="0"/>
                <a:sym typeface="+mn-ea"/>
              </a:rPr>
              <a:t>2</a:t>
            </a:r>
            <a:r>
              <a:rPr lang="zh-CN" altLang="en-US" sz="2400" b="1" dirty="0">
                <a:solidFill>
                  <a:srgbClr val="FE09D6"/>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FE09D6"/>
                </a:solidFill>
                <a:latin typeface="Times New Roman" panose="02020603050405020304" charset="0"/>
                <a:ea typeface="楷体" panose="02010609060101010101" charset="-122"/>
                <a:cs typeface="Times New Roman" panose="02020603050405020304" charset="0"/>
                <a:sym typeface="+mn-ea"/>
              </a:rPr>
              <a:t>整形</a:t>
            </a:r>
            <a:endParaRPr lang="zh-CN" altLang="en-US" sz="2400" b="1" dirty="0">
              <a:solidFill>
                <a:srgbClr val="FE09D6"/>
              </a:solidFill>
              <a:latin typeface="Times New Roman" panose="02020603050405020304" charset="0"/>
              <a:ea typeface="楷体" panose="02010609060101010101" charset="-122"/>
              <a:cs typeface="Times New Roman" panose="02020603050405020304" charset="0"/>
              <a:sym typeface="+mn-ea"/>
            </a:endParaRPr>
          </a:p>
        </p:txBody>
      </p:sp>
      <p:pic>
        <p:nvPicPr>
          <p:cNvPr id="10" name="图片 9"/>
          <p:cNvPicPr>
            <a:picLocks noChangeAspect="1"/>
          </p:cNvPicPr>
          <p:nvPr/>
        </p:nvPicPr>
        <p:blipFill>
          <a:blip r:embed="rId1"/>
          <a:stretch>
            <a:fillRect/>
          </a:stretch>
        </p:blipFill>
        <p:spPr>
          <a:xfrm>
            <a:off x="1371600" y="1905000"/>
            <a:ext cx="6543040" cy="2240280"/>
          </a:xfrm>
          <a:prstGeom prst="rect">
            <a:avLst/>
          </a:prstGeom>
        </p:spPr>
      </p:pic>
      <p:sp>
        <p:nvSpPr>
          <p:cNvPr id="100" name="文本框 99"/>
          <p:cNvSpPr txBox="1"/>
          <p:nvPr/>
        </p:nvSpPr>
        <p:spPr>
          <a:xfrm>
            <a:off x="580390" y="4572635"/>
            <a:ext cx="7994650" cy="2009775"/>
          </a:xfrm>
          <a:prstGeom prst="rect">
            <a:avLst/>
          </a:prstGeom>
          <a:noFill/>
          <a:ln w="9525">
            <a:noFill/>
          </a:ln>
        </p:spPr>
        <p:txBody>
          <a:bodyPr wrap="square">
            <a:spAutoFit/>
          </a:bodyPr>
          <a:p>
            <a:pPr lvl="0" algn="l">
              <a:lnSpc>
                <a:spcPct val="130000"/>
              </a:lnSpc>
              <a:buClrTx/>
              <a:buSzTx/>
              <a:buFontTx/>
            </a:pP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如果单稳态触发器输入的是不规则的信号，则其能够把不规则的输入信号整形成具有一定幅度、一定宽度、边沿陡峭的矩形脉冲。脉冲的幅度取决于单稳态电路输出的高低电平，脉冲的宽度取决于暂稳态时间</a:t>
            </a:r>
            <a:r>
              <a:rPr lang="zh-CN" altLang="en-US" sz="2400" b="1">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altLang="en-US" sz="24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11"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blinds(horizontal)">
                                      <p:cBhvr>
                                        <p:cTn id="12"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990600" y="1066800"/>
            <a:ext cx="316611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楷体" panose="02010609060101010101" charset="-122"/>
                <a:ea typeface="楷体" panose="02010609060101010101" charset="-122"/>
                <a:cs typeface="楷体" panose="02010609060101010101" charset="-122"/>
              </a:rPr>
              <a:t>3. </a:t>
            </a:r>
            <a:r>
              <a:rPr lang="zh-CN" altLang="en-US" sz="2400" b="1" kern="1200" dirty="0">
                <a:solidFill>
                  <a:srgbClr val="FE09D6"/>
                </a:solidFill>
                <a:latin typeface="楷体" panose="02010609060101010101" charset="-122"/>
                <a:ea typeface="楷体" panose="02010609060101010101" charset="-122"/>
                <a:cs typeface="楷体" panose="02010609060101010101" charset="-122"/>
              </a:rPr>
              <a:t>噪声消除电路</a:t>
            </a:r>
            <a:endParaRPr lang="zh-CN" altLang="en-US" sz="2400" b="1" kern="1200" dirty="0">
              <a:solidFill>
                <a:srgbClr val="FE09D6"/>
              </a:solidFill>
              <a:latin typeface="楷体" panose="02010609060101010101" charset="-122"/>
              <a:ea typeface="楷体" panose="02010609060101010101" charset="-122"/>
              <a:cs typeface="楷体" panose="02010609060101010101" charset="-122"/>
            </a:endParaRPr>
          </a:p>
        </p:txBody>
      </p:sp>
      <p:sp>
        <p:nvSpPr>
          <p:cNvPr id="11"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685800" y="1524000"/>
            <a:ext cx="8258175" cy="2838450"/>
          </a:xfrm>
          <a:prstGeom prst="rect">
            <a:avLst/>
          </a:prstGeom>
        </p:spPr>
      </p:pic>
      <p:sp>
        <p:nvSpPr>
          <p:cNvPr id="136195" name="Text Box 3"/>
          <p:cNvSpPr txBox="1"/>
          <p:nvPr/>
        </p:nvSpPr>
        <p:spPr>
          <a:xfrm>
            <a:off x="762000" y="4465320"/>
            <a:ext cx="8382000" cy="461645"/>
          </a:xfrm>
          <a:prstGeom prst="rect">
            <a:avLst/>
          </a:prstGeom>
          <a:noFill/>
          <a:ln w="28575">
            <a:noFill/>
          </a:ln>
        </p:spPr>
        <p:txBody>
          <a:bodyPr wrap="square" lIns="90000" tIns="46800" rIns="90000" bIns="46800" anchor="t" anchorCtr="0">
            <a:spAutoFit/>
          </a:bodyPr>
          <a:p>
            <a:r>
              <a:rPr lang="zh-CN" altLang="en-US" sz="2400" b="1" dirty="0">
                <a:solidFill>
                  <a:srgbClr val="0000FF"/>
                </a:solidFill>
                <a:latin typeface="Times New Roman" panose="02020603050405020304" charset="0"/>
                <a:ea typeface="楷体" panose="02010609060101010101" charset="-122"/>
                <a:cs typeface="Times New Roman" panose="02020603050405020304" charset="0"/>
              </a:rPr>
              <a:t>只要设置</a:t>
            </a:r>
            <a:r>
              <a:rPr lang="en-US" altLang="zh-CN" sz="2400" b="1" i="1" dirty="0">
                <a:solidFill>
                  <a:srgbClr val="0000FF"/>
                </a:solidFill>
                <a:latin typeface="Times New Roman" panose="02020603050405020304" charset="0"/>
                <a:ea typeface="楷体" panose="02010609060101010101" charset="-122"/>
                <a:cs typeface="Times New Roman" panose="02020603050405020304" charset="0"/>
              </a:rPr>
              <a:t>t</a:t>
            </a:r>
            <a:r>
              <a:rPr lang="en-US" altLang="zh-CN" sz="2400" b="1" baseline="-25000" dirty="0">
                <a:solidFill>
                  <a:srgbClr val="0000FF"/>
                </a:solidFill>
                <a:latin typeface="Times New Roman" panose="02020603050405020304" charset="0"/>
                <a:ea typeface="楷体" panose="02010609060101010101" charset="-122"/>
                <a:cs typeface="Times New Roman" panose="02020603050405020304" charset="0"/>
              </a:rPr>
              <a:t>W</a:t>
            </a:r>
            <a:r>
              <a:rPr lang="zh-CN" altLang="en-US" sz="2400" b="1" dirty="0">
                <a:solidFill>
                  <a:srgbClr val="0000FF"/>
                </a:solidFill>
                <a:latin typeface="Times New Roman" panose="02020603050405020304" charset="0"/>
                <a:ea typeface="楷体" panose="02010609060101010101" charset="-122"/>
                <a:cs typeface="Times New Roman" panose="02020603050405020304" charset="0"/>
              </a:rPr>
              <a:t>，使之小于有用信号宽度，而大于噪声宽度。</a:t>
            </a:r>
            <a:endParaRPr lang="zh-CN" altLang="en-US" sz="2400" b="1" dirty="0">
              <a:solidFill>
                <a:srgbClr val="0000FF"/>
              </a:solidFill>
              <a:latin typeface="Times New Roman" panose="02020603050405020304" charset="0"/>
              <a:ea typeface="楷体" panose="02010609060101010101" charset="-122"/>
              <a:cs typeface="Times New Roman" panose="02020603050405020304" charset="0"/>
            </a:endParaRPr>
          </a:p>
        </p:txBody>
      </p:sp>
      <p:sp>
        <p:nvSpPr>
          <p:cNvPr id="136196" name="Rectangle 4"/>
          <p:cNvSpPr/>
          <p:nvPr/>
        </p:nvSpPr>
        <p:spPr>
          <a:xfrm>
            <a:off x="216535" y="6066155"/>
            <a:ext cx="8816975" cy="831215"/>
          </a:xfrm>
          <a:prstGeom prst="rect">
            <a:avLst/>
          </a:prstGeom>
          <a:noFill/>
          <a:ln w="28575">
            <a:noFill/>
          </a:ln>
        </p:spPr>
        <p:txBody>
          <a:bodyPr wrap="square" lIns="90000" tIns="46800" rIns="90000" bIns="46800" anchor="t" anchorCtr="0">
            <a:spAutoFit/>
          </a:bodyPr>
          <a:p>
            <a:pPr>
              <a:spcBef>
                <a:spcPts val="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对有用信号，在输入仍保持阶段，</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CP</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有上升沿，可以输出信号；</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ts val="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对干扰信号，在</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CP</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上升沿到来时，已经消失，所以被消掉。</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6253" name="Text Box 61"/>
          <p:cNvSpPr txBox="1"/>
          <p:nvPr/>
        </p:nvSpPr>
        <p:spPr>
          <a:xfrm>
            <a:off x="216535" y="4829175"/>
            <a:ext cx="8905240" cy="1200150"/>
          </a:xfrm>
          <a:prstGeom prst="rect">
            <a:avLst/>
          </a:prstGeom>
          <a:noFill/>
          <a:ln w="28575">
            <a:noFill/>
          </a:ln>
        </p:spPr>
        <p:txBody>
          <a:bodyPr wrap="square" lIns="90000" tIns="46800" rIns="90000" bIns="46800" anchor="t" anchorCtr="0">
            <a:spAutoFit/>
          </a:bodyPr>
          <a:p>
            <a:pPr marL="457200" indent="-457200"/>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=0→D=0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，触发器清零</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a:p>
            <a:pPr marL="457200" indent="-457200"/>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 D=1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CP</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无上升沿，触发器输出不变</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a:p>
            <a:pPr marL="457200" indent="-457200"/>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(3)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 D=1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CP</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上升沿，触发器输出</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5"/>
                                        </p:tgtEl>
                                        <p:attrNameLst>
                                          <p:attrName>style.visibility</p:attrName>
                                        </p:attrNameLst>
                                      </p:cBhvr>
                                      <p:to>
                                        <p:strVal val="visible"/>
                                      </p:to>
                                    </p:set>
                                    <p:animEffect transition="in" filter="wipe(left)">
                                      <p:cBhvr>
                                        <p:cTn id="7" dur="500"/>
                                        <p:tgtEl>
                                          <p:spTgt spid="1361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6253"/>
                                        </p:tgtEl>
                                        <p:attrNameLst>
                                          <p:attrName>style.visibility</p:attrName>
                                        </p:attrNameLst>
                                      </p:cBhvr>
                                      <p:to>
                                        <p:strVal val="visible"/>
                                      </p:to>
                                    </p:set>
                                    <p:animEffect transition="in" filter="blinds(horizontal)">
                                      <p:cBhvr>
                                        <p:cTn id="12" dur="500"/>
                                        <p:tgtEl>
                                          <p:spTgt spid="13625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6196">
                                            <p:txEl>
                                              <p:charRg st="0" end="30"/>
                                            </p:txEl>
                                          </p:spTgt>
                                        </p:tgtEl>
                                        <p:attrNameLst>
                                          <p:attrName>style.visibility</p:attrName>
                                        </p:attrNameLst>
                                      </p:cBhvr>
                                      <p:to>
                                        <p:strVal val="visible"/>
                                      </p:to>
                                    </p:set>
                                    <p:animEffect transition="in" filter="dissolve">
                                      <p:cBhvr>
                                        <p:cTn id="17" dur="500"/>
                                        <p:tgtEl>
                                          <p:spTgt spid="136196">
                                            <p:txEl>
                                              <p:charRg st="0" end="3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6196">
                                            <p:txEl>
                                              <p:charRg st="30" end="56"/>
                                            </p:txEl>
                                          </p:spTgt>
                                        </p:tgtEl>
                                        <p:attrNameLst>
                                          <p:attrName>style.visibility</p:attrName>
                                        </p:attrNameLst>
                                      </p:cBhvr>
                                      <p:to>
                                        <p:strVal val="visible"/>
                                      </p:to>
                                    </p:set>
                                    <p:animEffect transition="in" filter="dissolve">
                                      <p:cBhvr>
                                        <p:cTn id="22" dur="500"/>
                                        <p:tgtEl>
                                          <p:spTgt spid="136196">
                                            <p:txEl>
                                              <p:charRg st="30"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p:bldP spid="136196" grpId="0" build="p"/>
      <p:bldP spid="136253" grpId="0"/>
      <p:bldP spid="136253"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 name="Rectangle 3"/>
          <p:cNvSpPr>
            <a:spLocks noGrp="1"/>
          </p:cNvSpPr>
          <p:nvPr/>
        </p:nvSpPr>
        <p:spPr>
          <a:xfrm>
            <a:off x="990600" y="1066800"/>
            <a:ext cx="316611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楷体" panose="02010609060101010101" charset="-122"/>
                <a:ea typeface="楷体" panose="02010609060101010101" charset="-122"/>
                <a:cs typeface="楷体" panose="02010609060101010101" charset="-122"/>
              </a:rPr>
              <a:t>4. </a:t>
            </a:r>
            <a:r>
              <a:rPr lang="zh-CN" altLang="en-US" sz="2400" b="1" kern="1200" dirty="0">
                <a:solidFill>
                  <a:srgbClr val="FE09D6"/>
                </a:solidFill>
                <a:latin typeface="楷体" panose="02010609060101010101" charset="-122"/>
                <a:ea typeface="楷体" panose="02010609060101010101" charset="-122"/>
                <a:cs typeface="楷体" panose="02010609060101010101" charset="-122"/>
              </a:rPr>
              <a:t>脉冲宽度调制器</a:t>
            </a:r>
            <a:endParaRPr lang="zh-CN" altLang="en-US" sz="2400" b="1" kern="1200" dirty="0">
              <a:solidFill>
                <a:srgbClr val="FE09D6"/>
              </a:solidFill>
              <a:latin typeface="楷体" panose="02010609060101010101" charset="-122"/>
              <a:ea typeface="楷体" panose="02010609060101010101" charset="-122"/>
              <a:cs typeface="楷体" panose="02010609060101010101" charset="-122"/>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7.3 </a:t>
            </a:r>
            <a:r>
              <a:rPr lang="zh-CN" altLang="en-US" b="1" dirty="0">
                <a:solidFill>
                  <a:srgbClr val="FF0000"/>
                </a:solidFill>
                <a:latin typeface="黑体" panose="02010609060101010101" pitchFamily="49" charset="-122"/>
                <a:ea typeface="黑体" panose="02010609060101010101" pitchFamily="49" charset="-122"/>
              </a:rPr>
              <a:t>单稳态</a:t>
            </a:r>
            <a:r>
              <a:rPr lang="zh-CN" altLang="en-US" b="1" dirty="0">
                <a:solidFill>
                  <a:srgbClr val="FF0000"/>
                </a:solidFill>
                <a:latin typeface="黑体" panose="02010609060101010101" pitchFamily="49" charset="-122"/>
                <a:ea typeface="黑体" panose="02010609060101010101" pitchFamily="49" charset="-122"/>
              </a:rPr>
              <a:t>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1"/>
          <a:stretch>
            <a:fillRect/>
          </a:stretch>
        </p:blipFill>
        <p:spPr>
          <a:xfrm>
            <a:off x="762000" y="1524000"/>
            <a:ext cx="7197090" cy="3349625"/>
          </a:xfrm>
          <a:prstGeom prst="rect">
            <a:avLst/>
          </a:prstGeom>
        </p:spPr>
      </p:pic>
      <p:sp>
        <p:nvSpPr>
          <p:cNvPr id="13" name="矩形 12"/>
          <p:cNvSpPr/>
          <p:nvPr/>
        </p:nvSpPr>
        <p:spPr>
          <a:xfrm>
            <a:off x="22860" y="4953000"/>
            <a:ext cx="9098280" cy="1939290"/>
          </a:xfrm>
          <a:prstGeom prst="rect">
            <a:avLst/>
          </a:prstGeom>
          <a:noFill/>
          <a:ln w="28575">
            <a:noFill/>
          </a:ln>
        </p:spPr>
        <p:txBody>
          <a:bodyPr wrap="square" lIns="90000" tIns="46800" rIns="90000" bIns="46800" anchor="t" anchorCtr="0">
            <a:spAutoFit/>
          </a:bodyPr>
          <a:p>
            <a:pPr lvl="0" algn="l">
              <a:spcBef>
                <a:spcPts val="0"/>
              </a:spcBef>
              <a:buClrTx/>
              <a:buSzTx/>
              <a:buFontTx/>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在单稳态电路的电压控制端输入三角波，当输入电压升高时，电路的阈值电压随之升高，输出的脉冲宽度随之增加；而当输入电压降低时，电路的阈值电压也随之降低，输出的脉冲宽度随之减小。随着输入电压的变化，在单稳态触发器的输出端，就可以得到一串随控制电压变化的脉宽调制波形</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矩形 1"/>
          <p:cNvSpPr/>
          <p:nvPr/>
        </p:nvSpPr>
        <p:spPr>
          <a:xfrm>
            <a:off x="390525" y="1143000"/>
            <a:ext cx="8386445" cy="926465"/>
          </a:xfrm>
          <a:prstGeom prst="rect">
            <a:avLst/>
          </a:prstGeom>
          <a:noFill/>
          <a:ln w="9525">
            <a:noFill/>
          </a:ln>
        </p:spPr>
        <p:txBody>
          <a:bodyPr vert="horz" wrap="square" lIns="91440" tIns="45720" rIns="91440" bIns="45720" rtlCol="0" anchor="t" anchorCtr="0"/>
          <a:p>
            <a:pPr lvl="0" algn="just">
              <a:lnSpc>
                <a:spcPct val="105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sym typeface="+mn-ea"/>
              </a:rPr>
              <a:t>      </a:t>
            </a:r>
            <a:r>
              <a:rPr lang="en-US" altLang="zh-CN" sz="2400" b="1" dirty="0">
                <a:solidFill>
                  <a:srgbClr val="000066"/>
                </a:solidFill>
                <a:latin typeface="Times New Roman" panose="02020603050405020304" charset="0"/>
                <a:ea typeface="楷体" panose="02010609060101010101" charset="-122"/>
                <a:sym typeface="+mn-ea"/>
              </a:rPr>
              <a:t>施密特触发器是一种常用的波形整形电路，可以将不规则的、边沿变化缓慢的信号变换成规则的矩形脉冲</a:t>
            </a:r>
            <a:r>
              <a:rPr lang="zh-CN" altLang="en-US" sz="2400" b="1" dirty="0">
                <a:solidFill>
                  <a:srgbClr val="000066"/>
                </a:solidFill>
                <a:latin typeface="Times New Roman" panose="02020603050405020304" charset="0"/>
                <a:ea typeface="楷体" panose="02010609060101010101" charset="-122"/>
                <a:sym typeface="+mn-ea"/>
              </a:rPr>
              <a:t>。</a:t>
            </a:r>
            <a:endParaRPr lang="zh-CN" altLang="en-US" sz="2400" b="1" dirty="0">
              <a:solidFill>
                <a:srgbClr val="000066"/>
              </a:solidFill>
              <a:latin typeface="Times New Roman" panose="02020603050405020304" charset="0"/>
              <a:ea typeface="楷体" panose="02010609060101010101" charset="-122"/>
              <a:sym typeface="+mn-ea"/>
            </a:endParaRPr>
          </a:p>
        </p:txBody>
      </p:sp>
      <p:sp>
        <p:nvSpPr>
          <p:cNvPr id="5" name="矩形 4"/>
          <p:cNvSpPr/>
          <p:nvPr/>
        </p:nvSpPr>
        <p:spPr>
          <a:xfrm>
            <a:off x="533400" y="1905000"/>
            <a:ext cx="1045845" cy="541020"/>
          </a:xfrm>
          <a:prstGeom prst="rect">
            <a:avLst/>
          </a:prstGeom>
          <a:noFill/>
          <a:ln w="9525">
            <a:noFill/>
          </a:ln>
        </p:spPr>
        <p:txBody>
          <a:bodyPr vert="horz" wrap="square" lIns="91440" tIns="45720" rIns="91440" bIns="45720" rtlCol="0" anchor="t" anchorCtr="0"/>
          <a:p>
            <a:pPr lvl="0" algn="just">
              <a:lnSpc>
                <a:spcPct val="105000"/>
              </a:lnSpc>
              <a:spcBef>
                <a:spcPts val="0"/>
              </a:spcBef>
              <a:buClr>
                <a:schemeClr val="folHlink"/>
              </a:buClr>
              <a:buSzTx/>
              <a:buFont typeface="Wingdings" panose="05000000000000000000" pitchFamily="2" charset="2"/>
            </a:pPr>
            <a:r>
              <a:rPr lang="zh-CN" altLang="en-US" sz="2400" b="1" dirty="0">
                <a:solidFill>
                  <a:srgbClr val="FE09D6"/>
                </a:solidFill>
                <a:latin typeface="Times New Roman" panose="02020603050405020304" charset="0"/>
                <a:ea typeface="楷体" panose="02010609060101010101" charset="-122"/>
                <a:sym typeface="+mn-ea"/>
              </a:rPr>
              <a:t>特点：</a:t>
            </a:r>
            <a:endParaRPr lang="zh-CN" altLang="en-US" sz="2400" b="1" dirty="0">
              <a:solidFill>
                <a:srgbClr val="FE09D6"/>
              </a:solidFill>
              <a:latin typeface="Times New Roman" panose="02020603050405020304" charset="0"/>
              <a:ea typeface="楷体" panose="02010609060101010101" charset="-122"/>
              <a:sym typeface="+mn-ea"/>
            </a:endParaRPr>
          </a:p>
        </p:txBody>
      </p:sp>
      <p:sp>
        <p:nvSpPr>
          <p:cNvPr id="6" name="矩形 5"/>
          <p:cNvSpPr/>
          <p:nvPr/>
        </p:nvSpPr>
        <p:spPr>
          <a:xfrm>
            <a:off x="280670" y="2344420"/>
            <a:ext cx="8463280" cy="414020"/>
          </a:xfrm>
          <a:prstGeom prst="rect">
            <a:avLst/>
          </a:prstGeom>
          <a:noFill/>
          <a:ln w="9525">
            <a:noFill/>
          </a:ln>
        </p:spPr>
        <p:txBody>
          <a:bodyPr vert="horz" wrap="square" lIns="91440" tIns="45720" rIns="91440" bIns="45720" rtlCol="0" anchor="t" anchorCtr="0">
            <a:noAutofit/>
          </a:bodyPr>
          <a:p>
            <a:pPr lvl="0" algn="just">
              <a:lnSpc>
                <a:spcPct val="105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sym typeface="+mn-ea"/>
              </a:rPr>
              <a:t>       </a:t>
            </a:r>
            <a:r>
              <a:rPr lang="en-US" altLang="zh-CN" sz="2400" b="1" dirty="0">
                <a:solidFill>
                  <a:srgbClr val="000066"/>
                </a:solidFill>
                <a:latin typeface="Times New Roman" panose="02020603050405020304" charset="0"/>
                <a:ea typeface="楷体" panose="02010609060101010101" charset="-122"/>
                <a:sym typeface="+mn-ea"/>
              </a:rPr>
              <a:t>①</a:t>
            </a:r>
            <a:r>
              <a:rPr lang="en-US" altLang="zh-CN" sz="2400" b="1" dirty="0">
                <a:solidFill>
                  <a:srgbClr val="000066"/>
                </a:solidFill>
                <a:latin typeface="Times New Roman" panose="02020603050405020304" charset="0"/>
                <a:ea typeface="楷体" panose="02010609060101010101" charset="-122"/>
                <a:sym typeface="+mn-ea"/>
              </a:rPr>
              <a:t>施密特触发器属于电平触发器件，当输入信号达到某一定电压值时，输出电压会发生突变。</a:t>
            </a:r>
            <a:endParaRPr lang="en-US" altLang="zh-CN" sz="2400" b="1" dirty="0">
              <a:solidFill>
                <a:srgbClr val="000066"/>
              </a:solidFill>
              <a:latin typeface="Times New Roman" panose="02020603050405020304" charset="0"/>
              <a:ea typeface="楷体" panose="02010609060101010101" charset="-122"/>
              <a:sym typeface="+mn-ea"/>
            </a:endParaRPr>
          </a:p>
        </p:txBody>
      </p:sp>
      <p:sp>
        <p:nvSpPr>
          <p:cNvPr id="8" name="矩形 7"/>
          <p:cNvSpPr/>
          <p:nvPr/>
        </p:nvSpPr>
        <p:spPr>
          <a:xfrm>
            <a:off x="391160" y="3097530"/>
            <a:ext cx="8238490" cy="984250"/>
          </a:xfrm>
          <a:prstGeom prst="rect">
            <a:avLst/>
          </a:prstGeom>
          <a:noFill/>
          <a:ln w="9525">
            <a:noFill/>
          </a:ln>
        </p:spPr>
        <p:txBody>
          <a:bodyPr vert="horz" wrap="square" lIns="91440" tIns="45720" rIns="91440" bIns="45720" rtlCol="0" anchor="t" anchorCtr="0">
            <a:noAutofit/>
          </a:bodyPr>
          <a:p>
            <a:pPr lvl="0" algn="just">
              <a:lnSpc>
                <a:spcPct val="105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sym typeface="+mn-ea"/>
              </a:rPr>
              <a:t>     </a:t>
            </a:r>
            <a:r>
              <a:rPr lang="en-US" altLang="zh-CN" sz="2400" b="1" dirty="0">
                <a:solidFill>
                  <a:srgbClr val="000066"/>
                </a:solidFill>
                <a:latin typeface="Times New Roman" panose="02020603050405020304" charset="0"/>
                <a:ea typeface="楷体" panose="02010609060101010101" charset="-122"/>
                <a:sym typeface="+mn-ea"/>
              </a:rPr>
              <a:t>②</a:t>
            </a:r>
            <a:r>
              <a:rPr lang="en-US" altLang="zh-CN" sz="2400" b="1" dirty="0">
                <a:solidFill>
                  <a:srgbClr val="000066"/>
                </a:solidFill>
                <a:latin typeface="Times New Roman" panose="02020603050405020304" charset="0"/>
                <a:ea typeface="楷体" panose="02010609060101010101" charset="-122"/>
                <a:sym typeface="+mn-ea"/>
              </a:rPr>
              <a:t>电路有两个阈值电压，输入信号增加和减少时，电路的阈值电压分别是正向阈值电压</a:t>
            </a:r>
            <a:r>
              <a:rPr lang="en-US" altLang="zh-CN" sz="2400" b="1" dirty="0">
                <a:solidFill>
                  <a:srgbClr val="000066"/>
                </a:solidFill>
                <a:latin typeface="Times New Roman" panose="02020603050405020304" charset="0"/>
                <a:ea typeface="楷体" panose="02010609060101010101" charset="-122"/>
                <a:sym typeface="+mn-ea"/>
              </a:rPr>
              <a:t>(</a:t>
            </a:r>
            <a:r>
              <a:rPr lang="en-US" altLang="zh-CN" sz="2400" b="1" i="1" dirty="0">
                <a:solidFill>
                  <a:srgbClr val="000066"/>
                </a:solidFill>
                <a:latin typeface="Times New Roman" panose="02020603050405020304" charset="0"/>
                <a:ea typeface="楷体" panose="02010609060101010101" charset="-122"/>
                <a:sym typeface="+mn-ea"/>
              </a:rPr>
              <a:t>V</a:t>
            </a:r>
            <a:r>
              <a:rPr lang="en-US" altLang="zh-CN" sz="2400" b="1" baseline="-25000" dirty="0">
                <a:solidFill>
                  <a:srgbClr val="000066"/>
                </a:solidFill>
                <a:latin typeface="Times New Roman" panose="02020603050405020304" charset="0"/>
                <a:ea typeface="楷体" panose="02010609060101010101" charset="-122"/>
                <a:sym typeface="+mn-ea"/>
              </a:rPr>
              <a:t>T+</a:t>
            </a:r>
            <a:r>
              <a:rPr lang="en-US" altLang="zh-CN" sz="2400" b="1" dirty="0">
                <a:solidFill>
                  <a:srgbClr val="000066"/>
                </a:solidFill>
                <a:latin typeface="Times New Roman" panose="02020603050405020304" charset="0"/>
                <a:ea typeface="楷体" panose="02010609060101010101" charset="-122"/>
                <a:sym typeface="+mn-ea"/>
              </a:rPr>
              <a:t>)</a:t>
            </a:r>
            <a:r>
              <a:rPr lang="zh-CN" altLang="en-US" sz="2400" b="1" dirty="0">
                <a:solidFill>
                  <a:srgbClr val="000066"/>
                </a:solidFill>
                <a:latin typeface="Times New Roman" panose="02020603050405020304" charset="0"/>
                <a:ea typeface="楷体" panose="02010609060101010101" charset="-122"/>
                <a:sym typeface="+mn-ea"/>
              </a:rPr>
              <a:t>和负向阈值电压</a:t>
            </a:r>
            <a:r>
              <a:rPr lang="en-US" altLang="zh-CN" sz="2400" b="1" dirty="0">
                <a:solidFill>
                  <a:srgbClr val="000066"/>
                </a:solidFill>
                <a:latin typeface="Times New Roman" panose="02020603050405020304" charset="0"/>
                <a:ea typeface="楷体" panose="02010609060101010101" charset="-122"/>
                <a:sym typeface="+mn-ea"/>
              </a:rPr>
              <a:t>(</a:t>
            </a:r>
            <a:r>
              <a:rPr lang="en-US" altLang="zh-CN" sz="2400" b="1" i="1" dirty="0">
                <a:solidFill>
                  <a:srgbClr val="000066"/>
                </a:solidFill>
                <a:latin typeface="Times New Roman" panose="02020603050405020304" charset="0"/>
                <a:ea typeface="楷体" panose="02010609060101010101" charset="-122"/>
                <a:sym typeface="+mn-ea"/>
              </a:rPr>
              <a:t>V</a:t>
            </a:r>
            <a:r>
              <a:rPr lang="en-US" altLang="zh-CN" sz="2400" b="1" baseline="-25000" dirty="0">
                <a:solidFill>
                  <a:srgbClr val="000066"/>
                </a:solidFill>
                <a:latin typeface="Times New Roman" panose="02020603050405020304" charset="0"/>
                <a:ea typeface="楷体" panose="02010609060101010101" charset="-122"/>
                <a:sym typeface="+mn-ea"/>
              </a:rPr>
              <a:t>T-</a:t>
            </a:r>
            <a:r>
              <a:rPr lang="en-US" altLang="zh-CN" sz="2400" b="1" dirty="0">
                <a:solidFill>
                  <a:srgbClr val="000066"/>
                </a:solidFill>
                <a:latin typeface="Times New Roman" panose="02020603050405020304" charset="0"/>
                <a:ea typeface="楷体" panose="02010609060101010101" charset="-122"/>
                <a:sym typeface="+mn-ea"/>
              </a:rPr>
              <a:t>)</a:t>
            </a:r>
            <a:r>
              <a:rPr lang="zh-CN" altLang="en-US" sz="2400" b="1" dirty="0">
                <a:solidFill>
                  <a:srgbClr val="000066"/>
                </a:solidFill>
                <a:latin typeface="Times New Roman" panose="02020603050405020304" charset="0"/>
                <a:ea typeface="楷体" panose="02010609060101010101" charset="-122"/>
                <a:sym typeface="+mn-ea"/>
              </a:rPr>
              <a:t>。</a:t>
            </a:r>
            <a:endParaRPr lang="zh-CN" altLang="en-US" sz="2400" b="1" dirty="0">
              <a:solidFill>
                <a:srgbClr val="000066"/>
              </a:solidFill>
              <a:latin typeface="Times New Roman" panose="02020603050405020304" charset="0"/>
              <a:ea typeface="楷体" panose="02010609060101010101" charset="-122"/>
              <a:sym typeface="+mn-ea"/>
            </a:endParaRPr>
          </a:p>
        </p:txBody>
      </p:sp>
      <p:pic>
        <p:nvPicPr>
          <p:cNvPr id="12" name="图片 11"/>
          <p:cNvPicPr>
            <a:picLocks noChangeAspect="1"/>
          </p:cNvPicPr>
          <p:nvPr/>
        </p:nvPicPr>
        <p:blipFill>
          <a:blip r:embed="rId1"/>
          <a:stretch>
            <a:fillRect/>
          </a:stretch>
        </p:blipFill>
        <p:spPr>
          <a:xfrm>
            <a:off x="1028700" y="4572000"/>
            <a:ext cx="7110730" cy="2014855"/>
          </a:xfrm>
          <a:prstGeom prst="rect">
            <a:avLst/>
          </a:prstGeom>
        </p:spPr>
      </p:pic>
      <p:sp>
        <p:nvSpPr>
          <p:cNvPr id="13" name="矩形 12"/>
          <p:cNvSpPr/>
          <p:nvPr/>
        </p:nvSpPr>
        <p:spPr>
          <a:xfrm>
            <a:off x="1676400" y="4038600"/>
            <a:ext cx="5080000" cy="252730"/>
          </a:xfrm>
          <a:prstGeom prst="rect">
            <a:avLst/>
          </a:prstGeom>
          <a:noFill/>
          <a:ln w="9525">
            <a:noFill/>
          </a:ln>
        </p:spPr>
        <p:txBody>
          <a:bodyPr vert="horz" wrap="square" lIns="91440" tIns="45720" rIns="91440" bIns="45720" rtlCol="0" anchor="t" anchorCtr="0">
            <a:noAutofit/>
          </a:bodyPr>
          <a:p>
            <a:pPr lvl="0" algn="just">
              <a:lnSpc>
                <a:spcPct val="105000"/>
              </a:lnSpc>
              <a:spcBef>
                <a:spcPts val="0"/>
              </a:spcBef>
              <a:buClr>
                <a:schemeClr val="folHlink"/>
              </a:buClr>
              <a:buSzTx/>
              <a:buFont typeface="Wingdings" panose="05000000000000000000" pitchFamily="2" charset="2"/>
            </a:pPr>
            <a:r>
              <a:rPr lang="en-US" altLang="zh-CN" sz="2400" b="1" dirty="0">
                <a:solidFill>
                  <a:srgbClr val="1318F3"/>
                </a:solidFill>
                <a:latin typeface="Times New Roman" panose="02020603050405020304" charset="0"/>
                <a:ea typeface="楷体" panose="02010609060101010101" charset="-122"/>
                <a:sym typeface="+mn-ea"/>
              </a:rPr>
              <a:t>回差电压</a:t>
            </a:r>
            <a:r>
              <a:rPr lang="zh-CN" altLang="en-US" sz="2400" b="1" dirty="0">
                <a:solidFill>
                  <a:srgbClr val="1318F3"/>
                </a:solidFill>
                <a:latin typeface="Times New Roman" panose="02020603050405020304" charset="0"/>
                <a:ea typeface="楷体" panose="02010609060101010101" charset="-122"/>
                <a:sym typeface="+mn-ea"/>
              </a:rPr>
              <a:t>：</a:t>
            </a:r>
            <a:endParaRPr lang="zh-CN" altLang="en-US" sz="2400" b="1" dirty="0">
              <a:solidFill>
                <a:srgbClr val="1318F3"/>
              </a:solidFill>
              <a:latin typeface="Times New Roman" panose="02020603050405020304" charset="0"/>
              <a:ea typeface="楷体" panose="02010609060101010101" charset="-122"/>
              <a:sym typeface="+mn-ea"/>
            </a:endParaRPr>
          </a:p>
        </p:txBody>
      </p:sp>
      <p:graphicFrame>
        <p:nvGraphicFramePr>
          <p:cNvPr id="14" name="对象 13"/>
          <p:cNvGraphicFramePr/>
          <p:nvPr/>
        </p:nvGraphicFramePr>
        <p:xfrm>
          <a:off x="3386455" y="4081780"/>
          <a:ext cx="2204720" cy="405765"/>
        </p:xfrm>
        <a:graphic>
          <a:graphicData uri="http://schemas.openxmlformats.org/presentationml/2006/ole">
            <mc:AlternateContent xmlns:mc="http://schemas.openxmlformats.org/markup-compatibility/2006">
              <mc:Choice xmlns:v="urn:schemas-microsoft-com:vml" Requires="v">
                <p:oleObj spid="_x0000_s15" name="" r:id="rId2" imgW="2675890" imgH="440055" progId="Equation.KSEE3">
                  <p:embed/>
                </p:oleObj>
              </mc:Choice>
              <mc:Fallback>
                <p:oleObj name="" r:id="rId2" imgW="2675890" imgH="440055" progId="Equation.KSEE3">
                  <p:embed/>
                  <p:pic>
                    <p:nvPicPr>
                      <p:cNvPr id="0" name="图片 14"/>
                      <p:cNvPicPr/>
                      <p:nvPr/>
                    </p:nvPicPr>
                    <p:blipFill>
                      <a:blip r:embed="rId3"/>
                      <a:stretch>
                        <a:fillRect/>
                      </a:stretch>
                    </p:blipFill>
                    <p:spPr>
                      <a:xfrm>
                        <a:off x="3386455" y="4081780"/>
                        <a:ext cx="2204720" cy="40576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8" grpId="0"/>
      <p:bldP spid="8" grpId="1"/>
      <p:bldP spid="13" grpId="0"/>
      <p:bldP spid="13"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6" name="Rectangle 2"/>
          <p:cNvSpPr>
            <a:spLocks noGrp="1"/>
          </p:cNvSpPr>
          <p:nvPr>
            <p:ph type="title"/>
          </p:nvPr>
        </p:nvSpPr>
        <p:spPr>
          <a:xfrm>
            <a:off x="990600" y="106680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7.4.1 </a:t>
            </a:r>
            <a:r>
              <a:rPr lang="zh-CN" altLang="en-US" sz="2400" i="0" dirty="0">
                <a:solidFill>
                  <a:srgbClr val="0070C0"/>
                </a:solidFill>
                <a:latin typeface="黑体" panose="02010609060101010101" pitchFamily="49" charset="-122"/>
                <a:ea typeface="黑体" panose="02010609060101010101" pitchFamily="49" charset="-122"/>
              </a:rPr>
              <a:t>由</a:t>
            </a:r>
            <a:r>
              <a:rPr lang="en-US" altLang="zh-CN" sz="2400" i="0" dirty="0">
                <a:solidFill>
                  <a:srgbClr val="0070C0"/>
                </a:solidFill>
                <a:latin typeface="黑体" panose="02010609060101010101" pitchFamily="49" charset="-122"/>
                <a:ea typeface="黑体" panose="02010609060101010101" pitchFamily="49" charset="-122"/>
              </a:rPr>
              <a:t>555</a:t>
            </a:r>
            <a:r>
              <a:rPr lang="zh-CN" altLang="en-US" sz="2400" i="0" dirty="0">
                <a:solidFill>
                  <a:srgbClr val="0070C0"/>
                </a:solidFill>
                <a:latin typeface="黑体" panose="02010609060101010101" pitchFamily="49" charset="-122"/>
                <a:ea typeface="黑体" panose="02010609060101010101" pitchFamily="49" charset="-122"/>
              </a:rPr>
              <a:t>定时器构成的施密特</a:t>
            </a:r>
            <a:r>
              <a:rPr lang="zh-CN" altLang="en-US" sz="2400" i="0" dirty="0">
                <a:solidFill>
                  <a:srgbClr val="0070C0"/>
                </a:solidFill>
                <a:latin typeface="黑体" panose="02010609060101010101" pitchFamily="49" charset="-122"/>
                <a:ea typeface="黑体" panose="02010609060101010101" pitchFamily="49" charset="-122"/>
              </a:rPr>
              <a:t>触发器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3" name="矩形 2">
            <a:hlinkClick r:id="" action="ppaction://noaction"/>
          </p:cNvPr>
          <p:cNvSpPr/>
          <p:nvPr/>
        </p:nvSpPr>
        <p:spPr>
          <a:xfrm>
            <a:off x="680085" y="1600200"/>
            <a:ext cx="604520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1</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、电路</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组成</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pic>
        <p:nvPicPr>
          <p:cNvPr id="8" name="图片 7"/>
          <p:cNvPicPr>
            <a:picLocks noChangeAspect="1"/>
          </p:cNvPicPr>
          <p:nvPr/>
        </p:nvPicPr>
        <p:blipFill>
          <a:blip r:embed="rId1"/>
          <a:stretch>
            <a:fillRect/>
          </a:stretch>
        </p:blipFill>
        <p:spPr>
          <a:xfrm>
            <a:off x="1600200" y="1969135"/>
            <a:ext cx="6005830" cy="3891280"/>
          </a:xfrm>
          <a:prstGeom prst="rect">
            <a:avLst/>
          </a:prstGeom>
        </p:spPr>
      </p:pic>
      <p:sp>
        <p:nvSpPr>
          <p:cNvPr id="102" name="矩形 101"/>
          <p:cNvSpPr/>
          <p:nvPr/>
        </p:nvSpPr>
        <p:spPr>
          <a:xfrm>
            <a:off x="525145" y="5943600"/>
            <a:ext cx="8246110" cy="252730"/>
          </a:xfrm>
          <a:prstGeom prst="rect">
            <a:avLst/>
          </a:prstGeom>
          <a:noFill/>
          <a:ln w="9525">
            <a:noFill/>
          </a:ln>
        </p:spPr>
        <p:txBody>
          <a:bodyPr vert="horz" wrap="square" lIns="91440" tIns="45720" rIns="91440" bIns="45720" rtlCol="0" anchor="t" anchorCtr="0">
            <a:noAutofit/>
          </a:bodyPr>
          <a:p>
            <a:pPr lvl="0" algn="just">
              <a:lnSpc>
                <a:spcPct val="105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sym typeface="+mn-ea"/>
              </a:rPr>
              <a:t>        </a:t>
            </a:r>
            <a:r>
              <a:rPr lang="en-US" altLang="zh-CN" sz="2400" b="1" dirty="0">
                <a:solidFill>
                  <a:srgbClr val="000066"/>
                </a:solidFill>
                <a:latin typeface="Times New Roman" panose="02020603050405020304" charset="0"/>
                <a:ea typeface="楷体" panose="02010609060101010101" charset="-122"/>
                <a:sym typeface="+mn-ea"/>
              </a:rPr>
              <a:t>将</a:t>
            </a:r>
            <a:r>
              <a:rPr lang="en-US" altLang="zh-CN" sz="2400" b="1" dirty="0">
                <a:solidFill>
                  <a:srgbClr val="000066"/>
                </a:solidFill>
                <a:latin typeface="Times New Roman" panose="02020603050405020304" charset="0"/>
                <a:ea typeface="楷体" panose="02010609060101010101" charset="-122"/>
                <a:sym typeface="+mn-ea"/>
              </a:rPr>
              <a:t>555</a:t>
            </a:r>
            <a:r>
              <a:rPr lang="en-US" altLang="zh-CN" sz="2400" b="1" dirty="0">
                <a:solidFill>
                  <a:srgbClr val="000066"/>
                </a:solidFill>
                <a:latin typeface="Times New Roman" panose="02020603050405020304" charset="0"/>
                <a:ea typeface="楷体" panose="02010609060101010101" charset="-122"/>
                <a:sym typeface="+mn-ea"/>
              </a:rPr>
              <a:t>定时器的阈值输入端和触发输入端接在一起就构成了施密特触发器</a:t>
            </a:r>
            <a:endParaRPr lang="en-US" altLang="zh-CN" sz="2400" b="1" dirty="0">
              <a:solidFill>
                <a:srgbClr val="000066"/>
              </a:solidFill>
              <a:latin typeface="Times New Roman" panose="02020603050405020304" charset="0"/>
              <a:ea typeface="楷体" panose="02010609060101010101" charset="-122"/>
              <a:sym typeface="+mn-ea"/>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 name="矩形 3">
            <a:hlinkClick r:id="" action="ppaction://noaction"/>
          </p:cNvPr>
          <p:cNvSpPr/>
          <p:nvPr/>
        </p:nvSpPr>
        <p:spPr>
          <a:xfrm>
            <a:off x="990600" y="1202690"/>
            <a:ext cx="604520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2</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工作原理</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pic>
        <p:nvPicPr>
          <p:cNvPr id="6" name="图片 5"/>
          <p:cNvPicPr>
            <a:picLocks noChangeAspect="1"/>
          </p:cNvPicPr>
          <p:nvPr/>
        </p:nvPicPr>
        <p:blipFill>
          <a:blip r:embed="rId1"/>
          <a:stretch>
            <a:fillRect/>
          </a:stretch>
        </p:blipFill>
        <p:spPr>
          <a:xfrm>
            <a:off x="304800" y="1600200"/>
            <a:ext cx="3790950" cy="3276600"/>
          </a:xfrm>
          <a:prstGeom prst="rect">
            <a:avLst/>
          </a:prstGeom>
        </p:spPr>
      </p:pic>
      <p:sp>
        <p:nvSpPr>
          <p:cNvPr id="344067" name="Text Box 3"/>
          <p:cNvSpPr txBox="1"/>
          <p:nvPr/>
        </p:nvSpPr>
        <p:spPr>
          <a:xfrm>
            <a:off x="4346575" y="1657350"/>
            <a:ext cx="4535488" cy="1051560"/>
          </a:xfrm>
          <a:prstGeom prst="rect">
            <a:avLst/>
          </a:prstGeom>
          <a:noFill/>
          <a:ln w="28575">
            <a:noFill/>
          </a:ln>
        </p:spPr>
        <p:txBody>
          <a:bodyPr lIns="90000" tIns="46800" rIns="90000" bIns="46800" anchor="t" anchorCtr="0">
            <a:spAutoFit/>
          </a:bodyPr>
          <a:p>
            <a:pPr>
              <a:lnSpc>
                <a:spcPct val="13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latin typeface="Times New Roman" panose="02020603050405020304" charset="0"/>
                <a:ea typeface="楷体" panose="02010609060101010101" charset="-122"/>
                <a:cs typeface="Times New Roman" panose="02020603050405020304" charset="0"/>
              </a:rPr>
              <a:t>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&lt;1/3V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时</a:t>
            </a:r>
            <a:r>
              <a:rPr lang="zh-CN" altLang="en-US" sz="2400" b="1" dirty="0">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输出高电平，</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输出低电平，</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=1</a:t>
            </a:r>
            <a:endParaRPr lang="en-US" altLang="zh-CN" sz="2400" b="1"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344068" name="Text Box 4"/>
          <p:cNvSpPr txBox="1"/>
          <p:nvPr/>
        </p:nvSpPr>
        <p:spPr>
          <a:xfrm>
            <a:off x="4343400" y="4191000"/>
            <a:ext cx="4640580" cy="2011045"/>
          </a:xfrm>
          <a:prstGeom prst="rect">
            <a:avLst/>
          </a:prstGeom>
          <a:noFill/>
          <a:ln w="28575">
            <a:noFill/>
          </a:ln>
        </p:spPr>
        <p:txBody>
          <a:bodyPr wrap="square" lIns="90000" tIns="46800" rIns="90000" bIns="46800" anchor="t" anchorCtr="0">
            <a:spAutoFit/>
          </a:bodyPr>
          <a:p>
            <a:pPr>
              <a:lnSpc>
                <a:spcPct val="13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3. 1/3V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 &lt;v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&lt;2/3V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3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输出高电平，</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3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输出高电平，</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30000"/>
              </a:lnSpc>
            </a:pPr>
            <a:r>
              <a:rPr lang="zh-CN" altLang="en-US" sz="2400" b="1" dirty="0">
                <a:solidFill>
                  <a:srgbClr val="0033CC"/>
                </a:solidFill>
                <a:latin typeface="Times New Roman" panose="02020603050405020304" charset="0"/>
                <a:ea typeface="楷体" panose="02010609060101010101" charset="-122"/>
                <a:cs typeface="Times New Roman" panose="02020603050405020304" charset="0"/>
              </a:rPr>
              <a:t>即</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R=S=1</a:t>
            </a:r>
            <a:r>
              <a:rPr lang="zh-CN" altLang="en-US" sz="2400" b="1" i="1" dirty="0">
                <a:solidFill>
                  <a:srgbClr val="FF0000"/>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保持。</a:t>
            </a:r>
            <a:endParaRPr lang="zh-CN" altLang="en-US" sz="2400" b="1"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344110" name="Text Box 46"/>
          <p:cNvSpPr txBox="1"/>
          <p:nvPr/>
        </p:nvSpPr>
        <p:spPr>
          <a:xfrm>
            <a:off x="4349750" y="2881313"/>
            <a:ext cx="4392613" cy="1051560"/>
          </a:xfrm>
          <a:prstGeom prst="rect">
            <a:avLst/>
          </a:prstGeom>
          <a:noFill/>
          <a:ln w="28575">
            <a:noFill/>
          </a:ln>
        </p:spPr>
        <p:txBody>
          <a:bodyPr lIns="90000" tIns="46800" rIns="90000" bIns="46800" anchor="t" anchorCtr="0">
            <a:spAutoFit/>
          </a:bodyPr>
          <a:p>
            <a:pPr>
              <a:lnSpc>
                <a:spcPct val="13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latin typeface="Times New Roman" panose="02020603050405020304" charset="0"/>
                <a:ea typeface="楷体" panose="02010609060101010101" charset="-122"/>
                <a:cs typeface="Times New Roman" panose="02020603050405020304" charset="0"/>
              </a:rPr>
              <a:t>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&gt;2/3V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CC</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时</a:t>
            </a:r>
            <a:r>
              <a:rPr lang="zh-CN" altLang="en-US" sz="2400" b="1" dirty="0">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输出低电平，</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输出高电平，</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O</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=0</a:t>
            </a:r>
            <a:endParaRPr lang="en-US" altLang="zh-CN" sz="2400" b="1" dirty="0">
              <a:solidFill>
                <a:srgbClr val="FF0000"/>
              </a:solidFill>
              <a:latin typeface="Times New Roman" panose="02020603050405020304" charset="0"/>
              <a:ea typeface="楷体" panose="02010609060101010101" charset="-122"/>
              <a:cs typeface="Times New Roman" panose="02020603050405020304" charset="0"/>
            </a:endParaRPr>
          </a:p>
        </p:txBody>
      </p:sp>
      <p:pic>
        <p:nvPicPr>
          <p:cNvPr id="8" name="图片 7"/>
          <p:cNvPicPr>
            <a:picLocks noChangeAspect="1"/>
          </p:cNvPicPr>
          <p:nvPr/>
        </p:nvPicPr>
        <p:blipFill>
          <a:blip r:embed="rId2"/>
          <a:stretch>
            <a:fillRect/>
          </a:stretch>
        </p:blipFill>
        <p:spPr>
          <a:xfrm>
            <a:off x="1066800" y="5029200"/>
            <a:ext cx="1609725" cy="1619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4067"/>
                                        </p:tgtEl>
                                        <p:attrNameLst>
                                          <p:attrName>style.visibility</p:attrName>
                                        </p:attrNameLst>
                                      </p:cBhvr>
                                      <p:to>
                                        <p:strVal val="visible"/>
                                      </p:to>
                                    </p:set>
                                    <p:animEffect transition="in" filter="wipe(left)">
                                      <p:cBhvr>
                                        <p:cTn id="7" dur="500"/>
                                        <p:tgtEl>
                                          <p:spTgt spid="3440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4110"/>
                                        </p:tgtEl>
                                        <p:attrNameLst>
                                          <p:attrName>style.visibility</p:attrName>
                                        </p:attrNameLst>
                                      </p:cBhvr>
                                      <p:to>
                                        <p:strVal val="visible"/>
                                      </p:to>
                                    </p:set>
                                    <p:animEffect transition="in" filter="wipe(left)">
                                      <p:cBhvr>
                                        <p:cTn id="12" dur="500"/>
                                        <p:tgtEl>
                                          <p:spTgt spid="3441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4068"/>
                                        </p:tgtEl>
                                        <p:attrNameLst>
                                          <p:attrName>style.visibility</p:attrName>
                                        </p:attrNameLst>
                                      </p:cBhvr>
                                      <p:to>
                                        <p:strVal val="visible"/>
                                      </p:to>
                                    </p:set>
                                    <p:animEffect transition="in" filter="wipe(left)">
                                      <p:cBhvr>
                                        <p:cTn id="17" dur="500"/>
                                        <p:tgtEl>
                                          <p:spTgt spid="344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p:bldP spid="344068" grpId="0"/>
      <p:bldP spid="3441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1"/>
          <a:stretch>
            <a:fillRect/>
          </a:stretch>
        </p:blipFill>
        <p:spPr>
          <a:xfrm>
            <a:off x="304800" y="1524000"/>
            <a:ext cx="3790950" cy="3276600"/>
          </a:xfrm>
          <a:prstGeom prst="rect">
            <a:avLst/>
          </a:prstGeom>
        </p:spPr>
      </p:pic>
      <p:pic>
        <p:nvPicPr>
          <p:cNvPr id="8" name="图片 7"/>
          <p:cNvPicPr>
            <a:picLocks noChangeAspect="1"/>
          </p:cNvPicPr>
          <p:nvPr/>
        </p:nvPicPr>
        <p:blipFill>
          <a:blip r:embed="rId2"/>
          <a:stretch>
            <a:fillRect/>
          </a:stretch>
        </p:blipFill>
        <p:spPr>
          <a:xfrm>
            <a:off x="1066800" y="4953000"/>
            <a:ext cx="1609725" cy="1619250"/>
          </a:xfrm>
          <a:prstGeom prst="rect">
            <a:avLst/>
          </a:prstGeom>
        </p:spPr>
      </p:pic>
      <p:sp>
        <p:nvSpPr>
          <p:cNvPr id="5" name="Text Box 2"/>
          <p:cNvSpPr txBox="1"/>
          <p:nvPr/>
        </p:nvSpPr>
        <p:spPr>
          <a:xfrm>
            <a:off x="4473893" y="1830070"/>
            <a:ext cx="3960812" cy="2085975"/>
          </a:xfrm>
          <a:prstGeom prst="rect">
            <a:avLst/>
          </a:prstGeom>
          <a:noFill/>
          <a:ln w="28575">
            <a:noFill/>
          </a:ln>
        </p:spPr>
        <p:txBody>
          <a:bodyPr lIns="90000" tIns="46800" rIns="90000" bIns="46800" anchor="t" anchorCtr="0">
            <a:spAutoFit/>
          </a:bodyPr>
          <a:p>
            <a:pPr>
              <a:lnSpc>
                <a:spcPct val="120000"/>
              </a:lnSpc>
              <a:spcBef>
                <a:spcPct val="20000"/>
              </a:spcBef>
            </a:pP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如果</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从小变大，</a:t>
            </a:r>
            <a:endParaRPr lang="zh-CN" altLang="en-US" sz="2400" b="1" dirty="0">
              <a:solidFill>
                <a:srgbClr val="FF0000"/>
              </a:solidFill>
              <a:latin typeface="Times New Roman" panose="02020603050405020304" charset="0"/>
              <a:ea typeface="楷体" panose="02010609060101010101" charset="-122"/>
              <a:cs typeface="Times New Roman" panose="02020603050405020304" charset="0"/>
            </a:endParaRPr>
          </a:p>
          <a:p>
            <a:pPr>
              <a:lnSpc>
                <a:spcPct val="120000"/>
              </a:lnSpc>
              <a:spcBef>
                <a:spcPct val="20000"/>
              </a:spcBef>
            </a:pPr>
            <a:r>
              <a:rPr lang="en-US" altLang="zh-CN" sz="2400" b="1" dirty="0">
                <a:solidFill>
                  <a:srgbClr val="0033CC"/>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rPr>
              <a:t>&lt;1/3V</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rPr>
              <a:t>CC</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endParaRPr lang="en-US" altLang="zh-CN" sz="24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a:p>
            <a:pPr>
              <a:lnSpc>
                <a:spcPct val="120000"/>
              </a:lnSpc>
              <a:spcBef>
                <a:spcPct val="2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 &lt;v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&lt;2/3V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a:p>
            <a:pPr>
              <a:lnSpc>
                <a:spcPct val="120000"/>
              </a:lnSpc>
              <a:spcBef>
                <a:spcPct val="2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&gt;2/3V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9" name="Text Box 3"/>
          <p:cNvSpPr txBox="1"/>
          <p:nvPr/>
        </p:nvSpPr>
        <p:spPr>
          <a:xfrm>
            <a:off x="4419600" y="3959225"/>
            <a:ext cx="3810000" cy="2012315"/>
          </a:xfrm>
          <a:prstGeom prst="rect">
            <a:avLst/>
          </a:prstGeom>
          <a:noFill/>
          <a:ln w="28575">
            <a:noFill/>
          </a:ln>
        </p:spPr>
        <p:txBody>
          <a:bodyPr lIns="90000" tIns="46800" rIns="90000" bIns="46800" anchor="t" anchorCtr="0">
            <a:spAutoFit/>
          </a:bodyPr>
          <a:p>
            <a:pPr>
              <a:lnSpc>
                <a:spcPct val="120000"/>
              </a:lnSpc>
              <a:spcBef>
                <a:spcPct val="20000"/>
              </a:spcBef>
            </a:pP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如果</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从大变小，</a:t>
            </a:r>
            <a:endParaRPr lang="zh-CN" altLang="en-US" sz="2400" b="1" dirty="0">
              <a:solidFill>
                <a:srgbClr val="FF0000"/>
              </a:solidFill>
              <a:latin typeface="Times New Roman" panose="02020603050405020304" charset="0"/>
              <a:ea typeface="楷体" panose="02010609060101010101" charset="-122"/>
              <a:cs typeface="Times New Roman" panose="02020603050405020304" charset="0"/>
            </a:endParaRPr>
          </a:p>
          <a:p>
            <a:pPr>
              <a:lnSpc>
                <a:spcPct val="120000"/>
              </a:lnSpc>
              <a:spcBef>
                <a:spcPct val="20000"/>
              </a:spcBef>
            </a:pPr>
            <a:r>
              <a:rPr lang="en-US" altLang="zh-CN" sz="2400" b="1" dirty="0">
                <a:solidFill>
                  <a:srgbClr val="0033CC"/>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rPr>
              <a:t>&gt;2/3V</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rPr>
              <a:t>CC</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endParaRPr lang="en-US" altLang="zh-CN" sz="2400" b="1" dirty="0">
              <a:solidFill>
                <a:srgbClr val="0033CC"/>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a:p>
            <a:pPr>
              <a:lnSpc>
                <a:spcPct val="120000"/>
              </a:lnSpc>
              <a:spcBef>
                <a:spcPct val="2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&lt;v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&lt;2/3V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=0</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&lt;1/3V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CC</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O</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rPr>
              <a:t>=1</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sp>
        <p:nvSpPr>
          <p:cNvPr id="11" name="Text Box 4"/>
          <p:cNvSpPr txBox="1"/>
          <p:nvPr/>
        </p:nvSpPr>
        <p:spPr>
          <a:xfrm>
            <a:off x="4510405" y="1401445"/>
            <a:ext cx="4572000" cy="461645"/>
          </a:xfrm>
          <a:prstGeom prst="rect">
            <a:avLst/>
          </a:prstGeom>
          <a:noFill/>
          <a:ln w="28575">
            <a:noFill/>
          </a:ln>
        </p:spPr>
        <p:txBody>
          <a:bodyPr lIns="90000" tIns="46800" rIns="90000" bIns="46800" anchor="t" anchorCtr="0">
            <a:spAutoFit/>
          </a:bodyPr>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设</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输入为三角波</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 name="文本框 101"/>
          <p:cNvSpPr txBox="1"/>
          <p:nvPr/>
        </p:nvSpPr>
        <p:spPr>
          <a:xfrm>
            <a:off x="990600" y="1219200"/>
            <a:ext cx="7368540" cy="461645"/>
          </a:xfrm>
          <a:prstGeom prst="rect">
            <a:avLst/>
          </a:prstGeom>
          <a:noFill/>
          <a:ln w="28575">
            <a:noFill/>
          </a:ln>
        </p:spPr>
        <p:txBody>
          <a:bodyPr wrap="square" lIns="90000" tIns="46800" rIns="90000" bIns="46800" anchor="t" anchorCtr="0">
            <a:spAutoFit/>
          </a:bodyPr>
          <a:p>
            <a:pPr lvl="0" algn="l">
              <a:buClrTx/>
              <a:buSzTx/>
              <a:buFontTx/>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电路的工作波形和电压传输特性曲线如图所示</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pic>
        <p:nvPicPr>
          <p:cNvPr id="4" name="图片 3"/>
          <p:cNvPicPr>
            <a:picLocks noChangeAspect="1"/>
          </p:cNvPicPr>
          <p:nvPr/>
        </p:nvPicPr>
        <p:blipFill>
          <a:blip r:embed="rId1"/>
          <a:stretch>
            <a:fillRect/>
          </a:stretch>
        </p:blipFill>
        <p:spPr>
          <a:xfrm>
            <a:off x="1371600" y="1752600"/>
            <a:ext cx="6506210" cy="2659380"/>
          </a:xfrm>
          <a:prstGeom prst="rect">
            <a:avLst/>
          </a:prstGeom>
        </p:spPr>
      </p:pic>
      <p:sp>
        <p:nvSpPr>
          <p:cNvPr id="6" name="矩形 5">
            <a:hlinkClick r:id="" action="ppaction://noaction"/>
          </p:cNvPr>
          <p:cNvSpPr/>
          <p:nvPr/>
        </p:nvSpPr>
        <p:spPr>
          <a:xfrm>
            <a:off x="609600" y="4572000"/>
            <a:ext cx="6045200" cy="368935"/>
          </a:xfrm>
          <a:prstGeom prst="rect">
            <a:avLst/>
          </a:prstGeom>
          <a:noFill/>
          <a:ln w="9525">
            <a:noFill/>
          </a:ln>
        </p:spPr>
        <p:txBody>
          <a:bodyPr wrap="square" lIns="0" tIns="0" rIns="0" bIns="0" anchor="b" anchorCtr="0">
            <a:spAutoFit/>
          </a:bodyPr>
          <a:lstStyle>
            <a:lvl1pPr marL="0" lvl="0" indent="0" algn="l" defTabSz="914400" rtl="0" eaLnBrk="1" fontAlgn="base" latinLnBrk="0" hangingPunct="1">
              <a:lnSpc>
                <a:spcPct val="100000"/>
              </a:lnSpc>
              <a:spcBef>
                <a:spcPct val="0"/>
              </a:spcBef>
              <a:spcAft>
                <a:spcPct val="0"/>
              </a:spcAft>
              <a:buNone/>
              <a:defRPr sz="3800" u="none" kern="1200" baseline="0">
                <a:solidFill>
                  <a:schemeClr val="tx2"/>
                </a:solidFill>
                <a:latin typeface="Verdana" panose="020B0604030504040204" pitchFamily="34" charset="0"/>
              </a:defRPr>
            </a:lvl1pPr>
          </a:lstStyle>
          <a:p>
            <a:pPr lvl="0"/>
            <a:r>
              <a:rPr lang="en-US" altLang="zh-CN"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3</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回差电压</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graphicFrame>
        <p:nvGraphicFramePr>
          <p:cNvPr id="7" name="对象 6"/>
          <p:cNvGraphicFramePr/>
          <p:nvPr/>
        </p:nvGraphicFramePr>
        <p:xfrm>
          <a:off x="1871980" y="5029200"/>
          <a:ext cx="5400000" cy="612775"/>
        </p:xfrm>
        <a:graphic>
          <a:graphicData uri="http://schemas.openxmlformats.org/presentationml/2006/ole">
            <mc:AlternateContent xmlns:mc="http://schemas.openxmlformats.org/markup-compatibility/2006">
              <mc:Choice xmlns:v="urn:schemas-microsoft-com:vml" Requires="v">
                <p:oleObj spid="_x0000_s8" name="" r:id="rId2" imgW="4255135" imgH="620395" progId="Equation.KSEE3">
                  <p:embed/>
                </p:oleObj>
              </mc:Choice>
              <mc:Fallback>
                <p:oleObj name="" r:id="rId2" imgW="4255135" imgH="620395" progId="Equation.KSEE3">
                  <p:embed/>
                  <p:pic>
                    <p:nvPicPr>
                      <p:cNvPr id="0" name="图片 7"/>
                      <p:cNvPicPr/>
                      <p:nvPr/>
                    </p:nvPicPr>
                    <p:blipFill>
                      <a:blip r:embed="rId3"/>
                      <a:stretch>
                        <a:fillRect/>
                      </a:stretch>
                    </p:blipFill>
                    <p:spPr>
                      <a:xfrm>
                        <a:off x="1871980" y="5029200"/>
                        <a:ext cx="5400000" cy="612775"/>
                      </a:xfrm>
                      <a:prstGeom prst="rect">
                        <a:avLst/>
                      </a:prstGeom>
                      <a:noFill/>
                      <a:ln w="28575" cmpd="sng">
                        <a:solidFill>
                          <a:srgbClr val="FF0000"/>
                        </a:solidFill>
                        <a:prstDash val="solid"/>
                      </a:ln>
                    </p:spPr>
                  </p:pic>
                </p:oleObj>
              </mc:Fallback>
            </mc:AlternateContent>
          </a:graphicData>
        </a:graphic>
      </p:graphicFrame>
      <p:sp>
        <p:nvSpPr>
          <p:cNvPr id="345160" name="Text Box 72" descr="羊皮纸"/>
          <p:cNvSpPr txBox="1"/>
          <p:nvPr/>
        </p:nvSpPr>
        <p:spPr>
          <a:xfrm>
            <a:off x="1295400" y="5730240"/>
            <a:ext cx="6582410" cy="535305"/>
          </a:xfrm>
          <a:prstGeom prst="rect">
            <a:avLst/>
          </a:prstGeom>
          <a:blipFill rotWithShape="1">
            <a:blip r:embed="rId4"/>
          </a:blipFill>
          <a:ln w="28575">
            <a:noFill/>
          </a:ln>
        </p:spPr>
        <p:txBody>
          <a:bodyPr wrap="square" lIns="90000" tIns="46800" rIns="90000" bIns="46800" anchor="t" anchorCtr="0">
            <a:spAutoFit/>
          </a:bodyPr>
          <a:p>
            <a:pPr>
              <a:lnSpc>
                <a:spcPct val="12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若在</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5</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引脚上加控制电压，可以改变</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baseline="-250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baseline="-25000"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5160"/>
                                        </p:tgtEl>
                                        <p:attrNameLst>
                                          <p:attrName>style.visibility</p:attrName>
                                        </p:attrNameLst>
                                      </p:cBhvr>
                                      <p:to>
                                        <p:strVal val="visible"/>
                                      </p:to>
                                    </p:set>
                                    <p:animEffect transition="in" filter="wipe(left)">
                                      <p:cBhvr>
                                        <p:cTn id="7" dur="500"/>
                                        <p:tgtEl>
                                          <p:spTgt spid="345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60"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457200" y="15240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1.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电路组成</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90600" y="1040765"/>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7.4.2 </a:t>
            </a:r>
            <a:r>
              <a:rPr sz="2400" i="0" dirty="0">
                <a:solidFill>
                  <a:srgbClr val="0070C0"/>
                </a:solidFill>
                <a:latin typeface="黑体" panose="02010609060101010101" pitchFamily="49" charset="-122"/>
                <a:ea typeface="黑体" panose="02010609060101010101" pitchFamily="49" charset="-122"/>
              </a:rPr>
              <a:t>由门电路构成的施密特触发器</a:t>
            </a:r>
            <a:endParaRPr sz="2400" i="0" dirty="0">
              <a:solidFill>
                <a:srgbClr val="0070C0"/>
              </a:solidFill>
              <a:latin typeface="黑体" panose="02010609060101010101" pitchFamily="49" charset="-122"/>
              <a:ea typeface="黑体" panose="02010609060101010101" pitchFamily="49" charset="-122"/>
            </a:endParaRPr>
          </a:p>
        </p:txBody>
      </p:sp>
      <p:pic>
        <p:nvPicPr>
          <p:cNvPr id="8" name="图片 7"/>
          <p:cNvPicPr>
            <a:picLocks noChangeAspect="1"/>
          </p:cNvPicPr>
          <p:nvPr>
            <p:custDataLst>
              <p:tags r:id="rId1"/>
            </p:custDataLst>
          </p:nvPr>
        </p:nvPicPr>
        <p:blipFill>
          <a:blip r:embed="rId2"/>
          <a:stretch>
            <a:fillRect/>
          </a:stretch>
        </p:blipFill>
        <p:spPr>
          <a:xfrm>
            <a:off x="1981200" y="2057400"/>
            <a:ext cx="4836795" cy="2054225"/>
          </a:xfrm>
          <a:prstGeom prst="rect">
            <a:avLst/>
          </a:prstGeom>
        </p:spPr>
      </p:pic>
      <p:sp>
        <p:nvSpPr>
          <p:cNvPr id="290849" name="Rectangle 33"/>
          <p:cNvSpPr/>
          <p:nvPr/>
        </p:nvSpPr>
        <p:spPr>
          <a:xfrm>
            <a:off x="1219200" y="4343083"/>
            <a:ext cx="3951288" cy="460375"/>
          </a:xfrm>
          <a:prstGeom prst="rect">
            <a:avLst/>
          </a:prstGeo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lvl="0" algn="just" eaLnBrk="1" hangingPunct="1">
              <a:spcBef>
                <a:spcPts val="0"/>
              </a:spcBef>
              <a:buSz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G</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mn-ea"/>
              </a:rPr>
              <a:t>1</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G</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mn-ea"/>
              </a:rPr>
              <a:t>2</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CMOS</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反相器；</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290850" name="Rectangle 34"/>
          <p:cNvSpPr/>
          <p:nvPr/>
        </p:nvSpPr>
        <p:spPr>
          <a:xfrm>
            <a:off x="1218883" y="4798695"/>
            <a:ext cx="3529012" cy="535305"/>
          </a:xfrm>
          <a:prstGeom prst="rect">
            <a:avLst/>
          </a:prstGeom>
          <a:noFill/>
          <a:ln w="28575">
            <a:noFill/>
          </a:ln>
        </p:spPr>
        <p:txBody>
          <a:bodyPr lIns="90000" tIns="46800" rIns="90000" bIns="46800" anchor="t" anchorCtr="0">
            <a:spAutoFit/>
          </a:bodyPr>
          <a:p>
            <a:pPr>
              <a:lnSpc>
                <a:spcPct val="120000"/>
              </a:lnSpc>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设阈值电压</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rPr>
              <a:t>th</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rPr>
              <a:t>DD</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90876" name="Rectangle 60"/>
          <p:cNvSpPr/>
          <p:nvPr/>
        </p:nvSpPr>
        <p:spPr>
          <a:xfrm>
            <a:off x="1219200" y="5334000"/>
            <a:ext cx="7848600" cy="978535"/>
          </a:xfrm>
          <a:prstGeom prst="rect">
            <a:avLst/>
          </a:prstGeom>
          <a:noFill/>
          <a:ln w="28575">
            <a:noFill/>
          </a:ln>
        </p:spPr>
        <p:txBody>
          <a:bodyPr lIns="90000" tIns="46800" rIns="90000" bIns="46800" anchor="t" anchorCtr="0">
            <a:spAutoFit/>
          </a:bodyPr>
          <a:p>
            <a:pPr>
              <a:lnSpc>
                <a:spcPct val="120000"/>
              </a:lnSpc>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显然</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G</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门的输入</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1318F3"/>
                </a:solidFill>
                <a:latin typeface="Times New Roman" panose="02020603050405020304" charset="0"/>
                <a:ea typeface="楷体" panose="02010609060101010101" charset="-122"/>
                <a:cs typeface="Times New Roman" panose="02020603050405020304" charset="0"/>
              </a:rPr>
              <a:t>I1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决定着电路的状态。</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状态翻转的临界时刻为</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I1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rPr>
              <a:t>th</a:t>
            </a:r>
            <a:endPar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0849"/>
                                        </p:tgtEl>
                                        <p:attrNameLst>
                                          <p:attrName>style.visibility</p:attrName>
                                        </p:attrNameLst>
                                      </p:cBhvr>
                                      <p:to>
                                        <p:strVal val="visible"/>
                                      </p:to>
                                    </p:set>
                                    <p:animEffect transition="in" filter="blinds(horizontal)">
                                      <p:cBhvr>
                                        <p:cTn id="7" dur="500"/>
                                        <p:tgtEl>
                                          <p:spTgt spid="29084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90850"/>
                                        </p:tgtEl>
                                        <p:attrNameLst>
                                          <p:attrName>style.visibility</p:attrName>
                                        </p:attrNameLst>
                                      </p:cBhvr>
                                      <p:to>
                                        <p:strVal val="visible"/>
                                      </p:to>
                                    </p:set>
                                    <p:animEffect transition="in" filter="checkerboard(across)">
                                      <p:cBhvr>
                                        <p:cTn id="12" dur="500"/>
                                        <p:tgtEl>
                                          <p:spTgt spid="29085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0876"/>
                                        </p:tgtEl>
                                        <p:attrNameLst>
                                          <p:attrName>style.visibility</p:attrName>
                                        </p:attrNameLst>
                                      </p:cBhvr>
                                      <p:to>
                                        <p:strVal val="visible"/>
                                      </p:to>
                                    </p:set>
                                    <p:animEffect transition="in" filter="dissolve">
                                      <p:cBhvr>
                                        <p:cTn id="17" dur="500"/>
                                        <p:tgtEl>
                                          <p:spTgt spid="290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49" grpId="0"/>
      <p:bldP spid="290850" grpId="0"/>
      <p:bldP spid="29087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914400" y="12192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2.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工作原理</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4"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7" name="图片 6"/>
          <p:cNvPicPr>
            <a:picLocks noChangeAspect="1"/>
          </p:cNvPicPr>
          <p:nvPr>
            <p:custDataLst>
              <p:tags r:id="rId1"/>
            </p:custDataLst>
          </p:nvPr>
        </p:nvPicPr>
        <p:blipFill>
          <a:blip r:embed="rId2"/>
          <a:stretch>
            <a:fillRect/>
          </a:stretch>
        </p:blipFill>
        <p:spPr>
          <a:xfrm>
            <a:off x="1905000" y="1828800"/>
            <a:ext cx="4836795" cy="2054225"/>
          </a:xfrm>
          <a:prstGeom prst="rect">
            <a:avLst/>
          </a:prstGeom>
        </p:spPr>
      </p:pic>
      <p:sp>
        <p:nvSpPr>
          <p:cNvPr id="291845" name="Rectangle 5"/>
          <p:cNvSpPr/>
          <p:nvPr/>
        </p:nvSpPr>
        <p:spPr>
          <a:xfrm>
            <a:off x="1143000" y="3892550"/>
            <a:ext cx="3455988" cy="461645"/>
          </a:xfrm>
          <a:prstGeom prst="rect">
            <a:avLst/>
          </a:prstGeom>
          <a:noFill/>
          <a:ln w="28575">
            <a:noFill/>
          </a:ln>
        </p:spPr>
        <p:txBody>
          <a:bodyPr lIns="90000" tIns="46800" rIns="90000" bIns="46800" anchor="t" anchorCtr="0">
            <a:spAutoFit/>
          </a:bodyPr>
          <a:p>
            <a:r>
              <a:rPr lang="zh-CN" altLang="en-US" sz="2400" b="1" dirty="0">
                <a:solidFill>
                  <a:srgbClr val="000066"/>
                </a:solidFill>
                <a:latin typeface="Times New Roman" panose="02020603050405020304" charset="0"/>
                <a:ea typeface="楷体" panose="02010609060101010101" charset="-122"/>
              </a:rPr>
              <a:t>设输入为三角波</a:t>
            </a:r>
            <a:endParaRPr lang="zh-CN" altLang="en-US" sz="2400" b="1" dirty="0">
              <a:solidFill>
                <a:srgbClr val="000066"/>
              </a:solidFill>
              <a:latin typeface="Times New Roman" panose="02020603050405020304" charset="0"/>
              <a:ea typeface="楷体" panose="02010609060101010101" charset="-122"/>
            </a:endParaRPr>
          </a:p>
        </p:txBody>
      </p:sp>
      <p:sp>
        <p:nvSpPr>
          <p:cNvPr id="152603" name="矩形 152602"/>
          <p:cNvSpPr/>
          <p:nvPr/>
        </p:nvSpPr>
        <p:spPr>
          <a:xfrm>
            <a:off x="1219200" y="4363720"/>
            <a:ext cx="3684905" cy="460375"/>
          </a:xfrm>
          <a:prstGeom prst="rect">
            <a:avLst/>
          </a:prstGeom>
          <a:noFill/>
          <a:ln w="9525">
            <a:noFill/>
          </a:ln>
        </p:spPr>
        <p:txBody>
          <a:bodyPr wrap="square">
            <a:spAutoFit/>
          </a:bodyPr>
          <a:p>
            <a:pPr>
              <a:spcBef>
                <a:spcPct val="50000"/>
              </a:spcBef>
            </a:pPr>
            <a:r>
              <a:rPr lang="zh-CN" altLang="en-US" sz="2400" b="1" dirty="0">
                <a:solidFill>
                  <a:srgbClr val="000066"/>
                </a:solidFill>
                <a:latin typeface="Times New Roman" panose="02020603050405020304" charset="0"/>
                <a:ea typeface="楷体" panose="02010609060101010101" charset="-122"/>
              </a:rPr>
              <a:t>根据叠加原理，可得到：</a:t>
            </a:r>
            <a:endParaRPr lang="zh-CN" altLang="en-US" sz="2400" b="1" dirty="0">
              <a:solidFill>
                <a:srgbClr val="000066"/>
              </a:solidFill>
              <a:latin typeface="Times New Roman" panose="02020603050405020304" charset="0"/>
              <a:ea typeface="楷体" panose="02010609060101010101" charset="-122"/>
            </a:endParaRPr>
          </a:p>
        </p:txBody>
      </p:sp>
      <p:graphicFrame>
        <p:nvGraphicFramePr>
          <p:cNvPr id="152586" name="对象 152585"/>
          <p:cNvGraphicFramePr/>
          <p:nvPr/>
        </p:nvGraphicFramePr>
        <p:xfrm>
          <a:off x="2666683" y="4952842"/>
          <a:ext cx="3544570" cy="852805"/>
        </p:xfrm>
        <a:graphic>
          <a:graphicData uri="http://schemas.openxmlformats.org/presentationml/2006/ole">
            <mc:AlternateContent xmlns:mc="http://schemas.openxmlformats.org/markup-compatibility/2006">
              <mc:Choice xmlns:v="urn:schemas-microsoft-com:vml" Requires="v">
                <p:oleObj spid="_x0000_s3080" name="" r:id="rId3" imgW="1790700" imgH="431800" progId="Equation.DSMT4">
                  <p:embed/>
                </p:oleObj>
              </mc:Choice>
              <mc:Fallback>
                <p:oleObj name="" r:id="rId3" imgW="1790700" imgH="431800" progId="Equation.DSMT4">
                  <p:embed/>
                  <p:pic>
                    <p:nvPicPr>
                      <p:cNvPr id="0" name="图片 3079"/>
                      <p:cNvPicPr/>
                      <p:nvPr/>
                    </p:nvPicPr>
                    <p:blipFill>
                      <a:blip r:embed="rId4"/>
                      <a:stretch>
                        <a:fillRect/>
                      </a:stretch>
                    </p:blipFill>
                    <p:spPr>
                      <a:xfrm>
                        <a:off x="2666683" y="4952842"/>
                        <a:ext cx="3544570" cy="85280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1845"/>
                                        </p:tgtEl>
                                        <p:attrNameLst>
                                          <p:attrName>style.visibility</p:attrName>
                                        </p:attrNameLst>
                                      </p:cBhvr>
                                      <p:to>
                                        <p:strVal val="visible"/>
                                      </p:to>
                                    </p:set>
                                    <p:animEffect transition="in" filter="checkerboard(across)">
                                      <p:cBhvr>
                                        <p:cTn id="7" dur="500"/>
                                        <p:tgtEl>
                                          <p:spTgt spid="2918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603"/>
                                        </p:tgtEl>
                                        <p:attrNameLst>
                                          <p:attrName>style.visibility</p:attrName>
                                        </p:attrNameLst>
                                      </p:cBhvr>
                                      <p:to>
                                        <p:strVal val="visible"/>
                                      </p:to>
                                    </p:set>
                                    <p:animEffect transition="in" filter="wipe(left)">
                                      <p:cBhvr>
                                        <p:cTn id="12" dur="500"/>
                                        <p:tgtEl>
                                          <p:spTgt spid="1526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2586"/>
                                        </p:tgtEl>
                                        <p:attrNameLst>
                                          <p:attrName>style.visibility</p:attrName>
                                        </p:attrNameLst>
                                      </p:cBhvr>
                                      <p:to>
                                        <p:strVal val="visible"/>
                                      </p:to>
                                    </p:set>
                                    <p:animEffect transition="in" filter="wipe(left)">
                                      <p:cBhvr>
                                        <p:cTn id="17" dur="500"/>
                                        <p:tgtEl>
                                          <p:spTgt spid="152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5" grpId="0"/>
      <p:bldP spid="15260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153753" name="对象 153752"/>
          <p:cNvGraphicFramePr/>
          <p:nvPr/>
        </p:nvGraphicFramePr>
        <p:xfrm>
          <a:off x="879475" y="4506913"/>
          <a:ext cx="3484563" cy="790575"/>
        </p:xfrm>
        <a:graphic>
          <a:graphicData uri="http://schemas.openxmlformats.org/presentationml/2006/ole">
            <mc:AlternateContent xmlns:mc="http://schemas.openxmlformats.org/markup-compatibility/2006">
              <mc:Choice xmlns:v="urn:schemas-microsoft-com:vml" Requires="v">
                <p:oleObj spid="_x0000_s3085" name="" r:id="rId1" imgW="1955165" imgH="444500" progId="Equation.DSMT4">
                  <p:embed/>
                </p:oleObj>
              </mc:Choice>
              <mc:Fallback>
                <p:oleObj name="" r:id="rId1" imgW="1955165" imgH="444500" progId="Equation.DSMT4">
                  <p:embed/>
                  <p:pic>
                    <p:nvPicPr>
                      <p:cNvPr id="0" name="图片 3084"/>
                      <p:cNvPicPr/>
                      <p:nvPr/>
                    </p:nvPicPr>
                    <p:blipFill>
                      <a:blip r:embed="rId2"/>
                      <a:stretch>
                        <a:fillRect/>
                      </a:stretch>
                    </p:blipFill>
                    <p:spPr>
                      <a:xfrm>
                        <a:off x="879475" y="4506913"/>
                        <a:ext cx="3484563" cy="790575"/>
                      </a:xfrm>
                      <a:prstGeom prst="rect">
                        <a:avLst/>
                      </a:prstGeom>
                      <a:noFill/>
                      <a:ln w="38100">
                        <a:noFill/>
                        <a:miter/>
                      </a:ln>
                    </p:spPr>
                  </p:pic>
                </p:oleObj>
              </mc:Fallback>
            </mc:AlternateContent>
          </a:graphicData>
        </a:graphic>
      </p:graphicFrame>
      <p:sp>
        <p:nvSpPr>
          <p:cNvPr id="153758" name="矩形 153757"/>
          <p:cNvSpPr/>
          <p:nvPr/>
        </p:nvSpPr>
        <p:spPr>
          <a:xfrm>
            <a:off x="568325" y="2095500"/>
            <a:ext cx="4187825" cy="457200"/>
          </a:xfrm>
          <a:prstGeom prst="rect">
            <a:avLst/>
          </a:prstGeom>
          <a:noFill/>
          <a:ln w="38100">
            <a:noFill/>
          </a:ln>
        </p:spPr>
        <p:txBody>
          <a:bodyPr wrap="none" anchor="t" anchorCtr="0">
            <a:spAutoFit/>
          </a:bodyPr>
          <a:p>
            <a:pPr algn="ctr"/>
            <a:r>
              <a:rPr lang="en-US" altLang="zh-CN" sz="2400" b="1">
                <a:solidFill>
                  <a:srgbClr val="000066"/>
                </a:solidFill>
                <a:latin typeface="Times New Roman" panose="02020603050405020304" charset="0"/>
                <a:ea typeface="楷体" panose="02010609060101010101" charset="-122"/>
                <a:cs typeface="Times New Roman" panose="02020603050405020304" charset="0"/>
              </a:rPr>
              <a:t>(2)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当</a:t>
            </a: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I1</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TH</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，电路发生正反馈</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 </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3762" name="矩形 153761"/>
          <p:cNvSpPr/>
          <p:nvPr/>
        </p:nvSpPr>
        <p:spPr>
          <a:xfrm>
            <a:off x="568008" y="1608455"/>
            <a:ext cx="1577975" cy="457200"/>
          </a:xfrm>
          <a:prstGeom prst="rect">
            <a:avLst/>
          </a:prstGeom>
          <a:solidFill>
            <a:srgbClr val="FFFFFF">
              <a:alpha val="0"/>
            </a:srgbClr>
          </a:solidFill>
          <a:ln w="38100">
            <a:noFill/>
          </a:ln>
        </p:spPr>
        <p:txBody>
          <a:bodyPr>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(1) </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上升</a:t>
            </a:r>
            <a:endParaRPr lang="zh-CN" altLang="en-US"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grpSp>
        <p:nvGrpSpPr>
          <p:cNvPr id="153763" name="组合 153762"/>
          <p:cNvGrpSpPr/>
          <p:nvPr/>
        </p:nvGrpSpPr>
        <p:grpSpPr>
          <a:xfrm>
            <a:off x="692150" y="2671763"/>
            <a:ext cx="3852863" cy="644525"/>
            <a:chOff x="214" y="2459"/>
            <a:chExt cx="2427" cy="406"/>
          </a:xfrm>
        </p:grpSpPr>
        <p:sp>
          <p:nvSpPr>
            <p:cNvPr id="153764" name="矩形 153763"/>
            <p:cNvSpPr/>
            <p:nvPr/>
          </p:nvSpPr>
          <p:spPr>
            <a:xfrm>
              <a:off x="214" y="2485"/>
              <a:ext cx="40" cy="192"/>
            </a:xfrm>
            <a:prstGeom prst="rect">
              <a:avLst/>
            </a:prstGeom>
            <a:noFill/>
            <a:ln w="9525">
              <a:noFill/>
            </a:ln>
          </p:spPr>
          <p:txBody>
            <a:bodyPr wrap="none" lIns="0" tIns="0" rIns="0" bIns="0">
              <a:spAutoFit/>
            </a:bodyPr>
            <a:p>
              <a:pPr>
                <a:spcBef>
                  <a:spcPct val="50000"/>
                </a:spcBef>
              </a:pPr>
              <a:r>
                <a:rPr lang="en-US" altLang="zh-CN" sz="2000" b="1" dirty="0">
                  <a:solidFill>
                    <a:srgbClr val="000066"/>
                  </a:solidFill>
                  <a:latin typeface="Times New Roman" panose="02020603050405020304" charset="0"/>
                  <a:ea typeface="楷体_GB2312" panose="02010609030101010101" pitchFamily="49" charset="-122"/>
                </a:rPr>
                <a:t> </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65" name="矩形 153764"/>
            <p:cNvSpPr/>
            <p:nvPr/>
          </p:nvSpPr>
          <p:spPr>
            <a:xfrm>
              <a:off x="259" y="2470"/>
              <a:ext cx="71" cy="192"/>
            </a:xfrm>
            <a:prstGeom prst="rect">
              <a:avLst/>
            </a:prstGeom>
            <a:noFill/>
            <a:ln w="9525">
              <a:noFill/>
            </a:ln>
          </p:spPr>
          <p:txBody>
            <a:bodyPr wrap="none" lIns="0" tIns="0" rIns="0" bIns="0">
              <a:spAutoFit/>
            </a:bodyPr>
            <a:p>
              <a:pPr>
                <a:spcBef>
                  <a:spcPct val="50000"/>
                </a:spcBef>
              </a:pPr>
              <a:r>
                <a:rPr lang="en-US" altLang="zh-CN" sz="2000" b="1" i="1">
                  <a:solidFill>
                    <a:srgbClr val="000066"/>
                  </a:solidFill>
                  <a:latin typeface="Times New Roman" panose="02020603050405020304" charset="0"/>
                  <a:ea typeface="楷体_GB2312" panose="02010609030101010101" pitchFamily="49" charset="-122"/>
                </a:rPr>
                <a:t>v</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66" name="矩形 153765"/>
            <p:cNvSpPr/>
            <p:nvPr/>
          </p:nvSpPr>
          <p:spPr>
            <a:xfrm>
              <a:off x="354" y="2546"/>
              <a:ext cx="40"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I</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67" name="矩形 153766"/>
            <p:cNvSpPr/>
            <p:nvPr/>
          </p:nvSpPr>
          <p:spPr>
            <a:xfrm>
              <a:off x="397" y="2481"/>
              <a:ext cx="161" cy="192"/>
            </a:xfrm>
            <a:prstGeom prst="rect">
              <a:avLst/>
            </a:prstGeom>
            <a:noFill/>
            <a:ln w="9525">
              <a:noFill/>
            </a:ln>
          </p:spPr>
          <p:txBody>
            <a:bodyPr wrap="none" lIns="0" tIns="0" rIns="0" bIns="0">
              <a:spAutoFit/>
            </a:bodyPr>
            <a:p>
              <a:pPr>
                <a:spcBef>
                  <a:spcPct val="50000"/>
                </a:spcBef>
              </a:pPr>
              <a:r>
                <a:rPr lang="en-US" altLang="zh-CN" sz="2000" b="1" dirty="0">
                  <a:solidFill>
                    <a:srgbClr val="000066"/>
                  </a:solidFill>
                  <a:latin typeface="Times New Roman" panose="02020603050405020304" charset="0"/>
                  <a:ea typeface="楷体_GB2312" panose="02010609030101010101" pitchFamily="49" charset="-122"/>
                </a:rPr>
                <a:t>↑</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68" name="矩形 153767"/>
            <p:cNvSpPr/>
            <p:nvPr/>
          </p:nvSpPr>
          <p:spPr>
            <a:xfrm>
              <a:off x="572" y="2476"/>
              <a:ext cx="40" cy="192"/>
            </a:xfrm>
            <a:prstGeom prst="rect">
              <a:avLst/>
            </a:prstGeom>
            <a:noFill/>
            <a:ln w="9525">
              <a:noFill/>
            </a:ln>
          </p:spPr>
          <p:txBody>
            <a:bodyPr wrap="none" lIns="0" tIns="0" rIns="0" bIns="0">
              <a:spAutoFit/>
            </a:bodyPr>
            <a:p>
              <a:pPr>
                <a:spcBef>
                  <a:spcPct val="50000"/>
                </a:spcBef>
              </a:pPr>
              <a:r>
                <a:rPr lang="en-US" altLang="zh-CN" sz="2000" b="1" i="1" dirty="0">
                  <a:solidFill>
                    <a:srgbClr val="000066"/>
                  </a:solidFill>
                  <a:latin typeface="Times New Roman" panose="02020603050405020304" charset="0"/>
                  <a:ea typeface="楷体_GB2312" panose="02010609030101010101" pitchFamily="49" charset="-122"/>
                </a:rPr>
                <a:t> </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69" name="矩形 153768"/>
            <p:cNvSpPr/>
            <p:nvPr/>
          </p:nvSpPr>
          <p:spPr>
            <a:xfrm>
              <a:off x="907" y="2470"/>
              <a:ext cx="71" cy="192"/>
            </a:xfrm>
            <a:prstGeom prst="rect">
              <a:avLst/>
            </a:prstGeom>
            <a:noFill/>
            <a:ln w="9525">
              <a:noFill/>
            </a:ln>
          </p:spPr>
          <p:txBody>
            <a:bodyPr wrap="none" lIns="0" tIns="0" rIns="0" bIns="0">
              <a:spAutoFit/>
            </a:bodyPr>
            <a:p>
              <a:pPr>
                <a:spcBef>
                  <a:spcPct val="50000"/>
                </a:spcBef>
              </a:pPr>
              <a:r>
                <a:rPr lang="en-US" altLang="zh-CN" sz="2000" b="1" i="1">
                  <a:solidFill>
                    <a:srgbClr val="000066"/>
                  </a:solidFill>
                  <a:latin typeface="Times New Roman" panose="02020603050405020304" charset="0"/>
                  <a:ea typeface="楷体_GB2312" panose="02010609030101010101" pitchFamily="49" charset="-122"/>
                </a:rPr>
                <a:t>v</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0" name="矩形 153769"/>
            <p:cNvSpPr/>
            <p:nvPr/>
          </p:nvSpPr>
          <p:spPr>
            <a:xfrm>
              <a:off x="1002" y="2546"/>
              <a:ext cx="40"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I</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1" name="矩形 153770"/>
            <p:cNvSpPr/>
            <p:nvPr/>
          </p:nvSpPr>
          <p:spPr>
            <a:xfrm>
              <a:off x="1047" y="2546"/>
              <a:ext cx="52"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1</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2" name="矩形 153771"/>
            <p:cNvSpPr/>
            <p:nvPr/>
          </p:nvSpPr>
          <p:spPr>
            <a:xfrm>
              <a:off x="1102" y="2481"/>
              <a:ext cx="161" cy="192"/>
            </a:xfrm>
            <a:prstGeom prst="rect">
              <a:avLst/>
            </a:prstGeom>
            <a:noFill/>
            <a:ln w="9525">
              <a:noFill/>
            </a:ln>
          </p:spPr>
          <p:txBody>
            <a:bodyPr wrap="none" lIns="0" tIns="0" rIns="0" bIns="0">
              <a:spAutoFit/>
            </a:bodyPr>
            <a:p>
              <a:pPr>
                <a:spcBef>
                  <a:spcPct val="50000"/>
                </a:spcBef>
              </a:pPr>
              <a:r>
                <a:rPr lang="en-US" altLang="zh-CN" sz="2000" b="1" dirty="0">
                  <a:solidFill>
                    <a:srgbClr val="000066"/>
                  </a:solidFill>
                  <a:latin typeface="Times New Roman" panose="02020603050405020304" charset="0"/>
                  <a:ea typeface="楷体_GB2312" panose="02010609030101010101" pitchFamily="49" charset="-122"/>
                </a:rPr>
                <a:t>↑</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73" name="矩形 153772"/>
            <p:cNvSpPr/>
            <p:nvPr/>
          </p:nvSpPr>
          <p:spPr>
            <a:xfrm>
              <a:off x="1277" y="2476"/>
              <a:ext cx="40" cy="192"/>
            </a:xfrm>
            <a:prstGeom prst="rect">
              <a:avLst/>
            </a:prstGeom>
            <a:noFill/>
            <a:ln w="9525">
              <a:noFill/>
            </a:ln>
          </p:spPr>
          <p:txBody>
            <a:bodyPr wrap="none" lIns="0" tIns="0" rIns="0" bIns="0">
              <a:spAutoFit/>
            </a:bodyPr>
            <a:p>
              <a:pPr>
                <a:spcBef>
                  <a:spcPct val="50000"/>
                </a:spcBef>
              </a:pPr>
              <a:r>
                <a:rPr lang="en-US" altLang="zh-CN" sz="2000" b="1" i="1" dirty="0">
                  <a:solidFill>
                    <a:srgbClr val="000066"/>
                  </a:solidFill>
                  <a:latin typeface="Times New Roman" panose="02020603050405020304" charset="0"/>
                  <a:ea typeface="楷体_GB2312" panose="02010609030101010101" pitchFamily="49" charset="-122"/>
                </a:rPr>
                <a:t> </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74" name="矩形 153773"/>
            <p:cNvSpPr/>
            <p:nvPr/>
          </p:nvSpPr>
          <p:spPr>
            <a:xfrm>
              <a:off x="1543" y="2459"/>
              <a:ext cx="71" cy="192"/>
            </a:xfrm>
            <a:prstGeom prst="rect">
              <a:avLst/>
            </a:prstGeom>
            <a:noFill/>
            <a:ln w="9525">
              <a:noFill/>
            </a:ln>
          </p:spPr>
          <p:txBody>
            <a:bodyPr wrap="none" lIns="0" tIns="0" rIns="0" bIns="0">
              <a:spAutoFit/>
            </a:bodyPr>
            <a:p>
              <a:pPr>
                <a:spcBef>
                  <a:spcPct val="50000"/>
                </a:spcBef>
              </a:pPr>
              <a:r>
                <a:rPr lang="en-US" altLang="zh-CN" sz="2000" b="1" i="1">
                  <a:solidFill>
                    <a:srgbClr val="000066"/>
                  </a:solidFill>
                  <a:latin typeface="Times New Roman" panose="02020603050405020304" charset="0"/>
                  <a:ea typeface="楷体_GB2312" panose="02010609030101010101" pitchFamily="49" charset="-122"/>
                </a:rPr>
                <a:t>v</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5" name="矩形 153774"/>
            <p:cNvSpPr/>
            <p:nvPr/>
          </p:nvSpPr>
          <p:spPr>
            <a:xfrm>
              <a:off x="1638" y="2535"/>
              <a:ext cx="81"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O</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6" name="矩形 153775"/>
            <p:cNvSpPr/>
            <p:nvPr/>
          </p:nvSpPr>
          <p:spPr>
            <a:xfrm>
              <a:off x="1726" y="2535"/>
              <a:ext cx="52"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1</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7" name="矩形 153776"/>
            <p:cNvSpPr/>
            <p:nvPr/>
          </p:nvSpPr>
          <p:spPr>
            <a:xfrm>
              <a:off x="1719" y="2666"/>
              <a:ext cx="40" cy="192"/>
            </a:xfrm>
            <a:prstGeom prst="rect">
              <a:avLst/>
            </a:prstGeom>
            <a:noFill/>
            <a:ln w="9525">
              <a:noFill/>
            </a:ln>
          </p:spPr>
          <p:txBody>
            <a:bodyPr wrap="none" lIns="0" tIns="0" rIns="0" bIns="0">
              <a:spAutoFit/>
            </a:bodyPr>
            <a:p>
              <a:pPr>
                <a:spcBef>
                  <a:spcPct val="50000"/>
                </a:spcBef>
              </a:pPr>
              <a:r>
                <a:rPr lang="en-US" altLang="zh-CN" sz="2000" b="1" i="1" dirty="0">
                  <a:solidFill>
                    <a:srgbClr val="000066"/>
                  </a:solidFill>
                  <a:latin typeface="Times New Roman" panose="02020603050405020304" charset="0"/>
                  <a:ea typeface="楷体_GB2312" panose="02010609030101010101" pitchFamily="49" charset="-122"/>
                </a:rPr>
                <a:t> </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78" name="矩形 153777"/>
            <p:cNvSpPr/>
            <p:nvPr/>
          </p:nvSpPr>
          <p:spPr>
            <a:xfrm>
              <a:off x="2244" y="2470"/>
              <a:ext cx="71" cy="192"/>
            </a:xfrm>
            <a:prstGeom prst="rect">
              <a:avLst/>
            </a:prstGeom>
            <a:noFill/>
            <a:ln w="9525">
              <a:noFill/>
            </a:ln>
          </p:spPr>
          <p:txBody>
            <a:bodyPr wrap="none" lIns="0" tIns="0" rIns="0" bIns="0">
              <a:spAutoFit/>
            </a:bodyPr>
            <a:p>
              <a:pPr>
                <a:spcBef>
                  <a:spcPct val="50000"/>
                </a:spcBef>
              </a:pPr>
              <a:r>
                <a:rPr lang="en-US" altLang="zh-CN" sz="2000" b="1" i="1">
                  <a:solidFill>
                    <a:srgbClr val="000066"/>
                  </a:solidFill>
                  <a:latin typeface="Times New Roman" panose="02020603050405020304" charset="0"/>
                  <a:ea typeface="楷体_GB2312" panose="02010609030101010101" pitchFamily="49" charset="-122"/>
                </a:rPr>
                <a:t>v</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79" name="矩形 153778"/>
            <p:cNvSpPr/>
            <p:nvPr/>
          </p:nvSpPr>
          <p:spPr>
            <a:xfrm>
              <a:off x="2339" y="2546"/>
              <a:ext cx="81"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O</a:t>
              </a:r>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780" name="矩形 153779"/>
            <p:cNvSpPr/>
            <p:nvPr/>
          </p:nvSpPr>
          <p:spPr>
            <a:xfrm>
              <a:off x="2426" y="2481"/>
              <a:ext cx="161" cy="192"/>
            </a:xfrm>
            <a:prstGeom prst="rect">
              <a:avLst/>
            </a:prstGeom>
            <a:noFill/>
            <a:ln w="9525">
              <a:noFill/>
            </a:ln>
          </p:spPr>
          <p:txBody>
            <a:bodyPr wrap="none" lIns="0" tIns="0" rIns="0" bIns="0">
              <a:spAutoFit/>
            </a:bodyPr>
            <a:p>
              <a:pPr>
                <a:spcBef>
                  <a:spcPct val="50000"/>
                </a:spcBef>
              </a:pPr>
              <a:r>
                <a:rPr lang="en-US" altLang="zh-CN" sz="2000" b="1" dirty="0">
                  <a:solidFill>
                    <a:srgbClr val="000066"/>
                  </a:solidFill>
                  <a:latin typeface="Times New Roman" panose="02020603050405020304" charset="0"/>
                  <a:ea typeface="楷体_GB2312" panose="02010609030101010101" pitchFamily="49" charset="-122"/>
                </a:rPr>
                <a:t>↑</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81" name="矩形 153780"/>
            <p:cNvSpPr/>
            <p:nvPr/>
          </p:nvSpPr>
          <p:spPr>
            <a:xfrm>
              <a:off x="2601" y="2476"/>
              <a:ext cx="40" cy="192"/>
            </a:xfrm>
            <a:prstGeom prst="rect">
              <a:avLst/>
            </a:prstGeom>
            <a:noFill/>
            <a:ln w="9525">
              <a:noFill/>
            </a:ln>
          </p:spPr>
          <p:txBody>
            <a:bodyPr wrap="none" lIns="0" tIns="0" rIns="0" bIns="0">
              <a:spAutoFit/>
            </a:bodyPr>
            <a:p>
              <a:pPr>
                <a:spcBef>
                  <a:spcPct val="50000"/>
                </a:spcBef>
              </a:pPr>
              <a:r>
                <a:rPr lang="en-US" altLang="zh-CN" sz="2000" b="1" i="1" dirty="0">
                  <a:solidFill>
                    <a:srgbClr val="000066"/>
                  </a:solidFill>
                  <a:latin typeface="Times New Roman" panose="02020603050405020304" charset="0"/>
                  <a:ea typeface="楷体_GB2312" panose="02010609030101010101" pitchFamily="49" charset="-122"/>
                </a:rPr>
                <a:t> </a:t>
              </a:r>
              <a:endParaRPr lang="en-US" altLang="zh-CN" sz="2400" b="1" dirty="0">
                <a:solidFill>
                  <a:srgbClr val="000066"/>
                </a:solidFill>
                <a:latin typeface="Times New Roman" panose="02020603050405020304" charset="0"/>
                <a:ea typeface="楷体_GB2312" panose="02010609030101010101" pitchFamily="49" charset="-122"/>
              </a:endParaRPr>
            </a:p>
          </p:txBody>
        </p:sp>
        <p:sp>
          <p:nvSpPr>
            <p:cNvPr id="153782" name="直接连接符 153781"/>
            <p:cNvSpPr/>
            <p:nvPr/>
          </p:nvSpPr>
          <p:spPr>
            <a:xfrm>
              <a:off x="2404" y="2658"/>
              <a:ext cx="1" cy="206"/>
            </a:xfrm>
            <a:prstGeom prst="line">
              <a:avLst/>
            </a:prstGeom>
            <a:ln w="38100" cap="flat" cmpd="sng">
              <a:solidFill>
                <a:srgbClr val="000099"/>
              </a:solidFill>
              <a:prstDash val="solid"/>
              <a:headEnd type="none" w="med" len="med"/>
              <a:tailEnd type="none" w="med" len="med"/>
            </a:ln>
          </p:spPr>
        </p:sp>
        <p:sp>
          <p:nvSpPr>
            <p:cNvPr id="153783" name="直接连接符 153782"/>
            <p:cNvSpPr/>
            <p:nvPr/>
          </p:nvSpPr>
          <p:spPr>
            <a:xfrm>
              <a:off x="1075" y="2864"/>
              <a:ext cx="1329" cy="1"/>
            </a:xfrm>
            <a:prstGeom prst="line">
              <a:avLst/>
            </a:prstGeom>
            <a:ln w="38100" cap="flat" cmpd="sng">
              <a:solidFill>
                <a:srgbClr val="000099"/>
              </a:solidFill>
              <a:prstDash val="solid"/>
              <a:headEnd type="none" w="med" len="med"/>
              <a:tailEnd type="none" w="med" len="med"/>
            </a:ln>
          </p:spPr>
        </p:sp>
        <p:sp>
          <p:nvSpPr>
            <p:cNvPr id="153784" name="直接连接符 153783"/>
            <p:cNvSpPr/>
            <p:nvPr/>
          </p:nvSpPr>
          <p:spPr>
            <a:xfrm>
              <a:off x="529" y="2568"/>
              <a:ext cx="351" cy="1"/>
            </a:xfrm>
            <a:prstGeom prst="line">
              <a:avLst/>
            </a:prstGeom>
            <a:ln w="28575" cap="flat" cmpd="sng">
              <a:solidFill>
                <a:srgbClr val="000099"/>
              </a:solidFill>
              <a:prstDash val="solid"/>
              <a:headEnd type="none" w="med" len="med"/>
              <a:tailEnd type="none" w="med" len="med"/>
            </a:ln>
          </p:spPr>
        </p:sp>
        <p:sp>
          <p:nvSpPr>
            <p:cNvPr id="153785" name="任意多边形 153784"/>
            <p:cNvSpPr/>
            <p:nvPr/>
          </p:nvSpPr>
          <p:spPr>
            <a:xfrm>
              <a:off x="748" y="2544"/>
              <a:ext cx="134" cy="35"/>
            </a:xfrm>
            <a:custGeom>
              <a:avLst/>
              <a:gdLst/>
              <a:ahLst/>
              <a:cxnLst/>
              <a:pathLst>
                <a:path w="134" h="35">
                  <a:moveTo>
                    <a:pt x="134" y="19"/>
                  </a:moveTo>
                  <a:lnTo>
                    <a:pt x="0" y="0"/>
                  </a:lnTo>
                  <a:lnTo>
                    <a:pt x="0" y="35"/>
                  </a:lnTo>
                  <a:lnTo>
                    <a:pt x="134" y="19"/>
                  </a:lnTo>
                  <a:close/>
                </a:path>
              </a:pathLst>
            </a:custGeom>
            <a:solidFill>
              <a:srgbClr val="000000"/>
            </a:solidFill>
            <a:ln w="9525">
              <a:noFill/>
            </a:ln>
          </p:spPr>
          <p:txBody>
            <a:bodyPr/>
            <a:p>
              <a:endParaRPr lang="zh-CN" altLang="en-US"/>
            </a:p>
          </p:txBody>
        </p:sp>
        <p:sp>
          <p:nvSpPr>
            <p:cNvPr id="153786" name="任意多边形 153785"/>
            <p:cNvSpPr/>
            <p:nvPr/>
          </p:nvSpPr>
          <p:spPr>
            <a:xfrm>
              <a:off x="748" y="2544"/>
              <a:ext cx="134" cy="35"/>
            </a:xfrm>
            <a:custGeom>
              <a:avLst/>
              <a:gdLst/>
              <a:ahLst/>
              <a:cxnLst/>
              <a:pathLst>
                <a:path w="134" h="35">
                  <a:moveTo>
                    <a:pt x="134" y="19"/>
                  </a:moveTo>
                  <a:lnTo>
                    <a:pt x="0" y="0"/>
                  </a:lnTo>
                  <a:lnTo>
                    <a:pt x="0" y="35"/>
                  </a:lnTo>
                  <a:lnTo>
                    <a:pt x="134" y="19"/>
                  </a:lnTo>
                  <a:close/>
                </a:path>
              </a:pathLst>
            </a:custGeom>
            <a:noFill/>
            <a:ln w="6350" cap="flat" cmpd="sng">
              <a:solidFill>
                <a:srgbClr val="000099"/>
              </a:solidFill>
              <a:prstDash val="solid"/>
              <a:headEnd type="none" w="med" len="med"/>
              <a:tailEnd type="none" w="med" len="med"/>
            </a:ln>
          </p:spPr>
          <p:txBody>
            <a:bodyPr/>
            <a:p>
              <a:endParaRPr lang="zh-CN" altLang="en-US"/>
            </a:p>
          </p:txBody>
        </p:sp>
        <p:sp>
          <p:nvSpPr>
            <p:cNvPr id="153787" name="直接连接符 153786"/>
            <p:cNvSpPr/>
            <p:nvPr/>
          </p:nvSpPr>
          <p:spPr>
            <a:xfrm>
              <a:off x="1248" y="2568"/>
              <a:ext cx="283" cy="1"/>
            </a:xfrm>
            <a:prstGeom prst="line">
              <a:avLst/>
            </a:prstGeom>
            <a:ln w="28575" cap="flat" cmpd="sng">
              <a:solidFill>
                <a:srgbClr val="000099"/>
              </a:solidFill>
              <a:prstDash val="solid"/>
              <a:headEnd type="none" w="med" len="med"/>
              <a:tailEnd type="none" w="med" len="med"/>
            </a:ln>
          </p:spPr>
        </p:sp>
        <p:sp>
          <p:nvSpPr>
            <p:cNvPr id="153788" name="任意多边形 153787"/>
            <p:cNvSpPr/>
            <p:nvPr/>
          </p:nvSpPr>
          <p:spPr>
            <a:xfrm>
              <a:off x="1400" y="2544"/>
              <a:ext cx="135" cy="35"/>
            </a:xfrm>
            <a:custGeom>
              <a:avLst/>
              <a:gdLst/>
              <a:ahLst/>
              <a:cxnLst/>
              <a:pathLst>
                <a:path w="135" h="35">
                  <a:moveTo>
                    <a:pt x="135" y="19"/>
                  </a:moveTo>
                  <a:lnTo>
                    <a:pt x="0" y="0"/>
                  </a:lnTo>
                  <a:lnTo>
                    <a:pt x="0" y="35"/>
                  </a:lnTo>
                  <a:lnTo>
                    <a:pt x="135" y="19"/>
                  </a:lnTo>
                  <a:close/>
                </a:path>
              </a:pathLst>
            </a:custGeom>
            <a:solidFill>
              <a:srgbClr val="000000"/>
            </a:solidFill>
            <a:ln w="9525">
              <a:noFill/>
            </a:ln>
          </p:spPr>
          <p:txBody>
            <a:bodyPr/>
            <a:p>
              <a:endParaRPr lang="zh-CN" altLang="en-US"/>
            </a:p>
          </p:txBody>
        </p:sp>
        <p:sp>
          <p:nvSpPr>
            <p:cNvPr id="153789" name="任意多边形 153788"/>
            <p:cNvSpPr/>
            <p:nvPr/>
          </p:nvSpPr>
          <p:spPr>
            <a:xfrm>
              <a:off x="1400" y="2544"/>
              <a:ext cx="135" cy="35"/>
            </a:xfrm>
            <a:custGeom>
              <a:avLst/>
              <a:gdLst/>
              <a:ahLst/>
              <a:cxnLst/>
              <a:pathLst>
                <a:path w="135" h="35">
                  <a:moveTo>
                    <a:pt x="135" y="19"/>
                  </a:moveTo>
                  <a:lnTo>
                    <a:pt x="0" y="0"/>
                  </a:lnTo>
                  <a:lnTo>
                    <a:pt x="0" y="35"/>
                  </a:lnTo>
                  <a:lnTo>
                    <a:pt x="135" y="19"/>
                  </a:lnTo>
                  <a:close/>
                </a:path>
              </a:pathLst>
            </a:custGeom>
            <a:noFill/>
            <a:ln w="6350" cap="flat" cmpd="sng">
              <a:solidFill>
                <a:srgbClr val="000099"/>
              </a:solidFill>
              <a:prstDash val="solid"/>
              <a:headEnd type="none" w="med" len="med"/>
              <a:tailEnd type="none" w="med" len="med"/>
            </a:ln>
          </p:spPr>
          <p:txBody>
            <a:bodyPr/>
            <a:p>
              <a:endParaRPr lang="zh-CN" altLang="en-US"/>
            </a:p>
          </p:txBody>
        </p:sp>
        <p:sp>
          <p:nvSpPr>
            <p:cNvPr id="153790" name="直接连接符 153789"/>
            <p:cNvSpPr/>
            <p:nvPr/>
          </p:nvSpPr>
          <p:spPr>
            <a:xfrm>
              <a:off x="1882" y="2568"/>
              <a:ext cx="351" cy="1"/>
            </a:xfrm>
            <a:prstGeom prst="line">
              <a:avLst/>
            </a:prstGeom>
            <a:ln w="28575" cap="flat" cmpd="sng">
              <a:solidFill>
                <a:srgbClr val="000099"/>
              </a:solidFill>
              <a:prstDash val="solid"/>
              <a:headEnd type="none" w="med" len="med"/>
              <a:tailEnd type="none" w="med" len="med"/>
            </a:ln>
          </p:spPr>
        </p:sp>
        <p:sp>
          <p:nvSpPr>
            <p:cNvPr id="153791" name="任意多边形 153790"/>
            <p:cNvSpPr/>
            <p:nvPr/>
          </p:nvSpPr>
          <p:spPr>
            <a:xfrm>
              <a:off x="2101" y="2544"/>
              <a:ext cx="136" cy="35"/>
            </a:xfrm>
            <a:custGeom>
              <a:avLst/>
              <a:gdLst/>
              <a:ahLst/>
              <a:cxnLst/>
              <a:pathLst>
                <a:path w="136" h="35">
                  <a:moveTo>
                    <a:pt x="136" y="19"/>
                  </a:moveTo>
                  <a:lnTo>
                    <a:pt x="0" y="0"/>
                  </a:lnTo>
                  <a:lnTo>
                    <a:pt x="0" y="35"/>
                  </a:lnTo>
                  <a:lnTo>
                    <a:pt x="136" y="19"/>
                  </a:lnTo>
                  <a:close/>
                </a:path>
              </a:pathLst>
            </a:custGeom>
            <a:solidFill>
              <a:srgbClr val="000000"/>
            </a:solidFill>
            <a:ln w="9525">
              <a:noFill/>
            </a:ln>
          </p:spPr>
          <p:txBody>
            <a:bodyPr/>
            <a:p>
              <a:endParaRPr lang="zh-CN" altLang="en-US"/>
            </a:p>
          </p:txBody>
        </p:sp>
        <p:sp>
          <p:nvSpPr>
            <p:cNvPr id="153792" name="任意多边形 153791"/>
            <p:cNvSpPr/>
            <p:nvPr/>
          </p:nvSpPr>
          <p:spPr>
            <a:xfrm>
              <a:off x="2101" y="2544"/>
              <a:ext cx="136" cy="35"/>
            </a:xfrm>
            <a:custGeom>
              <a:avLst/>
              <a:gdLst/>
              <a:ahLst/>
              <a:cxnLst/>
              <a:pathLst>
                <a:path w="136" h="35">
                  <a:moveTo>
                    <a:pt x="136" y="19"/>
                  </a:moveTo>
                  <a:lnTo>
                    <a:pt x="0" y="0"/>
                  </a:lnTo>
                  <a:lnTo>
                    <a:pt x="0" y="35"/>
                  </a:lnTo>
                  <a:lnTo>
                    <a:pt x="136" y="19"/>
                  </a:lnTo>
                  <a:close/>
                </a:path>
              </a:pathLst>
            </a:custGeom>
            <a:noFill/>
            <a:ln w="6350" cap="flat" cmpd="sng">
              <a:solidFill>
                <a:srgbClr val="000099"/>
              </a:solidFill>
              <a:prstDash val="solid"/>
              <a:headEnd type="none" w="med" len="med"/>
              <a:tailEnd type="none" w="med" len="med"/>
            </a:ln>
          </p:spPr>
          <p:txBody>
            <a:bodyPr/>
            <a:p>
              <a:endParaRPr lang="zh-CN" altLang="en-US"/>
            </a:p>
          </p:txBody>
        </p:sp>
        <p:sp>
          <p:nvSpPr>
            <p:cNvPr id="153793" name="直接连接符 153792"/>
            <p:cNvSpPr/>
            <p:nvPr/>
          </p:nvSpPr>
          <p:spPr>
            <a:xfrm flipV="1">
              <a:off x="1075" y="2658"/>
              <a:ext cx="1" cy="206"/>
            </a:xfrm>
            <a:prstGeom prst="line">
              <a:avLst/>
            </a:prstGeom>
            <a:ln w="38100" cap="flat" cmpd="sng">
              <a:solidFill>
                <a:srgbClr val="000099"/>
              </a:solidFill>
              <a:prstDash val="solid"/>
              <a:headEnd type="none" w="med" len="med"/>
              <a:tailEnd type="none" w="med" len="med"/>
            </a:ln>
          </p:spPr>
        </p:sp>
        <p:sp>
          <p:nvSpPr>
            <p:cNvPr id="153794" name="任意多边形 153793"/>
            <p:cNvSpPr/>
            <p:nvPr/>
          </p:nvSpPr>
          <p:spPr>
            <a:xfrm>
              <a:off x="1051" y="2654"/>
              <a:ext cx="35" cy="125"/>
            </a:xfrm>
            <a:custGeom>
              <a:avLst/>
              <a:gdLst/>
              <a:ahLst/>
              <a:cxnLst/>
              <a:pathLst>
                <a:path w="35" h="125">
                  <a:moveTo>
                    <a:pt x="18" y="0"/>
                  </a:moveTo>
                  <a:lnTo>
                    <a:pt x="0" y="125"/>
                  </a:lnTo>
                  <a:lnTo>
                    <a:pt x="35" y="125"/>
                  </a:lnTo>
                  <a:lnTo>
                    <a:pt x="18" y="0"/>
                  </a:lnTo>
                  <a:close/>
                </a:path>
              </a:pathLst>
            </a:custGeom>
            <a:solidFill>
              <a:srgbClr val="000000"/>
            </a:solidFill>
            <a:ln w="9525">
              <a:noFill/>
            </a:ln>
          </p:spPr>
          <p:txBody>
            <a:bodyPr/>
            <a:p>
              <a:endParaRPr lang="zh-CN" altLang="en-US"/>
            </a:p>
          </p:txBody>
        </p:sp>
        <p:sp>
          <p:nvSpPr>
            <p:cNvPr id="153795" name="任意多边形 153794"/>
            <p:cNvSpPr/>
            <p:nvPr/>
          </p:nvSpPr>
          <p:spPr>
            <a:xfrm>
              <a:off x="1051" y="2654"/>
              <a:ext cx="35" cy="125"/>
            </a:xfrm>
            <a:custGeom>
              <a:avLst/>
              <a:gdLst/>
              <a:ahLst/>
              <a:cxnLst/>
              <a:pathLst>
                <a:path w="35" h="125">
                  <a:moveTo>
                    <a:pt x="18" y="0"/>
                  </a:moveTo>
                  <a:lnTo>
                    <a:pt x="0" y="125"/>
                  </a:lnTo>
                  <a:lnTo>
                    <a:pt x="35" y="125"/>
                  </a:lnTo>
                  <a:lnTo>
                    <a:pt x="18" y="0"/>
                  </a:lnTo>
                  <a:close/>
                </a:path>
              </a:pathLst>
            </a:custGeom>
            <a:noFill/>
            <a:ln w="28575" cap="flat" cmpd="sng">
              <a:solidFill>
                <a:srgbClr val="000099"/>
              </a:solidFill>
              <a:prstDash val="solid"/>
              <a:headEnd type="none" w="med" len="med"/>
              <a:tailEnd type="none" w="med" len="med"/>
            </a:ln>
          </p:spPr>
          <p:txBody>
            <a:bodyPr/>
            <a:p>
              <a:endParaRPr lang="zh-CN" altLang="en-US"/>
            </a:p>
          </p:txBody>
        </p:sp>
        <p:sp>
          <p:nvSpPr>
            <p:cNvPr id="153796" name="直接连接符 153795"/>
            <p:cNvSpPr/>
            <p:nvPr/>
          </p:nvSpPr>
          <p:spPr>
            <a:xfrm>
              <a:off x="1817" y="2491"/>
              <a:ext cx="0" cy="137"/>
            </a:xfrm>
            <a:prstGeom prst="line">
              <a:avLst/>
            </a:prstGeom>
            <a:ln w="28575" cap="flat" cmpd="sng">
              <a:solidFill>
                <a:srgbClr val="000099"/>
              </a:solidFill>
              <a:prstDash val="solid"/>
              <a:headEnd type="none" w="med" len="med"/>
              <a:tailEnd type="stealth" w="med" len="med"/>
            </a:ln>
          </p:spPr>
        </p:sp>
        <p:sp>
          <p:nvSpPr>
            <p:cNvPr id="153797" name="直接连接符 153796"/>
            <p:cNvSpPr/>
            <p:nvPr/>
          </p:nvSpPr>
          <p:spPr>
            <a:xfrm>
              <a:off x="2404" y="2658"/>
              <a:ext cx="1" cy="206"/>
            </a:xfrm>
            <a:prstGeom prst="line">
              <a:avLst/>
            </a:prstGeom>
            <a:ln w="38100" cap="flat" cmpd="sng">
              <a:solidFill>
                <a:srgbClr val="000099"/>
              </a:solidFill>
              <a:prstDash val="solid"/>
              <a:headEnd type="none" w="med" len="med"/>
              <a:tailEnd type="none" w="med" len="med"/>
            </a:ln>
          </p:spPr>
        </p:sp>
      </p:grpSp>
      <p:grpSp>
        <p:nvGrpSpPr>
          <p:cNvPr id="153798" name="组合 153797"/>
          <p:cNvGrpSpPr/>
          <p:nvPr/>
        </p:nvGrpSpPr>
        <p:grpSpPr>
          <a:xfrm>
            <a:off x="474663" y="1212850"/>
            <a:ext cx="2935287" cy="703263"/>
            <a:chOff x="3194" y="883"/>
            <a:chExt cx="1500" cy="389"/>
          </a:xfrm>
        </p:grpSpPr>
        <p:sp>
          <p:nvSpPr>
            <p:cNvPr id="153799" name="矩形 153798"/>
            <p:cNvSpPr/>
            <p:nvPr/>
          </p:nvSpPr>
          <p:spPr>
            <a:xfrm>
              <a:off x="3194" y="883"/>
              <a:ext cx="1500" cy="255"/>
            </a:xfrm>
            <a:prstGeom prst="rect">
              <a:avLst/>
            </a:prstGeom>
            <a:noFill/>
            <a:ln w="38100">
              <a:noFill/>
            </a:ln>
          </p:spPr>
          <p:txBody>
            <a:bodyPr>
              <a:spAutoFit/>
            </a:bodyPr>
            <a:p>
              <a:pPr algn="ctr"/>
              <a:r>
                <a:rPr lang="zh-CN" altLang="en-US" sz="2400" b="1">
                  <a:solidFill>
                    <a:srgbClr val="000099"/>
                  </a:solidFill>
                  <a:latin typeface="Times New Roman" panose="02020603050405020304" charset="0"/>
                  <a:ea typeface="楷体" panose="02010609060101010101" charset="-122"/>
                  <a:cs typeface="Times New Roman" panose="02020603050405020304" charset="0"/>
                </a:rPr>
                <a:t>当</a:t>
              </a:r>
              <a:r>
                <a:rPr lang="en-US" altLang="zh-CN" b="1" i="1">
                  <a:solidFill>
                    <a:srgbClr val="000099"/>
                  </a:solidFill>
                  <a:latin typeface="Times New Roman" panose="02020603050405020304" charset="0"/>
                  <a:ea typeface="楷体" panose="02010609060101010101" charset="-122"/>
                  <a:cs typeface="Times New Roman" panose="02020603050405020304" charset="0"/>
                </a:rPr>
                <a:t>v</a:t>
              </a:r>
              <a:r>
                <a:rPr lang="en-US" altLang="zh-CN" b="1" baseline="-25000">
                  <a:solidFill>
                    <a:srgbClr val="000099"/>
                  </a:solidFill>
                  <a:latin typeface="Times New Roman" panose="02020603050405020304" charset="0"/>
                  <a:ea typeface="楷体" panose="02010609060101010101" charset="-122"/>
                  <a:cs typeface="Times New Roman" panose="02020603050405020304" charset="0"/>
                </a:rPr>
                <a:t>I1</a:t>
              </a:r>
              <a:r>
                <a:rPr lang="en-US" altLang="zh-CN" sz="2400" b="1">
                  <a:solidFill>
                    <a:srgbClr val="000099"/>
                  </a:solidFill>
                  <a:latin typeface="Times New Roman" panose="02020603050405020304" charset="0"/>
                  <a:ea typeface="楷体" panose="02010609060101010101" charset="-122"/>
                  <a:cs typeface="Times New Roman" panose="02020603050405020304" charset="0"/>
                  <a:sym typeface="Symbol" panose="05050102010706020507" pitchFamily="18" charset="2"/>
                </a:rPr>
                <a:t>=0</a:t>
              </a:r>
              <a:r>
                <a:rPr lang="zh-CN" altLang="en-US" sz="2400" b="1">
                  <a:solidFill>
                    <a:srgbClr val="000099"/>
                  </a:solidFill>
                  <a:latin typeface="Times New Roman" panose="02020603050405020304" charset="0"/>
                  <a:ea typeface="楷体" panose="02010609060101010101" charset="-122"/>
                  <a:cs typeface="Times New Roman" panose="02020603050405020304" charset="0"/>
                </a:rPr>
                <a:t>，      </a:t>
              </a:r>
              <a:r>
                <a:rPr lang="en-US" altLang="zh-CN" sz="2400" b="1">
                  <a:solidFill>
                    <a:srgbClr val="000099"/>
                  </a:solidFill>
                  <a:latin typeface="Times New Roman" panose="02020603050405020304" charset="0"/>
                  <a:ea typeface="楷体" panose="02010609060101010101" charset="-122"/>
                  <a:cs typeface="Times New Roman" panose="02020603050405020304" charset="0"/>
                </a:rPr>
                <a:t>= 0V</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153800" name="矩形 153799"/>
            <p:cNvSpPr/>
            <p:nvPr/>
          </p:nvSpPr>
          <p:spPr>
            <a:xfrm>
              <a:off x="4083" y="918"/>
              <a:ext cx="144" cy="354"/>
            </a:xfrm>
            <a:prstGeom prst="rect">
              <a:avLst/>
            </a:prstGeom>
            <a:noFill/>
            <a:ln w="9525">
              <a:noFill/>
            </a:ln>
          </p:spPr>
          <p:txBody>
            <a:bodyPr lIns="0" tIns="0" rIns="0" bIns="0">
              <a:spAutoFit/>
            </a:bodyPr>
            <a:p>
              <a:r>
                <a:rPr lang="en-US" altLang="zh-CN" b="1" i="1">
                  <a:solidFill>
                    <a:srgbClr val="000099"/>
                  </a:solidFill>
                  <a:latin typeface="Times New Roman" panose="02020603050405020304" charset="0"/>
                  <a:ea typeface="楷体" panose="02010609060101010101" charset="-122"/>
                  <a:cs typeface="Times New Roman" panose="02020603050405020304" charset="0"/>
                </a:rPr>
                <a:t>v</a:t>
              </a:r>
              <a:endParaRPr lang="en-US" altLang="zh-CN" b="1" baseline="-25000">
                <a:solidFill>
                  <a:srgbClr val="000099"/>
                </a:solidFill>
                <a:latin typeface="Times New Roman" panose="02020603050405020304" charset="0"/>
                <a:ea typeface="楷体" panose="02010609060101010101" charset="-122"/>
                <a:cs typeface="Times New Roman" panose="02020603050405020304" charset="0"/>
              </a:endParaRPr>
            </a:p>
            <a:p>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153801" name="矩形 153800"/>
            <p:cNvSpPr/>
            <p:nvPr/>
          </p:nvSpPr>
          <p:spPr>
            <a:xfrm>
              <a:off x="4133" y="994"/>
              <a:ext cx="65" cy="109"/>
            </a:xfrm>
            <a:prstGeom prst="rect">
              <a:avLst/>
            </a:prstGeom>
            <a:noFill/>
            <a:ln w="9525">
              <a:noFill/>
            </a:ln>
          </p:spPr>
          <p:txBody>
            <a:bodyPr wrap="none" lIns="0" tIns="0" rIns="0" bIns="0">
              <a:spAutoFit/>
            </a:bodyPr>
            <a:p>
              <a:pPr>
                <a:spcBef>
                  <a:spcPct val="50000"/>
                </a:spcBef>
              </a:pPr>
              <a:r>
                <a:rPr lang="en-US" altLang="zh-CN" sz="1300" b="1">
                  <a:solidFill>
                    <a:srgbClr val="000099"/>
                  </a:solidFill>
                  <a:latin typeface="Times New Roman" panose="02020603050405020304" charset="0"/>
                  <a:ea typeface="楷体" panose="02010609060101010101" charset="-122"/>
                  <a:cs typeface="Times New Roman" panose="02020603050405020304" charset="0"/>
                </a:rPr>
                <a:t>O</a:t>
              </a:r>
              <a:endParaRPr lang="en-US" altLang="zh-CN" sz="1300" b="1">
                <a:solidFill>
                  <a:srgbClr val="000099"/>
                </a:solidFill>
                <a:latin typeface="Times New Roman" panose="02020603050405020304" charset="0"/>
                <a:ea typeface="楷体" panose="02010609060101010101" charset="-122"/>
                <a:cs typeface="Times New Roman" panose="02020603050405020304" charset="0"/>
              </a:endParaRPr>
            </a:p>
          </p:txBody>
        </p:sp>
      </p:grpSp>
      <p:sp>
        <p:nvSpPr>
          <p:cNvPr id="153802" name="直接连接符 153801"/>
          <p:cNvSpPr/>
          <p:nvPr/>
        </p:nvSpPr>
        <p:spPr>
          <a:xfrm>
            <a:off x="4591050" y="2849563"/>
            <a:ext cx="574675" cy="12700"/>
          </a:xfrm>
          <a:prstGeom prst="line">
            <a:avLst/>
          </a:prstGeom>
          <a:ln w="57150" cap="flat" cmpd="sng">
            <a:solidFill>
              <a:srgbClr val="000099"/>
            </a:solidFill>
            <a:prstDash val="solid"/>
            <a:headEnd type="none" w="med" len="med"/>
            <a:tailEnd type="triangle" w="med" len="med"/>
          </a:ln>
        </p:spPr>
      </p:sp>
      <p:grpSp>
        <p:nvGrpSpPr>
          <p:cNvPr id="153803" name="组合 153802"/>
          <p:cNvGrpSpPr/>
          <p:nvPr/>
        </p:nvGrpSpPr>
        <p:grpSpPr>
          <a:xfrm>
            <a:off x="5187950" y="2503488"/>
            <a:ext cx="2146300" cy="746833"/>
            <a:chOff x="404" y="3030"/>
            <a:chExt cx="1352" cy="546"/>
          </a:xfrm>
        </p:grpSpPr>
        <p:grpSp>
          <p:nvGrpSpPr>
            <p:cNvPr id="153804" name="组合 153803"/>
            <p:cNvGrpSpPr/>
            <p:nvPr/>
          </p:nvGrpSpPr>
          <p:grpSpPr>
            <a:xfrm>
              <a:off x="522" y="3104"/>
              <a:ext cx="146" cy="472"/>
              <a:chOff x="5376" y="1115"/>
              <a:chExt cx="146" cy="472"/>
            </a:xfrm>
          </p:grpSpPr>
          <p:sp>
            <p:nvSpPr>
              <p:cNvPr id="153805" name="矩形 153804"/>
              <p:cNvSpPr/>
              <p:nvPr/>
            </p:nvSpPr>
            <p:spPr>
              <a:xfrm>
                <a:off x="5376" y="1115"/>
                <a:ext cx="130" cy="472"/>
              </a:xfrm>
              <a:prstGeom prst="rect">
                <a:avLst/>
              </a:prstGeom>
              <a:noFill/>
              <a:ln w="9525">
                <a:noFill/>
              </a:ln>
            </p:spPr>
            <p:txBody>
              <a:bodyPr wrap="squar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baseline="-25000">
                  <a:solidFill>
                    <a:srgbClr val="000066"/>
                  </a:solidFill>
                  <a:latin typeface="Times New Roman" panose="02020603050405020304" charset="0"/>
                  <a:ea typeface="楷体_GB2312" panose="02010609030101010101" pitchFamily="49" charset="-122"/>
                </a:endParaRPr>
              </a:p>
              <a:p>
                <a:endParaRPr lang="en-US" altLang="zh-CN" sz="2400" b="1">
                  <a:solidFill>
                    <a:srgbClr val="000066"/>
                  </a:solidFill>
                  <a:latin typeface="Times New Roman" panose="02020603050405020304" charset="0"/>
                  <a:ea typeface="楷体_GB2312" panose="02010609030101010101" pitchFamily="49" charset="-122"/>
                </a:endParaRPr>
              </a:p>
            </p:txBody>
          </p:sp>
          <p:sp>
            <p:nvSpPr>
              <p:cNvPr id="153806" name="矩形 153805"/>
              <p:cNvSpPr/>
              <p:nvPr/>
            </p:nvSpPr>
            <p:spPr>
              <a:xfrm>
                <a:off x="5441" y="1190"/>
                <a:ext cx="81" cy="146"/>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_GB2312" panose="02010609030101010101" pitchFamily="49" charset="-122"/>
                  </a:rPr>
                  <a:t>O</a:t>
                </a:r>
                <a:endParaRPr lang="en-US" altLang="zh-CN" sz="2400" b="1">
                  <a:solidFill>
                    <a:srgbClr val="000066"/>
                  </a:solidFill>
                  <a:latin typeface="Times New Roman" panose="02020603050405020304" charset="0"/>
                  <a:ea typeface="楷体_GB2312" panose="02010609030101010101" pitchFamily="49" charset="-122"/>
                </a:endParaRPr>
              </a:p>
            </p:txBody>
          </p:sp>
        </p:grpSp>
        <p:sp>
          <p:nvSpPr>
            <p:cNvPr id="153807" name="矩形 153806"/>
            <p:cNvSpPr/>
            <p:nvPr/>
          </p:nvSpPr>
          <p:spPr>
            <a:xfrm>
              <a:off x="404" y="3030"/>
              <a:ext cx="1352" cy="334"/>
            </a:xfrm>
            <a:prstGeom prst="rect">
              <a:avLst/>
            </a:prstGeom>
            <a:noFill/>
            <a:ln w="9525">
              <a:noFill/>
            </a:ln>
          </p:spPr>
          <p:txBody>
            <a:bodyPr>
              <a:spAutoFit/>
            </a:bodyPr>
            <a:p>
              <a:r>
                <a:rPr lang="en-US" altLang="zh-CN" sz="2400" b="1" dirty="0">
                  <a:solidFill>
                    <a:srgbClr val="000066"/>
                  </a:solidFill>
                  <a:latin typeface="Times New Roman" panose="02020603050405020304" charset="0"/>
                  <a:ea typeface="楷体_GB2312" panose="02010609030101010101" pitchFamily="49" charset="-122"/>
                  <a:sym typeface="Symbol" panose="05050102010706020507" pitchFamily="18" charset="2"/>
                </a:rPr>
                <a:t>     </a:t>
              </a:r>
              <a:r>
                <a:rPr lang="en-US" altLang="zh-CN" b="1">
                  <a:solidFill>
                    <a:srgbClr val="000066"/>
                  </a:solidFill>
                  <a:latin typeface="Times New Roman" panose="02020603050405020304" charset="0"/>
                  <a:ea typeface="楷体_GB2312" panose="02010609030101010101" pitchFamily="49" charset="-122"/>
                  <a:sym typeface="Symbol" panose="05050102010706020507" pitchFamily="18" charset="2"/>
                </a:rPr>
                <a:t>=V</a:t>
              </a:r>
              <a:r>
                <a:rPr lang="en-US" altLang="zh-CN" b="1" baseline="-25000">
                  <a:solidFill>
                    <a:srgbClr val="000066"/>
                  </a:solidFill>
                  <a:latin typeface="Times New Roman" panose="02020603050405020304" charset="0"/>
                  <a:ea typeface="楷体_GB2312" panose="02010609030101010101" pitchFamily="49" charset="-122"/>
                  <a:sym typeface="Symbol" panose="05050102010706020507" pitchFamily="18" charset="2"/>
                </a:rPr>
                <a:t>OH</a:t>
              </a:r>
              <a:r>
                <a:rPr lang="en-US" altLang="zh-CN" b="1">
                  <a:solidFill>
                    <a:srgbClr val="000066"/>
                  </a:solidFill>
                  <a:latin typeface="Times New Roman" panose="02020603050405020304" charset="0"/>
                  <a:ea typeface="楷体_GB2312" panose="02010609030101010101" pitchFamily="49" charset="-122"/>
                  <a:sym typeface="Symbol" panose="05050102010706020507" pitchFamily="18" charset="2"/>
                </a:rPr>
                <a:t>=V</a:t>
              </a:r>
              <a:r>
                <a:rPr lang="en-US" altLang="zh-CN" b="1" baseline="-25000">
                  <a:solidFill>
                    <a:srgbClr val="000066"/>
                  </a:solidFill>
                  <a:latin typeface="Times New Roman" panose="02020603050405020304" charset="0"/>
                  <a:ea typeface="楷体_GB2312" panose="02010609030101010101" pitchFamily="49" charset="-122"/>
                  <a:sym typeface="Symbol" panose="05050102010706020507" pitchFamily="18" charset="2"/>
                </a:rPr>
                <a:t>DD</a:t>
              </a:r>
              <a:endParaRPr lang="en-US" altLang="zh-CN" b="1" baseline="-25000">
                <a:solidFill>
                  <a:srgbClr val="000066"/>
                </a:solidFill>
                <a:latin typeface="Times New Roman" panose="02020603050405020304" charset="0"/>
                <a:ea typeface="楷体_GB2312" panose="02010609030101010101" pitchFamily="49" charset="-122"/>
                <a:sym typeface="Symbol" panose="05050102010706020507" pitchFamily="18" charset="2"/>
              </a:endParaRPr>
            </a:p>
          </p:txBody>
        </p:sp>
      </p:grpSp>
      <p:sp>
        <p:nvSpPr>
          <p:cNvPr id="153808" name="矩形 153807"/>
          <p:cNvSpPr/>
          <p:nvPr/>
        </p:nvSpPr>
        <p:spPr>
          <a:xfrm>
            <a:off x="457518" y="3370898"/>
            <a:ext cx="4048125" cy="1014730"/>
          </a:xfrm>
          <a:prstGeom prst="rect">
            <a:avLst/>
          </a:prstGeom>
          <a:noFill/>
          <a:ln w="9525">
            <a:noFill/>
          </a:ln>
        </p:spPr>
        <p:txBody>
          <a:bodyPr>
            <a:spAutoFit/>
          </a:bodyPr>
          <a:p>
            <a:pPr>
              <a:spcBef>
                <a:spcPct val="50000"/>
              </a:spcBef>
            </a:pPr>
            <a:r>
              <a:rPr lang="zh-CN" altLang="en-US" sz="2000" b="1" dirty="0">
                <a:solidFill>
                  <a:schemeClr val="accent2"/>
                </a:solidFill>
                <a:latin typeface="Times New Roman" panose="02020603050405020304" charset="0"/>
                <a:ea typeface="楷体" panose="02010609060101010101" charset="-122"/>
                <a:cs typeface="Times New Roman" panose="02020603050405020304" charset="0"/>
                <a:sym typeface="Symbol" panose="05050102010706020507" pitchFamily="18" charset="2"/>
              </a:rPr>
              <a:t>正向阈值电压</a:t>
            </a:r>
            <a:r>
              <a:rPr lang="zh-CN" altLang="en-US" sz="2000" b="1">
                <a:solidFill>
                  <a:schemeClr val="accent2"/>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r>
              <a:rPr lang="en-US" altLang="zh-CN" sz="2000" b="1">
                <a:solidFill>
                  <a:schemeClr val="accent2"/>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a:solidFill>
                  <a:schemeClr val="accent2"/>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chemeClr val="accent2"/>
                </a:solidFill>
                <a:latin typeface="Times New Roman" panose="02020603050405020304" charset="0"/>
                <a:ea typeface="楷体" panose="02010609060101010101" charset="-122"/>
                <a:cs typeface="Times New Roman" panose="02020603050405020304" charset="0"/>
              </a:rPr>
              <a:t>T+</a:t>
            </a:r>
            <a:r>
              <a:rPr lang="en-US" altLang="zh-CN" sz="2000" b="1">
                <a:solidFill>
                  <a:schemeClr val="accent2"/>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I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值在增加过程中，使输出电压产生跳变时所对应的</a:t>
            </a:r>
            <a:r>
              <a:rPr lang="en-US" altLang="zh-CN" sz="2000" b="1" i="1" err="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err="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值</a:t>
            </a:r>
            <a:endParaRPr lang="zh-CN" altLang="en-US"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grpSp>
        <p:nvGrpSpPr>
          <p:cNvPr id="153828" name="组合 153827"/>
          <p:cNvGrpSpPr/>
          <p:nvPr/>
        </p:nvGrpSpPr>
        <p:grpSpPr>
          <a:xfrm>
            <a:off x="1993900" y="1624013"/>
            <a:ext cx="3506788" cy="730250"/>
            <a:chOff x="1528" y="-27"/>
            <a:chExt cx="2209" cy="460"/>
          </a:xfrm>
        </p:grpSpPr>
        <p:sp>
          <p:nvSpPr>
            <p:cNvPr id="153811" name="矩形 153810"/>
            <p:cNvSpPr/>
            <p:nvPr/>
          </p:nvSpPr>
          <p:spPr>
            <a:xfrm>
              <a:off x="1528" y="0"/>
              <a:ext cx="2209" cy="250"/>
            </a:xfrm>
            <a:prstGeom prst="rect">
              <a:avLst/>
            </a:prstGeom>
            <a:noFill/>
            <a:ln w="38100">
              <a:noFill/>
            </a:ln>
          </p:spPr>
          <p:txBody>
            <a:bodyPr wrap="none" anchor="t" anchorCtr="0">
              <a:spAutoFit/>
            </a:bodyPr>
            <a:p>
              <a:pPr algn="ct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只要</a:t>
              </a: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I1</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&lt;V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TH</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，则保持       </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=0V</a:t>
              </a:r>
              <a:endParaRPr lang="en-US" altLang="zh-CN" sz="2000" b="1">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53827" name="组合 153826"/>
            <p:cNvGrpSpPr/>
            <p:nvPr/>
          </p:nvGrpSpPr>
          <p:grpSpPr>
            <a:xfrm>
              <a:off x="3160" y="-27"/>
              <a:ext cx="213" cy="460"/>
              <a:chOff x="3257" y="19"/>
              <a:chExt cx="213" cy="460"/>
            </a:xfrm>
          </p:grpSpPr>
          <p:sp>
            <p:nvSpPr>
              <p:cNvPr id="153812" name="矩形 153811"/>
              <p:cNvSpPr/>
              <p:nvPr/>
            </p:nvSpPr>
            <p:spPr>
              <a:xfrm>
                <a:off x="3257" y="19"/>
                <a:ext cx="177" cy="460"/>
              </a:xfrm>
              <a:prstGeom prst="rect">
                <a:avLst/>
              </a:prstGeom>
              <a:noFill/>
              <a:ln w="9525">
                <a:noFill/>
              </a:ln>
            </p:spPr>
            <p:txBody>
              <a:bodyPr lIns="0" tIns="0" rIns="0" bIns="0">
                <a:spAutoFit/>
              </a:bodyPr>
              <a:p>
                <a:r>
                  <a:rPr lang="en-US" altLang="zh-CN" sz="2400" b="1" i="1">
                    <a:solidFill>
                      <a:srgbClr val="00006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rPr>
                  <a:t></a:t>
                </a:r>
                <a:endParaRPr lang="en-US" altLang="zh-CN" sz="2400" b="1" baseline="-25000">
                  <a:solidFill>
                    <a:srgbClr val="000066"/>
                  </a:solidFill>
                  <a:latin typeface="Times New Roman" panose="02020603050405020304" charset="0"/>
                  <a:ea typeface="楷体_GB2312" panose="02010609030101010101" pitchFamily="49" charset="-122"/>
                  <a:cs typeface="Times New Roman" panose="02020603050405020304" charset="0"/>
                  <a:sym typeface="Symbol" panose="05050102010706020507" pitchFamily="18" charset="2"/>
                </a:endParaRPr>
              </a:p>
              <a:p>
                <a:endParaRPr lang="en-US" altLang="zh-CN" sz="2400" b="1">
                  <a:solidFill>
                    <a:srgbClr val="000066"/>
                  </a:solidFill>
                  <a:latin typeface="Times New Roman" panose="02020603050405020304" charset="0"/>
                  <a:ea typeface="楷体_GB2312" panose="02010609030101010101" pitchFamily="49" charset="-122"/>
                  <a:cs typeface="Times New Roman" panose="02020603050405020304" charset="0"/>
                </a:endParaRPr>
              </a:p>
            </p:txBody>
          </p:sp>
          <p:sp>
            <p:nvSpPr>
              <p:cNvPr id="153813" name="矩形 153812"/>
              <p:cNvSpPr/>
              <p:nvPr/>
            </p:nvSpPr>
            <p:spPr>
              <a:xfrm>
                <a:off x="3338" y="164"/>
                <a:ext cx="132" cy="154"/>
              </a:xfrm>
              <a:prstGeom prst="rect">
                <a:avLst/>
              </a:prstGeom>
              <a:noFill/>
              <a:ln w="9525">
                <a:noFill/>
              </a:ln>
            </p:spPr>
            <p:txBody>
              <a:bodyPr wrap="none" lIns="0" tIns="0" rIns="0" bIns="0">
                <a:spAutoFit/>
              </a:bodyPr>
              <a:p>
                <a:pPr>
                  <a:spcBef>
                    <a:spcPct val="50000"/>
                  </a:spcBef>
                </a:pPr>
                <a:r>
                  <a:rPr lang="en-US" altLang="zh-CN" sz="1600" b="1">
                    <a:solidFill>
                      <a:srgbClr val="000066"/>
                    </a:solidFill>
                    <a:latin typeface="Times New Roman" panose="02020603050405020304" charset="0"/>
                    <a:ea typeface="楷体" panose="02010609060101010101" charset="-122"/>
                    <a:cs typeface="Times New Roman" panose="02020603050405020304" charset="0"/>
                  </a:rPr>
                  <a:t> O</a:t>
                </a:r>
                <a:endParaRPr lang="en-US" altLang="zh-CN" sz="1600" b="1">
                  <a:solidFill>
                    <a:srgbClr val="000066"/>
                  </a:solidFill>
                  <a:latin typeface="Times New Roman" panose="02020603050405020304" charset="0"/>
                  <a:ea typeface="楷体" panose="02010609060101010101" charset="-122"/>
                  <a:cs typeface="Times New Roman" panose="02020603050405020304" charset="0"/>
                </a:endParaRPr>
              </a:p>
            </p:txBody>
          </p:sp>
        </p:grpSp>
      </p:grpSp>
      <p:graphicFrame>
        <p:nvGraphicFramePr>
          <p:cNvPr id="153823" name="对象 153822"/>
          <p:cNvGraphicFramePr/>
          <p:nvPr/>
        </p:nvGraphicFramePr>
        <p:xfrm>
          <a:off x="5197475" y="4986338"/>
          <a:ext cx="2828925" cy="782637"/>
        </p:xfrm>
        <a:graphic>
          <a:graphicData uri="http://schemas.openxmlformats.org/presentationml/2006/ole">
            <mc:AlternateContent xmlns:mc="http://schemas.openxmlformats.org/markup-compatibility/2006">
              <mc:Choice xmlns:v="urn:schemas-microsoft-com:vml" Requires="v">
                <p:oleObj spid="_x0000_s3087" name="" r:id="rId3" imgW="1370965" imgH="381000" progId="Equation.3">
                  <p:embed/>
                </p:oleObj>
              </mc:Choice>
              <mc:Fallback>
                <p:oleObj name="" r:id="rId3" imgW="1370965" imgH="381000" progId="Equation.3">
                  <p:embed/>
                  <p:pic>
                    <p:nvPicPr>
                      <p:cNvPr id="0" name="图片 3086"/>
                      <p:cNvPicPr/>
                      <p:nvPr/>
                    </p:nvPicPr>
                    <p:blipFill>
                      <a:blip r:embed="rId4"/>
                      <a:stretch>
                        <a:fillRect/>
                      </a:stretch>
                    </p:blipFill>
                    <p:spPr>
                      <a:xfrm>
                        <a:off x="5197475" y="4986338"/>
                        <a:ext cx="2828925" cy="782637"/>
                      </a:xfrm>
                      <a:prstGeom prst="rect">
                        <a:avLst/>
                      </a:prstGeom>
                      <a:noFill/>
                      <a:ln w="38100">
                        <a:noFill/>
                        <a:miter/>
                      </a:ln>
                    </p:spPr>
                  </p:pic>
                </p:oleObj>
              </mc:Fallback>
            </mc:AlternateContent>
          </a:graphicData>
        </a:graphic>
      </p:graphicFrame>
      <p:sp>
        <p:nvSpPr>
          <p:cNvPr id="153826" name="矩形 153825"/>
          <p:cNvSpPr/>
          <p:nvPr/>
        </p:nvSpPr>
        <p:spPr>
          <a:xfrm>
            <a:off x="0" y="3238500"/>
            <a:ext cx="9144000" cy="0"/>
          </a:xfrm>
          <a:prstGeom prst="rect">
            <a:avLst/>
          </a:prstGeom>
          <a:noFill/>
          <a:ln w="9525">
            <a:noFill/>
          </a:ln>
        </p:spPr>
        <p:txBody>
          <a:bodyPr/>
          <a:p>
            <a:endParaRPr lang="zh-CN" altLang="en-US"/>
          </a:p>
        </p:txBody>
      </p:sp>
      <p:graphicFrame>
        <p:nvGraphicFramePr>
          <p:cNvPr id="153825" name="对象 153824"/>
          <p:cNvGraphicFramePr/>
          <p:nvPr/>
        </p:nvGraphicFramePr>
        <p:xfrm>
          <a:off x="1100138" y="5549900"/>
          <a:ext cx="2393950" cy="847725"/>
        </p:xfrm>
        <a:graphic>
          <a:graphicData uri="http://schemas.openxmlformats.org/presentationml/2006/ole">
            <mc:AlternateContent xmlns:mc="http://schemas.openxmlformats.org/markup-compatibility/2006">
              <mc:Choice xmlns:v="urn:schemas-microsoft-com:vml" Requires="v">
                <p:oleObj spid="_x0000_s3088" name="" r:id="rId5" imgW="1078865" imgH="381000" progId="Equation.3">
                  <p:embed/>
                </p:oleObj>
              </mc:Choice>
              <mc:Fallback>
                <p:oleObj name="" r:id="rId5" imgW="1078865" imgH="381000" progId="Equation.3">
                  <p:embed/>
                  <p:pic>
                    <p:nvPicPr>
                      <p:cNvPr id="0" name="图片 3087"/>
                      <p:cNvPicPr/>
                      <p:nvPr/>
                    </p:nvPicPr>
                    <p:blipFill>
                      <a:blip r:embed="rId6"/>
                      <a:stretch>
                        <a:fillRect/>
                      </a:stretch>
                    </p:blipFill>
                    <p:spPr>
                      <a:xfrm>
                        <a:off x="1100138" y="5549900"/>
                        <a:ext cx="2393950" cy="847725"/>
                      </a:xfrm>
                      <a:prstGeom prst="rect">
                        <a:avLst/>
                      </a:prstGeom>
                      <a:solidFill>
                        <a:schemeClr val="bg1"/>
                      </a:solidFill>
                      <a:ln w="9525" cap="flat" cmpd="sng">
                        <a:solidFill>
                          <a:srgbClr val="0000CC"/>
                        </a:solidFill>
                        <a:prstDash val="solid"/>
                        <a:miter/>
                        <a:headEnd type="none" w="med" len="med"/>
                        <a:tailEnd type="none" w="med" len="med"/>
                      </a:ln>
                    </p:spPr>
                  </p:pic>
                </p:oleObj>
              </mc:Fallback>
            </mc:AlternateContent>
          </a:graphicData>
        </a:graphic>
      </p:graphicFrame>
      <p:sp>
        <p:nvSpPr>
          <p:cNvPr id="8"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 name="矩形 9"/>
          <p:cNvSpPr/>
          <p:nvPr/>
        </p:nvSpPr>
        <p:spPr>
          <a:xfrm>
            <a:off x="6367463" y="3946525"/>
            <a:ext cx="360362" cy="579438"/>
          </a:xfrm>
          <a:prstGeom prst="rect">
            <a:avLst/>
          </a:prstGeom>
          <a:solidFill>
            <a:srgbClr val="FC2D0A"/>
          </a:solidFill>
          <a:ln w="38100">
            <a:noFill/>
          </a:ln>
        </p:spPr>
        <p:txBody>
          <a:bodyPr/>
          <a:p>
            <a:endParaRPr lang="zh-CN" altLang="en-US"/>
          </a:p>
        </p:txBody>
      </p:sp>
      <p:sp>
        <p:nvSpPr>
          <p:cNvPr id="11" name="矩形 10"/>
          <p:cNvSpPr/>
          <p:nvPr/>
        </p:nvSpPr>
        <p:spPr>
          <a:xfrm>
            <a:off x="7313613" y="3946525"/>
            <a:ext cx="360362" cy="590550"/>
          </a:xfrm>
          <a:prstGeom prst="rect">
            <a:avLst/>
          </a:prstGeom>
          <a:solidFill>
            <a:srgbClr val="00CC00"/>
          </a:solidFill>
          <a:ln w="38100">
            <a:noFill/>
          </a:ln>
        </p:spPr>
        <p:txBody>
          <a:bodyPr/>
          <a:p>
            <a:endParaRPr lang="zh-CN" altLang="en-US"/>
          </a:p>
        </p:txBody>
      </p:sp>
      <p:sp>
        <p:nvSpPr>
          <p:cNvPr id="12" name="矩形 11"/>
          <p:cNvSpPr/>
          <p:nvPr/>
        </p:nvSpPr>
        <p:spPr>
          <a:xfrm>
            <a:off x="7313613" y="3946525"/>
            <a:ext cx="360362" cy="592138"/>
          </a:xfrm>
          <a:prstGeom prst="rect">
            <a:avLst/>
          </a:prstGeom>
          <a:solidFill>
            <a:srgbClr val="FF3300"/>
          </a:solidFill>
          <a:ln w="38100">
            <a:noFill/>
          </a:ln>
        </p:spPr>
        <p:txBody>
          <a:bodyPr/>
          <a:p>
            <a:endParaRPr lang="zh-CN" altLang="en-US"/>
          </a:p>
        </p:txBody>
      </p:sp>
      <p:sp>
        <p:nvSpPr>
          <p:cNvPr id="13" name="矩形 12"/>
          <p:cNvSpPr/>
          <p:nvPr/>
        </p:nvSpPr>
        <p:spPr>
          <a:xfrm>
            <a:off x="6367463" y="3954463"/>
            <a:ext cx="360362" cy="579437"/>
          </a:xfrm>
          <a:prstGeom prst="rect">
            <a:avLst/>
          </a:prstGeom>
          <a:solidFill>
            <a:srgbClr val="009900"/>
          </a:solidFill>
          <a:ln w="38100">
            <a:noFill/>
          </a:ln>
        </p:spPr>
        <p:txBody>
          <a:bodyPr/>
          <a:p>
            <a:endParaRPr lang="zh-CN" altLang="en-US"/>
          </a:p>
        </p:txBody>
      </p:sp>
      <p:grpSp>
        <p:nvGrpSpPr>
          <p:cNvPr id="14" name="组合 13"/>
          <p:cNvGrpSpPr/>
          <p:nvPr/>
        </p:nvGrpSpPr>
        <p:grpSpPr>
          <a:xfrm>
            <a:off x="4859338" y="3224213"/>
            <a:ext cx="4165600" cy="1971675"/>
            <a:chOff x="329" y="913"/>
            <a:chExt cx="2624" cy="1242"/>
          </a:xfrm>
        </p:grpSpPr>
        <p:graphicFrame>
          <p:nvGraphicFramePr>
            <p:cNvPr id="15" name="对象 14"/>
            <p:cNvGraphicFramePr/>
            <p:nvPr/>
          </p:nvGraphicFramePr>
          <p:xfrm>
            <a:off x="329" y="913"/>
            <a:ext cx="2624" cy="1242"/>
          </p:xfrm>
          <a:graphic>
            <a:graphicData uri="http://schemas.openxmlformats.org/presentationml/2006/ole">
              <mc:AlternateContent xmlns:mc="http://schemas.openxmlformats.org/markup-compatibility/2006">
                <mc:Choice xmlns:v="urn:schemas-microsoft-com:vml" Requires="v">
                  <p:oleObj spid="_x0000_s16" name="" r:id="rId7" imgW="1921510" imgH="911225" progId="Word.Picture.8">
                    <p:embed/>
                  </p:oleObj>
                </mc:Choice>
                <mc:Fallback>
                  <p:oleObj name="" r:id="rId7" imgW="1921510" imgH="911225" progId="Word.Picture.8">
                    <p:embed/>
                    <p:pic>
                      <p:nvPicPr>
                        <p:cNvPr id="0" name="图片 3085"/>
                        <p:cNvPicPr/>
                        <p:nvPr/>
                      </p:nvPicPr>
                      <p:blipFill>
                        <a:blip r:embed="rId8"/>
                        <a:stretch>
                          <a:fillRect/>
                        </a:stretch>
                      </p:blipFill>
                      <p:spPr>
                        <a:xfrm>
                          <a:off x="329" y="913"/>
                          <a:ext cx="2624" cy="1242"/>
                        </a:xfrm>
                        <a:prstGeom prst="rect">
                          <a:avLst/>
                        </a:prstGeom>
                        <a:noFill/>
                        <a:ln w="38100">
                          <a:noFill/>
                          <a:miter/>
                        </a:ln>
                      </p:spPr>
                    </p:pic>
                  </p:oleObj>
                </mc:Fallback>
              </mc:AlternateContent>
            </a:graphicData>
          </a:graphic>
        </p:graphicFrame>
        <p:sp>
          <p:nvSpPr>
            <p:cNvPr id="17" name="矩形 16"/>
            <p:cNvSpPr/>
            <p:nvPr/>
          </p:nvSpPr>
          <p:spPr>
            <a:xfrm>
              <a:off x="1007" y="1565"/>
              <a:ext cx="265" cy="231"/>
            </a:xfrm>
            <a:prstGeom prst="rect">
              <a:avLst/>
            </a:prstGeom>
            <a:noFill/>
            <a:ln w="38100">
              <a:noFill/>
            </a:ln>
          </p:spPr>
          <p:txBody>
            <a:bodyPr wrap="none" anchor="t" anchorCtr="0">
              <a:spAutoFit/>
            </a:bodyPr>
            <a:p>
              <a:pPr algn="ctr"/>
              <a:r>
                <a:rPr lang="en-US" altLang="zh-CN" b="1" i="1">
                  <a:solidFill>
                    <a:srgbClr val="000066"/>
                  </a:solidFill>
                  <a:latin typeface="Times New Roman" panose="02020603050405020304" charset="0"/>
                  <a:ea typeface="楷体_GB2312" panose="02010609030101010101" pitchFamily="49" charset="-122"/>
                </a:rPr>
                <a:t>v</a:t>
              </a:r>
              <a:r>
                <a:rPr lang="en-US" altLang="zh-CN" b="1" baseline="-25000">
                  <a:solidFill>
                    <a:srgbClr val="000066"/>
                  </a:solidFill>
                  <a:latin typeface="Times New Roman" panose="02020603050405020304" charset="0"/>
                  <a:ea typeface="楷体_GB2312" panose="02010609030101010101" pitchFamily="49" charset="-122"/>
                </a:rPr>
                <a:t>I1</a:t>
              </a:r>
              <a:endParaRPr lang="en-US" altLang="zh-CN" b="1" baseline="-25000">
                <a:solidFill>
                  <a:srgbClr val="000066"/>
                </a:solidFill>
                <a:latin typeface="Times New Roman" panose="02020603050405020304" charset="0"/>
                <a:ea typeface="楷体_GB2312" panose="02010609030101010101" pitchFamily="49" charset="-122"/>
              </a:endParaRPr>
            </a:p>
          </p:txBody>
        </p:sp>
      </p:grpSp>
      <p:sp>
        <p:nvSpPr>
          <p:cNvPr id="18" name="椭圆 17"/>
          <p:cNvSpPr/>
          <p:nvPr/>
        </p:nvSpPr>
        <p:spPr>
          <a:xfrm>
            <a:off x="4986338" y="3702050"/>
            <a:ext cx="315912" cy="314325"/>
          </a:xfrm>
          <a:prstGeom prst="ellipse">
            <a:avLst/>
          </a:prstGeom>
          <a:solidFill>
            <a:srgbClr val="0000CC"/>
          </a:solidFill>
          <a:ln w="9525">
            <a:noFill/>
          </a:ln>
        </p:spPr>
        <p:txBody>
          <a:bodyPr wrap="none" anchor="ctr" anchorCtr="0"/>
          <a:p>
            <a:pPr algn="ctr"/>
            <a:r>
              <a:rPr lang="en-US" altLang="zh-CN" b="1">
                <a:solidFill>
                  <a:schemeClr val="bg1"/>
                </a:solidFill>
                <a:latin typeface="Times New Roman" panose="02020603050405020304" charset="0"/>
                <a:ea typeface="楷体_GB2312" panose="02010609030101010101" pitchFamily="49" charset="-122"/>
              </a:rPr>
              <a:t>0</a:t>
            </a:r>
            <a:endParaRPr lang="en-US" altLang="zh-CN" b="1">
              <a:solidFill>
                <a:schemeClr val="bg1"/>
              </a:solidFill>
              <a:latin typeface="Times New Roman" panose="02020603050405020304" charset="0"/>
              <a:ea typeface="楷体_GB2312" panose="02010609030101010101" pitchFamily="49" charset="-122"/>
            </a:endParaRPr>
          </a:p>
        </p:txBody>
      </p:sp>
      <p:sp>
        <p:nvSpPr>
          <p:cNvPr id="19" name="椭圆 18"/>
          <p:cNvSpPr/>
          <p:nvPr/>
        </p:nvSpPr>
        <p:spPr>
          <a:xfrm>
            <a:off x="8362950" y="3721100"/>
            <a:ext cx="315913" cy="314325"/>
          </a:xfrm>
          <a:prstGeom prst="ellipse">
            <a:avLst/>
          </a:prstGeom>
          <a:solidFill>
            <a:schemeClr val="hlink"/>
          </a:solidFill>
          <a:ln w="9525">
            <a:noFill/>
          </a:ln>
        </p:spPr>
        <p:txBody>
          <a:bodyPr wrap="none" anchor="ctr" anchorCtr="0"/>
          <a:p>
            <a:pPr algn="ctr"/>
            <a:r>
              <a:rPr lang="en-US" altLang="zh-CN" b="1">
                <a:solidFill>
                  <a:schemeClr val="bg1"/>
                </a:solidFill>
                <a:latin typeface="Times New Roman" panose="02020603050405020304" charset="0"/>
                <a:ea typeface="楷体_GB2312" panose="02010609030101010101" pitchFamily="49" charset="-122"/>
              </a:rPr>
              <a:t>0</a:t>
            </a:r>
            <a:endParaRPr lang="en-US" altLang="zh-CN" b="1">
              <a:solidFill>
                <a:schemeClr val="bg1"/>
              </a:solidFill>
              <a:latin typeface="Times New Roman" panose="02020603050405020304" charset="0"/>
              <a:ea typeface="楷体_GB2312" panose="02010609030101010101" pitchFamily="49" charset="-122"/>
            </a:endParaRPr>
          </a:p>
        </p:txBody>
      </p:sp>
      <p:sp>
        <p:nvSpPr>
          <p:cNvPr id="20" name="直接连接符 19"/>
          <p:cNvSpPr/>
          <p:nvPr/>
        </p:nvSpPr>
        <p:spPr>
          <a:xfrm flipV="1">
            <a:off x="5378450" y="3990975"/>
            <a:ext cx="0" cy="179388"/>
          </a:xfrm>
          <a:prstGeom prst="line">
            <a:avLst/>
          </a:prstGeom>
          <a:ln w="28575" cap="flat" cmpd="sng">
            <a:solidFill>
              <a:srgbClr val="FF0000"/>
            </a:solidFill>
            <a:prstDash val="solid"/>
            <a:headEnd type="none" w="med" len="med"/>
            <a:tailEnd type="triangle" w="med" len="med"/>
          </a:ln>
        </p:spPr>
      </p:sp>
      <p:sp>
        <p:nvSpPr>
          <p:cNvPr id="21" name="直接连接符 20"/>
          <p:cNvSpPr/>
          <p:nvPr/>
        </p:nvSpPr>
        <p:spPr>
          <a:xfrm flipV="1">
            <a:off x="6278563" y="3990975"/>
            <a:ext cx="1587" cy="192088"/>
          </a:xfrm>
          <a:prstGeom prst="line">
            <a:avLst/>
          </a:prstGeom>
          <a:ln w="28575" cap="flat" cmpd="sng">
            <a:solidFill>
              <a:srgbClr val="FF0000"/>
            </a:solidFill>
            <a:prstDash val="solid"/>
            <a:headEnd type="none" w="med" len="med"/>
            <a:tailEnd type="triangle" w="med" len="med"/>
          </a:ln>
        </p:spPr>
      </p:sp>
      <p:sp>
        <p:nvSpPr>
          <p:cNvPr id="22" name="椭圆 21"/>
          <p:cNvSpPr/>
          <p:nvPr/>
        </p:nvSpPr>
        <p:spPr>
          <a:xfrm>
            <a:off x="8359775" y="3711575"/>
            <a:ext cx="315913" cy="314325"/>
          </a:xfrm>
          <a:prstGeom prst="ellipse">
            <a:avLst/>
          </a:prstGeom>
          <a:solidFill>
            <a:srgbClr val="0000CC"/>
          </a:solidFill>
          <a:ln w="9525">
            <a:noFill/>
          </a:ln>
        </p:spPr>
        <p:txBody>
          <a:bodyPr wrap="none" anchor="ctr" anchorCtr="0"/>
          <a:p>
            <a:pPr algn="ctr"/>
            <a:r>
              <a:rPr lang="en-US" altLang="zh-CN" b="1">
                <a:solidFill>
                  <a:schemeClr val="bg1"/>
                </a:solidFill>
                <a:latin typeface="Times New Roman" panose="02020603050405020304" charset="0"/>
                <a:ea typeface="楷体_GB2312" panose="02010609030101010101" pitchFamily="49" charset="-122"/>
              </a:rPr>
              <a:t>1</a:t>
            </a:r>
            <a:endParaRPr lang="en-US" altLang="zh-CN" b="1">
              <a:solidFill>
                <a:schemeClr val="bg1"/>
              </a:solidFill>
              <a:latin typeface="Times New Roman" panose="02020603050405020304" charset="0"/>
              <a:ea typeface="楷体_GB2312" panose="02010609030101010101" pitchFamily="49" charset="-122"/>
            </a:endParaRPr>
          </a:p>
        </p:txBody>
      </p:sp>
      <p:grpSp>
        <p:nvGrpSpPr>
          <p:cNvPr id="24" name="组合 23"/>
          <p:cNvGrpSpPr/>
          <p:nvPr/>
        </p:nvGrpSpPr>
        <p:grpSpPr>
          <a:xfrm>
            <a:off x="4816475" y="4414838"/>
            <a:ext cx="565150" cy="242887"/>
            <a:chOff x="4094" y="1240"/>
            <a:chExt cx="1298" cy="651"/>
          </a:xfrm>
        </p:grpSpPr>
        <p:sp>
          <p:nvSpPr>
            <p:cNvPr id="25" name="直接连接符 24"/>
            <p:cNvSpPr/>
            <p:nvPr/>
          </p:nvSpPr>
          <p:spPr>
            <a:xfrm flipV="1">
              <a:off x="4094" y="1409"/>
              <a:ext cx="511" cy="482"/>
            </a:xfrm>
            <a:prstGeom prst="line">
              <a:avLst/>
            </a:prstGeom>
            <a:ln w="57150" cap="flat" cmpd="sng">
              <a:solidFill>
                <a:srgbClr val="FF3300"/>
              </a:solidFill>
              <a:prstDash val="solid"/>
              <a:headEnd type="none" w="med" len="med"/>
              <a:tailEnd type="none" w="med" len="med"/>
            </a:ln>
          </p:spPr>
        </p:sp>
        <p:sp>
          <p:nvSpPr>
            <p:cNvPr id="26" name="直接连接符 25"/>
            <p:cNvSpPr/>
            <p:nvPr/>
          </p:nvSpPr>
          <p:spPr>
            <a:xfrm flipV="1">
              <a:off x="4564" y="1240"/>
              <a:ext cx="227" cy="205"/>
            </a:xfrm>
            <a:prstGeom prst="line">
              <a:avLst/>
            </a:prstGeom>
            <a:ln w="57150" cap="flat" cmpd="sng">
              <a:solidFill>
                <a:srgbClr val="FF3300"/>
              </a:solidFill>
              <a:prstDash val="solid"/>
              <a:headEnd type="none" w="med" len="med"/>
              <a:tailEnd type="none" w="med" len="med"/>
            </a:ln>
          </p:spPr>
        </p:sp>
        <p:sp>
          <p:nvSpPr>
            <p:cNvPr id="27" name="直接连接符 26"/>
            <p:cNvSpPr/>
            <p:nvPr/>
          </p:nvSpPr>
          <p:spPr>
            <a:xfrm>
              <a:off x="4793" y="1247"/>
              <a:ext cx="453" cy="450"/>
            </a:xfrm>
            <a:prstGeom prst="line">
              <a:avLst/>
            </a:prstGeom>
            <a:ln w="57150" cap="flat" cmpd="sng">
              <a:solidFill>
                <a:srgbClr val="FF3300"/>
              </a:solidFill>
              <a:prstDash val="solid"/>
              <a:headEnd type="none" w="med" len="med"/>
              <a:tailEnd type="none" w="med" len="med"/>
            </a:ln>
          </p:spPr>
        </p:sp>
        <p:sp>
          <p:nvSpPr>
            <p:cNvPr id="28" name="直接连接符 27"/>
            <p:cNvSpPr/>
            <p:nvPr/>
          </p:nvSpPr>
          <p:spPr>
            <a:xfrm>
              <a:off x="5193" y="1654"/>
              <a:ext cx="199" cy="199"/>
            </a:xfrm>
            <a:prstGeom prst="line">
              <a:avLst/>
            </a:prstGeom>
            <a:ln w="57150" cap="flat" cmpd="sng">
              <a:solidFill>
                <a:srgbClr val="FF3300"/>
              </a:solidFill>
              <a:prstDash val="solid"/>
              <a:headEnd type="none" w="med" len="med"/>
              <a:tailEnd type="none" w="med" len="med"/>
            </a:ln>
          </p:spPr>
        </p:sp>
        <p:sp>
          <p:nvSpPr>
            <p:cNvPr id="29" name="椭圆 28"/>
            <p:cNvSpPr/>
            <p:nvPr/>
          </p:nvSpPr>
          <p:spPr>
            <a:xfrm>
              <a:off x="4559" y="1362"/>
              <a:ext cx="112" cy="80"/>
            </a:xfrm>
            <a:prstGeom prst="ellipse">
              <a:avLst/>
            </a:prstGeom>
            <a:solidFill>
              <a:srgbClr val="FF0000"/>
            </a:solidFill>
            <a:ln w="19050" cap="flat" cmpd="sng">
              <a:solidFill>
                <a:schemeClr val="tx1"/>
              </a:solidFill>
              <a:prstDash val="solid"/>
              <a:headEnd type="none" w="med" len="med"/>
              <a:tailEnd type="none" w="med" len="med"/>
            </a:ln>
          </p:spPr>
          <p:txBody>
            <a:bodyPr/>
            <a:p>
              <a:endParaRPr lang="zh-CN" altLang="en-US"/>
            </a:p>
          </p:txBody>
        </p:sp>
        <p:sp>
          <p:nvSpPr>
            <p:cNvPr id="30" name="椭圆 29"/>
            <p:cNvSpPr/>
            <p:nvPr/>
          </p:nvSpPr>
          <p:spPr>
            <a:xfrm>
              <a:off x="5174" y="1650"/>
              <a:ext cx="112" cy="80"/>
            </a:xfrm>
            <a:prstGeom prst="ellipse">
              <a:avLst/>
            </a:prstGeom>
            <a:solidFill>
              <a:srgbClr val="FF0000"/>
            </a:solidFill>
            <a:ln w="19050" cap="flat" cmpd="sng">
              <a:solidFill>
                <a:schemeClr val="tx1"/>
              </a:solidFill>
              <a:prstDash val="solid"/>
              <a:headEnd type="none" w="med" len="med"/>
              <a:tailEnd type="none" w="med" len="med"/>
            </a:ln>
          </p:spPr>
          <p:txBody>
            <a:bodyPr/>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53798"/>
                                        </p:tgtEl>
                                        <p:attrNameLst>
                                          <p:attrName>style.visibility</p:attrName>
                                        </p:attrNameLst>
                                      </p:cBhvr>
                                      <p:to>
                                        <p:strVal val="visible"/>
                                      </p:to>
                                    </p:set>
                                    <p:animEffect transition="in" filter="strips(downRight)">
                                      <p:cBhvr>
                                        <p:cTn id="7" dur="500"/>
                                        <p:tgtEl>
                                          <p:spTgt spid="15379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3762"/>
                                        </p:tgtEl>
                                        <p:attrNameLst>
                                          <p:attrName>style.visibility</p:attrName>
                                        </p:attrNameLst>
                                      </p:cBhvr>
                                      <p:to>
                                        <p:strVal val="visible"/>
                                      </p:to>
                                    </p:set>
                                    <p:animEffect transition="in" filter="strips(downRight)">
                                      <p:cBhvr>
                                        <p:cTn id="12" dur="500"/>
                                        <p:tgtEl>
                                          <p:spTgt spid="15376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53828"/>
                                        </p:tgtEl>
                                        <p:attrNameLst>
                                          <p:attrName>style.visibility</p:attrName>
                                        </p:attrNameLst>
                                      </p:cBhvr>
                                      <p:to>
                                        <p:strVal val="visible"/>
                                      </p:to>
                                    </p:set>
                                    <p:animEffect transition="in" filter="strips(downRight)">
                                      <p:cBhvr>
                                        <p:cTn id="17" dur="500"/>
                                        <p:tgtEl>
                                          <p:spTgt spid="15382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53758"/>
                                        </p:tgtEl>
                                        <p:attrNameLst>
                                          <p:attrName>style.visibility</p:attrName>
                                        </p:attrNameLst>
                                      </p:cBhvr>
                                      <p:to>
                                        <p:strVal val="visible"/>
                                      </p:to>
                                    </p:set>
                                    <p:animEffect transition="in" filter="strips(downRight)">
                                      <p:cBhvr>
                                        <p:cTn id="22" dur="500"/>
                                        <p:tgtEl>
                                          <p:spTgt spid="15375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53763"/>
                                        </p:tgtEl>
                                        <p:attrNameLst>
                                          <p:attrName>style.visibility</p:attrName>
                                        </p:attrNameLst>
                                      </p:cBhvr>
                                      <p:to>
                                        <p:strVal val="visible"/>
                                      </p:to>
                                    </p:set>
                                    <p:animEffect transition="in" filter="strips(downRight)">
                                      <p:cBhvr>
                                        <p:cTn id="27" dur="500"/>
                                        <p:tgtEl>
                                          <p:spTgt spid="1537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3802"/>
                                        </p:tgtEl>
                                        <p:attrNameLst>
                                          <p:attrName>style.visibility</p:attrName>
                                        </p:attrNameLst>
                                      </p:cBhvr>
                                      <p:to>
                                        <p:strVal val="visible"/>
                                      </p:to>
                                    </p:set>
                                    <p:animEffect transition="in" filter="wipe(left)">
                                      <p:cBhvr>
                                        <p:cTn id="32" dur="500"/>
                                        <p:tgtEl>
                                          <p:spTgt spid="15380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3803"/>
                                        </p:tgtEl>
                                        <p:attrNameLst>
                                          <p:attrName>style.visibility</p:attrName>
                                        </p:attrNameLst>
                                      </p:cBhvr>
                                      <p:to>
                                        <p:strVal val="visible"/>
                                      </p:to>
                                    </p:set>
                                    <p:animEffect transition="in" filter="wipe(left)">
                                      <p:cBhvr>
                                        <p:cTn id="37" dur="500"/>
                                        <p:tgtEl>
                                          <p:spTgt spid="153803"/>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53808"/>
                                        </p:tgtEl>
                                        <p:attrNameLst>
                                          <p:attrName>style.visibility</p:attrName>
                                        </p:attrNameLst>
                                      </p:cBhvr>
                                      <p:to>
                                        <p:strVal val="visible"/>
                                      </p:to>
                                    </p:set>
                                    <p:animEffect transition="in" filter="strips(downRight)">
                                      <p:cBhvr>
                                        <p:cTn id="42" dur="500"/>
                                        <p:tgtEl>
                                          <p:spTgt spid="153808"/>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53753"/>
                                        </p:tgtEl>
                                        <p:attrNameLst>
                                          <p:attrName>style.visibility</p:attrName>
                                        </p:attrNameLst>
                                      </p:cBhvr>
                                      <p:to>
                                        <p:strVal val="visible"/>
                                      </p:to>
                                    </p:set>
                                    <p:animEffect transition="in" filter="strips(downRight)">
                                      <p:cBhvr>
                                        <p:cTn id="47" dur="500"/>
                                        <p:tgtEl>
                                          <p:spTgt spid="1537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3823"/>
                                        </p:tgtEl>
                                        <p:attrNameLst>
                                          <p:attrName>style.visibility</p:attrName>
                                        </p:attrNameLst>
                                      </p:cBhvr>
                                      <p:to>
                                        <p:strVal val="visible"/>
                                      </p:to>
                                    </p:set>
                                    <p:animEffect transition="in" filter="wipe(left)">
                                      <p:cBhvr>
                                        <p:cTn id="52" dur="500"/>
                                        <p:tgtEl>
                                          <p:spTgt spid="1538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3825"/>
                                        </p:tgtEl>
                                        <p:attrNameLst>
                                          <p:attrName>style.visibility</p:attrName>
                                        </p:attrNameLst>
                                      </p:cBhvr>
                                      <p:to>
                                        <p:strVal val="visible"/>
                                      </p:to>
                                    </p:set>
                                    <p:animEffect transition="in" filter="wipe(left)">
                                      <p:cBhvr>
                                        <p:cTn id="57" dur="500"/>
                                        <p:tgtEl>
                                          <p:spTgt spid="153825"/>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edge">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checkerboard(across)">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5" presetClass="entr" presetSubtype="10" fill="hold"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checkerboard(across)">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edg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xit" presetSubtype="16" fill="hold" grpId="1" nodeType="clickEffect">
                                  <p:stCondLst>
                                    <p:cond delay="0"/>
                                  </p:stCondLst>
                                  <p:childTnLst>
                                    <p:animEffect transition="out" filter="box(in)">
                                      <p:cBhvr>
                                        <p:cTn id="81" dur="500"/>
                                        <p:tgtEl>
                                          <p:spTgt spid="18"/>
                                        </p:tgtEl>
                                      </p:cBhvr>
                                    </p:animEffect>
                                    <p:set>
                                      <p:cBhvr>
                                        <p:cTn id="82" dur="1" fill="hold">
                                          <p:stCondLst>
                                            <p:cond delay="499"/>
                                          </p:stCondLst>
                                        </p:cTn>
                                        <p:tgtEl>
                                          <p:spTgt spid="18"/>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8" presetClass="entr" presetSubtype="3"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strips(upRigh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3" fill="hold"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strips(upRight)">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5" presetClass="entr" presetSubtype="10" fill="hold" nodeType="click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checkerboard(across)">
                                      <p:cBhvr>
                                        <p:cTn id="97" dur="500"/>
                                        <p:tgtEl>
                                          <p:spTgt spid="13"/>
                                        </p:tgtEl>
                                      </p:cBhvr>
                                    </p:animEffect>
                                  </p:childTnLst>
                                </p:cTn>
                              </p:par>
                            </p:childTnLst>
                          </p:cTn>
                        </p:par>
                      </p:childTnLst>
                    </p:cTn>
                  </p:par>
                  <p:par>
                    <p:cTn id="98" fill="hold">
                      <p:stCondLst>
                        <p:cond delay="indefinite"/>
                      </p:stCondLst>
                      <p:childTnLst>
                        <p:par>
                          <p:cTn id="99" fill="hold">
                            <p:stCondLst>
                              <p:cond delay="0"/>
                            </p:stCondLst>
                            <p:childTnLst>
                              <p:par>
                                <p:cTn id="100" presetID="5" presetClass="entr" presetSubtype="10" fill="hold" nodeType="clickEffect">
                                  <p:stCondLst>
                                    <p:cond delay="0"/>
                                  </p:stCondLst>
                                  <p:childTnLst>
                                    <p:set>
                                      <p:cBhvr>
                                        <p:cTn id="101" dur="1" fill="hold">
                                          <p:stCondLst>
                                            <p:cond delay="0"/>
                                          </p:stCondLst>
                                        </p:cTn>
                                        <p:tgtEl>
                                          <p:spTgt spid="12"/>
                                        </p:tgtEl>
                                        <p:attrNameLst>
                                          <p:attrName>style.visibility</p:attrName>
                                        </p:attrNameLst>
                                      </p:cBhvr>
                                      <p:to>
                                        <p:strVal val="visible"/>
                                      </p:to>
                                    </p:set>
                                    <p:animEffect transition="in" filter="checkerboard(across)">
                                      <p:cBhvr>
                                        <p:cTn id="102" dur="500"/>
                                        <p:tgtEl>
                                          <p:spTgt spid="12"/>
                                        </p:tgtEl>
                                      </p:cBhvr>
                                    </p:animEffect>
                                  </p:childTnLst>
                                </p:cTn>
                              </p:par>
                            </p:childTnLst>
                          </p:cTn>
                        </p:par>
                      </p:childTnLst>
                    </p:cTn>
                  </p:par>
                  <p:par>
                    <p:cTn id="103" fill="hold">
                      <p:stCondLst>
                        <p:cond delay="indefinite"/>
                      </p:stCondLst>
                      <p:childTnLst>
                        <p:par>
                          <p:cTn id="104" fill="hold">
                            <p:stCondLst>
                              <p:cond delay="0"/>
                            </p:stCondLst>
                            <p:childTnLst>
                              <p:par>
                                <p:cTn id="105" presetID="20" presetClass="entr" presetSubtype="0"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edge">
                                      <p:cBhvr>
                                        <p:cTn id="10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58" grpId="0"/>
      <p:bldP spid="153762" grpId="0" bldLvl="0" animBg="1"/>
      <p:bldP spid="153808" grpId="0"/>
      <p:bldP spid="18" grpId="0" bldLvl="0" animBg="1"/>
      <p:bldP spid="18" grpId="1" bldLvl="0" animBg="1"/>
      <p:bldP spid="19" grpId="0" bldLvl="0" animBg="1"/>
      <p:bldP spid="22"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8"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54629" name="矩形 154628"/>
          <p:cNvSpPr/>
          <p:nvPr/>
        </p:nvSpPr>
        <p:spPr>
          <a:xfrm>
            <a:off x="6615113" y="2719388"/>
            <a:ext cx="360362" cy="584200"/>
          </a:xfrm>
          <a:prstGeom prst="rect">
            <a:avLst/>
          </a:prstGeom>
          <a:solidFill>
            <a:srgbClr val="00FF00"/>
          </a:solidFill>
          <a:ln w="38100">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54630" name="矩形 154629"/>
          <p:cNvSpPr/>
          <p:nvPr/>
        </p:nvSpPr>
        <p:spPr>
          <a:xfrm>
            <a:off x="6615113" y="2719388"/>
            <a:ext cx="360362" cy="585787"/>
          </a:xfrm>
          <a:prstGeom prst="rect">
            <a:avLst/>
          </a:prstGeom>
          <a:solidFill>
            <a:srgbClr val="FF0000"/>
          </a:solidFill>
          <a:ln w="38100">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54631" name="矩形 154630"/>
          <p:cNvSpPr/>
          <p:nvPr/>
        </p:nvSpPr>
        <p:spPr>
          <a:xfrm>
            <a:off x="7561263" y="2719388"/>
            <a:ext cx="360362" cy="585787"/>
          </a:xfrm>
          <a:prstGeom prst="rect">
            <a:avLst/>
          </a:prstGeom>
          <a:solidFill>
            <a:srgbClr val="FF0000"/>
          </a:solidFill>
          <a:ln w="38100">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54632" name="矩形 154631"/>
          <p:cNvSpPr/>
          <p:nvPr/>
        </p:nvSpPr>
        <p:spPr>
          <a:xfrm>
            <a:off x="7561263" y="2719388"/>
            <a:ext cx="360362" cy="584200"/>
          </a:xfrm>
          <a:prstGeom prst="rect">
            <a:avLst/>
          </a:prstGeom>
          <a:solidFill>
            <a:srgbClr val="00FF00"/>
          </a:solidFill>
          <a:ln w="38100">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aphicFrame>
        <p:nvGraphicFramePr>
          <p:cNvPr id="154633" name="对象 154632"/>
          <p:cNvGraphicFramePr/>
          <p:nvPr/>
        </p:nvGraphicFramePr>
        <p:xfrm>
          <a:off x="629603" y="5196205"/>
          <a:ext cx="3822700" cy="750888"/>
        </p:xfrm>
        <a:graphic>
          <a:graphicData uri="http://schemas.openxmlformats.org/presentationml/2006/ole">
            <mc:AlternateContent xmlns:mc="http://schemas.openxmlformats.org/markup-compatibility/2006">
              <mc:Choice xmlns:v="urn:schemas-microsoft-com:vml" Requires="v">
                <p:oleObj spid="_x0000_s3091" name="" r:id="rId1" imgW="2195830" imgH="431800" progId="Equation.DSMT4">
                  <p:embed/>
                </p:oleObj>
              </mc:Choice>
              <mc:Fallback>
                <p:oleObj name="" r:id="rId1" imgW="2195830" imgH="431800" progId="Equation.DSMT4">
                  <p:embed/>
                  <p:pic>
                    <p:nvPicPr>
                      <p:cNvPr id="0" name="图片 3090"/>
                      <p:cNvPicPr/>
                      <p:nvPr/>
                    </p:nvPicPr>
                    <p:blipFill>
                      <a:blip r:embed="rId2"/>
                      <a:stretch>
                        <a:fillRect/>
                      </a:stretch>
                    </p:blipFill>
                    <p:spPr>
                      <a:xfrm>
                        <a:off x="629603" y="5196205"/>
                        <a:ext cx="3822700" cy="750888"/>
                      </a:xfrm>
                      <a:prstGeom prst="rect">
                        <a:avLst/>
                      </a:prstGeom>
                      <a:noFill/>
                      <a:ln w="38100">
                        <a:noFill/>
                        <a:miter/>
                      </a:ln>
                    </p:spPr>
                  </p:pic>
                </p:oleObj>
              </mc:Fallback>
            </mc:AlternateContent>
          </a:graphicData>
        </a:graphic>
      </p:graphicFrame>
      <p:grpSp>
        <p:nvGrpSpPr>
          <p:cNvPr id="154634" name="组合 154633"/>
          <p:cNvGrpSpPr/>
          <p:nvPr/>
        </p:nvGrpSpPr>
        <p:grpSpPr>
          <a:xfrm>
            <a:off x="5105400" y="2141538"/>
            <a:ext cx="4038600" cy="1874837"/>
            <a:chOff x="329" y="828"/>
            <a:chExt cx="2624" cy="1327"/>
          </a:xfrm>
        </p:grpSpPr>
        <p:graphicFrame>
          <p:nvGraphicFramePr>
            <p:cNvPr id="154635" name="对象 154634"/>
            <p:cNvGraphicFramePr/>
            <p:nvPr/>
          </p:nvGraphicFramePr>
          <p:xfrm>
            <a:off x="329" y="828"/>
            <a:ext cx="2624" cy="1327"/>
          </p:xfrm>
          <a:graphic>
            <a:graphicData uri="http://schemas.openxmlformats.org/presentationml/2006/ole">
              <mc:AlternateContent xmlns:mc="http://schemas.openxmlformats.org/markup-compatibility/2006">
                <mc:Choice xmlns:v="urn:schemas-microsoft-com:vml" Requires="v">
                  <p:oleObj spid="_x0000_s3093" name="" r:id="rId3" imgW="1921510" imgH="911225" progId="Word.Picture.8">
                    <p:embed/>
                  </p:oleObj>
                </mc:Choice>
                <mc:Fallback>
                  <p:oleObj name="" r:id="rId3" imgW="1921510" imgH="911225" progId="Word.Picture.8">
                    <p:embed/>
                    <p:pic>
                      <p:nvPicPr>
                        <p:cNvPr id="0" name="图片 3092"/>
                        <p:cNvPicPr/>
                        <p:nvPr/>
                      </p:nvPicPr>
                      <p:blipFill>
                        <a:blip r:embed="rId4"/>
                        <a:stretch>
                          <a:fillRect/>
                        </a:stretch>
                      </p:blipFill>
                      <p:spPr>
                        <a:xfrm>
                          <a:off x="329" y="828"/>
                          <a:ext cx="2624" cy="1327"/>
                        </a:xfrm>
                        <a:prstGeom prst="rect">
                          <a:avLst/>
                        </a:prstGeom>
                        <a:solidFill>
                          <a:srgbClr val="FFFFFF"/>
                        </a:solidFill>
                        <a:ln w="9525" cap="flat" cmpd="sng">
                          <a:solidFill>
                            <a:srgbClr val="000066"/>
                          </a:solidFill>
                          <a:prstDash val="solid"/>
                          <a:miter/>
                          <a:headEnd type="none" w="med" len="med"/>
                          <a:tailEnd type="none" w="med" len="med"/>
                        </a:ln>
                      </p:spPr>
                    </p:pic>
                  </p:oleObj>
                </mc:Fallback>
              </mc:AlternateContent>
            </a:graphicData>
          </a:graphic>
        </p:graphicFrame>
        <p:sp>
          <p:nvSpPr>
            <p:cNvPr id="154636" name="矩形 154635"/>
            <p:cNvSpPr/>
            <p:nvPr/>
          </p:nvSpPr>
          <p:spPr>
            <a:xfrm>
              <a:off x="992" y="1565"/>
              <a:ext cx="298" cy="287"/>
            </a:xfrm>
            <a:prstGeom prst="rect">
              <a:avLst/>
            </a:prstGeom>
            <a:solidFill>
              <a:srgbClr val="FFFFFF"/>
            </a:solidFill>
            <a:ln w="38100" cap="flat" cmpd="sng">
              <a:solidFill>
                <a:srgbClr val="000066">
                  <a:alpha val="0"/>
                </a:srgbClr>
              </a:solidFill>
              <a:prstDash val="solid"/>
              <a:miter/>
              <a:headEnd type="none" w="med" len="med"/>
              <a:tailEnd type="none" w="med" len="med"/>
            </a:ln>
          </p:spPr>
          <p:txBody>
            <a:bodyPr wrap="none" anchor="t" anchorCtr="0">
              <a:spAutoFit/>
            </a:bodyPr>
            <a:p>
              <a:pPr algn="ctr"/>
              <a:r>
                <a:rPr lang="en-US" altLang="zh-CN" b="1" i="1">
                  <a:solidFill>
                    <a:srgbClr val="000066"/>
                  </a:solidFill>
                  <a:latin typeface="Times New Roman" panose="02020603050405020304" charset="0"/>
                  <a:ea typeface="楷体" panose="02010609060101010101" charset="-122"/>
                  <a:cs typeface="Times New Roman" panose="02020603050405020304" charset="0"/>
                </a:rPr>
                <a:t>v</a:t>
              </a:r>
              <a:r>
                <a:rPr lang="en-US" altLang="zh-CN" b="1" baseline="-25000">
                  <a:solidFill>
                    <a:srgbClr val="000066"/>
                  </a:solidFill>
                  <a:latin typeface="Times New Roman" panose="02020603050405020304" charset="0"/>
                  <a:ea typeface="楷体" panose="02010609060101010101" charset="-122"/>
                  <a:cs typeface="Times New Roman" panose="02020603050405020304" charset="0"/>
                </a:rPr>
                <a:t>I1</a:t>
              </a:r>
              <a:endParaRPr lang="en-US" altLang="zh-CN" b="1" baseline="-25000">
                <a:solidFill>
                  <a:srgbClr val="000066"/>
                </a:solidFill>
                <a:latin typeface="Times New Roman" panose="02020603050405020304" charset="0"/>
                <a:ea typeface="楷体" panose="02010609060101010101" charset="-122"/>
                <a:cs typeface="Times New Roman" panose="02020603050405020304" charset="0"/>
              </a:endParaRPr>
            </a:p>
          </p:txBody>
        </p:sp>
      </p:grpSp>
      <p:graphicFrame>
        <p:nvGraphicFramePr>
          <p:cNvPr id="154637" name="对象 154636"/>
          <p:cNvGraphicFramePr/>
          <p:nvPr/>
        </p:nvGraphicFramePr>
        <p:xfrm>
          <a:off x="685800" y="4343083"/>
          <a:ext cx="3600450" cy="817562"/>
        </p:xfrm>
        <a:graphic>
          <a:graphicData uri="http://schemas.openxmlformats.org/presentationml/2006/ole">
            <mc:AlternateContent xmlns:mc="http://schemas.openxmlformats.org/markup-compatibility/2006">
              <mc:Choice xmlns:v="urn:schemas-microsoft-com:vml" Requires="v">
                <p:oleObj spid="_x0000_s3094" name="" r:id="rId5" imgW="1955165" imgH="444500" progId="Equation.DSMT4">
                  <p:embed/>
                </p:oleObj>
              </mc:Choice>
              <mc:Fallback>
                <p:oleObj name="" r:id="rId5" imgW="1955165" imgH="444500" progId="Equation.DSMT4">
                  <p:embed/>
                  <p:pic>
                    <p:nvPicPr>
                      <p:cNvPr id="0" name="图片 3093"/>
                      <p:cNvPicPr/>
                      <p:nvPr/>
                    </p:nvPicPr>
                    <p:blipFill>
                      <a:blip r:embed="rId6"/>
                      <a:stretch>
                        <a:fillRect/>
                      </a:stretch>
                    </p:blipFill>
                    <p:spPr>
                      <a:xfrm>
                        <a:off x="685800" y="4343083"/>
                        <a:ext cx="3600450" cy="817562"/>
                      </a:xfrm>
                      <a:prstGeom prst="rect">
                        <a:avLst/>
                      </a:prstGeom>
                      <a:noFill/>
                      <a:ln w="38100">
                        <a:noFill/>
                        <a:miter/>
                      </a:ln>
                    </p:spPr>
                  </p:pic>
                </p:oleObj>
              </mc:Fallback>
            </mc:AlternateContent>
          </a:graphicData>
        </a:graphic>
      </p:graphicFrame>
      <p:sp>
        <p:nvSpPr>
          <p:cNvPr id="154638" name="椭圆 154637"/>
          <p:cNvSpPr/>
          <p:nvPr/>
        </p:nvSpPr>
        <p:spPr>
          <a:xfrm>
            <a:off x="8686800" y="2562225"/>
            <a:ext cx="315913" cy="314325"/>
          </a:xfrm>
          <a:prstGeom prst="ellipse">
            <a:avLst/>
          </a:prstGeom>
          <a:solidFill>
            <a:srgbClr val="0000CC"/>
          </a:solidFill>
          <a:ln w="9525">
            <a:noFill/>
          </a:ln>
        </p:spPr>
        <p:txBody>
          <a:bodyPr wrap="none" anchor="ctr" anchorCtr="0"/>
          <a:p>
            <a:pPr algn="ctr"/>
            <a:r>
              <a:rPr lang="en-US" altLang="zh-CN" b="1">
                <a:solidFill>
                  <a:schemeClr val="bg1"/>
                </a:solidFill>
                <a:latin typeface="Times New Roman" panose="02020603050405020304" charset="0"/>
                <a:ea typeface="楷体" panose="02010609060101010101" charset="-122"/>
                <a:cs typeface="Times New Roman" panose="02020603050405020304" charset="0"/>
              </a:rPr>
              <a:t>1</a:t>
            </a:r>
            <a:endParaRPr lang="en-US" altLang="zh-CN" b="1">
              <a:solidFill>
                <a:schemeClr val="bg1"/>
              </a:solidFill>
              <a:latin typeface="Times New Roman" panose="02020603050405020304" charset="0"/>
              <a:ea typeface="楷体" panose="02010609060101010101" charset="-122"/>
              <a:cs typeface="Times New Roman" panose="02020603050405020304" charset="0"/>
            </a:endParaRPr>
          </a:p>
        </p:txBody>
      </p:sp>
      <p:sp>
        <p:nvSpPr>
          <p:cNvPr id="154640" name="直接连接符 154639"/>
          <p:cNvSpPr/>
          <p:nvPr/>
        </p:nvSpPr>
        <p:spPr>
          <a:xfrm flipV="1">
            <a:off x="6299200" y="2686050"/>
            <a:ext cx="0" cy="280988"/>
          </a:xfrm>
          <a:prstGeom prst="line">
            <a:avLst/>
          </a:prstGeom>
          <a:ln w="28575" cap="flat" cmpd="sng">
            <a:solidFill>
              <a:srgbClr val="FF0000"/>
            </a:solidFill>
            <a:prstDash val="solid"/>
            <a:headEnd type="triangle" w="med" len="med"/>
            <a:tailEnd type="none" w="med" len="med"/>
          </a:ln>
        </p:spPr>
      </p:sp>
      <p:sp>
        <p:nvSpPr>
          <p:cNvPr id="154641" name="矩形 154640"/>
          <p:cNvSpPr/>
          <p:nvPr/>
        </p:nvSpPr>
        <p:spPr>
          <a:xfrm>
            <a:off x="295275" y="2208213"/>
            <a:ext cx="4840288" cy="396875"/>
          </a:xfrm>
          <a:prstGeom prst="rect">
            <a:avLst/>
          </a:prstGeom>
          <a:noFill/>
          <a:ln w="38100">
            <a:noFill/>
          </a:ln>
        </p:spPr>
        <p:txBody>
          <a:bodyPr>
            <a:spAutoFit/>
          </a:bodyPr>
          <a:p>
            <a:pPr algn="ctr"/>
            <a:r>
              <a:rPr lang="zh-CN" altLang="en-US" sz="2000" b="1">
                <a:solidFill>
                  <a:srgbClr val="000066"/>
                </a:solidFill>
                <a:latin typeface="Times New Roman" panose="02020603050405020304" charset="0"/>
                <a:ea typeface="楷体" panose="02010609060101010101" charset="-122"/>
                <a:cs typeface="Times New Roman" panose="02020603050405020304" charset="0"/>
              </a:rPr>
              <a:t>当</a:t>
            </a: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I1</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TH</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，电路产生如下正反馈 ：</a:t>
            </a:r>
            <a:r>
              <a:rPr lang="zh-CN" altLang="en-US" sz="2000" dirty="0">
                <a:solidFill>
                  <a:srgbClr val="000066"/>
                </a:solidFill>
                <a:latin typeface="Times New Roman" panose="02020603050405020304" charset="0"/>
                <a:ea typeface="楷体" panose="02010609060101010101" charset="-122"/>
                <a:cs typeface="Times New Roman" panose="02020603050405020304" charset="0"/>
              </a:rPr>
              <a:t> </a:t>
            </a:r>
            <a:endParaRPr lang="zh-CN" altLang="en-US" sz="2000"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54642" name="对象 154641"/>
          <p:cNvGraphicFramePr/>
          <p:nvPr/>
        </p:nvGraphicFramePr>
        <p:xfrm>
          <a:off x="4705350" y="4481513"/>
          <a:ext cx="1717675" cy="714375"/>
        </p:xfrm>
        <a:graphic>
          <a:graphicData uri="http://schemas.openxmlformats.org/presentationml/2006/ole">
            <mc:AlternateContent xmlns:mc="http://schemas.openxmlformats.org/markup-compatibility/2006">
              <mc:Choice xmlns:v="urn:schemas-microsoft-com:vml" Requires="v">
                <p:oleObj spid="_x0000_s3089" name="" r:id="rId7" imgW="1040765" imgH="431800" progId="Equation.DSMT4">
                  <p:embed/>
                </p:oleObj>
              </mc:Choice>
              <mc:Fallback>
                <p:oleObj name="" r:id="rId7" imgW="1040765" imgH="431800" progId="Equation.DSMT4">
                  <p:embed/>
                  <p:pic>
                    <p:nvPicPr>
                      <p:cNvPr id="0" name="图片 3088"/>
                      <p:cNvPicPr/>
                      <p:nvPr/>
                    </p:nvPicPr>
                    <p:blipFill>
                      <a:blip r:embed="rId8"/>
                      <a:stretch>
                        <a:fillRect/>
                      </a:stretch>
                    </p:blipFill>
                    <p:spPr>
                      <a:xfrm>
                        <a:off x="4705350" y="4481513"/>
                        <a:ext cx="1717675" cy="714375"/>
                      </a:xfrm>
                      <a:prstGeom prst="rect">
                        <a:avLst/>
                      </a:prstGeom>
                      <a:solidFill>
                        <a:schemeClr val="bg1"/>
                      </a:solidFill>
                      <a:ln w="9525" cap="flat" cmpd="sng">
                        <a:solidFill>
                          <a:srgbClr val="FF0000"/>
                        </a:solidFill>
                        <a:prstDash val="solid"/>
                        <a:miter/>
                        <a:headEnd type="none" w="med" len="med"/>
                        <a:tailEnd type="none" w="med" len="med"/>
                      </a:ln>
                    </p:spPr>
                  </p:pic>
                </p:oleObj>
              </mc:Fallback>
            </mc:AlternateContent>
          </a:graphicData>
        </a:graphic>
      </p:graphicFrame>
      <p:sp>
        <p:nvSpPr>
          <p:cNvPr id="154643" name="矩形 154642"/>
          <p:cNvSpPr/>
          <p:nvPr/>
        </p:nvSpPr>
        <p:spPr>
          <a:xfrm>
            <a:off x="685800" y="1684338"/>
            <a:ext cx="3663950" cy="457200"/>
          </a:xfrm>
          <a:prstGeom prst="rect">
            <a:avLst/>
          </a:prstGeom>
          <a:noFill/>
          <a:ln w="38100">
            <a:noFill/>
          </a:ln>
        </p:spPr>
        <p:txBody>
          <a:bodyPr>
            <a:spAutoFit/>
          </a:bodyPr>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(4)</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当</a:t>
            </a: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下降</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I1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也下降，</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154644" name="椭圆 154643"/>
          <p:cNvSpPr/>
          <p:nvPr/>
        </p:nvSpPr>
        <p:spPr>
          <a:xfrm>
            <a:off x="8667750" y="2532063"/>
            <a:ext cx="315913" cy="314325"/>
          </a:xfrm>
          <a:prstGeom prst="ellipse">
            <a:avLst/>
          </a:prstGeom>
          <a:solidFill>
            <a:schemeClr val="accent2"/>
          </a:solidFill>
          <a:ln w="9525">
            <a:noFill/>
          </a:ln>
        </p:spPr>
        <p:txBody>
          <a:bodyPr wrap="none" anchor="ctr" anchorCtr="0"/>
          <a:p>
            <a:pPr algn="ctr"/>
            <a:r>
              <a:rPr lang="en-US" altLang="zh-CN" b="1">
                <a:solidFill>
                  <a:schemeClr val="bg1"/>
                </a:solidFill>
                <a:latin typeface="Times New Roman" panose="02020603050405020304" charset="0"/>
                <a:ea typeface="楷体" panose="02010609060101010101" charset="-122"/>
                <a:cs typeface="Times New Roman" panose="02020603050405020304" charset="0"/>
              </a:rPr>
              <a:t>0</a:t>
            </a:r>
            <a:endParaRPr lang="en-US" altLang="zh-CN" b="1">
              <a:solidFill>
                <a:schemeClr val="bg1"/>
              </a:solidFill>
              <a:latin typeface="Times New Roman" panose="02020603050405020304" charset="0"/>
              <a:ea typeface="楷体" panose="02010609060101010101" charset="-122"/>
              <a:cs typeface="Times New Roman" panose="02020603050405020304" charset="0"/>
            </a:endParaRPr>
          </a:p>
        </p:txBody>
      </p:sp>
      <p:graphicFrame>
        <p:nvGraphicFramePr>
          <p:cNvPr id="154645" name="对象 154644"/>
          <p:cNvGraphicFramePr/>
          <p:nvPr/>
        </p:nvGraphicFramePr>
        <p:xfrm>
          <a:off x="6746875" y="4432300"/>
          <a:ext cx="1744663" cy="714375"/>
        </p:xfrm>
        <a:graphic>
          <a:graphicData uri="http://schemas.openxmlformats.org/presentationml/2006/ole">
            <mc:AlternateContent xmlns:mc="http://schemas.openxmlformats.org/markup-compatibility/2006">
              <mc:Choice xmlns:v="urn:schemas-microsoft-com:vml" Requires="v">
                <p:oleObj spid="_x0000_s3092" name="" r:id="rId9" imgW="1053465" imgH="431800" progId="Equation.DSMT4">
                  <p:embed/>
                </p:oleObj>
              </mc:Choice>
              <mc:Fallback>
                <p:oleObj name="" r:id="rId9" imgW="1053465" imgH="431800" progId="Equation.DSMT4">
                  <p:embed/>
                  <p:pic>
                    <p:nvPicPr>
                      <p:cNvPr id="0" name="图片 3091"/>
                      <p:cNvPicPr/>
                      <p:nvPr/>
                    </p:nvPicPr>
                    <p:blipFill>
                      <a:blip r:embed="rId10"/>
                      <a:stretch>
                        <a:fillRect/>
                      </a:stretch>
                    </p:blipFill>
                    <p:spPr>
                      <a:xfrm>
                        <a:off x="6746875" y="4432300"/>
                        <a:ext cx="1744663" cy="714375"/>
                      </a:xfrm>
                      <a:prstGeom prst="rect">
                        <a:avLst/>
                      </a:prstGeom>
                      <a:solidFill>
                        <a:schemeClr val="bg1"/>
                      </a:solid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154646" name="对象 154645"/>
          <p:cNvGraphicFramePr/>
          <p:nvPr/>
        </p:nvGraphicFramePr>
        <p:xfrm>
          <a:off x="3189605" y="6248400"/>
          <a:ext cx="2686050" cy="660400"/>
        </p:xfrm>
        <a:graphic>
          <a:graphicData uri="http://schemas.openxmlformats.org/presentationml/2006/ole">
            <mc:AlternateContent xmlns:mc="http://schemas.openxmlformats.org/markup-compatibility/2006">
              <mc:Choice xmlns:v="urn:schemas-microsoft-com:vml" Requires="v">
                <p:oleObj spid="_x0000_s3090" name="" r:id="rId11" imgW="1624965" imgH="431800" progId="Equation.DSMT4">
                  <p:embed/>
                </p:oleObj>
              </mc:Choice>
              <mc:Fallback>
                <p:oleObj name="" r:id="rId11" imgW="1624965" imgH="431800" progId="Equation.DSMT4">
                  <p:embed/>
                  <p:pic>
                    <p:nvPicPr>
                      <p:cNvPr id="0" name="图片 3089"/>
                      <p:cNvPicPr/>
                      <p:nvPr/>
                    </p:nvPicPr>
                    <p:blipFill>
                      <a:blip r:embed="rId12"/>
                      <a:stretch>
                        <a:fillRect/>
                      </a:stretch>
                    </p:blipFill>
                    <p:spPr>
                      <a:xfrm>
                        <a:off x="3189605" y="6248400"/>
                        <a:ext cx="2686050" cy="660400"/>
                      </a:xfrm>
                      <a:prstGeom prst="rect">
                        <a:avLst/>
                      </a:prstGeom>
                      <a:solidFill>
                        <a:schemeClr val="bg1"/>
                      </a:solidFill>
                      <a:ln w="9525" cap="flat" cmpd="sng">
                        <a:solidFill>
                          <a:srgbClr val="FF3300"/>
                        </a:solidFill>
                        <a:prstDash val="solid"/>
                        <a:miter/>
                        <a:headEnd type="none" w="med" len="med"/>
                        <a:tailEnd type="none" w="med" len="med"/>
                      </a:ln>
                    </p:spPr>
                  </p:pic>
                </p:oleObj>
              </mc:Fallback>
            </mc:AlternateContent>
          </a:graphicData>
        </a:graphic>
      </p:graphicFrame>
      <p:grpSp>
        <p:nvGrpSpPr>
          <p:cNvPr id="154692" name="组合 154691"/>
          <p:cNvGrpSpPr/>
          <p:nvPr/>
        </p:nvGrpSpPr>
        <p:grpSpPr>
          <a:xfrm>
            <a:off x="785813" y="1238250"/>
            <a:ext cx="5489575" cy="714375"/>
            <a:chOff x="163" y="205"/>
            <a:chExt cx="3458" cy="450"/>
          </a:xfrm>
        </p:grpSpPr>
        <p:sp>
          <p:nvSpPr>
            <p:cNvPr id="154693" name="矩形 154692"/>
            <p:cNvSpPr/>
            <p:nvPr/>
          </p:nvSpPr>
          <p:spPr>
            <a:xfrm>
              <a:off x="163" y="205"/>
              <a:ext cx="3458" cy="288"/>
            </a:xfrm>
            <a:prstGeom prst="rect">
              <a:avLst/>
            </a:prstGeom>
            <a:solidFill>
              <a:srgbClr val="FFFFFF">
                <a:alpha val="999"/>
              </a:srgbClr>
            </a:solidFill>
            <a:ln w="38100">
              <a:noFill/>
            </a:ln>
          </p:spPr>
          <p:txBody>
            <a:bodyPr>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(3</a:t>
              </a:r>
              <a:r>
                <a:rPr lang="en-US" altLang="zh-CN" sz="240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en-US" altLang="zh-CN" b="1" i="1" err="1">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err="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I</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TH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电路维持                   不变</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endParaRPr lang="zh-CN" altLang="en-US" sz="24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grpSp>
          <p:nvGrpSpPr>
            <p:cNvPr id="154694" name="组合 154693"/>
            <p:cNvGrpSpPr/>
            <p:nvPr/>
          </p:nvGrpSpPr>
          <p:grpSpPr>
            <a:xfrm>
              <a:off x="659" y="337"/>
              <a:ext cx="132" cy="75"/>
              <a:chOff x="3110" y="650"/>
              <a:chExt cx="132" cy="75"/>
            </a:xfrm>
          </p:grpSpPr>
          <p:sp>
            <p:nvSpPr>
              <p:cNvPr id="154695" name="直接连接符 154694"/>
              <p:cNvSpPr/>
              <p:nvPr/>
            </p:nvSpPr>
            <p:spPr>
              <a:xfrm>
                <a:off x="3110" y="650"/>
                <a:ext cx="116" cy="41"/>
              </a:xfrm>
              <a:prstGeom prst="line">
                <a:avLst/>
              </a:prstGeom>
              <a:ln w="28575" cap="flat" cmpd="sng">
                <a:solidFill>
                  <a:schemeClr val="tx1"/>
                </a:solidFill>
                <a:prstDash val="solid"/>
                <a:headEnd type="none" w="med" len="med"/>
                <a:tailEnd type="none" w="med" len="med"/>
              </a:ln>
            </p:spPr>
          </p:sp>
          <p:sp>
            <p:nvSpPr>
              <p:cNvPr id="154696" name="直接连接符 154695"/>
              <p:cNvSpPr/>
              <p:nvPr/>
            </p:nvSpPr>
            <p:spPr>
              <a:xfrm flipH="1">
                <a:off x="3119" y="692"/>
                <a:ext cx="123" cy="33"/>
              </a:xfrm>
              <a:prstGeom prst="line">
                <a:avLst/>
              </a:prstGeom>
              <a:ln w="28575" cap="flat" cmpd="sng">
                <a:solidFill>
                  <a:schemeClr val="tx1"/>
                </a:solidFill>
                <a:prstDash val="solid"/>
                <a:headEnd type="none" w="med" len="med"/>
                <a:tailEnd type="none" w="med" len="med"/>
              </a:ln>
            </p:spPr>
          </p:sp>
        </p:grpSp>
        <p:grpSp>
          <p:nvGrpSpPr>
            <p:cNvPr id="154697" name="组合 154696"/>
            <p:cNvGrpSpPr/>
            <p:nvPr/>
          </p:nvGrpSpPr>
          <p:grpSpPr>
            <a:xfrm>
              <a:off x="1914" y="252"/>
              <a:ext cx="177" cy="403"/>
              <a:chOff x="5272" y="903"/>
              <a:chExt cx="177" cy="403"/>
            </a:xfrm>
          </p:grpSpPr>
          <p:sp>
            <p:nvSpPr>
              <p:cNvPr id="154698" name="矩形 154697"/>
              <p:cNvSpPr/>
              <p:nvPr/>
            </p:nvSpPr>
            <p:spPr>
              <a:xfrm flipH="1">
                <a:off x="5272" y="903"/>
                <a:ext cx="177" cy="403"/>
              </a:xfrm>
              <a:prstGeom prst="rect">
                <a:avLst/>
              </a:prstGeom>
              <a:noFill/>
              <a:ln w="9525">
                <a:noFill/>
              </a:ln>
            </p:spPr>
            <p:txBody>
              <a:bodyPr lIns="0" tIns="0" rIns="0" bIns="0">
                <a:spAutoFit/>
              </a:bodyPr>
              <a:p>
                <a:r>
                  <a:rPr lang="en-US" altLang="zh-CN" b="1" i="1">
                    <a:solidFill>
                      <a:srgbClr val="000066"/>
                    </a:solidFill>
                    <a:latin typeface="Times New Roman" panose="02020603050405020304" charset="0"/>
                    <a:ea typeface="楷体" panose="02010609060101010101" charset="-122"/>
                    <a:cs typeface="Times New Roman" panose="02020603050405020304" charset="0"/>
                  </a:rPr>
                  <a:t>v</a:t>
                </a:r>
                <a:endParaRPr lang="en-US" altLang="zh-CN" b="1" baseline="-25000">
                  <a:solidFill>
                    <a:srgbClr val="000066"/>
                  </a:solidFill>
                  <a:latin typeface="Times New Roman" panose="02020603050405020304" charset="0"/>
                  <a:ea typeface="楷体" panose="02010609060101010101" charset="-122"/>
                  <a:cs typeface="Times New Roman" panose="02020603050405020304" charset="0"/>
                </a:endParaRPr>
              </a:p>
              <a:p>
                <a:endParaRPr lang="en-US" altLang="zh-CN"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99" name="矩形 154698"/>
              <p:cNvSpPr/>
              <p:nvPr/>
            </p:nvSpPr>
            <p:spPr>
              <a:xfrm flipH="1">
                <a:off x="5345" y="983"/>
                <a:ext cx="81" cy="125"/>
              </a:xfrm>
              <a:prstGeom prst="rect">
                <a:avLst/>
              </a:prstGeom>
              <a:noFill/>
              <a:ln w="9525">
                <a:noFill/>
              </a:ln>
            </p:spPr>
            <p:txBody>
              <a:bodyPr wrap="none" lIns="0" tIns="0" rIns="0" bIns="0">
                <a:spAutoFit/>
              </a:bodyPr>
              <a:p>
                <a:pPr>
                  <a:spcBef>
                    <a:spcPct val="50000"/>
                  </a:spcBef>
                </a:pPr>
                <a:r>
                  <a:rPr lang="en-US" altLang="zh-CN" sz="1300" b="1">
                    <a:solidFill>
                      <a:srgbClr val="000066"/>
                    </a:solidFill>
                    <a:latin typeface="Times New Roman" panose="02020603050405020304" charset="0"/>
                    <a:ea typeface="楷体" panose="02010609060101010101" charset="-122"/>
                    <a:cs typeface="Times New Roman" panose="02020603050405020304" charset="0"/>
                  </a:rPr>
                  <a:t>O</a:t>
                </a:r>
                <a:endParaRPr lang="en-US" altLang="zh-CN" sz="1300" b="1">
                  <a:solidFill>
                    <a:srgbClr val="000066"/>
                  </a:solidFill>
                  <a:latin typeface="Times New Roman" panose="02020603050405020304" charset="0"/>
                  <a:ea typeface="楷体" panose="02010609060101010101" charset="-122"/>
                  <a:cs typeface="Times New Roman" panose="02020603050405020304" charset="0"/>
                </a:endParaRPr>
              </a:p>
            </p:txBody>
          </p:sp>
        </p:grpSp>
        <p:sp>
          <p:nvSpPr>
            <p:cNvPr id="154700" name="矩形 154699"/>
            <p:cNvSpPr/>
            <p:nvPr/>
          </p:nvSpPr>
          <p:spPr>
            <a:xfrm>
              <a:off x="2064" y="258"/>
              <a:ext cx="485" cy="250"/>
            </a:xfrm>
            <a:prstGeom prst="rect">
              <a:avLst/>
            </a:prstGeom>
            <a:noFill/>
            <a:ln w="9525">
              <a:noFill/>
            </a:ln>
          </p:spPr>
          <p:txBody>
            <a:bodyPr wrap="none" anchor="t" anchorCtr="0">
              <a:spAutoFit/>
            </a:bodyPr>
            <a:p>
              <a:pPr>
                <a:spcBef>
                  <a:spcPct val="50000"/>
                </a:spcBef>
              </a:pPr>
              <a:r>
                <a:rPr lang="en-US" altLang="zh-CN" sz="2000" b="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OH</a:t>
              </a:r>
              <a:endPar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endParaRPr>
            </a:p>
          </p:txBody>
        </p:sp>
      </p:grpSp>
      <p:grpSp>
        <p:nvGrpSpPr>
          <p:cNvPr id="154701" name="组合 154700"/>
          <p:cNvGrpSpPr/>
          <p:nvPr/>
        </p:nvGrpSpPr>
        <p:grpSpPr>
          <a:xfrm>
            <a:off x="3514725" y="1697038"/>
            <a:ext cx="3375025" cy="547687"/>
            <a:chOff x="2387" y="659"/>
            <a:chExt cx="1759" cy="345"/>
          </a:xfrm>
        </p:grpSpPr>
        <p:sp>
          <p:nvSpPr>
            <p:cNvPr id="154702" name="矩形 154701"/>
            <p:cNvSpPr/>
            <p:nvPr/>
          </p:nvSpPr>
          <p:spPr>
            <a:xfrm>
              <a:off x="2387" y="682"/>
              <a:ext cx="1759" cy="250"/>
            </a:xfrm>
            <a:prstGeom prst="rect">
              <a:avLst/>
            </a:prstGeom>
            <a:noFill/>
            <a:ln w="38100">
              <a:noFill/>
            </a:ln>
          </p:spPr>
          <p:txBody>
            <a:bodyPr wrap="none" anchor="t" anchorCtr="0">
              <a:spAutoFit/>
            </a:bodyPr>
            <a:p>
              <a:pPr algn="ct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只要</a:t>
              </a: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rPr>
                <a:t>I1</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&gt;V</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TH</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，则输出为</a:t>
              </a:r>
              <a:r>
                <a:rPr lang="en-US" altLang="zh-CN" sz="2000" b="1" i="1" err="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err="1">
                  <a:solidFill>
                    <a:srgbClr val="000066"/>
                  </a:solidFill>
                  <a:latin typeface="Times New Roman" panose="02020603050405020304" charset="0"/>
                  <a:ea typeface="楷体" panose="02010609060101010101" charset="-122"/>
                  <a:cs typeface="Times New Roman" panose="02020603050405020304" charset="0"/>
                </a:rPr>
                <a:t>O</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=1</a:t>
              </a:r>
              <a:endParaRPr lang="en-US" altLang="zh-CN" sz="1600" b="1" baseline="-2500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54703" name="组合 154702"/>
            <p:cNvGrpSpPr/>
            <p:nvPr/>
          </p:nvGrpSpPr>
          <p:grpSpPr>
            <a:xfrm>
              <a:off x="3872" y="659"/>
              <a:ext cx="177" cy="345"/>
              <a:chOff x="5273" y="903"/>
              <a:chExt cx="177" cy="345"/>
            </a:xfrm>
          </p:grpSpPr>
          <p:sp>
            <p:nvSpPr>
              <p:cNvPr id="154704" name="矩形 154703"/>
              <p:cNvSpPr/>
              <p:nvPr/>
            </p:nvSpPr>
            <p:spPr>
              <a:xfrm flipH="1">
                <a:off x="5273" y="903"/>
                <a:ext cx="177" cy="345"/>
              </a:xfrm>
              <a:prstGeom prst="rect">
                <a:avLst/>
              </a:prstGeom>
              <a:noFill/>
              <a:ln w="9525">
                <a:noFill/>
              </a:ln>
            </p:spPr>
            <p:txBody>
              <a:bodyPr lIns="0" tIns="0" rIns="0" bIns="0">
                <a:spAutoFit/>
              </a:bodyPr>
              <a:p>
                <a:endParaRPr lang="en-US" altLang="zh-CN" b="1" baseline="-25000">
                  <a:solidFill>
                    <a:srgbClr val="000066"/>
                  </a:solidFill>
                  <a:latin typeface="Times New Roman" panose="02020603050405020304" charset="0"/>
                  <a:ea typeface="楷体" panose="02010609060101010101" charset="-122"/>
                  <a:cs typeface="Times New Roman" panose="02020603050405020304" charset="0"/>
                </a:endParaRPr>
              </a:p>
              <a:p>
                <a:endPar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705" name="矩形 154704"/>
              <p:cNvSpPr/>
              <p:nvPr/>
            </p:nvSpPr>
            <p:spPr>
              <a:xfrm flipH="1">
                <a:off x="5346" y="983"/>
                <a:ext cx="1" cy="230"/>
              </a:xfrm>
              <a:prstGeom prst="rect">
                <a:avLst/>
              </a:prstGeom>
              <a:noFill/>
              <a:ln w="9525">
                <a:noFill/>
              </a:ln>
            </p:spPr>
            <p:txBody>
              <a:bodyPr wrap="none" lIns="0" tIns="0" rIns="0" bIns="0">
                <a:spAutoFit/>
              </a:bodyPr>
              <a:p>
                <a:pPr>
                  <a:spcBef>
                    <a:spcPct val="50000"/>
                  </a:spcBef>
                </a:pP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grpSp>
      <p:sp>
        <p:nvSpPr>
          <p:cNvPr id="154713" name="矩形 154712"/>
          <p:cNvSpPr/>
          <p:nvPr/>
        </p:nvSpPr>
        <p:spPr>
          <a:xfrm>
            <a:off x="190500" y="4003675"/>
            <a:ext cx="8953500" cy="396875"/>
          </a:xfrm>
          <a:prstGeom prst="rect">
            <a:avLst/>
          </a:prstGeom>
          <a:noFill/>
          <a:ln w="9525">
            <a:noFill/>
          </a:ln>
        </p:spPr>
        <p:txBody>
          <a:bodyPr>
            <a:spAutoFit/>
          </a:bodyPr>
          <a:p>
            <a:pPr>
              <a:spcBef>
                <a:spcPct val="50000"/>
              </a:spcBef>
            </a:pPr>
            <a:r>
              <a:rPr lang="en-US" altLang="zh-CN" b="1" i="1" err="1">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err="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I</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值在减少过程中，使输出电压产生跳变时所对应的</a:t>
            </a:r>
            <a:r>
              <a:rPr lang="en-US" altLang="zh-CN" sz="2000" b="1" i="1" err="1">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25000" err="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值称为</a:t>
            </a:r>
            <a:r>
              <a:rPr lang="zh-CN" altLang="en-US" sz="2000" b="1" dirty="0">
                <a:solidFill>
                  <a:schemeClr val="accent2"/>
                </a:solidFill>
                <a:latin typeface="Times New Roman" panose="02020603050405020304" charset="0"/>
                <a:ea typeface="楷体" panose="02010609060101010101" charset="-122"/>
                <a:cs typeface="Times New Roman" panose="02020603050405020304" charset="0"/>
                <a:sym typeface="Symbol" panose="05050102010706020507" pitchFamily="18" charset="2"/>
              </a:rPr>
              <a:t>负向阈值电压</a:t>
            </a:r>
            <a:r>
              <a:rPr lang="en-US" altLang="zh-CN" sz="2000" b="1">
                <a:solidFill>
                  <a:schemeClr val="accent2"/>
                </a:solidFill>
                <a:latin typeface="Times New Roman" panose="02020603050405020304" charset="0"/>
                <a:ea typeface="楷体" panose="02010609060101010101" charset="-122"/>
                <a:cs typeface="Times New Roman" panose="02020603050405020304" charset="0"/>
              </a:rPr>
              <a:t>V</a:t>
            </a:r>
            <a:r>
              <a:rPr lang="en-US" altLang="zh-CN" sz="2000" b="1" baseline="-25000">
                <a:solidFill>
                  <a:schemeClr val="accent2"/>
                </a:solidFill>
                <a:latin typeface="Times New Roman" panose="02020603050405020304" charset="0"/>
                <a:ea typeface="楷体" panose="02010609060101010101" charset="-122"/>
                <a:cs typeface="Times New Roman" panose="02020603050405020304" charset="0"/>
              </a:rPr>
              <a:t>T-</a:t>
            </a:r>
            <a:endParaRPr lang="en-US" altLang="zh-CN" sz="2000" b="1" baseline="-25000">
              <a:solidFill>
                <a:schemeClr val="accent2"/>
              </a:solidFill>
              <a:latin typeface="Times New Roman" panose="02020603050405020304" charset="0"/>
              <a:ea typeface="楷体" panose="02010609060101010101" charset="-122"/>
              <a:cs typeface="Times New Roman" panose="02020603050405020304" charset="0"/>
            </a:endParaRPr>
          </a:p>
        </p:txBody>
      </p:sp>
      <p:grpSp>
        <p:nvGrpSpPr>
          <p:cNvPr id="154731" name="组合 154730"/>
          <p:cNvGrpSpPr/>
          <p:nvPr/>
        </p:nvGrpSpPr>
        <p:grpSpPr>
          <a:xfrm>
            <a:off x="400050" y="2651126"/>
            <a:ext cx="5042917" cy="1092199"/>
            <a:chOff x="6" y="1397"/>
            <a:chExt cx="3534" cy="688"/>
          </a:xfrm>
        </p:grpSpPr>
        <p:sp>
          <p:nvSpPr>
            <p:cNvPr id="154639" name="直接连接符 154638"/>
            <p:cNvSpPr/>
            <p:nvPr/>
          </p:nvSpPr>
          <p:spPr>
            <a:xfrm flipV="1">
              <a:off x="3540" y="1397"/>
              <a:ext cx="0" cy="193"/>
            </a:xfrm>
            <a:prstGeom prst="line">
              <a:avLst/>
            </a:prstGeom>
            <a:ln w="28575" cap="flat" cmpd="sng">
              <a:solidFill>
                <a:srgbClr val="FF0000"/>
              </a:solidFill>
              <a:prstDash val="solid"/>
              <a:headEnd type="triangle" w="med" len="med"/>
              <a:tailEnd type="none" w="med" len="med"/>
            </a:ln>
          </p:spPr>
        </p:sp>
        <p:sp>
          <p:nvSpPr>
            <p:cNvPr id="154652" name="矩形 154651"/>
            <p:cNvSpPr/>
            <p:nvPr/>
          </p:nvSpPr>
          <p:spPr>
            <a:xfrm>
              <a:off x="334" y="1649"/>
              <a:ext cx="38" cy="163"/>
            </a:xfrm>
            <a:prstGeom prst="rect">
              <a:avLst/>
            </a:prstGeom>
            <a:noFill/>
            <a:ln w="9525">
              <a:noFill/>
            </a:ln>
          </p:spPr>
          <p:txBody>
            <a:bodyPr wrap="none" lIns="0" tIns="0" rIns="0" bIns="0">
              <a:spAutoFit/>
            </a:bodyPr>
            <a:p>
              <a:pPr>
                <a:spcBef>
                  <a:spcPct val="50000"/>
                </a:spcBef>
              </a:pPr>
              <a:r>
                <a:rPr lang="en-US" altLang="zh-CN" sz="1700" b="1" i="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1700" b="1" i="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56" name="矩形 154655"/>
            <p:cNvSpPr/>
            <p:nvPr/>
          </p:nvSpPr>
          <p:spPr>
            <a:xfrm>
              <a:off x="1090" y="1649"/>
              <a:ext cx="37" cy="163"/>
            </a:xfrm>
            <a:prstGeom prst="rect">
              <a:avLst/>
            </a:prstGeom>
            <a:noFill/>
            <a:ln w="9525">
              <a:noFill/>
            </a:ln>
          </p:spPr>
          <p:txBody>
            <a:bodyPr wrap="none" lIns="0" tIns="0" rIns="0" bIns="0">
              <a:spAutoFit/>
            </a:bodyPr>
            <a:p>
              <a:pPr>
                <a:spcBef>
                  <a:spcPct val="50000"/>
                </a:spcBef>
              </a:pPr>
              <a:r>
                <a:rPr lang="en-US" altLang="zh-CN" sz="1700" b="1" i="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1700" b="1" i="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57" name="矩形 154656"/>
            <p:cNvSpPr/>
            <p:nvPr/>
          </p:nvSpPr>
          <p:spPr>
            <a:xfrm>
              <a:off x="1483" y="1590"/>
              <a:ext cx="95" cy="230"/>
            </a:xfrm>
            <a:prstGeom prst="rect">
              <a:avLst/>
            </a:prstGeom>
            <a:noFill/>
            <a:ln w="9525">
              <a:noFill/>
            </a:ln>
          </p:spPr>
          <p:txBody>
            <a:bodyPr wrap="none" lIns="0" tIns="0" rIns="0" bIns="0">
              <a:spAutoFit/>
            </a:bodyPr>
            <a:p>
              <a:pPr>
                <a:spcBef>
                  <a:spcPct val="50000"/>
                </a:spcBef>
              </a:pP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v</a:t>
              </a:r>
              <a:endParaRPr lang="en-US" altLang="zh-CN" sz="2400" b="1"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58" name="矩形 154657"/>
            <p:cNvSpPr/>
            <p:nvPr/>
          </p:nvSpPr>
          <p:spPr>
            <a:xfrm>
              <a:off x="1557" y="1698"/>
              <a:ext cx="75" cy="106"/>
            </a:xfrm>
            <a:prstGeom prst="rect">
              <a:avLst/>
            </a:prstGeom>
            <a:noFill/>
            <a:ln w="9525">
              <a:noFill/>
            </a:ln>
          </p:spPr>
          <p:txBody>
            <a:bodyPr wrap="none" lIns="0" tIns="0" rIns="0" bIns="0">
              <a:spAutoFit/>
            </a:bodyPr>
            <a:p>
              <a:pPr>
                <a:spcBef>
                  <a:spcPct val="50000"/>
                </a:spcBef>
              </a:pPr>
              <a:r>
                <a:rPr lang="en-US" altLang="zh-CN" sz="1100" b="1">
                  <a:solidFill>
                    <a:srgbClr val="000066"/>
                  </a:solidFill>
                  <a:latin typeface="Times New Roman" panose="02020603050405020304" charset="0"/>
                  <a:ea typeface="楷体" panose="02010609060101010101" charset="-122"/>
                  <a:cs typeface="Times New Roman" panose="02020603050405020304" charset="0"/>
                </a:rPr>
                <a:t>O</a:t>
              </a:r>
              <a:endParaRPr lang="en-US" altLang="zh-CN" sz="11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59" name="矩形 154658"/>
            <p:cNvSpPr/>
            <p:nvPr/>
          </p:nvSpPr>
          <p:spPr>
            <a:xfrm>
              <a:off x="1652" y="1698"/>
              <a:ext cx="49" cy="106"/>
            </a:xfrm>
            <a:prstGeom prst="rect">
              <a:avLst/>
            </a:prstGeom>
            <a:noFill/>
            <a:ln w="9525">
              <a:noFill/>
            </a:ln>
          </p:spPr>
          <p:txBody>
            <a:bodyPr wrap="none" lIns="0" tIns="0" rIns="0" bIns="0">
              <a:spAutoFit/>
            </a:bodyPr>
            <a:p>
              <a:pPr>
                <a:spcBef>
                  <a:spcPct val="50000"/>
                </a:spcBef>
              </a:pPr>
              <a:r>
                <a:rPr lang="en-US" altLang="zh-CN" sz="1100" b="1">
                  <a:solidFill>
                    <a:srgbClr val="000066"/>
                  </a:solidFill>
                  <a:latin typeface="Times New Roman" panose="02020603050405020304" charset="0"/>
                  <a:ea typeface="楷体" panose="02010609060101010101" charset="-122"/>
                  <a:cs typeface="Times New Roman" panose="02020603050405020304" charset="0"/>
                </a:rPr>
                <a:t>1</a:t>
              </a:r>
              <a:endParaRPr lang="en-US" altLang="zh-CN" sz="11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60" name="矩形 154659"/>
            <p:cNvSpPr/>
            <p:nvPr/>
          </p:nvSpPr>
          <p:spPr>
            <a:xfrm>
              <a:off x="1642" y="1807"/>
              <a:ext cx="38" cy="163"/>
            </a:xfrm>
            <a:prstGeom prst="rect">
              <a:avLst/>
            </a:prstGeom>
            <a:noFill/>
            <a:ln w="9525">
              <a:noFill/>
            </a:ln>
          </p:spPr>
          <p:txBody>
            <a:bodyPr wrap="none" lIns="0" tIns="0" rIns="0" bIns="0">
              <a:spAutoFit/>
            </a:bodyPr>
            <a:p>
              <a:pPr>
                <a:spcBef>
                  <a:spcPct val="50000"/>
                </a:spcBef>
              </a:pPr>
              <a:r>
                <a:rPr lang="en-US" altLang="zh-CN" sz="1700" b="1" i="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1700" b="1" i="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61" name="矩形 154660"/>
            <p:cNvSpPr/>
            <p:nvPr/>
          </p:nvSpPr>
          <p:spPr>
            <a:xfrm>
              <a:off x="2155" y="1563"/>
              <a:ext cx="95" cy="230"/>
            </a:xfrm>
            <a:prstGeom prst="rect">
              <a:avLst/>
            </a:prstGeom>
            <a:noFill/>
            <a:ln w="9525">
              <a:noFill/>
            </a:ln>
          </p:spPr>
          <p:txBody>
            <a:bodyPr wrap="none" lIns="0" tIns="0" rIns="0" bIns="0">
              <a:spAutoFit/>
            </a:bodyPr>
            <a:p>
              <a:pPr>
                <a:spcBef>
                  <a:spcPct val="50000"/>
                </a:spcBef>
              </a:pP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v</a:t>
              </a:r>
              <a:endParaRPr lang="en-US" altLang="zh-CN" sz="2400" b="1"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62" name="矩形 154661"/>
            <p:cNvSpPr/>
            <p:nvPr/>
          </p:nvSpPr>
          <p:spPr>
            <a:xfrm>
              <a:off x="2255" y="1707"/>
              <a:ext cx="76" cy="106"/>
            </a:xfrm>
            <a:prstGeom prst="rect">
              <a:avLst/>
            </a:prstGeom>
            <a:noFill/>
            <a:ln w="9525">
              <a:noFill/>
            </a:ln>
          </p:spPr>
          <p:txBody>
            <a:bodyPr wrap="none" lIns="0" tIns="0" rIns="0" bIns="0">
              <a:spAutoFit/>
            </a:bodyPr>
            <a:p>
              <a:pPr>
                <a:spcBef>
                  <a:spcPct val="50000"/>
                </a:spcBef>
              </a:pPr>
              <a:r>
                <a:rPr lang="en-US" altLang="zh-CN" sz="1100" b="1">
                  <a:solidFill>
                    <a:srgbClr val="000066"/>
                  </a:solidFill>
                  <a:latin typeface="Times New Roman" panose="02020603050405020304" charset="0"/>
                  <a:ea typeface="楷体" panose="02010609060101010101" charset="-122"/>
                  <a:cs typeface="Times New Roman" panose="02020603050405020304" charset="0"/>
                </a:rPr>
                <a:t>O</a:t>
              </a:r>
              <a:endParaRPr lang="en-US" altLang="zh-CN" sz="11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63" name="矩形 154662"/>
            <p:cNvSpPr/>
            <p:nvPr/>
          </p:nvSpPr>
          <p:spPr>
            <a:xfrm>
              <a:off x="2536" y="1649"/>
              <a:ext cx="38" cy="163"/>
            </a:xfrm>
            <a:prstGeom prst="rect">
              <a:avLst/>
            </a:prstGeom>
            <a:noFill/>
            <a:ln w="9525">
              <a:noFill/>
            </a:ln>
          </p:spPr>
          <p:txBody>
            <a:bodyPr wrap="none" lIns="0" tIns="0" rIns="0" bIns="0">
              <a:spAutoFit/>
            </a:bodyPr>
            <a:p>
              <a:pPr>
                <a:spcBef>
                  <a:spcPct val="50000"/>
                </a:spcBef>
              </a:pPr>
              <a:r>
                <a:rPr lang="en-US" altLang="zh-CN" sz="1700" b="1" i="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1700" b="1" i="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64" name="直接连接符 154663"/>
            <p:cNvSpPr/>
            <p:nvPr/>
          </p:nvSpPr>
          <p:spPr>
            <a:xfrm>
              <a:off x="2253" y="1801"/>
              <a:ext cx="3" cy="284"/>
            </a:xfrm>
            <a:prstGeom prst="line">
              <a:avLst/>
            </a:prstGeom>
            <a:ln w="38100" cap="flat" cmpd="sng">
              <a:solidFill>
                <a:srgbClr val="000099"/>
              </a:solidFill>
              <a:prstDash val="solid"/>
              <a:headEnd type="none" w="med" len="med"/>
              <a:tailEnd type="none" w="med" len="med"/>
            </a:ln>
          </p:spPr>
        </p:sp>
        <p:sp>
          <p:nvSpPr>
            <p:cNvPr id="154665" name="直接连接符 154664"/>
            <p:cNvSpPr/>
            <p:nvPr/>
          </p:nvSpPr>
          <p:spPr>
            <a:xfrm>
              <a:off x="883" y="2068"/>
              <a:ext cx="1391" cy="1"/>
            </a:xfrm>
            <a:prstGeom prst="line">
              <a:avLst/>
            </a:prstGeom>
            <a:ln w="38100" cap="flat" cmpd="sng">
              <a:solidFill>
                <a:srgbClr val="000099"/>
              </a:solidFill>
              <a:prstDash val="solid"/>
              <a:headEnd type="none" w="med" len="med"/>
              <a:tailEnd type="none" w="med" len="med"/>
            </a:ln>
          </p:spPr>
        </p:sp>
        <p:sp>
          <p:nvSpPr>
            <p:cNvPr id="154666" name="任意多边形 154665"/>
            <p:cNvSpPr/>
            <p:nvPr/>
          </p:nvSpPr>
          <p:spPr>
            <a:xfrm>
              <a:off x="2000" y="1706"/>
              <a:ext cx="146" cy="29"/>
            </a:xfrm>
            <a:custGeom>
              <a:avLst/>
              <a:gdLst/>
              <a:ahLst/>
              <a:cxnLst/>
              <a:pathLst>
                <a:path w="117" h="29">
                  <a:moveTo>
                    <a:pt x="117" y="15"/>
                  </a:moveTo>
                  <a:lnTo>
                    <a:pt x="0" y="0"/>
                  </a:lnTo>
                  <a:lnTo>
                    <a:pt x="0" y="29"/>
                  </a:lnTo>
                  <a:lnTo>
                    <a:pt x="117" y="15"/>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nvGrpSpPr>
            <p:cNvPr id="154667" name="组合 154666"/>
            <p:cNvGrpSpPr/>
            <p:nvPr/>
          </p:nvGrpSpPr>
          <p:grpSpPr>
            <a:xfrm>
              <a:off x="1029" y="1706"/>
              <a:ext cx="341" cy="30"/>
              <a:chOff x="4967" y="2452"/>
              <a:chExt cx="273" cy="30"/>
            </a:xfrm>
          </p:grpSpPr>
          <p:sp>
            <p:nvSpPr>
              <p:cNvPr id="154668" name="直接连接符 154667"/>
              <p:cNvSpPr/>
              <p:nvPr/>
            </p:nvSpPr>
            <p:spPr>
              <a:xfrm>
                <a:off x="4967" y="2473"/>
                <a:ext cx="180" cy="1"/>
              </a:xfrm>
              <a:prstGeom prst="line">
                <a:avLst/>
              </a:prstGeom>
              <a:ln w="38100" cap="flat" cmpd="sng">
                <a:solidFill>
                  <a:srgbClr val="000099"/>
                </a:solidFill>
                <a:prstDash val="solid"/>
                <a:headEnd type="none" w="med" len="med"/>
                <a:tailEnd type="none" w="med" len="med"/>
              </a:ln>
            </p:spPr>
          </p:sp>
          <p:sp>
            <p:nvSpPr>
              <p:cNvPr id="154669" name="任意多边形 154668"/>
              <p:cNvSpPr/>
              <p:nvPr/>
            </p:nvSpPr>
            <p:spPr>
              <a:xfrm>
                <a:off x="5121" y="2452"/>
                <a:ext cx="119" cy="30"/>
              </a:xfrm>
              <a:custGeom>
                <a:avLst/>
                <a:gdLst/>
                <a:ahLst/>
                <a:cxnLst/>
                <a:pathLst>
                  <a:path w="117" h="29">
                    <a:moveTo>
                      <a:pt x="117" y="15"/>
                    </a:moveTo>
                    <a:lnTo>
                      <a:pt x="0" y="0"/>
                    </a:lnTo>
                    <a:lnTo>
                      <a:pt x="0" y="29"/>
                    </a:lnTo>
                    <a:lnTo>
                      <a:pt x="117" y="15"/>
                    </a:lnTo>
                    <a:close/>
                  </a:path>
                </a:pathLst>
              </a:custGeom>
              <a:noFill/>
              <a:ln w="38100" cap="flat" cmpd="sng">
                <a:solidFill>
                  <a:srgbClr val="000099"/>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sp>
          <p:nvSpPr>
            <p:cNvPr id="154673" name="直接连接符 154672"/>
            <p:cNvSpPr/>
            <p:nvPr/>
          </p:nvSpPr>
          <p:spPr>
            <a:xfrm>
              <a:off x="1719" y="1550"/>
              <a:ext cx="0" cy="227"/>
            </a:xfrm>
            <a:prstGeom prst="line">
              <a:avLst/>
            </a:prstGeom>
            <a:ln w="38100" cap="flat" cmpd="sng">
              <a:solidFill>
                <a:srgbClr val="000099"/>
              </a:solidFill>
              <a:prstDash val="solid"/>
              <a:headEnd type="triangle" w="med" len="med"/>
              <a:tailEnd type="none" w="med" len="med"/>
            </a:ln>
          </p:spPr>
        </p:sp>
        <p:grpSp>
          <p:nvGrpSpPr>
            <p:cNvPr id="154674" name="组合 154673"/>
            <p:cNvGrpSpPr/>
            <p:nvPr/>
          </p:nvGrpSpPr>
          <p:grpSpPr>
            <a:xfrm flipV="1">
              <a:off x="881" y="1798"/>
              <a:ext cx="0" cy="256"/>
              <a:chOff x="5304" y="2400"/>
              <a:chExt cx="0" cy="256"/>
            </a:xfrm>
          </p:grpSpPr>
          <p:sp>
            <p:nvSpPr>
              <p:cNvPr id="154675" name="直接连接符 154674"/>
              <p:cNvSpPr/>
              <p:nvPr/>
            </p:nvSpPr>
            <p:spPr>
              <a:xfrm>
                <a:off x="5304" y="2400"/>
                <a:ext cx="0" cy="184"/>
              </a:xfrm>
              <a:prstGeom prst="line">
                <a:avLst/>
              </a:prstGeom>
              <a:ln w="38100" cap="flat" cmpd="sng">
                <a:solidFill>
                  <a:srgbClr val="000099"/>
                </a:solidFill>
                <a:prstDash val="solid"/>
                <a:headEnd type="none" w="med" len="med"/>
                <a:tailEnd type="none" w="med" len="med"/>
              </a:ln>
            </p:spPr>
          </p:sp>
          <p:sp>
            <p:nvSpPr>
              <p:cNvPr id="154676" name="直接连接符 154675"/>
              <p:cNvSpPr/>
              <p:nvPr/>
            </p:nvSpPr>
            <p:spPr>
              <a:xfrm>
                <a:off x="5304" y="2520"/>
                <a:ext cx="0" cy="136"/>
              </a:xfrm>
              <a:prstGeom prst="line">
                <a:avLst/>
              </a:prstGeom>
              <a:ln w="38100" cap="flat" cmpd="sng">
                <a:solidFill>
                  <a:srgbClr val="000099"/>
                </a:solidFill>
                <a:prstDash val="solid"/>
                <a:headEnd type="none" w="med" len="med"/>
                <a:tailEnd type="triangle" w="med" len="med"/>
              </a:ln>
            </p:spPr>
          </p:sp>
        </p:grpSp>
        <p:grpSp>
          <p:nvGrpSpPr>
            <p:cNvPr id="154722" name="组合 154721"/>
            <p:cNvGrpSpPr/>
            <p:nvPr/>
          </p:nvGrpSpPr>
          <p:grpSpPr>
            <a:xfrm>
              <a:off x="6" y="1590"/>
              <a:ext cx="226" cy="256"/>
              <a:chOff x="204" y="1590"/>
              <a:chExt cx="226" cy="256"/>
            </a:xfrm>
          </p:grpSpPr>
          <p:sp>
            <p:nvSpPr>
              <p:cNvPr id="154650" name="矩形 154649"/>
              <p:cNvSpPr/>
              <p:nvPr/>
            </p:nvSpPr>
            <p:spPr>
              <a:xfrm>
                <a:off x="204" y="1617"/>
                <a:ext cx="211" cy="192"/>
              </a:xfrm>
              <a:prstGeom prst="rect">
                <a:avLst/>
              </a:prstGeom>
              <a:noFill/>
              <a:ln w="9525">
                <a:noFill/>
              </a:ln>
            </p:spPr>
            <p:txBody>
              <a:bodyPr lIns="0" tIns="0" rIns="0" bIns="0">
                <a:spAutoFit/>
              </a:bodyPr>
              <a:p>
                <a:pPr>
                  <a:spcBef>
                    <a:spcPct val="50000"/>
                  </a:spcBef>
                </a:pP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endParaRPr lang="en-US" altLang="zh-CN" sz="2000" b="1"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651" name="矩形 154650"/>
              <p:cNvSpPr/>
              <p:nvPr/>
            </p:nvSpPr>
            <p:spPr>
              <a:xfrm>
                <a:off x="298" y="1707"/>
                <a:ext cx="37" cy="106"/>
              </a:xfrm>
              <a:prstGeom prst="rect">
                <a:avLst/>
              </a:prstGeom>
              <a:noFill/>
              <a:ln w="9525">
                <a:noFill/>
              </a:ln>
            </p:spPr>
            <p:txBody>
              <a:bodyPr wrap="none" lIns="0" tIns="0" rIns="0" bIns="0">
                <a:spAutoFit/>
              </a:bodyPr>
              <a:p>
                <a:pPr>
                  <a:spcBef>
                    <a:spcPct val="50000"/>
                  </a:spcBef>
                </a:pPr>
                <a:r>
                  <a:rPr lang="en-US" altLang="zh-CN" sz="1100" b="1">
                    <a:solidFill>
                      <a:srgbClr val="000066"/>
                    </a:solidFill>
                    <a:latin typeface="Times New Roman" panose="02020603050405020304" charset="0"/>
                    <a:ea typeface="楷体" panose="02010609060101010101" charset="-122"/>
                    <a:cs typeface="Times New Roman" panose="02020603050405020304" charset="0"/>
                  </a:rPr>
                  <a:t>I</a:t>
                </a:r>
                <a:endParaRPr lang="en-US" altLang="zh-CN" sz="1100" b="1">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54677" name="组合 154676"/>
              <p:cNvGrpSpPr/>
              <p:nvPr/>
            </p:nvGrpSpPr>
            <p:grpSpPr>
              <a:xfrm>
                <a:off x="430" y="1590"/>
                <a:ext cx="0" cy="256"/>
                <a:chOff x="5304" y="2400"/>
                <a:chExt cx="0" cy="256"/>
              </a:xfrm>
            </p:grpSpPr>
            <p:sp>
              <p:nvSpPr>
                <p:cNvPr id="154678" name="直接连接符 154677"/>
                <p:cNvSpPr/>
                <p:nvPr/>
              </p:nvSpPr>
              <p:spPr>
                <a:xfrm>
                  <a:off x="5304" y="2400"/>
                  <a:ext cx="0" cy="184"/>
                </a:xfrm>
                <a:prstGeom prst="line">
                  <a:avLst/>
                </a:prstGeom>
                <a:ln w="38100" cap="flat" cmpd="sng">
                  <a:solidFill>
                    <a:srgbClr val="000099"/>
                  </a:solidFill>
                  <a:prstDash val="solid"/>
                  <a:headEnd type="none" w="med" len="med"/>
                  <a:tailEnd type="none" w="med" len="med"/>
                </a:ln>
              </p:spPr>
            </p:sp>
            <p:sp>
              <p:nvSpPr>
                <p:cNvPr id="154679" name="直接连接符 154678"/>
                <p:cNvSpPr/>
                <p:nvPr/>
              </p:nvSpPr>
              <p:spPr>
                <a:xfrm>
                  <a:off x="5304" y="2520"/>
                  <a:ext cx="0" cy="136"/>
                </a:xfrm>
                <a:prstGeom prst="line">
                  <a:avLst/>
                </a:prstGeom>
                <a:ln w="38100" cap="flat" cmpd="sng">
                  <a:solidFill>
                    <a:srgbClr val="000099"/>
                  </a:solidFill>
                  <a:prstDash val="solid"/>
                  <a:headEnd type="none" w="med" len="med"/>
                  <a:tailEnd type="triangle" w="med" len="med"/>
                </a:ln>
              </p:spPr>
            </p:sp>
          </p:grpSp>
        </p:grpSp>
        <p:grpSp>
          <p:nvGrpSpPr>
            <p:cNvPr id="154680" name="组合 154679"/>
            <p:cNvGrpSpPr/>
            <p:nvPr/>
          </p:nvGrpSpPr>
          <p:grpSpPr>
            <a:xfrm>
              <a:off x="940" y="1550"/>
              <a:ext cx="0" cy="256"/>
              <a:chOff x="5304" y="2400"/>
              <a:chExt cx="0" cy="256"/>
            </a:xfrm>
          </p:grpSpPr>
          <p:sp>
            <p:nvSpPr>
              <p:cNvPr id="154681" name="直接连接符 154680"/>
              <p:cNvSpPr/>
              <p:nvPr/>
            </p:nvSpPr>
            <p:spPr>
              <a:xfrm>
                <a:off x="5304" y="2400"/>
                <a:ext cx="0" cy="184"/>
              </a:xfrm>
              <a:prstGeom prst="line">
                <a:avLst/>
              </a:prstGeom>
              <a:ln w="38100" cap="flat" cmpd="sng">
                <a:solidFill>
                  <a:srgbClr val="000099"/>
                </a:solidFill>
                <a:prstDash val="solid"/>
                <a:headEnd type="none" w="med" len="med"/>
                <a:tailEnd type="none" w="med" len="med"/>
              </a:ln>
            </p:spPr>
          </p:sp>
          <p:sp>
            <p:nvSpPr>
              <p:cNvPr id="154682" name="直接连接符 154681"/>
              <p:cNvSpPr/>
              <p:nvPr/>
            </p:nvSpPr>
            <p:spPr>
              <a:xfrm>
                <a:off x="5304" y="2520"/>
                <a:ext cx="0" cy="136"/>
              </a:xfrm>
              <a:prstGeom prst="line">
                <a:avLst/>
              </a:prstGeom>
              <a:ln w="38100" cap="flat" cmpd="sng">
                <a:solidFill>
                  <a:srgbClr val="000099"/>
                </a:solidFill>
                <a:prstDash val="solid"/>
                <a:headEnd type="none" w="med" len="med"/>
                <a:tailEnd type="triangle" w="med" len="med"/>
              </a:ln>
            </p:spPr>
          </p:sp>
        </p:grpSp>
        <p:grpSp>
          <p:nvGrpSpPr>
            <p:cNvPr id="154683" name="组合 154682"/>
            <p:cNvGrpSpPr/>
            <p:nvPr/>
          </p:nvGrpSpPr>
          <p:grpSpPr>
            <a:xfrm>
              <a:off x="2435" y="1566"/>
              <a:ext cx="0" cy="256"/>
              <a:chOff x="5304" y="2400"/>
              <a:chExt cx="0" cy="256"/>
            </a:xfrm>
          </p:grpSpPr>
          <p:sp>
            <p:nvSpPr>
              <p:cNvPr id="154684" name="直接连接符 154683"/>
              <p:cNvSpPr/>
              <p:nvPr/>
            </p:nvSpPr>
            <p:spPr>
              <a:xfrm>
                <a:off x="5304" y="2400"/>
                <a:ext cx="0" cy="184"/>
              </a:xfrm>
              <a:prstGeom prst="line">
                <a:avLst/>
              </a:prstGeom>
              <a:ln w="38100" cap="flat" cmpd="sng">
                <a:solidFill>
                  <a:srgbClr val="000099"/>
                </a:solidFill>
                <a:prstDash val="solid"/>
                <a:headEnd type="none" w="med" len="med"/>
                <a:tailEnd type="none" w="med" len="med"/>
              </a:ln>
            </p:spPr>
          </p:sp>
          <p:sp>
            <p:nvSpPr>
              <p:cNvPr id="154685" name="直接连接符 154684"/>
              <p:cNvSpPr/>
              <p:nvPr/>
            </p:nvSpPr>
            <p:spPr>
              <a:xfrm>
                <a:off x="5304" y="2520"/>
                <a:ext cx="0" cy="136"/>
              </a:xfrm>
              <a:prstGeom prst="line">
                <a:avLst/>
              </a:prstGeom>
              <a:ln w="38100" cap="flat" cmpd="sng">
                <a:solidFill>
                  <a:srgbClr val="000099"/>
                </a:solidFill>
                <a:prstDash val="solid"/>
                <a:headEnd type="none" w="med" len="med"/>
                <a:tailEnd type="triangle" w="med" len="med"/>
              </a:ln>
            </p:spPr>
          </p:sp>
        </p:grpSp>
        <p:grpSp>
          <p:nvGrpSpPr>
            <p:cNvPr id="154686" name="组合 154685"/>
            <p:cNvGrpSpPr/>
            <p:nvPr/>
          </p:nvGrpSpPr>
          <p:grpSpPr>
            <a:xfrm>
              <a:off x="1777" y="1698"/>
              <a:ext cx="341" cy="30"/>
              <a:chOff x="4967" y="2452"/>
              <a:chExt cx="273" cy="30"/>
            </a:xfrm>
          </p:grpSpPr>
          <p:sp>
            <p:nvSpPr>
              <p:cNvPr id="154687" name="直接连接符 154686"/>
              <p:cNvSpPr/>
              <p:nvPr/>
            </p:nvSpPr>
            <p:spPr>
              <a:xfrm>
                <a:off x="4967" y="2473"/>
                <a:ext cx="180" cy="1"/>
              </a:xfrm>
              <a:prstGeom prst="line">
                <a:avLst/>
              </a:prstGeom>
              <a:ln w="28575" cap="flat" cmpd="sng">
                <a:solidFill>
                  <a:srgbClr val="000099"/>
                </a:solidFill>
                <a:prstDash val="solid"/>
                <a:headEnd type="none" w="med" len="med"/>
                <a:tailEnd type="none" w="med" len="med"/>
              </a:ln>
            </p:spPr>
          </p:sp>
          <p:sp>
            <p:nvSpPr>
              <p:cNvPr id="154688" name="任意多边形 154687"/>
              <p:cNvSpPr/>
              <p:nvPr/>
            </p:nvSpPr>
            <p:spPr>
              <a:xfrm>
                <a:off x="5121" y="2452"/>
                <a:ext cx="119" cy="30"/>
              </a:xfrm>
              <a:custGeom>
                <a:avLst/>
                <a:gdLst/>
                <a:ahLst/>
                <a:cxnLst/>
                <a:pathLst>
                  <a:path w="117" h="29">
                    <a:moveTo>
                      <a:pt x="117" y="15"/>
                    </a:moveTo>
                    <a:lnTo>
                      <a:pt x="0" y="0"/>
                    </a:lnTo>
                    <a:lnTo>
                      <a:pt x="0" y="29"/>
                    </a:lnTo>
                    <a:lnTo>
                      <a:pt x="117" y="15"/>
                    </a:lnTo>
                    <a:close/>
                  </a:path>
                </a:pathLst>
              </a:custGeom>
              <a:noFill/>
              <a:ln w="28575" cap="flat" cmpd="sng">
                <a:solidFill>
                  <a:srgbClr val="000099"/>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grpSp>
          <p:nvGrpSpPr>
            <p:cNvPr id="154689" name="组合 154688"/>
            <p:cNvGrpSpPr/>
            <p:nvPr/>
          </p:nvGrpSpPr>
          <p:grpSpPr>
            <a:xfrm>
              <a:off x="288" y="1714"/>
              <a:ext cx="341" cy="30"/>
              <a:chOff x="4967" y="2452"/>
              <a:chExt cx="273" cy="30"/>
            </a:xfrm>
          </p:grpSpPr>
          <p:sp>
            <p:nvSpPr>
              <p:cNvPr id="154690" name="直接连接符 154689"/>
              <p:cNvSpPr/>
              <p:nvPr/>
            </p:nvSpPr>
            <p:spPr>
              <a:xfrm>
                <a:off x="4967" y="2473"/>
                <a:ext cx="180" cy="1"/>
              </a:xfrm>
              <a:prstGeom prst="line">
                <a:avLst/>
              </a:prstGeom>
              <a:ln w="38100" cap="flat" cmpd="sng">
                <a:solidFill>
                  <a:srgbClr val="000099"/>
                </a:solidFill>
                <a:prstDash val="solid"/>
                <a:headEnd type="none" w="med" len="med"/>
                <a:tailEnd type="none" w="med" len="med"/>
              </a:ln>
            </p:spPr>
          </p:sp>
          <p:sp>
            <p:nvSpPr>
              <p:cNvPr id="154691" name="任意多边形 154690"/>
              <p:cNvSpPr/>
              <p:nvPr/>
            </p:nvSpPr>
            <p:spPr>
              <a:xfrm>
                <a:off x="5121" y="2452"/>
                <a:ext cx="119" cy="30"/>
              </a:xfrm>
              <a:custGeom>
                <a:avLst/>
                <a:gdLst/>
                <a:ahLst/>
                <a:cxnLst/>
                <a:pathLst>
                  <a:path w="117" h="29">
                    <a:moveTo>
                      <a:pt x="117" y="15"/>
                    </a:moveTo>
                    <a:lnTo>
                      <a:pt x="0" y="0"/>
                    </a:lnTo>
                    <a:lnTo>
                      <a:pt x="0" y="29"/>
                    </a:lnTo>
                    <a:lnTo>
                      <a:pt x="117" y="15"/>
                    </a:lnTo>
                    <a:close/>
                  </a:path>
                </a:pathLst>
              </a:custGeom>
              <a:noFill/>
              <a:ln w="28575" cap="flat" cmpd="sng">
                <a:solidFill>
                  <a:srgbClr val="000099"/>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sp>
          <p:nvSpPr>
            <p:cNvPr id="154706" name="矩形 154705"/>
            <p:cNvSpPr/>
            <p:nvPr/>
          </p:nvSpPr>
          <p:spPr>
            <a:xfrm>
              <a:off x="1916" y="1572"/>
              <a:ext cx="45" cy="192"/>
            </a:xfrm>
            <a:prstGeom prst="rect">
              <a:avLst/>
            </a:prstGeom>
            <a:noFill/>
            <a:ln w="9525">
              <a:noFill/>
            </a:ln>
          </p:spPr>
          <p:txBody>
            <a:bodyPr wrap="none" lIns="0" tIns="0" rIns="0" bIns="0">
              <a:spAutoFit/>
            </a:bodyPr>
            <a:p>
              <a:pPr>
                <a:spcBef>
                  <a:spcPct val="5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2000" b="1" i="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54723" name="组合 154722"/>
            <p:cNvGrpSpPr/>
            <p:nvPr/>
          </p:nvGrpSpPr>
          <p:grpSpPr>
            <a:xfrm>
              <a:off x="642" y="1582"/>
              <a:ext cx="232" cy="391"/>
              <a:chOff x="840" y="1582"/>
              <a:chExt cx="232" cy="391"/>
            </a:xfrm>
          </p:grpSpPr>
          <p:sp>
            <p:nvSpPr>
              <p:cNvPr id="154670" name="直接连接符 154669"/>
              <p:cNvSpPr/>
              <p:nvPr/>
            </p:nvSpPr>
            <p:spPr>
              <a:xfrm flipV="1">
                <a:off x="1070" y="1801"/>
                <a:ext cx="2" cy="172"/>
              </a:xfrm>
              <a:prstGeom prst="line">
                <a:avLst/>
              </a:prstGeom>
              <a:ln w="15875" cap="flat" cmpd="sng">
                <a:solidFill>
                  <a:srgbClr val="000000"/>
                </a:solidFill>
                <a:prstDash val="solid"/>
                <a:headEnd type="none" w="med" len="med"/>
                <a:tailEnd type="none" w="med" len="med"/>
              </a:ln>
            </p:spPr>
          </p:sp>
          <p:sp>
            <p:nvSpPr>
              <p:cNvPr id="154720" name="矩形 154719"/>
              <p:cNvSpPr/>
              <p:nvPr/>
            </p:nvSpPr>
            <p:spPr>
              <a:xfrm>
                <a:off x="840" y="1582"/>
                <a:ext cx="211" cy="192"/>
              </a:xfrm>
              <a:prstGeom prst="rect">
                <a:avLst/>
              </a:prstGeom>
              <a:noFill/>
              <a:ln w="9525">
                <a:noFill/>
              </a:ln>
            </p:spPr>
            <p:txBody>
              <a:bodyPr lIns="0" tIns="0" rIns="0" bIns="0">
                <a:spAutoFit/>
              </a:bodyPr>
              <a:p>
                <a:pPr>
                  <a:spcBef>
                    <a:spcPct val="50000"/>
                  </a:spcBef>
                </a:pPr>
                <a:r>
                  <a:rPr lang="en-US" altLang="zh-CN" sz="2000" b="1" i="1">
                    <a:solidFill>
                      <a:srgbClr val="000066"/>
                    </a:solidFill>
                    <a:latin typeface="Times New Roman" panose="02020603050405020304" charset="0"/>
                    <a:ea typeface="楷体" panose="02010609060101010101" charset="-122"/>
                    <a:cs typeface="Times New Roman" panose="02020603050405020304" charset="0"/>
                  </a:rPr>
                  <a:t>v</a:t>
                </a:r>
                <a:endParaRPr lang="en-US" altLang="zh-CN" sz="2000" b="1"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721" name="矩形 154720"/>
              <p:cNvSpPr/>
              <p:nvPr/>
            </p:nvSpPr>
            <p:spPr>
              <a:xfrm>
                <a:off x="933" y="1672"/>
                <a:ext cx="94" cy="106"/>
              </a:xfrm>
              <a:prstGeom prst="rect">
                <a:avLst/>
              </a:prstGeom>
              <a:noFill/>
              <a:ln w="9525">
                <a:noFill/>
              </a:ln>
            </p:spPr>
            <p:txBody>
              <a:bodyPr lIns="0" tIns="0" rIns="0" bIns="0">
                <a:spAutoFit/>
              </a:bodyPr>
              <a:p>
                <a:pPr>
                  <a:spcBef>
                    <a:spcPct val="50000"/>
                  </a:spcBef>
                </a:pPr>
                <a:r>
                  <a:rPr lang="en-US" altLang="zh-CN" sz="1100" b="1">
                    <a:solidFill>
                      <a:srgbClr val="000066"/>
                    </a:solidFill>
                    <a:latin typeface="Times New Roman" panose="02020603050405020304" charset="0"/>
                    <a:ea typeface="楷体" panose="02010609060101010101" charset="-122"/>
                    <a:cs typeface="Times New Roman" panose="02020603050405020304" charset="0"/>
                  </a:rPr>
                  <a:t>I1</a:t>
                </a:r>
                <a:endParaRPr lang="en-US" altLang="zh-CN" sz="1100" b="1">
                  <a:solidFill>
                    <a:srgbClr val="000066"/>
                  </a:solidFill>
                  <a:latin typeface="Times New Roman" panose="02020603050405020304" charset="0"/>
                  <a:ea typeface="楷体" panose="02010609060101010101" charset="-122"/>
                  <a:cs typeface="Times New Roman" panose="02020603050405020304" charset="0"/>
                </a:endParaRPr>
              </a:p>
            </p:txBody>
          </p:sp>
        </p:grpSp>
        <p:grpSp>
          <p:nvGrpSpPr>
            <p:cNvPr id="154725" name="组合 154724"/>
            <p:cNvGrpSpPr/>
            <p:nvPr/>
          </p:nvGrpSpPr>
          <p:grpSpPr>
            <a:xfrm>
              <a:off x="2487" y="1688"/>
              <a:ext cx="341" cy="30"/>
              <a:chOff x="4967" y="2452"/>
              <a:chExt cx="273" cy="30"/>
            </a:xfrm>
          </p:grpSpPr>
          <p:sp>
            <p:nvSpPr>
              <p:cNvPr id="154726" name="直接连接符 154725"/>
              <p:cNvSpPr/>
              <p:nvPr/>
            </p:nvSpPr>
            <p:spPr>
              <a:xfrm>
                <a:off x="4967" y="2473"/>
                <a:ext cx="180" cy="1"/>
              </a:xfrm>
              <a:prstGeom prst="line">
                <a:avLst/>
              </a:prstGeom>
              <a:ln w="38100" cap="flat" cmpd="sng">
                <a:solidFill>
                  <a:srgbClr val="000099"/>
                </a:solidFill>
                <a:prstDash val="solid"/>
                <a:headEnd type="none" w="med" len="med"/>
                <a:tailEnd type="none" w="med" len="med"/>
              </a:ln>
            </p:spPr>
          </p:sp>
          <p:sp>
            <p:nvSpPr>
              <p:cNvPr id="154727" name="任意多边形 154726"/>
              <p:cNvSpPr/>
              <p:nvPr/>
            </p:nvSpPr>
            <p:spPr>
              <a:xfrm>
                <a:off x="5121" y="2452"/>
                <a:ext cx="119" cy="30"/>
              </a:xfrm>
              <a:custGeom>
                <a:avLst/>
                <a:gdLst/>
                <a:ahLst/>
                <a:cxnLst/>
                <a:pathLst>
                  <a:path w="117" h="29">
                    <a:moveTo>
                      <a:pt x="117" y="15"/>
                    </a:moveTo>
                    <a:lnTo>
                      <a:pt x="0" y="0"/>
                    </a:lnTo>
                    <a:lnTo>
                      <a:pt x="0" y="29"/>
                    </a:lnTo>
                    <a:lnTo>
                      <a:pt x="117" y="15"/>
                    </a:lnTo>
                    <a:close/>
                  </a:path>
                </a:pathLst>
              </a:custGeom>
              <a:noFill/>
              <a:ln w="28575" cap="flat" cmpd="sng">
                <a:solidFill>
                  <a:srgbClr val="000099"/>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sp>
          <p:nvSpPr>
            <p:cNvPr id="154728" name="矩形 154727"/>
            <p:cNvSpPr/>
            <p:nvPr/>
          </p:nvSpPr>
          <p:spPr>
            <a:xfrm>
              <a:off x="2817" y="1536"/>
              <a:ext cx="95" cy="230"/>
            </a:xfrm>
            <a:prstGeom prst="rect">
              <a:avLst/>
            </a:prstGeom>
            <a:noFill/>
            <a:ln w="9525">
              <a:noFill/>
            </a:ln>
          </p:spPr>
          <p:txBody>
            <a:bodyPr wrap="none" lIns="0" tIns="0" rIns="0" bIns="0">
              <a:spAutoFit/>
            </a:bodyPr>
            <a:p>
              <a:pPr>
                <a:spcBef>
                  <a:spcPct val="50000"/>
                </a:spcBef>
              </a:pP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v</a:t>
              </a:r>
              <a:endParaRPr lang="en-US" altLang="zh-CN" sz="2400" b="1"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729" name="矩形 154728"/>
            <p:cNvSpPr/>
            <p:nvPr/>
          </p:nvSpPr>
          <p:spPr>
            <a:xfrm>
              <a:off x="2919" y="1680"/>
              <a:ext cx="75" cy="106"/>
            </a:xfrm>
            <a:prstGeom prst="rect">
              <a:avLst/>
            </a:prstGeom>
            <a:noFill/>
            <a:ln w="9525">
              <a:noFill/>
            </a:ln>
          </p:spPr>
          <p:txBody>
            <a:bodyPr wrap="none" lIns="0" tIns="0" rIns="0" bIns="0">
              <a:spAutoFit/>
            </a:bodyPr>
            <a:p>
              <a:pPr>
                <a:spcBef>
                  <a:spcPct val="50000"/>
                </a:spcBef>
              </a:pPr>
              <a:r>
                <a:rPr lang="en-US" altLang="zh-CN" sz="1100" b="1">
                  <a:solidFill>
                    <a:srgbClr val="000066"/>
                  </a:solidFill>
                  <a:latin typeface="Times New Roman" panose="02020603050405020304" charset="0"/>
                  <a:ea typeface="楷体" panose="02010609060101010101" charset="-122"/>
                  <a:cs typeface="Times New Roman" panose="02020603050405020304" charset="0"/>
                </a:rPr>
                <a:t>O</a:t>
              </a:r>
              <a:endParaRPr lang="en-US" altLang="zh-CN" sz="11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4730" name="矩形 154729"/>
            <p:cNvSpPr/>
            <p:nvPr/>
          </p:nvSpPr>
          <p:spPr>
            <a:xfrm>
              <a:off x="2846" y="1547"/>
              <a:ext cx="397" cy="250"/>
            </a:xfrm>
            <a:prstGeom prst="rect">
              <a:avLst/>
            </a:prstGeom>
            <a:noFill/>
            <a:ln w="9525">
              <a:noFill/>
            </a:ln>
          </p:spPr>
          <p:txBody>
            <a:bodyPr wrap="none" anchor="t" anchorCtr="0">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0</a:t>
              </a:r>
              <a:endParaRPr lang="en-US" altLang="zh-CN" sz="2000" b="1">
                <a:solidFill>
                  <a:srgbClr val="000066"/>
                </a:solidFill>
                <a:latin typeface="Times New Roman" panose="02020603050405020304" charset="0"/>
                <a:ea typeface="楷体" panose="02010609060101010101" charset="-122"/>
                <a:cs typeface="Times New Roman" panose="02020603050405020304" charset="0"/>
              </a:endParaRPr>
            </a:p>
          </p:txBody>
        </p:sp>
      </p:grpSp>
      <p:sp>
        <p:nvSpPr>
          <p:cNvPr id="2" name="Rectangle 3"/>
          <p:cNvSpPr>
            <a:spLocks noGrp="1"/>
          </p:cNvSpPr>
          <p:nvPr/>
        </p:nvSpPr>
        <p:spPr>
          <a:xfrm>
            <a:off x="311150" y="6200775"/>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3.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回差电压</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54692"/>
                                        </p:tgtEl>
                                        <p:attrNameLst>
                                          <p:attrName>style.visibility</p:attrName>
                                        </p:attrNameLst>
                                      </p:cBhvr>
                                      <p:to>
                                        <p:strVal val="visible"/>
                                      </p:to>
                                    </p:set>
                                    <p:animEffect transition="in" filter="strips(downRight)">
                                      <p:cBhvr>
                                        <p:cTn id="7" dur="500"/>
                                        <p:tgtEl>
                                          <p:spTgt spid="15469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4643"/>
                                        </p:tgtEl>
                                        <p:attrNameLst>
                                          <p:attrName>style.visibility</p:attrName>
                                        </p:attrNameLst>
                                      </p:cBhvr>
                                      <p:to>
                                        <p:strVal val="visible"/>
                                      </p:to>
                                    </p:set>
                                    <p:animEffect transition="in" filter="strips(downRight)">
                                      <p:cBhvr>
                                        <p:cTn id="12" dur="500"/>
                                        <p:tgtEl>
                                          <p:spTgt spid="15464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54701"/>
                                        </p:tgtEl>
                                        <p:attrNameLst>
                                          <p:attrName>style.visibility</p:attrName>
                                        </p:attrNameLst>
                                      </p:cBhvr>
                                      <p:to>
                                        <p:strVal val="visible"/>
                                      </p:to>
                                    </p:set>
                                    <p:animEffect transition="in" filter="strips(downRight)">
                                      <p:cBhvr>
                                        <p:cTn id="17" dur="500"/>
                                        <p:tgtEl>
                                          <p:spTgt spid="15470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54640"/>
                                        </p:tgtEl>
                                        <p:attrNameLst>
                                          <p:attrName>style.visibility</p:attrName>
                                        </p:attrNameLst>
                                      </p:cBhvr>
                                      <p:to>
                                        <p:strVal val="visible"/>
                                      </p:to>
                                    </p:set>
                                    <p:animEffect transition="in" filter="strips(downLeft)">
                                      <p:cBhvr>
                                        <p:cTn id="22" dur="500"/>
                                        <p:tgtEl>
                                          <p:spTgt spid="15464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54641"/>
                                        </p:tgtEl>
                                        <p:attrNameLst>
                                          <p:attrName>style.visibility</p:attrName>
                                        </p:attrNameLst>
                                      </p:cBhvr>
                                      <p:to>
                                        <p:strVal val="visible"/>
                                      </p:to>
                                    </p:set>
                                    <p:animEffect transition="in" filter="strips(downRight)">
                                      <p:cBhvr>
                                        <p:cTn id="27" dur="500"/>
                                        <p:tgtEl>
                                          <p:spTgt spid="154641"/>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54731"/>
                                        </p:tgtEl>
                                        <p:attrNameLst>
                                          <p:attrName>style.visibility</p:attrName>
                                        </p:attrNameLst>
                                      </p:cBhvr>
                                      <p:to>
                                        <p:strVal val="visible"/>
                                      </p:to>
                                    </p:set>
                                    <p:animEffect transition="in" filter="strips(downRight)">
                                      <p:cBhvr>
                                        <p:cTn id="32" dur="500"/>
                                        <p:tgtEl>
                                          <p:spTgt spid="154731"/>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54630"/>
                                        </p:tgtEl>
                                        <p:attrNameLst>
                                          <p:attrName>style.visibility</p:attrName>
                                        </p:attrNameLst>
                                      </p:cBhvr>
                                      <p:to>
                                        <p:strVal val="visible"/>
                                      </p:to>
                                    </p:set>
                                    <p:animEffect transition="in" filter="checkerboard(across)">
                                      <p:cBhvr>
                                        <p:cTn id="37" dur="500"/>
                                        <p:tgtEl>
                                          <p:spTgt spid="15463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54632"/>
                                        </p:tgtEl>
                                        <p:attrNameLst>
                                          <p:attrName>style.visibility</p:attrName>
                                        </p:attrNameLst>
                                      </p:cBhvr>
                                      <p:to>
                                        <p:strVal val="visible"/>
                                      </p:to>
                                    </p:set>
                                    <p:animEffect transition="in" filter="checkerboard(across)">
                                      <p:cBhvr>
                                        <p:cTn id="42" dur="500"/>
                                        <p:tgtEl>
                                          <p:spTgt spid="154632"/>
                                        </p:tgtEl>
                                      </p:cBhvr>
                                    </p:animEffect>
                                  </p:childTnLst>
                                </p:cTn>
                              </p:par>
                            </p:childTnLst>
                          </p:cTn>
                        </p:par>
                      </p:childTnLst>
                    </p:cTn>
                  </p:par>
                  <p:par>
                    <p:cTn id="43" fill="hold">
                      <p:stCondLst>
                        <p:cond delay="indefinite"/>
                      </p:stCondLst>
                      <p:childTnLst>
                        <p:par>
                          <p:cTn id="44" fill="hold">
                            <p:stCondLst>
                              <p:cond delay="0"/>
                            </p:stCondLst>
                            <p:childTnLst>
                              <p:par>
                                <p:cTn id="45" presetID="20" presetClass="entr" presetSubtype="0" fill="hold" grpId="0" nodeType="clickEffect">
                                  <p:stCondLst>
                                    <p:cond delay="0"/>
                                  </p:stCondLst>
                                  <p:childTnLst>
                                    <p:set>
                                      <p:cBhvr>
                                        <p:cTn id="46" dur="1" fill="hold">
                                          <p:stCondLst>
                                            <p:cond delay="0"/>
                                          </p:stCondLst>
                                        </p:cTn>
                                        <p:tgtEl>
                                          <p:spTgt spid="154644"/>
                                        </p:tgtEl>
                                        <p:attrNameLst>
                                          <p:attrName>style.visibility</p:attrName>
                                        </p:attrNameLst>
                                      </p:cBhvr>
                                      <p:to>
                                        <p:strVal val="visible"/>
                                      </p:to>
                                    </p:set>
                                    <p:animEffect transition="in" filter="wedge">
                                      <p:cBhvr>
                                        <p:cTn id="47" dur="500"/>
                                        <p:tgtEl>
                                          <p:spTgt spid="154644"/>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54713"/>
                                        </p:tgtEl>
                                        <p:attrNameLst>
                                          <p:attrName>style.visibility</p:attrName>
                                        </p:attrNameLst>
                                      </p:cBhvr>
                                      <p:to>
                                        <p:strVal val="visible"/>
                                      </p:to>
                                    </p:set>
                                    <p:animEffect transition="in" filter="strips(downRight)">
                                      <p:cBhvr>
                                        <p:cTn id="52" dur="500"/>
                                        <p:tgtEl>
                                          <p:spTgt spid="154713"/>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15463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nodeType="clickEffect">
                                  <p:stCondLst>
                                    <p:cond delay="0"/>
                                  </p:stCondLst>
                                  <p:childTnLst>
                                    <p:set>
                                      <p:cBhvr>
                                        <p:cTn id="60" dur="1" fill="hold">
                                          <p:stCondLst>
                                            <p:cond delay="0"/>
                                          </p:stCondLst>
                                        </p:cTn>
                                        <p:tgtEl>
                                          <p:spTgt spid="154633"/>
                                        </p:tgtEl>
                                        <p:attrNameLst>
                                          <p:attrName>style.visibility</p:attrName>
                                        </p:attrNameLst>
                                      </p:cBhvr>
                                      <p:to>
                                        <p:strVal val="visible"/>
                                      </p:to>
                                    </p:set>
                                    <p:animEffect transition="in" filter="randombar(horizontal)">
                                      <p:cBhvr>
                                        <p:cTn id="61" dur="500"/>
                                        <p:tgtEl>
                                          <p:spTgt spid="154633"/>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6" fill="hold" nodeType="clickEffect">
                                  <p:stCondLst>
                                    <p:cond delay="0"/>
                                  </p:stCondLst>
                                  <p:childTnLst>
                                    <p:set>
                                      <p:cBhvr>
                                        <p:cTn id="65" dur="1" fill="hold">
                                          <p:stCondLst>
                                            <p:cond delay="0"/>
                                          </p:stCondLst>
                                        </p:cTn>
                                        <p:tgtEl>
                                          <p:spTgt spid="154642"/>
                                        </p:tgtEl>
                                        <p:attrNameLst>
                                          <p:attrName>style.visibility</p:attrName>
                                        </p:attrNameLst>
                                      </p:cBhvr>
                                      <p:to>
                                        <p:strVal val="visible"/>
                                      </p:to>
                                    </p:set>
                                    <p:animEffect transition="in" filter="barn(inHorizontal)">
                                      <p:cBhvr>
                                        <p:cTn id="66" dur="500"/>
                                        <p:tgtEl>
                                          <p:spTgt spid="154642"/>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6" fill="hold" nodeType="clickEffect">
                                  <p:stCondLst>
                                    <p:cond delay="0"/>
                                  </p:stCondLst>
                                  <p:childTnLst>
                                    <p:set>
                                      <p:cBhvr>
                                        <p:cTn id="70" dur="1" fill="hold">
                                          <p:stCondLst>
                                            <p:cond delay="0"/>
                                          </p:stCondLst>
                                        </p:cTn>
                                        <p:tgtEl>
                                          <p:spTgt spid="154645"/>
                                        </p:tgtEl>
                                        <p:attrNameLst>
                                          <p:attrName>style.visibility</p:attrName>
                                        </p:attrNameLst>
                                      </p:cBhvr>
                                      <p:to>
                                        <p:strVal val="visible"/>
                                      </p:to>
                                    </p:set>
                                    <p:animEffect transition="in" filter="barn(inHorizontal)">
                                      <p:cBhvr>
                                        <p:cTn id="71" dur="500"/>
                                        <p:tgtEl>
                                          <p:spTgt spid="15464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wipe(down)">
                                      <p:cBhvr>
                                        <p:cTn id="76" dur="500"/>
                                        <p:tgtEl>
                                          <p:spTgt spid="2"/>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6" fill="hold" nodeType="clickEffect">
                                  <p:stCondLst>
                                    <p:cond delay="0"/>
                                  </p:stCondLst>
                                  <p:childTnLst>
                                    <p:set>
                                      <p:cBhvr>
                                        <p:cTn id="80" dur="1" fill="hold">
                                          <p:stCondLst>
                                            <p:cond delay="0"/>
                                          </p:stCondLst>
                                        </p:cTn>
                                        <p:tgtEl>
                                          <p:spTgt spid="154646"/>
                                        </p:tgtEl>
                                        <p:attrNameLst>
                                          <p:attrName>style.visibility</p:attrName>
                                        </p:attrNameLst>
                                      </p:cBhvr>
                                      <p:to>
                                        <p:strVal val="visible"/>
                                      </p:to>
                                    </p:set>
                                    <p:animEffect transition="in" filter="barn(inHorizontal)">
                                      <p:cBhvr>
                                        <p:cTn id="81" dur="500"/>
                                        <p:tgtEl>
                                          <p:spTgt spid="154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41" grpId="0"/>
      <p:bldP spid="154643" grpId="0"/>
      <p:bldP spid="154644" grpId="0" bldLvl="0" animBg="1"/>
      <p:bldP spid="154713" grpId="0"/>
      <p:bldP spid="2" grpId="0"/>
      <p:bldP spid="2"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609600" y="15240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1.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波形变换</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90600" y="1040765"/>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7.4.3 </a:t>
            </a:r>
            <a:r>
              <a:rPr sz="2400" i="0" dirty="0">
                <a:solidFill>
                  <a:srgbClr val="0070C0"/>
                </a:solidFill>
                <a:latin typeface="黑体" panose="02010609060101010101" pitchFamily="49" charset="-122"/>
                <a:ea typeface="黑体" panose="02010609060101010101" pitchFamily="49" charset="-122"/>
              </a:rPr>
              <a:t>施密特触发器</a:t>
            </a:r>
            <a:r>
              <a:rPr lang="zh-CN" sz="2400" i="0" dirty="0">
                <a:solidFill>
                  <a:srgbClr val="0070C0"/>
                </a:solidFill>
                <a:latin typeface="黑体" panose="02010609060101010101" pitchFamily="49" charset="-122"/>
                <a:ea typeface="黑体" panose="02010609060101010101" pitchFamily="49" charset="-122"/>
              </a:rPr>
              <a:t>的</a:t>
            </a:r>
            <a:r>
              <a:rPr lang="zh-CN" sz="2400" i="0" dirty="0">
                <a:solidFill>
                  <a:srgbClr val="0070C0"/>
                </a:solidFill>
                <a:latin typeface="黑体" panose="02010609060101010101" pitchFamily="49" charset="-122"/>
                <a:ea typeface="黑体" panose="02010609060101010101" pitchFamily="49" charset="-122"/>
              </a:rPr>
              <a:t>应用</a:t>
            </a:r>
            <a:endParaRPr lang="zh-CN" sz="2400" i="0" dirty="0">
              <a:solidFill>
                <a:srgbClr val="0070C0"/>
              </a:solidFill>
              <a:latin typeface="黑体" panose="02010609060101010101" pitchFamily="49" charset="-122"/>
              <a:ea typeface="黑体" panose="02010609060101010101" pitchFamily="49" charset="-122"/>
            </a:endParaRPr>
          </a:p>
        </p:txBody>
      </p:sp>
      <p:grpSp>
        <p:nvGrpSpPr>
          <p:cNvPr id="142340" name="Group 4"/>
          <p:cNvGrpSpPr/>
          <p:nvPr/>
        </p:nvGrpSpPr>
        <p:grpSpPr>
          <a:xfrm>
            <a:off x="762000" y="1939925"/>
            <a:ext cx="3595688" cy="3997325"/>
            <a:chOff x="480" y="864"/>
            <a:chExt cx="2265" cy="2518"/>
          </a:xfrm>
        </p:grpSpPr>
        <p:grpSp>
          <p:nvGrpSpPr>
            <p:cNvPr id="45061" name="Group 5"/>
            <p:cNvGrpSpPr/>
            <p:nvPr/>
          </p:nvGrpSpPr>
          <p:grpSpPr>
            <a:xfrm>
              <a:off x="480" y="864"/>
              <a:ext cx="2265" cy="2518"/>
              <a:chOff x="480" y="864"/>
              <a:chExt cx="2265" cy="2518"/>
            </a:xfrm>
          </p:grpSpPr>
          <p:grpSp>
            <p:nvGrpSpPr>
              <p:cNvPr id="45062" name="Group 6"/>
              <p:cNvGrpSpPr/>
              <p:nvPr/>
            </p:nvGrpSpPr>
            <p:grpSpPr>
              <a:xfrm>
                <a:off x="480" y="864"/>
                <a:ext cx="2265" cy="1174"/>
                <a:chOff x="375" y="842"/>
                <a:chExt cx="2265" cy="1174"/>
              </a:xfrm>
            </p:grpSpPr>
            <p:sp>
              <p:nvSpPr>
                <p:cNvPr id="45063" name="Line 7"/>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45064" name="Line 8"/>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45065" name="Text Box 9"/>
                <p:cNvSpPr txBox="1"/>
                <p:nvPr/>
              </p:nvSpPr>
              <p:spPr>
                <a:xfrm>
                  <a:off x="375" y="842"/>
                  <a:ext cx="24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I</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066" name="Text Box 10"/>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endParaRPr lang="en-US" altLang="zh-CN" sz="2400" b="1" i="1" baseline="-25000" dirty="0">
                    <a:latin typeface="Times New Roman" panose="02020603050405020304" charset="0"/>
                    <a:ea typeface="楷体" panose="02010609060101010101" charset="-122"/>
                    <a:cs typeface="Times New Roman" panose="02020603050405020304" charset="0"/>
                  </a:endParaRPr>
                </a:p>
              </p:txBody>
            </p:sp>
          </p:grpSp>
          <p:grpSp>
            <p:nvGrpSpPr>
              <p:cNvPr id="45067" name="Group 11"/>
              <p:cNvGrpSpPr/>
              <p:nvPr/>
            </p:nvGrpSpPr>
            <p:grpSpPr>
              <a:xfrm>
                <a:off x="480" y="2208"/>
                <a:ext cx="2265" cy="1174"/>
                <a:chOff x="375" y="842"/>
                <a:chExt cx="2265" cy="1174"/>
              </a:xfrm>
            </p:grpSpPr>
            <p:sp>
              <p:nvSpPr>
                <p:cNvPr id="45068" name="Line 12"/>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45069" name="Line 13"/>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45070" name="Text Box 14"/>
                <p:cNvSpPr txBox="1"/>
                <p:nvPr/>
              </p:nvSpPr>
              <p:spPr>
                <a:xfrm>
                  <a:off x="375" y="842"/>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O</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071" name="Text Box 15"/>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endParaRPr lang="en-US" altLang="zh-CN" sz="2400" b="1" i="1" baseline="-25000" dirty="0">
                    <a:latin typeface="Times New Roman" panose="02020603050405020304" charset="0"/>
                    <a:ea typeface="楷体" panose="02010609060101010101" charset="-122"/>
                    <a:cs typeface="Times New Roman" panose="02020603050405020304" charset="0"/>
                  </a:endParaRPr>
                </a:p>
              </p:txBody>
            </p:sp>
          </p:grpSp>
        </p:grpSp>
        <p:grpSp>
          <p:nvGrpSpPr>
            <p:cNvPr id="45072" name="Group 16"/>
            <p:cNvGrpSpPr/>
            <p:nvPr/>
          </p:nvGrpSpPr>
          <p:grpSpPr>
            <a:xfrm>
              <a:off x="489" y="1174"/>
              <a:ext cx="2160" cy="864"/>
              <a:chOff x="489" y="1174"/>
              <a:chExt cx="2160" cy="864"/>
            </a:xfrm>
          </p:grpSpPr>
          <p:sp>
            <p:nvSpPr>
              <p:cNvPr id="45073" name="Freeform 17"/>
              <p:cNvSpPr/>
              <p:nvPr/>
            </p:nvSpPr>
            <p:spPr>
              <a:xfrm>
                <a:off x="489" y="1174"/>
                <a:ext cx="720" cy="864"/>
              </a:xfrm>
              <a:custGeom>
                <a:avLst/>
                <a:gdLst/>
                <a:ahLst/>
                <a:cxnLst>
                  <a:cxn ang="0">
                    <a:pos x="0" y="432"/>
                  </a:cxn>
                  <a:cxn ang="0">
                    <a:pos x="135" y="0"/>
                  </a:cxn>
                  <a:cxn ang="0">
                    <a:pos x="270" y="432"/>
                  </a:cxn>
                  <a:cxn ang="0">
                    <a:pos x="405" y="864"/>
                  </a:cxn>
                  <a:cxn ang="0">
                    <a:pos x="540" y="432"/>
                  </a:cxn>
                </a:cxnLst>
                <a:pathLst>
                  <a:path w="960" h="864">
                    <a:moveTo>
                      <a:pt x="0" y="432"/>
                    </a:moveTo>
                    <a:cubicBezTo>
                      <a:pt x="80" y="216"/>
                      <a:pt x="160" y="0"/>
                      <a:pt x="240" y="0"/>
                    </a:cubicBezTo>
                    <a:cubicBezTo>
                      <a:pt x="320" y="0"/>
                      <a:pt x="400" y="288"/>
                      <a:pt x="480" y="432"/>
                    </a:cubicBezTo>
                    <a:cubicBezTo>
                      <a:pt x="560" y="576"/>
                      <a:pt x="640" y="864"/>
                      <a:pt x="720" y="864"/>
                    </a:cubicBezTo>
                    <a:cubicBezTo>
                      <a:pt x="800" y="864"/>
                      <a:pt x="896" y="504"/>
                      <a:pt x="960" y="432"/>
                    </a:cubicBezTo>
                  </a:path>
                </a:pathLst>
              </a:custGeom>
              <a:noFill/>
              <a:ln w="57150" cap="flat" cmpd="sng">
                <a:solidFill>
                  <a:schemeClr val="tx1"/>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74" name="Freeform 18"/>
              <p:cNvSpPr/>
              <p:nvPr/>
            </p:nvSpPr>
            <p:spPr>
              <a:xfrm>
                <a:off x="1209" y="1174"/>
                <a:ext cx="720" cy="864"/>
              </a:xfrm>
              <a:custGeom>
                <a:avLst/>
                <a:gdLst/>
                <a:ahLst/>
                <a:cxnLst>
                  <a:cxn ang="0">
                    <a:pos x="0" y="432"/>
                  </a:cxn>
                  <a:cxn ang="0">
                    <a:pos x="135" y="0"/>
                  </a:cxn>
                  <a:cxn ang="0">
                    <a:pos x="270" y="432"/>
                  </a:cxn>
                  <a:cxn ang="0">
                    <a:pos x="405" y="864"/>
                  </a:cxn>
                  <a:cxn ang="0">
                    <a:pos x="540" y="432"/>
                  </a:cxn>
                </a:cxnLst>
                <a:pathLst>
                  <a:path w="960" h="864">
                    <a:moveTo>
                      <a:pt x="0" y="432"/>
                    </a:moveTo>
                    <a:cubicBezTo>
                      <a:pt x="80" y="216"/>
                      <a:pt x="160" y="0"/>
                      <a:pt x="240" y="0"/>
                    </a:cubicBezTo>
                    <a:cubicBezTo>
                      <a:pt x="320" y="0"/>
                      <a:pt x="400" y="288"/>
                      <a:pt x="480" y="432"/>
                    </a:cubicBezTo>
                    <a:cubicBezTo>
                      <a:pt x="560" y="576"/>
                      <a:pt x="640" y="864"/>
                      <a:pt x="720" y="864"/>
                    </a:cubicBezTo>
                    <a:cubicBezTo>
                      <a:pt x="800" y="864"/>
                      <a:pt x="896" y="504"/>
                      <a:pt x="960" y="432"/>
                    </a:cubicBezTo>
                  </a:path>
                </a:pathLst>
              </a:custGeom>
              <a:noFill/>
              <a:ln w="57150" cap="flat" cmpd="sng">
                <a:solidFill>
                  <a:schemeClr val="tx1"/>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75" name="Freeform 19"/>
              <p:cNvSpPr/>
              <p:nvPr/>
            </p:nvSpPr>
            <p:spPr>
              <a:xfrm>
                <a:off x="1929" y="1174"/>
                <a:ext cx="720" cy="864"/>
              </a:xfrm>
              <a:custGeom>
                <a:avLst/>
                <a:gdLst/>
                <a:ahLst/>
                <a:cxnLst>
                  <a:cxn ang="0">
                    <a:pos x="0" y="432"/>
                  </a:cxn>
                  <a:cxn ang="0">
                    <a:pos x="135" y="0"/>
                  </a:cxn>
                  <a:cxn ang="0">
                    <a:pos x="270" y="432"/>
                  </a:cxn>
                  <a:cxn ang="0">
                    <a:pos x="405" y="864"/>
                  </a:cxn>
                  <a:cxn ang="0">
                    <a:pos x="540" y="432"/>
                  </a:cxn>
                </a:cxnLst>
                <a:pathLst>
                  <a:path w="960" h="864">
                    <a:moveTo>
                      <a:pt x="0" y="432"/>
                    </a:moveTo>
                    <a:cubicBezTo>
                      <a:pt x="80" y="216"/>
                      <a:pt x="160" y="0"/>
                      <a:pt x="240" y="0"/>
                    </a:cubicBezTo>
                    <a:cubicBezTo>
                      <a:pt x="320" y="0"/>
                      <a:pt x="400" y="288"/>
                      <a:pt x="480" y="432"/>
                    </a:cubicBezTo>
                    <a:cubicBezTo>
                      <a:pt x="560" y="576"/>
                      <a:pt x="640" y="864"/>
                      <a:pt x="720" y="864"/>
                    </a:cubicBezTo>
                    <a:cubicBezTo>
                      <a:pt x="800" y="864"/>
                      <a:pt x="896" y="504"/>
                      <a:pt x="960" y="432"/>
                    </a:cubicBezTo>
                  </a:path>
                </a:pathLst>
              </a:custGeom>
              <a:noFill/>
              <a:ln w="57150" cap="flat" cmpd="sng">
                <a:solidFill>
                  <a:schemeClr val="tx1"/>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grpSp>
      <p:grpSp>
        <p:nvGrpSpPr>
          <p:cNvPr id="142356" name="Group 20"/>
          <p:cNvGrpSpPr/>
          <p:nvPr/>
        </p:nvGrpSpPr>
        <p:grpSpPr>
          <a:xfrm>
            <a:off x="152400" y="2549525"/>
            <a:ext cx="3976688" cy="990600"/>
            <a:chOff x="96" y="1248"/>
            <a:chExt cx="2505" cy="624"/>
          </a:xfrm>
        </p:grpSpPr>
        <p:sp>
          <p:nvSpPr>
            <p:cNvPr id="45077" name="Line 21"/>
            <p:cNvSpPr/>
            <p:nvPr/>
          </p:nvSpPr>
          <p:spPr>
            <a:xfrm>
              <a:off x="489" y="1414"/>
              <a:ext cx="2064" cy="0"/>
            </a:xfrm>
            <a:prstGeom prst="line">
              <a:avLst/>
            </a:prstGeom>
            <a:ln w="12700" cap="flat" cmpd="sng">
              <a:solidFill>
                <a:schemeClr val="tx1"/>
              </a:solidFill>
              <a:prstDash val="lgDash"/>
              <a:round/>
              <a:headEnd type="none" w="med" len="med"/>
              <a:tailEnd type="none" w="med" len="med"/>
            </a:ln>
          </p:spPr>
        </p:sp>
        <p:sp>
          <p:nvSpPr>
            <p:cNvPr id="45078" name="Line 22"/>
            <p:cNvSpPr/>
            <p:nvPr/>
          </p:nvSpPr>
          <p:spPr>
            <a:xfrm>
              <a:off x="489" y="1750"/>
              <a:ext cx="2112" cy="0"/>
            </a:xfrm>
            <a:prstGeom prst="line">
              <a:avLst/>
            </a:prstGeom>
            <a:ln w="12700" cap="flat" cmpd="sng">
              <a:solidFill>
                <a:schemeClr val="tx1"/>
              </a:solidFill>
              <a:prstDash val="lgDash"/>
              <a:round/>
              <a:headEnd type="none" w="med" len="med"/>
              <a:tailEnd type="none" w="med" len="med"/>
            </a:ln>
          </p:spPr>
        </p:sp>
        <p:sp>
          <p:nvSpPr>
            <p:cNvPr id="45079" name="Text Box 23"/>
            <p:cNvSpPr txBox="1"/>
            <p:nvPr/>
          </p:nvSpPr>
          <p:spPr>
            <a:xfrm>
              <a:off x="96" y="1248"/>
              <a:ext cx="41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T+</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080" name="Text Box 24"/>
            <p:cNvSpPr txBox="1"/>
            <p:nvPr/>
          </p:nvSpPr>
          <p:spPr>
            <a:xfrm>
              <a:off x="96" y="1584"/>
              <a:ext cx="38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T-</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grpSp>
      <p:grpSp>
        <p:nvGrpSpPr>
          <p:cNvPr id="142361" name="Group 25"/>
          <p:cNvGrpSpPr/>
          <p:nvPr/>
        </p:nvGrpSpPr>
        <p:grpSpPr>
          <a:xfrm>
            <a:off x="889000" y="2701925"/>
            <a:ext cx="2819400" cy="3276600"/>
            <a:chOff x="560" y="1344"/>
            <a:chExt cx="1776" cy="2064"/>
          </a:xfrm>
        </p:grpSpPr>
        <p:sp>
          <p:nvSpPr>
            <p:cNvPr id="45082" name="Line 26"/>
            <p:cNvSpPr/>
            <p:nvPr/>
          </p:nvSpPr>
          <p:spPr>
            <a:xfrm>
              <a:off x="560" y="1392"/>
              <a:ext cx="0" cy="2016"/>
            </a:xfrm>
            <a:prstGeom prst="line">
              <a:avLst/>
            </a:prstGeom>
            <a:ln w="12700" cap="flat" cmpd="sng">
              <a:solidFill>
                <a:schemeClr val="tx1"/>
              </a:solidFill>
              <a:prstDash val="lgDash"/>
              <a:round/>
              <a:headEnd type="none" w="med" len="med"/>
              <a:tailEnd type="none" w="med" len="med"/>
            </a:ln>
          </p:spPr>
        </p:sp>
        <p:sp>
          <p:nvSpPr>
            <p:cNvPr id="45083" name="Line 27"/>
            <p:cNvSpPr/>
            <p:nvPr/>
          </p:nvSpPr>
          <p:spPr>
            <a:xfrm>
              <a:off x="912" y="1392"/>
              <a:ext cx="0" cy="2016"/>
            </a:xfrm>
            <a:prstGeom prst="line">
              <a:avLst/>
            </a:prstGeom>
            <a:ln w="12700" cap="flat" cmpd="sng">
              <a:solidFill>
                <a:schemeClr val="tx1"/>
              </a:solidFill>
              <a:prstDash val="lgDash"/>
              <a:round/>
              <a:headEnd type="none" w="med" len="med"/>
              <a:tailEnd type="none" w="med" len="med"/>
            </a:ln>
          </p:spPr>
        </p:sp>
        <p:sp>
          <p:nvSpPr>
            <p:cNvPr id="45084" name="Line 28"/>
            <p:cNvSpPr/>
            <p:nvPr/>
          </p:nvSpPr>
          <p:spPr>
            <a:xfrm>
              <a:off x="1272" y="1344"/>
              <a:ext cx="0" cy="2016"/>
            </a:xfrm>
            <a:prstGeom prst="line">
              <a:avLst/>
            </a:prstGeom>
            <a:ln w="12700" cap="flat" cmpd="sng">
              <a:solidFill>
                <a:schemeClr val="tx1"/>
              </a:solidFill>
              <a:prstDash val="lgDash"/>
              <a:round/>
              <a:headEnd type="none" w="med" len="med"/>
              <a:tailEnd type="none" w="med" len="med"/>
            </a:ln>
          </p:spPr>
        </p:sp>
        <p:sp>
          <p:nvSpPr>
            <p:cNvPr id="45085" name="Line 29"/>
            <p:cNvSpPr/>
            <p:nvPr/>
          </p:nvSpPr>
          <p:spPr>
            <a:xfrm>
              <a:off x="1616" y="1344"/>
              <a:ext cx="0" cy="2016"/>
            </a:xfrm>
            <a:prstGeom prst="line">
              <a:avLst/>
            </a:prstGeom>
            <a:ln w="12700" cap="flat" cmpd="sng">
              <a:solidFill>
                <a:schemeClr val="tx1"/>
              </a:solidFill>
              <a:prstDash val="lgDash"/>
              <a:round/>
              <a:headEnd type="none" w="med" len="med"/>
              <a:tailEnd type="none" w="med" len="med"/>
            </a:ln>
          </p:spPr>
        </p:sp>
        <p:sp>
          <p:nvSpPr>
            <p:cNvPr id="45086" name="Line 30"/>
            <p:cNvSpPr/>
            <p:nvPr/>
          </p:nvSpPr>
          <p:spPr>
            <a:xfrm>
              <a:off x="1984" y="1344"/>
              <a:ext cx="0" cy="2016"/>
            </a:xfrm>
            <a:prstGeom prst="line">
              <a:avLst/>
            </a:prstGeom>
            <a:ln w="12700" cap="flat" cmpd="sng">
              <a:solidFill>
                <a:schemeClr val="tx1"/>
              </a:solidFill>
              <a:prstDash val="lgDash"/>
              <a:round/>
              <a:headEnd type="none" w="med" len="med"/>
              <a:tailEnd type="none" w="med" len="med"/>
            </a:ln>
          </p:spPr>
        </p:sp>
        <p:sp>
          <p:nvSpPr>
            <p:cNvPr id="45087" name="Line 31"/>
            <p:cNvSpPr/>
            <p:nvPr/>
          </p:nvSpPr>
          <p:spPr>
            <a:xfrm>
              <a:off x="2336" y="1344"/>
              <a:ext cx="0" cy="2016"/>
            </a:xfrm>
            <a:prstGeom prst="line">
              <a:avLst/>
            </a:prstGeom>
            <a:ln w="12700" cap="flat" cmpd="sng">
              <a:solidFill>
                <a:schemeClr val="tx1"/>
              </a:solidFill>
              <a:prstDash val="lgDash"/>
              <a:round/>
              <a:headEnd type="none" w="med" len="med"/>
              <a:tailEnd type="none" w="med" len="med"/>
            </a:ln>
          </p:spPr>
        </p:sp>
      </p:grpSp>
      <p:grpSp>
        <p:nvGrpSpPr>
          <p:cNvPr id="142368" name="Group 32"/>
          <p:cNvGrpSpPr/>
          <p:nvPr/>
        </p:nvGrpSpPr>
        <p:grpSpPr>
          <a:xfrm>
            <a:off x="762000" y="5064125"/>
            <a:ext cx="3429000" cy="842963"/>
            <a:chOff x="480" y="2832"/>
            <a:chExt cx="2160" cy="531"/>
          </a:xfrm>
        </p:grpSpPr>
        <p:sp>
          <p:nvSpPr>
            <p:cNvPr id="45089" name="Line 33"/>
            <p:cNvSpPr/>
            <p:nvPr/>
          </p:nvSpPr>
          <p:spPr>
            <a:xfrm>
              <a:off x="480" y="3360"/>
              <a:ext cx="96" cy="0"/>
            </a:xfrm>
            <a:prstGeom prst="line">
              <a:avLst/>
            </a:prstGeom>
            <a:ln w="57150" cap="flat" cmpd="sng">
              <a:solidFill>
                <a:srgbClr val="0033CC"/>
              </a:solidFill>
              <a:prstDash val="solid"/>
              <a:round/>
              <a:headEnd type="none" w="med" len="med"/>
              <a:tailEnd type="none" w="med" len="med"/>
            </a:ln>
          </p:spPr>
        </p:sp>
        <p:sp>
          <p:nvSpPr>
            <p:cNvPr id="45090" name="Line 34"/>
            <p:cNvSpPr/>
            <p:nvPr/>
          </p:nvSpPr>
          <p:spPr>
            <a:xfrm flipV="1">
              <a:off x="562" y="2832"/>
              <a:ext cx="0" cy="528"/>
            </a:xfrm>
            <a:prstGeom prst="line">
              <a:avLst/>
            </a:prstGeom>
            <a:ln w="57150" cap="flat" cmpd="sng">
              <a:solidFill>
                <a:srgbClr val="0033CC"/>
              </a:solidFill>
              <a:prstDash val="solid"/>
              <a:round/>
              <a:headEnd type="none" w="med" len="med"/>
              <a:tailEnd type="none" w="med" len="med"/>
            </a:ln>
          </p:spPr>
        </p:sp>
        <p:sp>
          <p:nvSpPr>
            <p:cNvPr id="45091" name="Freeform 35"/>
            <p:cNvSpPr/>
            <p:nvPr/>
          </p:nvSpPr>
          <p:spPr>
            <a:xfrm>
              <a:off x="558" y="2833"/>
              <a:ext cx="354" cy="1"/>
            </a:xfrm>
            <a:custGeom>
              <a:avLst/>
              <a:gdLst/>
              <a:ahLst/>
              <a:cxnLst>
                <a:cxn ang="0">
                  <a:pos x="0" y="1"/>
                </a:cxn>
                <a:cxn ang="0">
                  <a:pos x="354" y="0"/>
                </a:cxn>
              </a:cxnLst>
              <a:pathLst>
                <a:path w="354" h="1">
                  <a:moveTo>
                    <a:pt x="0" y="1"/>
                  </a:moveTo>
                  <a:lnTo>
                    <a:pt x="354"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92" name="Line 36"/>
            <p:cNvSpPr/>
            <p:nvPr/>
          </p:nvSpPr>
          <p:spPr>
            <a:xfrm>
              <a:off x="912" y="2832"/>
              <a:ext cx="0" cy="528"/>
            </a:xfrm>
            <a:prstGeom prst="line">
              <a:avLst/>
            </a:prstGeom>
            <a:ln w="57150" cap="flat" cmpd="sng">
              <a:solidFill>
                <a:srgbClr val="0033CC"/>
              </a:solidFill>
              <a:prstDash val="solid"/>
              <a:round/>
              <a:headEnd type="none" w="med" len="med"/>
              <a:tailEnd type="none" w="med" len="med"/>
            </a:ln>
          </p:spPr>
        </p:sp>
        <p:sp>
          <p:nvSpPr>
            <p:cNvPr id="45093" name="Freeform 37"/>
            <p:cNvSpPr/>
            <p:nvPr/>
          </p:nvSpPr>
          <p:spPr>
            <a:xfrm>
              <a:off x="912" y="3360"/>
              <a:ext cx="360" cy="1"/>
            </a:xfrm>
            <a:custGeom>
              <a:avLst/>
              <a:gdLst/>
              <a:ahLst/>
              <a:cxnLst>
                <a:cxn ang="0">
                  <a:pos x="0" y="0"/>
                </a:cxn>
                <a:cxn ang="0">
                  <a:pos x="360" y="0"/>
                </a:cxn>
              </a:cxnLst>
              <a:pathLst>
                <a:path w="360" h="1">
                  <a:moveTo>
                    <a:pt x="0" y="0"/>
                  </a:moveTo>
                  <a:lnTo>
                    <a:pt x="360"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94" name="Freeform 38"/>
            <p:cNvSpPr/>
            <p:nvPr/>
          </p:nvSpPr>
          <p:spPr>
            <a:xfrm>
              <a:off x="1272" y="2832"/>
              <a:ext cx="346" cy="1"/>
            </a:xfrm>
            <a:custGeom>
              <a:avLst/>
              <a:gdLst/>
              <a:ahLst/>
              <a:cxnLst>
                <a:cxn ang="0">
                  <a:pos x="0" y="0"/>
                </a:cxn>
                <a:cxn ang="0">
                  <a:pos x="346" y="0"/>
                </a:cxn>
              </a:cxnLst>
              <a:pathLst>
                <a:path w="346" h="1">
                  <a:moveTo>
                    <a:pt x="0" y="0"/>
                  </a:moveTo>
                  <a:lnTo>
                    <a:pt x="346"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95" name="Freeform 39"/>
            <p:cNvSpPr/>
            <p:nvPr/>
          </p:nvSpPr>
          <p:spPr>
            <a:xfrm>
              <a:off x="1614" y="3362"/>
              <a:ext cx="372" cy="1"/>
            </a:xfrm>
            <a:custGeom>
              <a:avLst/>
              <a:gdLst/>
              <a:ahLst/>
              <a:cxnLst>
                <a:cxn ang="0">
                  <a:pos x="0" y="0"/>
                </a:cxn>
                <a:cxn ang="0">
                  <a:pos x="372" y="0"/>
                </a:cxn>
              </a:cxnLst>
              <a:pathLst>
                <a:path w="372" h="1">
                  <a:moveTo>
                    <a:pt x="0" y="0"/>
                  </a:moveTo>
                  <a:lnTo>
                    <a:pt x="372"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96" name="Freeform 40"/>
            <p:cNvSpPr/>
            <p:nvPr/>
          </p:nvSpPr>
          <p:spPr>
            <a:xfrm>
              <a:off x="1984" y="2832"/>
              <a:ext cx="354" cy="1"/>
            </a:xfrm>
            <a:custGeom>
              <a:avLst/>
              <a:gdLst/>
              <a:ahLst/>
              <a:cxnLst>
                <a:cxn ang="0">
                  <a:pos x="0" y="0"/>
                </a:cxn>
                <a:cxn ang="0">
                  <a:pos x="354" y="0"/>
                </a:cxn>
              </a:cxnLst>
              <a:pathLst>
                <a:path w="354" h="1">
                  <a:moveTo>
                    <a:pt x="0" y="0"/>
                  </a:moveTo>
                  <a:lnTo>
                    <a:pt x="354"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97" name="Freeform 41"/>
            <p:cNvSpPr/>
            <p:nvPr/>
          </p:nvSpPr>
          <p:spPr>
            <a:xfrm>
              <a:off x="2336" y="3361"/>
              <a:ext cx="304" cy="1"/>
            </a:xfrm>
            <a:custGeom>
              <a:avLst/>
              <a:gdLst/>
              <a:ahLst/>
              <a:cxnLst>
                <a:cxn ang="0">
                  <a:pos x="0" y="1"/>
                </a:cxn>
                <a:cxn ang="0">
                  <a:pos x="304" y="0"/>
                </a:cxn>
              </a:cxnLst>
              <a:pathLst>
                <a:path w="304" h="1">
                  <a:moveTo>
                    <a:pt x="0" y="1"/>
                  </a:moveTo>
                  <a:lnTo>
                    <a:pt x="304"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098" name="Line 42"/>
            <p:cNvSpPr/>
            <p:nvPr/>
          </p:nvSpPr>
          <p:spPr>
            <a:xfrm>
              <a:off x="1270" y="2832"/>
              <a:ext cx="0" cy="528"/>
            </a:xfrm>
            <a:prstGeom prst="line">
              <a:avLst/>
            </a:prstGeom>
            <a:ln w="57150" cap="flat" cmpd="sng">
              <a:solidFill>
                <a:srgbClr val="0033CC"/>
              </a:solidFill>
              <a:prstDash val="solid"/>
              <a:round/>
              <a:headEnd type="none" w="med" len="med"/>
              <a:tailEnd type="none" w="med" len="med"/>
            </a:ln>
          </p:spPr>
        </p:sp>
        <p:sp>
          <p:nvSpPr>
            <p:cNvPr id="45099" name="Line 43"/>
            <p:cNvSpPr/>
            <p:nvPr/>
          </p:nvSpPr>
          <p:spPr>
            <a:xfrm>
              <a:off x="1618" y="2832"/>
              <a:ext cx="0" cy="528"/>
            </a:xfrm>
            <a:prstGeom prst="line">
              <a:avLst/>
            </a:prstGeom>
            <a:ln w="57150" cap="flat" cmpd="sng">
              <a:solidFill>
                <a:srgbClr val="0033CC"/>
              </a:solidFill>
              <a:prstDash val="solid"/>
              <a:round/>
              <a:headEnd type="none" w="med" len="med"/>
              <a:tailEnd type="none" w="med" len="med"/>
            </a:ln>
          </p:spPr>
        </p:sp>
        <p:sp>
          <p:nvSpPr>
            <p:cNvPr id="45100" name="Line 44"/>
            <p:cNvSpPr/>
            <p:nvPr/>
          </p:nvSpPr>
          <p:spPr>
            <a:xfrm>
              <a:off x="1986" y="2832"/>
              <a:ext cx="0" cy="528"/>
            </a:xfrm>
            <a:prstGeom prst="line">
              <a:avLst/>
            </a:prstGeom>
            <a:ln w="57150" cap="flat" cmpd="sng">
              <a:solidFill>
                <a:srgbClr val="0033CC"/>
              </a:solidFill>
              <a:prstDash val="solid"/>
              <a:round/>
              <a:headEnd type="none" w="med" len="med"/>
              <a:tailEnd type="none" w="med" len="med"/>
            </a:ln>
          </p:spPr>
        </p:sp>
        <p:sp>
          <p:nvSpPr>
            <p:cNvPr id="45101" name="Line 45"/>
            <p:cNvSpPr/>
            <p:nvPr/>
          </p:nvSpPr>
          <p:spPr>
            <a:xfrm>
              <a:off x="2338" y="2832"/>
              <a:ext cx="0" cy="528"/>
            </a:xfrm>
            <a:prstGeom prst="line">
              <a:avLst/>
            </a:prstGeom>
            <a:ln w="57150" cap="flat" cmpd="sng">
              <a:solidFill>
                <a:srgbClr val="0033CC"/>
              </a:solidFill>
              <a:prstDash val="solid"/>
              <a:round/>
              <a:headEnd type="none" w="med" len="med"/>
              <a:tailEnd type="none" w="med" len="med"/>
            </a:ln>
          </p:spPr>
        </p:sp>
      </p:grpSp>
      <p:grpSp>
        <p:nvGrpSpPr>
          <p:cNvPr id="142382" name="Group 46"/>
          <p:cNvGrpSpPr/>
          <p:nvPr/>
        </p:nvGrpSpPr>
        <p:grpSpPr>
          <a:xfrm>
            <a:off x="4572000" y="2549525"/>
            <a:ext cx="3976688" cy="990600"/>
            <a:chOff x="96" y="1248"/>
            <a:chExt cx="2505" cy="624"/>
          </a:xfrm>
        </p:grpSpPr>
        <p:sp>
          <p:nvSpPr>
            <p:cNvPr id="45103" name="Line 47"/>
            <p:cNvSpPr/>
            <p:nvPr/>
          </p:nvSpPr>
          <p:spPr>
            <a:xfrm>
              <a:off x="489" y="1414"/>
              <a:ext cx="2064" cy="0"/>
            </a:xfrm>
            <a:prstGeom prst="line">
              <a:avLst/>
            </a:prstGeom>
            <a:ln w="12700" cap="flat" cmpd="sng">
              <a:solidFill>
                <a:schemeClr val="tx1"/>
              </a:solidFill>
              <a:prstDash val="lgDash"/>
              <a:round/>
              <a:headEnd type="none" w="med" len="med"/>
              <a:tailEnd type="none" w="med" len="med"/>
            </a:ln>
          </p:spPr>
        </p:sp>
        <p:sp>
          <p:nvSpPr>
            <p:cNvPr id="45104" name="Line 48"/>
            <p:cNvSpPr/>
            <p:nvPr/>
          </p:nvSpPr>
          <p:spPr>
            <a:xfrm>
              <a:off x="489" y="1750"/>
              <a:ext cx="2112" cy="0"/>
            </a:xfrm>
            <a:prstGeom prst="line">
              <a:avLst/>
            </a:prstGeom>
            <a:ln w="12700" cap="flat" cmpd="sng">
              <a:solidFill>
                <a:schemeClr val="tx1"/>
              </a:solidFill>
              <a:prstDash val="lgDash"/>
              <a:round/>
              <a:headEnd type="none" w="med" len="med"/>
              <a:tailEnd type="none" w="med" len="med"/>
            </a:ln>
          </p:spPr>
        </p:sp>
        <p:sp>
          <p:nvSpPr>
            <p:cNvPr id="45105" name="Text Box 49"/>
            <p:cNvSpPr txBox="1"/>
            <p:nvPr/>
          </p:nvSpPr>
          <p:spPr>
            <a:xfrm>
              <a:off x="96" y="1248"/>
              <a:ext cx="41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T+</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106" name="Text Box 50"/>
            <p:cNvSpPr txBox="1"/>
            <p:nvPr/>
          </p:nvSpPr>
          <p:spPr>
            <a:xfrm>
              <a:off x="96" y="1584"/>
              <a:ext cx="38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T-</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grpSp>
      <p:grpSp>
        <p:nvGrpSpPr>
          <p:cNvPr id="142387" name="Group 51"/>
          <p:cNvGrpSpPr/>
          <p:nvPr/>
        </p:nvGrpSpPr>
        <p:grpSpPr>
          <a:xfrm>
            <a:off x="5181600" y="1939925"/>
            <a:ext cx="3595688" cy="3997325"/>
            <a:chOff x="3264" y="864"/>
            <a:chExt cx="2265" cy="2518"/>
          </a:xfrm>
        </p:grpSpPr>
        <p:grpSp>
          <p:nvGrpSpPr>
            <p:cNvPr id="45108" name="Group 52"/>
            <p:cNvGrpSpPr/>
            <p:nvPr/>
          </p:nvGrpSpPr>
          <p:grpSpPr>
            <a:xfrm>
              <a:off x="3264" y="864"/>
              <a:ext cx="2265" cy="1174"/>
              <a:chOff x="375" y="842"/>
              <a:chExt cx="2265" cy="1174"/>
            </a:xfrm>
          </p:grpSpPr>
          <p:sp>
            <p:nvSpPr>
              <p:cNvPr id="45109" name="Line 53"/>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45110" name="Line 54"/>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45111" name="Text Box 55"/>
              <p:cNvSpPr txBox="1"/>
              <p:nvPr/>
            </p:nvSpPr>
            <p:spPr>
              <a:xfrm>
                <a:off x="375" y="842"/>
                <a:ext cx="24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I</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112" name="Text Box 56"/>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endParaRPr lang="en-US" altLang="zh-CN" sz="2400" b="1" i="1" baseline="-25000" dirty="0">
                  <a:latin typeface="Times New Roman" panose="02020603050405020304" charset="0"/>
                  <a:ea typeface="楷体" panose="02010609060101010101" charset="-122"/>
                  <a:cs typeface="Times New Roman" panose="02020603050405020304" charset="0"/>
                </a:endParaRPr>
              </a:p>
            </p:txBody>
          </p:sp>
        </p:grpSp>
        <p:grpSp>
          <p:nvGrpSpPr>
            <p:cNvPr id="45113" name="Group 57"/>
            <p:cNvGrpSpPr/>
            <p:nvPr/>
          </p:nvGrpSpPr>
          <p:grpSpPr>
            <a:xfrm>
              <a:off x="3264" y="2208"/>
              <a:ext cx="2265" cy="1174"/>
              <a:chOff x="375" y="842"/>
              <a:chExt cx="2265" cy="1174"/>
            </a:xfrm>
          </p:grpSpPr>
          <p:sp>
            <p:nvSpPr>
              <p:cNvPr id="45114" name="Line 58"/>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45115" name="Line 59"/>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45116" name="Text Box 60"/>
              <p:cNvSpPr txBox="1"/>
              <p:nvPr/>
            </p:nvSpPr>
            <p:spPr>
              <a:xfrm>
                <a:off x="375" y="842"/>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O</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117" name="Text Box 61"/>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endParaRPr lang="en-US" altLang="zh-CN" sz="2400" b="1" i="1" baseline="-25000" dirty="0">
                  <a:latin typeface="Times New Roman" panose="02020603050405020304" charset="0"/>
                  <a:ea typeface="楷体" panose="02010609060101010101" charset="-122"/>
                  <a:cs typeface="Times New Roman" panose="02020603050405020304" charset="0"/>
                </a:endParaRPr>
              </a:p>
            </p:txBody>
          </p:sp>
        </p:grpSp>
        <p:grpSp>
          <p:nvGrpSpPr>
            <p:cNvPr id="45118" name="Group 62"/>
            <p:cNvGrpSpPr/>
            <p:nvPr/>
          </p:nvGrpSpPr>
          <p:grpSpPr>
            <a:xfrm>
              <a:off x="3312" y="1200"/>
              <a:ext cx="1872" cy="816"/>
              <a:chOff x="3312" y="1200"/>
              <a:chExt cx="1872" cy="816"/>
            </a:xfrm>
          </p:grpSpPr>
          <p:sp>
            <p:nvSpPr>
              <p:cNvPr id="45119" name="Line 63"/>
              <p:cNvSpPr/>
              <p:nvPr/>
            </p:nvSpPr>
            <p:spPr>
              <a:xfrm flipV="1">
                <a:off x="3312" y="1200"/>
                <a:ext cx="288" cy="816"/>
              </a:xfrm>
              <a:prstGeom prst="line">
                <a:avLst/>
              </a:prstGeom>
              <a:ln w="57150" cap="flat" cmpd="sng">
                <a:solidFill>
                  <a:schemeClr val="tx1"/>
                </a:solidFill>
                <a:prstDash val="solid"/>
                <a:round/>
                <a:headEnd type="none" w="med" len="med"/>
                <a:tailEnd type="none" w="med" len="med"/>
              </a:ln>
            </p:spPr>
          </p:sp>
          <p:sp>
            <p:nvSpPr>
              <p:cNvPr id="45120" name="Line 64"/>
              <p:cNvSpPr/>
              <p:nvPr/>
            </p:nvSpPr>
            <p:spPr>
              <a:xfrm>
                <a:off x="3600" y="1200"/>
                <a:ext cx="336" cy="816"/>
              </a:xfrm>
              <a:prstGeom prst="line">
                <a:avLst/>
              </a:prstGeom>
              <a:ln w="57150" cap="flat" cmpd="sng">
                <a:solidFill>
                  <a:schemeClr val="tx1"/>
                </a:solidFill>
                <a:prstDash val="solid"/>
                <a:round/>
                <a:headEnd type="none" w="med" len="med"/>
                <a:tailEnd type="none" w="med" len="med"/>
              </a:ln>
            </p:spPr>
          </p:sp>
          <p:sp>
            <p:nvSpPr>
              <p:cNvPr id="45121" name="Line 65"/>
              <p:cNvSpPr/>
              <p:nvPr/>
            </p:nvSpPr>
            <p:spPr>
              <a:xfrm flipV="1">
                <a:off x="3936" y="1200"/>
                <a:ext cx="288" cy="816"/>
              </a:xfrm>
              <a:prstGeom prst="line">
                <a:avLst/>
              </a:prstGeom>
              <a:ln w="57150" cap="flat" cmpd="sng">
                <a:solidFill>
                  <a:schemeClr val="tx1"/>
                </a:solidFill>
                <a:prstDash val="solid"/>
                <a:round/>
                <a:headEnd type="none" w="med" len="med"/>
                <a:tailEnd type="none" w="med" len="med"/>
              </a:ln>
            </p:spPr>
          </p:sp>
          <p:sp>
            <p:nvSpPr>
              <p:cNvPr id="45122" name="Line 66"/>
              <p:cNvSpPr/>
              <p:nvPr/>
            </p:nvSpPr>
            <p:spPr>
              <a:xfrm>
                <a:off x="4224" y="1200"/>
                <a:ext cx="336" cy="816"/>
              </a:xfrm>
              <a:prstGeom prst="line">
                <a:avLst/>
              </a:prstGeom>
              <a:ln w="57150" cap="flat" cmpd="sng">
                <a:solidFill>
                  <a:schemeClr val="tx1"/>
                </a:solidFill>
                <a:prstDash val="solid"/>
                <a:round/>
                <a:headEnd type="none" w="med" len="med"/>
                <a:tailEnd type="none" w="med" len="med"/>
              </a:ln>
            </p:spPr>
          </p:sp>
          <p:sp>
            <p:nvSpPr>
              <p:cNvPr id="45123" name="Line 67"/>
              <p:cNvSpPr/>
              <p:nvPr/>
            </p:nvSpPr>
            <p:spPr>
              <a:xfrm flipV="1">
                <a:off x="4560" y="1200"/>
                <a:ext cx="288" cy="816"/>
              </a:xfrm>
              <a:prstGeom prst="line">
                <a:avLst/>
              </a:prstGeom>
              <a:ln w="57150" cap="flat" cmpd="sng">
                <a:solidFill>
                  <a:schemeClr val="tx1"/>
                </a:solidFill>
                <a:prstDash val="solid"/>
                <a:round/>
                <a:headEnd type="none" w="med" len="med"/>
                <a:tailEnd type="none" w="med" len="med"/>
              </a:ln>
            </p:spPr>
          </p:sp>
          <p:sp>
            <p:nvSpPr>
              <p:cNvPr id="45124" name="Line 68"/>
              <p:cNvSpPr/>
              <p:nvPr/>
            </p:nvSpPr>
            <p:spPr>
              <a:xfrm>
                <a:off x="4848" y="1200"/>
                <a:ext cx="336" cy="816"/>
              </a:xfrm>
              <a:prstGeom prst="line">
                <a:avLst/>
              </a:prstGeom>
              <a:ln w="57150" cap="flat" cmpd="sng">
                <a:solidFill>
                  <a:schemeClr val="tx1"/>
                </a:solidFill>
                <a:prstDash val="solid"/>
                <a:round/>
                <a:headEnd type="none" w="med" len="med"/>
                <a:tailEnd type="none" w="med" len="med"/>
              </a:ln>
            </p:spPr>
          </p:sp>
        </p:grpSp>
      </p:grpSp>
      <p:grpSp>
        <p:nvGrpSpPr>
          <p:cNvPr id="142405" name="Group 69"/>
          <p:cNvGrpSpPr/>
          <p:nvPr/>
        </p:nvGrpSpPr>
        <p:grpSpPr>
          <a:xfrm>
            <a:off x="5588000" y="2778125"/>
            <a:ext cx="2489200" cy="3124200"/>
            <a:chOff x="3520" y="1392"/>
            <a:chExt cx="1568" cy="1968"/>
          </a:xfrm>
        </p:grpSpPr>
        <p:sp>
          <p:nvSpPr>
            <p:cNvPr id="45126" name="Line 70"/>
            <p:cNvSpPr/>
            <p:nvPr/>
          </p:nvSpPr>
          <p:spPr>
            <a:xfrm>
              <a:off x="3520" y="1392"/>
              <a:ext cx="0" cy="1968"/>
            </a:xfrm>
            <a:prstGeom prst="line">
              <a:avLst/>
            </a:prstGeom>
            <a:ln w="12700" cap="flat" cmpd="sng">
              <a:solidFill>
                <a:schemeClr val="tx1"/>
              </a:solidFill>
              <a:prstDash val="lgDash"/>
              <a:round/>
              <a:headEnd type="none" w="med" len="med"/>
              <a:tailEnd type="none" w="med" len="med"/>
            </a:ln>
          </p:spPr>
        </p:sp>
        <p:sp>
          <p:nvSpPr>
            <p:cNvPr id="45127" name="Line 71"/>
            <p:cNvSpPr/>
            <p:nvPr/>
          </p:nvSpPr>
          <p:spPr>
            <a:xfrm>
              <a:off x="3824" y="1392"/>
              <a:ext cx="0" cy="1968"/>
            </a:xfrm>
            <a:prstGeom prst="line">
              <a:avLst/>
            </a:prstGeom>
            <a:ln w="12700" cap="flat" cmpd="sng">
              <a:solidFill>
                <a:schemeClr val="tx1"/>
              </a:solidFill>
              <a:prstDash val="lgDash"/>
              <a:round/>
              <a:headEnd type="none" w="med" len="med"/>
              <a:tailEnd type="none" w="med" len="med"/>
            </a:ln>
          </p:spPr>
        </p:sp>
        <p:sp>
          <p:nvSpPr>
            <p:cNvPr id="45128" name="Line 72"/>
            <p:cNvSpPr/>
            <p:nvPr/>
          </p:nvSpPr>
          <p:spPr>
            <a:xfrm>
              <a:off x="4152" y="1392"/>
              <a:ext cx="0" cy="1968"/>
            </a:xfrm>
            <a:prstGeom prst="line">
              <a:avLst/>
            </a:prstGeom>
            <a:ln w="12700" cap="flat" cmpd="sng">
              <a:solidFill>
                <a:schemeClr val="tx1"/>
              </a:solidFill>
              <a:prstDash val="lgDash"/>
              <a:round/>
              <a:headEnd type="none" w="med" len="med"/>
              <a:tailEnd type="none" w="med" len="med"/>
            </a:ln>
          </p:spPr>
        </p:sp>
        <p:sp>
          <p:nvSpPr>
            <p:cNvPr id="45129" name="Line 73"/>
            <p:cNvSpPr/>
            <p:nvPr/>
          </p:nvSpPr>
          <p:spPr>
            <a:xfrm>
              <a:off x="4448" y="1392"/>
              <a:ext cx="0" cy="1968"/>
            </a:xfrm>
            <a:prstGeom prst="line">
              <a:avLst/>
            </a:prstGeom>
            <a:ln w="12700" cap="flat" cmpd="sng">
              <a:solidFill>
                <a:schemeClr val="tx1"/>
              </a:solidFill>
              <a:prstDash val="lgDash"/>
              <a:round/>
              <a:headEnd type="none" w="med" len="med"/>
              <a:tailEnd type="none" w="med" len="med"/>
            </a:ln>
          </p:spPr>
        </p:sp>
        <p:sp>
          <p:nvSpPr>
            <p:cNvPr id="45130" name="Line 74"/>
            <p:cNvSpPr/>
            <p:nvPr/>
          </p:nvSpPr>
          <p:spPr>
            <a:xfrm>
              <a:off x="4784" y="1392"/>
              <a:ext cx="0" cy="1968"/>
            </a:xfrm>
            <a:prstGeom prst="line">
              <a:avLst/>
            </a:prstGeom>
            <a:ln w="12700" cap="flat" cmpd="sng">
              <a:solidFill>
                <a:schemeClr val="tx1"/>
              </a:solidFill>
              <a:prstDash val="lgDash"/>
              <a:round/>
              <a:headEnd type="none" w="med" len="med"/>
              <a:tailEnd type="none" w="med" len="med"/>
            </a:ln>
          </p:spPr>
        </p:sp>
        <p:sp>
          <p:nvSpPr>
            <p:cNvPr id="45131" name="Line 75"/>
            <p:cNvSpPr/>
            <p:nvPr/>
          </p:nvSpPr>
          <p:spPr>
            <a:xfrm>
              <a:off x="5088" y="1392"/>
              <a:ext cx="0" cy="1968"/>
            </a:xfrm>
            <a:prstGeom prst="line">
              <a:avLst/>
            </a:prstGeom>
            <a:ln w="12700" cap="flat" cmpd="sng">
              <a:solidFill>
                <a:schemeClr val="tx1"/>
              </a:solidFill>
              <a:prstDash val="lgDash"/>
              <a:round/>
              <a:headEnd type="none" w="med" len="med"/>
              <a:tailEnd type="none" w="med" len="med"/>
            </a:ln>
          </p:spPr>
        </p:sp>
      </p:grpSp>
      <p:grpSp>
        <p:nvGrpSpPr>
          <p:cNvPr id="142412" name="Group 76"/>
          <p:cNvGrpSpPr/>
          <p:nvPr/>
        </p:nvGrpSpPr>
        <p:grpSpPr>
          <a:xfrm>
            <a:off x="5203825" y="5064125"/>
            <a:ext cx="3178175" cy="842963"/>
            <a:chOff x="3278" y="2832"/>
            <a:chExt cx="2002" cy="531"/>
          </a:xfrm>
        </p:grpSpPr>
        <p:sp>
          <p:nvSpPr>
            <p:cNvPr id="45133" name="Line 77"/>
            <p:cNvSpPr/>
            <p:nvPr/>
          </p:nvSpPr>
          <p:spPr>
            <a:xfrm>
              <a:off x="3278" y="3360"/>
              <a:ext cx="240" cy="0"/>
            </a:xfrm>
            <a:prstGeom prst="line">
              <a:avLst/>
            </a:prstGeom>
            <a:ln w="57150" cap="flat" cmpd="sng">
              <a:solidFill>
                <a:srgbClr val="0033CC"/>
              </a:solidFill>
              <a:prstDash val="solid"/>
              <a:round/>
              <a:headEnd type="none" w="med" len="med"/>
              <a:tailEnd type="none" w="med" len="med"/>
            </a:ln>
          </p:spPr>
        </p:sp>
        <p:sp>
          <p:nvSpPr>
            <p:cNvPr id="45134" name="Freeform 78"/>
            <p:cNvSpPr/>
            <p:nvPr/>
          </p:nvSpPr>
          <p:spPr>
            <a:xfrm>
              <a:off x="3520" y="2832"/>
              <a:ext cx="304" cy="1"/>
            </a:xfrm>
            <a:custGeom>
              <a:avLst/>
              <a:gdLst/>
              <a:ahLst/>
              <a:cxnLst>
                <a:cxn ang="0">
                  <a:pos x="0" y="0"/>
                </a:cxn>
                <a:cxn ang="0">
                  <a:pos x="304" y="0"/>
                </a:cxn>
              </a:cxnLst>
              <a:pathLst>
                <a:path w="304" h="1">
                  <a:moveTo>
                    <a:pt x="0" y="0"/>
                  </a:moveTo>
                  <a:lnTo>
                    <a:pt x="304"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135" name="Freeform 79"/>
            <p:cNvSpPr/>
            <p:nvPr/>
          </p:nvSpPr>
          <p:spPr>
            <a:xfrm>
              <a:off x="3826" y="3362"/>
              <a:ext cx="328" cy="1"/>
            </a:xfrm>
            <a:custGeom>
              <a:avLst/>
              <a:gdLst/>
              <a:ahLst/>
              <a:cxnLst>
                <a:cxn ang="0">
                  <a:pos x="0" y="0"/>
                </a:cxn>
                <a:cxn ang="0">
                  <a:pos x="328" y="0"/>
                </a:cxn>
              </a:cxnLst>
              <a:pathLst>
                <a:path w="328" h="1">
                  <a:moveTo>
                    <a:pt x="0" y="0"/>
                  </a:moveTo>
                  <a:lnTo>
                    <a:pt x="328"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136" name="Freeform 80"/>
            <p:cNvSpPr/>
            <p:nvPr/>
          </p:nvSpPr>
          <p:spPr>
            <a:xfrm>
              <a:off x="4150" y="2834"/>
              <a:ext cx="300" cy="1"/>
            </a:xfrm>
            <a:custGeom>
              <a:avLst/>
              <a:gdLst/>
              <a:ahLst/>
              <a:cxnLst>
                <a:cxn ang="0">
                  <a:pos x="0" y="0"/>
                </a:cxn>
                <a:cxn ang="0">
                  <a:pos x="300" y="0"/>
                </a:cxn>
              </a:cxnLst>
              <a:pathLst>
                <a:path w="300" h="1">
                  <a:moveTo>
                    <a:pt x="0" y="0"/>
                  </a:moveTo>
                  <a:lnTo>
                    <a:pt x="300"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137" name="Line 81"/>
            <p:cNvSpPr/>
            <p:nvPr/>
          </p:nvSpPr>
          <p:spPr>
            <a:xfrm>
              <a:off x="4450" y="3360"/>
              <a:ext cx="336" cy="0"/>
            </a:xfrm>
            <a:prstGeom prst="line">
              <a:avLst/>
            </a:prstGeom>
            <a:ln w="57150" cap="flat" cmpd="sng">
              <a:solidFill>
                <a:srgbClr val="0033CC"/>
              </a:solidFill>
              <a:prstDash val="solid"/>
              <a:round/>
              <a:headEnd type="none" w="med" len="med"/>
              <a:tailEnd type="none" w="med" len="med"/>
            </a:ln>
          </p:spPr>
        </p:sp>
        <p:sp>
          <p:nvSpPr>
            <p:cNvPr id="45138" name="Freeform 82"/>
            <p:cNvSpPr/>
            <p:nvPr/>
          </p:nvSpPr>
          <p:spPr>
            <a:xfrm>
              <a:off x="4782" y="2833"/>
              <a:ext cx="306" cy="1"/>
            </a:xfrm>
            <a:custGeom>
              <a:avLst/>
              <a:gdLst/>
              <a:ahLst/>
              <a:cxnLst>
                <a:cxn ang="0">
                  <a:pos x="0" y="1"/>
                </a:cxn>
                <a:cxn ang="0">
                  <a:pos x="306" y="0"/>
                </a:cxn>
              </a:cxnLst>
              <a:pathLst>
                <a:path w="306" h="1">
                  <a:moveTo>
                    <a:pt x="0" y="1"/>
                  </a:moveTo>
                  <a:lnTo>
                    <a:pt x="306" y="0"/>
                  </a:lnTo>
                </a:path>
              </a:pathLst>
            </a:custGeom>
            <a:noFill/>
            <a:ln w="57150" cap="flat" cmpd="sng">
              <a:solidFill>
                <a:srgbClr val="0033CC"/>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5139" name="Line 83"/>
            <p:cNvSpPr/>
            <p:nvPr/>
          </p:nvSpPr>
          <p:spPr>
            <a:xfrm>
              <a:off x="5088" y="3360"/>
              <a:ext cx="192" cy="0"/>
            </a:xfrm>
            <a:prstGeom prst="line">
              <a:avLst/>
            </a:prstGeom>
            <a:ln w="57150" cap="flat" cmpd="sng">
              <a:solidFill>
                <a:srgbClr val="0033CC"/>
              </a:solidFill>
              <a:prstDash val="solid"/>
              <a:round/>
              <a:headEnd type="none" w="med" len="med"/>
              <a:tailEnd type="none" w="med" len="med"/>
            </a:ln>
          </p:spPr>
        </p:sp>
        <p:sp>
          <p:nvSpPr>
            <p:cNvPr id="45140" name="Line 84"/>
            <p:cNvSpPr/>
            <p:nvPr/>
          </p:nvSpPr>
          <p:spPr>
            <a:xfrm>
              <a:off x="3518" y="2832"/>
              <a:ext cx="0" cy="528"/>
            </a:xfrm>
            <a:prstGeom prst="line">
              <a:avLst/>
            </a:prstGeom>
            <a:ln w="57150" cap="flat" cmpd="sng">
              <a:solidFill>
                <a:srgbClr val="0033CC"/>
              </a:solidFill>
              <a:prstDash val="solid"/>
              <a:round/>
              <a:headEnd type="none" w="med" len="med"/>
              <a:tailEnd type="none" w="med" len="med"/>
            </a:ln>
          </p:spPr>
        </p:sp>
        <p:sp>
          <p:nvSpPr>
            <p:cNvPr id="45141" name="Line 85"/>
            <p:cNvSpPr/>
            <p:nvPr/>
          </p:nvSpPr>
          <p:spPr>
            <a:xfrm>
              <a:off x="3826" y="2832"/>
              <a:ext cx="0" cy="528"/>
            </a:xfrm>
            <a:prstGeom prst="line">
              <a:avLst/>
            </a:prstGeom>
            <a:ln w="57150" cap="flat" cmpd="sng">
              <a:solidFill>
                <a:srgbClr val="0033CC"/>
              </a:solidFill>
              <a:prstDash val="solid"/>
              <a:round/>
              <a:headEnd type="none" w="med" len="med"/>
              <a:tailEnd type="none" w="med" len="med"/>
            </a:ln>
          </p:spPr>
        </p:sp>
        <p:sp>
          <p:nvSpPr>
            <p:cNvPr id="45142" name="Line 86"/>
            <p:cNvSpPr/>
            <p:nvPr/>
          </p:nvSpPr>
          <p:spPr>
            <a:xfrm>
              <a:off x="4150" y="2832"/>
              <a:ext cx="0" cy="528"/>
            </a:xfrm>
            <a:prstGeom prst="line">
              <a:avLst/>
            </a:prstGeom>
            <a:ln w="57150" cap="flat" cmpd="sng">
              <a:solidFill>
                <a:srgbClr val="0033CC"/>
              </a:solidFill>
              <a:prstDash val="solid"/>
              <a:round/>
              <a:headEnd type="none" w="med" len="med"/>
              <a:tailEnd type="none" w="med" len="med"/>
            </a:ln>
          </p:spPr>
        </p:sp>
        <p:sp>
          <p:nvSpPr>
            <p:cNvPr id="45143" name="Line 87"/>
            <p:cNvSpPr/>
            <p:nvPr/>
          </p:nvSpPr>
          <p:spPr>
            <a:xfrm>
              <a:off x="4450" y="2832"/>
              <a:ext cx="0" cy="528"/>
            </a:xfrm>
            <a:prstGeom prst="line">
              <a:avLst/>
            </a:prstGeom>
            <a:ln w="57150" cap="flat" cmpd="sng">
              <a:solidFill>
                <a:srgbClr val="0033CC"/>
              </a:solidFill>
              <a:prstDash val="solid"/>
              <a:round/>
              <a:headEnd type="none" w="med" len="med"/>
              <a:tailEnd type="none" w="med" len="med"/>
            </a:ln>
          </p:spPr>
        </p:sp>
        <p:sp>
          <p:nvSpPr>
            <p:cNvPr id="45144" name="Line 88"/>
            <p:cNvSpPr/>
            <p:nvPr/>
          </p:nvSpPr>
          <p:spPr>
            <a:xfrm>
              <a:off x="4784" y="2832"/>
              <a:ext cx="0" cy="528"/>
            </a:xfrm>
            <a:prstGeom prst="line">
              <a:avLst/>
            </a:prstGeom>
            <a:ln w="57150" cap="flat" cmpd="sng">
              <a:solidFill>
                <a:srgbClr val="0033CC"/>
              </a:solidFill>
              <a:prstDash val="solid"/>
              <a:round/>
              <a:headEnd type="none" w="med" len="med"/>
              <a:tailEnd type="none" w="med" len="med"/>
            </a:ln>
          </p:spPr>
        </p:sp>
        <p:sp>
          <p:nvSpPr>
            <p:cNvPr id="45145" name="Line 89"/>
            <p:cNvSpPr/>
            <p:nvPr/>
          </p:nvSpPr>
          <p:spPr>
            <a:xfrm>
              <a:off x="5088" y="2832"/>
              <a:ext cx="0" cy="528"/>
            </a:xfrm>
            <a:prstGeom prst="line">
              <a:avLst/>
            </a:prstGeom>
            <a:ln w="57150" cap="flat" cmpd="sng">
              <a:solidFill>
                <a:srgbClr val="0033CC"/>
              </a:solidFill>
              <a:prstDash val="solid"/>
              <a:round/>
              <a:headEnd type="none" w="med" len="med"/>
              <a:tailEnd type="none" w="med" len="med"/>
            </a:ln>
          </p:spPr>
        </p:sp>
      </p:grpSp>
      <p:sp>
        <p:nvSpPr>
          <p:cNvPr id="142426" name="Text Box 90"/>
          <p:cNvSpPr txBox="1"/>
          <p:nvPr/>
        </p:nvSpPr>
        <p:spPr>
          <a:xfrm>
            <a:off x="609283" y="6229350"/>
            <a:ext cx="3284537" cy="488950"/>
          </a:xfrm>
          <a:prstGeom prst="rect">
            <a:avLst/>
          </a:prstGeom>
          <a:noFill/>
          <a:ln w="28575">
            <a:noFill/>
          </a:ln>
        </p:spPr>
        <p:txBody>
          <a:bodyPr lIns="90000" tIns="46800" rIns="90000" bIns="46800" anchor="t" anchorCtr="0">
            <a:spAutoFit/>
          </a:bodyPr>
          <a:p>
            <a:pPr algn="ctr"/>
            <a:r>
              <a:rPr lang="zh-CN" altLang="en-US" sz="2600" b="1" dirty="0">
                <a:solidFill>
                  <a:srgbClr val="CC3300"/>
                </a:solidFill>
                <a:latin typeface="Times New Roman" panose="02020603050405020304" charset="0"/>
                <a:ea typeface="楷体" panose="02010609060101010101" charset="-122"/>
                <a:cs typeface="Times New Roman" panose="02020603050405020304" charset="0"/>
              </a:rPr>
              <a:t>正弦波</a:t>
            </a:r>
            <a:r>
              <a:rPr lang="zh-CN" altLang="en-US" sz="26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矩形波</a:t>
            </a:r>
            <a:endParaRPr lang="zh-CN" altLang="en-US" sz="2600" b="1" dirty="0">
              <a:solidFill>
                <a:srgbClr val="CC3300"/>
              </a:solidFill>
              <a:latin typeface="Times New Roman" panose="02020603050405020304" charset="0"/>
              <a:ea typeface="楷体" panose="02010609060101010101" charset="-122"/>
              <a:cs typeface="Times New Roman" panose="02020603050405020304" charset="0"/>
            </a:endParaRPr>
          </a:p>
        </p:txBody>
      </p:sp>
      <p:sp>
        <p:nvSpPr>
          <p:cNvPr id="142427" name="Text Box 91"/>
          <p:cNvSpPr txBox="1"/>
          <p:nvPr/>
        </p:nvSpPr>
        <p:spPr>
          <a:xfrm>
            <a:off x="5003800" y="6229350"/>
            <a:ext cx="3600450" cy="488950"/>
          </a:xfrm>
          <a:prstGeom prst="rect">
            <a:avLst/>
          </a:prstGeom>
          <a:noFill/>
          <a:ln w="28575">
            <a:noFill/>
          </a:ln>
        </p:spPr>
        <p:txBody>
          <a:bodyPr lIns="90000" tIns="46800" rIns="90000" bIns="46800" anchor="t" anchorCtr="0">
            <a:spAutoFit/>
          </a:bodyPr>
          <a:p>
            <a:pPr algn="ctr"/>
            <a:r>
              <a:rPr lang="zh-CN" altLang="en-US" sz="2600" b="1" dirty="0">
                <a:solidFill>
                  <a:srgbClr val="CC3300"/>
                </a:solidFill>
                <a:latin typeface="Times New Roman" panose="02020603050405020304" charset="0"/>
                <a:ea typeface="楷体" panose="02010609060101010101" charset="-122"/>
                <a:cs typeface="Times New Roman" panose="02020603050405020304" charset="0"/>
              </a:rPr>
              <a:t>三角波</a:t>
            </a:r>
            <a:r>
              <a:rPr lang="zh-CN" altLang="en-US" sz="26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rPr>
              <a:t>矩形波</a:t>
            </a:r>
            <a:endParaRPr lang="zh-CN" altLang="en-US" sz="2600" b="1" dirty="0">
              <a:solidFill>
                <a:srgbClr val="CC3300"/>
              </a:solidFill>
              <a:latin typeface="Times New Roman" panose="02020603050405020304" charset="0"/>
              <a:ea typeface="楷体" panose="02010609060101010101" charset="-122"/>
              <a:cs typeface="Times New Roman" panose="02020603050405020304" charset="0"/>
              <a:sym typeface="Wingdings" panose="05000000000000000000" pitchFamily="2" charset="2"/>
            </a:endParaRPr>
          </a:p>
        </p:txBody>
      </p:sp>
      <p:grpSp>
        <p:nvGrpSpPr>
          <p:cNvPr id="142432" name="Group 96"/>
          <p:cNvGrpSpPr/>
          <p:nvPr/>
        </p:nvGrpSpPr>
        <p:grpSpPr>
          <a:xfrm>
            <a:off x="5838825" y="1357313"/>
            <a:ext cx="2016125" cy="792162"/>
            <a:chOff x="1610" y="3612"/>
            <a:chExt cx="1270" cy="499"/>
          </a:xfrm>
        </p:grpSpPr>
        <p:sp>
          <p:nvSpPr>
            <p:cNvPr id="45150" name="Rectangle 97"/>
            <p:cNvSpPr/>
            <p:nvPr/>
          </p:nvSpPr>
          <p:spPr>
            <a:xfrm>
              <a:off x="2052" y="3612"/>
              <a:ext cx="328" cy="499"/>
            </a:xfrm>
            <a:prstGeom prst="rect">
              <a:avLst/>
            </a:prstGeom>
            <a:noFill/>
            <a:ln w="28575" cap="flat" cmpd="sng">
              <a:solidFill>
                <a:schemeClr val="tx1"/>
              </a:solidFill>
              <a:prstDash val="solid"/>
              <a:miter/>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grpSp>
          <p:nvGrpSpPr>
            <p:cNvPr id="45151" name="Group 98"/>
            <p:cNvGrpSpPr/>
            <p:nvPr/>
          </p:nvGrpSpPr>
          <p:grpSpPr>
            <a:xfrm>
              <a:off x="2194" y="3702"/>
              <a:ext cx="171" cy="119"/>
              <a:chOff x="2194" y="3642"/>
              <a:chExt cx="171" cy="119"/>
            </a:xfrm>
          </p:grpSpPr>
          <p:sp>
            <p:nvSpPr>
              <p:cNvPr id="45152" name="Line 99"/>
              <p:cNvSpPr/>
              <p:nvPr/>
            </p:nvSpPr>
            <p:spPr>
              <a:xfrm>
                <a:off x="2194" y="3761"/>
                <a:ext cx="114" cy="0"/>
              </a:xfrm>
              <a:prstGeom prst="line">
                <a:avLst/>
              </a:prstGeom>
              <a:ln w="28575" cap="flat" cmpd="sng">
                <a:solidFill>
                  <a:schemeClr val="tx1"/>
                </a:solidFill>
                <a:prstDash val="solid"/>
                <a:round/>
                <a:headEnd type="none" w="med" len="med"/>
                <a:tailEnd type="none" w="med" len="med"/>
              </a:ln>
            </p:spPr>
          </p:sp>
          <p:sp>
            <p:nvSpPr>
              <p:cNvPr id="45153" name="Line 100"/>
              <p:cNvSpPr/>
              <p:nvPr/>
            </p:nvSpPr>
            <p:spPr>
              <a:xfrm>
                <a:off x="2251" y="3642"/>
                <a:ext cx="114" cy="0"/>
              </a:xfrm>
              <a:prstGeom prst="line">
                <a:avLst/>
              </a:prstGeom>
              <a:ln w="28575" cap="flat" cmpd="sng">
                <a:solidFill>
                  <a:schemeClr val="tx1"/>
                </a:solidFill>
                <a:prstDash val="solid"/>
                <a:round/>
                <a:headEnd type="none" w="med" len="med"/>
                <a:tailEnd type="none" w="med" len="med"/>
              </a:ln>
            </p:spPr>
          </p:sp>
          <p:sp>
            <p:nvSpPr>
              <p:cNvPr id="45154" name="Line 101"/>
              <p:cNvSpPr/>
              <p:nvPr/>
            </p:nvSpPr>
            <p:spPr>
              <a:xfrm>
                <a:off x="2251" y="3642"/>
                <a:ext cx="0" cy="119"/>
              </a:xfrm>
              <a:prstGeom prst="line">
                <a:avLst/>
              </a:prstGeom>
              <a:ln w="28575" cap="flat" cmpd="sng">
                <a:solidFill>
                  <a:schemeClr val="tx1"/>
                </a:solidFill>
                <a:prstDash val="solid"/>
                <a:round/>
                <a:headEnd type="none" w="med" len="med"/>
                <a:tailEnd type="none" w="med" len="med"/>
              </a:ln>
            </p:spPr>
          </p:sp>
          <p:sp>
            <p:nvSpPr>
              <p:cNvPr id="45155" name="Line 102"/>
              <p:cNvSpPr/>
              <p:nvPr/>
            </p:nvSpPr>
            <p:spPr>
              <a:xfrm>
                <a:off x="2308" y="3642"/>
                <a:ext cx="0" cy="119"/>
              </a:xfrm>
              <a:prstGeom prst="line">
                <a:avLst/>
              </a:prstGeom>
              <a:ln w="28575" cap="flat" cmpd="sng">
                <a:solidFill>
                  <a:schemeClr val="tx1"/>
                </a:solidFill>
                <a:prstDash val="solid"/>
                <a:round/>
                <a:headEnd type="none" w="med" len="med"/>
                <a:tailEnd type="none" w="med" len="med"/>
              </a:ln>
            </p:spPr>
          </p:sp>
        </p:grpSp>
        <p:sp>
          <p:nvSpPr>
            <p:cNvPr id="45156" name="Text Box 103"/>
            <p:cNvSpPr txBox="1"/>
            <p:nvPr/>
          </p:nvSpPr>
          <p:spPr>
            <a:xfrm>
              <a:off x="2064" y="3612"/>
              <a:ext cx="194" cy="250"/>
            </a:xfrm>
            <a:prstGeom prst="rect">
              <a:avLst/>
            </a:prstGeom>
            <a:noFill/>
            <a:ln w="28575">
              <a:noFill/>
            </a:ln>
          </p:spPr>
          <p:txBody>
            <a:bodyPr wrap="none" lIns="90000" tIns="46800" rIns="90000" bIns="46800" anchor="t" anchorCtr="0">
              <a:spAutoFit/>
            </a:bodyPr>
            <a:p>
              <a:r>
                <a:rPr lang="en-US" altLang="zh-CN" sz="2000" b="1" dirty="0">
                  <a:latin typeface="Times New Roman" panose="02020603050405020304" charset="0"/>
                  <a:ea typeface="楷体" panose="02010609060101010101" charset="-122"/>
                  <a:cs typeface="Times New Roman" panose="02020603050405020304" charset="0"/>
                </a:rPr>
                <a:t>1</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45157" name="Line 104"/>
            <p:cNvSpPr/>
            <p:nvPr/>
          </p:nvSpPr>
          <p:spPr>
            <a:xfrm>
              <a:off x="1825" y="3880"/>
              <a:ext cx="227" cy="0"/>
            </a:xfrm>
            <a:prstGeom prst="line">
              <a:avLst/>
            </a:prstGeom>
            <a:ln w="28575" cap="flat" cmpd="sng">
              <a:solidFill>
                <a:schemeClr val="tx1"/>
              </a:solidFill>
              <a:prstDash val="solid"/>
              <a:round/>
              <a:headEnd type="none" w="med" len="med"/>
              <a:tailEnd type="none" w="med" len="med"/>
            </a:ln>
          </p:spPr>
        </p:sp>
        <p:sp>
          <p:nvSpPr>
            <p:cNvPr id="45158" name="Line 105"/>
            <p:cNvSpPr/>
            <p:nvPr/>
          </p:nvSpPr>
          <p:spPr>
            <a:xfrm>
              <a:off x="2394" y="3880"/>
              <a:ext cx="228" cy="0"/>
            </a:xfrm>
            <a:prstGeom prst="line">
              <a:avLst/>
            </a:prstGeom>
            <a:ln w="28575" cap="flat" cmpd="sng">
              <a:solidFill>
                <a:schemeClr val="tx1"/>
              </a:solidFill>
              <a:prstDash val="solid"/>
              <a:round/>
              <a:headEnd type="none" w="med" len="med"/>
              <a:tailEnd type="none" w="med" len="med"/>
            </a:ln>
          </p:spPr>
        </p:sp>
        <p:sp>
          <p:nvSpPr>
            <p:cNvPr id="45159" name="Text Box 106"/>
            <p:cNvSpPr txBox="1"/>
            <p:nvPr/>
          </p:nvSpPr>
          <p:spPr>
            <a:xfrm>
              <a:off x="1610" y="3702"/>
              <a:ext cx="24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I</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45160" name="Text Box 107"/>
            <p:cNvSpPr txBox="1"/>
            <p:nvPr/>
          </p:nvSpPr>
          <p:spPr>
            <a:xfrm>
              <a:off x="2581" y="3713"/>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O</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4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42340"/>
                                        </p:tgtEl>
                                        <p:attrNameLst>
                                          <p:attrName>style.visibility</p:attrName>
                                        </p:attrNameLst>
                                      </p:cBhvr>
                                      <p:to>
                                        <p:strVal val="visible"/>
                                      </p:to>
                                    </p:set>
                                    <p:animEffect transition="in" filter="wipe(left)">
                                      <p:cBhvr>
                                        <p:cTn id="11" dur="500"/>
                                        <p:tgtEl>
                                          <p:spTgt spid="14234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2356"/>
                                        </p:tgtEl>
                                        <p:attrNameLst>
                                          <p:attrName>style.visibility</p:attrName>
                                        </p:attrNameLst>
                                      </p:cBhvr>
                                      <p:to>
                                        <p:strVal val="visible"/>
                                      </p:to>
                                    </p:set>
                                    <p:animEffect transition="in" filter="wipe(left)">
                                      <p:cBhvr>
                                        <p:cTn id="16" dur="500"/>
                                        <p:tgtEl>
                                          <p:spTgt spid="14235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42361"/>
                                        </p:tgtEl>
                                        <p:attrNameLst>
                                          <p:attrName>style.visibility</p:attrName>
                                        </p:attrNameLst>
                                      </p:cBhvr>
                                      <p:to>
                                        <p:strVal val="visible"/>
                                      </p:to>
                                    </p:set>
                                    <p:animEffect transition="in" filter="wipe(up)">
                                      <p:cBhvr>
                                        <p:cTn id="21" dur="500"/>
                                        <p:tgtEl>
                                          <p:spTgt spid="14236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2368"/>
                                        </p:tgtEl>
                                        <p:attrNameLst>
                                          <p:attrName>style.visibility</p:attrName>
                                        </p:attrNameLst>
                                      </p:cBhvr>
                                      <p:to>
                                        <p:strVal val="visible"/>
                                      </p:to>
                                    </p:set>
                                    <p:animEffect transition="in" filter="wipe(left)">
                                      <p:cBhvr>
                                        <p:cTn id="26" dur="5000"/>
                                        <p:tgtEl>
                                          <p:spTgt spid="14236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424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2387"/>
                                        </p:tgtEl>
                                        <p:attrNameLst>
                                          <p:attrName>style.visibility</p:attrName>
                                        </p:attrNameLst>
                                      </p:cBhvr>
                                      <p:to>
                                        <p:strVal val="visible"/>
                                      </p:to>
                                    </p:set>
                                    <p:animEffect transition="in" filter="wipe(left)">
                                      <p:cBhvr>
                                        <p:cTn id="35" dur="500"/>
                                        <p:tgtEl>
                                          <p:spTgt spid="14238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42382"/>
                                        </p:tgtEl>
                                        <p:attrNameLst>
                                          <p:attrName>style.visibility</p:attrName>
                                        </p:attrNameLst>
                                      </p:cBhvr>
                                      <p:to>
                                        <p:strVal val="visible"/>
                                      </p:to>
                                    </p:set>
                                    <p:animEffect transition="in" filter="wipe(left)">
                                      <p:cBhvr>
                                        <p:cTn id="40" dur="500"/>
                                        <p:tgtEl>
                                          <p:spTgt spid="14238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42405"/>
                                        </p:tgtEl>
                                        <p:attrNameLst>
                                          <p:attrName>style.visibility</p:attrName>
                                        </p:attrNameLst>
                                      </p:cBhvr>
                                      <p:to>
                                        <p:strVal val="visible"/>
                                      </p:to>
                                    </p:set>
                                    <p:animEffect transition="in" filter="wipe(up)">
                                      <p:cBhvr>
                                        <p:cTn id="45" dur="500"/>
                                        <p:tgtEl>
                                          <p:spTgt spid="14240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2412"/>
                                        </p:tgtEl>
                                        <p:attrNameLst>
                                          <p:attrName>style.visibility</p:attrName>
                                        </p:attrNameLst>
                                      </p:cBhvr>
                                      <p:to>
                                        <p:strVal val="visible"/>
                                      </p:to>
                                    </p:set>
                                    <p:animEffect transition="in" filter="wipe(left)">
                                      <p:cBhvr>
                                        <p:cTn id="50" dur="5000"/>
                                        <p:tgtEl>
                                          <p:spTgt spid="14241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424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26" grpId="0"/>
      <p:bldP spid="1424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609600" y="1295400"/>
            <a:ext cx="29476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2.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波形整形与</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抗干扰</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157701" name="对象 157700"/>
          <p:cNvGraphicFramePr/>
          <p:nvPr/>
        </p:nvGraphicFramePr>
        <p:xfrm>
          <a:off x="719138" y="3725863"/>
          <a:ext cx="3454400" cy="1471612"/>
        </p:xfrm>
        <a:graphic>
          <a:graphicData uri="http://schemas.openxmlformats.org/presentationml/2006/ole">
            <mc:AlternateContent xmlns:mc="http://schemas.openxmlformats.org/markup-compatibility/2006">
              <mc:Choice xmlns:v="urn:schemas-microsoft-com:vml" Requires="v">
                <p:oleObj spid="_x0000_s3107" name="" r:id="rId1" imgW="1473200" imgH="628650" progId="Word.Picture.8">
                  <p:embed/>
                </p:oleObj>
              </mc:Choice>
              <mc:Fallback>
                <p:oleObj name="" r:id="rId1" imgW="1473200" imgH="628650" progId="Word.Picture.8">
                  <p:embed/>
                  <p:pic>
                    <p:nvPicPr>
                      <p:cNvPr id="0" name="图片 3106"/>
                      <p:cNvPicPr/>
                      <p:nvPr/>
                    </p:nvPicPr>
                    <p:blipFill>
                      <a:blip r:embed="rId2"/>
                      <a:stretch>
                        <a:fillRect/>
                      </a:stretch>
                    </p:blipFill>
                    <p:spPr>
                      <a:xfrm>
                        <a:off x="719138" y="3725863"/>
                        <a:ext cx="3454400" cy="1471612"/>
                      </a:xfrm>
                      <a:prstGeom prst="rect">
                        <a:avLst/>
                      </a:prstGeom>
                      <a:noFill/>
                      <a:ln w="38100">
                        <a:noFill/>
                        <a:miter/>
                      </a:ln>
                    </p:spPr>
                  </p:pic>
                </p:oleObj>
              </mc:Fallback>
            </mc:AlternateContent>
          </a:graphicData>
        </a:graphic>
      </p:graphicFrame>
      <p:graphicFrame>
        <p:nvGraphicFramePr>
          <p:cNvPr id="157700" name="对象 157699"/>
          <p:cNvGraphicFramePr/>
          <p:nvPr/>
        </p:nvGraphicFramePr>
        <p:xfrm>
          <a:off x="5001578" y="4274979"/>
          <a:ext cx="3616960" cy="2816225"/>
        </p:xfrm>
        <a:graphic>
          <a:graphicData uri="http://schemas.openxmlformats.org/presentationml/2006/ole">
            <mc:AlternateContent xmlns:mc="http://schemas.openxmlformats.org/markup-compatibility/2006">
              <mc:Choice xmlns:v="urn:schemas-microsoft-com:vml" Requires="v">
                <p:oleObj spid="_x0000_s3104" name="" r:id="rId3" imgW="1514475" imgH="1181100" progId="Word.Picture.8">
                  <p:embed/>
                </p:oleObj>
              </mc:Choice>
              <mc:Fallback>
                <p:oleObj name="" r:id="rId3" imgW="1514475" imgH="1181100" progId="Word.Picture.8">
                  <p:embed/>
                  <p:pic>
                    <p:nvPicPr>
                      <p:cNvPr id="0" name="图片 3103"/>
                      <p:cNvPicPr/>
                      <p:nvPr/>
                    </p:nvPicPr>
                    <p:blipFill>
                      <a:blip r:embed="rId4"/>
                      <a:stretch>
                        <a:fillRect/>
                      </a:stretch>
                    </p:blipFill>
                    <p:spPr>
                      <a:xfrm>
                        <a:off x="5001578" y="4274979"/>
                        <a:ext cx="3616960" cy="2816225"/>
                      </a:xfrm>
                      <a:prstGeom prst="rect">
                        <a:avLst/>
                      </a:prstGeom>
                      <a:noFill/>
                      <a:ln w="38100">
                        <a:noFill/>
                        <a:miter/>
                      </a:ln>
                    </p:spPr>
                  </p:pic>
                </p:oleObj>
              </mc:Fallback>
            </mc:AlternateContent>
          </a:graphicData>
        </a:graphic>
      </p:graphicFrame>
      <p:sp>
        <p:nvSpPr>
          <p:cNvPr id="157703" name="矩形 157702"/>
          <p:cNvSpPr/>
          <p:nvPr/>
        </p:nvSpPr>
        <p:spPr>
          <a:xfrm>
            <a:off x="4397375" y="5759450"/>
            <a:ext cx="501650" cy="244475"/>
          </a:xfrm>
          <a:prstGeom prst="rect">
            <a:avLst/>
          </a:prstGeom>
          <a:noFill/>
          <a:ln w="9525">
            <a:noFill/>
          </a:ln>
        </p:spPr>
        <p:txBody>
          <a:bodyPr wrap="none" anchor="ctr" anchorCtr="0">
            <a:spAutoFit/>
          </a:bodyPr>
          <a:p>
            <a:pPr algn="ctr">
              <a:buNone/>
            </a:pPr>
            <a:r>
              <a:rPr lang="en-US" altLang="zh-CN" sz="1000" dirty="0">
                <a:latin typeface="Times New Roman" panose="02020603050405020304" charset="0"/>
                <a:ea typeface="华康简宋" charset="-122"/>
              </a:rPr>
              <a:t>          </a:t>
            </a:r>
            <a:endParaRPr lang="en-US" altLang="zh-CN" sz="2400" dirty="0">
              <a:latin typeface="Times New Roman" panose="02020603050405020304" charset="0"/>
              <a:ea typeface="华康简宋" charset="-122"/>
            </a:endParaRPr>
          </a:p>
        </p:txBody>
      </p:sp>
      <p:sp>
        <p:nvSpPr>
          <p:cNvPr id="157704" name="矩形 157703"/>
          <p:cNvSpPr/>
          <p:nvPr/>
        </p:nvSpPr>
        <p:spPr>
          <a:xfrm>
            <a:off x="914718" y="2205990"/>
            <a:ext cx="2967037" cy="427038"/>
          </a:xfrm>
          <a:prstGeom prst="rect">
            <a:avLst/>
          </a:prstGeom>
          <a:solidFill>
            <a:srgbClr val="FFFFFF">
              <a:alpha val="6000"/>
            </a:srgbClr>
          </a:solidFill>
          <a:ln w="38100">
            <a:noFill/>
          </a:ln>
        </p:spPr>
        <p:txBody>
          <a:bodyPr anchor="ctr" anchorCtr="0">
            <a:spAutoFit/>
          </a:bodyPr>
          <a:p>
            <a:r>
              <a:rPr lang="zh-CN" altLang="en-US" sz="2200" b="1" dirty="0">
                <a:solidFill>
                  <a:srgbClr val="000066"/>
                </a:solidFill>
                <a:latin typeface="Times New Roman" panose="02020603050405020304" charset="0"/>
                <a:ea typeface="楷体" panose="02010609060101010101" charset="-122"/>
                <a:cs typeface="Times New Roman" panose="02020603050405020304" charset="0"/>
              </a:rPr>
              <a:t>传输线上电容较大 </a:t>
            </a:r>
            <a:endParaRPr lang="zh-CN" altLang="en-US" sz="22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57705" name="矩形 157704"/>
          <p:cNvSpPr/>
          <p:nvPr/>
        </p:nvSpPr>
        <p:spPr>
          <a:xfrm>
            <a:off x="5233988" y="2171700"/>
            <a:ext cx="3198812" cy="768350"/>
          </a:xfrm>
          <a:prstGeom prst="rect">
            <a:avLst/>
          </a:prstGeom>
          <a:solidFill>
            <a:srgbClr val="FFFFFF">
              <a:alpha val="6000"/>
            </a:srgbClr>
          </a:solidFill>
          <a:ln w="38100">
            <a:noFill/>
          </a:ln>
        </p:spPr>
        <p:txBody>
          <a:bodyPr anchor="ctr" anchorCtr="0">
            <a:spAutoFit/>
          </a:bodyPr>
          <a:p>
            <a:r>
              <a:rPr lang="zh-CN" altLang="en-US" sz="2200" b="1" dirty="0">
                <a:solidFill>
                  <a:srgbClr val="000066"/>
                </a:solidFill>
                <a:latin typeface="Times New Roman" panose="02020603050405020304" charset="0"/>
                <a:ea typeface="楷体" panose="02010609060101010101" charset="-122"/>
              </a:rPr>
              <a:t>传输线长，接收端的阻抗与传输线阻抗不匹配</a:t>
            </a:r>
            <a:endParaRPr lang="zh-CN" altLang="en-US" sz="2200" b="1" dirty="0">
              <a:solidFill>
                <a:srgbClr val="000066"/>
              </a:solidFill>
              <a:latin typeface="Times New Roman" panose="02020603050405020304" charset="0"/>
              <a:ea typeface="楷体" panose="02010609060101010101" charset="-122"/>
            </a:endParaRPr>
          </a:p>
        </p:txBody>
      </p:sp>
      <p:graphicFrame>
        <p:nvGraphicFramePr>
          <p:cNvPr id="157706" name="对象 157705"/>
          <p:cNvGraphicFramePr/>
          <p:nvPr/>
        </p:nvGraphicFramePr>
        <p:xfrm>
          <a:off x="720725" y="3092450"/>
          <a:ext cx="3454400" cy="3790950"/>
        </p:xfrm>
        <a:graphic>
          <a:graphicData uri="http://schemas.openxmlformats.org/presentationml/2006/ole">
            <mc:AlternateContent xmlns:mc="http://schemas.openxmlformats.org/markup-compatibility/2006">
              <mc:Choice xmlns:v="urn:schemas-microsoft-com:vml" Requires="v">
                <p:oleObj spid="_x0000_s3106" name="" r:id="rId5" imgW="1478280" imgH="1621790" progId="Word.Picture.8">
                  <p:embed/>
                </p:oleObj>
              </mc:Choice>
              <mc:Fallback>
                <p:oleObj name="" r:id="rId5" imgW="1478280" imgH="1621790" progId="Word.Picture.8">
                  <p:embed/>
                  <p:pic>
                    <p:nvPicPr>
                      <p:cNvPr id="0" name="图片 3105"/>
                      <p:cNvPicPr/>
                      <p:nvPr/>
                    </p:nvPicPr>
                    <p:blipFill>
                      <a:blip r:embed="rId6"/>
                      <a:stretch>
                        <a:fillRect/>
                      </a:stretch>
                    </p:blipFill>
                    <p:spPr>
                      <a:xfrm>
                        <a:off x="720725" y="3092450"/>
                        <a:ext cx="3454400" cy="3790950"/>
                      </a:xfrm>
                      <a:prstGeom prst="rect">
                        <a:avLst/>
                      </a:prstGeom>
                      <a:noFill/>
                      <a:ln w="38100">
                        <a:noFill/>
                        <a:miter/>
                      </a:ln>
                    </p:spPr>
                  </p:pic>
                </p:oleObj>
              </mc:Fallback>
            </mc:AlternateContent>
          </a:graphicData>
        </a:graphic>
      </p:graphicFrame>
      <p:graphicFrame>
        <p:nvGraphicFramePr>
          <p:cNvPr id="157707" name="对象 157706"/>
          <p:cNvGraphicFramePr/>
          <p:nvPr/>
        </p:nvGraphicFramePr>
        <p:xfrm>
          <a:off x="1281113" y="2908300"/>
          <a:ext cx="2005012" cy="803275"/>
        </p:xfrm>
        <a:graphic>
          <a:graphicData uri="http://schemas.openxmlformats.org/presentationml/2006/ole">
            <mc:AlternateContent xmlns:mc="http://schemas.openxmlformats.org/markup-compatibility/2006">
              <mc:Choice xmlns:v="urn:schemas-microsoft-com:vml" Requires="v">
                <p:oleObj spid="_x0000_s3109" name="" r:id="rId7" imgW="856615" imgH="343535" progId="Word.Picture.8">
                  <p:embed/>
                </p:oleObj>
              </mc:Choice>
              <mc:Fallback>
                <p:oleObj name="" r:id="rId7" imgW="856615" imgH="343535" progId="Word.Picture.8">
                  <p:embed/>
                  <p:pic>
                    <p:nvPicPr>
                      <p:cNvPr id="0" name="图片 3108"/>
                      <p:cNvPicPr/>
                      <p:nvPr/>
                    </p:nvPicPr>
                    <p:blipFill>
                      <a:blip r:embed="rId8"/>
                      <a:stretch>
                        <a:fillRect/>
                      </a:stretch>
                    </p:blipFill>
                    <p:spPr>
                      <a:xfrm>
                        <a:off x="1281113" y="2908300"/>
                        <a:ext cx="2005012" cy="803275"/>
                      </a:xfrm>
                      <a:prstGeom prst="rect">
                        <a:avLst/>
                      </a:prstGeom>
                      <a:noFill/>
                      <a:ln w="38100">
                        <a:noFill/>
                        <a:miter/>
                      </a:ln>
                    </p:spPr>
                  </p:pic>
                </p:oleObj>
              </mc:Fallback>
            </mc:AlternateContent>
          </a:graphicData>
        </a:graphic>
      </p:graphicFrame>
      <p:graphicFrame>
        <p:nvGraphicFramePr>
          <p:cNvPr id="157708" name="对象 157707"/>
          <p:cNvGraphicFramePr/>
          <p:nvPr/>
        </p:nvGraphicFramePr>
        <p:xfrm>
          <a:off x="5019516" y="3779997"/>
          <a:ext cx="3603625" cy="3311525"/>
        </p:xfrm>
        <a:graphic>
          <a:graphicData uri="http://schemas.openxmlformats.org/presentationml/2006/ole">
            <mc:AlternateContent xmlns:mc="http://schemas.openxmlformats.org/markup-compatibility/2006">
              <mc:Choice xmlns:v="urn:schemas-microsoft-com:vml" Requires="v">
                <p:oleObj spid="_x0000_s3112" name="" r:id="rId9" imgW="1514475" imgH="1390650" progId="Word.Picture.8">
                  <p:embed/>
                </p:oleObj>
              </mc:Choice>
              <mc:Fallback>
                <p:oleObj name="" r:id="rId9" imgW="1514475" imgH="1390650" progId="Word.Picture.8">
                  <p:embed/>
                  <p:pic>
                    <p:nvPicPr>
                      <p:cNvPr id="0" name="图片 3111"/>
                      <p:cNvPicPr/>
                      <p:nvPr/>
                    </p:nvPicPr>
                    <p:blipFill>
                      <a:blip r:embed="rId10"/>
                      <a:stretch>
                        <a:fillRect/>
                      </a:stretch>
                    </p:blipFill>
                    <p:spPr>
                      <a:xfrm>
                        <a:off x="5019516" y="3779997"/>
                        <a:ext cx="3603625" cy="3311525"/>
                      </a:xfrm>
                      <a:prstGeom prst="rect">
                        <a:avLst/>
                      </a:prstGeom>
                      <a:noFill/>
                      <a:ln w="38100">
                        <a:noFill/>
                        <a:miter/>
                      </a:ln>
                    </p:spPr>
                  </p:pic>
                </p:oleObj>
              </mc:Fallback>
            </mc:AlternateContent>
          </a:graphicData>
        </a:graphic>
      </p:graphicFrame>
      <p:graphicFrame>
        <p:nvGraphicFramePr>
          <p:cNvPr id="157711" name="对象 157710"/>
          <p:cNvGraphicFramePr/>
          <p:nvPr/>
        </p:nvGraphicFramePr>
        <p:xfrm>
          <a:off x="5592763" y="2922588"/>
          <a:ext cx="2005012" cy="803275"/>
        </p:xfrm>
        <a:graphic>
          <a:graphicData uri="http://schemas.openxmlformats.org/presentationml/2006/ole">
            <mc:AlternateContent xmlns:mc="http://schemas.openxmlformats.org/markup-compatibility/2006">
              <mc:Choice xmlns:v="urn:schemas-microsoft-com:vml" Requires="v">
                <p:oleObj spid="_x0000_s3113" name="" r:id="rId11" imgW="856615" imgH="343535" progId="Word.Picture.8">
                  <p:embed/>
                </p:oleObj>
              </mc:Choice>
              <mc:Fallback>
                <p:oleObj name="" r:id="rId11" imgW="856615" imgH="343535" progId="Word.Picture.8">
                  <p:embed/>
                  <p:pic>
                    <p:nvPicPr>
                      <p:cNvPr id="0" name="图片 3112"/>
                      <p:cNvPicPr/>
                      <p:nvPr/>
                    </p:nvPicPr>
                    <p:blipFill>
                      <a:blip r:embed="rId8"/>
                      <a:stretch>
                        <a:fillRect/>
                      </a:stretch>
                    </p:blipFill>
                    <p:spPr>
                      <a:xfrm>
                        <a:off x="5592763" y="2922588"/>
                        <a:ext cx="2005012" cy="8032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7704"/>
                                        </p:tgtEl>
                                        <p:attrNameLst>
                                          <p:attrName>style.visibility</p:attrName>
                                        </p:attrNameLst>
                                      </p:cBhvr>
                                      <p:to>
                                        <p:strVal val="visible"/>
                                      </p:to>
                                    </p:set>
                                    <p:animEffect transition="in" filter="slide(fromBottom)">
                                      <p:cBhvr>
                                        <p:cTn id="7" dur="500"/>
                                        <p:tgtEl>
                                          <p:spTgt spid="1577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7701"/>
                                        </p:tgtEl>
                                        <p:attrNameLst>
                                          <p:attrName>style.visibility</p:attrName>
                                        </p:attrNameLst>
                                      </p:cBhvr>
                                      <p:to>
                                        <p:strVal val="visible"/>
                                      </p:to>
                                    </p:set>
                                    <p:animEffect transition="in" filter="wipe(left)">
                                      <p:cBhvr>
                                        <p:cTn id="12" dur="500"/>
                                        <p:tgtEl>
                                          <p:spTgt spid="1577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7707"/>
                                        </p:tgtEl>
                                        <p:attrNameLst>
                                          <p:attrName>style.visibility</p:attrName>
                                        </p:attrNameLst>
                                      </p:cBhvr>
                                      <p:to>
                                        <p:strVal val="visible"/>
                                      </p:to>
                                    </p:set>
                                    <p:animEffect transition="in" filter="wipe(left)">
                                      <p:cBhvr>
                                        <p:cTn id="17" dur="500"/>
                                        <p:tgtEl>
                                          <p:spTgt spid="1577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7706"/>
                                        </p:tgtEl>
                                        <p:attrNameLst>
                                          <p:attrName>style.visibility</p:attrName>
                                        </p:attrNameLst>
                                      </p:cBhvr>
                                      <p:to>
                                        <p:strVal val="visible"/>
                                      </p:to>
                                    </p:set>
                                    <p:animEffect transition="in" filter="wipe(left)">
                                      <p:cBhvr>
                                        <p:cTn id="22" dur="500"/>
                                        <p:tgtEl>
                                          <p:spTgt spid="15770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57705"/>
                                        </p:tgtEl>
                                        <p:attrNameLst>
                                          <p:attrName>style.visibility</p:attrName>
                                        </p:attrNameLst>
                                      </p:cBhvr>
                                      <p:to>
                                        <p:strVal val="visible"/>
                                      </p:to>
                                    </p:set>
                                    <p:animEffect transition="in" filter="slide(fromBottom)">
                                      <p:cBhvr>
                                        <p:cTn id="27" dur="500"/>
                                        <p:tgtEl>
                                          <p:spTgt spid="1577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7708"/>
                                        </p:tgtEl>
                                        <p:attrNameLst>
                                          <p:attrName>style.visibility</p:attrName>
                                        </p:attrNameLst>
                                      </p:cBhvr>
                                      <p:to>
                                        <p:strVal val="visible"/>
                                      </p:to>
                                    </p:set>
                                    <p:animEffect transition="in" filter="wipe(left)">
                                      <p:cBhvr>
                                        <p:cTn id="32" dur="500"/>
                                        <p:tgtEl>
                                          <p:spTgt spid="1577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7711"/>
                                        </p:tgtEl>
                                        <p:attrNameLst>
                                          <p:attrName>style.visibility</p:attrName>
                                        </p:attrNameLst>
                                      </p:cBhvr>
                                      <p:to>
                                        <p:strVal val="visible"/>
                                      </p:to>
                                    </p:set>
                                    <p:animEffect transition="in" filter="wipe(left)">
                                      <p:cBhvr>
                                        <p:cTn id="37" dur="500"/>
                                        <p:tgtEl>
                                          <p:spTgt spid="1577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7700"/>
                                        </p:tgtEl>
                                        <p:attrNameLst>
                                          <p:attrName>style.visibility</p:attrName>
                                        </p:attrNameLst>
                                      </p:cBhvr>
                                      <p:to>
                                        <p:strVal val="visible"/>
                                      </p:to>
                                    </p:set>
                                    <p:animEffect transition="in" filter="wipe(left)">
                                      <p:cBhvr>
                                        <p:cTn id="42" dur="500"/>
                                        <p:tgtEl>
                                          <p:spTgt spid="157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4" grpId="0" bldLvl="0" animBg="1"/>
      <p:bldP spid="157705"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5" name="Group 3"/>
          <p:cNvGrpSpPr/>
          <p:nvPr/>
        </p:nvGrpSpPr>
        <p:grpSpPr>
          <a:xfrm>
            <a:off x="762000" y="2047875"/>
            <a:ext cx="3595688" cy="3967163"/>
            <a:chOff x="480" y="595"/>
            <a:chExt cx="2265" cy="2499"/>
          </a:xfrm>
        </p:grpSpPr>
        <p:grpSp>
          <p:nvGrpSpPr>
            <p:cNvPr id="6" name="Group 4"/>
            <p:cNvGrpSpPr/>
            <p:nvPr/>
          </p:nvGrpSpPr>
          <p:grpSpPr>
            <a:xfrm>
              <a:off x="480" y="595"/>
              <a:ext cx="2265" cy="2499"/>
              <a:chOff x="480" y="883"/>
              <a:chExt cx="2265" cy="2499"/>
            </a:xfrm>
          </p:grpSpPr>
          <p:grpSp>
            <p:nvGrpSpPr>
              <p:cNvPr id="8" name="Group 5"/>
              <p:cNvGrpSpPr/>
              <p:nvPr/>
            </p:nvGrpSpPr>
            <p:grpSpPr>
              <a:xfrm>
                <a:off x="480" y="883"/>
                <a:ext cx="2265" cy="1155"/>
                <a:chOff x="375" y="861"/>
                <a:chExt cx="2265" cy="1155"/>
              </a:xfrm>
            </p:grpSpPr>
            <p:sp>
              <p:nvSpPr>
                <p:cNvPr id="9" name="Line 6"/>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11" name="Line 7"/>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12" name="Text Box 8"/>
                <p:cNvSpPr txBox="1"/>
                <p:nvPr/>
              </p:nvSpPr>
              <p:spPr>
                <a:xfrm>
                  <a:off x="375" y="861"/>
                  <a:ext cx="249"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I</a:t>
                  </a:r>
                  <a:endParaRPr lang="en-US" altLang="zh-CN" sz="2400" b="1" baseline="-25000" dirty="0">
                    <a:latin typeface="Times New Roman" panose="02020603050405020304" charset="0"/>
                    <a:ea typeface="宋体" panose="02010600030101010101" pitchFamily="2" charset="-122"/>
                  </a:endParaRPr>
                </a:p>
              </p:txBody>
            </p:sp>
            <p:sp>
              <p:nvSpPr>
                <p:cNvPr id="13" name="Text Box 9"/>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nvGrpSpPr>
              <p:cNvPr id="14" name="Group 10"/>
              <p:cNvGrpSpPr/>
              <p:nvPr/>
            </p:nvGrpSpPr>
            <p:grpSpPr>
              <a:xfrm>
                <a:off x="480" y="2227"/>
                <a:ext cx="2265" cy="1155"/>
                <a:chOff x="375" y="861"/>
                <a:chExt cx="2265" cy="1155"/>
              </a:xfrm>
            </p:grpSpPr>
            <p:sp>
              <p:nvSpPr>
                <p:cNvPr id="15" name="Line 11"/>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16" name="Line 12"/>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17" name="Text Box 13"/>
                <p:cNvSpPr txBox="1"/>
                <p:nvPr/>
              </p:nvSpPr>
              <p:spPr>
                <a:xfrm>
                  <a:off x="375" y="861"/>
                  <a:ext cx="299"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sp>
              <p:nvSpPr>
                <p:cNvPr id="18" name="Text Box 14"/>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sp>
          <p:nvSpPr>
            <p:cNvPr id="19" name="Freeform 15"/>
            <p:cNvSpPr/>
            <p:nvPr/>
          </p:nvSpPr>
          <p:spPr>
            <a:xfrm>
              <a:off x="528" y="864"/>
              <a:ext cx="2016" cy="896"/>
            </a:xfrm>
            <a:custGeom>
              <a:avLst/>
              <a:gdLst/>
              <a:ahLst/>
              <a:cxnLst>
                <a:cxn ang="0">
                  <a:pos x="0" y="896"/>
                </a:cxn>
                <a:cxn ang="0">
                  <a:pos x="288" y="272"/>
                </a:cxn>
                <a:cxn ang="0">
                  <a:pos x="480" y="368"/>
                </a:cxn>
                <a:cxn ang="0">
                  <a:pos x="672" y="80"/>
                </a:cxn>
                <a:cxn ang="0">
                  <a:pos x="816" y="224"/>
                </a:cxn>
                <a:cxn ang="0">
                  <a:pos x="912" y="128"/>
                </a:cxn>
                <a:cxn ang="0">
                  <a:pos x="1104" y="464"/>
                </a:cxn>
                <a:cxn ang="0">
                  <a:pos x="1248" y="272"/>
                </a:cxn>
                <a:cxn ang="0">
                  <a:pos x="1392" y="416"/>
                </a:cxn>
                <a:cxn ang="0">
                  <a:pos x="1584" y="80"/>
                </a:cxn>
                <a:cxn ang="0">
                  <a:pos x="2016" y="896"/>
                </a:cxn>
              </a:cxnLst>
              <a:pathLst>
                <a:path w="2016" h="896">
                  <a:moveTo>
                    <a:pt x="0" y="896"/>
                  </a:moveTo>
                  <a:cubicBezTo>
                    <a:pt x="104" y="628"/>
                    <a:pt x="208" y="360"/>
                    <a:pt x="288" y="272"/>
                  </a:cubicBezTo>
                  <a:cubicBezTo>
                    <a:pt x="368" y="184"/>
                    <a:pt x="416" y="400"/>
                    <a:pt x="480" y="368"/>
                  </a:cubicBezTo>
                  <a:cubicBezTo>
                    <a:pt x="544" y="336"/>
                    <a:pt x="616" y="104"/>
                    <a:pt x="672" y="80"/>
                  </a:cubicBezTo>
                  <a:cubicBezTo>
                    <a:pt x="728" y="56"/>
                    <a:pt x="776" y="216"/>
                    <a:pt x="816" y="224"/>
                  </a:cubicBezTo>
                  <a:cubicBezTo>
                    <a:pt x="856" y="232"/>
                    <a:pt x="864" y="88"/>
                    <a:pt x="912" y="128"/>
                  </a:cubicBezTo>
                  <a:cubicBezTo>
                    <a:pt x="960" y="168"/>
                    <a:pt x="1048" y="440"/>
                    <a:pt x="1104" y="464"/>
                  </a:cubicBezTo>
                  <a:cubicBezTo>
                    <a:pt x="1160" y="488"/>
                    <a:pt x="1200" y="280"/>
                    <a:pt x="1248" y="272"/>
                  </a:cubicBezTo>
                  <a:cubicBezTo>
                    <a:pt x="1296" y="264"/>
                    <a:pt x="1336" y="448"/>
                    <a:pt x="1392" y="416"/>
                  </a:cubicBezTo>
                  <a:cubicBezTo>
                    <a:pt x="1448" y="384"/>
                    <a:pt x="1480" y="0"/>
                    <a:pt x="1584" y="80"/>
                  </a:cubicBezTo>
                  <a:cubicBezTo>
                    <a:pt x="1688" y="160"/>
                    <a:pt x="1896" y="744"/>
                    <a:pt x="2016" y="896"/>
                  </a:cubicBezTo>
                </a:path>
              </a:pathLst>
            </a:custGeom>
            <a:noFill/>
            <a:ln w="28575" cap="flat" cmpd="sng">
              <a:solidFill>
                <a:schemeClr val="tx1"/>
              </a:solidFill>
              <a:prstDash val="solid"/>
              <a:round/>
              <a:headEnd type="none" w="med" len="med"/>
              <a:tailEnd type="none" w="med" len="med"/>
            </a:ln>
          </p:spPr>
          <p:txBody>
            <a:bodyPr/>
            <a:p>
              <a:endParaRPr lang="zh-CN" altLang="en-US"/>
            </a:p>
          </p:txBody>
        </p:sp>
      </p:grpSp>
      <p:grpSp>
        <p:nvGrpSpPr>
          <p:cNvPr id="20" name="Group 16"/>
          <p:cNvGrpSpPr/>
          <p:nvPr/>
        </p:nvGrpSpPr>
        <p:grpSpPr>
          <a:xfrm>
            <a:off x="152400" y="2444750"/>
            <a:ext cx="3976688" cy="908050"/>
            <a:chOff x="96" y="1248"/>
            <a:chExt cx="2505" cy="676"/>
          </a:xfrm>
        </p:grpSpPr>
        <p:sp>
          <p:nvSpPr>
            <p:cNvPr id="21" name="Line 17"/>
            <p:cNvSpPr/>
            <p:nvPr/>
          </p:nvSpPr>
          <p:spPr>
            <a:xfrm>
              <a:off x="489" y="1414"/>
              <a:ext cx="2064" cy="0"/>
            </a:xfrm>
            <a:prstGeom prst="line">
              <a:avLst/>
            </a:prstGeom>
            <a:ln w="12700" cap="flat" cmpd="sng">
              <a:solidFill>
                <a:schemeClr val="tx1"/>
              </a:solidFill>
              <a:prstDash val="lgDash"/>
              <a:round/>
              <a:headEnd type="none" w="med" len="med"/>
              <a:tailEnd type="none" w="med" len="med"/>
            </a:ln>
          </p:spPr>
        </p:sp>
        <p:sp>
          <p:nvSpPr>
            <p:cNvPr id="22" name="Line 18"/>
            <p:cNvSpPr/>
            <p:nvPr/>
          </p:nvSpPr>
          <p:spPr>
            <a:xfrm>
              <a:off x="489" y="1750"/>
              <a:ext cx="2112" cy="0"/>
            </a:xfrm>
            <a:prstGeom prst="line">
              <a:avLst/>
            </a:prstGeom>
            <a:ln w="12700" cap="flat" cmpd="sng">
              <a:solidFill>
                <a:schemeClr val="tx1"/>
              </a:solidFill>
              <a:prstDash val="lgDash"/>
              <a:round/>
              <a:headEnd type="none" w="med" len="med"/>
              <a:tailEnd type="none" w="med" len="med"/>
            </a:ln>
          </p:spPr>
        </p:sp>
        <p:sp>
          <p:nvSpPr>
            <p:cNvPr id="23" name="Text Box 19"/>
            <p:cNvSpPr txBox="1"/>
            <p:nvPr/>
          </p:nvSpPr>
          <p:spPr>
            <a:xfrm>
              <a:off x="96" y="1248"/>
              <a:ext cx="411" cy="34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sp>
          <p:nvSpPr>
            <p:cNvPr id="24" name="Text Box 20"/>
            <p:cNvSpPr txBox="1"/>
            <p:nvPr/>
          </p:nvSpPr>
          <p:spPr>
            <a:xfrm>
              <a:off x="96" y="1584"/>
              <a:ext cx="381" cy="34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nvGrpSpPr>
          <p:cNvPr id="25" name="Group 21"/>
          <p:cNvGrpSpPr/>
          <p:nvPr/>
        </p:nvGrpSpPr>
        <p:grpSpPr>
          <a:xfrm>
            <a:off x="1828800" y="2703513"/>
            <a:ext cx="1828800" cy="3352800"/>
            <a:chOff x="1152" y="1296"/>
            <a:chExt cx="1152" cy="2112"/>
          </a:xfrm>
        </p:grpSpPr>
        <p:sp>
          <p:nvSpPr>
            <p:cNvPr id="26" name="Line 22"/>
            <p:cNvSpPr/>
            <p:nvPr/>
          </p:nvSpPr>
          <p:spPr>
            <a:xfrm>
              <a:off x="1152" y="1296"/>
              <a:ext cx="0" cy="2112"/>
            </a:xfrm>
            <a:prstGeom prst="line">
              <a:avLst/>
            </a:prstGeom>
            <a:ln w="12700" cap="flat" cmpd="sng">
              <a:solidFill>
                <a:schemeClr val="tx1"/>
              </a:solidFill>
              <a:prstDash val="lgDash"/>
              <a:round/>
              <a:headEnd type="none" w="med" len="med"/>
              <a:tailEnd type="none" w="med" len="med"/>
            </a:ln>
          </p:spPr>
        </p:sp>
        <p:sp>
          <p:nvSpPr>
            <p:cNvPr id="27" name="Line 23"/>
            <p:cNvSpPr/>
            <p:nvPr/>
          </p:nvSpPr>
          <p:spPr>
            <a:xfrm>
              <a:off x="1584" y="1584"/>
              <a:ext cx="0" cy="1824"/>
            </a:xfrm>
            <a:prstGeom prst="line">
              <a:avLst/>
            </a:prstGeom>
            <a:ln w="12700" cap="flat" cmpd="sng">
              <a:solidFill>
                <a:schemeClr val="tx1"/>
              </a:solidFill>
              <a:prstDash val="lgDash"/>
              <a:round/>
              <a:headEnd type="none" w="med" len="med"/>
              <a:tailEnd type="none" w="med" len="med"/>
            </a:ln>
          </p:spPr>
        </p:sp>
        <p:sp>
          <p:nvSpPr>
            <p:cNvPr id="28" name="Line 24"/>
            <p:cNvSpPr/>
            <p:nvPr/>
          </p:nvSpPr>
          <p:spPr>
            <a:xfrm>
              <a:off x="2016" y="1296"/>
              <a:ext cx="0" cy="2112"/>
            </a:xfrm>
            <a:prstGeom prst="line">
              <a:avLst/>
            </a:prstGeom>
            <a:ln w="12700" cap="flat" cmpd="sng">
              <a:solidFill>
                <a:schemeClr val="tx1"/>
              </a:solidFill>
              <a:prstDash val="lgDash"/>
              <a:round/>
              <a:headEnd type="none" w="med" len="med"/>
              <a:tailEnd type="none" w="med" len="med"/>
            </a:ln>
          </p:spPr>
        </p:sp>
        <p:sp>
          <p:nvSpPr>
            <p:cNvPr id="29" name="Line 25"/>
            <p:cNvSpPr/>
            <p:nvPr/>
          </p:nvSpPr>
          <p:spPr>
            <a:xfrm>
              <a:off x="2304" y="1584"/>
              <a:ext cx="0" cy="1824"/>
            </a:xfrm>
            <a:prstGeom prst="line">
              <a:avLst/>
            </a:prstGeom>
            <a:ln w="12700" cap="flat" cmpd="sng">
              <a:solidFill>
                <a:schemeClr val="tx1"/>
              </a:solidFill>
              <a:prstDash val="lgDash"/>
              <a:round/>
              <a:headEnd type="none" w="med" len="med"/>
              <a:tailEnd type="none" w="med" len="med"/>
            </a:ln>
          </p:spPr>
        </p:sp>
      </p:grpSp>
      <p:grpSp>
        <p:nvGrpSpPr>
          <p:cNvPr id="30" name="Group 26"/>
          <p:cNvGrpSpPr/>
          <p:nvPr/>
        </p:nvGrpSpPr>
        <p:grpSpPr>
          <a:xfrm>
            <a:off x="838200" y="4989513"/>
            <a:ext cx="3200400" cy="990600"/>
            <a:chOff x="528" y="2736"/>
            <a:chExt cx="2016" cy="624"/>
          </a:xfrm>
        </p:grpSpPr>
        <p:sp>
          <p:nvSpPr>
            <p:cNvPr id="31" name="Line 27"/>
            <p:cNvSpPr/>
            <p:nvPr/>
          </p:nvSpPr>
          <p:spPr>
            <a:xfrm>
              <a:off x="528" y="3360"/>
              <a:ext cx="624" cy="0"/>
            </a:xfrm>
            <a:prstGeom prst="line">
              <a:avLst/>
            </a:prstGeom>
            <a:ln w="57150" cap="flat" cmpd="sng">
              <a:solidFill>
                <a:srgbClr val="0033CC"/>
              </a:solidFill>
              <a:prstDash val="solid"/>
              <a:round/>
              <a:headEnd type="none" w="med" len="med"/>
              <a:tailEnd type="none" w="med" len="med"/>
            </a:ln>
          </p:spPr>
        </p:sp>
        <p:sp>
          <p:nvSpPr>
            <p:cNvPr id="32" name="Line 28"/>
            <p:cNvSpPr/>
            <p:nvPr/>
          </p:nvSpPr>
          <p:spPr>
            <a:xfrm flipV="1">
              <a:off x="1152" y="2736"/>
              <a:ext cx="0" cy="624"/>
            </a:xfrm>
            <a:prstGeom prst="line">
              <a:avLst/>
            </a:prstGeom>
            <a:ln w="57150" cap="flat" cmpd="sng">
              <a:solidFill>
                <a:srgbClr val="0033CC"/>
              </a:solidFill>
              <a:prstDash val="solid"/>
              <a:round/>
              <a:headEnd type="none" w="med" len="med"/>
              <a:tailEnd type="none" w="med" len="med"/>
            </a:ln>
          </p:spPr>
        </p:sp>
        <p:sp>
          <p:nvSpPr>
            <p:cNvPr id="33" name="Line 29"/>
            <p:cNvSpPr/>
            <p:nvPr/>
          </p:nvSpPr>
          <p:spPr>
            <a:xfrm>
              <a:off x="1152" y="2736"/>
              <a:ext cx="432" cy="0"/>
            </a:xfrm>
            <a:prstGeom prst="line">
              <a:avLst/>
            </a:prstGeom>
            <a:ln w="57150" cap="flat" cmpd="sng">
              <a:solidFill>
                <a:srgbClr val="0033CC"/>
              </a:solidFill>
              <a:prstDash val="solid"/>
              <a:round/>
              <a:headEnd type="none" w="med" len="med"/>
              <a:tailEnd type="none" w="med" len="med"/>
            </a:ln>
          </p:spPr>
        </p:sp>
        <p:sp>
          <p:nvSpPr>
            <p:cNvPr id="34" name="Line 30"/>
            <p:cNvSpPr/>
            <p:nvPr/>
          </p:nvSpPr>
          <p:spPr>
            <a:xfrm>
              <a:off x="1584" y="2736"/>
              <a:ext cx="0" cy="624"/>
            </a:xfrm>
            <a:prstGeom prst="line">
              <a:avLst/>
            </a:prstGeom>
            <a:ln w="57150" cap="flat" cmpd="sng">
              <a:solidFill>
                <a:srgbClr val="0033CC"/>
              </a:solidFill>
              <a:prstDash val="solid"/>
              <a:round/>
              <a:headEnd type="none" w="med" len="med"/>
              <a:tailEnd type="none" w="med" len="med"/>
            </a:ln>
          </p:spPr>
        </p:sp>
        <p:sp>
          <p:nvSpPr>
            <p:cNvPr id="35" name="Line 31"/>
            <p:cNvSpPr/>
            <p:nvPr/>
          </p:nvSpPr>
          <p:spPr>
            <a:xfrm>
              <a:off x="1584" y="3360"/>
              <a:ext cx="432" cy="0"/>
            </a:xfrm>
            <a:prstGeom prst="line">
              <a:avLst/>
            </a:prstGeom>
            <a:ln w="57150" cap="flat" cmpd="sng">
              <a:solidFill>
                <a:srgbClr val="0033CC"/>
              </a:solidFill>
              <a:prstDash val="solid"/>
              <a:round/>
              <a:headEnd type="none" w="med" len="med"/>
              <a:tailEnd type="none" w="med" len="med"/>
            </a:ln>
          </p:spPr>
        </p:sp>
        <p:sp>
          <p:nvSpPr>
            <p:cNvPr id="36" name="Line 32"/>
            <p:cNvSpPr/>
            <p:nvPr/>
          </p:nvSpPr>
          <p:spPr>
            <a:xfrm flipV="1">
              <a:off x="2016" y="2736"/>
              <a:ext cx="0" cy="624"/>
            </a:xfrm>
            <a:prstGeom prst="line">
              <a:avLst/>
            </a:prstGeom>
            <a:ln w="57150" cap="flat" cmpd="sng">
              <a:solidFill>
                <a:srgbClr val="0033CC"/>
              </a:solidFill>
              <a:prstDash val="solid"/>
              <a:round/>
              <a:headEnd type="none" w="med" len="med"/>
              <a:tailEnd type="none" w="med" len="med"/>
            </a:ln>
          </p:spPr>
        </p:sp>
        <p:sp>
          <p:nvSpPr>
            <p:cNvPr id="37" name="Line 33"/>
            <p:cNvSpPr/>
            <p:nvPr/>
          </p:nvSpPr>
          <p:spPr>
            <a:xfrm>
              <a:off x="2016" y="2736"/>
              <a:ext cx="288" cy="0"/>
            </a:xfrm>
            <a:prstGeom prst="line">
              <a:avLst/>
            </a:prstGeom>
            <a:ln w="57150" cap="flat" cmpd="sng">
              <a:solidFill>
                <a:srgbClr val="0033CC"/>
              </a:solidFill>
              <a:prstDash val="solid"/>
              <a:round/>
              <a:headEnd type="none" w="med" len="med"/>
              <a:tailEnd type="none" w="med" len="med"/>
            </a:ln>
          </p:spPr>
        </p:sp>
        <p:sp>
          <p:nvSpPr>
            <p:cNvPr id="38" name="Line 34"/>
            <p:cNvSpPr/>
            <p:nvPr/>
          </p:nvSpPr>
          <p:spPr>
            <a:xfrm>
              <a:off x="2304" y="2736"/>
              <a:ext cx="0" cy="624"/>
            </a:xfrm>
            <a:prstGeom prst="line">
              <a:avLst/>
            </a:prstGeom>
            <a:ln w="57150" cap="flat" cmpd="sng">
              <a:solidFill>
                <a:srgbClr val="0033CC"/>
              </a:solidFill>
              <a:prstDash val="solid"/>
              <a:round/>
              <a:headEnd type="none" w="med" len="med"/>
              <a:tailEnd type="none" w="med" len="med"/>
            </a:ln>
          </p:spPr>
        </p:sp>
        <p:sp>
          <p:nvSpPr>
            <p:cNvPr id="39" name="Line 35"/>
            <p:cNvSpPr/>
            <p:nvPr/>
          </p:nvSpPr>
          <p:spPr>
            <a:xfrm>
              <a:off x="2304" y="3360"/>
              <a:ext cx="240" cy="0"/>
            </a:xfrm>
            <a:prstGeom prst="line">
              <a:avLst/>
            </a:prstGeom>
            <a:ln w="57150" cap="flat" cmpd="sng">
              <a:solidFill>
                <a:srgbClr val="0033CC"/>
              </a:solidFill>
              <a:prstDash val="solid"/>
              <a:round/>
              <a:headEnd type="none" w="med" len="med"/>
              <a:tailEnd type="none" w="med" len="med"/>
            </a:ln>
          </p:spPr>
        </p:sp>
      </p:grpSp>
      <p:grpSp>
        <p:nvGrpSpPr>
          <p:cNvPr id="40" name="Group 36"/>
          <p:cNvGrpSpPr/>
          <p:nvPr/>
        </p:nvGrpSpPr>
        <p:grpSpPr>
          <a:xfrm>
            <a:off x="5105400" y="2047875"/>
            <a:ext cx="3595688" cy="3967163"/>
            <a:chOff x="3216" y="595"/>
            <a:chExt cx="2265" cy="2499"/>
          </a:xfrm>
        </p:grpSpPr>
        <p:grpSp>
          <p:nvGrpSpPr>
            <p:cNvPr id="41" name="Group 37"/>
            <p:cNvGrpSpPr/>
            <p:nvPr/>
          </p:nvGrpSpPr>
          <p:grpSpPr>
            <a:xfrm>
              <a:off x="3216" y="595"/>
              <a:ext cx="2265" cy="2499"/>
              <a:chOff x="480" y="883"/>
              <a:chExt cx="2265" cy="2499"/>
            </a:xfrm>
          </p:grpSpPr>
          <p:grpSp>
            <p:nvGrpSpPr>
              <p:cNvPr id="42" name="Group 38"/>
              <p:cNvGrpSpPr/>
              <p:nvPr/>
            </p:nvGrpSpPr>
            <p:grpSpPr>
              <a:xfrm>
                <a:off x="480" y="883"/>
                <a:ext cx="2265" cy="1155"/>
                <a:chOff x="375" y="861"/>
                <a:chExt cx="2265" cy="1155"/>
              </a:xfrm>
            </p:grpSpPr>
            <p:sp>
              <p:nvSpPr>
                <p:cNvPr id="43" name="Line 39"/>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44" name="Line 40"/>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45" name="Text Box 41"/>
                <p:cNvSpPr txBox="1"/>
                <p:nvPr/>
              </p:nvSpPr>
              <p:spPr>
                <a:xfrm>
                  <a:off x="375" y="861"/>
                  <a:ext cx="249"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I</a:t>
                  </a:r>
                  <a:endParaRPr lang="en-US" altLang="zh-CN" sz="2400" b="1" baseline="-25000" dirty="0">
                    <a:latin typeface="Times New Roman" panose="02020603050405020304" charset="0"/>
                    <a:ea typeface="宋体" panose="02010600030101010101" pitchFamily="2" charset="-122"/>
                  </a:endParaRPr>
                </a:p>
              </p:txBody>
            </p:sp>
            <p:sp>
              <p:nvSpPr>
                <p:cNvPr id="46" name="Text Box 42"/>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nvGrpSpPr>
              <p:cNvPr id="47" name="Group 43"/>
              <p:cNvGrpSpPr/>
              <p:nvPr/>
            </p:nvGrpSpPr>
            <p:grpSpPr>
              <a:xfrm>
                <a:off x="480" y="2227"/>
                <a:ext cx="2265" cy="1155"/>
                <a:chOff x="375" y="861"/>
                <a:chExt cx="2265" cy="1155"/>
              </a:xfrm>
            </p:grpSpPr>
            <p:sp>
              <p:nvSpPr>
                <p:cNvPr id="48" name="Line 44"/>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49" name="Line 45"/>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50" name="Text Box 46"/>
                <p:cNvSpPr txBox="1"/>
                <p:nvPr/>
              </p:nvSpPr>
              <p:spPr>
                <a:xfrm>
                  <a:off x="375" y="861"/>
                  <a:ext cx="299"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sp>
              <p:nvSpPr>
                <p:cNvPr id="51" name="Text Box 47"/>
                <p:cNvSpPr txBox="1"/>
                <p:nvPr/>
              </p:nvSpPr>
              <p:spPr>
                <a:xfrm>
                  <a:off x="2400" y="1728"/>
                  <a:ext cx="167"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sp>
          <p:nvSpPr>
            <p:cNvPr id="52" name="Freeform 48"/>
            <p:cNvSpPr/>
            <p:nvPr/>
          </p:nvSpPr>
          <p:spPr>
            <a:xfrm>
              <a:off x="3296" y="864"/>
              <a:ext cx="2016" cy="896"/>
            </a:xfrm>
            <a:custGeom>
              <a:avLst/>
              <a:gdLst/>
              <a:ahLst/>
              <a:cxnLst>
                <a:cxn ang="0">
                  <a:pos x="0" y="896"/>
                </a:cxn>
                <a:cxn ang="0">
                  <a:pos x="288" y="272"/>
                </a:cxn>
                <a:cxn ang="0">
                  <a:pos x="480" y="368"/>
                </a:cxn>
                <a:cxn ang="0">
                  <a:pos x="672" y="80"/>
                </a:cxn>
                <a:cxn ang="0">
                  <a:pos x="816" y="224"/>
                </a:cxn>
                <a:cxn ang="0">
                  <a:pos x="912" y="128"/>
                </a:cxn>
                <a:cxn ang="0">
                  <a:pos x="1104" y="464"/>
                </a:cxn>
                <a:cxn ang="0">
                  <a:pos x="1248" y="272"/>
                </a:cxn>
                <a:cxn ang="0">
                  <a:pos x="1392" y="416"/>
                </a:cxn>
                <a:cxn ang="0">
                  <a:pos x="1584" y="80"/>
                </a:cxn>
                <a:cxn ang="0">
                  <a:pos x="2016" y="896"/>
                </a:cxn>
              </a:cxnLst>
              <a:pathLst>
                <a:path w="2016" h="896">
                  <a:moveTo>
                    <a:pt x="0" y="896"/>
                  </a:moveTo>
                  <a:cubicBezTo>
                    <a:pt x="104" y="628"/>
                    <a:pt x="208" y="360"/>
                    <a:pt x="288" y="272"/>
                  </a:cubicBezTo>
                  <a:cubicBezTo>
                    <a:pt x="368" y="184"/>
                    <a:pt x="416" y="400"/>
                    <a:pt x="480" y="368"/>
                  </a:cubicBezTo>
                  <a:cubicBezTo>
                    <a:pt x="544" y="336"/>
                    <a:pt x="616" y="104"/>
                    <a:pt x="672" y="80"/>
                  </a:cubicBezTo>
                  <a:cubicBezTo>
                    <a:pt x="728" y="56"/>
                    <a:pt x="776" y="216"/>
                    <a:pt x="816" y="224"/>
                  </a:cubicBezTo>
                  <a:cubicBezTo>
                    <a:pt x="856" y="232"/>
                    <a:pt x="864" y="88"/>
                    <a:pt x="912" y="128"/>
                  </a:cubicBezTo>
                  <a:cubicBezTo>
                    <a:pt x="960" y="168"/>
                    <a:pt x="1048" y="440"/>
                    <a:pt x="1104" y="464"/>
                  </a:cubicBezTo>
                  <a:cubicBezTo>
                    <a:pt x="1160" y="488"/>
                    <a:pt x="1200" y="280"/>
                    <a:pt x="1248" y="272"/>
                  </a:cubicBezTo>
                  <a:cubicBezTo>
                    <a:pt x="1296" y="264"/>
                    <a:pt x="1336" y="448"/>
                    <a:pt x="1392" y="416"/>
                  </a:cubicBezTo>
                  <a:cubicBezTo>
                    <a:pt x="1448" y="384"/>
                    <a:pt x="1480" y="0"/>
                    <a:pt x="1584" y="80"/>
                  </a:cubicBezTo>
                  <a:cubicBezTo>
                    <a:pt x="1688" y="160"/>
                    <a:pt x="1896" y="744"/>
                    <a:pt x="2016" y="896"/>
                  </a:cubicBezTo>
                </a:path>
              </a:pathLst>
            </a:custGeom>
            <a:noFill/>
            <a:ln w="28575" cap="flat" cmpd="sng">
              <a:solidFill>
                <a:schemeClr val="tx1"/>
              </a:solidFill>
              <a:prstDash val="solid"/>
              <a:round/>
              <a:headEnd type="none" w="med" len="med"/>
              <a:tailEnd type="none" w="med" len="med"/>
            </a:ln>
          </p:spPr>
          <p:txBody>
            <a:bodyPr/>
            <a:p>
              <a:endParaRPr lang="zh-CN" altLang="en-US"/>
            </a:p>
          </p:txBody>
        </p:sp>
      </p:grpSp>
      <p:grpSp>
        <p:nvGrpSpPr>
          <p:cNvPr id="53" name="Group 49"/>
          <p:cNvGrpSpPr/>
          <p:nvPr/>
        </p:nvGrpSpPr>
        <p:grpSpPr>
          <a:xfrm>
            <a:off x="4495800" y="2474913"/>
            <a:ext cx="3976688" cy="1063625"/>
            <a:chOff x="96" y="1248"/>
            <a:chExt cx="2505" cy="590"/>
          </a:xfrm>
        </p:grpSpPr>
        <p:sp>
          <p:nvSpPr>
            <p:cNvPr id="54" name="Line 50"/>
            <p:cNvSpPr/>
            <p:nvPr/>
          </p:nvSpPr>
          <p:spPr>
            <a:xfrm>
              <a:off x="489" y="1414"/>
              <a:ext cx="2064" cy="0"/>
            </a:xfrm>
            <a:prstGeom prst="line">
              <a:avLst/>
            </a:prstGeom>
            <a:ln w="12700" cap="flat" cmpd="sng">
              <a:solidFill>
                <a:schemeClr val="tx1"/>
              </a:solidFill>
              <a:prstDash val="lgDash"/>
              <a:round/>
              <a:headEnd type="none" w="med" len="med"/>
              <a:tailEnd type="none" w="med" len="med"/>
            </a:ln>
          </p:spPr>
        </p:sp>
        <p:sp>
          <p:nvSpPr>
            <p:cNvPr id="55" name="Line 51"/>
            <p:cNvSpPr/>
            <p:nvPr/>
          </p:nvSpPr>
          <p:spPr>
            <a:xfrm>
              <a:off x="489" y="1750"/>
              <a:ext cx="2112" cy="0"/>
            </a:xfrm>
            <a:prstGeom prst="line">
              <a:avLst/>
            </a:prstGeom>
            <a:ln w="12700" cap="flat" cmpd="sng">
              <a:solidFill>
                <a:schemeClr val="tx1"/>
              </a:solidFill>
              <a:prstDash val="lgDash"/>
              <a:round/>
              <a:headEnd type="none" w="med" len="med"/>
              <a:tailEnd type="none" w="med" len="med"/>
            </a:ln>
          </p:spPr>
        </p:sp>
        <p:sp>
          <p:nvSpPr>
            <p:cNvPr id="56" name="Text Box 52"/>
            <p:cNvSpPr txBox="1"/>
            <p:nvPr/>
          </p:nvSpPr>
          <p:spPr>
            <a:xfrm>
              <a:off x="96" y="1248"/>
              <a:ext cx="411" cy="254"/>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sp>
          <p:nvSpPr>
            <p:cNvPr id="57" name="Text Box 53"/>
            <p:cNvSpPr txBox="1"/>
            <p:nvPr/>
          </p:nvSpPr>
          <p:spPr>
            <a:xfrm>
              <a:off x="96" y="1584"/>
              <a:ext cx="381" cy="254"/>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nvGrpSpPr>
          <p:cNvPr id="58" name="Group 54"/>
          <p:cNvGrpSpPr/>
          <p:nvPr/>
        </p:nvGrpSpPr>
        <p:grpSpPr>
          <a:xfrm>
            <a:off x="6172200" y="2703513"/>
            <a:ext cx="1981200" cy="3352800"/>
            <a:chOff x="3888" y="1296"/>
            <a:chExt cx="1248" cy="2112"/>
          </a:xfrm>
        </p:grpSpPr>
        <p:sp>
          <p:nvSpPr>
            <p:cNvPr id="59" name="Line 55"/>
            <p:cNvSpPr/>
            <p:nvPr/>
          </p:nvSpPr>
          <p:spPr>
            <a:xfrm>
              <a:off x="3888" y="1296"/>
              <a:ext cx="0" cy="2112"/>
            </a:xfrm>
            <a:prstGeom prst="line">
              <a:avLst/>
            </a:prstGeom>
            <a:ln w="12700" cap="flat" cmpd="sng">
              <a:solidFill>
                <a:schemeClr val="tx1"/>
              </a:solidFill>
              <a:prstDash val="lgDash"/>
              <a:round/>
              <a:headEnd type="none" w="med" len="med"/>
              <a:tailEnd type="none" w="med" len="med"/>
            </a:ln>
          </p:spPr>
        </p:sp>
        <p:sp>
          <p:nvSpPr>
            <p:cNvPr id="60" name="Line 56"/>
            <p:cNvSpPr/>
            <p:nvPr/>
          </p:nvSpPr>
          <p:spPr>
            <a:xfrm>
              <a:off x="5136" y="1584"/>
              <a:ext cx="0" cy="1824"/>
            </a:xfrm>
            <a:prstGeom prst="line">
              <a:avLst/>
            </a:prstGeom>
            <a:ln w="12700" cap="flat" cmpd="sng">
              <a:solidFill>
                <a:schemeClr val="tx1"/>
              </a:solidFill>
              <a:prstDash val="lgDash"/>
              <a:round/>
              <a:headEnd type="none" w="med" len="med"/>
              <a:tailEnd type="none" w="med" len="med"/>
            </a:ln>
          </p:spPr>
        </p:sp>
      </p:grpSp>
      <p:grpSp>
        <p:nvGrpSpPr>
          <p:cNvPr id="61" name="Group 57"/>
          <p:cNvGrpSpPr/>
          <p:nvPr/>
        </p:nvGrpSpPr>
        <p:grpSpPr>
          <a:xfrm>
            <a:off x="5181600" y="4989513"/>
            <a:ext cx="3352800" cy="990600"/>
            <a:chOff x="3264" y="2736"/>
            <a:chExt cx="2112" cy="624"/>
          </a:xfrm>
        </p:grpSpPr>
        <p:sp>
          <p:nvSpPr>
            <p:cNvPr id="62" name="Line 58"/>
            <p:cNvSpPr/>
            <p:nvPr/>
          </p:nvSpPr>
          <p:spPr>
            <a:xfrm>
              <a:off x="3264" y="3360"/>
              <a:ext cx="624" cy="0"/>
            </a:xfrm>
            <a:prstGeom prst="line">
              <a:avLst/>
            </a:prstGeom>
            <a:ln w="57150" cap="flat" cmpd="sng">
              <a:solidFill>
                <a:srgbClr val="993300"/>
              </a:solidFill>
              <a:prstDash val="solid"/>
              <a:round/>
              <a:headEnd type="none" w="med" len="med"/>
              <a:tailEnd type="none" w="med" len="med"/>
            </a:ln>
          </p:spPr>
        </p:sp>
        <p:sp>
          <p:nvSpPr>
            <p:cNvPr id="63" name="Line 59"/>
            <p:cNvSpPr/>
            <p:nvPr/>
          </p:nvSpPr>
          <p:spPr>
            <a:xfrm flipV="1">
              <a:off x="3888" y="2736"/>
              <a:ext cx="0" cy="624"/>
            </a:xfrm>
            <a:prstGeom prst="line">
              <a:avLst/>
            </a:prstGeom>
            <a:ln w="57150" cap="flat" cmpd="sng">
              <a:solidFill>
                <a:srgbClr val="993300"/>
              </a:solidFill>
              <a:prstDash val="solid"/>
              <a:round/>
              <a:headEnd type="none" w="med" len="med"/>
              <a:tailEnd type="none" w="med" len="med"/>
            </a:ln>
          </p:spPr>
        </p:sp>
        <p:sp>
          <p:nvSpPr>
            <p:cNvPr id="64" name="Line 60"/>
            <p:cNvSpPr/>
            <p:nvPr/>
          </p:nvSpPr>
          <p:spPr>
            <a:xfrm>
              <a:off x="3888" y="2736"/>
              <a:ext cx="1248" cy="0"/>
            </a:xfrm>
            <a:prstGeom prst="line">
              <a:avLst/>
            </a:prstGeom>
            <a:ln w="57150" cap="flat" cmpd="sng">
              <a:solidFill>
                <a:srgbClr val="993300"/>
              </a:solidFill>
              <a:prstDash val="solid"/>
              <a:round/>
              <a:headEnd type="none" w="med" len="med"/>
              <a:tailEnd type="none" w="med" len="med"/>
            </a:ln>
          </p:spPr>
        </p:sp>
        <p:sp>
          <p:nvSpPr>
            <p:cNvPr id="65" name="Line 61"/>
            <p:cNvSpPr/>
            <p:nvPr/>
          </p:nvSpPr>
          <p:spPr>
            <a:xfrm>
              <a:off x="5136" y="2736"/>
              <a:ext cx="0" cy="624"/>
            </a:xfrm>
            <a:prstGeom prst="line">
              <a:avLst/>
            </a:prstGeom>
            <a:ln w="57150" cap="flat" cmpd="sng">
              <a:solidFill>
                <a:srgbClr val="993300"/>
              </a:solidFill>
              <a:prstDash val="solid"/>
              <a:round/>
              <a:headEnd type="none" w="med" len="med"/>
              <a:tailEnd type="none" w="med" len="med"/>
            </a:ln>
          </p:spPr>
        </p:sp>
        <p:sp>
          <p:nvSpPr>
            <p:cNvPr id="66" name="Line 62"/>
            <p:cNvSpPr/>
            <p:nvPr/>
          </p:nvSpPr>
          <p:spPr>
            <a:xfrm>
              <a:off x="5136" y="3360"/>
              <a:ext cx="240" cy="0"/>
            </a:xfrm>
            <a:prstGeom prst="line">
              <a:avLst/>
            </a:prstGeom>
            <a:ln w="57150" cap="flat" cmpd="sng">
              <a:solidFill>
                <a:srgbClr val="993300"/>
              </a:solidFill>
              <a:prstDash val="solid"/>
              <a:round/>
              <a:headEnd type="none" w="med" len="med"/>
              <a:tailEnd type="none" w="med" len="med"/>
            </a:ln>
          </p:spPr>
        </p:sp>
      </p:grpSp>
      <p:sp>
        <p:nvSpPr>
          <p:cNvPr id="67" name="Text Box 63"/>
          <p:cNvSpPr txBox="1"/>
          <p:nvPr/>
        </p:nvSpPr>
        <p:spPr>
          <a:xfrm>
            <a:off x="762000" y="6257925"/>
            <a:ext cx="3305175" cy="488950"/>
          </a:xfrm>
          <a:prstGeom prst="rect">
            <a:avLst/>
          </a:prstGeom>
          <a:noFill/>
          <a:ln w="28575">
            <a:noFill/>
          </a:ln>
        </p:spPr>
        <p:txBody>
          <a:bodyPr lIns="90000" tIns="46800" rIns="90000" bIns="46800" anchor="t" anchorCtr="0">
            <a:spAutoFit/>
          </a:bodyPr>
          <a:p>
            <a:r>
              <a:rPr lang="zh-CN" altLang="en-US" sz="2600" b="1" dirty="0">
                <a:latin typeface="Times New Roman" panose="02020603050405020304" charset="0"/>
                <a:ea typeface="宋体" panose="02010600030101010101" pitchFamily="2" charset="-122"/>
              </a:rPr>
              <a:t>回差电压比较小</a:t>
            </a:r>
            <a:endParaRPr lang="zh-CN" altLang="en-US" sz="2600" b="1" dirty="0">
              <a:latin typeface="Times New Roman" panose="02020603050405020304" charset="0"/>
              <a:ea typeface="宋体" panose="02010600030101010101" pitchFamily="2" charset="-122"/>
            </a:endParaRPr>
          </a:p>
        </p:txBody>
      </p:sp>
      <p:sp>
        <p:nvSpPr>
          <p:cNvPr id="68" name="Text Box 64"/>
          <p:cNvSpPr txBox="1"/>
          <p:nvPr/>
        </p:nvSpPr>
        <p:spPr>
          <a:xfrm>
            <a:off x="5867400" y="6361113"/>
            <a:ext cx="2895600" cy="457200"/>
          </a:xfrm>
          <a:prstGeom prst="rect">
            <a:avLst/>
          </a:prstGeom>
          <a:noFill/>
          <a:ln w="28575">
            <a:noFill/>
          </a:ln>
        </p:spPr>
        <p:txBody>
          <a:bodyPr lIns="90000" tIns="46800" rIns="90000" bIns="46800" anchor="t" anchorCtr="0">
            <a:spAutoFit/>
          </a:bodyPr>
          <a:p>
            <a:r>
              <a:rPr lang="zh-CN" altLang="en-US" sz="2400" b="1" dirty="0">
                <a:latin typeface="Times New Roman" panose="02020603050405020304" charset="0"/>
                <a:ea typeface="宋体" panose="02010600030101010101" pitchFamily="2" charset="-122"/>
              </a:rPr>
              <a:t>回差电压比较大</a:t>
            </a:r>
            <a:endParaRPr lang="zh-CN" altLang="en-US" sz="2400" b="1" dirty="0">
              <a:latin typeface="Times New Roman" panose="02020603050405020304" charset="0"/>
              <a:ea typeface="宋体" panose="02010600030101010101" pitchFamily="2" charset="-122"/>
            </a:endParaRPr>
          </a:p>
        </p:txBody>
      </p:sp>
      <p:sp>
        <p:nvSpPr>
          <p:cNvPr id="69" name="AutoShape 65"/>
          <p:cNvSpPr/>
          <p:nvPr/>
        </p:nvSpPr>
        <p:spPr>
          <a:xfrm>
            <a:off x="5461000" y="1217613"/>
            <a:ext cx="2667000" cy="914400"/>
          </a:xfrm>
          <a:prstGeom prst="cloudCallout">
            <a:avLst>
              <a:gd name="adj1" fmla="val -128870"/>
              <a:gd name="adj2" fmla="val 100000"/>
            </a:avLst>
          </a:prstGeom>
          <a:noFill/>
          <a:ln w="28575" cap="flat" cmpd="sng">
            <a:solidFill>
              <a:srgbClr val="FF0000"/>
            </a:solidFill>
            <a:prstDash val="solid"/>
            <a:round/>
            <a:headEnd type="none" w="med" len="med"/>
            <a:tailEnd type="none" w="med" len="med"/>
          </a:ln>
        </p:spPr>
        <p:txBody>
          <a:bodyPr lIns="90000" tIns="46800" rIns="90000" bIns="46800" anchor="t" anchorCtr="0"/>
          <a:p>
            <a:pPr algn="ctr"/>
            <a:r>
              <a:rPr lang="zh-CN" altLang="en-US" sz="2000" b="1" dirty="0">
                <a:solidFill>
                  <a:srgbClr val="CC3300"/>
                </a:solidFill>
                <a:latin typeface="Times New Roman" panose="02020603050405020304" charset="0"/>
                <a:ea typeface="宋体" panose="02010600030101010101" pitchFamily="2" charset="-122"/>
              </a:rPr>
              <a:t>具有顶部干扰的输入信号</a:t>
            </a:r>
            <a:endParaRPr lang="zh-CN" altLang="en-US" sz="2000" b="1" dirty="0">
              <a:solidFill>
                <a:srgbClr val="CC3300"/>
              </a:solidFill>
              <a:latin typeface="Times New Roman" panose="02020603050405020304" charset="0"/>
              <a:ea typeface="宋体" panose="02010600030101010101" pitchFamily="2" charset="-122"/>
            </a:endParaRPr>
          </a:p>
        </p:txBody>
      </p:sp>
      <p:grpSp>
        <p:nvGrpSpPr>
          <p:cNvPr id="71" name="Group 131"/>
          <p:cNvGrpSpPr/>
          <p:nvPr/>
        </p:nvGrpSpPr>
        <p:grpSpPr>
          <a:xfrm>
            <a:off x="4211638" y="2155825"/>
            <a:ext cx="4787900" cy="4608513"/>
            <a:chOff x="2653" y="824"/>
            <a:chExt cx="3016" cy="2903"/>
          </a:xfrm>
        </p:grpSpPr>
        <p:grpSp>
          <p:nvGrpSpPr>
            <p:cNvPr id="72" name="Group 132"/>
            <p:cNvGrpSpPr/>
            <p:nvPr/>
          </p:nvGrpSpPr>
          <p:grpSpPr>
            <a:xfrm>
              <a:off x="2653" y="824"/>
              <a:ext cx="3016" cy="2903"/>
              <a:chOff x="2562" y="527"/>
              <a:chExt cx="3016" cy="2903"/>
            </a:xfrm>
          </p:grpSpPr>
          <p:sp>
            <p:nvSpPr>
              <p:cNvPr id="73" name="Rectangle 133" descr="羊皮纸"/>
              <p:cNvSpPr/>
              <p:nvPr/>
            </p:nvSpPr>
            <p:spPr>
              <a:xfrm>
                <a:off x="2562" y="527"/>
                <a:ext cx="3016" cy="2903"/>
              </a:xfrm>
              <a:prstGeom prst="rect">
                <a:avLst/>
              </a:prstGeom>
              <a:blipFill rotWithShape="1">
                <a:blip r:embed="rId1"/>
              </a:blipFill>
              <a:ln w="9525" cap="flat" cmpd="sng">
                <a:solidFill>
                  <a:srgbClr val="CC3300"/>
                </a:solidFill>
                <a:prstDash val="solid"/>
                <a:miter/>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grpSp>
            <p:nvGrpSpPr>
              <p:cNvPr id="74" name="Group 134"/>
              <p:cNvGrpSpPr/>
              <p:nvPr/>
            </p:nvGrpSpPr>
            <p:grpSpPr>
              <a:xfrm>
                <a:off x="3080" y="659"/>
                <a:ext cx="2265" cy="2499"/>
                <a:chOff x="3216" y="595"/>
                <a:chExt cx="2265" cy="2499"/>
              </a:xfrm>
            </p:grpSpPr>
            <p:grpSp>
              <p:nvGrpSpPr>
                <p:cNvPr id="75" name="Group 135"/>
                <p:cNvGrpSpPr/>
                <p:nvPr/>
              </p:nvGrpSpPr>
              <p:grpSpPr>
                <a:xfrm>
                  <a:off x="3216" y="595"/>
                  <a:ext cx="2265" cy="2499"/>
                  <a:chOff x="480" y="883"/>
                  <a:chExt cx="2265" cy="2499"/>
                </a:xfrm>
              </p:grpSpPr>
              <p:grpSp>
                <p:nvGrpSpPr>
                  <p:cNvPr id="76" name="Group 136"/>
                  <p:cNvGrpSpPr/>
                  <p:nvPr/>
                </p:nvGrpSpPr>
                <p:grpSpPr>
                  <a:xfrm>
                    <a:off x="480" y="883"/>
                    <a:ext cx="2265" cy="1155"/>
                    <a:chOff x="375" y="861"/>
                    <a:chExt cx="2265" cy="1155"/>
                  </a:xfrm>
                </p:grpSpPr>
                <p:sp>
                  <p:nvSpPr>
                    <p:cNvPr id="77" name="Line 137" descr="羊皮纸"/>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78" name="Line 138" descr="羊皮纸"/>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79" name="Text Box 139" descr="羊皮纸"/>
                    <p:cNvSpPr txBox="1"/>
                    <p:nvPr/>
                  </p:nvSpPr>
                  <p:spPr>
                    <a:xfrm>
                      <a:off x="375" y="861"/>
                      <a:ext cx="249" cy="288"/>
                    </a:xfrm>
                    <a:prstGeom prst="rect">
                      <a:avLst/>
                    </a:prstGeom>
                    <a:blipFill rotWithShape="1">
                      <a:blip r:embed="rId1"/>
                    </a:blip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I</a:t>
                      </a:r>
                      <a:endParaRPr lang="en-US" altLang="zh-CN" sz="2400" b="1" baseline="-25000" dirty="0">
                        <a:latin typeface="Times New Roman" panose="02020603050405020304" charset="0"/>
                        <a:ea typeface="宋体" panose="02010600030101010101" pitchFamily="2" charset="-122"/>
                      </a:endParaRPr>
                    </a:p>
                  </p:txBody>
                </p:sp>
                <p:sp>
                  <p:nvSpPr>
                    <p:cNvPr id="80" name="Text Box 140" descr="羊皮纸"/>
                    <p:cNvSpPr txBox="1"/>
                    <p:nvPr/>
                  </p:nvSpPr>
                  <p:spPr>
                    <a:xfrm>
                      <a:off x="2400" y="1728"/>
                      <a:ext cx="167" cy="288"/>
                    </a:xfrm>
                    <a:prstGeom prst="rect">
                      <a:avLst/>
                    </a:prstGeom>
                    <a:blipFill rotWithShape="1">
                      <a:blip r:embed="rId1"/>
                    </a:blip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nvGrpSpPr>
                  <p:cNvPr id="81" name="Group 141"/>
                  <p:cNvGrpSpPr/>
                  <p:nvPr/>
                </p:nvGrpSpPr>
                <p:grpSpPr>
                  <a:xfrm>
                    <a:off x="480" y="2227"/>
                    <a:ext cx="2265" cy="1155"/>
                    <a:chOff x="375" y="861"/>
                    <a:chExt cx="2265" cy="1155"/>
                  </a:xfrm>
                </p:grpSpPr>
                <p:sp>
                  <p:nvSpPr>
                    <p:cNvPr id="82" name="Line 142" descr="羊皮纸"/>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83" name="Line 143" descr="羊皮纸"/>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84" name="Text Box 144" descr="羊皮纸"/>
                    <p:cNvSpPr txBox="1"/>
                    <p:nvPr/>
                  </p:nvSpPr>
                  <p:spPr>
                    <a:xfrm>
                      <a:off x="375" y="861"/>
                      <a:ext cx="299" cy="288"/>
                    </a:xfrm>
                    <a:prstGeom prst="rect">
                      <a:avLst/>
                    </a:prstGeom>
                    <a:blipFill rotWithShape="1">
                      <a:blip r:embed="rId1"/>
                    </a:blip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sp>
                  <p:nvSpPr>
                    <p:cNvPr id="85" name="Text Box 145" descr="羊皮纸"/>
                    <p:cNvSpPr txBox="1"/>
                    <p:nvPr/>
                  </p:nvSpPr>
                  <p:spPr>
                    <a:xfrm>
                      <a:off x="2400" y="1728"/>
                      <a:ext cx="167" cy="288"/>
                    </a:xfrm>
                    <a:prstGeom prst="rect">
                      <a:avLst/>
                    </a:prstGeom>
                    <a:blipFill rotWithShape="1">
                      <a:blip r:embed="rId1"/>
                    </a:blipFill>
                    <a:ln w="28575">
                      <a:noFill/>
                    </a:ln>
                  </p:spPr>
                  <p:txBody>
                    <a:bodyPr wrap="none" lIns="90000" tIns="46800" rIns="90000" bIns="46800" anchor="t" anchorCtr="0">
                      <a:spAutoFit/>
                    </a:bodyPr>
                    <a:p>
                      <a:r>
                        <a:rPr lang="en-US" altLang="zh-CN" sz="2400" b="1" i="1"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sp>
              <p:nvSpPr>
                <p:cNvPr id="86" name="Freeform 146" descr="羊皮纸"/>
                <p:cNvSpPr/>
                <p:nvPr/>
              </p:nvSpPr>
              <p:spPr>
                <a:xfrm>
                  <a:off x="3296" y="864"/>
                  <a:ext cx="2016" cy="896"/>
                </a:xfrm>
                <a:custGeom>
                  <a:avLst/>
                  <a:gdLst/>
                  <a:ahLst/>
                  <a:cxnLst>
                    <a:cxn ang="0">
                      <a:pos x="0" y="896"/>
                    </a:cxn>
                    <a:cxn ang="0">
                      <a:pos x="288" y="272"/>
                    </a:cxn>
                    <a:cxn ang="0">
                      <a:pos x="480" y="368"/>
                    </a:cxn>
                    <a:cxn ang="0">
                      <a:pos x="672" y="80"/>
                    </a:cxn>
                    <a:cxn ang="0">
                      <a:pos x="816" y="224"/>
                    </a:cxn>
                    <a:cxn ang="0">
                      <a:pos x="912" y="128"/>
                    </a:cxn>
                    <a:cxn ang="0">
                      <a:pos x="1104" y="464"/>
                    </a:cxn>
                    <a:cxn ang="0">
                      <a:pos x="1248" y="272"/>
                    </a:cxn>
                    <a:cxn ang="0">
                      <a:pos x="1392" y="416"/>
                    </a:cxn>
                    <a:cxn ang="0">
                      <a:pos x="1584" y="80"/>
                    </a:cxn>
                    <a:cxn ang="0">
                      <a:pos x="2016" y="896"/>
                    </a:cxn>
                  </a:cxnLst>
                  <a:pathLst>
                    <a:path w="2016" h="896">
                      <a:moveTo>
                        <a:pt x="0" y="896"/>
                      </a:moveTo>
                      <a:cubicBezTo>
                        <a:pt x="104" y="628"/>
                        <a:pt x="208" y="360"/>
                        <a:pt x="288" y="272"/>
                      </a:cubicBezTo>
                      <a:cubicBezTo>
                        <a:pt x="368" y="184"/>
                        <a:pt x="416" y="400"/>
                        <a:pt x="480" y="368"/>
                      </a:cubicBezTo>
                      <a:cubicBezTo>
                        <a:pt x="544" y="336"/>
                        <a:pt x="616" y="104"/>
                        <a:pt x="672" y="80"/>
                      </a:cubicBezTo>
                      <a:cubicBezTo>
                        <a:pt x="728" y="56"/>
                        <a:pt x="776" y="216"/>
                        <a:pt x="816" y="224"/>
                      </a:cubicBezTo>
                      <a:cubicBezTo>
                        <a:pt x="856" y="232"/>
                        <a:pt x="864" y="88"/>
                        <a:pt x="912" y="128"/>
                      </a:cubicBezTo>
                      <a:cubicBezTo>
                        <a:pt x="960" y="168"/>
                        <a:pt x="1048" y="440"/>
                        <a:pt x="1104" y="464"/>
                      </a:cubicBezTo>
                      <a:cubicBezTo>
                        <a:pt x="1160" y="488"/>
                        <a:pt x="1200" y="280"/>
                        <a:pt x="1248" y="272"/>
                      </a:cubicBezTo>
                      <a:cubicBezTo>
                        <a:pt x="1296" y="264"/>
                        <a:pt x="1336" y="448"/>
                        <a:pt x="1392" y="416"/>
                      </a:cubicBezTo>
                      <a:cubicBezTo>
                        <a:pt x="1448" y="384"/>
                        <a:pt x="1480" y="0"/>
                        <a:pt x="1584" y="80"/>
                      </a:cubicBezTo>
                      <a:cubicBezTo>
                        <a:pt x="1688" y="160"/>
                        <a:pt x="1896" y="744"/>
                        <a:pt x="2016" y="896"/>
                      </a:cubicBezTo>
                    </a:path>
                  </a:pathLst>
                </a:custGeom>
                <a:blipFill rotWithShape="1">
                  <a:blip r:embed="rId1"/>
                </a:blipFill>
                <a:ln w="28575" cap="flat" cmpd="sng">
                  <a:solidFill>
                    <a:schemeClr val="tx1"/>
                  </a:solidFill>
                  <a:prstDash val="solid"/>
                  <a:round/>
                  <a:headEnd type="none" w="med" len="med"/>
                  <a:tailEnd type="none" w="med" len="med"/>
                </a:ln>
              </p:spPr>
              <p:txBody>
                <a:bodyPr/>
                <a:p>
                  <a:endParaRPr lang="zh-CN" altLang="en-US"/>
                </a:p>
              </p:txBody>
            </p:sp>
          </p:grpSp>
        </p:grpSp>
        <p:sp>
          <p:nvSpPr>
            <p:cNvPr id="87" name="Line 147"/>
            <p:cNvSpPr/>
            <p:nvPr/>
          </p:nvSpPr>
          <p:spPr>
            <a:xfrm>
              <a:off x="3198" y="2115"/>
              <a:ext cx="2222" cy="0"/>
            </a:xfrm>
            <a:prstGeom prst="line">
              <a:avLst/>
            </a:prstGeom>
            <a:ln w="28575" cap="flat" cmpd="sng">
              <a:solidFill>
                <a:schemeClr val="tx1"/>
              </a:solidFill>
              <a:prstDash val="solid"/>
              <a:round/>
              <a:headEnd type="none" w="med" len="med"/>
              <a:tailEnd type="none" w="med" len="med"/>
            </a:ln>
          </p:spPr>
        </p:sp>
      </p:grpSp>
      <p:grpSp>
        <p:nvGrpSpPr>
          <p:cNvPr id="88" name="Group 148"/>
          <p:cNvGrpSpPr/>
          <p:nvPr/>
        </p:nvGrpSpPr>
        <p:grpSpPr>
          <a:xfrm>
            <a:off x="4427538" y="3052763"/>
            <a:ext cx="3967162" cy="1106487"/>
            <a:chOff x="2744" y="1207"/>
            <a:chExt cx="2499" cy="697"/>
          </a:xfrm>
        </p:grpSpPr>
        <p:sp>
          <p:nvSpPr>
            <p:cNvPr id="89" name="Line 149"/>
            <p:cNvSpPr/>
            <p:nvPr/>
          </p:nvSpPr>
          <p:spPr>
            <a:xfrm>
              <a:off x="3150" y="1389"/>
              <a:ext cx="2043" cy="0"/>
            </a:xfrm>
            <a:prstGeom prst="line">
              <a:avLst/>
            </a:prstGeom>
            <a:ln w="12700" cap="flat" cmpd="sng">
              <a:solidFill>
                <a:schemeClr val="tx1"/>
              </a:solidFill>
              <a:prstDash val="lgDash"/>
              <a:round/>
              <a:headEnd type="none" w="med" len="med"/>
              <a:tailEnd type="none" w="med" len="med"/>
            </a:ln>
          </p:spPr>
        </p:sp>
        <p:sp>
          <p:nvSpPr>
            <p:cNvPr id="90" name="Line 150"/>
            <p:cNvSpPr/>
            <p:nvPr/>
          </p:nvSpPr>
          <p:spPr>
            <a:xfrm>
              <a:off x="3152" y="1797"/>
              <a:ext cx="2091" cy="0"/>
            </a:xfrm>
            <a:prstGeom prst="line">
              <a:avLst/>
            </a:prstGeom>
            <a:ln w="12700" cap="flat" cmpd="sng">
              <a:solidFill>
                <a:schemeClr val="tx1"/>
              </a:solidFill>
              <a:prstDash val="lgDash"/>
              <a:round/>
              <a:headEnd type="none" w="med" len="med"/>
              <a:tailEnd type="none" w="med" len="med"/>
            </a:ln>
          </p:spPr>
        </p:sp>
        <p:sp>
          <p:nvSpPr>
            <p:cNvPr id="91" name="Text Box 151"/>
            <p:cNvSpPr txBox="1"/>
            <p:nvPr/>
          </p:nvSpPr>
          <p:spPr>
            <a:xfrm>
              <a:off x="2744" y="1207"/>
              <a:ext cx="41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sp>
          <p:nvSpPr>
            <p:cNvPr id="92" name="Text Box 152"/>
            <p:cNvSpPr txBox="1"/>
            <p:nvPr/>
          </p:nvSpPr>
          <p:spPr>
            <a:xfrm>
              <a:off x="2789" y="1616"/>
              <a:ext cx="38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T-</a:t>
              </a:r>
              <a:endParaRPr lang="en-US" altLang="zh-CN" sz="2400" b="1" baseline="-25000" dirty="0">
                <a:latin typeface="Times New Roman" panose="02020603050405020304" charset="0"/>
                <a:ea typeface="宋体" panose="02010600030101010101" pitchFamily="2" charset="-122"/>
              </a:endParaRPr>
            </a:p>
          </p:txBody>
        </p:sp>
      </p:grpSp>
      <p:grpSp>
        <p:nvGrpSpPr>
          <p:cNvPr id="93" name="Group 153"/>
          <p:cNvGrpSpPr/>
          <p:nvPr/>
        </p:nvGrpSpPr>
        <p:grpSpPr>
          <a:xfrm>
            <a:off x="5508625" y="3155950"/>
            <a:ext cx="2663825" cy="3352800"/>
            <a:chOff x="3515" y="1091"/>
            <a:chExt cx="1678" cy="2112"/>
          </a:xfrm>
        </p:grpSpPr>
        <p:sp>
          <p:nvSpPr>
            <p:cNvPr id="94" name="Line 154"/>
            <p:cNvSpPr/>
            <p:nvPr/>
          </p:nvSpPr>
          <p:spPr>
            <a:xfrm>
              <a:off x="3515" y="1091"/>
              <a:ext cx="0" cy="2112"/>
            </a:xfrm>
            <a:prstGeom prst="line">
              <a:avLst/>
            </a:prstGeom>
            <a:ln w="12700" cap="flat" cmpd="sng">
              <a:solidFill>
                <a:schemeClr val="tx1"/>
              </a:solidFill>
              <a:prstDash val="lgDash"/>
              <a:round/>
              <a:headEnd type="none" w="med" len="med"/>
              <a:tailEnd type="none" w="med" len="med"/>
            </a:ln>
          </p:spPr>
        </p:sp>
        <p:sp>
          <p:nvSpPr>
            <p:cNvPr id="95" name="Line 155"/>
            <p:cNvSpPr/>
            <p:nvPr/>
          </p:nvSpPr>
          <p:spPr>
            <a:xfrm>
              <a:off x="5193" y="1289"/>
              <a:ext cx="0" cy="1824"/>
            </a:xfrm>
            <a:prstGeom prst="line">
              <a:avLst/>
            </a:prstGeom>
            <a:ln w="12700" cap="flat" cmpd="sng">
              <a:solidFill>
                <a:schemeClr val="tx1"/>
              </a:solidFill>
              <a:prstDash val="lgDash"/>
              <a:round/>
              <a:headEnd type="none" w="med" len="med"/>
              <a:tailEnd type="none" w="med" len="med"/>
            </a:ln>
          </p:spPr>
        </p:sp>
      </p:grpSp>
      <p:grpSp>
        <p:nvGrpSpPr>
          <p:cNvPr id="96" name="Group 156"/>
          <p:cNvGrpSpPr/>
          <p:nvPr/>
        </p:nvGrpSpPr>
        <p:grpSpPr>
          <a:xfrm>
            <a:off x="5003800" y="5284788"/>
            <a:ext cx="3455988" cy="1008062"/>
            <a:chOff x="3198" y="2614"/>
            <a:chExt cx="2177" cy="635"/>
          </a:xfrm>
        </p:grpSpPr>
        <p:sp>
          <p:nvSpPr>
            <p:cNvPr id="97" name="Line 157"/>
            <p:cNvSpPr/>
            <p:nvPr/>
          </p:nvSpPr>
          <p:spPr>
            <a:xfrm>
              <a:off x="3198" y="3249"/>
              <a:ext cx="317" cy="0"/>
            </a:xfrm>
            <a:prstGeom prst="line">
              <a:avLst/>
            </a:prstGeom>
            <a:ln w="57150" cap="flat" cmpd="sng">
              <a:solidFill>
                <a:srgbClr val="CC3300"/>
              </a:solidFill>
              <a:prstDash val="solid"/>
              <a:round/>
              <a:headEnd type="none" w="med" len="med"/>
              <a:tailEnd type="none" w="med" len="med"/>
            </a:ln>
          </p:spPr>
        </p:sp>
        <p:sp>
          <p:nvSpPr>
            <p:cNvPr id="98" name="Line 158"/>
            <p:cNvSpPr/>
            <p:nvPr/>
          </p:nvSpPr>
          <p:spPr>
            <a:xfrm flipV="1">
              <a:off x="3515" y="2625"/>
              <a:ext cx="0" cy="624"/>
            </a:xfrm>
            <a:prstGeom prst="line">
              <a:avLst/>
            </a:prstGeom>
            <a:ln w="57150" cap="flat" cmpd="sng">
              <a:solidFill>
                <a:srgbClr val="CC3300"/>
              </a:solidFill>
              <a:prstDash val="solid"/>
              <a:round/>
              <a:headEnd type="none" w="med" len="med"/>
              <a:tailEnd type="none" w="med" len="med"/>
            </a:ln>
          </p:spPr>
        </p:sp>
        <p:sp>
          <p:nvSpPr>
            <p:cNvPr id="99" name="Line 159"/>
            <p:cNvSpPr/>
            <p:nvPr/>
          </p:nvSpPr>
          <p:spPr>
            <a:xfrm>
              <a:off x="3515" y="2614"/>
              <a:ext cx="1678" cy="0"/>
            </a:xfrm>
            <a:prstGeom prst="line">
              <a:avLst/>
            </a:prstGeom>
            <a:ln w="57150" cap="flat" cmpd="sng">
              <a:solidFill>
                <a:srgbClr val="CC3300"/>
              </a:solidFill>
              <a:prstDash val="solid"/>
              <a:round/>
              <a:headEnd type="none" w="med" len="med"/>
              <a:tailEnd type="none" w="med" len="med"/>
            </a:ln>
          </p:spPr>
        </p:sp>
        <p:sp>
          <p:nvSpPr>
            <p:cNvPr id="100" name="Line 160"/>
            <p:cNvSpPr/>
            <p:nvPr/>
          </p:nvSpPr>
          <p:spPr>
            <a:xfrm>
              <a:off x="5193" y="2614"/>
              <a:ext cx="0" cy="624"/>
            </a:xfrm>
            <a:prstGeom prst="line">
              <a:avLst/>
            </a:prstGeom>
            <a:ln w="57150" cap="flat" cmpd="sng">
              <a:solidFill>
                <a:srgbClr val="CC3300"/>
              </a:solidFill>
              <a:prstDash val="solid"/>
              <a:round/>
              <a:headEnd type="none" w="med" len="med"/>
              <a:tailEnd type="none" w="med" len="med"/>
            </a:ln>
          </p:spPr>
        </p:sp>
        <p:sp>
          <p:nvSpPr>
            <p:cNvPr id="101" name="Line 161"/>
            <p:cNvSpPr/>
            <p:nvPr/>
          </p:nvSpPr>
          <p:spPr>
            <a:xfrm>
              <a:off x="5193" y="3249"/>
              <a:ext cx="182" cy="0"/>
            </a:xfrm>
            <a:prstGeom prst="line">
              <a:avLst/>
            </a:prstGeom>
            <a:ln w="57150" cap="flat" cmpd="sng">
              <a:solidFill>
                <a:srgbClr val="CC3300"/>
              </a:solidFill>
              <a:prstDash val="solid"/>
              <a:round/>
              <a:headEnd type="none" w="med" len="med"/>
              <a:tailEnd type="none" w="med" len="med"/>
            </a:ln>
          </p:spPr>
        </p:sp>
      </p:grpSp>
      <p:grpSp>
        <p:nvGrpSpPr>
          <p:cNvPr id="102" name="Group 175"/>
          <p:cNvGrpSpPr/>
          <p:nvPr/>
        </p:nvGrpSpPr>
        <p:grpSpPr>
          <a:xfrm>
            <a:off x="1619250" y="1433513"/>
            <a:ext cx="2016125" cy="792162"/>
            <a:chOff x="1610" y="3612"/>
            <a:chExt cx="1270" cy="499"/>
          </a:xfrm>
        </p:grpSpPr>
        <p:sp>
          <p:nvSpPr>
            <p:cNvPr id="103" name="Rectangle 176"/>
            <p:cNvSpPr/>
            <p:nvPr/>
          </p:nvSpPr>
          <p:spPr>
            <a:xfrm>
              <a:off x="2052" y="3612"/>
              <a:ext cx="328" cy="499"/>
            </a:xfrm>
            <a:prstGeom prst="rect">
              <a:avLst/>
            </a:prstGeom>
            <a:noFill/>
            <a:ln w="28575" cap="flat" cmpd="sng">
              <a:solidFill>
                <a:schemeClr val="tx1"/>
              </a:solidFill>
              <a:prstDash val="solid"/>
              <a:miter/>
              <a:headEnd type="none" w="med" len="med"/>
              <a:tailEnd type="none" w="med" len="med"/>
            </a:ln>
          </p:spPr>
          <p:txBody>
            <a:bodyPr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grpSp>
          <p:nvGrpSpPr>
            <p:cNvPr id="104" name="Group 177"/>
            <p:cNvGrpSpPr/>
            <p:nvPr/>
          </p:nvGrpSpPr>
          <p:grpSpPr>
            <a:xfrm>
              <a:off x="2194" y="3702"/>
              <a:ext cx="171" cy="119"/>
              <a:chOff x="2194" y="3642"/>
              <a:chExt cx="171" cy="119"/>
            </a:xfrm>
          </p:grpSpPr>
          <p:sp>
            <p:nvSpPr>
              <p:cNvPr id="105" name="Line 178"/>
              <p:cNvSpPr/>
              <p:nvPr/>
            </p:nvSpPr>
            <p:spPr>
              <a:xfrm>
                <a:off x="2194" y="3761"/>
                <a:ext cx="114" cy="0"/>
              </a:xfrm>
              <a:prstGeom prst="line">
                <a:avLst/>
              </a:prstGeom>
              <a:ln w="28575" cap="flat" cmpd="sng">
                <a:solidFill>
                  <a:schemeClr val="tx1"/>
                </a:solidFill>
                <a:prstDash val="solid"/>
                <a:round/>
                <a:headEnd type="none" w="med" len="med"/>
                <a:tailEnd type="none" w="med" len="med"/>
              </a:ln>
            </p:spPr>
          </p:sp>
          <p:sp>
            <p:nvSpPr>
              <p:cNvPr id="106" name="Line 179"/>
              <p:cNvSpPr/>
              <p:nvPr/>
            </p:nvSpPr>
            <p:spPr>
              <a:xfrm>
                <a:off x="2251" y="3642"/>
                <a:ext cx="114" cy="0"/>
              </a:xfrm>
              <a:prstGeom prst="line">
                <a:avLst/>
              </a:prstGeom>
              <a:ln w="28575" cap="flat" cmpd="sng">
                <a:solidFill>
                  <a:schemeClr val="tx1"/>
                </a:solidFill>
                <a:prstDash val="solid"/>
                <a:round/>
                <a:headEnd type="none" w="med" len="med"/>
                <a:tailEnd type="none" w="med" len="med"/>
              </a:ln>
            </p:spPr>
          </p:sp>
          <p:sp>
            <p:nvSpPr>
              <p:cNvPr id="107" name="Line 180"/>
              <p:cNvSpPr/>
              <p:nvPr/>
            </p:nvSpPr>
            <p:spPr>
              <a:xfrm>
                <a:off x="2251" y="3642"/>
                <a:ext cx="0" cy="119"/>
              </a:xfrm>
              <a:prstGeom prst="line">
                <a:avLst/>
              </a:prstGeom>
              <a:ln w="28575" cap="flat" cmpd="sng">
                <a:solidFill>
                  <a:schemeClr val="tx1"/>
                </a:solidFill>
                <a:prstDash val="solid"/>
                <a:round/>
                <a:headEnd type="none" w="med" len="med"/>
                <a:tailEnd type="none" w="med" len="med"/>
              </a:ln>
            </p:spPr>
          </p:sp>
          <p:sp>
            <p:nvSpPr>
              <p:cNvPr id="108" name="Line 181"/>
              <p:cNvSpPr/>
              <p:nvPr/>
            </p:nvSpPr>
            <p:spPr>
              <a:xfrm>
                <a:off x="2308" y="3642"/>
                <a:ext cx="0" cy="119"/>
              </a:xfrm>
              <a:prstGeom prst="line">
                <a:avLst/>
              </a:prstGeom>
              <a:ln w="28575" cap="flat" cmpd="sng">
                <a:solidFill>
                  <a:schemeClr val="tx1"/>
                </a:solidFill>
                <a:prstDash val="solid"/>
                <a:round/>
                <a:headEnd type="none" w="med" len="med"/>
                <a:tailEnd type="none" w="med" len="med"/>
              </a:ln>
            </p:spPr>
          </p:sp>
        </p:grpSp>
        <p:sp>
          <p:nvSpPr>
            <p:cNvPr id="109" name="Text Box 182"/>
            <p:cNvSpPr txBox="1"/>
            <p:nvPr/>
          </p:nvSpPr>
          <p:spPr>
            <a:xfrm>
              <a:off x="2064" y="3612"/>
              <a:ext cx="194" cy="250"/>
            </a:xfrm>
            <a:prstGeom prst="rect">
              <a:avLst/>
            </a:prstGeom>
            <a:noFill/>
            <a:ln w="28575">
              <a:noFill/>
            </a:ln>
          </p:spPr>
          <p:txBody>
            <a:bodyPr wrap="none" lIns="90000" tIns="46800" rIns="90000" bIns="46800" anchor="t" anchorCtr="0">
              <a:spAutoFit/>
            </a:bodyPr>
            <a:p>
              <a:r>
                <a:rPr lang="en-US" altLang="zh-CN" sz="2000" b="1" dirty="0">
                  <a:latin typeface="Times New Roman" panose="02020603050405020304" charset="0"/>
                  <a:ea typeface="宋体" panose="02010600030101010101" pitchFamily="2" charset="-122"/>
                </a:rPr>
                <a:t>1</a:t>
              </a:r>
              <a:endParaRPr lang="en-US" altLang="zh-CN" sz="2000" b="1" dirty="0">
                <a:latin typeface="Times New Roman" panose="02020603050405020304" charset="0"/>
                <a:ea typeface="宋体" panose="02010600030101010101" pitchFamily="2" charset="-122"/>
              </a:endParaRPr>
            </a:p>
          </p:txBody>
        </p:sp>
        <p:sp>
          <p:nvSpPr>
            <p:cNvPr id="110" name="Line 183"/>
            <p:cNvSpPr/>
            <p:nvPr/>
          </p:nvSpPr>
          <p:spPr>
            <a:xfrm>
              <a:off x="1825" y="3880"/>
              <a:ext cx="227" cy="0"/>
            </a:xfrm>
            <a:prstGeom prst="line">
              <a:avLst/>
            </a:prstGeom>
            <a:ln w="28575" cap="flat" cmpd="sng">
              <a:solidFill>
                <a:schemeClr val="tx1"/>
              </a:solidFill>
              <a:prstDash val="solid"/>
              <a:round/>
              <a:headEnd type="none" w="med" len="med"/>
              <a:tailEnd type="none" w="med" len="med"/>
            </a:ln>
          </p:spPr>
        </p:sp>
        <p:sp>
          <p:nvSpPr>
            <p:cNvPr id="111" name="Line 184"/>
            <p:cNvSpPr/>
            <p:nvPr/>
          </p:nvSpPr>
          <p:spPr>
            <a:xfrm>
              <a:off x="2394" y="3880"/>
              <a:ext cx="228" cy="0"/>
            </a:xfrm>
            <a:prstGeom prst="line">
              <a:avLst/>
            </a:prstGeom>
            <a:ln w="28575" cap="flat" cmpd="sng">
              <a:solidFill>
                <a:schemeClr val="tx1"/>
              </a:solidFill>
              <a:prstDash val="solid"/>
              <a:round/>
              <a:headEnd type="none" w="med" len="med"/>
              <a:tailEnd type="none" w="med" len="med"/>
            </a:ln>
          </p:spPr>
        </p:sp>
        <p:sp>
          <p:nvSpPr>
            <p:cNvPr id="112" name="Text Box 185"/>
            <p:cNvSpPr txBox="1"/>
            <p:nvPr/>
          </p:nvSpPr>
          <p:spPr>
            <a:xfrm>
              <a:off x="1610" y="3702"/>
              <a:ext cx="249"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I</a:t>
              </a:r>
              <a:endParaRPr lang="en-US" altLang="zh-CN" sz="2400" b="1" baseline="-25000" dirty="0">
                <a:latin typeface="Times New Roman" panose="02020603050405020304" charset="0"/>
                <a:ea typeface="宋体" panose="02010600030101010101" pitchFamily="2" charset="-122"/>
              </a:endParaRPr>
            </a:p>
          </p:txBody>
        </p:sp>
        <p:sp>
          <p:nvSpPr>
            <p:cNvPr id="113" name="Text Box 186"/>
            <p:cNvSpPr txBox="1"/>
            <p:nvPr/>
          </p:nvSpPr>
          <p:spPr>
            <a:xfrm>
              <a:off x="2581" y="3713"/>
              <a:ext cx="299" cy="288"/>
            </a:xfrm>
            <a:prstGeom prst="rect">
              <a:avLst/>
            </a:prstGeom>
            <a:noFill/>
            <a:ln w="28575">
              <a:noFill/>
            </a:ln>
          </p:spPr>
          <p:txBody>
            <a:bodyPr wrap="none" lIns="90000" tIns="46800" rIns="90000" bIns="46800" anchor="t" anchorCtr="0">
              <a:spAutoFit/>
            </a:bodyPr>
            <a:p>
              <a:r>
                <a:rPr lang="en-US" altLang="zh-CN" sz="2400" b="1" i="1" dirty="0">
                  <a:latin typeface="Monotype Corsiva" panose="03010101010201010101" pitchFamily="66" charset="0"/>
                  <a:ea typeface="宋体" panose="02010600030101010101" pitchFamily="2" charset="-122"/>
                </a:rPr>
                <a:t>v</a:t>
              </a:r>
              <a:r>
                <a:rPr lang="en-US" altLang="zh-CN" sz="2400" b="1" baseline="-25000" dirty="0">
                  <a:latin typeface="Times New Roman" panose="02020603050405020304" charset="0"/>
                  <a:ea typeface="宋体" panose="02010600030101010101" pitchFamily="2" charset="-122"/>
                </a:rPr>
                <a:t>O</a:t>
              </a:r>
              <a:endParaRPr lang="en-US" altLang="zh-CN" sz="2400" b="1" baseline="-25000" dirty="0">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grpId="0" nodeType="afterEffect">
                                  <p:stCondLst>
                                    <p:cond delay="2000"/>
                                  </p:stCondLst>
                                  <p:childTnLst>
                                    <p:set>
                                      <p:cBhvr>
                                        <p:cTn id="9" dur="1" fill="hold">
                                          <p:stCondLst>
                                            <p:cond delay="0"/>
                                          </p:stCondLst>
                                        </p:cTn>
                                        <p:tgtEl>
                                          <p:spTgt spid="69"/>
                                        </p:tgtEl>
                                        <p:attrNameLst>
                                          <p:attrName>style.visibility</p:attrName>
                                        </p:attrNameLst>
                                      </p:cBhvr>
                                      <p:to>
                                        <p:strVal val="visible"/>
                                      </p:to>
                                    </p:set>
                                    <p:animEffect transition="in" filter="wipe(up)">
                                      <p:cBhvr>
                                        <p:cTn id="10" dur="500"/>
                                        <p:tgtEl>
                                          <p:spTgt spid="6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left)">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4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wipe(left)">
                                      <p:cBhvr>
                                        <p:cTn id="38" dur="500"/>
                                        <p:tgtEl>
                                          <p:spTgt spid="5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up)">
                                      <p:cBhvr>
                                        <p:cTn id="43" dur="500"/>
                                        <p:tgtEl>
                                          <p:spTgt spid="5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wipe(left)">
                                      <p:cBhvr>
                                        <p:cTn id="48" dur="500"/>
                                        <p:tgtEl>
                                          <p:spTgt spid="61"/>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6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nodeType="clickEffect">
                                  <p:stCondLst>
                                    <p:cond delay="0"/>
                                  </p:stCondLst>
                                  <p:childTnLst>
                                    <p:set>
                                      <p:cBhvr>
                                        <p:cTn id="56" dur="1" fill="hold">
                                          <p:stCondLst>
                                            <p:cond delay="0"/>
                                          </p:stCondLst>
                                        </p:cTn>
                                        <p:tgtEl>
                                          <p:spTgt spid="71"/>
                                        </p:tgtEl>
                                        <p:attrNameLst>
                                          <p:attrName>style.visibility</p:attrName>
                                        </p:attrNameLst>
                                      </p:cBhvr>
                                      <p:to>
                                        <p:strVal val="visible"/>
                                      </p:to>
                                    </p:set>
                                    <p:animEffect transition="in" filter="strips(downLeft)">
                                      <p:cBhvr>
                                        <p:cTn id="57" dur="500"/>
                                        <p:tgtEl>
                                          <p:spTgt spid="7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ipe(left)">
                                      <p:cBhvr>
                                        <p:cTn id="62" dur="5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96"/>
                                        </p:tgtEl>
                                        <p:attrNameLst>
                                          <p:attrName>style.visibility</p:attrName>
                                        </p:attrNameLst>
                                      </p:cBhvr>
                                      <p:to>
                                        <p:strVal val="visible"/>
                                      </p:to>
                                    </p:set>
                                    <p:animEffect transition="in" filter="wipe(left)">
                                      <p:cBhvr>
                                        <p:cTn id="71"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3" name="图片 2"/>
          <p:cNvPicPr>
            <a:picLocks noChangeAspect="1"/>
          </p:cNvPicPr>
          <p:nvPr/>
        </p:nvPicPr>
        <p:blipFill>
          <a:blip r:embed="rId1"/>
          <a:stretch>
            <a:fillRect/>
          </a:stretch>
        </p:blipFill>
        <p:spPr>
          <a:xfrm>
            <a:off x="3048635" y="1752600"/>
            <a:ext cx="5280660" cy="4980940"/>
          </a:xfrm>
          <a:prstGeom prst="rect">
            <a:avLst/>
          </a:prstGeom>
        </p:spPr>
      </p:pic>
      <p:sp>
        <p:nvSpPr>
          <p:cNvPr id="2" name="Rectangle 3"/>
          <p:cNvSpPr>
            <a:spLocks noGrp="1"/>
          </p:cNvSpPr>
          <p:nvPr/>
        </p:nvSpPr>
        <p:spPr>
          <a:xfrm>
            <a:off x="609600" y="1295400"/>
            <a:ext cx="29476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3.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幅度</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鉴别</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cxnSp>
        <p:nvCxnSpPr>
          <p:cNvPr id="4" name="直接连接符 3"/>
          <p:cNvCxnSpPr/>
          <p:nvPr/>
        </p:nvCxnSpPr>
        <p:spPr>
          <a:xfrm flipV="1">
            <a:off x="3538220" y="2466975"/>
            <a:ext cx="5135245" cy="13335"/>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3531870" y="3117850"/>
            <a:ext cx="5135245" cy="13335"/>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569335" y="5029200"/>
            <a:ext cx="5104130" cy="1281600"/>
          </a:xfrm>
          <a:prstGeom prst="rect">
            <a:avLst/>
          </a:prstGeom>
          <a:solidFill>
            <a:schemeClr val="bg1"/>
          </a:solidFill>
        </p:spPr>
        <p:txBody>
          <a:bodyPr wrap="square" rtlCol="0">
            <a:spAutoFit/>
          </a:bodyPr>
          <a:p>
            <a:endParaRPr lang="zh-CN" altLang="en-US"/>
          </a:p>
          <a:p>
            <a:endParaRPr lang="zh-CN" altLang="en-US"/>
          </a:p>
          <a:p>
            <a:endParaRPr lang="zh-CN" altLang="en-US"/>
          </a:p>
        </p:txBody>
      </p:sp>
      <p:cxnSp>
        <p:nvCxnSpPr>
          <p:cNvPr id="6" name="直接连接符 5"/>
          <p:cNvCxnSpPr/>
          <p:nvPr/>
        </p:nvCxnSpPr>
        <p:spPr>
          <a:xfrm>
            <a:off x="4496435" y="2514600"/>
            <a:ext cx="0" cy="37338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156835" y="3175000"/>
            <a:ext cx="0" cy="29520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918835" y="2641600"/>
            <a:ext cx="0" cy="34452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147435" y="3098800"/>
            <a:ext cx="0" cy="29520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87210" y="2486025"/>
            <a:ext cx="0" cy="37338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290435" y="3175000"/>
            <a:ext cx="0" cy="30240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461885" y="2451100"/>
            <a:ext cx="0" cy="37338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06385" y="3091815"/>
            <a:ext cx="0" cy="3096000"/>
          </a:xfrm>
          <a:prstGeom prst="line">
            <a:avLst/>
          </a:prstGeom>
          <a:ln w="28575" cmpd="sng">
            <a:solidFill>
              <a:srgbClr val="1318F3"/>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7" name="对象 16"/>
          <p:cNvGraphicFramePr/>
          <p:nvPr/>
        </p:nvGraphicFramePr>
        <p:xfrm>
          <a:off x="106363" y="2042160"/>
          <a:ext cx="2955925" cy="2027238"/>
        </p:xfrm>
        <a:graphic>
          <a:graphicData uri="http://schemas.openxmlformats.org/presentationml/2006/ole">
            <mc:AlternateContent xmlns:mc="http://schemas.openxmlformats.org/markup-compatibility/2006">
              <mc:Choice xmlns:v="urn:schemas-microsoft-com:vml" Requires="v">
                <p:oleObj spid="_x0000_s18" name="" r:id="rId2" imgW="723265" imgH="440690" progId="Word.Picture.8">
                  <p:embed/>
                </p:oleObj>
              </mc:Choice>
              <mc:Fallback>
                <p:oleObj name="" r:id="rId2" imgW="723265" imgH="440690" progId="Word.Picture.8">
                  <p:embed/>
                  <p:pic>
                    <p:nvPicPr>
                      <p:cNvPr id="0" name="图片 3110"/>
                      <p:cNvPicPr/>
                      <p:nvPr/>
                    </p:nvPicPr>
                    <p:blipFill>
                      <a:blip r:embed="rId3"/>
                      <a:stretch>
                        <a:fillRect/>
                      </a:stretch>
                    </p:blipFill>
                    <p:spPr>
                      <a:xfrm>
                        <a:off x="106363" y="2042160"/>
                        <a:ext cx="2955925" cy="2027238"/>
                      </a:xfrm>
                      <a:prstGeom prst="rect">
                        <a:avLst/>
                      </a:prstGeom>
                      <a:solidFill>
                        <a:schemeClr val="bg1"/>
                      </a:solidFill>
                      <a:ln w="9525" cap="flat" cmpd="sng">
                        <a:solidFill>
                          <a:srgbClr val="FF0000"/>
                        </a:solidFill>
                        <a:prstDash val="solid"/>
                        <a:miter/>
                        <a:headEnd type="none" w="med" len="med"/>
                        <a:tailEnd type="none" w="med" len="med"/>
                      </a:ln>
                    </p:spPr>
                  </p:pic>
                </p:oleObj>
              </mc:Fallback>
            </mc:AlternateContent>
          </a:graphicData>
        </a:graphic>
      </p:graphicFrame>
      <p:sp>
        <p:nvSpPr>
          <p:cNvPr id="158732" name="矩形 158731"/>
          <p:cNvSpPr/>
          <p:nvPr/>
        </p:nvSpPr>
        <p:spPr>
          <a:xfrm>
            <a:off x="1989138" y="2473325"/>
            <a:ext cx="463550" cy="457200"/>
          </a:xfrm>
          <a:prstGeom prst="rect">
            <a:avLst/>
          </a:prstGeom>
          <a:solidFill>
            <a:schemeClr val="bg1"/>
          </a:solidFill>
          <a:ln w="38100">
            <a:noFill/>
          </a:ln>
        </p:spPr>
        <p:txBody>
          <a:bodyPr wrap="none" anchor="t" anchorCtr="0">
            <a:spAutoFit/>
          </a:bodyPr>
          <a:p>
            <a:pPr algn="ctr"/>
            <a:r>
              <a:rPr lang="en-US" altLang="zh-CN" sz="2400" b="1" i="1">
                <a:solidFill>
                  <a:srgbClr val="000066"/>
                </a:solidFill>
                <a:latin typeface="楷体_GB2312" panose="02010609030101010101" pitchFamily="49" charset="-122"/>
                <a:ea typeface="楷体_GB2312" panose="02010609030101010101" pitchFamily="49" charset="-122"/>
                <a:sym typeface="Symbol" panose="05050102010706020507" pitchFamily="18" charset="2"/>
              </a:rPr>
              <a:t></a:t>
            </a:r>
            <a:r>
              <a:rPr lang="en-US" altLang="zh-CN" sz="2400" b="1" baseline="-25000">
                <a:solidFill>
                  <a:srgbClr val="000066"/>
                </a:solidFill>
                <a:latin typeface="楷体_GB2312" panose="02010609030101010101" pitchFamily="49" charset="-122"/>
                <a:ea typeface="楷体_GB2312" panose="02010609030101010101" pitchFamily="49" charset="-122"/>
              </a:rPr>
              <a:t>o</a:t>
            </a:r>
            <a:endParaRPr lang="en-US" altLang="zh-CN" sz="2400" b="1" baseline="-25000">
              <a:solidFill>
                <a:srgbClr val="000066"/>
              </a:solidFill>
              <a:latin typeface="楷体_GB2312" panose="02010609030101010101" pitchFamily="49" charset="-122"/>
              <a:ea typeface="楷体_GB2312" panose="02010609030101010101" pitchFamily="49" charset="-122"/>
            </a:endParaRPr>
          </a:p>
        </p:txBody>
      </p:sp>
      <p:sp>
        <p:nvSpPr>
          <p:cNvPr id="158733" name="矩形 158732"/>
          <p:cNvSpPr/>
          <p:nvPr/>
        </p:nvSpPr>
        <p:spPr>
          <a:xfrm>
            <a:off x="242888" y="2457450"/>
            <a:ext cx="593725" cy="457200"/>
          </a:xfrm>
          <a:prstGeom prst="rect">
            <a:avLst/>
          </a:prstGeom>
          <a:solidFill>
            <a:schemeClr val="bg1"/>
          </a:solidFill>
          <a:ln w="38100">
            <a:noFill/>
          </a:ln>
        </p:spPr>
        <p:txBody>
          <a:bodyPr wrap="none" anchor="t" anchorCtr="0">
            <a:spAutoFit/>
          </a:bodyPr>
          <a:p>
            <a:pPr algn="ctr"/>
            <a:r>
              <a:rPr lang="el-GR" altLang="zh-CN" sz="2400" b="1" i="1" dirty="0">
                <a:solidFill>
                  <a:srgbClr val="000066"/>
                </a:solidFill>
                <a:latin typeface="Book Antiqua" panose="02040602050305030304" pitchFamily="18" charset="0"/>
                <a:ea typeface="楷体_GB2312" panose="02010609030101010101" pitchFamily="49" charset="-122"/>
              </a:rPr>
              <a:t>υ</a:t>
            </a:r>
            <a:r>
              <a:rPr lang="en-US" altLang="zh-CN" sz="2400" b="1" baseline="-25000">
                <a:solidFill>
                  <a:srgbClr val="000066"/>
                </a:solidFill>
                <a:latin typeface="楷体_GB2312" panose="02010609030101010101" pitchFamily="49" charset="-122"/>
                <a:ea typeface="楷体_GB2312" panose="02010609030101010101" pitchFamily="49" charset="-122"/>
              </a:rPr>
              <a:t>I</a:t>
            </a:r>
            <a:endParaRPr lang="en-US" altLang="zh-CN" sz="2400" b="1" baseline="-25000">
              <a:solidFill>
                <a:srgbClr val="000066"/>
              </a:solidFill>
              <a:latin typeface="楷体_GB2312" panose="02010609030101010101" pitchFamily="49" charset="-122"/>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par>
                          <p:cTn id="26" fill="hold">
                            <p:stCondLst>
                              <p:cond delay="1500"/>
                            </p:stCondLst>
                            <p:childTnLst>
                              <p:par>
                                <p:cTn id="27" presetID="3" presetClass="entr" presetSubtype="1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childTnLst>
                          </p:cTn>
                        </p:par>
                        <p:par>
                          <p:cTn id="30" fill="hold">
                            <p:stCondLst>
                              <p:cond delay="2000"/>
                            </p:stCondLst>
                            <p:childTnLst>
                              <p:par>
                                <p:cTn id="31" presetID="3" presetClass="entr" presetSubtype="1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horizontal)">
                                      <p:cBhvr>
                                        <p:cTn id="33" dur="500"/>
                                        <p:tgtEl>
                                          <p:spTgt spid="12"/>
                                        </p:tgtEl>
                                      </p:cBhvr>
                                    </p:animEffect>
                                  </p:childTnLst>
                                </p:cTn>
                              </p:par>
                            </p:childTnLst>
                          </p:cTn>
                        </p:par>
                        <p:par>
                          <p:cTn id="34" fill="hold">
                            <p:stCondLst>
                              <p:cond delay="2500"/>
                            </p:stCondLst>
                            <p:childTnLst>
                              <p:par>
                                <p:cTn id="35" presetID="3" presetClass="entr" presetSubtype="1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childTnLst>
                          </p:cTn>
                        </p:par>
                        <p:par>
                          <p:cTn id="38" fill="hold">
                            <p:stCondLst>
                              <p:cond delay="3000"/>
                            </p:stCondLst>
                            <p:childTnLst>
                              <p:par>
                                <p:cTn id="39" presetID="3" presetClass="entr" presetSubtype="1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childTnLst>
                          </p:cTn>
                        </p:par>
                        <p:par>
                          <p:cTn id="42" fill="hold">
                            <p:stCondLst>
                              <p:cond delay="3500"/>
                            </p:stCondLst>
                            <p:childTnLst>
                              <p:par>
                                <p:cTn id="43" presetID="3" presetClass="entr" presetSubtype="10"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0" presetClass="path" presetSubtype="0" accel="50000" decel="50000" fill="hold" grpId="0" nodeType="clickEffect">
                                  <p:stCondLst>
                                    <p:cond delay="0"/>
                                  </p:stCondLst>
                                  <p:childTnLst>
                                    <p:animMotion origin="layout" path="M 6.94444e-05 0 L 0.575069 0.0111111 " pathEditMode="relative" rAng="0" ptsTypes="">
                                      <p:cBhvr>
                                        <p:cTn id="49" dur="5000" fill="hold"/>
                                        <p:tgtEl>
                                          <p:spTgt spid="16"/>
                                        </p:tgtEl>
                                        <p:attrNameLst>
                                          <p:attrName>ppt_x</p:attrName>
                                          <p:attrName>ppt_y</p:attrName>
                                        </p:attrNameLst>
                                      </p:cBhvr>
                                      <p:rCtr x="287" y="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990600" y="1155065"/>
            <a:ext cx="29476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4.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矩形脉冲发生器</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7.4 </a:t>
            </a:r>
            <a:r>
              <a:rPr lang="zh-CN" altLang="en-US" b="1" dirty="0">
                <a:solidFill>
                  <a:srgbClr val="FF0000"/>
                </a:solidFill>
                <a:latin typeface="黑体" panose="02010609060101010101" pitchFamily="49" charset="-122"/>
                <a:ea typeface="黑体" panose="02010609060101010101" pitchFamily="49" charset="-122"/>
              </a:rPr>
              <a:t>施密特触发器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 name="文本框 15"/>
          <p:cNvSpPr txBox="1"/>
          <p:nvPr/>
        </p:nvSpPr>
        <p:spPr>
          <a:xfrm>
            <a:off x="3568065" y="5029200"/>
            <a:ext cx="5104130" cy="128160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6562" name="Line 5"/>
          <p:cNvSpPr/>
          <p:nvPr/>
        </p:nvSpPr>
        <p:spPr>
          <a:xfrm>
            <a:off x="1339850" y="1158875"/>
            <a:ext cx="6985000" cy="0"/>
          </a:xfrm>
          <a:prstGeom prst="line">
            <a:avLst/>
          </a:prstGeom>
          <a:ln w="76200" cap="flat" cmpd="tri">
            <a:solidFill>
              <a:srgbClr val="FF00FF"/>
            </a:solidFill>
            <a:prstDash val="solid"/>
            <a:round/>
            <a:headEnd type="none" w="med" len="med"/>
            <a:tailEnd type="none" w="med" len="med"/>
          </a:ln>
        </p:spPr>
      </p:sp>
      <p:grpSp>
        <p:nvGrpSpPr>
          <p:cNvPr id="306182" name="Group 6"/>
          <p:cNvGrpSpPr/>
          <p:nvPr/>
        </p:nvGrpSpPr>
        <p:grpSpPr>
          <a:xfrm>
            <a:off x="3886200" y="1085850"/>
            <a:ext cx="4800600" cy="3967163"/>
            <a:chOff x="480" y="883"/>
            <a:chExt cx="2265" cy="2499"/>
          </a:xfrm>
        </p:grpSpPr>
        <p:grpSp>
          <p:nvGrpSpPr>
            <p:cNvPr id="66564" name="Group 7"/>
            <p:cNvGrpSpPr/>
            <p:nvPr/>
          </p:nvGrpSpPr>
          <p:grpSpPr>
            <a:xfrm>
              <a:off x="480" y="883"/>
              <a:ext cx="2265" cy="1155"/>
              <a:chOff x="375" y="861"/>
              <a:chExt cx="2265" cy="1155"/>
            </a:xfrm>
          </p:grpSpPr>
          <p:sp>
            <p:nvSpPr>
              <p:cNvPr id="66565" name="Line 8"/>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66566" name="Line 9"/>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66567" name="Text Box 10"/>
              <p:cNvSpPr txBox="1"/>
              <p:nvPr/>
            </p:nvSpPr>
            <p:spPr>
              <a:xfrm>
                <a:off x="375" y="861"/>
                <a:ext cx="185" cy="291"/>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I</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66568" name="Text Box 11"/>
              <p:cNvSpPr txBox="1"/>
              <p:nvPr/>
            </p:nvSpPr>
            <p:spPr>
              <a:xfrm>
                <a:off x="2400" y="1728"/>
                <a:ext cx="125"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endParaRPr lang="en-US" altLang="zh-CN" sz="2400" b="1" i="1" baseline="-25000" dirty="0">
                  <a:latin typeface="Times New Roman" panose="02020603050405020304" charset="0"/>
                  <a:ea typeface="楷体" panose="02010609060101010101" charset="-122"/>
                  <a:cs typeface="Times New Roman" panose="02020603050405020304" charset="0"/>
                </a:endParaRPr>
              </a:p>
            </p:txBody>
          </p:sp>
        </p:grpSp>
        <p:grpSp>
          <p:nvGrpSpPr>
            <p:cNvPr id="66569" name="Group 12"/>
            <p:cNvGrpSpPr/>
            <p:nvPr/>
          </p:nvGrpSpPr>
          <p:grpSpPr>
            <a:xfrm>
              <a:off x="480" y="2208"/>
              <a:ext cx="2265" cy="1174"/>
              <a:chOff x="375" y="842"/>
              <a:chExt cx="2265" cy="1174"/>
            </a:xfrm>
          </p:grpSpPr>
          <p:sp>
            <p:nvSpPr>
              <p:cNvPr id="66570" name="Line 13"/>
              <p:cNvSpPr/>
              <p:nvPr/>
            </p:nvSpPr>
            <p:spPr>
              <a:xfrm flipV="1">
                <a:off x="384" y="1008"/>
                <a:ext cx="0" cy="1008"/>
              </a:xfrm>
              <a:prstGeom prst="line">
                <a:avLst/>
              </a:prstGeom>
              <a:ln w="28575" cap="flat" cmpd="sng">
                <a:solidFill>
                  <a:schemeClr val="tx1"/>
                </a:solidFill>
                <a:prstDash val="solid"/>
                <a:round/>
                <a:headEnd type="none" w="med" len="med"/>
                <a:tailEnd type="triangle" w="med" len="med"/>
              </a:ln>
            </p:spPr>
          </p:sp>
          <p:sp>
            <p:nvSpPr>
              <p:cNvPr id="66571" name="Line 14"/>
              <p:cNvSpPr/>
              <p:nvPr/>
            </p:nvSpPr>
            <p:spPr>
              <a:xfrm>
                <a:off x="384" y="2016"/>
                <a:ext cx="2256" cy="0"/>
              </a:xfrm>
              <a:prstGeom prst="line">
                <a:avLst/>
              </a:prstGeom>
              <a:ln w="28575" cap="flat" cmpd="sng">
                <a:solidFill>
                  <a:schemeClr val="tx1"/>
                </a:solidFill>
                <a:prstDash val="solid"/>
                <a:round/>
                <a:headEnd type="none" w="med" len="med"/>
                <a:tailEnd type="triangle" w="med" len="med"/>
              </a:ln>
            </p:spPr>
          </p:sp>
          <p:sp>
            <p:nvSpPr>
              <p:cNvPr id="66572" name="Text Box 15"/>
              <p:cNvSpPr txBox="1"/>
              <p:nvPr/>
            </p:nvSpPr>
            <p:spPr>
              <a:xfrm>
                <a:off x="375" y="842"/>
                <a:ext cx="224"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O</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66573" name="Text Box 16"/>
              <p:cNvSpPr txBox="1"/>
              <p:nvPr/>
            </p:nvSpPr>
            <p:spPr>
              <a:xfrm>
                <a:off x="2400" y="1728"/>
                <a:ext cx="125"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endParaRPr lang="en-US" altLang="zh-CN" sz="2400" b="1" i="1" baseline="-25000" dirty="0">
                  <a:latin typeface="Times New Roman" panose="02020603050405020304" charset="0"/>
                  <a:ea typeface="楷体" panose="02010609060101010101" charset="-122"/>
                  <a:cs typeface="Times New Roman" panose="02020603050405020304" charset="0"/>
                </a:endParaRPr>
              </a:p>
            </p:txBody>
          </p:sp>
        </p:grpSp>
      </p:grpSp>
      <p:grpSp>
        <p:nvGrpSpPr>
          <p:cNvPr id="306193" name="Group 17"/>
          <p:cNvGrpSpPr/>
          <p:nvPr/>
        </p:nvGrpSpPr>
        <p:grpSpPr>
          <a:xfrm>
            <a:off x="3352800" y="1631950"/>
            <a:ext cx="5030788" cy="908050"/>
            <a:chOff x="2016" y="576"/>
            <a:chExt cx="3169" cy="572"/>
          </a:xfrm>
        </p:grpSpPr>
        <p:sp>
          <p:nvSpPr>
            <p:cNvPr id="66575" name="Line 18"/>
            <p:cNvSpPr/>
            <p:nvPr/>
          </p:nvSpPr>
          <p:spPr>
            <a:xfrm>
              <a:off x="2352" y="672"/>
              <a:ext cx="2769" cy="0"/>
            </a:xfrm>
            <a:prstGeom prst="line">
              <a:avLst/>
            </a:prstGeom>
            <a:ln w="12700" cap="flat" cmpd="sng">
              <a:solidFill>
                <a:schemeClr val="tx1"/>
              </a:solidFill>
              <a:prstDash val="lgDash"/>
              <a:round/>
              <a:headEnd type="none" w="med" len="med"/>
              <a:tailEnd type="none" w="med" len="med"/>
            </a:ln>
          </p:spPr>
        </p:sp>
        <p:sp>
          <p:nvSpPr>
            <p:cNvPr id="66576" name="Line 19"/>
            <p:cNvSpPr/>
            <p:nvPr/>
          </p:nvSpPr>
          <p:spPr>
            <a:xfrm>
              <a:off x="2352" y="1056"/>
              <a:ext cx="2833" cy="0"/>
            </a:xfrm>
            <a:prstGeom prst="line">
              <a:avLst/>
            </a:prstGeom>
            <a:ln w="12700" cap="flat" cmpd="sng">
              <a:solidFill>
                <a:schemeClr val="tx1"/>
              </a:solidFill>
              <a:prstDash val="lgDash"/>
              <a:round/>
              <a:headEnd type="none" w="med" len="med"/>
              <a:tailEnd type="none" w="med" len="med"/>
            </a:ln>
          </p:spPr>
        </p:sp>
        <p:sp>
          <p:nvSpPr>
            <p:cNvPr id="66577" name="Text Box 20"/>
            <p:cNvSpPr txBox="1"/>
            <p:nvPr/>
          </p:nvSpPr>
          <p:spPr>
            <a:xfrm>
              <a:off x="2016" y="576"/>
              <a:ext cx="410"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T+</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66578" name="Text Box 21"/>
            <p:cNvSpPr txBox="1"/>
            <p:nvPr/>
          </p:nvSpPr>
          <p:spPr>
            <a:xfrm>
              <a:off x="2016" y="860"/>
              <a:ext cx="381"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T-</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grpSp>
      <p:grpSp>
        <p:nvGrpSpPr>
          <p:cNvPr id="306198" name="Group 22"/>
          <p:cNvGrpSpPr/>
          <p:nvPr/>
        </p:nvGrpSpPr>
        <p:grpSpPr>
          <a:xfrm>
            <a:off x="3860800" y="1774825"/>
            <a:ext cx="695325" cy="3124200"/>
            <a:chOff x="2346" y="672"/>
            <a:chExt cx="438" cy="1968"/>
          </a:xfrm>
        </p:grpSpPr>
        <p:sp>
          <p:nvSpPr>
            <p:cNvPr id="66580" name="Freeform 23"/>
            <p:cNvSpPr/>
            <p:nvPr/>
          </p:nvSpPr>
          <p:spPr>
            <a:xfrm>
              <a:off x="2346" y="672"/>
              <a:ext cx="438" cy="639"/>
            </a:xfrm>
            <a:custGeom>
              <a:avLst/>
              <a:gdLst/>
              <a:ahLst/>
              <a:cxnLst>
                <a:cxn ang="0">
                  <a:pos x="0" y="639"/>
                </a:cxn>
                <a:cxn ang="0">
                  <a:pos x="438" y="0"/>
                </a:cxn>
              </a:cxnLst>
              <a:pathLst>
                <a:path w="438" h="639">
                  <a:moveTo>
                    <a:pt x="0" y="639"/>
                  </a:moveTo>
                  <a:cubicBezTo>
                    <a:pt x="25" y="639"/>
                    <a:pt x="133" y="213"/>
                    <a:pt x="438" y="0"/>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581" name="Line 24"/>
            <p:cNvSpPr/>
            <p:nvPr/>
          </p:nvSpPr>
          <p:spPr>
            <a:xfrm>
              <a:off x="2784" y="672"/>
              <a:ext cx="0" cy="1968"/>
            </a:xfrm>
            <a:prstGeom prst="line">
              <a:avLst/>
            </a:prstGeom>
            <a:ln w="12700" cap="flat" cmpd="sng">
              <a:solidFill>
                <a:srgbClr val="CC3300"/>
              </a:solidFill>
              <a:prstDash val="lgDash"/>
              <a:round/>
              <a:headEnd type="none" w="med" len="med"/>
              <a:tailEnd type="none" w="med" len="med"/>
            </a:ln>
          </p:spPr>
        </p:sp>
        <p:sp>
          <p:nvSpPr>
            <p:cNvPr id="66582" name="Line 25"/>
            <p:cNvSpPr/>
            <p:nvPr/>
          </p:nvSpPr>
          <p:spPr>
            <a:xfrm>
              <a:off x="2352" y="2112"/>
              <a:ext cx="432" cy="0"/>
            </a:xfrm>
            <a:prstGeom prst="line">
              <a:avLst/>
            </a:prstGeom>
            <a:ln w="57150" cap="flat" cmpd="sng">
              <a:solidFill>
                <a:srgbClr val="CC3300"/>
              </a:solidFill>
              <a:prstDash val="solid"/>
              <a:round/>
              <a:headEnd type="none" w="med" len="med"/>
              <a:tailEnd type="none" w="med" len="med"/>
            </a:ln>
          </p:spPr>
        </p:sp>
        <p:sp>
          <p:nvSpPr>
            <p:cNvPr id="66583" name="Line 26"/>
            <p:cNvSpPr/>
            <p:nvPr/>
          </p:nvSpPr>
          <p:spPr>
            <a:xfrm>
              <a:off x="2784" y="2112"/>
              <a:ext cx="0" cy="528"/>
            </a:xfrm>
            <a:prstGeom prst="line">
              <a:avLst/>
            </a:prstGeom>
            <a:ln w="57150" cap="flat" cmpd="sng">
              <a:solidFill>
                <a:srgbClr val="CC3300"/>
              </a:solidFill>
              <a:prstDash val="solid"/>
              <a:round/>
              <a:headEnd type="none" w="med" len="med"/>
              <a:tailEnd type="none" w="med" len="med"/>
            </a:ln>
          </p:spPr>
        </p:sp>
      </p:grpSp>
      <p:grpSp>
        <p:nvGrpSpPr>
          <p:cNvPr id="306203" name="Group 27"/>
          <p:cNvGrpSpPr/>
          <p:nvPr/>
        </p:nvGrpSpPr>
        <p:grpSpPr>
          <a:xfrm>
            <a:off x="4572000" y="1784350"/>
            <a:ext cx="609600" cy="3124200"/>
            <a:chOff x="2784" y="672"/>
            <a:chExt cx="384" cy="1968"/>
          </a:xfrm>
        </p:grpSpPr>
        <p:sp>
          <p:nvSpPr>
            <p:cNvPr id="66585" name="Freeform 28"/>
            <p:cNvSpPr/>
            <p:nvPr/>
          </p:nvSpPr>
          <p:spPr>
            <a:xfrm>
              <a:off x="2784" y="672"/>
              <a:ext cx="384" cy="384"/>
            </a:xfrm>
            <a:custGeom>
              <a:avLst/>
              <a:gdLst/>
              <a:ahLst/>
              <a:cxnLst>
                <a:cxn ang="0">
                  <a:pos x="0" y="0"/>
                </a:cxn>
                <a:cxn ang="0">
                  <a:pos x="384" y="384"/>
                </a:cxn>
              </a:cxnLst>
              <a:pathLst>
                <a:path w="384" h="384">
                  <a:moveTo>
                    <a:pt x="0" y="0"/>
                  </a:moveTo>
                  <a:cubicBezTo>
                    <a:pt x="0" y="0"/>
                    <a:pt x="88" y="255"/>
                    <a:pt x="384" y="384"/>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586" name="Line 29"/>
            <p:cNvSpPr/>
            <p:nvPr/>
          </p:nvSpPr>
          <p:spPr>
            <a:xfrm>
              <a:off x="3168" y="1056"/>
              <a:ext cx="0" cy="1584"/>
            </a:xfrm>
            <a:prstGeom prst="line">
              <a:avLst/>
            </a:prstGeom>
            <a:ln w="12700" cap="flat" cmpd="sng">
              <a:solidFill>
                <a:srgbClr val="CC3300"/>
              </a:solidFill>
              <a:prstDash val="lgDash"/>
              <a:round/>
              <a:headEnd type="none" w="med" len="med"/>
              <a:tailEnd type="none" w="med" len="med"/>
            </a:ln>
          </p:spPr>
        </p:sp>
        <p:sp>
          <p:nvSpPr>
            <p:cNvPr id="66587" name="Line 30"/>
            <p:cNvSpPr/>
            <p:nvPr/>
          </p:nvSpPr>
          <p:spPr>
            <a:xfrm>
              <a:off x="2784" y="2640"/>
              <a:ext cx="384" cy="0"/>
            </a:xfrm>
            <a:prstGeom prst="line">
              <a:avLst/>
            </a:prstGeom>
            <a:ln w="57150" cap="flat" cmpd="sng">
              <a:solidFill>
                <a:srgbClr val="CC3300"/>
              </a:solidFill>
              <a:prstDash val="solid"/>
              <a:round/>
              <a:headEnd type="none" w="med" len="med"/>
              <a:tailEnd type="none" w="med" len="med"/>
            </a:ln>
          </p:spPr>
        </p:sp>
        <p:sp>
          <p:nvSpPr>
            <p:cNvPr id="66588" name="Line 31"/>
            <p:cNvSpPr/>
            <p:nvPr/>
          </p:nvSpPr>
          <p:spPr>
            <a:xfrm>
              <a:off x="3168" y="2112"/>
              <a:ext cx="0" cy="528"/>
            </a:xfrm>
            <a:prstGeom prst="line">
              <a:avLst/>
            </a:prstGeom>
            <a:ln w="57150" cap="flat" cmpd="sng">
              <a:solidFill>
                <a:srgbClr val="CC3300"/>
              </a:solidFill>
              <a:prstDash val="solid"/>
              <a:round/>
              <a:headEnd type="none" w="med" len="med"/>
              <a:tailEnd type="none" w="med" len="med"/>
            </a:ln>
          </p:spPr>
        </p:sp>
      </p:grpSp>
      <p:grpSp>
        <p:nvGrpSpPr>
          <p:cNvPr id="306208" name="Group 32"/>
          <p:cNvGrpSpPr/>
          <p:nvPr/>
        </p:nvGrpSpPr>
        <p:grpSpPr>
          <a:xfrm>
            <a:off x="5181600" y="1784350"/>
            <a:ext cx="609600" cy="3124200"/>
            <a:chOff x="3168" y="672"/>
            <a:chExt cx="384" cy="1968"/>
          </a:xfrm>
        </p:grpSpPr>
        <p:sp>
          <p:nvSpPr>
            <p:cNvPr id="66590" name="Freeform 33"/>
            <p:cNvSpPr/>
            <p:nvPr/>
          </p:nvSpPr>
          <p:spPr>
            <a:xfrm flipV="1">
              <a:off x="3168" y="672"/>
              <a:ext cx="384" cy="384"/>
            </a:xfrm>
            <a:custGeom>
              <a:avLst/>
              <a:gdLst/>
              <a:ahLst/>
              <a:cxnLst>
                <a:cxn ang="0">
                  <a:pos x="0" y="0"/>
                </a:cxn>
                <a:cxn ang="0">
                  <a:pos x="384" y="384"/>
                </a:cxn>
              </a:cxnLst>
              <a:pathLst>
                <a:path w="384" h="384">
                  <a:moveTo>
                    <a:pt x="0" y="0"/>
                  </a:moveTo>
                  <a:cubicBezTo>
                    <a:pt x="0" y="0"/>
                    <a:pt x="88" y="255"/>
                    <a:pt x="384" y="384"/>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591" name="Line 34"/>
            <p:cNvSpPr/>
            <p:nvPr/>
          </p:nvSpPr>
          <p:spPr>
            <a:xfrm>
              <a:off x="3552" y="672"/>
              <a:ext cx="0" cy="1968"/>
            </a:xfrm>
            <a:prstGeom prst="line">
              <a:avLst/>
            </a:prstGeom>
            <a:ln w="12700" cap="flat" cmpd="sng">
              <a:solidFill>
                <a:srgbClr val="CC3300"/>
              </a:solidFill>
              <a:prstDash val="lgDash"/>
              <a:round/>
              <a:headEnd type="none" w="med" len="med"/>
              <a:tailEnd type="none" w="med" len="med"/>
            </a:ln>
          </p:spPr>
        </p:sp>
        <p:sp>
          <p:nvSpPr>
            <p:cNvPr id="66592" name="Line 35"/>
            <p:cNvSpPr/>
            <p:nvPr/>
          </p:nvSpPr>
          <p:spPr>
            <a:xfrm>
              <a:off x="3168" y="2112"/>
              <a:ext cx="384" cy="0"/>
            </a:xfrm>
            <a:prstGeom prst="line">
              <a:avLst/>
            </a:prstGeom>
            <a:ln w="57150" cap="flat" cmpd="sng">
              <a:solidFill>
                <a:srgbClr val="CC3300"/>
              </a:solidFill>
              <a:prstDash val="solid"/>
              <a:round/>
              <a:headEnd type="none" w="med" len="med"/>
              <a:tailEnd type="none" w="med" len="med"/>
            </a:ln>
          </p:spPr>
        </p:sp>
        <p:sp>
          <p:nvSpPr>
            <p:cNvPr id="66593" name="Line 36"/>
            <p:cNvSpPr/>
            <p:nvPr/>
          </p:nvSpPr>
          <p:spPr>
            <a:xfrm>
              <a:off x="3552" y="2112"/>
              <a:ext cx="0" cy="528"/>
            </a:xfrm>
            <a:prstGeom prst="line">
              <a:avLst/>
            </a:prstGeom>
            <a:ln w="57150" cap="flat" cmpd="sng">
              <a:solidFill>
                <a:srgbClr val="CC3300"/>
              </a:solidFill>
              <a:prstDash val="solid"/>
              <a:round/>
              <a:headEnd type="none" w="med" len="med"/>
              <a:tailEnd type="none" w="med" len="med"/>
            </a:ln>
          </p:spPr>
        </p:sp>
      </p:grpSp>
      <p:grpSp>
        <p:nvGrpSpPr>
          <p:cNvPr id="306213" name="Group 37"/>
          <p:cNvGrpSpPr/>
          <p:nvPr/>
        </p:nvGrpSpPr>
        <p:grpSpPr>
          <a:xfrm>
            <a:off x="5791200" y="1784350"/>
            <a:ext cx="609600" cy="3124200"/>
            <a:chOff x="3552" y="672"/>
            <a:chExt cx="384" cy="1968"/>
          </a:xfrm>
        </p:grpSpPr>
        <p:sp>
          <p:nvSpPr>
            <p:cNvPr id="66595" name="Freeform 38"/>
            <p:cNvSpPr/>
            <p:nvPr/>
          </p:nvSpPr>
          <p:spPr>
            <a:xfrm>
              <a:off x="3552" y="672"/>
              <a:ext cx="384" cy="384"/>
            </a:xfrm>
            <a:custGeom>
              <a:avLst/>
              <a:gdLst/>
              <a:ahLst/>
              <a:cxnLst>
                <a:cxn ang="0">
                  <a:pos x="0" y="0"/>
                </a:cxn>
                <a:cxn ang="0">
                  <a:pos x="384" y="384"/>
                </a:cxn>
              </a:cxnLst>
              <a:pathLst>
                <a:path w="384" h="384">
                  <a:moveTo>
                    <a:pt x="0" y="0"/>
                  </a:moveTo>
                  <a:cubicBezTo>
                    <a:pt x="0" y="0"/>
                    <a:pt x="88" y="255"/>
                    <a:pt x="384" y="384"/>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596" name="Line 39"/>
            <p:cNvSpPr/>
            <p:nvPr/>
          </p:nvSpPr>
          <p:spPr>
            <a:xfrm>
              <a:off x="3936" y="1056"/>
              <a:ext cx="0" cy="1584"/>
            </a:xfrm>
            <a:prstGeom prst="line">
              <a:avLst/>
            </a:prstGeom>
            <a:ln w="12700" cap="flat" cmpd="sng">
              <a:solidFill>
                <a:srgbClr val="CC3300"/>
              </a:solidFill>
              <a:prstDash val="lgDash"/>
              <a:round/>
              <a:headEnd type="none" w="med" len="med"/>
              <a:tailEnd type="none" w="med" len="med"/>
            </a:ln>
          </p:spPr>
        </p:sp>
        <p:sp>
          <p:nvSpPr>
            <p:cNvPr id="66597" name="Line 40"/>
            <p:cNvSpPr/>
            <p:nvPr/>
          </p:nvSpPr>
          <p:spPr>
            <a:xfrm>
              <a:off x="3552" y="2640"/>
              <a:ext cx="384" cy="0"/>
            </a:xfrm>
            <a:prstGeom prst="line">
              <a:avLst/>
            </a:prstGeom>
            <a:ln w="57150" cap="flat" cmpd="sng">
              <a:solidFill>
                <a:srgbClr val="CC3300"/>
              </a:solidFill>
              <a:prstDash val="solid"/>
              <a:round/>
              <a:headEnd type="none" w="med" len="med"/>
              <a:tailEnd type="none" w="med" len="med"/>
            </a:ln>
          </p:spPr>
        </p:sp>
        <p:sp>
          <p:nvSpPr>
            <p:cNvPr id="66598" name="Line 41"/>
            <p:cNvSpPr/>
            <p:nvPr/>
          </p:nvSpPr>
          <p:spPr>
            <a:xfrm>
              <a:off x="3936" y="2112"/>
              <a:ext cx="0" cy="528"/>
            </a:xfrm>
            <a:prstGeom prst="line">
              <a:avLst/>
            </a:prstGeom>
            <a:ln w="57150" cap="flat" cmpd="sng">
              <a:solidFill>
                <a:srgbClr val="CC3300"/>
              </a:solidFill>
              <a:prstDash val="solid"/>
              <a:round/>
              <a:headEnd type="none" w="med" len="med"/>
              <a:tailEnd type="none" w="med" len="med"/>
            </a:ln>
          </p:spPr>
        </p:sp>
      </p:grpSp>
      <p:grpSp>
        <p:nvGrpSpPr>
          <p:cNvPr id="306218" name="Group 42"/>
          <p:cNvGrpSpPr/>
          <p:nvPr/>
        </p:nvGrpSpPr>
        <p:grpSpPr>
          <a:xfrm>
            <a:off x="6400800" y="1784350"/>
            <a:ext cx="1828800" cy="3124200"/>
            <a:chOff x="3936" y="672"/>
            <a:chExt cx="1152" cy="1968"/>
          </a:xfrm>
        </p:grpSpPr>
        <p:sp>
          <p:nvSpPr>
            <p:cNvPr id="66600" name="Freeform 43"/>
            <p:cNvSpPr/>
            <p:nvPr/>
          </p:nvSpPr>
          <p:spPr>
            <a:xfrm flipV="1">
              <a:off x="3936" y="672"/>
              <a:ext cx="384" cy="384"/>
            </a:xfrm>
            <a:custGeom>
              <a:avLst/>
              <a:gdLst/>
              <a:ahLst/>
              <a:cxnLst>
                <a:cxn ang="0">
                  <a:pos x="0" y="0"/>
                </a:cxn>
                <a:cxn ang="0">
                  <a:pos x="384" y="384"/>
                </a:cxn>
              </a:cxnLst>
              <a:pathLst>
                <a:path w="384" h="384">
                  <a:moveTo>
                    <a:pt x="0" y="0"/>
                  </a:moveTo>
                  <a:cubicBezTo>
                    <a:pt x="0" y="0"/>
                    <a:pt x="88" y="255"/>
                    <a:pt x="384" y="384"/>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601" name="Freeform 44"/>
            <p:cNvSpPr/>
            <p:nvPr/>
          </p:nvSpPr>
          <p:spPr>
            <a:xfrm>
              <a:off x="4320" y="672"/>
              <a:ext cx="384" cy="384"/>
            </a:xfrm>
            <a:custGeom>
              <a:avLst/>
              <a:gdLst/>
              <a:ahLst/>
              <a:cxnLst>
                <a:cxn ang="0">
                  <a:pos x="0" y="0"/>
                </a:cxn>
                <a:cxn ang="0">
                  <a:pos x="384" y="384"/>
                </a:cxn>
              </a:cxnLst>
              <a:pathLst>
                <a:path w="384" h="384">
                  <a:moveTo>
                    <a:pt x="0" y="0"/>
                  </a:moveTo>
                  <a:cubicBezTo>
                    <a:pt x="0" y="0"/>
                    <a:pt x="88" y="255"/>
                    <a:pt x="384" y="384"/>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602" name="Freeform 45"/>
            <p:cNvSpPr/>
            <p:nvPr/>
          </p:nvSpPr>
          <p:spPr>
            <a:xfrm flipV="1">
              <a:off x="4704" y="672"/>
              <a:ext cx="384" cy="384"/>
            </a:xfrm>
            <a:custGeom>
              <a:avLst/>
              <a:gdLst/>
              <a:ahLst/>
              <a:cxnLst>
                <a:cxn ang="0">
                  <a:pos x="0" y="0"/>
                </a:cxn>
                <a:cxn ang="0">
                  <a:pos x="384" y="384"/>
                </a:cxn>
              </a:cxnLst>
              <a:pathLst>
                <a:path w="384" h="384">
                  <a:moveTo>
                    <a:pt x="0" y="0"/>
                  </a:moveTo>
                  <a:cubicBezTo>
                    <a:pt x="0" y="0"/>
                    <a:pt x="88" y="255"/>
                    <a:pt x="384" y="384"/>
                  </a:cubicBezTo>
                </a:path>
              </a:pathLst>
            </a:custGeom>
            <a:noFill/>
            <a:ln w="57150" cap="flat" cmpd="sng">
              <a:solidFill>
                <a:srgbClr val="CC3300"/>
              </a:solidFill>
              <a:prstDash val="solid"/>
              <a:roun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66603" name="Line 46"/>
            <p:cNvSpPr/>
            <p:nvPr/>
          </p:nvSpPr>
          <p:spPr>
            <a:xfrm>
              <a:off x="4320" y="672"/>
              <a:ext cx="0" cy="1968"/>
            </a:xfrm>
            <a:prstGeom prst="line">
              <a:avLst/>
            </a:prstGeom>
            <a:ln w="12700" cap="flat" cmpd="sng">
              <a:solidFill>
                <a:srgbClr val="CC3300"/>
              </a:solidFill>
              <a:prstDash val="lgDash"/>
              <a:round/>
              <a:headEnd type="none" w="med" len="med"/>
              <a:tailEnd type="none" w="med" len="med"/>
            </a:ln>
          </p:spPr>
        </p:sp>
        <p:sp>
          <p:nvSpPr>
            <p:cNvPr id="66604" name="Line 47"/>
            <p:cNvSpPr/>
            <p:nvPr/>
          </p:nvSpPr>
          <p:spPr>
            <a:xfrm>
              <a:off x="5088" y="672"/>
              <a:ext cx="0" cy="1968"/>
            </a:xfrm>
            <a:prstGeom prst="line">
              <a:avLst/>
            </a:prstGeom>
            <a:ln w="12700" cap="flat" cmpd="sng">
              <a:solidFill>
                <a:srgbClr val="CC3300"/>
              </a:solidFill>
              <a:prstDash val="lgDash"/>
              <a:round/>
              <a:headEnd type="none" w="med" len="med"/>
              <a:tailEnd type="none" w="med" len="med"/>
            </a:ln>
          </p:spPr>
        </p:sp>
        <p:sp>
          <p:nvSpPr>
            <p:cNvPr id="66605" name="Line 48"/>
            <p:cNvSpPr/>
            <p:nvPr/>
          </p:nvSpPr>
          <p:spPr>
            <a:xfrm>
              <a:off x="4704" y="1056"/>
              <a:ext cx="0" cy="1584"/>
            </a:xfrm>
            <a:prstGeom prst="line">
              <a:avLst/>
            </a:prstGeom>
            <a:ln w="12700" cap="flat" cmpd="sng">
              <a:solidFill>
                <a:srgbClr val="CC3300"/>
              </a:solidFill>
              <a:prstDash val="lgDash"/>
              <a:round/>
              <a:headEnd type="none" w="med" len="med"/>
              <a:tailEnd type="none" w="med" len="med"/>
            </a:ln>
          </p:spPr>
        </p:sp>
        <p:sp>
          <p:nvSpPr>
            <p:cNvPr id="66606" name="Line 49"/>
            <p:cNvSpPr/>
            <p:nvPr/>
          </p:nvSpPr>
          <p:spPr>
            <a:xfrm>
              <a:off x="3936" y="2112"/>
              <a:ext cx="384" cy="0"/>
            </a:xfrm>
            <a:prstGeom prst="line">
              <a:avLst/>
            </a:prstGeom>
            <a:ln w="57150" cap="flat" cmpd="sng">
              <a:solidFill>
                <a:srgbClr val="CC3300"/>
              </a:solidFill>
              <a:prstDash val="solid"/>
              <a:round/>
              <a:headEnd type="none" w="med" len="med"/>
              <a:tailEnd type="none" w="med" len="med"/>
            </a:ln>
          </p:spPr>
        </p:sp>
        <p:sp>
          <p:nvSpPr>
            <p:cNvPr id="66607" name="Line 50"/>
            <p:cNvSpPr/>
            <p:nvPr/>
          </p:nvSpPr>
          <p:spPr>
            <a:xfrm>
              <a:off x="4320" y="2112"/>
              <a:ext cx="0" cy="528"/>
            </a:xfrm>
            <a:prstGeom prst="line">
              <a:avLst/>
            </a:prstGeom>
            <a:ln w="57150" cap="flat" cmpd="sng">
              <a:solidFill>
                <a:srgbClr val="CC3300"/>
              </a:solidFill>
              <a:prstDash val="solid"/>
              <a:round/>
              <a:headEnd type="none" w="med" len="med"/>
              <a:tailEnd type="none" w="med" len="med"/>
            </a:ln>
          </p:spPr>
        </p:sp>
        <p:sp>
          <p:nvSpPr>
            <p:cNvPr id="66608" name="Line 51"/>
            <p:cNvSpPr/>
            <p:nvPr/>
          </p:nvSpPr>
          <p:spPr>
            <a:xfrm>
              <a:off x="4320" y="2640"/>
              <a:ext cx="384" cy="0"/>
            </a:xfrm>
            <a:prstGeom prst="line">
              <a:avLst/>
            </a:prstGeom>
            <a:ln w="57150" cap="flat" cmpd="sng">
              <a:solidFill>
                <a:srgbClr val="CC3300"/>
              </a:solidFill>
              <a:prstDash val="solid"/>
              <a:round/>
              <a:headEnd type="none" w="med" len="med"/>
              <a:tailEnd type="none" w="med" len="med"/>
            </a:ln>
          </p:spPr>
        </p:sp>
        <p:sp>
          <p:nvSpPr>
            <p:cNvPr id="66609" name="Line 52"/>
            <p:cNvSpPr/>
            <p:nvPr/>
          </p:nvSpPr>
          <p:spPr>
            <a:xfrm>
              <a:off x="4704" y="2112"/>
              <a:ext cx="0" cy="528"/>
            </a:xfrm>
            <a:prstGeom prst="line">
              <a:avLst/>
            </a:prstGeom>
            <a:ln w="57150" cap="flat" cmpd="sng">
              <a:solidFill>
                <a:srgbClr val="CC3300"/>
              </a:solidFill>
              <a:prstDash val="solid"/>
              <a:round/>
              <a:headEnd type="none" w="med" len="med"/>
              <a:tailEnd type="none" w="med" len="med"/>
            </a:ln>
          </p:spPr>
        </p:sp>
        <p:sp>
          <p:nvSpPr>
            <p:cNvPr id="66610" name="Line 53"/>
            <p:cNvSpPr/>
            <p:nvPr/>
          </p:nvSpPr>
          <p:spPr>
            <a:xfrm>
              <a:off x="4704" y="2112"/>
              <a:ext cx="384" cy="0"/>
            </a:xfrm>
            <a:prstGeom prst="line">
              <a:avLst/>
            </a:prstGeom>
            <a:ln w="57150" cap="flat" cmpd="sng">
              <a:solidFill>
                <a:srgbClr val="CC3300"/>
              </a:solidFill>
              <a:prstDash val="solid"/>
              <a:round/>
              <a:headEnd type="none" w="med" len="med"/>
              <a:tailEnd type="none" w="med" len="med"/>
            </a:ln>
          </p:spPr>
        </p:sp>
      </p:grpSp>
      <p:sp>
        <p:nvSpPr>
          <p:cNvPr id="306230" name="Text Box 54"/>
          <p:cNvSpPr txBox="1"/>
          <p:nvPr/>
        </p:nvSpPr>
        <p:spPr>
          <a:xfrm>
            <a:off x="5257800" y="4375150"/>
            <a:ext cx="485775" cy="457200"/>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r>
              <a:rPr lang="en-US" altLang="zh-CN" sz="2400" b="1" baseline="-25000" dirty="0">
                <a:latin typeface="Times New Roman" panose="02020603050405020304" charset="0"/>
                <a:ea typeface="楷体" panose="02010609060101010101" charset="-122"/>
                <a:cs typeface="Times New Roman" panose="02020603050405020304" charset="0"/>
              </a:rPr>
              <a:t>1</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306231" name="Text Box 55"/>
          <p:cNvSpPr txBox="1"/>
          <p:nvPr/>
        </p:nvSpPr>
        <p:spPr>
          <a:xfrm>
            <a:off x="5876925" y="4410075"/>
            <a:ext cx="485775" cy="457200"/>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T</a:t>
            </a:r>
            <a:r>
              <a:rPr lang="en-US" altLang="zh-CN" sz="2400" b="1" baseline="-25000" dirty="0">
                <a:latin typeface="Times New Roman" panose="02020603050405020304" charset="0"/>
                <a:ea typeface="楷体" panose="02010609060101010101" charset="-122"/>
                <a:cs typeface="Times New Roman" panose="02020603050405020304" charset="0"/>
              </a:rPr>
              <a:t>2</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grpSp>
        <p:nvGrpSpPr>
          <p:cNvPr id="66616" name="Group 60"/>
          <p:cNvGrpSpPr/>
          <p:nvPr/>
        </p:nvGrpSpPr>
        <p:grpSpPr>
          <a:xfrm>
            <a:off x="547688" y="1541463"/>
            <a:ext cx="3065462" cy="2965450"/>
            <a:chOff x="288" y="436"/>
            <a:chExt cx="1931" cy="1868"/>
          </a:xfrm>
        </p:grpSpPr>
        <p:grpSp>
          <p:nvGrpSpPr>
            <p:cNvPr id="66617" name="Group 61"/>
            <p:cNvGrpSpPr/>
            <p:nvPr/>
          </p:nvGrpSpPr>
          <p:grpSpPr>
            <a:xfrm>
              <a:off x="288" y="663"/>
              <a:ext cx="1931" cy="1641"/>
              <a:chOff x="288" y="663"/>
              <a:chExt cx="1931" cy="1641"/>
            </a:xfrm>
          </p:grpSpPr>
          <p:sp>
            <p:nvSpPr>
              <p:cNvPr id="66618" name="Rectangle 62"/>
              <p:cNvSpPr/>
              <p:nvPr/>
            </p:nvSpPr>
            <p:spPr>
              <a:xfrm>
                <a:off x="1017" y="1008"/>
                <a:ext cx="576" cy="912"/>
              </a:xfrm>
              <a:prstGeom prst="rect">
                <a:avLst/>
              </a:prstGeom>
              <a:noFill/>
              <a:ln w="57150" cap="flat" cmpd="sng">
                <a:solidFill>
                  <a:schemeClr val="tx1"/>
                </a:solidFill>
                <a:prstDash val="solid"/>
                <a:miter/>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66619" name="Line 63"/>
              <p:cNvSpPr/>
              <p:nvPr/>
            </p:nvSpPr>
            <p:spPr>
              <a:xfrm>
                <a:off x="1257" y="1248"/>
                <a:ext cx="192" cy="0"/>
              </a:xfrm>
              <a:prstGeom prst="line">
                <a:avLst/>
              </a:prstGeom>
              <a:ln w="28575" cap="flat" cmpd="sng">
                <a:solidFill>
                  <a:schemeClr val="tx1"/>
                </a:solidFill>
                <a:prstDash val="solid"/>
                <a:round/>
                <a:headEnd type="none" w="med" len="med"/>
                <a:tailEnd type="none" w="med" len="med"/>
              </a:ln>
            </p:spPr>
          </p:sp>
          <p:sp>
            <p:nvSpPr>
              <p:cNvPr id="66620" name="Line 64"/>
              <p:cNvSpPr/>
              <p:nvPr/>
            </p:nvSpPr>
            <p:spPr>
              <a:xfrm>
                <a:off x="1353" y="1056"/>
                <a:ext cx="192" cy="0"/>
              </a:xfrm>
              <a:prstGeom prst="line">
                <a:avLst/>
              </a:prstGeom>
              <a:ln w="28575" cap="flat" cmpd="sng">
                <a:solidFill>
                  <a:schemeClr val="tx1"/>
                </a:solidFill>
                <a:prstDash val="solid"/>
                <a:round/>
                <a:headEnd type="none" w="med" len="med"/>
                <a:tailEnd type="none" w="med" len="med"/>
              </a:ln>
            </p:spPr>
          </p:sp>
          <p:sp>
            <p:nvSpPr>
              <p:cNvPr id="66621" name="Line 65"/>
              <p:cNvSpPr/>
              <p:nvPr/>
            </p:nvSpPr>
            <p:spPr>
              <a:xfrm>
                <a:off x="1353" y="1056"/>
                <a:ext cx="0" cy="192"/>
              </a:xfrm>
              <a:prstGeom prst="line">
                <a:avLst/>
              </a:prstGeom>
              <a:ln w="28575" cap="flat" cmpd="sng">
                <a:solidFill>
                  <a:schemeClr val="tx1"/>
                </a:solidFill>
                <a:prstDash val="solid"/>
                <a:round/>
                <a:headEnd type="none" w="med" len="med"/>
                <a:tailEnd type="none" w="med" len="med"/>
              </a:ln>
            </p:spPr>
          </p:sp>
          <p:sp>
            <p:nvSpPr>
              <p:cNvPr id="66622" name="Line 66"/>
              <p:cNvSpPr/>
              <p:nvPr/>
            </p:nvSpPr>
            <p:spPr>
              <a:xfrm>
                <a:off x="1449" y="1056"/>
                <a:ext cx="0" cy="192"/>
              </a:xfrm>
              <a:prstGeom prst="line">
                <a:avLst/>
              </a:prstGeom>
              <a:ln w="28575" cap="flat" cmpd="sng">
                <a:solidFill>
                  <a:schemeClr val="tx1"/>
                </a:solidFill>
                <a:prstDash val="solid"/>
                <a:round/>
                <a:headEnd type="none" w="med" len="med"/>
                <a:tailEnd type="none" w="med" len="med"/>
              </a:ln>
            </p:spPr>
          </p:sp>
          <p:sp>
            <p:nvSpPr>
              <p:cNvPr id="66623" name="Text Box 67"/>
              <p:cNvSpPr txBox="1"/>
              <p:nvPr/>
            </p:nvSpPr>
            <p:spPr>
              <a:xfrm>
                <a:off x="1056" y="1034"/>
                <a:ext cx="210" cy="288"/>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1</a:t>
                </a:r>
                <a:endParaRPr lang="en-US" altLang="zh-CN" sz="2400" b="1" dirty="0">
                  <a:latin typeface="Times New Roman" panose="02020603050405020304" charset="0"/>
                  <a:ea typeface="楷体" panose="02010609060101010101" charset="-122"/>
                  <a:cs typeface="Times New Roman" panose="02020603050405020304" charset="0"/>
                </a:endParaRPr>
              </a:p>
            </p:txBody>
          </p:sp>
          <p:sp>
            <p:nvSpPr>
              <p:cNvPr id="66624" name="Line 68"/>
              <p:cNvSpPr/>
              <p:nvPr/>
            </p:nvSpPr>
            <p:spPr>
              <a:xfrm>
                <a:off x="633" y="1440"/>
                <a:ext cx="384" cy="0"/>
              </a:xfrm>
              <a:prstGeom prst="line">
                <a:avLst/>
              </a:prstGeom>
              <a:ln w="38100" cap="flat" cmpd="sng">
                <a:solidFill>
                  <a:schemeClr val="tx1"/>
                </a:solidFill>
                <a:prstDash val="solid"/>
                <a:round/>
                <a:headEnd type="none" w="med" len="med"/>
                <a:tailEnd type="none" w="med" len="med"/>
              </a:ln>
            </p:spPr>
          </p:sp>
          <p:sp>
            <p:nvSpPr>
              <p:cNvPr id="66625" name="Line 69"/>
              <p:cNvSpPr/>
              <p:nvPr/>
            </p:nvSpPr>
            <p:spPr>
              <a:xfrm>
                <a:off x="1593" y="1440"/>
                <a:ext cx="384" cy="0"/>
              </a:xfrm>
              <a:prstGeom prst="line">
                <a:avLst/>
              </a:prstGeom>
              <a:ln w="38100" cap="flat" cmpd="sng">
                <a:solidFill>
                  <a:schemeClr val="tx1"/>
                </a:solidFill>
                <a:prstDash val="solid"/>
                <a:round/>
                <a:headEnd type="none" w="med" len="med"/>
                <a:tailEnd type="none" w="med" len="med"/>
              </a:ln>
            </p:spPr>
          </p:sp>
          <p:sp>
            <p:nvSpPr>
              <p:cNvPr id="66626" name="Text Box 70"/>
              <p:cNvSpPr txBox="1"/>
              <p:nvPr/>
            </p:nvSpPr>
            <p:spPr>
              <a:xfrm>
                <a:off x="288" y="1171"/>
                <a:ext cx="24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I</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p:nvSpPr>
              <p:cNvPr id="66627" name="Text Box 71"/>
              <p:cNvSpPr txBox="1"/>
              <p:nvPr/>
            </p:nvSpPr>
            <p:spPr>
              <a:xfrm>
                <a:off x="1920" y="1171"/>
                <a:ext cx="299" cy="288"/>
              </a:xfrm>
              <a:prstGeom prst="rect">
                <a:avLst/>
              </a:prstGeom>
              <a:noFill/>
              <a:ln w="28575">
                <a:noFill/>
              </a:ln>
            </p:spPr>
            <p:txBody>
              <a:bodyPr wrap="none" lIns="90000" tIns="46800" rIns="90000" bIns="46800" anchor="t" anchorCtr="0">
                <a:spAutoFit/>
              </a:bodyPr>
              <a:p>
                <a:r>
                  <a:rPr lang="en-US" altLang="zh-CN" sz="2400" b="1" i="1" dirty="0">
                    <a:latin typeface="Times New Roman" panose="02020603050405020304" charset="0"/>
                    <a:ea typeface="楷体" panose="02010609060101010101" charset="-122"/>
                    <a:cs typeface="Times New Roman" panose="02020603050405020304" charset="0"/>
                  </a:rPr>
                  <a:t>v</a:t>
                </a:r>
                <a:r>
                  <a:rPr lang="en-US" altLang="zh-CN" sz="2400" b="1" baseline="-25000" dirty="0">
                    <a:latin typeface="Times New Roman" panose="02020603050405020304" charset="0"/>
                    <a:ea typeface="楷体" panose="02010609060101010101" charset="-122"/>
                    <a:cs typeface="Times New Roman" panose="02020603050405020304" charset="0"/>
                  </a:rPr>
                  <a:t>O</a:t>
                </a:r>
                <a:endParaRPr lang="en-US" altLang="zh-CN" sz="2400" b="1" baseline="-25000" dirty="0">
                  <a:latin typeface="Times New Roman" panose="02020603050405020304" charset="0"/>
                  <a:ea typeface="楷体" panose="02010609060101010101" charset="-122"/>
                  <a:cs typeface="Times New Roman" panose="02020603050405020304" charset="0"/>
                </a:endParaRPr>
              </a:p>
            </p:txBody>
          </p:sp>
          <p:sp useBgFill="1">
            <p:nvSpPr>
              <p:cNvPr id="66628" name="Oval 72"/>
              <p:cNvSpPr/>
              <p:nvPr/>
            </p:nvSpPr>
            <p:spPr>
              <a:xfrm>
                <a:off x="1584" y="1392"/>
                <a:ext cx="96" cy="96"/>
              </a:xfrm>
              <a:prstGeom prst="ellipse">
                <a:avLst/>
              </a:prstGeom>
              <a:ln w="38100"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66629" name="Line 73"/>
              <p:cNvSpPr/>
              <p:nvPr/>
            </p:nvSpPr>
            <p:spPr>
              <a:xfrm>
                <a:off x="624" y="1440"/>
                <a:ext cx="0" cy="432"/>
              </a:xfrm>
              <a:prstGeom prst="line">
                <a:avLst/>
              </a:prstGeom>
              <a:ln w="38100" cap="flat" cmpd="sng">
                <a:solidFill>
                  <a:schemeClr val="tx1"/>
                </a:solidFill>
                <a:prstDash val="solid"/>
                <a:round/>
                <a:headEnd type="none" w="med" len="med"/>
                <a:tailEnd type="none" w="med" len="med"/>
              </a:ln>
            </p:spPr>
          </p:sp>
          <p:sp>
            <p:nvSpPr>
              <p:cNvPr id="66630" name="Line 74"/>
              <p:cNvSpPr/>
              <p:nvPr/>
            </p:nvSpPr>
            <p:spPr>
              <a:xfrm>
                <a:off x="480" y="1872"/>
                <a:ext cx="288" cy="0"/>
              </a:xfrm>
              <a:prstGeom prst="line">
                <a:avLst/>
              </a:prstGeom>
              <a:ln w="57150" cap="flat" cmpd="sng">
                <a:solidFill>
                  <a:schemeClr val="tx1"/>
                </a:solidFill>
                <a:prstDash val="solid"/>
                <a:round/>
                <a:headEnd type="none" w="med" len="med"/>
                <a:tailEnd type="none" w="med" len="med"/>
              </a:ln>
            </p:spPr>
          </p:sp>
          <p:sp>
            <p:nvSpPr>
              <p:cNvPr id="66631" name="Line 75"/>
              <p:cNvSpPr/>
              <p:nvPr/>
            </p:nvSpPr>
            <p:spPr>
              <a:xfrm>
                <a:off x="480" y="1968"/>
                <a:ext cx="288" cy="0"/>
              </a:xfrm>
              <a:prstGeom prst="line">
                <a:avLst/>
              </a:prstGeom>
              <a:ln w="57150" cap="flat" cmpd="sng">
                <a:solidFill>
                  <a:schemeClr val="tx1"/>
                </a:solidFill>
                <a:prstDash val="solid"/>
                <a:round/>
                <a:headEnd type="none" w="med" len="med"/>
                <a:tailEnd type="none" w="med" len="med"/>
              </a:ln>
            </p:spPr>
          </p:sp>
          <p:sp>
            <p:nvSpPr>
              <p:cNvPr id="66632" name="Line 76"/>
              <p:cNvSpPr/>
              <p:nvPr/>
            </p:nvSpPr>
            <p:spPr>
              <a:xfrm>
                <a:off x="624" y="1968"/>
                <a:ext cx="0" cy="336"/>
              </a:xfrm>
              <a:prstGeom prst="line">
                <a:avLst/>
              </a:prstGeom>
              <a:ln w="38100" cap="flat" cmpd="sng">
                <a:solidFill>
                  <a:schemeClr val="tx1"/>
                </a:solidFill>
                <a:prstDash val="solid"/>
                <a:round/>
                <a:headEnd type="none" w="med" len="med"/>
                <a:tailEnd type="none" w="med" len="med"/>
              </a:ln>
            </p:spPr>
          </p:sp>
          <p:sp>
            <p:nvSpPr>
              <p:cNvPr id="66633" name="Line 77"/>
              <p:cNvSpPr/>
              <p:nvPr/>
            </p:nvSpPr>
            <p:spPr>
              <a:xfrm>
                <a:off x="528" y="2304"/>
                <a:ext cx="192" cy="0"/>
              </a:xfrm>
              <a:prstGeom prst="line">
                <a:avLst/>
              </a:prstGeom>
              <a:ln w="38100" cap="flat" cmpd="sng">
                <a:solidFill>
                  <a:schemeClr val="tx1"/>
                </a:solidFill>
                <a:prstDash val="solid"/>
                <a:round/>
                <a:headEnd type="none" w="med" len="med"/>
                <a:tailEnd type="none" w="med" len="med"/>
              </a:ln>
            </p:spPr>
          </p:sp>
          <p:sp>
            <p:nvSpPr>
              <p:cNvPr id="66634" name="Rectangle 78"/>
              <p:cNvSpPr/>
              <p:nvPr/>
            </p:nvSpPr>
            <p:spPr>
              <a:xfrm>
                <a:off x="1065" y="663"/>
                <a:ext cx="273" cy="105"/>
              </a:xfrm>
              <a:prstGeom prst="rect">
                <a:avLst/>
              </a:prstGeom>
              <a:noFill/>
              <a:ln w="57150" cap="flat" cmpd="sng">
                <a:solidFill>
                  <a:schemeClr val="tx1"/>
                </a:solidFill>
                <a:prstDash val="solid"/>
                <a:miter/>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66635" name="Line 79"/>
              <p:cNvSpPr/>
              <p:nvPr/>
            </p:nvSpPr>
            <p:spPr>
              <a:xfrm flipH="1">
                <a:off x="624" y="720"/>
                <a:ext cx="442" cy="0"/>
              </a:xfrm>
              <a:prstGeom prst="line">
                <a:avLst/>
              </a:prstGeom>
              <a:ln w="38100" cap="flat" cmpd="sng">
                <a:solidFill>
                  <a:schemeClr val="tx1"/>
                </a:solidFill>
                <a:prstDash val="solid"/>
                <a:round/>
                <a:headEnd type="none" w="med" len="med"/>
                <a:tailEnd type="none" w="med" len="med"/>
              </a:ln>
            </p:spPr>
          </p:sp>
          <p:sp>
            <p:nvSpPr>
              <p:cNvPr id="66636" name="Line 80"/>
              <p:cNvSpPr/>
              <p:nvPr/>
            </p:nvSpPr>
            <p:spPr>
              <a:xfrm>
                <a:off x="624" y="720"/>
                <a:ext cx="0" cy="720"/>
              </a:xfrm>
              <a:prstGeom prst="line">
                <a:avLst/>
              </a:prstGeom>
              <a:ln w="38100" cap="flat" cmpd="sng">
                <a:solidFill>
                  <a:schemeClr val="tx1"/>
                </a:solidFill>
                <a:prstDash val="solid"/>
                <a:round/>
                <a:headEnd type="none" w="med" len="med"/>
                <a:tailEnd type="none" w="med" len="med"/>
              </a:ln>
            </p:spPr>
          </p:sp>
          <p:sp>
            <p:nvSpPr>
              <p:cNvPr id="66637" name="Line 81"/>
              <p:cNvSpPr/>
              <p:nvPr/>
            </p:nvSpPr>
            <p:spPr>
              <a:xfrm>
                <a:off x="1338" y="720"/>
                <a:ext cx="438" cy="0"/>
              </a:xfrm>
              <a:prstGeom prst="line">
                <a:avLst/>
              </a:prstGeom>
              <a:ln w="38100" cap="flat" cmpd="sng">
                <a:solidFill>
                  <a:schemeClr val="tx1"/>
                </a:solidFill>
                <a:prstDash val="solid"/>
                <a:round/>
                <a:headEnd type="none" w="med" len="med"/>
                <a:tailEnd type="none" w="med" len="med"/>
              </a:ln>
            </p:spPr>
          </p:sp>
          <p:sp>
            <p:nvSpPr>
              <p:cNvPr id="66638" name="Line 82"/>
              <p:cNvSpPr/>
              <p:nvPr/>
            </p:nvSpPr>
            <p:spPr>
              <a:xfrm>
                <a:off x="1776" y="720"/>
                <a:ext cx="0" cy="720"/>
              </a:xfrm>
              <a:prstGeom prst="line">
                <a:avLst/>
              </a:prstGeom>
              <a:ln w="38100" cap="flat" cmpd="sng">
                <a:solidFill>
                  <a:schemeClr val="tx1"/>
                </a:solidFill>
                <a:prstDash val="solid"/>
                <a:round/>
                <a:headEnd type="none" w="med" len="med"/>
                <a:tailEnd type="none" w="med" len="med"/>
              </a:ln>
            </p:spPr>
          </p:sp>
        </p:grpSp>
        <p:sp>
          <p:nvSpPr>
            <p:cNvPr id="66639" name="Rectangle 83"/>
            <p:cNvSpPr/>
            <p:nvPr/>
          </p:nvSpPr>
          <p:spPr>
            <a:xfrm>
              <a:off x="1066" y="436"/>
              <a:ext cx="230" cy="250"/>
            </a:xfrm>
            <a:prstGeom prst="rect">
              <a:avLst/>
            </a:prstGeom>
            <a:noFill/>
            <a:ln w="28575">
              <a:noFill/>
            </a:ln>
          </p:spPr>
          <p:txBody>
            <a:bodyPr wrap="none" lIns="90000" tIns="46800" rIns="90000" bIns="46800" anchor="t" anchorCtr="0">
              <a:spAutoFit/>
            </a:bodyPr>
            <a:p>
              <a:r>
                <a:rPr lang="en-US" altLang="zh-CN" sz="2000" b="1" dirty="0">
                  <a:latin typeface="Times New Roman" panose="02020603050405020304" charset="0"/>
                  <a:ea typeface="楷体" panose="02010609060101010101" charset="-122"/>
                  <a:cs typeface="Times New Roman" panose="02020603050405020304" charset="0"/>
                </a:rPr>
                <a:t>R</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66640" name="Rectangle 84"/>
            <p:cNvSpPr/>
            <p:nvPr/>
          </p:nvSpPr>
          <p:spPr>
            <a:xfrm>
              <a:off x="288" y="1776"/>
              <a:ext cx="230" cy="250"/>
            </a:xfrm>
            <a:prstGeom prst="rect">
              <a:avLst/>
            </a:prstGeom>
            <a:noFill/>
            <a:ln w="28575">
              <a:noFill/>
            </a:ln>
          </p:spPr>
          <p:txBody>
            <a:bodyPr wrap="none" lIns="90000" tIns="46800" rIns="90000" bIns="46800" anchor="t" anchorCtr="0">
              <a:spAutoFit/>
            </a:bodyPr>
            <a:p>
              <a:r>
                <a:rPr lang="en-US" altLang="zh-CN" sz="2000" b="1" dirty="0">
                  <a:latin typeface="Times New Roman" panose="02020603050405020304" charset="0"/>
                  <a:ea typeface="楷体" panose="02010609060101010101" charset="-122"/>
                  <a:cs typeface="Times New Roman" panose="02020603050405020304" charset="0"/>
                </a:rPr>
                <a:t>C</a:t>
              </a:r>
              <a:endParaRPr lang="en-US" altLang="zh-CN" sz="2000" b="1" dirty="0">
                <a:latin typeface="Times New Roman" panose="02020603050405020304" charset="0"/>
                <a:ea typeface="楷体" panose="02010609060101010101" charset="-122"/>
                <a:cs typeface="Times New Roman" panose="02020603050405020304" charset="0"/>
              </a:endParaRPr>
            </a:p>
          </p:txBody>
        </p:sp>
      </p:grpSp>
      <p:grpSp>
        <p:nvGrpSpPr>
          <p:cNvPr id="306261" name="Group 85"/>
          <p:cNvGrpSpPr/>
          <p:nvPr/>
        </p:nvGrpSpPr>
        <p:grpSpPr>
          <a:xfrm>
            <a:off x="5156200" y="3138488"/>
            <a:ext cx="1223963" cy="503237"/>
            <a:chOff x="3152" y="1525"/>
            <a:chExt cx="771" cy="317"/>
          </a:xfrm>
        </p:grpSpPr>
        <p:sp>
          <p:nvSpPr>
            <p:cNvPr id="66642" name="Line 86"/>
            <p:cNvSpPr/>
            <p:nvPr/>
          </p:nvSpPr>
          <p:spPr>
            <a:xfrm>
              <a:off x="3152" y="1842"/>
              <a:ext cx="771" cy="0"/>
            </a:xfrm>
            <a:prstGeom prst="line">
              <a:avLst/>
            </a:prstGeom>
            <a:ln w="28575" cap="flat" cmpd="sng">
              <a:solidFill>
                <a:srgbClr val="0033CC"/>
              </a:solidFill>
              <a:prstDash val="solid"/>
              <a:round/>
              <a:headEnd type="arrow" w="med" len="med"/>
              <a:tailEnd type="arrow" w="med" len="med"/>
            </a:ln>
          </p:spPr>
        </p:sp>
        <p:sp>
          <p:nvSpPr>
            <p:cNvPr id="66643" name="Rectangle 87"/>
            <p:cNvSpPr/>
            <p:nvPr/>
          </p:nvSpPr>
          <p:spPr>
            <a:xfrm>
              <a:off x="3433" y="1525"/>
              <a:ext cx="233" cy="291"/>
            </a:xfrm>
            <a:prstGeom prst="rect">
              <a:avLst/>
            </a:prstGeom>
            <a:noFill/>
            <a:ln w="28575">
              <a:noFill/>
            </a:ln>
          </p:spPr>
          <p:txBody>
            <a:bodyPr wrap="square" lIns="90000" tIns="46800" rIns="90000" bIns="46800" anchor="t" anchorCtr="0">
              <a:spAutoFit/>
            </a:bodyPr>
            <a:p>
              <a:r>
                <a:rPr lang="en-US" altLang="zh-CN" sz="2400" b="1" i="1" dirty="0">
                  <a:solidFill>
                    <a:srgbClr val="0033CC"/>
                  </a:solidFill>
                  <a:latin typeface="Times New Roman" panose="02020603050405020304" charset="0"/>
                  <a:ea typeface="楷体" panose="02010609060101010101" charset="-122"/>
                  <a:cs typeface="Times New Roman" panose="02020603050405020304" charset="0"/>
                </a:rPr>
                <a:t>T</a:t>
              </a:r>
              <a:endParaRPr lang="en-US" altLang="zh-CN" sz="2400" b="1" i="1" dirty="0">
                <a:solidFill>
                  <a:srgbClr val="0033CC"/>
                </a:solidFill>
                <a:latin typeface="Times New Roman" panose="02020603050405020304" charset="0"/>
                <a:ea typeface="楷体" panose="02010609060101010101" charset="-122"/>
                <a:cs typeface="Times New Roman" panose="02020603050405020304" charset="0"/>
              </a:endParaRPr>
            </a:p>
          </p:txBody>
        </p:sp>
      </p:grpSp>
      <p:grpSp>
        <p:nvGrpSpPr>
          <p:cNvPr id="306276" name="Group 100"/>
          <p:cNvGrpSpPr/>
          <p:nvPr/>
        </p:nvGrpSpPr>
        <p:grpSpPr>
          <a:xfrm>
            <a:off x="1081088" y="3211513"/>
            <a:ext cx="6480175" cy="1800225"/>
            <a:chOff x="975" y="663"/>
            <a:chExt cx="4082" cy="1134"/>
          </a:xfrm>
        </p:grpSpPr>
        <p:sp>
          <p:nvSpPr>
            <p:cNvPr id="66645" name="AutoShape 101" descr="羊皮纸"/>
            <p:cNvSpPr/>
            <p:nvPr/>
          </p:nvSpPr>
          <p:spPr>
            <a:xfrm>
              <a:off x="975" y="663"/>
              <a:ext cx="4082" cy="1134"/>
            </a:xfrm>
            <a:prstGeom prst="roundRect">
              <a:avLst>
                <a:gd name="adj" fmla="val 16667"/>
              </a:avLst>
            </a:prstGeom>
            <a:blipFill rotWithShape="1">
              <a:blip r:embed="rId1"/>
            </a:blipFill>
            <a:ln w="28575" cap="flat" cmpd="sng">
              <a:solidFill>
                <a:srgbClr val="CC3300"/>
              </a:solidFill>
              <a:prstDash val="solid"/>
              <a:round/>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grpSp>
          <p:nvGrpSpPr>
            <p:cNvPr id="66646" name="Group 102"/>
            <p:cNvGrpSpPr/>
            <p:nvPr/>
          </p:nvGrpSpPr>
          <p:grpSpPr>
            <a:xfrm>
              <a:off x="1156" y="754"/>
              <a:ext cx="3810" cy="998"/>
              <a:chOff x="1111" y="2251"/>
              <a:chExt cx="3810" cy="998"/>
            </a:xfrm>
          </p:grpSpPr>
          <p:grpSp>
            <p:nvGrpSpPr>
              <p:cNvPr id="66647" name="Group 103"/>
              <p:cNvGrpSpPr/>
              <p:nvPr/>
            </p:nvGrpSpPr>
            <p:grpSpPr>
              <a:xfrm>
                <a:off x="1111" y="2426"/>
                <a:ext cx="3810" cy="823"/>
                <a:chOff x="431" y="618"/>
                <a:chExt cx="3810" cy="823"/>
              </a:xfrm>
            </p:grpSpPr>
            <p:sp>
              <p:nvSpPr>
                <p:cNvPr id="66648" name="Rectangle 104"/>
                <p:cNvSpPr/>
                <p:nvPr/>
              </p:nvSpPr>
              <p:spPr>
                <a:xfrm>
                  <a:off x="431" y="845"/>
                  <a:ext cx="3810" cy="365"/>
                </a:xfrm>
                <a:prstGeom prst="rect">
                  <a:avLst/>
                </a:prstGeom>
                <a:noFill/>
                <a:ln w="28575">
                  <a:noFill/>
                </a:ln>
              </p:spPr>
              <p:txBody>
                <a:bodyPr lIns="90000" tIns="46800" rIns="90000" bIns="46800" anchor="t" anchorCtr="0">
                  <a:spAutoFit/>
                </a:bodyPr>
                <a:p>
                  <a:r>
                    <a:rPr lang="en-US" altLang="zh-CN" sz="3200" b="1" i="1" dirty="0">
                      <a:latin typeface="Times New Roman" panose="02020603050405020304" charset="0"/>
                      <a:ea typeface="楷体" panose="02010609060101010101" charset="-122"/>
                      <a:cs typeface="Times New Roman" panose="02020603050405020304" charset="0"/>
                    </a:rPr>
                    <a:t>T</a:t>
                  </a:r>
                  <a:r>
                    <a:rPr lang="en-US" altLang="zh-CN" sz="3200" b="1" dirty="0">
                      <a:latin typeface="Times New Roman" panose="02020603050405020304" charset="0"/>
                      <a:ea typeface="楷体" panose="02010609060101010101" charset="-122"/>
                      <a:cs typeface="Times New Roman" panose="02020603050405020304" charset="0"/>
                    </a:rPr>
                    <a:t>= </a:t>
                  </a:r>
                  <a:r>
                    <a:rPr lang="en-US" altLang="zh-CN" sz="3200" b="1" i="1" dirty="0">
                      <a:latin typeface="Times New Roman" panose="02020603050405020304" charset="0"/>
                      <a:ea typeface="楷体" panose="02010609060101010101" charset="-122"/>
                      <a:cs typeface="Times New Roman" panose="02020603050405020304" charset="0"/>
                    </a:rPr>
                    <a:t>T</a:t>
                  </a:r>
                  <a:r>
                    <a:rPr lang="en-US" altLang="zh-CN" sz="3200" b="1" baseline="-20000" dirty="0">
                      <a:latin typeface="Times New Roman" panose="02020603050405020304" charset="0"/>
                      <a:ea typeface="楷体" panose="02010609060101010101" charset="-122"/>
                      <a:cs typeface="Times New Roman" panose="02020603050405020304" charset="0"/>
                    </a:rPr>
                    <a:t>1</a:t>
                  </a:r>
                  <a:r>
                    <a:rPr lang="en-US" altLang="zh-CN" sz="3200" b="1" dirty="0">
                      <a:latin typeface="Times New Roman" panose="02020603050405020304" charset="0"/>
                      <a:ea typeface="楷体" panose="02010609060101010101" charset="-122"/>
                      <a:cs typeface="Times New Roman" panose="02020603050405020304" charset="0"/>
                    </a:rPr>
                    <a:t>+</a:t>
                  </a:r>
                  <a:r>
                    <a:rPr lang="en-US" altLang="zh-CN" sz="3200" b="1" i="1" dirty="0">
                      <a:latin typeface="Times New Roman" panose="02020603050405020304" charset="0"/>
                      <a:ea typeface="楷体" panose="02010609060101010101" charset="-122"/>
                      <a:cs typeface="Times New Roman" panose="02020603050405020304" charset="0"/>
                    </a:rPr>
                    <a:t>T</a:t>
                  </a:r>
                  <a:r>
                    <a:rPr lang="en-US" altLang="zh-CN" sz="3200" b="1" baseline="-20000" dirty="0">
                      <a:latin typeface="Times New Roman" panose="02020603050405020304" charset="0"/>
                      <a:ea typeface="楷体" panose="02010609060101010101" charset="-122"/>
                      <a:cs typeface="Times New Roman" panose="02020603050405020304" charset="0"/>
                    </a:rPr>
                    <a:t>2</a:t>
                  </a:r>
                  <a:r>
                    <a:rPr lang="en-US" altLang="zh-CN" sz="3200" b="1" dirty="0">
                      <a:latin typeface="Times New Roman" panose="02020603050405020304" charset="0"/>
                      <a:ea typeface="楷体" panose="02010609060101010101" charset="-122"/>
                      <a:cs typeface="Times New Roman" panose="02020603050405020304" charset="0"/>
                    </a:rPr>
                    <a:t>=</a:t>
                  </a:r>
                  <a:endParaRPr lang="en-US" altLang="zh-CN" sz="3200" b="1" dirty="0">
                    <a:latin typeface="Times New Roman" panose="02020603050405020304" charset="0"/>
                    <a:ea typeface="楷体" panose="02010609060101010101" charset="-122"/>
                    <a:cs typeface="Times New Roman" panose="02020603050405020304" charset="0"/>
                  </a:endParaRPr>
                </a:p>
              </p:txBody>
            </p:sp>
            <p:graphicFrame>
              <p:nvGraphicFramePr>
                <p:cNvPr id="66649" name="Object 105"/>
                <p:cNvGraphicFramePr>
                  <a:graphicFrameLocks noChangeAspect="1"/>
                </p:cNvGraphicFramePr>
                <p:nvPr/>
              </p:nvGraphicFramePr>
              <p:xfrm>
                <a:off x="1655" y="618"/>
                <a:ext cx="2404" cy="823"/>
              </p:xfrm>
              <a:graphic>
                <a:graphicData uri="http://schemas.openxmlformats.org/presentationml/2006/ole">
                  <mc:AlternateContent xmlns:mc="http://schemas.openxmlformats.org/markup-compatibility/2006">
                    <mc:Choice xmlns:v="urn:schemas-microsoft-com:vml" Requires="v">
                      <p:oleObj spid="_x0000_s3135" name="" r:id="rId2" imgW="1409065" imgH="482600" progId="Equation.3">
                        <p:embed/>
                      </p:oleObj>
                    </mc:Choice>
                    <mc:Fallback>
                      <p:oleObj name="" r:id="rId2" imgW="1409065" imgH="482600" progId="Equation.3">
                        <p:embed/>
                        <p:pic>
                          <p:nvPicPr>
                            <p:cNvPr id="0" name="图片 3134"/>
                            <p:cNvPicPr/>
                            <p:nvPr/>
                          </p:nvPicPr>
                          <p:blipFill>
                            <a:blip r:embed="rId3"/>
                            <a:stretch>
                              <a:fillRect/>
                            </a:stretch>
                          </p:blipFill>
                          <p:spPr>
                            <a:xfrm>
                              <a:off x="1655" y="618"/>
                              <a:ext cx="2404" cy="823"/>
                            </a:xfrm>
                            <a:prstGeom prst="rect">
                              <a:avLst/>
                            </a:prstGeom>
                            <a:noFill/>
                            <a:ln w="38100">
                              <a:noFill/>
                              <a:miter/>
                            </a:ln>
                          </p:spPr>
                        </p:pic>
                      </p:oleObj>
                    </mc:Fallback>
                  </mc:AlternateContent>
                </a:graphicData>
              </a:graphic>
            </p:graphicFrame>
          </p:grpSp>
          <p:sp>
            <p:nvSpPr>
              <p:cNvPr id="66650" name="Text Box 106"/>
              <p:cNvSpPr txBox="1"/>
              <p:nvPr/>
            </p:nvSpPr>
            <p:spPr>
              <a:xfrm>
                <a:off x="1338" y="2251"/>
                <a:ext cx="884" cy="291"/>
              </a:xfrm>
              <a:prstGeom prst="rect">
                <a:avLst/>
              </a:prstGeom>
              <a:noFill/>
              <a:ln w="28575">
                <a:noFill/>
              </a:ln>
            </p:spPr>
            <p:txBody>
              <a:bodyPr wrap="none" lIns="90000" tIns="46800" rIns="90000" bIns="46800" anchor="t" anchorCtr="0">
                <a:spAutoFit/>
              </a:bodyPr>
              <a:p>
                <a:r>
                  <a:rPr lang="zh-CN" altLang="en-US" sz="2400" b="1" dirty="0">
                    <a:solidFill>
                      <a:srgbClr val="000066"/>
                    </a:solidFill>
                    <a:latin typeface="Times New Roman" panose="02020603050405020304" charset="0"/>
                    <a:ea typeface="楷体" panose="02010609060101010101" charset="-122"/>
                  </a:rPr>
                  <a:t>振荡周期</a:t>
                </a:r>
                <a:endParaRPr lang="zh-CN" altLang="en-US" sz="2400" b="1" dirty="0">
                  <a:solidFill>
                    <a:srgbClr val="000066"/>
                  </a:solidFill>
                  <a:latin typeface="Times New Roman" panose="02020603050405020304" charset="0"/>
                  <a:ea typeface="楷体" panose="02010609060101010101" charset="-122"/>
                </a:endParaRPr>
              </a:p>
            </p:txBody>
          </p:sp>
        </p:grpSp>
      </p:grpSp>
      <p:sp>
        <p:nvSpPr>
          <p:cNvPr id="66651" name="Rectangle 107"/>
          <p:cNvSpPr/>
          <p:nvPr/>
        </p:nvSpPr>
        <p:spPr>
          <a:xfrm>
            <a:off x="925513" y="2928938"/>
            <a:ext cx="287337"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a:t>
            </a:r>
            <a:endParaRPr lang="en-US" altLang="zh-CN" sz="2400" b="1" dirty="0">
              <a:latin typeface="Times New Roman" panose="02020603050405020304" charset="0"/>
              <a:ea typeface="楷体" panose="02010609060101010101" charset="-122"/>
              <a:cs typeface="Times New Roman" panose="02020603050405020304" charset="0"/>
            </a:endParaRPr>
          </a:p>
        </p:txBody>
      </p:sp>
      <p:sp>
        <p:nvSpPr>
          <p:cNvPr id="66652" name="Rectangle 108"/>
          <p:cNvSpPr/>
          <p:nvPr/>
        </p:nvSpPr>
        <p:spPr>
          <a:xfrm>
            <a:off x="2781300" y="2882900"/>
            <a:ext cx="287338" cy="457200"/>
          </a:xfrm>
          <a:prstGeom prst="rect">
            <a:avLst/>
          </a:prstGeom>
          <a:noFill/>
          <a:ln w="28575">
            <a:noFill/>
          </a:ln>
        </p:spPr>
        <p:txBody>
          <a:bodyPr wrap="none" lIns="90000" tIns="46800" rIns="90000" bIns="46800" anchor="t" anchorCtr="0">
            <a:spAutoFit/>
          </a:bodyPr>
          <a:p>
            <a:r>
              <a:rPr lang="en-US" altLang="zh-CN" sz="2400" b="1" dirty="0">
                <a:latin typeface="Times New Roman" panose="02020603050405020304" charset="0"/>
                <a:ea typeface="楷体" panose="02010609060101010101" charset="-122"/>
                <a:cs typeface="Times New Roman" panose="02020603050405020304" charset="0"/>
              </a:rPr>
              <a:t>•</a:t>
            </a:r>
            <a:endParaRPr lang="en-US" altLang="zh-CN" sz="2400" b="1" dirty="0">
              <a:latin typeface="Times New Roman" panose="02020603050405020304" charset="0"/>
              <a:ea typeface="楷体" panose="02010609060101010101" charset="-122"/>
              <a:cs typeface="Times New Roman" panose="02020603050405020304" charset="0"/>
            </a:endParaRPr>
          </a:p>
        </p:txBody>
      </p:sp>
      <p:graphicFrame>
        <p:nvGraphicFramePr>
          <p:cNvPr id="19" name="对象 18"/>
          <p:cNvGraphicFramePr/>
          <p:nvPr/>
        </p:nvGraphicFramePr>
        <p:xfrm>
          <a:off x="1233805" y="5053330"/>
          <a:ext cx="5828030" cy="1007110"/>
        </p:xfrm>
        <a:graphic>
          <a:graphicData uri="http://schemas.openxmlformats.org/presentationml/2006/ole">
            <mc:AlternateContent xmlns:mc="http://schemas.openxmlformats.org/markup-compatibility/2006">
              <mc:Choice xmlns:v="urn:schemas-microsoft-com:vml" Requires="v">
                <p:oleObj spid="_x0000_s20" name="" r:id="rId4" imgW="6254115" imgH="842645" progId="Equation.KSEE3">
                  <p:embed/>
                </p:oleObj>
              </mc:Choice>
              <mc:Fallback>
                <p:oleObj name="" r:id="rId4" imgW="6254115" imgH="842645" progId="Equation.KSEE3">
                  <p:embed/>
                  <p:pic>
                    <p:nvPicPr>
                      <p:cNvPr id="0" name="图片 19"/>
                      <p:cNvPicPr/>
                      <p:nvPr/>
                    </p:nvPicPr>
                    <p:blipFill>
                      <a:blip r:embed="rId5"/>
                      <a:stretch>
                        <a:fillRect/>
                      </a:stretch>
                    </p:blipFill>
                    <p:spPr>
                      <a:xfrm>
                        <a:off x="1233805" y="5053330"/>
                        <a:ext cx="5828030" cy="1007110"/>
                      </a:xfrm>
                      <a:prstGeom prst="rect">
                        <a:avLst/>
                      </a:prstGeom>
                    </p:spPr>
                  </p:pic>
                </p:oleObj>
              </mc:Fallback>
            </mc:AlternateContent>
          </a:graphicData>
        </a:graphic>
      </p:graphicFrame>
      <p:graphicFrame>
        <p:nvGraphicFramePr>
          <p:cNvPr id="21" name="对象 20"/>
          <p:cNvGraphicFramePr/>
          <p:nvPr/>
        </p:nvGraphicFramePr>
        <p:xfrm>
          <a:off x="1186180" y="6019800"/>
          <a:ext cx="7291705" cy="914400"/>
        </p:xfrm>
        <a:graphic>
          <a:graphicData uri="http://schemas.openxmlformats.org/presentationml/2006/ole">
            <mc:AlternateContent xmlns:mc="http://schemas.openxmlformats.org/markup-compatibility/2006">
              <mc:Choice xmlns:v="urn:schemas-microsoft-com:vml" Requires="v">
                <p:oleObj spid="_x0000_s22" name="" r:id="rId6" imgW="6700520" imgH="786765" progId="Equation.KSEE3">
                  <p:embed/>
                </p:oleObj>
              </mc:Choice>
              <mc:Fallback>
                <p:oleObj name="" r:id="rId6" imgW="6700520" imgH="786765" progId="Equation.KSEE3">
                  <p:embed/>
                  <p:pic>
                    <p:nvPicPr>
                      <p:cNvPr id="0" name="图片 21"/>
                      <p:cNvPicPr/>
                      <p:nvPr/>
                    </p:nvPicPr>
                    <p:blipFill>
                      <a:blip r:embed="rId7"/>
                      <a:stretch>
                        <a:fillRect/>
                      </a:stretch>
                    </p:blipFill>
                    <p:spPr>
                      <a:xfrm>
                        <a:off x="1186180" y="6019800"/>
                        <a:ext cx="7291705" cy="9144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06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06193"/>
                                        </p:tgtEl>
                                        <p:attrNameLst>
                                          <p:attrName>style.visibility</p:attrName>
                                        </p:attrNameLst>
                                      </p:cBhvr>
                                      <p:to>
                                        <p:strVal val="visible"/>
                                      </p:to>
                                    </p:set>
                                    <p:animEffect transition="in" filter="wipe(left)">
                                      <p:cBhvr>
                                        <p:cTn id="11" dur="500"/>
                                        <p:tgtEl>
                                          <p:spTgt spid="30619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06198"/>
                                        </p:tgtEl>
                                        <p:attrNameLst>
                                          <p:attrName>style.visibility</p:attrName>
                                        </p:attrNameLst>
                                      </p:cBhvr>
                                      <p:to>
                                        <p:strVal val="visible"/>
                                      </p:to>
                                    </p:set>
                                    <p:animEffect transition="in" filter="wipe(left)">
                                      <p:cBhvr>
                                        <p:cTn id="16" dur="2000"/>
                                        <p:tgtEl>
                                          <p:spTgt spid="30619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06203"/>
                                        </p:tgtEl>
                                        <p:attrNameLst>
                                          <p:attrName>style.visibility</p:attrName>
                                        </p:attrNameLst>
                                      </p:cBhvr>
                                      <p:to>
                                        <p:strVal val="visible"/>
                                      </p:to>
                                    </p:set>
                                    <p:animEffect transition="in" filter="wipe(left)">
                                      <p:cBhvr>
                                        <p:cTn id="21" dur="2000"/>
                                        <p:tgtEl>
                                          <p:spTgt spid="30620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06208"/>
                                        </p:tgtEl>
                                        <p:attrNameLst>
                                          <p:attrName>style.visibility</p:attrName>
                                        </p:attrNameLst>
                                      </p:cBhvr>
                                      <p:to>
                                        <p:strVal val="visible"/>
                                      </p:to>
                                    </p:set>
                                    <p:animEffect transition="in" filter="wipe(left)">
                                      <p:cBhvr>
                                        <p:cTn id="26" dur="2000"/>
                                        <p:tgtEl>
                                          <p:spTgt spid="30620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06213"/>
                                        </p:tgtEl>
                                        <p:attrNameLst>
                                          <p:attrName>style.visibility</p:attrName>
                                        </p:attrNameLst>
                                      </p:cBhvr>
                                      <p:to>
                                        <p:strVal val="visible"/>
                                      </p:to>
                                    </p:set>
                                    <p:animEffect transition="in" filter="wipe(left)">
                                      <p:cBhvr>
                                        <p:cTn id="31" dur="2000"/>
                                        <p:tgtEl>
                                          <p:spTgt spid="3062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06218"/>
                                        </p:tgtEl>
                                        <p:attrNameLst>
                                          <p:attrName>style.visibility</p:attrName>
                                        </p:attrNameLst>
                                      </p:cBhvr>
                                      <p:to>
                                        <p:strVal val="visible"/>
                                      </p:to>
                                    </p:set>
                                    <p:animEffect transition="in" filter="wipe(left)">
                                      <p:cBhvr>
                                        <p:cTn id="36" dur="2000"/>
                                        <p:tgtEl>
                                          <p:spTgt spid="306218"/>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306261"/>
                                        </p:tgtEl>
                                        <p:attrNameLst>
                                          <p:attrName>style.visibility</p:attrName>
                                        </p:attrNameLst>
                                      </p:cBhvr>
                                      <p:to>
                                        <p:strVal val="visible"/>
                                      </p:to>
                                    </p:set>
                                    <p:anim calcmode="lin" valueType="num">
                                      <p:cBhvr>
                                        <p:cTn id="41" dur="2000" fill="hold"/>
                                        <p:tgtEl>
                                          <p:spTgt spid="306261"/>
                                        </p:tgtEl>
                                        <p:attrNameLst>
                                          <p:attrName>ppt_w</p:attrName>
                                        </p:attrNameLst>
                                      </p:cBhvr>
                                      <p:tavLst>
                                        <p:tav tm="0">
                                          <p:val>
                                            <p:strVal val="#ppt_w*0.70"/>
                                          </p:val>
                                        </p:tav>
                                        <p:tav tm="100000">
                                          <p:val>
                                            <p:strVal val="#ppt_w"/>
                                          </p:val>
                                        </p:tav>
                                      </p:tavLst>
                                    </p:anim>
                                    <p:anim calcmode="lin" valueType="num">
                                      <p:cBhvr>
                                        <p:cTn id="42" dur="2000" fill="hold"/>
                                        <p:tgtEl>
                                          <p:spTgt spid="306261"/>
                                        </p:tgtEl>
                                        <p:attrNameLst>
                                          <p:attrName>ppt_h</p:attrName>
                                        </p:attrNameLst>
                                      </p:cBhvr>
                                      <p:tavLst>
                                        <p:tav tm="0">
                                          <p:val>
                                            <p:strVal val="#ppt_h"/>
                                          </p:val>
                                        </p:tav>
                                        <p:tav tm="100000">
                                          <p:val>
                                            <p:strVal val="#ppt_h"/>
                                          </p:val>
                                        </p:tav>
                                      </p:tavLst>
                                    </p:anim>
                                    <p:animEffect transition="in" filter="fade">
                                      <p:cBhvr>
                                        <p:cTn id="43" dur="2000"/>
                                        <p:tgtEl>
                                          <p:spTgt spid="30626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30623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30623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blinds(horizontal)">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blinds(horizontal)">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306276"/>
                                        </p:tgtEl>
                                        <p:attrNameLst>
                                          <p:attrName>style.visibility</p:attrName>
                                        </p:attrNameLst>
                                      </p:cBhvr>
                                      <p:to>
                                        <p:strVal val="visible"/>
                                      </p:to>
                                    </p:set>
                                    <p:animEffect transition="in" filter="box(in)">
                                      <p:cBhvr>
                                        <p:cTn id="66" dur="500"/>
                                        <p:tgtEl>
                                          <p:spTgt spid="306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230" grpId="0"/>
      <p:bldP spid="30623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94917" name="Text Box 5"/>
          <p:cNvSpPr txBox="1"/>
          <p:nvPr/>
        </p:nvSpPr>
        <p:spPr>
          <a:xfrm>
            <a:off x="323850" y="1204913"/>
            <a:ext cx="8245475" cy="1292860"/>
          </a:xfrm>
          <a:prstGeom prst="rect">
            <a:avLst/>
          </a:prstGeom>
          <a:noFill/>
          <a:ln w="9525">
            <a:noFill/>
          </a:ln>
        </p:spPr>
        <p:txBody>
          <a:bodyPr lIns="90000" tIns="46800" rIns="90000" bIns="46800" anchor="t" anchorCtr="0">
            <a:spAutoFit/>
          </a:bodyPr>
          <a:p>
            <a:r>
              <a:rPr lang="en-US" altLang="zh-CN" sz="2600" b="1" dirty="0">
                <a:latin typeface="Times New Roman" panose="02020603050405020304" charset="0"/>
                <a:ea typeface="楷体" panose="02010609060101010101" charset="-122"/>
                <a:cs typeface="Times New Roman" panose="02020603050405020304" charset="0"/>
              </a:rPr>
              <a:t>    </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一种自激振荡电路，在接通电源后无需外界触发即可产生一定频率和幅值的矩形脉冲或方波，没有稳定状态</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无稳态电路。</a:t>
            </a:r>
            <a:endParaRPr lang="zh-CN" altLang="en-US" sz="2600" b="1"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294918" name="Rectangle 6"/>
          <p:cNvSpPr/>
          <p:nvPr/>
        </p:nvSpPr>
        <p:spPr>
          <a:xfrm>
            <a:off x="684213" y="2420938"/>
            <a:ext cx="7632700" cy="492760"/>
          </a:xfrm>
          <a:prstGeom prst="rect">
            <a:avLst/>
          </a:prstGeom>
          <a:noFill/>
          <a:ln w="28575">
            <a:noFill/>
          </a:ln>
        </p:spPr>
        <p:txBody>
          <a:bodyPr lIns="90000" tIns="46800" rIns="90000" bIns="46800" anchor="t" anchorCtr="0">
            <a:spAutoFit/>
          </a:bodyPr>
          <a:p>
            <a:r>
              <a:rPr lang="zh-CN" altLang="en-US" sz="2600" b="1" dirty="0">
                <a:solidFill>
                  <a:srgbClr val="0033CC"/>
                </a:solidFill>
                <a:latin typeface="Times New Roman" panose="02020603050405020304" charset="0"/>
                <a:ea typeface="楷体" panose="02010609060101010101" charset="-122"/>
              </a:rPr>
              <a:t>矩形波中含有多种谐波分量，又称为多谐振荡器。</a:t>
            </a:r>
            <a:endParaRPr lang="zh-CN" altLang="en-US" sz="2600" b="1" dirty="0">
              <a:solidFill>
                <a:srgbClr val="0033CC"/>
              </a:solidFill>
              <a:latin typeface="Times New Roman" panose="02020603050405020304" charset="0"/>
              <a:ea typeface="楷体" panose="02010609060101010101" charset="-122"/>
            </a:endParaRPr>
          </a:p>
        </p:txBody>
      </p:sp>
      <p:sp>
        <p:nvSpPr>
          <p:cNvPr id="294919" name="Text Box 7"/>
          <p:cNvSpPr txBox="1"/>
          <p:nvPr/>
        </p:nvSpPr>
        <p:spPr>
          <a:xfrm>
            <a:off x="671513" y="2924175"/>
            <a:ext cx="8077200" cy="492760"/>
          </a:xfrm>
          <a:prstGeom prst="rect">
            <a:avLst/>
          </a:prstGeom>
          <a:noFill/>
          <a:ln w="28575">
            <a:noFill/>
          </a:ln>
        </p:spPr>
        <p:txBody>
          <a:bodyPr lIns="90000" tIns="46800" rIns="90000" bIns="46800" anchor="t" anchorCtr="0">
            <a:spAutoFit/>
          </a:bodyPr>
          <a:p>
            <a:r>
              <a:rPr lang="zh-CN" altLang="en-US" sz="2600" b="1" dirty="0">
                <a:solidFill>
                  <a:srgbClr val="993300"/>
                </a:solidFill>
                <a:latin typeface="Times New Roman" panose="02020603050405020304" charset="0"/>
                <a:ea typeface="楷体" panose="02010609060101010101" charset="-122"/>
              </a:rPr>
              <a:t>电路特点：</a:t>
            </a:r>
            <a:endParaRPr lang="zh-CN" altLang="en-US" sz="2600" b="1" dirty="0">
              <a:solidFill>
                <a:srgbClr val="993300"/>
              </a:solidFill>
              <a:latin typeface="Times New Roman" panose="02020603050405020304" charset="0"/>
              <a:ea typeface="楷体" panose="02010609060101010101" charset="-122"/>
            </a:endParaRPr>
          </a:p>
        </p:txBody>
      </p:sp>
      <p:sp>
        <p:nvSpPr>
          <p:cNvPr id="294924" name="Text Box 12"/>
          <p:cNvSpPr txBox="1"/>
          <p:nvPr/>
        </p:nvSpPr>
        <p:spPr>
          <a:xfrm>
            <a:off x="738505" y="3429000"/>
            <a:ext cx="7654925" cy="892810"/>
          </a:xfrm>
          <a:prstGeom prst="rect">
            <a:avLst/>
          </a:prstGeom>
          <a:noFill/>
          <a:ln w="28575">
            <a:noFill/>
          </a:ln>
        </p:spPr>
        <p:txBody>
          <a:bodyPr wrap="square" lIns="90000" tIns="46800" rIns="90000" bIns="46800" anchor="t" anchorCtr="0">
            <a:spAutoFit/>
          </a:bodyPr>
          <a:p>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(1)</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电路中含有开关器件</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如门电路、电压比较器、</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BJT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等 </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用以产生高低电平；</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94925" name="Rectangle 13"/>
          <p:cNvSpPr/>
          <p:nvPr/>
        </p:nvSpPr>
        <p:spPr>
          <a:xfrm>
            <a:off x="755650" y="4429125"/>
            <a:ext cx="7710805" cy="892810"/>
          </a:xfrm>
          <a:prstGeom prst="rect">
            <a:avLst/>
          </a:prstGeom>
          <a:noFill/>
          <a:ln w="28575">
            <a:noFill/>
          </a:ln>
        </p:spPr>
        <p:txBody>
          <a:bodyPr wrap="square" lIns="90000" tIns="46800" rIns="90000" bIns="46800" anchor="t" anchorCtr="0">
            <a:spAutoFit/>
          </a:bodyPr>
          <a:p>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(2)</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具有反馈网络</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将输出电压反馈给开关器件使之改变输出状态</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自动进入振荡状态；</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94926" name="Rectangle 14"/>
          <p:cNvSpPr/>
          <p:nvPr/>
        </p:nvSpPr>
        <p:spPr>
          <a:xfrm>
            <a:off x="755650" y="5361305"/>
            <a:ext cx="7637780" cy="892810"/>
          </a:xfrm>
          <a:prstGeom prst="rect">
            <a:avLst/>
          </a:prstGeom>
          <a:noFill/>
          <a:ln w="28575">
            <a:noFill/>
          </a:ln>
        </p:spPr>
        <p:txBody>
          <a:bodyPr wrap="square" lIns="90000" tIns="46800" rIns="90000" bIns="46800" anchor="t" anchorCtr="0">
            <a:spAutoFit/>
          </a:bodyPr>
          <a:p>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(3)</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具有延时环节</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(RC</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充放电回路）</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以获得所需要的振荡频率。</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4917"/>
                                        </p:tgtEl>
                                        <p:attrNameLst>
                                          <p:attrName>style.visibility</p:attrName>
                                        </p:attrNameLst>
                                      </p:cBhvr>
                                      <p:to>
                                        <p:strVal val="visible"/>
                                      </p:to>
                                    </p:set>
                                    <p:animEffect transition="in" filter="wipe(left)">
                                      <p:cBhvr>
                                        <p:cTn id="7" dur="500"/>
                                        <p:tgtEl>
                                          <p:spTgt spid="2949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4918"/>
                                        </p:tgtEl>
                                        <p:attrNameLst>
                                          <p:attrName>style.visibility</p:attrName>
                                        </p:attrNameLst>
                                      </p:cBhvr>
                                      <p:to>
                                        <p:strVal val="visible"/>
                                      </p:to>
                                    </p:set>
                                    <p:animEffect transition="in" filter="wipe(left)">
                                      <p:cBhvr>
                                        <p:cTn id="12" dur="500"/>
                                        <p:tgtEl>
                                          <p:spTgt spid="2949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4919"/>
                                        </p:tgtEl>
                                        <p:attrNameLst>
                                          <p:attrName>style.visibility</p:attrName>
                                        </p:attrNameLst>
                                      </p:cBhvr>
                                      <p:to>
                                        <p:strVal val="visible"/>
                                      </p:to>
                                    </p:set>
                                    <p:animEffect transition="in" filter="wipe(left)">
                                      <p:cBhvr>
                                        <p:cTn id="17" dur="500"/>
                                        <p:tgtEl>
                                          <p:spTgt spid="2949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4924"/>
                                        </p:tgtEl>
                                        <p:attrNameLst>
                                          <p:attrName>style.visibility</p:attrName>
                                        </p:attrNameLst>
                                      </p:cBhvr>
                                      <p:to>
                                        <p:strVal val="visible"/>
                                      </p:to>
                                    </p:set>
                                    <p:animEffect transition="in" filter="blinds(horizontal)">
                                      <p:cBhvr>
                                        <p:cTn id="22" dur="500"/>
                                        <p:tgtEl>
                                          <p:spTgt spid="29492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4925"/>
                                        </p:tgtEl>
                                        <p:attrNameLst>
                                          <p:attrName>style.visibility</p:attrName>
                                        </p:attrNameLst>
                                      </p:cBhvr>
                                      <p:to>
                                        <p:strVal val="visible"/>
                                      </p:to>
                                    </p:set>
                                    <p:animEffect transition="in" filter="blinds(horizontal)">
                                      <p:cBhvr>
                                        <p:cTn id="27" dur="500"/>
                                        <p:tgtEl>
                                          <p:spTgt spid="29492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94926"/>
                                        </p:tgtEl>
                                        <p:attrNameLst>
                                          <p:attrName>style.visibility</p:attrName>
                                        </p:attrNameLst>
                                      </p:cBhvr>
                                      <p:to>
                                        <p:strVal val="visible"/>
                                      </p:to>
                                    </p:set>
                                    <p:animEffect transition="in" filter="blinds(horizontal)">
                                      <p:cBhvr>
                                        <p:cTn id="32" dur="500"/>
                                        <p:tgtEl>
                                          <p:spTgt spid="294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7" grpId="0"/>
      <p:bldP spid="294918" grpId="0"/>
      <p:bldP spid="294919" grpId="0"/>
      <p:bldP spid="294924" grpId="0"/>
      <p:bldP spid="294925" grpId="0"/>
      <p:bldP spid="29492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609600" y="15240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1.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电路</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组成</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6146" name="Rectangle 2"/>
          <p:cNvSpPr>
            <a:spLocks noGrp="1"/>
          </p:cNvSpPr>
          <p:nvPr>
            <p:ph type="title"/>
          </p:nvPr>
        </p:nvSpPr>
        <p:spPr>
          <a:xfrm>
            <a:off x="990600" y="104902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7.5.1 </a:t>
            </a:r>
            <a:r>
              <a:rPr sz="2400" i="0" dirty="0">
                <a:solidFill>
                  <a:srgbClr val="0070C0"/>
                </a:solidFill>
                <a:latin typeface="黑体" panose="02010609060101010101" pitchFamily="49" charset="-122"/>
                <a:ea typeface="黑体" panose="02010609060101010101" pitchFamily="49" charset="-122"/>
              </a:rPr>
              <a:t>由555定时器构成的多谐振荡器</a:t>
            </a:r>
            <a:endParaRPr sz="2400" i="0" dirty="0">
              <a:solidFill>
                <a:srgbClr val="0070C0"/>
              </a:solidFill>
              <a:latin typeface="黑体" panose="02010609060101010101" pitchFamily="49" charset="-122"/>
              <a:ea typeface="黑体" panose="02010609060101010101" pitchFamily="49" charset="-122"/>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609600" y="2133600"/>
            <a:ext cx="7943850" cy="40719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247015" y="76835"/>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2.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工作原理</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105483" name="圆角矩形 105482"/>
          <p:cNvSpPr/>
          <p:nvPr/>
        </p:nvSpPr>
        <p:spPr>
          <a:xfrm>
            <a:off x="1714500" y="1755775"/>
            <a:ext cx="6346825" cy="4784725"/>
          </a:xfrm>
          <a:prstGeom prst="roundRect">
            <a:avLst>
              <a:gd name="adj" fmla="val 16667"/>
            </a:avLst>
          </a:prstGeom>
          <a:solidFill>
            <a:schemeClr val="bg1"/>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495" name="文本框 105494"/>
          <p:cNvSpPr txBox="1"/>
          <p:nvPr/>
        </p:nvSpPr>
        <p:spPr>
          <a:xfrm>
            <a:off x="7564438" y="3903663"/>
            <a:ext cx="492125" cy="28575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(3)</a:t>
            </a:r>
            <a:endParaRPr lang="en-US" altLang="zh-CN" sz="1200" b="1">
              <a:latin typeface="Times New Roman" panose="02020603050405020304" charset="0"/>
              <a:ea typeface="楷体" panose="02010609060101010101" charset="-122"/>
              <a:cs typeface="Times New Roman" panose="02020603050405020304" charset="0"/>
            </a:endParaRPr>
          </a:p>
        </p:txBody>
      </p:sp>
      <p:grpSp>
        <p:nvGrpSpPr>
          <p:cNvPr id="105753" name="组合 105752"/>
          <p:cNvGrpSpPr/>
          <p:nvPr/>
        </p:nvGrpSpPr>
        <p:grpSpPr>
          <a:xfrm>
            <a:off x="3240088" y="2070100"/>
            <a:ext cx="4530725" cy="4114800"/>
            <a:chOff x="1697" y="1258"/>
            <a:chExt cx="2854" cy="2592"/>
          </a:xfrm>
        </p:grpSpPr>
        <p:sp>
          <p:nvSpPr>
            <p:cNvPr id="105680" name="矩形 105679"/>
            <p:cNvSpPr/>
            <p:nvPr/>
          </p:nvSpPr>
          <p:spPr>
            <a:xfrm>
              <a:off x="1697" y="1481"/>
              <a:ext cx="28" cy="134"/>
            </a:xfrm>
            <a:prstGeom prst="rect">
              <a:avLst/>
            </a:prstGeom>
            <a:noFill/>
            <a:ln w="9525">
              <a:noFill/>
            </a:ln>
          </p:spPr>
          <p:txBody>
            <a:bodyPr wrap="none" lIns="0" tIns="0" rIns="0" bIns="0">
              <a:spAutoFit/>
            </a:bodyPr>
            <a:p>
              <a:pPr>
                <a:spcBef>
                  <a:spcPct val="50000"/>
                </a:spcBef>
              </a:pPr>
              <a:r>
                <a:rPr lang="en-US" altLang="zh-CN" sz="14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681" name="直接连接符 105680"/>
            <p:cNvSpPr/>
            <p:nvPr/>
          </p:nvSpPr>
          <p:spPr>
            <a:xfrm flipH="1">
              <a:off x="2746" y="1898"/>
              <a:ext cx="242" cy="1"/>
            </a:xfrm>
            <a:prstGeom prst="line">
              <a:avLst/>
            </a:prstGeom>
            <a:ln w="25400" cap="flat" cmpd="sng">
              <a:solidFill>
                <a:srgbClr val="000000"/>
              </a:solidFill>
              <a:prstDash val="solid"/>
              <a:headEnd type="none" w="med" len="med"/>
              <a:tailEnd type="none" w="med" len="med"/>
            </a:ln>
          </p:spPr>
        </p:sp>
        <p:sp>
          <p:nvSpPr>
            <p:cNvPr id="105682" name="直接连接符 105681"/>
            <p:cNvSpPr/>
            <p:nvPr/>
          </p:nvSpPr>
          <p:spPr>
            <a:xfrm>
              <a:off x="2744" y="1655"/>
              <a:ext cx="771" cy="1"/>
            </a:xfrm>
            <a:prstGeom prst="line">
              <a:avLst/>
            </a:prstGeom>
            <a:ln w="25400" cap="flat" cmpd="sng">
              <a:solidFill>
                <a:srgbClr val="000000"/>
              </a:solidFill>
              <a:prstDash val="solid"/>
              <a:headEnd type="none" w="med" len="med"/>
              <a:tailEnd type="none" w="med" len="med"/>
            </a:ln>
          </p:spPr>
        </p:sp>
        <p:sp>
          <p:nvSpPr>
            <p:cNvPr id="105683" name="直接连接符 105682"/>
            <p:cNvSpPr/>
            <p:nvPr/>
          </p:nvSpPr>
          <p:spPr>
            <a:xfrm>
              <a:off x="1960" y="1460"/>
              <a:ext cx="1" cy="2382"/>
            </a:xfrm>
            <a:prstGeom prst="line">
              <a:avLst/>
            </a:prstGeom>
            <a:ln w="25400" cap="flat" cmpd="sng">
              <a:solidFill>
                <a:srgbClr val="000000"/>
              </a:solidFill>
              <a:prstDash val="solid"/>
              <a:headEnd type="none" w="med" len="med"/>
              <a:tailEnd type="none" w="med" len="med"/>
            </a:ln>
          </p:spPr>
        </p:sp>
        <p:sp>
          <p:nvSpPr>
            <p:cNvPr id="105684" name="矩形 105683"/>
            <p:cNvSpPr/>
            <p:nvPr/>
          </p:nvSpPr>
          <p:spPr>
            <a:xfrm>
              <a:off x="1922" y="1589"/>
              <a:ext cx="75" cy="202"/>
            </a:xfrm>
            <a:prstGeom prst="rect">
              <a:avLst/>
            </a:pr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85" name="矩形 105684"/>
            <p:cNvSpPr/>
            <p:nvPr/>
          </p:nvSpPr>
          <p:spPr>
            <a:xfrm>
              <a:off x="1922" y="1589"/>
              <a:ext cx="75" cy="202"/>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86" name="任意多边形 105685"/>
            <p:cNvSpPr/>
            <p:nvPr/>
          </p:nvSpPr>
          <p:spPr>
            <a:xfrm>
              <a:off x="1942" y="1892"/>
              <a:ext cx="36" cy="34"/>
            </a:xfrm>
            <a:custGeom>
              <a:avLst/>
              <a:gdLst/>
              <a:ahLst/>
              <a:cxnLst/>
              <a:pathLst>
                <a:path w="36" h="34">
                  <a:moveTo>
                    <a:pt x="18" y="0"/>
                  </a:moveTo>
                  <a:lnTo>
                    <a:pt x="14" y="0"/>
                  </a:lnTo>
                  <a:lnTo>
                    <a:pt x="12" y="1"/>
                  </a:lnTo>
                  <a:lnTo>
                    <a:pt x="8" y="3"/>
                  </a:lnTo>
                  <a:lnTo>
                    <a:pt x="5" y="5"/>
                  </a:lnTo>
                  <a:lnTo>
                    <a:pt x="4" y="7"/>
                  </a:lnTo>
                  <a:lnTo>
                    <a:pt x="2" y="10"/>
                  </a:lnTo>
                  <a:lnTo>
                    <a:pt x="0" y="14"/>
                  </a:lnTo>
                  <a:lnTo>
                    <a:pt x="0" y="17"/>
                  </a:lnTo>
                  <a:lnTo>
                    <a:pt x="0" y="21"/>
                  </a:lnTo>
                  <a:lnTo>
                    <a:pt x="2" y="23"/>
                  </a:lnTo>
                  <a:lnTo>
                    <a:pt x="4" y="27"/>
                  </a:lnTo>
                  <a:lnTo>
                    <a:pt x="5" y="29"/>
                  </a:lnTo>
                  <a:lnTo>
                    <a:pt x="8" y="32"/>
                  </a:lnTo>
                  <a:lnTo>
                    <a:pt x="12" y="33"/>
                  </a:lnTo>
                  <a:lnTo>
                    <a:pt x="14" y="34"/>
                  </a:lnTo>
                  <a:lnTo>
                    <a:pt x="18" y="34"/>
                  </a:lnTo>
                  <a:lnTo>
                    <a:pt x="22" y="34"/>
                  </a:lnTo>
                  <a:lnTo>
                    <a:pt x="26" y="33"/>
                  </a:lnTo>
                  <a:lnTo>
                    <a:pt x="28" y="32"/>
                  </a:lnTo>
                  <a:lnTo>
                    <a:pt x="31" y="29"/>
                  </a:lnTo>
                  <a:lnTo>
                    <a:pt x="33" y="27"/>
                  </a:lnTo>
                  <a:lnTo>
                    <a:pt x="34" y="23"/>
                  </a:lnTo>
                  <a:lnTo>
                    <a:pt x="36" y="21"/>
                  </a:lnTo>
                  <a:lnTo>
                    <a:pt x="36" y="17"/>
                  </a:lnTo>
                  <a:lnTo>
                    <a:pt x="36" y="14"/>
                  </a:lnTo>
                  <a:lnTo>
                    <a:pt x="34" y="10"/>
                  </a:lnTo>
                  <a:lnTo>
                    <a:pt x="33" y="7"/>
                  </a:lnTo>
                  <a:lnTo>
                    <a:pt x="31" y="5"/>
                  </a:lnTo>
                  <a:lnTo>
                    <a:pt x="28" y="3"/>
                  </a:lnTo>
                  <a:lnTo>
                    <a:pt x="26" y="1"/>
                  </a:lnTo>
                  <a:lnTo>
                    <a:pt x="22" y="0"/>
                  </a:lnTo>
                  <a:lnTo>
                    <a:pt x="1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87" name="任意多边形 105686"/>
            <p:cNvSpPr/>
            <p:nvPr/>
          </p:nvSpPr>
          <p:spPr>
            <a:xfrm>
              <a:off x="1942" y="1892"/>
              <a:ext cx="36" cy="34"/>
            </a:xfrm>
            <a:custGeom>
              <a:avLst/>
              <a:gdLst/>
              <a:ahLst/>
              <a:cxnLst/>
              <a:pathLst>
                <a:path w="36" h="34">
                  <a:moveTo>
                    <a:pt x="18" y="0"/>
                  </a:moveTo>
                  <a:lnTo>
                    <a:pt x="14" y="0"/>
                  </a:lnTo>
                  <a:lnTo>
                    <a:pt x="12" y="1"/>
                  </a:lnTo>
                  <a:lnTo>
                    <a:pt x="8" y="3"/>
                  </a:lnTo>
                  <a:lnTo>
                    <a:pt x="5" y="5"/>
                  </a:lnTo>
                  <a:lnTo>
                    <a:pt x="4" y="7"/>
                  </a:lnTo>
                  <a:lnTo>
                    <a:pt x="2" y="10"/>
                  </a:lnTo>
                  <a:lnTo>
                    <a:pt x="0" y="14"/>
                  </a:lnTo>
                  <a:lnTo>
                    <a:pt x="0" y="17"/>
                  </a:lnTo>
                  <a:lnTo>
                    <a:pt x="0" y="21"/>
                  </a:lnTo>
                  <a:lnTo>
                    <a:pt x="2" y="23"/>
                  </a:lnTo>
                  <a:lnTo>
                    <a:pt x="4" y="27"/>
                  </a:lnTo>
                  <a:lnTo>
                    <a:pt x="5" y="29"/>
                  </a:lnTo>
                  <a:lnTo>
                    <a:pt x="8" y="32"/>
                  </a:lnTo>
                  <a:lnTo>
                    <a:pt x="12" y="33"/>
                  </a:lnTo>
                  <a:lnTo>
                    <a:pt x="14" y="34"/>
                  </a:lnTo>
                  <a:lnTo>
                    <a:pt x="18" y="34"/>
                  </a:lnTo>
                  <a:lnTo>
                    <a:pt x="22" y="34"/>
                  </a:lnTo>
                  <a:lnTo>
                    <a:pt x="26" y="33"/>
                  </a:lnTo>
                  <a:lnTo>
                    <a:pt x="28" y="32"/>
                  </a:lnTo>
                  <a:lnTo>
                    <a:pt x="31" y="29"/>
                  </a:lnTo>
                  <a:lnTo>
                    <a:pt x="33" y="27"/>
                  </a:lnTo>
                  <a:lnTo>
                    <a:pt x="34" y="23"/>
                  </a:lnTo>
                  <a:lnTo>
                    <a:pt x="36" y="21"/>
                  </a:lnTo>
                  <a:lnTo>
                    <a:pt x="36" y="17"/>
                  </a:lnTo>
                  <a:lnTo>
                    <a:pt x="36" y="14"/>
                  </a:lnTo>
                  <a:lnTo>
                    <a:pt x="34" y="10"/>
                  </a:lnTo>
                  <a:lnTo>
                    <a:pt x="33" y="7"/>
                  </a:lnTo>
                  <a:lnTo>
                    <a:pt x="31" y="5"/>
                  </a:lnTo>
                  <a:lnTo>
                    <a:pt x="28" y="3"/>
                  </a:lnTo>
                  <a:lnTo>
                    <a:pt x="26" y="1"/>
                  </a:lnTo>
                  <a:lnTo>
                    <a:pt x="22" y="0"/>
                  </a:lnTo>
                  <a:lnTo>
                    <a:pt x="1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88" name="直接连接符 105687"/>
            <p:cNvSpPr/>
            <p:nvPr/>
          </p:nvSpPr>
          <p:spPr>
            <a:xfrm flipH="1">
              <a:off x="1707" y="1909"/>
              <a:ext cx="388" cy="1"/>
            </a:xfrm>
            <a:prstGeom prst="line">
              <a:avLst/>
            </a:prstGeom>
            <a:ln w="25400" cap="flat" cmpd="sng">
              <a:solidFill>
                <a:srgbClr val="000000"/>
              </a:solidFill>
              <a:prstDash val="solid"/>
              <a:headEnd type="none" w="med" len="med"/>
              <a:tailEnd type="none" w="med" len="med"/>
            </a:ln>
          </p:spPr>
        </p:sp>
        <p:sp>
          <p:nvSpPr>
            <p:cNvPr id="105689" name="直接连接符 105688"/>
            <p:cNvSpPr/>
            <p:nvPr/>
          </p:nvSpPr>
          <p:spPr>
            <a:xfrm flipH="1">
              <a:off x="1707" y="2116"/>
              <a:ext cx="388" cy="1"/>
            </a:xfrm>
            <a:prstGeom prst="line">
              <a:avLst/>
            </a:prstGeom>
            <a:ln w="25400" cap="flat" cmpd="sng">
              <a:solidFill>
                <a:srgbClr val="000000"/>
              </a:solidFill>
              <a:prstDash val="solid"/>
              <a:headEnd type="none" w="med" len="med"/>
              <a:tailEnd type="none" w="med" len="med"/>
            </a:ln>
          </p:spPr>
        </p:sp>
        <p:sp>
          <p:nvSpPr>
            <p:cNvPr id="105690" name="任意多边形 105689"/>
            <p:cNvSpPr/>
            <p:nvPr/>
          </p:nvSpPr>
          <p:spPr>
            <a:xfrm>
              <a:off x="2094" y="1826"/>
              <a:ext cx="440" cy="378"/>
            </a:xfrm>
            <a:custGeom>
              <a:avLst/>
              <a:gdLst/>
              <a:ahLst/>
              <a:cxnLst/>
              <a:pathLst>
                <a:path w="440" h="378">
                  <a:moveTo>
                    <a:pt x="0" y="378"/>
                  </a:moveTo>
                  <a:lnTo>
                    <a:pt x="0" y="0"/>
                  </a:lnTo>
                  <a:lnTo>
                    <a:pt x="440" y="192"/>
                  </a:lnTo>
                  <a:lnTo>
                    <a:pt x="0" y="378"/>
                  </a:lnTo>
                  <a:close/>
                </a:path>
              </a:pathLst>
            </a:custGeom>
            <a:noFill/>
            <a:ln w="25400"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91" name="直接连接符 105690"/>
            <p:cNvSpPr/>
            <p:nvPr/>
          </p:nvSpPr>
          <p:spPr>
            <a:xfrm flipH="1">
              <a:off x="2529" y="2017"/>
              <a:ext cx="471" cy="1"/>
            </a:xfrm>
            <a:prstGeom prst="line">
              <a:avLst/>
            </a:prstGeom>
            <a:ln w="25400" cap="flat" cmpd="sng">
              <a:solidFill>
                <a:srgbClr val="000000"/>
              </a:solidFill>
              <a:prstDash val="solid"/>
              <a:headEnd type="none" w="med" len="med"/>
              <a:tailEnd type="none" w="med" len="med"/>
            </a:ln>
          </p:spPr>
        </p:sp>
        <p:sp>
          <p:nvSpPr>
            <p:cNvPr id="105692" name="矩形 105691"/>
            <p:cNvSpPr/>
            <p:nvPr/>
          </p:nvSpPr>
          <p:spPr>
            <a:xfrm>
              <a:off x="1922" y="2284"/>
              <a:ext cx="75" cy="202"/>
            </a:xfrm>
            <a:prstGeom prst="rect">
              <a:avLst/>
            </a:pr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93" name="矩形 105692"/>
            <p:cNvSpPr/>
            <p:nvPr/>
          </p:nvSpPr>
          <p:spPr>
            <a:xfrm>
              <a:off x="1922" y="2284"/>
              <a:ext cx="75" cy="202"/>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94" name="任意多边形 105693"/>
            <p:cNvSpPr/>
            <p:nvPr/>
          </p:nvSpPr>
          <p:spPr>
            <a:xfrm>
              <a:off x="1944" y="2680"/>
              <a:ext cx="36" cy="34"/>
            </a:xfrm>
            <a:custGeom>
              <a:avLst/>
              <a:gdLst/>
              <a:ahLst/>
              <a:cxnLst/>
              <a:pathLst>
                <a:path w="36" h="34">
                  <a:moveTo>
                    <a:pt x="18" y="0"/>
                  </a:moveTo>
                  <a:lnTo>
                    <a:pt x="15" y="0"/>
                  </a:lnTo>
                  <a:lnTo>
                    <a:pt x="11" y="1"/>
                  </a:lnTo>
                  <a:lnTo>
                    <a:pt x="8" y="3"/>
                  </a:lnTo>
                  <a:lnTo>
                    <a:pt x="6" y="5"/>
                  </a:lnTo>
                  <a:lnTo>
                    <a:pt x="3" y="7"/>
                  </a:lnTo>
                  <a:lnTo>
                    <a:pt x="2" y="10"/>
                  </a:lnTo>
                  <a:lnTo>
                    <a:pt x="1" y="14"/>
                  </a:lnTo>
                  <a:lnTo>
                    <a:pt x="0" y="17"/>
                  </a:lnTo>
                  <a:lnTo>
                    <a:pt x="1" y="21"/>
                  </a:lnTo>
                  <a:lnTo>
                    <a:pt x="2" y="23"/>
                  </a:lnTo>
                  <a:lnTo>
                    <a:pt x="3" y="27"/>
                  </a:lnTo>
                  <a:lnTo>
                    <a:pt x="6" y="29"/>
                  </a:lnTo>
                  <a:lnTo>
                    <a:pt x="8" y="32"/>
                  </a:lnTo>
                  <a:lnTo>
                    <a:pt x="11" y="33"/>
                  </a:lnTo>
                  <a:lnTo>
                    <a:pt x="15" y="34"/>
                  </a:lnTo>
                  <a:lnTo>
                    <a:pt x="18" y="34"/>
                  </a:lnTo>
                  <a:lnTo>
                    <a:pt x="21" y="34"/>
                  </a:lnTo>
                  <a:lnTo>
                    <a:pt x="25" y="33"/>
                  </a:lnTo>
                  <a:lnTo>
                    <a:pt x="27" y="32"/>
                  </a:lnTo>
                  <a:lnTo>
                    <a:pt x="31" y="29"/>
                  </a:lnTo>
                  <a:lnTo>
                    <a:pt x="32" y="27"/>
                  </a:lnTo>
                  <a:lnTo>
                    <a:pt x="35" y="23"/>
                  </a:lnTo>
                  <a:lnTo>
                    <a:pt x="35" y="21"/>
                  </a:lnTo>
                  <a:lnTo>
                    <a:pt x="36" y="17"/>
                  </a:lnTo>
                  <a:lnTo>
                    <a:pt x="35" y="14"/>
                  </a:lnTo>
                  <a:lnTo>
                    <a:pt x="35" y="10"/>
                  </a:lnTo>
                  <a:lnTo>
                    <a:pt x="32" y="7"/>
                  </a:lnTo>
                  <a:lnTo>
                    <a:pt x="31" y="5"/>
                  </a:lnTo>
                  <a:lnTo>
                    <a:pt x="27" y="3"/>
                  </a:lnTo>
                  <a:lnTo>
                    <a:pt x="25" y="1"/>
                  </a:lnTo>
                  <a:lnTo>
                    <a:pt x="21" y="0"/>
                  </a:lnTo>
                  <a:lnTo>
                    <a:pt x="1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95" name="任意多边形 105694"/>
            <p:cNvSpPr/>
            <p:nvPr/>
          </p:nvSpPr>
          <p:spPr>
            <a:xfrm>
              <a:off x="1944" y="2680"/>
              <a:ext cx="36" cy="34"/>
            </a:xfrm>
            <a:custGeom>
              <a:avLst/>
              <a:gdLst/>
              <a:ahLst/>
              <a:cxnLst/>
              <a:pathLst>
                <a:path w="36" h="34">
                  <a:moveTo>
                    <a:pt x="18" y="0"/>
                  </a:moveTo>
                  <a:lnTo>
                    <a:pt x="15" y="0"/>
                  </a:lnTo>
                  <a:lnTo>
                    <a:pt x="11" y="1"/>
                  </a:lnTo>
                  <a:lnTo>
                    <a:pt x="8" y="3"/>
                  </a:lnTo>
                  <a:lnTo>
                    <a:pt x="6" y="5"/>
                  </a:lnTo>
                  <a:lnTo>
                    <a:pt x="3" y="7"/>
                  </a:lnTo>
                  <a:lnTo>
                    <a:pt x="2" y="10"/>
                  </a:lnTo>
                  <a:lnTo>
                    <a:pt x="1" y="14"/>
                  </a:lnTo>
                  <a:lnTo>
                    <a:pt x="0" y="17"/>
                  </a:lnTo>
                  <a:lnTo>
                    <a:pt x="1" y="21"/>
                  </a:lnTo>
                  <a:lnTo>
                    <a:pt x="2" y="23"/>
                  </a:lnTo>
                  <a:lnTo>
                    <a:pt x="3" y="27"/>
                  </a:lnTo>
                  <a:lnTo>
                    <a:pt x="6" y="29"/>
                  </a:lnTo>
                  <a:lnTo>
                    <a:pt x="8" y="32"/>
                  </a:lnTo>
                  <a:lnTo>
                    <a:pt x="11" y="33"/>
                  </a:lnTo>
                  <a:lnTo>
                    <a:pt x="15" y="34"/>
                  </a:lnTo>
                  <a:lnTo>
                    <a:pt x="18" y="34"/>
                  </a:lnTo>
                  <a:lnTo>
                    <a:pt x="21" y="34"/>
                  </a:lnTo>
                  <a:lnTo>
                    <a:pt x="25" y="33"/>
                  </a:lnTo>
                  <a:lnTo>
                    <a:pt x="27" y="32"/>
                  </a:lnTo>
                  <a:lnTo>
                    <a:pt x="31" y="29"/>
                  </a:lnTo>
                  <a:lnTo>
                    <a:pt x="32" y="27"/>
                  </a:lnTo>
                  <a:lnTo>
                    <a:pt x="35" y="23"/>
                  </a:lnTo>
                  <a:lnTo>
                    <a:pt x="35" y="21"/>
                  </a:lnTo>
                  <a:lnTo>
                    <a:pt x="36" y="17"/>
                  </a:lnTo>
                  <a:lnTo>
                    <a:pt x="35" y="14"/>
                  </a:lnTo>
                  <a:lnTo>
                    <a:pt x="35" y="10"/>
                  </a:lnTo>
                  <a:lnTo>
                    <a:pt x="32" y="7"/>
                  </a:lnTo>
                  <a:lnTo>
                    <a:pt x="31" y="5"/>
                  </a:lnTo>
                  <a:lnTo>
                    <a:pt x="27" y="3"/>
                  </a:lnTo>
                  <a:lnTo>
                    <a:pt x="25" y="1"/>
                  </a:lnTo>
                  <a:lnTo>
                    <a:pt x="21" y="0"/>
                  </a:lnTo>
                  <a:lnTo>
                    <a:pt x="1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96" name="直接连接符 105695"/>
            <p:cNvSpPr/>
            <p:nvPr/>
          </p:nvSpPr>
          <p:spPr>
            <a:xfrm flipH="1">
              <a:off x="1960" y="2691"/>
              <a:ext cx="135" cy="1"/>
            </a:xfrm>
            <a:prstGeom prst="line">
              <a:avLst/>
            </a:prstGeom>
            <a:ln w="25400" cap="flat" cmpd="sng">
              <a:solidFill>
                <a:srgbClr val="000000"/>
              </a:solidFill>
              <a:prstDash val="solid"/>
              <a:headEnd type="none" w="med" len="med"/>
              <a:tailEnd type="none" w="med" len="med"/>
            </a:ln>
          </p:spPr>
        </p:sp>
        <p:sp>
          <p:nvSpPr>
            <p:cNvPr id="105697" name="直接连接符 105696"/>
            <p:cNvSpPr/>
            <p:nvPr/>
          </p:nvSpPr>
          <p:spPr>
            <a:xfrm flipH="1">
              <a:off x="1707" y="2898"/>
              <a:ext cx="388" cy="1"/>
            </a:xfrm>
            <a:prstGeom prst="line">
              <a:avLst/>
            </a:prstGeom>
            <a:ln w="25400" cap="flat" cmpd="sng">
              <a:solidFill>
                <a:srgbClr val="000000"/>
              </a:solidFill>
              <a:prstDash val="solid"/>
              <a:headEnd type="none" w="med" len="med"/>
              <a:tailEnd type="none" w="med" len="med"/>
            </a:ln>
          </p:spPr>
        </p:sp>
        <p:sp>
          <p:nvSpPr>
            <p:cNvPr id="105698" name="直接连接符 105697"/>
            <p:cNvSpPr/>
            <p:nvPr/>
          </p:nvSpPr>
          <p:spPr>
            <a:xfrm>
              <a:off x="2521" y="2804"/>
              <a:ext cx="481" cy="1"/>
            </a:xfrm>
            <a:prstGeom prst="line">
              <a:avLst/>
            </a:prstGeom>
            <a:ln w="25400" cap="flat" cmpd="sng">
              <a:solidFill>
                <a:srgbClr val="000000"/>
              </a:solidFill>
              <a:prstDash val="solid"/>
              <a:headEnd type="none" w="med" len="med"/>
              <a:tailEnd type="none" w="med" len="med"/>
            </a:ln>
          </p:spPr>
        </p:sp>
        <p:sp>
          <p:nvSpPr>
            <p:cNvPr id="105699" name="矩形 105698"/>
            <p:cNvSpPr/>
            <p:nvPr/>
          </p:nvSpPr>
          <p:spPr>
            <a:xfrm>
              <a:off x="1925" y="3071"/>
              <a:ext cx="74" cy="203"/>
            </a:xfrm>
            <a:prstGeom prst="rect">
              <a:avLst/>
            </a:pr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00" name="矩形 105699"/>
            <p:cNvSpPr/>
            <p:nvPr/>
          </p:nvSpPr>
          <p:spPr>
            <a:xfrm>
              <a:off x="1925" y="3071"/>
              <a:ext cx="74" cy="203"/>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01" name="矩形 105700"/>
            <p:cNvSpPr/>
            <p:nvPr/>
          </p:nvSpPr>
          <p:spPr>
            <a:xfrm>
              <a:off x="3646" y="2494"/>
              <a:ext cx="182" cy="281"/>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02" name="矩形 105701"/>
            <p:cNvSpPr/>
            <p:nvPr/>
          </p:nvSpPr>
          <p:spPr>
            <a:xfrm>
              <a:off x="3737" y="2549"/>
              <a:ext cx="28" cy="134"/>
            </a:xfrm>
            <a:prstGeom prst="rect">
              <a:avLst/>
            </a:prstGeom>
            <a:noFill/>
            <a:ln w="9525">
              <a:noFill/>
            </a:ln>
          </p:spPr>
          <p:txBody>
            <a:bodyPr wrap="none" lIns="0" tIns="0" rIns="0" bIns="0">
              <a:spAutoFit/>
            </a:bodyPr>
            <a:p>
              <a:pPr>
                <a:spcBef>
                  <a:spcPct val="50000"/>
                </a:spcBef>
              </a:pPr>
              <a:r>
                <a:rPr lang="en-US" altLang="zh-CN" sz="14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703" name="任意多边形 105702"/>
            <p:cNvSpPr/>
            <p:nvPr/>
          </p:nvSpPr>
          <p:spPr>
            <a:xfrm>
              <a:off x="2094" y="2613"/>
              <a:ext cx="440" cy="377"/>
            </a:xfrm>
            <a:custGeom>
              <a:avLst/>
              <a:gdLst/>
              <a:ahLst/>
              <a:cxnLst/>
              <a:pathLst>
                <a:path w="440" h="377">
                  <a:moveTo>
                    <a:pt x="0" y="377"/>
                  </a:moveTo>
                  <a:lnTo>
                    <a:pt x="0" y="0"/>
                  </a:lnTo>
                  <a:lnTo>
                    <a:pt x="440" y="191"/>
                  </a:lnTo>
                  <a:lnTo>
                    <a:pt x="0" y="377"/>
                  </a:lnTo>
                  <a:close/>
                </a:path>
              </a:pathLst>
            </a:custGeom>
            <a:noFill/>
            <a:ln w="25400"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04" name="直接连接符 105703"/>
            <p:cNvSpPr/>
            <p:nvPr/>
          </p:nvSpPr>
          <p:spPr>
            <a:xfrm flipH="1">
              <a:off x="2378" y="3475"/>
              <a:ext cx="1586" cy="1"/>
            </a:xfrm>
            <a:prstGeom prst="line">
              <a:avLst/>
            </a:prstGeom>
            <a:ln w="25400" cap="flat" cmpd="sng">
              <a:solidFill>
                <a:srgbClr val="000000"/>
              </a:solidFill>
              <a:prstDash val="solid"/>
              <a:headEnd type="none" w="med" len="med"/>
              <a:tailEnd type="none" w="med" len="med"/>
            </a:ln>
          </p:spPr>
        </p:sp>
        <p:sp>
          <p:nvSpPr>
            <p:cNvPr id="105705" name="矩形 105704"/>
            <p:cNvSpPr/>
            <p:nvPr/>
          </p:nvSpPr>
          <p:spPr>
            <a:xfrm>
              <a:off x="3075" y="3439"/>
              <a:ext cx="208" cy="72"/>
            </a:xfrm>
            <a:prstGeom prst="rect">
              <a:avLst/>
            </a:pr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06" name="矩形 105705"/>
            <p:cNvSpPr/>
            <p:nvPr/>
          </p:nvSpPr>
          <p:spPr>
            <a:xfrm>
              <a:off x="3075" y="3439"/>
              <a:ext cx="208" cy="72"/>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07" name="直接连接符 105706"/>
            <p:cNvSpPr/>
            <p:nvPr/>
          </p:nvSpPr>
          <p:spPr>
            <a:xfrm flipH="1">
              <a:off x="1901" y="3849"/>
              <a:ext cx="120" cy="1"/>
            </a:xfrm>
            <a:prstGeom prst="line">
              <a:avLst/>
            </a:prstGeom>
            <a:ln w="25400" cap="flat" cmpd="sng">
              <a:solidFill>
                <a:srgbClr val="000000"/>
              </a:solidFill>
              <a:prstDash val="solid"/>
              <a:headEnd type="none" w="med" len="med"/>
              <a:tailEnd type="none" w="med" len="med"/>
            </a:ln>
          </p:spPr>
        </p:sp>
        <p:sp>
          <p:nvSpPr>
            <p:cNvPr id="105708" name="直接连接符 105707"/>
            <p:cNvSpPr/>
            <p:nvPr/>
          </p:nvSpPr>
          <p:spPr>
            <a:xfrm flipH="1">
              <a:off x="1700" y="3357"/>
              <a:ext cx="572" cy="1"/>
            </a:xfrm>
            <a:prstGeom prst="line">
              <a:avLst/>
            </a:prstGeom>
            <a:ln w="25400" cap="flat" cmpd="sng">
              <a:solidFill>
                <a:srgbClr val="000000"/>
              </a:solidFill>
              <a:prstDash val="solid"/>
              <a:headEnd type="none" w="med" len="med"/>
              <a:tailEnd type="none" w="med" len="med"/>
            </a:ln>
          </p:spPr>
        </p:sp>
        <p:sp>
          <p:nvSpPr>
            <p:cNvPr id="105709" name="直接连接符 105708"/>
            <p:cNvSpPr/>
            <p:nvPr/>
          </p:nvSpPr>
          <p:spPr>
            <a:xfrm flipV="1">
              <a:off x="2319" y="3505"/>
              <a:ext cx="57" cy="34"/>
            </a:xfrm>
            <a:prstGeom prst="line">
              <a:avLst/>
            </a:prstGeom>
            <a:ln w="25400" cap="flat" cmpd="sng">
              <a:solidFill>
                <a:srgbClr val="000000"/>
              </a:solidFill>
              <a:prstDash val="solid"/>
              <a:headEnd type="none" w="med" len="med"/>
              <a:tailEnd type="none" w="med" len="med"/>
            </a:ln>
          </p:spPr>
        </p:sp>
        <p:sp>
          <p:nvSpPr>
            <p:cNvPr id="105710" name="任意多边形 105709"/>
            <p:cNvSpPr/>
            <p:nvPr/>
          </p:nvSpPr>
          <p:spPr>
            <a:xfrm>
              <a:off x="2252" y="3526"/>
              <a:ext cx="71" cy="48"/>
            </a:xfrm>
            <a:custGeom>
              <a:avLst/>
              <a:gdLst/>
              <a:ahLst/>
              <a:cxnLst/>
              <a:pathLst>
                <a:path w="71" h="48">
                  <a:moveTo>
                    <a:pt x="58" y="0"/>
                  </a:moveTo>
                  <a:lnTo>
                    <a:pt x="71" y="25"/>
                  </a:lnTo>
                  <a:lnTo>
                    <a:pt x="0" y="48"/>
                  </a:lnTo>
                  <a:lnTo>
                    <a:pt x="5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11" name="任意多边形 105710"/>
            <p:cNvSpPr/>
            <p:nvPr/>
          </p:nvSpPr>
          <p:spPr>
            <a:xfrm>
              <a:off x="2252" y="3526"/>
              <a:ext cx="71" cy="48"/>
            </a:xfrm>
            <a:custGeom>
              <a:avLst/>
              <a:gdLst/>
              <a:ahLst/>
              <a:cxnLst/>
              <a:pathLst>
                <a:path w="71" h="48">
                  <a:moveTo>
                    <a:pt x="58" y="0"/>
                  </a:moveTo>
                  <a:lnTo>
                    <a:pt x="71" y="25"/>
                  </a:lnTo>
                  <a:lnTo>
                    <a:pt x="0" y="48"/>
                  </a:lnTo>
                  <a:lnTo>
                    <a:pt x="58" y="0"/>
                  </a:lnTo>
                  <a:close/>
                </a:path>
              </a:pathLst>
            </a:custGeom>
            <a:noFill/>
            <a:ln w="4763"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12" name="直接连接符 105711"/>
            <p:cNvSpPr/>
            <p:nvPr/>
          </p:nvSpPr>
          <p:spPr>
            <a:xfrm>
              <a:off x="2267" y="3356"/>
              <a:ext cx="110" cy="87"/>
            </a:xfrm>
            <a:prstGeom prst="line">
              <a:avLst/>
            </a:prstGeom>
            <a:ln w="25400" cap="flat" cmpd="sng">
              <a:solidFill>
                <a:srgbClr val="000000"/>
              </a:solidFill>
              <a:prstDash val="solid"/>
              <a:headEnd type="none" w="med" len="med"/>
              <a:tailEnd type="none" w="med" len="med"/>
            </a:ln>
          </p:spPr>
        </p:sp>
        <p:sp>
          <p:nvSpPr>
            <p:cNvPr id="105713" name="直接连接符 105712"/>
            <p:cNvSpPr/>
            <p:nvPr/>
          </p:nvSpPr>
          <p:spPr>
            <a:xfrm>
              <a:off x="2378" y="3364"/>
              <a:ext cx="1" cy="210"/>
            </a:xfrm>
            <a:prstGeom prst="line">
              <a:avLst/>
            </a:prstGeom>
            <a:ln w="25400" cap="flat" cmpd="sng">
              <a:solidFill>
                <a:srgbClr val="000000"/>
              </a:solidFill>
              <a:prstDash val="solid"/>
              <a:headEnd type="none" w="med" len="med"/>
              <a:tailEnd type="none" w="med" len="med"/>
            </a:ln>
          </p:spPr>
        </p:sp>
        <p:sp>
          <p:nvSpPr>
            <p:cNvPr id="105714" name="直接连接符 105713"/>
            <p:cNvSpPr/>
            <p:nvPr/>
          </p:nvSpPr>
          <p:spPr>
            <a:xfrm flipH="1">
              <a:off x="1961" y="3573"/>
              <a:ext cx="292" cy="1"/>
            </a:xfrm>
            <a:prstGeom prst="line">
              <a:avLst/>
            </a:prstGeom>
            <a:ln w="25400" cap="flat" cmpd="sng">
              <a:solidFill>
                <a:srgbClr val="000000"/>
              </a:solidFill>
              <a:prstDash val="solid"/>
              <a:headEnd type="none" w="med" len="med"/>
              <a:tailEnd type="none" w="med" len="med"/>
            </a:ln>
          </p:spPr>
        </p:sp>
        <p:sp>
          <p:nvSpPr>
            <p:cNvPr id="105715" name="任意多边形 105714"/>
            <p:cNvSpPr/>
            <p:nvPr/>
          </p:nvSpPr>
          <p:spPr>
            <a:xfrm>
              <a:off x="1944" y="3555"/>
              <a:ext cx="36" cy="35"/>
            </a:xfrm>
            <a:custGeom>
              <a:avLst/>
              <a:gdLst/>
              <a:ahLst/>
              <a:cxnLst/>
              <a:pathLst>
                <a:path w="36" h="35">
                  <a:moveTo>
                    <a:pt x="18" y="0"/>
                  </a:moveTo>
                  <a:lnTo>
                    <a:pt x="15" y="1"/>
                  </a:lnTo>
                  <a:lnTo>
                    <a:pt x="11" y="2"/>
                  </a:lnTo>
                  <a:lnTo>
                    <a:pt x="8" y="4"/>
                  </a:lnTo>
                  <a:lnTo>
                    <a:pt x="6" y="6"/>
                  </a:lnTo>
                  <a:lnTo>
                    <a:pt x="3" y="8"/>
                  </a:lnTo>
                  <a:lnTo>
                    <a:pt x="2" y="11"/>
                  </a:lnTo>
                  <a:lnTo>
                    <a:pt x="1" y="15"/>
                  </a:lnTo>
                  <a:lnTo>
                    <a:pt x="0" y="18"/>
                  </a:lnTo>
                  <a:lnTo>
                    <a:pt x="1" y="22"/>
                  </a:lnTo>
                  <a:lnTo>
                    <a:pt x="2" y="24"/>
                  </a:lnTo>
                  <a:lnTo>
                    <a:pt x="3" y="28"/>
                  </a:lnTo>
                  <a:lnTo>
                    <a:pt x="6" y="30"/>
                  </a:lnTo>
                  <a:lnTo>
                    <a:pt x="8" y="32"/>
                  </a:lnTo>
                  <a:lnTo>
                    <a:pt x="11" y="34"/>
                  </a:lnTo>
                  <a:lnTo>
                    <a:pt x="15" y="34"/>
                  </a:lnTo>
                  <a:lnTo>
                    <a:pt x="18" y="35"/>
                  </a:lnTo>
                  <a:lnTo>
                    <a:pt x="21" y="34"/>
                  </a:lnTo>
                  <a:lnTo>
                    <a:pt x="25" y="34"/>
                  </a:lnTo>
                  <a:lnTo>
                    <a:pt x="27" y="32"/>
                  </a:lnTo>
                  <a:lnTo>
                    <a:pt x="31" y="30"/>
                  </a:lnTo>
                  <a:lnTo>
                    <a:pt x="32" y="28"/>
                  </a:lnTo>
                  <a:lnTo>
                    <a:pt x="35" y="24"/>
                  </a:lnTo>
                  <a:lnTo>
                    <a:pt x="35" y="22"/>
                  </a:lnTo>
                  <a:lnTo>
                    <a:pt x="36" y="18"/>
                  </a:lnTo>
                  <a:lnTo>
                    <a:pt x="35" y="15"/>
                  </a:lnTo>
                  <a:lnTo>
                    <a:pt x="35" y="11"/>
                  </a:lnTo>
                  <a:lnTo>
                    <a:pt x="32" y="8"/>
                  </a:lnTo>
                  <a:lnTo>
                    <a:pt x="31" y="6"/>
                  </a:lnTo>
                  <a:lnTo>
                    <a:pt x="27" y="4"/>
                  </a:lnTo>
                  <a:lnTo>
                    <a:pt x="25" y="2"/>
                  </a:lnTo>
                  <a:lnTo>
                    <a:pt x="21" y="1"/>
                  </a:lnTo>
                  <a:lnTo>
                    <a:pt x="1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16" name="任意多边形 105715"/>
            <p:cNvSpPr/>
            <p:nvPr/>
          </p:nvSpPr>
          <p:spPr>
            <a:xfrm>
              <a:off x="1944" y="3555"/>
              <a:ext cx="36" cy="35"/>
            </a:xfrm>
            <a:custGeom>
              <a:avLst/>
              <a:gdLst/>
              <a:ahLst/>
              <a:cxnLst/>
              <a:pathLst>
                <a:path w="36" h="35">
                  <a:moveTo>
                    <a:pt x="18" y="0"/>
                  </a:moveTo>
                  <a:lnTo>
                    <a:pt x="15" y="1"/>
                  </a:lnTo>
                  <a:lnTo>
                    <a:pt x="11" y="2"/>
                  </a:lnTo>
                  <a:lnTo>
                    <a:pt x="8" y="4"/>
                  </a:lnTo>
                  <a:lnTo>
                    <a:pt x="6" y="6"/>
                  </a:lnTo>
                  <a:lnTo>
                    <a:pt x="3" y="8"/>
                  </a:lnTo>
                  <a:lnTo>
                    <a:pt x="2" y="11"/>
                  </a:lnTo>
                  <a:lnTo>
                    <a:pt x="1" y="15"/>
                  </a:lnTo>
                  <a:lnTo>
                    <a:pt x="0" y="18"/>
                  </a:lnTo>
                  <a:lnTo>
                    <a:pt x="1" y="22"/>
                  </a:lnTo>
                  <a:lnTo>
                    <a:pt x="2" y="24"/>
                  </a:lnTo>
                  <a:lnTo>
                    <a:pt x="3" y="28"/>
                  </a:lnTo>
                  <a:lnTo>
                    <a:pt x="6" y="30"/>
                  </a:lnTo>
                  <a:lnTo>
                    <a:pt x="8" y="32"/>
                  </a:lnTo>
                  <a:lnTo>
                    <a:pt x="11" y="34"/>
                  </a:lnTo>
                  <a:lnTo>
                    <a:pt x="15" y="34"/>
                  </a:lnTo>
                  <a:lnTo>
                    <a:pt x="18" y="35"/>
                  </a:lnTo>
                  <a:lnTo>
                    <a:pt x="21" y="34"/>
                  </a:lnTo>
                  <a:lnTo>
                    <a:pt x="25" y="34"/>
                  </a:lnTo>
                  <a:lnTo>
                    <a:pt x="27" y="32"/>
                  </a:lnTo>
                  <a:lnTo>
                    <a:pt x="31" y="30"/>
                  </a:lnTo>
                  <a:lnTo>
                    <a:pt x="32" y="28"/>
                  </a:lnTo>
                  <a:lnTo>
                    <a:pt x="35" y="24"/>
                  </a:lnTo>
                  <a:lnTo>
                    <a:pt x="35" y="22"/>
                  </a:lnTo>
                  <a:lnTo>
                    <a:pt x="36" y="18"/>
                  </a:lnTo>
                  <a:lnTo>
                    <a:pt x="35" y="15"/>
                  </a:lnTo>
                  <a:lnTo>
                    <a:pt x="35" y="11"/>
                  </a:lnTo>
                  <a:lnTo>
                    <a:pt x="32" y="8"/>
                  </a:lnTo>
                  <a:lnTo>
                    <a:pt x="31" y="6"/>
                  </a:lnTo>
                  <a:lnTo>
                    <a:pt x="27" y="4"/>
                  </a:lnTo>
                  <a:lnTo>
                    <a:pt x="25" y="2"/>
                  </a:lnTo>
                  <a:lnTo>
                    <a:pt x="21" y="1"/>
                  </a:lnTo>
                  <a:lnTo>
                    <a:pt x="1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17" name="直接连接符 105716"/>
            <p:cNvSpPr/>
            <p:nvPr/>
          </p:nvSpPr>
          <p:spPr>
            <a:xfrm>
              <a:off x="2745" y="1450"/>
              <a:ext cx="1" cy="447"/>
            </a:xfrm>
            <a:prstGeom prst="line">
              <a:avLst/>
            </a:prstGeom>
            <a:ln w="25400" cap="flat" cmpd="sng">
              <a:solidFill>
                <a:srgbClr val="000000"/>
              </a:solidFill>
              <a:prstDash val="solid"/>
              <a:headEnd type="none" w="med" len="med"/>
              <a:tailEnd type="none" w="med" len="med"/>
            </a:ln>
          </p:spPr>
        </p:sp>
        <p:sp>
          <p:nvSpPr>
            <p:cNvPr id="105718" name="直接连接符 105717"/>
            <p:cNvSpPr/>
            <p:nvPr/>
          </p:nvSpPr>
          <p:spPr>
            <a:xfrm>
              <a:off x="3263" y="2707"/>
              <a:ext cx="371" cy="1"/>
            </a:xfrm>
            <a:prstGeom prst="line">
              <a:avLst/>
            </a:prstGeom>
            <a:ln w="25400" cap="flat" cmpd="sng">
              <a:solidFill>
                <a:srgbClr val="000000"/>
              </a:solidFill>
              <a:prstDash val="solid"/>
              <a:headEnd type="none" w="med" len="med"/>
              <a:tailEnd type="none" w="med" len="med"/>
            </a:ln>
          </p:spPr>
        </p:sp>
        <p:sp>
          <p:nvSpPr>
            <p:cNvPr id="105719" name="直接连接符 105718"/>
            <p:cNvSpPr/>
            <p:nvPr/>
          </p:nvSpPr>
          <p:spPr>
            <a:xfrm>
              <a:off x="3263" y="2007"/>
              <a:ext cx="127" cy="1"/>
            </a:xfrm>
            <a:prstGeom prst="line">
              <a:avLst/>
            </a:prstGeom>
            <a:ln w="25400" cap="flat" cmpd="sng">
              <a:solidFill>
                <a:srgbClr val="000000"/>
              </a:solidFill>
              <a:prstDash val="solid"/>
              <a:headEnd type="none" w="med" len="med"/>
              <a:tailEnd type="none" w="med" len="med"/>
            </a:ln>
          </p:spPr>
        </p:sp>
        <p:sp>
          <p:nvSpPr>
            <p:cNvPr id="105720" name="任意多边形 105719"/>
            <p:cNvSpPr/>
            <p:nvPr/>
          </p:nvSpPr>
          <p:spPr>
            <a:xfrm>
              <a:off x="3230" y="1980"/>
              <a:ext cx="55" cy="53"/>
            </a:xfrm>
            <a:custGeom>
              <a:avLst/>
              <a:gdLst/>
              <a:ahLst/>
              <a:cxnLst/>
              <a:pathLst>
                <a:path w="55" h="53">
                  <a:moveTo>
                    <a:pt x="28" y="0"/>
                  </a:moveTo>
                  <a:lnTo>
                    <a:pt x="22" y="1"/>
                  </a:lnTo>
                  <a:lnTo>
                    <a:pt x="17" y="3"/>
                  </a:lnTo>
                  <a:lnTo>
                    <a:pt x="13" y="5"/>
                  </a:lnTo>
                  <a:lnTo>
                    <a:pt x="9" y="9"/>
                  </a:lnTo>
                  <a:lnTo>
                    <a:pt x="5" y="12"/>
                  </a:lnTo>
                  <a:lnTo>
                    <a:pt x="3" y="16"/>
                  </a:lnTo>
                  <a:lnTo>
                    <a:pt x="2" y="21"/>
                  </a:lnTo>
                  <a:lnTo>
                    <a:pt x="0" y="27"/>
                  </a:lnTo>
                  <a:lnTo>
                    <a:pt x="2" y="32"/>
                  </a:lnTo>
                  <a:lnTo>
                    <a:pt x="3" y="37"/>
                  </a:lnTo>
                  <a:lnTo>
                    <a:pt x="5" y="40"/>
                  </a:lnTo>
                  <a:lnTo>
                    <a:pt x="9" y="45"/>
                  </a:lnTo>
                  <a:lnTo>
                    <a:pt x="13" y="48"/>
                  </a:lnTo>
                  <a:lnTo>
                    <a:pt x="17" y="50"/>
                  </a:lnTo>
                  <a:lnTo>
                    <a:pt x="22" y="51"/>
                  </a:lnTo>
                  <a:lnTo>
                    <a:pt x="28" y="53"/>
                  </a:lnTo>
                  <a:lnTo>
                    <a:pt x="33" y="51"/>
                  </a:lnTo>
                  <a:lnTo>
                    <a:pt x="38" y="50"/>
                  </a:lnTo>
                  <a:lnTo>
                    <a:pt x="42" y="48"/>
                  </a:lnTo>
                  <a:lnTo>
                    <a:pt x="47" y="45"/>
                  </a:lnTo>
                  <a:lnTo>
                    <a:pt x="50" y="40"/>
                  </a:lnTo>
                  <a:lnTo>
                    <a:pt x="52" y="37"/>
                  </a:lnTo>
                  <a:lnTo>
                    <a:pt x="53" y="32"/>
                  </a:lnTo>
                  <a:lnTo>
                    <a:pt x="55" y="27"/>
                  </a:lnTo>
                  <a:lnTo>
                    <a:pt x="53" y="21"/>
                  </a:lnTo>
                  <a:lnTo>
                    <a:pt x="52" y="16"/>
                  </a:lnTo>
                  <a:lnTo>
                    <a:pt x="50" y="12"/>
                  </a:lnTo>
                  <a:lnTo>
                    <a:pt x="47" y="9"/>
                  </a:lnTo>
                  <a:lnTo>
                    <a:pt x="42" y="5"/>
                  </a:lnTo>
                  <a:lnTo>
                    <a:pt x="38" y="3"/>
                  </a:lnTo>
                  <a:lnTo>
                    <a:pt x="33" y="1"/>
                  </a:lnTo>
                  <a:lnTo>
                    <a:pt x="28" y="0"/>
                  </a:lnTo>
                  <a:close/>
                </a:path>
              </a:pathLst>
            </a:cu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21" name="任意多边形 105720"/>
            <p:cNvSpPr/>
            <p:nvPr/>
          </p:nvSpPr>
          <p:spPr>
            <a:xfrm>
              <a:off x="3230" y="1980"/>
              <a:ext cx="55" cy="53"/>
            </a:xfrm>
            <a:custGeom>
              <a:avLst/>
              <a:gdLst/>
              <a:ahLst/>
              <a:cxnLst/>
              <a:pathLst>
                <a:path w="55" h="53">
                  <a:moveTo>
                    <a:pt x="28" y="0"/>
                  </a:moveTo>
                  <a:lnTo>
                    <a:pt x="22" y="1"/>
                  </a:lnTo>
                  <a:lnTo>
                    <a:pt x="17" y="3"/>
                  </a:lnTo>
                  <a:lnTo>
                    <a:pt x="13" y="5"/>
                  </a:lnTo>
                  <a:lnTo>
                    <a:pt x="9" y="9"/>
                  </a:lnTo>
                  <a:lnTo>
                    <a:pt x="5" y="12"/>
                  </a:lnTo>
                  <a:lnTo>
                    <a:pt x="3" y="16"/>
                  </a:lnTo>
                  <a:lnTo>
                    <a:pt x="2" y="21"/>
                  </a:lnTo>
                  <a:lnTo>
                    <a:pt x="0" y="27"/>
                  </a:lnTo>
                  <a:lnTo>
                    <a:pt x="2" y="32"/>
                  </a:lnTo>
                  <a:lnTo>
                    <a:pt x="3" y="37"/>
                  </a:lnTo>
                  <a:lnTo>
                    <a:pt x="5" y="40"/>
                  </a:lnTo>
                  <a:lnTo>
                    <a:pt x="9" y="45"/>
                  </a:lnTo>
                  <a:lnTo>
                    <a:pt x="13" y="48"/>
                  </a:lnTo>
                  <a:lnTo>
                    <a:pt x="17" y="50"/>
                  </a:lnTo>
                  <a:lnTo>
                    <a:pt x="22" y="51"/>
                  </a:lnTo>
                  <a:lnTo>
                    <a:pt x="28" y="53"/>
                  </a:lnTo>
                  <a:lnTo>
                    <a:pt x="33" y="51"/>
                  </a:lnTo>
                  <a:lnTo>
                    <a:pt x="38" y="50"/>
                  </a:lnTo>
                  <a:lnTo>
                    <a:pt x="42" y="48"/>
                  </a:lnTo>
                  <a:lnTo>
                    <a:pt x="47" y="45"/>
                  </a:lnTo>
                  <a:lnTo>
                    <a:pt x="50" y="40"/>
                  </a:lnTo>
                  <a:lnTo>
                    <a:pt x="52" y="37"/>
                  </a:lnTo>
                  <a:lnTo>
                    <a:pt x="53" y="32"/>
                  </a:lnTo>
                  <a:lnTo>
                    <a:pt x="55" y="27"/>
                  </a:lnTo>
                  <a:lnTo>
                    <a:pt x="53" y="21"/>
                  </a:lnTo>
                  <a:lnTo>
                    <a:pt x="52" y="16"/>
                  </a:lnTo>
                  <a:lnTo>
                    <a:pt x="50" y="12"/>
                  </a:lnTo>
                  <a:lnTo>
                    <a:pt x="47" y="9"/>
                  </a:lnTo>
                  <a:lnTo>
                    <a:pt x="42" y="5"/>
                  </a:lnTo>
                  <a:lnTo>
                    <a:pt x="38" y="3"/>
                  </a:lnTo>
                  <a:lnTo>
                    <a:pt x="33" y="1"/>
                  </a:lnTo>
                  <a:lnTo>
                    <a:pt x="2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22" name="直接连接符 105721"/>
            <p:cNvSpPr/>
            <p:nvPr/>
          </p:nvSpPr>
          <p:spPr>
            <a:xfrm flipH="1" flipV="1">
              <a:off x="2869" y="2105"/>
              <a:ext cx="1" cy="106"/>
            </a:xfrm>
            <a:prstGeom prst="line">
              <a:avLst/>
            </a:prstGeom>
            <a:ln w="25400" cap="flat" cmpd="sng">
              <a:solidFill>
                <a:srgbClr val="000000"/>
              </a:solidFill>
              <a:prstDash val="solid"/>
              <a:headEnd type="none" w="med" len="med"/>
              <a:tailEnd type="none" w="med" len="med"/>
            </a:ln>
          </p:spPr>
        </p:sp>
        <p:sp>
          <p:nvSpPr>
            <p:cNvPr id="105723" name="直接连接符 105722"/>
            <p:cNvSpPr/>
            <p:nvPr/>
          </p:nvSpPr>
          <p:spPr>
            <a:xfrm flipH="1">
              <a:off x="2870" y="2168"/>
              <a:ext cx="520" cy="324"/>
            </a:xfrm>
            <a:prstGeom prst="line">
              <a:avLst/>
            </a:prstGeom>
            <a:ln w="25400" cap="flat" cmpd="sng">
              <a:solidFill>
                <a:srgbClr val="000000"/>
              </a:solidFill>
              <a:prstDash val="solid"/>
              <a:headEnd type="none" w="med" len="med"/>
              <a:tailEnd type="none" w="med" len="med"/>
            </a:ln>
          </p:spPr>
        </p:sp>
        <p:sp>
          <p:nvSpPr>
            <p:cNvPr id="105724" name="直接连接符 105723"/>
            <p:cNvSpPr/>
            <p:nvPr/>
          </p:nvSpPr>
          <p:spPr>
            <a:xfrm flipH="1" flipV="1">
              <a:off x="2870" y="2211"/>
              <a:ext cx="517" cy="292"/>
            </a:xfrm>
            <a:prstGeom prst="line">
              <a:avLst/>
            </a:prstGeom>
            <a:ln w="25400" cap="flat" cmpd="sng">
              <a:solidFill>
                <a:srgbClr val="000000"/>
              </a:solidFill>
              <a:prstDash val="solid"/>
              <a:headEnd type="none" w="med" len="med"/>
              <a:tailEnd type="none" w="med" len="med"/>
            </a:ln>
          </p:spPr>
        </p:sp>
        <p:sp>
          <p:nvSpPr>
            <p:cNvPr id="105725" name="直接连接符 105724"/>
            <p:cNvSpPr/>
            <p:nvPr/>
          </p:nvSpPr>
          <p:spPr>
            <a:xfrm flipV="1">
              <a:off x="3390" y="2007"/>
              <a:ext cx="1" cy="161"/>
            </a:xfrm>
            <a:prstGeom prst="line">
              <a:avLst/>
            </a:prstGeom>
            <a:ln w="25400" cap="flat" cmpd="sng">
              <a:solidFill>
                <a:srgbClr val="000000"/>
              </a:solidFill>
              <a:prstDash val="solid"/>
              <a:headEnd type="none" w="med" len="med"/>
              <a:tailEnd type="none" w="med" len="med"/>
            </a:ln>
          </p:spPr>
        </p:sp>
        <p:sp>
          <p:nvSpPr>
            <p:cNvPr id="105726" name="直接连接符 105725"/>
            <p:cNvSpPr/>
            <p:nvPr/>
          </p:nvSpPr>
          <p:spPr>
            <a:xfrm>
              <a:off x="2870" y="2105"/>
              <a:ext cx="128" cy="1"/>
            </a:xfrm>
            <a:prstGeom prst="line">
              <a:avLst/>
            </a:prstGeom>
            <a:ln w="25400" cap="flat" cmpd="sng">
              <a:solidFill>
                <a:srgbClr val="000000"/>
              </a:solidFill>
              <a:prstDash val="solid"/>
              <a:headEnd type="none" w="med" len="med"/>
              <a:tailEnd type="none" w="med" len="med"/>
            </a:ln>
          </p:spPr>
        </p:sp>
        <p:sp>
          <p:nvSpPr>
            <p:cNvPr id="105727" name="任意多边形 105726"/>
            <p:cNvSpPr/>
            <p:nvPr/>
          </p:nvSpPr>
          <p:spPr>
            <a:xfrm>
              <a:off x="3229" y="2680"/>
              <a:ext cx="54" cy="51"/>
            </a:xfrm>
            <a:custGeom>
              <a:avLst/>
              <a:gdLst/>
              <a:ahLst/>
              <a:cxnLst/>
              <a:pathLst>
                <a:path w="54" h="51">
                  <a:moveTo>
                    <a:pt x="27" y="0"/>
                  </a:moveTo>
                  <a:lnTo>
                    <a:pt x="22" y="0"/>
                  </a:lnTo>
                  <a:lnTo>
                    <a:pt x="17" y="1"/>
                  </a:lnTo>
                  <a:lnTo>
                    <a:pt x="11" y="4"/>
                  </a:lnTo>
                  <a:lnTo>
                    <a:pt x="8" y="7"/>
                  </a:lnTo>
                  <a:lnTo>
                    <a:pt x="5" y="11"/>
                  </a:lnTo>
                  <a:lnTo>
                    <a:pt x="3" y="16"/>
                  </a:lnTo>
                  <a:lnTo>
                    <a:pt x="0" y="21"/>
                  </a:lnTo>
                  <a:lnTo>
                    <a:pt x="0" y="26"/>
                  </a:lnTo>
                  <a:lnTo>
                    <a:pt x="0" y="31"/>
                  </a:lnTo>
                  <a:lnTo>
                    <a:pt x="3" y="36"/>
                  </a:lnTo>
                  <a:lnTo>
                    <a:pt x="5" y="40"/>
                  </a:lnTo>
                  <a:lnTo>
                    <a:pt x="8" y="44"/>
                  </a:lnTo>
                  <a:lnTo>
                    <a:pt x="11" y="48"/>
                  </a:lnTo>
                  <a:lnTo>
                    <a:pt x="17" y="50"/>
                  </a:lnTo>
                  <a:lnTo>
                    <a:pt x="22" y="51"/>
                  </a:lnTo>
                  <a:lnTo>
                    <a:pt x="27" y="51"/>
                  </a:lnTo>
                  <a:lnTo>
                    <a:pt x="33" y="51"/>
                  </a:lnTo>
                  <a:lnTo>
                    <a:pt x="38" y="50"/>
                  </a:lnTo>
                  <a:lnTo>
                    <a:pt x="42" y="48"/>
                  </a:lnTo>
                  <a:lnTo>
                    <a:pt x="46" y="44"/>
                  </a:lnTo>
                  <a:lnTo>
                    <a:pt x="49" y="40"/>
                  </a:lnTo>
                  <a:lnTo>
                    <a:pt x="52" y="36"/>
                  </a:lnTo>
                  <a:lnTo>
                    <a:pt x="53" y="31"/>
                  </a:lnTo>
                  <a:lnTo>
                    <a:pt x="54" y="26"/>
                  </a:lnTo>
                  <a:lnTo>
                    <a:pt x="53" y="21"/>
                  </a:lnTo>
                  <a:lnTo>
                    <a:pt x="52" y="16"/>
                  </a:lnTo>
                  <a:lnTo>
                    <a:pt x="49" y="11"/>
                  </a:lnTo>
                  <a:lnTo>
                    <a:pt x="46" y="7"/>
                  </a:lnTo>
                  <a:lnTo>
                    <a:pt x="42" y="4"/>
                  </a:lnTo>
                  <a:lnTo>
                    <a:pt x="38" y="1"/>
                  </a:lnTo>
                  <a:lnTo>
                    <a:pt x="33" y="0"/>
                  </a:lnTo>
                  <a:lnTo>
                    <a:pt x="27" y="0"/>
                  </a:lnTo>
                  <a:close/>
                </a:path>
              </a:pathLst>
            </a:cu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28" name="任意多边形 105727"/>
            <p:cNvSpPr/>
            <p:nvPr/>
          </p:nvSpPr>
          <p:spPr>
            <a:xfrm>
              <a:off x="3229" y="2680"/>
              <a:ext cx="54" cy="51"/>
            </a:xfrm>
            <a:custGeom>
              <a:avLst/>
              <a:gdLst/>
              <a:ahLst/>
              <a:cxnLst/>
              <a:pathLst>
                <a:path w="54" h="51">
                  <a:moveTo>
                    <a:pt x="27" y="0"/>
                  </a:moveTo>
                  <a:lnTo>
                    <a:pt x="22" y="0"/>
                  </a:lnTo>
                  <a:lnTo>
                    <a:pt x="17" y="1"/>
                  </a:lnTo>
                  <a:lnTo>
                    <a:pt x="11" y="4"/>
                  </a:lnTo>
                  <a:lnTo>
                    <a:pt x="8" y="7"/>
                  </a:lnTo>
                  <a:lnTo>
                    <a:pt x="5" y="11"/>
                  </a:lnTo>
                  <a:lnTo>
                    <a:pt x="3" y="16"/>
                  </a:lnTo>
                  <a:lnTo>
                    <a:pt x="0" y="21"/>
                  </a:lnTo>
                  <a:lnTo>
                    <a:pt x="0" y="26"/>
                  </a:lnTo>
                  <a:lnTo>
                    <a:pt x="0" y="31"/>
                  </a:lnTo>
                  <a:lnTo>
                    <a:pt x="3" y="36"/>
                  </a:lnTo>
                  <a:lnTo>
                    <a:pt x="5" y="40"/>
                  </a:lnTo>
                  <a:lnTo>
                    <a:pt x="8" y="44"/>
                  </a:lnTo>
                  <a:lnTo>
                    <a:pt x="11" y="48"/>
                  </a:lnTo>
                  <a:lnTo>
                    <a:pt x="17" y="50"/>
                  </a:lnTo>
                  <a:lnTo>
                    <a:pt x="22" y="51"/>
                  </a:lnTo>
                  <a:lnTo>
                    <a:pt x="27" y="51"/>
                  </a:lnTo>
                  <a:lnTo>
                    <a:pt x="33" y="51"/>
                  </a:lnTo>
                  <a:lnTo>
                    <a:pt x="38" y="50"/>
                  </a:lnTo>
                  <a:lnTo>
                    <a:pt x="42" y="48"/>
                  </a:lnTo>
                  <a:lnTo>
                    <a:pt x="46" y="44"/>
                  </a:lnTo>
                  <a:lnTo>
                    <a:pt x="49" y="40"/>
                  </a:lnTo>
                  <a:lnTo>
                    <a:pt x="52" y="36"/>
                  </a:lnTo>
                  <a:lnTo>
                    <a:pt x="53" y="31"/>
                  </a:lnTo>
                  <a:lnTo>
                    <a:pt x="54" y="26"/>
                  </a:lnTo>
                  <a:lnTo>
                    <a:pt x="53" y="21"/>
                  </a:lnTo>
                  <a:lnTo>
                    <a:pt x="52" y="16"/>
                  </a:lnTo>
                  <a:lnTo>
                    <a:pt x="49" y="11"/>
                  </a:lnTo>
                  <a:lnTo>
                    <a:pt x="46" y="7"/>
                  </a:lnTo>
                  <a:lnTo>
                    <a:pt x="42" y="4"/>
                  </a:lnTo>
                  <a:lnTo>
                    <a:pt x="38" y="1"/>
                  </a:lnTo>
                  <a:lnTo>
                    <a:pt x="33" y="0"/>
                  </a:lnTo>
                  <a:lnTo>
                    <a:pt x="27"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29" name="直接连接符 105728"/>
            <p:cNvSpPr/>
            <p:nvPr/>
          </p:nvSpPr>
          <p:spPr>
            <a:xfrm>
              <a:off x="2869" y="2615"/>
              <a:ext cx="126" cy="1"/>
            </a:xfrm>
            <a:prstGeom prst="line">
              <a:avLst/>
            </a:prstGeom>
            <a:ln w="25400" cap="flat" cmpd="sng">
              <a:solidFill>
                <a:srgbClr val="000000"/>
              </a:solidFill>
              <a:prstDash val="solid"/>
              <a:headEnd type="none" w="med" len="med"/>
              <a:tailEnd type="none" w="med" len="med"/>
            </a:ln>
          </p:spPr>
        </p:sp>
        <p:sp>
          <p:nvSpPr>
            <p:cNvPr id="105730" name="直接连接符 105729"/>
            <p:cNvSpPr/>
            <p:nvPr/>
          </p:nvSpPr>
          <p:spPr>
            <a:xfrm flipH="1" flipV="1">
              <a:off x="2869" y="2492"/>
              <a:ext cx="1" cy="122"/>
            </a:xfrm>
            <a:prstGeom prst="line">
              <a:avLst/>
            </a:prstGeom>
            <a:ln w="25400" cap="flat" cmpd="sng">
              <a:solidFill>
                <a:srgbClr val="000000"/>
              </a:solidFill>
              <a:prstDash val="solid"/>
              <a:headEnd type="none" w="med" len="med"/>
              <a:tailEnd type="none" w="med" len="med"/>
            </a:ln>
          </p:spPr>
        </p:sp>
        <p:sp>
          <p:nvSpPr>
            <p:cNvPr id="105731" name="直接连接符 105730"/>
            <p:cNvSpPr/>
            <p:nvPr/>
          </p:nvSpPr>
          <p:spPr>
            <a:xfrm flipV="1">
              <a:off x="3387" y="2509"/>
              <a:ext cx="1" cy="193"/>
            </a:xfrm>
            <a:prstGeom prst="line">
              <a:avLst/>
            </a:prstGeom>
            <a:ln w="25400" cap="flat" cmpd="sng">
              <a:solidFill>
                <a:srgbClr val="000000"/>
              </a:solidFill>
              <a:prstDash val="solid"/>
              <a:headEnd type="none" w="med" len="med"/>
              <a:tailEnd type="none" w="med" len="med"/>
            </a:ln>
          </p:spPr>
        </p:sp>
        <p:sp>
          <p:nvSpPr>
            <p:cNvPr id="105732" name="矩形 105731"/>
            <p:cNvSpPr/>
            <p:nvPr/>
          </p:nvSpPr>
          <p:spPr>
            <a:xfrm>
              <a:off x="2999" y="1847"/>
              <a:ext cx="224" cy="326"/>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33" name="矩形 105732"/>
            <p:cNvSpPr/>
            <p:nvPr/>
          </p:nvSpPr>
          <p:spPr>
            <a:xfrm>
              <a:off x="3112" y="1920"/>
              <a:ext cx="24" cy="115"/>
            </a:xfrm>
            <a:prstGeom prst="rect">
              <a:avLst/>
            </a:prstGeom>
            <a:noFill/>
            <a:ln w="9525">
              <a:noFill/>
            </a:ln>
          </p:spPr>
          <p:txBody>
            <a:bodyPr wrap="none" lIns="0" tIns="0" rIns="0" bIns="0">
              <a:spAutoFit/>
            </a:bodyPr>
            <a:p>
              <a:pPr>
                <a:spcBef>
                  <a:spcPct val="50000"/>
                </a:spcBef>
              </a:pPr>
              <a:r>
                <a:rPr lang="en-US" altLang="zh-CN" sz="12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2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734" name="矩形 105733"/>
            <p:cNvSpPr/>
            <p:nvPr/>
          </p:nvSpPr>
          <p:spPr>
            <a:xfrm>
              <a:off x="2999" y="2545"/>
              <a:ext cx="224" cy="326"/>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35" name="矩形 105734"/>
            <p:cNvSpPr/>
            <p:nvPr/>
          </p:nvSpPr>
          <p:spPr>
            <a:xfrm>
              <a:off x="3112" y="2618"/>
              <a:ext cx="24" cy="115"/>
            </a:xfrm>
            <a:prstGeom prst="rect">
              <a:avLst/>
            </a:prstGeom>
            <a:noFill/>
            <a:ln w="9525">
              <a:noFill/>
            </a:ln>
          </p:spPr>
          <p:txBody>
            <a:bodyPr wrap="none" lIns="0" tIns="0" rIns="0" bIns="0">
              <a:spAutoFit/>
            </a:bodyPr>
            <a:p>
              <a:pPr>
                <a:spcBef>
                  <a:spcPct val="50000"/>
                </a:spcBef>
              </a:pPr>
              <a:r>
                <a:rPr lang="en-US" altLang="zh-CN" sz="12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2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736" name="任意多边形 105735"/>
            <p:cNvSpPr/>
            <p:nvPr/>
          </p:nvSpPr>
          <p:spPr>
            <a:xfrm>
              <a:off x="2727" y="1637"/>
              <a:ext cx="36" cy="35"/>
            </a:xfrm>
            <a:custGeom>
              <a:avLst/>
              <a:gdLst/>
              <a:ahLst/>
              <a:cxnLst/>
              <a:pathLst>
                <a:path w="36" h="35">
                  <a:moveTo>
                    <a:pt x="18" y="0"/>
                  </a:moveTo>
                  <a:lnTo>
                    <a:pt x="14" y="1"/>
                  </a:lnTo>
                  <a:lnTo>
                    <a:pt x="12" y="2"/>
                  </a:lnTo>
                  <a:lnTo>
                    <a:pt x="8" y="3"/>
                  </a:lnTo>
                  <a:lnTo>
                    <a:pt x="5" y="6"/>
                  </a:lnTo>
                  <a:lnTo>
                    <a:pt x="3" y="8"/>
                  </a:lnTo>
                  <a:lnTo>
                    <a:pt x="2" y="11"/>
                  </a:lnTo>
                  <a:lnTo>
                    <a:pt x="0" y="14"/>
                  </a:lnTo>
                  <a:lnTo>
                    <a:pt x="0" y="18"/>
                  </a:lnTo>
                  <a:lnTo>
                    <a:pt x="0" y="22"/>
                  </a:lnTo>
                  <a:lnTo>
                    <a:pt x="2" y="24"/>
                  </a:lnTo>
                  <a:lnTo>
                    <a:pt x="3" y="28"/>
                  </a:lnTo>
                  <a:lnTo>
                    <a:pt x="5" y="30"/>
                  </a:lnTo>
                  <a:lnTo>
                    <a:pt x="8" y="32"/>
                  </a:lnTo>
                  <a:lnTo>
                    <a:pt x="12" y="34"/>
                  </a:lnTo>
                  <a:lnTo>
                    <a:pt x="14" y="34"/>
                  </a:lnTo>
                  <a:lnTo>
                    <a:pt x="18" y="35"/>
                  </a:lnTo>
                  <a:lnTo>
                    <a:pt x="22" y="34"/>
                  </a:lnTo>
                  <a:lnTo>
                    <a:pt x="26" y="34"/>
                  </a:lnTo>
                  <a:lnTo>
                    <a:pt x="28" y="32"/>
                  </a:lnTo>
                  <a:lnTo>
                    <a:pt x="31" y="30"/>
                  </a:lnTo>
                  <a:lnTo>
                    <a:pt x="33" y="28"/>
                  </a:lnTo>
                  <a:lnTo>
                    <a:pt x="34" y="24"/>
                  </a:lnTo>
                  <a:lnTo>
                    <a:pt x="36" y="22"/>
                  </a:lnTo>
                  <a:lnTo>
                    <a:pt x="36" y="18"/>
                  </a:lnTo>
                  <a:lnTo>
                    <a:pt x="36" y="14"/>
                  </a:lnTo>
                  <a:lnTo>
                    <a:pt x="34" y="11"/>
                  </a:lnTo>
                  <a:lnTo>
                    <a:pt x="33" y="8"/>
                  </a:lnTo>
                  <a:lnTo>
                    <a:pt x="31" y="6"/>
                  </a:lnTo>
                  <a:lnTo>
                    <a:pt x="28" y="3"/>
                  </a:lnTo>
                  <a:lnTo>
                    <a:pt x="26" y="2"/>
                  </a:lnTo>
                  <a:lnTo>
                    <a:pt x="22" y="1"/>
                  </a:lnTo>
                  <a:lnTo>
                    <a:pt x="1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37" name="任意多边形 105736"/>
            <p:cNvSpPr/>
            <p:nvPr/>
          </p:nvSpPr>
          <p:spPr>
            <a:xfrm>
              <a:off x="2727" y="1637"/>
              <a:ext cx="36" cy="35"/>
            </a:xfrm>
            <a:custGeom>
              <a:avLst/>
              <a:gdLst/>
              <a:ahLst/>
              <a:cxnLst/>
              <a:pathLst>
                <a:path w="36" h="35">
                  <a:moveTo>
                    <a:pt x="18" y="0"/>
                  </a:moveTo>
                  <a:lnTo>
                    <a:pt x="14" y="1"/>
                  </a:lnTo>
                  <a:lnTo>
                    <a:pt x="12" y="2"/>
                  </a:lnTo>
                  <a:lnTo>
                    <a:pt x="8" y="3"/>
                  </a:lnTo>
                  <a:lnTo>
                    <a:pt x="5" y="6"/>
                  </a:lnTo>
                  <a:lnTo>
                    <a:pt x="3" y="8"/>
                  </a:lnTo>
                  <a:lnTo>
                    <a:pt x="2" y="11"/>
                  </a:lnTo>
                  <a:lnTo>
                    <a:pt x="0" y="14"/>
                  </a:lnTo>
                  <a:lnTo>
                    <a:pt x="0" y="18"/>
                  </a:lnTo>
                  <a:lnTo>
                    <a:pt x="0" y="22"/>
                  </a:lnTo>
                  <a:lnTo>
                    <a:pt x="2" y="24"/>
                  </a:lnTo>
                  <a:lnTo>
                    <a:pt x="3" y="28"/>
                  </a:lnTo>
                  <a:lnTo>
                    <a:pt x="5" y="30"/>
                  </a:lnTo>
                  <a:lnTo>
                    <a:pt x="8" y="32"/>
                  </a:lnTo>
                  <a:lnTo>
                    <a:pt x="12" y="34"/>
                  </a:lnTo>
                  <a:lnTo>
                    <a:pt x="14" y="34"/>
                  </a:lnTo>
                  <a:lnTo>
                    <a:pt x="18" y="35"/>
                  </a:lnTo>
                  <a:lnTo>
                    <a:pt x="22" y="34"/>
                  </a:lnTo>
                  <a:lnTo>
                    <a:pt x="26" y="34"/>
                  </a:lnTo>
                  <a:lnTo>
                    <a:pt x="28" y="32"/>
                  </a:lnTo>
                  <a:lnTo>
                    <a:pt x="31" y="30"/>
                  </a:lnTo>
                  <a:lnTo>
                    <a:pt x="33" y="28"/>
                  </a:lnTo>
                  <a:lnTo>
                    <a:pt x="34" y="24"/>
                  </a:lnTo>
                  <a:lnTo>
                    <a:pt x="36" y="22"/>
                  </a:lnTo>
                  <a:lnTo>
                    <a:pt x="36" y="18"/>
                  </a:lnTo>
                  <a:lnTo>
                    <a:pt x="36" y="14"/>
                  </a:lnTo>
                  <a:lnTo>
                    <a:pt x="34" y="11"/>
                  </a:lnTo>
                  <a:lnTo>
                    <a:pt x="33" y="8"/>
                  </a:lnTo>
                  <a:lnTo>
                    <a:pt x="31" y="6"/>
                  </a:lnTo>
                  <a:lnTo>
                    <a:pt x="28" y="3"/>
                  </a:lnTo>
                  <a:lnTo>
                    <a:pt x="26" y="2"/>
                  </a:lnTo>
                  <a:lnTo>
                    <a:pt x="22" y="1"/>
                  </a:lnTo>
                  <a:lnTo>
                    <a:pt x="1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38" name="直接连接符 105737"/>
            <p:cNvSpPr/>
            <p:nvPr/>
          </p:nvSpPr>
          <p:spPr>
            <a:xfrm>
              <a:off x="3515" y="1656"/>
              <a:ext cx="1" cy="907"/>
            </a:xfrm>
            <a:prstGeom prst="line">
              <a:avLst/>
            </a:prstGeom>
            <a:ln w="25400" cap="flat" cmpd="sng">
              <a:solidFill>
                <a:srgbClr val="000000"/>
              </a:solidFill>
              <a:prstDash val="solid"/>
              <a:headEnd type="none" w="med" len="med"/>
              <a:tailEnd type="none" w="med" len="med"/>
            </a:ln>
          </p:spPr>
        </p:sp>
        <p:sp>
          <p:nvSpPr>
            <p:cNvPr id="105739" name="直接连接符 105738"/>
            <p:cNvSpPr/>
            <p:nvPr/>
          </p:nvSpPr>
          <p:spPr>
            <a:xfrm>
              <a:off x="3515" y="2565"/>
              <a:ext cx="129" cy="1"/>
            </a:xfrm>
            <a:prstGeom prst="line">
              <a:avLst/>
            </a:prstGeom>
            <a:ln w="25400" cap="flat" cmpd="sng">
              <a:solidFill>
                <a:srgbClr val="000000"/>
              </a:solidFill>
              <a:prstDash val="solid"/>
              <a:headEnd type="none" w="med" len="med"/>
              <a:tailEnd type="none" w="med" len="med"/>
            </a:ln>
          </p:spPr>
        </p:sp>
        <p:sp>
          <p:nvSpPr>
            <p:cNvPr id="105740" name="直接连接符 105739"/>
            <p:cNvSpPr/>
            <p:nvPr/>
          </p:nvSpPr>
          <p:spPr>
            <a:xfrm>
              <a:off x="4330" y="2635"/>
              <a:ext cx="221" cy="1"/>
            </a:xfrm>
            <a:prstGeom prst="line">
              <a:avLst/>
            </a:prstGeom>
            <a:ln w="25400" cap="flat" cmpd="sng">
              <a:solidFill>
                <a:srgbClr val="000000"/>
              </a:solidFill>
              <a:prstDash val="solid"/>
              <a:headEnd type="none" w="med" len="med"/>
              <a:tailEnd type="none" w="med" len="med"/>
            </a:ln>
          </p:spPr>
        </p:sp>
        <p:sp>
          <p:nvSpPr>
            <p:cNvPr id="105741" name="任意多边形 105740"/>
            <p:cNvSpPr/>
            <p:nvPr/>
          </p:nvSpPr>
          <p:spPr>
            <a:xfrm>
              <a:off x="3833" y="2607"/>
              <a:ext cx="55" cy="51"/>
            </a:xfrm>
            <a:custGeom>
              <a:avLst/>
              <a:gdLst/>
              <a:ahLst/>
              <a:cxnLst/>
              <a:pathLst>
                <a:path w="55" h="51">
                  <a:moveTo>
                    <a:pt x="28" y="0"/>
                  </a:moveTo>
                  <a:lnTo>
                    <a:pt x="22" y="0"/>
                  </a:lnTo>
                  <a:lnTo>
                    <a:pt x="17" y="1"/>
                  </a:lnTo>
                  <a:lnTo>
                    <a:pt x="13" y="4"/>
                  </a:lnTo>
                  <a:lnTo>
                    <a:pt x="9" y="7"/>
                  </a:lnTo>
                  <a:lnTo>
                    <a:pt x="5" y="11"/>
                  </a:lnTo>
                  <a:lnTo>
                    <a:pt x="3" y="16"/>
                  </a:lnTo>
                  <a:lnTo>
                    <a:pt x="2" y="21"/>
                  </a:lnTo>
                  <a:lnTo>
                    <a:pt x="0" y="26"/>
                  </a:lnTo>
                  <a:lnTo>
                    <a:pt x="2" y="30"/>
                  </a:lnTo>
                  <a:lnTo>
                    <a:pt x="3" y="35"/>
                  </a:lnTo>
                  <a:lnTo>
                    <a:pt x="5" y="40"/>
                  </a:lnTo>
                  <a:lnTo>
                    <a:pt x="9" y="44"/>
                  </a:lnTo>
                  <a:lnTo>
                    <a:pt x="13" y="48"/>
                  </a:lnTo>
                  <a:lnTo>
                    <a:pt x="17" y="50"/>
                  </a:lnTo>
                  <a:lnTo>
                    <a:pt x="22" y="51"/>
                  </a:lnTo>
                  <a:lnTo>
                    <a:pt x="28" y="51"/>
                  </a:lnTo>
                  <a:lnTo>
                    <a:pt x="33" y="51"/>
                  </a:lnTo>
                  <a:lnTo>
                    <a:pt x="38" y="50"/>
                  </a:lnTo>
                  <a:lnTo>
                    <a:pt x="43" y="48"/>
                  </a:lnTo>
                  <a:lnTo>
                    <a:pt x="47" y="44"/>
                  </a:lnTo>
                  <a:lnTo>
                    <a:pt x="50" y="40"/>
                  </a:lnTo>
                  <a:lnTo>
                    <a:pt x="52" y="35"/>
                  </a:lnTo>
                  <a:lnTo>
                    <a:pt x="53" y="30"/>
                  </a:lnTo>
                  <a:lnTo>
                    <a:pt x="55" y="26"/>
                  </a:lnTo>
                  <a:lnTo>
                    <a:pt x="53" y="21"/>
                  </a:lnTo>
                  <a:lnTo>
                    <a:pt x="52" y="16"/>
                  </a:lnTo>
                  <a:lnTo>
                    <a:pt x="50" y="11"/>
                  </a:lnTo>
                  <a:lnTo>
                    <a:pt x="47" y="7"/>
                  </a:lnTo>
                  <a:lnTo>
                    <a:pt x="43" y="4"/>
                  </a:lnTo>
                  <a:lnTo>
                    <a:pt x="38" y="1"/>
                  </a:lnTo>
                  <a:lnTo>
                    <a:pt x="33" y="0"/>
                  </a:lnTo>
                  <a:lnTo>
                    <a:pt x="28" y="0"/>
                  </a:lnTo>
                  <a:close/>
                </a:path>
              </a:pathLst>
            </a:cu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2" name="任意多边形 105741"/>
            <p:cNvSpPr/>
            <p:nvPr/>
          </p:nvSpPr>
          <p:spPr>
            <a:xfrm>
              <a:off x="3833" y="2607"/>
              <a:ext cx="55" cy="51"/>
            </a:xfrm>
            <a:custGeom>
              <a:avLst/>
              <a:gdLst/>
              <a:ahLst/>
              <a:cxnLst/>
              <a:pathLst>
                <a:path w="55" h="51">
                  <a:moveTo>
                    <a:pt x="28" y="0"/>
                  </a:moveTo>
                  <a:lnTo>
                    <a:pt x="22" y="0"/>
                  </a:lnTo>
                  <a:lnTo>
                    <a:pt x="17" y="1"/>
                  </a:lnTo>
                  <a:lnTo>
                    <a:pt x="13" y="4"/>
                  </a:lnTo>
                  <a:lnTo>
                    <a:pt x="9" y="7"/>
                  </a:lnTo>
                  <a:lnTo>
                    <a:pt x="5" y="11"/>
                  </a:lnTo>
                  <a:lnTo>
                    <a:pt x="3" y="16"/>
                  </a:lnTo>
                  <a:lnTo>
                    <a:pt x="2" y="21"/>
                  </a:lnTo>
                  <a:lnTo>
                    <a:pt x="0" y="26"/>
                  </a:lnTo>
                  <a:lnTo>
                    <a:pt x="2" y="30"/>
                  </a:lnTo>
                  <a:lnTo>
                    <a:pt x="3" y="35"/>
                  </a:lnTo>
                  <a:lnTo>
                    <a:pt x="5" y="40"/>
                  </a:lnTo>
                  <a:lnTo>
                    <a:pt x="9" y="44"/>
                  </a:lnTo>
                  <a:lnTo>
                    <a:pt x="13" y="48"/>
                  </a:lnTo>
                  <a:lnTo>
                    <a:pt x="17" y="50"/>
                  </a:lnTo>
                  <a:lnTo>
                    <a:pt x="22" y="51"/>
                  </a:lnTo>
                  <a:lnTo>
                    <a:pt x="28" y="51"/>
                  </a:lnTo>
                  <a:lnTo>
                    <a:pt x="33" y="51"/>
                  </a:lnTo>
                  <a:lnTo>
                    <a:pt x="38" y="50"/>
                  </a:lnTo>
                  <a:lnTo>
                    <a:pt x="43" y="48"/>
                  </a:lnTo>
                  <a:lnTo>
                    <a:pt x="47" y="44"/>
                  </a:lnTo>
                  <a:lnTo>
                    <a:pt x="50" y="40"/>
                  </a:lnTo>
                  <a:lnTo>
                    <a:pt x="52" y="35"/>
                  </a:lnTo>
                  <a:lnTo>
                    <a:pt x="53" y="30"/>
                  </a:lnTo>
                  <a:lnTo>
                    <a:pt x="55" y="26"/>
                  </a:lnTo>
                  <a:lnTo>
                    <a:pt x="53" y="21"/>
                  </a:lnTo>
                  <a:lnTo>
                    <a:pt x="52" y="16"/>
                  </a:lnTo>
                  <a:lnTo>
                    <a:pt x="50" y="11"/>
                  </a:lnTo>
                  <a:lnTo>
                    <a:pt x="47" y="7"/>
                  </a:lnTo>
                  <a:lnTo>
                    <a:pt x="43" y="4"/>
                  </a:lnTo>
                  <a:lnTo>
                    <a:pt x="38" y="1"/>
                  </a:lnTo>
                  <a:lnTo>
                    <a:pt x="33" y="0"/>
                  </a:lnTo>
                  <a:lnTo>
                    <a:pt x="2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3" name="矩形 105742"/>
            <p:cNvSpPr/>
            <p:nvPr/>
          </p:nvSpPr>
          <p:spPr>
            <a:xfrm>
              <a:off x="4087" y="2494"/>
              <a:ext cx="182" cy="281"/>
            </a:xfrm>
            <a:prstGeom prst="rect">
              <a:avLst/>
            </a:prstGeom>
            <a:noFill/>
            <a:ln w="25400" cap="flat" cmpd="sng">
              <a:solidFill>
                <a:srgbClr val="00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4" name="矩形 105743"/>
            <p:cNvSpPr/>
            <p:nvPr/>
          </p:nvSpPr>
          <p:spPr>
            <a:xfrm>
              <a:off x="4178" y="2549"/>
              <a:ext cx="28" cy="134"/>
            </a:xfrm>
            <a:prstGeom prst="rect">
              <a:avLst/>
            </a:prstGeom>
            <a:noFill/>
            <a:ln w="9525">
              <a:noFill/>
            </a:ln>
          </p:spPr>
          <p:txBody>
            <a:bodyPr wrap="none" lIns="0" tIns="0" rIns="0" bIns="0">
              <a:spAutoFit/>
            </a:bodyPr>
            <a:p>
              <a:pPr>
                <a:spcBef>
                  <a:spcPct val="50000"/>
                </a:spcBef>
              </a:pPr>
              <a:r>
                <a:rPr lang="en-US" altLang="zh-CN" sz="14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745" name="任意多边形 105744"/>
            <p:cNvSpPr/>
            <p:nvPr/>
          </p:nvSpPr>
          <p:spPr>
            <a:xfrm>
              <a:off x="4276" y="2607"/>
              <a:ext cx="54" cy="51"/>
            </a:xfrm>
            <a:custGeom>
              <a:avLst/>
              <a:gdLst/>
              <a:ahLst/>
              <a:cxnLst/>
              <a:pathLst>
                <a:path w="54" h="51">
                  <a:moveTo>
                    <a:pt x="26" y="0"/>
                  </a:moveTo>
                  <a:lnTo>
                    <a:pt x="21" y="0"/>
                  </a:lnTo>
                  <a:lnTo>
                    <a:pt x="16" y="1"/>
                  </a:lnTo>
                  <a:lnTo>
                    <a:pt x="11" y="4"/>
                  </a:lnTo>
                  <a:lnTo>
                    <a:pt x="7" y="7"/>
                  </a:lnTo>
                  <a:lnTo>
                    <a:pt x="5" y="11"/>
                  </a:lnTo>
                  <a:lnTo>
                    <a:pt x="2" y="16"/>
                  </a:lnTo>
                  <a:lnTo>
                    <a:pt x="0" y="21"/>
                  </a:lnTo>
                  <a:lnTo>
                    <a:pt x="0" y="26"/>
                  </a:lnTo>
                  <a:lnTo>
                    <a:pt x="0" y="30"/>
                  </a:lnTo>
                  <a:lnTo>
                    <a:pt x="2" y="35"/>
                  </a:lnTo>
                  <a:lnTo>
                    <a:pt x="5" y="40"/>
                  </a:lnTo>
                  <a:lnTo>
                    <a:pt x="7" y="44"/>
                  </a:lnTo>
                  <a:lnTo>
                    <a:pt x="11" y="48"/>
                  </a:lnTo>
                  <a:lnTo>
                    <a:pt x="16" y="50"/>
                  </a:lnTo>
                  <a:lnTo>
                    <a:pt x="21" y="51"/>
                  </a:lnTo>
                  <a:lnTo>
                    <a:pt x="26" y="51"/>
                  </a:lnTo>
                  <a:lnTo>
                    <a:pt x="33" y="51"/>
                  </a:lnTo>
                  <a:lnTo>
                    <a:pt x="38" y="50"/>
                  </a:lnTo>
                  <a:lnTo>
                    <a:pt x="41" y="48"/>
                  </a:lnTo>
                  <a:lnTo>
                    <a:pt x="45" y="44"/>
                  </a:lnTo>
                  <a:lnTo>
                    <a:pt x="49" y="40"/>
                  </a:lnTo>
                  <a:lnTo>
                    <a:pt x="52" y="35"/>
                  </a:lnTo>
                  <a:lnTo>
                    <a:pt x="53" y="30"/>
                  </a:lnTo>
                  <a:lnTo>
                    <a:pt x="54" y="26"/>
                  </a:lnTo>
                  <a:lnTo>
                    <a:pt x="53" y="21"/>
                  </a:lnTo>
                  <a:lnTo>
                    <a:pt x="52" y="16"/>
                  </a:lnTo>
                  <a:lnTo>
                    <a:pt x="49" y="11"/>
                  </a:lnTo>
                  <a:lnTo>
                    <a:pt x="45" y="7"/>
                  </a:lnTo>
                  <a:lnTo>
                    <a:pt x="41" y="4"/>
                  </a:lnTo>
                  <a:lnTo>
                    <a:pt x="38" y="1"/>
                  </a:lnTo>
                  <a:lnTo>
                    <a:pt x="33" y="0"/>
                  </a:lnTo>
                  <a:lnTo>
                    <a:pt x="26" y="0"/>
                  </a:lnTo>
                  <a:close/>
                </a:path>
              </a:pathLst>
            </a:custGeom>
            <a:solidFill>
              <a:srgbClr val="FFFFFF"/>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6" name="任意多边形 105745"/>
            <p:cNvSpPr/>
            <p:nvPr/>
          </p:nvSpPr>
          <p:spPr>
            <a:xfrm>
              <a:off x="4276" y="2607"/>
              <a:ext cx="54" cy="51"/>
            </a:xfrm>
            <a:custGeom>
              <a:avLst/>
              <a:gdLst/>
              <a:ahLst/>
              <a:cxnLst/>
              <a:pathLst>
                <a:path w="54" h="51">
                  <a:moveTo>
                    <a:pt x="26" y="0"/>
                  </a:moveTo>
                  <a:lnTo>
                    <a:pt x="21" y="0"/>
                  </a:lnTo>
                  <a:lnTo>
                    <a:pt x="16" y="1"/>
                  </a:lnTo>
                  <a:lnTo>
                    <a:pt x="11" y="4"/>
                  </a:lnTo>
                  <a:lnTo>
                    <a:pt x="7" y="7"/>
                  </a:lnTo>
                  <a:lnTo>
                    <a:pt x="5" y="11"/>
                  </a:lnTo>
                  <a:lnTo>
                    <a:pt x="2" y="16"/>
                  </a:lnTo>
                  <a:lnTo>
                    <a:pt x="0" y="21"/>
                  </a:lnTo>
                  <a:lnTo>
                    <a:pt x="0" y="26"/>
                  </a:lnTo>
                  <a:lnTo>
                    <a:pt x="0" y="30"/>
                  </a:lnTo>
                  <a:lnTo>
                    <a:pt x="2" y="35"/>
                  </a:lnTo>
                  <a:lnTo>
                    <a:pt x="5" y="40"/>
                  </a:lnTo>
                  <a:lnTo>
                    <a:pt x="7" y="44"/>
                  </a:lnTo>
                  <a:lnTo>
                    <a:pt x="11" y="48"/>
                  </a:lnTo>
                  <a:lnTo>
                    <a:pt x="16" y="50"/>
                  </a:lnTo>
                  <a:lnTo>
                    <a:pt x="21" y="51"/>
                  </a:lnTo>
                  <a:lnTo>
                    <a:pt x="26" y="51"/>
                  </a:lnTo>
                  <a:lnTo>
                    <a:pt x="33" y="51"/>
                  </a:lnTo>
                  <a:lnTo>
                    <a:pt x="38" y="50"/>
                  </a:lnTo>
                  <a:lnTo>
                    <a:pt x="41" y="48"/>
                  </a:lnTo>
                  <a:lnTo>
                    <a:pt x="45" y="44"/>
                  </a:lnTo>
                  <a:lnTo>
                    <a:pt x="49" y="40"/>
                  </a:lnTo>
                  <a:lnTo>
                    <a:pt x="52" y="35"/>
                  </a:lnTo>
                  <a:lnTo>
                    <a:pt x="53" y="30"/>
                  </a:lnTo>
                  <a:lnTo>
                    <a:pt x="54" y="26"/>
                  </a:lnTo>
                  <a:lnTo>
                    <a:pt x="53" y="21"/>
                  </a:lnTo>
                  <a:lnTo>
                    <a:pt x="52" y="16"/>
                  </a:lnTo>
                  <a:lnTo>
                    <a:pt x="49" y="11"/>
                  </a:lnTo>
                  <a:lnTo>
                    <a:pt x="45" y="7"/>
                  </a:lnTo>
                  <a:lnTo>
                    <a:pt x="41" y="4"/>
                  </a:lnTo>
                  <a:lnTo>
                    <a:pt x="38" y="1"/>
                  </a:lnTo>
                  <a:lnTo>
                    <a:pt x="33" y="0"/>
                  </a:lnTo>
                  <a:lnTo>
                    <a:pt x="26"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7" name="任意多边形 105746"/>
            <p:cNvSpPr/>
            <p:nvPr/>
          </p:nvSpPr>
          <p:spPr>
            <a:xfrm>
              <a:off x="3369" y="2690"/>
              <a:ext cx="37" cy="34"/>
            </a:xfrm>
            <a:custGeom>
              <a:avLst/>
              <a:gdLst/>
              <a:ahLst/>
              <a:cxnLst/>
              <a:pathLst>
                <a:path w="37" h="34">
                  <a:moveTo>
                    <a:pt x="18" y="0"/>
                  </a:moveTo>
                  <a:lnTo>
                    <a:pt x="16" y="0"/>
                  </a:lnTo>
                  <a:lnTo>
                    <a:pt x="12" y="1"/>
                  </a:lnTo>
                  <a:lnTo>
                    <a:pt x="9" y="2"/>
                  </a:lnTo>
                  <a:lnTo>
                    <a:pt x="5" y="5"/>
                  </a:lnTo>
                  <a:lnTo>
                    <a:pt x="4" y="7"/>
                  </a:lnTo>
                  <a:lnTo>
                    <a:pt x="2" y="10"/>
                  </a:lnTo>
                  <a:lnTo>
                    <a:pt x="2" y="13"/>
                  </a:lnTo>
                  <a:lnTo>
                    <a:pt x="0" y="17"/>
                  </a:lnTo>
                  <a:lnTo>
                    <a:pt x="2" y="21"/>
                  </a:lnTo>
                  <a:lnTo>
                    <a:pt x="2" y="23"/>
                  </a:lnTo>
                  <a:lnTo>
                    <a:pt x="4" y="27"/>
                  </a:lnTo>
                  <a:lnTo>
                    <a:pt x="5" y="29"/>
                  </a:lnTo>
                  <a:lnTo>
                    <a:pt x="9" y="32"/>
                  </a:lnTo>
                  <a:lnTo>
                    <a:pt x="12" y="33"/>
                  </a:lnTo>
                  <a:lnTo>
                    <a:pt x="16" y="34"/>
                  </a:lnTo>
                  <a:lnTo>
                    <a:pt x="18" y="34"/>
                  </a:lnTo>
                  <a:lnTo>
                    <a:pt x="22" y="34"/>
                  </a:lnTo>
                  <a:lnTo>
                    <a:pt x="26" y="33"/>
                  </a:lnTo>
                  <a:lnTo>
                    <a:pt x="28" y="32"/>
                  </a:lnTo>
                  <a:lnTo>
                    <a:pt x="31" y="29"/>
                  </a:lnTo>
                  <a:lnTo>
                    <a:pt x="33" y="27"/>
                  </a:lnTo>
                  <a:lnTo>
                    <a:pt x="36" y="23"/>
                  </a:lnTo>
                  <a:lnTo>
                    <a:pt x="36" y="21"/>
                  </a:lnTo>
                  <a:lnTo>
                    <a:pt x="37" y="17"/>
                  </a:lnTo>
                  <a:lnTo>
                    <a:pt x="36" y="13"/>
                  </a:lnTo>
                  <a:lnTo>
                    <a:pt x="36" y="10"/>
                  </a:lnTo>
                  <a:lnTo>
                    <a:pt x="33" y="7"/>
                  </a:lnTo>
                  <a:lnTo>
                    <a:pt x="31" y="5"/>
                  </a:lnTo>
                  <a:lnTo>
                    <a:pt x="28" y="2"/>
                  </a:lnTo>
                  <a:lnTo>
                    <a:pt x="26" y="1"/>
                  </a:lnTo>
                  <a:lnTo>
                    <a:pt x="22" y="0"/>
                  </a:lnTo>
                  <a:lnTo>
                    <a:pt x="1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8" name="任意多边形 105747"/>
            <p:cNvSpPr/>
            <p:nvPr/>
          </p:nvSpPr>
          <p:spPr>
            <a:xfrm>
              <a:off x="3369" y="2690"/>
              <a:ext cx="37" cy="34"/>
            </a:xfrm>
            <a:custGeom>
              <a:avLst/>
              <a:gdLst/>
              <a:ahLst/>
              <a:cxnLst/>
              <a:pathLst>
                <a:path w="37" h="34">
                  <a:moveTo>
                    <a:pt x="18" y="0"/>
                  </a:moveTo>
                  <a:lnTo>
                    <a:pt x="16" y="0"/>
                  </a:lnTo>
                  <a:lnTo>
                    <a:pt x="12" y="1"/>
                  </a:lnTo>
                  <a:lnTo>
                    <a:pt x="9" y="2"/>
                  </a:lnTo>
                  <a:lnTo>
                    <a:pt x="5" y="5"/>
                  </a:lnTo>
                  <a:lnTo>
                    <a:pt x="4" y="7"/>
                  </a:lnTo>
                  <a:lnTo>
                    <a:pt x="2" y="10"/>
                  </a:lnTo>
                  <a:lnTo>
                    <a:pt x="2" y="13"/>
                  </a:lnTo>
                  <a:lnTo>
                    <a:pt x="0" y="17"/>
                  </a:lnTo>
                  <a:lnTo>
                    <a:pt x="2" y="21"/>
                  </a:lnTo>
                  <a:lnTo>
                    <a:pt x="2" y="23"/>
                  </a:lnTo>
                  <a:lnTo>
                    <a:pt x="4" y="27"/>
                  </a:lnTo>
                  <a:lnTo>
                    <a:pt x="5" y="29"/>
                  </a:lnTo>
                  <a:lnTo>
                    <a:pt x="9" y="32"/>
                  </a:lnTo>
                  <a:lnTo>
                    <a:pt x="12" y="33"/>
                  </a:lnTo>
                  <a:lnTo>
                    <a:pt x="16" y="34"/>
                  </a:lnTo>
                  <a:lnTo>
                    <a:pt x="18" y="34"/>
                  </a:lnTo>
                  <a:lnTo>
                    <a:pt x="22" y="34"/>
                  </a:lnTo>
                  <a:lnTo>
                    <a:pt x="26" y="33"/>
                  </a:lnTo>
                  <a:lnTo>
                    <a:pt x="28" y="32"/>
                  </a:lnTo>
                  <a:lnTo>
                    <a:pt x="31" y="29"/>
                  </a:lnTo>
                  <a:lnTo>
                    <a:pt x="33" y="27"/>
                  </a:lnTo>
                  <a:lnTo>
                    <a:pt x="36" y="23"/>
                  </a:lnTo>
                  <a:lnTo>
                    <a:pt x="36" y="21"/>
                  </a:lnTo>
                  <a:lnTo>
                    <a:pt x="37" y="17"/>
                  </a:lnTo>
                  <a:lnTo>
                    <a:pt x="36" y="13"/>
                  </a:lnTo>
                  <a:lnTo>
                    <a:pt x="36" y="10"/>
                  </a:lnTo>
                  <a:lnTo>
                    <a:pt x="33" y="7"/>
                  </a:lnTo>
                  <a:lnTo>
                    <a:pt x="31" y="5"/>
                  </a:lnTo>
                  <a:lnTo>
                    <a:pt x="28" y="2"/>
                  </a:lnTo>
                  <a:lnTo>
                    <a:pt x="26" y="1"/>
                  </a:lnTo>
                  <a:lnTo>
                    <a:pt x="22" y="0"/>
                  </a:lnTo>
                  <a:lnTo>
                    <a:pt x="1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49" name="直接连接符 105748"/>
            <p:cNvSpPr/>
            <p:nvPr/>
          </p:nvSpPr>
          <p:spPr>
            <a:xfrm>
              <a:off x="3966" y="2636"/>
              <a:ext cx="1" cy="839"/>
            </a:xfrm>
            <a:prstGeom prst="line">
              <a:avLst/>
            </a:prstGeom>
            <a:ln w="25400" cap="flat" cmpd="sng">
              <a:solidFill>
                <a:srgbClr val="000000"/>
              </a:solidFill>
              <a:prstDash val="solid"/>
              <a:headEnd type="none" w="med" len="med"/>
              <a:tailEnd type="none" w="med" len="med"/>
            </a:ln>
          </p:spPr>
        </p:sp>
        <p:sp>
          <p:nvSpPr>
            <p:cNvPr id="105750" name="任意多边形 105749"/>
            <p:cNvSpPr/>
            <p:nvPr/>
          </p:nvSpPr>
          <p:spPr>
            <a:xfrm>
              <a:off x="3947" y="2618"/>
              <a:ext cx="36" cy="34"/>
            </a:xfrm>
            <a:custGeom>
              <a:avLst/>
              <a:gdLst/>
              <a:ahLst/>
              <a:cxnLst/>
              <a:pathLst>
                <a:path w="36" h="34">
                  <a:moveTo>
                    <a:pt x="18" y="0"/>
                  </a:moveTo>
                  <a:lnTo>
                    <a:pt x="14" y="0"/>
                  </a:lnTo>
                  <a:lnTo>
                    <a:pt x="10" y="1"/>
                  </a:lnTo>
                  <a:lnTo>
                    <a:pt x="8" y="2"/>
                  </a:lnTo>
                  <a:lnTo>
                    <a:pt x="5" y="5"/>
                  </a:lnTo>
                  <a:lnTo>
                    <a:pt x="3" y="7"/>
                  </a:lnTo>
                  <a:lnTo>
                    <a:pt x="1" y="11"/>
                  </a:lnTo>
                  <a:lnTo>
                    <a:pt x="0" y="13"/>
                  </a:lnTo>
                  <a:lnTo>
                    <a:pt x="0" y="17"/>
                  </a:lnTo>
                  <a:lnTo>
                    <a:pt x="0" y="21"/>
                  </a:lnTo>
                  <a:lnTo>
                    <a:pt x="1" y="24"/>
                  </a:lnTo>
                  <a:lnTo>
                    <a:pt x="3" y="27"/>
                  </a:lnTo>
                  <a:lnTo>
                    <a:pt x="5" y="29"/>
                  </a:lnTo>
                  <a:lnTo>
                    <a:pt x="8" y="32"/>
                  </a:lnTo>
                  <a:lnTo>
                    <a:pt x="10" y="33"/>
                  </a:lnTo>
                  <a:lnTo>
                    <a:pt x="14" y="34"/>
                  </a:lnTo>
                  <a:lnTo>
                    <a:pt x="18" y="34"/>
                  </a:lnTo>
                  <a:lnTo>
                    <a:pt x="22" y="34"/>
                  </a:lnTo>
                  <a:lnTo>
                    <a:pt x="24" y="33"/>
                  </a:lnTo>
                  <a:lnTo>
                    <a:pt x="28" y="32"/>
                  </a:lnTo>
                  <a:lnTo>
                    <a:pt x="30" y="29"/>
                  </a:lnTo>
                  <a:lnTo>
                    <a:pt x="32" y="27"/>
                  </a:lnTo>
                  <a:lnTo>
                    <a:pt x="34" y="24"/>
                  </a:lnTo>
                  <a:lnTo>
                    <a:pt x="36" y="21"/>
                  </a:lnTo>
                  <a:lnTo>
                    <a:pt x="36" y="17"/>
                  </a:lnTo>
                  <a:lnTo>
                    <a:pt x="36" y="13"/>
                  </a:lnTo>
                  <a:lnTo>
                    <a:pt x="34" y="11"/>
                  </a:lnTo>
                  <a:lnTo>
                    <a:pt x="32" y="7"/>
                  </a:lnTo>
                  <a:lnTo>
                    <a:pt x="30" y="5"/>
                  </a:lnTo>
                  <a:lnTo>
                    <a:pt x="28" y="2"/>
                  </a:lnTo>
                  <a:lnTo>
                    <a:pt x="24" y="1"/>
                  </a:lnTo>
                  <a:lnTo>
                    <a:pt x="22" y="0"/>
                  </a:lnTo>
                  <a:lnTo>
                    <a:pt x="18" y="0"/>
                  </a:lnTo>
                  <a:close/>
                </a:path>
              </a:pathLst>
            </a:custGeom>
            <a:solidFill>
              <a:srgbClr val="000000"/>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51" name="任意多边形 105750"/>
            <p:cNvSpPr/>
            <p:nvPr/>
          </p:nvSpPr>
          <p:spPr>
            <a:xfrm>
              <a:off x="3947" y="2618"/>
              <a:ext cx="36" cy="34"/>
            </a:xfrm>
            <a:custGeom>
              <a:avLst/>
              <a:gdLst/>
              <a:ahLst/>
              <a:cxnLst/>
              <a:pathLst>
                <a:path w="36" h="34">
                  <a:moveTo>
                    <a:pt x="18" y="0"/>
                  </a:moveTo>
                  <a:lnTo>
                    <a:pt x="14" y="0"/>
                  </a:lnTo>
                  <a:lnTo>
                    <a:pt x="10" y="1"/>
                  </a:lnTo>
                  <a:lnTo>
                    <a:pt x="8" y="2"/>
                  </a:lnTo>
                  <a:lnTo>
                    <a:pt x="5" y="5"/>
                  </a:lnTo>
                  <a:lnTo>
                    <a:pt x="3" y="7"/>
                  </a:lnTo>
                  <a:lnTo>
                    <a:pt x="1" y="11"/>
                  </a:lnTo>
                  <a:lnTo>
                    <a:pt x="0" y="13"/>
                  </a:lnTo>
                  <a:lnTo>
                    <a:pt x="0" y="17"/>
                  </a:lnTo>
                  <a:lnTo>
                    <a:pt x="0" y="21"/>
                  </a:lnTo>
                  <a:lnTo>
                    <a:pt x="1" y="24"/>
                  </a:lnTo>
                  <a:lnTo>
                    <a:pt x="3" y="27"/>
                  </a:lnTo>
                  <a:lnTo>
                    <a:pt x="5" y="29"/>
                  </a:lnTo>
                  <a:lnTo>
                    <a:pt x="8" y="32"/>
                  </a:lnTo>
                  <a:lnTo>
                    <a:pt x="10" y="33"/>
                  </a:lnTo>
                  <a:lnTo>
                    <a:pt x="14" y="34"/>
                  </a:lnTo>
                  <a:lnTo>
                    <a:pt x="18" y="34"/>
                  </a:lnTo>
                  <a:lnTo>
                    <a:pt x="22" y="34"/>
                  </a:lnTo>
                  <a:lnTo>
                    <a:pt x="24" y="33"/>
                  </a:lnTo>
                  <a:lnTo>
                    <a:pt x="28" y="32"/>
                  </a:lnTo>
                  <a:lnTo>
                    <a:pt x="30" y="29"/>
                  </a:lnTo>
                  <a:lnTo>
                    <a:pt x="32" y="27"/>
                  </a:lnTo>
                  <a:lnTo>
                    <a:pt x="34" y="24"/>
                  </a:lnTo>
                  <a:lnTo>
                    <a:pt x="36" y="21"/>
                  </a:lnTo>
                  <a:lnTo>
                    <a:pt x="36" y="17"/>
                  </a:lnTo>
                  <a:lnTo>
                    <a:pt x="36" y="13"/>
                  </a:lnTo>
                  <a:lnTo>
                    <a:pt x="34" y="11"/>
                  </a:lnTo>
                  <a:lnTo>
                    <a:pt x="32" y="7"/>
                  </a:lnTo>
                  <a:lnTo>
                    <a:pt x="30" y="5"/>
                  </a:lnTo>
                  <a:lnTo>
                    <a:pt x="28" y="2"/>
                  </a:lnTo>
                  <a:lnTo>
                    <a:pt x="24" y="1"/>
                  </a:lnTo>
                  <a:lnTo>
                    <a:pt x="22" y="0"/>
                  </a:lnTo>
                  <a:lnTo>
                    <a:pt x="18" y="0"/>
                  </a:lnTo>
                </a:path>
              </a:pathLst>
            </a:custGeom>
            <a:noFill/>
            <a:ln w="15875" cap="flat" cmpd="sng">
              <a:solidFill>
                <a:srgbClr val="00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752" name="直接连接符 105751"/>
            <p:cNvSpPr/>
            <p:nvPr/>
          </p:nvSpPr>
          <p:spPr>
            <a:xfrm>
              <a:off x="3888" y="2636"/>
              <a:ext cx="199" cy="1"/>
            </a:xfrm>
            <a:prstGeom prst="line">
              <a:avLst/>
            </a:prstGeom>
            <a:ln w="25400" cap="flat" cmpd="sng">
              <a:solidFill>
                <a:srgbClr val="000000"/>
              </a:solidFill>
              <a:prstDash val="solid"/>
              <a:headEnd type="none" w="med" len="med"/>
              <a:tailEnd type="none" w="med" len="med"/>
            </a:ln>
          </p:spPr>
        </p:sp>
        <p:sp>
          <p:nvSpPr>
            <p:cNvPr id="105486" name="矩形 105485"/>
            <p:cNvSpPr/>
            <p:nvPr/>
          </p:nvSpPr>
          <p:spPr>
            <a:xfrm>
              <a:off x="1811" y="1551"/>
              <a:ext cx="2573" cy="2191"/>
            </a:xfrm>
            <a:prstGeom prst="rect">
              <a:avLst/>
            </a:prstGeom>
            <a:noFill/>
            <a:ln w="38100" cap="flat" cmpd="sng">
              <a:solidFill>
                <a:srgbClr val="0000FF"/>
              </a:solidFill>
              <a:prstDash val="dash"/>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487" name="文本框 105486"/>
            <p:cNvSpPr txBox="1"/>
            <p:nvPr/>
          </p:nvSpPr>
          <p:spPr>
            <a:xfrm>
              <a:off x="2331" y="3242"/>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T</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489" name="文本框 105488"/>
            <p:cNvSpPr txBox="1"/>
            <p:nvPr/>
          </p:nvSpPr>
          <p:spPr>
            <a:xfrm>
              <a:off x="2108" y="1943"/>
              <a:ext cx="309" cy="180"/>
            </a:xfrm>
            <a:prstGeom prst="rect">
              <a:avLst/>
            </a:prstGeom>
            <a:noFill/>
            <a:ln w="9525">
              <a:noFill/>
            </a:ln>
          </p:spPr>
          <p:txBody>
            <a:bodyPr lIns="0" tIns="0" rIns="0" bIns="0"/>
            <a:p>
              <a:pPr algn="ctr"/>
              <a:r>
                <a:rPr lang="en-US" altLang="zh-CN" sz="1000" b="1">
                  <a:latin typeface="Times New Roman" panose="02020603050405020304" charset="0"/>
                  <a:ea typeface="楷体" panose="02010609060101010101" charset="-122"/>
                  <a:cs typeface="Times New Roman" panose="02020603050405020304" charset="0"/>
                </a:rPr>
                <a:t>C</a:t>
              </a:r>
              <a:r>
                <a:rPr lang="en-US" altLang="zh-CN" sz="1000" b="1" baseline="-25000">
                  <a:latin typeface="Times New Roman" panose="02020603050405020304" charset="0"/>
                  <a:ea typeface="楷体" panose="02010609060101010101" charset="-122"/>
                  <a:cs typeface="Times New Roman" panose="02020603050405020304" charset="0"/>
                </a:rPr>
                <a:t>1</a:t>
              </a:r>
              <a:endParaRPr lang="en-US" altLang="zh-CN" sz="3600" b="1" baseline="-25000">
                <a:latin typeface="Times New Roman" panose="02020603050405020304" charset="0"/>
                <a:ea typeface="楷体" panose="02010609060101010101" charset="-122"/>
                <a:cs typeface="Times New Roman" panose="02020603050405020304" charset="0"/>
              </a:endParaRPr>
            </a:p>
          </p:txBody>
        </p:sp>
        <p:sp>
          <p:nvSpPr>
            <p:cNvPr id="105490" name="文本框 105489"/>
            <p:cNvSpPr txBox="1"/>
            <p:nvPr/>
          </p:nvSpPr>
          <p:spPr>
            <a:xfrm>
              <a:off x="2145" y="2737"/>
              <a:ext cx="309" cy="180"/>
            </a:xfrm>
            <a:prstGeom prst="rect">
              <a:avLst/>
            </a:prstGeom>
            <a:noFill/>
            <a:ln w="9525">
              <a:noFill/>
            </a:ln>
          </p:spPr>
          <p:txBody>
            <a:bodyPr lIns="0" tIns="0" rIns="0" bIns="0"/>
            <a:p>
              <a:pPr algn="ctr"/>
              <a:r>
                <a:rPr lang="en-US" altLang="zh-CN" sz="1000" b="1">
                  <a:latin typeface="Times New Roman" panose="02020603050405020304" charset="0"/>
                  <a:ea typeface="楷体" panose="02010609060101010101" charset="-122"/>
                  <a:cs typeface="Times New Roman" panose="02020603050405020304" charset="0"/>
                </a:rPr>
                <a:t>C</a:t>
              </a:r>
              <a:r>
                <a:rPr lang="en-US" altLang="zh-CN" sz="1000" b="1" baseline="-25000">
                  <a:latin typeface="Times New Roman" panose="02020603050405020304" charset="0"/>
                  <a:ea typeface="楷体" panose="02010609060101010101" charset="-122"/>
                  <a:cs typeface="Times New Roman" panose="02020603050405020304" charset="0"/>
                </a:rPr>
                <a:t>2</a:t>
              </a:r>
              <a:endParaRPr lang="en-US" altLang="zh-CN" sz="3600" b="1" baseline="-25000">
                <a:latin typeface="Times New Roman" panose="02020603050405020304" charset="0"/>
                <a:ea typeface="楷体" panose="02010609060101010101" charset="-122"/>
                <a:cs typeface="Times New Roman" panose="02020603050405020304" charset="0"/>
              </a:endParaRPr>
            </a:p>
          </p:txBody>
        </p:sp>
        <p:sp>
          <p:nvSpPr>
            <p:cNvPr id="105491" name="文本框 105490"/>
            <p:cNvSpPr txBox="1"/>
            <p:nvPr/>
          </p:nvSpPr>
          <p:spPr>
            <a:xfrm>
              <a:off x="1996" y="1799"/>
              <a:ext cx="309" cy="180"/>
            </a:xfrm>
            <a:prstGeom prst="rect">
              <a:avLst/>
            </a:prstGeom>
            <a:noFill/>
            <a:ln w="9525">
              <a:noFill/>
            </a:ln>
          </p:spPr>
          <p:txBody>
            <a:bodyPr lIns="0" tIns="0" rIns="0" bIns="0"/>
            <a:p>
              <a:pPr algn="ctr"/>
              <a:r>
                <a:rPr lang="en-US" altLang="zh-CN" sz="1600" b="1">
                  <a:latin typeface="Times New Roman" panose="02020603050405020304" charset="0"/>
                  <a:ea typeface="楷体" panose="02010609060101010101" charset="-122"/>
                  <a:cs typeface="Times New Roman" panose="02020603050405020304" charset="0"/>
                </a:rPr>
                <a:t>+</a:t>
              </a:r>
              <a:endParaRPr lang="en-US" altLang="zh-CN" sz="1600" b="1" baseline="-25000">
                <a:latin typeface="Times New Roman" panose="02020603050405020304" charset="0"/>
                <a:ea typeface="楷体" panose="02010609060101010101" charset="-122"/>
                <a:cs typeface="Times New Roman" panose="02020603050405020304" charset="0"/>
              </a:endParaRPr>
            </a:p>
          </p:txBody>
        </p:sp>
        <p:sp>
          <p:nvSpPr>
            <p:cNvPr id="105492" name="文本框 105491"/>
            <p:cNvSpPr txBox="1"/>
            <p:nvPr/>
          </p:nvSpPr>
          <p:spPr>
            <a:xfrm>
              <a:off x="1996" y="1979"/>
              <a:ext cx="309" cy="181"/>
            </a:xfrm>
            <a:prstGeom prst="rect">
              <a:avLst/>
            </a:prstGeom>
            <a:noFill/>
            <a:ln w="9525">
              <a:noFill/>
            </a:ln>
          </p:spPr>
          <p:txBody>
            <a:bodyPr lIns="0" tIns="0" rIns="0" bIns="0"/>
            <a:p>
              <a:pPr algn="ctr"/>
              <a:r>
                <a:rPr lang="en-US" altLang="zh-CN" sz="1600" b="1">
                  <a:latin typeface="Times New Roman" panose="02020603050405020304" charset="0"/>
                  <a:ea typeface="楷体" panose="02010609060101010101" charset="-122"/>
                  <a:cs typeface="Times New Roman" panose="02020603050405020304" charset="0"/>
                </a:rPr>
                <a:t>-</a:t>
              </a:r>
              <a:endParaRPr lang="en-US" altLang="zh-CN" sz="1600" b="1" baseline="-25000">
                <a:latin typeface="Times New Roman" panose="02020603050405020304" charset="0"/>
                <a:ea typeface="楷体" panose="02010609060101010101" charset="-122"/>
                <a:cs typeface="Times New Roman" panose="02020603050405020304" charset="0"/>
              </a:endParaRPr>
            </a:p>
          </p:txBody>
        </p:sp>
        <p:sp>
          <p:nvSpPr>
            <p:cNvPr id="105493" name="文本框 105492"/>
            <p:cNvSpPr txBox="1"/>
            <p:nvPr/>
          </p:nvSpPr>
          <p:spPr>
            <a:xfrm>
              <a:off x="1996" y="2593"/>
              <a:ext cx="309" cy="180"/>
            </a:xfrm>
            <a:prstGeom prst="rect">
              <a:avLst/>
            </a:prstGeom>
            <a:noFill/>
            <a:ln w="9525">
              <a:noFill/>
            </a:ln>
          </p:spPr>
          <p:txBody>
            <a:bodyPr lIns="0" tIns="0" rIns="0" bIns="0"/>
            <a:p>
              <a:pPr algn="ctr"/>
              <a:r>
                <a:rPr lang="en-US" altLang="zh-CN" sz="1600" b="1">
                  <a:latin typeface="Times New Roman" panose="02020603050405020304" charset="0"/>
                  <a:ea typeface="楷体" panose="02010609060101010101" charset="-122"/>
                  <a:cs typeface="Times New Roman" panose="02020603050405020304" charset="0"/>
                </a:rPr>
                <a:t>-</a:t>
              </a:r>
              <a:endParaRPr lang="en-US" altLang="zh-CN" sz="1600" b="1" baseline="-25000">
                <a:latin typeface="Times New Roman" panose="02020603050405020304" charset="0"/>
                <a:ea typeface="楷体" panose="02010609060101010101" charset="-122"/>
                <a:cs typeface="Times New Roman" panose="02020603050405020304" charset="0"/>
              </a:endParaRPr>
            </a:p>
          </p:txBody>
        </p:sp>
        <p:sp>
          <p:nvSpPr>
            <p:cNvPr id="105494" name="文本框 105493"/>
            <p:cNvSpPr txBox="1"/>
            <p:nvPr/>
          </p:nvSpPr>
          <p:spPr>
            <a:xfrm>
              <a:off x="1996" y="2773"/>
              <a:ext cx="309" cy="182"/>
            </a:xfrm>
            <a:prstGeom prst="rect">
              <a:avLst/>
            </a:prstGeom>
            <a:noFill/>
            <a:ln w="9525">
              <a:noFill/>
            </a:ln>
          </p:spPr>
          <p:txBody>
            <a:bodyPr lIns="0" tIns="0" rIns="0" bIns="0"/>
            <a:p>
              <a:pPr algn="ctr"/>
              <a:r>
                <a:rPr lang="en-US" altLang="zh-CN" sz="1600" b="1">
                  <a:latin typeface="Times New Roman" panose="02020603050405020304" charset="0"/>
                  <a:ea typeface="楷体" panose="02010609060101010101" charset="-122"/>
                  <a:cs typeface="Times New Roman" panose="02020603050405020304" charset="0"/>
                </a:rPr>
                <a:t>+</a:t>
              </a:r>
              <a:endParaRPr lang="en-US" altLang="zh-CN" sz="1600" b="1" baseline="-25000">
                <a:latin typeface="Times New Roman" panose="02020603050405020304" charset="0"/>
                <a:ea typeface="楷体" panose="02010609060101010101" charset="-122"/>
                <a:cs typeface="Times New Roman" panose="02020603050405020304" charset="0"/>
              </a:endParaRPr>
            </a:p>
          </p:txBody>
        </p:sp>
        <p:sp>
          <p:nvSpPr>
            <p:cNvPr id="105496" name="文本框 105495"/>
            <p:cNvSpPr txBox="1"/>
            <p:nvPr/>
          </p:nvSpPr>
          <p:spPr>
            <a:xfrm>
              <a:off x="2705" y="1402"/>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(4)</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497" name="文本框 105496"/>
            <p:cNvSpPr txBox="1"/>
            <p:nvPr/>
          </p:nvSpPr>
          <p:spPr>
            <a:xfrm>
              <a:off x="2443" y="1835"/>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R</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498" name="文本框 105497"/>
            <p:cNvSpPr txBox="1"/>
            <p:nvPr/>
          </p:nvSpPr>
          <p:spPr>
            <a:xfrm>
              <a:off x="2439" y="2528"/>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S</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499" name="文本框 105498"/>
            <p:cNvSpPr txBox="1"/>
            <p:nvPr/>
          </p:nvSpPr>
          <p:spPr>
            <a:xfrm>
              <a:off x="2966" y="1835"/>
              <a:ext cx="309"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&amp;</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00" name="矩形 105499"/>
            <p:cNvSpPr/>
            <p:nvPr/>
          </p:nvSpPr>
          <p:spPr>
            <a:xfrm>
              <a:off x="1959" y="1607"/>
              <a:ext cx="374" cy="192"/>
            </a:xfrm>
            <a:prstGeom prst="rect">
              <a:avLst/>
            </a:prstGeom>
            <a:noFill/>
            <a:ln w="38100">
              <a:noFill/>
            </a:ln>
          </p:spPr>
          <p:txBody>
            <a:bodyPr wrap="none" anchor="ctr" anchorCtr="0">
              <a:spAutoFit/>
            </a:bodyPr>
            <a:p>
              <a:r>
                <a:rPr lang="en-US" altLang="zh-CN" sz="1400" b="1">
                  <a:latin typeface="Times New Roman" panose="02020603050405020304" charset="0"/>
                  <a:ea typeface="楷体" panose="02010609060101010101" charset="-122"/>
                  <a:cs typeface="Times New Roman" panose="02020603050405020304" charset="0"/>
                </a:rPr>
                <a:t>5 k</a:t>
              </a:r>
              <a:r>
                <a:rPr lang="en-US" altLang="zh-CN" sz="1400" b="1">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1400" b="1">
                  <a:latin typeface="Times New Roman" panose="02020603050405020304" charset="0"/>
                  <a:ea typeface="楷体" panose="02010609060101010101" charset="-122"/>
                  <a:cs typeface="Times New Roman" panose="02020603050405020304" charset="0"/>
                </a:rPr>
                <a:t> </a:t>
              </a:r>
              <a:endParaRPr lang="en-US" altLang="zh-CN" sz="1400" b="1">
                <a:latin typeface="Times New Roman" panose="02020603050405020304" charset="0"/>
                <a:ea typeface="楷体" panose="02010609060101010101" charset="-122"/>
                <a:cs typeface="Times New Roman" panose="02020603050405020304" charset="0"/>
              </a:endParaRPr>
            </a:p>
          </p:txBody>
        </p:sp>
        <p:sp>
          <p:nvSpPr>
            <p:cNvPr id="105501" name="矩形 105500"/>
            <p:cNvSpPr/>
            <p:nvPr/>
          </p:nvSpPr>
          <p:spPr>
            <a:xfrm>
              <a:off x="1959" y="2258"/>
              <a:ext cx="376" cy="191"/>
            </a:xfrm>
            <a:prstGeom prst="rect">
              <a:avLst/>
            </a:prstGeom>
            <a:noFill/>
            <a:ln w="38100">
              <a:noFill/>
            </a:ln>
          </p:spPr>
          <p:txBody>
            <a:bodyPr wrap="none" anchor="ctr" anchorCtr="0">
              <a:spAutoFit/>
            </a:bodyPr>
            <a:p>
              <a:r>
                <a:rPr lang="en-US" altLang="zh-CN" sz="1400" b="1">
                  <a:latin typeface="Times New Roman" panose="02020603050405020304" charset="0"/>
                  <a:ea typeface="楷体" panose="02010609060101010101" charset="-122"/>
                  <a:cs typeface="Times New Roman" panose="02020603050405020304" charset="0"/>
                </a:rPr>
                <a:t>5 k</a:t>
              </a:r>
              <a:r>
                <a:rPr lang="en-US" altLang="zh-CN" sz="1400" b="1">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1400" b="1">
                  <a:latin typeface="Times New Roman" panose="02020603050405020304" charset="0"/>
                  <a:ea typeface="楷体" panose="02010609060101010101" charset="-122"/>
                  <a:cs typeface="Times New Roman" panose="02020603050405020304" charset="0"/>
                </a:rPr>
                <a:t> </a:t>
              </a:r>
              <a:endParaRPr lang="en-US" altLang="zh-CN" sz="1400" b="1">
                <a:latin typeface="Times New Roman" panose="02020603050405020304" charset="0"/>
                <a:ea typeface="楷体" panose="02010609060101010101" charset="-122"/>
                <a:cs typeface="Times New Roman" panose="02020603050405020304" charset="0"/>
              </a:endParaRPr>
            </a:p>
          </p:txBody>
        </p:sp>
        <p:sp>
          <p:nvSpPr>
            <p:cNvPr id="105502" name="矩形 105501"/>
            <p:cNvSpPr/>
            <p:nvPr/>
          </p:nvSpPr>
          <p:spPr>
            <a:xfrm>
              <a:off x="1959" y="3053"/>
              <a:ext cx="376" cy="191"/>
            </a:xfrm>
            <a:prstGeom prst="rect">
              <a:avLst/>
            </a:prstGeom>
            <a:noFill/>
            <a:ln w="38100">
              <a:noFill/>
            </a:ln>
          </p:spPr>
          <p:txBody>
            <a:bodyPr wrap="none" anchor="ctr" anchorCtr="0">
              <a:spAutoFit/>
            </a:bodyPr>
            <a:p>
              <a:r>
                <a:rPr lang="en-US" altLang="zh-CN" sz="1400" b="1">
                  <a:latin typeface="Times New Roman" panose="02020603050405020304" charset="0"/>
                  <a:ea typeface="楷体" panose="02010609060101010101" charset="-122"/>
                  <a:cs typeface="Times New Roman" panose="02020603050405020304" charset="0"/>
                </a:rPr>
                <a:t>5 k</a:t>
              </a:r>
              <a:r>
                <a:rPr lang="en-US" altLang="zh-CN" sz="1400" b="1">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1400" b="1">
                  <a:latin typeface="Times New Roman" panose="02020603050405020304" charset="0"/>
                  <a:ea typeface="楷体" panose="02010609060101010101" charset="-122"/>
                  <a:cs typeface="Times New Roman" panose="02020603050405020304" charset="0"/>
                </a:rPr>
                <a:t> </a:t>
              </a:r>
              <a:endParaRPr lang="en-US" altLang="zh-CN" sz="1400" b="1">
                <a:latin typeface="Times New Roman" panose="02020603050405020304" charset="0"/>
                <a:ea typeface="楷体" panose="02010609060101010101" charset="-122"/>
                <a:cs typeface="Times New Roman" panose="02020603050405020304" charset="0"/>
              </a:endParaRPr>
            </a:p>
          </p:txBody>
        </p:sp>
        <p:sp>
          <p:nvSpPr>
            <p:cNvPr id="105503" name="文本框 105502"/>
            <p:cNvSpPr txBox="1"/>
            <p:nvPr/>
          </p:nvSpPr>
          <p:spPr>
            <a:xfrm>
              <a:off x="2966" y="2521"/>
              <a:ext cx="309"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&amp;</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04" name="文本框 105503"/>
            <p:cNvSpPr txBox="1"/>
            <p:nvPr/>
          </p:nvSpPr>
          <p:spPr>
            <a:xfrm>
              <a:off x="3563" y="2485"/>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&amp;</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05" name="文本框 105504"/>
            <p:cNvSpPr txBox="1"/>
            <p:nvPr/>
          </p:nvSpPr>
          <p:spPr>
            <a:xfrm>
              <a:off x="4011" y="2485"/>
              <a:ext cx="309"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1</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06" name="文本框 105505"/>
            <p:cNvSpPr txBox="1"/>
            <p:nvPr/>
          </p:nvSpPr>
          <p:spPr>
            <a:xfrm>
              <a:off x="2593" y="1258"/>
              <a:ext cx="310" cy="180"/>
            </a:xfrm>
            <a:prstGeom prst="rect">
              <a:avLst/>
            </a:prstGeom>
            <a:noFill/>
            <a:ln w="9525">
              <a:noFill/>
            </a:ln>
          </p:spPr>
          <p:txBody>
            <a:bodyPr lIns="0" tIns="0" rIns="0" bIns="0"/>
            <a:p>
              <a:pPr algn="ctr"/>
              <a:r>
                <a:rPr lang="en-US" altLang="zh-CN" sz="1200" b="1" i="1">
                  <a:latin typeface="Times New Roman" panose="02020603050405020304" charset="0"/>
                  <a:ea typeface="楷体" panose="02010609060101010101" charset="-122"/>
                  <a:cs typeface="Times New Roman" panose="02020603050405020304" charset="0"/>
                </a:rPr>
                <a:t>R</a:t>
              </a:r>
              <a:r>
                <a:rPr lang="en-US" altLang="zh-CN" sz="1200" b="1" baseline="-25000">
                  <a:latin typeface="Times New Roman" panose="02020603050405020304" charset="0"/>
                  <a:ea typeface="楷体" panose="02010609060101010101" charset="-122"/>
                  <a:cs typeface="Times New Roman" panose="02020603050405020304" charset="0"/>
                </a:rPr>
                <a:t>D</a:t>
              </a:r>
              <a:endParaRPr lang="en-US" altLang="zh-CN" sz="4000" b="1" baseline="-25000">
                <a:latin typeface="Times New Roman" panose="02020603050405020304" charset="0"/>
                <a:ea typeface="楷体" panose="02010609060101010101" charset="-122"/>
                <a:cs typeface="Times New Roman" panose="02020603050405020304" charset="0"/>
              </a:endParaRPr>
            </a:p>
          </p:txBody>
        </p:sp>
        <p:sp>
          <p:nvSpPr>
            <p:cNvPr id="105507" name="文本框 105506"/>
            <p:cNvSpPr txBox="1"/>
            <p:nvPr/>
          </p:nvSpPr>
          <p:spPr>
            <a:xfrm>
              <a:off x="1809" y="1258"/>
              <a:ext cx="309" cy="180"/>
            </a:xfrm>
            <a:prstGeom prst="rect">
              <a:avLst/>
            </a:prstGeom>
            <a:noFill/>
            <a:ln w="9525">
              <a:noFill/>
            </a:ln>
          </p:spPr>
          <p:txBody>
            <a:bodyPr lIns="0" tIns="0" rIns="0" bIns="0"/>
            <a:p>
              <a:pPr algn="ctr"/>
              <a:r>
                <a:rPr lang="en-US" altLang="zh-CN" sz="1200" b="1" i="1">
                  <a:latin typeface="Times New Roman" panose="02020603050405020304" charset="0"/>
                  <a:ea typeface="楷体" panose="02010609060101010101" charset="-122"/>
                  <a:cs typeface="Times New Roman" panose="02020603050405020304" charset="0"/>
                </a:rPr>
                <a:t>V</a:t>
              </a:r>
              <a:r>
                <a:rPr lang="en-US" altLang="zh-CN" sz="1200" b="1" baseline="-25000">
                  <a:latin typeface="Times New Roman" panose="02020603050405020304" charset="0"/>
                  <a:ea typeface="楷体" panose="02010609060101010101" charset="-122"/>
                  <a:cs typeface="Times New Roman" panose="02020603050405020304" charset="0"/>
                </a:rPr>
                <a:t>CC</a:t>
              </a:r>
              <a:endParaRPr lang="en-US" altLang="zh-CN" sz="4000" b="1" baseline="-25000">
                <a:latin typeface="Times New Roman" panose="02020603050405020304" charset="0"/>
                <a:ea typeface="楷体" panose="02010609060101010101" charset="-122"/>
                <a:cs typeface="Times New Roman" panose="02020603050405020304" charset="0"/>
              </a:endParaRPr>
            </a:p>
          </p:txBody>
        </p:sp>
        <p:sp>
          <p:nvSpPr>
            <p:cNvPr id="105508" name="文本框 105507"/>
            <p:cNvSpPr txBox="1"/>
            <p:nvPr/>
          </p:nvSpPr>
          <p:spPr>
            <a:xfrm>
              <a:off x="1921" y="1402"/>
              <a:ext cx="309"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(8)</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09" name="文本框 105508"/>
            <p:cNvSpPr txBox="1"/>
            <p:nvPr/>
          </p:nvSpPr>
          <p:spPr>
            <a:xfrm>
              <a:off x="4011" y="2340"/>
              <a:ext cx="309" cy="181"/>
            </a:xfrm>
            <a:prstGeom prst="rect">
              <a:avLst/>
            </a:prstGeom>
            <a:noFill/>
            <a:ln w="9525">
              <a:noFill/>
            </a:ln>
          </p:spPr>
          <p:txBody>
            <a:bodyPr lIns="0" tIns="0" rIns="0" bIns="0"/>
            <a:p>
              <a:pPr algn="ctr"/>
              <a:r>
                <a:rPr lang="en-US" altLang="zh-CN" sz="1000" b="1">
                  <a:latin typeface="Times New Roman" panose="02020603050405020304" charset="0"/>
                  <a:ea typeface="楷体" panose="02010609060101010101" charset="-122"/>
                  <a:cs typeface="Times New Roman" panose="02020603050405020304" charset="0"/>
                </a:rPr>
                <a:t>G</a:t>
              </a:r>
              <a:endParaRPr lang="en-US" altLang="zh-CN" sz="1000" b="1">
                <a:latin typeface="Times New Roman" panose="02020603050405020304" charset="0"/>
                <a:ea typeface="楷体" panose="02010609060101010101" charset="-122"/>
                <a:cs typeface="Times New Roman" panose="02020603050405020304" charset="0"/>
              </a:endParaRPr>
            </a:p>
          </p:txBody>
        </p:sp>
        <p:sp>
          <p:nvSpPr>
            <p:cNvPr id="105510" name="椭圆 105509"/>
            <p:cNvSpPr/>
            <p:nvPr/>
          </p:nvSpPr>
          <p:spPr>
            <a:xfrm>
              <a:off x="2723" y="1475"/>
              <a:ext cx="56" cy="56"/>
            </a:xfrm>
            <a:prstGeom prst="ellipse">
              <a:avLst/>
            </a:prstGeom>
            <a:solidFill>
              <a:schemeClr val="tx2"/>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11" name="椭圆 105510"/>
            <p:cNvSpPr/>
            <p:nvPr/>
          </p:nvSpPr>
          <p:spPr>
            <a:xfrm>
              <a:off x="1933" y="1475"/>
              <a:ext cx="56" cy="56"/>
            </a:xfrm>
            <a:prstGeom prst="ellipse">
              <a:avLst/>
            </a:prstGeom>
            <a:solidFill>
              <a:schemeClr val="tx2"/>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12" name="椭圆 105511"/>
            <p:cNvSpPr/>
            <p:nvPr/>
          </p:nvSpPr>
          <p:spPr>
            <a:xfrm>
              <a:off x="1932" y="3665"/>
              <a:ext cx="56" cy="56"/>
            </a:xfrm>
            <a:prstGeom prst="ellipse">
              <a:avLst/>
            </a:prstGeom>
            <a:solidFill>
              <a:schemeClr val="tx2"/>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16" name="文本框 105515"/>
            <p:cNvSpPr txBox="1"/>
            <p:nvPr/>
          </p:nvSpPr>
          <p:spPr>
            <a:xfrm>
              <a:off x="1935" y="3579"/>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(1)</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23" name="文本框 105522"/>
            <p:cNvSpPr txBox="1"/>
            <p:nvPr/>
          </p:nvSpPr>
          <p:spPr>
            <a:xfrm>
              <a:off x="1733" y="2775"/>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(2)</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24" name="文本框 105523"/>
            <p:cNvSpPr txBox="1"/>
            <p:nvPr/>
          </p:nvSpPr>
          <p:spPr>
            <a:xfrm>
              <a:off x="1757" y="1785"/>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(5)</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25" name="文本框 105524"/>
            <p:cNvSpPr txBox="1"/>
            <p:nvPr/>
          </p:nvSpPr>
          <p:spPr>
            <a:xfrm>
              <a:off x="1766" y="1994"/>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(6)</a:t>
              </a:r>
              <a:endParaRPr lang="en-US" altLang="zh-CN" sz="1200" b="1">
                <a:latin typeface="Times New Roman" panose="02020603050405020304" charset="0"/>
                <a:ea typeface="楷体" panose="02010609060101010101" charset="-122"/>
                <a:cs typeface="Times New Roman" panose="02020603050405020304" charset="0"/>
              </a:endParaRPr>
            </a:p>
          </p:txBody>
        </p:sp>
        <p:sp>
          <p:nvSpPr>
            <p:cNvPr id="105526" name="文本框 105525"/>
            <p:cNvSpPr txBox="1"/>
            <p:nvPr/>
          </p:nvSpPr>
          <p:spPr>
            <a:xfrm>
              <a:off x="1743" y="3248"/>
              <a:ext cx="310" cy="180"/>
            </a:xfrm>
            <a:prstGeom prst="rect">
              <a:avLst/>
            </a:prstGeom>
            <a:noFill/>
            <a:ln w="9525">
              <a:noFill/>
            </a:ln>
          </p:spPr>
          <p:txBody>
            <a:bodyPr lIns="0" tIns="0" rIns="0" bIns="0"/>
            <a:p>
              <a:pPr algn="ctr"/>
              <a:r>
                <a:rPr lang="en-US" altLang="zh-CN" sz="1200" b="1">
                  <a:latin typeface="Times New Roman" panose="02020603050405020304" charset="0"/>
                  <a:ea typeface="楷体" panose="02010609060101010101" charset="-122"/>
                  <a:cs typeface="Times New Roman" panose="02020603050405020304" charset="0"/>
                </a:rPr>
                <a:t>(7)</a:t>
              </a:r>
              <a:endParaRPr lang="en-US" altLang="zh-CN" sz="1200" b="1">
                <a:latin typeface="Times New Roman" panose="02020603050405020304" charset="0"/>
                <a:ea typeface="楷体" panose="02010609060101010101" charset="-122"/>
                <a:cs typeface="Times New Roman" panose="02020603050405020304" charset="0"/>
              </a:endParaRPr>
            </a:p>
          </p:txBody>
        </p:sp>
        <p:graphicFrame>
          <p:nvGraphicFramePr>
            <p:cNvPr id="105541" name="对象 105540"/>
            <p:cNvGraphicFramePr/>
            <p:nvPr/>
          </p:nvGraphicFramePr>
          <p:xfrm>
            <a:off x="2844" y="2200"/>
            <a:ext cx="72" cy="136"/>
          </p:xfrm>
          <a:graphic>
            <a:graphicData uri="http://schemas.openxmlformats.org/presentationml/2006/ole">
              <mc:AlternateContent xmlns:mc="http://schemas.openxmlformats.org/markup-compatibility/2006">
                <mc:Choice xmlns:v="urn:schemas-microsoft-com:vml" Requires="v">
                  <p:oleObj spid="_x0000_s3140" name="" r:id="rId1" imgW="114300" imgH="215265" progId="Equation.3">
                    <p:embed/>
                  </p:oleObj>
                </mc:Choice>
                <mc:Fallback>
                  <p:oleObj name="" r:id="rId1" imgW="114300" imgH="215265" progId="Equation.3">
                    <p:embed/>
                    <p:pic>
                      <p:nvPicPr>
                        <p:cNvPr id="0" name="图片 3139"/>
                        <p:cNvPicPr/>
                        <p:nvPr/>
                      </p:nvPicPr>
                      <p:blipFill>
                        <a:blip r:embed="rId2"/>
                        <a:stretch>
                          <a:fillRect/>
                        </a:stretch>
                      </p:blipFill>
                      <p:spPr>
                        <a:xfrm>
                          <a:off x="2844" y="2200"/>
                          <a:ext cx="72" cy="136"/>
                        </a:xfrm>
                        <a:prstGeom prst="rect">
                          <a:avLst/>
                        </a:prstGeom>
                        <a:noFill/>
                        <a:ln w="38100">
                          <a:noFill/>
                          <a:miter/>
                        </a:ln>
                      </p:spPr>
                    </p:pic>
                  </p:oleObj>
                </mc:Fallback>
              </mc:AlternateContent>
            </a:graphicData>
          </a:graphic>
        </p:graphicFrame>
        <p:graphicFrame>
          <p:nvGraphicFramePr>
            <p:cNvPr id="105542" name="对象 105541"/>
            <p:cNvGraphicFramePr/>
            <p:nvPr/>
          </p:nvGraphicFramePr>
          <p:xfrm>
            <a:off x="2820" y="2224"/>
            <a:ext cx="120" cy="88"/>
          </p:xfrm>
          <a:graphic>
            <a:graphicData uri="http://schemas.openxmlformats.org/presentationml/2006/ole">
              <mc:AlternateContent xmlns:mc="http://schemas.openxmlformats.org/markup-compatibility/2006">
                <mc:Choice xmlns:v="urn:schemas-microsoft-com:vml" Requires="v">
                  <p:oleObj spid="_x0000_s3142" name="" r:id="rId3" imgW="190500" imgH="139700" progId="Equation.3">
                    <p:embed/>
                  </p:oleObj>
                </mc:Choice>
                <mc:Fallback>
                  <p:oleObj name="" r:id="rId3" imgW="190500" imgH="139700" progId="Equation.3">
                    <p:embed/>
                    <p:pic>
                      <p:nvPicPr>
                        <p:cNvPr id="0" name="图片 3141"/>
                        <p:cNvPicPr/>
                        <p:nvPr/>
                      </p:nvPicPr>
                      <p:blipFill>
                        <a:blip r:embed="rId4"/>
                        <a:stretch>
                          <a:fillRect/>
                        </a:stretch>
                      </p:blipFill>
                      <p:spPr>
                        <a:xfrm>
                          <a:off x="2820" y="2224"/>
                          <a:ext cx="120" cy="88"/>
                        </a:xfrm>
                        <a:prstGeom prst="rect">
                          <a:avLst/>
                        </a:prstGeom>
                        <a:noFill/>
                        <a:ln w="38100">
                          <a:noFill/>
                          <a:miter/>
                        </a:ln>
                      </p:spPr>
                    </p:pic>
                  </p:oleObj>
                </mc:Fallback>
              </mc:AlternateContent>
            </a:graphicData>
          </a:graphic>
        </p:graphicFrame>
        <p:graphicFrame>
          <p:nvGraphicFramePr>
            <p:cNvPr id="105543" name="对象 105542"/>
            <p:cNvGraphicFramePr/>
            <p:nvPr/>
          </p:nvGraphicFramePr>
          <p:xfrm>
            <a:off x="2820" y="2224"/>
            <a:ext cx="120" cy="88"/>
          </p:xfrm>
          <a:graphic>
            <a:graphicData uri="http://schemas.openxmlformats.org/presentationml/2006/ole">
              <mc:AlternateContent xmlns:mc="http://schemas.openxmlformats.org/markup-compatibility/2006">
                <mc:Choice xmlns:v="urn:schemas-microsoft-com:vml" Requires="v">
                  <p:oleObj spid="_x0000_s3141" name="" r:id="rId5" imgW="190500" imgH="139700" progId="Equation.3">
                    <p:embed/>
                  </p:oleObj>
                </mc:Choice>
                <mc:Fallback>
                  <p:oleObj name="" r:id="rId5" imgW="190500" imgH="139700" progId="Equation.3">
                    <p:embed/>
                    <p:pic>
                      <p:nvPicPr>
                        <p:cNvPr id="0" name="图片 3140"/>
                        <p:cNvPicPr/>
                        <p:nvPr/>
                      </p:nvPicPr>
                      <p:blipFill>
                        <a:blip r:embed="rId4"/>
                        <a:stretch>
                          <a:fillRect/>
                        </a:stretch>
                      </p:blipFill>
                      <p:spPr>
                        <a:xfrm>
                          <a:off x="2820" y="2224"/>
                          <a:ext cx="120" cy="88"/>
                        </a:xfrm>
                        <a:prstGeom prst="rect">
                          <a:avLst/>
                        </a:prstGeom>
                        <a:noFill/>
                        <a:ln w="38100">
                          <a:noFill/>
                          <a:miter/>
                        </a:ln>
                      </p:spPr>
                    </p:pic>
                  </p:oleObj>
                </mc:Fallback>
              </mc:AlternateContent>
            </a:graphicData>
          </a:graphic>
        </p:graphicFrame>
      </p:grpSp>
      <p:sp>
        <p:nvSpPr>
          <p:cNvPr id="105557" name="椭圆 105556"/>
          <p:cNvSpPr/>
          <p:nvPr/>
        </p:nvSpPr>
        <p:spPr>
          <a:xfrm>
            <a:off x="7399338" y="3944938"/>
            <a:ext cx="315912" cy="314325"/>
          </a:xfrm>
          <a:prstGeom prst="ellipse">
            <a:avLst/>
          </a:prstGeom>
          <a:solidFill>
            <a:srgbClr val="33CCCC"/>
          </a:solidFill>
          <a:ln w="9525">
            <a:noFill/>
          </a:ln>
        </p:spPr>
        <p:txBody>
          <a:bodyPr wrap="none" anchor="ctr" anchorCtr="0"/>
          <a:p>
            <a:pPr algn="ctr"/>
            <a:r>
              <a:rPr lang="en-US" altLang="zh-CN" b="1">
                <a:latin typeface="Times New Roman" panose="02020603050405020304" charset="0"/>
                <a:ea typeface="楷体" panose="02010609060101010101" charset="-122"/>
                <a:cs typeface="Times New Roman" panose="02020603050405020304" charset="0"/>
              </a:rPr>
              <a:t>1</a:t>
            </a:r>
            <a:endParaRPr lang="en-US" altLang="zh-CN" b="1">
              <a:latin typeface="Times New Roman" panose="02020603050405020304" charset="0"/>
              <a:ea typeface="楷体" panose="02010609060101010101" charset="-122"/>
              <a:cs typeface="Times New Roman" panose="02020603050405020304" charset="0"/>
            </a:endParaRPr>
          </a:p>
        </p:txBody>
      </p:sp>
      <p:sp>
        <p:nvSpPr>
          <p:cNvPr id="105558" name="椭圆 105557"/>
          <p:cNvSpPr/>
          <p:nvPr/>
        </p:nvSpPr>
        <p:spPr>
          <a:xfrm>
            <a:off x="6691313" y="3887788"/>
            <a:ext cx="315912" cy="314325"/>
          </a:xfrm>
          <a:prstGeom prst="ellipse">
            <a:avLst/>
          </a:prstGeom>
          <a:solidFill>
            <a:srgbClr val="33CCCC"/>
          </a:solidFill>
          <a:ln w="9525">
            <a:noFill/>
          </a:ln>
        </p:spPr>
        <p:txBody>
          <a:bodyPr wrap="none" anchor="ctr" anchorCtr="0"/>
          <a:p>
            <a:pPr algn="ctr"/>
            <a:r>
              <a:rPr lang="en-US" altLang="zh-CN" b="1">
                <a:latin typeface="Times New Roman" panose="02020603050405020304" charset="0"/>
                <a:ea typeface="楷体" panose="02010609060101010101" charset="-122"/>
                <a:cs typeface="Times New Roman" panose="02020603050405020304" charset="0"/>
              </a:rPr>
              <a:t>0</a:t>
            </a:r>
            <a:endParaRPr lang="en-US" altLang="zh-CN" b="1">
              <a:latin typeface="Times New Roman" panose="02020603050405020304" charset="0"/>
              <a:ea typeface="楷体" panose="02010609060101010101" charset="-122"/>
              <a:cs typeface="Times New Roman" panose="02020603050405020304" charset="0"/>
            </a:endParaRPr>
          </a:p>
        </p:txBody>
      </p:sp>
      <p:sp>
        <p:nvSpPr>
          <p:cNvPr id="105559" name="矩形 105558"/>
          <p:cNvSpPr/>
          <p:nvPr/>
        </p:nvSpPr>
        <p:spPr>
          <a:xfrm>
            <a:off x="4014788" y="5168900"/>
            <a:ext cx="504825" cy="709613"/>
          </a:xfrm>
          <a:prstGeom prst="rect">
            <a:avLst/>
          </a:prstGeom>
          <a:solidFill>
            <a:srgbClr val="FF0000">
              <a:alpha val="50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nvGrpSpPr>
          <p:cNvPr id="105560" name="组合 105559"/>
          <p:cNvGrpSpPr/>
          <p:nvPr/>
        </p:nvGrpSpPr>
        <p:grpSpPr>
          <a:xfrm>
            <a:off x="3060700" y="2509838"/>
            <a:ext cx="2286000" cy="3429000"/>
            <a:chOff x="527" y="1310"/>
            <a:chExt cx="1474" cy="1247"/>
          </a:xfrm>
        </p:grpSpPr>
        <p:sp>
          <p:nvSpPr>
            <p:cNvPr id="105561" name="直接连接符 105560"/>
            <p:cNvSpPr/>
            <p:nvPr/>
          </p:nvSpPr>
          <p:spPr>
            <a:xfrm flipH="1">
              <a:off x="527" y="1310"/>
              <a:ext cx="1474" cy="0"/>
            </a:xfrm>
            <a:prstGeom prst="line">
              <a:avLst/>
            </a:prstGeom>
            <a:ln w="38100" cap="flat" cmpd="sng">
              <a:solidFill>
                <a:srgbClr val="FF0000"/>
              </a:solidFill>
              <a:prstDash val="solid"/>
              <a:headEnd type="none" w="med" len="med"/>
              <a:tailEnd type="none" w="med" len="med"/>
            </a:ln>
          </p:spPr>
        </p:sp>
        <p:sp>
          <p:nvSpPr>
            <p:cNvPr id="105562" name="直接连接符 105561"/>
            <p:cNvSpPr/>
            <p:nvPr/>
          </p:nvSpPr>
          <p:spPr>
            <a:xfrm>
              <a:off x="527" y="1310"/>
              <a:ext cx="0" cy="1247"/>
            </a:xfrm>
            <a:prstGeom prst="line">
              <a:avLst/>
            </a:prstGeom>
            <a:ln w="38100" cap="flat" cmpd="sng">
              <a:solidFill>
                <a:srgbClr val="FF0000"/>
              </a:solidFill>
              <a:prstDash val="solid"/>
              <a:headEnd type="none" w="med" len="med"/>
              <a:tailEnd type="triangle" w="med" len="med"/>
            </a:ln>
          </p:spPr>
        </p:sp>
      </p:grpSp>
      <p:grpSp>
        <p:nvGrpSpPr>
          <p:cNvPr id="105563" name="组合 105562"/>
          <p:cNvGrpSpPr/>
          <p:nvPr/>
        </p:nvGrpSpPr>
        <p:grpSpPr>
          <a:xfrm>
            <a:off x="1582738" y="4360863"/>
            <a:ext cx="1087437" cy="598487"/>
            <a:chOff x="-4" y="874"/>
            <a:chExt cx="667" cy="424"/>
          </a:xfrm>
        </p:grpSpPr>
        <p:sp>
          <p:nvSpPr>
            <p:cNvPr id="105564" name="矩形 105563"/>
            <p:cNvSpPr/>
            <p:nvPr/>
          </p:nvSpPr>
          <p:spPr>
            <a:xfrm>
              <a:off x="6" y="874"/>
              <a:ext cx="616" cy="424"/>
            </a:xfrm>
            <a:prstGeom prst="rect">
              <a:avLst/>
            </a:prstGeom>
            <a:solidFill>
              <a:srgbClr val="33CCCC"/>
            </a:solidFill>
            <a:ln w="9525" cap="flat" cmpd="sng">
              <a:solidFill>
                <a:srgbClr val="FFE8C9"/>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65" name="矩形 105564"/>
            <p:cNvSpPr/>
            <p:nvPr/>
          </p:nvSpPr>
          <p:spPr>
            <a:xfrm>
              <a:off x="-4" y="941"/>
              <a:ext cx="29" cy="162"/>
            </a:xfrm>
            <a:prstGeom prst="rect">
              <a:avLst/>
            </a:prstGeom>
            <a:solidFill>
              <a:srgbClr val="00CCFF"/>
            </a:solidFill>
            <a:ln w="9525">
              <a:noFill/>
            </a:ln>
          </p:spPr>
          <p:txBody>
            <a:bodyPr wrap="none" lIns="0" tIns="0" rIns="0" bIns="0">
              <a:spAutoFit/>
            </a:bodyPr>
            <a:p>
              <a:pPr algn="ctr"/>
              <a:r>
                <a:rPr lang="en-US" altLang="zh-CN" sz="15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500" b="1">
                <a:solidFill>
                  <a:srgbClr val="000000"/>
                </a:solidFill>
                <a:latin typeface="Times New Roman" panose="02020603050405020304" charset="0"/>
                <a:ea typeface="楷体" panose="02010609060101010101" charset="-122"/>
                <a:cs typeface="Times New Roman" panose="02020603050405020304" charset="0"/>
              </a:endParaRPr>
            </a:p>
          </p:txBody>
        </p:sp>
        <p:grpSp>
          <p:nvGrpSpPr>
            <p:cNvPr id="105566" name="组合 105565"/>
            <p:cNvGrpSpPr/>
            <p:nvPr/>
          </p:nvGrpSpPr>
          <p:grpSpPr>
            <a:xfrm flipH="1">
              <a:off x="48" y="1042"/>
              <a:ext cx="121" cy="103"/>
              <a:chOff x="0" y="3250"/>
              <a:chExt cx="267" cy="120"/>
            </a:xfrm>
          </p:grpSpPr>
          <p:sp>
            <p:nvSpPr>
              <p:cNvPr id="105567" name="直接连接符 105566"/>
              <p:cNvSpPr/>
              <p:nvPr/>
            </p:nvSpPr>
            <p:spPr>
              <a:xfrm flipH="1">
                <a:off x="0" y="3250"/>
                <a:ext cx="241" cy="60"/>
              </a:xfrm>
              <a:prstGeom prst="line">
                <a:avLst/>
              </a:prstGeom>
              <a:ln w="28575" cap="flat" cmpd="sng">
                <a:solidFill>
                  <a:schemeClr val="tx1"/>
                </a:solidFill>
                <a:prstDash val="solid"/>
                <a:headEnd type="none" w="med" len="med"/>
                <a:tailEnd type="none" w="med" len="med"/>
              </a:ln>
            </p:spPr>
          </p:sp>
          <p:sp>
            <p:nvSpPr>
              <p:cNvPr id="105568" name="直接连接符 105567"/>
              <p:cNvSpPr/>
              <p:nvPr/>
            </p:nvSpPr>
            <p:spPr>
              <a:xfrm>
                <a:off x="0" y="3310"/>
                <a:ext cx="267" cy="60"/>
              </a:xfrm>
              <a:prstGeom prst="line">
                <a:avLst/>
              </a:prstGeom>
              <a:ln w="28575" cap="flat" cmpd="sng">
                <a:solidFill>
                  <a:schemeClr val="tx1"/>
                </a:solidFill>
                <a:prstDash val="solid"/>
                <a:headEnd type="none" w="med" len="med"/>
                <a:tailEnd type="none" w="med" len="med"/>
              </a:ln>
            </p:spPr>
          </p:sp>
        </p:grpSp>
        <p:sp>
          <p:nvSpPr>
            <p:cNvPr id="105569" name="矩形 105568"/>
            <p:cNvSpPr/>
            <p:nvPr/>
          </p:nvSpPr>
          <p:spPr>
            <a:xfrm>
              <a:off x="122" y="962"/>
              <a:ext cx="541" cy="259"/>
            </a:xfrm>
            <a:prstGeom prst="rect">
              <a:avLst/>
            </a:prstGeom>
            <a:noFill/>
            <a:ln w="9525">
              <a:noFill/>
            </a:ln>
          </p:spPr>
          <p:txBody>
            <a:bodyPr>
              <a:spAutoFit/>
            </a:bodyPr>
            <a:p>
              <a:pPr>
                <a:spcBef>
                  <a:spcPct val="50000"/>
                </a:spcBef>
              </a:pPr>
              <a:r>
                <a:rPr lang="en-US" altLang="zh-CN" b="1">
                  <a:solidFill>
                    <a:srgbClr val="000099"/>
                  </a:solidFill>
                  <a:latin typeface="Times New Roman" panose="02020603050405020304" charset="0"/>
                  <a:ea typeface="楷体" panose="02010609060101010101" charset="-122"/>
                  <a:cs typeface="Times New Roman" panose="02020603050405020304" charset="0"/>
                  <a:sym typeface="Symbol" panose="05050102010706020507" pitchFamily="18" charset="2"/>
                </a:rPr>
                <a:t>2V</a:t>
              </a:r>
              <a:r>
                <a:rPr lang="en-US" altLang="zh-CN" b="1" baseline="-25000">
                  <a:solidFill>
                    <a:srgbClr val="000099"/>
                  </a:solidFill>
                  <a:latin typeface="Times New Roman" panose="02020603050405020304" charset="0"/>
                  <a:ea typeface="楷体" panose="02010609060101010101" charset="-122"/>
                  <a:cs typeface="Times New Roman" panose="02020603050405020304" charset="0"/>
                  <a:sym typeface="Symbol" panose="05050102010706020507" pitchFamily="18" charset="2"/>
                </a:rPr>
                <a:t>CC</a:t>
              </a:r>
              <a:r>
                <a:rPr lang="en-US" altLang="zh-CN" b="1">
                  <a:solidFill>
                    <a:srgbClr val="000099"/>
                  </a:solidFill>
                  <a:latin typeface="Times New Roman" panose="02020603050405020304" charset="0"/>
                  <a:ea typeface="楷体" panose="02010609060101010101" charset="-122"/>
                  <a:cs typeface="Times New Roman" panose="02020603050405020304" charset="0"/>
                  <a:sym typeface="Symbol" panose="05050102010706020507" pitchFamily="18" charset="2"/>
                </a:rPr>
                <a:t>/3</a:t>
              </a:r>
              <a:endParaRPr lang="en-US" altLang="zh-CN" b="1">
                <a:solidFill>
                  <a:srgbClr val="000099"/>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grpSp>
      <p:grpSp>
        <p:nvGrpSpPr>
          <p:cNvPr id="105635" name="组合 105634"/>
          <p:cNvGrpSpPr/>
          <p:nvPr/>
        </p:nvGrpSpPr>
        <p:grpSpPr>
          <a:xfrm>
            <a:off x="3060700" y="2511425"/>
            <a:ext cx="2286000" cy="3429000"/>
            <a:chOff x="527" y="1310"/>
            <a:chExt cx="1474" cy="1247"/>
          </a:xfrm>
        </p:grpSpPr>
        <p:sp>
          <p:nvSpPr>
            <p:cNvPr id="105636" name="直接连接符 105635"/>
            <p:cNvSpPr/>
            <p:nvPr/>
          </p:nvSpPr>
          <p:spPr>
            <a:xfrm flipH="1">
              <a:off x="527" y="1310"/>
              <a:ext cx="1474" cy="0"/>
            </a:xfrm>
            <a:prstGeom prst="line">
              <a:avLst/>
            </a:prstGeom>
            <a:ln w="38100" cap="flat" cmpd="sng">
              <a:solidFill>
                <a:srgbClr val="FF0000"/>
              </a:solidFill>
              <a:prstDash val="solid"/>
              <a:headEnd type="none" w="med" len="med"/>
              <a:tailEnd type="none" w="med" len="med"/>
            </a:ln>
          </p:spPr>
        </p:sp>
        <p:sp>
          <p:nvSpPr>
            <p:cNvPr id="105637" name="直接连接符 105636"/>
            <p:cNvSpPr/>
            <p:nvPr/>
          </p:nvSpPr>
          <p:spPr>
            <a:xfrm>
              <a:off x="527" y="1310"/>
              <a:ext cx="0" cy="1247"/>
            </a:xfrm>
            <a:prstGeom prst="line">
              <a:avLst/>
            </a:prstGeom>
            <a:ln w="38100" cap="flat" cmpd="sng">
              <a:solidFill>
                <a:srgbClr val="FF0000"/>
              </a:solidFill>
              <a:prstDash val="solid"/>
              <a:headEnd type="none" w="med" len="med"/>
              <a:tailEnd type="triangle" w="med" len="med"/>
            </a:ln>
          </p:spPr>
        </p:sp>
      </p:grpSp>
      <p:grpSp>
        <p:nvGrpSpPr>
          <p:cNvPr id="105675" name="组合 105674"/>
          <p:cNvGrpSpPr/>
          <p:nvPr/>
        </p:nvGrpSpPr>
        <p:grpSpPr>
          <a:xfrm>
            <a:off x="3122613" y="5421313"/>
            <a:ext cx="885825" cy="520700"/>
            <a:chOff x="1712" y="3395"/>
            <a:chExt cx="558" cy="328"/>
          </a:xfrm>
        </p:grpSpPr>
        <p:sp>
          <p:nvSpPr>
            <p:cNvPr id="105676" name="直接连接符 105675"/>
            <p:cNvSpPr/>
            <p:nvPr/>
          </p:nvSpPr>
          <p:spPr>
            <a:xfrm flipV="1">
              <a:off x="1712" y="3395"/>
              <a:ext cx="516" cy="18"/>
            </a:xfrm>
            <a:prstGeom prst="line">
              <a:avLst/>
            </a:prstGeom>
            <a:ln w="28575" cap="flat" cmpd="sng">
              <a:solidFill>
                <a:srgbClr val="FF0066"/>
              </a:solidFill>
              <a:prstDash val="solid"/>
              <a:headEnd type="none" w="med" len="med"/>
              <a:tailEnd type="none" w="med" len="med"/>
            </a:ln>
          </p:spPr>
        </p:sp>
        <p:sp>
          <p:nvSpPr>
            <p:cNvPr id="105677" name="直接连接符 105676"/>
            <p:cNvSpPr/>
            <p:nvPr/>
          </p:nvSpPr>
          <p:spPr>
            <a:xfrm>
              <a:off x="2235" y="3396"/>
              <a:ext cx="9" cy="103"/>
            </a:xfrm>
            <a:prstGeom prst="line">
              <a:avLst/>
            </a:prstGeom>
            <a:ln w="28575" cap="flat" cmpd="sng">
              <a:solidFill>
                <a:srgbClr val="FF0066"/>
              </a:solidFill>
              <a:prstDash val="solid"/>
              <a:headEnd type="none" w="med" len="med"/>
              <a:tailEnd type="none" w="med" len="med"/>
            </a:ln>
          </p:spPr>
        </p:sp>
        <p:sp>
          <p:nvSpPr>
            <p:cNvPr id="105678" name="直接连接符 105677"/>
            <p:cNvSpPr/>
            <p:nvPr/>
          </p:nvSpPr>
          <p:spPr>
            <a:xfrm flipV="1">
              <a:off x="1754" y="3489"/>
              <a:ext cx="516" cy="18"/>
            </a:xfrm>
            <a:prstGeom prst="line">
              <a:avLst/>
            </a:prstGeom>
            <a:ln w="28575" cap="flat" cmpd="sng">
              <a:solidFill>
                <a:srgbClr val="FF0066"/>
              </a:solidFill>
              <a:prstDash val="solid"/>
              <a:headEnd type="none" w="med" len="med"/>
              <a:tailEnd type="none" w="med" len="med"/>
            </a:ln>
          </p:spPr>
        </p:sp>
        <p:sp>
          <p:nvSpPr>
            <p:cNvPr id="105679" name="直接连接符 105678"/>
            <p:cNvSpPr/>
            <p:nvPr/>
          </p:nvSpPr>
          <p:spPr>
            <a:xfrm>
              <a:off x="1771" y="3499"/>
              <a:ext cx="0" cy="224"/>
            </a:xfrm>
            <a:prstGeom prst="line">
              <a:avLst/>
            </a:prstGeom>
            <a:ln w="28575" cap="flat" cmpd="sng">
              <a:solidFill>
                <a:srgbClr val="FF0066"/>
              </a:solidFill>
              <a:prstDash val="solid"/>
              <a:headEnd type="none" w="med" len="med"/>
              <a:tailEnd type="triangle" w="med" len="med"/>
            </a:ln>
          </p:spPr>
        </p:sp>
      </p:grpSp>
      <p:sp>
        <p:nvSpPr>
          <p:cNvPr id="105544" name="直接连接符 105543"/>
          <p:cNvSpPr/>
          <p:nvPr/>
        </p:nvSpPr>
        <p:spPr>
          <a:xfrm flipV="1">
            <a:off x="2728913" y="5510213"/>
            <a:ext cx="1587" cy="223837"/>
          </a:xfrm>
          <a:prstGeom prst="line">
            <a:avLst/>
          </a:prstGeom>
          <a:ln w="38100" cap="flat" cmpd="sng">
            <a:solidFill>
              <a:srgbClr val="FF0000"/>
            </a:solidFill>
            <a:prstDash val="solid"/>
            <a:headEnd type="none" w="med" len="med"/>
            <a:tailEnd type="triangle" w="med" len="med"/>
          </a:ln>
        </p:spPr>
      </p:sp>
      <p:grpSp>
        <p:nvGrpSpPr>
          <p:cNvPr id="105884" name="组合 105883"/>
          <p:cNvGrpSpPr/>
          <p:nvPr/>
        </p:nvGrpSpPr>
        <p:grpSpPr>
          <a:xfrm>
            <a:off x="2441575" y="2147888"/>
            <a:ext cx="3389313" cy="3787775"/>
            <a:chOff x="1194" y="1307"/>
            <a:chExt cx="2135" cy="2386"/>
          </a:xfrm>
        </p:grpSpPr>
        <p:sp>
          <p:nvSpPr>
            <p:cNvPr id="105519" name="矩形 105518"/>
            <p:cNvSpPr/>
            <p:nvPr/>
          </p:nvSpPr>
          <p:spPr>
            <a:xfrm>
              <a:off x="1194" y="3415"/>
              <a:ext cx="194" cy="192"/>
            </a:xfrm>
            <a:prstGeom prst="rect">
              <a:avLst/>
            </a:prstGeom>
            <a:noFill/>
            <a:ln w="38100">
              <a:noFill/>
            </a:ln>
          </p:spPr>
          <p:txBody>
            <a:bodyPr wrap="none" anchor="t" anchorCtr="0">
              <a:spAutoFit/>
            </a:bodyPr>
            <a:p>
              <a:pPr algn="ctr"/>
              <a:r>
                <a:rPr lang="en-US" altLang="zh-CN" sz="1400" b="1" i="1">
                  <a:latin typeface="Times New Roman" panose="02020603050405020304" charset="0"/>
                  <a:ea typeface="楷体" panose="02010609060101010101" charset="-122"/>
                  <a:cs typeface="Times New Roman" panose="02020603050405020304" charset="0"/>
                </a:rPr>
                <a:t>C</a:t>
              </a:r>
              <a:endParaRPr lang="en-US" altLang="zh-CN" sz="1400" b="1" i="1" baseline="-25000">
                <a:latin typeface="Times New Roman" panose="02020603050405020304" charset="0"/>
                <a:ea typeface="楷体" panose="02010609060101010101" charset="-122"/>
                <a:cs typeface="Times New Roman" panose="02020603050405020304" charset="0"/>
              </a:endParaRPr>
            </a:p>
          </p:txBody>
        </p:sp>
        <p:sp>
          <p:nvSpPr>
            <p:cNvPr id="105527" name="直接连接符 105526"/>
            <p:cNvSpPr/>
            <p:nvPr/>
          </p:nvSpPr>
          <p:spPr>
            <a:xfrm flipH="1">
              <a:off x="1497" y="2887"/>
              <a:ext cx="224" cy="0"/>
            </a:xfrm>
            <a:prstGeom prst="line">
              <a:avLst/>
            </a:prstGeom>
            <a:ln w="28575" cap="flat" cmpd="sng">
              <a:solidFill>
                <a:schemeClr val="tx1"/>
              </a:solidFill>
              <a:prstDash val="solid"/>
              <a:headEnd type="none" w="med" len="med"/>
              <a:tailEnd type="none" w="med" len="med"/>
            </a:ln>
          </p:spPr>
        </p:sp>
        <p:sp>
          <p:nvSpPr>
            <p:cNvPr id="105528" name="直接连接符 105527"/>
            <p:cNvSpPr/>
            <p:nvPr/>
          </p:nvSpPr>
          <p:spPr>
            <a:xfrm flipH="1">
              <a:off x="1269" y="3356"/>
              <a:ext cx="428" cy="0"/>
            </a:xfrm>
            <a:prstGeom prst="line">
              <a:avLst/>
            </a:prstGeom>
            <a:ln w="28575" cap="flat" cmpd="sng">
              <a:solidFill>
                <a:schemeClr val="tx1"/>
              </a:solidFill>
              <a:prstDash val="solid"/>
              <a:headEnd type="none" w="med" len="med"/>
              <a:tailEnd type="none" w="med" len="med"/>
            </a:ln>
          </p:spPr>
        </p:sp>
        <p:sp>
          <p:nvSpPr>
            <p:cNvPr id="105530" name="椭圆 105529"/>
            <p:cNvSpPr/>
            <p:nvPr/>
          </p:nvSpPr>
          <p:spPr>
            <a:xfrm>
              <a:off x="1471" y="2074"/>
              <a:ext cx="56" cy="56"/>
            </a:xfrm>
            <a:prstGeom prst="ellipse">
              <a:avLst/>
            </a:prstGeom>
            <a:solidFill>
              <a:schemeClr val="tx2"/>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31" name="直接连接符 105530"/>
            <p:cNvSpPr/>
            <p:nvPr/>
          </p:nvSpPr>
          <p:spPr>
            <a:xfrm>
              <a:off x="1260" y="2103"/>
              <a:ext cx="0" cy="1259"/>
            </a:xfrm>
            <a:prstGeom prst="line">
              <a:avLst/>
            </a:prstGeom>
            <a:ln w="28575" cap="flat" cmpd="sng">
              <a:solidFill>
                <a:schemeClr val="tx1"/>
              </a:solidFill>
              <a:prstDash val="solid"/>
              <a:headEnd type="none" w="med" len="med"/>
              <a:tailEnd type="none" w="med" len="med"/>
            </a:ln>
          </p:spPr>
        </p:sp>
        <p:sp>
          <p:nvSpPr>
            <p:cNvPr id="105535" name="直接连接符 105534"/>
            <p:cNvSpPr/>
            <p:nvPr/>
          </p:nvSpPr>
          <p:spPr>
            <a:xfrm>
              <a:off x="1711" y="2103"/>
              <a:ext cx="0" cy="790"/>
            </a:xfrm>
            <a:prstGeom prst="line">
              <a:avLst/>
            </a:prstGeom>
            <a:ln w="28575" cap="flat" cmpd="sng">
              <a:solidFill>
                <a:schemeClr val="tx1"/>
              </a:solidFill>
              <a:prstDash val="solid"/>
              <a:headEnd type="none" w="med" len="med"/>
              <a:tailEnd type="none" w="med" len="med"/>
            </a:ln>
          </p:spPr>
        </p:sp>
        <p:grpSp>
          <p:nvGrpSpPr>
            <p:cNvPr id="105545" name="组合 105544"/>
            <p:cNvGrpSpPr/>
            <p:nvPr/>
          </p:nvGrpSpPr>
          <p:grpSpPr>
            <a:xfrm>
              <a:off x="2932" y="1307"/>
              <a:ext cx="397" cy="230"/>
              <a:chOff x="2584" y="2200"/>
              <a:chExt cx="397" cy="230"/>
            </a:xfrm>
          </p:grpSpPr>
          <p:sp>
            <p:nvSpPr>
              <p:cNvPr id="105546" name="矩形 105545"/>
              <p:cNvSpPr/>
              <p:nvPr/>
            </p:nvSpPr>
            <p:spPr>
              <a:xfrm>
                <a:off x="2584" y="2200"/>
                <a:ext cx="397" cy="230"/>
              </a:xfrm>
              <a:prstGeom prst="rect">
                <a:avLst/>
              </a:prstGeom>
              <a:solidFill>
                <a:srgbClr val="FFFF99"/>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47" name="矩形 105546"/>
              <p:cNvSpPr/>
              <p:nvPr/>
            </p:nvSpPr>
            <p:spPr>
              <a:xfrm>
                <a:off x="2902" y="2216"/>
                <a:ext cx="51" cy="182"/>
              </a:xfrm>
              <a:prstGeom prst="rect">
                <a:avLst/>
              </a:prstGeom>
              <a:noFill/>
              <a:ln w="9525">
                <a:noFill/>
              </a:ln>
            </p:spPr>
            <p:txBody>
              <a:bodyPr wrap="none" lIns="0" tIns="0" rIns="0" bIns="0">
                <a:spAutoFit/>
              </a:bodyPr>
              <a:p>
                <a:pPr>
                  <a:spcBef>
                    <a:spcPct val="50000"/>
                  </a:spcBef>
                </a:pPr>
                <a:r>
                  <a:rPr lang="en-US" altLang="zh-CN" sz="1900" b="1">
                    <a:solidFill>
                      <a:srgbClr val="000000"/>
                    </a:solidFill>
                    <a:latin typeface="Times New Roman" panose="02020603050405020304" charset="0"/>
                    <a:ea typeface="楷体" panose="02010609060101010101" charset="-122"/>
                    <a:cs typeface="Times New Roman" panose="02020603050405020304" charset="0"/>
                  </a:rPr>
                  <a:t>)</a:t>
                </a:r>
                <a:endParaRPr lang="en-US" altLang="zh-CN" sz="19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548" name="矩形 105547"/>
              <p:cNvSpPr/>
              <p:nvPr/>
            </p:nvSpPr>
            <p:spPr>
              <a:xfrm>
                <a:off x="2602" y="2216"/>
                <a:ext cx="51" cy="182"/>
              </a:xfrm>
              <a:prstGeom prst="rect">
                <a:avLst/>
              </a:prstGeom>
              <a:noFill/>
              <a:ln w="9525">
                <a:noFill/>
              </a:ln>
            </p:spPr>
            <p:txBody>
              <a:bodyPr wrap="none" lIns="0" tIns="0" rIns="0" bIns="0">
                <a:spAutoFit/>
              </a:bodyPr>
              <a:p>
                <a:pPr>
                  <a:spcBef>
                    <a:spcPct val="50000"/>
                  </a:spcBef>
                </a:pPr>
                <a:r>
                  <a:rPr lang="en-US" altLang="zh-CN" sz="1900" b="1">
                    <a:solidFill>
                      <a:srgbClr val="000000"/>
                    </a:solidFill>
                    <a:latin typeface="Times New Roman" panose="02020603050405020304" charset="0"/>
                    <a:ea typeface="楷体" panose="02010609060101010101" charset="-122"/>
                    <a:cs typeface="Times New Roman" panose="02020603050405020304" charset="0"/>
                  </a:rPr>
                  <a:t>(</a:t>
                </a:r>
                <a:endParaRPr lang="en-US" altLang="zh-CN" sz="19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549" name="矩形 105548"/>
              <p:cNvSpPr/>
              <p:nvPr/>
            </p:nvSpPr>
            <p:spPr>
              <a:xfrm>
                <a:off x="2851" y="2311"/>
                <a:ext cx="29" cy="106"/>
              </a:xfrm>
              <a:prstGeom prst="rect">
                <a:avLst/>
              </a:prstGeom>
              <a:noFill/>
              <a:ln w="9525">
                <a:noFill/>
              </a:ln>
            </p:spPr>
            <p:txBody>
              <a:bodyPr wrap="none" lIns="0" tIns="0" rIns="0" bIns="0">
                <a:spAutoFit/>
              </a:bodyPr>
              <a:p>
                <a:pPr>
                  <a:spcBef>
                    <a:spcPct val="50000"/>
                  </a:spcBef>
                </a:pPr>
                <a:r>
                  <a:rPr lang="en-US" altLang="zh-CN" sz="1100" b="1">
                    <a:solidFill>
                      <a:srgbClr val="000000"/>
                    </a:solidFill>
                    <a:latin typeface="Times New Roman" panose="02020603050405020304" charset="0"/>
                    <a:ea typeface="楷体" panose="02010609060101010101" charset="-122"/>
                    <a:cs typeface="Times New Roman" panose="02020603050405020304" charset="0"/>
                  </a:rPr>
                  <a:t>-</a:t>
                </a:r>
                <a:endParaRPr lang="en-US" altLang="zh-CN" sz="11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550" name="矩形 105549"/>
              <p:cNvSpPr/>
              <p:nvPr/>
            </p:nvSpPr>
            <p:spPr>
              <a:xfrm>
                <a:off x="2742" y="2311"/>
                <a:ext cx="128" cy="106"/>
              </a:xfrm>
              <a:prstGeom prst="rect">
                <a:avLst/>
              </a:prstGeom>
              <a:noFill/>
              <a:ln w="9525">
                <a:noFill/>
              </a:ln>
            </p:spPr>
            <p:txBody>
              <a:bodyPr wrap="none" lIns="0" tIns="0" rIns="0" bIns="0">
                <a:spAutoFit/>
              </a:bodyPr>
              <a:p>
                <a:pPr>
                  <a:spcBef>
                    <a:spcPct val="50000"/>
                  </a:spcBef>
                </a:pPr>
                <a:r>
                  <a:rPr lang="en-US" altLang="zh-CN" sz="1100" b="1">
                    <a:solidFill>
                      <a:srgbClr val="000000"/>
                    </a:solidFill>
                    <a:latin typeface="Times New Roman" panose="02020603050405020304" charset="0"/>
                    <a:ea typeface="楷体" panose="02010609060101010101" charset="-122"/>
                    <a:cs typeface="Times New Roman" panose="02020603050405020304" charset="0"/>
                  </a:rPr>
                  <a:t>CC</a:t>
                </a:r>
                <a:endParaRPr lang="en-US" altLang="zh-CN" sz="11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551" name="矩形 105550"/>
              <p:cNvSpPr/>
              <p:nvPr/>
            </p:nvSpPr>
            <p:spPr>
              <a:xfrm>
                <a:off x="2643" y="2216"/>
                <a:ext cx="101" cy="182"/>
              </a:xfrm>
              <a:prstGeom prst="rect">
                <a:avLst/>
              </a:prstGeom>
              <a:noFill/>
              <a:ln w="9525">
                <a:noFill/>
              </a:ln>
            </p:spPr>
            <p:txBody>
              <a:bodyPr wrap="none" lIns="0" tIns="0" rIns="0" bIns="0">
                <a:spAutoFit/>
              </a:bodyPr>
              <a:p>
                <a:pPr>
                  <a:spcBef>
                    <a:spcPct val="50000"/>
                  </a:spcBef>
                </a:pPr>
                <a:r>
                  <a:rPr lang="en-US" altLang="zh-CN" sz="1900" b="1" i="1">
                    <a:solidFill>
                      <a:srgbClr val="000000"/>
                    </a:solidFill>
                    <a:latin typeface="Times New Roman" panose="02020603050405020304" charset="0"/>
                    <a:ea typeface="楷体" panose="02010609060101010101" charset="-122"/>
                    <a:cs typeface="Times New Roman" panose="02020603050405020304" charset="0"/>
                  </a:rPr>
                  <a:t>V</a:t>
                </a:r>
                <a:endParaRPr lang="en-US" altLang="zh-CN" sz="1900" b="1" i="1">
                  <a:solidFill>
                    <a:srgbClr val="000000"/>
                  </a:solidFill>
                  <a:latin typeface="Times New Roman" panose="02020603050405020304" charset="0"/>
                  <a:ea typeface="楷体" panose="02010609060101010101" charset="-122"/>
                  <a:cs typeface="Times New Roman" panose="02020603050405020304" charset="0"/>
                </a:endParaRPr>
              </a:p>
            </p:txBody>
          </p:sp>
        </p:grpSp>
        <p:sp>
          <p:nvSpPr>
            <p:cNvPr id="105861" name="直接连接符 105860"/>
            <p:cNvSpPr/>
            <p:nvPr/>
          </p:nvSpPr>
          <p:spPr>
            <a:xfrm flipH="1">
              <a:off x="1248" y="2106"/>
              <a:ext cx="252" cy="0"/>
            </a:xfrm>
            <a:prstGeom prst="line">
              <a:avLst/>
            </a:prstGeom>
            <a:ln w="28575" cap="flat" cmpd="sng">
              <a:solidFill>
                <a:schemeClr val="tx1"/>
              </a:solidFill>
              <a:prstDash val="solid"/>
              <a:headEnd type="none" w="med" len="med"/>
              <a:tailEnd type="none" w="med" len="med"/>
            </a:ln>
          </p:spPr>
        </p:sp>
        <p:sp>
          <p:nvSpPr>
            <p:cNvPr id="105863" name="椭圆 105862"/>
            <p:cNvSpPr/>
            <p:nvPr/>
          </p:nvSpPr>
          <p:spPr>
            <a:xfrm>
              <a:off x="1685" y="2863"/>
              <a:ext cx="56" cy="56"/>
            </a:xfrm>
            <a:prstGeom prst="ellipse">
              <a:avLst/>
            </a:prstGeom>
            <a:solidFill>
              <a:schemeClr val="tx2"/>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864" name="直接连接符 105863"/>
            <p:cNvSpPr/>
            <p:nvPr/>
          </p:nvSpPr>
          <p:spPr>
            <a:xfrm>
              <a:off x="1500" y="1890"/>
              <a:ext cx="1" cy="400"/>
            </a:xfrm>
            <a:prstGeom prst="line">
              <a:avLst/>
            </a:prstGeom>
            <a:ln w="28575" cap="flat" cmpd="sng">
              <a:solidFill>
                <a:schemeClr val="tx1"/>
              </a:solidFill>
              <a:prstDash val="solid"/>
              <a:headEnd type="none" w="med" len="med"/>
              <a:tailEnd type="none" w="med" len="med"/>
            </a:ln>
          </p:spPr>
        </p:sp>
        <p:sp>
          <p:nvSpPr>
            <p:cNvPr id="105514" name="直接连接符 105513"/>
            <p:cNvSpPr/>
            <p:nvPr/>
          </p:nvSpPr>
          <p:spPr>
            <a:xfrm>
              <a:off x="1490" y="1496"/>
              <a:ext cx="1268" cy="1"/>
            </a:xfrm>
            <a:prstGeom prst="line">
              <a:avLst/>
            </a:prstGeom>
            <a:ln w="28575" cap="flat" cmpd="sng">
              <a:solidFill>
                <a:schemeClr val="tx1"/>
              </a:solidFill>
              <a:prstDash val="solid"/>
              <a:headEnd type="none" w="med" len="med"/>
              <a:tailEnd type="none" w="med" len="med"/>
            </a:ln>
          </p:spPr>
        </p:sp>
        <p:sp>
          <p:nvSpPr>
            <p:cNvPr id="105532" name="矩形 105531"/>
            <p:cNvSpPr/>
            <p:nvPr/>
          </p:nvSpPr>
          <p:spPr>
            <a:xfrm>
              <a:off x="1455" y="2293"/>
              <a:ext cx="83" cy="296"/>
            </a:xfrm>
            <a:prstGeom prst="rect">
              <a:avLst/>
            </a:prstGeom>
            <a:noFill/>
            <a:ln w="28575" cap="flat" cmpd="sng">
              <a:solidFill>
                <a:schemeClr val="tx1"/>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533" name="直接连接符 105532"/>
            <p:cNvSpPr/>
            <p:nvPr/>
          </p:nvSpPr>
          <p:spPr>
            <a:xfrm>
              <a:off x="1507" y="1496"/>
              <a:ext cx="1" cy="99"/>
            </a:xfrm>
            <a:prstGeom prst="line">
              <a:avLst/>
            </a:prstGeom>
            <a:ln w="28575" cap="flat" cmpd="sng">
              <a:solidFill>
                <a:schemeClr val="tx1"/>
              </a:solidFill>
              <a:prstDash val="solid"/>
              <a:headEnd type="none" w="med" len="med"/>
              <a:tailEnd type="none" w="med" len="med"/>
            </a:ln>
          </p:spPr>
        </p:sp>
        <p:sp>
          <p:nvSpPr>
            <p:cNvPr id="105537" name="直接连接符 105536"/>
            <p:cNvSpPr/>
            <p:nvPr/>
          </p:nvSpPr>
          <p:spPr>
            <a:xfrm>
              <a:off x="1408" y="3520"/>
              <a:ext cx="165" cy="1"/>
            </a:xfrm>
            <a:prstGeom prst="line">
              <a:avLst/>
            </a:prstGeom>
            <a:ln w="28575" cap="flat" cmpd="sng">
              <a:solidFill>
                <a:schemeClr val="tx1"/>
              </a:solidFill>
              <a:prstDash val="solid"/>
              <a:headEnd type="none" w="med" len="med"/>
              <a:tailEnd type="none" w="med" len="med"/>
            </a:ln>
          </p:spPr>
        </p:sp>
        <p:sp>
          <p:nvSpPr>
            <p:cNvPr id="105538" name="直接连接符 105537"/>
            <p:cNvSpPr/>
            <p:nvPr/>
          </p:nvSpPr>
          <p:spPr>
            <a:xfrm>
              <a:off x="1408" y="3470"/>
              <a:ext cx="165" cy="1"/>
            </a:xfrm>
            <a:prstGeom prst="line">
              <a:avLst/>
            </a:prstGeom>
            <a:ln w="28575" cap="flat" cmpd="sng">
              <a:solidFill>
                <a:schemeClr val="tx1"/>
              </a:solidFill>
              <a:prstDash val="solid"/>
              <a:headEnd type="none" w="med" len="med"/>
              <a:tailEnd type="none" w="med" len="med"/>
            </a:ln>
          </p:spPr>
        </p:sp>
        <p:sp>
          <p:nvSpPr>
            <p:cNvPr id="105539" name="直接连接符 105538"/>
            <p:cNvSpPr/>
            <p:nvPr/>
          </p:nvSpPr>
          <p:spPr>
            <a:xfrm>
              <a:off x="1499" y="3512"/>
              <a:ext cx="1" cy="181"/>
            </a:xfrm>
            <a:prstGeom prst="line">
              <a:avLst/>
            </a:prstGeom>
            <a:ln w="28575" cap="flat" cmpd="sng">
              <a:solidFill>
                <a:schemeClr val="tx1"/>
              </a:solidFill>
              <a:prstDash val="solid"/>
              <a:headEnd type="none" w="med" len="med"/>
              <a:tailEnd type="none" w="med" len="med"/>
            </a:ln>
          </p:spPr>
        </p:sp>
        <p:sp>
          <p:nvSpPr>
            <p:cNvPr id="105540" name="直接连接符 105539"/>
            <p:cNvSpPr/>
            <p:nvPr/>
          </p:nvSpPr>
          <p:spPr>
            <a:xfrm>
              <a:off x="1490" y="3676"/>
              <a:ext cx="461" cy="1"/>
            </a:xfrm>
            <a:prstGeom prst="line">
              <a:avLst/>
            </a:prstGeom>
            <a:ln w="28575" cap="flat" cmpd="sng">
              <a:solidFill>
                <a:schemeClr val="tx1"/>
              </a:solidFill>
              <a:prstDash val="solid"/>
              <a:headEnd type="none" w="med" len="med"/>
              <a:tailEnd type="none" w="med" len="med"/>
            </a:ln>
          </p:spPr>
        </p:sp>
        <p:sp>
          <p:nvSpPr>
            <p:cNvPr id="105865" name="矩形 105864"/>
            <p:cNvSpPr/>
            <p:nvPr/>
          </p:nvSpPr>
          <p:spPr>
            <a:xfrm>
              <a:off x="1455" y="1594"/>
              <a:ext cx="83" cy="296"/>
            </a:xfrm>
            <a:prstGeom prst="rect">
              <a:avLst/>
            </a:prstGeom>
            <a:noFill/>
            <a:ln w="28575" cap="flat" cmpd="sng">
              <a:solidFill>
                <a:schemeClr val="tx1"/>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866" name="直接连接符 105865"/>
            <p:cNvSpPr/>
            <p:nvPr/>
          </p:nvSpPr>
          <p:spPr>
            <a:xfrm flipH="1">
              <a:off x="1490" y="2589"/>
              <a:ext cx="9" cy="878"/>
            </a:xfrm>
            <a:prstGeom prst="line">
              <a:avLst/>
            </a:prstGeom>
            <a:ln w="28575" cap="flat" cmpd="sng">
              <a:solidFill>
                <a:schemeClr val="tx1"/>
              </a:solidFill>
              <a:prstDash val="solid"/>
              <a:headEnd type="none" w="med" len="med"/>
              <a:tailEnd type="none" w="med" len="med"/>
            </a:ln>
          </p:spPr>
        </p:sp>
        <p:sp>
          <p:nvSpPr>
            <p:cNvPr id="105867" name="椭圆 105866"/>
            <p:cNvSpPr/>
            <p:nvPr/>
          </p:nvSpPr>
          <p:spPr>
            <a:xfrm>
              <a:off x="1473" y="2863"/>
              <a:ext cx="56" cy="56"/>
            </a:xfrm>
            <a:prstGeom prst="ellipse">
              <a:avLst/>
            </a:prstGeom>
            <a:solidFill>
              <a:schemeClr val="tx2"/>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nvGrpSpPr>
            <p:cNvPr id="105875" name="组合 105874"/>
            <p:cNvGrpSpPr/>
            <p:nvPr/>
          </p:nvGrpSpPr>
          <p:grpSpPr>
            <a:xfrm>
              <a:off x="1272" y="1633"/>
              <a:ext cx="237" cy="202"/>
              <a:chOff x="3674" y="649"/>
              <a:chExt cx="237" cy="202"/>
            </a:xfrm>
          </p:grpSpPr>
          <p:sp>
            <p:nvSpPr>
              <p:cNvPr id="105872" name="矩形 105871"/>
              <p:cNvSpPr/>
              <p:nvPr/>
            </p:nvSpPr>
            <p:spPr>
              <a:xfrm>
                <a:off x="3882" y="744"/>
                <a:ext cx="29" cy="106"/>
              </a:xfrm>
              <a:prstGeom prst="rect">
                <a:avLst/>
              </a:prstGeom>
              <a:noFill/>
              <a:ln w="9525">
                <a:noFill/>
              </a:ln>
            </p:spPr>
            <p:txBody>
              <a:bodyPr wrap="none" lIns="0" tIns="0" rIns="0" bIns="0">
                <a:spAutoFit/>
              </a:bodyPr>
              <a:p>
                <a:pPr>
                  <a:spcBef>
                    <a:spcPct val="50000"/>
                  </a:spcBef>
                </a:pPr>
                <a:r>
                  <a:rPr lang="en-US" altLang="zh-CN" sz="1100" b="1">
                    <a:solidFill>
                      <a:srgbClr val="000000"/>
                    </a:solidFill>
                    <a:latin typeface="Times New Roman" panose="02020603050405020304" charset="0"/>
                    <a:ea typeface="楷体" panose="02010609060101010101" charset="-122"/>
                    <a:cs typeface="Times New Roman" panose="02020603050405020304" charset="0"/>
                  </a:rPr>
                  <a:t>-</a:t>
                </a:r>
                <a:endParaRPr lang="en-US" altLang="zh-CN" sz="11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873" name="矩形 105872"/>
              <p:cNvSpPr/>
              <p:nvPr/>
            </p:nvSpPr>
            <p:spPr>
              <a:xfrm>
                <a:off x="3800" y="745"/>
                <a:ext cx="44" cy="106"/>
              </a:xfrm>
              <a:prstGeom prst="rect">
                <a:avLst/>
              </a:prstGeom>
              <a:noFill/>
              <a:ln w="9525">
                <a:noFill/>
              </a:ln>
            </p:spPr>
            <p:txBody>
              <a:bodyPr wrap="none" lIns="0" tIns="0" rIns="0" bIns="0">
                <a:spAutoFit/>
              </a:bodyPr>
              <a:p>
                <a:pPr>
                  <a:spcBef>
                    <a:spcPct val="50000"/>
                  </a:spcBef>
                </a:pPr>
                <a:r>
                  <a:rPr lang="en-US" altLang="zh-CN" sz="1100" b="1">
                    <a:solidFill>
                      <a:srgbClr val="000000"/>
                    </a:solidFill>
                    <a:latin typeface="Times New Roman" panose="02020603050405020304" charset="0"/>
                    <a:ea typeface="楷体" panose="02010609060101010101" charset="-122"/>
                    <a:cs typeface="Times New Roman" panose="02020603050405020304" charset="0"/>
                  </a:rPr>
                  <a:t>1</a:t>
                </a:r>
                <a:endParaRPr lang="en-US" altLang="zh-CN" sz="11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874" name="矩形 105873"/>
              <p:cNvSpPr/>
              <p:nvPr/>
            </p:nvSpPr>
            <p:spPr>
              <a:xfrm>
                <a:off x="3674" y="649"/>
                <a:ext cx="101" cy="182"/>
              </a:xfrm>
              <a:prstGeom prst="rect">
                <a:avLst/>
              </a:prstGeom>
              <a:noFill/>
              <a:ln w="9525">
                <a:noFill/>
              </a:ln>
            </p:spPr>
            <p:txBody>
              <a:bodyPr wrap="none" lIns="0" tIns="0" rIns="0" bIns="0">
                <a:spAutoFit/>
              </a:bodyPr>
              <a:p>
                <a:pPr>
                  <a:spcBef>
                    <a:spcPct val="50000"/>
                  </a:spcBef>
                </a:pPr>
                <a:r>
                  <a:rPr lang="en-US" altLang="zh-CN" sz="1900" b="1" i="1">
                    <a:solidFill>
                      <a:srgbClr val="000000"/>
                    </a:solidFill>
                    <a:latin typeface="Times New Roman" panose="02020603050405020304" charset="0"/>
                    <a:ea typeface="楷体" panose="02010609060101010101" charset="-122"/>
                    <a:cs typeface="Times New Roman" panose="02020603050405020304" charset="0"/>
                  </a:rPr>
                  <a:t>R</a:t>
                </a:r>
                <a:endParaRPr lang="en-US" altLang="zh-CN" sz="1900" b="1" i="1">
                  <a:solidFill>
                    <a:srgbClr val="000000"/>
                  </a:solidFill>
                  <a:latin typeface="Times New Roman" panose="02020603050405020304" charset="0"/>
                  <a:ea typeface="楷体" panose="02010609060101010101" charset="-122"/>
                  <a:cs typeface="Times New Roman" panose="02020603050405020304" charset="0"/>
                </a:endParaRPr>
              </a:p>
            </p:txBody>
          </p:sp>
        </p:grpSp>
        <p:grpSp>
          <p:nvGrpSpPr>
            <p:cNvPr id="105876" name="组合 105875"/>
            <p:cNvGrpSpPr/>
            <p:nvPr/>
          </p:nvGrpSpPr>
          <p:grpSpPr>
            <a:xfrm>
              <a:off x="1264" y="2377"/>
              <a:ext cx="237" cy="202"/>
              <a:chOff x="3674" y="649"/>
              <a:chExt cx="237" cy="202"/>
            </a:xfrm>
          </p:grpSpPr>
          <p:sp>
            <p:nvSpPr>
              <p:cNvPr id="105877" name="矩形 105876"/>
              <p:cNvSpPr/>
              <p:nvPr/>
            </p:nvSpPr>
            <p:spPr>
              <a:xfrm>
                <a:off x="3882" y="744"/>
                <a:ext cx="29" cy="106"/>
              </a:xfrm>
              <a:prstGeom prst="rect">
                <a:avLst/>
              </a:prstGeom>
              <a:noFill/>
              <a:ln w="9525">
                <a:noFill/>
              </a:ln>
            </p:spPr>
            <p:txBody>
              <a:bodyPr wrap="none" lIns="0" tIns="0" rIns="0" bIns="0">
                <a:spAutoFit/>
              </a:bodyPr>
              <a:p>
                <a:pPr>
                  <a:spcBef>
                    <a:spcPct val="50000"/>
                  </a:spcBef>
                </a:pPr>
                <a:r>
                  <a:rPr lang="en-US" altLang="zh-CN" sz="1100" b="1">
                    <a:solidFill>
                      <a:srgbClr val="000000"/>
                    </a:solidFill>
                    <a:latin typeface="Times New Roman" panose="02020603050405020304" charset="0"/>
                    <a:ea typeface="楷体" panose="02010609060101010101" charset="-122"/>
                    <a:cs typeface="Times New Roman" panose="02020603050405020304" charset="0"/>
                  </a:rPr>
                  <a:t>-</a:t>
                </a:r>
                <a:endParaRPr lang="en-US" altLang="zh-CN" sz="11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878" name="矩形 105877"/>
              <p:cNvSpPr/>
              <p:nvPr/>
            </p:nvSpPr>
            <p:spPr>
              <a:xfrm>
                <a:off x="3800" y="745"/>
                <a:ext cx="44" cy="106"/>
              </a:xfrm>
              <a:prstGeom prst="rect">
                <a:avLst/>
              </a:prstGeom>
              <a:noFill/>
              <a:ln w="9525">
                <a:noFill/>
              </a:ln>
            </p:spPr>
            <p:txBody>
              <a:bodyPr wrap="none" lIns="0" tIns="0" rIns="0" bIns="0">
                <a:spAutoFit/>
              </a:bodyPr>
              <a:p>
                <a:pPr>
                  <a:spcBef>
                    <a:spcPct val="50000"/>
                  </a:spcBef>
                </a:pPr>
                <a:r>
                  <a:rPr lang="en-US" altLang="zh-CN" sz="1100" b="1">
                    <a:solidFill>
                      <a:srgbClr val="000000"/>
                    </a:solidFill>
                    <a:latin typeface="Times New Roman" panose="02020603050405020304" charset="0"/>
                    <a:ea typeface="楷体" panose="02010609060101010101" charset="-122"/>
                    <a:cs typeface="Times New Roman" panose="02020603050405020304" charset="0"/>
                  </a:rPr>
                  <a:t>2</a:t>
                </a:r>
                <a:endParaRPr lang="en-US" altLang="zh-CN" sz="11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879" name="矩形 105878"/>
              <p:cNvSpPr/>
              <p:nvPr/>
            </p:nvSpPr>
            <p:spPr>
              <a:xfrm>
                <a:off x="3674" y="649"/>
                <a:ext cx="101" cy="182"/>
              </a:xfrm>
              <a:prstGeom prst="rect">
                <a:avLst/>
              </a:prstGeom>
              <a:noFill/>
              <a:ln w="9525">
                <a:noFill/>
              </a:ln>
            </p:spPr>
            <p:txBody>
              <a:bodyPr wrap="none" lIns="0" tIns="0" rIns="0" bIns="0">
                <a:spAutoFit/>
              </a:bodyPr>
              <a:p>
                <a:pPr>
                  <a:spcBef>
                    <a:spcPct val="50000"/>
                  </a:spcBef>
                </a:pPr>
                <a:r>
                  <a:rPr lang="en-US" altLang="zh-CN" sz="1900" b="1" i="1">
                    <a:solidFill>
                      <a:srgbClr val="000000"/>
                    </a:solidFill>
                    <a:latin typeface="Times New Roman" panose="02020603050405020304" charset="0"/>
                    <a:ea typeface="楷体" panose="02010609060101010101" charset="-122"/>
                    <a:cs typeface="Times New Roman" panose="02020603050405020304" charset="0"/>
                  </a:rPr>
                  <a:t>R</a:t>
                </a:r>
                <a:endParaRPr lang="en-US" altLang="zh-CN" sz="1900" b="1" i="1">
                  <a:solidFill>
                    <a:srgbClr val="000000"/>
                  </a:solidFill>
                  <a:latin typeface="Times New Roman" panose="02020603050405020304" charset="0"/>
                  <a:ea typeface="楷体" panose="02010609060101010101" charset="-122"/>
                  <a:cs typeface="Times New Roman" panose="02020603050405020304" charset="0"/>
                </a:endParaRPr>
              </a:p>
            </p:txBody>
          </p:sp>
        </p:grpSp>
      </p:grpSp>
      <p:sp>
        <p:nvSpPr>
          <p:cNvPr id="105885" name="矩形 105884"/>
          <p:cNvSpPr/>
          <p:nvPr/>
        </p:nvSpPr>
        <p:spPr>
          <a:xfrm>
            <a:off x="528638" y="612775"/>
            <a:ext cx="8615362" cy="396875"/>
          </a:xfrm>
          <a:prstGeom prst="rect">
            <a:avLst/>
          </a:prstGeom>
          <a:solidFill>
            <a:schemeClr val="bg1">
              <a:alpha val="0"/>
            </a:schemeClr>
          </a:solidFill>
          <a:ln w="9525">
            <a:noFill/>
          </a:ln>
        </p:spPr>
        <p:txBody>
          <a:bodyPr>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电路第一暂态，输出为</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。电容充电，电路转换到第二暂态</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输出为</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0</a:t>
            </a:r>
            <a:endPar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105633" name="椭圆 105632"/>
          <p:cNvSpPr/>
          <p:nvPr/>
        </p:nvSpPr>
        <p:spPr>
          <a:xfrm>
            <a:off x="7402513" y="3935413"/>
            <a:ext cx="315912" cy="314325"/>
          </a:xfrm>
          <a:prstGeom prst="ellipse">
            <a:avLst/>
          </a:prstGeom>
          <a:solidFill>
            <a:srgbClr val="FBF99D"/>
          </a:solidFill>
          <a:ln w="9525">
            <a:noFill/>
          </a:ln>
        </p:spPr>
        <p:txBody>
          <a:bodyPr wrap="none" anchor="ctr" anchorCtr="0"/>
          <a:p>
            <a:pPr algn="ctr"/>
            <a:r>
              <a:rPr lang="en-US" altLang="zh-CN" b="1">
                <a:latin typeface="Times New Roman" panose="02020603050405020304" charset="0"/>
                <a:ea typeface="楷体" panose="02010609060101010101" charset="-122"/>
                <a:cs typeface="Times New Roman" panose="02020603050405020304" charset="0"/>
              </a:rPr>
              <a:t>0</a:t>
            </a:r>
            <a:endParaRPr lang="en-US" altLang="zh-CN" b="1">
              <a:latin typeface="Times New Roman" panose="02020603050405020304" charset="0"/>
              <a:ea typeface="楷体" panose="02010609060101010101" charset="-122"/>
              <a:cs typeface="Times New Roman" panose="02020603050405020304" charset="0"/>
            </a:endParaRPr>
          </a:p>
        </p:txBody>
      </p:sp>
      <p:sp>
        <p:nvSpPr>
          <p:cNvPr id="105632" name="椭圆 105631"/>
          <p:cNvSpPr/>
          <p:nvPr/>
        </p:nvSpPr>
        <p:spPr>
          <a:xfrm>
            <a:off x="6688138" y="3867150"/>
            <a:ext cx="315912" cy="314325"/>
          </a:xfrm>
          <a:prstGeom prst="ellipse">
            <a:avLst/>
          </a:prstGeom>
          <a:solidFill>
            <a:srgbClr val="FBF99D"/>
          </a:solidFill>
          <a:ln w="9525">
            <a:noFill/>
          </a:ln>
        </p:spPr>
        <p:txBody>
          <a:bodyPr wrap="none" anchor="ctr" anchorCtr="0"/>
          <a:p>
            <a:pPr algn="ctr"/>
            <a:r>
              <a:rPr lang="en-US" altLang="zh-CN" b="1">
                <a:latin typeface="Times New Roman" panose="02020603050405020304" charset="0"/>
                <a:ea typeface="楷体" panose="02010609060101010101" charset="-122"/>
                <a:cs typeface="Times New Roman" panose="02020603050405020304" charset="0"/>
              </a:rPr>
              <a:t>1</a:t>
            </a:r>
            <a:endParaRPr lang="en-US" altLang="zh-CN" b="1">
              <a:latin typeface="Times New Roman" panose="02020603050405020304" charset="0"/>
              <a:ea typeface="楷体" panose="02010609060101010101" charset="-122"/>
              <a:cs typeface="Times New Roman" panose="02020603050405020304" charset="0"/>
            </a:endParaRPr>
          </a:p>
        </p:txBody>
      </p:sp>
      <p:sp>
        <p:nvSpPr>
          <p:cNvPr id="105672" name="矩形 105671"/>
          <p:cNvSpPr/>
          <p:nvPr/>
        </p:nvSpPr>
        <p:spPr>
          <a:xfrm>
            <a:off x="4048125" y="5173663"/>
            <a:ext cx="504825" cy="709612"/>
          </a:xfrm>
          <a:prstGeom prst="rect">
            <a:avLst/>
          </a:prstGeom>
          <a:solidFill>
            <a:srgbClr val="00FF00">
              <a:alpha val="50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nvGrpSpPr>
          <p:cNvPr id="105605" name="组合 105604"/>
          <p:cNvGrpSpPr/>
          <p:nvPr/>
        </p:nvGrpSpPr>
        <p:grpSpPr>
          <a:xfrm>
            <a:off x="1592263" y="4386263"/>
            <a:ext cx="1001712" cy="747712"/>
            <a:chOff x="569" y="3371"/>
            <a:chExt cx="631" cy="471"/>
          </a:xfrm>
        </p:grpSpPr>
        <p:sp>
          <p:nvSpPr>
            <p:cNvPr id="105606" name="矩形 105605"/>
            <p:cNvSpPr/>
            <p:nvPr/>
          </p:nvSpPr>
          <p:spPr>
            <a:xfrm>
              <a:off x="569" y="3371"/>
              <a:ext cx="616" cy="424"/>
            </a:xfrm>
            <a:prstGeom prst="rect">
              <a:avLst/>
            </a:prstGeom>
            <a:solidFill>
              <a:srgbClr val="FFFF99"/>
            </a:solidFill>
            <a:ln w="9525" cap="flat" cmpd="sng">
              <a:solidFill>
                <a:srgbClr val="FFE8C9"/>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05607" name="矩形 105606"/>
            <p:cNvSpPr/>
            <p:nvPr/>
          </p:nvSpPr>
          <p:spPr>
            <a:xfrm>
              <a:off x="703" y="3438"/>
              <a:ext cx="30" cy="144"/>
            </a:xfrm>
            <a:prstGeom prst="rect">
              <a:avLst/>
            </a:prstGeom>
            <a:noFill/>
            <a:ln w="9525">
              <a:noFill/>
            </a:ln>
          </p:spPr>
          <p:txBody>
            <a:bodyPr wrap="none" lIns="0" tIns="0" rIns="0" bIns="0">
              <a:spAutoFit/>
            </a:bodyPr>
            <a:p>
              <a:pPr algn="ctr"/>
              <a:r>
                <a:rPr lang="en-US" altLang="zh-CN" sz="15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500" b="1">
                <a:solidFill>
                  <a:srgbClr val="000000"/>
                </a:solidFill>
                <a:latin typeface="Times New Roman" panose="02020603050405020304" charset="0"/>
                <a:ea typeface="楷体" panose="02010609060101010101" charset="-122"/>
                <a:cs typeface="Times New Roman" panose="02020603050405020304" charset="0"/>
              </a:endParaRPr>
            </a:p>
          </p:txBody>
        </p:sp>
        <p:grpSp>
          <p:nvGrpSpPr>
            <p:cNvPr id="105608" name="组合 105607"/>
            <p:cNvGrpSpPr/>
            <p:nvPr/>
          </p:nvGrpSpPr>
          <p:grpSpPr>
            <a:xfrm>
              <a:off x="782" y="3428"/>
              <a:ext cx="418" cy="414"/>
              <a:chOff x="3479" y="3196"/>
              <a:chExt cx="410" cy="465"/>
            </a:xfrm>
          </p:grpSpPr>
          <p:sp>
            <p:nvSpPr>
              <p:cNvPr id="105609" name="矩形 105608"/>
              <p:cNvSpPr/>
              <p:nvPr/>
            </p:nvSpPr>
            <p:spPr>
              <a:xfrm>
                <a:off x="3719" y="3310"/>
                <a:ext cx="30" cy="161"/>
              </a:xfrm>
              <a:prstGeom prst="rect">
                <a:avLst/>
              </a:prstGeom>
              <a:noFill/>
              <a:ln w="9525">
                <a:noFill/>
              </a:ln>
            </p:spPr>
            <p:txBody>
              <a:bodyPr wrap="none" lIns="0" tIns="0" rIns="0" bIns="0">
                <a:spAutoFit/>
              </a:bodyPr>
              <a:p>
                <a:pPr algn="ctr"/>
                <a:r>
                  <a:rPr lang="en-US" altLang="zh-CN" sz="15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5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610" name="矩形 105609"/>
              <p:cNvSpPr/>
              <p:nvPr/>
            </p:nvSpPr>
            <p:spPr>
              <a:xfrm>
                <a:off x="3536" y="3286"/>
                <a:ext cx="51" cy="140"/>
              </a:xfrm>
              <a:prstGeom prst="rect">
                <a:avLst/>
              </a:prstGeom>
              <a:noFill/>
              <a:ln w="9525">
                <a:noFill/>
              </a:ln>
            </p:spPr>
            <p:txBody>
              <a:bodyPr wrap="none" lIns="0" tIns="0" rIns="0" bIns="0">
                <a:spAutoFit/>
              </a:bodyPr>
              <a:p>
                <a:pPr algn="ctr"/>
                <a:r>
                  <a:rPr lang="en-US" altLang="zh-CN" sz="1300" b="1">
                    <a:solidFill>
                      <a:srgbClr val="000000"/>
                    </a:solidFill>
                    <a:latin typeface="Times New Roman" panose="02020603050405020304" charset="0"/>
                    <a:ea typeface="楷体" panose="02010609060101010101" charset="-122"/>
                    <a:cs typeface="Times New Roman" panose="02020603050405020304" charset="0"/>
                  </a:rPr>
                  <a:t>1</a:t>
                </a:r>
                <a:endParaRPr lang="en-US" altLang="zh-CN" sz="13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611" name="矩形 105610"/>
              <p:cNvSpPr/>
              <p:nvPr/>
            </p:nvSpPr>
            <p:spPr>
              <a:xfrm>
                <a:off x="3536" y="3403"/>
                <a:ext cx="51" cy="140"/>
              </a:xfrm>
              <a:prstGeom prst="rect">
                <a:avLst/>
              </a:prstGeom>
              <a:noFill/>
              <a:ln w="9525">
                <a:noFill/>
              </a:ln>
            </p:spPr>
            <p:txBody>
              <a:bodyPr wrap="none" lIns="0" tIns="0" rIns="0" bIns="0">
                <a:spAutoFit/>
              </a:bodyPr>
              <a:p>
                <a:pPr algn="ctr"/>
                <a:r>
                  <a:rPr lang="en-US" altLang="zh-CN" sz="1300" b="1">
                    <a:solidFill>
                      <a:srgbClr val="000000"/>
                    </a:solidFill>
                    <a:latin typeface="Times New Roman" panose="02020603050405020304" charset="0"/>
                    <a:ea typeface="楷体" panose="02010609060101010101" charset="-122"/>
                    <a:cs typeface="Times New Roman" panose="02020603050405020304" charset="0"/>
                  </a:rPr>
                  <a:t>3</a:t>
                </a:r>
                <a:endParaRPr lang="en-US" altLang="zh-CN" sz="13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612" name="直接连接符 105611"/>
              <p:cNvSpPr/>
              <p:nvPr/>
            </p:nvSpPr>
            <p:spPr>
              <a:xfrm>
                <a:off x="3503" y="3403"/>
                <a:ext cx="76" cy="1"/>
              </a:xfrm>
              <a:prstGeom prst="line">
                <a:avLst/>
              </a:prstGeom>
              <a:ln w="12700" cap="flat" cmpd="sng">
                <a:solidFill>
                  <a:srgbClr val="000000"/>
                </a:solidFill>
                <a:prstDash val="solid"/>
                <a:headEnd type="none" w="med" len="med"/>
                <a:tailEnd type="none" w="med" len="med"/>
              </a:ln>
            </p:spPr>
          </p:sp>
          <p:grpSp>
            <p:nvGrpSpPr>
              <p:cNvPr id="105613" name="组合 105612"/>
              <p:cNvGrpSpPr/>
              <p:nvPr/>
            </p:nvGrpSpPr>
            <p:grpSpPr>
              <a:xfrm>
                <a:off x="3578" y="3211"/>
                <a:ext cx="230" cy="281"/>
                <a:chOff x="3217" y="2707"/>
                <a:chExt cx="230" cy="105"/>
              </a:xfrm>
            </p:grpSpPr>
            <p:sp>
              <p:nvSpPr>
                <p:cNvPr id="105614" name="矩形 105613"/>
                <p:cNvSpPr/>
                <p:nvPr/>
              </p:nvSpPr>
              <p:spPr>
                <a:xfrm>
                  <a:off x="3217" y="2756"/>
                  <a:ext cx="26" cy="52"/>
                </a:xfrm>
                <a:prstGeom prst="rect">
                  <a:avLst/>
                </a:prstGeom>
                <a:noFill/>
                <a:ln w="9525">
                  <a:noFill/>
                </a:ln>
              </p:spPr>
              <p:txBody>
                <a:bodyPr wrap="none" lIns="0" tIns="0" rIns="0" bIns="0">
                  <a:spAutoFit/>
                </a:bodyPr>
                <a:p>
                  <a:pPr algn="ctr"/>
                  <a:r>
                    <a:rPr lang="en-US" altLang="zh-CN" sz="1300">
                      <a:solidFill>
                        <a:srgbClr val="000000"/>
                      </a:solidFill>
                      <a:latin typeface="Times New Roman" panose="02020603050405020304" charset="0"/>
                      <a:ea typeface="楷体" panose="02010609060101010101" charset="-122"/>
                      <a:cs typeface="Times New Roman" panose="02020603050405020304" charset="0"/>
                    </a:rPr>
                    <a:t> </a:t>
                  </a:r>
                  <a:endParaRPr lang="en-US" altLang="zh-CN" sz="13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615" name="矩形 105614"/>
                <p:cNvSpPr/>
                <p:nvPr/>
              </p:nvSpPr>
              <p:spPr>
                <a:xfrm>
                  <a:off x="3266" y="2707"/>
                  <a:ext cx="0" cy="60"/>
                </a:xfrm>
                <a:prstGeom prst="rect">
                  <a:avLst/>
                </a:prstGeom>
                <a:noFill/>
                <a:ln w="9525">
                  <a:noFill/>
                </a:ln>
              </p:spPr>
              <p:txBody>
                <a:bodyPr wrap="none" lIns="0" tIns="0" rIns="0" bIns="0">
                  <a:spAutoFit/>
                </a:bodyPr>
                <a:p>
                  <a:pPr algn="ctr"/>
                  <a:endParaRPr lang="en-GB" altLang="x-none" sz="15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05616" name="矩形 105615"/>
                <p:cNvSpPr/>
                <p:nvPr/>
              </p:nvSpPr>
              <p:spPr>
                <a:xfrm>
                  <a:off x="3254" y="2756"/>
                  <a:ext cx="193" cy="56"/>
                </a:xfrm>
                <a:prstGeom prst="rect">
                  <a:avLst/>
                </a:prstGeom>
                <a:noFill/>
                <a:ln w="9525">
                  <a:noFill/>
                </a:ln>
              </p:spPr>
              <p:txBody>
                <a:bodyPr wrap="none" lIns="0" tIns="0" rIns="0" bIns="0">
                  <a:spAutoFit/>
                </a:bodyPr>
                <a:p>
                  <a:pPr algn="ctr"/>
                  <a:r>
                    <a:rPr lang="en-US" altLang="zh-CN" sz="1400" b="1">
                      <a:solidFill>
                        <a:srgbClr val="000000"/>
                      </a:solidFill>
                      <a:latin typeface="Times New Roman" panose="02020603050405020304" charset="0"/>
                      <a:ea typeface="楷体" panose="02010609060101010101" charset="-122"/>
                      <a:cs typeface="Times New Roman" panose="02020603050405020304" charset="0"/>
                    </a:rPr>
                    <a:t>V</a:t>
                  </a:r>
                  <a:r>
                    <a:rPr lang="en-US" altLang="zh-CN" sz="1000" b="1">
                      <a:solidFill>
                        <a:srgbClr val="000000"/>
                      </a:solidFill>
                      <a:latin typeface="Times New Roman" panose="02020603050405020304" charset="0"/>
                      <a:ea typeface="楷体" panose="02010609060101010101" charset="-122"/>
                      <a:cs typeface="Times New Roman" panose="02020603050405020304" charset="0"/>
                    </a:rPr>
                    <a:t>CC</a:t>
                  </a:r>
                  <a:endParaRPr lang="en-US" altLang="zh-CN" sz="2400" b="1">
                    <a:latin typeface="Times New Roman" panose="02020603050405020304" charset="0"/>
                    <a:ea typeface="楷体" panose="02010609060101010101" charset="-122"/>
                    <a:cs typeface="Times New Roman" panose="02020603050405020304" charset="0"/>
                  </a:endParaRPr>
                </a:p>
              </p:txBody>
            </p:sp>
          </p:grpSp>
          <p:sp>
            <p:nvSpPr>
              <p:cNvPr id="105617" name="矩形 105616"/>
              <p:cNvSpPr/>
              <p:nvPr/>
            </p:nvSpPr>
            <p:spPr>
              <a:xfrm>
                <a:off x="3479" y="3196"/>
                <a:ext cx="410" cy="465"/>
              </a:xfrm>
              <a:prstGeom prst="rect">
                <a:avLst/>
              </a:prstGeom>
              <a:no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grpSp>
          <p:nvGrpSpPr>
            <p:cNvPr id="105618" name="组合 105617"/>
            <p:cNvGrpSpPr/>
            <p:nvPr/>
          </p:nvGrpSpPr>
          <p:grpSpPr>
            <a:xfrm>
              <a:off x="665" y="3566"/>
              <a:ext cx="121" cy="103"/>
              <a:chOff x="0" y="3250"/>
              <a:chExt cx="267" cy="120"/>
            </a:xfrm>
          </p:grpSpPr>
          <p:sp>
            <p:nvSpPr>
              <p:cNvPr id="105619" name="直接连接符 105618"/>
              <p:cNvSpPr/>
              <p:nvPr/>
            </p:nvSpPr>
            <p:spPr>
              <a:xfrm flipH="1">
                <a:off x="0" y="3250"/>
                <a:ext cx="241" cy="60"/>
              </a:xfrm>
              <a:prstGeom prst="line">
                <a:avLst/>
              </a:prstGeom>
              <a:ln w="28575" cap="flat" cmpd="sng">
                <a:solidFill>
                  <a:schemeClr val="tx1"/>
                </a:solidFill>
                <a:prstDash val="solid"/>
                <a:headEnd type="none" w="med" len="med"/>
                <a:tailEnd type="none" w="med" len="med"/>
              </a:ln>
            </p:spPr>
          </p:sp>
          <p:sp>
            <p:nvSpPr>
              <p:cNvPr id="105620" name="直接连接符 105619"/>
              <p:cNvSpPr/>
              <p:nvPr/>
            </p:nvSpPr>
            <p:spPr>
              <a:xfrm>
                <a:off x="0" y="3310"/>
                <a:ext cx="267" cy="60"/>
              </a:xfrm>
              <a:prstGeom prst="line">
                <a:avLst/>
              </a:prstGeom>
              <a:ln w="28575" cap="flat" cmpd="sng">
                <a:solidFill>
                  <a:schemeClr val="tx1"/>
                </a:solidFill>
                <a:prstDash val="solid"/>
                <a:headEnd type="none" w="med" len="med"/>
                <a:tailEnd type="none" w="med" len="med"/>
              </a:ln>
            </p:spPr>
          </p:sp>
        </p:grpSp>
      </p:grpSp>
      <p:sp>
        <p:nvSpPr>
          <p:cNvPr id="105671" name="椭圆 105670"/>
          <p:cNvSpPr/>
          <p:nvPr/>
        </p:nvSpPr>
        <p:spPr>
          <a:xfrm>
            <a:off x="7408863" y="3908425"/>
            <a:ext cx="315912" cy="328613"/>
          </a:xfrm>
          <a:prstGeom prst="ellipse">
            <a:avLst/>
          </a:prstGeom>
          <a:solidFill>
            <a:srgbClr val="FCD2F8"/>
          </a:solidFill>
          <a:ln w="9525">
            <a:noFill/>
          </a:ln>
        </p:spPr>
        <p:txBody>
          <a:bodyPr wrap="none" anchor="ctr" anchorCtr="0"/>
          <a:p>
            <a:pPr algn="ctr"/>
            <a:r>
              <a:rPr lang="en-US" altLang="zh-CN" b="1">
                <a:latin typeface="Times New Roman" panose="02020603050405020304" charset="0"/>
                <a:ea typeface="楷体" panose="02010609060101010101" charset="-122"/>
                <a:cs typeface="Times New Roman" panose="02020603050405020304" charset="0"/>
              </a:rPr>
              <a:t>1</a:t>
            </a:r>
            <a:endParaRPr lang="en-US" altLang="zh-CN" b="1">
              <a:latin typeface="Times New Roman" panose="02020603050405020304" charset="0"/>
              <a:ea typeface="楷体" panose="02010609060101010101" charset="-122"/>
              <a:cs typeface="Times New Roman" panose="02020603050405020304" charset="0"/>
            </a:endParaRPr>
          </a:p>
        </p:txBody>
      </p:sp>
      <p:sp>
        <p:nvSpPr>
          <p:cNvPr id="105670" name="椭圆 105669"/>
          <p:cNvSpPr/>
          <p:nvPr/>
        </p:nvSpPr>
        <p:spPr>
          <a:xfrm>
            <a:off x="6659563" y="3852863"/>
            <a:ext cx="315912" cy="314325"/>
          </a:xfrm>
          <a:prstGeom prst="ellipse">
            <a:avLst/>
          </a:prstGeom>
          <a:solidFill>
            <a:srgbClr val="FCD2F8"/>
          </a:solidFill>
          <a:ln w="9525">
            <a:noFill/>
          </a:ln>
        </p:spPr>
        <p:txBody>
          <a:bodyPr wrap="none" anchor="ctr" anchorCtr="0"/>
          <a:p>
            <a:pPr algn="ctr"/>
            <a:r>
              <a:rPr lang="en-US" altLang="zh-CN" b="1">
                <a:latin typeface="Times New Roman" panose="02020603050405020304" charset="0"/>
                <a:ea typeface="楷体" panose="02010609060101010101" charset="-122"/>
                <a:cs typeface="Times New Roman" panose="02020603050405020304" charset="0"/>
              </a:rPr>
              <a:t>0</a:t>
            </a:r>
            <a:endParaRPr lang="en-US" altLang="zh-CN" b="1">
              <a:latin typeface="Times New Roman" panose="02020603050405020304" charset="0"/>
              <a:ea typeface="楷体" panose="02010609060101010101" charset="-122"/>
              <a:cs typeface="Times New Roman" panose="02020603050405020304" charset="0"/>
            </a:endParaRPr>
          </a:p>
        </p:txBody>
      </p:sp>
      <p:sp>
        <p:nvSpPr>
          <p:cNvPr id="105961" name="矩形 105960"/>
          <p:cNvSpPr/>
          <p:nvPr/>
        </p:nvSpPr>
        <p:spPr>
          <a:xfrm>
            <a:off x="533400" y="1528763"/>
            <a:ext cx="7859713" cy="396875"/>
          </a:xfrm>
          <a:prstGeom prst="rect">
            <a:avLst/>
          </a:prstGeom>
          <a:solidFill>
            <a:srgbClr val="FFFFFF">
              <a:alpha val="0"/>
            </a:srgbClr>
          </a:solidFill>
          <a:ln w="9525">
            <a:noFill/>
          </a:ln>
        </p:spPr>
        <p:txBody>
          <a:bodyPr>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电路第二暂稳态，电容放电，电路转换到第一暂态</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05474" name="组合 105473"/>
          <p:cNvGrpSpPr/>
          <p:nvPr/>
        </p:nvGrpSpPr>
        <p:grpSpPr>
          <a:xfrm>
            <a:off x="2630488" y="6137275"/>
            <a:ext cx="4776787" cy="742950"/>
            <a:chOff x="1530" y="3924"/>
            <a:chExt cx="3009" cy="468"/>
          </a:xfrm>
        </p:grpSpPr>
        <p:sp>
          <p:nvSpPr>
            <p:cNvPr id="105475" name="矩形 105474"/>
            <p:cNvSpPr/>
            <p:nvPr/>
          </p:nvSpPr>
          <p:spPr>
            <a:xfrm>
              <a:off x="1530" y="3924"/>
              <a:ext cx="3009" cy="396"/>
            </a:xfrm>
            <a:prstGeom prst="rect">
              <a:avLst/>
            </a:prstGeom>
            <a:solidFill>
              <a:srgbClr val="FFFF99"/>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nvGrpSpPr>
            <p:cNvPr id="105476" name="组合 105475"/>
            <p:cNvGrpSpPr/>
            <p:nvPr/>
          </p:nvGrpSpPr>
          <p:grpSpPr>
            <a:xfrm>
              <a:off x="1549" y="3943"/>
              <a:ext cx="2823" cy="449"/>
              <a:chOff x="3093" y="1254"/>
              <a:chExt cx="2823" cy="449"/>
            </a:xfrm>
          </p:grpSpPr>
          <p:sp>
            <p:nvSpPr>
              <p:cNvPr id="105477" name="矩形 105476"/>
              <p:cNvSpPr/>
              <p:nvPr/>
            </p:nvSpPr>
            <p:spPr>
              <a:xfrm>
                <a:off x="5461" y="1278"/>
                <a:ext cx="455" cy="425"/>
              </a:xfrm>
              <a:prstGeom prst="rect">
                <a:avLst/>
              </a:prstGeom>
              <a:noFill/>
              <a:ln w="38100">
                <a:noFill/>
              </a:ln>
            </p:spPr>
            <p:txBody>
              <a:bodyPr anchor="ctr" anchorCtr="0"/>
              <a:p>
                <a:pPr algn="ctr" defTabSz="914400">
                  <a:tabLst>
                    <a:tab pos="5221605" algn="r"/>
                  </a:tabLst>
                </a:pPr>
                <a:r>
                  <a:rPr lang="zh-CN" altLang="en-US" sz="2000" b="1" dirty="0">
                    <a:solidFill>
                      <a:srgbClr val="000099"/>
                    </a:solidFill>
                    <a:latin typeface="Times New Roman" panose="02020603050405020304" charset="0"/>
                    <a:ea typeface="楷体" panose="02010609060101010101" charset="-122"/>
                  </a:rPr>
                  <a:t>导通</a:t>
                </a:r>
                <a:endParaRPr lang="zh-CN" altLang="en-US" sz="2000" b="1" dirty="0">
                  <a:solidFill>
                    <a:srgbClr val="000099"/>
                  </a:solidFill>
                  <a:latin typeface="Times New Roman" panose="02020603050405020304" charset="0"/>
                  <a:ea typeface="楷体" panose="02010609060101010101" charset="-122"/>
                </a:endParaRPr>
              </a:p>
            </p:txBody>
          </p:sp>
          <p:sp>
            <p:nvSpPr>
              <p:cNvPr id="105478" name="矩形 105477"/>
              <p:cNvSpPr/>
              <p:nvPr/>
            </p:nvSpPr>
            <p:spPr>
              <a:xfrm>
                <a:off x="5009" y="1278"/>
                <a:ext cx="452" cy="425"/>
              </a:xfrm>
              <a:prstGeom prst="rect">
                <a:avLst/>
              </a:prstGeom>
              <a:noFill/>
              <a:ln w="38100">
                <a:noFill/>
              </a:ln>
            </p:spPr>
            <p:txBody>
              <a:bodyPr anchor="ctr" anchorCtr="0"/>
              <a:p>
                <a:pPr algn="ctr" defTabSz="914400">
                  <a:tabLst>
                    <a:tab pos="5221605" algn="r"/>
                  </a:tabLst>
                </a:pPr>
                <a:r>
                  <a:rPr lang="en-US" altLang="zh-CN" sz="2000" b="1">
                    <a:solidFill>
                      <a:srgbClr val="FF0000"/>
                    </a:solidFill>
                    <a:latin typeface="Times New Roman" panose="02020603050405020304" charset="0"/>
                    <a:ea typeface="楷体" panose="02010609060101010101" charset="-122"/>
                    <a:cs typeface="Times New Roman" panose="02020603050405020304" charset="0"/>
                  </a:rPr>
                  <a:t>0</a:t>
                </a:r>
                <a:endParaRPr lang="en-US" altLang="zh-CN" sz="2000" b="1">
                  <a:solidFill>
                    <a:srgbClr val="FF0000"/>
                  </a:solidFill>
                  <a:latin typeface="Times New Roman" panose="02020603050405020304" charset="0"/>
                  <a:ea typeface="楷体" panose="02010609060101010101" charset="-122"/>
                  <a:cs typeface="Times New Roman" panose="02020603050405020304" charset="0"/>
                </a:endParaRPr>
              </a:p>
            </p:txBody>
          </p:sp>
          <p:sp>
            <p:nvSpPr>
              <p:cNvPr id="105479" name="矩形 105478"/>
              <p:cNvSpPr/>
              <p:nvPr/>
            </p:nvSpPr>
            <p:spPr>
              <a:xfrm>
                <a:off x="4449" y="1278"/>
                <a:ext cx="560" cy="425"/>
              </a:xfrm>
              <a:prstGeom prst="rect">
                <a:avLst/>
              </a:prstGeom>
              <a:noFill/>
              <a:ln w="38100">
                <a:noFill/>
              </a:ln>
            </p:spPr>
            <p:txBody>
              <a:bodyPr anchor="ctr" anchorCtr="0"/>
              <a:p>
                <a:pPr algn="ctr" defTabSz="914400">
                  <a:tabLst>
                    <a:tab pos="5221605" algn="r"/>
                  </a:tabLst>
                </a:pPr>
                <a:r>
                  <a:rPr lang="en-US" altLang="zh-CN" sz="2000" b="1">
                    <a:solidFill>
                      <a:srgbClr val="000099"/>
                    </a:solidFill>
                    <a:latin typeface="Times New Roman" panose="02020603050405020304" charset="0"/>
                    <a:ea typeface="楷体" panose="02010609060101010101" charset="-122"/>
                    <a:cs typeface="Times New Roman" panose="02020603050405020304" charset="0"/>
                  </a:rPr>
                  <a:t>1</a:t>
                </a:r>
                <a:endParaRPr lang="en-US" altLang="zh-CN" sz="20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105480" name="直接连接符 105479"/>
              <p:cNvSpPr/>
              <p:nvPr/>
            </p:nvSpPr>
            <p:spPr>
              <a:xfrm>
                <a:off x="3093" y="1620"/>
                <a:ext cx="2823" cy="0"/>
              </a:xfrm>
              <a:prstGeom prst="line">
                <a:avLst/>
              </a:prstGeom>
              <a:ln w="19050" cap="rnd" cmpd="sng">
                <a:solidFill>
                  <a:srgbClr val="000000"/>
                </a:solidFill>
                <a:prstDash val="solid"/>
                <a:headEnd type="none" w="med" len="med"/>
                <a:tailEnd type="none" w="med" len="med"/>
              </a:ln>
            </p:spPr>
          </p:sp>
          <p:graphicFrame>
            <p:nvGraphicFramePr>
              <p:cNvPr id="105481" name="对象 105480"/>
              <p:cNvGraphicFramePr/>
              <p:nvPr/>
            </p:nvGraphicFramePr>
            <p:xfrm>
              <a:off x="3902" y="1254"/>
              <a:ext cx="408" cy="349"/>
            </p:xfrm>
            <a:graphic>
              <a:graphicData uri="http://schemas.openxmlformats.org/presentationml/2006/ole">
                <mc:AlternateContent xmlns:mc="http://schemas.openxmlformats.org/markup-compatibility/2006">
                  <mc:Choice xmlns:v="urn:schemas-microsoft-com:vml" Requires="v">
                    <p:oleObj spid="_x0000_s3143" name="" r:id="rId6" imgW="507365" imgH="405765" progId="Equation.3">
                      <p:embed/>
                    </p:oleObj>
                  </mc:Choice>
                  <mc:Fallback>
                    <p:oleObj name="" r:id="rId6" imgW="507365" imgH="405765" progId="Equation.3">
                      <p:embed/>
                      <p:pic>
                        <p:nvPicPr>
                          <p:cNvPr id="0" name="图片 3142"/>
                          <p:cNvPicPr/>
                          <p:nvPr/>
                        </p:nvPicPr>
                        <p:blipFill>
                          <a:blip r:embed="rId7"/>
                          <a:stretch>
                            <a:fillRect/>
                          </a:stretch>
                        </p:blipFill>
                        <p:spPr>
                          <a:xfrm>
                            <a:off x="3902" y="1254"/>
                            <a:ext cx="408" cy="349"/>
                          </a:xfrm>
                          <a:prstGeom prst="rect">
                            <a:avLst/>
                          </a:prstGeom>
                          <a:noFill/>
                          <a:ln w="38100">
                            <a:noFill/>
                            <a:miter/>
                          </a:ln>
                        </p:spPr>
                      </p:pic>
                    </p:oleObj>
                  </mc:Fallback>
                </mc:AlternateContent>
              </a:graphicData>
            </a:graphic>
          </p:graphicFrame>
          <p:graphicFrame>
            <p:nvGraphicFramePr>
              <p:cNvPr id="105482" name="对象 105481"/>
              <p:cNvGraphicFramePr/>
              <p:nvPr/>
            </p:nvGraphicFramePr>
            <p:xfrm>
              <a:off x="3256" y="1278"/>
              <a:ext cx="342" cy="352"/>
            </p:xfrm>
            <a:graphic>
              <a:graphicData uri="http://schemas.openxmlformats.org/presentationml/2006/ole">
                <mc:AlternateContent xmlns:mc="http://schemas.openxmlformats.org/markup-compatibility/2006">
                  <mc:Choice xmlns:v="urn:schemas-microsoft-com:vml" Requires="v">
                    <p:oleObj spid="_x0000_s3144" name="" r:id="rId8" imgW="507365" imgH="405765" progId="Equation.3">
                      <p:embed/>
                    </p:oleObj>
                  </mc:Choice>
                  <mc:Fallback>
                    <p:oleObj name="" r:id="rId8" imgW="507365" imgH="405765" progId="Equation.3">
                      <p:embed/>
                      <p:pic>
                        <p:nvPicPr>
                          <p:cNvPr id="0" name="图片 3143"/>
                          <p:cNvPicPr/>
                          <p:nvPr/>
                        </p:nvPicPr>
                        <p:blipFill>
                          <a:blip r:embed="rId9"/>
                          <a:stretch>
                            <a:fillRect/>
                          </a:stretch>
                        </p:blipFill>
                        <p:spPr>
                          <a:xfrm>
                            <a:off x="3256" y="1278"/>
                            <a:ext cx="342" cy="352"/>
                          </a:xfrm>
                          <a:prstGeom prst="rect">
                            <a:avLst/>
                          </a:prstGeom>
                          <a:noFill/>
                          <a:ln w="38100">
                            <a:noFill/>
                            <a:miter/>
                          </a:ln>
                        </p:spPr>
                      </p:pic>
                    </p:oleObj>
                  </mc:Fallback>
                </mc:AlternateContent>
              </a:graphicData>
            </a:graphic>
          </p:graphicFrame>
        </p:grpSp>
      </p:grpSp>
      <p:grpSp>
        <p:nvGrpSpPr>
          <p:cNvPr id="105621" name="组合 105620"/>
          <p:cNvGrpSpPr/>
          <p:nvPr/>
        </p:nvGrpSpPr>
        <p:grpSpPr>
          <a:xfrm>
            <a:off x="2538413" y="6103938"/>
            <a:ext cx="4900612" cy="738187"/>
            <a:chOff x="133" y="3855"/>
            <a:chExt cx="2898" cy="465"/>
          </a:xfrm>
        </p:grpSpPr>
        <p:sp>
          <p:nvSpPr>
            <p:cNvPr id="105622" name="矩形 105621"/>
            <p:cNvSpPr/>
            <p:nvPr/>
          </p:nvSpPr>
          <p:spPr>
            <a:xfrm>
              <a:off x="133" y="3855"/>
              <a:ext cx="2898" cy="465"/>
            </a:xfrm>
            <a:prstGeom prst="rect">
              <a:avLst/>
            </a:prstGeom>
            <a:solidFill>
              <a:srgbClr val="00FF99"/>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nvGrpSpPr>
            <p:cNvPr id="105623" name="组合 105622"/>
            <p:cNvGrpSpPr/>
            <p:nvPr/>
          </p:nvGrpSpPr>
          <p:grpSpPr>
            <a:xfrm>
              <a:off x="150" y="3896"/>
              <a:ext cx="2823" cy="424"/>
              <a:chOff x="3093" y="923"/>
              <a:chExt cx="2823" cy="424"/>
            </a:xfrm>
          </p:grpSpPr>
          <p:sp>
            <p:nvSpPr>
              <p:cNvPr id="105624" name="矩形 105623"/>
              <p:cNvSpPr/>
              <p:nvPr/>
            </p:nvSpPr>
            <p:spPr>
              <a:xfrm>
                <a:off x="5461" y="923"/>
                <a:ext cx="455" cy="424"/>
              </a:xfrm>
              <a:prstGeom prst="rect">
                <a:avLst/>
              </a:prstGeom>
              <a:noFill/>
              <a:ln w="38100">
                <a:noFill/>
              </a:ln>
            </p:spPr>
            <p:txBody>
              <a:bodyPr anchor="ctr" anchorCtr="0"/>
              <a:p>
                <a:pPr algn="ctr" defTabSz="914400">
                  <a:tabLst>
                    <a:tab pos="5221605" algn="r"/>
                  </a:tabLst>
                </a:pPr>
                <a:r>
                  <a:rPr lang="zh-CN" altLang="en-US" sz="2000" b="1" dirty="0">
                    <a:solidFill>
                      <a:srgbClr val="000099"/>
                    </a:solidFill>
                    <a:latin typeface="Times New Roman" panose="02020603050405020304" charset="0"/>
                    <a:ea typeface="楷体" panose="02010609060101010101" charset="-122"/>
                  </a:rPr>
                  <a:t>截止</a:t>
                </a:r>
                <a:endParaRPr lang="zh-CN" altLang="en-US" sz="2000" b="1" dirty="0">
                  <a:solidFill>
                    <a:srgbClr val="000099"/>
                  </a:solidFill>
                  <a:latin typeface="Times New Roman" panose="02020603050405020304" charset="0"/>
                  <a:ea typeface="楷体" panose="02010609060101010101" charset="-122"/>
                </a:endParaRPr>
              </a:p>
            </p:txBody>
          </p:sp>
          <p:sp>
            <p:nvSpPr>
              <p:cNvPr id="105625" name="矩形 105624"/>
              <p:cNvSpPr/>
              <p:nvPr/>
            </p:nvSpPr>
            <p:spPr>
              <a:xfrm>
                <a:off x="5009" y="923"/>
                <a:ext cx="452" cy="424"/>
              </a:xfrm>
              <a:prstGeom prst="rect">
                <a:avLst/>
              </a:prstGeom>
              <a:noFill/>
              <a:ln w="38100">
                <a:noFill/>
              </a:ln>
            </p:spPr>
            <p:txBody>
              <a:bodyPr anchor="ctr" anchorCtr="0"/>
              <a:p>
                <a:pPr algn="ctr" defTabSz="914400">
                  <a:tabLst>
                    <a:tab pos="5221605" algn="r"/>
                  </a:tabLst>
                </a:pPr>
                <a:r>
                  <a:rPr lang="en-US" altLang="zh-CN" sz="2000" b="1">
                    <a:solidFill>
                      <a:srgbClr val="FF0000"/>
                    </a:solidFill>
                    <a:latin typeface="Times New Roman" panose="02020603050405020304" charset="0"/>
                    <a:ea typeface="楷体" panose="02010609060101010101" charset="-122"/>
                    <a:cs typeface="Times New Roman" panose="02020603050405020304" charset="0"/>
                  </a:rPr>
                  <a:t>1</a:t>
                </a:r>
                <a:endParaRPr lang="en-US" altLang="zh-CN" sz="2000" b="1">
                  <a:solidFill>
                    <a:srgbClr val="FF0000"/>
                  </a:solidFill>
                  <a:latin typeface="Times New Roman" panose="02020603050405020304" charset="0"/>
                  <a:ea typeface="楷体" panose="02010609060101010101" charset="-122"/>
                  <a:cs typeface="Times New Roman" panose="02020603050405020304" charset="0"/>
                </a:endParaRPr>
              </a:p>
            </p:txBody>
          </p:sp>
          <p:sp>
            <p:nvSpPr>
              <p:cNvPr id="105626" name="矩形 105625"/>
              <p:cNvSpPr/>
              <p:nvPr/>
            </p:nvSpPr>
            <p:spPr>
              <a:xfrm>
                <a:off x="4449" y="923"/>
                <a:ext cx="560" cy="424"/>
              </a:xfrm>
              <a:prstGeom prst="rect">
                <a:avLst/>
              </a:prstGeom>
              <a:noFill/>
              <a:ln w="38100">
                <a:noFill/>
              </a:ln>
            </p:spPr>
            <p:txBody>
              <a:bodyPr anchor="ctr" anchorCtr="0"/>
              <a:p>
                <a:pPr algn="ctr" defTabSz="914400">
                  <a:tabLst>
                    <a:tab pos="5221605" algn="r"/>
                  </a:tabLst>
                </a:pPr>
                <a:r>
                  <a:rPr lang="en-US" altLang="zh-CN" sz="2000" b="1">
                    <a:solidFill>
                      <a:srgbClr val="000099"/>
                    </a:solidFill>
                    <a:latin typeface="Times New Roman" panose="02020603050405020304" charset="0"/>
                    <a:ea typeface="楷体" panose="02010609060101010101" charset="-122"/>
                    <a:cs typeface="Times New Roman" panose="02020603050405020304" charset="0"/>
                  </a:rPr>
                  <a:t>1</a:t>
                </a:r>
                <a:endParaRPr lang="en-US" altLang="zh-CN" sz="20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105627" name="矩形 105626"/>
              <p:cNvSpPr/>
              <p:nvPr/>
            </p:nvSpPr>
            <p:spPr>
              <a:xfrm>
                <a:off x="3798" y="923"/>
                <a:ext cx="651" cy="424"/>
              </a:xfrm>
              <a:prstGeom prst="rect">
                <a:avLst/>
              </a:prstGeom>
              <a:noFill/>
              <a:ln w="38100">
                <a:noFill/>
              </a:ln>
            </p:spPr>
            <p:txBody>
              <a:bodyPr anchor="ctr" anchorCtr="0"/>
              <a:lstStyle>
                <a:lvl1pPr marL="46990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sz="2600" u="none" kern="1200" baseline="0">
                    <a:solidFill>
                      <a:schemeClr val="tx1"/>
                    </a:solidFill>
                    <a:latin typeface="Verdana" panose="020B0604030504040204" pitchFamily="34" charset="0"/>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200" b="0" i="0" u="none" kern="1200" baseline="0">
                    <a:solidFill>
                      <a:schemeClr val="tx1"/>
                    </a:solidFill>
                    <a:latin typeface="Verdana" panose="020B0604030504040204" pitchFamily="34" charset="0"/>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sz="2100" b="0" i="0" u="none" kern="1200" baseline="0">
                    <a:solidFill>
                      <a:schemeClr val="tx1"/>
                    </a:solidFill>
                    <a:latin typeface="Verdana" panose="020B0604030504040204" pitchFamily="34" charset="0"/>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1800" b="0" i="0" u="none" kern="1200" baseline="0">
                    <a:solidFill>
                      <a:schemeClr val="tx1"/>
                    </a:solidFill>
                    <a:latin typeface="Verdana" panose="020B0604030504040204" pitchFamily="34" charset="0"/>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1800" b="0" i="0" u="none" kern="1200" baseline="0">
                    <a:solidFill>
                      <a:schemeClr val="tx1"/>
                    </a:solidFill>
                    <a:latin typeface="Verdana" panose="020B0604030504040204" pitchFamily="34" charset="0"/>
                  </a:defRPr>
                </a:lvl5pPr>
              </a:lstStyle>
              <a:p>
                <a:pPr marL="0" lvl="0" indent="0">
                  <a:buNone/>
                </a:pPr>
                <a:endParaRPr lang="en-GB" altLang="x-none" sz="4800">
                  <a:latin typeface="Times New Roman" panose="02020603050405020304" charset="0"/>
                  <a:ea typeface="楷体" panose="02010609060101010101" charset="-122"/>
                  <a:cs typeface="Times New Roman" panose="02020603050405020304" charset="0"/>
                </a:endParaRPr>
              </a:p>
            </p:txBody>
          </p:sp>
          <p:sp>
            <p:nvSpPr>
              <p:cNvPr id="105628" name="矩形 105627"/>
              <p:cNvSpPr/>
              <p:nvPr/>
            </p:nvSpPr>
            <p:spPr>
              <a:xfrm>
                <a:off x="3093" y="923"/>
                <a:ext cx="705" cy="424"/>
              </a:xfrm>
              <a:prstGeom prst="rect">
                <a:avLst/>
              </a:prstGeom>
              <a:noFill/>
              <a:ln w="38100">
                <a:noFill/>
              </a:ln>
            </p:spPr>
            <p:txBody>
              <a:bodyPr anchor="ctr" anchorCtr="0"/>
              <a:lstStyle>
                <a:lvl1pPr marL="46990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sz="2600" u="none" kern="1200" baseline="0">
                    <a:solidFill>
                      <a:schemeClr val="tx1"/>
                    </a:solidFill>
                    <a:latin typeface="Verdana" panose="020B0604030504040204" pitchFamily="34" charset="0"/>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200" b="0" i="0" u="none" kern="1200" baseline="0">
                    <a:solidFill>
                      <a:schemeClr val="tx1"/>
                    </a:solidFill>
                    <a:latin typeface="Verdana" panose="020B0604030504040204" pitchFamily="34" charset="0"/>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sz="2100" b="0" i="0" u="none" kern="1200" baseline="0">
                    <a:solidFill>
                      <a:schemeClr val="tx1"/>
                    </a:solidFill>
                    <a:latin typeface="Verdana" panose="020B0604030504040204" pitchFamily="34" charset="0"/>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1800" b="0" i="0" u="none" kern="1200" baseline="0">
                    <a:solidFill>
                      <a:schemeClr val="tx1"/>
                    </a:solidFill>
                    <a:latin typeface="Verdana" panose="020B0604030504040204" pitchFamily="34" charset="0"/>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1800" b="0" i="0" u="none" kern="1200" baseline="0">
                    <a:solidFill>
                      <a:schemeClr val="tx1"/>
                    </a:solidFill>
                    <a:latin typeface="Verdana" panose="020B0604030504040204" pitchFamily="34" charset="0"/>
                  </a:defRPr>
                </a:lvl5pPr>
              </a:lstStyle>
              <a:p>
                <a:pPr marL="0" lvl="0" indent="0">
                  <a:buNone/>
                </a:pPr>
                <a:endParaRPr lang="en-GB" altLang="x-none" sz="4800">
                  <a:latin typeface="Times New Roman" panose="02020603050405020304" charset="0"/>
                  <a:ea typeface="楷体" panose="02010609060101010101" charset="-122"/>
                  <a:cs typeface="Times New Roman" panose="02020603050405020304" charset="0"/>
                </a:endParaRPr>
              </a:p>
            </p:txBody>
          </p:sp>
          <p:sp>
            <p:nvSpPr>
              <p:cNvPr id="105629" name="直接连接符 105628"/>
              <p:cNvSpPr/>
              <p:nvPr/>
            </p:nvSpPr>
            <p:spPr>
              <a:xfrm>
                <a:off x="3093" y="1295"/>
                <a:ext cx="2823" cy="0"/>
              </a:xfrm>
              <a:prstGeom prst="line">
                <a:avLst/>
              </a:prstGeom>
              <a:ln w="19050" cap="rnd" cmpd="sng">
                <a:solidFill>
                  <a:srgbClr val="000000"/>
                </a:solidFill>
                <a:prstDash val="solid"/>
                <a:headEnd type="none" w="med" len="med"/>
                <a:tailEnd type="none" w="med" len="med"/>
              </a:ln>
            </p:spPr>
          </p:sp>
          <p:graphicFrame>
            <p:nvGraphicFramePr>
              <p:cNvPr id="105630" name="对象 105629"/>
              <p:cNvGraphicFramePr/>
              <p:nvPr/>
            </p:nvGraphicFramePr>
            <p:xfrm>
              <a:off x="3902" y="945"/>
              <a:ext cx="408" cy="350"/>
            </p:xfrm>
            <a:graphic>
              <a:graphicData uri="http://schemas.openxmlformats.org/presentationml/2006/ole">
                <mc:AlternateContent xmlns:mc="http://schemas.openxmlformats.org/markup-compatibility/2006">
                  <mc:Choice xmlns:v="urn:schemas-microsoft-com:vml" Requires="v">
                    <p:oleObj spid="_x0000_s3146" name="" r:id="rId10" imgW="507365" imgH="405765" progId="Equation.3">
                      <p:embed/>
                    </p:oleObj>
                  </mc:Choice>
                  <mc:Fallback>
                    <p:oleObj name="" r:id="rId10" imgW="507365" imgH="405765" progId="Equation.3">
                      <p:embed/>
                      <p:pic>
                        <p:nvPicPr>
                          <p:cNvPr id="0" name="图片 3145"/>
                          <p:cNvPicPr/>
                          <p:nvPr/>
                        </p:nvPicPr>
                        <p:blipFill>
                          <a:blip r:embed="rId11"/>
                          <a:stretch>
                            <a:fillRect/>
                          </a:stretch>
                        </p:blipFill>
                        <p:spPr>
                          <a:xfrm>
                            <a:off x="3902" y="945"/>
                            <a:ext cx="408" cy="350"/>
                          </a:xfrm>
                          <a:prstGeom prst="rect">
                            <a:avLst/>
                          </a:prstGeom>
                          <a:noFill/>
                          <a:ln w="38100">
                            <a:noFill/>
                            <a:miter/>
                          </a:ln>
                        </p:spPr>
                      </p:pic>
                    </p:oleObj>
                  </mc:Fallback>
                </mc:AlternateContent>
              </a:graphicData>
            </a:graphic>
          </p:graphicFrame>
          <p:graphicFrame>
            <p:nvGraphicFramePr>
              <p:cNvPr id="105631" name="对象 105630"/>
              <p:cNvGraphicFramePr/>
              <p:nvPr/>
            </p:nvGraphicFramePr>
            <p:xfrm>
              <a:off x="3256" y="943"/>
              <a:ext cx="342" cy="352"/>
            </p:xfrm>
            <a:graphic>
              <a:graphicData uri="http://schemas.openxmlformats.org/presentationml/2006/ole">
                <mc:AlternateContent xmlns:mc="http://schemas.openxmlformats.org/markup-compatibility/2006">
                  <mc:Choice xmlns:v="urn:schemas-microsoft-com:vml" Requires="v">
                    <p:oleObj spid="_x0000_s3145" name="" r:id="rId12" imgW="507365" imgH="405765" progId="Equation.3">
                      <p:embed/>
                    </p:oleObj>
                  </mc:Choice>
                  <mc:Fallback>
                    <p:oleObj name="" r:id="rId12" imgW="507365" imgH="405765" progId="Equation.3">
                      <p:embed/>
                      <p:pic>
                        <p:nvPicPr>
                          <p:cNvPr id="0" name="图片 3144"/>
                          <p:cNvPicPr/>
                          <p:nvPr/>
                        </p:nvPicPr>
                        <p:blipFill>
                          <a:blip r:embed="rId13"/>
                          <a:stretch>
                            <a:fillRect/>
                          </a:stretch>
                        </p:blipFill>
                        <p:spPr>
                          <a:xfrm>
                            <a:off x="3256" y="943"/>
                            <a:ext cx="342" cy="352"/>
                          </a:xfrm>
                          <a:prstGeom prst="rect">
                            <a:avLst/>
                          </a:prstGeom>
                          <a:noFill/>
                          <a:ln w="38100">
                            <a:noFill/>
                            <a:miter/>
                          </a:ln>
                        </p:spPr>
                      </p:pic>
                    </p:oleObj>
                  </mc:Fallback>
                </mc:AlternateContent>
              </a:graphicData>
            </a:graphic>
          </p:graphicFrame>
        </p:grpSp>
      </p:grpSp>
      <p:sp>
        <p:nvSpPr>
          <p:cNvPr id="105967" name="矩形 105966"/>
          <p:cNvSpPr/>
          <p:nvPr/>
        </p:nvSpPr>
        <p:spPr>
          <a:xfrm>
            <a:off x="368300" y="1056005"/>
            <a:ext cx="4486275" cy="396875"/>
          </a:xfrm>
          <a:prstGeom prst="rect">
            <a:avLst/>
          </a:prstGeom>
          <a:noFill/>
          <a:ln w="9525">
            <a:noFill/>
          </a:ln>
        </p:spPr>
        <p:txBody>
          <a:bodyPr>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电容充电时间常数</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R</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1</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R</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C</a:t>
            </a:r>
            <a:endPar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
        <p:nvSpPr>
          <p:cNvPr id="105968" name="矩形 105967"/>
          <p:cNvSpPr/>
          <p:nvPr/>
        </p:nvSpPr>
        <p:spPr>
          <a:xfrm>
            <a:off x="338455" y="1927225"/>
            <a:ext cx="4486275" cy="398780"/>
          </a:xfrm>
          <a:prstGeom prst="rect">
            <a:avLst/>
          </a:prstGeom>
          <a:noFill/>
          <a:ln w="9525">
            <a:noFill/>
          </a:ln>
        </p:spPr>
        <p:txBody>
          <a:bodyPr>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电容</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放电时间常数</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R</a:t>
            </a:r>
            <a:r>
              <a:rPr lang="en-US" altLang="zh-CN" sz="2000" b="1" baseline="-2500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2</a:t>
            </a:r>
            <a:r>
              <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C</a:t>
            </a:r>
            <a:endParaRPr lang="en-US" altLang="zh-CN" sz="2000" b="1" i="1">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5884"/>
                                        </p:tgtEl>
                                        <p:attrNameLst>
                                          <p:attrName>style.visibility</p:attrName>
                                        </p:attrNameLst>
                                      </p:cBhvr>
                                      <p:to>
                                        <p:strVal val="visible"/>
                                      </p:to>
                                    </p:set>
                                    <p:animEffect transition="in" filter="wipe(up)">
                                      <p:cBhvr>
                                        <p:cTn id="7" dur="500"/>
                                        <p:tgtEl>
                                          <p:spTgt spid="1058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5557"/>
                                        </p:tgtEl>
                                        <p:attrNameLst>
                                          <p:attrName>style.visibility</p:attrName>
                                        </p:attrNameLst>
                                      </p:cBhvr>
                                      <p:to>
                                        <p:strVal val="visible"/>
                                      </p:to>
                                    </p:set>
                                    <p:animEffect transition="in" filter="wipe(up)">
                                      <p:cBhvr>
                                        <p:cTn id="12" dur="500"/>
                                        <p:tgtEl>
                                          <p:spTgt spid="1055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5558"/>
                                        </p:tgtEl>
                                        <p:attrNameLst>
                                          <p:attrName>style.visibility</p:attrName>
                                        </p:attrNameLst>
                                      </p:cBhvr>
                                      <p:to>
                                        <p:strVal val="visible"/>
                                      </p:to>
                                    </p:set>
                                    <p:animEffect transition="in" filter="wipe(up)">
                                      <p:cBhvr>
                                        <p:cTn id="17" dur="500"/>
                                        <p:tgtEl>
                                          <p:spTgt spid="1055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5559"/>
                                        </p:tgtEl>
                                        <p:attrNameLst>
                                          <p:attrName>style.visibility</p:attrName>
                                        </p:attrNameLst>
                                      </p:cBhvr>
                                      <p:to>
                                        <p:strVal val="visible"/>
                                      </p:to>
                                    </p:set>
                                    <p:animEffect transition="in" filter="wipe(up)">
                                      <p:cBhvr>
                                        <p:cTn id="22" dur="500"/>
                                        <p:tgtEl>
                                          <p:spTgt spid="10555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05560"/>
                                        </p:tgtEl>
                                        <p:attrNameLst>
                                          <p:attrName>style.visibility</p:attrName>
                                        </p:attrNameLst>
                                      </p:cBhvr>
                                      <p:to>
                                        <p:strVal val="visible"/>
                                      </p:to>
                                    </p:set>
                                    <p:animEffect transition="in" filter="strips(downLeft)">
                                      <p:cBhvr>
                                        <p:cTn id="27" dur="500"/>
                                        <p:tgtEl>
                                          <p:spTgt spid="105560"/>
                                        </p:tgtEl>
                                      </p:cBhvr>
                                    </p:animEffect>
                                  </p:childTnLst>
                                  <p:subTnLst>
                                    <p:set>
                                      <p:cBhvr override="childStyle">
                                        <p:cTn dur="1" fill="hold" display="0" masterRel="nextClick" afterEffect="1"/>
                                        <p:tgtEl>
                                          <p:spTgt spid="105560"/>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05544"/>
                                        </p:tgtEl>
                                        <p:attrNameLst>
                                          <p:attrName>style.visibility</p:attrName>
                                        </p:attrNameLst>
                                      </p:cBhvr>
                                      <p:to>
                                        <p:strVal val="visible"/>
                                      </p:to>
                                    </p:set>
                                    <p:animEffect transition="in" filter="strips(upRight)">
                                      <p:cBhvr>
                                        <p:cTn id="32" dur="500"/>
                                        <p:tgtEl>
                                          <p:spTgt spid="105544"/>
                                        </p:tgtEl>
                                      </p:cBhvr>
                                    </p:animEffect>
                                  </p:childTnLst>
                                  <p:subTnLst>
                                    <p:set>
                                      <p:cBhvr override="childStyle">
                                        <p:cTn dur="1" fill="hold" display="0" masterRel="nextClick" afterEffect="1"/>
                                        <p:tgtEl>
                                          <p:spTgt spid="10554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05563"/>
                                        </p:tgtEl>
                                        <p:attrNameLst>
                                          <p:attrName>style.visibility</p:attrName>
                                        </p:attrNameLst>
                                      </p:cBhvr>
                                      <p:to>
                                        <p:strVal val="visible"/>
                                      </p:to>
                                    </p:set>
                                    <p:animEffect transition="in" filter="wipe(up)">
                                      <p:cBhvr>
                                        <p:cTn id="37" dur="500"/>
                                        <p:tgtEl>
                                          <p:spTgt spid="1055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05474"/>
                                        </p:tgtEl>
                                        <p:attrNameLst>
                                          <p:attrName>style.visibility</p:attrName>
                                        </p:attrNameLst>
                                      </p:cBhvr>
                                      <p:to>
                                        <p:strVal val="visible"/>
                                      </p:to>
                                    </p:set>
                                    <p:animEffect transition="in" filter="wipe(up)">
                                      <p:cBhvr>
                                        <p:cTn id="42" dur="500"/>
                                        <p:tgtEl>
                                          <p:spTgt spid="10547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05633"/>
                                        </p:tgtEl>
                                        <p:attrNameLst>
                                          <p:attrName>style.visibility</p:attrName>
                                        </p:attrNameLst>
                                      </p:cBhvr>
                                      <p:to>
                                        <p:strVal val="visible"/>
                                      </p:to>
                                    </p:set>
                                    <p:animEffect transition="in" filter="wipe(up)">
                                      <p:cBhvr>
                                        <p:cTn id="47" dur="500"/>
                                        <p:tgtEl>
                                          <p:spTgt spid="10563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05885"/>
                                        </p:tgtEl>
                                        <p:attrNameLst>
                                          <p:attrName>style.visibility</p:attrName>
                                        </p:attrNameLst>
                                      </p:cBhvr>
                                      <p:to>
                                        <p:strVal val="visible"/>
                                      </p:to>
                                    </p:set>
                                    <p:animEffect transition="in" filter="strips(downRight)">
                                      <p:cBhvr>
                                        <p:cTn id="52" dur="500"/>
                                        <p:tgtEl>
                                          <p:spTgt spid="105885"/>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05967"/>
                                        </p:tgtEl>
                                        <p:attrNameLst>
                                          <p:attrName>style.visibility</p:attrName>
                                        </p:attrNameLst>
                                      </p:cBhvr>
                                      <p:to>
                                        <p:strVal val="visible"/>
                                      </p:to>
                                    </p:set>
                                    <p:animEffect transition="in" filter="strips(downRight)">
                                      <p:cBhvr>
                                        <p:cTn id="57" dur="500"/>
                                        <p:tgtEl>
                                          <p:spTgt spid="10596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05632"/>
                                        </p:tgtEl>
                                        <p:attrNameLst>
                                          <p:attrName>style.visibility</p:attrName>
                                        </p:attrNameLst>
                                      </p:cBhvr>
                                      <p:to>
                                        <p:strVal val="visible"/>
                                      </p:to>
                                    </p:set>
                                    <p:animEffect transition="in" filter="wipe(up)">
                                      <p:cBhvr>
                                        <p:cTn id="62" dur="500"/>
                                        <p:tgtEl>
                                          <p:spTgt spid="1056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05672"/>
                                        </p:tgtEl>
                                        <p:attrNameLst>
                                          <p:attrName>style.visibility</p:attrName>
                                        </p:attrNameLst>
                                      </p:cBhvr>
                                      <p:to>
                                        <p:strVal val="visible"/>
                                      </p:to>
                                    </p:set>
                                    <p:animEffect transition="in" filter="wipe(up)">
                                      <p:cBhvr>
                                        <p:cTn id="67" dur="500"/>
                                        <p:tgtEl>
                                          <p:spTgt spid="10567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105675"/>
                                        </p:tgtEl>
                                        <p:attrNameLst>
                                          <p:attrName>style.visibility</p:attrName>
                                        </p:attrNameLst>
                                      </p:cBhvr>
                                      <p:to>
                                        <p:strVal val="visible"/>
                                      </p:to>
                                    </p:set>
                                    <p:animEffect transition="in" filter="wipe(up)">
                                      <p:cBhvr>
                                        <p:cTn id="72" dur="500"/>
                                        <p:tgtEl>
                                          <p:spTgt spid="105675"/>
                                        </p:tgtEl>
                                      </p:cBhvr>
                                    </p:animEffect>
                                  </p:childTnLst>
                                  <p:subTnLst>
                                    <p:set>
                                      <p:cBhvr override="childStyle">
                                        <p:cTn dur="1" fill="hold" display="0" masterRel="nextClick" afterEffect="1"/>
                                        <p:tgtEl>
                                          <p:spTgt spid="105675"/>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05605"/>
                                        </p:tgtEl>
                                        <p:attrNameLst>
                                          <p:attrName>style.visibility</p:attrName>
                                        </p:attrNameLst>
                                      </p:cBhvr>
                                      <p:to>
                                        <p:strVal val="visible"/>
                                      </p:to>
                                    </p:set>
                                    <p:animEffect transition="in" filter="wipe(up)">
                                      <p:cBhvr>
                                        <p:cTn id="77" dur="500"/>
                                        <p:tgtEl>
                                          <p:spTgt spid="10560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105621"/>
                                        </p:tgtEl>
                                        <p:attrNameLst>
                                          <p:attrName>style.visibility</p:attrName>
                                        </p:attrNameLst>
                                      </p:cBhvr>
                                      <p:to>
                                        <p:strVal val="visible"/>
                                      </p:to>
                                    </p:set>
                                    <p:animEffect transition="in" filter="wipe(up)">
                                      <p:cBhvr>
                                        <p:cTn id="82" dur="500"/>
                                        <p:tgtEl>
                                          <p:spTgt spid="10562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105671"/>
                                        </p:tgtEl>
                                        <p:attrNameLst>
                                          <p:attrName>style.visibility</p:attrName>
                                        </p:attrNameLst>
                                      </p:cBhvr>
                                      <p:to>
                                        <p:strVal val="visible"/>
                                      </p:to>
                                    </p:set>
                                    <p:animEffect transition="in" filter="wipe(up)">
                                      <p:cBhvr>
                                        <p:cTn id="87" dur="500"/>
                                        <p:tgtEl>
                                          <p:spTgt spid="105671"/>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6" fill="hold" grpId="0" nodeType="clickEffect">
                                  <p:stCondLst>
                                    <p:cond delay="0"/>
                                  </p:stCondLst>
                                  <p:childTnLst>
                                    <p:set>
                                      <p:cBhvr>
                                        <p:cTn id="91" dur="1" fill="hold">
                                          <p:stCondLst>
                                            <p:cond delay="0"/>
                                          </p:stCondLst>
                                        </p:cTn>
                                        <p:tgtEl>
                                          <p:spTgt spid="105961"/>
                                        </p:tgtEl>
                                        <p:attrNameLst>
                                          <p:attrName>style.visibility</p:attrName>
                                        </p:attrNameLst>
                                      </p:cBhvr>
                                      <p:to>
                                        <p:strVal val="visible"/>
                                      </p:to>
                                    </p:set>
                                    <p:animEffect transition="in" filter="strips(downRight)">
                                      <p:cBhvr>
                                        <p:cTn id="92" dur="500"/>
                                        <p:tgtEl>
                                          <p:spTgt spid="105961"/>
                                        </p:tgtEl>
                                      </p:cBhvr>
                                    </p:animEffect>
                                  </p:childTnLst>
                                </p:cTn>
                              </p:par>
                            </p:childTnLst>
                          </p:cTn>
                        </p:par>
                      </p:childTnLst>
                    </p:cTn>
                  </p:par>
                  <p:par>
                    <p:cTn id="93" fill="hold">
                      <p:stCondLst>
                        <p:cond delay="indefinite"/>
                      </p:stCondLst>
                      <p:childTnLst>
                        <p:par>
                          <p:cTn id="94" fill="hold">
                            <p:stCondLst>
                              <p:cond delay="0"/>
                            </p:stCondLst>
                            <p:childTnLst>
                              <p:par>
                                <p:cTn id="95" presetID="18" presetClass="entr" presetSubtype="6" fill="hold" grpId="0" nodeType="clickEffect">
                                  <p:stCondLst>
                                    <p:cond delay="0"/>
                                  </p:stCondLst>
                                  <p:childTnLst>
                                    <p:set>
                                      <p:cBhvr>
                                        <p:cTn id="96" dur="1" fill="hold">
                                          <p:stCondLst>
                                            <p:cond delay="0"/>
                                          </p:stCondLst>
                                        </p:cTn>
                                        <p:tgtEl>
                                          <p:spTgt spid="105968"/>
                                        </p:tgtEl>
                                        <p:attrNameLst>
                                          <p:attrName>style.visibility</p:attrName>
                                        </p:attrNameLst>
                                      </p:cBhvr>
                                      <p:to>
                                        <p:strVal val="visible"/>
                                      </p:to>
                                    </p:set>
                                    <p:animEffect transition="in" filter="strips(downRight)">
                                      <p:cBhvr>
                                        <p:cTn id="97" dur="500"/>
                                        <p:tgtEl>
                                          <p:spTgt spid="10596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105670"/>
                                        </p:tgtEl>
                                        <p:attrNameLst>
                                          <p:attrName>style.visibility</p:attrName>
                                        </p:attrNameLst>
                                      </p:cBhvr>
                                      <p:to>
                                        <p:strVal val="visible"/>
                                      </p:to>
                                    </p:set>
                                    <p:animEffect transition="in" filter="wipe(up)">
                                      <p:cBhvr>
                                        <p:cTn id="102" dur="500"/>
                                        <p:tgtEl>
                                          <p:spTgt spid="105670"/>
                                        </p:tgtEl>
                                      </p:cBhvr>
                                    </p:animEffect>
                                  </p:childTnLst>
                                </p:cTn>
                              </p:par>
                            </p:childTnLst>
                          </p:cTn>
                        </p:par>
                      </p:childTnLst>
                    </p:cTn>
                  </p:par>
                  <p:par>
                    <p:cTn id="103" fill="hold">
                      <p:stCondLst>
                        <p:cond delay="indefinite"/>
                      </p:stCondLst>
                      <p:childTnLst>
                        <p:par>
                          <p:cTn id="104" fill="hold">
                            <p:stCondLst>
                              <p:cond delay="0"/>
                            </p:stCondLst>
                            <p:childTnLst>
                              <p:par>
                                <p:cTn id="105" presetID="18" presetClass="entr" presetSubtype="12" fill="hold" nodeType="clickEffect">
                                  <p:stCondLst>
                                    <p:cond delay="0"/>
                                  </p:stCondLst>
                                  <p:childTnLst>
                                    <p:set>
                                      <p:cBhvr>
                                        <p:cTn id="106" dur="1" fill="hold">
                                          <p:stCondLst>
                                            <p:cond delay="0"/>
                                          </p:stCondLst>
                                        </p:cTn>
                                        <p:tgtEl>
                                          <p:spTgt spid="105635"/>
                                        </p:tgtEl>
                                        <p:attrNameLst>
                                          <p:attrName>style.visibility</p:attrName>
                                        </p:attrNameLst>
                                      </p:cBhvr>
                                      <p:to>
                                        <p:strVal val="visible"/>
                                      </p:to>
                                    </p:set>
                                    <p:animEffect transition="in" filter="strips(downLeft)">
                                      <p:cBhvr>
                                        <p:cTn id="107" dur="500"/>
                                        <p:tgtEl>
                                          <p:spTgt spid="105635"/>
                                        </p:tgtEl>
                                      </p:cBhvr>
                                    </p:animEffect>
                                  </p:childTnLst>
                                  <p:subTnLst>
                                    <p:set>
                                      <p:cBhvr override="childStyle">
                                        <p:cTn dur="1" fill="hold" display="0" masterRel="nextClick" afterEffect="1"/>
                                        <p:tgtEl>
                                          <p:spTgt spid="10563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57" grpId="0" bldLvl="0" animBg="1"/>
      <p:bldP spid="105558" grpId="0" bldLvl="0" animBg="1"/>
      <p:bldP spid="105885" grpId="0" bldLvl="0" animBg="1"/>
      <p:bldP spid="105633" grpId="0" bldLvl="0" animBg="1"/>
      <p:bldP spid="105632" grpId="0" bldLvl="0" animBg="1"/>
      <p:bldP spid="105671" grpId="0" bldLvl="0" animBg="1"/>
      <p:bldP spid="105670" grpId="0" bldLvl="0" animBg="1"/>
      <p:bldP spid="105961" grpId="0" bldLvl="0" animBg="1"/>
      <p:bldP spid="105967" grpId="0"/>
      <p:bldP spid="10596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990600" y="1143635"/>
            <a:ext cx="429514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algn="l" eaLnBrk="1" latinLnBrk="0" hangingPunct="1">
              <a:lnSpc>
                <a:spcPct val="120000"/>
              </a:lnSpc>
              <a:spcBef>
                <a:spcPts val="0"/>
              </a:spcBef>
              <a:buSzTx/>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3. </a:t>
            </a:r>
            <a:r>
              <a:rPr lang="en-US" sz="2400" b="1" dirty="0">
                <a:solidFill>
                  <a:srgbClr val="FE09D6"/>
                </a:solidFill>
                <a:latin typeface="Times New Roman" panose="02020603050405020304" charset="0"/>
                <a:ea typeface="楷体" panose="02010609060101010101" charset="-122"/>
                <a:cs typeface="Times New Roman" panose="02020603050405020304" charset="0"/>
                <a:sym typeface="Symbol" panose="05050102010706020507" pitchFamily="18" charset="2"/>
              </a:rPr>
              <a:t>工作波形与振荡频率计算</a:t>
            </a:r>
            <a:endParaRPr 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6393" name="矩形 96392"/>
          <p:cNvSpPr/>
          <p:nvPr/>
        </p:nvSpPr>
        <p:spPr>
          <a:xfrm>
            <a:off x="5759450" y="4872038"/>
            <a:ext cx="123825" cy="274637"/>
          </a:xfrm>
          <a:prstGeom prst="rect">
            <a:avLst/>
          </a:prstGeom>
          <a:noFill/>
          <a:ln w="9525">
            <a:noFill/>
          </a:ln>
        </p:spPr>
        <p:txBody>
          <a:bodyPr wrap="none" lIns="0" tIns="0" rIns="0" bIns="0">
            <a:spAutoFit/>
          </a:bodyPr>
          <a:p>
            <a:pPr>
              <a:spcBef>
                <a:spcPct val="50000"/>
              </a:spcBef>
            </a:pPr>
            <a:r>
              <a:rPr lang="en-US" altLang="zh-CN" b="1" i="1">
                <a:solidFill>
                  <a:srgbClr val="000000"/>
                </a:solidFill>
                <a:latin typeface="Bookman Old Style" panose="02050604050505020204" pitchFamily="18" charset="0"/>
              </a:rPr>
              <a:t>v</a:t>
            </a:r>
            <a:endParaRPr lang="en-US" altLang="zh-CN" sz="2400" b="1">
              <a:solidFill>
                <a:srgbClr val="FF0000"/>
              </a:solidFill>
              <a:latin typeface="Times New Roman" panose="02020603050405020304" charset="0"/>
            </a:endParaRPr>
          </a:p>
        </p:txBody>
      </p:sp>
      <p:sp>
        <p:nvSpPr>
          <p:cNvPr id="96403" name="矩形 96402"/>
          <p:cNvSpPr/>
          <p:nvPr/>
        </p:nvSpPr>
        <p:spPr>
          <a:xfrm>
            <a:off x="5521325" y="3814763"/>
            <a:ext cx="11430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2</a:t>
            </a:r>
            <a:endParaRPr lang="en-US" altLang="zh-CN" sz="2400" b="1">
              <a:solidFill>
                <a:srgbClr val="FF0000"/>
              </a:solidFill>
              <a:latin typeface="Times New Roman" panose="02020603050405020304" charset="0"/>
            </a:endParaRPr>
          </a:p>
        </p:txBody>
      </p:sp>
      <p:sp>
        <p:nvSpPr>
          <p:cNvPr id="96404" name="矩形 96403"/>
          <p:cNvSpPr/>
          <p:nvPr/>
        </p:nvSpPr>
        <p:spPr>
          <a:xfrm>
            <a:off x="5651500" y="3814763"/>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05" name="矩形 96404"/>
          <p:cNvSpPr/>
          <p:nvPr/>
        </p:nvSpPr>
        <p:spPr>
          <a:xfrm>
            <a:off x="5521325" y="4079875"/>
            <a:ext cx="11430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3</a:t>
            </a:r>
            <a:endParaRPr lang="en-US" altLang="zh-CN" sz="2400" b="1">
              <a:solidFill>
                <a:srgbClr val="FF0000"/>
              </a:solidFill>
              <a:latin typeface="Times New Roman" panose="02020603050405020304" charset="0"/>
            </a:endParaRPr>
          </a:p>
        </p:txBody>
      </p:sp>
      <p:sp>
        <p:nvSpPr>
          <p:cNvPr id="96406" name="矩形 96405"/>
          <p:cNvSpPr/>
          <p:nvPr/>
        </p:nvSpPr>
        <p:spPr>
          <a:xfrm>
            <a:off x="5651500" y="4079875"/>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08" name="矩形 96407"/>
          <p:cNvSpPr/>
          <p:nvPr/>
        </p:nvSpPr>
        <p:spPr>
          <a:xfrm>
            <a:off x="5648325" y="3954463"/>
            <a:ext cx="152400" cy="274637"/>
          </a:xfrm>
          <a:prstGeom prst="rect">
            <a:avLst/>
          </a:prstGeom>
          <a:noFill/>
          <a:ln w="9525">
            <a:noFill/>
          </a:ln>
        </p:spPr>
        <p:txBody>
          <a:bodyPr wrap="none" lIns="0" tIns="0" rIns="0" bIns="0">
            <a:spAutoFit/>
          </a:bodyPr>
          <a:p>
            <a:pPr>
              <a:spcBef>
                <a:spcPct val="50000"/>
              </a:spcBef>
            </a:pPr>
            <a:r>
              <a:rPr lang="en-US" altLang="zh-CN" b="1" i="1">
                <a:solidFill>
                  <a:srgbClr val="000000"/>
                </a:solidFill>
                <a:latin typeface="Times New Roman" panose="02020603050405020304" charset="0"/>
              </a:rPr>
              <a:t>V</a:t>
            </a:r>
            <a:endParaRPr lang="en-US" altLang="zh-CN" sz="2400" b="1">
              <a:solidFill>
                <a:srgbClr val="FF0000"/>
              </a:solidFill>
              <a:latin typeface="Times New Roman" panose="02020603050405020304" charset="0"/>
            </a:endParaRPr>
          </a:p>
        </p:txBody>
      </p:sp>
      <p:sp>
        <p:nvSpPr>
          <p:cNvPr id="96409" name="矩形 96408"/>
          <p:cNvSpPr/>
          <p:nvPr/>
        </p:nvSpPr>
        <p:spPr>
          <a:xfrm>
            <a:off x="5816600" y="4125913"/>
            <a:ext cx="219075" cy="182562"/>
          </a:xfrm>
          <a:prstGeom prst="rect">
            <a:avLst/>
          </a:prstGeom>
          <a:noFill/>
          <a:ln w="9525">
            <a:noFill/>
          </a:ln>
        </p:spPr>
        <p:txBody>
          <a:bodyPr wrap="none" lIns="0" tIns="0" rIns="0" bIns="0">
            <a:spAutoFit/>
          </a:bodyPr>
          <a:p>
            <a:pPr>
              <a:spcBef>
                <a:spcPct val="50000"/>
              </a:spcBef>
            </a:pPr>
            <a:r>
              <a:rPr lang="en-US" altLang="zh-CN" sz="1200" b="1">
                <a:solidFill>
                  <a:srgbClr val="000000"/>
                </a:solidFill>
                <a:latin typeface="Times New Roman" panose="02020603050405020304" charset="0"/>
              </a:rPr>
              <a:t>CC</a:t>
            </a:r>
            <a:endParaRPr lang="en-US" altLang="zh-CN" sz="2400" b="1">
              <a:solidFill>
                <a:srgbClr val="FF0000"/>
              </a:solidFill>
              <a:latin typeface="Times New Roman" panose="02020603050405020304" charset="0"/>
            </a:endParaRPr>
          </a:p>
        </p:txBody>
      </p:sp>
      <p:sp>
        <p:nvSpPr>
          <p:cNvPr id="96410" name="矩形 96409"/>
          <p:cNvSpPr/>
          <p:nvPr/>
        </p:nvSpPr>
        <p:spPr>
          <a:xfrm>
            <a:off x="6062663" y="3951288"/>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11" name="矩形 96410"/>
          <p:cNvSpPr/>
          <p:nvPr/>
        </p:nvSpPr>
        <p:spPr>
          <a:xfrm>
            <a:off x="5521325" y="4302125"/>
            <a:ext cx="11430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1</a:t>
            </a:r>
            <a:endParaRPr lang="en-US" altLang="zh-CN" sz="2400" b="1">
              <a:solidFill>
                <a:srgbClr val="FF0000"/>
              </a:solidFill>
              <a:latin typeface="Times New Roman" panose="02020603050405020304" charset="0"/>
            </a:endParaRPr>
          </a:p>
        </p:txBody>
      </p:sp>
      <p:sp>
        <p:nvSpPr>
          <p:cNvPr id="96412" name="矩形 96411"/>
          <p:cNvSpPr/>
          <p:nvPr/>
        </p:nvSpPr>
        <p:spPr>
          <a:xfrm>
            <a:off x="5651500" y="4302125"/>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13" name="矩形 96412"/>
          <p:cNvSpPr/>
          <p:nvPr/>
        </p:nvSpPr>
        <p:spPr>
          <a:xfrm>
            <a:off x="5521325" y="4568825"/>
            <a:ext cx="11430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3</a:t>
            </a:r>
            <a:endParaRPr lang="en-US" altLang="zh-CN" sz="2400" b="1">
              <a:solidFill>
                <a:srgbClr val="FF0000"/>
              </a:solidFill>
              <a:latin typeface="Times New Roman" panose="02020603050405020304" charset="0"/>
            </a:endParaRPr>
          </a:p>
        </p:txBody>
      </p:sp>
      <p:sp>
        <p:nvSpPr>
          <p:cNvPr id="96414" name="矩形 96413"/>
          <p:cNvSpPr/>
          <p:nvPr/>
        </p:nvSpPr>
        <p:spPr>
          <a:xfrm>
            <a:off x="5651500" y="4568825"/>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16" name="矩形 96415"/>
          <p:cNvSpPr/>
          <p:nvPr/>
        </p:nvSpPr>
        <p:spPr>
          <a:xfrm>
            <a:off x="5648325" y="4441825"/>
            <a:ext cx="152400" cy="274638"/>
          </a:xfrm>
          <a:prstGeom prst="rect">
            <a:avLst/>
          </a:prstGeom>
          <a:noFill/>
          <a:ln w="9525">
            <a:noFill/>
          </a:ln>
        </p:spPr>
        <p:txBody>
          <a:bodyPr wrap="none" lIns="0" tIns="0" rIns="0" bIns="0">
            <a:spAutoFit/>
          </a:bodyPr>
          <a:p>
            <a:pPr>
              <a:spcBef>
                <a:spcPct val="50000"/>
              </a:spcBef>
            </a:pPr>
            <a:r>
              <a:rPr lang="en-US" altLang="zh-CN" b="1" i="1">
                <a:solidFill>
                  <a:srgbClr val="000000"/>
                </a:solidFill>
                <a:latin typeface="Times New Roman" panose="02020603050405020304" charset="0"/>
              </a:rPr>
              <a:t>V</a:t>
            </a:r>
            <a:endParaRPr lang="en-US" altLang="zh-CN" sz="2400" b="1">
              <a:solidFill>
                <a:srgbClr val="FF0000"/>
              </a:solidFill>
              <a:latin typeface="Times New Roman" panose="02020603050405020304" charset="0"/>
            </a:endParaRPr>
          </a:p>
        </p:txBody>
      </p:sp>
      <p:sp>
        <p:nvSpPr>
          <p:cNvPr id="96417" name="矩形 96416"/>
          <p:cNvSpPr/>
          <p:nvPr/>
        </p:nvSpPr>
        <p:spPr>
          <a:xfrm>
            <a:off x="5816600" y="4614863"/>
            <a:ext cx="219075" cy="182562"/>
          </a:xfrm>
          <a:prstGeom prst="rect">
            <a:avLst/>
          </a:prstGeom>
          <a:noFill/>
          <a:ln w="9525">
            <a:noFill/>
          </a:ln>
        </p:spPr>
        <p:txBody>
          <a:bodyPr wrap="none" lIns="0" tIns="0" rIns="0" bIns="0">
            <a:spAutoFit/>
          </a:bodyPr>
          <a:p>
            <a:pPr>
              <a:spcBef>
                <a:spcPct val="50000"/>
              </a:spcBef>
            </a:pPr>
            <a:r>
              <a:rPr lang="en-US" altLang="zh-CN" sz="1200" b="1">
                <a:solidFill>
                  <a:srgbClr val="000000"/>
                </a:solidFill>
                <a:latin typeface="Times New Roman" panose="02020603050405020304" charset="0"/>
              </a:rPr>
              <a:t>CC</a:t>
            </a:r>
            <a:endParaRPr lang="en-US" altLang="zh-CN" sz="2400" b="1">
              <a:solidFill>
                <a:srgbClr val="FF0000"/>
              </a:solidFill>
              <a:latin typeface="Times New Roman" panose="02020603050405020304" charset="0"/>
            </a:endParaRPr>
          </a:p>
        </p:txBody>
      </p:sp>
      <p:sp>
        <p:nvSpPr>
          <p:cNvPr id="96418" name="矩形 96417"/>
          <p:cNvSpPr/>
          <p:nvPr/>
        </p:nvSpPr>
        <p:spPr>
          <a:xfrm>
            <a:off x="6062663" y="4438650"/>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19" name="矩形 96418"/>
          <p:cNvSpPr/>
          <p:nvPr/>
        </p:nvSpPr>
        <p:spPr>
          <a:xfrm>
            <a:off x="5778500" y="3367088"/>
            <a:ext cx="123825" cy="274637"/>
          </a:xfrm>
          <a:prstGeom prst="rect">
            <a:avLst/>
          </a:prstGeom>
          <a:noFill/>
          <a:ln w="9525">
            <a:noFill/>
          </a:ln>
        </p:spPr>
        <p:txBody>
          <a:bodyPr wrap="none" lIns="0" tIns="0" rIns="0" bIns="0">
            <a:spAutoFit/>
          </a:bodyPr>
          <a:p>
            <a:pPr>
              <a:spcBef>
                <a:spcPct val="50000"/>
              </a:spcBef>
            </a:pPr>
            <a:r>
              <a:rPr lang="en-US" altLang="zh-CN" b="1" i="1">
                <a:solidFill>
                  <a:srgbClr val="000000"/>
                </a:solidFill>
                <a:latin typeface="Bookman Old Style" panose="02050604050505020204" pitchFamily="18" charset="0"/>
              </a:rPr>
              <a:t>v</a:t>
            </a:r>
            <a:endParaRPr lang="en-US" altLang="zh-CN" sz="2400" b="1">
              <a:solidFill>
                <a:srgbClr val="FF0000"/>
              </a:solidFill>
              <a:latin typeface="Times New Roman" panose="02020603050405020304" charset="0"/>
            </a:endParaRPr>
          </a:p>
        </p:txBody>
      </p:sp>
      <p:sp>
        <p:nvSpPr>
          <p:cNvPr id="96420" name="矩形 96419"/>
          <p:cNvSpPr/>
          <p:nvPr/>
        </p:nvSpPr>
        <p:spPr>
          <a:xfrm>
            <a:off x="5918200" y="3465513"/>
            <a:ext cx="109538" cy="182562"/>
          </a:xfrm>
          <a:prstGeom prst="rect">
            <a:avLst/>
          </a:prstGeom>
          <a:noFill/>
          <a:ln w="9525">
            <a:noFill/>
          </a:ln>
        </p:spPr>
        <p:txBody>
          <a:bodyPr wrap="none" lIns="0" tIns="0" rIns="0" bIns="0">
            <a:spAutoFit/>
          </a:bodyPr>
          <a:p>
            <a:pPr>
              <a:spcBef>
                <a:spcPct val="50000"/>
              </a:spcBef>
            </a:pPr>
            <a:r>
              <a:rPr lang="en-US" altLang="zh-CN" sz="1200" b="1">
                <a:solidFill>
                  <a:srgbClr val="000000"/>
                </a:solidFill>
                <a:latin typeface="Times New Roman" panose="02020603050405020304" charset="0"/>
              </a:rPr>
              <a:t>C</a:t>
            </a:r>
            <a:endParaRPr lang="en-US" altLang="zh-CN" sz="2400" b="1">
              <a:solidFill>
                <a:srgbClr val="FF0000"/>
              </a:solidFill>
              <a:latin typeface="Times New Roman" panose="02020603050405020304" charset="0"/>
            </a:endParaRPr>
          </a:p>
        </p:txBody>
      </p:sp>
      <p:sp>
        <p:nvSpPr>
          <p:cNvPr id="96421" name="矩形 96420"/>
          <p:cNvSpPr/>
          <p:nvPr/>
        </p:nvSpPr>
        <p:spPr>
          <a:xfrm>
            <a:off x="6042025" y="3367088"/>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2" name="矩形 96421"/>
          <p:cNvSpPr/>
          <p:nvPr/>
        </p:nvSpPr>
        <p:spPr>
          <a:xfrm>
            <a:off x="5910263" y="3636963"/>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3" name="矩形 96422"/>
          <p:cNvSpPr/>
          <p:nvPr/>
        </p:nvSpPr>
        <p:spPr>
          <a:xfrm>
            <a:off x="5910263" y="3903663"/>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4" name="矩形 96423"/>
          <p:cNvSpPr/>
          <p:nvPr/>
        </p:nvSpPr>
        <p:spPr>
          <a:xfrm>
            <a:off x="5910263" y="4165600"/>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5" name="矩形 96424"/>
          <p:cNvSpPr/>
          <p:nvPr/>
        </p:nvSpPr>
        <p:spPr>
          <a:xfrm>
            <a:off x="5910263" y="4432300"/>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6" name="矩形 96425"/>
          <p:cNvSpPr/>
          <p:nvPr/>
        </p:nvSpPr>
        <p:spPr>
          <a:xfrm>
            <a:off x="5778500" y="4802188"/>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7" name="矩形 96426"/>
          <p:cNvSpPr/>
          <p:nvPr/>
        </p:nvSpPr>
        <p:spPr>
          <a:xfrm>
            <a:off x="5880100" y="5013325"/>
            <a:ext cx="11430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0</a:t>
            </a:r>
            <a:endParaRPr lang="en-US" altLang="zh-CN" sz="2400" b="1">
              <a:solidFill>
                <a:srgbClr val="FF0000"/>
              </a:solidFill>
              <a:latin typeface="Times New Roman" panose="02020603050405020304" charset="0"/>
            </a:endParaRPr>
          </a:p>
        </p:txBody>
      </p:sp>
      <p:sp>
        <p:nvSpPr>
          <p:cNvPr id="96428" name="矩形 96427"/>
          <p:cNvSpPr/>
          <p:nvPr/>
        </p:nvSpPr>
        <p:spPr>
          <a:xfrm>
            <a:off x="6042025" y="4802188"/>
            <a:ext cx="57150" cy="274637"/>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29" name="矩形 96428"/>
          <p:cNvSpPr/>
          <p:nvPr/>
        </p:nvSpPr>
        <p:spPr>
          <a:xfrm>
            <a:off x="6754813" y="4889500"/>
            <a:ext cx="63500" cy="274638"/>
          </a:xfrm>
          <a:prstGeom prst="rect">
            <a:avLst/>
          </a:prstGeom>
          <a:noFill/>
          <a:ln w="9525">
            <a:noFill/>
          </a:ln>
        </p:spPr>
        <p:txBody>
          <a:bodyPr wrap="none" lIns="0" tIns="0" rIns="0" bIns="0">
            <a:spAutoFit/>
          </a:bodyPr>
          <a:p>
            <a:pPr>
              <a:spcBef>
                <a:spcPct val="50000"/>
              </a:spcBef>
            </a:pPr>
            <a:r>
              <a:rPr lang="en-US" altLang="zh-CN" b="1" i="1">
                <a:solidFill>
                  <a:srgbClr val="000000"/>
                </a:solidFill>
                <a:latin typeface="Times New Roman" panose="02020603050405020304" charset="0"/>
              </a:rPr>
              <a:t>t</a:t>
            </a:r>
            <a:endParaRPr lang="en-US" altLang="zh-CN" sz="2400" b="1">
              <a:solidFill>
                <a:srgbClr val="FF0000"/>
              </a:solidFill>
              <a:latin typeface="Times New Roman" panose="02020603050405020304" charset="0"/>
            </a:endParaRPr>
          </a:p>
        </p:txBody>
      </p:sp>
      <p:sp>
        <p:nvSpPr>
          <p:cNvPr id="96430" name="矩形 96429"/>
          <p:cNvSpPr/>
          <p:nvPr/>
        </p:nvSpPr>
        <p:spPr>
          <a:xfrm>
            <a:off x="6829425" y="5062538"/>
            <a:ext cx="76200" cy="182562"/>
          </a:xfrm>
          <a:prstGeom prst="rect">
            <a:avLst/>
          </a:prstGeom>
          <a:noFill/>
          <a:ln w="9525">
            <a:noFill/>
          </a:ln>
        </p:spPr>
        <p:txBody>
          <a:bodyPr wrap="none" lIns="0" tIns="0" rIns="0" bIns="0">
            <a:spAutoFit/>
          </a:bodyPr>
          <a:p>
            <a:pPr>
              <a:spcBef>
                <a:spcPct val="50000"/>
              </a:spcBef>
            </a:pPr>
            <a:r>
              <a:rPr lang="en-US" altLang="zh-CN" sz="1200" b="1">
                <a:solidFill>
                  <a:srgbClr val="000000"/>
                </a:solidFill>
                <a:latin typeface="Times New Roman" panose="02020603050405020304" charset="0"/>
              </a:rPr>
              <a:t>1</a:t>
            </a:r>
            <a:endParaRPr lang="en-US" altLang="zh-CN" sz="2400" b="1">
              <a:solidFill>
                <a:srgbClr val="FF0000"/>
              </a:solidFill>
              <a:latin typeface="Times New Roman" panose="02020603050405020304" charset="0"/>
            </a:endParaRPr>
          </a:p>
        </p:txBody>
      </p:sp>
      <p:sp>
        <p:nvSpPr>
          <p:cNvPr id="96431" name="矩形 96430"/>
          <p:cNvSpPr/>
          <p:nvPr/>
        </p:nvSpPr>
        <p:spPr>
          <a:xfrm>
            <a:off x="6915150" y="4886325"/>
            <a:ext cx="57150" cy="274638"/>
          </a:xfrm>
          <a:prstGeom prst="rect">
            <a:avLst/>
          </a:prstGeom>
          <a:noFill/>
          <a:ln w="9525">
            <a:noFill/>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35" name="直接连接符 96434"/>
          <p:cNvSpPr/>
          <p:nvPr/>
        </p:nvSpPr>
        <p:spPr>
          <a:xfrm>
            <a:off x="6122988" y="6073775"/>
            <a:ext cx="2544762" cy="1588"/>
          </a:xfrm>
          <a:prstGeom prst="line">
            <a:avLst/>
          </a:prstGeom>
          <a:ln w="25400" cap="flat" cmpd="sng">
            <a:solidFill>
              <a:srgbClr val="000000"/>
            </a:solidFill>
            <a:prstDash val="solid"/>
            <a:headEnd type="none" w="med" len="med"/>
            <a:tailEnd type="none" w="med" len="med"/>
          </a:ln>
        </p:spPr>
      </p:sp>
      <p:sp>
        <p:nvSpPr>
          <p:cNvPr id="96436" name="任意多边形 96435"/>
          <p:cNvSpPr/>
          <p:nvPr/>
        </p:nvSpPr>
        <p:spPr>
          <a:xfrm>
            <a:off x="6075363" y="4987925"/>
            <a:ext cx="57150" cy="187325"/>
          </a:xfrm>
          <a:custGeom>
            <a:avLst/>
            <a:gdLst/>
            <a:ahLst/>
            <a:cxnLst/>
            <a:pathLst>
              <a:path w="36" h="118">
                <a:moveTo>
                  <a:pt x="18" y="0"/>
                </a:moveTo>
                <a:lnTo>
                  <a:pt x="0" y="118"/>
                </a:lnTo>
                <a:lnTo>
                  <a:pt x="36" y="118"/>
                </a:lnTo>
                <a:lnTo>
                  <a:pt x="18" y="0"/>
                </a:lnTo>
                <a:close/>
              </a:path>
            </a:pathLst>
          </a:custGeom>
          <a:solidFill>
            <a:srgbClr val="000000"/>
          </a:solidFill>
          <a:ln w="9525">
            <a:noFill/>
          </a:ln>
        </p:spPr>
        <p:txBody>
          <a:bodyPr/>
          <a:p>
            <a:endParaRPr lang="zh-CN" altLang="en-US"/>
          </a:p>
        </p:txBody>
      </p:sp>
      <p:sp>
        <p:nvSpPr>
          <p:cNvPr id="96438" name="直接连接符 96437"/>
          <p:cNvSpPr/>
          <p:nvPr/>
        </p:nvSpPr>
        <p:spPr>
          <a:xfrm>
            <a:off x="6099175" y="5008563"/>
            <a:ext cx="1588" cy="1065212"/>
          </a:xfrm>
          <a:prstGeom prst="line">
            <a:avLst/>
          </a:prstGeom>
          <a:ln w="25400" cap="flat" cmpd="sng">
            <a:solidFill>
              <a:srgbClr val="000000"/>
            </a:solidFill>
            <a:prstDash val="solid"/>
            <a:headEnd type="none" w="med" len="med"/>
            <a:tailEnd type="none" w="med" len="med"/>
          </a:ln>
        </p:spPr>
      </p:sp>
      <p:sp>
        <p:nvSpPr>
          <p:cNvPr id="96441" name="任意多边形 96440"/>
          <p:cNvSpPr/>
          <p:nvPr/>
        </p:nvSpPr>
        <p:spPr>
          <a:xfrm>
            <a:off x="6062663" y="3351213"/>
            <a:ext cx="57150" cy="192087"/>
          </a:xfrm>
          <a:custGeom>
            <a:avLst/>
            <a:gdLst/>
            <a:ahLst/>
            <a:cxnLst/>
            <a:pathLst>
              <a:path w="36" h="121">
                <a:moveTo>
                  <a:pt x="18" y="0"/>
                </a:moveTo>
                <a:lnTo>
                  <a:pt x="0" y="121"/>
                </a:lnTo>
                <a:lnTo>
                  <a:pt x="36" y="121"/>
                </a:lnTo>
                <a:lnTo>
                  <a:pt x="18" y="0"/>
                </a:lnTo>
                <a:close/>
              </a:path>
            </a:pathLst>
          </a:custGeom>
          <a:solidFill>
            <a:srgbClr val="000000"/>
          </a:solidFill>
          <a:ln w="9525">
            <a:noFill/>
          </a:ln>
        </p:spPr>
        <p:txBody>
          <a:bodyPr/>
          <a:p>
            <a:endParaRPr lang="zh-CN" altLang="en-US"/>
          </a:p>
        </p:txBody>
      </p:sp>
      <p:sp>
        <p:nvSpPr>
          <p:cNvPr id="96442" name="任意多边形 96441"/>
          <p:cNvSpPr/>
          <p:nvPr/>
        </p:nvSpPr>
        <p:spPr>
          <a:xfrm>
            <a:off x="6062028" y="3342323"/>
            <a:ext cx="57150" cy="192087"/>
          </a:xfrm>
          <a:custGeom>
            <a:avLst/>
            <a:gdLst/>
            <a:ahLst/>
            <a:cxnLst/>
            <a:pathLst>
              <a:path w="36" h="121">
                <a:moveTo>
                  <a:pt x="18" y="0"/>
                </a:moveTo>
                <a:lnTo>
                  <a:pt x="0" y="121"/>
                </a:lnTo>
                <a:lnTo>
                  <a:pt x="36" y="121"/>
                </a:lnTo>
                <a:lnTo>
                  <a:pt x="18" y="0"/>
                </a:lnTo>
                <a:close/>
              </a:path>
            </a:pathLst>
          </a:custGeom>
          <a:noFill/>
          <a:ln w="7938" cap="flat" cmpd="sng">
            <a:solidFill>
              <a:srgbClr val="000000"/>
            </a:solidFill>
            <a:prstDash val="solid"/>
            <a:headEnd type="none" w="med" len="med"/>
            <a:tailEnd type="none" w="med" len="med"/>
          </a:ln>
        </p:spPr>
        <p:txBody>
          <a:bodyPr/>
          <a:p>
            <a:endParaRPr lang="zh-CN" altLang="en-US"/>
          </a:p>
        </p:txBody>
      </p:sp>
      <p:sp>
        <p:nvSpPr>
          <p:cNvPr id="96443" name="直接连接符 96442"/>
          <p:cNvSpPr/>
          <p:nvPr/>
        </p:nvSpPr>
        <p:spPr>
          <a:xfrm>
            <a:off x="6099175" y="3465513"/>
            <a:ext cx="1588" cy="1420812"/>
          </a:xfrm>
          <a:prstGeom prst="line">
            <a:avLst/>
          </a:prstGeom>
          <a:ln w="25400" cap="flat" cmpd="sng">
            <a:solidFill>
              <a:srgbClr val="000000"/>
            </a:solidFill>
            <a:prstDash val="solid"/>
            <a:headEnd type="none" w="med" len="med"/>
            <a:tailEnd type="none" w="med" len="med"/>
          </a:ln>
        </p:spPr>
      </p:sp>
      <p:sp>
        <p:nvSpPr>
          <p:cNvPr id="96446" name="直接连接符 96445"/>
          <p:cNvSpPr/>
          <p:nvPr/>
        </p:nvSpPr>
        <p:spPr>
          <a:xfrm>
            <a:off x="6099175" y="4886325"/>
            <a:ext cx="2439988" cy="1588"/>
          </a:xfrm>
          <a:prstGeom prst="line">
            <a:avLst/>
          </a:prstGeom>
          <a:ln w="25400" cap="flat" cmpd="sng">
            <a:solidFill>
              <a:srgbClr val="000000"/>
            </a:solidFill>
            <a:prstDash val="solid"/>
            <a:headEnd type="none" w="med" len="med"/>
            <a:tailEnd type="none" w="med" len="med"/>
          </a:ln>
        </p:spPr>
      </p:sp>
      <p:sp>
        <p:nvSpPr>
          <p:cNvPr id="96448" name="任意多边形 96447"/>
          <p:cNvSpPr>
            <a:spLocks noEditPoints="1"/>
          </p:cNvSpPr>
          <p:nvPr/>
        </p:nvSpPr>
        <p:spPr>
          <a:xfrm>
            <a:off x="6677025" y="4079875"/>
            <a:ext cx="9525" cy="1431925"/>
          </a:xfrm>
          <a:custGeom>
            <a:avLst/>
            <a:gdLst/>
            <a:ahLst/>
            <a:cxnLst/>
            <a:pathLst>
              <a:path w="6" h="902">
                <a:moveTo>
                  <a:pt x="6" y="3"/>
                </a:moveTo>
                <a:lnTo>
                  <a:pt x="6" y="17"/>
                </a:lnTo>
                <a:lnTo>
                  <a:pt x="6" y="19"/>
                </a:lnTo>
                <a:lnTo>
                  <a:pt x="3" y="19"/>
                </a:lnTo>
                <a:lnTo>
                  <a:pt x="3" y="19"/>
                </a:lnTo>
                <a:lnTo>
                  <a:pt x="0" y="17"/>
                </a:lnTo>
                <a:lnTo>
                  <a:pt x="0" y="3"/>
                </a:lnTo>
                <a:lnTo>
                  <a:pt x="3" y="0"/>
                </a:lnTo>
                <a:lnTo>
                  <a:pt x="3" y="0"/>
                </a:lnTo>
                <a:lnTo>
                  <a:pt x="6" y="0"/>
                </a:lnTo>
                <a:lnTo>
                  <a:pt x="6" y="3"/>
                </a:lnTo>
                <a:lnTo>
                  <a:pt x="6" y="3"/>
                </a:lnTo>
                <a:close/>
                <a:moveTo>
                  <a:pt x="6" y="38"/>
                </a:moveTo>
                <a:lnTo>
                  <a:pt x="6" y="51"/>
                </a:lnTo>
                <a:lnTo>
                  <a:pt x="6" y="54"/>
                </a:lnTo>
                <a:lnTo>
                  <a:pt x="3" y="54"/>
                </a:lnTo>
                <a:lnTo>
                  <a:pt x="3" y="54"/>
                </a:lnTo>
                <a:lnTo>
                  <a:pt x="0" y="51"/>
                </a:lnTo>
                <a:lnTo>
                  <a:pt x="0" y="38"/>
                </a:lnTo>
                <a:lnTo>
                  <a:pt x="3" y="35"/>
                </a:lnTo>
                <a:lnTo>
                  <a:pt x="3" y="35"/>
                </a:lnTo>
                <a:lnTo>
                  <a:pt x="6" y="35"/>
                </a:lnTo>
                <a:lnTo>
                  <a:pt x="6" y="38"/>
                </a:lnTo>
                <a:lnTo>
                  <a:pt x="6" y="38"/>
                </a:lnTo>
                <a:close/>
                <a:moveTo>
                  <a:pt x="6" y="70"/>
                </a:moveTo>
                <a:lnTo>
                  <a:pt x="6" y="84"/>
                </a:lnTo>
                <a:lnTo>
                  <a:pt x="6" y="86"/>
                </a:lnTo>
                <a:lnTo>
                  <a:pt x="3" y="86"/>
                </a:lnTo>
                <a:lnTo>
                  <a:pt x="3" y="86"/>
                </a:lnTo>
                <a:lnTo>
                  <a:pt x="0" y="84"/>
                </a:lnTo>
                <a:lnTo>
                  <a:pt x="0" y="70"/>
                </a:lnTo>
                <a:lnTo>
                  <a:pt x="3" y="68"/>
                </a:lnTo>
                <a:lnTo>
                  <a:pt x="3" y="68"/>
                </a:lnTo>
                <a:lnTo>
                  <a:pt x="6" y="68"/>
                </a:lnTo>
                <a:lnTo>
                  <a:pt x="6" y="70"/>
                </a:lnTo>
                <a:lnTo>
                  <a:pt x="6" y="70"/>
                </a:lnTo>
                <a:close/>
                <a:moveTo>
                  <a:pt x="6" y="105"/>
                </a:moveTo>
                <a:lnTo>
                  <a:pt x="6" y="119"/>
                </a:lnTo>
                <a:lnTo>
                  <a:pt x="6" y="121"/>
                </a:lnTo>
                <a:lnTo>
                  <a:pt x="3" y="121"/>
                </a:lnTo>
                <a:lnTo>
                  <a:pt x="3" y="121"/>
                </a:lnTo>
                <a:lnTo>
                  <a:pt x="0" y="119"/>
                </a:lnTo>
                <a:lnTo>
                  <a:pt x="0" y="105"/>
                </a:lnTo>
                <a:lnTo>
                  <a:pt x="3" y="103"/>
                </a:lnTo>
                <a:lnTo>
                  <a:pt x="3" y="103"/>
                </a:lnTo>
                <a:lnTo>
                  <a:pt x="6" y="103"/>
                </a:lnTo>
                <a:lnTo>
                  <a:pt x="6" y="105"/>
                </a:lnTo>
                <a:lnTo>
                  <a:pt x="6" y="105"/>
                </a:lnTo>
                <a:close/>
                <a:moveTo>
                  <a:pt x="6" y="138"/>
                </a:moveTo>
                <a:lnTo>
                  <a:pt x="6" y="154"/>
                </a:lnTo>
                <a:lnTo>
                  <a:pt x="6" y="154"/>
                </a:lnTo>
                <a:lnTo>
                  <a:pt x="3" y="156"/>
                </a:lnTo>
                <a:lnTo>
                  <a:pt x="3" y="154"/>
                </a:lnTo>
                <a:lnTo>
                  <a:pt x="0" y="154"/>
                </a:lnTo>
                <a:lnTo>
                  <a:pt x="0" y="138"/>
                </a:lnTo>
                <a:lnTo>
                  <a:pt x="3" y="138"/>
                </a:lnTo>
                <a:lnTo>
                  <a:pt x="3" y="135"/>
                </a:lnTo>
                <a:lnTo>
                  <a:pt x="6" y="138"/>
                </a:lnTo>
                <a:lnTo>
                  <a:pt x="6" y="138"/>
                </a:lnTo>
                <a:lnTo>
                  <a:pt x="6" y="138"/>
                </a:lnTo>
                <a:close/>
                <a:moveTo>
                  <a:pt x="6" y="173"/>
                </a:moveTo>
                <a:lnTo>
                  <a:pt x="6" y="187"/>
                </a:lnTo>
                <a:lnTo>
                  <a:pt x="6" y="189"/>
                </a:lnTo>
                <a:lnTo>
                  <a:pt x="3" y="189"/>
                </a:lnTo>
                <a:lnTo>
                  <a:pt x="3" y="189"/>
                </a:lnTo>
                <a:lnTo>
                  <a:pt x="0" y="187"/>
                </a:lnTo>
                <a:lnTo>
                  <a:pt x="0" y="173"/>
                </a:lnTo>
                <a:lnTo>
                  <a:pt x="3" y="170"/>
                </a:lnTo>
                <a:lnTo>
                  <a:pt x="3" y="170"/>
                </a:lnTo>
                <a:lnTo>
                  <a:pt x="6" y="170"/>
                </a:lnTo>
                <a:lnTo>
                  <a:pt x="6" y="173"/>
                </a:lnTo>
                <a:lnTo>
                  <a:pt x="6" y="173"/>
                </a:lnTo>
                <a:close/>
                <a:moveTo>
                  <a:pt x="6" y="205"/>
                </a:moveTo>
                <a:lnTo>
                  <a:pt x="6" y="222"/>
                </a:lnTo>
                <a:lnTo>
                  <a:pt x="6" y="222"/>
                </a:lnTo>
                <a:lnTo>
                  <a:pt x="3" y="224"/>
                </a:lnTo>
                <a:lnTo>
                  <a:pt x="3" y="222"/>
                </a:lnTo>
                <a:lnTo>
                  <a:pt x="0" y="222"/>
                </a:lnTo>
                <a:lnTo>
                  <a:pt x="0" y="205"/>
                </a:lnTo>
                <a:lnTo>
                  <a:pt x="3" y="205"/>
                </a:lnTo>
                <a:lnTo>
                  <a:pt x="3" y="203"/>
                </a:lnTo>
                <a:lnTo>
                  <a:pt x="6" y="205"/>
                </a:lnTo>
                <a:lnTo>
                  <a:pt x="6" y="205"/>
                </a:lnTo>
                <a:lnTo>
                  <a:pt x="6" y="205"/>
                </a:lnTo>
                <a:close/>
                <a:moveTo>
                  <a:pt x="6" y="240"/>
                </a:moveTo>
                <a:lnTo>
                  <a:pt x="6" y="254"/>
                </a:lnTo>
                <a:lnTo>
                  <a:pt x="6" y="257"/>
                </a:lnTo>
                <a:lnTo>
                  <a:pt x="3" y="257"/>
                </a:lnTo>
                <a:lnTo>
                  <a:pt x="3" y="257"/>
                </a:lnTo>
                <a:lnTo>
                  <a:pt x="0" y="254"/>
                </a:lnTo>
                <a:lnTo>
                  <a:pt x="0" y="240"/>
                </a:lnTo>
                <a:lnTo>
                  <a:pt x="3" y="238"/>
                </a:lnTo>
                <a:lnTo>
                  <a:pt x="3" y="238"/>
                </a:lnTo>
                <a:lnTo>
                  <a:pt x="6" y="238"/>
                </a:lnTo>
                <a:lnTo>
                  <a:pt x="6" y="240"/>
                </a:lnTo>
                <a:lnTo>
                  <a:pt x="6" y="240"/>
                </a:lnTo>
                <a:close/>
                <a:moveTo>
                  <a:pt x="6" y="275"/>
                </a:moveTo>
                <a:lnTo>
                  <a:pt x="6" y="289"/>
                </a:lnTo>
                <a:lnTo>
                  <a:pt x="6" y="291"/>
                </a:lnTo>
                <a:lnTo>
                  <a:pt x="3" y="291"/>
                </a:lnTo>
                <a:lnTo>
                  <a:pt x="3" y="291"/>
                </a:lnTo>
                <a:lnTo>
                  <a:pt x="0" y="289"/>
                </a:lnTo>
                <a:lnTo>
                  <a:pt x="0" y="275"/>
                </a:lnTo>
                <a:lnTo>
                  <a:pt x="3" y="273"/>
                </a:lnTo>
                <a:lnTo>
                  <a:pt x="3" y="273"/>
                </a:lnTo>
                <a:lnTo>
                  <a:pt x="6" y="273"/>
                </a:lnTo>
                <a:lnTo>
                  <a:pt x="6" y="275"/>
                </a:lnTo>
                <a:lnTo>
                  <a:pt x="6" y="275"/>
                </a:lnTo>
                <a:close/>
                <a:moveTo>
                  <a:pt x="6" y="308"/>
                </a:moveTo>
                <a:lnTo>
                  <a:pt x="6" y="322"/>
                </a:lnTo>
                <a:lnTo>
                  <a:pt x="6" y="324"/>
                </a:lnTo>
                <a:lnTo>
                  <a:pt x="3" y="326"/>
                </a:lnTo>
                <a:lnTo>
                  <a:pt x="3" y="324"/>
                </a:lnTo>
                <a:lnTo>
                  <a:pt x="0" y="322"/>
                </a:lnTo>
                <a:lnTo>
                  <a:pt x="0" y="308"/>
                </a:lnTo>
                <a:lnTo>
                  <a:pt x="3" y="305"/>
                </a:lnTo>
                <a:lnTo>
                  <a:pt x="3" y="305"/>
                </a:lnTo>
                <a:lnTo>
                  <a:pt x="6" y="305"/>
                </a:lnTo>
                <a:lnTo>
                  <a:pt x="6" y="308"/>
                </a:lnTo>
                <a:lnTo>
                  <a:pt x="6" y="308"/>
                </a:lnTo>
                <a:close/>
                <a:moveTo>
                  <a:pt x="6" y="343"/>
                </a:moveTo>
                <a:lnTo>
                  <a:pt x="6" y="357"/>
                </a:lnTo>
                <a:lnTo>
                  <a:pt x="6" y="359"/>
                </a:lnTo>
                <a:lnTo>
                  <a:pt x="3" y="359"/>
                </a:lnTo>
                <a:lnTo>
                  <a:pt x="3" y="359"/>
                </a:lnTo>
                <a:lnTo>
                  <a:pt x="0" y="357"/>
                </a:lnTo>
                <a:lnTo>
                  <a:pt x="0" y="343"/>
                </a:lnTo>
                <a:lnTo>
                  <a:pt x="3" y="340"/>
                </a:lnTo>
                <a:lnTo>
                  <a:pt x="3" y="340"/>
                </a:lnTo>
                <a:lnTo>
                  <a:pt x="6" y="340"/>
                </a:lnTo>
                <a:lnTo>
                  <a:pt x="6" y="343"/>
                </a:lnTo>
                <a:lnTo>
                  <a:pt x="6" y="343"/>
                </a:lnTo>
                <a:close/>
                <a:moveTo>
                  <a:pt x="6" y="375"/>
                </a:moveTo>
                <a:lnTo>
                  <a:pt x="6" y="392"/>
                </a:lnTo>
                <a:lnTo>
                  <a:pt x="6" y="392"/>
                </a:lnTo>
                <a:lnTo>
                  <a:pt x="3" y="394"/>
                </a:lnTo>
                <a:lnTo>
                  <a:pt x="3" y="392"/>
                </a:lnTo>
                <a:lnTo>
                  <a:pt x="0" y="392"/>
                </a:lnTo>
                <a:lnTo>
                  <a:pt x="0" y="375"/>
                </a:lnTo>
                <a:lnTo>
                  <a:pt x="3" y="375"/>
                </a:lnTo>
                <a:lnTo>
                  <a:pt x="3" y="373"/>
                </a:lnTo>
                <a:lnTo>
                  <a:pt x="6" y="375"/>
                </a:lnTo>
                <a:lnTo>
                  <a:pt x="6" y="375"/>
                </a:lnTo>
                <a:lnTo>
                  <a:pt x="6" y="375"/>
                </a:lnTo>
                <a:close/>
                <a:moveTo>
                  <a:pt x="6" y="410"/>
                </a:moveTo>
                <a:lnTo>
                  <a:pt x="6" y="424"/>
                </a:lnTo>
                <a:lnTo>
                  <a:pt x="6" y="427"/>
                </a:lnTo>
                <a:lnTo>
                  <a:pt x="3" y="427"/>
                </a:lnTo>
                <a:lnTo>
                  <a:pt x="3" y="427"/>
                </a:lnTo>
                <a:lnTo>
                  <a:pt x="0" y="424"/>
                </a:lnTo>
                <a:lnTo>
                  <a:pt x="0" y="410"/>
                </a:lnTo>
                <a:lnTo>
                  <a:pt x="3" y="408"/>
                </a:lnTo>
                <a:lnTo>
                  <a:pt x="3" y="408"/>
                </a:lnTo>
                <a:lnTo>
                  <a:pt x="6" y="408"/>
                </a:lnTo>
                <a:lnTo>
                  <a:pt x="6" y="410"/>
                </a:lnTo>
                <a:lnTo>
                  <a:pt x="6" y="410"/>
                </a:lnTo>
                <a:close/>
                <a:moveTo>
                  <a:pt x="6" y="445"/>
                </a:moveTo>
                <a:lnTo>
                  <a:pt x="6" y="459"/>
                </a:lnTo>
                <a:lnTo>
                  <a:pt x="6" y="462"/>
                </a:lnTo>
                <a:lnTo>
                  <a:pt x="3" y="462"/>
                </a:lnTo>
                <a:lnTo>
                  <a:pt x="3" y="462"/>
                </a:lnTo>
                <a:lnTo>
                  <a:pt x="0" y="459"/>
                </a:lnTo>
                <a:lnTo>
                  <a:pt x="0" y="445"/>
                </a:lnTo>
                <a:lnTo>
                  <a:pt x="3" y="443"/>
                </a:lnTo>
                <a:lnTo>
                  <a:pt x="3" y="443"/>
                </a:lnTo>
                <a:lnTo>
                  <a:pt x="6" y="443"/>
                </a:lnTo>
                <a:lnTo>
                  <a:pt x="6" y="445"/>
                </a:lnTo>
                <a:lnTo>
                  <a:pt x="6" y="445"/>
                </a:lnTo>
                <a:close/>
                <a:moveTo>
                  <a:pt x="6" y="478"/>
                </a:moveTo>
                <a:lnTo>
                  <a:pt x="6" y="492"/>
                </a:lnTo>
                <a:lnTo>
                  <a:pt x="6" y="494"/>
                </a:lnTo>
                <a:lnTo>
                  <a:pt x="3" y="494"/>
                </a:lnTo>
                <a:lnTo>
                  <a:pt x="3" y="494"/>
                </a:lnTo>
                <a:lnTo>
                  <a:pt x="0" y="492"/>
                </a:lnTo>
                <a:lnTo>
                  <a:pt x="0" y="478"/>
                </a:lnTo>
                <a:lnTo>
                  <a:pt x="3" y="476"/>
                </a:lnTo>
                <a:lnTo>
                  <a:pt x="3" y="476"/>
                </a:lnTo>
                <a:lnTo>
                  <a:pt x="6" y="476"/>
                </a:lnTo>
                <a:lnTo>
                  <a:pt x="6" y="478"/>
                </a:lnTo>
                <a:lnTo>
                  <a:pt x="6" y="478"/>
                </a:lnTo>
                <a:close/>
                <a:moveTo>
                  <a:pt x="6" y="513"/>
                </a:moveTo>
                <a:lnTo>
                  <a:pt x="6" y="527"/>
                </a:lnTo>
                <a:lnTo>
                  <a:pt x="6" y="529"/>
                </a:lnTo>
                <a:lnTo>
                  <a:pt x="3" y="529"/>
                </a:lnTo>
                <a:lnTo>
                  <a:pt x="3" y="529"/>
                </a:lnTo>
                <a:lnTo>
                  <a:pt x="0" y="527"/>
                </a:lnTo>
                <a:lnTo>
                  <a:pt x="0" y="513"/>
                </a:lnTo>
                <a:lnTo>
                  <a:pt x="3" y="510"/>
                </a:lnTo>
                <a:lnTo>
                  <a:pt x="3" y="510"/>
                </a:lnTo>
                <a:lnTo>
                  <a:pt x="6" y="510"/>
                </a:lnTo>
                <a:lnTo>
                  <a:pt x="6" y="513"/>
                </a:lnTo>
                <a:lnTo>
                  <a:pt x="6" y="513"/>
                </a:lnTo>
                <a:close/>
                <a:moveTo>
                  <a:pt x="6" y="545"/>
                </a:moveTo>
                <a:lnTo>
                  <a:pt x="6" y="562"/>
                </a:lnTo>
                <a:lnTo>
                  <a:pt x="6" y="562"/>
                </a:lnTo>
                <a:lnTo>
                  <a:pt x="3" y="564"/>
                </a:lnTo>
                <a:lnTo>
                  <a:pt x="3" y="562"/>
                </a:lnTo>
                <a:lnTo>
                  <a:pt x="0" y="562"/>
                </a:lnTo>
                <a:lnTo>
                  <a:pt x="0" y="545"/>
                </a:lnTo>
                <a:lnTo>
                  <a:pt x="3" y="545"/>
                </a:lnTo>
                <a:lnTo>
                  <a:pt x="3" y="543"/>
                </a:lnTo>
                <a:lnTo>
                  <a:pt x="6" y="545"/>
                </a:lnTo>
                <a:lnTo>
                  <a:pt x="6" y="545"/>
                </a:lnTo>
                <a:lnTo>
                  <a:pt x="6" y="545"/>
                </a:lnTo>
                <a:close/>
                <a:moveTo>
                  <a:pt x="6" y="580"/>
                </a:moveTo>
                <a:lnTo>
                  <a:pt x="6" y="594"/>
                </a:lnTo>
                <a:lnTo>
                  <a:pt x="6" y="597"/>
                </a:lnTo>
                <a:lnTo>
                  <a:pt x="3" y="597"/>
                </a:lnTo>
                <a:lnTo>
                  <a:pt x="3" y="597"/>
                </a:lnTo>
                <a:lnTo>
                  <a:pt x="0" y="594"/>
                </a:lnTo>
                <a:lnTo>
                  <a:pt x="0" y="580"/>
                </a:lnTo>
                <a:lnTo>
                  <a:pt x="3" y="578"/>
                </a:lnTo>
                <a:lnTo>
                  <a:pt x="3" y="578"/>
                </a:lnTo>
                <a:lnTo>
                  <a:pt x="6" y="578"/>
                </a:lnTo>
                <a:lnTo>
                  <a:pt x="6" y="580"/>
                </a:lnTo>
                <a:lnTo>
                  <a:pt x="6" y="580"/>
                </a:lnTo>
                <a:close/>
                <a:moveTo>
                  <a:pt x="6" y="613"/>
                </a:moveTo>
                <a:lnTo>
                  <a:pt x="6" y="629"/>
                </a:lnTo>
                <a:lnTo>
                  <a:pt x="6" y="629"/>
                </a:lnTo>
                <a:lnTo>
                  <a:pt x="3" y="632"/>
                </a:lnTo>
                <a:lnTo>
                  <a:pt x="3" y="629"/>
                </a:lnTo>
                <a:lnTo>
                  <a:pt x="0" y="629"/>
                </a:lnTo>
                <a:lnTo>
                  <a:pt x="0" y="613"/>
                </a:lnTo>
                <a:lnTo>
                  <a:pt x="3" y="613"/>
                </a:lnTo>
                <a:lnTo>
                  <a:pt x="3" y="611"/>
                </a:lnTo>
                <a:lnTo>
                  <a:pt x="6" y="613"/>
                </a:lnTo>
                <a:lnTo>
                  <a:pt x="6" y="613"/>
                </a:lnTo>
                <a:lnTo>
                  <a:pt x="6" y="613"/>
                </a:lnTo>
                <a:close/>
                <a:moveTo>
                  <a:pt x="6" y="648"/>
                </a:moveTo>
                <a:lnTo>
                  <a:pt x="6" y="662"/>
                </a:lnTo>
                <a:lnTo>
                  <a:pt x="6" y="664"/>
                </a:lnTo>
                <a:lnTo>
                  <a:pt x="3" y="664"/>
                </a:lnTo>
                <a:lnTo>
                  <a:pt x="3" y="664"/>
                </a:lnTo>
                <a:lnTo>
                  <a:pt x="0" y="662"/>
                </a:lnTo>
                <a:lnTo>
                  <a:pt x="0" y="648"/>
                </a:lnTo>
                <a:lnTo>
                  <a:pt x="3" y="646"/>
                </a:lnTo>
                <a:lnTo>
                  <a:pt x="3" y="646"/>
                </a:lnTo>
                <a:lnTo>
                  <a:pt x="6" y="646"/>
                </a:lnTo>
                <a:lnTo>
                  <a:pt x="6" y="648"/>
                </a:lnTo>
                <a:lnTo>
                  <a:pt x="6" y="648"/>
                </a:lnTo>
                <a:close/>
                <a:moveTo>
                  <a:pt x="6" y="683"/>
                </a:moveTo>
                <a:lnTo>
                  <a:pt x="6" y="697"/>
                </a:lnTo>
                <a:lnTo>
                  <a:pt x="6" y="699"/>
                </a:lnTo>
                <a:lnTo>
                  <a:pt x="3" y="699"/>
                </a:lnTo>
                <a:lnTo>
                  <a:pt x="3" y="699"/>
                </a:lnTo>
                <a:lnTo>
                  <a:pt x="0" y="697"/>
                </a:lnTo>
                <a:lnTo>
                  <a:pt x="0" y="683"/>
                </a:lnTo>
                <a:lnTo>
                  <a:pt x="3" y="681"/>
                </a:lnTo>
                <a:lnTo>
                  <a:pt x="3" y="681"/>
                </a:lnTo>
                <a:lnTo>
                  <a:pt x="6" y="681"/>
                </a:lnTo>
                <a:lnTo>
                  <a:pt x="6" y="683"/>
                </a:lnTo>
                <a:lnTo>
                  <a:pt x="6" y="683"/>
                </a:lnTo>
                <a:close/>
                <a:moveTo>
                  <a:pt x="6" y="715"/>
                </a:moveTo>
                <a:lnTo>
                  <a:pt x="6" y="729"/>
                </a:lnTo>
                <a:lnTo>
                  <a:pt x="6" y="732"/>
                </a:lnTo>
                <a:lnTo>
                  <a:pt x="3" y="734"/>
                </a:lnTo>
                <a:lnTo>
                  <a:pt x="3" y="732"/>
                </a:lnTo>
                <a:lnTo>
                  <a:pt x="0" y="729"/>
                </a:lnTo>
                <a:lnTo>
                  <a:pt x="0" y="715"/>
                </a:lnTo>
                <a:lnTo>
                  <a:pt x="3" y="713"/>
                </a:lnTo>
                <a:lnTo>
                  <a:pt x="3" y="713"/>
                </a:lnTo>
                <a:lnTo>
                  <a:pt x="6" y="713"/>
                </a:lnTo>
                <a:lnTo>
                  <a:pt x="6" y="715"/>
                </a:lnTo>
                <a:lnTo>
                  <a:pt x="6" y="715"/>
                </a:lnTo>
                <a:close/>
                <a:moveTo>
                  <a:pt x="6" y="750"/>
                </a:moveTo>
                <a:lnTo>
                  <a:pt x="6" y="764"/>
                </a:lnTo>
                <a:lnTo>
                  <a:pt x="6" y="767"/>
                </a:lnTo>
                <a:lnTo>
                  <a:pt x="3" y="767"/>
                </a:lnTo>
                <a:lnTo>
                  <a:pt x="3" y="767"/>
                </a:lnTo>
                <a:lnTo>
                  <a:pt x="0" y="764"/>
                </a:lnTo>
                <a:lnTo>
                  <a:pt x="0" y="750"/>
                </a:lnTo>
                <a:lnTo>
                  <a:pt x="3" y="748"/>
                </a:lnTo>
                <a:lnTo>
                  <a:pt x="3" y="748"/>
                </a:lnTo>
                <a:lnTo>
                  <a:pt x="6" y="748"/>
                </a:lnTo>
                <a:lnTo>
                  <a:pt x="6" y="750"/>
                </a:lnTo>
                <a:lnTo>
                  <a:pt x="6" y="750"/>
                </a:lnTo>
                <a:close/>
                <a:moveTo>
                  <a:pt x="6" y="783"/>
                </a:moveTo>
                <a:lnTo>
                  <a:pt x="6" y="799"/>
                </a:lnTo>
                <a:lnTo>
                  <a:pt x="6" y="799"/>
                </a:lnTo>
                <a:lnTo>
                  <a:pt x="3" y="802"/>
                </a:lnTo>
                <a:lnTo>
                  <a:pt x="3" y="799"/>
                </a:lnTo>
                <a:lnTo>
                  <a:pt x="0" y="799"/>
                </a:lnTo>
                <a:lnTo>
                  <a:pt x="0" y="783"/>
                </a:lnTo>
                <a:lnTo>
                  <a:pt x="3" y="783"/>
                </a:lnTo>
                <a:lnTo>
                  <a:pt x="3" y="781"/>
                </a:lnTo>
                <a:lnTo>
                  <a:pt x="6" y="783"/>
                </a:lnTo>
                <a:lnTo>
                  <a:pt x="6" y="783"/>
                </a:lnTo>
                <a:lnTo>
                  <a:pt x="6" y="783"/>
                </a:lnTo>
                <a:close/>
                <a:moveTo>
                  <a:pt x="6" y="818"/>
                </a:moveTo>
                <a:lnTo>
                  <a:pt x="6" y="832"/>
                </a:lnTo>
                <a:lnTo>
                  <a:pt x="6" y="834"/>
                </a:lnTo>
                <a:lnTo>
                  <a:pt x="3" y="834"/>
                </a:lnTo>
                <a:lnTo>
                  <a:pt x="3" y="834"/>
                </a:lnTo>
                <a:lnTo>
                  <a:pt x="0" y="832"/>
                </a:lnTo>
                <a:lnTo>
                  <a:pt x="0" y="818"/>
                </a:lnTo>
                <a:lnTo>
                  <a:pt x="3" y="816"/>
                </a:lnTo>
                <a:lnTo>
                  <a:pt x="3" y="816"/>
                </a:lnTo>
                <a:lnTo>
                  <a:pt x="6" y="816"/>
                </a:lnTo>
                <a:lnTo>
                  <a:pt x="6" y="818"/>
                </a:lnTo>
                <a:lnTo>
                  <a:pt x="6" y="818"/>
                </a:lnTo>
                <a:close/>
                <a:moveTo>
                  <a:pt x="6" y="853"/>
                </a:moveTo>
                <a:lnTo>
                  <a:pt x="6" y="867"/>
                </a:lnTo>
                <a:lnTo>
                  <a:pt x="6" y="869"/>
                </a:lnTo>
                <a:lnTo>
                  <a:pt x="3" y="869"/>
                </a:lnTo>
                <a:lnTo>
                  <a:pt x="3" y="869"/>
                </a:lnTo>
                <a:lnTo>
                  <a:pt x="0" y="867"/>
                </a:lnTo>
                <a:lnTo>
                  <a:pt x="0" y="853"/>
                </a:lnTo>
                <a:lnTo>
                  <a:pt x="3" y="851"/>
                </a:lnTo>
                <a:lnTo>
                  <a:pt x="3" y="851"/>
                </a:lnTo>
                <a:lnTo>
                  <a:pt x="6" y="851"/>
                </a:lnTo>
                <a:lnTo>
                  <a:pt x="6" y="853"/>
                </a:lnTo>
                <a:lnTo>
                  <a:pt x="6" y="853"/>
                </a:lnTo>
                <a:close/>
                <a:moveTo>
                  <a:pt x="6" y="886"/>
                </a:moveTo>
                <a:lnTo>
                  <a:pt x="6" y="900"/>
                </a:lnTo>
                <a:lnTo>
                  <a:pt x="6" y="902"/>
                </a:lnTo>
                <a:lnTo>
                  <a:pt x="3" y="902"/>
                </a:lnTo>
                <a:lnTo>
                  <a:pt x="3" y="902"/>
                </a:lnTo>
                <a:lnTo>
                  <a:pt x="0" y="900"/>
                </a:lnTo>
                <a:lnTo>
                  <a:pt x="0" y="886"/>
                </a:lnTo>
                <a:lnTo>
                  <a:pt x="3" y="883"/>
                </a:lnTo>
                <a:lnTo>
                  <a:pt x="3" y="883"/>
                </a:lnTo>
                <a:lnTo>
                  <a:pt x="6" y="883"/>
                </a:lnTo>
                <a:lnTo>
                  <a:pt x="6" y="886"/>
                </a:lnTo>
                <a:lnTo>
                  <a:pt x="6" y="886"/>
                </a:lnTo>
                <a:close/>
              </a:path>
            </a:pathLst>
          </a:custGeom>
          <a:solidFill>
            <a:srgbClr val="000000"/>
          </a:solidFill>
          <a:ln w="4763" cap="flat" cmpd="sng">
            <a:solidFill>
              <a:srgbClr val="000000"/>
            </a:solidFill>
            <a:prstDash val="solid"/>
            <a:headEnd type="none" w="med" len="med"/>
            <a:tailEnd type="none" w="med" len="med"/>
          </a:ln>
        </p:spPr>
        <p:txBody>
          <a:bodyPr/>
          <a:p>
            <a:endParaRPr lang="zh-CN" altLang="en-US"/>
          </a:p>
        </p:txBody>
      </p:sp>
      <p:sp>
        <p:nvSpPr>
          <p:cNvPr id="96449" name="任意多边形 96448"/>
          <p:cNvSpPr>
            <a:spLocks noEditPoints="1"/>
          </p:cNvSpPr>
          <p:nvPr/>
        </p:nvSpPr>
        <p:spPr>
          <a:xfrm>
            <a:off x="6972300" y="4494213"/>
            <a:ext cx="9525" cy="1379537"/>
          </a:xfrm>
          <a:custGeom>
            <a:avLst/>
            <a:gdLst/>
            <a:ahLst/>
            <a:cxnLst/>
            <a:pathLst>
              <a:path w="6" h="869">
                <a:moveTo>
                  <a:pt x="6" y="2"/>
                </a:moveTo>
                <a:lnTo>
                  <a:pt x="6" y="19"/>
                </a:lnTo>
                <a:lnTo>
                  <a:pt x="3" y="19"/>
                </a:lnTo>
                <a:lnTo>
                  <a:pt x="3" y="21"/>
                </a:lnTo>
                <a:lnTo>
                  <a:pt x="0" y="19"/>
                </a:lnTo>
                <a:lnTo>
                  <a:pt x="0" y="19"/>
                </a:lnTo>
                <a:lnTo>
                  <a:pt x="0" y="2"/>
                </a:lnTo>
                <a:lnTo>
                  <a:pt x="0" y="2"/>
                </a:lnTo>
                <a:lnTo>
                  <a:pt x="3" y="0"/>
                </a:lnTo>
                <a:lnTo>
                  <a:pt x="3" y="2"/>
                </a:lnTo>
                <a:lnTo>
                  <a:pt x="6" y="2"/>
                </a:lnTo>
                <a:lnTo>
                  <a:pt x="6" y="2"/>
                </a:lnTo>
                <a:close/>
                <a:moveTo>
                  <a:pt x="6" y="37"/>
                </a:moveTo>
                <a:lnTo>
                  <a:pt x="6" y="51"/>
                </a:lnTo>
                <a:lnTo>
                  <a:pt x="3" y="54"/>
                </a:lnTo>
                <a:lnTo>
                  <a:pt x="3" y="54"/>
                </a:lnTo>
                <a:lnTo>
                  <a:pt x="0" y="54"/>
                </a:lnTo>
                <a:lnTo>
                  <a:pt x="0" y="51"/>
                </a:lnTo>
                <a:lnTo>
                  <a:pt x="0" y="37"/>
                </a:lnTo>
                <a:lnTo>
                  <a:pt x="0" y="35"/>
                </a:lnTo>
                <a:lnTo>
                  <a:pt x="3" y="35"/>
                </a:lnTo>
                <a:lnTo>
                  <a:pt x="3" y="35"/>
                </a:lnTo>
                <a:lnTo>
                  <a:pt x="6" y="37"/>
                </a:lnTo>
                <a:lnTo>
                  <a:pt x="6" y="37"/>
                </a:lnTo>
                <a:close/>
                <a:moveTo>
                  <a:pt x="6" y="72"/>
                </a:moveTo>
                <a:lnTo>
                  <a:pt x="6" y="86"/>
                </a:lnTo>
                <a:lnTo>
                  <a:pt x="3" y="89"/>
                </a:lnTo>
                <a:lnTo>
                  <a:pt x="3" y="89"/>
                </a:lnTo>
                <a:lnTo>
                  <a:pt x="0" y="89"/>
                </a:lnTo>
                <a:lnTo>
                  <a:pt x="0" y="86"/>
                </a:lnTo>
                <a:lnTo>
                  <a:pt x="0" y="72"/>
                </a:lnTo>
                <a:lnTo>
                  <a:pt x="0" y="70"/>
                </a:lnTo>
                <a:lnTo>
                  <a:pt x="3" y="70"/>
                </a:lnTo>
                <a:lnTo>
                  <a:pt x="3" y="70"/>
                </a:lnTo>
                <a:lnTo>
                  <a:pt x="6" y="72"/>
                </a:lnTo>
                <a:lnTo>
                  <a:pt x="6" y="72"/>
                </a:lnTo>
                <a:close/>
                <a:moveTo>
                  <a:pt x="6" y="105"/>
                </a:moveTo>
                <a:lnTo>
                  <a:pt x="6" y="119"/>
                </a:lnTo>
                <a:lnTo>
                  <a:pt x="3" y="121"/>
                </a:lnTo>
                <a:lnTo>
                  <a:pt x="3" y="124"/>
                </a:lnTo>
                <a:lnTo>
                  <a:pt x="0" y="121"/>
                </a:lnTo>
                <a:lnTo>
                  <a:pt x="0" y="119"/>
                </a:lnTo>
                <a:lnTo>
                  <a:pt x="0" y="105"/>
                </a:lnTo>
                <a:lnTo>
                  <a:pt x="0" y="103"/>
                </a:lnTo>
                <a:lnTo>
                  <a:pt x="3" y="103"/>
                </a:lnTo>
                <a:lnTo>
                  <a:pt x="3" y="103"/>
                </a:lnTo>
                <a:lnTo>
                  <a:pt x="6" y="105"/>
                </a:lnTo>
                <a:lnTo>
                  <a:pt x="6" y="105"/>
                </a:lnTo>
                <a:close/>
                <a:moveTo>
                  <a:pt x="6" y="140"/>
                </a:moveTo>
                <a:lnTo>
                  <a:pt x="6" y="154"/>
                </a:lnTo>
                <a:lnTo>
                  <a:pt x="3" y="156"/>
                </a:lnTo>
                <a:lnTo>
                  <a:pt x="3" y="156"/>
                </a:lnTo>
                <a:lnTo>
                  <a:pt x="0" y="156"/>
                </a:lnTo>
                <a:lnTo>
                  <a:pt x="0" y="154"/>
                </a:lnTo>
                <a:lnTo>
                  <a:pt x="0" y="140"/>
                </a:lnTo>
                <a:lnTo>
                  <a:pt x="0" y="138"/>
                </a:lnTo>
                <a:lnTo>
                  <a:pt x="3" y="138"/>
                </a:lnTo>
                <a:lnTo>
                  <a:pt x="3" y="138"/>
                </a:lnTo>
                <a:lnTo>
                  <a:pt x="6" y="140"/>
                </a:lnTo>
                <a:lnTo>
                  <a:pt x="6" y="140"/>
                </a:lnTo>
                <a:close/>
                <a:moveTo>
                  <a:pt x="6" y="173"/>
                </a:moveTo>
                <a:lnTo>
                  <a:pt x="6" y="189"/>
                </a:lnTo>
                <a:lnTo>
                  <a:pt x="3" y="189"/>
                </a:lnTo>
                <a:lnTo>
                  <a:pt x="3" y="191"/>
                </a:lnTo>
                <a:lnTo>
                  <a:pt x="0" y="189"/>
                </a:lnTo>
                <a:lnTo>
                  <a:pt x="0" y="189"/>
                </a:lnTo>
                <a:lnTo>
                  <a:pt x="0" y="173"/>
                </a:lnTo>
                <a:lnTo>
                  <a:pt x="0" y="173"/>
                </a:lnTo>
                <a:lnTo>
                  <a:pt x="3" y="170"/>
                </a:lnTo>
                <a:lnTo>
                  <a:pt x="3" y="173"/>
                </a:lnTo>
                <a:lnTo>
                  <a:pt x="6" y="173"/>
                </a:lnTo>
                <a:lnTo>
                  <a:pt x="6" y="173"/>
                </a:lnTo>
                <a:close/>
                <a:moveTo>
                  <a:pt x="6" y="208"/>
                </a:moveTo>
                <a:lnTo>
                  <a:pt x="6" y="222"/>
                </a:lnTo>
                <a:lnTo>
                  <a:pt x="3" y="224"/>
                </a:lnTo>
                <a:lnTo>
                  <a:pt x="3" y="224"/>
                </a:lnTo>
                <a:lnTo>
                  <a:pt x="0" y="224"/>
                </a:lnTo>
                <a:lnTo>
                  <a:pt x="0" y="222"/>
                </a:lnTo>
                <a:lnTo>
                  <a:pt x="0" y="208"/>
                </a:lnTo>
                <a:lnTo>
                  <a:pt x="0" y="205"/>
                </a:lnTo>
                <a:lnTo>
                  <a:pt x="3" y="205"/>
                </a:lnTo>
                <a:lnTo>
                  <a:pt x="3" y="205"/>
                </a:lnTo>
                <a:lnTo>
                  <a:pt x="6" y="208"/>
                </a:lnTo>
                <a:lnTo>
                  <a:pt x="6" y="208"/>
                </a:lnTo>
                <a:close/>
                <a:moveTo>
                  <a:pt x="6" y="242"/>
                </a:moveTo>
                <a:lnTo>
                  <a:pt x="6" y="256"/>
                </a:lnTo>
                <a:lnTo>
                  <a:pt x="3" y="259"/>
                </a:lnTo>
                <a:lnTo>
                  <a:pt x="3" y="259"/>
                </a:lnTo>
                <a:lnTo>
                  <a:pt x="0" y="259"/>
                </a:lnTo>
                <a:lnTo>
                  <a:pt x="0" y="256"/>
                </a:lnTo>
                <a:lnTo>
                  <a:pt x="0" y="242"/>
                </a:lnTo>
                <a:lnTo>
                  <a:pt x="0" y="240"/>
                </a:lnTo>
                <a:lnTo>
                  <a:pt x="3" y="240"/>
                </a:lnTo>
                <a:lnTo>
                  <a:pt x="3" y="240"/>
                </a:lnTo>
                <a:lnTo>
                  <a:pt x="6" y="242"/>
                </a:lnTo>
                <a:lnTo>
                  <a:pt x="6" y="242"/>
                </a:lnTo>
                <a:close/>
                <a:moveTo>
                  <a:pt x="6" y="275"/>
                </a:moveTo>
                <a:lnTo>
                  <a:pt x="6" y="289"/>
                </a:lnTo>
                <a:lnTo>
                  <a:pt x="3" y="291"/>
                </a:lnTo>
                <a:lnTo>
                  <a:pt x="3" y="291"/>
                </a:lnTo>
                <a:lnTo>
                  <a:pt x="0" y="291"/>
                </a:lnTo>
                <a:lnTo>
                  <a:pt x="0" y="289"/>
                </a:lnTo>
                <a:lnTo>
                  <a:pt x="0" y="275"/>
                </a:lnTo>
                <a:lnTo>
                  <a:pt x="0" y="273"/>
                </a:lnTo>
                <a:lnTo>
                  <a:pt x="3" y="273"/>
                </a:lnTo>
                <a:lnTo>
                  <a:pt x="3" y="273"/>
                </a:lnTo>
                <a:lnTo>
                  <a:pt x="6" y="275"/>
                </a:lnTo>
                <a:lnTo>
                  <a:pt x="6" y="275"/>
                </a:lnTo>
                <a:close/>
                <a:moveTo>
                  <a:pt x="6" y="310"/>
                </a:moveTo>
                <a:lnTo>
                  <a:pt x="6" y="324"/>
                </a:lnTo>
                <a:lnTo>
                  <a:pt x="3" y="326"/>
                </a:lnTo>
                <a:lnTo>
                  <a:pt x="3" y="326"/>
                </a:lnTo>
                <a:lnTo>
                  <a:pt x="0" y="326"/>
                </a:lnTo>
                <a:lnTo>
                  <a:pt x="0" y="324"/>
                </a:lnTo>
                <a:lnTo>
                  <a:pt x="0" y="310"/>
                </a:lnTo>
                <a:lnTo>
                  <a:pt x="0" y="308"/>
                </a:lnTo>
                <a:lnTo>
                  <a:pt x="3" y="308"/>
                </a:lnTo>
                <a:lnTo>
                  <a:pt x="3" y="308"/>
                </a:lnTo>
                <a:lnTo>
                  <a:pt x="6" y="310"/>
                </a:lnTo>
                <a:lnTo>
                  <a:pt x="6" y="310"/>
                </a:lnTo>
                <a:close/>
                <a:moveTo>
                  <a:pt x="6" y="343"/>
                </a:moveTo>
                <a:lnTo>
                  <a:pt x="6" y="359"/>
                </a:lnTo>
                <a:lnTo>
                  <a:pt x="3" y="359"/>
                </a:lnTo>
                <a:lnTo>
                  <a:pt x="3" y="361"/>
                </a:lnTo>
                <a:lnTo>
                  <a:pt x="0" y="359"/>
                </a:lnTo>
                <a:lnTo>
                  <a:pt x="0" y="359"/>
                </a:lnTo>
                <a:lnTo>
                  <a:pt x="0" y="343"/>
                </a:lnTo>
                <a:lnTo>
                  <a:pt x="0" y="343"/>
                </a:lnTo>
                <a:lnTo>
                  <a:pt x="3" y="340"/>
                </a:lnTo>
                <a:lnTo>
                  <a:pt x="3" y="343"/>
                </a:lnTo>
                <a:lnTo>
                  <a:pt x="6" y="343"/>
                </a:lnTo>
                <a:lnTo>
                  <a:pt x="6" y="343"/>
                </a:lnTo>
                <a:close/>
                <a:moveTo>
                  <a:pt x="6" y="378"/>
                </a:moveTo>
                <a:lnTo>
                  <a:pt x="6" y="392"/>
                </a:lnTo>
                <a:lnTo>
                  <a:pt x="3" y="394"/>
                </a:lnTo>
                <a:lnTo>
                  <a:pt x="3" y="394"/>
                </a:lnTo>
                <a:lnTo>
                  <a:pt x="0" y="394"/>
                </a:lnTo>
                <a:lnTo>
                  <a:pt x="0" y="392"/>
                </a:lnTo>
                <a:lnTo>
                  <a:pt x="0" y="378"/>
                </a:lnTo>
                <a:lnTo>
                  <a:pt x="0" y="375"/>
                </a:lnTo>
                <a:lnTo>
                  <a:pt x="3" y="375"/>
                </a:lnTo>
                <a:lnTo>
                  <a:pt x="3" y="375"/>
                </a:lnTo>
                <a:lnTo>
                  <a:pt x="6" y="378"/>
                </a:lnTo>
                <a:lnTo>
                  <a:pt x="6" y="378"/>
                </a:lnTo>
                <a:close/>
                <a:moveTo>
                  <a:pt x="6" y="410"/>
                </a:moveTo>
                <a:lnTo>
                  <a:pt x="6" y="427"/>
                </a:lnTo>
                <a:lnTo>
                  <a:pt x="3" y="427"/>
                </a:lnTo>
                <a:lnTo>
                  <a:pt x="3" y="429"/>
                </a:lnTo>
                <a:lnTo>
                  <a:pt x="0" y="427"/>
                </a:lnTo>
                <a:lnTo>
                  <a:pt x="0" y="427"/>
                </a:lnTo>
                <a:lnTo>
                  <a:pt x="0" y="410"/>
                </a:lnTo>
                <a:lnTo>
                  <a:pt x="0" y="410"/>
                </a:lnTo>
                <a:lnTo>
                  <a:pt x="3" y="408"/>
                </a:lnTo>
                <a:lnTo>
                  <a:pt x="3" y="410"/>
                </a:lnTo>
                <a:lnTo>
                  <a:pt x="6" y="410"/>
                </a:lnTo>
                <a:lnTo>
                  <a:pt x="6" y="410"/>
                </a:lnTo>
                <a:close/>
                <a:moveTo>
                  <a:pt x="6" y="445"/>
                </a:moveTo>
                <a:lnTo>
                  <a:pt x="6" y="459"/>
                </a:lnTo>
                <a:lnTo>
                  <a:pt x="3" y="461"/>
                </a:lnTo>
                <a:lnTo>
                  <a:pt x="3" y="461"/>
                </a:lnTo>
                <a:lnTo>
                  <a:pt x="0" y="461"/>
                </a:lnTo>
                <a:lnTo>
                  <a:pt x="0" y="459"/>
                </a:lnTo>
                <a:lnTo>
                  <a:pt x="0" y="445"/>
                </a:lnTo>
                <a:lnTo>
                  <a:pt x="0" y="443"/>
                </a:lnTo>
                <a:lnTo>
                  <a:pt x="3" y="443"/>
                </a:lnTo>
                <a:lnTo>
                  <a:pt x="3" y="443"/>
                </a:lnTo>
                <a:lnTo>
                  <a:pt x="6" y="445"/>
                </a:lnTo>
                <a:lnTo>
                  <a:pt x="6" y="445"/>
                </a:lnTo>
                <a:close/>
                <a:moveTo>
                  <a:pt x="6" y="480"/>
                </a:moveTo>
                <a:lnTo>
                  <a:pt x="6" y="494"/>
                </a:lnTo>
                <a:lnTo>
                  <a:pt x="3" y="496"/>
                </a:lnTo>
                <a:lnTo>
                  <a:pt x="3" y="496"/>
                </a:lnTo>
                <a:lnTo>
                  <a:pt x="0" y="496"/>
                </a:lnTo>
                <a:lnTo>
                  <a:pt x="0" y="494"/>
                </a:lnTo>
                <a:lnTo>
                  <a:pt x="0" y="480"/>
                </a:lnTo>
                <a:lnTo>
                  <a:pt x="0" y="478"/>
                </a:lnTo>
                <a:lnTo>
                  <a:pt x="3" y="478"/>
                </a:lnTo>
                <a:lnTo>
                  <a:pt x="3" y="478"/>
                </a:lnTo>
                <a:lnTo>
                  <a:pt x="6" y="480"/>
                </a:lnTo>
                <a:lnTo>
                  <a:pt x="6" y="480"/>
                </a:lnTo>
                <a:close/>
                <a:moveTo>
                  <a:pt x="6" y="513"/>
                </a:moveTo>
                <a:lnTo>
                  <a:pt x="6" y="527"/>
                </a:lnTo>
                <a:lnTo>
                  <a:pt x="3" y="529"/>
                </a:lnTo>
                <a:lnTo>
                  <a:pt x="3" y="531"/>
                </a:lnTo>
                <a:lnTo>
                  <a:pt x="0" y="529"/>
                </a:lnTo>
                <a:lnTo>
                  <a:pt x="0" y="527"/>
                </a:lnTo>
                <a:lnTo>
                  <a:pt x="0" y="513"/>
                </a:lnTo>
                <a:lnTo>
                  <a:pt x="0" y="510"/>
                </a:lnTo>
                <a:lnTo>
                  <a:pt x="3" y="510"/>
                </a:lnTo>
                <a:lnTo>
                  <a:pt x="3" y="510"/>
                </a:lnTo>
                <a:lnTo>
                  <a:pt x="6" y="513"/>
                </a:lnTo>
                <a:lnTo>
                  <a:pt x="6" y="513"/>
                </a:lnTo>
                <a:close/>
                <a:moveTo>
                  <a:pt x="6" y="548"/>
                </a:moveTo>
                <a:lnTo>
                  <a:pt x="6" y="562"/>
                </a:lnTo>
                <a:lnTo>
                  <a:pt x="3" y="564"/>
                </a:lnTo>
                <a:lnTo>
                  <a:pt x="3" y="564"/>
                </a:lnTo>
                <a:lnTo>
                  <a:pt x="0" y="564"/>
                </a:lnTo>
                <a:lnTo>
                  <a:pt x="0" y="562"/>
                </a:lnTo>
                <a:lnTo>
                  <a:pt x="0" y="548"/>
                </a:lnTo>
                <a:lnTo>
                  <a:pt x="0" y="545"/>
                </a:lnTo>
                <a:lnTo>
                  <a:pt x="3" y="545"/>
                </a:lnTo>
                <a:lnTo>
                  <a:pt x="3" y="545"/>
                </a:lnTo>
                <a:lnTo>
                  <a:pt x="6" y="548"/>
                </a:lnTo>
                <a:lnTo>
                  <a:pt x="6" y="548"/>
                </a:lnTo>
                <a:close/>
                <a:moveTo>
                  <a:pt x="6" y="580"/>
                </a:moveTo>
                <a:lnTo>
                  <a:pt x="6" y="597"/>
                </a:lnTo>
                <a:lnTo>
                  <a:pt x="3" y="597"/>
                </a:lnTo>
                <a:lnTo>
                  <a:pt x="3" y="599"/>
                </a:lnTo>
                <a:lnTo>
                  <a:pt x="0" y="597"/>
                </a:lnTo>
                <a:lnTo>
                  <a:pt x="0" y="597"/>
                </a:lnTo>
                <a:lnTo>
                  <a:pt x="0" y="580"/>
                </a:lnTo>
                <a:lnTo>
                  <a:pt x="0" y="580"/>
                </a:lnTo>
                <a:lnTo>
                  <a:pt x="3" y="578"/>
                </a:lnTo>
                <a:lnTo>
                  <a:pt x="3" y="580"/>
                </a:lnTo>
                <a:lnTo>
                  <a:pt x="6" y="580"/>
                </a:lnTo>
                <a:lnTo>
                  <a:pt x="6" y="580"/>
                </a:lnTo>
                <a:close/>
                <a:moveTo>
                  <a:pt x="6" y="615"/>
                </a:moveTo>
                <a:lnTo>
                  <a:pt x="6" y="629"/>
                </a:lnTo>
                <a:lnTo>
                  <a:pt x="3" y="632"/>
                </a:lnTo>
                <a:lnTo>
                  <a:pt x="3" y="632"/>
                </a:lnTo>
                <a:lnTo>
                  <a:pt x="0" y="632"/>
                </a:lnTo>
                <a:lnTo>
                  <a:pt x="0" y="629"/>
                </a:lnTo>
                <a:lnTo>
                  <a:pt x="0" y="615"/>
                </a:lnTo>
                <a:lnTo>
                  <a:pt x="0" y="613"/>
                </a:lnTo>
                <a:lnTo>
                  <a:pt x="3" y="613"/>
                </a:lnTo>
                <a:lnTo>
                  <a:pt x="3" y="613"/>
                </a:lnTo>
                <a:lnTo>
                  <a:pt x="6" y="615"/>
                </a:lnTo>
                <a:lnTo>
                  <a:pt x="6" y="615"/>
                </a:lnTo>
                <a:close/>
                <a:moveTo>
                  <a:pt x="6" y="650"/>
                </a:moveTo>
                <a:lnTo>
                  <a:pt x="6" y="664"/>
                </a:lnTo>
                <a:lnTo>
                  <a:pt x="3" y="666"/>
                </a:lnTo>
                <a:lnTo>
                  <a:pt x="3" y="666"/>
                </a:lnTo>
                <a:lnTo>
                  <a:pt x="0" y="666"/>
                </a:lnTo>
                <a:lnTo>
                  <a:pt x="0" y="664"/>
                </a:lnTo>
                <a:lnTo>
                  <a:pt x="0" y="650"/>
                </a:lnTo>
                <a:lnTo>
                  <a:pt x="0" y="648"/>
                </a:lnTo>
                <a:lnTo>
                  <a:pt x="3" y="648"/>
                </a:lnTo>
                <a:lnTo>
                  <a:pt x="3" y="648"/>
                </a:lnTo>
                <a:lnTo>
                  <a:pt x="6" y="650"/>
                </a:lnTo>
                <a:lnTo>
                  <a:pt x="6" y="650"/>
                </a:lnTo>
                <a:close/>
                <a:moveTo>
                  <a:pt x="6" y="683"/>
                </a:moveTo>
                <a:lnTo>
                  <a:pt x="6" y="697"/>
                </a:lnTo>
                <a:lnTo>
                  <a:pt x="3" y="699"/>
                </a:lnTo>
                <a:lnTo>
                  <a:pt x="3" y="699"/>
                </a:lnTo>
                <a:lnTo>
                  <a:pt x="0" y="699"/>
                </a:lnTo>
                <a:lnTo>
                  <a:pt x="0" y="697"/>
                </a:lnTo>
                <a:lnTo>
                  <a:pt x="0" y="683"/>
                </a:lnTo>
                <a:lnTo>
                  <a:pt x="0" y="680"/>
                </a:lnTo>
                <a:lnTo>
                  <a:pt x="3" y="680"/>
                </a:lnTo>
                <a:lnTo>
                  <a:pt x="3" y="680"/>
                </a:lnTo>
                <a:lnTo>
                  <a:pt x="6" y="683"/>
                </a:lnTo>
                <a:lnTo>
                  <a:pt x="6" y="683"/>
                </a:lnTo>
                <a:close/>
                <a:moveTo>
                  <a:pt x="6" y="718"/>
                </a:moveTo>
                <a:lnTo>
                  <a:pt x="6" y="732"/>
                </a:lnTo>
                <a:lnTo>
                  <a:pt x="3" y="734"/>
                </a:lnTo>
                <a:lnTo>
                  <a:pt x="3" y="734"/>
                </a:lnTo>
                <a:lnTo>
                  <a:pt x="0" y="734"/>
                </a:lnTo>
                <a:lnTo>
                  <a:pt x="0" y="732"/>
                </a:lnTo>
                <a:lnTo>
                  <a:pt x="0" y="718"/>
                </a:lnTo>
                <a:lnTo>
                  <a:pt x="0" y="715"/>
                </a:lnTo>
                <a:lnTo>
                  <a:pt x="3" y="715"/>
                </a:lnTo>
                <a:lnTo>
                  <a:pt x="3" y="715"/>
                </a:lnTo>
                <a:lnTo>
                  <a:pt x="6" y="718"/>
                </a:lnTo>
                <a:lnTo>
                  <a:pt x="6" y="718"/>
                </a:lnTo>
                <a:close/>
                <a:moveTo>
                  <a:pt x="6" y="750"/>
                </a:moveTo>
                <a:lnTo>
                  <a:pt x="6" y="767"/>
                </a:lnTo>
                <a:lnTo>
                  <a:pt x="3" y="767"/>
                </a:lnTo>
                <a:lnTo>
                  <a:pt x="3" y="769"/>
                </a:lnTo>
                <a:lnTo>
                  <a:pt x="0" y="767"/>
                </a:lnTo>
                <a:lnTo>
                  <a:pt x="0" y="767"/>
                </a:lnTo>
                <a:lnTo>
                  <a:pt x="0" y="750"/>
                </a:lnTo>
                <a:lnTo>
                  <a:pt x="0" y="750"/>
                </a:lnTo>
                <a:lnTo>
                  <a:pt x="3" y="748"/>
                </a:lnTo>
                <a:lnTo>
                  <a:pt x="3" y="750"/>
                </a:lnTo>
                <a:lnTo>
                  <a:pt x="6" y="750"/>
                </a:lnTo>
                <a:lnTo>
                  <a:pt x="6" y="750"/>
                </a:lnTo>
                <a:close/>
                <a:moveTo>
                  <a:pt x="6" y="785"/>
                </a:moveTo>
                <a:lnTo>
                  <a:pt x="6" y="799"/>
                </a:lnTo>
                <a:lnTo>
                  <a:pt x="3" y="802"/>
                </a:lnTo>
                <a:lnTo>
                  <a:pt x="3" y="802"/>
                </a:lnTo>
                <a:lnTo>
                  <a:pt x="0" y="802"/>
                </a:lnTo>
                <a:lnTo>
                  <a:pt x="0" y="799"/>
                </a:lnTo>
                <a:lnTo>
                  <a:pt x="0" y="785"/>
                </a:lnTo>
                <a:lnTo>
                  <a:pt x="0" y="783"/>
                </a:lnTo>
                <a:lnTo>
                  <a:pt x="3" y="783"/>
                </a:lnTo>
                <a:lnTo>
                  <a:pt x="3" y="783"/>
                </a:lnTo>
                <a:lnTo>
                  <a:pt x="6" y="785"/>
                </a:lnTo>
                <a:lnTo>
                  <a:pt x="6" y="785"/>
                </a:lnTo>
                <a:close/>
                <a:moveTo>
                  <a:pt x="6" y="818"/>
                </a:moveTo>
                <a:lnTo>
                  <a:pt x="6" y="834"/>
                </a:lnTo>
                <a:lnTo>
                  <a:pt x="3" y="834"/>
                </a:lnTo>
                <a:lnTo>
                  <a:pt x="3" y="837"/>
                </a:lnTo>
                <a:lnTo>
                  <a:pt x="0" y="834"/>
                </a:lnTo>
                <a:lnTo>
                  <a:pt x="0" y="834"/>
                </a:lnTo>
                <a:lnTo>
                  <a:pt x="0" y="818"/>
                </a:lnTo>
                <a:lnTo>
                  <a:pt x="0" y="818"/>
                </a:lnTo>
                <a:lnTo>
                  <a:pt x="3" y="816"/>
                </a:lnTo>
                <a:lnTo>
                  <a:pt x="3" y="818"/>
                </a:lnTo>
                <a:lnTo>
                  <a:pt x="6" y="818"/>
                </a:lnTo>
                <a:lnTo>
                  <a:pt x="6" y="818"/>
                </a:lnTo>
                <a:close/>
                <a:moveTo>
                  <a:pt x="6" y="853"/>
                </a:moveTo>
                <a:lnTo>
                  <a:pt x="6" y="867"/>
                </a:lnTo>
                <a:lnTo>
                  <a:pt x="3" y="869"/>
                </a:lnTo>
                <a:lnTo>
                  <a:pt x="3" y="869"/>
                </a:lnTo>
                <a:lnTo>
                  <a:pt x="0" y="869"/>
                </a:lnTo>
                <a:lnTo>
                  <a:pt x="0" y="867"/>
                </a:lnTo>
                <a:lnTo>
                  <a:pt x="0" y="853"/>
                </a:lnTo>
                <a:lnTo>
                  <a:pt x="0" y="851"/>
                </a:lnTo>
                <a:lnTo>
                  <a:pt x="3" y="851"/>
                </a:lnTo>
                <a:lnTo>
                  <a:pt x="3" y="851"/>
                </a:lnTo>
                <a:lnTo>
                  <a:pt x="6" y="853"/>
                </a:lnTo>
                <a:lnTo>
                  <a:pt x="6" y="853"/>
                </a:lnTo>
                <a:close/>
              </a:path>
            </a:pathLst>
          </a:custGeom>
          <a:solidFill>
            <a:srgbClr val="000000"/>
          </a:solidFill>
          <a:ln w="4763" cap="flat" cmpd="sng">
            <a:solidFill>
              <a:srgbClr val="000000"/>
            </a:solidFill>
            <a:prstDash val="solid"/>
            <a:headEnd type="none" w="med" len="med"/>
            <a:tailEnd type="none" w="med" len="med"/>
          </a:ln>
        </p:spPr>
        <p:txBody>
          <a:bodyPr/>
          <a:p>
            <a:endParaRPr lang="zh-CN" altLang="en-US"/>
          </a:p>
        </p:txBody>
      </p:sp>
      <p:sp>
        <p:nvSpPr>
          <p:cNvPr id="96317" name="任意多边形 96316"/>
          <p:cNvSpPr/>
          <p:nvPr/>
        </p:nvSpPr>
        <p:spPr>
          <a:xfrm flipH="1">
            <a:off x="7013575" y="4111625"/>
            <a:ext cx="585788" cy="495300"/>
          </a:xfrm>
          <a:custGeom>
            <a:avLst/>
            <a:gdLst>
              <a:gd name="txL" fmla="*/ 0 w 20999"/>
              <a:gd name="txT" fmla="*/ 0 h 21584"/>
              <a:gd name="txR" fmla="*/ 20999 w 20999"/>
              <a:gd name="txB" fmla="*/ 21584 h 21584"/>
            </a:gdLst>
            <a:ahLst/>
            <a:cxnLst>
              <a:cxn ang="270">
                <a:pos x="842" y="0"/>
              </a:cxn>
              <a:cxn ang="0">
                <a:pos x="20999" y="16524"/>
              </a:cxn>
              <a:cxn ang="180">
                <a:pos x="0" y="21584"/>
              </a:cxn>
            </a:cxnLst>
            <a:rect l="txL" t="txT" r="txR" b="txB"/>
            <a:pathLst>
              <a:path w="20999" h="21584" fill="none">
                <a:moveTo>
                  <a:pt x="842" y="0"/>
                </a:moveTo>
                <a:arcTo wR="21600" hR="21600" stAng="-5265960" swAng="4453084"/>
              </a:path>
              <a:path w="20999" h="21584" stroke="0">
                <a:moveTo>
                  <a:pt x="842" y="0"/>
                </a:moveTo>
                <a:arcTo wR="21600" hR="21600" stAng="-5265960" swAng="4453084"/>
                <a:lnTo>
                  <a:pt x="0" y="21584"/>
                </a:lnTo>
                <a:close/>
              </a:path>
            </a:pathLst>
          </a:custGeom>
          <a:noFill/>
          <a:ln w="22225" cap="flat" cmpd="sng">
            <a:solidFill>
              <a:srgbClr val="FF0000"/>
            </a:solidFill>
            <a:prstDash val="solid"/>
            <a:headEnd type="none" w="med" len="med"/>
            <a:tailEnd type="none" w="med" len="med"/>
          </a:ln>
        </p:spPr>
        <p:txBody>
          <a:bodyPr/>
          <a:p>
            <a:endParaRPr lang="zh-CN" altLang="en-US"/>
          </a:p>
        </p:txBody>
      </p:sp>
      <p:sp>
        <p:nvSpPr>
          <p:cNvPr id="96318" name="任意多边形 96317"/>
          <p:cNvSpPr/>
          <p:nvPr/>
        </p:nvSpPr>
        <p:spPr>
          <a:xfrm rot="-3371982">
            <a:off x="5997575" y="4359275"/>
            <a:ext cx="942975" cy="334963"/>
          </a:xfrm>
          <a:custGeom>
            <a:avLst/>
            <a:gdLst>
              <a:gd name="txL" fmla="*/ 0 w 27844"/>
              <a:gd name="txT" fmla="*/ 0 h 21600"/>
              <a:gd name="txR" fmla="*/ 27844 w 27844"/>
              <a:gd name="txB" fmla="*/ 21600 h 21600"/>
            </a:gdLst>
            <a:ahLst/>
            <a:cxnLst>
              <a:cxn ang="180">
                <a:pos x="0" y="4786"/>
              </a:cxn>
              <a:cxn ang="0">
                <a:pos x="27844" y="5397"/>
              </a:cxn>
              <a:cxn ang="90">
                <a:pos x="13560" y="21600"/>
              </a:cxn>
            </a:cxnLst>
            <a:rect l="txL" t="txT" r="txR" b="txB"/>
            <a:pathLst>
              <a:path w="27844" h="21600" fill="none">
                <a:moveTo>
                  <a:pt x="0" y="4786"/>
                </a:moveTo>
                <a:arcTo wR="21600" hR="21600" stAng="-7733110" swAng="4817006"/>
              </a:path>
              <a:path w="27844" h="21600" stroke="0">
                <a:moveTo>
                  <a:pt x="0" y="4786"/>
                </a:moveTo>
                <a:arcTo wR="21600" hR="21600" stAng="-7733110" swAng="4817006"/>
                <a:lnTo>
                  <a:pt x="13560" y="21600"/>
                </a:lnTo>
                <a:close/>
              </a:path>
            </a:pathLst>
          </a:custGeom>
          <a:noFill/>
          <a:ln w="22225" cap="flat" cmpd="sng">
            <a:solidFill>
              <a:srgbClr val="FF0000"/>
            </a:solidFill>
            <a:prstDash val="solid"/>
            <a:headEnd type="none" w="med" len="med"/>
            <a:tailEnd type="none" w="med" len="med"/>
          </a:ln>
        </p:spPr>
        <p:txBody>
          <a:bodyPr/>
          <a:p>
            <a:endParaRPr lang="zh-CN" altLang="en-US"/>
          </a:p>
        </p:txBody>
      </p:sp>
      <p:grpSp>
        <p:nvGrpSpPr>
          <p:cNvPr id="96325" name="组合 96324"/>
          <p:cNvGrpSpPr/>
          <p:nvPr/>
        </p:nvGrpSpPr>
        <p:grpSpPr>
          <a:xfrm>
            <a:off x="6678613" y="5500370"/>
            <a:ext cx="300037" cy="468313"/>
            <a:chOff x="3521" y="11258"/>
            <a:chExt cx="1100" cy="344"/>
          </a:xfrm>
        </p:grpSpPr>
        <p:sp>
          <p:nvSpPr>
            <p:cNvPr id="96326" name="直接连接符 96325"/>
            <p:cNvSpPr/>
            <p:nvPr/>
          </p:nvSpPr>
          <p:spPr>
            <a:xfrm>
              <a:off x="3525" y="11594"/>
              <a:ext cx="1096" cy="1"/>
            </a:xfrm>
            <a:prstGeom prst="line">
              <a:avLst/>
            </a:prstGeom>
            <a:ln w="25400" cap="flat" cmpd="sng">
              <a:solidFill>
                <a:srgbClr val="FF0000"/>
              </a:solidFill>
              <a:prstDash val="solid"/>
              <a:headEnd type="none" w="sm" len="lg"/>
              <a:tailEnd type="none" w="sm" len="lg"/>
            </a:ln>
          </p:spPr>
        </p:sp>
        <p:sp>
          <p:nvSpPr>
            <p:cNvPr id="96327" name="直接连接符 96326"/>
            <p:cNvSpPr/>
            <p:nvPr/>
          </p:nvSpPr>
          <p:spPr>
            <a:xfrm flipH="1" flipV="1">
              <a:off x="3521" y="11258"/>
              <a:ext cx="2" cy="344"/>
            </a:xfrm>
            <a:prstGeom prst="line">
              <a:avLst/>
            </a:prstGeom>
            <a:ln w="25400" cap="flat" cmpd="sng">
              <a:solidFill>
                <a:srgbClr val="FF0000"/>
              </a:solidFill>
              <a:prstDash val="solid"/>
              <a:headEnd type="none" w="sm" len="lg"/>
              <a:tailEnd type="none" w="sm" len="lg"/>
            </a:ln>
          </p:spPr>
        </p:sp>
      </p:grpSp>
      <p:sp>
        <p:nvSpPr>
          <p:cNvPr id="96331" name="任意多边形 96330"/>
          <p:cNvSpPr/>
          <p:nvPr/>
        </p:nvSpPr>
        <p:spPr>
          <a:xfrm rot="10444076">
            <a:off x="6700838" y="4089400"/>
            <a:ext cx="312737" cy="406400"/>
          </a:xfrm>
          <a:custGeom>
            <a:avLst/>
            <a:gdLst>
              <a:gd name="txL" fmla="*/ 0 w 21600"/>
              <a:gd name="txT" fmla="*/ 0 h 21369"/>
              <a:gd name="txR" fmla="*/ 21600 w 21600"/>
              <a:gd name="txB" fmla="*/ 21369 h 21369"/>
            </a:gdLst>
            <a:ahLst/>
            <a:cxnLst>
              <a:cxn ang="270">
                <a:pos x="3149" y="0"/>
              </a:cxn>
              <a:cxn ang="0">
                <a:pos x="21600" y="21369"/>
              </a:cxn>
              <a:cxn ang="180">
                <a:pos x="0" y="21369"/>
              </a:cxn>
            </a:cxnLst>
            <a:rect l="txL" t="txT" r="txR" b="txB"/>
            <a:pathLst>
              <a:path w="21600" h="21369" fill="none">
                <a:moveTo>
                  <a:pt x="3149" y="0"/>
                </a:moveTo>
                <a:arcTo wR="21600" hR="21600" stAng="-4897023" swAng="4897023"/>
              </a:path>
              <a:path w="21600" h="21369" stroke="0">
                <a:moveTo>
                  <a:pt x="3149" y="0"/>
                </a:moveTo>
                <a:arcTo wR="21600" hR="21600" stAng="-4897023" swAng="4897023"/>
                <a:lnTo>
                  <a:pt x="0" y="21369"/>
                </a:lnTo>
                <a:close/>
              </a:path>
            </a:pathLst>
          </a:custGeom>
          <a:noFill/>
          <a:ln w="22225" cap="flat" cmpd="sng">
            <a:solidFill>
              <a:srgbClr val="FF0000"/>
            </a:solidFill>
            <a:prstDash val="solid"/>
            <a:headEnd type="none" w="med" len="med"/>
            <a:tailEnd type="none" w="med" len="med"/>
          </a:ln>
        </p:spPr>
        <p:txBody>
          <a:bodyPr/>
          <a:p>
            <a:endParaRPr lang="zh-CN" altLang="en-US"/>
          </a:p>
        </p:txBody>
      </p:sp>
      <p:grpSp>
        <p:nvGrpSpPr>
          <p:cNvPr id="96332" name="组合 96331"/>
          <p:cNvGrpSpPr/>
          <p:nvPr/>
        </p:nvGrpSpPr>
        <p:grpSpPr>
          <a:xfrm>
            <a:off x="6966268" y="5498509"/>
            <a:ext cx="617537" cy="467722"/>
            <a:chOff x="3000" y="11264"/>
            <a:chExt cx="519" cy="309"/>
          </a:xfrm>
        </p:grpSpPr>
        <p:sp>
          <p:nvSpPr>
            <p:cNvPr id="96333" name="直接连接符 96332"/>
            <p:cNvSpPr/>
            <p:nvPr/>
          </p:nvSpPr>
          <p:spPr>
            <a:xfrm flipH="1" flipV="1">
              <a:off x="3005" y="11264"/>
              <a:ext cx="2" cy="309"/>
            </a:xfrm>
            <a:prstGeom prst="line">
              <a:avLst/>
            </a:prstGeom>
            <a:ln w="25400" cap="flat" cmpd="sng">
              <a:solidFill>
                <a:srgbClr val="FF0000"/>
              </a:solidFill>
              <a:prstDash val="solid"/>
              <a:headEnd type="none" w="sm" len="lg"/>
              <a:tailEnd type="none" w="sm" len="lg"/>
            </a:ln>
          </p:spPr>
        </p:sp>
        <p:sp>
          <p:nvSpPr>
            <p:cNvPr id="96334" name="直接连接符 96333"/>
            <p:cNvSpPr/>
            <p:nvPr/>
          </p:nvSpPr>
          <p:spPr>
            <a:xfrm>
              <a:off x="3000" y="11271"/>
              <a:ext cx="519" cy="1"/>
            </a:xfrm>
            <a:prstGeom prst="line">
              <a:avLst/>
            </a:prstGeom>
            <a:ln w="25400" cap="flat" cmpd="sng">
              <a:solidFill>
                <a:srgbClr val="FF0000"/>
              </a:solidFill>
              <a:prstDash val="solid"/>
              <a:headEnd type="none" w="sm" len="lg"/>
              <a:tailEnd type="none" w="sm" len="lg"/>
            </a:ln>
          </p:spPr>
        </p:sp>
      </p:grpSp>
      <p:sp>
        <p:nvSpPr>
          <p:cNvPr id="96338" name="直接连接符 96337"/>
          <p:cNvSpPr/>
          <p:nvPr/>
        </p:nvSpPr>
        <p:spPr>
          <a:xfrm>
            <a:off x="6977063" y="5745163"/>
            <a:ext cx="576000" cy="0"/>
          </a:xfrm>
          <a:prstGeom prst="line">
            <a:avLst/>
          </a:prstGeom>
          <a:ln w="38100" cap="flat" cmpd="sng">
            <a:solidFill>
              <a:srgbClr val="CC6600"/>
            </a:solidFill>
            <a:prstDash val="solid"/>
            <a:headEnd type="triangle" w="med" len="med"/>
            <a:tailEnd type="triangle" w="med" len="med"/>
          </a:ln>
        </p:spPr>
      </p:sp>
      <p:sp>
        <p:nvSpPr>
          <p:cNvPr id="96339" name="文本框 96338"/>
          <p:cNvSpPr txBox="1"/>
          <p:nvPr/>
        </p:nvSpPr>
        <p:spPr>
          <a:xfrm>
            <a:off x="6670675" y="6061075"/>
            <a:ext cx="495300" cy="366713"/>
          </a:xfrm>
          <a:prstGeom prst="rect">
            <a:avLst/>
          </a:prstGeom>
          <a:noFill/>
          <a:ln w="38100">
            <a:noFill/>
          </a:ln>
        </p:spPr>
        <p:txBody>
          <a:bodyPr>
            <a:spAutoFit/>
          </a:bodyPr>
          <a:p>
            <a:pPr algn="ctr">
              <a:spcBef>
                <a:spcPct val="50000"/>
              </a:spcBef>
            </a:pPr>
            <a:r>
              <a:rPr lang="en-US" altLang="zh-CN" b="1" err="1">
                <a:solidFill>
                  <a:srgbClr val="0000FF"/>
                </a:solidFill>
                <a:latin typeface="Times New Roman" panose="02020603050405020304" charset="0"/>
              </a:rPr>
              <a:t>t</a:t>
            </a:r>
            <a:r>
              <a:rPr lang="en-US" altLang="zh-CN" b="1" baseline="-25000" err="1">
                <a:solidFill>
                  <a:srgbClr val="0000FF"/>
                </a:solidFill>
                <a:latin typeface="Times New Roman" panose="02020603050405020304" charset="0"/>
              </a:rPr>
              <a:t>PL</a:t>
            </a:r>
            <a:endParaRPr lang="en-US" altLang="zh-CN" b="1" baseline="-25000">
              <a:solidFill>
                <a:srgbClr val="0000FF"/>
              </a:solidFill>
              <a:latin typeface="Times New Roman" panose="02020603050405020304" charset="0"/>
            </a:endParaRPr>
          </a:p>
        </p:txBody>
      </p:sp>
      <p:grpSp>
        <p:nvGrpSpPr>
          <p:cNvPr id="96340" name="组合 96339"/>
          <p:cNvGrpSpPr/>
          <p:nvPr/>
        </p:nvGrpSpPr>
        <p:grpSpPr>
          <a:xfrm>
            <a:off x="6419850" y="5880100"/>
            <a:ext cx="811213" cy="0"/>
            <a:chOff x="3078" y="3492"/>
            <a:chExt cx="511" cy="0"/>
          </a:xfrm>
        </p:grpSpPr>
        <p:sp>
          <p:nvSpPr>
            <p:cNvPr id="96341" name="直接连接符 96340"/>
            <p:cNvSpPr/>
            <p:nvPr/>
          </p:nvSpPr>
          <p:spPr>
            <a:xfrm>
              <a:off x="3078" y="3492"/>
              <a:ext cx="171" cy="0"/>
            </a:xfrm>
            <a:prstGeom prst="line">
              <a:avLst/>
            </a:prstGeom>
            <a:ln w="38100" cap="flat" cmpd="sng">
              <a:solidFill>
                <a:srgbClr val="0000FF"/>
              </a:solidFill>
              <a:prstDash val="solid"/>
              <a:headEnd type="none" w="med" len="med"/>
              <a:tailEnd type="triangle" w="med" len="med"/>
            </a:ln>
          </p:spPr>
        </p:sp>
        <p:sp>
          <p:nvSpPr>
            <p:cNvPr id="96342" name="直接连接符 96341"/>
            <p:cNvSpPr/>
            <p:nvPr/>
          </p:nvSpPr>
          <p:spPr>
            <a:xfrm flipH="1">
              <a:off x="3419" y="3492"/>
              <a:ext cx="170" cy="0"/>
            </a:xfrm>
            <a:prstGeom prst="line">
              <a:avLst/>
            </a:prstGeom>
            <a:ln w="38100" cap="flat" cmpd="sng">
              <a:solidFill>
                <a:srgbClr val="0000FF"/>
              </a:solidFill>
              <a:prstDash val="solid"/>
              <a:headEnd type="none" w="med" len="med"/>
              <a:tailEnd type="triangle" w="med" len="med"/>
            </a:ln>
          </p:spPr>
        </p:sp>
      </p:grpSp>
      <p:sp>
        <p:nvSpPr>
          <p:cNvPr id="96343" name="文本框 96342"/>
          <p:cNvSpPr txBox="1"/>
          <p:nvPr/>
        </p:nvSpPr>
        <p:spPr>
          <a:xfrm>
            <a:off x="7165975" y="6061075"/>
            <a:ext cx="539750" cy="366713"/>
          </a:xfrm>
          <a:prstGeom prst="rect">
            <a:avLst/>
          </a:prstGeom>
          <a:noFill/>
          <a:ln w="38100">
            <a:noFill/>
          </a:ln>
        </p:spPr>
        <p:txBody>
          <a:bodyPr>
            <a:spAutoFit/>
          </a:bodyPr>
          <a:p>
            <a:pPr algn="ctr">
              <a:spcBef>
                <a:spcPct val="50000"/>
              </a:spcBef>
            </a:pPr>
            <a:r>
              <a:rPr lang="en-US" altLang="zh-CN" b="1" err="1">
                <a:solidFill>
                  <a:srgbClr val="CC6600"/>
                </a:solidFill>
                <a:latin typeface="Times New Roman" panose="02020603050405020304" charset="0"/>
              </a:rPr>
              <a:t>t</a:t>
            </a:r>
            <a:r>
              <a:rPr lang="en-US" altLang="zh-CN" b="1" baseline="-25000" err="1">
                <a:solidFill>
                  <a:srgbClr val="CC6600"/>
                </a:solidFill>
                <a:latin typeface="Times New Roman" panose="02020603050405020304" charset="0"/>
              </a:rPr>
              <a:t>PH</a:t>
            </a:r>
            <a:endParaRPr lang="en-US" altLang="zh-CN" b="1" baseline="-25000">
              <a:solidFill>
                <a:srgbClr val="CC6600"/>
              </a:solidFill>
              <a:latin typeface="Times New Roman" panose="02020603050405020304" charset="0"/>
            </a:endParaRPr>
          </a:p>
        </p:txBody>
      </p:sp>
      <p:sp>
        <p:nvSpPr>
          <p:cNvPr id="96345" name="矩形 96344"/>
          <p:cNvSpPr/>
          <p:nvPr/>
        </p:nvSpPr>
        <p:spPr>
          <a:xfrm>
            <a:off x="761683" y="1818005"/>
            <a:ext cx="2729230" cy="460375"/>
          </a:xfrm>
          <a:prstGeom prst="rect">
            <a:avLst/>
          </a:prstGeom>
          <a:noFill/>
          <a:ln w="38100">
            <a:noFill/>
          </a:ln>
        </p:spPr>
        <p:txBody>
          <a:bodyPr wrap="none" anchor="ctr" anchorCtr="0">
            <a:spAutoFit/>
          </a:bodyPr>
          <a:p>
            <a:r>
              <a:rPr lang="en-US" altLang="zh-CN" sz="2400" i="1" err="1">
                <a:solidFill>
                  <a:srgbClr val="000099"/>
                </a:solidFill>
                <a:latin typeface="Times New Roman" panose="02020603050405020304" charset="0"/>
              </a:rPr>
              <a:t>t</a:t>
            </a:r>
            <a:r>
              <a:rPr lang="en-US" altLang="zh-CN" sz="2400" baseline="-25000" err="1">
                <a:solidFill>
                  <a:srgbClr val="000099"/>
                </a:solidFill>
                <a:latin typeface="Times New Roman" panose="02020603050405020304" charset="0"/>
              </a:rPr>
              <a:t>PL</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R</a:t>
            </a:r>
            <a:r>
              <a:rPr lang="en-US" altLang="zh-CN" sz="2400" baseline="-25000">
                <a:solidFill>
                  <a:srgbClr val="000099"/>
                </a:solidFill>
                <a:latin typeface="Times New Roman" panose="02020603050405020304" charset="0"/>
              </a:rPr>
              <a:t>2</a:t>
            </a:r>
            <a:r>
              <a:rPr lang="en-US" altLang="zh-CN" sz="2400" i="1">
                <a:solidFill>
                  <a:srgbClr val="000099"/>
                </a:solidFill>
                <a:latin typeface="Times New Roman" panose="02020603050405020304" charset="0"/>
              </a:rPr>
              <a:t>C</a:t>
            </a:r>
            <a:r>
              <a:rPr lang="en-US" altLang="zh-CN" sz="2400">
                <a:solidFill>
                  <a:srgbClr val="000099"/>
                </a:solidFill>
                <a:latin typeface="Times New Roman" panose="02020603050405020304" charset="0"/>
              </a:rPr>
              <a:t>1n2≈0.7</a:t>
            </a:r>
            <a:r>
              <a:rPr lang="en-US" altLang="zh-CN" sz="2400" i="1">
                <a:solidFill>
                  <a:srgbClr val="000099"/>
                </a:solidFill>
                <a:latin typeface="Times New Roman" panose="02020603050405020304" charset="0"/>
              </a:rPr>
              <a:t>R</a:t>
            </a:r>
            <a:r>
              <a:rPr lang="en-US" altLang="zh-CN" sz="2400" baseline="-25000">
                <a:solidFill>
                  <a:srgbClr val="000099"/>
                </a:solidFill>
                <a:latin typeface="Times New Roman" panose="02020603050405020304" charset="0"/>
              </a:rPr>
              <a:t>2</a:t>
            </a:r>
            <a:r>
              <a:rPr lang="en-US" altLang="zh-CN" sz="2400" i="1">
                <a:solidFill>
                  <a:srgbClr val="000099"/>
                </a:solidFill>
                <a:latin typeface="Times New Roman" panose="02020603050405020304" charset="0"/>
              </a:rPr>
              <a:t>C</a:t>
            </a:r>
            <a:r>
              <a:rPr lang="en-US" altLang="zh-CN" sz="2400" b="1">
                <a:solidFill>
                  <a:srgbClr val="000099"/>
                </a:solidFill>
                <a:latin typeface="Times New Roman" panose="02020603050405020304" charset="0"/>
              </a:rPr>
              <a:t> </a:t>
            </a:r>
            <a:endParaRPr lang="en-US" altLang="zh-CN" sz="2400" b="1">
              <a:solidFill>
                <a:srgbClr val="000099"/>
              </a:solidFill>
              <a:latin typeface="Times New Roman" panose="02020603050405020304" charset="0"/>
            </a:endParaRPr>
          </a:p>
        </p:txBody>
      </p:sp>
      <p:sp>
        <p:nvSpPr>
          <p:cNvPr id="96346" name="矩形 96345"/>
          <p:cNvSpPr/>
          <p:nvPr/>
        </p:nvSpPr>
        <p:spPr>
          <a:xfrm>
            <a:off x="685483" y="2513013"/>
            <a:ext cx="4212590" cy="460375"/>
          </a:xfrm>
          <a:prstGeom prst="rect">
            <a:avLst/>
          </a:prstGeom>
          <a:noFill/>
          <a:ln w="38100">
            <a:noFill/>
          </a:ln>
        </p:spPr>
        <p:txBody>
          <a:bodyPr wrap="none" anchor="ctr" anchorCtr="0">
            <a:spAutoFit/>
          </a:bodyPr>
          <a:p>
            <a:r>
              <a:rPr lang="en-US" altLang="zh-CN" sz="2400" i="1" err="1">
                <a:solidFill>
                  <a:srgbClr val="000099"/>
                </a:solidFill>
                <a:latin typeface="Times New Roman" panose="02020603050405020304" charset="0"/>
              </a:rPr>
              <a:t>t</a:t>
            </a:r>
            <a:r>
              <a:rPr lang="en-US" altLang="zh-CN" sz="2400" baseline="-25000" err="1">
                <a:solidFill>
                  <a:srgbClr val="000099"/>
                </a:solidFill>
                <a:latin typeface="Times New Roman" panose="02020603050405020304" charset="0"/>
              </a:rPr>
              <a:t>pH</a:t>
            </a:r>
            <a:r>
              <a:rPr lang="en-US" altLang="zh-CN" sz="2400">
                <a:solidFill>
                  <a:srgbClr val="000099"/>
                </a:solidFill>
                <a:latin typeface="Times New Roman" panose="02020603050405020304" charset="0"/>
              </a:rPr>
              <a:t> = (</a:t>
            </a:r>
            <a:r>
              <a:rPr lang="en-US" altLang="zh-CN" sz="2400" i="1">
                <a:solidFill>
                  <a:srgbClr val="000099"/>
                </a:solidFill>
                <a:latin typeface="Times New Roman" panose="02020603050405020304" charset="0"/>
              </a:rPr>
              <a:t>R</a:t>
            </a:r>
            <a:r>
              <a:rPr lang="en-US" altLang="zh-CN" sz="2400" baseline="-25000">
                <a:solidFill>
                  <a:srgbClr val="000099"/>
                </a:solidFill>
                <a:latin typeface="Times New Roman" panose="02020603050405020304" charset="0"/>
              </a:rPr>
              <a:t>1</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R</a:t>
            </a:r>
            <a:r>
              <a:rPr lang="en-US" altLang="zh-CN" sz="2400" baseline="-25000">
                <a:solidFill>
                  <a:srgbClr val="000099"/>
                </a:solidFill>
                <a:latin typeface="Times New Roman" panose="02020603050405020304" charset="0"/>
              </a:rPr>
              <a:t>2</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C</a:t>
            </a:r>
            <a:r>
              <a:rPr lang="en-US" altLang="zh-CN" sz="2400">
                <a:solidFill>
                  <a:srgbClr val="000099"/>
                </a:solidFill>
                <a:latin typeface="Times New Roman" panose="02020603050405020304" charset="0"/>
              </a:rPr>
              <a:t>1n2≈0.7(</a:t>
            </a:r>
            <a:r>
              <a:rPr lang="en-US" altLang="zh-CN" sz="2400" i="1">
                <a:solidFill>
                  <a:srgbClr val="000099"/>
                </a:solidFill>
                <a:latin typeface="Times New Roman" panose="02020603050405020304" charset="0"/>
              </a:rPr>
              <a:t>R</a:t>
            </a:r>
            <a:r>
              <a:rPr lang="en-US" altLang="zh-CN" sz="2400" baseline="-25000">
                <a:solidFill>
                  <a:srgbClr val="000099"/>
                </a:solidFill>
                <a:latin typeface="Times New Roman" panose="02020603050405020304" charset="0"/>
              </a:rPr>
              <a:t>1</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R</a:t>
            </a:r>
            <a:r>
              <a:rPr lang="en-US" altLang="zh-CN" sz="2400" baseline="-25000">
                <a:solidFill>
                  <a:srgbClr val="000099"/>
                </a:solidFill>
                <a:latin typeface="Times New Roman" panose="02020603050405020304" charset="0"/>
              </a:rPr>
              <a:t>2</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C</a:t>
            </a:r>
            <a:r>
              <a:rPr lang="en-US" altLang="zh-CN" sz="2400">
                <a:solidFill>
                  <a:srgbClr val="000099"/>
                </a:solidFill>
                <a:latin typeface="Times New Roman" panose="02020603050405020304" charset="0"/>
              </a:rPr>
              <a:t> </a:t>
            </a:r>
            <a:endParaRPr lang="en-US" altLang="zh-CN" sz="2400">
              <a:solidFill>
                <a:srgbClr val="000099"/>
              </a:solidFill>
              <a:latin typeface="Times New Roman" panose="02020603050405020304" charset="0"/>
            </a:endParaRPr>
          </a:p>
        </p:txBody>
      </p:sp>
      <p:graphicFrame>
        <p:nvGraphicFramePr>
          <p:cNvPr id="96347" name="对象 96346"/>
          <p:cNvGraphicFramePr/>
          <p:nvPr/>
        </p:nvGraphicFramePr>
        <p:xfrm>
          <a:off x="5136356" y="1600042"/>
          <a:ext cx="3615055" cy="871855"/>
        </p:xfrm>
        <a:graphic>
          <a:graphicData uri="http://schemas.openxmlformats.org/presentationml/2006/ole">
            <mc:AlternateContent xmlns:mc="http://schemas.openxmlformats.org/markup-compatibility/2006">
              <mc:Choice xmlns:v="urn:schemas-microsoft-com:vml" Requires="v">
                <p:oleObj spid="_x0000_s3147" name="" r:id="rId1" imgW="1790065" imgH="431800" progId="Equation.DSMT4">
                  <p:embed/>
                </p:oleObj>
              </mc:Choice>
              <mc:Fallback>
                <p:oleObj name="" r:id="rId1" imgW="1790065" imgH="431800" progId="Equation.DSMT4">
                  <p:embed/>
                  <p:pic>
                    <p:nvPicPr>
                      <p:cNvPr id="0" name="图片 3146"/>
                      <p:cNvPicPr/>
                      <p:nvPr/>
                    </p:nvPicPr>
                    <p:blipFill>
                      <a:blip r:embed="rId2"/>
                      <a:stretch>
                        <a:fillRect/>
                      </a:stretch>
                    </p:blipFill>
                    <p:spPr>
                      <a:xfrm>
                        <a:off x="5136356" y="1600042"/>
                        <a:ext cx="3615055" cy="871855"/>
                      </a:xfrm>
                      <a:prstGeom prst="rect">
                        <a:avLst/>
                      </a:prstGeom>
                      <a:noFill/>
                      <a:ln w="38100">
                        <a:noFill/>
                        <a:miter/>
                      </a:ln>
                    </p:spPr>
                  </p:pic>
                </p:oleObj>
              </mc:Fallback>
            </mc:AlternateContent>
          </a:graphicData>
        </a:graphic>
      </p:graphicFrame>
      <p:sp>
        <p:nvSpPr>
          <p:cNvPr id="96454" name="直接连接符 96453"/>
          <p:cNvSpPr/>
          <p:nvPr/>
        </p:nvSpPr>
        <p:spPr>
          <a:xfrm>
            <a:off x="6065838" y="4495800"/>
            <a:ext cx="2498725" cy="0"/>
          </a:xfrm>
          <a:prstGeom prst="line">
            <a:avLst/>
          </a:prstGeom>
          <a:ln w="28575" cap="flat" cmpd="sng">
            <a:solidFill>
              <a:schemeClr val="tx1"/>
            </a:solidFill>
            <a:prstDash val="dash"/>
            <a:headEnd type="none" w="med" len="med"/>
            <a:tailEnd type="none" w="med" len="med"/>
          </a:ln>
        </p:spPr>
      </p:sp>
      <p:sp>
        <p:nvSpPr>
          <p:cNvPr id="96455" name="直接连接符 96454"/>
          <p:cNvSpPr/>
          <p:nvPr/>
        </p:nvSpPr>
        <p:spPr>
          <a:xfrm>
            <a:off x="6116638" y="4097338"/>
            <a:ext cx="2498725" cy="0"/>
          </a:xfrm>
          <a:prstGeom prst="line">
            <a:avLst/>
          </a:prstGeom>
          <a:ln w="28575" cap="flat" cmpd="sng">
            <a:solidFill>
              <a:schemeClr val="tx1"/>
            </a:solidFill>
            <a:prstDash val="dash"/>
            <a:headEnd type="none" w="med" len="med"/>
            <a:tailEnd type="none" w="med" len="med"/>
          </a:ln>
        </p:spPr>
      </p:sp>
      <p:grpSp>
        <p:nvGrpSpPr>
          <p:cNvPr id="96465" name="组合 96464"/>
          <p:cNvGrpSpPr/>
          <p:nvPr/>
        </p:nvGrpSpPr>
        <p:grpSpPr>
          <a:xfrm>
            <a:off x="7559675" y="4079875"/>
            <a:ext cx="1022350" cy="1905000"/>
            <a:chOff x="4286" y="2766"/>
            <a:chExt cx="644" cy="1200"/>
          </a:xfrm>
        </p:grpSpPr>
        <p:sp>
          <p:nvSpPr>
            <p:cNvPr id="96368" name="矩形 96367"/>
            <p:cNvSpPr/>
            <p:nvPr/>
          </p:nvSpPr>
          <p:spPr>
            <a:xfrm>
              <a:off x="4296" y="2769"/>
              <a:ext cx="199" cy="156"/>
            </a:xfrm>
            <a:prstGeom prst="rect">
              <a:avLst/>
            </a:prstGeom>
            <a:solidFill>
              <a:srgbClr val="FFFFFF"/>
            </a:solidFill>
            <a:ln w="9525" cap="flat" cmpd="sng">
              <a:solidFill>
                <a:srgbClr val="FF0000">
                  <a:alpha val="0"/>
                </a:srgbClr>
              </a:solidFill>
              <a:prstDash val="solid"/>
              <a:miter/>
              <a:headEnd type="none" w="med" len="med"/>
              <a:tailEnd type="none" w="med" len="med"/>
            </a:ln>
          </p:spPr>
          <p:txBody>
            <a:bodyPr/>
            <a:p>
              <a:endParaRPr lang="zh-CN" altLang="en-US"/>
            </a:p>
          </p:txBody>
        </p:sp>
        <p:sp>
          <p:nvSpPr>
            <p:cNvPr id="96369" name="任意多边形 96368"/>
            <p:cNvSpPr/>
            <p:nvPr/>
          </p:nvSpPr>
          <p:spPr>
            <a:xfrm>
              <a:off x="4304" y="2785"/>
              <a:ext cx="189" cy="251"/>
            </a:xfrm>
            <a:custGeom>
              <a:avLst/>
              <a:gdLst/>
              <a:ahLst/>
              <a:cxnLst/>
              <a:pathLst>
                <a:path w="189" h="251">
                  <a:moveTo>
                    <a:pt x="189" y="251"/>
                  </a:moveTo>
                  <a:lnTo>
                    <a:pt x="165" y="240"/>
                  </a:lnTo>
                  <a:lnTo>
                    <a:pt x="145" y="228"/>
                  </a:lnTo>
                  <a:lnTo>
                    <a:pt x="127" y="214"/>
                  </a:lnTo>
                  <a:lnTo>
                    <a:pt x="106" y="203"/>
                  </a:lnTo>
                  <a:lnTo>
                    <a:pt x="91" y="186"/>
                  </a:lnTo>
                  <a:lnTo>
                    <a:pt x="72" y="172"/>
                  </a:lnTo>
                  <a:lnTo>
                    <a:pt x="60" y="156"/>
                  </a:lnTo>
                  <a:lnTo>
                    <a:pt x="47" y="142"/>
                  </a:lnTo>
                  <a:lnTo>
                    <a:pt x="34" y="126"/>
                  </a:lnTo>
                  <a:lnTo>
                    <a:pt x="23" y="107"/>
                  </a:lnTo>
                  <a:lnTo>
                    <a:pt x="16" y="91"/>
                  </a:lnTo>
                  <a:lnTo>
                    <a:pt x="10" y="72"/>
                  </a:lnTo>
                  <a:lnTo>
                    <a:pt x="5" y="56"/>
                  </a:lnTo>
                  <a:lnTo>
                    <a:pt x="0" y="37"/>
                  </a:lnTo>
                  <a:lnTo>
                    <a:pt x="0" y="19"/>
                  </a:lnTo>
                  <a:lnTo>
                    <a:pt x="0" y="0"/>
                  </a:lnTo>
                </a:path>
              </a:pathLst>
            </a:custGeom>
            <a:noFill/>
            <a:ln w="25400" cap="flat" cmpd="sng">
              <a:solidFill>
                <a:srgbClr val="FF0000"/>
              </a:solidFill>
              <a:prstDash val="solid"/>
              <a:headEnd type="none" w="med" len="med"/>
              <a:tailEnd type="none" w="med" len="med"/>
            </a:ln>
          </p:spPr>
          <p:txBody>
            <a:bodyPr/>
            <a:p>
              <a:endParaRPr lang="zh-CN" altLang="en-US"/>
            </a:p>
          </p:txBody>
        </p:sp>
        <p:sp>
          <p:nvSpPr>
            <p:cNvPr id="96370" name="任意多边形 96369"/>
            <p:cNvSpPr/>
            <p:nvPr/>
          </p:nvSpPr>
          <p:spPr>
            <a:xfrm>
              <a:off x="4485" y="2771"/>
              <a:ext cx="445" cy="256"/>
            </a:xfrm>
            <a:custGeom>
              <a:avLst/>
              <a:gdLst/>
              <a:ahLst/>
              <a:cxnLst/>
              <a:pathLst>
                <a:path w="445" h="256">
                  <a:moveTo>
                    <a:pt x="0" y="256"/>
                  </a:moveTo>
                  <a:lnTo>
                    <a:pt x="13" y="233"/>
                  </a:lnTo>
                  <a:lnTo>
                    <a:pt x="28" y="207"/>
                  </a:lnTo>
                  <a:lnTo>
                    <a:pt x="47" y="184"/>
                  </a:lnTo>
                  <a:lnTo>
                    <a:pt x="67" y="163"/>
                  </a:lnTo>
                  <a:lnTo>
                    <a:pt x="88" y="140"/>
                  </a:lnTo>
                  <a:lnTo>
                    <a:pt x="114" y="121"/>
                  </a:lnTo>
                  <a:lnTo>
                    <a:pt x="137" y="100"/>
                  </a:lnTo>
                  <a:lnTo>
                    <a:pt x="165" y="81"/>
                  </a:lnTo>
                  <a:lnTo>
                    <a:pt x="183" y="72"/>
                  </a:lnTo>
                  <a:lnTo>
                    <a:pt x="199" y="63"/>
                  </a:lnTo>
                  <a:lnTo>
                    <a:pt x="217" y="53"/>
                  </a:lnTo>
                  <a:lnTo>
                    <a:pt x="235" y="44"/>
                  </a:lnTo>
                  <a:lnTo>
                    <a:pt x="251" y="37"/>
                  </a:lnTo>
                  <a:lnTo>
                    <a:pt x="269" y="30"/>
                  </a:lnTo>
                  <a:lnTo>
                    <a:pt x="287" y="23"/>
                  </a:lnTo>
                  <a:lnTo>
                    <a:pt x="305" y="19"/>
                  </a:lnTo>
                  <a:lnTo>
                    <a:pt x="323" y="14"/>
                  </a:lnTo>
                  <a:lnTo>
                    <a:pt x="341" y="9"/>
                  </a:lnTo>
                  <a:lnTo>
                    <a:pt x="359" y="7"/>
                  </a:lnTo>
                  <a:lnTo>
                    <a:pt x="377" y="5"/>
                  </a:lnTo>
                  <a:lnTo>
                    <a:pt x="393" y="2"/>
                  </a:lnTo>
                  <a:lnTo>
                    <a:pt x="411" y="0"/>
                  </a:lnTo>
                  <a:lnTo>
                    <a:pt x="429" y="0"/>
                  </a:lnTo>
                  <a:lnTo>
                    <a:pt x="445" y="0"/>
                  </a:lnTo>
                </a:path>
              </a:pathLst>
            </a:custGeom>
            <a:noFill/>
            <a:ln w="25400" cap="flat" cmpd="sng">
              <a:solidFill>
                <a:srgbClr val="FF0000"/>
              </a:solidFill>
              <a:prstDash val="solid"/>
              <a:headEnd type="none" w="med" len="med"/>
              <a:tailEnd type="none" w="med" len="med"/>
            </a:ln>
          </p:spPr>
          <p:txBody>
            <a:bodyPr/>
            <a:p>
              <a:endParaRPr lang="zh-CN" altLang="en-US"/>
            </a:p>
          </p:txBody>
        </p:sp>
        <p:sp>
          <p:nvSpPr>
            <p:cNvPr id="96380" name="直接连接符 96379"/>
            <p:cNvSpPr/>
            <p:nvPr/>
          </p:nvSpPr>
          <p:spPr>
            <a:xfrm>
              <a:off x="4296" y="3661"/>
              <a:ext cx="1" cy="295"/>
            </a:xfrm>
            <a:prstGeom prst="line">
              <a:avLst/>
            </a:prstGeom>
            <a:ln w="25400" cap="flat" cmpd="sng">
              <a:solidFill>
                <a:srgbClr val="FF0000"/>
              </a:solidFill>
              <a:prstDash val="solid"/>
              <a:headEnd type="none" w="med" len="med"/>
              <a:tailEnd type="none" w="med" len="med"/>
            </a:ln>
          </p:spPr>
        </p:sp>
        <p:sp>
          <p:nvSpPr>
            <p:cNvPr id="96381" name="直接连接符 96380"/>
            <p:cNvSpPr/>
            <p:nvPr/>
          </p:nvSpPr>
          <p:spPr>
            <a:xfrm>
              <a:off x="4482" y="3661"/>
              <a:ext cx="1" cy="295"/>
            </a:xfrm>
            <a:prstGeom prst="line">
              <a:avLst/>
            </a:prstGeom>
            <a:ln w="25400" cap="flat" cmpd="sng">
              <a:solidFill>
                <a:srgbClr val="FF0000"/>
              </a:solidFill>
              <a:prstDash val="solid"/>
              <a:headEnd type="none" w="med" len="med"/>
              <a:tailEnd type="none" w="med" len="med"/>
            </a:ln>
          </p:spPr>
        </p:sp>
        <p:sp>
          <p:nvSpPr>
            <p:cNvPr id="96392" name="直接连接符 96391"/>
            <p:cNvSpPr/>
            <p:nvPr/>
          </p:nvSpPr>
          <p:spPr>
            <a:xfrm>
              <a:off x="4286" y="3958"/>
              <a:ext cx="209" cy="1"/>
            </a:xfrm>
            <a:prstGeom prst="line">
              <a:avLst/>
            </a:prstGeom>
            <a:ln w="25400" cap="flat" cmpd="sng">
              <a:solidFill>
                <a:srgbClr val="FF0000"/>
              </a:solidFill>
              <a:prstDash val="solid"/>
              <a:headEnd type="none" w="med" len="med"/>
              <a:tailEnd type="none" w="med" len="med"/>
            </a:ln>
          </p:spPr>
        </p:sp>
        <p:sp>
          <p:nvSpPr>
            <p:cNvPr id="96432" name="矩形 96431"/>
            <p:cNvSpPr/>
            <p:nvPr/>
          </p:nvSpPr>
          <p:spPr>
            <a:xfrm>
              <a:off x="4340" y="3283"/>
              <a:ext cx="46" cy="179"/>
            </a:xfrm>
            <a:prstGeom prst="rect">
              <a:avLst/>
            </a:prstGeom>
            <a:noFill/>
            <a:ln w="9525" cap="flat" cmpd="sng">
              <a:solidFill>
                <a:srgbClr val="FF0000">
                  <a:alpha val="0"/>
                </a:srgbClr>
              </a:solidFill>
              <a:prstDash val="solid"/>
              <a:miter/>
              <a:headEnd type="none" w="med" len="med"/>
              <a:tailEnd type="none" w="med" len="med"/>
            </a:ln>
          </p:spPr>
          <p:txBody>
            <a:bodyPr wrap="none" lIns="0" tIns="0" rIns="0" bIns="0">
              <a:spAutoFit/>
            </a:bodyPr>
            <a:p>
              <a:pPr>
                <a:spcBef>
                  <a:spcPct val="50000"/>
                </a:spcBef>
              </a:pPr>
              <a:r>
                <a:rPr lang="en-US" altLang="zh-CN" b="1" i="1">
                  <a:solidFill>
                    <a:srgbClr val="000000"/>
                  </a:solidFill>
                  <a:latin typeface="Times New Roman" panose="02020603050405020304" charset="0"/>
                </a:rPr>
                <a:t>t</a:t>
              </a:r>
              <a:endParaRPr lang="en-US" altLang="zh-CN" sz="2400" b="1">
                <a:solidFill>
                  <a:srgbClr val="FF0000"/>
                </a:solidFill>
                <a:latin typeface="Times New Roman" panose="02020603050405020304" charset="0"/>
              </a:endParaRPr>
            </a:p>
          </p:txBody>
        </p:sp>
        <p:sp>
          <p:nvSpPr>
            <p:cNvPr id="96433" name="矩形 96432"/>
            <p:cNvSpPr/>
            <p:nvPr/>
          </p:nvSpPr>
          <p:spPr>
            <a:xfrm>
              <a:off x="4387" y="3392"/>
              <a:ext cx="54" cy="121"/>
            </a:xfrm>
            <a:prstGeom prst="rect">
              <a:avLst/>
            </a:prstGeom>
            <a:noFill/>
            <a:ln w="9525" cap="flat" cmpd="sng">
              <a:solidFill>
                <a:srgbClr val="FF0000">
                  <a:alpha val="0"/>
                </a:srgbClr>
              </a:solidFill>
              <a:prstDash val="solid"/>
              <a:miter/>
              <a:headEnd type="none" w="med" len="med"/>
              <a:tailEnd type="none" w="med" len="med"/>
            </a:ln>
          </p:spPr>
          <p:txBody>
            <a:bodyPr wrap="none" lIns="0" tIns="0" rIns="0" bIns="0">
              <a:spAutoFit/>
            </a:bodyPr>
            <a:p>
              <a:pPr>
                <a:spcBef>
                  <a:spcPct val="50000"/>
                </a:spcBef>
              </a:pPr>
              <a:r>
                <a:rPr lang="en-US" altLang="zh-CN" sz="1200" b="1">
                  <a:solidFill>
                    <a:srgbClr val="000000"/>
                  </a:solidFill>
                  <a:latin typeface="Times New Roman" panose="02020603050405020304" charset="0"/>
                </a:rPr>
                <a:t>2</a:t>
              </a:r>
              <a:endParaRPr lang="en-US" altLang="zh-CN" sz="2400" b="1">
                <a:solidFill>
                  <a:srgbClr val="FF0000"/>
                </a:solidFill>
                <a:latin typeface="Times New Roman" panose="02020603050405020304" charset="0"/>
              </a:endParaRPr>
            </a:p>
          </p:txBody>
        </p:sp>
        <p:sp>
          <p:nvSpPr>
            <p:cNvPr id="96434" name="矩形 96433"/>
            <p:cNvSpPr/>
            <p:nvPr/>
          </p:nvSpPr>
          <p:spPr>
            <a:xfrm>
              <a:off x="4441" y="3281"/>
              <a:ext cx="42" cy="179"/>
            </a:xfrm>
            <a:prstGeom prst="rect">
              <a:avLst/>
            </a:prstGeom>
            <a:noFill/>
            <a:ln w="9525" cap="flat" cmpd="sng">
              <a:solidFill>
                <a:srgbClr val="FF0000">
                  <a:alpha val="0"/>
                </a:srgbClr>
              </a:solidFill>
              <a:prstDash val="solid"/>
              <a:miter/>
              <a:headEnd type="none" w="med" len="med"/>
              <a:tailEnd type="none" w="med" len="med"/>
            </a:ln>
          </p:spPr>
          <p:txBody>
            <a:bodyPr wrap="none" lIns="0" tIns="0" rIns="0" bIns="0">
              <a:spAutoFit/>
            </a:bodyPr>
            <a:p>
              <a:pPr>
                <a:spcBef>
                  <a:spcPct val="50000"/>
                </a:spcBef>
              </a:pPr>
              <a:r>
                <a:rPr lang="en-US" altLang="zh-CN" b="1">
                  <a:solidFill>
                    <a:srgbClr val="000000"/>
                  </a:solidFill>
                  <a:latin typeface="Times New Roman" panose="02020603050405020304" charset="0"/>
                </a:rPr>
                <a:t> </a:t>
              </a:r>
              <a:endParaRPr lang="en-US" altLang="zh-CN" sz="2400" b="1">
                <a:solidFill>
                  <a:srgbClr val="FF0000"/>
                </a:solidFill>
                <a:latin typeface="Times New Roman" panose="02020603050405020304" charset="0"/>
              </a:endParaRPr>
            </a:p>
          </p:txBody>
        </p:sp>
        <p:sp>
          <p:nvSpPr>
            <p:cNvPr id="96450" name="任意多边形 96449"/>
            <p:cNvSpPr>
              <a:spLocks noEditPoints="1"/>
            </p:cNvSpPr>
            <p:nvPr/>
          </p:nvSpPr>
          <p:spPr>
            <a:xfrm>
              <a:off x="4294" y="2766"/>
              <a:ext cx="5" cy="1200"/>
            </a:xfrm>
            <a:custGeom>
              <a:avLst/>
              <a:gdLst/>
              <a:ahLst/>
              <a:cxnLst/>
              <a:pathLst>
                <a:path w="5" h="1200">
                  <a:moveTo>
                    <a:pt x="5" y="3"/>
                  </a:moveTo>
                  <a:lnTo>
                    <a:pt x="5" y="17"/>
                  </a:lnTo>
                  <a:lnTo>
                    <a:pt x="5" y="19"/>
                  </a:lnTo>
                  <a:lnTo>
                    <a:pt x="2" y="19"/>
                  </a:lnTo>
                  <a:lnTo>
                    <a:pt x="2" y="19"/>
                  </a:lnTo>
                  <a:lnTo>
                    <a:pt x="0" y="17"/>
                  </a:lnTo>
                  <a:lnTo>
                    <a:pt x="0" y="3"/>
                  </a:lnTo>
                  <a:lnTo>
                    <a:pt x="2" y="0"/>
                  </a:lnTo>
                  <a:lnTo>
                    <a:pt x="2" y="0"/>
                  </a:lnTo>
                  <a:lnTo>
                    <a:pt x="5" y="0"/>
                  </a:lnTo>
                  <a:lnTo>
                    <a:pt x="5" y="3"/>
                  </a:lnTo>
                  <a:lnTo>
                    <a:pt x="5" y="3"/>
                  </a:lnTo>
                  <a:close/>
                  <a:moveTo>
                    <a:pt x="5" y="38"/>
                  </a:moveTo>
                  <a:lnTo>
                    <a:pt x="5" y="51"/>
                  </a:lnTo>
                  <a:lnTo>
                    <a:pt x="5" y="54"/>
                  </a:lnTo>
                  <a:lnTo>
                    <a:pt x="2" y="54"/>
                  </a:lnTo>
                  <a:lnTo>
                    <a:pt x="2" y="54"/>
                  </a:lnTo>
                  <a:lnTo>
                    <a:pt x="0" y="51"/>
                  </a:lnTo>
                  <a:lnTo>
                    <a:pt x="0" y="38"/>
                  </a:lnTo>
                  <a:lnTo>
                    <a:pt x="2" y="35"/>
                  </a:lnTo>
                  <a:lnTo>
                    <a:pt x="2" y="35"/>
                  </a:lnTo>
                  <a:lnTo>
                    <a:pt x="5" y="35"/>
                  </a:lnTo>
                  <a:lnTo>
                    <a:pt x="5" y="38"/>
                  </a:lnTo>
                  <a:lnTo>
                    <a:pt x="5" y="38"/>
                  </a:lnTo>
                  <a:close/>
                  <a:moveTo>
                    <a:pt x="5" y="70"/>
                  </a:moveTo>
                  <a:lnTo>
                    <a:pt x="5" y="84"/>
                  </a:lnTo>
                  <a:lnTo>
                    <a:pt x="5" y="86"/>
                  </a:lnTo>
                  <a:lnTo>
                    <a:pt x="2" y="86"/>
                  </a:lnTo>
                  <a:lnTo>
                    <a:pt x="2" y="86"/>
                  </a:lnTo>
                  <a:lnTo>
                    <a:pt x="0" y="84"/>
                  </a:lnTo>
                  <a:lnTo>
                    <a:pt x="0" y="70"/>
                  </a:lnTo>
                  <a:lnTo>
                    <a:pt x="2" y="68"/>
                  </a:lnTo>
                  <a:lnTo>
                    <a:pt x="2" y="68"/>
                  </a:lnTo>
                  <a:lnTo>
                    <a:pt x="5" y="68"/>
                  </a:lnTo>
                  <a:lnTo>
                    <a:pt x="5" y="70"/>
                  </a:lnTo>
                  <a:lnTo>
                    <a:pt x="5" y="70"/>
                  </a:lnTo>
                  <a:close/>
                  <a:moveTo>
                    <a:pt x="5" y="105"/>
                  </a:moveTo>
                  <a:lnTo>
                    <a:pt x="5" y="119"/>
                  </a:lnTo>
                  <a:lnTo>
                    <a:pt x="5" y="121"/>
                  </a:lnTo>
                  <a:lnTo>
                    <a:pt x="2" y="121"/>
                  </a:lnTo>
                  <a:lnTo>
                    <a:pt x="2" y="121"/>
                  </a:lnTo>
                  <a:lnTo>
                    <a:pt x="0" y="119"/>
                  </a:lnTo>
                  <a:lnTo>
                    <a:pt x="0" y="105"/>
                  </a:lnTo>
                  <a:lnTo>
                    <a:pt x="2" y="103"/>
                  </a:lnTo>
                  <a:lnTo>
                    <a:pt x="2" y="103"/>
                  </a:lnTo>
                  <a:lnTo>
                    <a:pt x="5" y="103"/>
                  </a:lnTo>
                  <a:lnTo>
                    <a:pt x="5" y="105"/>
                  </a:lnTo>
                  <a:lnTo>
                    <a:pt x="5" y="105"/>
                  </a:lnTo>
                  <a:close/>
                  <a:moveTo>
                    <a:pt x="5" y="138"/>
                  </a:moveTo>
                  <a:lnTo>
                    <a:pt x="5" y="154"/>
                  </a:lnTo>
                  <a:lnTo>
                    <a:pt x="5" y="154"/>
                  </a:lnTo>
                  <a:lnTo>
                    <a:pt x="2" y="156"/>
                  </a:lnTo>
                  <a:lnTo>
                    <a:pt x="2" y="154"/>
                  </a:lnTo>
                  <a:lnTo>
                    <a:pt x="0" y="154"/>
                  </a:lnTo>
                  <a:lnTo>
                    <a:pt x="0" y="138"/>
                  </a:lnTo>
                  <a:lnTo>
                    <a:pt x="2" y="138"/>
                  </a:lnTo>
                  <a:lnTo>
                    <a:pt x="2" y="135"/>
                  </a:lnTo>
                  <a:lnTo>
                    <a:pt x="5" y="138"/>
                  </a:lnTo>
                  <a:lnTo>
                    <a:pt x="5" y="138"/>
                  </a:lnTo>
                  <a:lnTo>
                    <a:pt x="5" y="138"/>
                  </a:lnTo>
                  <a:close/>
                  <a:moveTo>
                    <a:pt x="5" y="173"/>
                  </a:moveTo>
                  <a:lnTo>
                    <a:pt x="5" y="187"/>
                  </a:lnTo>
                  <a:lnTo>
                    <a:pt x="5" y="189"/>
                  </a:lnTo>
                  <a:lnTo>
                    <a:pt x="2" y="189"/>
                  </a:lnTo>
                  <a:lnTo>
                    <a:pt x="2" y="189"/>
                  </a:lnTo>
                  <a:lnTo>
                    <a:pt x="0" y="187"/>
                  </a:lnTo>
                  <a:lnTo>
                    <a:pt x="0" y="173"/>
                  </a:lnTo>
                  <a:lnTo>
                    <a:pt x="2" y="170"/>
                  </a:lnTo>
                  <a:lnTo>
                    <a:pt x="2" y="170"/>
                  </a:lnTo>
                  <a:lnTo>
                    <a:pt x="5" y="170"/>
                  </a:lnTo>
                  <a:lnTo>
                    <a:pt x="5" y="173"/>
                  </a:lnTo>
                  <a:lnTo>
                    <a:pt x="5" y="173"/>
                  </a:lnTo>
                  <a:close/>
                  <a:moveTo>
                    <a:pt x="5" y="205"/>
                  </a:moveTo>
                  <a:lnTo>
                    <a:pt x="5" y="222"/>
                  </a:lnTo>
                  <a:lnTo>
                    <a:pt x="5" y="222"/>
                  </a:lnTo>
                  <a:lnTo>
                    <a:pt x="2" y="224"/>
                  </a:lnTo>
                  <a:lnTo>
                    <a:pt x="2" y="222"/>
                  </a:lnTo>
                  <a:lnTo>
                    <a:pt x="0" y="222"/>
                  </a:lnTo>
                  <a:lnTo>
                    <a:pt x="0" y="205"/>
                  </a:lnTo>
                  <a:lnTo>
                    <a:pt x="2" y="205"/>
                  </a:lnTo>
                  <a:lnTo>
                    <a:pt x="2" y="203"/>
                  </a:lnTo>
                  <a:lnTo>
                    <a:pt x="5" y="205"/>
                  </a:lnTo>
                  <a:lnTo>
                    <a:pt x="5" y="205"/>
                  </a:lnTo>
                  <a:lnTo>
                    <a:pt x="5" y="205"/>
                  </a:lnTo>
                  <a:close/>
                  <a:moveTo>
                    <a:pt x="5" y="240"/>
                  </a:moveTo>
                  <a:lnTo>
                    <a:pt x="5" y="254"/>
                  </a:lnTo>
                  <a:lnTo>
                    <a:pt x="5" y="257"/>
                  </a:lnTo>
                  <a:lnTo>
                    <a:pt x="2" y="257"/>
                  </a:lnTo>
                  <a:lnTo>
                    <a:pt x="2" y="257"/>
                  </a:lnTo>
                  <a:lnTo>
                    <a:pt x="0" y="254"/>
                  </a:lnTo>
                  <a:lnTo>
                    <a:pt x="0" y="240"/>
                  </a:lnTo>
                  <a:lnTo>
                    <a:pt x="2" y="238"/>
                  </a:lnTo>
                  <a:lnTo>
                    <a:pt x="2" y="238"/>
                  </a:lnTo>
                  <a:lnTo>
                    <a:pt x="5" y="238"/>
                  </a:lnTo>
                  <a:lnTo>
                    <a:pt x="5" y="240"/>
                  </a:lnTo>
                  <a:lnTo>
                    <a:pt x="5" y="240"/>
                  </a:lnTo>
                  <a:close/>
                  <a:moveTo>
                    <a:pt x="5" y="275"/>
                  </a:moveTo>
                  <a:lnTo>
                    <a:pt x="5" y="289"/>
                  </a:lnTo>
                  <a:lnTo>
                    <a:pt x="5" y="291"/>
                  </a:lnTo>
                  <a:lnTo>
                    <a:pt x="2" y="291"/>
                  </a:lnTo>
                  <a:lnTo>
                    <a:pt x="2" y="291"/>
                  </a:lnTo>
                  <a:lnTo>
                    <a:pt x="0" y="289"/>
                  </a:lnTo>
                  <a:lnTo>
                    <a:pt x="0" y="275"/>
                  </a:lnTo>
                  <a:lnTo>
                    <a:pt x="2" y="273"/>
                  </a:lnTo>
                  <a:lnTo>
                    <a:pt x="2" y="273"/>
                  </a:lnTo>
                  <a:lnTo>
                    <a:pt x="5" y="273"/>
                  </a:lnTo>
                  <a:lnTo>
                    <a:pt x="5" y="275"/>
                  </a:lnTo>
                  <a:lnTo>
                    <a:pt x="5" y="275"/>
                  </a:lnTo>
                  <a:close/>
                  <a:moveTo>
                    <a:pt x="5" y="308"/>
                  </a:moveTo>
                  <a:lnTo>
                    <a:pt x="5" y="322"/>
                  </a:lnTo>
                  <a:lnTo>
                    <a:pt x="5" y="324"/>
                  </a:lnTo>
                  <a:lnTo>
                    <a:pt x="2" y="326"/>
                  </a:lnTo>
                  <a:lnTo>
                    <a:pt x="2" y="324"/>
                  </a:lnTo>
                  <a:lnTo>
                    <a:pt x="0" y="322"/>
                  </a:lnTo>
                  <a:lnTo>
                    <a:pt x="0" y="308"/>
                  </a:lnTo>
                  <a:lnTo>
                    <a:pt x="2" y="305"/>
                  </a:lnTo>
                  <a:lnTo>
                    <a:pt x="2" y="305"/>
                  </a:lnTo>
                  <a:lnTo>
                    <a:pt x="5" y="305"/>
                  </a:lnTo>
                  <a:lnTo>
                    <a:pt x="5" y="308"/>
                  </a:lnTo>
                  <a:lnTo>
                    <a:pt x="5" y="308"/>
                  </a:lnTo>
                  <a:close/>
                  <a:moveTo>
                    <a:pt x="5" y="343"/>
                  </a:moveTo>
                  <a:lnTo>
                    <a:pt x="5" y="357"/>
                  </a:lnTo>
                  <a:lnTo>
                    <a:pt x="5" y="359"/>
                  </a:lnTo>
                  <a:lnTo>
                    <a:pt x="2" y="359"/>
                  </a:lnTo>
                  <a:lnTo>
                    <a:pt x="2" y="359"/>
                  </a:lnTo>
                  <a:lnTo>
                    <a:pt x="0" y="357"/>
                  </a:lnTo>
                  <a:lnTo>
                    <a:pt x="0" y="343"/>
                  </a:lnTo>
                  <a:lnTo>
                    <a:pt x="2" y="340"/>
                  </a:lnTo>
                  <a:lnTo>
                    <a:pt x="2" y="340"/>
                  </a:lnTo>
                  <a:lnTo>
                    <a:pt x="5" y="340"/>
                  </a:lnTo>
                  <a:lnTo>
                    <a:pt x="5" y="343"/>
                  </a:lnTo>
                  <a:lnTo>
                    <a:pt x="5" y="343"/>
                  </a:lnTo>
                  <a:close/>
                  <a:moveTo>
                    <a:pt x="5" y="375"/>
                  </a:moveTo>
                  <a:lnTo>
                    <a:pt x="5" y="392"/>
                  </a:lnTo>
                  <a:lnTo>
                    <a:pt x="5" y="392"/>
                  </a:lnTo>
                  <a:lnTo>
                    <a:pt x="2" y="394"/>
                  </a:lnTo>
                  <a:lnTo>
                    <a:pt x="2" y="392"/>
                  </a:lnTo>
                  <a:lnTo>
                    <a:pt x="0" y="392"/>
                  </a:lnTo>
                  <a:lnTo>
                    <a:pt x="0" y="375"/>
                  </a:lnTo>
                  <a:lnTo>
                    <a:pt x="2" y="375"/>
                  </a:lnTo>
                  <a:lnTo>
                    <a:pt x="2" y="373"/>
                  </a:lnTo>
                  <a:lnTo>
                    <a:pt x="5" y="375"/>
                  </a:lnTo>
                  <a:lnTo>
                    <a:pt x="5" y="375"/>
                  </a:lnTo>
                  <a:lnTo>
                    <a:pt x="5" y="375"/>
                  </a:lnTo>
                  <a:close/>
                  <a:moveTo>
                    <a:pt x="5" y="410"/>
                  </a:moveTo>
                  <a:lnTo>
                    <a:pt x="5" y="424"/>
                  </a:lnTo>
                  <a:lnTo>
                    <a:pt x="5" y="427"/>
                  </a:lnTo>
                  <a:lnTo>
                    <a:pt x="2" y="427"/>
                  </a:lnTo>
                  <a:lnTo>
                    <a:pt x="2" y="427"/>
                  </a:lnTo>
                  <a:lnTo>
                    <a:pt x="0" y="424"/>
                  </a:lnTo>
                  <a:lnTo>
                    <a:pt x="0" y="410"/>
                  </a:lnTo>
                  <a:lnTo>
                    <a:pt x="2" y="408"/>
                  </a:lnTo>
                  <a:lnTo>
                    <a:pt x="2" y="408"/>
                  </a:lnTo>
                  <a:lnTo>
                    <a:pt x="5" y="408"/>
                  </a:lnTo>
                  <a:lnTo>
                    <a:pt x="5" y="410"/>
                  </a:lnTo>
                  <a:lnTo>
                    <a:pt x="5" y="410"/>
                  </a:lnTo>
                  <a:close/>
                  <a:moveTo>
                    <a:pt x="5" y="445"/>
                  </a:moveTo>
                  <a:lnTo>
                    <a:pt x="5" y="459"/>
                  </a:lnTo>
                  <a:lnTo>
                    <a:pt x="5" y="462"/>
                  </a:lnTo>
                  <a:lnTo>
                    <a:pt x="2" y="462"/>
                  </a:lnTo>
                  <a:lnTo>
                    <a:pt x="2" y="462"/>
                  </a:lnTo>
                  <a:lnTo>
                    <a:pt x="0" y="459"/>
                  </a:lnTo>
                  <a:lnTo>
                    <a:pt x="0" y="445"/>
                  </a:lnTo>
                  <a:lnTo>
                    <a:pt x="2" y="443"/>
                  </a:lnTo>
                  <a:lnTo>
                    <a:pt x="2" y="443"/>
                  </a:lnTo>
                  <a:lnTo>
                    <a:pt x="5" y="443"/>
                  </a:lnTo>
                  <a:lnTo>
                    <a:pt x="5" y="445"/>
                  </a:lnTo>
                  <a:lnTo>
                    <a:pt x="5" y="445"/>
                  </a:lnTo>
                  <a:close/>
                  <a:moveTo>
                    <a:pt x="5" y="478"/>
                  </a:moveTo>
                  <a:lnTo>
                    <a:pt x="5" y="492"/>
                  </a:lnTo>
                  <a:lnTo>
                    <a:pt x="5" y="494"/>
                  </a:lnTo>
                  <a:lnTo>
                    <a:pt x="2" y="494"/>
                  </a:lnTo>
                  <a:lnTo>
                    <a:pt x="2" y="494"/>
                  </a:lnTo>
                  <a:lnTo>
                    <a:pt x="0" y="492"/>
                  </a:lnTo>
                  <a:lnTo>
                    <a:pt x="0" y="478"/>
                  </a:lnTo>
                  <a:lnTo>
                    <a:pt x="2" y="476"/>
                  </a:lnTo>
                  <a:lnTo>
                    <a:pt x="2" y="476"/>
                  </a:lnTo>
                  <a:lnTo>
                    <a:pt x="5" y="476"/>
                  </a:lnTo>
                  <a:lnTo>
                    <a:pt x="5" y="478"/>
                  </a:lnTo>
                  <a:lnTo>
                    <a:pt x="5" y="478"/>
                  </a:lnTo>
                  <a:close/>
                  <a:moveTo>
                    <a:pt x="5" y="513"/>
                  </a:moveTo>
                  <a:lnTo>
                    <a:pt x="5" y="527"/>
                  </a:lnTo>
                  <a:lnTo>
                    <a:pt x="5" y="529"/>
                  </a:lnTo>
                  <a:lnTo>
                    <a:pt x="2" y="529"/>
                  </a:lnTo>
                  <a:lnTo>
                    <a:pt x="2" y="529"/>
                  </a:lnTo>
                  <a:lnTo>
                    <a:pt x="0" y="527"/>
                  </a:lnTo>
                  <a:lnTo>
                    <a:pt x="0" y="513"/>
                  </a:lnTo>
                  <a:lnTo>
                    <a:pt x="2" y="510"/>
                  </a:lnTo>
                  <a:lnTo>
                    <a:pt x="2" y="510"/>
                  </a:lnTo>
                  <a:lnTo>
                    <a:pt x="5" y="510"/>
                  </a:lnTo>
                  <a:lnTo>
                    <a:pt x="5" y="513"/>
                  </a:lnTo>
                  <a:lnTo>
                    <a:pt x="5" y="513"/>
                  </a:lnTo>
                  <a:close/>
                  <a:moveTo>
                    <a:pt x="5" y="545"/>
                  </a:moveTo>
                  <a:lnTo>
                    <a:pt x="5" y="562"/>
                  </a:lnTo>
                  <a:lnTo>
                    <a:pt x="5" y="562"/>
                  </a:lnTo>
                  <a:lnTo>
                    <a:pt x="2" y="564"/>
                  </a:lnTo>
                  <a:lnTo>
                    <a:pt x="2" y="562"/>
                  </a:lnTo>
                  <a:lnTo>
                    <a:pt x="0" y="562"/>
                  </a:lnTo>
                  <a:lnTo>
                    <a:pt x="0" y="545"/>
                  </a:lnTo>
                  <a:lnTo>
                    <a:pt x="2" y="545"/>
                  </a:lnTo>
                  <a:lnTo>
                    <a:pt x="2" y="543"/>
                  </a:lnTo>
                  <a:lnTo>
                    <a:pt x="5" y="545"/>
                  </a:lnTo>
                  <a:lnTo>
                    <a:pt x="5" y="545"/>
                  </a:lnTo>
                  <a:lnTo>
                    <a:pt x="5" y="545"/>
                  </a:lnTo>
                  <a:close/>
                  <a:moveTo>
                    <a:pt x="5" y="580"/>
                  </a:moveTo>
                  <a:lnTo>
                    <a:pt x="5" y="594"/>
                  </a:lnTo>
                  <a:lnTo>
                    <a:pt x="5" y="597"/>
                  </a:lnTo>
                  <a:lnTo>
                    <a:pt x="2" y="597"/>
                  </a:lnTo>
                  <a:lnTo>
                    <a:pt x="2" y="597"/>
                  </a:lnTo>
                  <a:lnTo>
                    <a:pt x="0" y="594"/>
                  </a:lnTo>
                  <a:lnTo>
                    <a:pt x="0" y="580"/>
                  </a:lnTo>
                  <a:lnTo>
                    <a:pt x="2" y="578"/>
                  </a:lnTo>
                  <a:lnTo>
                    <a:pt x="2" y="578"/>
                  </a:lnTo>
                  <a:lnTo>
                    <a:pt x="5" y="578"/>
                  </a:lnTo>
                  <a:lnTo>
                    <a:pt x="5" y="580"/>
                  </a:lnTo>
                  <a:lnTo>
                    <a:pt x="5" y="580"/>
                  </a:lnTo>
                  <a:close/>
                  <a:moveTo>
                    <a:pt x="5" y="613"/>
                  </a:moveTo>
                  <a:lnTo>
                    <a:pt x="5" y="629"/>
                  </a:lnTo>
                  <a:lnTo>
                    <a:pt x="5" y="629"/>
                  </a:lnTo>
                  <a:lnTo>
                    <a:pt x="2" y="632"/>
                  </a:lnTo>
                  <a:lnTo>
                    <a:pt x="2" y="629"/>
                  </a:lnTo>
                  <a:lnTo>
                    <a:pt x="0" y="629"/>
                  </a:lnTo>
                  <a:lnTo>
                    <a:pt x="0" y="613"/>
                  </a:lnTo>
                  <a:lnTo>
                    <a:pt x="2" y="613"/>
                  </a:lnTo>
                  <a:lnTo>
                    <a:pt x="2" y="611"/>
                  </a:lnTo>
                  <a:lnTo>
                    <a:pt x="5" y="613"/>
                  </a:lnTo>
                  <a:lnTo>
                    <a:pt x="5" y="613"/>
                  </a:lnTo>
                  <a:lnTo>
                    <a:pt x="5" y="613"/>
                  </a:lnTo>
                  <a:close/>
                  <a:moveTo>
                    <a:pt x="5" y="648"/>
                  </a:moveTo>
                  <a:lnTo>
                    <a:pt x="5" y="662"/>
                  </a:lnTo>
                  <a:lnTo>
                    <a:pt x="5" y="664"/>
                  </a:lnTo>
                  <a:lnTo>
                    <a:pt x="2" y="664"/>
                  </a:lnTo>
                  <a:lnTo>
                    <a:pt x="2" y="664"/>
                  </a:lnTo>
                  <a:lnTo>
                    <a:pt x="0" y="662"/>
                  </a:lnTo>
                  <a:lnTo>
                    <a:pt x="0" y="648"/>
                  </a:lnTo>
                  <a:lnTo>
                    <a:pt x="2" y="646"/>
                  </a:lnTo>
                  <a:lnTo>
                    <a:pt x="2" y="646"/>
                  </a:lnTo>
                  <a:lnTo>
                    <a:pt x="5" y="646"/>
                  </a:lnTo>
                  <a:lnTo>
                    <a:pt x="5" y="648"/>
                  </a:lnTo>
                  <a:lnTo>
                    <a:pt x="5" y="648"/>
                  </a:lnTo>
                  <a:close/>
                  <a:moveTo>
                    <a:pt x="5" y="683"/>
                  </a:moveTo>
                  <a:lnTo>
                    <a:pt x="5" y="697"/>
                  </a:lnTo>
                  <a:lnTo>
                    <a:pt x="5" y="699"/>
                  </a:lnTo>
                  <a:lnTo>
                    <a:pt x="2" y="699"/>
                  </a:lnTo>
                  <a:lnTo>
                    <a:pt x="2" y="699"/>
                  </a:lnTo>
                  <a:lnTo>
                    <a:pt x="0" y="697"/>
                  </a:lnTo>
                  <a:lnTo>
                    <a:pt x="0" y="683"/>
                  </a:lnTo>
                  <a:lnTo>
                    <a:pt x="2" y="681"/>
                  </a:lnTo>
                  <a:lnTo>
                    <a:pt x="2" y="681"/>
                  </a:lnTo>
                  <a:lnTo>
                    <a:pt x="5" y="681"/>
                  </a:lnTo>
                  <a:lnTo>
                    <a:pt x="5" y="683"/>
                  </a:lnTo>
                  <a:lnTo>
                    <a:pt x="5" y="683"/>
                  </a:lnTo>
                  <a:close/>
                  <a:moveTo>
                    <a:pt x="5" y="715"/>
                  </a:moveTo>
                  <a:lnTo>
                    <a:pt x="5" y="729"/>
                  </a:lnTo>
                  <a:lnTo>
                    <a:pt x="5" y="732"/>
                  </a:lnTo>
                  <a:lnTo>
                    <a:pt x="2" y="734"/>
                  </a:lnTo>
                  <a:lnTo>
                    <a:pt x="2" y="732"/>
                  </a:lnTo>
                  <a:lnTo>
                    <a:pt x="0" y="729"/>
                  </a:lnTo>
                  <a:lnTo>
                    <a:pt x="0" y="715"/>
                  </a:lnTo>
                  <a:lnTo>
                    <a:pt x="2" y="713"/>
                  </a:lnTo>
                  <a:lnTo>
                    <a:pt x="2" y="713"/>
                  </a:lnTo>
                  <a:lnTo>
                    <a:pt x="5" y="713"/>
                  </a:lnTo>
                  <a:lnTo>
                    <a:pt x="5" y="715"/>
                  </a:lnTo>
                  <a:lnTo>
                    <a:pt x="5" y="715"/>
                  </a:lnTo>
                  <a:close/>
                  <a:moveTo>
                    <a:pt x="5" y="750"/>
                  </a:moveTo>
                  <a:lnTo>
                    <a:pt x="5" y="764"/>
                  </a:lnTo>
                  <a:lnTo>
                    <a:pt x="5" y="767"/>
                  </a:lnTo>
                  <a:lnTo>
                    <a:pt x="2" y="767"/>
                  </a:lnTo>
                  <a:lnTo>
                    <a:pt x="2" y="767"/>
                  </a:lnTo>
                  <a:lnTo>
                    <a:pt x="0" y="764"/>
                  </a:lnTo>
                  <a:lnTo>
                    <a:pt x="0" y="750"/>
                  </a:lnTo>
                  <a:lnTo>
                    <a:pt x="2" y="748"/>
                  </a:lnTo>
                  <a:lnTo>
                    <a:pt x="2" y="748"/>
                  </a:lnTo>
                  <a:lnTo>
                    <a:pt x="5" y="748"/>
                  </a:lnTo>
                  <a:lnTo>
                    <a:pt x="5" y="750"/>
                  </a:lnTo>
                  <a:lnTo>
                    <a:pt x="5" y="750"/>
                  </a:lnTo>
                  <a:close/>
                  <a:moveTo>
                    <a:pt x="5" y="783"/>
                  </a:moveTo>
                  <a:lnTo>
                    <a:pt x="5" y="799"/>
                  </a:lnTo>
                  <a:lnTo>
                    <a:pt x="5" y="799"/>
                  </a:lnTo>
                  <a:lnTo>
                    <a:pt x="2" y="802"/>
                  </a:lnTo>
                  <a:lnTo>
                    <a:pt x="2" y="799"/>
                  </a:lnTo>
                  <a:lnTo>
                    <a:pt x="0" y="799"/>
                  </a:lnTo>
                  <a:lnTo>
                    <a:pt x="0" y="783"/>
                  </a:lnTo>
                  <a:lnTo>
                    <a:pt x="2" y="783"/>
                  </a:lnTo>
                  <a:lnTo>
                    <a:pt x="2" y="781"/>
                  </a:lnTo>
                  <a:lnTo>
                    <a:pt x="5" y="783"/>
                  </a:lnTo>
                  <a:lnTo>
                    <a:pt x="5" y="783"/>
                  </a:lnTo>
                  <a:lnTo>
                    <a:pt x="5" y="783"/>
                  </a:lnTo>
                  <a:close/>
                  <a:moveTo>
                    <a:pt x="5" y="818"/>
                  </a:moveTo>
                  <a:lnTo>
                    <a:pt x="5" y="832"/>
                  </a:lnTo>
                  <a:lnTo>
                    <a:pt x="5" y="834"/>
                  </a:lnTo>
                  <a:lnTo>
                    <a:pt x="2" y="834"/>
                  </a:lnTo>
                  <a:lnTo>
                    <a:pt x="2" y="834"/>
                  </a:lnTo>
                  <a:lnTo>
                    <a:pt x="0" y="832"/>
                  </a:lnTo>
                  <a:lnTo>
                    <a:pt x="0" y="818"/>
                  </a:lnTo>
                  <a:lnTo>
                    <a:pt x="2" y="816"/>
                  </a:lnTo>
                  <a:lnTo>
                    <a:pt x="2" y="816"/>
                  </a:lnTo>
                  <a:lnTo>
                    <a:pt x="5" y="816"/>
                  </a:lnTo>
                  <a:lnTo>
                    <a:pt x="5" y="818"/>
                  </a:lnTo>
                  <a:lnTo>
                    <a:pt x="5" y="818"/>
                  </a:lnTo>
                  <a:close/>
                  <a:moveTo>
                    <a:pt x="5" y="853"/>
                  </a:moveTo>
                  <a:lnTo>
                    <a:pt x="5" y="867"/>
                  </a:lnTo>
                  <a:lnTo>
                    <a:pt x="5" y="869"/>
                  </a:lnTo>
                  <a:lnTo>
                    <a:pt x="2" y="869"/>
                  </a:lnTo>
                  <a:lnTo>
                    <a:pt x="2" y="869"/>
                  </a:lnTo>
                  <a:lnTo>
                    <a:pt x="0" y="867"/>
                  </a:lnTo>
                  <a:lnTo>
                    <a:pt x="0" y="853"/>
                  </a:lnTo>
                  <a:lnTo>
                    <a:pt x="2" y="851"/>
                  </a:lnTo>
                  <a:lnTo>
                    <a:pt x="2" y="851"/>
                  </a:lnTo>
                  <a:lnTo>
                    <a:pt x="5" y="851"/>
                  </a:lnTo>
                  <a:lnTo>
                    <a:pt x="5" y="853"/>
                  </a:lnTo>
                  <a:lnTo>
                    <a:pt x="5" y="853"/>
                  </a:lnTo>
                  <a:close/>
                  <a:moveTo>
                    <a:pt x="5" y="886"/>
                  </a:moveTo>
                  <a:lnTo>
                    <a:pt x="5" y="900"/>
                  </a:lnTo>
                  <a:lnTo>
                    <a:pt x="5" y="902"/>
                  </a:lnTo>
                  <a:lnTo>
                    <a:pt x="2" y="902"/>
                  </a:lnTo>
                  <a:lnTo>
                    <a:pt x="2" y="902"/>
                  </a:lnTo>
                  <a:lnTo>
                    <a:pt x="0" y="900"/>
                  </a:lnTo>
                  <a:lnTo>
                    <a:pt x="0" y="886"/>
                  </a:lnTo>
                  <a:lnTo>
                    <a:pt x="2" y="883"/>
                  </a:lnTo>
                  <a:lnTo>
                    <a:pt x="2" y="883"/>
                  </a:lnTo>
                  <a:lnTo>
                    <a:pt x="5" y="883"/>
                  </a:lnTo>
                  <a:lnTo>
                    <a:pt x="5" y="886"/>
                  </a:lnTo>
                  <a:lnTo>
                    <a:pt x="5" y="886"/>
                  </a:lnTo>
                  <a:close/>
                  <a:moveTo>
                    <a:pt x="5" y="921"/>
                  </a:moveTo>
                  <a:lnTo>
                    <a:pt x="5" y="934"/>
                  </a:lnTo>
                  <a:lnTo>
                    <a:pt x="5" y="937"/>
                  </a:lnTo>
                  <a:lnTo>
                    <a:pt x="2" y="937"/>
                  </a:lnTo>
                  <a:lnTo>
                    <a:pt x="2" y="937"/>
                  </a:lnTo>
                  <a:lnTo>
                    <a:pt x="0" y="934"/>
                  </a:lnTo>
                  <a:lnTo>
                    <a:pt x="0" y="921"/>
                  </a:lnTo>
                  <a:lnTo>
                    <a:pt x="2" y="918"/>
                  </a:lnTo>
                  <a:lnTo>
                    <a:pt x="2" y="918"/>
                  </a:lnTo>
                  <a:lnTo>
                    <a:pt x="5" y="918"/>
                  </a:lnTo>
                  <a:lnTo>
                    <a:pt x="5" y="921"/>
                  </a:lnTo>
                  <a:lnTo>
                    <a:pt x="5" y="921"/>
                  </a:lnTo>
                  <a:close/>
                  <a:moveTo>
                    <a:pt x="5" y="953"/>
                  </a:moveTo>
                  <a:lnTo>
                    <a:pt x="5" y="969"/>
                  </a:lnTo>
                  <a:lnTo>
                    <a:pt x="5" y="969"/>
                  </a:lnTo>
                  <a:lnTo>
                    <a:pt x="2" y="972"/>
                  </a:lnTo>
                  <a:lnTo>
                    <a:pt x="2" y="969"/>
                  </a:lnTo>
                  <a:lnTo>
                    <a:pt x="0" y="969"/>
                  </a:lnTo>
                  <a:lnTo>
                    <a:pt x="0" y="953"/>
                  </a:lnTo>
                  <a:lnTo>
                    <a:pt x="2" y="953"/>
                  </a:lnTo>
                  <a:lnTo>
                    <a:pt x="2" y="951"/>
                  </a:lnTo>
                  <a:lnTo>
                    <a:pt x="5" y="953"/>
                  </a:lnTo>
                  <a:lnTo>
                    <a:pt x="5" y="953"/>
                  </a:lnTo>
                  <a:lnTo>
                    <a:pt x="5" y="953"/>
                  </a:lnTo>
                  <a:close/>
                  <a:moveTo>
                    <a:pt x="5" y="988"/>
                  </a:moveTo>
                  <a:lnTo>
                    <a:pt x="5" y="1002"/>
                  </a:lnTo>
                  <a:lnTo>
                    <a:pt x="5" y="1004"/>
                  </a:lnTo>
                  <a:lnTo>
                    <a:pt x="2" y="1004"/>
                  </a:lnTo>
                  <a:lnTo>
                    <a:pt x="2" y="1004"/>
                  </a:lnTo>
                  <a:lnTo>
                    <a:pt x="0" y="1002"/>
                  </a:lnTo>
                  <a:lnTo>
                    <a:pt x="0" y="988"/>
                  </a:lnTo>
                  <a:lnTo>
                    <a:pt x="2" y="986"/>
                  </a:lnTo>
                  <a:lnTo>
                    <a:pt x="2" y="986"/>
                  </a:lnTo>
                  <a:lnTo>
                    <a:pt x="5" y="986"/>
                  </a:lnTo>
                  <a:lnTo>
                    <a:pt x="5" y="988"/>
                  </a:lnTo>
                  <a:lnTo>
                    <a:pt x="5" y="988"/>
                  </a:lnTo>
                  <a:close/>
                  <a:moveTo>
                    <a:pt x="5" y="1021"/>
                  </a:moveTo>
                  <a:lnTo>
                    <a:pt x="5" y="1037"/>
                  </a:lnTo>
                  <a:lnTo>
                    <a:pt x="5" y="1037"/>
                  </a:lnTo>
                  <a:lnTo>
                    <a:pt x="2" y="1039"/>
                  </a:lnTo>
                  <a:lnTo>
                    <a:pt x="2" y="1037"/>
                  </a:lnTo>
                  <a:lnTo>
                    <a:pt x="0" y="1037"/>
                  </a:lnTo>
                  <a:lnTo>
                    <a:pt x="0" y="1021"/>
                  </a:lnTo>
                  <a:lnTo>
                    <a:pt x="2" y="1021"/>
                  </a:lnTo>
                  <a:lnTo>
                    <a:pt x="2" y="1018"/>
                  </a:lnTo>
                  <a:lnTo>
                    <a:pt x="5" y="1021"/>
                  </a:lnTo>
                  <a:lnTo>
                    <a:pt x="5" y="1021"/>
                  </a:lnTo>
                  <a:lnTo>
                    <a:pt x="5" y="1021"/>
                  </a:lnTo>
                  <a:close/>
                  <a:moveTo>
                    <a:pt x="5" y="1056"/>
                  </a:moveTo>
                  <a:lnTo>
                    <a:pt x="5" y="1070"/>
                  </a:lnTo>
                  <a:lnTo>
                    <a:pt x="5" y="1072"/>
                  </a:lnTo>
                  <a:lnTo>
                    <a:pt x="2" y="1072"/>
                  </a:lnTo>
                  <a:lnTo>
                    <a:pt x="2" y="1072"/>
                  </a:lnTo>
                  <a:lnTo>
                    <a:pt x="0" y="1070"/>
                  </a:lnTo>
                  <a:lnTo>
                    <a:pt x="0" y="1056"/>
                  </a:lnTo>
                  <a:lnTo>
                    <a:pt x="2" y="1053"/>
                  </a:lnTo>
                  <a:lnTo>
                    <a:pt x="2" y="1053"/>
                  </a:lnTo>
                  <a:lnTo>
                    <a:pt x="5" y="1053"/>
                  </a:lnTo>
                  <a:lnTo>
                    <a:pt x="5" y="1056"/>
                  </a:lnTo>
                  <a:lnTo>
                    <a:pt x="5" y="1056"/>
                  </a:lnTo>
                  <a:close/>
                  <a:moveTo>
                    <a:pt x="5" y="1091"/>
                  </a:moveTo>
                  <a:lnTo>
                    <a:pt x="5" y="1105"/>
                  </a:lnTo>
                  <a:lnTo>
                    <a:pt x="5" y="1107"/>
                  </a:lnTo>
                  <a:lnTo>
                    <a:pt x="2" y="1107"/>
                  </a:lnTo>
                  <a:lnTo>
                    <a:pt x="2" y="1107"/>
                  </a:lnTo>
                  <a:lnTo>
                    <a:pt x="0" y="1105"/>
                  </a:lnTo>
                  <a:lnTo>
                    <a:pt x="0" y="1091"/>
                  </a:lnTo>
                  <a:lnTo>
                    <a:pt x="2" y="1088"/>
                  </a:lnTo>
                  <a:lnTo>
                    <a:pt x="2" y="1088"/>
                  </a:lnTo>
                  <a:lnTo>
                    <a:pt x="5" y="1088"/>
                  </a:lnTo>
                  <a:lnTo>
                    <a:pt x="5" y="1091"/>
                  </a:lnTo>
                  <a:lnTo>
                    <a:pt x="5" y="1091"/>
                  </a:lnTo>
                  <a:close/>
                  <a:moveTo>
                    <a:pt x="5" y="1123"/>
                  </a:moveTo>
                  <a:lnTo>
                    <a:pt x="5" y="1137"/>
                  </a:lnTo>
                  <a:lnTo>
                    <a:pt x="5" y="1140"/>
                  </a:lnTo>
                  <a:lnTo>
                    <a:pt x="2" y="1142"/>
                  </a:lnTo>
                  <a:lnTo>
                    <a:pt x="2" y="1140"/>
                  </a:lnTo>
                  <a:lnTo>
                    <a:pt x="0" y="1137"/>
                  </a:lnTo>
                  <a:lnTo>
                    <a:pt x="0" y="1123"/>
                  </a:lnTo>
                  <a:lnTo>
                    <a:pt x="2" y="1121"/>
                  </a:lnTo>
                  <a:lnTo>
                    <a:pt x="2" y="1121"/>
                  </a:lnTo>
                  <a:lnTo>
                    <a:pt x="5" y="1121"/>
                  </a:lnTo>
                  <a:lnTo>
                    <a:pt x="5" y="1123"/>
                  </a:lnTo>
                  <a:lnTo>
                    <a:pt x="5" y="1123"/>
                  </a:lnTo>
                  <a:close/>
                  <a:moveTo>
                    <a:pt x="5" y="1158"/>
                  </a:moveTo>
                  <a:lnTo>
                    <a:pt x="5" y="1172"/>
                  </a:lnTo>
                  <a:lnTo>
                    <a:pt x="5" y="1174"/>
                  </a:lnTo>
                  <a:lnTo>
                    <a:pt x="2" y="1174"/>
                  </a:lnTo>
                  <a:lnTo>
                    <a:pt x="2" y="1174"/>
                  </a:lnTo>
                  <a:lnTo>
                    <a:pt x="0" y="1172"/>
                  </a:lnTo>
                  <a:lnTo>
                    <a:pt x="0" y="1158"/>
                  </a:lnTo>
                  <a:lnTo>
                    <a:pt x="2" y="1156"/>
                  </a:lnTo>
                  <a:lnTo>
                    <a:pt x="2" y="1156"/>
                  </a:lnTo>
                  <a:lnTo>
                    <a:pt x="5" y="1156"/>
                  </a:lnTo>
                  <a:lnTo>
                    <a:pt x="5" y="1158"/>
                  </a:lnTo>
                  <a:lnTo>
                    <a:pt x="5" y="1158"/>
                  </a:lnTo>
                  <a:close/>
                  <a:moveTo>
                    <a:pt x="5" y="1191"/>
                  </a:moveTo>
                  <a:lnTo>
                    <a:pt x="5" y="1195"/>
                  </a:lnTo>
                  <a:lnTo>
                    <a:pt x="5" y="1198"/>
                  </a:lnTo>
                  <a:lnTo>
                    <a:pt x="2" y="1200"/>
                  </a:lnTo>
                  <a:lnTo>
                    <a:pt x="2" y="1198"/>
                  </a:lnTo>
                  <a:lnTo>
                    <a:pt x="0" y="1195"/>
                  </a:lnTo>
                  <a:lnTo>
                    <a:pt x="0" y="1191"/>
                  </a:lnTo>
                  <a:lnTo>
                    <a:pt x="2" y="1191"/>
                  </a:lnTo>
                  <a:lnTo>
                    <a:pt x="2" y="1188"/>
                  </a:lnTo>
                  <a:lnTo>
                    <a:pt x="5" y="1191"/>
                  </a:lnTo>
                  <a:lnTo>
                    <a:pt x="5" y="1191"/>
                  </a:lnTo>
                  <a:lnTo>
                    <a:pt x="5" y="1191"/>
                  </a:lnTo>
                  <a:close/>
                </a:path>
              </a:pathLst>
            </a:custGeom>
            <a:solidFill>
              <a:srgbClr val="000000"/>
            </a:solidFill>
            <a:ln w="4763" cap="flat" cmpd="sng">
              <a:solidFill>
                <a:srgbClr val="FF0000"/>
              </a:solidFill>
              <a:prstDash val="solid"/>
              <a:headEnd type="none" w="med" len="med"/>
              <a:tailEnd type="none" w="med" len="med"/>
            </a:ln>
          </p:spPr>
          <p:txBody>
            <a:bodyPr/>
            <a:p>
              <a:endParaRPr lang="zh-CN" altLang="en-US"/>
            </a:p>
          </p:txBody>
        </p:sp>
        <p:sp>
          <p:nvSpPr>
            <p:cNvPr id="96451" name="任意多边形 96450"/>
            <p:cNvSpPr>
              <a:spLocks noEditPoints="1"/>
            </p:cNvSpPr>
            <p:nvPr/>
          </p:nvSpPr>
          <p:spPr>
            <a:xfrm>
              <a:off x="4480" y="3034"/>
              <a:ext cx="5" cy="629"/>
            </a:xfrm>
            <a:custGeom>
              <a:avLst/>
              <a:gdLst/>
              <a:ahLst/>
              <a:cxnLst/>
              <a:pathLst>
                <a:path w="5" h="629">
                  <a:moveTo>
                    <a:pt x="5" y="2"/>
                  </a:moveTo>
                  <a:lnTo>
                    <a:pt x="5" y="16"/>
                  </a:lnTo>
                  <a:lnTo>
                    <a:pt x="5" y="19"/>
                  </a:lnTo>
                  <a:lnTo>
                    <a:pt x="2" y="19"/>
                  </a:lnTo>
                  <a:lnTo>
                    <a:pt x="0" y="19"/>
                  </a:lnTo>
                  <a:lnTo>
                    <a:pt x="0" y="16"/>
                  </a:lnTo>
                  <a:lnTo>
                    <a:pt x="0" y="2"/>
                  </a:lnTo>
                  <a:lnTo>
                    <a:pt x="0" y="0"/>
                  </a:lnTo>
                  <a:lnTo>
                    <a:pt x="2" y="0"/>
                  </a:lnTo>
                  <a:lnTo>
                    <a:pt x="5" y="0"/>
                  </a:lnTo>
                  <a:lnTo>
                    <a:pt x="5" y="2"/>
                  </a:lnTo>
                  <a:lnTo>
                    <a:pt x="5" y="2"/>
                  </a:lnTo>
                  <a:close/>
                  <a:moveTo>
                    <a:pt x="5" y="35"/>
                  </a:moveTo>
                  <a:lnTo>
                    <a:pt x="5" y="49"/>
                  </a:lnTo>
                  <a:lnTo>
                    <a:pt x="5" y="51"/>
                  </a:lnTo>
                  <a:lnTo>
                    <a:pt x="2" y="51"/>
                  </a:lnTo>
                  <a:lnTo>
                    <a:pt x="0" y="51"/>
                  </a:lnTo>
                  <a:lnTo>
                    <a:pt x="0" y="49"/>
                  </a:lnTo>
                  <a:lnTo>
                    <a:pt x="0" y="35"/>
                  </a:lnTo>
                  <a:lnTo>
                    <a:pt x="0" y="33"/>
                  </a:lnTo>
                  <a:lnTo>
                    <a:pt x="2" y="33"/>
                  </a:lnTo>
                  <a:lnTo>
                    <a:pt x="5" y="33"/>
                  </a:lnTo>
                  <a:lnTo>
                    <a:pt x="5" y="35"/>
                  </a:lnTo>
                  <a:lnTo>
                    <a:pt x="5" y="35"/>
                  </a:lnTo>
                  <a:close/>
                  <a:moveTo>
                    <a:pt x="5" y="70"/>
                  </a:moveTo>
                  <a:lnTo>
                    <a:pt x="5" y="84"/>
                  </a:lnTo>
                  <a:lnTo>
                    <a:pt x="5" y="86"/>
                  </a:lnTo>
                  <a:lnTo>
                    <a:pt x="2" y="86"/>
                  </a:lnTo>
                  <a:lnTo>
                    <a:pt x="0" y="86"/>
                  </a:lnTo>
                  <a:lnTo>
                    <a:pt x="0" y="84"/>
                  </a:lnTo>
                  <a:lnTo>
                    <a:pt x="0" y="70"/>
                  </a:lnTo>
                  <a:lnTo>
                    <a:pt x="0" y="68"/>
                  </a:lnTo>
                  <a:lnTo>
                    <a:pt x="2" y="68"/>
                  </a:lnTo>
                  <a:lnTo>
                    <a:pt x="5" y="68"/>
                  </a:lnTo>
                  <a:lnTo>
                    <a:pt x="5" y="70"/>
                  </a:lnTo>
                  <a:lnTo>
                    <a:pt x="5" y="70"/>
                  </a:lnTo>
                  <a:close/>
                  <a:moveTo>
                    <a:pt x="5" y="103"/>
                  </a:moveTo>
                  <a:lnTo>
                    <a:pt x="5" y="119"/>
                  </a:lnTo>
                  <a:lnTo>
                    <a:pt x="5" y="119"/>
                  </a:lnTo>
                  <a:lnTo>
                    <a:pt x="2" y="121"/>
                  </a:lnTo>
                  <a:lnTo>
                    <a:pt x="0" y="119"/>
                  </a:lnTo>
                  <a:lnTo>
                    <a:pt x="0" y="119"/>
                  </a:lnTo>
                  <a:lnTo>
                    <a:pt x="0" y="103"/>
                  </a:lnTo>
                  <a:lnTo>
                    <a:pt x="0" y="103"/>
                  </a:lnTo>
                  <a:lnTo>
                    <a:pt x="2" y="100"/>
                  </a:lnTo>
                  <a:lnTo>
                    <a:pt x="5" y="103"/>
                  </a:lnTo>
                  <a:lnTo>
                    <a:pt x="5" y="103"/>
                  </a:lnTo>
                  <a:lnTo>
                    <a:pt x="5" y="103"/>
                  </a:lnTo>
                  <a:close/>
                  <a:moveTo>
                    <a:pt x="5" y="138"/>
                  </a:moveTo>
                  <a:lnTo>
                    <a:pt x="5" y="152"/>
                  </a:lnTo>
                  <a:lnTo>
                    <a:pt x="5" y="154"/>
                  </a:lnTo>
                  <a:lnTo>
                    <a:pt x="2" y="154"/>
                  </a:lnTo>
                  <a:lnTo>
                    <a:pt x="0" y="154"/>
                  </a:lnTo>
                  <a:lnTo>
                    <a:pt x="0" y="152"/>
                  </a:lnTo>
                  <a:lnTo>
                    <a:pt x="0" y="138"/>
                  </a:lnTo>
                  <a:lnTo>
                    <a:pt x="0" y="135"/>
                  </a:lnTo>
                  <a:lnTo>
                    <a:pt x="2" y="135"/>
                  </a:lnTo>
                  <a:lnTo>
                    <a:pt x="5" y="135"/>
                  </a:lnTo>
                  <a:lnTo>
                    <a:pt x="5" y="138"/>
                  </a:lnTo>
                  <a:lnTo>
                    <a:pt x="5" y="138"/>
                  </a:lnTo>
                  <a:close/>
                  <a:moveTo>
                    <a:pt x="5" y="170"/>
                  </a:moveTo>
                  <a:lnTo>
                    <a:pt x="5" y="187"/>
                  </a:lnTo>
                  <a:lnTo>
                    <a:pt x="5" y="187"/>
                  </a:lnTo>
                  <a:lnTo>
                    <a:pt x="2" y="189"/>
                  </a:lnTo>
                  <a:lnTo>
                    <a:pt x="0" y="187"/>
                  </a:lnTo>
                  <a:lnTo>
                    <a:pt x="0" y="187"/>
                  </a:lnTo>
                  <a:lnTo>
                    <a:pt x="0" y="170"/>
                  </a:lnTo>
                  <a:lnTo>
                    <a:pt x="0" y="170"/>
                  </a:lnTo>
                  <a:lnTo>
                    <a:pt x="2" y="168"/>
                  </a:lnTo>
                  <a:lnTo>
                    <a:pt x="5" y="170"/>
                  </a:lnTo>
                  <a:lnTo>
                    <a:pt x="5" y="170"/>
                  </a:lnTo>
                  <a:lnTo>
                    <a:pt x="5" y="170"/>
                  </a:lnTo>
                  <a:close/>
                  <a:moveTo>
                    <a:pt x="5" y="205"/>
                  </a:moveTo>
                  <a:lnTo>
                    <a:pt x="5" y="219"/>
                  </a:lnTo>
                  <a:lnTo>
                    <a:pt x="5" y="221"/>
                  </a:lnTo>
                  <a:lnTo>
                    <a:pt x="2" y="221"/>
                  </a:lnTo>
                  <a:lnTo>
                    <a:pt x="0" y="221"/>
                  </a:lnTo>
                  <a:lnTo>
                    <a:pt x="0" y="219"/>
                  </a:lnTo>
                  <a:lnTo>
                    <a:pt x="0" y="205"/>
                  </a:lnTo>
                  <a:lnTo>
                    <a:pt x="0" y="203"/>
                  </a:lnTo>
                  <a:lnTo>
                    <a:pt x="2" y="203"/>
                  </a:lnTo>
                  <a:lnTo>
                    <a:pt x="5" y="203"/>
                  </a:lnTo>
                  <a:lnTo>
                    <a:pt x="5" y="205"/>
                  </a:lnTo>
                  <a:lnTo>
                    <a:pt x="5" y="205"/>
                  </a:lnTo>
                  <a:close/>
                  <a:moveTo>
                    <a:pt x="5" y="240"/>
                  </a:moveTo>
                  <a:lnTo>
                    <a:pt x="5" y="254"/>
                  </a:lnTo>
                  <a:lnTo>
                    <a:pt x="5" y="256"/>
                  </a:lnTo>
                  <a:lnTo>
                    <a:pt x="2" y="256"/>
                  </a:lnTo>
                  <a:lnTo>
                    <a:pt x="0" y="256"/>
                  </a:lnTo>
                  <a:lnTo>
                    <a:pt x="0" y="254"/>
                  </a:lnTo>
                  <a:lnTo>
                    <a:pt x="0" y="240"/>
                  </a:lnTo>
                  <a:lnTo>
                    <a:pt x="0" y="238"/>
                  </a:lnTo>
                  <a:lnTo>
                    <a:pt x="2" y="238"/>
                  </a:lnTo>
                  <a:lnTo>
                    <a:pt x="5" y="238"/>
                  </a:lnTo>
                  <a:lnTo>
                    <a:pt x="5" y="240"/>
                  </a:lnTo>
                  <a:lnTo>
                    <a:pt x="5" y="240"/>
                  </a:lnTo>
                  <a:close/>
                  <a:moveTo>
                    <a:pt x="5" y="273"/>
                  </a:moveTo>
                  <a:lnTo>
                    <a:pt x="5" y="287"/>
                  </a:lnTo>
                  <a:lnTo>
                    <a:pt x="5" y="289"/>
                  </a:lnTo>
                  <a:lnTo>
                    <a:pt x="2" y="291"/>
                  </a:lnTo>
                  <a:lnTo>
                    <a:pt x="0" y="289"/>
                  </a:lnTo>
                  <a:lnTo>
                    <a:pt x="0" y="287"/>
                  </a:lnTo>
                  <a:lnTo>
                    <a:pt x="0" y="273"/>
                  </a:lnTo>
                  <a:lnTo>
                    <a:pt x="0" y="270"/>
                  </a:lnTo>
                  <a:lnTo>
                    <a:pt x="2" y="270"/>
                  </a:lnTo>
                  <a:lnTo>
                    <a:pt x="5" y="270"/>
                  </a:lnTo>
                  <a:lnTo>
                    <a:pt x="5" y="273"/>
                  </a:lnTo>
                  <a:lnTo>
                    <a:pt x="5" y="273"/>
                  </a:lnTo>
                  <a:close/>
                  <a:moveTo>
                    <a:pt x="5" y="308"/>
                  </a:moveTo>
                  <a:lnTo>
                    <a:pt x="5" y="322"/>
                  </a:lnTo>
                  <a:lnTo>
                    <a:pt x="5" y="324"/>
                  </a:lnTo>
                  <a:lnTo>
                    <a:pt x="2" y="324"/>
                  </a:lnTo>
                  <a:lnTo>
                    <a:pt x="0" y="324"/>
                  </a:lnTo>
                  <a:lnTo>
                    <a:pt x="0" y="322"/>
                  </a:lnTo>
                  <a:lnTo>
                    <a:pt x="0" y="308"/>
                  </a:lnTo>
                  <a:lnTo>
                    <a:pt x="0" y="305"/>
                  </a:lnTo>
                  <a:lnTo>
                    <a:pt x="2" y="305"/>
                  </a:lnTo>
                  <a:lnTo>
                    <a:pt x="5" y="305"/>
                  </a:lnTo>
                  <a:lnTo>
                    <a:pt x="5" y="308"/>
                  </a:lnTo>
                  <a:lnTo>
                    <a:pt x="5" y="308"/>
                  </a:lnTo>
                  <a:close/>
                  <a:moveTo>
                    <a:pt x="5" y="340"/>
                  </a:moveTo>
                  <a:lnTo>
                    <a:pt x="5" y="357"/>
                  </a:lnTo>
                  <a:lnTo>
                    <a:pt x="5" y="357"/>
                  </a:lnTo>
                  <a:lnTo>
                    <a:pt x="2" y="359"/>
                  </a:lnTo>
                  <a:lnTo>
                    <a:pt x="0" y="357"/>
                  </a:lnTo>
                  <a:lnTo>
                    <a:pt x="0" y="357"/>
                  </a:lnTo>
                  <a:lnTo>
                    <a:pt x="0" y="340"/>
                  </a:lnTo>
                  <a:lnTo>
                    <a:pt x="0" y="340"/>
                  </a:lnTo>
                  <a:lnTo>
                    <a:pt x="2" y="338"/>
                  </a:lnTo>
                  <a:lnTo>
                    <a:pt x="5" y="340"/>
                  </a:lnTo>
                  <a:lnTo>
                    <a:pt x="5" y="340"/>
                  </a:lnTo>
                  <a:lnTo>
                    <a:pt x="5" y="340"/>
                  </a:lnTo>
                  <a:close/>
                  <a:moveTo>
                    <a:pt x="5" y="375"/>
                  </a:moveTo>
                  <a:lnTo>
                    <a:pt x="5" y="389"/>
                  </a:lnTo>
                  <a:lnTo>
                    <a:pt x="5" y="392"/>
                  </a:lnTo>
                  <a:lnTo>
                    <a:pt x="2" y="392"/>
                  </a:lnTo>
                  <a:lnTo>
                    <a:pt x="0" y="392"/>
                  </a:lnTo>
                  <a:lnTo>
                    <a:pt x="0" y="389"/>
                  </a:lnTo>
                  <a:lnTo>
                    <a:pt x="0" y="375"/>
                  </a:lnTo>
                  <a:lnTo>
                    <a:pt x="0" y="373"/>
                  </a:lnTo>
                  <a:lnTo>
                    <a:pt x="2" y="373"/>
                  </a:lnTo>
                  <a:lnTo>
                    <a:pt x="5" y="373"/>
                  </a:lnTo>
                  <a:lnTo>
                    <a:pt x="5" y="375"/>
                  </a:lnTo>
                  <a:lnTo>
                    <a:pt x="5" y="375"/>
                  </a:lnTo>
                  <a:close/>
                  <a:moveTo>
                    <a:pt x="5" y="410"/>
                  </a:moveTo>
                  <a:lnTo>
                    <a:pt x="5" y="424"/>
                  </a:lnTo>
                  <a:lnTo>
                    <a:pt x="5" y="427"/>
                  </a:lnTo>
                  <a:lnTo>
                    <a:pt x="2" y="427"/>
                  </a:lnTo>
                  <a:lnTo>
                    <a:pt x="0" y="427"/>
                  </a:lnTo>
                  <a:lnTo>
                    <a:pt x="0" y="424"/>
                  </a:lnTo>
                  <a:lnTo>
                    <a:pt x="0" y="410"/>
                  </a:lnTo>
                  <a:lnTo>
                    <a:pt x="0" y="408"/>
                  </a:lnTo>
                  <a:lnTo>
                    <a:pt x="2" y="408"/>
                  </a:lnTo>
                  <a:lnTo>
                    <a:pt x="5" y="408"/>
                  </a:lnTo>
                  <a:lnTo>
                    <a:pt x="5" y="410"/>
                  </a:lnTo>
                  <a:lnTo>
                    <a:pt x="5" y="410"/>
                  </a:lnTo>
                  <a:close/>
                  <a:moveTo>
                    <a:pt x="5" y="443"/>
                  </a:moveTo>
                  <a:lnTo>
                    <a:pt x="5" y="457"/>
                  </a:lnTo>
                  <a:lnTo>
                    <a:pt x="5" y="459"/>
                  </a:lnTo>
                  <a:lnTo>
                    <a:pt x="2" y="459"/>
                  </a:lnTo>
                  <a:lnTo>
                    <a:pt x="0" y="459"/>
                  </a:lnTo>
                  <a:lnTo>
                    <a:pt x="0" y="457"/>
                  </a:lnTo>
                  <a:lnTo>
                    <a:pt x="0" y="443"/>
                  </a:lnTo>
                  <a:lnTo>
                    <a:pt x="0" y="440"/>
                  </a:lnTo>
                  <a:lnTo>
                    <a:pt x="2" y="440"/>
                  </a:lnTo>
                  <a:lnTo>
                    <a:pt x="5" y="440"/>
                  </a:lnTo>
                  <a:lnTo>
                    <a:pt x="5" y="443"/>
                  </a:lnTo>
                  <a:lnTo>
                    <a:pt x="5" y="443"/>
                  </a:lnTo>
                  <a:close/>
                  <a:moveTo>
                    <a:pt x="5" y="478"/>
                  </a:moveTo>
                  <a:lnTo>
                    <a:pt x="5" y="492"/>
                  </a:lnTo>
                  <a:lnTo>
                    <a:pt x="5" y="494"/>
                  </a:lnTo>
                  <a:lnTo>
                    <a:pt x="2" y="494"/>
                  </a:lnTo>
                  <a:lnTo>
                    <a:pt x="0" y="494"/>
                  </a:lnTo>
                  <a:lnTo>
                    <a:pt x="0" y="492"/>
                  </a:lnTo>
                  <a:lnTo>
                    <a:pt x="0" y="478"/>
                  </a:lnTo>
                  <a:lnTo>
                    <a:pt x="0" y="475"/>
                  </a:lnTo>
                  <a:lnTo>
                    <a:pt x="2" y="475"/>
                  </a:lnTo>
                  <a:lnTo>
                    <a:pt x="5" y="475"/>
                  </a:lnTo>
                  <a:lnTo>
                    <a:pt x="5" y="478"/>
                  </a:lnTo>
                  <a:lnTo>
                    <a:pt x="5" y="478"/>
                  </a:lnTo>
                  <a:close/>
                  <a:moveTo>
                    <a:pt x="5" y="510"/>
                  </a:moveTo>
                  <a:lnTo>
                    <a:pt x="5" y="527"/>
                  </a:lnTo>
                  <a:lnTo>
                    <a:pt x="5" y="527"/>
                  </a:lnTo>
                  <a:lnTo>
                    <a:pt x="2" y="529"/>
                  </a:lnTo>
                  <a:lnTo>
                    <a:pt x="0" y="527"/>
                  </a:lnTo>
                  <a:lnTo>
                    <a:pt x="0" y="527"/>
                  </a:lnTo>
                  <a:lnTo>
                    <a:pt x="0" y="510"/>
                  </a:lnTo>
                  <a:lnTo>
                    <a:pt x="0" y="510"/>
                  </a:lnTo>
                  <a:lnTo>
                    <a:pt x="2" y="508"/>
                  </a:lnTo>
                  <a:lnTo>
                    <a:pt x="5" y="510"/>
                  </a:lnTo>
                  <a:lnTo>
                    <a:pt x="5" y="510"/>
                  </a:lnTo>
                  <a:lnTo>
                    <a:pt x="5" y="510"/>
                  </a:lnTo>
                  <a:close/>
                  <a:moveTo>
                    <a:pt x="5" y="545"/>
                  </a:moveTo>
                  <a:lnTo>
                    <a:pt x="5" y="559"/>
                  </a:lnTo>
                  <a:lnTo>
                    <a:pt x="5" y="562"/>
                  </a:lnTo>
                  <a:lnTo>
                    <a:pt x="2" y="562"/>
                  </a:lnTo>
                  <a:lnTo>
                    <a:pt x="0" y="562"/>
                  </a:lnTo>
                  <a:lnTo>
                    <a:pt x="0" y="559"/>
                  </a:lnTo>
                  <a:lnTo>
                    <a:pt x="0" y="545"/>
                  </a:lnTo>
                  <a:lnTo>
                    <a:pt x="0" y="543"/>
                  </a:lnTo>
                  <a:lnTo>
                    <a:pt x="2" y="543"/>
                  </a:lnTo>
                  <a:lnTo>
                    <a:pt x="5" y="543"/>
                  </a:lnTo>
                  <a:lnTo>
                    <a:pt x="5" y="545"/>
                  </a:lnTo>
                  <a:lnTo>
                    <a:pt x="5" y="545"/>
                  </a:lnTo>
                  <a:close/>
                  <a:moveTo>
                    <a:pt x="5" y="578"/>
                  </a:moveTo>
                  <a:lnTo>
                    <a:pt x="5" y="594"/>
                  </a:lnTo>
                  <a:lnTo>
                    <a:pt x="5" y="594"/>
                  </a:lnTo>
                  <a:lnTo>
                    <a:pt x="2" y="597"/>
                  </a:lnTo>
                  <a:lnTo>
                    <a:pt x="0" y="594"/>
                  </a:lnTo>
                  <a:lnTo>
                    <a:pt x="0" y="594"/>
                  </a:lnTo>
                  <a:lnTo>
                    <a:pt x="0" y="578"/>
                  </a:lnTo>
                  <a:lnTo>
                    <a:pt x="0" y="578"/>
                  </a:lnTo>
                  <a:lnTo>
                    <a:pt x="2" y="576"/>
                  </a:lnTo>
                  <a:lnTo>
                    <a:pt x="5" y="578"/>
                  </a:lnTo>
                  <a:lnTo>
                    <a:pt x="5" y="578"/>
                  </a:lnTo>
                  <a:lnTo>
                    <a:pt x="5" y="578"/>
                  </a:lnTo>
                  <a:close/>
                  <a:moveTo>
                    <a:pt x="5" y="613"/>
                  </a:moveTo>
                  <a:lnTo>
                    <a:pt x="5" y="627"/>
                  </a:lnTo>
                  <a:lnTo>
                    <a:pt x="5" y="629"/>
                  </a:lnTo>
                  <a:lnTo>
                    <a:pt x="2" y="629"/>
                  </a:lnTo>
                  <a:lnTo>
                    <a:pt x="0" y="629"/>
                  </a:lnTo>
                  <a:lnTo>
                    <a:pt x="0" y="627"/>
                  </a:lnTo>
                  <a:lnTo>
                    <a:pt x="0" y="613"/>
                  </a:lnTo>
                  <a:lnTo>
                    <a:pt x="0" y="611"/>
                  </a:lnTo>
                  <a:lnTo>
                    <a:pt x="2" y="611"/>
                  </a:lnTo>
                  <a:lnTo>
                    <a:pt x="5" y="611"/>
                  </a:lnTo>
                  <a:lnTo>
                    <a:pt x="5" y="613"/>
                  </a:lnTo>
                  <a:lnTo>
                    <a:pt x="5" y="613"/>
                  </a:lnTo>
                  <a:close/>
                </a:path>
              </a:pathLst>
            </a:custGeom>
            <a:solidFill>
              <a:srgbClr val="000000"/>
            </a:solidFill>
            <a:ln w="4763" cap="flat" cmpd="sng">
              <a:solidFill>
                <a:srgbClr val="FF0000"/>
              </a:solidFill>
              <a:prstDash val="solid"/>
              <a:headEnd type="none" w="med" len="med"/>
              <a:tailEnd type="none" w="med" len="med"/>
            </a:ln>
          </p:spPr>
          <p:txBody>
            <a:bodyPr/>
            <a:p>
              <a:endParaRPr lang="zh-CN" altLang="en-US"/>
            </a:p>
          </p:txBody>
        </p:sp>
        <p:sp>
          <p:nvSpPr>
            <p:cNvPr id="96458" name="直接连接符 96457"/>
            <p:cNvSpPr/>
            <p:nvPr/>
          </p:nvSpPr>
          <p:spPr>
            <a:xfrm>
              <a:off x="4480" y="3659"/>
              <a:ext cx="398" cy="0"/>
            </a:xfrm>
            <a:prstGeom prst="line">
              <a:avLst/>
            </a:prstGeom>
            <a:ln w="25400" cap="flat" cmpd="sng">
              <a:solidFill>
                <a:srgbClr val="FF0000"/>
              </a:solidFill>
              <a:prstDash val="solid"/>
              <a:headEnd type="none" w="med" len="med"/>
              <a:tailEnd type="none" w="med" len="med"/>
            </a:ln>
          </p:spPr>
        </p:sp>
      </p:grpSp>
      <p:sp>
        <p:nvSpPr>
          <p:cNvPr id="96460" name="直接连接符 96459"/>
          <p:cNvSpPr/>
          <p:nvPr/>
        </p:nvSpPr>
        <p:spPr>
          <a:xfrm>
            <a:off x="6100763" y="5493703"/>
            <a:ext cx="601662" cy="0"/>
          </a:xfrm>
          <a:prstGeom prst="line">
            <a:avLst/>
          </a:prstGeom>
          <a:ln w="25400" cap="flat" cmpd="sng">
            <a:solidFill>
              <a:srgbClr val="FF0000"/>
            </a:solidFill>
            <a:prstDash val="solid"/>
            <a:headEnd type="none" w="med" len="med"/>
            <a:tailEnd type="none" w="med" len="med"/>
          </a:ln>
        </p:spPr>
      </p:sp>
      <p:pic>
        <p:nvPicPr>
          <p:cNvPr id="82" name="图片 81"/>
          <p:cNvPicPr>
            <a:picLocks noChangeAspect="1"/>
          </p:cNvPicPr>
          <p:nvPr/>
        </p:nvPicPr>
        <p:blipFill>
          <a:blip r:embed="rId3"/>
          <a:stretch>
            <a:fillRect/>
          </a:stretch>
        </p:blipFill>
        <p:spPr>
          <a:xfrm>
            <a:off x="990600" y="3713480"/>
            <a:ext cx="3500120" cy="2452370"/>
          </a:xfrm>
          <a:prstGeom prst="rect">
            <a:avLst/>
          </a:prstGeom>
        </p:spPr>
      </p:pic>
      <p:graphicFrame>
        <p:nvGraphicFramePr>
          <p:cNvPr id="83" name="对象 82"/>
          <p:cNvGraphicFramePr/>
          <p:nvPr/>
        </p:nvGraphicFramePr>
        <p:xfrm>
          <a:off x="5046980" y="2438400"/>
          <a:ext cx="4021455" cy="723265"/>
        </p:xfrm>
        <a:graphic>
          <a:graphicData uri="http://schemas.openxmlformats.org/presentationml/2006/ole">
            <mc:AlternateContent xmlns:mc="http://schemas.openxmlformats.org/markup-compatibility/2006">
              <mc:Choice xmlns:v="urn:schemas-microsoft-com:vml" Requires="v">
                <p:oleObj spid="_x0000_s84" name="" r:id="rId4" imgW="3851910" imgH="722630" progId="Equation.KSEE3">
                  <p:embed/>
                </p:oleObj>
              </mc:Choice>
              <mc:Fallback>
                <p:oleObj name="" r:id="rId4" imgW="3851910" imgH="722630" progId="Equation.KSEE3">
                  <p:embed/>
                  <p:pic>
                    <p:nvPicPr>
                      <p:cNvPr id="0" name="图片 83"/>
                      <p:cNvPicPr/>
                      <p:nvPr/>
                    </p:nvPicPr>
                    <p:blipFill>
                      <a:blip r:embed="rId5"/>
                      <a:stretch>
                        <a:fillRect/>
                      </a:stretch>
                    </p:blipFill>
                    <p:spPr>
                      <a:xfrm>
                        <a:off x="5046980" y="2438400"/>
                        <a:ext cx="4021455" cy="72326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96318"/>
                                        </p:tgtEl>
                                        <p:attrNameLst>
                                          <p:attrName>style.visibility</p:attrName>
                                        </p:attrNameLst>
                                      </p:cBhvr>
                                      <p:to>
                                        <p:strVal val="visible"/>
                                      </p:to>
                                    </p:set>
                                    <p:animEffect transition="in" filter="strips(upRight)">
                                      <p:cBhvr>
                                        <p:cTn id="7" dur="500"/>
                                        <p:tgtEl>
                                          <p:spTgt spid="9631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6325"/>
                                        </p:tgtEl>
                                        <p:attrNameLst>
                                          <p:attrName>style.visibility</p:attrName>
                                        </p:attrNameLst>
                                      </p:cBhvr>
                                      <p:to>
                                        <p:strVal val="visible"/>
                                      </p:to>
                                    </p:set>
                                    <p:animEffect transition="in" filter="strips(downRight)">
                                      <p:cBhvr>
                                        <p:cTn id="12" dur="500"/>
                                        <p:tgtEl>
                                          <p:spTgt spid="9632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6331"/>
                                        </p:tgtEl>
                                        <p:attrNameLst>
                                          <p:attrName>style.visibility</p:attrName>
                                        </p:attrNameLst>
                                      </p:cBhvr>
                                      <p:to>
                                        <p:strVal val="visible"/>
                                      </p:to>
                                    </p:set>
                                    <p:animEffect transition="in" filter="strips(downRight)">
                                      <p:cBhvr>
                                        <p:cTn id="17" dur="500"/>
                                        <p:tgtEl>
                                          <p:spTgt spid="9633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96332"/>
                                        </p:tgtEl>
                                        <p:attrNameLst>
                                          <p:attrName>style.visibility</p:attrName>
                                        </p:attrNameLst>
                                      </p:cBhvr>
                                      <p:to>
                                        <p:strVal val="visible"/>
                                      </p:to>
                                    </p:set>
                                    <p:animEffect transition="in" filter="strips(upRight)">
                                      <p:cBhvr>
                                        <p:cTn id="22" dur="500"/>
                                        <p:tgtEl>
                                          <p:spTgt spid="9633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96317"/>
                                        </p:tgtEl>
                                        <p:attrNameLst>
                                          <p:attrName>style.visibility</p:attrName>
                                        </p:attrNameLst>
                                      </p:cBhvr>
                                      <p:to>
                                        <p:strVal val="visible"/>
                                      </p:to>
                                    </p:set>
                                    <p:animEffect transition="in" filter="strips(upRight)">
                                      <p:cBhvr>
                                        <p:cTn id="27" dur="500"/>
                                        <p:tgtEl>
                                          <p:spTgt spid="963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6465"/>
                                        </p:tgtEl>
                                        <p:attrNameLst>
                                          <p:attrName>style.visibility</p:attrName>
                                        </p:attrNameLst>
                                      </p:cBhvr>
                                      <p:to>
                                        <p:strVal val="visible"/>
                                      </p:to>
                                    </p:set>
                                    <p:animEffect transition="in" filter="wipe(left)">
                                      <p:cBhvr>
                                        <p:cTn id="32" dur="500"/>
                                        <p:tgtEl>
                                          <p:spTgt spid="9646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96340"/>
                                        </p:tgtEl>
                                        <p:attrNameLst>
                                          <p:attrName>style.visibility</p:attrName>
                                        </p:attrNameLst>
                                      </p:cBhvr>
                                      <p:to>
                                        <p:strVal val="visible"/>
                                      </p:to>
                                    </p:set>
                                    <p:animEffect transition="in" filter="barn(inHorizontal)">
                                      <p:cBhvr>
                                        <p:cTn id="37" dur="500"/>
                                        <p:tgtEl>
                                          <p:spTgt spid="96340"/>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96339"/>
                                        </p:tgtEl>
                                        <p:attrNameLst>
                                          <p:attrName>style.visibility</p:attrName>
                                        </p:attrNameLst>
                                      </p:cBhvr>
                                      <p:to>
                                        <p:strVal val="visible"/>
                                      </p:to>
                                    </p:set>
                                    <p:animEffect transition="in" filter="randombar(horizontal)">
                                      <p:cBhvr>
                                        <p:cTn id="42" dur="500"/>
                                        <p:tgtEl>
                                          <p:spTgt spid="96339"/>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96345"/>
                                        </p:tgtEl>
                                        <p:attrNameLst>
                                          <p:attrName>style.visibility</p:attrName>
                                        </p:attrNameLst>
                                      </p:cBhvr>
                                      <p:to>
                                        <p:strVal val="visible"/>
                                      </p:to>
                                    </p:set>
                                    <p:animEffect transition="in" filter="slide(fromBottom)">
                                      <p:cBhvr>
                                        <p:cTn id="47" dur="500"/>
                                        <p:tgtEl>
                                          <p:spTgt spid="9634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nodeType="clickEffect">
                                  <p:stCondLst>
                                    <p:cond delay="0"/>
                                  </p:stCondLst>
                                  <p:childTnLst>
                                    <p:set>
                                      <p:cBhvr>
                                        <p:cTn id="51" dur="1" fill="hold">
                                          <p:stCondLst>
                                            <p:cond delay="0"/>
                                          </p:stCondLst>
                                        </p:cTn>
                                        <p:tgtEl>
                                          <p:spTgt spid="96338"/>
                                        </p:tgtEl>
                                        <p:attrNameLst>
                                          <p:attrName>style.visibility</p:attrName>
                                        </p:attrNameLst>
                                      </p:cBhvr>
                                      <p:to>
                                        <p:strVal val="visible"/>
                                      </p:to>
                                    </p:set>
                                    <p:animEffect transition="in" filter="slide(fromLeft)">
                                      <p:cBhvr>
                                        <p:cTn id="52" dur="500"/>
                                        <p:tgtEl>
                                          <p:spTgt spid="96338"/>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96343"/>
                                        </p:tgtEl>
                                        <p:attrNameLst>
                                          <p:attrName>style.visibility</p:attrName>
                                        </p:attrNameLst>
                                      </p:cBhvr>
                                      <p:to>
                                        <p:strVal val="visible"/>
                                      </p:to>
                                    </p:set>
                                    <p:animEffect transition="in" filter="randombar(horizontal)">
                                      <p:cBhvr>
                                        <p:cTn id="57" dur="500"/>
                                        <p:tgtEl>
                                          <p:spTgt spid="96343"/>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96346"/>
                                        </p:tgtEl>
                                        <p:attrNameLst>
                                          <p:attrName>style.visibility</p:attrName>
                                        </p:attrNameLst>
                                      </p:cBhvr>
                                      <p:to>
                                        <p:strVal val="visible"/>
                                      </p:to>
                                    </p:set>
                                    <p:animEffect transition="in" filter="slide(fromBottom)">
                                      <p:cBhvr>
                                        <p:cTn id="62" dur="500"/>
                                        <p:tgtEl>
                                          <p:spTgt spid="96346"/>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nodeType="clickEffect">
                                  <p:stCondLst>
                                    <p:cond delay="0"/>
                                  </p:stCondLst>
                                  <p:childTnLst>
                                    <p:set>
                                      <p:cBhvr>
                                        <p:cTn id="66" dur="1" fill="hold">
                                          <p:stCondLst>
                                            <p:cond delay="0"/>
                                          </p:stCondLst>
                                        </p:cTn>
                                        <p:tgtEl>
                                          <p:spTgt spid="96347"/>
                                        </p:tgtEl>
                                        <p:attrNameLst>
                                          <p:attrName>style.visibility</p:attrName>
                                        </p:attrNameLst>
                                      </p:cBhvr>
                                      <p:to>
                                        <p:strVal val="visible"/>
                                      </p:to>
                                    </p:set>
                                    <p:animEffect transition="in" filter="slide(fromBottom)">
                                      <p:cBhvr>
                                        <p:cTn id="67" dur="500"/>
                                        <p:tgtEl>
                                          <p:spTgt spid="9634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83"/>
                                        </p:tgtEl>
                                        <p:attrNameLst>
                                          <p:attrName>style.visibility</p:attrName>
                                        </p:attrNameLst>
                                      </p:cBhvr>
                                      <p:to>
                                        <p:strVal val="visible"/>
                                      </p:to>
                                    </p:set>
                                    <p:animEffect transition="in" filter="blinds(horizontal)">
                                      <p:cBhvr>
                                        <p:cTn id="7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39" grpId="0"/>
      <p:bldP spid="96343" grpId="0"/>
      <p:bldP spid="96345" grpId="0"/>
      <p:bldP spid="9634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27075" y="2347595"/>
            <a:ext cx="4454842" cy="3123248"/>
          </a:xfrm>
          <a:prstGeom prst="rect">
            <a:avLst/>
          </a:prstGeom>
        </p:spPr>
      </p:pic>
      <p:sp>
        <p:nvSpPr>
          <p:cNvPr id="7" name="文本框 6"/>
          <p:cNvSpPr txBox="1"/>
          <p:nvPr/>
        </p:nvSpPr>
        <p:spPr>
          <a:xfrm>
            <a:off x="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990600" y="1143635"/>
            <a:ext cx="672973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algn="l" eaLnBrk="1" latinLnBrk="0" hangingPunct="1">
              <a:lnSpc>
                <a:spcPct val="120000"/>
              </a:lnSpc>
              <a:spcBef>
                <a:spcPts val="0"/>
              </a:spcBef>
              <a:buSzTx/>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4. 改进型电路(占空比可调的多谐振荡器)</a:t>
            </a:r>
            <a:endParaRPr 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392261" name="Group 69"/>
          <p:cNvGrpSpPr/>
          <p:nvPr/>
        </p:nvGrpSpPr>
        <p:grpSpPr>
          <a:xfrm>
            <a:off x="1400175" y="2714625"/>
            <a:ext cx="1079500" cy="2162175"/>
            <a:chOff x="738" y="654"/>
            <a:chExt cx="680" cy="1362"/>
          </a:xfrm>
        </p:grpSpPr>
        <p:sp>
          <p:nvSpPr>
            <p:cNvPr id="87110" name="Line 70"/>
            <p:cNvSpPr/>
            <p:nvPr/>
          </p:nvSpPr>
          <p:spPr>
            <a:xfrm>
              <a:off x="762" y="654"/>
              <a:ext cx="0" cy="254"/>
            </a:xfrm>
            <a:prstGeom prst="line">
              <a:avLst/>
            </a:prstGeom>
            <a:ln w="57150" cap="flat" cmpd="sng">
              <a:solidFill>
                <a:srgbClr val="FF0000"/>
              </a:solidFill>
              <a:prstDash val="solid"/>
              <a:round/>
              <a:headEnd type="none" w="med" len="med"/>
              <a:tailEnd type="none" w="med" len="med"/>
            </a:ln>
          </p:spPr>
        </p:sp>
        <p:sp>
          <p:nvSpPr>
            <p:cNvPr id="87111" name="Line 71"/>
            <p:cNvSpPr/>
            <p:nvPr/>
          </p:nvSpPr>
          <p:spPr>
            <a:xfrm>
              <a:off x="738" y="912"/>
              <a:ext cx="680" cy="0"/>
            </a:xfrm>
            <a:prstGeom prst="line">
              <a:avLst/>
            </a:prstGeom>
            <a:ln w="57150" cap="flat" cmpd="sng">
              <a:solidFill>
                <a:srgbClr val="FF0000"/>
              </a:solidFill>
              <a:prstDash val="solid"/>
              <a:round/>
              <a:headEnd type="none" w="med" len="med"/>
              <a:tailEnd type="none" w="med" len="med"/>
            </a:ln>
          </p:spPr>
        </p:sp>
        <p:sp>
          <p:nvSpPr>
            <p:cNvPr id="87112" name="Line 72"/>
            <p:cNvSpPr/>
            <p:nvPr/>
          </p:nvSpPr>
          <p:spPr>
            <a:xfrm>
              <a:off x="1392" y="912"/>
              <a:ext cx="0" cy="1104"/>
            </a:xfrm>
            <a:prstGeom prst="line">
              <a:avLst/>
            </a:prstGeom>
            <a:ln w="57150" cap="flat" cmpd="sng">
              <a:solidFill>
                <a:srgbClr val="FF0000"/>
              </a:solidFill>
              <a:prstDash val="solid"/>
              <a:round/>
              <a:headEnd type="none" w="med" len="med"/>
              <a:tailEnd type="triangle" w="med" len="med"/>
            </a:ln>
          </p:spPr>
        </p:sp>
      </p:grpSp>
      <p:grpSp>
        <p:nvGrpSpPr>
          <p:cNvPr id="392265" name="Group 73"/>
          <p:cNvGrpSpPr/>
          <p:nvPr/>
        </p:nvGrpSpPr>
        <p:grpSpPr>
          <a:xfrm>
            <a:off x="1295400" y="3276600"/>
            <a:ext cx="1447800" cy="1809750"/>
            <a:chOff x="672" y="960"/>
            <a:chExt cx="912" cy="1140"/>
          </a:xfrm>
        </p:grpSpPr>
        <p:sp>
          <p:nvSpPr>
            <p:cNvPr id="87114" name="Line 74"/>
            <p:cNvSpPr/>
            <p:nvPr/>
          </p:nvSpPr>
          <p:spPr>
            <a:xfrm flipV="1">
              <a:off x="1230" y="1680"/>
              <a:ext cx="0" cy="420"/>
            </a:xfrm>
            <a:prstGeom prst="line">
              <a:avLst/>
            </a:prstGeom>
            <a:ln w="57150" cap="flat" cmpd="sng">
              <a:solidFill>
                <a:srgbClr val="00CC00"/>
              </a:solidFill>
              <a:prstDash val="solid"/>
              <a:round/>
              <a:headEnd type="none" w="med" len="med"/>
              <a:tailEnd type="none" w="med" len="med"/>
            </a:ln>
          </p:spPr>
        </p:sp>
        <p:grpSp>
          <p:nvGrpSpPr>
            <p:cNvPr id="87115" name="Group 75"/>
            <p:cNvGrpSpPr/>
            <p:nvPr/>
          </p:nvGrpSpPr>
          <p:grpSpPr>
            <a:xfrm>
              <a:off x="672" y="960"/>
              <a:ext cx="912" cy="720"/>
              <a:chOff x="672" y="960"/>
              <a:chExt cx="912" cy="720"/>
            </a:xfrm>
          </p:grpSpPr>
          <p:sp>
            <p:nvSpPr>
              <p:cNvPr id="87116" name="Line 76"/>
              <p:cNvSpPr/>
              <p:nvPr/>
            </p:nvSpPr>
            <p:spPr>
              <a:xfrm flipH="1">
                <a:off x="672" y="1680"/>
                <a:ext cx="544" cy="0"/>
              </a:xfrm>
              <a:prstGeom prst="line">
                <a:avLst/>
              </a:prstGeom>
              <a:ln w="57150" cap="flat" cmpd="sng">
                <a:solidFill>
                  <a:srgbClr val="00CC00"/>
                </a:solidFill>
                <a:prstDash val="solid"/>
                <a:round/>
                <a:headEnd type="none" w="med" len="med"/>
                <a:tailEnd type="none" w="med" len="med"/>
              </a:ln>
            </p:spPr>
          </p:sp>
          <p:sp>
            <p:nvSpPr>
              <p:cNvPr id="87117" name="Line 77"/>
              <p:cNvSpPr/>
              <p:nvPr/>
            </p:nvSpPr>
            <p:spPr>
              <a:xfrm flipV="1">
                <a:off x="672" y="960"/>
                <a:ext cx="0" cy="720"/>
              </a:xfrm>
              <a:prstGeom prst="line">
                <a:avLst/>
              </a:prstGeom>
              <a:ln w="57150" cap="flat" cmpd="sng">
                <a:solidFill>
                  <a:srgbClr val="00CC00"/>
                </a:solidFill>
                <a:prstDash val="solid"/>
                <a:round/>
                <a:headEnd type="none" w="med" len="med"/>
                <a:tailEnd type="none" w="med" len="med"/>
              </a:ln>
            </p:spPr>
          </p:sp>
          <p:sp>
            <p:nvSpPr>
              <p:cNvPr id="87118" name="Line 78"/>
              <p:cNvSpPr/>
              <p:nvPr/>
            </p:nvSpPr>
            <p:spPr>
              <a:xfrm>
                <a:off x="672" y="960"/>
                <a:ext cx="912" cy="0"/>
              </a:xfrm>
              <a:prstGeom prst="line">
                <a:avLst/>
              </a:prstGeom>
              <a:ln w="57150" cap="flat" cmpd="sng">
                <a:solidFill>
                  <a:srgbClr val="00CC00"/>
                </a:solidFill>
                <a:prstDash val="solid"/>
                <a:round/>
                <a:headEnd type="none" w="med" len="med"/>
                <a:tailEnd type="triangle" w="med" len="med"/>
              </a:ln>
            </p:spPr>
          </p:sp>
        </p:grpSp>
      </p:grpSp>
      <p:sp>
        <p:nvSpPr>
          <p:cNvPr id="392271" name="Text Box 79"/>
          <p:cNvSpPr txBox="1"/>
          <p:nvPr/>
        </p:nvSpPr>
        <p:spPr>
          <a:xfrm>
            <a:off x="5562600" y="3581083"/>
            <a:ext cx="2767013" cy="831215"/>
          </a:xfrm>
          <a:prstGeom prst="rect">
            <a:avLst/>
          </a:prstGeom>
          <a:noFill/>
          <a:ln w="28575">
            <a:noFill/>
          </a:ln>
        </p:spPr>
        <p:txBody>
          <a:bodyPr lIns="90000" tIns="46800" rIns="90000" bIns="46800" anchor="t" anchorCtr="0">
            <a:spAutoFit/>
          </a:bodyPr>
          <a:p>
            <a:r>
              <a:rPr lang="zh-CN" altLang="en-US" sz="2400" dirty="0">
                <a:solidFill>
                  <a:srgbClr val="000066"/>
                </a:solidFill>
                <a:latin typeface="Times New Roman" panose="02020603050405020304" charset="0"/>
                <a:ea typeface="楷体" panose="02010609060101010101" charset="-122"/>
                <a:cs typeface="Times New Roman" panose="02020603050405020304" charset="0"/>
              </a:rPr>
              <a:t>充电路径：</a:t>
            </a:r>
            <a:endParaRPr lang="zh-CN" altLang="en-US" sz="2400" dirty="0">
              <a:solidFill>
                <a:srgbClr val="000066"/>
              </a:solidFill>
              <a:latin typeface="Times New Roman" panose="02020603050405020304" charset="0"/>
              <a:ea typeface="楷体" panose="02010609060101010101" charset="-122"/>
              <a:cs typeface="Times New Roman" panose="02020603050405020304" charset="0"/>
            </a:endParaRPr>
          </a:p>
          <a:p>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PH</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A</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ln2</a:t>
            </a:r>
            <a:endParaRPr lang="en-US" altLang="zh-CN" sz="24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92272" name="Text Box 80"/>
          <p:cNvSpPr txBox="1"/>
          <p:nvPr/>
        </p:nvSpPr>
        <p:spPr>
          <a:xfrm>
            <a:off x="5562600" y="4571683"/>
            <a:ext cx="2982913" cy="831215"/>
          </a:xfrm>
          <a:prstGeom prst="rect">
            <a:avLst/>
          </a:prstGeom>
          <a:noFill/>
          <a:ln w="28575">
            <a:noFill/>
          </a:ln>
        </p:spPr>
        <p:txBody>
          <a:bodyPr lIns="90000" tIns="46800" rIns="90000" bIns="46800" anchor="t" anchorCtr="0">
            <a:spAutoFit/>
          </a:bodyPr>
          <a:p>
            <a:r>
              <a:rPr lang="zh-CN" altLang="en-US" sz="2400" dirty="0">
                <a:solidFill>
                  <a:srgbClr val="000066"/>
                </a:solidFill>
                <a:latin typeface="Times New Roman" panose="02020603050405020304" charset="0"/>
                <a:ea typeface="楷体" panose="02010609060101010101" charset="-122"/>
                <a:cs typeface="Times New Roman" panose="02020603050405020304" charset="0"/>
              </a:rPr>
              <a:t>放电路径：</a:t>
            </a:r>
            <a:endParaRPr lang="zh-CN" altLang="en-US" sz="2400" dirty="0">
              <a:solidFill>
                <a:srgbClr val="000066"/>
              </a:solidFill>
              <a:latin typeface="Times New Roman" panose="02020603050405020304" charset="0"/>
              <a:ea typeface="楷体" panose="02010609060101010101" charset="-122"/>
              <a:cs typeface="Times New Roman" panose="02020603050405020304" charset="0"/>
            </a:endParaRPr>
          </a:p>
          <a:p>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PL</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B</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C</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ln2</a:t>
            </a:r>
            <a:endParaRPr lang="en-US" altLang="zh-CN" sz="24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92273" name="Text Box 81"/>
          <p:cNvSpPr txBox="1"/>
          <p:nvPr/>
        </p:nvSpPr>
        <p:spPr>
          <a:xfrm>
            <a:off x="914400" y="5715000"/>
            <a:ext cx="7848600" cy="461645"/>
          </a:xfrm>
          <a:prstGeom prst="rect">
            <a:avLst/>
          </a:prstGeom>
          <a:noFill/>
          <a:ln w="28575">
            <a:noFill/>
          </a:ln>
        </p:spPr>
        <p:txBody>
          <a:bodyPr lIns="90000" tIns="46800" rIns="90000" bIns="46800" anchor="t" anchorCtr="0">
            <a:spAutoFit/>
          </a:bodyPr>
          <a:p>
            <a:r>
              <a:rPr lang="zh-CN" altLang="en-US" sz="2400" dirty="0">
                <a:solidFill>
                  <a:srgbClr val="000066"/>
                </a:solidFill>
                <a:latin typeface="Times New Roman" panose="02020603050405020304" charset="0"/>
                <a:ea typeface="楷体" panose="02010609060101010101" charset="-122"/>
                <a:cs typeface="Times New Roman" panose="02020603050405020304" charset="0"/>
              </a:rPr>
              <a:t>占空比：</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q</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PH</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PL</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PH</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 100</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A</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A</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B</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 100</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i="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92275" name="Text Box 83"/>
          <p:cNvSpPr txBox="1"/>
          <p:nvPr/>
        </p:nvSpPr>
        <p:spPr>
          <a:xfrm>
            <a:off x="5181600" y="1603375"/>
            <a:ext cx="3886200" cy="1844675"/>
          </a:xfrm>
          <a:prstGeom prst="rect">
            <a:avLst/>
          </a:prstGeom>
          <a:noFill/>
          <a:ln w="28575">
            <a:noFill/>
          </a:ln>
        </p:spPr>
        <p:txBody>
          <a:bodyPr lIns="90000" tIns="46800" rIns="90000" bIns="46800" anchor="t" anchorCtr="0">
            <a:spAutoFit/>
          </a:bodyPr>
          <a:p>
            <a:pPr>
              <a:lnSpc>
                <a:spcPct val="12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利用</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单向导电特性，将充、放电回路分开，再加上电位器调节，便构成了占空比可调的多谐振荡器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392275"/>
                                        </p:tgtEl>
                                        <p:attrNameLst>
                                          <p:attrName>style.visibility</p:attrName>
                                        </p:attrNameLst>
                                      </p:cBhvr>
                                      <p:to>
                                        <p:strVal val="visible"/>
                                      </p:to>
                                    </p:set>
                                    <p:animEffect transition="in" filter="wipe(up)">
                                      <p:cBhvr>
                                        <p:cTn id="7" dur="500"/>
                                        <p:tgtEl>
                                          <p:spTgt spid="392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92261"/>
                                        </p:tgtEl>
                                        <p:attrNameLst>
                                          <p:attrName>style.visibility</p:attrName>
                                        </p:attrNameLst>
                                      </p:cBhvr>
                                      <p:to>
                                        <p:strVal val="visible"/>
                                      </p:to>
                                    </p:set>
                                    <p:animEffect transition="in" filter="wipe(up)">
                                      <p:cBhvr>
                                        <p:cTn id="12" dur="500"/>
                                        <p:tgtEl>
                                          <p:spTgt spid="392261"/>
                                        </p:tgtEl>
                                      </p:cBhvr>
                                    </p:animEffect>
                                  </p:childTnLst>
                                </p:cTn>
                              </p:par>
                            </p:childTnLst>
                          </p:cTn>
                        </p:par>
                        <p:par>
                          <p:cTn id="13" fill="hold">
                            <p:stCondLst>
                              <p:cond delay="500"/>
                            </p:stCondLst>
                            <p:childTnLst>
                              <p:par>
                                <p:cTn id="14" presetID="22" presetClass="entr" presetSubtype="1" fill="hold" grpId="0" nodeType="afterEffect">
                                  <p:stCondLst>
                                    <p:cond delay="2000"/>
                                  </p:stCondLst>
                                  <p:childTnLst>
                                    <p:set>
                                      <p:cBhvr>
                                        <p:cTn id="15" dur="1" fill="hold">
                                          <p:stCondLst>
                                            <p:cond delay="0"/>
                                          </p:stCondLst>
                                        </p:cTn>
                                        <p:tgtEl>
                                          <p:spTgt spid="392271"/>
                                        </p:tgtEl>
                                        <p:attrNameLst>
                                          <p:attrName>style.visibility</p:attrName>
                                        </p:attrNameLst>
                                      </p:cBhvr>
                                      <p:to>
                                        <p:strVal val="visible"/>
                                      </p:to>
                                    </p:set>
                                    <p:animEffect transition="in" filter="wipe(up)">
                                      <p:cBhvr>
                                        <p:cTn id="16" dur="500"/>
                                        <p:tgtEl>
                                          <p:spTgt spid="39227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92265"/>
                                        </p:tgtEl>
                                        <p:attrNameLst>
                                          <p:attrName>style.visibility</p:attrName>
                                        </p:attrNameLst>
                                      </p:cBhvr>
                                      <p:to>
                                        <p:strVal val="visible"/>
                                      </p:to>
                                    </p:set>
                                    <p:animEffect transition="in" filter="wipe(left)">
                                      <p:cBhvr>
                                        <p:cTn id="21" dur="500"/>
                                        <p:tgtEl>
                                          <p:spTgt spid="392265"/>
                                        </p:tgtEl>
                                      </p:cBhvr>
                                    </p:animEffect>
                                  </p:childTnLst>
                                </p:cTn>
                              </p:par>
                            </p:childTnLst>
                          </p:cTn>
                        </p:par>
                        <p:par>
                          <p:cTn id="22" fill="hold">
                            <p:stCondLst>
                              <p:cond delay="500"/>
                            </p:stCondLst>
                            <p:childTnLst>
                              <p:par>
                                <p:cTn id="23" presetID="22" presetClass="entr" presetSubtype="1" fill="hold" grpId="0" nodeType="afterEffect">
                                  <p:stCondLst>
                                    <p:cond delay="2000"/>
                                  </p:stCondLst>
                                  <p:childTnLst>
                                    <p:set>
                                      <p:cBhvr>
                                        <p:cTn id="24" dur="1" fill="hold">
                                          <p:stCondLst>
                                            <p:cond delay="0"/>
                                          </p:stCondLst>
                                        </p:cTn>
                                        <p:tgtEl>
                                          <p:spTgt spid="392272"/>
                                        </p:tgtEl>
                                        <p:attrNameLst>
                                          <p:attrName>style.visibility</p:attrName>
                                        </p:attrNameLst>
                                      </p:cBhvr>
                                      <p:to>
                                        <p:strVal val="visible"/>
                                      </p:to>
                                    </p:set>
                                    <p:animEffect transition="in" filter="wipe(up)">
                                      <p:cBhvr>
                                        <p:cTn id="25" dur="500"/>
                                        <p:tgtEl>
                                          <p:spTgt spid="39227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92273"/>
                                        </p:tgtEl>
                                        <p:attrNameLst>
                                          <p:attrName>style.visibility</p:attrName>
                                        </p:attrNameLst>
                                      </p:cBhvr>
                                      <p:to>
                                        <p:strVal val="visible"/>
                                      </p:to>
                                    </p:set>
                                    <p:animEffect transition="in" filter="wipe(up)">
                                      <p:cBhvr>
                                        <p:cTn id="30" dur="500"/>
                                        <p:tgtEl>
                                          <p:spTgt spid="392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71" grpId="0"/>
      <p:bldP spid="392272" grpId="0"/>
      <p:bldP spid="392273" grpId="0"/>
      <p:bldP spid="39227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609600" y="15240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1.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电路</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组成</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6146" name="Rectangle 2"/>
          <p:cNvSpPr>
            <a:spLocks noGrp="1"/>
          </p:cNvSpPr>
          <p:nvPr>
            <p:ph type="title"/>
          </p:nvPr>
        </p:nvSpPr>
        <p:spPr>
          <a:xfrm>
            <a:off x="990600" y="104902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7.5.2 </a:t>
            </a:r>
            <a:r>
              <a:rPr sz="2400" i="0" dirty="0">
                <a:solidFill>
                  <a:srgbClr val="0070C0"/>
                </a:solidFill>
                <a:latin typeface="黑体" panose="02010609060101010101" pitchFamily="49" charset="-122"/>
                <a:ea typeface="黑体" panose="02010609060101010101" pitchFamily="49" charset="-122"/>
              </a:rPr>
              <a:t>由</a:t>
            </a:r>
            <a:r>
              <a:rPr lang="zh-CN" sz="2400" i="0" dirty="0">
                <a:solidFill>
                  <a:srgbClr val="0070C0"/>
                </a:solidFill>
                <a:latin typeface="黑体" panose="02010609060101010101" pitchFamily="49" charset="-122"/>
                <a:ea typeface="黑体" panose="02010609060101010101" pitchFamily="49" charset="-122"/>
              </a:rPr>
              <a:t>门电路</a:t>
            </a:r>
            <a:r>
              <a:rPr sz="2400" i="0" dirty="0">
                <a:solidFill>
                  <a:srgbClr val="0070C0"/>
                </a:solidFill>
                <a:latin typeface="黑体" panose="02010609060101010101" pitchFamily="49" charset="-122"/>
                <a:ea typeface="黑体" panose="02010609060101010101" pitchFamily="49" charset="-122"/>
              </a:rPr>
              <a:t>构成的多谐振荡器</a:t>
            </a:r>
            <a:endParaRPr sz="2400" i="0" dirty="0">
              <a:solidFill>
                <a:srgbClr val="0070C0"/>
              </a:solidFill>
              <a:latin typeface="黑体" panose="02010609060101010101" pitchFamily="49" charset="-122"/>
              <a:ea typeface="黑体" panose="02010609060101010101" pitchFamily="49" charset="-122"/>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1"/>
          <a:stretch>
            <a:fillRect/>
          </a:stretch>
        </p:blipFill>
        <p:spPr>
          <a:xfrm>
            <a:off x="685800" y="2514600"/>
            <a:ext cx="2647950" cy="1495425"/>
          </a:xfrm>
          <a:prstGeom prst="rect">
            <a:avLst/>
          </a:prstGeom>
        </p:spPr>
      </p:pic>
      <p:pic>
        <p:nvPicPr>
          <p:cNvPr id="6" name="图片 5"/>
          <p:cNvPicPr>
            <a:picLocks noChangeAspect="1"/>
          </p:cNvPicPr>
          <p:nvPr/>
        </p:nvPicPr>
        <p:blipFill>
          <a:blip r:embed="rId2"/>
          <a:stretch>
            <a:fillRect/>
          </a:stretch>
        </p:blipFill>
        <p:spPr>
          <a:xfrm>
            <a:off x="3657600" y="1676400"/>
            <a:ext cx="5002530" cy="3211195"/>
          </a:xfrm>
          <a:prstGeom prst="rect">
            <a:avLst/>
          </a:prstGeom>
        </p:spPr>
      </p:pic>
      <p:sp>
        <p:nvSpPr>
          <p:cNvPr id="160950" name="矩形 160949"/>
          <p:cNvSpPr/>
          <p:nvPr/>
        </p:nvSpPr>
        <p:spPr>
          <a:xfrm>
            <a:off x="1020445" y="5554663"/>
            <a:ext cx="6615113" cy="460375"/>
          </a:xfrm>
          <a:prstGeom prst="rect">
            <a:avLst/>
          </a:prstGeom>
          <a:noFill/>
          <a:ln w="9525">
            <a:noFill/>
          </a:ln>
        </p:spPr>
        <p:txBody>
          <a:bodyPr>
            <a:spAutoFit/>
          </a:bodyPr>
          <a:p>
            <a:pPr>
              <a:buChar char="•"/>
            </a:pP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=0, </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o1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=1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电容充电</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增加</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0951" name="矩形 160950"/>
          <p:cNvSpPr/>
          <p:nvPr/>
        </p:nvSpPr>
        <p:spPr>
          <a:xfrm>
            <a:off x="1020445" y="6118225"/>
            <a:ext cx="5494338" cy="460375"/>
          </a:xfrm>
          <a:prstGeom prst="rect">
            <a:avLst/>
          </a:prstGeom>
          <a:noFill/>
          <a:ln w="9525">
            <a:noFill/>
          </a:ln>
        </p:spPr>
        <p:txBody>
          <a:bodyPr>
            <a:spAutoFit/>
          </a:bodyPr>
          <a:p>
            <a:pPr>
              <a:buChar char="•"/>
            </a:pP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=1 , </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o1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=0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电容放电</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下降</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0952" name="矩形 160951"/>
          <p:cNvSpPr/>
          <p:nvPr/>
        </p:nvSpPr>
        <p:spPr>
          <a:xfrm>
            <a:off x="914083" y="5029200"/>
            <a:ext cx="4435475" cy="460375"/>
          </a:xfrm>
          <a:prstGeom prst="rect">
            <a:avLst/>
          </a:prstGeom>
          <a:noFill/>
          <a:ln w="9525">
            <a:noFill/>
          </a:ln>
        </p:spPr>
        <p:txBody>
          <a:bodyPr wrap="none" anchor="t" anchorCtr="0">
            <a:spAutoFit/>
          </a:bodyPr>
          <a:p>
            <a:pPr algn="l">
              <a:spcBef>
                <a:spcPct val="50000"/>
              </a:spcBef>
            </a:pP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与</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反相</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电容接在</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o</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与</a:t>
            </a:r>
            <a:r>
              <a:rPr lang="en-US" altLang="el-GR" sz="2400" b="1" i="1" dirty="0">
                <a:solidFill>
                  <a:srgbClr val="000066"/>
                </a:solidFill>
                <a:latin typeface="Times New Roman" panose="02020603050405020304" charset="0"/>
                <a:ea typeface="楷体" panose="02010609060101010101" charset="-122"/>
                <a:cs typeface="Times New Roman" panose="02020603050405020304" charset="0"/>
                <a:sym typeface="+mn-ea"/>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之间</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0952"/>
                                        </p:tgtEl>
                                        <p:attrNameLst>
                                          <p:attrName>style.visibility</p:attrName>
                                        </p:attrNameLst>
                                      </p:cBhvr>
                                      <p:to>
                                        <p:strVal val="visible"/>
                                      </p:to>
                                    </p:set>
                                    <p:animEffect transition="in" filter="strips(downRight)">
                                      <p:cBhvr>
                                        <p:cTn id="7" dur="500"/>
                                        <p:tgtEl>
                                          <p:spTgt spid="16095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0950"/>
                                        </p:tgtEl>
                                        <p:attrNameLst>
                                          <p:attrName>style.visibility</p:attrName>
                                        </p:attrNameLst>
                                      </p:cBhvr>
                                      <p:to>
                                        <p:strVal val="visible"/>
                                      </p:to>
                                    </p:set>
                                    <p:animEffect transition="in" filter="strips(downRight)">
                                      <p:cBhvr>
                                        <p:cTn id="12" dur="500"/>
                                        <p:tgtEl>
                                          <p:spTgt spid="16095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0951"/>
                                        </p:tgtEl>
                                        <p:attrNameLst>
                                          <p:attrName>style.visibility</p:attrName>
                                        </p:attrNameLst>
                                      </p:cBhvr>
                                      <p:to>
                                        <p:strVal val="visible"/>
                                      </p:to>
                                    </p:set>
                                    <p:animEffect transition="in" filter="strips(downRight)">
                                      <p:cBhvr>
                                        <p:cTn id="17" dur="500"/>
                                        <p:tgtEl>
                                          <p:spTgt spid="160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50" grpId="0"/>
      <p:bldP spid="160951" grpId="0"/>
      <p:bldP spid="160952"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533400" y="762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2.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工作原理</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grpSp>
        <p:nvGrpSpPr>
          <p:cNvPr id="8" name="组合 7"/>
          <p:cNvGrpSpPr/>
          <p:nvPr/>
        </p:nvGrpSpPr>
        <p:grpSpPr>
          <a:xfrm>
            <a:off x="331788" y="1314450"/>
            <a:ext cx="8004175" cy="649288"/>
            <a:chOff x="126" y="650"/>
            <a:chExt cx="4799" cy="321"/>
          </a:xfrm>
        </p:grpSpPr>
        <p:graphicFrame>
          <p:nvGraphicFramePr>
            <p:cNvPr id="9" name="对象 8"/>
            <p:cNvGraphicFramePr/>
            <p:nvPr/>
          </p:nvGraphicFramePr>
          <p:xfrm>
            <a:off x="985" y="663"/>
            <a:ext cx="681" cy="292"/>
          </p:xfrm>
          <a:graphic>
            <a:graphicData uri="http://schemas.openxmlformats.org/presentationml/2006/ole">
              <mc:AlternateContent xmlns:mc="http://schemas.openxmlformats.org/markup-compatibility/2006">
                <mc:Choice xmlns:v="urn:schemas-microsoft-com:vml" Requires="v">
                  <p:oleObj spid="_x0000_s10" name="" r:id="rId1" imgW="799465" imgH="342900" progId="Equation.DSMT4">
                    <p:embed/>
                  </p:oleObj>
                </mc:Choice>
                <mc:Fallback>
                  <p:oleObj name="" r:id="rId1" imgW="799465" imgH="342900" progId="Equation.DSMT4">
                    <p:embed/>
                    <p:pic>
                      <p:nvPicPr>
                        <p:cNvPr id="0" name="图片 3083"/>
                        <p:cNvPicPr/>
                        <p:nvPr/>
                      </p:nvPicPr>
                      <p:blipFill>
                        <a:blip r:embed="rId2"/>
                        <a:stretch>
                          <a:fillRect/>
                        </a:stretch>
                      </p:blipFill>
                      <p:spPr>
                        <a:xfrm>
                          <a:off x="985" y="663"/>
                          <a:ext cx="681" cy="292"/>
                        </a:xfrm>
                        <a:prstGeom prst="rect">
                          <a:avLst/>
                        </a:prstGeom>
                        <a:noFill/>
                        <a:ln w="38100">
                          <a:noFill/>
                          <a:miter/>
                        </a:ln>
                      </p:spPr>
                    </p:pic>
                  </p:oleObj>
                </mc:Fallback>
              </mc:AlternateContent>
            </a:graphicData>
          </a:graphic>
        </p:graphicFrame>
        <p:sp>
          <p:nvSpPr>
            <p:cNvPr id="11" name="矩形 10"/>
            <p:cNvSpPr/>
            <p:nvPr/>
          </p:nvSpPr>
          <p:spPr>
            <a:xfrm>
              <a:off x="126" y="710"/>
              <a:ext cx="455" cy="196"/>
            </a:xfrm>
            <a:prstGeom prst="rect">
              <a:avLst/>
            </a:prstGeom>
            <a:noFill/>
            <a:ln w="9525">
              <a:noFill/>
            </a:ln>
          </p:spPr>
          <p:txBody>
            <a:bodyPr wrap="none" anchor="ctr" anchorCtr="0">
              <a:spAutoFit/>
            </a:bodyPr>
            <a:p>
              <a:r>
                <a:rPr lang="zh-CN" altLang="en-US" sz="2000" b="1" dirty="0">
                  <a:solidFill>
                    <a:srgbClr val="000066"/>
                  </a:solidFill>
                  <a:latin typeface="Times New Roman" panose="02020603050405020304" charset="0"/>
                  <a:ea typeface="楷体_GB2312" panose="02010609030101010101" pitchFamily="49" charset="-122"/>
                </a:rPr>
                <a:t>假定 </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12" name="矩形 11"/>
            <p:cNvSpPr/>
            <p:nvPr/>
          </p:nvSpPr>
          <p:spPr>
            <a:xfrm>
              <a:off x="2223" y="697"/>
              <a:ext cx="876" cy="196"/>
            </a:xfrm>
            <a:prstGeom prst="rect">
              <a:avLst/>
            </a:prstGeom>
            <a:noFill/>
            <a:ln w="9525">
              <a:noFill/>
            </a:ln>
          </p:spPr>
          <p:txBody>
            <a:bodyPr wrap="none" anchor="ctr" anchorCtr="0">
              <a:spAutoFit/>
            </a:bodyPr>
            <a:p>
              <a:r>
                <a:rPr lang="zh-CN" altLang="en-US" sz="2000" b="1" dirty="0">
                  <a:solidFill>
                    <a:srgbClr val="000066"/>
                  </a:solidFill>
                  <a:latin typeface="Times New Roman" panose="02020603050405020304" charset="0"/>
                  <a:ea typeface="楷体_GB2312" panose="02010609030101010101" pitchFamily="49" charset="-122"/>
                </a:rPr>
                <a:t>电路初态：</a:t>
              </a:r>
              <a:endParaRPr lang="zh-CN" altLang="en-US" sz="2000" b="1" dirty="0">
                <a:solidFill>
                  <a:srgbClr val="000066"/>
                </a:solidFill>
                <a:latin typeface="Times New Roman" panose="02020603050405020304" charset="0"/>
                <a:ea typeface="楷体_GB2312" panose="02010609030101010101" pitchFamily="49" charset="-122"/>
              </a:endParaRPr>
            </a:p>
          </p:txBody>
        </p:sp>
        <p:grpSp>
          <p:nvGrpSpPr>
            <p:cNvPr id="13" name="组合 12"/>
            <p:cNvGrpSpPr/>
            <p:nvPr/>
          </p:nvGrpSpPr>
          <p:grpSpPr>
            <a:xfrm>
              <a:off x="3239" y="650"/>
              <a:ext cx="549" cy="321"/>
              <a:chOff x="1570" y="1102"/>
              <a:chExt cx="464" cy="237"/>
            </a:xfrm>
          </p:grpSpPr>
          <p:sp>
            <p:nvSpPr>
              <p:cNvPr id="14" name="矩形 13"/>
              <p:cNvSpPr/>
              <p:nvPr/>
            </p:nvSpPr>
            <p:spPr>
              <a:xfrm>
                <a:off x="1729" y="1119"/>
                <a:ext cx="305" cy="220"/>
              </a:xfrm>
              <a:prstGeom prst="rect">
                <a:avLst/>
              </a:prstGeom>
              <a:noFill/>
              <a:ln w="9525">
                <a:noFill/>
              </a:ln>
            </p:spPr>
            <p:txBody>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=1</a:t>
                </a:r>
                <a:endParaRPr lang="en-US" altLang="zh-CN" sz="2000" b="1">
                  <a:solidFill>
                    <a:srgbClr val="000066"/>
                  </a:solidFill>
                  <a:latin typeface="Times New Roman" panose="02020603050405020304" charset="0"/>
                  <a:ea typeface="楷体_GB2312" panose="02010609030101010101" pitchFamily="49" charset="-122"/>
                </a:endParaRPr>
              </a:p>
            </p:txBody>
          </p:sp>
          <p:grpSp>
            <p:nvGrpSpPr>
              <p:cNvPr id="15" name="组合 14"/>
              <p:cNvGrpSpPr/>
              <p:nvPr/>
            </p:nvGrpSpPr>
            <p:grpSpPr>
              <a:xfrm>
                <a:off x="1570" y="1102"/>
                <a:ext cx="303" cy="218"/>
                <a:chOff x="2332" y="1153"/>
                <a:chExt cx="303" cy="218"/>
              </a:xfrm>
            </p:grpSpPr>
            <p:sp>
              <p:nvSpPr>
                <p:cNvPr id="16" name="矩形 15"/>
                <p:cNvSpPr/>
                <p:nvPr/>
              </p:nvSpPr>
              <p:spPr>
                <a:xfrm>
                  <a:off x="2332" y="1153"/>
                  <a:ext cx="303" cy="218"/>
                </a:xfrm>
                <a:prstGeom prst="rect">
                  <a:avLst/>
                </a:prstGeom>
                <a:noFill/>
                <a:ln w="9525">
                  <a:noFill/>
                </a:ln>
              </p:spPr>
              <p:txBody>
                <a:bodyPr/>
                <a:p>
                  <a:endParaRPr lang="zh-CN" altLang="en-US">
                    <a:solidFill>
                      <a:srgbClr val="000066"/>
                    </a:solidFill>
                  </a:endParaRPr>
                </a:p>
              </p:txBody>
            </p:sp>
            <p:sp>
              <p:nvSpPr>
                <p:cNvPr id="17" name="矩形 16"/>
                <p:cNvSpPr/>
                <p:nvPr/>
              </p:nvSpPr>
              <p:spPr>
                <a:xfrm>
                  <a:off x="2332" y="1187"/>
                  <a:ext cx="51" cy="101"/>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8" name="矩形 17"/>
                <p:cNvSpPr/>
                <p:nvPr/>
              </p:nvSpPr>
              <p:spPr>
                <a:xfrm>
                  <a:off x="2411" y="1262"/>
                  <a:ext cx="54" cy="61"/>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19" name="矩形 18"/>
                <p:cNvSpPr/>
                <p:nvPr/>
              </p:nvSpPr>
              <p:spPr>
                <a:xfrm>
                  <a:off x="2473" y="1262"/>
                  <a:ext cx="36" cy="62"/>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1</a:t>
                  </a:r>
                  <a:endParaRPr lang="en-US" altLang="zh-CN" sz="1100" b="1">
                    <a:solidFill>
                      <a:srgbClr val="000066"/>
                    </a:solidFill>
                    <a:latin typeface="Times New Roman" panose="02020603050405020304" charset="0"/>
                    <a:ea typeface="楷体_GB2312" panose="02010609030101010101" pitchFamily="49" charset="-122"/>
                  </a:endParaRPr>
                </a:p>
              </p:txBody>
            </p:sp>
          </p:grpSp>
        </p:grpSp>
        <p:grpSp>
          <p:nvGrpSpPr>
            <p:cNvPr id="20" name="组合 19"/>
            <p:cNvGrpSpPr/>
            <p:nvPr/>
          </p:nvGrpSpPr>
          <p:grpSpPr>
            <a:xfrm>
              <a:off x="3763" y="670"/>
              <a:ext cx="583" cy="254"/>
              <a:chOff x="1570" y="1102"/>
              <a:chExt cx="464" cy="237"/>
            </a:xfrm>
          </p:grpSpPr>
          <p:sp>
            <p:nvSpPr>
              <p:cNvPr id="21" name="矩形 20"/>
              <p:cNvSpPr/>
              <p:nvPr/>
            </p:nvSpPr>
            <p:spPr>
              <a:xfrm>
                <a:off x="1729" y="1119"/>
                <a:ext cx="305" cy="220"/>
              </a:xfrm>
              <a:prstGeom prst="rect">
                <a:avLst/>
              </a:prstGeom>
              <a:noFill/>
              <a:ln w="9525">
                <a:noFill/>
              </a:ln>
            </p:spPr>
            <p:txBody>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=0</a:t>
                </a:r>
                <a:endParaRPr lang="en-US" altLang="zh-CN" sz="2000" b="1">
                  <a:solidFill>
                    <a:srgbClr val="000066"/>
                  </a:solidFill>
                  <a:latin typeface="Times New Roman" panose="02020603050405020304" charset="0"/>
                  <a:ea typeface="楷体_GB2312" panose="02010609030101010101" pitchFamily="49" charset="-122"/>
                </a:endParaRPr>
              </a:p>
            </p:txBody>
          </p:sp>
          <p:grpSp>
            <p:nvGrpSpPr>
              <p:cNvPr id="22" name="组合 21"/>
              <p:cNvGrpSpPr/>
              <p:nvPr/>
            </p:nvGrpSpPr>
            <p:grpSpPr>
              <a:xfrm>
                <a:off x="1570" y="1102"/>
                <a:ext cx="303" cy="218"/>
                <a:chOff x="2332" y="1153"/>
                <a:chExt cx="303" cy="218"/>
              </a:xfrm>
            </p:grpSpPr>
            <p:sp>
              <p:nvSpPr>
                <p:cNvPr id="23" name="矩形 22"/>
                <p:cNvSpPr/>
                <p:nvPr/>
              </p:nvSpPr>
              <p:spPr>
                <a:xfrm>
                  <a:off x="2332" y="1153"/>
                  <a:ext cx="303" cy="218"/>
                </a:xfrm>
                <a:prstGeom prst="rect">
                  <a:avLst/>
                </a:prstGeom>
                <a:noFill/>
                <a:ln w="9525">
                  <a:noFill/>
                </a:ln>
              </p:spPr>
              <p:txBody>
                <a:bodyPr/>
                <a:p>
                  <a:endParaRPr lang="zh-CN" altLang="en-US">
                    <a:solidFill>
                      <a:srgbClr val="000066"/>
                    </a:solidFill>
                  </a:endParaRPr>
                </a:p>
              </p:txBody>
            </p:sp>
            <p:sp>
              <p:nvSpPr>
                <p:cNvPr id="24" name="矩形 23"/>
                <p:cNvSpPr/>
                <p:nvPr/>
              </p:nvSpPr>
              <p:spPr>
                <a:xfrm>
                  <a:off x="2361" y="1190"/>
                  <a:ext cx="48" cy="127"/>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25" name="矩形 24"/>
                <p:cNvSpPr/>
                <p:nvPr/>
              </p:nvSpPr>
              <p:spPr>
                <a:xfrm>
                  <a:off x="2410" y="1262"/>
                  <a:ext cx="52" cy="78"/>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26" name="矩形 25"/>
                <p:cNvSpPr/>
                <p:nvPr/>
              </p:nvSpPr>
              <p:spPr>
                <a:xfrm>
                  <a:off x="2473" y="1262"/>
                  <a:ext cx="33" cy="78"/>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2</a:t>
                  </a:r>
                  <a:endParaRPr lang="en-US" altLang="zh-CN" sz="1100" b="1">
                    <a:solidFill>
                      <a:srgbClr val="000066"/>
                    </a:solidFill>
                    <a:latin typeface="Times New Roman" panose="02020603050405020304" charset="0"/>
                    <a:ea typeface="楷体_GB2312" panose="02010609030101010101" pitchFamily="49" charset="-122"/>
                  </a:endParaRPr>
                </a:p>
              </p:txBody>
            </p:sp>
          </p:grpSp>
        </p:grpSp>
        <p:grpSp>
          <p:nvGrpSpPr>
            <p:cNvPr id="27" name="组合 26"/>
            <p:cNvGrpSpPr/>
            <p:nvPr/>
          </p:nvGrpSpPr>
          <p:grpSpPr>
            <a:xfrm>
              <a:off x="4392" y="696"/>
              <a:ext cx="152" cy="192"/>
              <a:chOff x="1861" y="1187"/>
              <a:chExt cx="87" cy="133"/>
            </a:xfrm>
          </p:grpSpPr>
          <p:sp>
            <p:nvSpPr>
              <p:cNvPr id="28" name="矩形 27"/>
              <p:cNvSpPr/>
              <p:nvPr/>
            </p:nvSpPr>
            <p:spPr>
              <a:xfrm>
                <a:off x="1861" y="1187"/>
                <a:ext cx="35" cy="94"/>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29" name="矩形 28"/>
              <p:cNvSpPr/>
              <p:nvPr/>
            </p:nvSpPr>
            <p:spPr>
              <a:xfrm>
                <a:off x="1913" y="1262"/>
                <a:ext cx="35" cy="58"/>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C</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30" name="矩形 29"/>
            <p:cNvSpPr/>
            <p:nvPr/>
          </p:nvSpPr>
          <p:spPr>
            <a:xfrm>
              <a:off x="4541" y="671"/>
              <a:ext cx="384" cy="196"/>
            </a:xfrm>
            <a:prstGeom prst="rect">
              <a:avLst/>
            </a:prstGeom>
            <a:noFill/>
            <a:ln w="9525">
              <a:noFill/>
            </a:ln>
          </p:spPr>
          <p:txBody>
            <a:bodyPr wrap="none" anchor="t" anchorCtr="0">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=0V</a:t>
              </a:r>
              <a:endParaRPr lang="en-US" altLang="zh-CN" sz="2000" b="1">
                <a:solidFill>
                  <a:srgbClr val="000066"/>
                </a:solidFill>
                <a:latin typeface="Times New Roman" panose="02020603050405020304" charset="0"/>
                <a:ea typeface="楷体_GB2312" panose="02010609030101010101" pitchFamily="49" charset="-122"/>
              </a:endParaRPr>
            </a:p>
          </p:txBody>
        </p:sp>
      </p:grpSp>
      <p:sp>
        <p:nvSpPr>
          <p:cNvPr id="31" name="矩形 30"/>
          <p:cNvSpPr/>
          <p:nvPr/>
        </p:nvSpPr>
        <p:spPr>
          <a:xfrm>
            <a:off x="900113" y="1939925"/>
            <a:ext cx="1408112" cy="396875"/>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电容充电</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32" name="直接连接符 31"/>
          <p:cNvSpPr/>
          <p:nvPr/>
        </p:nvSpPr>
        <p:spPr>
          <a:xfrm>
            <a:off x="2271713" y="2157413"/>
            <a:ext cx="712787" cy="0"/>
          </a:xfrm>
          <a:prstGeom prst="line">
            <a:avLst/>
          </a:prstGeom>
          <a:ln w="38100" cap="flat" cmpd="sng">
            <a:solidFill>
              <a:srgbClr val="000099"/>
            </a:solidFill>
            <a:prstDash val="solid"/>
            <a:headEnd type="none" w="med" len="med"/>
            <a:tailEnd type="triangle" w="med" len="med"/>
          </a:ln>
        </p:spPr>
      </p:sp>
      <p:grpSp>
        <p:nvGrpSpPr>
          <p:cNvPr id="33" name="组合 32"/>
          <p:cNvGrpSpPr/>
          <p:nvPr/>
        </p:nvGrpSpPr>
        <p:grpSpPr>
          <a:xfrm>
            <a:off x="3082925" y="1917700"/>
            <a:ext cx="338138" cy="344488"/>
            <a:chOff x="1646" y="1569"/>
            <a:chExt cx="213" cy="217"/>
          </a:xfrm>
        </p:grpSpPr>
        <p:grpSp>
          <p:nvGrpSpPr>
            <p:cNvPr id="34" name="组合 33"/>
            <p:cNvGrpSpPr/>
            <p:nvPr/>
          </p:nvGrpSpPr>
          <p:grpSpPr>
            <a:xfrm>
              <a:off x="1646" y="1571"/>
              <a:ext cx="192" cy="215"/>
              <a:chOff x="1835" y="1187"/>
              <a:chExt cx="116" cy="147"/>
            </a:xfrm>
          </p:grpSpPr>
          <p:sp>
            <p:nvSpPr>
              <p:cNvPr id="35" name="矩形 34"/>
              <p:cNvSpPr/>
              <p:nvPr/>
            </p:nvSpPr>
            <p:spPr>
              <a:xfrm>
                <a:off x="1835" y="1187"/>
                <a:ext cx="39" cy="118"/>
              </a:xfrm>
              <a:prstGeom prst="rect">
                <a:avLst/>
              </a:prstGeom>
              <a:noFill/>
              <a:ln w="9525">
                <a:noFill/>
              </a:ln>
            </p:spPr>
            <p:txBody>
              <a:bodyPr wrap="none" lIns="0" tIns="0" rIns="0" bIns="0">
                <a:spAutoFit/>
              </a:bodyPr>
              <a:p>
                <a:r>
                  <a:rPr lang="en-US" altLang="zh-CN" b="1" i="1">
                    <a:solidFill>
                      <a:srgbClr val="000099"/>
                    </a:solidFill>
                    <a:latin typeface="Times New Roman" panose="02020603050405020304" charset="0"/>
                    <a:ea typeface="楷体_GB2312" panose="02010609030101010101" pitchFamily="49" charset="-122"/>
                  </a:rPr>
                  <a:t>v</a:t>
                </a:r>
                <a:endParaRPr lang="en-US" altLang="zh-CN" b="1">
                  <a:solidFill>
                    <a:srgbClr val="000099"/>
                  </a:solidFill>
                  <a:latin typeface="Times New Roman" panose="02020603050405020304" charset="0"/>
                  <a:ea typeface="楷体_GB2312" panose="02010609030101010101" pitchFamily="49" charset="-122"/>
                </a:endParaRPr>
              </a:p>
            </p:txBody>
          </p:sp>
          <p:sp>
            <p:nvSpPr>
              <p:cNvPr id="36" name="矩形 35"/>
              <p:cNvSpPr/>
              <p:nvPr/>
            </p:nvSpPr>
            <p:spPr>
              <a:xfrm>
                <a:off x="1913" y="1262"/>
                <a:ext cx="38" cy="72"/>
              </a:xfrm>
              <a:prstGeom prst="rect">
                <a:avLst/>
              </a:prstGeom>
              <a:noFill/>
              <a:ln w="9525">
                <a:noFill/>
              </a:ln>
            </p:spPr>
            <p:txBody>
              <a:bodyPr wrap="none" lIns="0" tIns="0" rIns="0" bIns="0">
                <a:spAutoFit/>
              </a:bodyPr>
              <a:p>
                <a:r>
                  <a:rPr lang="en-US" altLang="zh-CN" sz="1100" b="1">
                    <a:solidFill>
                      <a:srgbClr val="000099"/>
                    </a:solidFill>
                    <a:latin typeface="Times New Roman" panose="02020603050405020304" charset="0"/>
                    <a:ea typeface="楷体_GB2312" panose="02010609030101010101" pitchFamily="49" charset="-122"/>
                  </a:rPr>
                  <a:t>C</a:t>
                </a:r>
                <a:endParaRPr lang="en-US" altLang="zh-CN" b="1">
                  <a:solidFill>
                    <a:srgbClr val="000099"/>
                  </a:solidFill>
                  <a:latin typeface="Times New Roman" panose="02020603050405020304" charset="0"/>
                  <a:ea typeface="楷体_GB2312" panose="02010609030101010101" pitchFamily="49" charset="-122"/>
                </a:endParaRPr>
              </a:p>
            </p:txBody>
          </p:sp>
        </p:grpSp>
        <p:sp>
          <p:nvSpPr>
            <p:cNvPr id="37" name="直接连接符 36"/>
            <p:cNvSpPr/>
            <p:nvPr/>
          </p:nvSpPr>
          <p:spPr>
            <a:xfrm flipV="1">
              <a:off x="1859" y="1569"/>
              <a:ext cx="0" cy="119"/>
            </a:xfrm>
            <a:prstGeom prst="line">
              <a:avLst/>
            </a:prstGeom>
            <a:ln w="9525" cap="flat" cmpd="sng">
              <a:solidFill>
                <a:srgbClr val="000099"/>
              </a:solidFill>
              <a:prstDash val="solid"/>
              <a:headEnd type="none" w="med" len="med"/>
              <a:tailEnd type="triangle" w="med" len="med"/>
            </a:ln>
          </p:spPr>
        </p:sp>
      </p:grpSp>
      <p:sp>
        <p:nvSpPr>
          <p:cNvPr id="38" name="直接连接符 37"/>
          <p:cNvSpPr/>
          <p:nvPr/>
        </p:nvSpPr>
        <p:spPr>
          <a:xfrm>
            <a:off x="3602038" y="2144713"/>
            <a:ext cx="712787" cy="0"/>
          </a:xfrm>
          <a:prstGeom prst="line">
            <a:avLst/>
          </a:prstGeom>
          <a:ln w="38100" cap="flat" cmpd="sng">
            <a:solidFill>
              <a:srgbClr val="000099"/>
            </a:solidFill>
            <a:prstDash val="solid"/>
            <a:headEnd type="none" w="med" len="med"/>
            <a:tailEnd type="triangle" w="med" len="med"/>
          </a:ln>
        </p:spPr>
      </p:sp>
      <p:grpSp>
        <p:nvGrpSpPr>
          <p:cNvPr id="39" name="组合 38"/>
          <p:cNvGrpSpPr/>
          <p:nvPr/>
        </p:nvGrpSpPr>
        <p:grpSpPr>
          <a:xfrm>
            <a:off x="4495800" y="1998663"/>
            <a:ext cx="338138" cy="346075"/>
            <a:chOff x="1646" y="1569"/>
            <a:chExt cx="213" cy="218"/>
          </a:xfrm>
        </p:grpSpPr>
        <p:grpSp>
          <p:nvGrpSpPr>
            <p:cNvPr id="40" name="组合 39"/>
            <p:cNvGrpSpPr/>
            <p:nvPr/>
          </p:nvGrpSpPr>
          <p:grpSpPr>
            <a:xfrm>
              <a:off x="1646" y="1571"/>
              <a:ext cx="162" cy="216"/>
              <a:chOff x="1835" y="1187"/>
              <a:chExt cx="98" cy="148"/>
            </a:xfrm>
          </p:grpSpPr>
          <p:sp>
            <p:nvSpPr>
              <p:cNvPr id="41" name="矩形 40"/>
              <p:cNvSpPr/>
              <p:nvPr/>
            </p:nvSpPr>
            <p:spPr>
              <a:xfrm>
                <a:off x="1835" y="1187"/>
                <a:ext cx="39" cy="119"/>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42" name="矩形 41"/>
              <p:cNvSpPr/>
              <p:nvPr/>
            </p:nvSpPr>
            <p:spPr>
              <a:xfrm>
                <a:off x="1913" y="1262"/>
                <a:ext cx="20" cy="73"/>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I</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43" name="直接连接符 42"/>
            <p:cNvSpPr/>
            <p:nvPr/>
          </p:nvSpPr>
          <p:spPr>
            <a:xfrm flipV="1">
              <a:off x="1859" y="1569"/>
              <a:ext cx="0" cy="119"/>
            </a:xfrm>
            <a:prstGeom prst="line">
              <a:avLst/>
            </a:prstGeom>
            <a:ln w="9525" cap="flat" cmpd="sng">
              <a:solidFill>
                <a:srgbClr val="000099"/>
              </a:solidFill>
              <a:prstDash val="solid"/>
              <a:headEnd type="none" w="med" len="med"/>
              <a:tailEnd type="triangle" w="med" len="med"/>
            </a:ln>
          </p:spPr>
        </p:sp>
      </p:grpSp>
      <p:sp>
        <p:nvSpPr>
          <p:cNvPr id="44" name="直接连接符 43"/>
          <p:cNvSpPr/>
          <p:nvPr/>
        </p:nvSpPr>
        <p:spPr>
          <a:xfrm>
            <a:off x="5122863" y="2184400"/>
            <a:ext cx="417512" cy="12700"/>
          </a:xfrm>
          <a:prstGeom prst="line">
            <a:avLst/>
          </a:prstGeom>
          <a:ln w="38100" cap="flat" cmpd="sng">
            <a:solidFill>
              <a:srgbClr val="000099"/>
            </a:solidFill>
            <a:prstDash val="solid"/>
            <a:headEnd type="none" w="med" len="med"/>
            <a:tailEnd type="triangle" w="med" len="med"/>
          </a:ln>
        </p:spPr>
      </p:sp>
      <p:grpSp>
        <p:nvGrpSpPr>
          <p:cNvPr id="45" name="组合 44"/>
          <p:cNvGrpSpPr/>
          <p:nvPr/>
        </p:nvGrpSpPr>
        <p:grpSpPr>
          <a:xfrm>
            <a:off x="5608638" y="1955800"/>
            <a:ext cx="1778000" cy="463550"/>
            <a:chOff x="373" y="2032"/>
            <a:chExt cx="1120" cy="292"/>
          </a:xfrm>
        </p:grpSpPr>
        <p:grpSp>
          <p:nvGrpSpPr>
            <p:cNvPr id="46" name="组合 45"/>
            <p:cNvGrpSpPr/>
            <p:nvPr/>
          </p:nvGrpSpPr>
          <p:grpSpPr>
            <a:xfrm>
              <a:off x="635" y="2050"/>
              <a:ext cx="305" cy="218"/>
              <a:chOff x="2895" y="1153"/>
              <a:chExt cx="305" cy="218"/>
            </a:xfrm>
          </p:grpSpPr>
          <p:sp>
            <p:nvSpPr>
              <p:cNvPr id="47" name="矩形 46"/>
              <p:cNvSpPr/>
              <p:nvPr/>
            </p:nvSpPr>
            <p:spPr>
              <a:xfrm>
                <a:off x="2895" y="1153"/>
                <a:ext cx="305" cy="218"/>
              </a:xfrm>
              <a:prstGeom prst="rect">
                <a:avLst/>
              </a:prstGeom>
              <a:noFill/>
              <a:ln w="9525">
                <a:noFill/>
              </a:ln>
            </p:spPr>
            <p:txBody>
              <a:bodyPr/>
              <a:p>
                <a:endParaRPr lang="zh-CN" altLang="en-US">
                  <a:solidFill>
                    <a:srgbClr val="000066"/>
                  </a:solidFill>
                </a:endParaRPr>
              </a:p>
            </p:txBody>
          </p:sp>
          <p:sp>
            <p:nvSpPr>
              <p:cNvPr id="48" name="矩形 47"/>
              <p:cNvSpPr/>
              <p:nvPr/>
            </p:nvSpPr>
            <p:spPr>
              <a:xfrm>
                <a:off x="2895" y="1187"/>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49" name="矩形 48"/>
              <p:cNvSpPr/>
              <p:nvPr/>
            </p:nvSpPr>
            <p:spPr>
              <a:xfrm>
                <a:off x="2973" y="1262"/>
                <a:ext cx="34"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I</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50" name="矩形 49"/>
            <p:cNvSpPr/>
            <p:nvPr/>
          </p:nvSpPr>
          <p:spPr>
            <a:xfrm>
              <a:off x="373" y="2032"/>
              <a:ext cx="277" cy="250"/>
            </a:xfrm>
            <a:prstGeom prst="rect">
              <a:avLst/>
            </a:prstGeom>
            <a:noFill/>
            <a:ln w="9525">
              <a:noFill/>
            </a:ln>
          </p:spPr>
          <p:txBody>
            <a:bodyPr wrap="none" anchor="t" anchorCtr="0">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当</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51" name="矩形 50"/>
            <p:cNvSpPr/>
            <p:nvPr/>
          </p:nvSpPr>
          <p:spPr>
            <a:xfrm>
              <a:off x="739" y="2074"/>
              <a:ext cx="754" cy="250"/>
            </a:xfrm>
            <a:prstGeom prst="rect">
              <a:avLst/>
            </a:prstGeom>
            <a:noFill/>
            <a:ln w="9525">
              <a:noFill/>
            </a:ln>
          </p:spPr>
          <p:txBody>
            <a:bodyPr>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a:t>
              </a:r>
              <a:r>
                <a:rPr lang="en-US" altLang="zh-CN" sz="2000" b="1" err="1">
                  <a:solidFill>
                    <a:srgbClr val="000066"/>
                  </a:solidFill>
                  <a:latin typeface="Times New Roman" panose="02020603050405020304" charset="0"/>
                  <a:ea typeface="楷体_GB2312" panose="02010609030101010101" pitchFamily="49" charset="-122"/>
                </a:rPr>
                <a:t>V</a:t>
              </a:r>
              <a:r>
                <a:rPr lang="en-US" altLang="zh-CN" sz="2000" b="1" baseline="-25000" err="1">
                  <a:solidFill>
                    <a:srgbClr val="000066"/>
                  </a:solidFill>
                  <a:latin typeface="Times New Roman" panose="02020603050405020304" charset="0"/>
                  <a:ea typeface="楷体_GB2312" panose="02010609030101010101" pitchFamily="49" charset="-122"/>
                </a:rPr>
                <a:t>th</a:t>
              </a:r>
              <a:r>
                <a:rPr lang="zh-CN" altLang="en-US" sz="2000" b="1" dirty="0">
                  <a:solidFill>
                    <a:srgbClr val="000066"/>
                  </a:solidFill>
                  <a:latin typeface="Times New Roman" panose="02020603050405020304" charset="0"/>
                  <a:ea typeface="楷体_GB2312" panose="02010609030101010101" pitchFamily="49" charset="-122"/>
                </a:rPr>
                <a:t>时，</a:t>
              </a:r>
              <a:endParaRPr lang="zh-CN" altLang="en-US" sz="2000" b="1" dirty="0">
                <a:solidFill>
                  <a:srgbClr val="000066"/>
                </a:solidFill>
                <a:latin typeface="Times New Roman" panose="02020603050405020304" charset="0"/>
                <a:ea typeface="楷体_GB2312" panose="02010609030101010101" pitchFamily="49" charset="-122"/>
              </a:endParaRPr>
            </a:p>
          </p:txBody>
        </p:sp>
      </p:grpSp>
      <p:grpSp>
        <p:nvGrpSpPr>
          <p:cNvPr id="52" name="组合 51"/>
          <p:cNvGrpSpPr/>
          <p:nvPr/>
        </p:nvGrpSpPr>
        <p:grpSpPr>
          <a:xfrm>
            <a:off x="646113" y="3160713"/>
            <a:ext cx="5283200" cy="411162"/>
            <a:chOff x="1316" y="1554"/>
            <a:chExt cx="1500" cy="259"/>
          </a:xfrm>
        </p:grpSpPr>
        <p:sp>
          <p:nvSpPr>
            <p:cNvPr id="53" name="矩形 52"/>
            <p:cNvSpPr/>
            <p:nvPr/>
          </p:nvSpPr>
          <p:spPr>
            <a:xfrm>
              <a:off x="1316" y="1563"/>
              <a:ext cx="721" cy="250"/>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迅速使</a:t>
              </a:r>
              <a:r>
                <a:rPr lang="en-US" altLang="zh-CN" sz="2000" b="1">
                  <a:solidFill>
                    <a:srgbClr val="000066"/>
                  </a:solidFill>
                  <a:latin typeface="Times New Roman" panose="02020603050405020304" charset="0"/>
                  <a:ea typeface="楷体_GB2312" panose="02010609030101010101" pitchFamily="49" charset="-122"/>
                </a:rPr>
                <a:t>G</a:t>
              </a:r>
              <a:r>
                <a:rPr lang="en-US" altLang="zh-CN" sz="2000" b="1" baseline="-25000">
                  <a:solidFill>
                    <a:srgbClr val="000066"/>
                  </a:solidFill>
                  <a:latin typeface="Times New Roman" panose="02020603050405020304" charset="0"/>
                  <a:ea typeface="楷体_GB2312" panose="02010609030101010101" pitchFamily="49" charset="-122"/>
                </a:rPr>
                <a:t>1</a:t>
              </a:r>
              <a:r>
                <a:rPr lang="zh-CN" altLang="en-US" sz="2000" b="1" dirty="0">
                  <a:solidFill>
                    <a:srgbClr val="000066"/>
                  </a:solidFill>
                  <a:latin typeface="Times New Roman" panose="02020603050405020304" charset="0"/>
                  <a:ea typeface="楷体_GB2312" panose="02010609030101010101" pitchFamily="49" charset="-122"/>
                </a:rPr>
                <a:t>导通、</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54" name="矩形 53"/>
            <p:cNvSpPr/>
            <p:nvPr/>
          </p:nvSpPr>
          <p:spPr>
            <a:xfrm>
              <a:off x="2095" y="1554"/>
              <a:ext cx="721" cy="250"/>
            </a:xfrm>
            <a:prstGeom prst="rect">
              <a:avLst/>
            </a:prstGeom>
            <a:noFill/>
            <a:ln w="9525">
              <a:noFill/>
            </a:ln>
          </p:spPr>
          <p:txBody>
            <a:bodyPr>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G</a:t>
              </a:r>
              <a:r>
                <a:rPr lang="en-US" altLang="zh-CN" sz="2000" b="1" baseline="-25000">
                  <a:solidFill>
                    <a:srgbClr val="000066"/>
                  </a:solidFill>
                  <a:latin typeface="Times New Roman" panose="02020603050405020304" charset="0"/>
                  <a:ea typeface="楷体_GB2312" panose="02010609030101010101" pitchFamily="49" charset="-122"/>
                </a:rPr>
                <a:t>2</a:t>
              </a:r>
              <a:r>
                <a:rPr lang="zh-CN" altLang="en-US" sz="2000" b="1" dirty="0">
                  <a:solidFill>
                    <a:srgbClr val="000066"/>
                  </a:solidFill>
                  <a:latin typeface="Times New Roman" panose="02020603050405020304" charset="0"/>
                  <a:ea typeface="楷体_GB2312" panose="02010609030101010101" pitchFamily="49" charset="-122"/>
                </a:rPr>
                <a:t>截止，</a:t>
              </a:r>
              <a:endParaRPr lang="zh-CN" altLang="en-US" sz="2000" b="1" dirty="0">
                <a:solidFill>
                  <a:srgbClr val="000066"/>
                </a:solidFill>
                <a:latin typeface="Times New Roman" panose="02020603050405020304" charset="0"/>
                <a:ea typeface="楷体_GB2312" panose="02010609030101010101" pitchFamily="49" charset="-122"/>
              </a:endParaRPr>
            </a:p>
          </p:txBody>
        </p:sp>
      </p:grpSp>
      <p:grpSp>
        <p:nvGrpSpPr>
          <p:cNvPr id="55" name="组合 54"/>
          <p:cNvGrpSpPr/>
          <p:nvPr/>
        </p:nvGrpSpPr>
        <p:grpSpPr>
          <a:xfrm>
            <a:off x="654050" y="3557588"/>
            <a:ext cx="4356100" cy="433387"/>
            <a:chOff x="2851" y="1532"/>
            <a:chExt cx="2744" cy="273"/>
          </a:xfrm>
        </p:grpSpPr>
        <p:sp>
          <p:nvSpPr>
            <p:cNvPr id="56" name="矩形 55"/>
            <p:cNvSpPr/>
            <p:nvPr/>
          </p:nvSpPr>
          <p:spPr>
            <a:xfrm>
              <a:off x="3951" y="1545"/>
              <a:ext cx="1644" cy="250"/>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电路进入第二暂态</a:t>
              </a:r>
              <a:endParaRPr lang="zh-CN" altLang="en-US" sz="2000" b="1" dirty="0">
                <a:solidFill>
                  <a:srgbClr val="000066"/>
                </a:solidFill>
                <a:latin typeface="Times New Roman" panose="02020603050405020304" charset="0"/>
                <a:ea typeface="楷体_GB2312" panose="02010609030101010101" pitchFamily="49" charset="-122"/>
              </a:endParaRPr>
            </a:p>
          </p:txBody>
        </p:sp>
        <p:grpSp>
          <p:nvGrpSpPr>
            <p:cNvPr id="57" name="组合 56"/>
            <p:cNvGrpSpPr/>
            <p:nvPr/>
          </p:nvGrpSpPr>
          <p:grpSpPr>
            <a:xfrm>
              <a:off x="3458" y="1532"/>
              <a:ext cx="305" cy="218"/>
              <a:chOff x="2895" y="1153"/>
              <a:chExt cx="305" cy="218"/>
            </a:xfrm>
          </p:grpSpPr>
          <p:sp>
            <p:nvSpPr>
              <p:cNvPr id="58" name="矩形 57"/>
              <p:cNvSpPr/>
              <p:nvPr/>
            </p:nvSpPr>
            <p:spPr>
              <a:xfrm>
                <a:off x="2895" y="1153"/>
                <a:ext cx="305" cy="218"/>
              </a:xfrm>
              <a:prstGeom prst="rect">
                <a:avLst/>
              </a:prstGeom>
              <a:noFill/>
              <a:ln w="9525">
                <a:noFill/>
              </a:ln>
            </p:spPr>
            <p:txBody>
              <a:bodyPr/>
              <a:p>
                <a:endParaRPr lang="zh-CN" altLang="en-US">
                  <a:solidFill>
                    <a:srgbClr val="000066"/>
                  </a:solidFill>
                </a:endParaRPr>
              </a:p>
            </p:txBody>
          </p:sp>
          <p:sp>
            <p:nvSpPr>
              <p:cNvPr id="59" name="矩形 58"/>
              <p:cNvSpPr/>
              <p:nvPr/>
            </p:nvSpPr>
            <p:spPr>
              <a:xfrm>
                <a:off x="2895" y="1187"/>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60" name="矩形 59"/>
              <p:cNvSpPr/>
              <p:nvPr/>
            </p:nvSpPr>
            <p:spPr>
              <a:xfrm>
                <a:off x="2973" y="1262"/>
                <a:ext cx="112"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O2</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61" name="矩形 60"/>
            <p:cNvSpPr/>
            <p:nvPr/>
          </p:nvSpPr>
          <p:spPr>
            <a:xfrm>
              <a:off x="3624" y="1534"/>
              <a:ext cx="287" cy="250"/>
            </a:xfrm>
            <a:prstGeom prst="rect">
              <a:avLst/>
            </a:prstGeom>
            <a:noFill/>
            <a:ln w="9525">
              <a:noFill/>
            </a:ln>
          </p:spPr>
          <p:txBody>
            <a:bodyPr wrap="none" anchor="t" anchorCtr="0">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=1</a:t>
              </a:r>
              <a:endParaRPr lang="en-US" altLang="zh-CN" sz="2000" b="1">
                <a:solidFill>
                  <a:srgbClr val="000066"/>
                </a:solidFill>
                <a:latin typeface="Times New Roman" panose="02020603050405020304" charset="0"/>
                <a:ea typeface="楷体_GB2312" panose="02010609030101010101" pitchFamily="49" charset="-122"/>
              </a:endParaRPr>
            </a:p>
          </p:txBody>
        </p:sp>
        <p:grpSp>
          <p:nvGrpSpPr>
            <p:cNvPr id="62" name="组合 61"/>
            <p:cNvGrpSpPr/>
            <p:nvPr/>
          </p:nvGrpSpPr>
          <p:grpSpPr>
            <a:xfrm>
              <a:off x="2851" y="1544"/>
              <a:ext cx="305" cy="218"/>
              <a:chOff x="2895" y="1153"/>
              <a:chExt cx="305" cy="218"/>
            </a:xfrm>
          </p:grpSpPr>
          <p:sp>
            <p:nvSpPr>
              <p:cNvPr id="63" name="矩形 62"/>
              <p:cNvSpPr/>
              <p:nvPr/>
            </p:nvSpPr>
            <p:spPr>
              <a:xfrm>
                <a:off x="2895" y="1153"/>
                <a:ext cx="305" cy="218"/>
              </a:xfrm>
              <a:prstGeom prst="rect">
                <a:avLst/>
              </a:prstGeom>
              <a:noFill/>
              <a:ln w="9525">
                <a:noFill/>
              </a:ln>
            </p:spPr>
            <p:txBody>
              <a:bodyPr/>
              <a:p>
                <a:endParaRPr lang="zh-CN" altLang="en-US">
                  <a:solidFill>
                    <a:srgbClr val="000066"/>
                  </a:solidFill>
                </a:endParaRPr>
              </a:p>
            </p:txBody>
          </p:sp>
          <p:sp>
            <p:nvSpPr>
              <p:cNvPr id="64" name="矩形 63"/>
              <p:cNvSpPr/>
              <p:nvPr/>
            </p:nvSpPr>
            <p:spPr>
              <a:xfrm>
                <a:off x="2895" y="1187"/>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65" name="矩形 64"/>
              <p:cNvSpPr/>
              <p:nvPr/>
            </p:nvSpPr>
            <p:spPr>
              <a:xfrm>
                <a:off x="2973" y="1262"/>
                <a:ext cx="112"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O1</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66" name="矩形 65"/>
            <p:cNvSpPr/>
            <p:nvPr/>
          </p:nvSpPr>
          <p:spPr>
            <a:xfrm>
              <a:off x="3044" y="1555"/>
              <a:ext cx="287" cy="250"/>
            </a:xfrm>
            <a:prstGeom prst="rect">
              <a:avLst/>
            </a:prstGeom>
            <a:noFill/>
            <a:ln w="9525">
              <a:noFill/>
            </a:ln>
          </p:spPr>
          <p:txBody>
            <a:bodyPr wrap="none" anchor="t" anchorCtr="0">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=0</a:t>
              </a:r>
              <a:endParaRPr lang="en-US" altLang="zh-CN" sz="2000" b="1">
                <a:solidFill>
                  <a:srgbClr val="000066"/>
                </a:solidFill>
                <a:latin typeface="Times New Roman" panose="02020603050405020304" charset="0"/>
                <a:ea typeface="楷体_GB2312" panose="02010609030101010101" pitchFamily="49" charset="-122"/>
              </a:endParaRPr>
            </a:p>
          </p:txBody>
        </p:sp>
      </p:grpSp>
      <p:grpSp>
        <p:nvGrpSpPr>
          <p:cNvPr id="67" name="组合 66"/>
          <p:cNvGrpSpPr/>
          <p:nvPr/>
        </p:nvGrpSpPr>
        <p:grpSpPr>
          <a:xfrm>
            <a:off x="5599113" y="3527425"/>
            <a:ext cx="957262" cy="509588"/>
            <a:chOff x="1570" y="1102"/>
            <a:chExt cx="464" cy="237"/>
          </a:xfrm>
        </p:grpSpPr>
        <p:sp>
          <p:nvSpPr>
            <p:cNvPr id="68" name="矩形 67"/>
            <p:cNvSpPr/>
            <p:nvPr/>
          </p:nvSpPr>
          <p:spPr>
            <a:xfrm>
              <a:off x="1729" y="1119"/>
              <a:ext cx="305" cy="220"/>
            </a:xfrm>
            <a:prstGeom prst="rect">
              <a:avLst/>
            </a:prstGeom>
            <a:noFill/>
            <a:ln w="9525">
              <a:noFill/>
            </a:ln>
          </p:spPr>
          <p:txBody>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=0</a:t>
              </a:r>
              <a:endParaRPr lang="en-US" altLang="zh-CN" sz="2000" b="1">
                <a:solidFill>
                  <a:srgbClr val="000066"/>
                </a:solidFill>
                <a:latin typeface="Times New Roman" panose="02020603050405020304" charset="0"/>
                <a:ea typeface="楷体_GB2312" panose="02010609030101010101" pitchFamily="49" charset="-122"/>
              </a:endParaRPr>
            </a:p>
          </p:txBody>
        </p:sp>
        <p:grpSp>
          <p:nvGrpSpPr>
            <p:cNvPr id="69" name="组合 68"/>
            <p:cNvGrpSpPr/>
            <p:nvPr/>
          </p:nvGrpSpPr>
          <p:grpSpPr>
            <a:xfrm>
              <a:off x="1570" y="1102"/>
              <a:ext cx="303" cy="218"/>
              <a:chOff x="2332" y="1153"/>
              <a:chExt cx="303" cy="218"/>
            </a:xfrm>
          </p:grpSpPr>
          <p:sp>
            <p:nvSpPr>
              <p:cNvPr id="70" name="矩形 69"/>
              <p:cNvSpPr/>
              <p:nvPr/>
            </p:nvSpPr>
            <p:spPr>
              <a:xfrm>
                <a:off x="2332" y="1153"/>
                <a:ext cx="303" cy="218"/>
              </a:xfrm>
              <a:prstGeom prst="rect">
                <a:avLst/>
              </a:prstGeom>
              <a:noFill/>
              <a:ln w="9525">
                <a:noFill/>
              </a:ln>
            </p:spPr>
            <p:txBody>
              <a:bodyPr/>
              <a:p>
                <a:endParaRPr lang="zh-CN" altLang="en-US">
                  <a:solidFill>
                    <a:srgbClr val="000066"/>
                  </a:solidFill>
                </a:endParaRPr>
              </a:p>
            </p:txBody>
          </p:sp>
          <p:sp>
            <p:nvSpPr>
              <p:cNvPr id="71" name="矩形 70"/>
              <p:cNvSpPr/>
              <p:nvPr/>
            </p:nvSpPr>
            <p:spPr>
              <a:xfrm>
                <a:off x="2332" y="1187"/>
                <a:ext cx="49" cy="128"/>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72" name="矩形 71"/>
              <p:cNvSpPr/>
              <p:nvPr/>
            </p:nvSpPr>
            <p:spPr>
              <a:xfrm>
                <a:off x="2410" y="1262"/>
                <a:ext cx="52" cy="79"/>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73" name="矩形 72"/>
              <p:cNvSpPr/>
              <p:nvPr/>
            </p:nvSpPr>
            <p:spPr>
              <a:xfrm>
                <a:off x="2473" y="1262"/>
                <a:ext cx="34" cy="79"/>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1</a:t>
                </a:r>
                <a:endParaRPr lang="en-US" altLang="zh-CN" sz="1100" b="1">
                  <a:solidFill>
                    <a:srgbClr val="000066"/>
                  </a:solidFill>
                  <a:latin typeface="Times New Roman" panose="02020603050405020304" charset="0"/>
                  <a:ea typeface="楷体_GB2312" panose="02010609030101010101" pitchFamily="49" charset="-122"/>
                </a:endParaRPr>
              </a:p>
            </p:txBody>
          </p:sp>
        </p:grpSp>
      </p:grpSp>
      <p:grpSp>
        <p:nvGrpSpPr>
          <p:cNvPr id="74" name="组合 73"/>
          <p:cNvGrpSpPr/>
          <p:nvPr/>
        </p:nvGrpSpPr>
        <p:grpSpPr>
          <a:xfrm>
            <a:off x="6465888" y="3560763"/>
            <a:ext cx="1016000" cy="403225"/>
            <a:chOff x="1570" y="1102"/>
            <a:chExt cx="464" cy="237"/>
          </a:xfrm>
        </p:grpSpPr>
        <p:sp>
          <p:nvSpPr>
            <p:cNvPr id="75" name="矩形 74"/>
            <p:cNvSpPr/>
            <p:nvPr/>
          </p:nvSpPr>
          <p:spPr>
            <a:xfrm>
              <a:off x="1729" y="1119"/>
              <a:ext cx="305" cy="220"/>
            </a:xfrm>
            <a:prstGeom prst="rect">
              <a:avLst/>
            </a:prstGeom>
            <a:noFill/>
            <a:ln w="9525">
              <a:noFill/>
            </a:ln>
          </p:spPr>
          <p:txBody>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=1</a:t>
              </a:r>
              <a:endParaRPr lang="en-US" altLang="zh-CN" sz="2000" b="1">
                <a:solidFill>
                  <a:srgbClr val="000066"/>
                </a:solidFill>
                <a:latin typeface="Times New Roman" panose="02020603050405020304" charset="0"/>
                <a:ea typeface="楷体_GB2312" panose="02010609030101010101" pitchFamily="49" charset="-122"/>
              </a:endParaRPr>
            </a:p>
          </p:txBody>
        </p:sp>
        <p:grpSp>
          <p:nvGrpSpPr>
            <p:cNvPr id="76" name="组合 75"/>
            <p:cNvGrpSpPr/>
            <p:nvPr/>
          </p:nvGrpSpPr>
          <p:grpSpPr>
            <a:xfrm>
              <a:off x="1570" y="1102"/>
              <a:ext cx="303" cy="218"/>
              <a:chOff x="2332" y="1153"/>
              <a:chExt cx="303" cy="218"/>
            </a:xfrm>
          </p:grpSpPr>
          <p:sp>
            <p:nvSpPr>
              <p:cNvPr id="77" name="矩形 76"/>
              <p:cNvSpPr/>
              <p:nvPr/>
            </p:nvSpPr>
            <p:spPr>
              <a:xfrm>
                <a:off x="2332" y="1153"/>
                <a:ext cx="303" cy="218"/>
              </a:xfrm>
              <a:prstGeom prst="rect">
                <a:avLst/>
              </a:prstGeom>
              <a:noFill/>
              <a:ln w="9525">
                <a:noFill/>
              </a:ln>
            </p:spPr>
            <p:txBody>
              <a:bodyPr/>
              <a:p>
                <a:endParaRPr lang="zh-CN" altLang="en-US">
                  <a:solidFill>
                    <a:srgbClr val="000066"/>
                  </a:solidFill>
                </a:endParaRPr>
              </a:p>
            </p:txBody>
          </p:sp>
          <p:sp>
            <p:nvSpPr>
              <p:cNvPr id="78" name="矩形 77"/>
              <p:cNvSpPr/>
              <p:nvPr/>
            </p:nvSpPr>
            <p:spPr>
              <a:xfrm>
                <a:off x="2332" y="1187"/>
                <a:ext cx="46" cy="161"/>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79" name="矩形 78"/>
              <p:cNvSpPr/>
              <p:nvPr/>
            </p:nvSpPr>
            <p:spPr>
              <a:xfrm>
                <a:off x="2410" y="1262"/>
                <a:ext cx="50" cy="99"/>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80" name="矩形 79"/>
              <p:cNvSpPr/>
              <p:nvPr/>
            </p:nvSpPr>
            <p:spPr>
              <a:xfrm>
                <a:off x="2473" y="1262"/>
                <a:ext cx="32" cy="99"/>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2</a:t>
                </a:r>
                <a:endParaRPr lang="en-US" altLang="zh-CN" sz="1100" b="1">
                  <a:solidFill>
                    <a:srgbClr val="000066"/>
                  </a:solidFill>
                  <a:latin typeface="Times New Roman" panose="02020603050405020304" charset="0"/>
                  <a:ea typeface="楷体_GB2312" panose="02010609030101010101" pitchFamily="49" charset="-122"/>
                </a:endParaRPr>
              </a:p>
            </p:txBody>
          </p:sp>
        </p:grpSp>
      </p:grpSp>
      <p:sp>
        <p:nvSpPr>
          <p:cNvPr id="81" name="矩形 80"/>
          <p:cNvSpPr/>
          <p:nvPr/>
        </p:nvSpPr>
        <p:spPr>
          <a:xfrm>
            <a:off x="744538" y="679450"/>
            <a:ext cx="7467600" cy="396875"/>
          </a:xfrm>
          <a:prstGeom prst="rect">
            <a:avLst/>
          </a:prstGeom>
          <a:noFill/>
          <a:ln w="9525">
            <a:noFill/>
          </a:ln>
        </p:spPr>
        <p:txBody>
          <a:bodyPr wrap="none" anchor="t" anchorCtr="0">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a:t>
            </a:r>
            <a:r>
              <a:rPr lang="en-US" altLang="zh-CN" sz="2000" b="1">
                <a:solidFill>
                  <a:srgbClr val="000066"/>
                </a:solidFill>
                <a:latin typeface="Times New Roman" panose="02020603050405020304" charset="0"/>
                <a:ea typeface="楷体_GB2312" panose="02010609030101010101" pitchFamily="49" charset="-122"/>
              </a:rPr>
              <a:t>1</a:t>
            </a:r>
            <a:r>
              <a:rPr lang="zh-CN" altLang="en-US" sz="2000" b="1" dirty="0">
                <a:solidFill>
                  <a:srgbClr val="000066"/>
                </a:solidFill>
                <a:latin typeface="Times New Roman" panose="02020603050405020304" charset="0"/>
                <a:ea typeface="楷体_GB2312" panose="02010609030101010101" pitchFamily="49" charset="-122"/>
              </a:rPr>
              <a:t>）第一暂稳态（初态）电容充电，电路自动翻转到第二暂稳态</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82" name="矩形 81"/>
          <p:cNvSpPr/>
          <p:nvPr/>
        </p:nvSpPr>
        <p:spPr>
          <a:xfrm>
            <a:off x="1219200" y="4476750"/>
            <a:ext cx="404813" cy="404813"/>
          </a:xfrm>
          <a:prstGeom prst="rect">
            <a:avLst/>
          </a:prstGeom>
          <a:solidFill>
            <a:srgbClr val="66FF66"/>
          </a:solidFill>
          <a:ln w="9525">
            <a:noFill/>
          </a:ln>
        </p:spPr>
        <p:txBody>
          <a:bodyPr/>
          <a:p>
            <a:endParaRPr lang="zh-CN" altLang="en-US"/>
          </a:p>
        </p:txBody>
      </p:sp>
      <p:sp>
        <p:nvSpPr>
          <p:cNvPr id="83" name="矩形 82"/>
          <p:cNvSpPr/>
          <p:nvPr/>
        </p:nvSpPr>
        <p:spPr>
          <a:xfrm>
            <a:off x="3289300" y="5421313"/>
            <a:ext cx="404813" cy="404812"/>
          </a:xfrm>
          <a:prstGeom prst="rect">
            <a:avLst/>
          </a:prstGeom>
          <a:solidFill>
            <a:srgbClr val="66FF66"/>
          </a:solidFill>
          <a:ln w="9525">
            <a:noFill/>
          </a:ln>
        </p:spPr>
        <p:txBody>
          <a:bodyPr/>
          <a:p>
            <a:endParaRPr lang="zh-CN" altLang="en-US"/>
          </a:p>
        </p:txBody>
      </p:sp>
      <p:grpSp>
        <p:nvGrpSpPr>
          <p:cNvPr id="84" name="组合 83"/>
          <p:cNvGrpSpPr/>
          <p:nvPr/>
        </p:nvGrpSpPr>
        <p:grpSpPr>
          <a:xfrm>
            <a:off x="1714500" y="4341813"/>
            <a:ext cx="2386013" cy="1979612"/>
            <a:chOff x="3265" y="7785"/>
            <a:chExt cx="2171" cy="1779"/>
          </a:xfrm>
        </p:grpSpPr>
        <p:sp>
          <p:nvSpPr>
            <p:cNvPr id="85" name="任意多边形 84"/>
            <p:cNvSpPr/>
            <p:nvPr/>
          </p:nvSpPr>
          <p:spPr>
            <a:xfrm flipV="1">
              <a:off x="5278" y="9417"/>
              <a:ext cx="158" cy="14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FFCC00"/>
              </a:solidFill>
              <a:prstDash val="solid"/>
              <a:headEnd type="none" w="med" len="med"/>
              <a:tailEnd type="none" w="med" len="med"/>
            </a:ln>
          </p:spPr>
          <p:txBody>
            <a:bodyPr/>
            <a:p>
              <a:endParaRPr lang="zh-CN" altLang="en-US"/>
            </a:p>
          </p:txBody>
        </p:sp>
        <p:sp>
          <p:nvSpPr>
            <p:cNvPr id="86" name="直接连接符 85"/>
            <p:cNvSpPr/>
            <p:nvPr/>
          </p:nvSpPr>
          <p:spPr>
            <a:xfrm flipV="1">
              <a:off x="3816" y="8407"/>
              <a:ext cx="1" cy="1002"/>
            </a:xfrm>
            <a:prstGeom prst="line">
              <a:avLst/>
            </a:prstGeom>
            <a:ln w="57150" cap="flat" cmpd="sng">
              <a:solidFill>
                <a:srgbClr val="FFCC00"/>
              </a:solidFill>
              <a:prstDash val="solid"/>
              <a:headEnd type="none" w="sm" len="lg"/>
              <a:tailEnd type="none" w="sm" len="lg"/>
            </a:ln>
          </p:spPr>
        </p:sp>
        <p:sp>
          <p:nvSpPr>
            <p:cNvPr id="87" name="任意多边形 86"/>
            <p:cNvSpPr/>
            <p:nvPr/>
          </p:nvSpPr>
          <p:spPr>
            <a:xfrm flipH="1" flipV="1">
              <a:off x="3817" y="9417"/>
              <a:ext cx="158" cy="14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FFCC00"/>
              </a:solidFill>
              <a:prstDash val="solid"/>
              <a:headEnd type="none" w="med" len="med"/>
              <a:tailEnd type="none" w="med" len="med"/>
            </a:ln>
          </p:spPr>
          <p:txBody>
            <a:bodyPr/>
            <a:p>
              <a:endParaRPr lang="zh-CN" altLang="en-US"/>
            </a:p>
          </p:txBody>
        </p:sp>
        <p:sp>
          <p:nvSpPr>
            <p:cNvPr id="88" name="直接连接符 87"/>
            <p:cNvSpPr/>
            <p:nvPr/>
          </p:nvSpPr>
          <p:spPr>
            <a:xfrm>
              <a:off x="3975" y="9563"/>
              <a:ext cx="1339" cy="1"/>
            </a:xfrm>
            <a:prstGeom prst="line">
              <a:avLst/>
            </a:prstGeom>
            <a:ln w="57150" cap="flat" cmpd="sng">
              <a:solidFill>
                <a:srgbClr val="FFCC00"/>
              </a:solidFill>
              <a:prstDash val="solid"/>
              <a:headEnd type="none" w="sm" len="lg"/>
              <a:tailEnd type="none" w="sm" len="lg"/>
            </a:ln>
          </p:spPr>
        </p:sp>
        <p:sp>
          <p:nvSpPr>
            <p:cNvPr id="89" name="直接连接符 88"/>
            <p:cNvSpPr/>
            <p:nvPr/>
          </p:nvSpPr>
          <p:spPr>
            <a:xfrm flipH="1" flipV="1">
              <a:off x="5434" y="8753"/>
              <a:ext cx="2" cy="696"/>
            </a:xfrm>
            <a:prstGeom prst="line">
              <a:avLst/>
            </a:prstGeom>
            <a:ln w="57150" cap="flat" cmpd="sng">
              <a:solidFill>
                <a:srgbClr val="FFCC00"/>
              </a:solidFill>
              <a:prstDash val="solid"/>
              <a:headEnd type="none" w="sm" len="lg"/>
              <a:tailEnd type="none" w="sm" len="lg"/>
            </a:ln>
          </p:spPr>
        </p:sp>
        <p:sp>
          <p:nvSpPr>
            <p:cNvPr id="90" name="直接连接符 89"/>
            <p:cNvSpPr/>
            <p:nvPr/>
          </p:nvSpPr>
          <p:spPr>
            <a:xfrm flipH="1" flipV="1">
              <a:off x="5220" y="8742"/>
              <a:ext cx="2" cy="530"/>
            </a:xfrm>
            <a:prstGeom prst="line">
              <a:avLst/>
            </a:prstGeom>
            <a:ln w="57150" cap="flat" cmpd="sng">
              <a:solidFill>
                <a:srgbClr val="FFCC00"/>
              </a:solidFill>
              <a:prstDash val="solid"/>
              <a:headEnd type="none" w="sm" len="lg"/>
              <a:tailEnd type="none" w="sm" len="lg"/>
            </a:ln>
          </p:spPr>
        </p:sp>
        <p:sp>
          <p:nvSpPr>
            <p:cNvPr id="91" name="任意多边形 90"/>
            <p:cNvSpPr/>
            <p:nvPr/>
          </p:nvSpPr>
          <p:spPr>
            <a:xfrm rot="5400000">
              <a:off x="5146" y="9266"/>
              <a:ext cx="159" cy="45"/>
            </a:xfrm>
            <a:custGeom>
              <a:avLst/>
              <a:gdLst/>
              <a:ahLst/>
              <a:cxnLst/>
              <a:pathLst>
                <a:path w="20000" h="20000">
                  <a:moveTo>
                    <a:pt x="0" y="0"/>
                  </a:moveTo>
                  <a:lnTo>
                    <a:pt x="0" y="19636"/>
                  </a:lnTo>
                  <a:lnTo>
                    <a:pt x="19910" y="10182"/>
                  </a:lnTo>
                  <a:lnTo>
                    <a:pt x="0" y="0"/>
                  </a:lnTo>
                  <a:close/>
                </a:path>
              </a:pathLst>
            </a:custGeom>
            <a:solidFill>
              <a:srgbClr val="000000">
                <a:alpha val="100000"/>
              </a:srgbClr>
            </a:solidFill>
            <a:ln w="57150" cap="flat" cmpd="sng">
              <a:solidFill>
                <a:srgbClr val="FFCC00"/>
              </a:solidFill>
              <a:prstDash val="solid"/>
              <a:headEnd type="none" w="sm" len="lg"/>
              <a:tailEnd type="none" w="sm" len="lg"/>
            </a:ln>
          </p:spPr>
          <p:txBody>
            <a:bodyPr/>
            <a:p>
              <a:endParaRPr lang="zh-CN" altLang="en-US"/>
            </a:p>
          </p:txBody>
        </p:sp>
        <p:sp>
          <p:nvSpPr>
            <p:cNvPr id="92" name="直接连接符 91"/>
            <p:cNvSpPr/>
            <p:nvPr/>
          </p:nvSpPr>
          <p:spPr>
            <a:xfrm flipV="1">
              <a:off x="3265" y="7785"/>
              <a:ext cx="1" cy="414"/>
            </a:xfrm>
            <a:prstGeom prst="line">
              <a:avLst/>
            </a:prstGeom>
            <a:ln w="57150" cap="flat" cmpd="sng">
              <a:solidFill>
                <a:srgbClr val="FFCC00"/>
              </a:solidFill>
              <a:prstDash val="solid"/>
              <a:headEnd type="none" w="sm" len="lg"/>
              <a:tailEnd type="none" w="sm" len="lg"/>
            </a:ln>
          </p:spPr>
        </p:sp>
        <p:sp>
          <p:nvSpPr>
            <p:cNvPr id="93" name="任意多边形 92"/>
            <p:cNvSpPr/>
            <p:nvPr/>
          </p:nvSpPr>
          <p:spPr>
            <a:xfrm>
              <a:off x="3727" y="8293"/>
              <a:ext cx="89" cy="11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FFCC00"/>
              </a:solidFill>
              <a:prstDash val="solid"/>
              <a:headEnd type="none" w="med" len="med"/>
              <a:tailEnd type="none" w="med" len="med"/>
            </a:ln>
          </p:spPr>
          <p:txBody>
            <a:bodyPr/>
            <a:p>
              <a:endParaRPr lang="zh-CN" altLang="en-US"/>
            </a:p>
          </p:txBody>
        </p:sp>
        <p:sp>
          <p:nvSpPr>
            <p:cNvPr id="94" name="直接连接符 93"/>
            <p:cNvSpPr/>
            <p:nvPr/>
          </p:nvSpPr>
          <p:spPr>
            <a:xfrm>
              <a:off x="3357" y="8294"/>
              <a:ext cx="382" cy="0"/>
            </a:xfrm>
            <a:prstGeom prst="line">
              <a:avLst/>
            </a:prstGeom>
            <a:ln w="57150" cap="flat" cmpd="sng">
              <a:solidFill>
                <a:srgbClr val="FFCC00"/>
              </a:solidFill>
              <a:prstDash val="solid"/>
              <a:headEnd type="none" w="med" len="med"/>
              <a:tailEnd type="none" w="med" len="med"/>
            </a:ln>
          </p:spPr>
        </p:sp>
        <p:sp>
          <p:nvSpPr>
            <p:cNvPr id="95" name="任意多边形 94"/>
            <p:cNvSpPr/>
            <p:nvPr/>
          </p:nvSpPr>
          <p:spPr>
            <a:xfrm flipH="1" flipV="1">
              <a:off x="3266" y="8177"/>
              <a:ext cx="89" cy="11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FFCC00"/>
              </a:solidFill>
              <a:prstDash val="solid"/>
              <a:headEnd type="none" w="med" len="med"/>
              <a:tailEnd type="none" w="med" len="med"/>
            </a:ln>
          </p:spPr>
          <p:txBody>
            <a:bodyPr/>
            <a:p>
              <a:endParaRPr lang="zh-CN" altLang="en-US"/>
            </a:p>
          </p:txBody>
        </p:sp>
        <p:grpSp>
          <p:nvGrpSpPr>
            <p:cNvPr id="96" name="组合 95"/>
            <p:cNvGrpSpPr/>
            <p:nvPr/>
          </p:nvGrpSpPr>
          <p:grpSpPr>
            <a:xfrm>
              <a:off x="5221" y="8710"/>
              <a:ext cx="214" cy="42"/>
              <a:chOff x="5724" y="7008"/>
              <a:chExt cx="285" cy="57"/>
            </a:xfrm>
          </p:grpSpPr>
          <p:sp>
            <p:nvSpPr>
              <p:cNvPr id="97" name="任意多边形 96"/>
              <p:cNvSpPr/>
              <p:nvPr/>
            </p:nvSpPr>
            <p:spPr>
              <a:xfrm>
                <a:off x="5952" y="7008"/>
                <a:ext cx="57" cy="5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FFCC00"/>
                </a:solidFill>
                <a:prstDash val="solid"/>
                <a:headEnd type="none" w="med" len="med"/>
                <a:tailEnd type="none" w="med" len="med"/>
              </a:ln>
            </p:spPr>
            <p:txBody>
              <a:bodyPr/>
              <a:p>
                <a:endParaRPr lang="zh-CN" altLang="en-US"/>
              </a:p>
            </p:txBody>
          </p:sp>
          <p:sp>
            <p:nvSpPr>
              <p:cNvPr id="98" name="直接连接符 97"/>
              <p:cNvSpPr/>
              <p:nvPr/>
            </p:nvSpPr>
            <p:spPr>
              <a:xfrm>
                <a:off x="5772" y="7008"/>
                <a:ext cx="187" cy="0"/>
              </a:xfrm>
              <a:prstGeom prst="line">
                <a:avLst/>
              </a:prstGeom>
              <a:ln w="57150" cap="flat" cmpd="sng">
                <a:solidFill>
                  <a:srgbClr val="FFCC00"/>
                </a:solidFill>
                <a:prstDash val="solid"/>
                <a:headEnd type="none" w="med" len="med"/>
                <a:tailEnd type="none" w="med" len="med"/>
              </a:ln>
            </p:spPr>
          </p:sp>
          <p:sp>
            <p:nvSpPr>
              <p:cNvPr id="99" name="任意多边形 98"/>
              <p:cNvSpPr/>
              <p:nvPr/>
            </p:nvSpPr>
            <p:spPr>
              <a:xfrm flipH="1">
                <a:off x="5724" y="7008"/>
                <a:ext cx="57" cy="5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FFCC00"/>
                </a:solidFill>
                <a:prstDash val="solid"/>
                <a:headEnd type="none" w="med" len="med"/>
                <a:tailEnd type="none" w="med" len="med"/>
              </a:ln>
            </p:spPr>
            <p:txBody>
              <a:bodyPr/>
              <a:p>
                <a:endParaRPr lang="zh-CN" altLang="en-US"/>
              </a:p>
            </p:txBody>
          </p:sp>
        </p:grpSp>
      </p:grpSp>
      <p:sp>
        <p:nvSpPr>
          <p:cNvPr id="100" name="椭圆 99"/>
          <p:cNvSpPr/>
          <p:nvPr/>
        </p:nvSpPr>
        <p:spPr>
          <a:xfrm>
            <a:off x="5873750" y="4900613"/>
            <a:ext cx="90488" cy="90487"/>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nchorCtr="0"/>
          <a:p>
            <a:pPr algn="ctr"/>
            <a:endParaRPr lang="en-GB" altLang="x-none">
              <a:latin typeface="Arial Narrow" panose="020B0606020202030204" pitchFamily="34" charset="0"/>
            </a:endParaRPr>
          </a:p>
        </p:txBody>
      </p:sp>
      <p:sp>
        <p:nvSpPr>
          <p:cNvPr id="101" name="矩形 100"/>
          <p:cNvSpPr/>
          <p:nvPr/>
        </p:nvSpPr>
        <p:spPr>
          <a:xfrm>
            <a:off x="2971800" y="4094163"/>
            <a:ext cx="1035050" cy="1974850"/>
          </a:xfrm>
          <a:prstGeom prst="rect">
            <a:avLst/>
          </a:prstGeom>
          <a:solidFill>
            <a:srgbClr val="FF0000">
              <a:alpha val="50000"/>
            </a:srgbClr>
          </a:solidFill>
          <a:ln w="9525">
            <a:noFill/>
          </a:ln>
        </p:spPr>
        <p:txBody>
          <a:bodyPr/>
          <a:p>
            <a:endParaRPr lang="zh-CN" altLang="en-US"/>
          </a:p>
        </p:txBody>
      </p:sp>
      <p:sp>
        <p:nvSpPr>
          <p:cNvPr id="102" name="矩形 101"/>
          <p:cNvSpPr/>
          <p:nvPr/>
        </p:nvSpPr>
        <p:spPr>
          <a:xfrm>
            <a:off x="758825" y="4148138"/>
            <a:ext cx="1035050" cy="1933575"/>
          </a:xfrm>
          <a:prstGeom prst="rect">
            <a:avLst/>
          </a:prstGeom>
          <a:solidFill>
            <a:srgbClr val="66FF66">
              <a:alpha val="50000"/>
            </a:srgbClr>
          </a:solidFill>
          <a:ln w="9525">
            <a:noFill/>
          </a:ln>
        </p:spPr>
        <p:txBody>
          <a:bodyPr/>
          <a:p>
            <a:endParaRPr lang="zh-CN" altLang="en-US"/>
          </a:p>
        </p:txBody>
      </p:sp>
      <p:grpSp>
        <p:nvGrpSpPr>
          <p:cNvPr id="103" name="组合 102"/>
          <p:cNvGrpSpPr/>
          <p:nvPr/>
        </p:nvGrpSpPr>
        <p:grpSpPr>
          <a:xfrm>
            <a:off x="0" y="4021138"/>
            <a:ext cx="4995863" cy="2652712"/>
            <a:chOff x="2483" y="657"/>
            <a:chExt cx="3147" cy="1671"/>
          </a:xfrm>
        </p:grpSpPr>
        <p:graphicFrame>
          <p:nvGraphicFramePr>
            <p:cNvPr id="104" name="内容占位符 103"/>
            <p:cNvGraphicFramePr/>
            <p:nvPr>
              <p:ph idx="1"/>
            </p:nvPr>
          </p:nvGraphicFramePr>
          <p:xfrm>
            <a:off x="2483" y="657"/>
            <a:ext cx="3147" cy="1671"/>
          </p:xfrm>
          <a:graphic>
            <a:graphicData uri="http://schemas.openxmlformats.org/presentationml/2006/ole">
              <mc:AlternateContent xmlns:mc="http://schemas.openxmlformats.org/markup-compatibility/2006">
                <mc:Choice xmlns:v="urn:schemas-microsoft-com:vml" Requires="v">
                  <p:oleObj spid="_x0000_s105" name="" r:id="rId3" imgW="2919730" imgH="1551940" progId="Word.Picture.8">
                    <p:embed/>
                  </p:oleObj>
                </mc:Choice>
                <mc:Fallback>
                  <p:oleObj name="" r:id="rId3" imgW="2919730" imgH="1551940" progId="Word.Picture.8">
                    <p:embed/>
                    <p:pic>
                      <p:nvPicPr>
                        <p:cNvPr id="0" name="图片 3075"/>
                        <p:cNvPicPr/>
                        <p:nvPr/>
                      </p:nvPicPr>
                      <p:blipFill>
                        <a:blip r:embed="rId4"/>
                        <a:stretch>
                          <a:fillRect/>
                        </a:stretch>
                      </p:blipFill>
                      <p:spPr>
                        <a:xfrm>
                          <a:off x="2483" y="657"/>
                          <a:ext cx="3147" cy="1671"/>
                        </a:xfrm>
                        <a:prstGeom prst="rect">
                          <a:avLst/>
                        </a:prstGeom>
                        <a:noFill/>
                        <a:ln w="38100">
                          <a:noFill/>
                          <a:miter/>
                        </a:ln>
                      </p:spPr>
                    </p:pic>
                  </p:oleObj>
                </mc:Fallback>
              </mc:AlternateContent>
            </a:graphicData>
          </a:graphic>
        </p:graphicFrame>
        <p:sp>
          <p:nvSpPr>
            <p:cNvPr id="106" name="文本框 105"/>
            <p:cNvSpPr txBox="1"/>
            <p:nvPr/>
          </p:nvSpPr>
          <p:spPr>
            <a:xfrm>
              <a:off x="3986" y="2032"/>
              <a:ext cx="227" cy="142"/>
            </a:xfrm>
            <a:prstGeom prst="rect">
              <a:avLst/>
            </a:prstGeom>
            <a:noFill/>
            <a:ln w="9525">
              <a:noFill/>
            </a:ln>
          </p:spPr>
          <p:txBody>
            <a:bodyPr lIns="0" tIns="0" rIns="0" bIns="0"/>
            <a:p>
              <a:pPr algn="ctr"/>
              <a:r>
                <a:rPr lang="en-US" altLang="zh-CN" sz="1200" i="1">
                  <a:latin typeface="Times New Roman" panose="02020603050405020304" charset="0"/>
                </a:rPr>
                <a:t>V</a:t>
              </a:r>
              <a:r>
                <a:rPr lang="en-US" altLang="zh-CN" sz="1200" baseline="-25000">
                  <a:latin typeface="Times New Roman" panose="02020603050405020304" charset="0"/>
                </a:rPr>
                <a:t>C</a:t>
              </a:r>
              <a:endParaRPr lang="en-US" altLang="zh-CN" sz="3200">
                <a:latin typeface="Arial" panose="020B0604020202020204" pitchFamily="34" charset="0"/>
              </a:endParaRPr>
            </a:p>
          </p:txBody>
        </p:sp>
      </p:grpSp>
      <p:sp>
        <p:nvSpPr>
          <p:cNvPr id="107" name="直接连接符 106"/>
          <p:cNvSpPr/>
          <p:nvPr/>
        </p:nvSpPr>
        <p:spPr>
          <a:xfrm>
            <a:off x="5413375" y="5965825"/>
            <a:ext cx="1588" cy="655638"/>
          </a:xfrm>
          <a:prstGeom prst="line">
            <a:avLst/>
          </a:prstGeom>
          <a:ln w="23813" cap="flat" cmpd="sng">
            <a:solidFill>
              <a:schemeClr val="accent2"/>
            </a:solidFill>
            <a:prstDash val="solid"/>
            <a:headEnd type="none" w="med" len="med"/>
            <a:tailEnd type="none" w="med" len="med"/>
          </a:ln>
        </p:spPr>
      </p:sp>
      <p:sp>
        <p:nvSpPr>
          <p:cNvPr id="108" name="直接连接符 107"/>
          <p:cNvSpPr/>
          <p:nvPr/>
        </p:nvSpPr>
        <p:spPr>
          <a:xfrm flipH="1">
            <a:off x="5416550" y="6607175"/>
            <a:ext cx="2608263" cy="14288"/>
          </a:xfrm>
          <a:prstGeom prst="line">
            <a:avLst/>
          </a:prstGeom>
          <a:ln w="23813" cap="flat" cmpd="sng">
            <a:solidFill>
              <a:schemeClr val="accent2"/>
            </a:solidFill>
            <a:prstDash val="solid"/>
            <a:headEnd type="none" w="med" len="med"/>
            <a:tailEnd type="none" w="med" len="med"/>
          </a:ln>
        </p:spPr>
      </p:sp>
      <p:sp>
        <p:nvSpPr>
          <p:cNvPr id="109" name="直接连接符 108"/>
          <p:cNvSpPr/>
          <p:nvPr/>
        </p:nvSpPr>
        <p:spPr>
          <a:xfrm>
            <a:off x="5413375" y="4287838"/>
            <a:ext cx="1588" cy="1019175"/>
          </a:xfrm>
          <a:prstGeom prst="line">
            <a:avLst/>
          </a:prstGeom>
          <a:ln w="23813" cap="flat" cmpd="sng">
            <a:solidFill>
              <a:schemeClr val="accent2"/>
            </a:solidFill>
            <a:prstDash val="solid"/>
            <a:headEnd type="none" w="med" len="med"/>
            <a:tailEnd type="none" w="med" len="med"/>
          </a:ln>
        </p:spPr>
      </p:sp>
      <p:sp>
        <p:nvSpPr>
          <p:cNvPr id="110" name="直接连接符 109"/>
          <p:cNvSpPr/>
          <p:nvPr/>
        </p:nvSpPr>
        <p:spPr>
          <a:xfrm flipH="1">
            <a:off x="5453063" y="5224463"/>
            <a:ext cx="2493962" cy="1587"/>
          </a:xfrm>
          <a:prstGeom prst="line">
            <a:avLst/>
          </a:prstGeom>
          <a:ln w="23813" cap="flat" cmpd="sng">
            <a:solidFill>
              <a:schemeClr val="accent2"/>
            </a:solidFill>
            <a:prstDash val="solid"/>
            <a:headEnd type="none" w="med" len="med"/>
            <a:tailEnd type="none" w="med" len="med"/>
          </a:ln>
        </p:spPr>
      </p:sp>
      <p:sp>
        <p:nvSpPr>
          <p:cNvPr id="111" name="任意多边形 110"/>
          <p:cNvSpPr>
            <a:spLocks noEditPoints="1"/>
          </p:cNvSpPr>
          <p:nvPr/>
        </p:nvSpPr>
        <p:spPr>
          <a:xfrm>
            <a:off x="5461000" y="4498975"/>
            <a:ext cx="2971800" cy="14288"/>
          </a:xfrm>
          <a:custGeom>
            <a:avLst/>
            <a:gdLst/>
            <a:ahLst/>
            <a:cxnLst/>
            <a:pathLst>
              <a:path w="1872" h="17">
                <a:moveTo>
                  <a:pt x="6" y="0"/>
                </a:moveTo>
                <a:lnTo>
                  <a:pt x="51" y="0"/>
                </a:lnTo>
                <a:lnTo>
                  <a:pt x="52" y="0"/>
                </a:lnTo>
                <a:lnTo>
                  <a:pt x="53" y="1"/>
                </a:lnTo>
                <a:lnTo>
                  <a:pt x="55" y="2"/>
                </a:lnTo>
                <a:lnTo>
                  <a:pt x="56" y="5"/>
                </a:lnTo>
                <a:lnTo>
                  <a:pt x="57" y="6"/>
                </a:lnTo>
                <a:lnTo>
                  <a:pt x="57" y="8"/>
                </a:lnTo>
                <a:lnTo>
                  <a:pt x="57" y="10"/>
                </a:lnTo>
                <a:lnTo>
                  <a:pt x="56" y="11"/>
                </a:lnTo>
                <a:lnTo>
                  <a:pt x="55" y="13"/>
                </a:lnTo>
                <a:lnTo>
                  <a:pt x="53" y="15"/>
                </a:lnTo>
                <a:lnTo>
                  <a:pt x="52" y="16"/>
                </a:lnTo>
                <a:lnTo>
                  <a:pt x="51" y="16"/>
                </a:lnTo>
                <a:lnTo>
                  <a:pt x="6" y="16"/>
                </a:lnTo>
                <a:lnTo>
                  <a:pt x="5" y="16"/>
                </a:lnTo>
                <a:lnTo>
                  <a:pt x="4" y="15"/>
                </a:lnTo>
                <a:lnTo>
                  <a:pt x="2" y="13"/>
                </a:lnTo>
                <a:lnTo>
                  <a:pt x="0" y="11"/>
                </a:lnTo>
                <a:lnTo>
                  <a:pt x="0" y="10"/>
                </a:lnTo>
                <a:lnTo>
                  <a:pt x="0" y="8"/>
                </a:lnTo>
                <a:lnTo>
                  <a:pt x="0" y="6"/>
                </a:lnTo>
                <a:lnTo>
                  <a:pt x="0" y="5"/>
                </a:lnTo>
                <a:lnTo>
                  <a:pt x="2" y="2"/>
                </a:lnTo>
                <a:lnTo>
                  <a:pt x="4" y="1"/>
                </a:lnTo>
                <a:lnTo>
                  <a:pt x="5" y="0"/>
                </a:lnTo>
                <a:lnTo>
                  <a:pt x="6" y="0"/>
                </a:lnTo>
                <a:lnTo>
                  <a:pt x="6" y="0"/>
                </a:lnTo>
                <a:close/>
                <a:moveTo>
                  <a:pt x="109" y="0"/>
                </a:moveTo>
                <a:lnTo>
                  <a:pt x="151" y="0"/>
                </a:lnTo>
                <a:lnTo>
                  <a:pt x="153" y="1"/>
                </a:lnTo>
                <a:lnTo>
                  <a:pt x="155" y="1"/>
                </a:lnTo>
                <a:lnTo>
                  <a:pt x="156" y="2"/>
                </a:lnTo>
                <a:lnTo>
                  <a:pt x="158" y="5"/>
                </a:lnTo>
                <a:lnTo>
                  <a:pt x="158" y="6"/>
                </a:lnTo>
                <a:lnTo>
                  <a:pt x="158" y="8"/>
                </a:lnTo>
                <a:lnTo>
                  <a:pt x="158" y="10"/>
                </a:lnTo>
                <a:lnTo>
                  <a:pt x="158" y="11"/>
                </a:lnTo>
                <a:lnTo>
                  <a:pt x="156" y="13"/>
                </a:lnTo>
                <a:lnTo>
                  <a:pt x="154" y="15"/>
                </a:lnTo>
                <a:lnTo>
                  <a:pt x="153" y="16"/>
                </a:lnTo>
                <a:lnTo>
                  <a:pt x="151" y="16"/>
                </a:lnTo>
                <a:lnTo>
                  <a:pt x="109" y="16"/>
                </a:lnTo>
                <a:lnTo>
                  <a:pt x="106" y="16"/>
                </a:lnTo>
                <a:lnTo>
                  <a:pt x="105" y="15"/>
                </a:lnTo>
                <a:lnTo>
                  <a:pt x="103" y="13"/>
                </a:lnTo>
                <a:lnTo>
                  <a:pt x="102" y="11"/>
                </a:lnTo>
                <a:lnTo>
                  <a:pt x="100" y="10"/>
                </a:lnTo>
                <a:lnTo>
                  <a:pt x="100" y="8"/>
                </a:lnTo>
                <a:lnTo>
                  <a:pt x="100" y="6"/>
                </a:lnTo>
                <a:lnTo>
                  <a:pt x="102" y="5"/>
                </a:lnTo>
                <a:lnTo>
                  <a:pt x="103" y="2"/>
                </a:lnTo>
                <a:lnTo>
                  <a:pt x="105" y="1"/>
                </a:lnTo>
                <a:lnTo>
                  <a:pt x="106" y="0"/>
                </a:lnTo>
                <a:lnTo>
                  <a:pt x="109" y="0"/>
                </a:lnTo>
                <a:lnTo>
                  <a:pt x="109" y="0"/>
                </a:lnTo>
                <a:close/>
                <a:moveTo>
                  <a:pt x="209" y="0"/>
                </a:moveTo>
                <a:lnTo>
                  <a:pt x="253" y="0"/>
                </a:lnTo>
                <a:lnTo>
                  <a:pt x="255" y="1"/>
                </a:lnTo>
                <a:lnTo>
                  <a:pt x="256" y="1"/>
                </a:lnTo>
                <a:lnTo>
                  <a:pt x="258" y="2"/>
                </a:lnTo>
                <a:lnTo>
                  <a:pt x="259" y="5"/>
                </a:lnTo>
                <a:lnTo>
                  <a:pt x="260" y="6"/>
                </a:lnTo>
                <a:lnTo>
                  <a:pt x="260" y="8"/>
                </a:lnTo>
                <a:lnTo>
                  <a:pt x="260" y="10"/>
                </a:lnTo>
                <a:lnTo>
                  <a:pt x="259" y="11"/>
                </a:lnTo>
                <a:lnTo>
                  <a:pt x="258" y="13"/>
                </a:lnTo>
                <a:lnTo>
                  <a:pt x="256" y="15"/>
                </a:lnTo>
                <a:lnTo>
                  <a:pt x="255" y="16"/>
                </a:lnTo>
                <a:lnTo>
                  <a:pt x="253" y="16"/>
                </a:lnTo>
                <a:lnTo>
                  <a:pt x="209" y="16"/>
                </a:lnTo>
                <a:lnTo>
                  <a:pt x="208" y="16"/>
                </a:lnTo>
                <a:lnTo>
                  <a:pt x="207" y="15"/>
                </a:lnTo>
                <a:lnTo>
                  <a:pt x="205" y="13"/>
                </a:lnTo>
                <a:lnTo>
                  <a:pt x="202" y="11"/>
                </a:lnTo>
                <a:lnTo>
                  <a:pt x="202" y="10"/>
                </a:lnTo>
                <a:lnTo>
                  <a:pt x="202" y="8"/>
                </a:lnTo>
                <a:lnTo>
                  <a:pt x="202" y="6"/>
                </a:lnTo>
                <a:lnTo>
                  <a:pt x="202" y="5"/>
                </a:lnTo>
                <a:lnTo>
                  <a:pt x="205" y="2"/>
                </a:lnTo>
                <a:lnTo>
                  <a:pt x="207" y="1"/>
                </a:lnTo>
                <a:lnTo>
                  <a:pt x="208" y="1"/>
                </a:lnTo>
                <a:lnTo>
                  <a:pt x="209" y="0"/>
                </a:lnTo>
                <a:lnTo>
                  <a:pt x="209" y="0"/>
                </a:lnTo>
                <a:close/>
                <a:moveTo>
                  <a:pt x="311" y="0"/>
                </a:moveTo>
                <a:lnTo>
                  <a:pt x="354" y="0"/>
                </a:lnTo>
                <a:lnTo>
                  <a:pt x="355" y="1"/>
                </a:lnTo>
                <a:lnTo>
                  <a:pt x="358" y="1"/>
                </a:lnTo>
                <a:lnTo>
                  <a:pt x="359" y="2"/>
                </a:lnTo>
                <a:lnTo>
                  <a:pt x="361" y="5"/>
                </a:lnTo>
                <a:lnTo>
                  <a:pt x="361" y="6"/>
                </a:lnTo>
                <a:lnTo>
                  <a:pt x="361" y="8"/>
                </a:lnTo>
                <a:lnTo>
                  <a:pt x="361" y="10"/>
                </a:lnTo>
                <a:lnTo>
                  <a:pt x="361" y="11"/>
                </a:lnTo>
                <a:lnTo>
                  <a:pt x="359" y="13"/>
                </a:lnTo>
                <a:lnTo>
                  <a:pt x="357" y="15"/>
                </a:lnTo>
                <a:lnTo>
                  <a:pt x="355" y="16"/>
                </a:lnTo>
                <a:lnTo>
                  <a:pt x="354" y="16"/>
                </a:lnTo>
                <a:lnTo>
                  <a:pt x="311" y="16"/>
                </a:lnTo>
                <a:lnTo>
                  <a:pt x="309" y="16"/>
                </a:lnTo>
                <a:lnTo>
                  <a:pt x="308" y="15"/>
                </a:lnTo>
                <a:lnTo>
                  <a:pt x="306" y="13"/>
                </a:lnTo>
                <a:lnTo>
                  <a:pt x="304" y="11"/>
                </a:lnTo>
                <a:lnTo>
                  <a:pt x="303" y="10"/>
                </a:lnTo>
                <a:lnTo>
                  <a:pt x="303" y="8"/>
                </a:lnTo>
                <a:lnTo>
                  <a:pt x="303" y="6"/>
                </a:lnTo>
                <a:lnTo>
                  <a:pt x="304" y="5"/>
                </a:lnTo>
                <a:lnTo>
                  <a:pt x="306" y="2"/>
                </a:lnTo>
                <a:lnTo>
                  <a:pt x="308" y="1"/>
                </a:lnTo>
                <a:lnTo>
                  <a:pt x="309" y="1"/>
                </a:lnTo>
                <a:lnTo>
                  <a:pt x="311" y="0"/>
                </a:lnTo>
                <a:lnTo>
                  <a:pt x="311" y="0"/>
                </a:lnTo>
                <a:close/>
                <a:moveTo>
                  <a:pt x="412" y="0"/>
                </a:moveTo>
                <a:lnTo>
                  <a:pt x="456" y="1"/>
                </a:lnTo>
                <a:lnTo>
                  <a:pt x="457" y="1"/>
                </a:lnTo>
                <a:lnTo>
                  <a:pt x="459" y="1"/>
                </a:lnTo>
                <a:lnTo>
                  <a:pt x="461" y="2"/>
                </a:lnTo>
                <a:lnTo>
                  <a:pt x="462" y="5"/>
                </a:lnTo>
                <a:lnTo>
                  <a:pt x="463" y="7"/>
                </a:lnTo>
                <a:lnTo>
                  <a:pt x="463" y="8"/>
                </a:lnTo>
                <a:lnTo>
                  <a:pt x="463" y="10"/>
                </a:lnTo>
                <a:lnTo>
                  <a:pt x="462" y="11"/>
                </a:lnTo>
                <a:lnTo>
                  <a:pt x="461" y="13"/>
                </a:lnTo>
                <a:lnTo>
                  <a:pt x="459" y="16"/>
                </a:lnTo>
                <a:lnTo>
                  <a:pt x="457" y="16"/>
                </a:lnTo>
                <a:lnTo>
                  <a:pt x="456" y="16"/>
                </a:lnTo>
                <a:lnTo>
                  <a:pt x="412" y="16"/>
                </a:lnTo>
                <a:lnTo>
                  <a:pt x="411" y="16"/>
                </a:lnTo>
                <a:lnTo>
                  <a:pt x="410" y="15"/>
                </a:lnTo>
                <a:lnTo>
                  <a:pt x="408" y="13"/>
                </a:lnTo>
                <a:lnTo>
                  <a:pt x="405" y="11"/>
                </a:lnTo>
                <a:lnTo>
                  <a:pt x="405" y="10"/>
                </a:lnTo>
                <a:lnTo>
                  <a:pt x="405" y="8"/>
                </a:lnTo>
                <a:lnTo>
                  <a:pt x="405" y="6"/>
                </a:lnTo>
                <a:lnTo>
                  <a:pt x="405" y="5"/>
                </a:lnTo>
                <a:lnTo>
                  <a:pt x="408" y="2"/>
                </a:lnTo>
                <a:lnTo>
                  <a:pt x="410" y="1"/>
                </a:lnTo>
                <a:lnTo>
                  <a:pt x="411" y="1"/>
                </a:lnTo>
                <a:lnTo>
                  <a:pt x="412" y="0"/>
                </a:lnTo>
                <a:lnTo>
                  <a:pt x="412" y="0"/>
                </a:lnTo>
                <a:close/>
                <a:moveTo>
                  <a:pt x="514" y="1"/>
                </a:moveTo>
                <a:lnTo>
                  <a:pt x="557" y="1"/>
                </a:lnTo>
                <a:lnTo>
                  <a:pt x="558" y="1"/>
                </a:lnTo>
                <a:lnTo>
                  <a:pt x="561" y="1"/>
                </a:lnTo>
                <a:lnTo>
                  <a:pt x="562" y="2"/>
                </a:lnTo>
                <a:lnTo>
                  <a:pt x="564" y="5"/>
                </a:lnTo>
                <a:lnTo>
                  <a:pt x="564" y="7"/>
                </a:lnTo>
                <a:lnTo>
                  <a:pt x="564" y="8"/>
                </a:lnTo>
                <a:lnTo>
                  <a:pt x="564" y="10"/>
                </a:lnTo>
                <a:lnTo>
                  <a:pt x="564" y="11"/>
                </a:lnTo>
                <a:lnTo>
                  <a:pt x="562" y="13"/>
                </a:lnTo>
                <a:lnTo>
                  <a:pt x="559" y="16"/>
                </a:lnTo>
                <a:lnTo>
                  <a:pt x="558" y="16"/>
                </a:lnTo>
                <a:lnTo>
                  <a:pt x="557" y="16"/>
                </a:lnTo>
                <a:lnTo>
                  <a:pt x="514" y="16"/>
                </a:lnTo>
                <a:lnTo>
                  <a:pt x="512" y="16"/>
                </a:lnTo>
                <a:lnTo>
                  <a:pt x="511" y="16"/>
                </a:lnTo>
                <a:lnTo>
                  <a:pt x="508" y="13"/>
                </a:lnTo>
                <a:lnTo>
                  <a:pt x="507" y="11"/>
                </a:lnTo>
                <a:lnTo>
                  <a:pt x="506" y="10"/>
                </a:lnTo>
                <a:lnTo>
                  <a:pt x="506" y="8"/>
                </a:lnTo>
                <a:lnTo>
                  <a:pt x="506" y="7"/>
                </a:lnTo>
                <a:lnTo>
                  <a:pt x="507" y="5"/>
                </a:lnTo>
                <a:lnTo>
                  <a:pt x="508" y="2"/>
                </a:lnTo>
                <a:lnTo>
                  <a:pt x="511" y="1"/>
                </a:lnTo>
                <a:lnTo>
                  <a:pt x="512" y="1"/>
                </a:lnTo>
                <a:lnTo>
                  <a:pt x="514" y="1"/>
                </a:lnTo>
                <a:lnTo>
                  <a:pt x="514" y="1"/>
                </a:lnTo>
                <a:close/>
                <a:moveTo>
                  <a:pt x="615" y="1"/>
                </a:moveTo>
                <a:lnTo>
                  <a:pt x="659" y="1"/>
                </a:lnTo>
                <a:lnTo>
                  <a:pt x="660" y="1"/>
                </a:lnTo>
                <a:lnTo>
                  <a:pt x="661" y="1"/>
                </a:lnTo>
                <a:lnTo>
                  <a:pt x="664" y="2"/>
                </a:lnTo>
                <a:lnTo>
                  <a:pt x="665" y="5"/>
                </a:lnTo>
                <a:lnTo>
                  <a:pt x="666" y="7"/>
                </a:lnTo>
                <a:lnTo>
                  <a:pt x="666" y="8"/>
                </a:lnTo>
                <a:lnTo>
                  <a:pt x="666" y="10"/>
                </a:lnTo>
                <a:lnTo>
                  <a:pt x="665" y="11"/>
                </a:lnTo>
                <a:lnTo>
                  <a:pt x="664" y="13"/>
                </a:lnTo>
                <a:lnTo>
                  <a:pt x="661" y="16"/>
                </a:lnTo>
                <a:lnTo>
                  <a:pt x="660" y="16"/>
                </a:lnTo>
                <a:lnTo>
                  <a:pt x="659" y="16"/>
                </a:lnTo>
                <a:lnTo>
                  <a:pt x="615" y="16"/>
                </a:lnTo>
                <a:lnTo>
                  <a:pt x="614" y="16"/>
                </a:lnTo>
                <a:lnTo>
                  <a:pt x="613" y="16"/>
                </a:lnTo>
                <a:lnTo>
                  <a:pt x="610" y="13"/>
                </a:lnTo>
                <a:lnTo>
                  <a:pt x="608" y="11"/>
                </a:lnTo>
                <a:lnTo>
                  <a:pt x="608" y="10"/>
                </a:lnTo>
                <a:lnTo>
                  <a:pt x="608" y="8"/>
                </a:lnTo>
                <a:lnTo>
                  <a:pt x="608" y="7"/>
                </a:lnTo>
                <a:lnTo>
                  <a:pt x="608" y="5"/>
                </a:lnTo>
                <a:lnTo>
                  <a:pt x="610" y="2"/>
                </a:lnTo>
                <a:lnTo>
                  <a:pt x="613" y="1"/>
                </a:lnTo>
                <a:lnTo>
                  <a:pt x="614" y="1"/>
                </a:lnTo>
                <a:lnTo>
                  <a:pt x="615" y="1"/>
                </a:lnTo>
                <a:lnTo>
                  <a:pt x="615" y="1"/>
                </a:lnTo>
                <a:close/>
                <a:moveTo>
                  <a:pt x="717" y="1"/>
                </a:moveTo>
                <a:lnTo>
                  <a:pt x="760" y="1"/>
                </a:lnTo>
                <a:lnTo>
                  <a:pt x="761" y="1"/>
                </a:lnTo>
                <a:lnTo>
                  <a:pt x="764" y="1"/>
                </a:lnTo>
                <a:lnTo>
                  <a:pt x="765" y="2"/>
                </a:lnTo>
                <a:lnTo>
                  <a:pt x="767" y="5"/>
                </a:lnTo>
                <a:lnTo>
                  <a:pt x="767" y="7"/>
                </a:lnTo>
                <a:lnTo>
                  <a:pt x="767" y="8"/>
                </a:lnTo>
                <a:lnTo>
                  <a:pt x="767" y="10"/>
                </a:lnTo>
                <a:lnTo>
                  <a:pt x="767" y="11"/>
                </a:lnTo>
                <a:lnTo>
                  <a:pt x="765" y="13"/>
                </a:lnTo>
                <a:lnTo>
                  <a:pt x="762" y="16"/>
                </a:lnTo>
                <a:lnTo>
                  <a:pt x="761" y="16"/>
                </a:lnTo>
                <a:lnTo>
                  <a:pt x="760" y="16"/>
                </a:lnTo>
                <a:lnTo>
                  <a:pt x="717" y="16"/>
                </a:lnTo>
                <a:lnTo>
                  <a:pt x="715" y="16"/>
                </a:lnTo>
                <a:lnTo>
                  <a:pt x="714" y="16"/>
                </a:lnTo>
                <a:lnTo>
                  <a:pt x="711" y="13"/>
                </a:lnTo>
                <a:lnTo>
                  <a:pt x="710" y="11"/>
                </a:lnTo>
                <a:lnTo>
                  <a:pt x="709" y="10"/>
                </a:lnTo>
                <a:lnTo>
                  <a:pt x="709" y="8"/>
                </a:lnTo>
                <a:lnTo>
                  <a:pt x="709" y="7"/>
                </a:lnTo>
                <a:lnTo>
                  <a:pt x="710" y="5"/>
                </a:lnTo>
                <a:lnTo>
                  <a:pt x="711" y="2"/>
                </a:lnTo>
                <a:lnTo>
                  <a:pt x="714" y="1"/>
                </a:lnTo>
                <a:lnTo>
                  <a:pt x="715" y="1"/>
                </a:lnTo>
                <a:lnTo>
                  <a:pt x="717" y="1"/>
                </a:lnTo>
                <a:lnTo>
                  <a:pt x="717" y="1"/>
                </a:lnTo>
                <a:close/>
                <a:moveTo>
                  <a:pt x="818" y="1"/>
                </a:moveTo>
                <a:lnTo>
                  <a:pt x="862" y="1"/>
                </a:lnTo>
                <a:lnTo>
                  <a:pt x="863" y="1"/>
                </a:lnTo>
                <a:lnTo>
                  <a:pt x="864" y="1"/>
                </a:lnTo>
                <a:lnTo>
                  <a:pt x="867" y="4"/>
                </a:lnTo>
                <a:lnTo>
                  <a:pt x="868" y="6"/>
                </a:lnTo>
                <a:lnTo>
                  <a:pt x="869" y="7"/>
                </a:lnTo>
                <a:lnTo>
                  <a:pt x="869" y="8"/>
                </a:lnTo>
                <a:lnTo>
                  <a:pt x="869" y="10"/>
                </a:lnTo>
                <a:lnTo>
                  <a:pt x="868" y="11"/>
                </a:lnTo>
                <a:lnTo>
                  <a:pt x="867" y="13"/>
                </a:lnTo>
                <a:lnTo>
                  <a:pt x="864" y="16"/>
                </a:lnTo>
                <a:lnTo>
                  <a:pt x="863" y="16"/>
                </a:lnTo>
                <a:lnTo>
                  <a:pt x="862" y="16"/>
                </a:lnTo>
                <a:lnTo>
                  <a:pt x="818" y="16"/>
                </a:lnTo>
                <a:lnTo>
                  <a:pt x="817" y="16"/>
                </a:lnTo>
                <a:lnTo>
                  <a:pt x="816" y="16"/>
                </a:lnTo>
                <a:lnTo>
                  <a:pt x="813" y="13"/>
                </a:lnTo>
                <a:lnTo>
                  <a:pt x="811" y="11"/>
                </a:lnTo>
                <a:lnTo>
                  <a:pt x="811" y="10"/>
                </a:lnTo>
                <a:lnTo>
                  <a:pt x="811" y="8"/>
                </a:lnTo>
                <a:lnTo>
                  <a:pt x="811" y="7"/>
                </a:lnTo>
                <a:lnTo>
                  <a:pt x="811" y="5"/>
                </a:lnTo>
                <a:lnTo>
                  <a:pt x="813" y="2"/>
                </a:lnTo>
                <a:lnTo>
                  <a:pt x="816" y="1"/>
                </a:lnTo>
                <a:lnTo>
                  <a:pt x="817" y="1"/>
                </a:lnTo>
                <a:lnTo>
                  <a:pt x="818" y="1"/>
                </a:lnTo>
                <a:lnTo>
                  <a:pt x="818" y="1"/>
                </a:lnTo>
                <a:close/>
                <a:moveTo>
                  <a:pt x="920" y="1"/>
                </a:moveTo>
                <a:lnTo>
                  <a:pt x="963" y="1"/>
                </a:lnTo>
                <a:lnTo>
                  <a:pt x="964" y="1"/>
                </a:lnTo>
                <a:lnTo>
                  <a:pt x="966" y="1"/>
                </a:lnTo>
                <a:lnTo>
                  <a:pt x="968" y="4"/>
                </a:lnTo>
                <a:lnTo>
                  <a:pt x="970" y="6"/>
                </a:lnTo>
                <a:lnTo>
                  <a:pt x="970" y="7"/>
                </a:lnTo>
                <a:lnTo>
                  <a:pt x="970" y="8"/>
                </a:lnTo>
                <a:lnTo>
                  <a:pt x="970" y="10"/>
                </a:lnTo>
                <a:lnTo>
                  <a:pt x="970" y="11"/>
                </a:lnTo>
                <a:lnTo>
                  <a:pt x="968" y="13"/>
                </a:lnTo>
                <a:lnTo>
                  <a:pt x="965" y="16"/>
                </a:lnTo>
                <a:lnTo>
                  <a:pt x="964" y="16"/>
                </a:lnTo>
                <a:lnTo>
                  <a:pt x="963" y="16"/>
                </a:lnTo>
                <a:lnTo>
                  <a:pt x="920" y="16"/>
                </a:lnTo>
                <a:lnTo>
                  <a:pt x="918" y="16"/>
                </a:lnTo>
                <a:lnTo>
                  <a:pt x="917" y="16"/>
                </a:lnTo>
                <a:lnTo>
                  <a:pt x="914" y="13"/>
                </a:lnTo>
                <a:lnTo>
                  <a:pt x="913" y="11"/>
                </a:lnTo>
                <a:lnTo>
                  <a:pt x="912" y="10"/>
                </a:lnTo>
                <a:lnTo>
                  <a:pt x="912" y="8"/>
                </a:lnTo>
                <a:lnTo>
                  <a:pt x="912" y="7"/>
                </a:lnTo>
                <a:lnTo>
                  <a:pt x="913" y="6"/>
                </a:lnTo>
                <a:lnTo>
                  <a:pt x="914" y="4"/>
                </a:lnTo>
                <a:lnTo>
                  <a:pt x="917" y="1"/>
                </a:lnTo>
                <a:lnTo>
                  <a:pt x="918" y="1"/>
                </a:lnTo>
                <a:lnTo>
                  <a:pt x="920" y="1"/>
                </a:lnTo>
                <a:lnTo>
                  <a:pt x="920" y="1"/>
                </a:lnTo>
                <a:close/>
                <a:moveTo>
                  <a:pt x="1021" y="1"/>
                </a:moveTo>
                <a:lnTo>
                  <a:pt x="1065" y="1"/>
                </a:lnTo>
                <a:lnTo>
                  <a:pt x="1066" y="1"/>
                </a:lnTo>
                <a:lnTo>
                  <a:pt x="1067" y="1"/>
                </a:lnTo>
                <a:lnTo>
                  <a:pt x="1070" y="4"/>
                </a:lnTo>
                <a:lnTo>
                  <a:pt x="1071" y="6"/>
                </a:lnTo>
                <a:lnTo>
                  <a:pt x="1072" y="7"/>
                </a:lnTo>
                <a:lnTo>
                  <a:pt x="1072" y="8"/>
                </a:lnTo>
                <a:lnTo>
                  <a:pt x="1072" y="10"/>
                </a:lnTo>
                <a:lnTo>
                  <a:pt x="1071" y="11"/>
                </a:lnTo>
                <a:lnTo>
                  <a:pt x="1070" y="13"/>
                </a:lnTo>
                <a:lnTo>
                  <a:pt x="1067" y="16"/>
                </a:lnTo>
                <a:lnTo>
                  <a:pt x="1066" y="16"/>
                </a:lnTo>
                <a:lnTo>
                  <a:pt x="1065" y="16"/>
                </a:lnTo>
                <a:lnTo>
                  <a:pt x="1021" y="16"/>
                </a:lnTo>
                <a:lnTo>
                  <a:pt x="1020" y="16"/>
                </a:lnTo>
                <a:lnTo>
                  <a:pt x="1019" y="16"/>
                </a:lnTo>
                <a:lnTo>
                  <a:pt x="1016" y="13"/>
                </a:lnTo>
                <a:lnTo>
                  <a:pt x="1014" y="11"/>
                </a:lnTo>
                <a:lnTo>
                  <a:pt x="1014" y="10"/>
                </a:lnTo>
                <a:lnTo>
                  <a:pt x="1014" y="8"/>
                </a:lnTo>
                <a:lnTo>
                  <a:pt x="1014" y="7"/>
                </a:lnTo>
                <a:lnTo>
                  <a:pt x="1014" y="6"/>
                </a:lnTo>
                <a:lnTo>
                  <a:pt x="1016" y="4"/>
                </a:lnTo>
                <a:lnTo>
                  <a:pt x="1019" y="1"/>
                </a:lnTo>
                <a:lnTo>
                  <a:pt x="1020" y="1"/>
                </a:lnTo>
                <a:lnTo>
                  <a:pt x="1021" y="1"/>
                </a:lnTo>
                <a:lnTo>
                  <a:pt x="1021" y="1"/>
                </a:lnTo>
                <a:close/>
                <a:moveTo>
                  <a:pt x="1123" y="1"/>
                </a:moveTo>
                <a:lnTo>
                  <a:pt x="1166" y="1"/>
                </a:lnTo>
                <a:lnTo>
                  <a:pt x="1167" y="1"/>
                </a:lnTo>
                <a:lnTo>
                  <a:pt x="1169" y="1"/>
                </a:lnTo>
                <a:lnTo>
                  <a:pt x="1170" y="4"/>
                </a:lnTo>
                <a:lnTo>
                  <a:pt x="1173" y="6"/>
                </a:lnTo>
                <a:lnTo>
                  <a:pt x="1173" y="7"/>
                </a:lnTo>
                <a:lnTo>
                  <a:pt x="1173" y="8"/>
                </a:lnTo>
                <a:lnTo>
                  <a:pt x="1173" y="10"/>
                </a:lnTo>
                <a:lnTo>
                  <a:pt x="1173" y="12"/>
                </a:lnTo>
                <a:lnTo>
                  <a:pt x="1170" y="15"/>
                </a:lnTo>
                <a:lnTo>
                  <a:pt x="1168" y="16"/>
                </a:lnTo>
                <a:lnTo>
                  <a:pt x="1167" y="16"/>
                </a:lnTo>
                <a:lnTo>
                  <a:pt x="1166" y="16"/>
                </a:lnTo>
                <a:lnTo>
                  <a:pt x="1123" y="16"/>
                </a:lnTo>
                <a:lnTo>
                  <a:pt x="1121" y="16"/>
                </a:lnTo>
                <a:lnTo>
                  <a:pt x="1119" y="16"/>
                </a:lnTo>
                <a:lnTo>
                  <a:pt x="1117" y="13"/>
                </a:lnTo>
                <a:lnTo>
                  <a:pt x="1116" y="11"/>
                </a:lnTo>
                <a:lnTo>
                  <a:pt x="1115" y="10"/>
                </a:lnTo>
                <a:lnTo>
                  <a:pt x="1115" y="8"/>
                </a:lnTo>
                <a:lnTo>
                  <a:pt x="1115" y="7"/>
                </a:lnTo>
                <a:lnTo>
                  <a:pt x="1116" y="6"/>
                </a:lnTo>
                <a:lnTo>
                  <a:pt x="1117" y="4"/>
                </a:lnTo>
                <a:lnTo>
                  <a:pt x="1119" y="1"/>
                </a:lnTo>
                <a:lnTo>
                  <a:pt x="1121" y="1"/>
                </a:lnTo>
                <a:lnTo>
                  <a:pt x="1123" y="1"/>
                </a:lnTo>
                <a:lnTo>
                  <a:pt x="1123" y="1"/>
                </a:lnTo>
                <a:close/>
                <a:moveTo>
                  <a:pt x="1224" y="1"/>
                </a:moveTo>
                <a:lnTo>
                  <a:pt x="1268" y="1"/>
                </a:lnTo>
                <a:lnTo>
                  <a:pt x="1269" y="1"/>
                </a:lnTo>
                <a:lnTo>
                  <a:pt x="1270" y="1"/>
                </a:lnTo>
                <a:lnTo>
                  <a:pt x="1272" y="4"/>
                </a:lnTo>
                <a:lnTo>
                  <a:pt x="1274" y="6"/>
                </a:lnTo>
                <a:lnTo>
                  <a:pt x="1275" y="7"/>
                </a:lnTo>
                <a:lnTo>
                  <a:pt x="1275" y="8"/>
                </a:lnTo>
                <a:lnTo>
                  <a:pt x="1275" y="10"/>
                </a:lnTo>
                <a:lnTo>
                  <a:pt x="1274" y="12"/>
                </a:lnTo>
                <a:lnTo>
                  <a:pt x="1272" y="15"/>
                </a:lnTo>
                <a:lnTo>
                  <a:pt x="1270" y="16"/>
                </a:lnTo>
                <a:lnTo>
                  <a:pt x="1269" y="16"/>
                </a:lnTo>
                <a:lnTo>
                  <a:pt x="1268" y="16"/>
                </a:lnTo>
                <a:lnTo>
                  <a:pt x="1224" y="16"/>
                </a:lnTo>
                <a:lnTo>
                  <a:pt x="1223" y="16"/>
                </a:lnTo>
                <a:lnTo>
                  <a:pt x="1221" y="16"/>
                </a:lnTo>
                <a:lnTo>
                  <a:pt x="1219" y="15"/>
                </a:lnTo>
                <a:lnTo>
                  <a:pt x="1217" y="12"/>
                </a:lnTo>
                <a:lnTo>
                  <a:pt x="1217" y="10"/>
                </a:lnTo>
                <a:lnTo>
                  <a:pt x="1217" y="8"/>
                </a:lnTo>
                <a:lnTo>
                  <a:pt x="1217" y="7"/>
                </a:lnTo>
                <a:lnTo>
                  <a:pt x="1217" y="6"/>
                </a:lnTo>
                <a:lnTo>
                  <a:pt x="1219" y="4"/>
                </a:lnTo>
                <a:lnTo>
                  <a:pt x="1221" y="1"/>
                </a:lnTo>
                <a:lnTo>
                  <a:pt x="1223" y="1"/>
                </a:lnTo>
                <a:lnTo>
                  <a:pt x="1224" y="1"/>
                </a:lnTo>
                <a:lnTo>
                  <a:pt x="1224" y="1"/>
                </a:lnTo>
                <a:close/>
                <a:moveTo>
                  <a:pt x="1326" y="1"/>
                </a:moveTo>
                <a:lnTo>
                  <a:pt x="1369" y="1"/>
                </a:lnTo>
                <a:lnTo>
                  <a:pt x="1370" y="1"/>
                </a:lnTo>
                <a:lnTo>
                  <a:pt x="1372" y="1"/>
                </a:lnTo>
                <a:lnTo>
                  <a:pt x="1373" y="4"/>
                </a:lnTo>
                <a:lnTo>
                  <a:pt x="1376" y="6"/>
                </a:lnTo>
                <a:lnTo>
                  <a:pt x="1376" y="7"/>
                </a:lnTo>
                <a:lnTo>
                  <a:pt x="1376" y="8"/>
                </a:lnTo>
                <a:lnTo>
                  <a:pt x="1376" y="10"/>
                </a:lnTo>
                <a:lnTo>
                  <a:pt x="1376" y="12"/>
                </a:lnTo>
                <a:lnTo>
                  <a:pt x="1373" y="15"/>
                </a:lnTo>
                <a:lnTo>
                  <a:pt x="1371" y="16"/>
                </a:lnTo>
                <a:lnTo>
                  <a:pt x="1370" y="16"/>
                </a:lnTo>
                <a:lnTo>
                  <a:pt x="1369" y="16"/>
                </a:lnTo>
                <a:lnTo>
                  <a:pt x="1326" y="16"/>
                </a:lnTo>
                <a:lnTo>
                  <a:pt x="1323" y="16"/>
                </a:lnTo>
                <a:lnTo>
                  <a:pt x="1322" y="16"/>
                </a:lnTo>
                <a:lnTo>
                  <a:pt x="1320" y="15"/>
                </a:lnTo>
                <a:lnTo>
                  <a:pt x="1319" y="12"/>
                </a:lnTo>
                <a:lnTo>
                  <a:pt x="1318" y="10"/>
                </a:lnTo>
                <a:lnTo>
                  <a:pt x="1318" y="8"/>
                </a:lnTo>
                <a:lnTo>
                  <a:pt x="1318" y="7"/>
                </a:lnTo>
                <a:lnTo>
                  <a:pt x="1319" y="6"/>
                </a:lnTo>
                <a:lnTo>
                  <a:pt x="1320" y="4"/>
                </a:lnTo>
                <a:lnTo>
                  <a:pt x="1322" y="1"/>
                </a:lnTo>
                <a:lnTo>
                  <a:pt x="1323" y="1"/>
                </a:lnTo>
                <a:lnTo>
                  <a:pt x="1326" y="1"/>
                </a:lnTo>
                <a:lnTo>
                  <a:pt x="1326" y="1"/>
                </a:lnTo>
                <a:close/>
                <a:moveTo>
                  <a:pt x="1427" y="1"/>
                </a:moveTo>
                <a:lnTo>
                  <a:pt x="1471" y="1"/>
                </a:lnTo>
                <a:lnTo>
                  <a:pt x="1472" y="1"/>
                </a:lnTo>
                <a:lnTo>
                  <a:pt x="1473" y="1"/>
                </a:lnTo>
                <a:lnTo>
                  <a:pt x="1475" y="4"/>
                </a:lnTo>
                <a:lnTo>
                  <a:pt x="1476" y="6"/>
                </a:lnTo>
                <a:lnTo>
                  <a:pt x="1478" y="7"/>
                </a:lnTo>
                <a:lnTo>
                  <a:pt x="1478" y="8"/>
                </a:lnTo>
                <a:lnTo>
                  <a:pt x="1478" y="10"/>
                </a:lnTo>
                <a:lnTo>
                  <a:pt x="1476" y="12"/>
                </a:lnTo>
                <a:lnTo>
                  <a:pt x="1475" y="15"/>
                </a:lnTo>
                <a:lnTo>
                  <a:pt x="1473" y="16"/>
                </a:lnTo>
                <a:lnTo>
                  <a:pt x="1472" y="16"/>
                </a:lnTo>
                <a:lnTo>
                  <a:pt x="1471" y="16"/>
                </a:lnTo>
                <a:lnTo>
                  <a:pt x="1427" y="16"/>
                </a:lnTo>
                <a:lnTo>
                  <a:pt x="1425" y="16"/>
                </a:lnTo>
                <a:lnTo>
                  <a:pt x="1424" y="16"/>
                </a:lnTo>
                <a:lnTo>
                  <a:pt x="1422" y="15"/>
                </a:lnTo>
                <a:lnTo>
                  <a:pt x="1420" y="12"/>
                </a:lnTo>
                <a:lnTo>
                  <a:pt x="1420" y="10"/>
                </a:lnTo>
                <a:lnTo>
                  <a:pt x="1420" y="8"/>
                </a:lnTo>
                <a:lnTo>
                  <a:pt x="1420" y="7"/>
                </a:lnTo>
                <a:lnTo>
                  <a:pt x="1420" y="6"/>
                </a:lnTo>
                <a:lnTo>
                  <a:pt x="1422" y="4"/>
                </a:lnTo>
                <a:lnTo>
                  <a:pt x="1424" y="1"/>
                </a:lnTo>
                <a:lnTo>
                  <a:pt x="1425" y="1"/>
                </a:lnTo>
                <a:lnTo>
                  <a:pt x="1427" y="1"/>
                </a:lnTo>
                <a:lnTo>
                  <a:pt x="1427" y="1"/>
                </a:lnTo>
                <a:close/>
                <a:moveTo>
                  <a:pt x="1529" y="1"/>
                </a:moveTo>
                <a:lnTo>
                  <a:pt x="1572" y="1"/>
                </a:lnTo>
                <a:lnTo>
                  <a:pt x="1573" y="1"/>
                </a:lnTo>
                <a:lnTo>
                  <a:pt x="1575" y="2"/>
                </a:lnTo>
                <a:lnTo>
                  <a:pt x="1576" y="4"/>
                </a:lnTo>
                <a:lnTo>
                  <a:pt x="1578" y="6"/>
                </a:lnTo>
                <a:lnTo>
                  <a:pt x="1578" y="7"/>
                </a:lnTo>
                <a:lnTo>
                  <a:pt x="1578" y="8"/>
                </a:lnTo>
                <a:lnTo>
                  <a:pt x="1578" y="11"/>
                </a:lnTo>
                <a:lnTo>
                  <a:pt x="1578" y="12"/>
                </a:lnTo>
                <a:lnTo>
                  <a:pt x="1576" y="15"/>
                </a:lnTo>
                <a:lnTo>
                  <a:pt x="1574" y="16"/>
                </a:lnTo>
                <a:lnTo>
                  <a:pt x="1573" y="16"/>
                </a:lnTo>
                <a:lnTo>
                  <a:pt x="1572" y="17"/>
                </a:lnTo>
                <a:lnTo>
                  <a:pt x="1529" y="16"/>
                </a:lnTo>
                <a:lnTo>
                  <a:pt x="1526" y="16"/>
                </a:lnTo>
                <a:lnTo>
                  <a:pt x="1525" y="16"/>
                </a:lnTo>
                <a:lnTo>
                  <a:pt x="1523" y="15"/>
                </a:lnTo>
                <a:lnTo>
                  <a:pt x="1522" y="12"/>
                </a:lnTo>
                <a:lnTo>
                  <a:pt x="1521" y="11"/>
                </a:lnTo>
                <a:lnTo>
                  <a:pt x="1521" y="8"/>
                </a:lnTo>
                <a:lnTo>
                  <a:pt x="1521" y="7"/>
                </a:lnTo>
                <a:lnTo>
                  <a:pt x="1522" y="6"/>
                </a:lnTo>
                <a:lnTo>
                  <a:pt x="1523" y="4"/>
                </a:lnTo>
                <a:lnTo>
                  <a:pt x="1525" y="1"/>
                </a:lnTo>
                <a:lnTo>
                  <a:pt x="1526" y="1"/>
                </a:lnTo>
                <a:lnTo>
                  <a:pt x="1529" y="1"/>
                </a:lnTo>
                <a:lnTo>
                  <a:pt x="1529" y="1"/>
                </a:lnTo>
                <a:close/>
                <a:moveTo>
                  <a:pt x="1629" y="1"/>
                </a:moveTo>
                <a:lnTo>
                  <a:pt x="1674" y="1"/>
                </a:lnTo>
                <a:lnTo>
                  <a:pt x="1675" y="1"/>
                </a:lnTo>
                <a:lnTo>
                  <a:pt x="1676" y="2"/>
                </a:lnTo>
                <a:lnTo>
                  <a:pt x="1678" y="4"/>
                </a:lnTo>
                <a:lnTo>
                  <a:pt x="1679" y="6"/>
                </a:lnTo>
                <a:lnTo>
                  <a:pt x="1681" y="7"/>
                </a:lnTo>
                <a:lnTo>
                  <a:pt x="1681" y="8"/>
                </a:lnTo>
                <a:lnTo>
                  <a:pt x="1681" y="11"/>
                </a:lnTo>
                <a:lnTo>
                  <a:pt x="1679" y="12"/>
                </a:lnTo>
                <a:lnTo>
                  <a:pt x="1678" y="15"/>
                </a:lnTo>
                <a:lnTo>
                  <a:pt x="1676" y="16"/>
                </a:lnTo>
                <a:lnTo>
                  <a:pt x="1675" y="16"/>
                </a:lnTo>
                <a:lnTo>
                  <a:pt x="1674" y="17"/>
                </a:lnTo>
                <a:lnTo>
                  <a:pt x="1629" y="17"/>
                </a:lnTo>
                <a:lnTo>
                  <a:pt x="1628" y="16"/>
                </a:lnTo>
                <a:lnTo>
                  <a:pt x="1627" y="16"/>
                </a:lnTo>
                <a:lnTo>
                  <a:pt x="1625" y="15"/>
                </a:lnTo>
                <a:lnTo>
                  <a:pt x="1623" y="12"/>
                </a:lnTo>
                <a:lnTo>
                  <a:pt x="1623" y="11"/>
                </a:lnTo>
                <a:lnTo>
                  <a:pt x="1623" y="8"/>
                </a:lnTo>
                <a:lnTo>
                  <a:pt x="1623" y="7"/>
                </a:lnTo>
                <a:lnTo>
                  <a:pt x="1623" y="6"/>
                </a:lnTo>
                <a:lnTo>
                  <a:pt x="1625" y="4"/>
                </a:lnTo>
                <a:lnTo>
                  <a:pt x="1627" y="2"/>
                </a:lnTo>
                <a:lnTo>
                  <a:pt x="1628" y="1"/>
                </a:lnTo>
                <a:lnTo>
                  <a:pt x="1629" y="1"/>
                </a:lnTo>
                <a:lnTo>
                  <a:pt x="1629" y="1"/>
                </a:lnTo>
                <a:close/>
                <a:moveTo>
                  <a:pt x="1732" y="1"/>
                </a:moveTo>
                <a:lnTo>
                  <a:pt x="1774" y="1"/>
                </a:lnTo>
                <a:lnTo>
                  <a:pt x="1776" y="1"/>
                </a:lnTo>
                <a:lnTo>
                  <a:pt x="1778" y="2"/>
                </a:lnTo>
                <a:lnTo>
                  <a:pt x="1779" y="4"/>
                </a:lnTo>
                <a:lnTo>
                  <a:pt x="1781" y="6"/>
                </a:lnTo>
                <a:lnTo>
                  <a:pt x="1781" y="7"/>
                </a:lnTo>
                <a:lnTo>
                  <a:pt x="1781" y="8"/>
                </a:lnTo>
                <a:lnTo>
                  <a:pt x="1781" y="11"/>
                </a:lnTo>
                <a:lnTo>
                  <a:pt x="1781" y="12"/>
                </a:lnTo>
                <a:lnTo>
                  <a:pt x="1779" y="15"/>
                </a:lnTo>
                <a:lnTo>
                  <a:pt x="1777" y="16"/>
                </a:lnTo>
                <a:lnTo>
                  <a:pt x="1776" y="16"/>
                </a:lnTo>
                <a:lnTo>
                  <a:pt x="1774" y="17"/>
                </a:lnTo>
                <a:lnTo>
                  <a:pt x="1732" y="17"/>
                </a:lnTo>
                <a:lnTo>
                  <a:pt x="1729" y="16"/>
                </a:lnTo>
                <a:lnTo>
                  <a:pt x="1728" y="16"/>
                </a:lnTo>
                <a:lnTo>
                  <a:pt x="1726" y="15"/>
                </a:lnTo>
                <a:lnTo>
                  <a:pt x="1725" y="12"/>
                </a:lnTo>
                <a:lnTo>
                  <a:pt x="1723" y="11"/>
                </a:lnTo>
                <a:lnTo>
                  <a:pt x="1723" y="8"/>
                </a:lnTo>
                <a:lnTo>
                  <a:pt x="1723" y="7"/>
                </a:lnTo>
                <a:lnTo>
                  <a:pt x="1725" y="6"/>
                </a:lnTo>
                <a:lnTo>
                  <a:pt x="1726" y="4"/>
                </a:lnTo>
                <a:lnTo>
                  <a:pt x="1728" y="2"/>
                </a:lnTo>
                <a:lnTo>
                  <a:pt x="1729" y="1"/>
                </a:lnTo>
                <a:lnTo>
                  <a:pt x="1732" y="1"/>
                </a:lnTo>
                <a:lnTo>
                  <a:pt x="1732" y="1"/>
                </a:lnTo>
                <a:close/>
                <a:moveTo>
                  <a:pt x="1832" y="1"/>
                </a:moveTo>
                <a:lnTo>
                  <a:pt x="1865" y="1"/>
                </a:lnTo>
                <a:lnTo>
                  <a:pt x="1866" y="1"/>
                </a:lnTo>
                <a:lnTo>
                  <a:pt x="1867" y="2"/>
                </a:lnTo>
                <a:lnTo>
                  <a:pt x="1869" y="4"/>
                </a:lnTo>
                <a:lnTo>
                  <a:pt x="1871" y="6"/>
                </a:lnTo>
                <a:lnTo>
                  <a:pt x="1872" y="7"/>
                </a:lnTo>
                <a:lnTo>
                  <a:pt x="1872" y="8"/>
                </a:lnTo>
                <a:lnTo>
                  <a:pt x="1872" y="11"/>
                </a:lnTo>
                <a:lnTo>
                  <a:pt x="1871" y="12"/>
                </a:lnTo>
                <a:lnTo>
                  <a:pt x="1869" y="15"/>
                </a:lnTo>
                <a:lnTo>
                  <a:pt x="1867" y="16"/>
                </a:lnTo>
                <a:lnTo>
                  <a:pt x="1866" y="17"/>
                </a:lnTo>
                <a:lnTo>
                  <a:pt x="1865" y="17"/>
                </a:lnTo>
                <a:lnTo>
                  <a:pt x="1832" y="17"/>
                </a:lnTo>
                <a:lnTo>
                  <a:pt x="1831" y="17"/>
                </a:lnTo>
                <a:lnTo>
                  <a:pt x="1830" y="16"/>
                </a:lnTo>
                <a:lnTo>
                  <a:pt x="1828" y="15"/>
                </a:lnTo>
                <a:lnTo>
                  <a:pt x="1825" y="12"/>
                </a:lnTo>
                <a:lnTo>
                  <a:pt x="1825" y="11"/>
                </a:lnTo>
                <a:lnTo>
                  <a:pt x="1825" y="8"/>
                </a:lnTo>
                <a:lnTo>
                  <a:pt x="1825" y="7"/>
                </a:lnTo>
                <a:lnTo>
                  <a:pt x="1825" y="6"/>
                </a:lnTo>
                <a:lnTo>
                  <a:pt x="1828" y="4"/>
                </a:lnTo>
                <a:lnTo>
                  <a:pt x="1830" y="2"/>
                </a:lnTo>
                <a:lnTo>
                  <a:pt x="1831" y="1"/>
                </a:lnTo>
                <a:lnTo>
                  <a:pt x="1832" y="1"/>
                </a:lnTo>
                <a:lnTo>
                  <a:pt x="1832" y="1"/>
                </a:lnTo>
                <a:close/>
              </a:path>
            </a:pathLst>
          </a:custGeom>
          <a:solidFill>
            <a:srgbClr val="000000"/>
          </a:solidFill>
          <a:ln w="1588" cap="flat" cmpd="sng">
            <a:solidFill>
              <a:srgbClr val="000099"/>
            </a:solidFill>
            <a:prstDash val="solid"/>
            <a:headEnd type="none" w="med" len="med"/>
            <a:tailEnd type="none" w="med" len="med"/>
          </a:ln>
        </p:spPr>
        <p:txBody>
          <a:bodyPr/>
          <a:p>
            <a:endParaRPr lang="zh-CN" altLang="en-US"/>
          </a:p>
        </p:txBody>
      </p:sp>
      <p:sp>
        <p:nvSpPr>
          <p:cNvPr id="112" name="任意多边形 111"/>
          <p:cNvSpPr>
            <a:spLocks noEditPoints="1"/>
          </p:cNvSpPr>
          <p:nvPr/>
        </p:nvSpPr>
        <p:spPr>
          <a:xfrm>
            <a:off x="5407025" y="4943475"/>
            <a:ext cx="2989263" cy="12700"/>
          </a:xfrm>
          <a:custGeom>
            <a:avLst/>
            <a:gdLst/>
            <a:ahLst/>
            <a:cxnLst/>
            <a:pathLst>
              <a:path w="1883" h="16">
                <a:moveTo>
                  <a:pt x="6" y="0"/>
                </a:moveTo>
                <a:lnTo>
                  <a:pt x="51" y="0"/>
                </a:lnTo>
                <a:lnTo>
                  <a:pt x="52" y="0"/>
                </a:lnTo>
                <a:lnTo>
                  <a:pt x="53" y="0"/>
                </a:lnTo>
                <a:lnTo>
                  <a:pt x="55" y="1"/>
                </a:lnTo>
                <a:lnTo>
                  <a:pt x="56" y="4"/>
                </a:lnTo>
                <a:lnTo>
                  <a:pt x="57" y="6"/>
                </a:lnTo>
                <a:lnTo>
                  <a:pt x="57" y="7"/>
                </a:lnTo>
                <a:lnTo>
                  <a:pt x="57" y="9"/>
                </a:lnTo>
                <a:lnTo>
                  <a:pt x="56" y="10"/>
                </a:lnTo>
                <a:lnTo>
                  <a:pt x="55" y="12"/>
                </a:lnTo>
                <a:lnTo>
                  <a:pt x="53" y="15"/>
                </a:lnTo>
                <a:lnTo>
                  <a:pt x="52" y="15"/>
                </a:lnTo>
                <a:lnTo>
                  <a:pt x="51" y="15"/>
                </a:lnTo>
                <a:lnTo>
                  <a:pt x="6" y="15"/>
                </a:lnTo>
                <a:lnTo>
                  <a:pt x="5" y="15"/>
                </a:lnTo>
                <a:lnTo>
                  <a:pt x="4" y="15"/>
                </a:lnTo>
                <a:lnTo>
                  <a:pt x="2" y="12"/>
                </a:lnTo>
                <a:lnTo>
                  <a:pt x="0" y="10"/>
                </a:lnTo>
                <a:lnTo>
                  <a:pt x="0" y="9"/>
                </a:lnTo>
                <a:lnTo>
                  <a:pt x="0" y="7"/>
                </a:lnTo>
                <a:lnTo>
                  <a:pt x="0" y="6"/>
                </a:lnTo>
                <a:lnTo>
                  <a:pt x="0" y="4"/>
                </a:lnTo>
                <a:lnTo>
                  <a:pt x="2" y="1"/>
                </a:lnTo>
                <a:lnTo>
                  <a:pt x="4" y="0"/>
                </a:lnTo>
                <a:lnTo>
                  <a:pt x="5" y="0"/>
                </a:lnTo>
                <a:lnTo>
                  <a:pt x="6" y="0"/>
                </a:lnTo>
                <a:lnTo>
                  <a:pt x="6" y="0"/>
                </a:lnTo>
                <a:close/>
                <a:moveTo>
                  <a:pt x="109" y="0"/>
                </a:moveTo>
                <a:lnTo>
                  <a:pt x="151" y="0"/>
                </a:lnTo>
                <a:lnTo>
                  <a:pt x="153" y="0"/>
                </a:lnTo>
                <a:lnTo>
                  <a:pt x="155" y="0"/>
                </a:lnTo>
                <a:lnTo>
                  <a:pt x="156" y="2"/>
                </a:lnTo>
                <a:lnTo>
                  <a:pt x="158" y="5"/>
                </a:lnTo>
                <a:lnTo>
                  <a:pt x="158" y="6"/>
                </a:lnTo>
                <a:lnTo>
                  <a:pt x="158" y="7"/>
                </a:lnTo>
                <a:lnTo>
                  <a:pt x="158" y="9"/>
                </a:lnTo>
                <a:lnTo>
                  <a:pt x="158" y="10"/>
                </a:lnTo>
                <a:lnTo>
                  <a:pt x="156" y="12"/>
                </a:lnTo>
                <a:lnTo>
                  <a:pt x="154" y="15"/>
                </a:lnTo>
                <a:lnTo>
                  <a:pt x="153" y="15"/>
                </a:lnTo>
                <a:lnTo>
                  <a:pt x="151" y="15"/>
                </a:lnTo>
                <a:lnTo>
                  <a:pt x="109" y="15"/>
                </a:lnTo>
                <a:lnTo>
                  <a:pt x="105" y="15"/>
                </a:lnTo>
                <a:lnTo>
                  <a:pt x="103" y="12"/>
                </a:lnTo>
                <a:lnTo>
                  <a:pt x="102" y="10"/>
                </a:lnTo>
                <a:lnTo>
                  <a:pt x="100" y="9"/>
                </a:lnTo>
                <a:lnTo>
                  <a:pt x="100" y="7"/>
                </a:lnTo>
                <a:lnTo>
                  <a:pt x="100" y="6"/>
                </a:lnTo>
                <a:lnTo>
                  <a:pt x="102" y="4"/>
                </a:lnTo>
                <a:lnTo>
                  <a:pt x="103" y="2"/>
                </a:lnTo>
                <a:lnTo>
                  <a:pt x="105" y="0"/>
                </a:lnTo>
                <a:lnTo>
                  <a:pt x="106" y="0"/>
                </a:lnTo>
                <a:lnTo>
                  <a:pt x="109" y="0"/>
                </a:lnTo>
                <a:lnTo>
                  <a:pt x="109" y="0"/>
                </a:lnTo>
                <a:close/>
                <a:moveTo>
                  <a:pt x="209" y="0"/>
                </a:moveTo>
                <a:lnTo>
                  <a:pt x="253" y="0"/>
                </a:lnTo>
                <a:lnTo>
                  <a:pt x="255" y="0"/>
                </a:lnTo>
                <a:lnTo>
                  <a:pt x="256" y="0"/>
                </a:lnTo>
                <a:lnTo>
                  <a:pt x="258" y="2"/>
                </a:lnTo>
                <a:lnTo>
                  <a:pt x="259" y="5"/>
                </a:lnTo>
                <a:lnTo>
                  <a:pt x="260" y="6"/>
                </a:lnTo>
                <a:lnTo>
                  <a:pt x="260" y="7"/>
                </a:lnTo>
                <a:lnTo>
                  <a:pt x="260" y="9"/>
                </a:lnTo>
                <a:lnTo>
                  <a:pt x="259" y="10"/>
                </a:lnTo>
                <a:lnTo>
                  <a:pt x="258" y="12"/>
                </a:lnTo>
                <a:lnTo>
                  <a:pt x="256" y="15"/>
                </a:lnTo>
                <a:lnTo>
                  <a:pt x="255" y="15"/>
                </a:lnTo>
                <a:lnTo>
                  <a:pt x="253" y="15"/>
                </a:lnTo>
                <a:lnTo>
                  <a:pt x="209" y="15"/>
                </a:lnTo>
                <a:lnTo>
                  <a:pt x="208" y="15"/>
                </a:lnTo>
                <a:lnTo>
                  <a:pt x="207" y="15"/>
                </a:lnTo>
                <a:lnTo>
                  <a:pt x="205" y="12"/>
                </a:lnTo>
                <a:lnTo>
                  <a:pt x="202" y="10"/>
                </a:lnTo>
                <a:lnTo>
                  <a:pt x="202" y="9"/>
                </a:lnTo>
                <a:lnTo>
                  <a:pt x="202" y="7"/>
                </a:lnTo>
                <a:lnTo>
                  <a:pt x="202" y="6"/>
                </a:lnTo>
                <a:lnTo>
                  <a:pt x="202" y="5"/>
                </a:lnTo>
                <a:lnTo>
                  <a:pt x="205" y="2"/>
                </a:lnTo>
                <a:lnTo>
                  <a:pt x="207" y="0"/>
                </a:lnTo>
                <a:lnTo>
                  <a:pt x="208" y="0"/>
                </a:lnTo>
                <a:lnTo>
                  <a:pt x="209" y="0"/>
                </a:lnTo>
                <a:lnTo>
                  <a:pt x="209" y="0"/>
                </a:lnTo>
                <a:close/>
                <a:moveTo>
                  <a:pt x="311" y="0"/>
                </a:moveTo>
                <a:lnTo>
                  <a:pt x="354" y="0"/>
                </a:lnTo>
                <a:lnTo>
                  <a:pt x="355" y="0"/>
                </a:lnTo>
                <a:lnTo>
                  <a:pt x="358" y="0"/>
                </a:lnTo>
                <a:lnTo>
                  <a:pt x="359" y="2"/>
                </a:lnTo>
                <a:lnTo>
                  <a:pt x="361" y="5"/>
                </a:lnTo>
                <a:lnTo>
                  <a:pt x="361" y="6"/>
                </a:lnTo>
                <a:lnTo>
                  <a:pt x="361" y="7"/>
                </a:lnTo>
                <a:lnTo>
                  <a:pt x="361" y="9"/>
                </a:lnTo>
                <a:lnTo>
                  <a:pt x="361" y="10"/>
                </a:lnTo>
                <a:lnTo>
                  <a:pt x="359" y="12"/>
                </a:lnTo>
                <a:lnTo>
                  <a:pt x="357" y="15"/>
                </a:lnTo>
                <a:lnTo>
                  <a:pt x="355" y="15"/>
                </a:lnTo>
                <a:lnTo>
                  <a:pt x="354" y="15"/>
                </a:lnTo>
                <a:lnTo>
                  <a:pt x="311" y="15"/>
                </a:lnTo>
                <a:lnTo>
                  <a:pt x="309" y="15"/>
                </a:lnTo>
                <a:lnTo>
                  <a:pt x="308" y="15"/>
                </a:lnTo>
                <a:lnTo>
                  <a:pt x="306" y="12"/>
                </a:lnTo>
                <a:lnTo>
                  <a:pt x="304" y="10"/>
                </a:lnTo>
                <a:lnTo>
                  <a:pt x="303" y="9"/>
                </a:lnTo>
                <a:lnTo>
                  <a:pt x="303" y="7"/>
                </a:lnTo>
                <a:lnTo>
                  <a:pt x="303" y="6"/>
                </a:lnTo>
                <a:lnTo>
                  <a:pt x="304" y="5"/>
                </a:lnTo>
                <a:lnTo>
                  <a:pt x="306" y="2"/>
                </a:lnTo>
                <a:lnTo>
                  <a:pt x="308" y="0"/>
                </a:lnTo>
                <a:lnTo>
                  <a:pt x="309" y="0"/>
                </a:lnTo>
                <a:lnTo>
                  <a:pt x="311" y="0"/>
                </a:lnTo>
                <a:lnTo>
                  <a:pt x="311" y="0"/>
                </a:lnTo>
                <a:close/>
                <a:moveTo>
                  <a:pt x="412" y="0"/>
                </a:moveTo>
                <a:lnTo>
                  <a:pt x="456" y="0"/>
                </a:lnTo>
                <a:lnTo>
                  <a:pt x="457" y="0"/>
                </a:lnTo>
                <a:lnTo>
                  <a:pt x="459" y="0"/>
                </a:lnTo>
                <a:lnTo>
                  <a:pt x="461" y="2"/>
                </a:lnTo>
                <a:lnTo>
                  <a:pt x="462" y="5"/>
                </a:lnTo>
                <a:lnTo>
                  <a:pt x="463" y="6"/>
                </a:lnTo>
                <a:lnTo>
                  <a:pt x="463" y="7"/>
                </a:lnTo>
                <a:lnTo>
                  <a:pt x="463" y="9"/>
                </a:lnTo>
                <a:lnTo>
                  <a:pt x="462" y="11"/>
                </a:lnTo>
                <a:lnTo>
                  <a:pt x="461" y="13"/>
                </a:lnTo>
                <a:lnTo>
                  <a:pt x="459" y="15"/>
                </a:lnTo>
                <a:lnTo>
                  <a:pt x="457" y="15"/>
                </a:lnTo>
                <a:lnTo>
                  <a:pt x="456" y="15"/>
                </a:lnTo>
                <a:lnTo>
                  <a:pt x="412" y="15"/>
                </a:lnTo>
                <a:lnTo>
                  <a:pt x="411" y="15"/>
                </a:lnTo>
                <a:lnTo>
                  <a:pt x="410" y="15"/>
                </a:lnTo>
                <a:lnTo>
                  <a:pt x="408" y="13"/>
                </a:lnTo>
                <a:lnTo>
                  <a:pt x="405" y="11"/>
                </a:lnTo>
                <a:lnTo>
                  <a:pt x="405" y="9"/>
                </a:lnTo>
                <a:lnTo>
                  <a:pt x="405" y="7"/>
                </a:lnTo>
                <a:lnTo>
                  <a:pt x="405" y="6"/>
                </a:lnTo>
                <a:lnTo>
                  <a:pt x="405" y="5"/>
                </a:lnTo>
                <a:lnTo>
                  <a:pt x="408" y="2"/>
                </a:lnTo>
                <a:lnTo>
                  <a:pt x="410" y="0"/>
                </a:lnTo>
                <a:lnTo>
                  <a:pt x="411" y="0"/>
                </a:lnTo>
                <a:lnTo>
                  <a:pt x="412" y="0"/>
                </a:lnTo>
                <a:lnTo>
                  <a:pt x="412" y="0"/>
                </a:lnTo>
                <a:close/>
                <a:moveTo>
                  <a:pt x="514" y="0"/>
                </a:moveTo>
                <a:lnTo>
                  <a:pt x="557" y="0"/>
                </a:lnTo>
                <a:lnTo>
                  <a:pt x="558" y="0"/>
                </a:lnTo>
                <a:lnTo>
                  <a:pt x="561" y="0"/>
                </a:lnTo>
                <a:lnTo>
                  <a:pt x="562" y="2"/>
                </a:lnTo>
                <a:lnTo>
                  <a:pt x="564" y="5"/>
                </a:lnTo>
                <a:lnTo>
                  <a:pt x="564" y="6"/>
                </a:lnTo>
                <a:lnTo>
                  <a:pt x="564" y="7"/>
                </a:lnTo>
                <a:lnTo>
                  <a:pt x="564" y="9"/>
                </a:lnTo>
                <a:lnTo>
                  <a:pt x="564" y="11"/>
                </a:lnTo>
                <a:lnTo>
                  <a:pt x="562" y="13"/>
                </a:lnTo>
                <a:lnTo>
                  <a:pt x="559" y="15"/>
                </a:lnTo>
                <a:lnTo>
                  <a:pt x="558" y="15"/>
                </a:lnTo>
                <a:lnTo>
                  <a:pt x="557" y="15"/>
                </a:lnTo>
                <a:lnTo>
                  <a:pt x="514" y="15"/>
                </a:lnTo>
                <a:lnTo>
                  <a:pt x="512" y="15"/>
                </a:lnTo>
                <a:lnTo>
                  <a:pt x="511" y="15"/>
                </a:lnTo>
                <a:lnTo>
                  <a:pt x="508" y="13"/>
                </a:lnTo>
                <a:lnTo>
                  <a:pt x="507" y="11"/>
                </a:lnTo>
                <a:lnTo>
                  <a:pt x="506" y="9"/>
                </a:lnTo>
                <a:lnTo>
                  <a:pt x="506" y="7"/>
                </a:lnTo>
                <a:lnTo>
                  <a:pt x="506" y="6"/>
                </a:lnTo>
                <a:lnTo>
                  <a:pt x="507" y="5"/>
                </a:lnTo>
                <a:lnTo>
                  <a:pt x="508" y="2"/>
                </a:lnTo>
                <a:lnTo>
                  <a:pt x="511" y="0"/>
                </a:lnTo>
                <a:lnTo>
                  <a:pt x="512" y="0"/>
                </a:lnTo>
                <a:lnTo>
                  <a:pt x="514" y="0"/>
                </a:lnTo>
                <a:lnTo>
                  <a:pt x="514" y="0"/>
                </a:lnTo>
                <a:close/>
                <a:moveTo>
                  <a:pt x="615" y="0"/>
                </a:moveTo>
                <a:lnTo>
                  <a:pt x="659" y="0"/>
                </a:lnTo>
                <a:lnTo>
                  <a:pt x="660" y="0"/>
                </a:lnTo>
                <a:lnTo>
                  <a:pt x="661" y="0"/>
                </a:lnTo>
                <a:lnTo>
                  <a:pt x="664" y="2"/>
                </a:lnTo>
                <a:lnTo>
                  <a:pt x="665" y="5"/>
                </a:lnTo>
                <a:lnTo>
                  <a:pt x="666" y="6"/>
                </a:lnTo>
                <a:lnTo>
                  <a:pt x="666" y="7"/>
                </a:lnTo>
                <a:lnTo>
                  <a:pt x="666" y="9"/>
                </a:lnTo>
                <a:lnTo>
                  <a:pt x="665" y="11"/>
                </a:lnTo>
                <a:lnTo>
                  <a:pt x="664" y="13"/>
                </a:lnTo>
                <a:lnTo>
                  <a:pt x="661" y="15"/>
                </a:lnTo>
                <a:lnTo>
                  <a:pt x="660" y="15"/>
                </a:lnTo>
                <a:lnTo>
                  <a:pt x="659" y="15"/>
                </a:lnTo>
                <a:lnTo>
                  <a:pt x="615" y="15"/>
                </a:lnTo>
                <a:lnTo>
                  <a:pt x="614" y="15"/>
                </a:lnTo>
                <a:lnTo>
                  <a:pt x="613" y="15"/>
                </a:lnTo>
                <a:lnTo>
                  <a:pt x="610" y="13"/>
                </a:lnTo>
                <a:lnTo>
                  <a:pt x="608" y="11"/>
                </a:lnTo>
                <a:lnTo>
                  <a:pt x="608" y="9"/>
                </a:lnTo>
                <a:lnTo>
                  <a:pt x="608" y="7"/>
                </a:lnTo>
                <a:lnTo>
                  <a:pt x="608" y="6"/>
                </a:lnTo>
                <a:lnTo>
                  <a:pt x="608" y="5"/>
                </a:lnTo>
                <a:lnTo>
                  <a:pt x="610" y="2"/>
                </a:lnTo>
                <a:lnTo>
                  <a:pt x="613" y="0"/>
                </a:lnTo>
                <a:lnTo>
                  <a:pt x="614" y="0"/>
                </a:lnTo>
                <a:lnTo>
                  <a:pt x="615" y="0"/>
                </a:lnTo>
                <a:lnTo>
                  <a:pt x="615" y="0"/>
                </a:lnTo>
                <a:close/>
                <a:moveTo>
                  <a:pt x="717" y="0"/>
                </a:moveTo>
                <a:lnTo>
                  <a:pt x="760" y="0"/>
                </a:lnTo>
                <a:lnTo>
                  <a:pt x="761" y="0"/>
                </a:lnTo>
                <a:lnTo>
                  <a:pt x="764" y="0"/>
                </a:lnTo>
                <a:lnTo>
                  <a:pt x="765" y="2"/>
                </a:lnTo>
                <a:lnTo>
                  <a:pt x="767" y="5"/>
                </a:lnTo>
                <a:lnTo>
                  <a:pt x="767" y="6"/>
                </a:lnTo>
                <a:lnTo>
                  <a:pt x="767" y="7"/>
                </a:lnTo>
                <a:lnTo>
                  <a:pt x="767" y="9"/>
                </a:lnTo>
                <a:lnTo>
                  <a:pt x="767" y="11"/>
                </a:lnTo>
                <a:lnTo>
                  <a:pt x="765" y="13"/>
                </a:lnTo>
                <a:lnTo>
                  <a:pt x="762" y="15"/>
                </a:lnTo>
                <a:lnTo>
                  <a:pt x="761" y="15"/>
                </a:lnTo>
                <a:lnTo>
                  <a:pt x="760" y="15"/>
                </a:lnTo>
                <a:lnTo>
                  <a:pt x="717" y="15"/>
                </a:lnTo>
                <a:lnTo>
                  <a:pt x="715" y="15"/>
                </a:lnTo>
                <a:lnTo>
                  <a:pt x="714" y="15"/>
                </a:lnTo>
                <a:lnTo>
                  <a:pt x="711" y="13"/>
                </a:lnTo>
                <a:lnTo>
                  <a:pt x="710" y="11"/>
                </a:lnTo>
                <a:lnTo>
                  <a:pt x="709" y="9"/>
                </a:lnTo>
                <a:lnTo>
                  <a:pt x="709" y="7"/>
                </a:lnTo>
                <a:lnTo>
                  <a:pt x="709" y="6"/>
                </a:lnTo>
                <a:lnTo>
                  <a:pt x="710" y="5"/>
                </a:lnTo>
                <a:lnTo>
                  <a:pt x="711" y="2"/>
                </a:lnTo>
                <a:lnTo>
                  <a:pt x="714" y="0"/>
                </a:lnTo>
                <a:lnTo>
                  <a:pt x="715" y="0"/>
                </a:lnTo>
                <a:lnTo>
                  <a:pt x="717" y="0"/>
                </a:lnTo>
                <a:lnTo>
                  <a:pt x="717" y="0"/>
                </a:lnTo>
                <a:close/>
                <a:moveTo>
                  <a:pt x="818" y="0"/>
                </a:moveTo>
                <a:lnTo>
                  <a:pt x="862" y="0"/>
                </a:lnTo>
                <a:lnTo>
                  <a:pt x="863" y="0"/>
                </a:lnTo>
                <a:lnTo>
                  <a:pt x="864" y="1"/>
                </a:lnTo>
                <a:lnTo>
                  <a:pt x="867" y="2"/>
                </a:lnTo>
                <a:lnTo>
                  <a:pt x="868" y="5"/>
                </a:lnTo>
                <a:lnTo>
                  <a:pt x="869" y="6"/>
                </a:lnTo>
                <a:lnTo>
                  <a:pt x="869" y="7"/>
                </a:lnTo>
                <a:lnTo>
                  <a:pt x="869" y="10"/>
                </a:lnTo>
                <a:lnTo>
                  <a:pt x="868" y="11"/>
                </a:lnTo>
                <a:lnTo>
                  <a:pt x="867" y="13"/>
                </a:lnTo>
                <a:lnTo>
                  <a:pt x="864" y="15"/>
                </a:lnTo>
                <a:lnTo>
                  <a:pt x="863" y="15"/>
                </a:lnTo>
                <a:lnTo>
                  <a:pt x="862" y="16"/>
                </a:lnTo>
                <a:lnTo>
                  <a:pt x="818" y="16"/>
                </a:lnTo>
                <a:lnTo>
                  <a:pt x="817" y="15"/>
                </a:lnTo>
                <a:lnTo>
                  <a:pt x="816" y="15"/>
                </a:lnTo>
                <a:lnTo>
                  <a:pt x="813" y="13"/>
                </a:lnTo>
                <a:lnTo>
                  <a:pt x="811" y="11"/>
                </a:lnTo>
                <a:lnTo>
                  <a:pt x="811" y="10"/>
                </a:lnTo>
                <a:lnTo>
                  <a:pt x="811" y="7"/>
                </a:lnTo>
                <a:lnTo>
                  <a:pt x="811" y="6"/>
                </a:lnTo>
                <a:lnTo>
                  <a:pt x="811" y="5"/>
                </a:lnTo>
                <a:lnTo>
                  <a:pt x="813" y="2"/>
                </a:lnTo>
                <a:lnTo>
                  <a:pt x="816" y="1"/>
                </a:lnTo>
                <a:lnTo>
                  <a:pt x="817" y="0"/>
                </a:lnTo>
                <a:lnTo>
                  <a:pt x="818" y="0"/>
                </a:lnTo>
                <a:lnTo>
                  <a:pt x="818" y="0"/>
                </a:lnTo>
                <a:close/>
                <a:moveTo>
                  <a:pt x="920" y="0"/>
                </a:moveTo>
                <a:lnTo>
                  <a:pt x="963" y="0"/>
                </a:lnTo>
                <a:lnTo>
                  <a:pt x="964" y="0"/>
                </a:lnTo>
                <a:lnTo>
                  <a:pt x="966" y="1"/>
                </a:lnTo>
                <a:lnTo>
                  <a:pt x="968" y="2"/>
                </a:lnTo>
                <a:lnTo>
                  <a:pt x="970" y="5"/>
                </a:lnTo>
                <a:lnTo>
                  <a:pt x="970" y="6"/>
                </a:lnTo>
                <a:lnTo>
                  <a:pt x="970" y="7"/>
                </a:lnTo>
                <a:lnTo>
                  <a:pt x="970" y="10"/>
                </a:lnTo>
                <a:lnTo>
                  <a:pt x="970" y="11"/>
                </a:lnTo>
                <a:lnTo>
                  <a:pt x="968" y="13"/>
                </a:lnTo>
                <a:lnTo>
                  <a:pt x="965" y="15"/>
                </a:lnTo>
                <a:lnTo>
                  <a:pt x="964" y="15"/>
                </a:lnTo>
                <a:lnTo>
                  <a:pt x="963" y="16"/>
                </a:lnTo>
                <a:lnTo>
                  <a:pt x="920" y="16"/>
                </a:lnTo>
                <a:lnTo>
                  <a:pt x="918" y="15"/>
                </a:lnTo>
                <a:lnTo>
                  <a:pt x="917" y="15"/>
                </a:lnTo>
                <a:lnTo>
                  <a:pt x="914" y="13"/>
                </a:lnTo>
                <a:lnTo>
                  <a:pt x="913" y="11"/>
                </a:lnTo>
                <a:lnTo>
                  <a:pt x="912" y="10"/>
                </a:lnTo>
                <a:lnTo>
                  <a:pt x="912" y="7"/>
                </a:lnTo>
                <a:lnTo>
                  <a:pt x="912" y="6"/>
                </a:lnTo>
                <a:lnTo>
                  <a:pt x="913" y="5"/>
                </a:lnTo>
                <a:lnTo>
                  <a:pt x="914" y="2"/>
                </a:lnTo>
                <a:lnTo>
                  <a:pt x="917" y="1"/>
                </a:lnTo>
                <a:lnTo>
                  <a:pt x="918" y="0"/>
                </a:lnTo>
                <a:lnTo>
                  <a:pt x="920" y="0"/>
                </a:lnTo>
                <a:lnTo>
                  <a:pt x="920" y="0"/>
                </a:lnTo>
                <a:close/>
                <a:moveTo>
                  <a:pt x="1021" y="0"/>
                </a:moveTo>
                <a:lnTo>
                  <a:pt x="1065" y="0"/>
                </a:lnTo>
                <a:lnTo>
                  <a:pt x="1066" y="0"/>
                </a:lnTo>
                <a:lnTo>
                  <a:pt x="1067" y="1"/>
                </a:lnTo>
                <a:lnTo>
                  <a:pt x="1070" y="2"/>
                </a:lnTo>
                <a:lnTo>
                  <a:pt x="1071" y="5"/>
                </a:lnTo>
                <a:lnTo>
                  <a:pt x="1072" y="6"/>
                </a:lnTo>
                <a:lnTo>
                  <a:pt x="1072" y="7"/>
                </a:lnTo>
                <a:lnTo>
                  <a:pt x="1072" y="10"/>
                </a:lnTo>
                <a:lnTo>
                  <a:pt x="1071" y="11"/>
                </a:lnTo>
                <a:lnTo>
                  <a:pt x="1070" y="13"/>
                </a:lnTo>
                <a:lnTo>
                  <a:pt x="1067" y="15"/>
                </a:lnTo>
                <a:lnTo>
                  <a:pt x="1066" y="15"/>
                </a:lnTo>
                <a:lnTo>
                  <a:pt x="1065" y="16"/>
                </a:lnTo>
                <a:lnTo>
                  <a:pt x="1021" y="16"/>
                </a:lnTo>
                <a:lnTo>
                  <a:pt x="1020" y="15"/>
                </a:lnTo>
                <a:lnTo>
                  <a:pt x="1019" y="15"/>
                </a:lnTo>
                <a:lnTo>
                  <a:pt x="1016" y="13"/>
                </a:lnTo>
                <a:lnTo>
                  <a:pt x="1014" y="11"/>
                </a:lnTo>
                <a:lnTo>
                  <a:pt x="1014" y="10"/>
                </a:lnTo>
                <a:lnTo>
                  <a:pt x="1014" y="7"/>
                </a:lnTo>
                <a:lnTo>
                  <a:pt x="1014" y="6"/>
                </a:lnTo>
                <a:lnTo>
                  <a:pt x="1014" y="5"/>
                </a:lnTo>
                <a:lnTo>
                  <a:pt x="1016" y="2"/>
                </a:lnTo>
                <a:lnTo>
                  <a:pt x="1019" y="1"/>
                </a:lnTo>
                <a:lnTo>
                  <a:pt x="1020" y="0"/>
                </a:lnTo>
                <a:lnTo>
                  <a:pt x="1021" y="0"/>
                </a:lnTo>
                <a:lnTo>
                  <a:pt x="1021" y="0"/>
                </a:lnTo>
                <a:close/>
                <a:moveTo>
                  <a:pt x="1123" y="0"/>
                </a:moveTo>
                <a:lnTo>
                  <a:pt x="1166" y="0"/>
                </a:lnTo>
                <a:lnTo>
                  <a:pt x="1167" y="0"/>
                </a:lnTo>
                <a:lnTo>
                  <a:pt x="1169" y="1"/>
                </a:lnTo>
                <a:lnTo>
                  <a:pt x="1170" y="2"/>
                </a:lnTo>
                <a:lnTo>
                  <a:pt x="1173" y="5"/>
                </a:lnTo>
                <a:lnTo>
                  <a:pt x="1173" y="6"/>
                </a:lnTo>
                <a:lnTo>
                  <a:pt x="1173" y="7"/>
                </a:lnTo>
                <a:lnTo>
                  <a:pt x="1173" y="10"/>
                </a:lnTo>
                <a:lnTo>
                  <a:pt x="1173" y="11"/>
                </a:lnTo>
                <a:lnTo>
                  <a:pt x="1170" y="13"/>
                </a:lnTo>
                <a:lnTo>
                  <a:pt x="1168" y="15"/>
                </a:lnTo>
                <a:lnTo>
                  <a:pt x="1167" y="16"/>
                </a:lnTo>
                <a:lnTo>
                  <a:pt x="1166" y="16"/>
                </a:lnTo>
                <a:lnTo>
                  <a:pt x="1123" y="16"/>
                </a:lnTo>
                <a:lnTo>
                  <a:pt x="1121" y="16"/>
                </a:lnTo>
                <a:lnTo>
                  <a:pt x="1119" y="15"/>
                </a:lnTo>
                <a:lnTo>
                  <a:pt x="1117" y="13"/>
                </a:lnTo>
                <a:lnTo>
                  <a:pt x="1116" y="11"/>
                </a:lnTo>
                <a:lnTo>
                  <a:pt x="1115" y="10"/>
                </a:lnTo>
                <a:lnTo>
                  <a:pt x="1115" y="7"/>
                </a:lnTo>
                <a:lnTo>
                  <a:pt x="1115" y="6"/>
                </a:lnTo>
                <a:lnTo>
                  <a:pt x="1116" y="5"/>
                </a:lnTo>
                <a:lnTo>
                  <a:pt x="1117" y="2"/>
                </a:lnTo>
                <a:lnTo>
                  <a:pt x="1119" y="1"/>
                </a:lnTo>
                <a:lnTo>
                  <a:pt x="1121" y="0"/>
                </a:lnTo>
                <a:lnTo>
                  <a:pt x="1123" y="0"/>
                </a:lnTo>
                <a:lnTo>
                  <a:pt x="1123" y="0"/>
                </a:lnTo>
                <a:close/>
                <a:moveTo>
                  <a:pt x="1224" y="0"/>
                </a:moveTo>
                <a:lnTo>
                  <a:pt x="1268" y="0"/>
                </a:lnTo>
                <a:lnTo>
                  <a:pt x="1269" y="0"/>
                </a:lnTo>
                <a:lnTo>
                  <a:pt x="1270" y="1"/>
                </a:lnTo>
                <a:lnTo>
                  <a:pt x="1272" y="2"/>
                </a:lnTo>
                <a:lnTo>
                  <a:pt x="1274" y="5"/>
                </a:lnTo>
                <a:lnTo>
                  <a:pt x="1275" y="6"/>
                </a:lnTo>
                <a:lnTo>
                  <a:pt x="1275" y="7"/>
                </a:lnTo>
                <a:lnTo>
                  <a:pt x="1275" y="10"/>
                </a:lnTo>
                <a:lnTo>
                  <a:pt x="1274" y="11"/>
                </a:lnTo>
                <a:lnTo>
                  <a:pt x="1272" y="13"/>
                </a:lnTo>
                <a:lnTo>
                  <a:pt x="1270" y="15"/>
                </a:lnTo>
                <a:lnTo>
                  <a:pt x="1269" y="16"/>
                </a:lnTo>
                <a:lnTo>
                  <a:pt x="1268" y="16"/>
                </a:lnTo>
                <a:lnTo>
                  <a:pt x="1224" y="16"/>
                </a:lnTo>
                <a:lnTo>
                  <a:pt x="1223" y="16"/>
                </a:lnTo>
                <a:lnTo>
                  <a:pt x="1221" y="15"/>
                </a:lnTo>
                <a:lnTo>
                  <a:pt x="1219" y="13"/>
                </a:lnTo>
                <a:lnTo>
                  <a:pt x="1217" y="11"/>
                </a:lnTo>
                <a:lnTo>
                  <a:pt x="1217" y="10"/>
                </a:lnTo>
                <a:lnTo>
                  <a:pt x="1217" y="7"/>
                </a:lnTo>
                <a:lnTo>
                  <a:pt x="1217" y="6"/>
                </a:lnTo>
                <a:lnTo>
                  <a:pt x="1217" y="5"/>
                </a:lnTo>
                <a:lnTo>
                  <a:pt x="1219" y="2"/>
                </a:lnTo>
                <a:lnTo>
                  <a:pt x="1221" y="1"/>
                </a:lnTo>
                <a:lnTo>
                  <a:pt x="1223" y="0"/>
                </a:lnTo>
                <a:lnTo>
                  <a:pt x="1224" y="0"/>
                </a:lnTo>
                <a:lnTo>
                  <a:pt x="1224" y="0"/>
                </a:lnTo>
                <a:close/>
                <a:moveTo>
                  <a:pt x="1326" y="0"/>
                </a:moveTo>
                <a:lnTo>
                  <a:pt x="1369" y="0"/>
                </a:lnTo>
                <a:lnTo>
                  <a:pt x="1370" y="0"/>
                </a:lnTo>
                <a:lnTo>
                  <a:pt x="1372" y="1"/>
                </a:lnTo>
                <a:lnTo>
                  <a:pt x="1373" y="2"/>
                </a:lnTo>
                <a:lnTo>
                  <a:pt x="1376" y="5"/>
                </a:lnTo>
                <a:lnTo>
                  <a:pt x="1376" y="6"/>
                </a:lnTo>
                <a:lnTo>
                  <a:pt x="1376" y="7"/>
                </a:lnTo>
                <a:lnTo>
                  <a:pt x="1376" y="10"/>
                </a:lnTo>
                <a:lnTo>
                  <a:pt x="1376" y="11"/>
                </a:lnTo>
                <a:lnTo>
                  <a:pt x="1373" y="13"/>
                </a:lnTo>
                <a:lnTo>
                  <a:pt x="1371" y="15"/>
                </a:lnTo>
                <a:lnTo>
                  <a:pt x="1370" y="16"/>
                </a:lnTo>
                <a:lnTo>
                  <a:pt x="1369" y="16"/>
                </a:lnTo>
                <a:lnTo>
                  <a:pt x="1326" y="16"/>
                </a:lnTo>
                <a:lnTo>
                  <a:pt x="1323" y="16"/>
                </a:lnTo>
                <a:lnTo>
                  <a:pt x="1322" y="15"/>
                </a:lnTo>
                <a:lnTo>
                  <a:pt x="1320" y="13"/>
                </a:lnTo>
                <a:lnTo>
                  <a:pt x="1319" y="11"/>
                </a:lnTo>
                <a:lnTo>
                  <a:pt x="1318" y="10"/>
                </a:lnTo>
                <a:lnTo>
                  <a:pt x="1318" y="7"/>
                </a:lnTo>
                <a:lnTo>
                  <a:pt x="1318" y="6"/>
                </a:lnTo>
                <a:lnTo>
                  <a:pt x="1319" y="5"/>
                </a:lnTo>
                <a:lnTo>
                  <a:pt x="1320" y="2"/>
                </a:lnTo>
                <a:lnTo>
                  <a:pt x="1322" y="1"/>
                </a:lnTo>
                <a:lnTo>
                  <a:pt x="1323" y="0"/>
                </a:lnTo>
                <a:lnTo>
                  <a:pt x="1326" y="0"/>
                </a:lnTo>
                <a:lnTo>
                  <a:pt x="1326" y="0"/>
                </a:lnTo>
                <a:close/>
                <a:moveTo>
                  <a:pt x="1427" y="0"/>
                </a:moveTo>
                <a:lnTo>
                  <a:pt x="1471" y="0"/>
                </a:lnTo>
                <a:lnTo>
                  <a:pt x="1472" y="0"/>
                </a:lnTo>
                <a:lnTo>
                  <a:pt x="1473" y="1"/>
                </a:lnTo>
                <a:lnTo>
                  <a:pt x="1475" y="2"/>
                </a:lnTo>
                <a:lnTo>
                  <a:pt x="1476" y="5"/>
                </a:lnTo>
                <a:lnTo>
                  <a:pt x="1478" y="6"/>
                </a:lnTo>
                <a:lnTo>
                  <a:pt x="1478" y="9"/>
                </a:lnTo>
                <a:lnTo>
                  <a:pt x="1478" y="10"/>
                </a:lnTo>
                <a:lnTo>
                  <a:pt x="1476" y="11"/>
                </a:lnTo>
                <a:lnTo>
                  <a:pt x="1475" y="13"/>
                </a:lnTo>
                <a:lnTo>
                  <a:pt x="1473" y="15"/>
                </a:lnTo>
                <a:lnTo>
                  <a:pt x="1472" y="16"/>
                </a:lnTo>
                <a:lnTo>
                  <a:pt x="1471" y="16"/>
                </a:lnTo>
                <a:lnTo>
                  <a:pt x="1427" y="16"/>
                </a:lnTo>
                <a:lnTo>
                  <a:pt x="1425" y="16"/>
                </a:lnTo>
                <a:lnTo>
                  <a:pt x="1424" y="15"/>
                </a:lnTo>
                <a:lnTo>
                  <a:pt x="1422" y="13"/>
                </a:lnTo>
                <a:lnTo>
                  <a:pt x="1420" y="11"/>
                </a:lnTo>
                <a:lnTo>
                  <a:pt x="1420" y="10"/>
                </a:lnTo>
                <a:lnTo>
                  <a:pt x="1420" y="9"/>
                </a:lnTo>
                <a:lnTo>
                  <a:pt x="1420" y="6"/>
                </a:lnTo>
                <a:lnTo>
                  <a:pt x="1420" y="5"/>
                </a:lnTo>
                <a:lnTo>
                  <a:pt x="1422" y="2"/>
                </a:lnTo>
                <a:lnTo>
                  <a:pt x="1424" y="1"/>
                </a:lnTo>
                <a:lnTo>
                  <a:pt x="1425" y="0"/>
                </a:lnTo>
                <a:lnTo>
                  <a:pt x="1427" y="0"/>
                </a:lnTo>
                <a:lnTo>
                  <a:pt x="1427" y="0"/>
                </a:lnTo>
                <a:close/>
                <a:moveTo>
                  <a:pt x="1529" y="0"/>
                </a:moveTo>
                <a:lnTo>
                  <a:pt x="1572" y="0"/>
                </a:lnTo>
                <a:lnTo>
                  <a:pt x="1573" y="0"/>
                </a:lnTo>
                <a:lnTo>
                  <a:pt x="1575" y="1"/>
                </a:lnTo>
                <a:lnTo>
                  <a:pt x="1576" y="2"/>
                </a:lnTo>
                <a:lnTo>
                  <a:pt x="1578" y="5"/>
                </a:lnTo>
                <a:lnTo>
                  <a:pt x="1578" y="6"/>
                </a:lnTo>
                <a:lnTo>
                  <a:pt x="1578" y="9"/>
                </a:lnTo>
                <a:lnTo>
                  <a:pt x="1578" y="10"/>
                </a:lnTo>
                <a:lnTo>
                  <a:pt x="1578" y="11"/>
                </a:lnTo>
                <a:lnTo>
                  <a:pt x="1576" y="13"/>
                </a:lnTo>
                <a:lnTo>
                  <a:pt x="1574" y="15"/>
                </a:lnTo>
                <a:lnTo>
                  <a:pt x="1573" y="16"/>
                </a:lnTo>
                <a:lnTo>
                  <a:pt x="1572" y="16"/>
                </a:lnTo>
                <a:lnTo>
                  <a:pt x="1529" y="16"/>
                </a:lnTo>
                <a:lnTo>
                  <a:pt x="1526" y="16"/>
                </a:lnTo>
                <a:lnTo>
                  <a:pt x="1525" y="15"/>
                </a:lnTo>
                <a:lnTo>
                  <a:pt x="1523" y="13"/>
                </a:lnTo>
                <a:lnTo>
                  <a:pt x="1522" y="11"/>
                </a:lnTo>
                <a:lnTo>
                  <a:pt x="1521" y="10"/>
                </a:lnTo>
                <a:lnTo>
                  <a:pt x="1521" y="9"/>
                </a:lnTo>
                <a:lnTo>
                  <a:pt x="1521" y="6"/>
                </a:lnTo>
                <a:lnTo>
                  <a:pt x="1522" y="5"/>
                </a:lnTo>
                <a:lnTo>
                  <a:pt x="1523" y="2"/>
                </a:lnTo>
                <a:lnTo>
                  <a:pt x="1525" y="1"/>
                </a:lnTo>
                <a:lnTo>
                  <a:pt x="1526" y="0"/>
                </a:lnTo>
                <a:lnTo>
                  <a:pt x="1529" y="0"/>
                </a:lnTo>
                <a:lnTo>
                  <a:pt x="1529" y="0"/>
                </a:lnTo>
                <a:close/>
                <a:moveTo>
                  <a:pt x="1629" y="0"/>
                </a:moveTo>
                <a:lnTo>
                  <a:pt x="1674" y="0"/>
                </a:lnTo>
                <a:lnTo>
                  <a:pt x="1675" y="1"/>
                </a:lnTo>
                <a:lnTo>
                  <a:pt x="1676" y="1"/>
                </a:lnTo>
                <a:lnTo>
                  <a:pt x="1678" y="2"/>
                </a:lnTo>
                <a:lnTo>
                  <a:pt x="1679" y="5"/>
                </a:lnTo>
                <a:lnTo>
                  <a:pt x="1681" y="6"/>
                </a:lnTo>
                <a:lnTo>
                  <a:pt x="1681" y="9"/>
                </a:lnTo>
                <a:lnTo>
                  <a:pt x="1681" y="10"/>
                </a:lnTo>
                <a:lnTo>
                  <a:pt x="1679" y="11"/>
                </a:lnTo>
                <a:lnTo>
                  <a:pt x="1678" y="13"/>
                </a:lnTo>
                <a:lnTo>
                  <a:pt x="1676" y="15"/>
                </a:lnTo>
                <a:lnTo>
                  <a:pt x="1675" y="16"/>
                </a:lnTo>
                <a:lnTo>
                  <a:pt x="1674" y="16"/>
                </a:lnTo>
                <a:lnTo>
                  <a:pt x="1629" y="16"/>
                </a:lnTo>
                <a:lnTo>
                  <a:pt x="1628" y="16"/>
                </a:lnTo>
                <a:lnTo>
                  <a:pt x="1627" y="15"/>
                </a:lnTo>
                <a:lnTo>
                  <a:pt x="1625" y="13"/>
                </a:lnTo>
                <a:lnTo>
                  <a:pt x="1623" y="11"/>
                </a:lnTo>
                <a:lnTo>
                  <a:pt x="1623" y="10"/>
                </a:lnTo>
                <a:lnTo>
                  <a:pt x="1623" y="9"/>
                </a:lnTo>
                <a:lnTo>
                  <a:pt x="1623" y="6"/>
                </a:lnTo>
                <a:lnTo>
                  <a:pt x="1623" y="5"/>
                </a:lnTo>
                <a:lnTo>
                  <a:pt x="1625" y="2"/>
                </a:lnTo>
                <a:lnTo>
                  <a:pt x="1627" y="1"/>
                </a:lnTo>
                <a:lnTo>
                  <a:pt x="1628" y="0"/>
                </a:lnTo>
                <a:lnTo>
                  <a:pt x="1629" y="0"/>
                </a:lnTo>
                <a:lnTo>
                  <a:pt x="1629" y="0"/>
                </a:lnTo>
                <a:close/>
                <a:moveTo>
                  <a:pt x="1732" y="0"/>
                </a:moveTo>
                <a:lnTo>
                  <a:pt x="1774" y="0"/>
                </a:lnTo>
                <a:lnTo>
                  <a:pt x="1776" y="1"/>
                </a:lnTo>
                <a:lnTo>
                  <a:pt x="1778" y="1"/>
                </a:lnTo>
                <a:lnTo>
                  <a:pt x="1779" y="2"/>
                </a:lnTo>
                <a:lnTo>
                  <a:pt x="1781" y="5"/>
                </a:lnTo>
                <a:lnTo>
                  <a:pt x="1781" y="6"/>
                </a:lnTo>
                <a:lnTo>
                  <a:pt x="1781" y="9"/>
                </a:lnTo>
                <a:lnTo>
                  <a:pt x="1781" y="10"/>
                </a:lnTo>
                <a:lnTo>
                  <a:pt x="1781" y="11"/>
                </a:lnTo>
                <a:lnTo>
                  <a:pt x="1779" y="13"/>
                </a:lnTo>
                <a:lnTo>
                  <a:pt x="1777" y="15"/>
                </a:lnTo>
                <a:lnTo>
                  <a:pt x="1776" y="16"/>
                </a:lnTo>
                <a:lnTo>
                  <a:pt x="1774" y="16"/>
                </a:lnTo>
                <a:lnTo>
                  <a:pt x="1732" y="16"/>
                </a:lnTo>
                <a:lnTo>
                  <a:pt x="1729" y="16"/>
                </a:lnTo>
                <a:lnTo>
                  <a:pt x="1728" y="15"/>
                </a:lnTo>
                <a:lnTo>
                  <a:pt x="1726" y="13"/>
                </a:lnTo>
                <a:lnTo>
                  <a:pt x="1725" y="11"/>
                </a:lnTo>
                <a:lnTo>
                  <a:pt x="1723" y="10"/>
                </a:lnTo>
                <a:lnTo>
                  <a:pt x="1723" y="9"/>
                </a:lnTo>
                <a:lnTo>
                  <a:pt x="1723" y="6"/>
                </a:lnTo>
                <a:lnTo>
                  <a:pt x="1725" y="5"/>
                </a:lnTo>
                <a:lnTo>
                  <a:pt x="1726" y="2"/>
                </a:lnTo>
                <a:lnTo>
                  <a:pt x="1728" y="1"/>
                </a:lnTo>
                <a:lnTo>
                  <a:pt x="1729" y="1"/>
                </a:lnTo>
                <a:lnTo>
                  <a:pt x="1732" y="0"/>
                </a:lnTo>
                <a:lnTo>
                  <a:pt x="1732" y="0"/>
                </a:lnTo>
                <a:close/>
                <a:moveTo>
                  <a:pt x="1832" y="0"/>
                </a:moveTo>
                <a:lnTo>
                  <a:pt x="1876" y="0"/>
                </a:lnTo>
                <a:lnTo>
                  <a:pt x="1878" y="1"/>
                </a:lnTo>
                <a:lnTo>
                  <a:pt x="1879" y="1"/>
                </a:lnTo>
                <a:lnTo>
                  <a:pt x="1881" y="2"/>
                </a:lnTo>
                <a:lnTo>
                  <a:pt x="1882" y="5"/>
                </a:lnTo>
                <a:lnTo>
                  <a:pt x="1883" y="6"/>
                </a:lnTo>
                <a:lnTo>
                  <a:pt x="1883" y="9"/>
                </a:lnTo>
                <a:lnTo>
                  <a:pt x="1883" y="10"/>
                </a:lnTo>
                <a:lnTo>
                  <a:pt x="1882" y="11"/>
                </a:lnTo>
                <a:lnTo>
                  <a:pt x="1881" y="13"/>
                </a:lnTo>
                <a:lnTo>
                  <a:pt x="1879" y="15"/>
                </a:lnTo>
                <a:lnTo>
                  <a:pt x="1878" y="16"/>
                </a:lnTo>
                <a:lnTo>
                  <a:pt x="1876" y="16"/>
                </a:lnTo>
                <a:lnTo>
                  <a:pt x="1832" y="16"/>
                </a:lnTo>
                <a:lnTo>
                  <a:pt x="1831" y="16"/>
                </a:lnTo>
                <a:lnTo>
                  <a:pt x="1830" y="15"/>
                </a:lnTo>
                <a:lnTo>
                  <a:pt x="1828" y="13"/>
                </a:lnTo>
                <a:lnTo>
                  <a:pt x="1825" y="11"/>
                </a:lnTo>
                <a:lnTo>
                  <a:pt x="1825" y="10"/>
                </a:lnTo>
                <a:lnTo>
                  <a:pt x="1825" y="9"/>
                </a:lnTo>
                <a:lnTo>
                  <a:pt x="1825" y="6"/>
                </a:lnTo>
                <a:lnTo>
                  <a:pt x="1825" y="5"/>
                </a:lnTo>
                <a:lnTo>
                  <a:pt x="1828" y="2"/>
                </a:lnTo>
                <a:lnTo>
                  <a:pt x="1830" y="1"/>
                </a:lnTo>
                <a:lnTo>
                  <a:pt x="1831" y="1"/>
                </a:lnTo>
                <a:lnTo>
                  <a:pt x="1832" y="0"/>
                </a:lnTo>
                <a:lnTo>
                  <a:pt x="1832" y="0"/>
                </a:lnTo>
                <a:close/>
              </a:path>
            </a:pathLst>
          </a:custGeom>
          <a:solidFill>
            <a:srgbClr val="000000"/>
          </a:solidFill>
          <a:ln w="1588" cap="flat" cmpd="sng">
            <a:solidFill>
              <a:srgbClr val="000099"/>
            </a:solidFill>
            <a:prstDash val="solid"/>
            <a:headEnd type="none" w="med" len="med"/>
            <a:tailEnd type="none" w="med" len="med"/>
          </a:ln>
        </p:spPr>
        <p:txBody>
          <a:bodyPr/>
          <a:p>
            <a:endParaRPr lang="zh-CN" altLang="en-US"/>
          </a:p>
        </p:txBody>
      </p:sp>
      <p:sp>
        <p:nvSpPr>
          <p:cNvPr id="113" name="直接连接符 112"/>
          <p:cNvSpPr/>
          <p:nvPr/>
        </p:nvSpPr>
        <p:spPr>
          <a:xfrm>
            <a:off x="5921375" y="4452938"/>
            <a:ext cx="1588" cy="444500"/>
          </a:xfrm>
          <a:prstGeom prst="line">
            <a:avLst/>
          </a:prstGeom>
          <a:ln w="46038" cap="flat" cmpd="sng">
            <a:solidFill>
              <a:srgbClr val="000099"/>
            </a:solidFill>
            <a:prstDash val="solid"/>
            <a:headEnd type="none" w="med" len="med"/>
            <a:tailEnd type="none" w="med" len="med"/>
          </a:ln>
        </p:spPr>
      </p:sp>
      <p:sp>
        <p:nvSpPr>
          <p:cNvPr id="114" name="任意多边形 113"/>
          <p:cNvSpPr>
            <a:spLocks noEditPoints="1"/>
          </p:cNvSpPr>
          <p:nvPr/>
        </p:nvSpPr>
        <p:spPr>
          <a:xfrm>
            <a:off x="5403850" y="6118225"/>
            <a:ext cx="508000" cy="25400"/>
          </a:xfrm>
          <a:custGeom>
            <a:avLst/>
            <a:gdLst/>
            <a:ahLst/>
            <a:cxnLst/>
            <a:pathLst>
              <a:path w="320" h="32">
                <a:moveTo>
                  <a:pt x="0" y="1"/>
                </a:moveTo>
                <a:lnTo>
                  <a:pt x="29" y="1"/>
                </a:lnTo>
                <a:lnTo>
                  <a:pt x="31" y="32"/>
                </a:lnTo>
                <a:lnTo>
                  <a:pt x="2" y="32"/>
                </a:lnTo>
                <a:lnTo>
                  <a:pt x="0" y="1"/>
                </a:lnTo>
                <a:close/>
                <a:moveTo>
                  <a:pt x="58" y="1"/>
                </a:moveTo>
                <a:lnTo>
                  <a:pt x="87" y="1"/>
                </a:lnTo>
                <a:lnTo>
                  <a:pt x="88" y="32"/>
                </a:lnTo>
                <a:lnTo>
                  <a:pt x="59" y="32"/>
                </a:lnTo>
                <a:lnTo>
                  <a:pt x="58" y="1"/>
                </a:lnTo>
                <a:close/>
                <a:moveTo>
                  <a:pt x="116" y="1"/>
                </a:moveTo>
                <a:lnTo>
                  <a:pt x="145" y="1"/>
                </a:lnTo>
                <a:lnTo>
                  <a:pt x="146" y="32"/>
                </a:lnTo>
                <a:lnTo>
                  <a:pt x="117" y="32"/>
                </a:lnTo>
                <a:lnTo>
                  <a:pt x="116" y="1"/>
                </a:lnTo>
                <a:close/>
                <a:moveTo>
                  <a:pt x="174" y="0"/>
                </a:moveTo>
                <a:lnTo>
                  <a:pt x="203" y="0"/>
                </a:lnTo>
                <a:lnTo>
                  <a:pt x="204" y="31"/>
                </a:lnTo>
                <a:lnTo>
                  <a:pt x="175" y="31"/>
                </a:lnTo>
                <a:lnTo>
                  <a:pt x="174" y="0"/>
                </a:lnTo>
                <a:close/>
                <a:moveTo>
                  <a:pt x="232" y="0"/>
                </a:moveTo>
                <a:lnTo>
                  <a:pt x="261" y="0"/>
                </a:lnTo>
                <a:lnTo>
                  <a:pt x="262" y="31"/>
                </a:lnTo>
                <a:lnTo>
                  <a:pt x="233" y="31"/>
                </a:lnTo>
                <a:lnTo>
                  <a:pt x="232" y="0"/>
                </a:lnTo>
                <a:close/>
                <a:moveTo>
                  <a:pt x="290" y="0"/>
                </a:moveTo>
                <a:lnTo>
                  <a:pt x="319" y="0"/>
                </a:lnTo>
                <a:lnTo>
                  <a:pt x="320" y="31"/>
                </a:lnTo>
                <a:lnTo>
                  <a:pt x="291" y="31"/>
                </a:lnTo>
                <a:lnTo>
                  <a:pt x="290" y="0"/>
                </a:lnTo>
                <a:close/>
              </a:path>
            </a:pathLst>
          </a:custGeom>
          <a:solidFill>
            <a:srgbClr val="000000"/>
          </a:solidFill>
          <a:ln w="1588" cap="flat" cmpd="sng">
            <a:solidFill>
              <a:srgbClr val="000099"/>
            </a:solidFill>
            <a:prstDash val="solid"/>
            <a:headEnd type="none" w="med" len="med"/>
            <a:tailEnd type="none" w="med" len="med"/>
          </a:ln>
        </p:spPr>
        <p:txBody>
          <a:bodyPr/>
          <a:p>
            <a:endParaRPr lang="zh-CN" altLang="en-US"/>
          </a:p>
        </p:txBody>
      </p:sp>
      <p:sp>
        <p:nvSpPr>
          <p:cNvPr id="115" name="矩形 114"/>
          <p:cNvSpPr/>
          <p:nvPr/>
        </p:nvSpPr>
        <p:spPr>
          <a:xfrm>
            <a:off x="6303963" y="6626225"/>
            <a:ext cx="34925" cy="152400"/>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rPr>
              <a:t>t</a:t>
            </a:r>
            <a:endParaRPr lang="en-US" altLang="zh-CN" sz="2400" b="1">
              <a:solidFill>
                <a:srgbClr val="FF0000"/>
              </a:solidFill>
              <a:latin typeface="Times New Roman" panose="02020603050405020304" charset="0"/>
            </a:endParaRPr>
          </a:p>
        </p:txBody>
      </p:sp>
      <p:sp>
        <p:nvSpPr>
          <p:cNvPr id="116" name="矩形 115"/>
          <p:cNvSpPr/>
          <p:nvPr/>
        </p:nvSpPr>
        <p:spPr>
          <a:xfrm>
            <a:off x="6369050" y="6678613"/>
            <a:ext cx="38100" cy="92075"/>
          </a:xfrm>
          <a:prstGeom prst="rect">
            <a:avLst/>
          </a:prstGeom>
          <a:noFill/>
          <a:ln w="9525">
            <a:noFill/>
          </a:ln>
        </p:spPr>
        <p:txBody>
          <a:bodyPr wrap="none" lIns="0" tIns="0" rIns="0" bIns="0">
            <a:spAutoFit/>
          </a:bodyPr>
          <a:p>
            <a:pPr>
              <a:spcBef>
                <a:spcPct val="50000"/>
              </a:spcBef>
            </a:pPr>
            <a:r>
              <a:rPr lang="en-US" altLang="zh-CN" sz="600" b="1">
                <a:solidFill>
                  <a:srgbClr val="000000"/>
                </a:solidFill>
                <a:latin typeface="Times New Roman" panose="02020603050405020304" charset="0"/>
              </a:rPr>
              <a:t>1</a:t>
            </a:r>
            <a:endParaRPr lang="en-US" altLang="zh-CN" sz="2400" b="1">
              <a:solidFill>
                <a:srgbClr val="FF0000"/>
              </a:solidFill>
              <a:latin typeface="Times New Roman" panose="02020603050405020304" charset="0"/>
            </a:endParaRPr>
          </a:p>
        </p:txBody>
      </p:sp>
      <p:sp>
        <p:nvSpPr>
          <p:cNvPr id="117" name="矩形 116"/>
          <p:cNvSpPr/>
          <p:nvPr/>
        </p:nvSpPr>
        <p:spPr>
          <a:xfrm>
            <a:off x="6446838" y="6624638"/>
            <a:ext cx="31750" cy="152400"/>
          </a:xfrm>
          <a:prstGeom prst="rect">
            <a:avLst/>
          </a:prstGeom>
          <a:noFill/>
          <a:ln w="9525">
            <a:noFill/>
          </a:ln>
        </p:spPr>
        <p:txBody>
          <a:bodyPr wrap="none" lIns="0" tIns="0" rIns="0" bIns="0">
            <a:spAutoFit/>
          </a:bodyPr>
          <a:p>
            <a:pPr>
              <a:spcBef>
                <a:spcPct val="50000"/>
              </a:spcBef>
            </a:pPr>
            <a:r>
              <a:rPr lang="en-US" altLang="zh-CN" sz="1000" b="1" dirty="0">
                <a:solidFill>
                  <a:srgbClr val="000000"/>
                </a:solidFill>
                <a:latin typeface="Times New Roman" panose="02020603050405020304" charset="0"/>
              </a:rPr>
              <a:t> </a:t>
            </a:r>
            <a:endParaRPr lang="en-US" altLang="zh-CN" sz="2400" b="1" dirty="0">
              <a:solidFill>
                <a:srgbClr val="FF0000"/>
              </a:solidFill>
              <a:latin typeface="Times New Roman" panose="02020603050405020304" charset="0"/>
            </a:endParaRPr>
          </a:p>
        </p:txBody>
      </p:sp>
      <p:sp>
        <p:nvSpPr>
          <p:cNvPr id="118" name="矩形 117"/>
          <p:cNvSpPr/>
          <p:nvPr/>
        </p:nvSpPr>
        <p:spPr>
          <a:xfrm>
            <a:off x="6854825" y="6638925"/>
            <a:ext cx="34925" cy="152400"/>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rPr>
              <a:t>t</a:t>
            </a:r>
            <a:endParaRPr lang="en-US" altLang="zh-CN" sz="2400" b="1">
              <a:solidFill>
                <a:srgbClr val="FF0000"/>
              </a:solidFill>
              <a:latin typeface="Times New Roman" panose="02020603050405020304" charset="0"/>
            </a:endParaRPr>
          </a:p>
        </p:txBody>
      </p:sp>
      <p:sp>
        <p:nvSpPr>
          <p:cNvPr id="119" name="矩形 118"/>
          <p:cNvSpPr/>
          <p:nvPr/>
        </p:nvSpPr>
        <p:spPr>
          <a:xfrm>
            <a:off x="6918325" y="6691313"/>
            <a:ext cx="38100" cy="92075"/>
          </a:xfrm>
          <a:prstGeom prst="rect">
            <a:avLst/>
          </a:prstGeom>
          <a:noFill/>
          <a:ln w="9525">
            <a:noFill/>
          </a:ln>
        </p:spPr>
        <p:txBody>
          <a:bodyPr wrap="none" lIns="0" tIns="0" rIns="0" bIns="0">
            <a:spAutoFit/>
          </a:bodyPr>
          <a:p>
            <a:pPr>
              <a:spcBef>
                <a:spcPct val="50000"/>
              </a:spcBef>
            </a:pPr>
            <a:r>
              <a:rPr lang="en-US" altLang="zh-CN" sz="600" b="1">
                <a:solidFill>
                  <a:srgbClr val="000000"/>
                </a:solidFill>
                <a:latin typeface="Times New Roman" panose="02020603050405020304" charset="0"/>
              </a:rPr>
              <a:t>2</a:t>
            </a:r>
            <a:endParaRPr lang="en-US" altLang="zh-CN" sz="2400" b="1">
              <a:solidFill>
                <a:srgbClr val="FF0000"/>
              </a:solidFill>
              <a:latin typeface="Times New Roman" panose="02020603050405020304" charset="0"/>
            </a:endParaRPr>
          </a:p>
        </p:txBody>
      </p:sp>
      <p:sp>
        <p:nvSpPr>
          <p:cNvPr id="120" name="矩形 119"/>
          <p:cNvSpPr/>
          <p:nvPr/>
        </p:nvSpPr>
        <p:spPr>
          <a:xfrm>
            <a:off x="6996113" y="6637338"/>
            <a:ext cx="31750" cy="152400"/>
          </a:xfrm>
          <a:prstGeom prst="rect">
            <a:avLst/>
          </a:prstGeom>
          <a:noFill/>
          <a:ln w="9525">
            <a:noFill/>
          </a:ln>
        </p:spPr>
        <p:txBody>
          <a:bodyPr wrap="none" lIns="0" tIns="0" rIns="0" bIns="0">
            <a:spAutoFit/>
          </a:bodyPr>
          <a:p>
            <a:pPr>
              <a:spcBef>
                <a:spcPct val="50000"/>
              </a:spcBef>
            </a:pPr>
            <a:r>
              <a:rPr lang="en-US" altLang="zh-CN" sz="1000" b="1" dirty="0">
                <a:solidFill>
                  <a:srgbClr val="000000"/>
                </a:solidFill>
                <a:latin typeface="Times New Roman" panose="02020603050405020304" charset="0"/>
              </a:rPr>
              <a:t> </a:t>
            </a:r>
            <a:endParaRPr lang="en-US" altLang="zh-CN" sz="2400" b="1" dirty="0">
              <a:solidFill>
                <a:srgbClr val="FF0000"/>
              </a:solidFill>
              <a:latin typeface="Times New Roman" panose="02020603050405020304" charset="0"/>
            </a:endParaRPr>
          </a:p>
        </p:txBody>
      </p:sp>
      <p:sp>
        <p:nvSpPr>
          <p:cNvPr id="121" name="矩形 120"/>
          <p:cNvSpPr/>
          <p:nvPr/>
        </p:nvSpPr>
        <p:spPr>
          <a:xfrm>
            <a:off x="8202613" y="5197475"/>
            <a:ext cx="34925" cy="152400"/>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rPr>
              <a:t>t</a:t>
            </a:r>
            <a:endParaRPr lang="en-US" altLang="zh-CN" sz="2400" b="1">
              <a:solidFill>
                <a:srgbClr val="FF0000"/>
              </a:solidFill>
              <a:latin typeface="Times New Roman" panose="02020603050405020304" charset="0"/>
            </a:endParaRPr>
          </a:p>
        </p:txBody>
      </p:sp>
      <p:sp>
        <p:nvSpPr>
          <p:cNvPr id="122" name="矩形 121"/>
          <p:cNvSpPr/>
          <p:nvPr/>
        </p:nvSpPr>
        <p:spPr>
          <a:xfrm>
            <a:off x="9124950" y="5208588"/>
            <a:ext cx="31750" cy="152400"/>
          </a:xfrm>
          <a:prstGeom prst="rect">
            <a:avLst/>
          </a:prstGeom>
          <a:noFill/>
          <a:ln w="9525">
            <a:noFill/>
          </a:ln>
        </p:spPr>
        <p:txBody>
          <a:bodyPr wrap="none" lIns="0" tIns="0" rIns="0" bIns="0">
            <a:spAutoFit/>
          </a:bodyPr>
          <a:p>
            <a:pPr>
              <a:spcBef>
                <a:spcPct val="50000"/>
              </a:spcBef>
            </a:pPr>
            <a:r>
              <a:rPr lang="en-US" altLang="zh-CN" sz="1000" b="1" i="1" dirty="0">
                <a:solidFill>
                  <a:srgbClr val="000000"/>
                </a:solidFill>
                <a:latin typeface="Times New Roman" panose="02020603050405020304" charset="0"/>
              </a:rPr>
              <a:t> </a:t>
            </a:r>
            <a:endParaRPr lang="en-US" altLang="zh-CN" sz="2400" b="1" dirty="0">
              <a:solidFill>
                <a:srgbClr val="FF0000"/>
              </a:solidFill>
              <a:latin typeface="Times New Roman" panose="02020603050405020304" charset="0"/>
            </a:endParaRPr>
          </a:p>
        </p:txBody>
      </p:sp>
      <p:sp>
        <p:nvSpPr>
          <p:cNvPr id="123" name="矩形 122"/>
          <p:cNvSpPr/>
          <p:nvPr/>
        </p:nvSpPr>
        <p:spPr>
          <a:xfrm>
            <a:off x="8210550" y="6648450"/>
            <a:ext cx="34925" cy="152400"/>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rPr>
              <a:t>t</a:t>
            </a:r>
            <a:endParaRPr lang="en-US" altLang="zh-CN" sz="2400" b="1">
              <a:solidFill>
                <a:srgbClr val="FF0000"/>
              </a:solidFill>
              <a:latin typeface="Times New Roman" panose="02020603050405020304" charset="0"/>
            </a:endParaRPr>
          </a:p>
        </p:txBody>
      </p:sp>
      <p:sp>
        <p:nvSpPr>
          <p:cNvPr id="124" name="矩形 123"/>
          <p:cNvSpPr/>
          <p:nvPr/>
        </p:nvSpPr>
        <p:spPr>
          <a:xfrm>
            <a:off x="9124950" y="6648450"/>
            <a:ext cx="31750" cy="152400"/>
          </a:xfrm>
          <a:prstGeom prst="rect">
            <a:avLst/>
          </a:prstGeom>
          <a:noFill/>
          <a:ln w="9525">
            <a:noFill/>
          </a:ln>
        </p:spPr>
        <p:txBody>
          <a:bodyPr wrap="none" lIns="0" tIns="0" rIns="0" bIns="0">
            <a:spAutoFit/>
          </a:bodyPr>
          <a:p>
            <a:pPr>
              <a:spcBef>
                <a:spcPct val="50000"/>
              </a:spcBef>
            </a:pPr>
            <a:r>
              <a:rPr lang="en-US" altLang="zh-CN" sz="1000" b="1" i="1" dirty="0">
                <a:solidFill>
                  <a:srgbClr val="000000"/>
                </a:solidFill>
                <a:latin typeface="Times New Roman" panose="02020603050405020304" charset="0"/>
              </a:rPr>
              <a:t> </a:t>
            </a:r>
            <a:endParaRPr lang="en-US" altLang="zh-CN" sz="2400" b="1" dirty="0">
              <a:solidFill>
                <a:srgbClr val="FF0000"/>
              </a:solidFill>
              <a:latin typeface="Times New Roman" panose="02020603050405020304" charset="0"/>
            </a:endParaRPr>
          </a:p>
        </p:txBody>
      </p:sp>
      <p:sp>
        <p:nvSpPr>
          <p:cNvPr id="125" name="任意多边形 124"/>
          <p:cNvSpPr/>
          <p:nvPr/>
        </p:nvSpPr>
        <p:spPr>
          <a:xfrm>
            <a:off x="5373688" y="4464050"/>
            <a:ext cx="68262" cy="128588"/>
          </a:xfrm>
          <a:custGeom>
            <a:avLst/>
            <a:gdLst/>
            <a:ahLst/>
            <a:cxnLst/>
            <a:pathLst>
              <a:path w="43" h="162">
                <a:moveTo>
                  <a:pt x="0" y="162"/>
                </a:moveTo>
                <a:lnTo>
                  <a:pt x="43" y="162"/>
                </a:lnTo>
                <a:lnTo>
                  <a:pt x="22" y="0"/>
                </a:lnTo>
                <a:lnTo>
                  <a:pt x="0" y="162"/>
                </a:lnTo>
                <a:close/>
              </a:path>
            </a:pathLst>
          </a:custGeom>
          <a:solidFill>
            <a:srgbClr val="000000"/>
          </a:solidFill>
          <a:ln w="9525">
            <a:noFill/>
          </a:ln>
        </p:spPr>
        <p:txBody>
          <a:bodyPr/>
          <a:p>
            <a:endParaRPr lang="zh-CN" altLang="en-US"/>
          </a:p>
        </p:txBody>
      </p:sp>
      <p:sp>
        <p:nvSpPr>
          <p:cNvPr id="126" name="任意多边形 125"/>
          <p:cNvSpPr/>
          <p:nvPr/>
        </p:nvSpPr>
        <p:spPr>
          <a:xfrm>
            <a:off x="5373688" y="4184650"/>
            <a:ext cx="68262" cy="128588"/>
          </a:xfrm>
          <a:custGeom>
            <a:avLst/>
            <a:gdLst/>
            <a:ahLst/>
            <a:cxnLst/>
            <a:pathLst>
              <a:path w="43" h="162">
                <a:moveTo>
                  <a:pt x="0" y="162"/>
                </a:moveTo>
                <a:lnTo>
                  <a:pt x="43" y="162"/>
                </a:lnTo>
                <a:lnTo>
                  <a:pt x="22" y="0"/>
                </a:lnTo>
                <a:lnTo>
                  <a:pt x="0" y="162"/>
                </a:lnTo>
                <a:close/>
              </a:path>
            </a:pathLst>
          </a:custGeom>
          <a:solidFill>
            <a:schemeClr val="accent2"/>
          </a:solidFill>
          <a:ln w="7938" cap="flat" cmpd="sng">
            <a:solidFill>
              <a:schemeClr val="accent2"/>
            </a:solidFill>
            <a:prstDash val="solid"/>
            <a:headEnd type="none" w="med" len="med"/>
            <a:tailEnd type="none" w="med" len="med"/>
          </a:ln>
        </p:spPr>
        <p:txBody>
          <a:bodyPr/>
          <a:p>
            <a:endParaRPr lang="zh-CN" altLang="en-US"/>
          </a:p>
        </p:txBody>
      </p:sp>
      <p:sp>
        <p:nvSpPr>
          <p:cNvPr id="127" name="任意多边形 126"/>
          <p:cNvSpPr/>
          <p:nvPr/>
        </p:nvSpPr>
        <p:spPr>
          <a:xfrm>
            <a:off x="7885113" y="5199063"/>
            <a:ext cx="242887" cy="36512"/>
          </a:xfrm>
          <a:custGeom>
            <a:avLst/>
            <a:gdLst/>
            <a:ahLst/>
            <a:cxnLst/>
            <a:pathLst>
              <a:path w="153" h="45">
                <a:moveTo>
                  <a:pt x="0" y="45"/>
                </a:moveTo>
                <a:lnTo>
                  <a:pt x="0" y="0"/>
                </a:lnTo>
                <a:lnTo>
                  <a:pt x="153" y="22"/>
                </a:lnTo>
                <a:lnTo>
                  <a:pt x="0" y="45"/>
                </a:lnTo>
                <a:close/>
              </a:path>
            </a:pathLst>
          </a:custGeom>
          <a:noFill/>
          <a:ln w="7938" cap="flat" cmpd="sng">
            <a:solidFill>
              <a:schemeClr val="accent2"/>
            </a:solidFill>
            <a:prstDash val="solid"/>
            <a:headEnd type="none" w="med" len="med"/>
            <a:tailEnd type="none" w="med" len="med"/>
          </a:ln>
        </p:spPr>
        <p:txBody>
          <a:bodyPr/>
          <a:p>
            <a:endParaRPr lang="zh-CN" altLang="en-US"/>
          </a:p>
        </p:txBody>
      </p:sp>
      <p:sp>
        <p:nvSpPr>
          <p:cNvPr id="128" name="任意多边形 127"/>
          <p:cNvSpPr/>
          <p:nvPr/>
        </p:nvSpPr>
        <p:spPr>
          <a:xfrm>
            <a:off x="5373688" y="5886450"/>
            <a:ext cx="68262" cy="128588"/>
          </a:xfrm>
          <a:custGeom>
            <a:avLst/>
            <a:gdLst/>
            <a:ahLst/>
            <a:cxnLst/>
            <a:pathLst>
              <a:path w="43" h="162">
                <a:moveTo>
                  <a:pt x="0" y="162"/>
                </a:moveTo>
                <a:lnTo>
                  <a:pt x="43" y="162"/>
                </a:lnTo>
                <a:lnTo>
                  <a:pt x="22" y="0"/>
                </a:lnTo>
                <a:lnTo>
                  <a:pt x="0" y="162"/>
                </a:lnTo>
                <a:close/>
              </a:path>
            </a:pathLst>
          </a:custGeom>
          <a:solidFill>
            <a:srgbClr val="000000"/>
          </a:solidFill>
          <a:ln w="9525">
            <a:noFill/>
          </a:ln>
        </p:spPr>
        <p:txBody>
          <a:bodyPr/>
          <a:p>
            <a:endParaRPr lang="zh-CN" altLang="en-US"/>
          </a:p>
        </p:txBody>
      </p:sp>
      <p:sp>
        <p:nvSpPr>
          <p:cNvPr id="129" name="任意多边形 128"/>
          <p:cNvSpPr/>
          <p:nvPr/>
        </p:nvSpPr>
        <p:spPr>
          <a:xfrm>
            <a:off x="5500688" y="6013450"/>
            <a:ext cx="68262" cy="128588"/>
          </a:xfrm>
          <a:custGeom>
            <a:avLst/>
            <a:gdLst/>
            <a:ahLst/>
            <a:cxnLst/>
            <a:pathLst>
              <a:path w="43" h="162">
                <a:moveTo>
                  <a:pt x="0" y="162"/>
                </a:moveTo>
                <a:lnTo>
                  <a:pt x="43" y="162"/>
                </a:lnTo>
                <a:lnTo>
                  <a:pt x="22" y="0"/>
                </a:lnTo>
                <a:lnTo>
                  <a:pt x="0" y="162"/>
                </a:lnTo>
                <a:close/>
              </a:path>
            </a:pathLst>
          </a:custGeom>
          <a:noFill/>
          <a:ln w="7938" cap="flat" cmpd="sng">
            <a:solidFill>
              <a:schemeClr val="accent2"/>
            </a:solidFill>
            <a:prstDash val="solid"/>
            <a:headEnd type="none" w="med" len="med"/>
            <a:tailEnd type="none" w="med" len="med"/>
          </a:ln>
        </p:spPr>
        <p:txBody>
          <a:bodyPr/>
          <a:p>
            <a:endParaRPr lang="zh-CN" altLang="en-US"/>
          </a:p>
        </p:txBody>
      </p:sp>
      <p:sp>
        <p:nvSpPr>
          <p:cNvPr id="130" name="任意多边形 129"/>
          <p:cNvSpPr/>
          <p:nvPr/>
        </p:nvSpPr>
        <p:spPr>
          <a:xfrm>
            <a:off x="7910513" y="6596063"/>
            <a:ext cx="242887" cy="34925"/>
          </a:xfrm>
          <a:custGeom>
            <a:avLst/>
            <a:gdLst/>
            <a:ahLst/>
            <a:cxnLst/>
            <a:pathLst>
              <a:path w="153" h="46">
                <a:moveTo>
                  <a:pt x="0" y="46"/>
                </a:moveTo>
                <a:lnTo>
                  <a:pt x="0" y="0"/>
                </a:lnTo>
                <a:lnTo>
                  <a:pt x="153" y="22"/>
                </a:lnTo>
                <a:lnTo>
                  <a:pt x="0" y="46"/>
                </a:lnTo>
                <a:close/>
              </a:path>
            </a:pathLst>
          </a:custGeom>
          <a:noFill/>
          <a:ln w="7938" cap="flat" cmpd="sng">
            <a:solidFill>
              <a:srgbClr val="000000"/>
            </a:solidFill>
            <a:prstDash val="solid"/>
            <a:headEnd type="none" w="med" len="med"/>
            <a:tailEnd type="none" w="med" len="med"/>
          </a:ln>
        </p:spPr>
        <p:txBody>
          <a:bodyPr/>
          <a:p>
            <a:endParaRPr lang="zh-CN" altLang="en-US"/>
          </a:p>
        </p:txBody>
      </p:sp>
      <p:sp>
        <p:nvSpPr>
          <p:cNvPr id="132" name="文本框 131"/>
          <p:cNvSpPr txBox="1"/>
          <p:nvPr/>
        </p:nvSpPr>
        <p:spPr>
          <a:xfrm>
            <a:off x="4910138" y="3536950"/>
            <a:ext cx="457200" cy="1565275"/>
          </a:xfrm>
          <a:prstGeom prst="rect">
            <a:avLst/>
          </a:prstGeom>
          <a:noFill/>
          <a:ln w="9525">
            <a:noFill/>
          </a:ln>
        </p:spPr>
        <p:txBody>
          <a:bodyPr lIns="0" tIns="0" rIns="0" bIns="0"/>
          <a:p>
            <a:pPr algn="r"/>
            <a:endParaRPr lang="en-US" altLang="zh-CN" b="1" i="1">
              <a:solidFill>
                <a:srgbClr val="FF0000"/>
              </a:solidFill>
              <a:latin typeface="Bookman Old Style" panose="02050604050505020204" pitchFamily="18" charset="0"/>
            </a:endParaRPr>
          </a:p>
          <a:p>
            <a:pPr algn="r"/>
            <a:r>
              <a:rPr lang="en-US" altLang="zh-CN" b="1" i="1" err="1">
                <a:solidFill>
                  <a:srgbClr val="000099"/>
                </a:solidFill>
                <a:latin typeface="Bookman Old Style" panose="02050604050505020204" pitchFamily="18" charset="0"/>
              </a:rPr>
              <a:t>v</a:t>
            </a:r>
            <a:r>
              <a:rPr lang="en-US" altLang="zh-CN" b="1" baseline="-25000" err="1">
                <a:solidFill>
                  <a:srgbClr val="000099"/>
                </a:solidFill>
                <a:latin typeface="Times New Roman" panose="02020603050405020304" charset="0"/>
              </a:rPr>
              <a:t>I</a:t>
            </a:r>
            <a:endParaRPr lang="en-US" altLang="zh-CN" b="1">
              <a:solidFill>
                <a:srgbClr val="000099"/>
              </a:solidFill>
              <a:latin typeface="Times New Roman" panose="02020603050405020304" charset="0"/>
            </a:endParaRPr>
          </a:p>
          <a:p>
            <a:pPr algn="r"/>
            <a:endParaRPr lang="en-US" altLang="zh-CN" sz="1600" b="1" i="1">
              <a:solidFill>
                <a:schemeClr val="accent2"/>
              </a:solidFill>
              <a:latin typeface="Times New Roman" panose="02020603050405020304" charset="0"/>
            </a:endParaRPr>
          </a:p>
          <a:p>
            <a:pPr algn="r"/>
            <a:r>
              <a:rPr lang="en-US" altLang="zh-CN" sz="1600" b="1" i="1">
                <a:solidFill>
                  <a:schemeClr val="accent2"/>
                </a:solidFill>
                <a:latin typeface="Times New Roman" panose="02020603050405020304" charset="0"/>
              </a:rPr>
              <a:t>V</a:t>
            </a:r>
            <a:r>
              <a:rPr lang="en-US" altLang="zh-CN" sz="1600" b="1" baseline="-25000">
                <a:solidFill>
                  <a:schemeClr val="accent2"/>
                </a:solidFill>
                <a:latin typeface="Times New Roman" panose="02020603050405020304" charset="0"/>
              </a:rPr>
              <a:t>DD</a:t>
            </a:r>
            <a:endParaRPr lang="en-US" altLang="zh-CN" sz="1600" b="1">
              <a:solidFill>
                <a:schemeClr val="accent2"/>
              </a:solidFill>
              <a:latin typeface="Times New Roman" panose="02020603050405020304" charset="0"/>
            </a:endParaRPr>
          </a:p>
          <a:p>
            <a:pPr algn="r">
              <a:spcBef>
                <a:spcPts val="600"/>
              </a:spcBef>
            </a:pPr>
            <a:r>
              <a:rPr lang="en-US" altLang="zh-CN" sz="1600" b="1" i="1" err="1">
                <a:solidFill>
                  <a:schemeClr val="accent2"/>
                </a:solidFill>
                <a:latin typeface="Times New Roman" panose="02020603050405020304" charset="0"/>
              </a:rPr>
              <a:t>V</a:t>
            </a:r>
            <a:r>
              <a:rPr lang="en-US" altLang="zh-CN" sz="1600" b="1" baseline="-25000" err="1">
                <a:solidFill>
                  <a:schemeClr val="accent2"/>
                </a:solidFill>
                <a:latin typeface="Times New Roman" panose="02020603050405020304" charset="0"/>
              </a:rPr>
              <a:t>th</a:t>
            </a:r>
            <a:endParaRPr lang="en-US" altLang="zh-CN" sz="1600" b="1" baseline="-25000">
              <a:solidFill>
                <a:schemeClr val="accent2"/>
              </a:solidFill>
              <a:latin typeface="Times New Roman" panose="02020603050405020304" charset="0"/>
            </a:endParaRPr>
          </a:p>
          <a:p>
            <a:pPr algn="r">
              <a:spcBef>
                <a:spcPts val="200"/>
              </a:spcBef>
            </a:pPr>
            <a:r>
              <a:rPr lang="en-US" altLang="zh-CN" sz="1600" b="1">
                <a:latin typeface="Times New Roman" panose="02020603050405020304" charset="0"/>
              </a:rPr>
              <a:t>0</a:t>
            </a:r>
            <a:endParaRPr lang="en-US" altLang="zh-CN" sz="1600">
              <a:latin typeface="Arial" panose="020B0604020202020204" pitchFamily="34" charset="0"/>
            </a:endParaRPr>
          </a:p>
        </p:txBody>
      </p:sp>
      <p:sp>
        <p:nvSpPr>
          <p:cNvPr id="133" name="文本框 132"/>
          <p:cNvSpPr txBox="1"/>
          <p:nvPr/>
        </p:nvSpPr>
        <p:spPr>
          <a:xfrm>
            <a:off x="4808538" y="5667375"/>
            <a:ext cx="539750" cy="815975"/>
          </a:xfrm>
          <a:prstGeom prst="rect">
            <a:avLst/>
          </a:prstGeom>
          <a:noFill/>
          <a:ln w="9525">
            <a:noFill/>
          </a:ln>
        </p:spPr>
        <p:txBody>
          <a:bodyPr lIns="0" tIns="0" rIns="0" bIns="0"/>
          <a:p>
            <a:pPr algn="r"/>
            <a:r>
              <a:rPr lang="en-US" altLang="zh-CN" b="1" i="1">
                <a:solidFill>
                  <a:srgbClr val="000099"/>
                </a:solidFill>
                <a:latin typeface="Times New Roman" panose="02020603050405020304" charset="0"/>
              </a:rPr>
              <a:t>v</a:t>
            </a:r>
            <a:r>
              <a:rPr lang="en-US" altLang="zh-CN" b="1" baseline="-25000">
                <a:solidFill>
                  <a:srgbClr val="000099"/>
                </a:solidFill>
                <a:latin typeface="Times New Roman" panose="02020603050405020304" charset="0"/>
              </a:rPr>
              <a:t>O2</a:t>
            </a:r>
            <a:endParaRPr lang="en-US" altLang="zh-CN" b="1">
              <a:solidFill>
                <a:srgbClr val="000099"/>
              </a:solidFill>
              <a:latin typeface="Times New Roman" panose="02020603050405020304" charset="0"/>
            </a:endParaRPr>
          </a:p>
          <a:p>
            <a:pPr algn="r">
              <a:spcBef>
                <a:spcPts val="400"/>
              </a:spcBef>
            </a:pPr>
            <a:r>
              <a:rPr lang="en-US" altLang="zh-CN" sz="1200" b="1" i="1">
                <a:solidFill>
                  <a:srgbClr val="000099"/>
                </a:solidFill>
                <a:latin typeface="Times New Roman" panose="02020603050405020304" charset="0"/>
              </a:rPr>
              <a:t>V</a:t>
            </a:r>
            <a:r>
              <a:rPr lang="en-US" altLang="zh-CN" sz="1200" b="1" baseline="-25000">
                <a:solidFill>
                  <a:srgbClr val="000099"/>
                </a:solidFill>
                <a:latin typeface="Times New Roman" panose="02020603050405020304" charset="0"/>
              </a:rPr>
              <a:t>DD</a:t>
            </a:r>
            <a:endParaRPr lang="en-US" altLang="zh-CN" sz="1200" b="1">
              <a:solidFill>
                <a:srgbClr val="000099"/>
              </a:solidFill>
              <a:latin typeface="Times New Roman" panose="02020603050405020304" charset="0"/>
            </a:endParaRPr>
          </a:p>
          <a:p>
            <a:pPr algn="r"/>
            <a:endParaRPr lang="en-US" altLang="zh-CN" sz="1200" b="1">
              <a:solidFill>
                <a:srgbClr val="000099"/>
              </a:solidFill>
              <a:latin typeface="Times New Roman" panose="02020603050405020304" charset="0"/>
            </a:endParaRPr>
          </a:p>
          <a:p>
            <a:pPr algn="r"/>
            <a:endParaRPr lang="en-US" altLang="zh-CN" sz="1200" b="1">
              <a:latin typeface="Times New Roman" panose="02020603050405020304" charset="0"/>
            </a:endParaRPr>
          </a:p>
          <a:p>
            <a:pPr algn="r"/>
            <a:r>
              <a:rPr lang="en-US" altLang="zh-CN" sz="1200" b="1">
                <a:latin typeface="Times New Roman" panose="02020603050405020304" charset="0"/>
              </a:rPr>
              <a:t>0</a:t>
            </a:r>
            <a:endParaRPr lang="en-US" altLang="zh-CN" sz="3200">
              <a:latin typeface="Arial" panose="020B0604020202020204" pitchFamily="34" charset="0"/>
            </a:endParaRPr>
          </a:p>
        </p:txBody>
      </p:sp>
      <p:sp>
        <p:nvSpPr>
          <p:cNvPr id="134" name="直接连接符 133"/>
          <p:cNvSpPr/>
          <p:nvPr/>
        </p:nvSpPr>
        <p:spPr>
          <a:xfrm flipV="1">
            <a:off x="361950" y="4997450"/>
            <a:ext cx="0" cy="511175"/>
          </a:xfrm>
          <a:prstGeom prst="line">
            <a:avLst/>
          </a:prstGeom>
          <a:ln w="38100" cap="flat" cmpd="sng">
            <a:solidFill>
              <a:srgbClr val="FF0000"/>
            </a:solidFill>
            <a:prstDash val="solid"/>
            <a:headEnd type="none" w="med" len="med"/>
            <a:tailEnd type="triangle" w="med" len="med"/>
          </a:ln>
        </p:spPr>
      </p:sp>
      <p:sp>
        <p:nvSpPr>
          <p:cNvPr id="135" name="任意多边形 134"/>
          <p:cNvSpPr/>
          <p:nvPr/>
        </p:nvSpPr>
        <p:spPr>
          <a:xfrm flipH="1">
            <a:off x="5418138" y="4970463"/>
            <a:ext cx="1038225" cy="269875"/>
          </a:xfrm>
          <a:custGeom>
            <a:avLst/>
            <a:gdLst>
              <a:gd name="txL" fmla="*/ 0 w 21600"/>
              <a:gd name="txT" fmla="*/ 0 h 18252"/>
              <a:gd name="txR" fmla="*/ 21600 w 21600"/>
              <a:gd name="txB" fmla="*/ 18252 h 18252"/>
            </a:gdLst>
            <a:ahLst/>
            <a:cxnLst>
              <a:cxn ang="270">
                <a:pos x="11551" y="0"/>
              </a:cxn>
              <a:cxn ang="0">
                <a:pos x="21600" y="18252"/>
              </a:cxn>
              <a:cxn ang="180">
                <a:pos x="0" y="18252"/>
              </a:cxn>
            </a:cxnLst>
            <a:rect l="txL" t="txT" r="txR" b="txB"/>
            <a:pathLst>
              <a:path w="21600" h="18252" fill="none">
                <a:moveTo>
                  <a:pt x="11551" y="0"/>
                </a:moveTo>
                <a:arcTo wR="21600" hR="21600" stAng="-3460310" swAng="3460310"/>
              </a:path>
              <a:path w="21600" h="18252" stroke="0">
                <a:moveTo>
                  <a:pt x="11551" y="0"/>
                </a:moveTo>
                <a:arcTo wR="21600" hR="21600" stAng="-3460310" swAng="3460310"/>
                <a:lnTo>
                  <a:pt x="0" y="18252"/>
                </a:lnTo>
                <a:close/>
              </a:path>
            </a:pathLst>
          </a:custGeom>
          <a:noFill/>
          <a:ln w="38100" cap="flat" cmpd="sng">
            <a:solidFill>
              <a:srgbClr val="000099"/>
            </a:solidFill>
            <a:prstDash val="solid"/>
            <a:headEnd type="none" w="med" len="med"/>
            <a:tailEnd type="none" w="med" len="med"/>
          </a:ln>
        </p:spPr>
        <p:txBody>
          <a:bodyPr/>
          <a:p>
            <a:endParaRPr lang="zh-CN" altLang="en-US"/>
          </a:p>
        </p:txBody>
      </p:sp>
      <p:sp>
        <p:nvSpPr>
          <p:cNvPr id="136" name="直接连接符 135"/>
          <p:cNvSpPr/>
          <p:nvPr/>
        </p:nvSpPr>
        <p:spPr>
          <a:xfrm>
            <a:off x="5451475" y="6553200"/>
            <a:ext cx="476250" cy="0"/>
          </a:xfrm>
          <a:prstGeom prst="line">
            <a:avLst/>
          </a:prstGeom>
          <a:ln w="38100" cap="flat" cmpd="sng">
            <a:solidFill>
              <a:srgbClr val="000099"/>
            </a:solidFill>
            <a:prstDash val="solid"/>
            <a:headEnd type="none" w="med" len="med"/>
            <a:tailEnd type="none" w="med" len="med"/>
          </a:ln>
        </p:spPr>
      </p:sp>
      <p:sp>
        <p:nvSpPr>
          <p:cNvPr id="137" name="直接连接符 136"/>
          <p:cNvSpPr/>
          <p:nvPr/>
        </p:nvSpPr>
        <p:spPr>
          <a:xfrm>
            <a:off x="5908675" y="6121400"/>
            <a:ext cx="1588" cy="444500"/>
          </a:xfrm>
          <a:prstGeom prst="line">
            <a:avLst/>
          </a:prstGeom>
          <a:ln w="46038" cap="flat" cmpd="sng">
            <a:solidFill>
              <a:srgbClr val="000099"/>
            </a:solidFill>
            <a:prstDash val="solid"/>
            <a:headEnd type="none" w="med" len="med"/>
            <a:tailEnd type="none" w="med" len="med"/>
          </a:ln>
        </p:spPr>
      </p:sp>
      <p:sp>
        <p:nvSpPr>
          <p:cNvPr id="138" name="矩形 137"/>
          <p:cNvSpPr/>
          <p:nvPr/>
        </p:nvSpPr>
        <p:spPr>
          <a:xfrm>
            <a:off x="508000" y="4029075"/>
            <a:ext cx="322263" cy="1116013"/>
          </a:xfrm>
          <a:prstGeom prst="rect">
            <a:avLst/>
          </a:prstGeom>
          <a:noFill/>
          <a:ln w="9525">
            <a:noFill/>
          </a:ln>
        </p:spPr>
        <p:txBody>
          <a:bodyPr/>
          <a:p>
            <a:endParaRPr lang="zh-CN" altLang="en-US"/>
          </a:p>
        </p:txBody>
      </p:sp>
      <p:grpSp>
        <p:nvGrpSpPr>
          <p:cNvPr id="139" name="组合 138"/>
          <p:cNvGrpSpPr/>
          <p:nvPr/>
        </p:nvGrpSpPr>
        <p:grpSpPr>
          <a:xfrm>
            <a:off x="3209925" y="2524125"/>
            <a:ext cx="2166938" cy="619125"/>
            <a:chOff x="2022" y="1590"/>
            <a:chExt cx="1365" cy="390"/>
          </a:xfrm>
        </p:grpSpPr>
        <p:sp>
          <p:nvSpPr>
            <p:cNvPr id="140" name="矩形 139"/>
            <p:cNvSpPr/>
            <p:nvPr/>
          </p:nvSpPr>
          <p:spPr>
            <a:xfrm>
              <a:off x="2022" y="1590"/>
              <a:ext cx="305" cy="220"/>
            </a:xfrm>
            <a:prstGeom prst="rect">
              <a:avLst/>
            </a:prstGeom>
            <a:noFill/>
            <a:ln w="9525">
              <a:noFill/>
            </a:ln>
          </p:spPr>
          <p:txBody>
            <a:bodyPr/>
            <a:p>
              <a:endParaRPr lang="zh-CN" altLang="en-US">
                <a:solidFill>
                  <a:srgbClr val="000066"/>
                </a:solidFill>
              </a:endParaRPr>
            </a:p>
          </p:txBody>
        </p:sp>
        <p:sp>
          <p:nvSpPr>
            <p:cNvPr id="141" name="矩形 140"/>
            <p:cNvSpPr/>
            <p:nvPr/>
          </p:nvSpPr>
          <p:spPr>
            <a:xfrm>
              <a:off x="2022" y="1624"/>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42" name="矩形 141"/>
            <p:cNvSpPr/>
            <p:nvPr/>
          </p:nvSpPr>
          <p:spPr>
            <a:xfrm>
              <a:off x="2100" y="1699"/>
              <a:ext cx="34"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I</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143" name="矩形 142"/>
            <p:cNvSpPr/>
            <p:nvPr/>
          </p:nvSpPr>
          <p:spPr>
            <a:xfrm>
              <a:off x="2519" y="1590"/>
              <a:ext cx="303" cy="218"/>
            </a:xfrm>
            <a:prstGeom prst="rect">
              <a:avLst/>
            </a:prstGeom>
            <a:noFill/>
            <a:ln w="9525">
              <a:noFill/>
            </a:ln>
          </p:spPr>
          <p:txBody>
            <a:bodyPr/>
            <a:p>
              <a:endParaRPr lang="zh-CN" altLang="en-US">
                <a:solidFill>
                  <a:srgbClr val="000066"/>
                </a:solidFill>
              </a:endParaRPr>
            </a:p>
          </p:txBody>
        </p:sp>
        <p:sp>
          <p:nvSpPr>
            <p:cNvPr id="144" name="矩形 143"/>
            <p:cNvSpPr/>
            <p:nvPr/>
          </p:nvSpPr>
          <p:spPr>
            <a:xfrm>
              <a:off x="2519" y="1624"/>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45" name="矩形 144"/>
            <p:cNvSpPr/>
            <p:nvPr/>
          </p:nvSpPr>
          <p:spPr>
            <a:xfrm>
              <a:off x="2597" y="1699"/>
              <a:ext cx="68"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146" name="矩形 145"/>
            <p:cNvSpPr/>
            <p:nvPr/>
          </p:nvSpPr>
          <p:spPr>
            <a:xfrm>
              <a:off x="2660" y="1699"/>
              <a:ext cx="44"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1</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147" name="矩形 146"/>
            <p:cNvSpPr/>
            <p:nvPr/>
          </p:nvSpPr>
          <p:spPr>
            <a:xfrm>
              <a:off x="3082" y="1590"/>
              <a:ext cx="305" cy="218"/>
            </a:xfrm>
            <a:prstGeom prst="rect">
              <a:avLst/>
            </a:prstGeom>
            <a:noFill/>
            <a:ln w="9525">
              <a:noFill/>
            </a:ln>
          </p:spPr>
          <p:txBody>
            <a:bodyPr/>
            <a:p>
              <a:endParaRPr lang="zh-CN" altLang="en-US">
                <a:solidFill>
                  <a:srgbClr val="000066"/>
                </a:solidFill>
              </a:endParaRPr>
            </a:p>
          </p:txBody>
        </p:sp>
        <p:sp>
          <p:nvSpPr>
            <p:cNvPr id="148" name="矩形 147"/>
            <p:cNvSpPr/>
            <p:nvPr/>
          </p:nvSpPr>
          <p:spPr>
            <a:xfrm>
              <a:off x="3082" y="1624"/>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49" name="矩形 148"/>
            <p:cNvSpPr/>
            <p:nvPr/>
          </p:nvSpPr>
          <p:spPr>
            <a:xfrm>
              <a:off x="3160" y="1699"/>
              <a:ext cx="112"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O2</a:t>
              </a:r>
              <a:endParaRPr lang="en-US" altLang="zh-CN" sz="1100" b="1">
                <a:solidFill>
                  <a:srgbClr val="000066"/>
                </a:solidFill>
                <a:latin typeface="Times New Roman" panose="02020603050405020304" charset="0"/>
                <a:ea typeface="楷体_GB2312" panose="02010609030101010101" pitchFamily="49" charset="-122"/>
              </a:endParaRPr>
            </a:p>
          </p:txBody>
        </p:sp>
        <p:sp>
          <p:nvSpPr>
            <p:cNvPr id="150" name="直接连接符 149"/>
            <p:cNvSpPr/>
            <p:nvPr/>
          </p:nvSpPr>
          <p:spPr>
            <a:xfrm>
              <a:off x="3202" y="1806"/>
              <a:ext cx="1" cy="173"/>
            </a:xfrm>
            <a:prstGeom prst="line">
              <a:avLst/>
            </a:prstGeom>
            <a:ln w="15875" cap="flat" cmpd="sng">
              <a:solidFill>
                <a:srgbClr val="000000"/>
              </a:solidFill>
              <a:prstDash val="solid"/>
              <a:headEnd type="none" w="med" len="med"/>
              <a:tailEnd type="none" w="med" len="med"/>
            </a:ln>
          </p:spPr>
        </p:sp>
        <p:sp>
          <p:nvSpPr>
            <p:cNvPr id="151" name="直接连接符 150"/>
            <p:cNvSpPr/>
            <p:nvPr/>
          </p:nvSpPr>
          <p:spPr>
            <a:xfrm>
              <a:off x="2116" y="1979"/>
              <a:ext cx="1079" cy="1"/>
            </a:xfrm>
            <a:prstGeom prst="line">
              <a:avLst/>
            </a:prstGeom>
            <a:ln w="15875" cap="flat" cmpd="sng">
              <a:solidFill>
                <a:srgbClr val="000099"/>
              </a:solidFill>
              <a:prstDash val="solid"/>
              <a:headEnd type="none" w="med" len="med"/>
              <a:tailEnd type="none" w="med" len="med"/>
            </a:ln>
          </p:spPr>
        </p:sp>
        <p:sp>
          <p:nvSpPr>
            <p:cNvPr id="152" name="任意多边形 151"/>
            <p:cNvSpPr/>
            <p:nvPr/>
          </p:nvSpPr>
          <p:spPr>
            <a:xfrm>
              <a:off x="2103" y="1797"/>
              <a:ext cx="29" cy="110"/>
            </a:xfrm>
            <a:custGeom>
              <a:avLst/>
              <a:gdLst/>
              <a:ahLst/>
              <a:cxnLst/>
              <a:pathLst>
                <a:path w="29" h="110">
                  <a:moveTo>
                    <a:pt x="15" y="0"/>
                  </a:moveTo>
                  <a:lnTo>
                    <a:pt x="0" y="110"/>
                  </a:lnTo>
                  <a:lnTo>
                    <a:pt x="29" y="110"/>
                  </a:lnTo>
                  <a:lnTo>
                    <a:pt x="15" y="0"/>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solidFill>
                  <a:srgbClr val="000066"/>
                </a:solidFill>
              </a:endParaRPr>
            </a:p>
          </p:txBody>
        </p:sp>
        <p:sp>
          <p:nvSpPr>
            <p:cNvPr id="153" name="直接连接符 152"/>
            <p:cNvSpPr/>
            <p:nvPr/>
          </p:nvSpPr>
          <p:spPr>
            <a:xfrm>
              <a:off x="2116" y="1896"/>
              <a:ext cx="1" cy="83"/>
            </a:xfrm>
            <a:prstGeom prst="line">
              <a:avLst/>
            </a:prstGeom>
            <a:ln w="15875" cap="flat" cmpd="sng">
              <a:solidFill>
                <a:srgbClr val="000000"/>
              </a:solidFill>
              <a:prstDash val="solid"/>
              <a:headEnd type="none" w="med" len="med"/>
              <a:tailEnd type="none" w="med" len="med"/>
            </a:ln>
          </p:spPr>
        </p:sp>
        <p:sp>
          <p:nvSpPr>
            <p:cNvPr id="154" name="任意多边形 153"/>
            <p:cNvSpPr/>
            <p:nvPr/>
          </p:nvSpPr>
          <p:spPr>
            <a:xfrm>
              <a:off x="2387" y="1683"/>
              <a:ext cx="112" cy="31"/>
            </a:xfrm>
            <a:custGeom>
              <a:avLst/>
              <a:gdLst/>
              <a:ahLst/>
              <a:cxnLst/>
              <a:pathLst>
                <a:path w="112" h="31">
                  <a:moveTo>
                    <a:pt x="112" y="15"/>
                  </a:moveTo>
                  <a:lnTo>
                    <a:pt x="0" y="0"/>
                  </a:lnTo>
                  <a:lnTo>
                    <a:pt x="0" y="31"/>
                  </a:lnTo>
                  <a:lnTo>
                    <a:pt x="112" y="15"/>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solidFill>
                  <a:srgbClr val="000066"/>
                </a:solidFill>
              </a:endParaRPr>
            </a:p>
          </p:txBody>
        </p:sp>
        <p:sp>
          <p:nvSpPr>
            <p:cNvPr id="155" name="直接连接符 154"/>
            <p:cNvSpPr/>
            <p:nvPr/>
          </p:nvSpPr>
          <p:spPr>
            <a:xfrm flipH="1">
              <a:off x="2222" y="1698"/>
              <a:ext cx="178" cy="1"/>
            </a:xfrm>
            <a:prstGeom prst="line">
              <a:avLst/>
            </a:prstGeom>
            <a:ln w="15875" cap="flat" cmpd="sng">
              <a:solidFill>
                <a:srgbClr val="000099"/>
              </a:solidFill>
              <a:prstDash val="solid"/>
              <a:headEnd type="none" w="med" len="med"/>
              <a:tailEnd type="none" w="med" len="med"/>
            </a:ln>
          </p:spPr>
        </p:sp>
        <p:sp>
          <p:nvSpPr>
            <p:cNvPr id="156" name="任意多边形 155"/>
            <p:cNvSpPr/>
            <p:nvPr/>
          </p:nvSpPr>
          <p:spPr>
            <a:xfrm>
              <a:off x="2946" y="1683"/>
              <a:ext cx="112" cy="31"/>
            </a:xfrm>
            <a:custGeom>
              <a:avLst/>
              <a:gdLst/>
              <a:ahLst/>
              <a:cxnLst/>
              <a:pathLst>
                <a:path w="112" h="31">
                  <a:moveTo>
                    <a:pt x="112" y="15"/>
                  </a:moveTo>
                  <a:lnTo>
                    <a:pt x="0" y="0"/>
                  </a:lnTo>
                  <a:lnTo>
                    <a:pt x="0" y="31"/>
                  </a:lnTo>
                  <a:lnTo>
                    <a:pt x="112" y="15"/>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solidFill>
                  <a:srgbClr val="000066"/>
                </a:solidFill>
              </a:endParaRPr>
            </a:p>
          </p:txBody>
        </p:sp>
        <p:sp>
          <p:nvSpPr>
            <p:cNvPr id="157" name="直接连接符 156"/>
            <p:cNvSpPr/>
            <p:nvPr/>
          </p:nvSpPr>
          <p:spPr>
            <a:xfrm flipH="1">
              <a:off x="2780" y="1698"/>
              <a:ext cx="177" cy="1"/>
            </a:xfrm>
            <a:prstGeom prst="line">
              <a:avLst/>
            </a:prstGeom>
            <a:ln w="15875" cap="flat" cmpd="sng">
              <a:solidFill>
                <a:srgbClr val="000099"/>
              </a:solidFill>
              <a:prstDash val="solid"/>
              <a:headEnd type="none" w="med" len="med"/>
              <a:tailEnd type="none" w="med" len="med"/>
            </a:ln>
          </p:spPr>
        </p:sp>
        <p:sp>
          <p:nvSpPr>
            <p:cNvPr id="158" name="直接连接符 157"/>
            <p:cNvSpPr/>
            <p:nvPr/>
          </p:nvSpPr>
          <p:spPr>
            <a:xfrm flipV="1">
              <a:off x="2173" y="1649"/>
              <a:ext cx="0" cy="123"/>
            </a:xfrm>
            <a:prstGeom prst="line">
              <a:avLst/>
            </a:prstGeom>
            <a:ln w="9525" cap="flat" cmpd="sng">
              <a:solidFill>
                <a:srgbClr val="000099"/>
              </a:solidFill>
              <a:prstDash val="solid"/>
              <a:headEnd type="none" w="med" len="med"/>
              <a:tailEnd type="triangle" w="med" len="med"/>
            </a:ln>
          </p:spPr>
        </p:sp>
        <p:sp>
          <p:nvSpPr>
            <p:cNvPr id="159" name="直接连接符 158"/>
            <p:cNvSpPr/>
            <p:nvPr/>
          </p:nvSpPr>
          <p:spPr>
            <a:xfrm>
              <a:off x="2723" y="1615"/>
              <a:ext cx="0" cy="192"/>
            </a:xfrm>
            <a:prstGeom prst="line">
              <a:avLst/>
            </a:prstGeom>
            <a:ln w="9525" cap="flat" cmpd="sng">
              <a:solidFill>
                <a:srgbClr val="000099"/>
              </a:solidFill>
              <a:prstDash val="solid"/>
              <a:headEnd type="none" w="med" len="med"/>
              <a:tailEnd type="triangle" w="med" len="med"/>
            </a:ln>
          </p:spPr>
        </p:sp>
        <p:sp>
          <p:nvSpPr>
            <p:cNvPr id="160" name="直接连接符 159"/>
            <p:cNvSpPr/>
            <p:nvPr/>
          </p:nvSpPr>
          <p:spPr>
            <a:xfrm flipV="1">
              <a:off x="3299" y="1614"/>
              <a:ext cx="0" cy="123"/>
            </a:xfrm>
            <a:prstGeom prst="line">
              <a:avLst/>
            </a:prstGeom>
            <a:ln w="9525" cap="flat" cmpd="sng">
              <a:solidFill>
                <a:srgbClr val="000099"/>
              </a:solidFill>
              <a:prstDash val="solid"/>
              <a:headEnd type="none" w="med" len="med"/>
              <a:tailEnd type="triangle" w="med" len="med"/>
            </a:ln>
          </p:spPr>
        </p:sp>
      </p:grpSp>
      <p:grpSp>
        <p:nvGrpSpPr>
          <p:cNvPr id="161" name="组合 160"/>
          <p:cNvGrpSpPr/>
          <p:nvPr/>
        </p:nvGrpSpPr>
        <p:grpSpPr>
          <a:xfrm>
            <a:off x="5891213" y="6080125"/>
            <a:ext cx="492125" cy="438150"/>
            <a:chOff x="1192" y="3712"/>
            <a:chExt cx="285" cy="284"/>
          </a:xfrm>
        </p:grpSpPr>
        <p:sp>
          <p:nvSpPr>
            <p:cNvPr id="162" name="直接连接符 161"/>
            <p:cNvSpPr/>
            <p:nvPr/>
          </p:nvSpPr>
          <p:spPr>
            <a:xfrm>
              <a:off x="1192" y="3712"/>
              <a:ext cx="0" cy="284"/>
            </a:xfrm>
            <a:prstGeom prst="line">
              <a:avLst/>
            </a:prstGeom>
            <a:ln w="38100" cap="flat" cmpd="sng">
              <a:solidFill>
                <a:srgbClr val="000099"/>
              </a:solidFill>
              <a:prstDash val="solid"/>
              <a:headEnd type="none" w="med" len="med"/>
              <a:tailEnd type="none" w="med" len="med"/>
            </a:ln>
          </p:spPr>
        </p:sp>
        <p:sp>
          <p:nvSpPr>
            <p:cNvPr id="163" name="直接连接符 162"/>
            <p:cNvSpPr/>
            <p:nvPr/>
          </p:nvSpPr>
          <p:spPr>
            <a:xfrm>
              <a:off x="1193" y="3716"/>
              <a:ext cx="284" cy="0"/>
            </a:xfrm>
            <a:prstGeom prst="line">
              <a:avLst/>
            </a:prstGeom>
            <a:ln w="38100" cap="flat" cmpd="sng">
              <a:solidFill>
                <a:srgbClr val="000099"/>
              </a:solidFill>
              <a:prstDash val="solid"/>
              <a:headEnd type="none" w="med" len="med"/>
              <a:tailEnd type="none" w="med" len="med"/>
            </a:ln>
          </p:spPr>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box(in)">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box(out)">
                                      <p:cBhvr>
                                        <p:cTn id="17" dur="50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6"/>
                                        </p:tgtEl>
                                        <p:attrNameLst>
                                          <p:attrName>style.visibility</p:attrName>
                                        </p:attrNameLst>
                                      </p:cBhvr>
                                      <p:to>
                                        <p:strVal val="visible"/>
                                      </p:to>
                                    </p:set>
                                    <p:animEffect transition="in" filter="wipe(left)">
                                      <p:cBhvr>
                                        <p:cTn id="22" dur="500"/>
                                        <p:tgtEl>
                                          <p:spTgt spid="13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strips(downRight)">
                                      <p:cBhvr>
                                        <p:cTn id="27" dur="500"/>
                                        <p:tgtEl>
                                          <p:spTgt spid="8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nodeType="clickEffect">
                                  <p:stCondLst>
                                    <p:cond delay="0"/>
                                  </p:stCondLst>
                                  <p:childTnLst>
                                    <p:animEffect transition="out" filter="box(in)">
                                      <p:cBhvr>
                                        <p:cTn id="31" dur="500"/>
                                        <p:tgtEl>
                                          <p:spTgt spid="82"/>
                                        </p:tgtEl>
                                      </p:cBhvr>
                                    </p:animEffect>
                                    <p:set>
                                      <p:cBhvr>
                                        <p:cTn id="32" dur="1" fill="hold">
                                          <p:stCondLst>
                                            <p:cond delay="499"/>
                                          </p:stCondLst>
                                        </p:cTn>
                                        <p:tgtEl>
                                          <p:spTgt spid="82"/>
                                        </p:tgtEl>
                                        <p:attrNameLst>
                                          <p:attrName>style.visibility</p:attrName>
                                        </p:attrNameLst>
                                      </p:cBhvr>
                                      <p:to>
                                        <p:strVal val="hidden"/>
                                      </p:to>
                                    </p:set>
                                  </p:childTnLst>
                                </p:cTn>
                              </p:par>
                              <p:par>
                                <p:cTn id="33" presetID="4" presetClass="exit" presetSubtype="16" fill="hold" nodeType="withEffect">
                                  <p:stCondLst>
                                    <p:cond delay="0"/>
                                  </p:stCondLst>
                                  <p:childTnLst>
                                    <p:animEffect transition="out" filter="box(in)">
                                      <p:cBhvr>
                                        <p:cTn id="34" dur="500"/>
                                        <p:tgtEl>
                                          <p:spTgt spid="83"/>
                                        </p:tgtEl>
                                      </p:cBhvr>
                                    </p:animEffect>
                                    <p:set>
                                      <p:cBhvr>
                                        <p:cTn id="35" dur="1" fill="hold">
                                          <p:stCondLst>
                                            <p:cond delay="499"/>
                                          </p:stCondLst>
                                        </p:cTn>
                                        <p:tgtEl>
                                          <p:spTgt spid="8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3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wipe(left)">
                                      <p:cBhvr>
                                        <p:cTn id="53" dur="500"/>
                                        <p:tgtEl>
                                          <p:spTgt spid="3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499"/>
                                          </p:stCondLst>
                                        </p:cTn>
                                        <p:tgtEl>
                                          <p:spTgt spid="39"/>
                                        </p:tgtEl>
                                        <p:attrNameLst>
                                          <p:attrName>style.visibility</p:attrName>
                                        </p:attrNameLst>
                                      </p:cBhvr>
                                      <p:to>
                                        <p:strVal val="visible"/>
                                      </p:to>
                                    </p:set>
                                  </p:childTnLst>
                                </p:cTn>
                              </p:par>
                            </p:childTnLst>
                          </p:cTn>
                        </p:par>
                        <p:par>
                          <p:cTn id="58" fill="hold">
                            <p:stCondLst>
                              <p:cond delay="500"/>
                            </p:stCondLst>
                            <p:childTnLst>
                              <p:par>
                                <p:cTn id="59" presetID="18" presetClass="entr" presetSubtype="3" fill="hold" nodeType="afterEffect">
                                  <p:stCondLst>
                                    <p:cond delay="0"/>
                                  </p:stCondLst>
                                  <p:childTnLst>
                                    <p:set>
                                      <p:cBhvr>
                                        <p:cTn id="60" dur="1" fill="hold">
                                          <p:stCondLst>
                                            <p:cond delay="0"/>
                                          </p:stCondLst>
                                        </p:cTn>
                                        <p:tgtEl>
                                          <p:spTgt spid="134"/>
                                        </p:tgtEl>
                                        <p:attrNameLst>
                                          <p:attrName>style.visibility</p:attrName>
                                        </p:attrNameLst>
                                      </p:cBhvr>
                                      <p:to>
                                        <p:strVal val="visible"/>
                                      </p:to>
                                    </p:set>
                                    <p:animEffect transition="in" filter="strips(upRight)">
                                      <p:cBhvr>
                                        <p:cTn id="61" dur="500"/>
                                        <p:tgtEl>
                                          <p:spTgt spid="134"/>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3" fill="hold" nodeType="clickEffect">
                                  <p:stCondLst>
                                    <p:cond delay="0"/>
                                  </p:stCondLst>
                                  <p:childTnLst>
                                    <p:set>
                                      <p:cBhvr>
                                        <p:cTn id="65" dur="1" fill="hold">
                                          <p:stCondLst>
                                            <p:cond delay="0"/>
                                          </p:stCondLst>
                                        </p:cTn>
                                        <p:tgtEl>
                                          <p:spTgt spid="135"/>
                                        </p:tgtEl>
                                        <p:attrNameLst>
                                          <p:attrName>style.visibility</p:attrName>
                                        </p:attrNameLst>
                                      </p:cBhvr>
                                      <p:to>
                                        <p:strVal val="visible"/>
                                      </p:to>
                                    </p:set>
                                    <p:animEffect transition="in" filter="strips(upRight)">
                                      <p:cBhvr>
                                        <p:cTn id="66" dur="500"/>
                                        <p:tgtEl>
                                          <p:spTgt spid="13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wipe(left)">
                                      <p:cBhvr>
                                        <p:cTn id="71" dur="500"/>
                                        <p:tgtEl>
                                          <p:spTgt spid="44"/>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499"/>
                                          </p:stCondLst>
                                        </p:cTn>
                                        <p:tgtEl>
                                          <p:spTgt spid="4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nodeType="clickEffect">
                                  <p:stCondLst>
                                    <p:cond delay="0"/>
                                  </p:stCondLst>
                                  <p:childTnLst>
                                    <p:set>
                                      <p:cBhvr>
                                        <p:cTn id="79" dur="1" fill="hold">
                                          <p:stCondLst>
                                            <p:cond delay="0"/>
                                          </p:stCondLst>
                                        </p:cTn>
                                        <p:tgtEl>
                                          <p:spTgt spid="139"/>
                                        </p:tgtEl>
                                        <p:attrNameLst>
                                          <p:attrName>style.visibility</p:attrName>
                                        </p:attrNameLst>
                                      </p:cBhvr>
                                      <p:to>
                                        <p:strVal val="visible"/>
                                      </p:to>
                                    </p:set>
                                    <p:animEffect transition="in" filter="box(in)">
                                      <p:cBhvr>
                                        <p:cTn id="80" dur="500"/>
                                        <p:tgtEl>
                                          <p:spTgt spid="139"/>
                                        </p:tgtEl>
                                      </p:cBhvr>
                                    </p:animEffect>
                                  </p:childTnLst>
                                </p:cTn>
                              </p:par>
                            </p:childTnLst>
                          </p:cTn>
                        </p:par>
                      </p:childTnLst>
                    </p:cTn>
                  </p:par>
                  <p:par>
                    <p:cTn id="81" fill="hold">
                      <p:stCondLst>
                        <p:cond delay="indefinite"/>
                      </p:stCondLst>
                      <p:childTnLst>
                        <p:par>
                          <p:cTn id="82" fill="hold">
                            <p:stCondLst>
                              <p:cond delay="0"/>
                            </p:stCondLst>
                            <p:childTnLst>
                              <p:par>
                                <p:cTn id="83" presetID="21" presetClass="entr" presetSubtype="4" fill="hold" grpId="0" nodeType="clickEffect">
                                  <p:stCondLst>
                                    <p:cond delay="0"/>
                                  </p:stCondLst>
                                  <p:childTnLst>
                                    <p:set>
                                      <p:cBhvr>
                                        <p:cTn id="84" dur="1" fill="hold">
                                          <p:stCondLst>
                                            <p:cond delay="0"/>
                                          </p:stCondLst>
                                        </p:cTn>
                                        <p:tgtEl>
                                          <p:spTgt spid="100"/>
                                        </p:tgtEl>
                                        <p:attrNameLst>
                                          <p:attrName>style.visibility</p:attrName>
                                        </p:attrNameLst>
                                      </p:cBhvr>
                                      <p:to>
                                        <p:strVal val="visible"/>
                                      </p:to>
                                    </p:set>
                                    <p:animEffect transition="in" filter="wheel(4)">
                                      <p:cBhvr>
                                        <p:cTn id="85" dur="500"/>
                                        <p:tgtEl>
                                          <p:spTgt spid="100"/>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499"/>
                                          </p:stCondLst>
                                        </p:cTn>
                                        <p:tgtEl>
                                          <p:spTgt spid="5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4" presetClass="entr" presetSubtype="16" fill="hold" nodeType="clickEffect">
                                  <p:stCondLst>
                                    <p:cond delay="0"/>
                                  </p:stCondLst>
                                  <p:childTnLst>
                                    <p:set>
                                      <p:cBhvr>
                                        <p:cTn id="93" dur="1" fill="hold">
                                          <p:stCondLst>
                                            <p:cond delay="0"/>
                                          </p:stCondLst>
                                        </p:cTn>
                                        <p:tgtEl>
                                          <p:spTgt spid="102"/>
                                        </p:tgtEl>
                                        <p:attrNameLst>
                                          <p:attrName>style.visibility</p:attrName>
                                        </p:attrNameLst>
                                      </p:cBhvr>
                                      <p:to>
                                        <p:strVal val="visible"/>
                                      </p:to>
                                    </p:set>
                                    <p:animEffect transition="in" filter="box(in)">
                                      <p:cBhvr>
                                        <p:cTn id="94" dur="500"/>
                                        <p:tgtEl>
                                          <p:spTgt spid="102"/>
                                        </p:tgtEl>
                                      </p:cBhvr>
                                    </p:animEffect>
                                  </p:childTnLst>
                                </p:cTn>
                              </p:par>
                            </p:childTnLst>
                          </p:cTn>
                        </p:par>
                        <p:par>
                          <p:cTn id="95" fill="hold">
                            <p:stCondLst>
                              <p:cond delay="500"/>
                            </p:stCondLst>
                            <p:childTnLst>
                              <p:par>
                                <p:cTn id="96" presetID="4" presetClass="entr" presetSubtype="16" fill="hold" nodeType="afterEffect">
                                  <p:stCondLst>
                                    <p:cond delay="0"/>
                                  </p:stCondLst>
                                  <p:childTnLst>
                                    <p:set>
                                      <p:cBhvr>
                                        <p:cTn id="97" dur="1" fill="hold">
                                          <p:stCondLst>
                                            <p:cond delay="0"/>
                                          </p:stCondLst>
                                        </p:cTn>
                                        <p:tgtEl>
                                          <p:spTgt spid="101"/>
                                        </p:tgtEl>
                                        <p:attrNameLst>
                                          <p:attrName>style.visibility</p:attrName>
                                        </p:attrNameLst>
                                      </p:cBhvr>
                                      <p:to>
                                        <p:strVal val="visible"/>
                                      </p:to>
                                    </p:set>
                                    <p:animEffect transition="in" filter="box(in)">
                                      <p:cBhvr>
                                        <p:cTn id="98" dur="500"/>
                                        <p:tgtEl>
                                          <p:spTgt spid="10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137"/>
                                        </p:tgtEl>
                                        <p:attrNameLst>
                                          <p:attrName>style.visibility</p:attrName>
                                        </p:attrNameLst>
                                      </p:cBhvr>
                                      <p:to>
                                        <p:strVal val="visible"/>
                                      </p:to>
                                    </p:set>
                                    <p:animEffect transition="in" filter="wipe(down)">
                                      <p:cBhvr>
                                        <p:cTn id="103" dur="500"/>
                                        <p:tgtEl>
                                          <p:spTgt spid="13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nodeType="clickEffect">
                                  <p:stCondLst>
                                    <p:cond delay="0"/>
                                  </p:stCondLst>
                                  <p:childTnLst>
                                    <p:set>
                                      <p:cBhvr>
                                        <p:cTn id="107" dur="1" fill="hold">
                                          <p:stCondLst>
                                            <p:cond delay="0"/>
                                          </p:stCondLst>
                                        </p:cTn>
                                        <p:tgtEl>
                                          <p:spTgt spid="113"/>
                                        </p:tgtEl>
                                        <p:attrNameLst>
                                          <p:attrName>style.visibility</p:attrName>
                                        </p:attrNameLst>
                                      </p:cBhvr>
                                      <p:to>
                                        <p:strVal val="visible"/>
                                      </p:to>
                                    </p:set>
                                    <p:animEffect transition="in" filter="wipe(down)">
                                      <p:cBhvr>
                                        <p:cTn id="108" dur="500"/>
                                        <p:tgtEl>
                                          <p:spTgt spid="113"/>
                                        </p:tgtEl>
                                      </p:cBhvr>
                                    </p:animEffect>
                                  </p:childTnLst>
                                </p:cTn>
                              </p:par>
                            </p:childTnLst>
                          </p:cTn>
                        </p:par>
                      </p:childTnLst>
                    </p:cTn>
                  </p:par>
                  <p:par>
                    <p:cTn id="109" fill="hold">
                      <p:stCondLst>
                        <p:cond delay="indefinite"/>
                      </p:stCondLst>
                      <p:childTnLst>
                        <p:par>
                          <p:cTn id="110" fill="hold">
                            <p:stCondLst>
                              <p:cond delay="0"/>
                            </p:stCondLst>
                            <p:childTnLst>
                              <p:par>
                                <p:cTn id="111" presetID="18" presetClass="entr" presetSubtype="6" fill="hold" nodeType="click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strips(downRight)">
                                      <p:cBhvr>
                                        <p:cTn id="113" dur="500"/>
                                        <p:tgtEl>
                                          <p:spTgt spid="55"/>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499"/>
                                          </p:stCondLst>
                                        </p:cTn>
                                        <p:tgtEl>
                                          <p:spTgt spid="67"/>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499"/>
                                          </p:stCondLst>
                                        </p:cTn>
                                        <p:tgtEl>
                                          <p:spTgt spid="74"/>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8" presetClass="entr" presetSubtype="6" fill="hold" grpId="0" nodeType="clickEffect">
                                  <p:stCondLst>
                                    <p:cond delay="0"/>
                                  </p:stCondLst>
                                  <p:childTnLst>
                                    <p:set>
                                      <p:cBhvr>
                                        <p:cTn id="125" dur="1" fill="hold">
                                          <p:stCondLst>
                                            <p:cond delay="0"/>
                                          </p:stCondLst>
                                        </p:cTn>
                                        <p:tgtEl>
                                          <p:spTgt spid="81"/>
                                        </p:tgtEl>
                                        <p:attrNameLst>
                                          <p:attrName>style.visibility</p:attrName>
                                        </p:attrNameLst>
                                      </p:cBhvr>
                                      <p:to>
                                        <p:strVal val="visible"/>
                                      </p:to>
                                    </p:set>
                                    <p:animEffect transition="in" filter="strips(downRight)">
                                      <p:cBhvr>
                                        <p:cTn id="126" dur="500"/>
                                        <p:tgtEl>
                                          <p:spTgt spid="81"/>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161"/>
                                        </p:tgtEl>
                                        <p:attrNameLst>
                                          <p:attrName>style.visibility</p:attrName>
                                        </p:attrNameLst>
                                      </p:cBhvr>
                                      <p:to>
                                        <p:strVal val="visible"/>
                                      </p:to>
                                    </p:set>
                                    <p:animEffect transition="in" filter="wipe(left)">
                                      <p:cBhvr>
                                        <p:cTn id="131"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81" grpId="0"/>
      <p:bldP spid="100"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2820" name="矩形 162819"/>
          <p:cNvSpPr/>
          <p:nvPr/>
        </p:nvSpPr>
        <p:spPr>
          <a:xfrm>
            <a:off x="617538" y="4167188"/>
            <a:ext cx="322262" cy="1116012"/>
          </a:xfrm>
          <a:prstGeom prst="rect">
            <a:avLst/>
          </a:prstGeom>
          <a:noFill/>
          <a:ln w="9525">
            <a:noFill/>
          </a:ln>
        </p:spPr>
        <p:txBody>
          <a:bodyPr/>
          <a:p>
            <a:endParaRPr lang="zh-CN" altLang="en-US"/>
          </a:p>
        </p:txBody>
      </p:sp>
      <p:sp>
        <p:nvSpPr>
          <p:cNvPr id="162821" name="矩形 162820"/>
          <p:cNvSpPr/>
          <p:nvPr/>
        </p:nvSpPr>
        <p:spPr>
          <a:xfrm>
            <a:off x="639763" y="1463675"/>
            <a:ext cx="8145462" cy="396875"/>
          </a:xfrm>
          <a:prstGeom prst="rect">
            <a:avLst/>
          </a:prstGeom>
          <a:noFill/>
          <a:ln w="9525">
            <a:noFill/>
          </a:ln>
        </p:spPr>
        <p:txBody>
          <a:bodyPr>
            <a:spAutoFit/>
          </a:bodyPr>
          <a:p>
            <a:pPr marL="457200" indent="-457200"/>
            <a:r>
              <a:rPr lang="zh-CN" altLang="en-US" sz="2000" b="1" dirty="0">
                <a:solidFill>
                  <a:srgbClr val="000066"/>
                </a:solidFill>
                <a:latin typeface="Times New Roman" panose="02020603050405020304" charset="0"/>
                <a:ea typeface="楷体_GB2312" panose="02010609030101010101" pitchFamily="49" charset="-122"/>
              </a:rPr>
              <a:t>（</a:t>
            </a:r>
            <a:r>
              <a:rPr lang="en-US" altLang="zh-CN" sz="2000" b="1">
                <a:solidFill>
                  <a:srgbClr val="000066"/>
                </a:solidFill>
                <a:latin typeface="Times New Roman" panose="02020603050405020304" charset="0"/>
                <a:ea typeface="楷体_GB2312" panose="02010609030101010101" pitchFamily="49" charset="-122"/>
              </a:rPr>
              <a:t>2</a:t>
            </a:r>
            <a:r>
              <a:rPr lang="zh-CN" altLang="en-US" sz="2000" b="1" dirty="0">
                <a:solidFill>
                  <a:srgbClr val="000066"/>
                </a:solidFill>
                <a:latin typeface="Times New Roman" panose="02020603050405020304" charset="0"/>
                <a:ea typeface="楷体_GB2312" panose="02010609030101010101" pitchFamily="49" charset="-122"/>
              </a:rPr>
              <a:t>）第二暂稳态电容放电，电路自动翻转到第一暂稳态</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162822" name="矩形 162821"/>
          <p:cNvSpPr/>
          <p:nvPr/>
        </p:nvSpPr>
        <p:spPr>
          <a:xfrm>
            <a:off x="1168400" y="1908175"/>
            <a:ext cx="1495425" cy="396875"/>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电容放电</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162823" name="直接连接符 162822"/>
          <p:cNvSpPr/>
          <p:nvPr/>
        </p:nvSpPr>
        <p:spPr>
          <a:xfrm>
            <a:off x="2709863" y="2205038"/>
            <a:ext cx="592137" cy="0"/>
          </a:xfrm>
          <a:prstGeom prst="line">
            <a:avLst/>
          </a:prstGeom>
          <a:ln w="38100" cap="flat" cmpd="sng">
            <a:solidFill>
              <a:srgbClr val="000099"/>
            </a:solidFill>
            <a:prstDash val="solid"/>
            <a:headEnd type="none" w="med" len="med"/>
            <a:tailEnd type="triangle" w="med" len="med"/>
          </a:ln>
        </p:spPr>
      </p:sp>
      <p:grpSp>
        <p:nvGrpSpPr>
          <p:cNvPr id="162824" name="组合 162823"/>
          <p:cNvGrpSpPr/>
          <p:nvPr/>
        </p:nvGrpSpPr>
        <p:grpSpPr>
          <a:xfrm>
            <a:off x="3362325" y="1965325"/>
            <a:ext cx="339725" cy="344488"/>
            <a:chOff x="1646" y="889"/>
            <a:chExt cx="214" cy="217"/>
          </a:xfrm>
        </p:grpSpPr>
        <p:grpSp>
          <p:nvGrpSpPr>
            <p:cNvPr id="162825" name="组合 162824"/>
            <p:cNvGrpSpPr/>
            <p:nvPr/>
          </p:nvGrpSpPr>
          <p:grpSpPr>
            <a:xfrm>
              <a:off x="1646" y="891"/>
              <a:ext cx="192" cy="215"/>
              <a:chOff x="1835" y="1187"/>
              <a:chExt cx="116" cy="147"/>
            </a:xfrm>
          </p:grpSpPr>
          <p:sp>
            <p:nvSpPr>
              <p:cNvPr id="162826" name="矩形 162825"/>
              <p:cNvSpPr/>
              <p:nvPr/>
            </p:nvSpPr>
            <p:spPr>
              <a:xfrm>
                <a:off x="1835" y="1187"/>
                <a:ext cx="39" cy="118"/>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62827" name="矩形 162826"/>
              <p:cNvSpPr/>
              <p:nvPr/>
            </p:nvSpPr>
            <p:spPr>
              <a:xfrm>
                <a:off x="1913" y="1262"/>
                <a:ext cx="38" cy="72"/>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C</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162828" name="直接连接符 162827"/>
            <p:cNvSpPr/>
            <p:nvPr/>
          </p:nvSpPr>
          <p:spPr>
            <a:xfrm>
              <a:off x="1859" y="889"/>
              <a:ext cx="1" cy="119"/>
            </a:xfrm>
            <a:prstGeom prst="line">
              <a:avLst/>
            </a:prstGeom>
            <a:ln w="9525" cap="flat" cmpd="sng">
              <a:solidFill>
                <a:srgbClr val="000099"/>
              </a:solidFill>
              <a:prstDash val="solid"/>
              <a:headEnd type="none" w="med" len="med"/>
              <a:tailEnd type="triangle" w="med" len="med"/>
            </a:ln>
          </p:spPr>
        </p:sp>
      </p:grpSp>
      <p:sp>
        <p:nvSpPr>
          <p:cNvPr id="162829" name="直接连接符 162828"/>
          <p:cNvSpPr/>
          <p:nvPr/>
        </p:nvSpPr>
        <p:spPr>
          <a:xfrm>
            <a:off x="3789363" y="2192338"/>
            <a:ext cx="631825" cy="0"/>
          </a:xfrm>
          <a:prstGeom prst="line">
            <a:avLst/>
          </a:prstGeom>
          <a:ln w="38100" cap="flat" cmpd="sng">
            <a:solidFill>
              <a:srgbClr val="000099"/>
            </a:solidFill>
            <a:prstDash val="solid"/>
            <a:headEnd type="none" w="med" len="med"/>
            <a:tailEnd type="triangle" w="med" len="med"/>
          </a:ln>
        </p:spPr>
      </p:sp>
      <p:grpSp>
        <p:nvGrpSpPr>
          <p:cNvPr id="162830" name="组合 162829"/>
          <p:cNvGrpSpPr/>
          <p:nvPr/>
        </p:nvGrpSpPr>
        <p:grpSpPr>
          <a:xfrm>
            <a:off x="4572000" y="2046288"/>
            <a:ext cx="338138" cy="346075"/>
            <a:chOff x="2536" y="940"/>
            <a:chExt cx="213" cy="218"/>
          </a:xfrm>
        </p:grpSpPr>
        <p:grpSp>
          <p:nvGrpSpPr>
            <p:cNvPr id="162831" name="组合 162830"/>
            <p:cNvGrpSpPr/>
            <p:nvPr/>
          </p:nvGrpSpPr>
          <p:grpSpPr>
            <a:xfrm>
              <a:off x="2536" y="942"/>
              <a:ext cx="162" cy="216"/>
              <a:chOff x="1835" y="1187"/>
              <a:chExt cx="98" cy="148"/>
            </a:xfrm>
          </p:grpSpPr>
          <p:sp>
            <p:nvSpPr>
              <p:cNvPr id="162832" name="矩形 162831"/>
              <p:cNvSpPr/>
              <p:nvPr/>
            </p:nvSpPr>
            <p:spPr>
              <a:xfrm>
                <a:off x="1835" y="1187"/>
                <a:ext cx="39" cy="119"/>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62833" name="矩形 162832"/>
              <p:cNvSpPr/>
              <p:nvPr/>
            </p:nvSpPr>
            <p:spPr>
              <a:xfrm>
                <a:off x="1913" y="1262"/>
                <a:ext cx="20" cy="73"/>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I</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162834" name="直接连接符 162833"/>
            <p:cNvSpPr/>
            <p:nvPr/>
          </p:nvSpPr>
          <p:spPr>
            <a:xfrm>
              <a:off x="2749" y="940"/>
              <a:ext cx="0" cy="119"/>
            </a:xfrm>
            <a:prstGeom prst="line">
              <a:avLst/>
            </a:prstGeom>
            <a:ln w="9525" cap="flat" cmpd="sng">
              <a:solidFill>
                <a:srgbClr val="000099"/>
              </a:solidFill>
              <a:prstDash val="solid"/>
              <a:headEnd type="none" w="med" len="med"/>
              <a:tailEnd type="triangle" w="med" len="med"/>
            </a:ln>
          </p:spPr>
        </p:sp>
      </p:grpSp>
      <p:sp>
        <p:nvSpPr>
          <p:cNvPr id="162835" name="直接连接符 162834"/>
          <p:cNvSpPr/>
          <p:nvPr/>
        </p:nvSpPr>
        <p:spPr>
          <a:xfrm>
            <a:off x="5103813" y="2193925"/>
            <a:ext cx="660400" cy="26988"/>
          </a:xfrm>
          <a:prstGeom prst="line">
            <a:avLst/>
          </a:prstGeom>
          <a:ln w="38100" cap="flat" cmpd="sng">
            <a:solidFill>
              <a:srgbClr val="000099"/>
            </a:solidFill>
            <a:prstDash val="solid"/>
            <a:headEnd type="none" w="med" len="med"/>
            <a:tailEnd type="triangle" w="med" len="med"/>
          </a:ln>
        </p:spPr>
      </p:sp>
      <p:grpSp>
        <p:nvGrpSpPr>
          <p:cNvPr id="162836" name="组合 162835"/>
          <p:cNvGrpSpPr/>
          <p:nvPr/>
        </p:nvGrpSpPr>
        <p:grpSpPr>
          <a:xfrm>
            <a:off x="5783263" y="1946275"/>
            <a:ext cx="1778000" cy="463550"/>
            <a:chOff x="373" y="2032"/>
            <a:chExt cx="1120" cy="292"/>
          </a:xfrm>
        </p:grpSpPr>
        <p:grpSp>
          <p:nvGrpSpPr>
            <p:cNvPr id="162837" name="组合 162836"/>
            <p:cNvGrpSpPr/>
            <p:nvPr/>
          </p:nvGrpSpPr>
          <p:grpSpPr>
            <a:xfrm>
              <a:off x="635" y="2050"/>
              <a:ext cx="305" cy="218"/>
              <a:chOff x="2895" y="1153"/>
              <a:chExt cx="305" cy="218"/>
            </a:xfrm>
          </p:grpSpPr>
          <p:sp>
            <p:nvSpPr>
              <p:cNvPr id="162838" name="矩形 162837"/>
              <p:cNvSpPr/>
              <p:nvPr/>
            </p:nvSpPr>
            <p:spPr>
              <a:xfrm>
                <a:off x="2895" y="1153"/>
                <a:ext cx="305" cy="218"/>
              </a:xfrm>
              <a:prstGeom prst="rect">
                <a:avLst/>
              </a:prstGeom>
              <a:noFill/>
              <a:ln w="9525">
                <a:noFill/>
              </a:ln>
            </p:spPr>
            <p:txBody>
              <a:bodyPr/>
              <a:p>
                <a:endParaRPr lang="zh-CN" altLang="en-US">
                  <a:solidFill>
                    <a:srgbClr val="000066"/>
                  </a:solidFill>
                </a:endParaRPr>
              </a:p>
            </p:txBody>
          </p:sp>
          <p:sp>
            <p:nvSpPr>
              <p:cNvPr id="162839" name="矩形 162838"/>
              <p:cNvSpPr/>
              <p:nvPr/>
            </p:nvSpPr>
            <p:spPr>
              <a:xfrm>
                <a:off x="2895" y="1187"/>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62840" name="矩形 162839"/>
              <p:cNvSpPr/>
              <p:nvPr/>
            </p:nvSpPr>
            <p:spPr>
              <a:xfrm>
                <a:off x="2973" y="1262"/>
                <a:ext cx="34" cy="106"/>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I</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162841" name="矩形 162840"/>
            <p:cNvSpPr/>
            <p:nvPr/>
          </p:nvSpPr>
          <p:spPr>
            <a:xfrm>
              <a:off x="373" y="2032"/>
              <a:ext cx="277" cy="250"/>
            </a:xfrm>
            <a:prstGeom prst="rect">
              <a:avLst/>
            </a:prstGeom>
            <a:noFill/>
            <a:ln w="9525">
              <a:noFill/>
            </a:ln>
          </p:spPr>
          <p:txBody>
            <a:bodyPr wrap="none" anchor="t" anchorCtr="0">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当</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162842" name="矩形 162841"/>
            <p:cNvSpPr/>
            <p:nvPr/>
          </p:nvSpPr>
          <p:spPr>
            <a:xfrm>
              <a:off x="739" y="2074"/>
              <a:ext cx="754" cy="250"/>
            </a:xfrm>
            <a:prstGeom prst="rect">
              <a:avLst/>
            </a:prstGeom>
            <a:noFill/>
            <a:ln w="9525">
              <a:noFill/>
            </a:ln>
          </p:spPr>
          <p:txBody>
            <a:bodyPr>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a:t>
              </a:r>
              <a:r>
                <a:rPr lang="en-US" altLang="zh-CN" sz="2000" b="1" err="1">
                  <a:solidFill>
                    <a:srgbClr val="000066"/>
                  </a:solidFill>
                  <a:latin typeface="Times New Roman" panose="02020603050405020304" charset="0"/>
                  <a:ea typeface="楷体_GB2312" panose="02010609030101010101" pitchFamily="49" charset="-122"/>
                </a:rPr>
                <a:t>V</a:t>
              </a:r>
              <a:r>
                <a:rPr lang="en-US" altLang="zh-CN" sz="2000" b="1" baseline="-25000" err="1">
                  <a:solidFill>
                    <a:srgbClr val="000066"/>
                  </a:solidFill>
                  <a:latin typeface="Times New Roman" panose="02020603050405020304" charset="0"/>
                  <a:ea typeface="楷体_GB2312" panose="02010609030101010101" pitchFamily="49" charset="-122"/>
                </a:rPr>
                <a:t>th</a:t>
              </a:r>
              <a:r>
                <a:rPr lang="zh-CN" altLang="en-US" sz="2000" b="1" dirty="0">
                  <a:solidFill>
                    <a:srgbClr val="000066"/>
                  </a:solidFill>
                  <a:latin typeface="Times New Roman" panose="02020603050405020304" charset="0"/>
                  <a:ea typeface="楷体_GB2312" panose="02010609030101010101" pitchFamily="49" charset="-122"/>
                </a:rPr>
                <a:t>时，</a:t>
              </a:r>
              <a:endParaRPr lang="zh-CN" altLang="en-US" sz="2000" b="1" dirty="0">
                <a:solidFill>
                  <a:srgbClr val="000066"/>
                </a:solidFill>
                <a:latin typeface="Times New Roman" panose="02020603050405020304" charset="0"/>
                <a:ea typeface="楷体_GB2312" panose="02010609030101010101" pitchFamily="49" charset="-122"/>
              </a:endParaRPr>
            </a:p>
          </p:txBody>
        </p:sp>
      </p:grpSp>
      <p:grpSp>
        <p:nvGrpSpPr>
          <p:cNvPr id="162843" name="组合 162842"/>
          <p:cNvGrpSpPr/>
          <p:nvPr/>
        </p:nvGrpSpPr>
        <p:grpSpPr>
          <a:xfrm>
            <a:off x="600075" y="3802063"/>
            <a:ext cx="3221038" cy="411162"/>
            <a:chOff x="1316" y="1554"/>
            <a:chExt cx="1500" cy="259"/>
          </a:xfrm>
        </p:grpSpPr>
        <p:sp>
          <p:nvSpPr>
            <p:cNvPr id="162844" name="矩形 162843"/>
            <p:cNvSpPr/>
            <p:nvPr/>
          </p:nvSpPr>
          <p:spPr>
            <a:xfrm>
              <a:off x="1316" y="1563"/>
              <a:ext cx="721" cy="250"/>
            </a:xfrm>
            <a:prstGeom prst="rect">
              <a:avLst/>
            </a:prstGeom>
            <a:noFill/>
            <a:ln w="9525">
              <a:noFill/>
            </a:ln>
          </p:spPr>
          <p:txBody>
            <a:bodyPr>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G</a:t>
              </a:r>
              <a:r>
                <a:rPr lang="en-US" altLang="zh-CN" sz="2000" b="1" baseline="-25000">
                  <a:solidFill>
                    <a:srgbClr val="000066"/>
                  </a:solidFill>
                  <a:latin typeface="Times New Roman" panose="02020603050405020304" charset="0"/>
                  <a:ea typeface="楷体_GB2312" panose="02010609030101010101" pitchFamily="49" charset="-122"/>
                </a:rPr>
                <a:t>1</a:t>
              </a:r>
              <a:r>
                <a:rPr lang="zh-CN" altLang="en-US" sz="2000" b="1" dirty="0">
                  <a:solidFill>
                    <a:srgbClr val="000066"/>
                  </a:solidFill>
                  <a:latin typeface="Times New Roman" panose="02020603050405020304" charset="0"/>
                  <a:ea typeface="楷体_GB2312" panose="02010609030101010101" pitchFamily="49" charset="-122"/>
                </a:rPr>
                <a:t>截止、</a:t>
              </a:r>
              <a:endParaRPr lang="zh-CN" altLang="en-US" sz="2000" b="1" dirty="0">
                <a:solidFill>
                  <a:srgbClr val="000066"/>
                </a:solidFill>
                <a:latin typeface="Times New Roman" panose="02020603050405020304" charset="0"/>
                <a:ea typeface="楷体_GB2312" panose="02010609030101010101" pitchFamily="49" charset="-122"/>
              </a:endParaRPr>
            </a:p>
          </p:txBody>
        </p:sp>
        <p:sp>
          <p:nvSpPr>
            <p:cNvPr id="162845" name="矩形 162844"/>
            <p:cNvSpPr/>
            <p:nvPr/>
          </p:nvSpPr>
          <p:spPr>
            <a:xfrm>
              <a:off x="2095" y="1554"/>
              <a:ext cx="721" cy="250"/>
            </a:xfrm>
            <a:prstGeom prst="rect">
              <a:avLst/>
            </a:prstGeom>
            <a:noFill/>
            <a:ln w="9525">
              <a:noFill/>
            </a:ln>
          </p:spPr>
          <p:txBody>
            <a:bodyPr>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G</a:t>
              </a:r>
              <a:r>
                <a:rPr lang="en-US" altLang="zh-CN" sz="2000" b="1" baseline="-25000">
                  <a:solidFill>
                    <a:srgbClr val="000066"/>
                  </a:solidFill>
                  <a:latin typeface="Times New Roman" panose="02020603050405020304" charset="0"/>
                  <a:ea typeface="楷体_GB2312" panose="02010609030101010101" pitchFamily="49" charset="-122"/>
                </a:rPr>
                <a:t>2</a:t>
              </a:r>
              <a:r>
                <a:rPr lang="zh-CN" altLang="en-US" sz="2000" b="1" dirty="0">
                  <a:solidFill>
                    <a:srgbClr val="000066"/>
                  </a:solidFill>
                  <a:latin typeface="Times New Roman" panose="02020603050405020304" charset="0"/>
                  <a:ea typeface="楷体_GB2312" panose="02010609030101010101" pitchFamily="49" charset="-122"/>
                </a:rPr>
                <a:t>导通，</a:t>
              </a:r>
              <a:endParaRPr lang="zh-CN" altLang="en-US" sz="2000" b="1" dirty="0">
                <a:solidFill>
                  <a:srgbClr val="000066"/>
                </a:solidFill>
                <a:latin typeface="Times New Roman" panose="02020603050405020304" charset="0"/>
                <a:ea typeface="楷体_GB2312" panose="02010609030101010101" pitchFamily="49" charset="-122"/>
              </a:endParaRPr>
            </a:p>
          </p:txBody>
        </p:sp>
      </p:grpSp>
      <p:grpSp>
        <p:nvGrpSpPr>
          <p:cNvPr id="162846" name="组合 162845"/>
          <p:cNvGrpSpPr/>
          <p:nvPr/>
        </p:nvGrpSpPr>
        <p:grpSpPr>
          <a:xfrm>
            <a:off x="846138" y="3255963"/>
            <a:ext cx="5310187" cy="633412"/>
            <a:chOff x="2851" y="1532"/>
            <a:chExt cx="2744" cy="230"/>
          </a:xfrm>
        </p:grpSpPr>
        <p:sp>
          <p:nvSpPr>
            <p:cNvPr id="162847" name="矩形 162846"/>
            <p:cNvSpPr/>
            <p:nvPr/>
          </p:nvSpPr>
          <p:spPr>
            <a:xfrm>
              <a:off x="3951" y="1545"/>
              <a:ext cx="1644" cy="144"/>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_GB2312" panose="02010609030101010101" pitchFamily="49" charset="-122"/>
                </a:rPr>
                <a:t>电路返回第一暂稳态</a:t>
              </a:r>
              <a:endParaRPr lang="zh-CN" altLang="en-US" sz="2000" b="1" dirty="0">
                <a:solidFill>
                  <a:srgbClr val="000066"/>
                </a:solidFill>
                <a:latin typeface="Times New Roman" panose="02020603050405020304" charset="0"/>
                <a:ea typeface="楷体_GB2312" panose="02010609030101010101" pitchFamily="49" charset="-122"/>
              </a:endParaRPr>
            </a:p>
          </p:txBody>
        </p:sp>
        <p:grpSp>
          <p:nvGrpSpPr>
            <p:cNvPr id="162848" name="组合 162847"/>
            <p:cNvGrpSpPr/>
            <p:nvPr/>
          </p:nvGrpSpPr>
          <p:grpSpPr>
            <a:xfrm>
              <a:off x="3458" y="1532"/>
              <a:ext cx="305" cy="218"/>
              <a:chOff x="2895" y="1153"/>
              <a:chExt cx="305" cy="218"/>
            </a:xfrm>
          </p:grpSpPr>
          <p:sp>
            <p:nvSpPr>
              <p:cNvPr id="162849" name="矩形 162848"/>
              <p:cNvSpPr/>
              <p:nvPr/>
            </p:nvSpPr>
            <p:spPr>
              <a:xfrm>
                <a:off x="2895" y="1153"/>
                <a:ext cx="305" cy="218"/>
              </a:xfrm>
              <a:prstGeom prst="rect">
                <a:avLst/>
              </a:prstGeom>
              <a:noFill/>
              <a:ln w="9525">
                <a:noFill/>
              </a:ln>
            </p:spPr>
            <p:txBody>
              <a:bodyPr/>
              <a:p>
                <a:endParaRPr lang="zh-CN" altLang="en-US">
                  <a:solidFill>
                    <a:srgbClr val="000066"/>
                  </a:solidFill>
                </a:endParaRPr>
              </a:p>
            </p:txBody>
          </p:sp>
          <p:sp>
            <p:nvSpPr>
              <p:cNvPr id="162850" name="矩形 162849"/>
              <p:cNvSpPr/>
              <p:nvPr/>
            </p:nvSpPr>
            <p:spPr>
              <a:xfrm>
                <a:off x="2895" y="1187"/>
                <a:ext cx="52" cy="100"/>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62851" name="矩形 162850"/>
              <p:cNvSpPr/>
              <p:nvPr/>
            </p:nvSpPr>
            <p:spPr>
              <a:xfrm>
                <a:off x="2973" y="1262"/>
                <a:ext cx="92" cy="61"/>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O2</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162852" name="矩形 162851"/>
            <p:cNvSpPr/>
            <p:nvPr/>
          </p:nvSpPr>
          <p:spPr>
            <a:xfrm>
              <a:off x="3624" y="1533"/>
              <a:ext cx="235" cy="144"/>
            </a:xfrm>
            <a:prstGeom prst="rect">
              <a:avLst/>
            </a:prstGeom>
            <a:noFill/>
            <a:ln w="9525">
              <a:noFill/>
            </a:ln>
          </p:spPr>
          <p:txBody>
            <a:bodyPr wrap="none" anchor="t" anchorCtr="0">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=0</a:t>
              </a:r>
              <a:endParaRPr lang="en-US" altLang="zh-CN" sz="2000" b="1">
                <a:solidFill>
                  <a:srgbClr val="000066"/>
                </a:solidFill>
                <a:latin typeface="Times New Roman" panose="02020603050405020304" charset="0"/>
                <a:ea typeface="楷体_GB2312" panose="02010609030101010101" pitchFamily="49" charset="-122"/>
              </a:endParaRPr>
            </a:p>
          </p:txBody>
        </p:sp>
        <p:grpSp>
          <p:nvGrpSpPr>
            <p:cNvPr id="162853" name="组合 162852"/>
            <p:cNvGrpSpPr/>
            <p:nvPr/>
          </p:nvGrpSpPr>
          <p:grpSpPr>
            <a:xfrm>
              <a:off x="2851" y="1544"/>
              <a:ext cx="305" cy="218"/>
              <a:chOff x="2895" y="1153"/>
              <a:chExt cx="305" cy="218"/>
            </a:xfrm>
          </p:grpSpPr>
          <p:sp>
            <p:nvSpPr>
              <p:cNvPr id="162854" name="矩形 162853"/>
              <p:cNvSpPr/>
              <p:nvPr/>
            </p:nvSpPr>
            <p:spPr>
              <a:xfrm>
                <a:off x="2895" y="1153"/>
                <a:ext cx="305" cy="218"/>
              </a:xfrm>
              <a:prstGeom prst="rect">
                <a:avLst/>
              </a:prstGeom>
              <a:noFill/>
              <a:ln w="9525">
                <a:noFill/>
              </a:ln>
            </p:spPr>
            <p:txBody>
              <a:bodyPr/>
              <a:p>
                <a:endParaRPr lang="zh-CN" altLang="en-US">
                  <a:solidFill>
                    <a:srgbClr val="000066"/>
                  </a:solidFill>
                </a:endParaRPr>
              </a:p>
            </p:txBody>
          </p:sp>
          <p:sp>
            <p:nvSpPr>
              <p:cNvPr id="162855" name="矩形 162854"/>
              <p:cNvSpPr/>
              <p:nvPr/>
            </p:nvSpPr>
            <p:spPr>
              <a:xfrm>
                <a:off x="2895" y="1187"/>
                <a:ext cx="52" cy="100"/>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b="1" i="1">
                  <a:solidFill>
                    <a:srgbClr val="000066"/>
                  </a:solidFill>
                  <a:latin typeface="Times New Roman" panose="02020603050405020304" charset="0"/>
                  <a:ea typeface="楷体_GB2312" panose="02010609030101010101" pitchFamily="49" charset="-122"/>
                </a:endParaRPr>
              </a:p>
            </p:txBody>
          </p:sp>
          <p:sp>
            <p:nvSpPr>
              <p:cNvPr id="162856" name="矩形 162855"/>
              <p:cNvSpPr/>
              <p:nvPr/>
            </p:nvSpPr>
            <p:spPr>
              <a:xfrm>
                <a:off x="2973" y="1262"/>
                <a:ext cx="92" cy="61"/>
              </a:xfrm>
              <a:prstGeom prst="rect">
                <a:avLst/>
              </a:prstGeom>
              <a:noFill/>
              <a:ln w="9525">
                <a:noFill/>
              </a:ln>
            </p:spPr>
            <p:txBody>
              <a:bodyPr wrap="none" lIns="0" tIns="0" rIns="0" bIns="0">
                <a:spAutoFit/>
              </a:bodyPr>
              <a:p>
                <a:r>
                  <a:rPr lang="en-US" altLang="zh-CN" sz="1100" b="1">
                    <a:solidFill>
                      <a:srgbClr val="000066"/>
                    </a:solidFill>
                    <a:latin typeface="Times New Roman" panose="02020603050405020304" charset="0"/>
                    <a:ea typeface="楷体_GB2312" panose="02010609030101010101" pitchFamily="49" charset="-122"/>
                  </a:rPr>
                  <a:t>O1</a:t>
                </a:r>
                <a:endParaRPr lang="en-US" altLang="zh-CN" sz="1100" b="1">
                  <a:solidFill>
                    <a:srgbClr val="000066"/>
                  </a:solidFill>
                  <a:latin typeface="Times New Roman" panose="02020603050405020304" charset="0"/>
                  <a:ea typeface="楷体_GB2312" panose="02010609030101010101" pitchFamily="49" charset="-122"/>
                </a:endParaRPr>
              </a:p>
            </p:txBody>
          </p:sp>
        </p:grpSp>
        <p:sp>
          <p:nvSpPr>
            <p:cNvPr id="162857" name="矩形 162856"/>
            <p:cNvSpPr/>
            <p:nvPr/>
          </p:nvSpPr>
          <p:spPr>
            <a:xfrm>
              <a:off x="3044" y="1554"/>
              <a:ext cx="235" cy="144"/>
            </a:xfrm>
            <a:prstGeom prst="rect">
              <a:avLst/>
            </a:prstGeom>
            <a:noFill/>
            <a:ln w="9525">
              <a:noFill/>
            </a:ln>
          </p:spPr>
          <p:txBody>
            <a:bodyPr wrap="none" anchor="t" anchorCtr="0">
              <a:spAutoFit/>
            </a:bodyPr>
            <a:p>
              <a:pPr>
                <a:spcBef>
                  <a:spcPct val="50000"/>
                </a:spcBef>
              </a:pPr>
              <a:r>
                <a:rPr lang="en-US" altLang="zh-CN" sz="2000" b="1">
                  <a:solidFill>
                    <a:srgbClr val="000066"/>
                  </a:solidFill>
                  <a:latin typeface="Times New Roman" panose="02020603050405020304" charset="0"/>
                  <a:ea typeface="楷体_GB2312" panose="02010609030101010101" pitchFamily="49" charset="-122"/>
                </a:rPr>
                <a:t>=1</a:t>
              </a:r>
              <a:endParaRPr lang="en-US" altLang="zh-CN" sz="2000" b="1">
                <a:solidFill>
                  <a:srgbClr val="000066"/>
                </a:solidFill>
                <a:latin typeface="Times New Roman" panose="02020603050405020304" charset="0"/>
                <a:ea typeface="楷体_GB2312" panose="02010609030101010101" pitchFamily="49" charset="-122"/>
              </a:endParaRPr>
            </a:p>
          </p:txBody>
        </p:sp>
      </p:grpSp>
      <p:sp>
        <p:nvSpPr>
          <p:cNvPr id="162858" name="直接连接符 162857"/>
          <p:cNvSpPr/>
          <p:nvPr/>
        </p:nvSpPr>
        <p:spPr>
          <a:xfrm>
            <a:off x="7331075" y="2179638"/>
            <a:ext cx="471488" cy="0"/>
          </a:xfrm>
          <a:prstGeom prst="line">
            <a:avLst/>
          </a:prstGeom>
          <a:ln w="38100" cap="flat" cmpd="sng">
            <a:solidFill>
              <a:srgbClr val="000099"/>
            </a:solidFill>
            <a:prstDash val="solid"/>
            <a:headEnd type="none" w="med" len="med"/>
            <a:tailEnd type="triangle" w="med" len="med"/>
          </a:ln>
        </p:spPr>
      </p:sp>
      <p:sp>
        <p:nvSpPr>
          <p:cNvPr id="162859" name="矩形 162858"/>
          <p:cNvSpPr/>
          <p:nvPr/>
        </p:nvSpPr>
        <p:spPr>
          <a:xfrm>
            <a:off x="2654300" y="4497388"/>
            <a:ext cx="1035050" cy="1979612"/>
          </a:xfrm>
          <a:prstGeom prst="rect">
            <a:avLst/>
          </a:prstGeom>
          <a:solidFill>
            <a:srgbClr val="FF6699">
              <a:alpha val="50000"/>
            </a:srgbClr>
          </a:solidFill>
          <a:ln w="9525">
            <a:noFill/>
          </a:ln>
        </p:spPr>
        <p:txBody>
          <a:bodyPr/>
          <a:p>
            <a:endParaRPr lang="zh-CN" altLang="en-US"/>
          </a:p>
        </p:txBody>
      </p:sp>
      <p:sp>
        <p:nvSpPr>
          <p:cNvPr id="162860" name="矩形 162859"/>
          <p:cNvSpPr/>
          <p:nvPr/>
        </p:nvSpPr>
        <p:spPr>
          <a:xfrm>
            <a:off x="628650" y="4581525"/>
            <a:ext cx="1035050" cy="1938338"/>
          </a:xfrm>
          <a:prstGeom prst="rect">
            <a:avLst/>
          </a:prstGeom>
          <a:solidFill>
            <a:srgbClr val="66FF66">
              <a:alpha val="50000"/>
            </a:srgbClr>
          </a:solidFill>
          <a:ln w="9525">
            <a:noFill/>
          </a:ln>
        </p:spPr>
        <p:txBody>
          <a:bodyPr/>
          <a:p>
            <a:endParaRPr lang="zh-CN" altLang="en-US"/>
          </a:p>
        </p:txBody>
      </p:sp>
      <p:sp>
        <p:nvSpPr>
          <p:cNvPr id="162861" name="矩形 162860"/>
          <p:cNvSpPr/>
          <p:nvPr/>
        </p:nvSpPr>
        <p:spPr>
          <a:xfrm>
            <a:off x="2654300" y="4535488"/>
            <a:ext cx="1035050" cy="1979612"/>
          </a:xfrm>
          <a:prstGeom prst="rect">
            <a:avLst/>
          </a:prstGeom>
          <a:solidFill>
            <a:srgbClr val="66FF66">
              <a:alpha val="50000"/>
            </a:srgbClr>
          </a:solidFill>
          <a:ln w="9525">
            <a:noFill/>
          </a:ln>
        </p:spPr>
        <p:txBody>
          <a:bodyPr/>
          <a:p>
            <a:endParaRPr lang="zh-CN" altLang="en-US"/>
          </a:p>
        </p:txBody>
      </p:sp>
      <p:sp>
        <p:nvSpPr>
          <p:cNvPr id="162862" name="矩形 162861"/>
          <p:cNvSpPr/>
          <p:nvPr/>
        </p:nvSpPr>
        <p:spPr>
          <a:xfrm>
            <a:off x="755650" y="4708525"/>
            <a:ext cx="1035050" cy="1938338"/>
          </a:xfrm>
          <a:prstGeom prst="rect">
            <a:avLst/>
          </a:prstGeom>
          <a:solidFill>
            <a:srgbClr val="FF7C80">
              <a:alpha val="50000"/>
            </a:srgbClr>
          </a:solidFill>
          <a:ln w="9525">
            <a:noFill/>
          </a:ln>
        </p:spPr>
        <p:txBody>
          <a:bodyPr/>
          <a:p>
            <a:endParaRPr lang="zh-CN" altLang="en-US"/>
          </a:p>
        </p:txBody>
      </p:sp>
      <p:sp>
        <p:nvSpPr>
          <p:cNvPr id="162864" name="直接连接符 162863"/>
          <p:cNvSpPr/>
          <p:nvPr/>
        </p:nvSpPr>
        <p:spPr>
          <a:xfrm>
            <a:off x="5070475" y="6134100"/>
            <a:ext cx="3175" cy="673100"/>
          </a:xfrm>
          <a:prstGeom prst="line">
            <a:avLst/>
          </a:prstGeom>
          <a:ln w="25400" cap="flat" cmpd="sng">
            <a:solidFill>
              <a:schemeClr val="accent2"/>
            </a:solidFill>
            <a:prstDash val="solid"/>
            <a:headEnd type="none" w="med" len="med"/>
            <a:tailEnd type="none" w="med" len="med"/>
          </a:ln>
        </p:spPr>
      </p:sp>
      <p:sp>
        <p:nvSpPr>
          <p:cNvPr id="162865" name="直接连接符 162864"/>
          <p:cNvSpPr/>
          <p:nvPr/>
        </p:nvSpPr>
        <p:spPr>
          <a:xfrm flipH="1">
            <a:off x="5003800" y="6807200"/>
            <a:ext cx="4097338" cy="1588"/>
          </a:xfrm>
          <a:prstGeom prst="line">
            <a:avLst/>
          </a:prstGeom>
          <a:ln w="25400" cap="flat" cmpd="sng">
            <a:solidFill>
              <a:schemeClr val="accent2"/>
            </a:solidFill>
            <a:prstDash val="solid"/>
            <a:headEnd type="none" w="med" len="med"/>
            <a:tailEnd type="none" w="med" len="med"/>
          </a:ln>
        </p:spPr>
      </p:sp>
      <p:sp>
        <p:nvSpPr>
          <p:cNvPr id="162866" name="直接连接符 162865"/>
          <p:cNvSpPr/>
          <p:nvPr/>
        </p:nvSpPr>
        <p:spPr>
          <a:xfrm>
            <a:off x="5070475" y="4606925"/>
            <a:ext cx="3175" cy="785813"/>
          </a:xfrm>
          <a:prstGeom prst="line">
            <a:avLst/>
          </a:prstGeom>
          <a:ln w="25400" cap="flat" cmpd="sng">
            <a:solidFill>
              <a:schemeClr val="accent2"/>
            </a:solidFill>
            <a:prstDash val="solid"/>
            <a:headEnd type="none" w="med" len="med"/>
            <a:tailEnd type="none" w="med" len="med"/>
          </a:ln>
        </p:spPr>
      </p:sp>
      <p:sp>
        <p:nvSpPr>
          <p:cNvPr id="162867" name="直接连接符 162866"/>
          <p:cNvSpPr/>
          <p:nvPr/>
        </p:nvSpPr>
        <p:spPr>
          <a:xfrm flipH="1">
            <a:off x="5070475" y="5280025"/>
            <a:ext cx="3646488" cy="1588"/>
          </a:xfrm>
          <a:prstGeom prst="line">
            <a:avLst/>
          </a:prstGeom>
          <a:ln w="25400" cap="flat" cmpd="sng">
            <a:solidFill>
              <a:schemeClr val="accent2"/>
            </a:solidFill>
            <a:prstDash val="solid"/>
            <a:headEnd type="none" w="med" len="med"/>
            <a:tailEnd type="none" w="med" len="med"/>
          </a:ln>
        </p:spPr>
      </p:sp>
      <p:sp>
        <p:nvSpPr>
          <p:cNvPr id="162868" name="任意多边形 162867"/>
          <p:cNvSpPr>
            <a:spLocks noEditPoints="1"/>
          </p:cNvSpPr>
          <p:nvPr/>
        </p:nvSpPr>
        <p:spPr>
          <a:xfrm>
            <a:off x="5062538" y="4764088"/>
            <a:ext cx="3333750" cy="12700"/>
          </a:xfrm>
          <a:custGeom>
            <a:avLst/>
            <a:gdLst/>
            <a:ahLst/>
            <a:cxnLst/>
            <a:pathLst>
              <a:path w="2100" h="8">
                <a:moveTo>
                  <a:pt x="10" y="0"/>
                </a:moveTo>
                <a:lnTo>
                  <a:pt x="57" y="0"/>
                </a:lnTo>
                <a:lnTo>
                  <a:pt x="59" y="0"/>
                </a:lnTo>
                <a:lnTo>
                  <a:pt x="62" y="1"/>
                </a:lnTo>
                <a:lnTo>
                  <a:pt x="65" y="2"/>
                </a:lnTo>
                <a:lnTo>
                  <a:pt x="65" y="3"/>
                </a:lnTo>
                <a:lnTo>
                  <a:pt x="65" y="6"/>
                </a:lnTo>
                <a:lnTo>
                  <a:pt x="62" y="7"/>
                </a:lnTo>
                <a:lnTo>
                  <a:pt x="59" y="7"/>
                </a:lnTo>
                <a:lnTo>
                  <a:pt x="57" y="7"/>
                </a:lnTo>
                <a:lnTo>
                  <a:pt x="10" y="7"/>
                </a:lnTo>
                <a:lnTo>
                  <a:pt x="5" y="7"/>
                </a:lnTo>
                <a:lnTo>
                  <a:pt x="2" y="6"/>
                </a:lnTo>
                <a:lnTo>
                  <a:pt x="2" y="5"/>
                </a:lnTo>
                <a:lnTo>
                  <a:pt x="0" y="3"/>
                </a:lnTo>
                <a:lnTo>
                  <a:pt x="2" y="2"/>
                </a:lnTo>
                <a:lnTo>
                  <a:pt x="2" y="1"/>
                </a:lnTo>
                <a:lnTo>
                  <a:pt x="5" y="0"/>
                </a:lnTo>
                <a:lnTo>
                  <a:pt x="10" y="0"/>
                </a:lnTo>
                <a:lnTo>
                  <a:pt x="10" y="0"/>
                </a:lnTo>
                <a:close/>
                <a:moveTo>
                  <a:pt x="122" y="0"/>
                </a:moveTo>
                <a:lnTo>
                  <a:pt x="171" y="0"/>
                </a:lnTo>
                <a:lnTo>
                  <a:pt x="174" y="0"/>
                </a:lnTo>
                <a:lnTo>
                  <a:pt x="176" y="1"/>
                </a:lnTo>
                <a:lnTo>
                  <a:pt x="179" y="2"/>
                </a:lnTo>
                <a:lnTo>
                  <a:pt x="179" y="3"/>
                </a:lnTo>
                <a:lnTo>
                  <a:pt x="179" y="6"/>
                </a:lnTo>
                <a:lnTo>
                  <a:pt x="176" y="7"/>
                </a:lnTo>
                <a:lnTo>
                  <a:pt x="174" y="7"/>
                </a:lnTo>
                <a:lnTo>
                  <a:pt x="171" y="7"/>
                </a:lnTo>
                <a:lnTo>
                  <a:pt x="122" y="7"/>
                </a:lnTo>
                <a:lnTo>
                  <a:pt x="119" y="7"/>
                </a:lnTo>
                <a:lnTo>
                  <a:pt x="117" y="7"/>
                </a:lnTo>
                <a:lnTo>
                  <a:pt x="114" y="6"/>
                </a:lnTo>
                <a:lnTo>
                  <a:pt x="114" y="3"/>
                </a:lnTo>
                <a:lnTo>
                  <a:pt x="114" y="2"/>
                </a:lnTo>
                <a:lnTo>
                  <a:pt x="117" y="1"/>
                </a:lnTo>
                <a:lnTo>
                  <a:pt x="119" y="0"/>
                </a:lnTo>
                <a:lnTo>
                  <a:pt x="122" y="0"/>
                </a:lnTo>
                <a:lnTo>
                  <a:pt x="122" y="0"/>
                </a:lnTo>
                <a:close/>
                <a:moveTo>
                  <a:pt x="236" y="0"/>
                </a:moveTo>
                <a:lnTo>
                  <a:pt x="285" y="0"/>
                </a:lnTo>
                <a:lnTo>
                  <a:pt x="288" y="0"/>
                </a:lnTo>
                <a:lnTo>
                  <a:pt x="291" y="1"/>
                </a:lnTo>
                <a:lnTo>
                  <a:pt x="293" y="2"/>
                </a:lnTo>
                <a:lnTo>
                  <a:pt x="293" y="3"/>
                </a:lnTo>
                <a:lnTo>
                  <a:pt x="293" y="6"/>
                </a:lnTo>
                <a:lnTo>
                  <a:pt x="291" y="7"/>
                </a:lnTo>
                <a:lnTo>
                  <a:pt x="288" y="7"/>
                </a:lnTo>
                <a:lnTo>
                  <a:pt x="285" y="7"/>
                </a:lnTo>
                <a:lnTo>
                  <a:pt x="236" y="7"/>
                </a:lnTo>
                <a:lnTo>
                  <a:pt x="233" y="7"/>
                </a:lnTo>
                <a:lnTo>
                  <a:pt x="231" y="7"/>
                </a:lnTo>
                <a:lnTo>
                  <a:pt x="228" y="6"/>
                </a:lnTo>
                <a:lnTo>
                  <a:pt x="228" y="3"/>
                </a:lnTo>
                <a:lnTo>
                  <a:pt x="228" y="2"/>
                </a:lnTo>
                <a:lnTo>
                  <a:pt x="231" y="1"/>
                </a:lnTo>
                <a:lnTo>
                  <a:pt x="233" y="0"/>
                </a:lnTo>
                <a:lnTo>
                  <a:pt x="236" y="0"/>
                </a:lnTo>
                <a:lnTo>
                  <a:pt x="236" y="0"/>
                </a:lnTo>
                <a:close/>
                <a:moveTo>
                  <a:pt x="350" y="0"/>
                </a:moveTo>
                <a:lnTo>
                  <a:pt x="400" y="0"/>
                </a:lnTo>
                <a:lnTo>
                  <a:pt x="402" y="1"/>
                </a:lnTo>
                <a:lnTo>
                  <a:pt x="405" y="1"/>
                </a:lnTo>
                <a:lnTo>
                  <a:pt x="405" y="2"/>
                </a:lnTo>
                <a:lnTo>
                  <a:pt x="408" y="3"/>
                </a:lnTo>
                <a:lnTo>
                  <a:pt x="405" y="6"/>
                </a:lnTo>
                <a:lnTo>
                  <a:pt x="405" y="7"/>
                </a:lnTo>
                <a:lnTo>
                  <a:pt x="402" y="7"/>
                </a:lnTo>
                <a:lnTo>
                  <a:pt x="400" y="8"/>
                </a:lnTo>
                <a:lnTo>
                  <a:pt x="350" y="8"/>
                </a:lnTo>
                <a:lnTo>
                  <a:pt x="348" y="7"/>
                </a:lnTo>
                <a:lnTo>
                  <a:pt x="345" y="7"/>
                </a:lnTo>
                <a:lnTo>
                  <a:pt x="343" y="6"/>
                </a:lnTo>
                <a:lnTo>
                  <a:pt x="343" y="3"/>
                </a:lnTo>
                <a:lnTo>
                  <a:pt x="343" y="2"/>
                </a:lnTo>
                <a:lnTo>
                  <a:pt x="345" y="1"/>
                </a:lnTo>
                <a:lnTo>
                  <a:pt x="348" y="1"/>
                </a:lnTo>
                <a:lnTo>
                  <a:pt x="350" y="0"/>
                </a:lnTo>
                <a:lnTo>
                  <a:pt x="350" y="0"/>
                </a:lnTo>
                <a:close/>
                <a:moveTo>
                  <a:pt x="465" y="0"/>
                </a:moveTo>
                <a:lnTo>
                  <a:pt x="512" y="0"/>
                </a:lnTo>
                <a:lnTo>
                  <a:pt x="514" y="1"/>
                </a:lnTo>
                <a:lnTo>
                  <a:pt x="517" y="1"/>
                </a:lnTo>
                <a:lnTo>
                  <a:pt x="519" y="2"/>
                </a:lnTo>
                <a:lnTo>
                  <a:pt x="519" y="3"/>
                </a:lnTo>
                <a:lnTo>
                  <a:pt x="519" y="6"/>
                </a:lnTo>
                <a:lnTo>
                  <a:pt x="517" y="7"/>
                </a:lnTo>
                <a:lnTo>
                  <a:pt x="514" y="7"/>
                </a:lnTo>
                <a:lnTo>
                  <a:pt x="512" y="8"/>
                </a:lnTo>
                <a:lnTo>
                  <a:pt x="465" y="8"/>
                </a:lnTo>
                <a:lnTo>
                  <a:pt x="460" y="7"/>
                </a:lnTo>
                <a:lnTo>
                  <a:pt x="457" y="7"/>
                </a:lnTo>
                <a:lnTo>
                  <a:pt x="457" y="6"/>
                </a:lnTo>
                <a:lnTo>
                  <a:pt x="454" y="3"/>
                </a:lnTo>
                <a:lnTo>
                  <a:pt x="457" y="2"/>
                </a:lnTo>
                <a:lnTo>
                  <a:pt x="457" y="1"/>
                </a:lnTo>
                <a:lnTo>
                  <a:pt x="460" y="1"/>
                </a:lnTo>
                <a:lnTo>
                  <a:pt x="465" y="0"/>
                </a:lnTo>
                <a:lnTo>
                  <a:pt x="465" y="0"/>
                </a:lnTo>
                <a:close/>
                <a:moveTo>
                  <a:pt x="577" y="0"/>
                </a:moveTo>
                <a:lnTo>
                  <a:pt x="626" y="0"/>
                </a:lnTo>
                <a:lnTo>
                  <a:pt x="629" y="1"/>
                </a:lnTo>
                <a:lnTo>
                  <a:pt x="631" y="1"/>
                </a:lnTo>
                <a:lnTo>
                  <a:pt x="634" y="2"/>
                </a:lnTo>
                <a:lnTo>
                  <a:pt x="634" y="3"/>
                </a:lnTo>
                <a:lnTo>
                  <a:pt x="634" y="6"/>
                </a:lnTo>
                <a:lnTo>
                  <a:pt x="631" y="7"/>
                </a:lnTo>
                <a:lnTo>
                  <a:pt x="629" y="7"/>
                </a:lnTo>
                <a:lnTo>
                  <a:pt x="626" y="8"/>
                </a:lnTo>
                <a:lnTo>
                  <a:pt x="577" y="8"/>
                </a:lnTo>
                <a:lnTo>
                  <a:pt x="574" y="7"/>
                </a:lnTo>
                <a:lnTo>
                  <a:pt x="571" y="7"/>
                </a:lnTo>
                <a:lnTo>
                  <a:pt x="569" y="6"/>
                </a:lnTo>
                <a:lnTo>
                  <a:pt x="569" y="3"/>
                </a:lnTo>
                <a:lnTo>
                  <a:pt x="569" y="2"/>
                </a:lnTo>
                <a:lnTo>
                  <a:pt x="571" y="1"/>
                </a:lnTo>
                <a:lnTo>
                  <a:pt x="574" y="1"/>
                </a:lnTo>
                <a:lnTo>
                  <a:pt x="577" y="0"/>
                </a:lnTo>
                <a:lnTo>
                  <a:pt x="577" y="0"/>
                </a:lnTo>
                <a:close/>
                <a:moveTo>
                  <a:pt x="691" y="0"/>
                </a:moveTo>
                <a:lnTo>
                  <a:pt x="740" y="0"/>
                </a:lnTo>
                <a:lnTo>
                  <a:pt x="743" y="1"/>
                </a:lnTo>
                <a:lnTo>
                  <a:pt x="746" y="1"/>
                </a:lnTo>
                <a:lnTo>
                  <a:pt x="748" y="2"/>
                </a:lnTo>
                <a:lnTo>
                  <a:pt x="748" y="3"/>
                </a:lnTo>
                <a:lnTo>
                  <a:pt x="748" y="6"/>
                </a:lnTo>
                <a:lnTo>
                  <a:pt x="746" y="7"/>
                </a:lnTo>
                <a:lnTo>
                  <a:pt x="743" y="7"/>
                </a:lnTo>
                <a:lnTo>
                  <a:pt x="740" y="8"/>
                </a:lnTo>
                <a:lnTo>
                  <a:pt x="691" y="8"/>
                </a:lnTo>
                <a:lnTo>
                  <a:pt x="688" y="7"/>
                </a:lnTo>
                <a:lnTo>
                  <a:pt x="686" y="7"/>
                </a:lnTo>
                <a:lnTo>
                  <a:pt x="683" y="6"/>
                </a:lnTo>
                <a:lnTo>
                  <a:pt x="683" y="3"/>
                </a:lnTo>
                <a:lnTo>
                  <a:pt x="683" y="2"/>
                </a:lnTo>
                <a:lnTo>
                  <a:pt x="686" y="1"/>
                </a:lnTo>
                <a:lnTo>
                  <a:pt x="688" y="1"/>
                </a:lnTo>
                <a:lnTo>
                  <a:pt x="691" y="0"/>
                </a:lnTo>
                <a:lnTo>
                  <a:pt x="691" y="0"/>
                </a:lnTo>
                <a:close/>
                <a:moveTo>
                  <a:pt x="805" y="0"/>
                </a:moveTo>
                <a:lnTo>
                  <a:pt x="855" y="0"/>
                </a:lnTo>
                <a:lnTo>
                  <a:pt x="857" y="1"/>
                </a:lnTo>
                <a:lnTo>
                  <a:pt x="860" y="1"/>
                </a:lnTo>
                <a:lnTo>
                  <a:pt x="860" y="2"/>
                </a:lnTo>
                <a:lnTo>
                  <a:pt x="863" y="3"/>
                </a:lnTo>
                <a:lnTo>
                  <a:pt x="860" y="6"/>
                </a:lnTo>
                <a:lnTo>
                  <a:pt x="860" y="7"/>
                </a:lnTo>
                <a:lnTo>
                  <a:pt x="857" y="7"/>
                </a:lnTo>
                <a:lnTo>
                  <a:pt x="855" y="8"/>
                </a:lnTo>
                <a:lnTo>
                  <a:pt x="805" y="8"/>
                </a:lnTo>
                <a:lnTo>
                  <a:pt x="803" y="7"/>
                </a:lnTo>
                <a:lnTo>
                  <a:pt x="800" y="7"/>
                </a:lnTo>
                <a:lnTo>
                  <a:pt x="798" y="6"/>
                </a:lnTo>
                <a:lnTo>
                  <a:pt x="798" y="3"/>
                </a:lnTo>
                <a:lnTo>
                  <a:pt x="798" y="2"/>
                </a:lnTo>
                <a:lnTo>
                  <a:pt x="800" y="1"/>
                </a:lnTo>
                <a:lnTo>
                  <a:pt x="803" y="1"/>
                </a:lnTo>
                <a:lnTo>
                  <a:pt x="805" y="0"/>
                </a:lnTo>
                <a:lnTo>
                  <a:pt x="805" y="0"/>
                </a:lnTo>
                <a:close/>
                <a:moveTo>
                  <a:pt x="920" y="0"/>
                </a:moveTo>
                <a:lnTo>
                  <a:pt x="967" y="0"/>
                </a:lnTo>
                <a:lnTo>
                  <a:pt x="969" y="1"/>
                </a:lnTo>
                <a:lnTo>
                  <a:pt x="972" y="1"/>
                </a:lnTo>
                <a:lnTo>
                  <a:pt x="974" y="2"/>
                </a:lnTo>
                <a:lnTo>
                  <a:pt x="974" y="5"/>
                </a:lnTo>
                <a:lnTo>
                  <a:pt x="974" y="6"/>
                </a:lnTo>
                <a:lnTo>
                  <a:pt x="972" y="7"/>
                </a:lnTo>
                <a:lnTo>
                  <a:pt x="969" y="7"/>
                </a:lnTo>
                <a:lnTo>
                  <a:pt x="967" y="8"/>
                </a:lnTo>
                <a:lnTo>
                  <a:pt x="920" y="8"/>
                </a:lnTo>
                <a:lnTo>
                  <a:pt x="915" y="7"/>
                </a:lnTo>
                <a:lnTo>
                  <a:pt x="912" y="7"/>
                </a:lnTo>
                <a:lnTo>
                  <a:pt x="912" y="6"/>
                </a:lnTo>
                <a:lnTo>
                  <a:pt x="909" y="3"/>
                </a:lnTo>
                <a:lnTo>
                  <a:pt x="912" y="2"/>
                </a:lnTo>
                <a:lnTo>
                  <a:pt x="912" y="1"/>
                </a:lnTo>
                <a:lnTo>
                  <a:pt x="915" y="1"/>
                </a:lnTo>
                <a:lnTo>
                  <a:pt x="920" y="0"/>
                </a:lnTo>
                <a:lnTo>
                  <a:pt x="920" y="0"/>
                </a:lnTo>
                <a:close/>
                <a:moveTo>
                  <a:pt x="1032" y="0"/>
                </a:moveTo>
                <a:lnTo>
                  <a:pt x="1081" y="0"/>
                </a:lnTo>
                <a:lnTo>
                  <a:pt x="1084" y="1"/>
                </a:lnTo>
                <a:lnTo>
                  <a:pt x="1086" y="1"/>
                </a:lnTo>
                <a:lnTo>
                  <a:pt x="1089" y="2"/>
                </a:lnTo>
                <a:lnTo>
                  <a:pt x="1089" y="5"/>
                </a:lnTo>
                <a:lnTo>
                  <a:pt x="1089" y="6"/>
                </a:lnTo>
                <a:lnTo>
                  <a:pt x="1086" y="7"/>
                </a:lnTo>
                <a:lnTo>
                  <a:pt x="1084" y="7"/>
                </a:lnTo>
                <a:lnTo>
                  <a:pt x="1081" y="8"/>
                </a:lnTo>
                <a:lnTo>
                  <a:pt x="1032" y="8"/>
                </a:lnTo>
                <a:lnTo>
                  <a:pt x="1029" y="7"/>
                </a:lnTo>
                <a:lnTo>
                  <a:pt x="1026" y="7"/>
                </a:lnTo>
                <a:lnTo>
                  <a:pt x="1024" y="6"/>
                </a:lnTo>
                <a:lnTo>
                  <a:pt x="1024" y="5"/>
                </a:lnTo>
                <a:lnTo>
                  <a:pt x="1024" y="2"/>
                </a:lnTo>
                <a:lnTo>
                  <a:pt x="1026" y="1"/>
                </a:lnTo>
                <a:lnTo>
                  <a:pt x="1029" y="1"/>
                </a:lnTo>
                <a:lnTo>
                  <a:pt x="1032" y="0"/>
                </a:lnTo>
                <a:lnTo>
                  <a:pt x="1032" y="0"/>
                </a:lnTo>
                <a:close/>
                <a:moveTo>
                  <a:pt x="1146" y="0"/>
                </a:moveTo>
                <a:lnTo>
                  <a:pt x="1195" y="0"/>
                </a:lnTo>
                <a:lnTo>
                  <a:pt x="1198" y="1"/>
                </a:lnTo>
                <a:lnTo>
                  <a:pt x="1201" y="1"/>
                </a:lnTo>
                <a:lnTo>
                  <a:pt x="1203" y="2"/>
                </a:lnTo>
                <a:lnTo>
                  <a:pt x="1203" y="5"/>
                </a:lnTo>
                <a:lnTo>
                  <a:pt x="1203" y="6"/>
                </a:lnTo>
                <a:lnTo>
                  <a:pt x="1201" y="7"/>
                </a:lnTo>
                <a:lnTo>
                  <a:pt x="1198" y="7"/>
                </a:lnTo>
                <a:lnTo>
                  <a:pt x="1195" y="8"/>
                </a:lnTo>
                <a:lnTo>
                  <a:pt x="1146" y="8"/>
                </a:lnTo>
                <a:lnTo>
                  <a:pt x="1143" y="7"/>
                </a:lnTo>
                <a:lnTo>
                  <a:pt x="1141" y="7"/>
                </a:lnTo>
                <a:lnTo>
                  <a:pt x="1138" y="6"/>
                </a:lnTo>
                <a:lnTo>
                  <a:pt x="1138" y="5"/>
                </a:lnTo>
                <a:lnTo>
                  <a:pt x="1138" y="2"/>
                </a:lnTo>
                <a:lnTo>
                  <a:pt x="1141" y="1"/>
                </a:lnTo>
                <a:lnTo>
                  <a:pt x="1143" y="1"/>
                </a:lnTo>
                <a:lnTo>
                  <a:pt x="1146" y="0"/>
                </a:lnTo>
                <a:lnTo>
                  <a:pt x="1146" y="0"/>
                </a:lnTo>
                <a:close/>
                <a:moveTo>
                  <a:pt x="1260" y="0"/>
                </a:moveTo>
                <a:lnTo>
                  <a:pt x="1310" y="0"/>
                </a:lnTo>
                <a:lnTo>
                  <a:pt x="1312" y="1"/>
                </a:lnTo>
                <a:lnTo>
                  <a:pt x="1315" y="1"/>
                </a:lnTo>
                <a:lnTo>
                  <a:pt x="1315" y="2"/>
                </a:lnTo>
                <a:lnTo>
                  <a:pt x="1317" y="5"/>
                </a:lnTo>
                <a:lnTo>
                  <a:pt x="1315" y="6"/>
                </a:lnTo>
                <a:lnTo>
                  <a:pt x="1315" y="7"/>
                </a:lnTo>
                <a:lnTo>
                  <a:pt x="1312" y="7"/>
                </a:lnTo>
                <a:lnTo>
                  <a:pt x="1310" y="8"/>
                </a:lnTo>
                <a:lnTo>
                  <a:pt x="1260" y="8"/>
                </a:lnTo>
                <a:lnTo>
                  <a:pt x="1258" y="7"/>
                </a:lnTo>
                <a:lnTo>
                  <a:pt x="1255" y="7"/>
                </a:lnTo>
                <a:lnTo>
                  <a:pt x="1252" y="6"/>
                </a:lnTo>
                <a:lnTo>
                  <a:pt x="1252" y="5"/>
                </a:lnTo>
                <a:lnTo>
                  <a:pt x="1252" y="2"/>
                </a:lnTo>
                <a:lnTo>
                  <a:pt x="1255" y="1"/>
                </a:lnTo>
                <a:lnTo>
                  <a:pt x="1258" y="1"/>
                </a:lnTo>
                <a:lnTo>
                  <a:pt x="1260" y="0"/>
                </a:lnTo>
                <a:lnTo>
                  <a:pt x="1260" y="0"/>
                </a:lnTo>
                <a:close/>
                <a:moveTo>
                  <a:pt x="1375" y="0"/>
                </a:moveTo>
                <a:lnTo>
                  <a:pt x="1421" y="0"/>
                </a:lnTo>
                <a:lnTo>
                  <a:pt x="1424" y="1"/>
                </a:lnTo>
                <a:lnTo>
                  <a:pt x="1427" y="1"/>
                </a:lnTo>
                <a:lnTo>
                  <a:pt x="1429" y="2"/>
                </a:lnTo>
                <a:lnTo>
                  <a:pt x="1429" y="5"/>
                </a:lnTo>
                <a:lnTo>
                  <a:pt x="1429" y="6"/>
                </a:lnTo>
                <a:lnTo>
                  <a:pt x="1427" y="7"/>
                </a:lnTo>
                <a:lnTo>
                  <a:pt x="1424" y="7"/>
                </a:lnTo>
                <a:lnTo>
                  <a:pt x="1421" y="8"/>
                </a:lnTo>
                <a:lnTo>
                  <a:pt x="1375" y="8"/>
                </a:lnTo>
                <a:lnTo>
                  <a:pt x="1369" y="7"/>
                </a:lnTo>
                <a:lnTo>
                  <a:pt x="1367" y="7"/>
                </a:lnTo>
                <a:lnTo>
                  <a:pt x="1367" y="6"/>
                </a:lnTo>
                <a:lnTo>
                  <a:pt x="1364" y="5"/>
                </a:lnTo>
                <a:lnTo>
                  <a:pt x="1367" y="2"/>
                </a:lnTo>
                <a:lnTo>
                  <a:pt x="1367" y="1"/>
                </a:lnTo>
                <a:lnTo>
                  <a:pt x="1369" y="1"/>
                </a:lnTo>
                <a:lnTo>
                  <a:pt x="1375" y="0"/>
                </a:lnTo>
                <a:lnTo>
                  <a:pt x="1375" y="0"/>
                </a:lnTo>
                <a:close/>
                <a:moveTo>
                  <a:pt x="1486" y="0"/>
                </a:moveTo>
                <a:lnTo>
                  <a:pt x="1536" y="0"/>
                </a:lnTo>
                <a:lnTo>
                  <a:pt x="1538" y="1"/>
                </a:lnTo>
                <a:lnTo>
                  <a:pt x="1541" y="1"/>
                </a:lnTo>
                <a:lnTo>
                  <a:pt x="1544" y="2"/>
                </a:lnTo>
                <a:lnTo>
                  <a:pt x="1544" y="5"/>
                </a:lnTo>
                <a:lnTo>
                  <a:pt x="1544" y="6"/>
                </a:lnTo>
                <a:lnTo>
                  <a:pt x="1541" y="7"/>
                </a:lnTo>
                <a:lnTo>
                  <a:pt x="1538" y="7"/>
                </a:lnTo>
                <a:lnTo>
                  <a:pt x="1536" y="8"/>
                </a:lnTo>
                <a:lnTo>
                  <a:pt x="1486" y="8"/>
                </a:lnTo>
                <a:lnTo>
                  <a:pt x="1484" y="7"/>
                </a:lnTo>
                <a:lnTo>
                  <a:pt x="1481" y="7"/>
                </a:lnTo>
                <a:lnTo>
                  <a:pt x="1479" y="6"/>
                </a:lnTo>
                <a:lnTo>
                  <a:pt x="1479" y="5"/>
                </a:lnTo>
                <a:lnTo>
                  <a:pt x="1479" y="2"/>
                </a:lnTo>
                <a:lnTo>
                  <a:pt x="1481" y="1"/>
                </a:lnTo>
                <a:lnTo>
                  <a:pt x="1484" y="1"/>
                </a:lnTo>
                <a:lnTo>
                  <a:pt x="1486" y="0"/>
                </a:lnTo>
                <a:lnTo>
                  <a:pt x="1486" y="0"/>
                </a:lnTo>
                <a:close/>
                <a:moveTo>
                  <a:pt x="1601" y="1"/>
                </a:moveTo>
                <a:lnTo>
                  <a:pt x="1650" y="1"/>
                </a:lnTo>
                <a:lnTo>
                  <a:pt x="1653" y="1"/>
                </a:lnTo>
                <a:lnTo>
                  <a:pt x="1655" y="1"/>
                </a:lnTo>
                <a:lnTo>
                  <a:pt x="1658" y="2"/>
                </a:lnTo>
                <a:lnTo>
                  <a:pt x="1658" y="5"/>
                </a:lnTo>
                <a:lnTo>
                  <a:pt x="1658" y="6"/>
                </a:lnTo>
                <a:lnTo>
                  <a:pt x="1655" y="7"/>
                </a:lnTo>
                <a:lnTo>
                  <a:pt x="1653" y="8"/>
                </a:lnTo>
                <a:lnTo>
                  <a:pt x="1650" y="8"/>
                </a:lnTo>
                <a:lnTo>
                  <a:pt x="1601" y="8"/>
                </a:lnTo>
                <a:lnTo>
                  <a:pt x="1598" y="8"/>
                </a:lnTo>
                <a:lnTo>
                  <a:pt x="1596" y="7"/>
                </a:lnTo>
                <a:lnTo>
                  <a:pt x="1593" y="6"/>
                </a:lnTo>
                <a:lnTo>
                  <a:pt x="1593" y="5"/>
                </a:lnTo>
                <a:lnTo>
                  <a:pt x="1593" y="2"/>
                </a:lnTo>
                <a:lnTo>
                  <a:pt x="1596" y="1"/>
                </a:lnTo>
                <a:lnTo>
                  <a:pt x="1598" y="1"/>
                </a:lnTo>
                <a:lnTo>
                  <a:pt x="1601" y="1"/>
                </a:lnTo>
                <a:lnTo>
                  <a:pt x="1601" y="1"/>
                </a:lnTo>
                <a:close/>
                <a:moveTo>
                  <a:pt x="1715" y="1"/>
                </a:moveTo>
                <a:lnTo>
                  <a:pt x="1765" y="1"/>
                </a:lnTo>
                <a:lnTo>
                  <a:pt x="1767" y="1"/>
                </a:lnTo>
                <a:lnTo>
                  <a:pt x="1770" y="1"/>
                </a:lnTo>
                <a:lnTo>
                  <a:pt x="1770" y="2"/>
                </a:lnTo>
                <a:lnTo>
                  <a:pt x="1772" y="5"/>
                </a:lnTo>
                <a:lnTo>
                  <a:pt x="1770" y="6"/>
                </a:lnTo>
                <a:lnTo>
                  <a:pt x="1770" y="7"/>
                </a:lnTo>
                <a:lnTo>
                  <a:pt x="1767" y="8"/>
                </a:lnTo>
                <a:lnTo>
                  <a:pt x="1765" y="8"/>
                </a:lnTo>
                <a:lnTo>
                  <a:pt x="1715" y="8"/>
                </a:lnTo>
                <a:lnTo>
                  <a:pt x="1713" y="8"/>
                </a:lnTo>
                <a:lnTo>
                  <a:pt x="1710" y="7"/>
                </a:lnTo>
                <a:lnTo>
                  <a:pt x="1707" y="6"/>
                </a:lnTo>
                <a:lnTo>
                  <a:pt x="1707" y="5"/>
                </a:lnTo>
                <a:lnTo>
                  <a:pt x="1707" y="2"/>
                </a:lnTo>
                <a:lnTo>
                  <a:pt x="1710" y="1"/>
                </a:lnTo>
                <a:lnTo>
                  <a:pt x="1713" y="1"/>
                </a:lnTo>
                <a:lnTo>
                  <a:pt x="1715" y="1"/>
                </a:lnTo>
                <a:lnTo>
                  <a:pt x="1715" y="1"/>
                </a:lnTo>
                <a:close/>
                <a:moveTo>
                  <a:pt x="1830" y="1"/>
                </a:moveTo>
                <a:lnTo>
                  <a:pt x="1876" y="1"/>
                </a:lnTo>
                <a:lnTo>
                  <a:pt x="1879" y="1"/>
                </a:lnTo>
                <a:lnTo>
                  <a:pt x="1882" y="1"/>
                </a:lnTo>
                <a:lnTo>
                  <a:pt x="1884" y="2"/>
                </a:lnTo>
                <a:lnTo>
                  <a:pt x="1884" y="5"/>
                </a:lnTo>
                <a:lnTo>
                  <a:pt x="1884" y="6"/>
                </a:lnTo>
                <a:lnTo>
                  <a:pt x="1882" y="7"/>
                </a:lnTo>
                <a:lnTo>
                  <a:pt x="1879" y="8"/>
                </a:lnTo>
                <a:lnTo>
                  <a:pt x="1876" y="8"/>
                </a:lnTo>
                <a:lnTo>
                  <a:pt x="1830" y="8"/>
                </a:lnTo>
                <a:lnTo>
                  <a:pt x="1824" y="8"/>
                </a:lnTo>
                <a:lnTo>
                  <a:pt x="1822" y="7"/>
                </a:lnTo>
                <a:lnTo>
                  <a:pt x="1822" y="6"/>
                </a:lnTo>
                <a:lnTo>
                  <a:pt x="1819" y="5"/>
                </a:lnTo>
                <a:lnTo>
                  <a:pt x="1822" y="2"/>
                </a:lnTo>
                <a:lnTo>
                  <a:pt x="1822" y="1"/>
                </a:lnTo>
                <a:lnTo>
                  <a:pt x="1824" y="1"/>
                </a:lnTo>
                <a:lnTo>
                  <a:pt x="1830" y="1"/>
                </a:lnTo>
                <a:lnTo>
                  <a:pt x="1830" y="1"/>
                </a:lnTo>
                <a:close/>
                <a:moveTo>
                  <a:pt x="1941" y="1"/>
                </a:moveTo>
                <a:lnTo>
                  <a:pt x="1991" y="1"/>
                </a:lnTo>
                <a:lnTo>
                  <a:pt x="1993" y="1"/>
                </a:lnTo>
                <a:lnTo>
                  <a:pt x="1996" y="2"/>
                </a:lnTo>
                <a:lnTo>
                  <a:pt x="1999" y="3"/>
                </a:lnTo>
                <a:lnTo>
                  <a:pt x="1999" y="5"/>
                </a:lnTo>
                <a:lnTo>
                  <a:pt x="1999" y="6"/>
                </a:lnTo>
                <a:lnTo>
                  <a:pt x="1996" y="7"/>
                </a:lnTo>
                <a:lnTo>
                  <a:pt x="1993" y="8"/>
                </a:lnTo>
                <a:lnTo>
                  <a:pt x="1991" y="8"/>
                </a:lnTo>
                <a:lnTo>
                  <a:pt x="1941" y="8"/>
                </a:lnTo>
                <a:lnTo>
                  <a:pt x="1939" y="8"/>
                </a:lnTo>
                <a:lnTo>
                  <a:pt x="1936" y="7"/>
                </a:lnTo>
                <a:lnTo>
                  <a:pt x="1934" y="6"/>
                </a:lnTo>
                <a:lnTo>
                  <a:pt x="1934" y="5"/>
                </a:lnTo>
                <a:lnTo>
                  <a:pt x="1934" y="3"/>
                </a:lnTo>
                <a:lnTo>
                  <a:pt x="1936" y="2"/>
                </a:lnTo>
                <a:lnTo>
                  <a:pt x="1939" y="1"/>
                </a:lnTo>
                <a:lnTo>
                  <a:pt x="1941" y="1"/>
                </a:lnTo>
                <a:lnTo>
                  <a:pt x="1941" y="1"/>
                </a:lnTo>
                <a:close/>
                <a:moveTo>
                  <a:pt x="2056" y="1"/>
                </a:moveTo>
                <a:lnTo>
                  <a:pt x="2092" y="1"/>
                </a:lnTo>
                <a:lnTo>
                  <a:pt x="2095" y="1"/>
                </a:lnTo>
                <a:lnTo>
                  <a:pt x="2097" y="2"/>
                </a:lnTo>
                <a:lnTo>
                  <a:pt x="2100" y="3"/>
                </a:lnTo>
                <a:lnTo>
                  <a:pt x="2100" y="5"/>
                </a:lnTo>
                <a:lnTo>
                  <a:pt x="2100" y="6"/>
                </a:lnTo>
                <a:lnTo>
                  <a:pt x="2097" y="7"/>
                </a:lnTo>
                <a:lnTo>
                  <a:pt x="2095" y="8"/>
                </a:lnTo>
                <a:lnTo>
                  <a:pt x="2092" y="8"/>
                </a:lnTo>
                <a:lnTo>
                  <a:pt x="2056" y="8"/>
                </a:lnTo>
                <a:lnTo>
                  <a:pt x="2053" y="8"/>
                </a:lnTo>
                <a:lnTo>
                  <a:pt x="2051" y="7"/>
                </a:lnTo>
                <a:lnTo>
                  <a:pt x="2048" y="6"/>
                </a:lnTo>
                <a:lnTo>
                  <a:pt x="2048" y="5"/>
                </a:lnTo>
                <a:lnTo>
                  <a:pt x="2048" y="3"/>
                </a:lnTo>
                <a:lnTo>
                  <a:pt x="2051" y="2"/>
                </a:lnTo>
                <a:lnTo>
                  <a:pt x="2053" y="1"/>
                </a:lnTo>
                <a:lnTo>
                  <a:pt x="2056" y="1"/>
                </a:lnTo>
                <a:lnTo>
                  <a:pt x="2056" y="1"/>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p>
        </p:txBody>
      </p:sp>
      <p:sp>
        <p:nvSpPr>
          <p:cNvPr id="162869" name="任意多边形 162868"/>
          <p:cNvSpPr/>
          <p:nvPr/>
        </p:nvSpPr>
        <p:spPr>
          <a:xfrm>
            <a:off x="5083175" y="5029200"/>
            <a:ext cx="534988" cy="246063"/>
          </a:xfrm>
          <a:custGeom>
            <a:avLst/>
            <a:gdLst/>
            <a:ahLst/>
            <a:cxnLst/>
            <a:pathLst>
              <a:path w="337" h="155">
                <a:moveTo>
                  <a:pt x="337" y="0"/>
                </a:moveTo>
                <a:lnTo>
                  <a:pt x="283" y="14"/>
                </a:lnTo>
                <a:lnTo>
                  <a:pt x="257" y="22"/>
                </a:lnTo>
                <a:lnTo>
                  <a:pt x="231" y="30"/>
                </a:lnTo>
                <a:lnTo>
                  <a:pt x="205" y="38"/>
                </a:lnTo>
                <a:lnTo>
                  <a:pt x="179" y="46"/>
                </a:lnTo>
                <a:lnTo>
                  <a:pt x="156" y="55"/>
                </a:lnTo>
                <a:lnTo>
                  <a:pt x="135" y="65"/>
                </a:lnTo>
                <a:lnTo>
                  <a:pt x="114" y="76"/>
                </a:lnTo>
                <a:lnTo>
                  <a:pt x="96" y="86"/>
                </a:lnTo>
                <a:lnTo>
                  <a:pt x="78" y="97"/>
                </a:lnTo>
                <a:lnTo>
                  <a:pt x="59" y="108"/>
                </a:lnTo>
                <a:lnTo>
                  <a:pt x="44" y="120"/>
                </a:lnTo>
                <a:lnTo>
                  <a:pt x="28" y="131"/>
                </a:lnTo>
                <a:lnTo>
                  <a:pt x="0" y="155"/>
                </a:lnTo>
              </a:path>
            </a:pathLst>
          </a:custGeom>
          <a:noFill/>
          <a:ln w="53975" cap="flat" cmpd="sng">
            <a:solidFill>
              <a:srgbClr val="000099"/>
            </a:solidFill>
            <a:prstDash val="solid"/>
            <a:headEnd type="none" w="med" len="med"/>
            <a:tailEnd type="none" w="med" len="med"/>
          </a:ln>
        </p:spPr>
        <p:txBody>
          <a:bodyPr/>
          <a:p>
            <a:endParaRPr lang="zh-CN" altLang="en-US"/>
          </a:p>
        </p:txBody>
      </p:sp>
      <p:sp>
        <p:nvSpPr>
          <p:cNvPr id="162870" name="任意多边形 162869"/>
          <p:cNvSpPr>
            <a:spLocks noEditPoints="1"/>
          </p:cNvSpPr>
          <p:nvPr/>
        </p:nvSpPr>
        <p:spPr>
          <a:xfrm>
            <a:off x="5062538" y="5018088"/>
            <a:ext cx="3354387" cy="14287"/>
          </a:xfrm>
          <a:custGeom>
            <a:avLst/>
            <a:gdLst/>
            <a:ahLst/>
            <a:cxnLst/>
            <a:pathLst>
              <a:path w="2113" h="9">
                <a:moveTo>
                  <a:pt x="10" y="0"/>
                </a:moveTo>
                <a:lnTo>
                  <a:pt x="57" y="0"/>
                </a:lnTo>
                <a:lnTo>
                  <a:pt x="59" y="0"/>
                </a:lnTo>
                <a:lnTo>
                  <a:pt x="62" y="2"/>
                </a:lnTo>
                <a:lnTo>
                  <a:pt x="65" y="3"/>
                </a:lnTo>
                <a:lnTo>
                  <a:pt x="65" y="4"/>
                </a:lnTo>
                <a:lnTo>
                  <a:pt x="65" y="5"/>
                </a:lnTo>
                <a:lnTo>
                  <a:pt x="62" y="7"/>
                </a:lnTo>
                <a:lnTo>
                  <a:pt x="59" y="8"/>
                </a:lnTo>
                <a:lnTo>
                  <a:pt x="57" y="8"/>
                </a:lnTo>
                <a:lnTo>
                  <a:pt x="10" y="8"/>
                </a:lnTo>
                <a:lnTo>
                  <a:pt x="5" y="8"/>
                </a:lnTo>
                <a:lnTo>
                  <a:pt x="2" y="7"/>
                </a:lnTo>
                <a:lnTo>
                  <a:pt x="2" y="5"/>
                </a:lnTo>
                <a:lnTo>
                  <a:pt x="0" y="4"/>
                </a:lnTo>
                <a:lnTo>
                  <a:pt x="2" y="3"/>
                </a:lnTo>
                <a:lnTo>
                  <a:pt x="2" y="2"/>
                </a:lnTo>
                <a:lnTo>
                  <a:pt x="5" y="0"/>
                </a:lnTo>
                <a:lnTo>
                  <a:pt x="10" y="0"/>
                </a:lnTo>
                <a:lnTo>
                  <a:pt x="10" y="0"/>
                </a:lnTo>
                <a:close/>
                <a:moveTo>
                  <a:pt x="122" y="0"/>
                </a:moveTo>
                <a:lnTo>
                  <a:pt x="171" y="0"/>
                </a:lnTo>
                <a:lnTo>
                  <a:pt x="174" y="0"/>
                </a:lnTo>
                <a:lnTo>
                  <a:pt x="176" y="2"/>
                </a:lnTo>
                <a:lnTo>
                  <a:pt x="179" y="3"/>
                </a:lnTo>
                <a:lnTo>
                  <a:pt x="179" y="4"/>
                </a:lnTo>
                <a:lnTo>
                  <a:pt x="179" y="5"/>
                </a:lnTo>
                <a:lnTo>
                  <a:pt x="176" y="7"/>
                </a:lnTo>
                <a:lnTo>
                  <a:pt x="174" y="8"/>
                </a:lnTo>
                <a:lnTo>
                  <a:pt x="171" y="8"/>
                </a:lnTo>
                <a:lnTo>
                  <a:pt x="122" y="8"/>
                </a:lnTo>
                <a:lnTo>
                  <a:pt x="119" y="8"/>
                </a:lnTo>
                <a:lnTo>
                  <a:pt x="117" y="7"/>
                </a:lnTo>
                <a:lnTo>
                  <a:pt x="114" y="5"/>
                </a:lnTo>
                <a:lnTo>
                  <a:pt x="114" y="4"/>
                </a:lnTo>
                <a:lnTo>
                  <a:pt x="114" y="3"/>
                </a:lnTo>
                <a:lnTo>
                  <a:pt x="117" y="2"/>
                </a:lnTo>
                <a:lnTo>
                  <a:pt x="119" y="0"/>
                </a:lnTo>
                <a:lnTo>
                  <a:pt x="122" y="0"/>
                </a:lnTo>
                <a:lnTo>
                  <a:pt x="122" y="0"/>
                </a:lnTo>
                <a:close/>
                <a:moveTo>
                  <a:pt x="236" y="0"/>
                </a:moveTo>
                <a:lnTo>
                  <a:pt x="285" y="0"/>
                </a:lnTo>
                <a:lnTo>
                  <a:pt x="288" y="0"/>
                </a:lnTo>
                <a:lnTo>
                  <a:pt x="291" y="2"/>
                </a:lnTo>
                <a:lnTo>
                  <a:pt x="293" y="3"/>
                </a:lnTo>
                <a:lnTo>
                  <a:pt x="293" y="4"/>
                </a:lnTo>
                <a:lnTo>
                  <a:pt x="293" y="5"/>
                </a:lnTo>
                <a:lnTo>
                  <a:pt x="291" y="7"/>
                </a:lnTo>
                <a:lnTo>
                  <a:pt x="288" y="8"/>
                </a:lnTo>
                <a:lnTo>
                  <a:pt x="285" y="8"/>
                </a:lnTo>
                <a:lnTo>
                  <a:pt x="236" y="8"/>
                </a:lnTo>
                <a:lnTo>
                  <a:pt x="233" y="8"/>
                </a:lnTo>
                <a:lnTo>
                  <a:pt x="231" y="7"/>
                </a:lnTo>
                <a:lnTo>
                  <a:pt x="228" y="5"/>
                </a:lnTo>
                <a:lnTo>
                  <a:pt x="228" y="4"/>
                </a:lnTo>
                <a:lnTo>
                  <a:pt x="228" y="3"/>
                </a:lnTo>
                <a:lnTo>
                  <a:pt x="231" y="2"/>
                </a:lnTo>
                <a:lnTo>
                  <a:pt x="233" y="0"/>
                </a:lnTo>
                <a:lnTo>
                  <a:pt x="236" y="0"/>
                </a:lnTo>
                <a:lnTo>
                  <a:pt x="236" y="0"/>
                </a:lnTo>
                <a:close/>
                <a:moveTo>
                  <a:pt x="350" y="0"/>
                </a:moveTo>
                <a:lnTo>
                  <a:pt x="400" y="0"/>
                </a:lnTo>
                <a:lnTo>
                  <a:pt x="402" y="0"/>
                </a:lnTo>
                <a:lnTo>
                  <a:pt x="405" y="2"/>
                </a:lnTo>
                <a:lnTo>
                  <a:pt x="405" y="3"/>
                </a:lnTo>
                <a:lnTo>
                  <a:pt x="408" y="4"/>
                </a:lnTo>
                <a:lnTo>
                  <a:pt x="405" y="5"/>
                </a:lnTo>
                <a:lnTo>
                  <a:pt x="405" y="7"/>
                </a:lnTo>
                <a:lnTo>
                  <a:pt x="402" y="8"/>
                </a:lnTo>
                <a:lnTo>
                  <a:pt x="400" y="8"/>
                </a:lnTo>
                <a:lnTo>
                  <a:pt x="350" y="8"/>
                </a:lnTo>
                <a:lnTo>
                  <a:pt x="348" y="8"/>
                </a:lnTo>
                <a:lnTo>
                  <a:pt x="345" y="7"/>
                </a:lnTo>
                <a:lnTo>
                  <a:pt x="343" y="5"/>
                </a:lnTo>
                <a:lnTo>
                  <a:pt x="343" y="4"/>
                </a:lnTo>
                <a:lnTo>
                  <a:pt x="343" y="3"/>
                </a:lnTo>
                <a:lnTo>
                  <a:pt x="345" y="2"/>
                </a:lnTo>
                <a:lnTo>
                  <a:pt x="348" y="0"/>
                </a:lnTo>
                <a:lnTo>
                  <a:pt x="350" y="0"/>
                </a:lnTo>
                <a:lnTo>
                  <a:pt x="350" y="0"/>
                </a:lnTo>
                <a:close/>
                <a:moveTo>
                  <a:pt x="465" y="0"/>
                </a:moveTo>
                <a:lnTo>
                  <a:pt x="512" y="0"/>
                </a:lnTo>
                <a:lnTo>
                  <a:pt x="514" y="0"/>
                </a:lnTo>
                <a:lnTo>
                  <a:pt x="517" y="2"/>
                </a:lnTo>
                <a:lnTo>
                  <a:pt x="519" y="3"/>
                </a:lnTo>
                <a:lnTo>
                  <a:pt x="519" y="4"/>
                </a:lnTo>
                <a:lnTo>
                  <a:pt x="519" y="5"/>
                </a:lnTo>
                <a:lnTo>
                  <a:pt x="517" y="7"/>
                </a:lnTo>
                <a:lnTo>
                  <a:pt x="514" y="8"/>
                </a:lnTo>
                <a:lnTo>
                  <a:pt x="512" y="8"/>
                </a:lnTo>
                <a:lnTo>
                  <a:pt x="465" y="8"/>
                </a:lnTo>
                <a:lnTo>
                  <a:pt x="460" y="8"/>
                </a:lnTo>
                <a:lnTo>
                  <a:pt x="457" y="7"/>
                </a:lnTo>
                <a:lnTo>
                  <a:pt x="457" y="5"/>
                </a:lnTo>
                <a:lnTo>
                  <a:pt x="454" y="4"/>
                </a:lnTo>
                <a:lnTo>
                  <a:pt x="457" y="3"/>
                </a:lnTo>
                <a:lnTo>
                  <a:pt x="457" y="2"/>
                </a:lnTo>
                <a:lnTo>
                  <a:pt x="460" y="0"/>
                </a:lnTo>
                <a:lnTo>
                  <a:pt x="465" y="0"/>
                </a:lnTo>
                <a:lnTo>
                  <a:pt x="465" y="0"/>
                </a:lnTo>
                <a:close/>
                <a:moveTo>
                  <a:pt x="577" y="0"/>
                </a:moveTo>
                <a:lnTo>
                  <a:pt x="626" y="0"/>
                </a:lnTo>
                <a:lnTo>
                  <a:pt x="629" y="0"/>
                </a:lnTo>
                <a:lnTo>
                  <a:pt x="631" y="2"/>
                </a:lnTo>
                <a:lnTo>
                  <a:pt x="634" y="3"/>
                </a:lnTo>
                <a:lnTo>
                  <a:pt x="634" y="4"/>
                </a:lnTo>
                <a:lnTo>
                  <a:pt x="634" y="5"/>
                </a:lnTo>
                <a:lnTo>
                  <a:pt x="631" y="7"/>
                </a:lnTo>
                <a:lnTo>
                  <a:pt x="629" y="8"/>
                </a:lnTo>
                <a:lnTo>
                  <a:pt x="626" y="8"/>
                </a:lnTo>
                <a:lnTo>
                  <a:pt x="577" y="8"/>
                </a:lnTo>
                <a:lnTo>
                  <a:pt x="574" y="8"/>
                </a:lnTo>
                <a:lnTo>
                  <a:pt x="571" y="7"/>
                </a:lnTo>
                <a:lnTo>
                  <a:pt x="569" y="5"/>
                </a:lnTo>
                <a:lnTo>
                  <a:pt x="569" y="4"/>
                </a:lnTo>
                <a:lnTo>
                  <a:pt x="569" y="3"/>
                </a:lnTo>
                <a:lnTo>
                  <a:pt x="571" y="2"/>
                </a:lnTo>
                <a:lnTo>
                  <a:pt x="574" y="0"/>
                </a:lnTo>
                <a:lnTo>
                  <a:pt x="577" y="0"/>
                </a:lnTo>
                <a:lnTo>
                  <a:pt x="577" y="0"/>
                </a:lnTo>
                <a:close/>
                <a:moveTo>
                  <a:pt x="691" y="0"/>
                </a:moveTo>
                <a:lnTo>
                  <a:pt x="740" y="0"/>
                </a:lnTo>
                <a:lnTo>
                  <a:pt x="743" y="0"/>
                </a:lnTo>
                <a:lnTo>
                  <a:pt x="746" y="2"/>
                </a:lnTo>
                <a:lnTo>
                  <a:pt x="748" y="3"/>
                </a:lnTo>
                <a:lnTo>
                  <a:pt x="748" y="4"/>
                </a:lnTo>
                <a:lnTo>
                  <a:pt x="748" y="5"/>
                </a:lnTo>
                <a:lnTo>
                  <a:pt x="746" y="7"/>
                </a:lnTo>
                <a:lnTo>
                  <a:pt x="743" y="8"/>
                </a:lnTo>
                <a:lnTo>
                  <a:pt x="740" y="8"/>
                </a:lnTo>
                <a:lnTo>
                  <a:pt x="691" y="8"/>
                </a:lnTo>
                <a:lnTo>
                  <a:pt x="688" y="8"/>
                </a:lnTo>
                <a:lnTo>
                  <a:pt x="686" y="7"/>
                </a:lnTo>
                <a:lnTo>
                  <a:pt x="683" y="5"/>
                </a:lnTo>
                <a:lnTo>
                  <a:pt x="683" y="4"/>
                </a:lnTo>
                <a:lnTo>
                  <a:pt x="683" y="3"/>
                </a:lnTo>
                <a:lnTo>
                  <a:pt x="686" y="2"/>
                </a:lnTo>
                <a:lnTo>
                  <a:pt x="688" y="0"/>
                </a:lnTo>
                <a:lnTo>
                  <a:pt x="691" y="0"/>
                </a:lnTo>
                <a:lnTo>
                  <a:pt x="691" y="0"/>
                </a:lnTo>
                <a:close/>
                <a:moveTo>
                  <a:pt x="805" y="0"/>
                </a:moveTo>
                <a:lnTo>
                  <a:pt x="855" y="0"/>
                </a:lnTo>
                <a:lnTo>
                  <a:pt x="857" y="0"/>
                </a:lnTo>
                <a:lnTo>
                  <a:pt x="860" y="2"/>
                </a:lnTo>
                <a:lnTo>
                  <a:pt x="860" y="3"/>
                </a:lnTo>
                <a:lnTo>
                  <a:pt x="863" y="4"/>
                </a:lnTo>
                <a:lnTo>
                  <a:pt x="860" y="5"/>
                </a:lnTo>
                <a:lnTo>
                  <a:pt x="860" y="7"/>
                </a:lnTo>
                <a:lnTo>
                  <a:pt x="857" y="8"/>
                </a:lnTo>
                <a:lnTo>
                  <a:pt x="855" y="8"/>
                </a:lnTo>
                <a:lnTo>
                  <a:pt x="805" y="8"/>
                </a:lnTo>
                <a:lnTo>
                  <a:pt x="803" y="8"/>
                </a:lnTo>
                <a:lnTo>
                  <a:pt x="800" y="7"/>
                </a:lnTo>
                <a:lnTo>
                  <a:pt x="798" y="5"/>
                </a:lnTo>
                <a:lnTo>
                  <a:pt x="798" y="4"/>
                </a:lnTo>
                <a:lnTo>
                  <a:pt x="798" y="3"/>
                </a:lnTo>
                <a:lnTo>
                  <a:pt x="800" y="2"/>
                </a:lnTo>
                <a:lnTo>
                  <a:pt x="803" y="0"/>
                </a:lnTo>
                <a:lnTo>
                  <a:pt x="805" y="0"/>
                </a:lnTo>
                <a:lnTo>
                  <a:pt x="805" y="0"/>
                </a:lnTo>
                <a:close/>
                <a:moveTo>
                  <a:pt x="920" y="0"/>
                </a:moveTo>
                <a:lnTo>
                  <a:pt x="967" y="0"/>
                </a:lnTo>
                <a:lnTo>
                  <a:pt x="969" y="0"/>
                </a:lnTo>
                <a:lnTo>
                  <a:pt x="972" y="2"/>
                </a:lnTo>
                <a:lnTo>
                  <a:pt x="974" y="3"/>
                </a:lnTo>
                <a:lnTo>
                  <a:pt x="974" y="4"/>
                </a:lnTo>
                <a:lnTo>
                  <a:pt x="974" y="5"/>
                </a:lnTo>
                <a:lnTo>
                  <a:pt x="972" y="7"/>
                </a:lnTo>
                <a:lnTo>
                  <a:pt x="969" y="8"/>
                </a:lnTo>
                <a:lnTo>
                  <a:pt x="967" y="8"/>
                </a:lnTo>
                <a:lnTo>
                  <a:pt x="920" y="8"/>
                </a:lnTo>
                <a:lnTo>
                  <a:pt x="915" y="8"/>
                </a:lnTo>
                <a:lnTo>
                  <a:pt x="912" y="7"/>
                </a:lnTo>
                <a:lnTo>
                  <a:pt x="912" y="5"/>
                </a:lnTo>
                <a:lnTo>
                  <a:pt x="909" y="4"/>
                </a:lnTo>
                <a:lnTo>
                  <a:pt x="912" y="3"/>
                </a:lnTo>
                <a:lnTo>
                  <a:pt x="912" y="2"/>
                </a:lnTo>
                <a:lnTo>
                  <a:pt x="915" y="0"/>
                </a:lnTo>
                <a:lnTo>
                  <a:pt x="920" y="0"/>
                </a:lnTo>
                <a:lnTo>
                  <a:pt x="920" y="0"/>
                </a:lnTo>
                <a:close/>
                <a:moveTo>
                  <a:pt x="1032" y="0"/>
                </a:moveTo>
                <a:lnTo>
                  <a:pt x="1081" y="0"/>
                </a:lnTo>
                <a:lnTo>
                  <a:pt x="1084" y="0"/>
                </a:lnTo>
                <a:lnTo>
                  <a:pt x="1086" y="2"/>
                </a:lnTo>
                <a:lnTo>
                  <a:pt x="1089" y="3"/>
                </a:lnTo>
                <a:lnTo>
                  <a:pt x="1089" y="4"/>
                </a:lnTo>
                <a:lnTo>
                  <a:pt x="1089" y="5"/>
                </a:lnTo>
                <a:lnTo>
                  <a:pt x="1086" y="7"/>
                </a:lnTo>
                <a:lnTo>
                  <a:pt x="1084" y="8"/>
                </a:lnTo>
                <a:lnTo>
                  <a:pt x="1081" y="8"/>
                </a:lnTo>
                <a:lnTo>
                  <a:pt x="1032" y="8"/>
                </a:lnTo>
                <a:lnTo>
                  <a:pt x="1029" y="8"/>
                </a:lnTo>
                <a:lnTo>
                  <a:pt x="1026" y="7"/>
                </a:lnTo>
                <a:lnTo>
                  <a:pt x="1024" y="5"/>
                </a:lnTo>
                <a:lnTo>
                  <a:pt x="1024" y="4"/>
                </a:lnTo>
                <a:lnTo>
                  <a:pt x="1024" y="3"/>
                </a:lnTo>
                <a:lnTo>
                  <a:pt x="1026" y="2"/>
                </a:lnTo>
                <a:lnTo>
                  <a:pt x="1029" y="0"/>
                </a:lnTo>
                <a:lnTo>
                  <a:pt x="1032" y="0"/>
                </a:lnTo>
                <a:lnTo>
                  <a:pt x="1032" y="0"/>
                </a:lnTo>
                <a:close/>
                <a:moveTo>
                  <a:pt x="1146" y="0"/>
                </a:moveTo>
                <a:lnTo>
                  <a:pt x="1195" y="0"/>
                </a:lnTo>
                <a:lnTo>
                  <a:pt x="1198" y="0"/>
                </a:lnTo>
                <a:lnTo>
                  <a:pt x="1201" y="2"/>
                </a:lnTo>
                <a:lnTo>
                  <a:pt x="1203" y="3"/>
                </a:lnTo>
                <a:lnTo>
                  <a:pt x="1203" y="4"/>
                </a:lnTo>
                <a:lnTo>
                  <a:pt x="1203" y="5"/>
                </a:lnTo>
                <a:lnTo>
                  <a:pt x="1201" y="7"/>
                </a:lnTo>
                <a:lnTo>
                  <a:pt x="1198" y="8"/>
                </a:lnTo>
                <a:lnTo>
                  <a:pt x="1195" y="8"/>
                </a:lnTo>
                <a:lnTo>
                  <a:pt x="1146" y="8"/>
                </a:lnTo>
                <a:lnTo>
                  <a:pt x="1143" y="8"/>
                </a:lnTo>
                <a:lnTo>
                  <a:pt x="1141" y="7"/>
                </a:lnTo>
                <a:lnTo>
                  <a:pt x="1138" y="5"/>
                </a:lnTo>
                <a:lnTo>
                  <a:pt x="1138" y="4"/>
                </a:lnTo>
                <a:lnTo>
                  <a:pt x="1138" y="3"/>
                </a:lnTo>
                <a:lnTo>
                  <a:pt x="1141" y="2"/>
                </a:lnTo>
                <a:lnTo>
                  <a:pt x="1143" y="0"/>
                </a:lnTo>
                <a:lnTo>
                  <a:pt x="1146" y="0"/>
                </a:lnTo>
                <a:lnTo>
                  <a:pt x="1146" y="0"/>
                </a:lnTo>
                <a:close/>
                <a:moveTo>
                  <a:pt x="1260" y="0"/>
                </a:moveTo>
                <a:lnTo>
                  <a:pt x="1310" y="0"/>
                </a:lnTo>
                <a:lnTo>
                  <a:pt x="1312" y="0"/>
                </a:lnTo>
                <a:lnTo>
                  <a:pt x="1315" y="2"/>
                </a:lnTo>
                <a:lnTo>
                  <a:pt x="1315" y="3"/>
                </a:lnTo>
                <a:lnTo>
                  <a:pt x="1317" y="4"/>
                </a:lnTo>
                <a:lnTo>
                  <a:pt x="1315" y="5"/>
                </a:lnTo>
                <a:lnTo>
                  <a:pt x="1315" y="7"/>
                </a:lnTo>
                <a:lnTo>
                  <a:pt x="1312" y="8"/>
                </a:lnTo>
                <a:lnTo>
                  <a:pt x="1310" y="8"/>
                </a:lnTo>
                <a:lnTo>
                  <a:pt x="1260" y="8"/>
                </a:lnTo>
                <a:lnTo>
                  <a:pt x="1258" y="8"/>
                </a:lnTo>
                <a:lnTo>
                  <a:pt x="1255" y="7"/>
                </a:lnTo>
                <a:lnTo>
                  <a:pt x="1252" y="5"/>
                </a:lnTo>
                <a:lnTo>
                  <a:pt x="1252" y="4"/>
                </a:lnTo>
                <a:lnTo>
                  <a:pt x="1252" y="3"/>
                </a:lnTo>
                <a:lnTo>
                  <a:pt x="1255" y="2"/>
                </a:lnTo>
                <a:lnTo>
                  <a:pt x="1258" y="0"/>
                </a:lnTo>
                <a:lnTo>
                  <a:pt x="1260" y="0"/>
                </a:lnTo>
                <a:lnTo>
                  <a:pt x="1260" y="0"/>
                </a:lnTo>
                <a:close/>
                <a:moveTo>
                  <a:pt x="1375" y="0"/>
                </a:moveTo>
                <a:lnTo>
                  <a:pt x="1421" y="0"/>
                </a:lnTo>
                <a:lnTo>
                  <a:pt x="1424" y="0"/>
                </a:lnTo>
                <a:lnTo>
                  <a:pt x="1427" y="2"/>
                </a:lnTo>
                <a:lnTo>
                  <a:pt x="1429" y="3"/>
                </a:lnTo>
                <a:lnTo>
                  <a:pt x="1429" y="4"/>
                </a:lnTo>
                <a:lnTo>
                  <a:pt x="1429" y="5"/>
                </a:lnTo>
                <a:lnTo>
                  <a:pt x="1427" y="7"/>
                </a:lnTo>
                <a:lnTo>
                  <a:pt x="1424" y="8"/>
                </a:lnTo>
                <a:lnTo>
                  <a:pt x="1421" y="8"/>
                </a:lnTo>
                <a:lnTo>
                  <a:pt x="1375" y="8"/>
                </a:lnTo>
                <a:lnTo>
                  <a:pt x="1369" y="8"/>
                </a:lnTo>
                <a:lnTo>
                  <a:pt x="1367" y="7"/>
                </a:lnTo>
                <a:lnTo>
                  <a:pt x="1367" y="5"/>
                </a:lnTo>
                <a:lnTo>
                  <a:pt x="1364" y="4"/>
                </a:lnTo>
                <a:lnTo>
                  <a:pt x="1367" y="3"/>
                </a:lnTo>
                <a:lnTo>
                  <a:pt x="1367" y="2"/>
                </a:lnTo>
                <a:lnTo>
                  <a:pt x="1369" y="0"/>
                </a:lnTo>
                <a:lnTo>
                  <a:pt x="1375" y="0"/>
                </a:lnTo>
                <a:lnTo>
                  <a:pt x="1375" y="0"/>
                </a:lnTo>
                <a:close/>
                <a:moveTo>
                  <a:pt x="1486" y="0"/>
                </a:moveTo>
                <a:lnTo>
                  <a:pt x="1536" y="0"/>
                </a:lnTo>
                <a:lnTo>
                  <a:pt x="1538" y="0"/>
                </a:lnTo>
                <a:lnTo>
                  <a:pt x="1541" y="2"/>
                </a:lnTo>
                <a:lnTo>
                  <a:pt x="1544" y="3"/>
                </a:lnTo>
                <a:lnTo>
                  <a:pt x="1544" y="4"/>
                </a:lnTo>
                <a:lnTo>
                  <a:pt x="1544" y="5"/>
                </a:lnTo>
                <a:lnTo>
                  <a:pt x="1541" y="7"/>
                </a:lnTo>
                <a:lnTo>
                  <a:pt x="1538" y="8"/>
                </a:lnTo>
                <a:lnTo>
                  <a:pt x="1536" y="8"/>
                </a:lnTo>
                <a:lnTo>
                  <a:pt x="1486" y="8"/>
                </a:lnTo>
                <a:lnTo>
                  <a:pt x="1484" y="8"/>
                </a:lnTo>
                <a:lnTo>
                  <a:pt x="1481" y="7"/>
                </a:lnTo>
                <a:lnTo>
                  <a:pt x="1479" y="5"/>
                </a:lnTo>
                <a:lnTo>
                  <a:pt x="1479" y="4"/>
                </a:lnTo>
                <a:lnTo>
                  <a:pt x="1479" y="3"/>
                </a:lnTo>
                <a:lnTo>
                  <a:pt x="1481" y="2"/>
                </a:lnTo>
                <a:lnTo>
                  <a:pt x="1484" y="0"/>
                </a:lnTo>
                <a:lnTo>
                  <a:pt x="1486" y="0"/>
                </a:lnTo>
                <a:lnTo>
                  <a:pt x="1486" y="0"/>
                </a:lnTo>
                <a:close/>
                <a:moveTo>
                  <a:pt x="1601" y="0"/>
                </a:moveTo>
                <a:lnTo>
                  <a:pt x="1650" y="0"/>
                </a:lnTo>
                <a:lnTo>
                  <a:pt x="1653" y="0"/>
                </a:lnTo>
                <a:lnTo>
                  <a:pt x="1655" y="2"/>
                </a:lnTo>
                <a:lnTo>
                  <a:pt x="1658" y="3"/>
                </a:lnTo>
                <a:lnTo>
                  <a:pt x="1658" y="4"/>
                </a:lnTo>
                <a:lnTo>
                  <a:pt x="1658" y="5"/>
                </a:lnTo>
                <a:lnTo>
                  <a:pt x="1655" y="7"/>
                </a:lnTo>
                <a:lnTo>
                  <a:pt x="1653" y="8"/>
                </a:lnTo>
                <a:lnTo>
                  <a:pt x="1650" y="8"/>
                </a:lnTo>
                <a:lnTo>
                  <a:pt x="1601" y="8"/>
                </a:lnTo>
                <a:lnTo>
                  <a:pt x="1598" y="8"/>
                </a:lnTo>
                <a:lnTo>
                  <a:pt x="1596" y="7"/>
                </a:lnTo>
                <a:lnTo>
                  <a:pt x="1593" y="5"/>
                </a:lnTo>
                <a:lnTo>
                  <a:pt x="1593" y="4"/>
                </a:lnTo>
                <a:lnTo>
                  <a:pt x="1593" y="3"/>
                </a:lnTo>
                <a:lnTo>
                  <a:pt x="1596" y="2"/>
                </a:lnTo>
                <a:lnTo>
                  <a:pt x="1598" y="0"/>
                </a:lnTo>
                <a:lnTo>
                  <a:pt x="1601" y="0"/>
                </a:lnTo>
                <a:lnTo>
                  <a:pt x="1601" y="0"/>
                </a:lnTo>
                <a:close/>
                <a:moveTo>
                  <a:pt x="1715" y="0"/>
                </a:moveTo>
                <a:lnTo>
                  <a:pt x="1765" y="0"/>
                </a:lnTo>
                <a:lnTo>
                  <a:pt x="1767" y="0"/>
                </a:lnTo>
                <a:lnTo>
                  <a:pt x="1770" y="2"/>
                </a:lnTo>
                <a:lnTo>
                  <a:pt x="1770" y="3"/>
                </a:lnTo>
                <a:lnTo>
                  <a:pt x="1772" y="4"/>
                </a:lnTo>
                <a:lnTo>
                  <a:pt x="1770" y="7"/>
                </a:lnTo>
                <a:lnTo>
                  <a:pt x="1770" y="8"/>
                </a:lnTo>
                <a:lnTo>
                  <a:pt x="1767" y="8"/>
                </a:lnTo>
                <a:lnTo>
                  <a:pt x="1765" y="8"/>
                </a:lnTo>
                <a:lnTo>
                  <a:pt x="1715" y="8"/>
                </a:lnTo>
                <a:lnTo>
                  <a:pt x="1713" y="8"/>
                </a:lnTo>
                <a:lnTo>
                  <a:pt x="1710" y="8"/>
                </a:lnTo>
                <a:lnTo>
                  <a:pt x="1707" y="5"/>
                </a:lnTo>
                <a:lnTo>
                  <a:pt x="1707" y="4"/>
                </a:lnTo>
                <a:lnTo>
                  <a:pt x="1707" y="3"/>
                </a:lnTo>
                <a:lnTo>
                  <a:pt x="1710" y="2"/>
                </a:lnTo>
                <a:lnTo>
                  <a:pt x="1713" y="0"/>
                </a:lnTo>
                <a:lnTo>
                  <a:pt x="1715" y="0"/>
                </a:lnTo>
                <a:lnTo>
                  <a:pt x="1715" y="0"/>
                </a:lnTo>
                <a:close/>
                <a:moveTo>
                  <a:pt x="1830" y="0"/>
                </a:moveTo>
                <a:lnTo>
                  <a:pt x="1876" y="0"/>
                </a:lnTo>
                <a:lnTo>
                  <a:pt x="1879" y="0"/>
                </a:lnTo>
                <a:lnTo>
                  <a:pt x="1882" y="2"/>
                </a:lnTo>
                <a:lnTo>
                  <a:pt x="1884" y="3"/>
                </a:lnTo>
                <a:lnTo>
                  <a:pt x="1884" y="4"/>
                </a:lnTo>
                <a:lnTo>
                  <a:pt x="1884" y="7"/>
                </a:lnTo>
                <a:lnTo>
                  <a:pt x="1882" y="8"/>
                </a:lnTo>
                <a:lnTo>
                  <a:pt x="1879" y="8"/>
                </a:lnTo>
                <a:lnTo>
                  <a:pt x="1876" y="8"/>
                </a:lnTo>
                <a:lnTo>
                  <a:pt x="1830" y="8"/>
                </a:lnTo>
                <a:lnTo>
                  <a:pt x="1824" y="8"/>
                </a:lnTo>
                <a:lnTo>
                  <a:pt x="1822" y="8"/>
                </a:lnTo>
                <a:lnTo>
                  <a:pt x="1822" y="7"/>
                </a:lnTo>
                <a:lnTo>
                  <a:pt x="1819" y="4"/>
                </a:lnTo>
                <a:lnTo>
                  <a:pt x="1822" y="3"/>
                </a:lnTo>
                <a:lnTo>
                  <a:pt x="1822" y="2"/>
                </a:lnTo>
                <a:lnTo>
                  <a:pt x="1824" y="0"/>
                </a:lnTo>
                <a:lnTo>
                  <a:pt x="1830" y="0"/>
                </a:lnTo>
                <a:lnTo>
                  <a:pt x="1830" y="0"/>
                </a:lnTo>
                <a:close/>
                <a:moveTo>
                  <a:pt x="1941" y="0"/>
                </a:moveTo>
                <a:lnTo>
                  <a:pt x="1991" y="0"/>
                </a:lnTo>
                <a:lnTo>
                  <a:pt x="1993" y="0"/>
                </a:lnTo>
                <a:lnTo>
                  <a:pt x="1996" y="2"/>
                </a:lnTo>
                <a:lnTo>
                  <a:pt x="1999" y="3"/>
                </a:lnTo>
                <a:lnTo>
                  <a:pt x="1999" y="4"/>
                </a:lnTo>
                <a:lnTo>
                  <a:pt x="1999" y="7"/>
                </a:lnTo>
                <a:lnTo>
                  <a:pt x="1996" y="8"/>
                </a:lnTo>
                <a:lnTo>
                  <a:pt x="1993" y="8"/>
                </a:lnTo>
                <a:lnTo>
                  <a:pt x="1991" y="8"/>
                </a:lnTo>
                <a:lnTo>
                  <a:pt x="1941" y="8"/>
                </a:lnTo>
                <a:lnTo>
                  <a:pt x="1939" y="8"/>
                </a:lnTo>
                <a:lnTo>
                  <a:pt x="1936" y="8"/>
                </a:lnTo>
                <a:lnTo>
                  <a:pt x="1934" y="7"/>
                </a:lnTo>
                <a:lnTo>
                  <a:pt x="1934" y="4"/>
                </a:lnTo>
                <a:lnTo>
                  <a:pt x="1934" y="3"/>
                </a:lnTo>
                <a:lnTo>
                  <a:pt x="1936" y="2"/>
                </a:lnTo>
                <a:lnTo>
                  <a:pt x="1939" y="0"/>
                </a:lnTo>
                <a:lnTo>
                  <a:pt x="1941" y="0"/>
                </a:lnTo>
                <a:lnTo>
                  <a:pt x="1941" y="0"/>
                </a:lnTo>
                <a:close/>
                <a:moveTo>
                  <a:pt x="2056" y="0"/>
                </a:moveTo>
                <a:lnTo>
                  <a:pt x="2105" y="0"/>
                </a:lnTo>
                <a:lnTo>
                  <a:pt x="2108" y="2"/>
                </a:lnTo>
                <a:lnTo>
                  <a:pt x="2110" y="2"/>
                </a:lnTo>
                <a:lnTo>
                  <a:pt x="2113" y="3"/>
                </a:lnTo>
                <a:lnTo>
                  <a:pt x="2113" y="4"/>
                </a:lnTo>
                <a:lnTo>
                  <a:pt x="2113" y="7"/>
                </a:lnTo>
                <a:lnTo>
                  <a:pt x="2110" y="8"/>
                </a:lnTo>
                <a:lnTo>
                  <a:pt x="2108" y="8"/>
                </a:lnTo>
                <a:lnTo>
                  <a:pt x="2105" y="9"/>
                </a:lnTo>
                <a:lnTo>
                  <a:pt x="2056" y="9"/>
                </a:lnTo>
                <a:lnTo>
                  <a:pt x="2053" y="8"/>
                </a:lnTo>
                <a:lnTo>
                  <a:pt x="2051" y="8"/>
                </a:lnTo>
                <a:lnTo>
                  <a:pt x="2048" y="7"/>
                </a:lnTo>
                <a:lnTo>
                  <a:pt x="2048" y="4"/>
                </a:lnTo>
                <a:lnTo>
                  <a:pt x="2048" y="3"/>
                </a:lnTo>
                <a:lnTo>
                  <a:pt x="2051" y="2"/>
                </a:lnTo>
                <a:lnTo>
                  <a:pt x="2053" y="2"/>
                </a:lnTo>
                <a:lnTo>
                  <a:pt x="2056" y="0"/>
                </a:lnTo>
                <a:lnTo>
                  <a:pt x="2056" y="0"/>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p>
        </p:txBody>
      </p:sp>
      <p:sp>
        <p:nvSpPr>
          <p:cNvPr id="162871" name="任意多边形 162870"/>
          <p:cNvSpPr>
            <a:spLocks noEditPoints="1"/>
          </p:cNvSpPr>
          <p:nvPr/>
        </p:nvSpPr>
        <p:spPr>
          <a:xfrm>
            <a:off x="5614988" y="4673600"/>
            <a:ext cx="28575" cy="1703388"/>
          </a:xfrm>
          <a:custGeom>
            <a:avLst/>
            <a:gdLst/>
            <a:ahLst/>
            <a:cxnLst/>
            <a:pathLst>
              <a:path w="18" h="1073">
                <a:moveTo>
                  <a:pt x="0" y="1068"/>
                </a:moveTo>
                <a:lnTo>
                  <a:pt x="0" y="1045"/>
                </a:lnTo>
                <a:lnTo>
                  <a:pt x="0" y="1042"/>
                </a:lnTo>
                <a:lnTo>
                  <a:pt x="2" y="1041"/>
                </a:lnTo>
                <a:lnTo>
                  <a:pt x="5" y="1041"/>
                </a:lnTo>
                <a:lnTo>
                  <a:pt x="8" y="1041"/>
                </a:lnTo>
                <a:lnTo>
                  <a:pt x="13" y="1041"/>
                </a:lnTo>
                <a:lnTo>
                  <a:pt x="15" y="1041"/>
                </a:lnTo>
                <a:lnTo>
                  <a:pt x="15" y="1042"/>
                </a:lnTo>
                <a:lnTo>
                  <a:pt x="15" y="1045"/>
                </a:lnTo>
                <a:lnTo>
                  <a:pt x="15" y="1068"/>
                </a:lnTo>
                <a:lnTo>
                  <a:pt x="15" y="1070"/>
                </a:lnTo>
                <a:lnTo>
                  <a:pt x="13" y="1072"/>
                </a:lnTo>
                <a:lnTo>
                  <a:pt x="10" y="1072"/>
                </a:lnTo>
                <a:lnTo>
                  <a:pt x="8" y="1073"/>
                </a:lnTo>
                <a:lnTo>
                  <a:pt x="5" y="1072"/>
                </a:lnTo>
                <a:lnTo>
                  <a:pt x="2" y="1072"/>
                </a:lnTo>
                <a:lnTo>
                  <a:pt x="0" y="1070"/>
                </a:lnTo>
                <a:lnTo>
                  <a:pt x="0" y="1068"/>
                </a:lnTo>
                <a:lnTo>
                  <a:pt x="0" y="1068"/>
                </a:lnTo>
                <a:close/>
                <a:moveTo>
                  <a:pt x="0" y="1013"/>
                </a:moveTo>
                <a:lnTo>
                  <a:pt x="0" y="989"/>
                </a:lnTo>
                <a:lnTo>
                  <a:pt x="0" y="988"/>
                </a:lnTo>
                <a:lnTo>
                  <a:pt x="2" y="987"/>
                </a:lnTo>
                <a:lnTo>
                  <a:pt x="5" y="986"/>
                </a:lnTo>
                <a:lnTo>
                  <a:pt x="8" y="986"/>
                </a:lnTo>
                <a:lnTo>
                  <a:pt x="13" y="986"/>
                </a:lnTo>
                <a:lnTo>
                  <a:pt x="15" y="987"/>
                </a:lnTo>
                <a:lnTo>
                  <a:pt x="15" y="988"/>
                </a:lnTo>
                <a:lnTo>
                  <a:pt x="15" y="989"/>
                </a:lnTo>
                <a:lnTo>
                  <a:pt x="15" y="1013"/>
                </a:lnTo>
                <a:lnTo>
                  <a:pt x="15" y="1015"/>
                </a:lnTo>
                <a:lnTo>
                  <a:pt x="15" y="1016"/>
                </a:lnTo>
                <a:lnTo>
                  <a:pt x="13" y="1017"/>
                </a:lnTo>
                <a:lnTo>
                  <a:pt x="8" y="1017"/>
                </a:lnTo>
                <a:lnTo>
                  <a:pt x="5" y="1017"/>
                </a:lnTo>
                <a:lnTo>
                  <a:pt x="2" y="1016"/>
                </a:lnTo>
                <a:lnTo>
                  <a:pt x="0" y="1015"/>
                </a:lnTo>
                <a:lnTo>
                  <a:pt x="0" y="1013"/>
                </a:lnTo>
                <a:lnTo>
                  <a:pt x="0" y="1013"/>
                </a:lnTo>
                <a:close/>
                <a:moveTo>
                  <a:pt x="0" y="958"/>
                </a:moveTo>
                <a:lnTo>
                  <a:pt x="0" y="934"/>
                </a:lnTo>
                <a:lnTo>
                  <a:pt x="0" y="932"/>
                </a:lnTo>
                <a:lnTo>
                  <a:pt x="2" y="931"/>
                </a:lnTo>
                <a:lnTo>
                  <a:pt x="5" y="930"/>
                </a:lnTo>
                <a:lnTo>
                  <a:pt x="8" y="930"/>
                </a:lnTo>
                <a:lnTo>
                  <a:pt x="13" y="930"/>
                </a:lnTo>
                <a:lnTo>
                  <a:pt x="15" y="931"/>
                </a:lnTo>
                <a:lnTo>
                  <a:pt x="15" y="932"/>
                </a:lnTo>
                <a:lnTo>
                  <a:pt x="15" y="934"/>
                </a:lnTo>
                <a:lnTo>
                  <a:pt x="15" y="958"/>
                </a:lnTo>
                <a:lnTo>
                  <a:pt x="15" y="959"/>
                </a:lnTo>
                <a:lnTo>
                  <a:pt x="15" y="960"/>
                </a:lnTo>
                <a:lnTo>
                  <a:pt x="13" y="961"/>
                </a:lnTo>
                <a:lnTo>
                  <a:pt x="8" y="961"/>
                </a:lnTo>
                <a:lnTo>
                  <a:pt x="5" y="961"/>
                </a:lnTo>
                <a:lnTo>
                  <a:pt x="2" y="960"/>
                </a:lnTo>
                <a:lnTo>
                  <a:pt x="0" y="959"/>
                </a:lnTo>
                <a:lnTo>
                  <a:pt x="0" y="958"/>
                </a:lnTo>
                <a:lnTo>
                  <a:pt x="0" y="958"/>
                </a:lnTo>
                <a:close/>
                <a:moveTo>
                  <a:pt x="0" y="902"/>
                </a:moveTo>
                <a:lnTo>
                  <a:pt x="0" y="878"/>
                </a:lnTo>
                <a:lnTo>
                  <a:pt x="2" y="877"/>
                </a:lnTo>
                <a:lnTo>
                  <a:pt x="2" y="875"/>
                </a:lnTo>
                <a:lnTo>
                  <a:pt x="5" y="875"/>
                </a:lnTo>
                <a:lnTo>
                  <a:pt x="8" y="874"/>
                </a:lnTo>
                <a:lnTo>
                  <a:pt x="13" y="875"/>
                </a:lnTo>
                <a:lnTo>
                  <a:pt x="15" y="875"/>
                </a:lnTo>
                <a:lnTo>
                  <a:pt x="15" y="877"/>
                </a:lnTo>
                <a:lnTo>
                  <a:pt x="18" y="878"/>
                </a:lnTo>
                <a:lnTo>
                  <a:pt x="18" y="902"/>
                </a:lnTo>
                <a:lnTo>
                  <a:pt x="15" y="903"/>
                </a:lnTo>
                <a:lnTo>
                  <a:pt x="15" y="905"/>
                </a:lnTo>
                <a:lnTo>
                  <a:pt x="13" y="906"/>
                </a:lnTo>
                <a:lnTo>
                  <a:pt x="8" y="906"/>
                </a:lnTo>
                <a:lnTo>
                  <a:pt x="5" y="906"/>
                </a:lnTo>
                <a:lnTo>
                  <a:pt x="2" y="905"/>
                </a:lnTo>
                <a:lnTo>
                  <a:pt x="0" y="903"/>
                </a:lnTo>
                <a:lnTo>
                  <a:pt x="0" y="902"/>
                </a:lnTo>
                <a:lnTo>
                  <a:pt x="0" y="902"/>
                </a:lnTo>
                <a:close/>
                <a:moveTo>
                  <a:pt x="0" y="846"/>
                </a:moveTo>
                <a:lnTo>
                  <a:pt x="0" y="824"/>
                </a:lnTo>
                <a:lnTo>
                  <a:pt x="2" y="821"/>
                </a:lnTo>
                <a:lnTo>
                  <a:pt x="2" y="820"/>
                </a:lnTo>
                <a:lnTo>
                  <a:pt x="5" y="820"/>
                </a:lnTo>
                <a:lnTo>
                  <a:pt x="8" y="820"/>
                </a:lnTo>
                <a:lnTo>
                  <a:pt x="13" y="820"/>
                </a:lnTo>
                <a:lnTo>
                  <a:pt x="15" y="820"/>
                </a:lnTo>
                <a:lnTo>
                  <a:pt x="15" y="821"/>
                </a:lnTo>
                <a:lnTo>
                  <a:pt x="18" y="824"/>
                </a:lnTo>
                <a:lnTo>
                  <a:pt x="18" y="846"/>
                </a:lnTo>
                <a:lnTo>
                  <a:pt x="15" y="849"/>
                </a:lnTo>
                <a:lnTo>
                  <a:pt x="15" y="850"/>
                </a:lnTo>
                <a:lnTo>
                  <a:pt x="13" y="850"/>
                </a:lnTo>
                <a:lnTo>
                  <a:pt x="8" y="851"/>
                </a:lnTo>
                <a:lnTo>
                  <a:pt x="5" y="850"/>
                </a:lnTo>
                <a:lnTo>
                  <a:pt x="2" y="850"/>
                </a:lnTo>
                <a:lnTo>
                  <a:pt x="2" y="849"/>
                </a:lnTo>
                <a:lnTo>
                  <a:pt x="0" y="846"/>
                </a:lnTo>
                <a:lnTo>
                  <a:pt x="0" y="846"/>
                </a:lnTo>
                <a:close/>
                <a:moveTo>
                  <a:pt x="0" y="792"/>
                </a:moveTo>
                <a:lnTo>
                  <a:pt x="0" y="768"/>
                </a:lnTo>
                <a:lnTo>
                  <a:pt x="2" y="767"/>
                </a:lnTo>
                <a:lnTo>
                  <a:pt x="2" y="765"/>
                </a:lnTo>
                <a:lnTo>
                  <a:pt x="5" y="764"/>
                </a:lnTo>
                <a:lnTo>
                  <a:pt x="8" y="764"/>
                </a:lnTo>
                <a:lnTo>
                  <a:pt x="13" y="764"/>
                </a:lnTo>
                <a:lnTo>
                  <a:pt x="15" y="765"/>
                </a:lnTo>
                <a:lnTo>
                  <a:pt x="15" y="767"/>
                </a:lnTo>
                <a:lnTo>
                  <a:pt x="18" y="768"/>
                </a:lnTo>
                <a:lnTo>
                  <a:pt x="18" y="792"/>
                </a:lnTo>
                <a:lnTo>
                  <a:pt x="15" y="793"/>
                </a:lnTo>
                <a:lnTo>
                  <a:pt x="15" y="795"/>
                </a:lnTo>
                <a:lnTo>
                  <a:pt x="13" y="796"/>
                </a:lnTo>
                <a:lnTo>
                  <a:pt x="8" y="796"/>
                </a:lnTo>
                <a:lnTo>
                  <a:pt x="5" y="796"/>
                </a:lnTo>
                <a:lnTo>
                  <a:pt x="2" y="795"/>
                </a:lnTo>
                <a:lnTo>
                  <a:pt x="2" y="793"/>
                </a:lnTo>
                <a:lnTo>
                  <a:pt x="0" y="792"/>
                </a:lnTo>
                <a:lnTo>
                  <a:pt x="0" y="792"/>
                </a:lnTo>
                <a:close/>
                <a:moveTo>
                  <a:pt x="0" y="736"/>
                </a:moveTo>
                <a:lnTo>
                  <a:pt x="0" y="712"/>
                </a:lnTo>
                <a:lnTo>
                  <a:pt x="2" y="711"/>
                </a:lnTo>
                <a:lnTo>
                  <a:pt x="2" y="710"/>
                </a:lnTo>
                <a:lnTo>
                  <a:pt x="5" y="708"/>
                </a:lnTo>
                <a:lnTo>
                  <a:pt x="8" y="708"/>
                </a:lnTo>
                <a:lnTo>
                  <a:pt x="13" y="708"/>
                </a:lnTo>
                <a:lnTo>
                  <a:pt x="15" y="710"/>
                </a:lnTo>
                <a:lnTo>
                  <a:pt x="15" y="711"/>
                </a:lnTo>
                <a:lnTo>
                  <a:pt x="18" y="712"/>
                </a:lnTo>
                <a:lnTo>
                  <a:pt x="18" y="736"/>
                </a:lnTo>
                <a:lnTo>
                  <a:pt x="15" y="738"/>
                </a:lnTo>
                <a:lnTo>
                  <a:pt x="15" y="739"/>
                </a:lnTo>
                <a:lnTo>
                  <a:pt x="13" y="740"/>
                </a:lnTo>
                <a:lnTo>
                  <a:pt x="8" y="740"/>
                </a:lnTo>
                <a:lnTo>
                  <a:pt x="5" y="740"/>
                </a:lnTo>
                <a:lnTo>
                  <a:pt x="2" y="739"/>
                </a:lnTo>
                <a:lnTo>
                  <a:pt x="2" y="738"/>
                </a:lnTo>
                <a:lnTo>
                  <a:pt x="0" y="736"/>
                </a:lnTo>
                <a:lnTo>
                  <a:pt x="0" y="736"/>
                </a:lnTo>
                <a:close/>
                <a:moveTo>
                  <a:pt x="0" y="681"/>
                </a:moveTo>
                <a:lnTo>
                  <a:pt x="0" y="657"/>
                </a:lnTo>
                <a:lnTo>
                  <a:pt x="2" y="655"/>
                </a:lnTo>
                <a:lnTo>
                  <a:pt x="2" y="654"/>
                </a:lnTo>
                <a:lnTo>
                  <a:pt x="5" y="654"/>
                </a:lnTo>
                <a:lnTo>
                  <a:pt x="8" y="653"/>
                </a:lnTo>
                <a:lnTo>
                  <a:pt x="13" y="654"/>
                </a:lnTo>
                <a:lnTo>
                  <a:pt x="15" y="654"/>
                </a:lnTo>
                <a:lnTo>
                  <a:pt x="15" y="655"/>
                </a:lnTo>
                <a:lnTo>
                  <a:pt x="18" y="657"/>
                </a:lnTo>
                <a:lnTo>
                  <a:pt x="18" y="681"/>
                </a:lnTo>
                <a:lnTo>
                  <a:pt x="15" y="682"/>
                </a:lnTo>
                <a:lnTo>
                  <a:pt x="15" y="683"/>
                </a:lnTo>
                <a:lnTo>
                  <a:pt x="13" y="684"/>
                </a:lnTo>
                <a:lnTo>
                  <a:pt x="8" y="684"/>
                </a:lnTo>
                <a:lnTo>
                  <a:pt x="5" y="684"/>
                </a:lnTo>
                <a:lnTo>
                  <a:pt x="2" y="683"/>
                </a:lnTo>
                <a:lnTo>
                  <a:pt x="2" y="682"/>
                </a:lnTo>
                <a:lnTo>
                  <a:pt x="0" y="681"/>
                </a:lnTo>
                <a:lnTo>
                  <a:pt x="0" y="681"/>
                </a:lnTo>
                <a:close/>
                <a:moveTo>
                  <a:pt x="0" y="625"/>
                </a:moveTo>
                <a:lnTo>
                  <a:pt x="0" y="602"/>
                </a:lnTo>
                <a:lnTo>
                  <a:pt x="2" y="600"/>
                </a:lnTo>
                <a:lnTo>
                  <a:pt x="2" y="598"/>
                </a:lnTo>
                <a:lnTo>
                  <a:pt x="5" y="598"/>
                </a:lnTo>
                <a:lnTo>
                  <a:pt x="8" y="598"/>
                </a:lnTo>
                <a:lnTo>
                  <a:pt x="13" y="598"/>
                </a:lnTo>
                <a:lnTo>
                  <a:pt x="15" y="598"/>
                </a:lnTo>
                <a:lnTo>
                  <a:pt x="15" y="600"/>
                </a:lnTo>
                <a:lnTo>
                  <a:pt x="18" y="602"/>
                </a:lnTo>
                <a:lnTo>
                  <a:pt x="18" y="625"/>
                </a:lnTo>
                <a:lnTo>
                  <a:pt x="15" y="628"/>
                </a:lnTo>
                <a:lnTo>
                  <a:pt x="15" y="629"/>
                </a:lnTo>
                <a:lnTo>
                  <a:pt x="13" y="629"/>
                </a:lnTo>
                <a:lnTo>
                  <a:pt x="8" y="630"/>
                </a:lnTo>
                <a:lnTo>
                  <a:pt x="5" y="629"/>
                </a:lnTo>
                <a:lnTo>
                  <a:pt x="2" y="629"/>
                </a:lnTo>
                <a:lnTo>
                  <a:pt x="2" y="628"/>
                </a:lnTo>
                <a:lnTo>
                  <a:pt x="0" y="625"/>
                </a:lnTo>
                <a:lnTo>
                  <a:pt x="0" y="625"/>
                </a:lnTo>
                <a:close/>
                <a:moveTo>
                  <a:pt x="0" y="571"/>
                </a:moveTo>
                <a:lnTo>
                  <a:pt x="0" y="547"/>
                </a:lnTo>
                <a:lnTo>
                  <a:pt x="2" y="545"/>
                </a:lnTo>
                <a:lnTo>
                  <a:pt x="2" y="544"/>
                </a:lnTo>
                <a:lnTo>
                  <a:pt x="5" y="543"/>
                </a:lnTo>
                <a:lnTo>
                  <a:pt x="10" y="543"/>
                </a:lnTo>
                <a:lnTo>
                  <a:pt x="13" y="543"/>
                </a:lnTo>
                <a:lnTo>
                  <a:pt x="15" y="544"/>
                </a:lnTo>
                <a:lnTo>
                  <a:pt x="15" y="545"/>
                </a:lnTo>
                <a:lnTo>
                  <a:pt x="18" y="547"/>
                </a:lnTo>
                <a:lnTo>
                  <a:pt x="18" y="571"/>
                </a:lnTo>
                <a:lnTo>
                  <a:pt x="15" y="572"/>
                </a:lnTo>
                <a:lnTo>
                  <a:pt x="15" y="573"/>
                </a:lnTo>
                <a:lnTo>
                  <a:pt x="13" y="574"/>
                </a:lnTo>
                <a:lnTo>
                  <a:pt x="10" y="574"/>
                </a:lnTo>
                <a:lnTo>
                  <a:pt x="5" y="574"/>
                </a:lnTo>
                <a:lnTo>
                  <a:pt x="2" y="573"/>
                </a:lnTo>
                <a:lnTo>
                  <a:pt x="2" y="572"/>
                </a:lnTo>
                <a:lnTo>
                  <a:pt x="0" y="571"/>
                </a:lnTo>
                <a:lnTo>
                  <a:pt x="0" y="571"/>
                </a:lnTo>
                <a:close/>
                <a:moveTo>
                  <a:pt x="0" y="515"/>
                </a:moveTo>
                <a:lnTo>
                  <a:pt x="0" y="491"/>
                </a:lnTo>
                <a:lnTo>
                  <a:pt x="2" y="490"/>
                </a:lnTo>
                <a:lnTo>
                  <a:pt x="2" y="488"/>
                </a:lnTo>
                <a:lnTo>
                  <a:pt x="5" y="487"/>
                </a:lnTo>
                <a:lnTo>
                  <a:pt x="10" y="487"/>
                </a:lnTo>
                <a:lnTo>
                  <a:pt x="13" y="487"/>
                </a:lnTo>
                <a:lnTo>
                  <a:pt x="15" y="488"/>
                </a:lnTo>
                <a:lnTo>
                  <a:pt x="15" y="490"/>
                </a:lnTo>
                <a:lnTo>
                  <a:pt x="18" y="491"/>
                </a:lnTo>
                <a:lnTo>
                  <a:pt x="18" y="515"/>
                </a:lnTo>
                <a:lnTo>
                  <a:pt x="15" y="516"/>
                </a:lnTo>
                <a:lnTo>
                  <a:pt x="15" y="517"/>
                </a:lnTo>
                <a:lnTo>
                  <a:pt x="13" y="519"/>
                </a:lnTo>
                <a:lnTo>
                  <a:pt x="10" y="519"/>
                </a:lnTo>
                <a:lnTo>
                  <a:pt x="5" y="519"/>
                </a:lnTo>
                <a:lnTo>
                  <a:pt x="2" y="517"/>
                </a:lnTo>
                <a:lnTo>
                  <a:pt x="2" y="516"/>
                </a:lnTo>
                <a:lnTo>
                  <a:pt x="0" y="515"/>
                </a:lnTo>
                <a:lnTo>
                  <a:pt x="0" y="515"/>
                </a:lnTo>
                <a:close/>
                <a:moveTo>
                  <a:pt x="0" y="459"/>
                </a:moveTo>
                <a:lnTo>
                  <a:pt x="0" y="435"/>
                </a:lnTo>
                <a:lnTo>
                  <a:pt x="2" y="434"/>
                </a:lnTo>
                <a:lnTo>
                  <a:pt x="2" y="433"/>
                </a:lnTo>
                <a:lnTo>
                  <a:pt x="5" y="433"/>
                </a:lnTo>
                <a:lnTo>
                  <a:pt x="10" y="431"/>
                </a:lnTo>
                <a:lnTo>
                  <a:pt x="13" y="433"/>
                </a:lnTo>
                <a:lnTo>
                  <a:pt x="15" y="433"/>
                </a:lnTo>
                <a:lnTo>
                  <a:pt x="15" y="434"/>
                </a:lnTo>
                <a:lnTo>
                  <a:pt x="18" y="435"/>
                </a:lnTo>
                <a:lnTo>
                  <a:pt x="18" y="459"/>
                </a:lnTo>
                <a:lnTo>
                  <a:pt x="15" y="461"/>
                </a:lnTo>
                <a:lnTo>
                  <a:pt x="15" y="462"/>
                </a:lnTo>
                <a:lnTo>
                  <a:pt x="13" y="463"/>
                </a:lnTo>
                <a:lnTo>
                  <a:pt x="10" y="463"/>
                </a:lnTo>
                <a:lnTo>
                  <a:pt x="5" y="463"/>
                </a:lnTo>
                <a:lnTo>
                  <a:pt x="2" y="462"/>
                </a:lnTo>
                <a:lnTo>
                  <a:pt x="2" y="461"/>
                </a:lnTo>
                <a:lnTo>
                  <a:pt x="0" y="459"/>
                </a:lnTo>
                <a:lnTo>
                  <a:pt x="0" y="459"/>
                </a:lnTo>
                <a:close/>
                <a:moveTo>
                  <a:pt x="0" y="404"/>
                </a:moveTo>
                <a:lnTo>
                  <a:pt x="0" y="381"/>
                </a:lnTo>
                <a:lnTo>
                  <a:pt x="2" y="378"/>
                </a:lnTo>
                <a:lnTo>
                  <a:pt x="2" y="377"/>
                </a:lnTo>
                <a:lnTo>
                  <a:pt x="5" y="377"/>
                </a:lnTo>
                <a:lnTo>
                  <a:pt x="10" y="377"/>
                </a:lnTo>
                <a:lnTo>
                  <a:pt x="13" y="377"/>
                </a:lnTo>
                <a:lnTo>
                  <a:pt x="15" y="377"/>
                </a:lnTo>
                <a:lnTo>
                  <a:pt x="15" y="378"/>
                </a:lnTo>
                <a:lnTo>
                  <a:pt x="18" y="381"/>
                </a:lnTo>
                <a:lnTo>
                  <a:pt x="18" y="404"/>
                </a:lnTo>
                <a:lnTo>
                  <a:pt x="15" y="406"/>
                </a:lnTo>
                <a:lnTo>
                  <a:pt x="15" y="407"/>
                </a:lnTo>
                <a:lnTo>
                  <a:pt x="13" y="407"/>
                </a:lnTo>
                <a:lnTo>
                  <a:pt x="10" y="409"/>
                </a:lnTo>
                <a:lnTo>
                  <a:pt x="5" y="407"/>
                </a:lnTo>
                <a:lnTo>
                  <a:pt x="2" y="407"/>
                </a:lnTo>
                <a:lnTo>
                  <a:pt x="2" y="406"/>
                </a:lnTo>
                <a:lnTo>
                  <a:pt x="0" y="404"/>
                </a:lnTo>
                <a:lnTo>
                  <a:pt x="0" y="404"/>
                </a:lnTo>
                <a:close/>
                <a:moveTo>
                  <a:pt x="0" y="349"/>
                </a:moveTo>
                <a:lnTo>
                  <a:pt x="0" y="325"/>
                </a:lnTo>
                <a:lnTo>
                  <a:pt x="2" y="324"/>
                </a:lnTo>
                <a:lnTo>
                  <a:pt x="2" y="323"/>
                </a:lnTo>
                <a:lnTo>
                  <a:pt x="5" y="321"/>
                </a:lnTo>
                <a:lnTo>
                  <a:pt x="10" y="321"/>
                </a:lnTo>
                <a:lnTo>
                  <a:pt x="13" y="321"/>
                </a:lnTo>
                <a:lnTo>
                  <a:pt x="15" y="323"/>
                </a:lnTo>
                <a:lnTo>
                  <a:pt x="15" y="324"/>
                </a:lnTo>
                <a:lnTo>
                  <a:pt x="18" y="325"/>
                </a:lnTo>
                <a:lnTo>
                  <a:pt x="18" y="349"/>
                </a:lnTo>
                <a:lnTo>
                  <a:pt x="15" y="350"/>
                </a:lnTo>
                <a:lnTo>
                  <a:pt x="15" y="352"/>
                </a:lnTo>
                <a:lnTo>
                  <a:pt x="13" y="353"/>
                </a:lnTo>
                <a:lnTo>
                  <a:pt x="10" y="353"/>
                </a:lnTo>
                <a:lnTo>
                  <a:pt x="5" y="353"/>
                </a:lnTo>
                <a:lnTo>
                  <a:pt x="2" y="352"/>
                </a:lnTo>
                <a:lnTo>
                  <a:pt x="2" y="350"/>
                </a:lnTo>
                <a:lnTo>
                  <a:pt x="0" y="349"/>
                </a:lnTo>
                <a:lnTo>
                  <a:pt x="0" y="349"/>
                </a:lnTo>
                <a:close/>
                <a:moveTo>
                  <a:pt x="0" y="294"/>
                </a:moveTo>
                <a:lnTo>
                  <a:pt x="0" y="270"/>
                </a:lnTo>
                <a:lnTo>
                  <a:pt x="2" y="268"/>
                </a:lnTo>
                <a:lnTo>
                  <a:pt x="2" y="267"/>
                </a:lnTo>
                <a:lnTo>
                  <a:pt x="5" y="266"/>
                </a:lnTo>
                <a:lnTo>
                  <a:pt x="10" y="266"/>
                </a:lnTo>
                <a:lnTo>
                  <a:pt x="13" y="266"/>
                </a:lnTo>
                <a:lnTo>
                  <a:pt x="15" y="267"/>
                </a:lnTo>
                <a:lnTo>
                  <a:pt x="15" y="268"/>
                </a:lnTo>
                <a:lnTo>
                  <a:pt x="18" y="270"/>
                </a:lnTo>
                <a:lnTo>
                  <a:pt x="18" y="294"/>
                </a:lnTo>
                <a:lnTo>
                  <a:pt x="15" y="295"/>
                </a:lnTo>
                <a:lnTo>
                  <a:pt x="15" y="296"/>
                </a:lnTo>
                <a:lnTo>
                  <a:pt x="13" y="297"/>
                </a:lnTo>
                <a:lnTo>
                  <a:pt x="10" y="297"/>
                </a:lnTo>
                <a:lnTo>
                  <a:pt x="5" y="297"/>
                </a:lnTo>
                <a:lnTo>
                  <a:pt x="2" y="296"/>
                </a:lnTo>
                <a:lnTo>
                  <a:pt x="2" y="295"/>
                </a:lnTo>
                <a:lnTo>
                  <a:pt x="0" y="294"/>
                </a:lnTo>
                <a:lnTo>
                  <a:pt x="0" y="294"/>
                </a:lnTo>
                <a:close/>
                <a:moveTo>
                  <a:pt x="2" y="238"/>
                </a:moveTo>
                <a:lnTo>
                  <a:pt x="2" y="214"/>
                </a:lnTo>
                <a:lnTo>
                  <a:pt x="2" y="213"/>
                </a:lnTo>
                <a:lnTo>
                  <a:pt x="2" y="211"/>
                </a:lnTo>
                <a:lnTo>
                  <a:pt x="5" y="211"/>
                </a:lnTo>
                <a:lnTo>
                  <a:pt x="10" y="210"/>
                </a:lnTo>
                <a:lnTo>
                  <a:pt x="13" y="211"/>
                </a:lnTo>
                <a:lnTo>
                  <a:pt x="15" y="211"/>
                </a:lnTo>
                <a:lnTo>
                  <a:pt x="18" y="213"/>
                </a:lnTo>
                <a:lnTo>
                  <a:pt x="18" y="214"/>
                </a:lnTo>
                <a:lnTo>
                  <a:pt x="18" y="238"/>
                </a:lnTo>
                <a:lnTo>
                  <a:pt x="18" y="239"/>
                </a:lnTo>
                <a:lnTo>
                  <a:pt x="15" y="240"/>
                </a:lnTo>
                <a:lnTo>
                  <a:pt x="13" y="242"/>
                </a:lnTo>
                <a:lnTo>
                  <a:pt x="10" y="242"/>
                </a:lnTo>
                <a:lnTo>
                  <a:pt x="5" y="242"/>
                </a:lnTo>
                <a:lnTo>
                  <a:pt x="2" y="240"/>
                </a:lnTo>
                <a:lnTo>
                  <a:pt x="2" y="239"/>
                </a:lnTo>
                <a:lnTo>
                  <a:pt x="2" y="238"/>
                </a:lnTo>
                <a:lnTo>
                  <a:pt x="2" y="238"/>
                </a:lnTo>
                <a:close/>
                <a:moveTo>
                  <a:pt x="2" y="182"/>
                </a:moveTo>
                <a:lnTo>
                  <a:pt x="2" y="159"/>
                </a:lnTo>
                <a:lnTo>
                  <a:pt x="2" y="157"/>
                </a:lnTo>
                <a:lnTo>
                  <a:pt x="2" y="156"/>
                </a:lnTo>
                <a:lnTo>
                  <a:pt x="5" y="156"/>
                </a:lnTo>
                <a:lnTo>
                  <a:pt x="10" y="156"/>
                </a:lnTo>
                <a:lnTo>
                  <a:pt x="13" y="156"/>
                </a:lnTo>
                <a:lnTo>
                  <a:pt x="15" y="156"/>
                </a:lnTo>
                <a:lnTo>
                  <a:pt x="18" y="157"/>
                </a:lnTo>
                <a:lnTo>
                  <a:pt x="18" y="159"/>
                </a:lnTo>
                <a:lnTo>
                  <a:pt x="18" y="182"/>
                </a:lnTo>
                <a:lnTo>
                  <a:pt x="18" y="185"/>
                </a:lnTo>
                <a:lnTo>
                  <a:pt x="15" y="186"/>
                </a:lnTo>
                <a:lnTo>
                  <a:pt x="13" y="186"/>
                </a:lnTo>
                <a:lnTo>
                  <a:pt x="10" y="187"/>
                </a:lnTo>
                <a:lnTo>
                  <a:pt x="5" y="186"/>
                </a:lnTo>
                <a:lnTo>
                  <a:pt x="2" y="186"/>
                </a:lnTo>
                <a:lnTo>
                  <a:pt x="2" y="185"/>
                </a:lnTo>
                <a:lnTo>
                  <a:pt x="2" y="182"/>
                </a:lnTo>
                <a:lnTo>
                  <a:pt x="2" y="182"/>
                </a:lnTo>
                <a:close/>
                <a:moveTo>
                  <a:pt x="2" y="128"/>
                </a:moveTo>
                <a:lnTo>
                  <a:pt x="2" y="104"/>
                </a:lnTo>
                <a:lnTo>
                  <a:pt x="2" y="103"/>
                </a:lnTo>
                <a:lnTo>
                  <a:pt x="5" y="101"/>
                </a:lnTo>
                <a:lnTo>
                  <a:pt x="8" y="100"/>
                </a:lnTo>
                <a:lnTo>
                  <a:pt x="10" y="100"/>
                </a:lnTo>
                <a:lnTo>
                  <a:pt x="13" y="100"/>
                </a:lnTo>
                <a:lnTo>
                  <a:pt x="15" y="101"/>
                </a:lnTo>
                <a:lnTo>
                  <a:pt x="18" y="103"/>
                </a:lnTo>
                <a:lnTo>
                  <a:pt x="18" y="104"/>
                </a:lnTo>
                <a:lnTo>
                  <a:pt x="18" y="128"/>
                </a:lnTo>
                <a:lnTo>
                  <a:pt x="18" y="129"/>
                </a:lnTo>
                <a:lnTo>
                  <a:pt x="15" y="130"/>
                </a:lnTo>
                <a:lnTo>
                  <a:pt x="13" y="132"/>
                </a:lnTo>
                <a:lnTo>
                  <a:pt x="10" y="132"/>
                </a:lnTo>
                <a:lnTo>
                  <a:pt x="5" y="132"/>
                </a:lnTo>
                <a:lnTo>
                  <a:pt x="2" y="130"/>
                </a:lnTo>
                <a:lnTo>
                  <a:pt x="2" y="129"/>
                </a:lnTo>
                <a:lnTo>
                  <a:pt x="2" y="128"/>
                </a:lnTo>
                <a:lnTo>
                  <a:pt x="2" y="128"/>
                </a:lnTo>
                <a:close/>
                <a:moveTo>
                  <a:pt x="2" y="72"/>
                </a:moveTo>
                <a:lnTo>
                  <a:pt x="2" y="48"/>
                </a:lnTo>
                <a:lnTo>
                  <a:pt x="2" y="47"/>
                </a:lnTo>
                <a:lnTo>
                  <a:pt x="5" y="46"/>
                </a:lnTo>
                <a:lnTo>
                  <a:pt x="8" y="44"/>
                </a:lnTo>
                <a:lnTo>
                  <a:pt x="10" y="44"/>
                </a:lnTo>
                <a:lnTo>
                  <a:pt x="13" y="44"/>
                </a:lnTo>
                <a:lnTo>
                  <a:pt x="15" y="46"/>
                </a:lnTo>
                <a:lnTo>
                  <a:pt x="18" y="47"/>
                </a:lnTo>
                <a:lnTo>
                  <a:pt x="18" y="48"/>
                </a:lnTo>
                <a:lnTo>
                  <a:pt x="18" y="72"/>
                </a:lnTo>
                <a:lnTo>
                  <a:pt x="18" y="73"/>
                </a:lnTo>
                <a:lnTo>
                  <a:pt x="15" y="75"/>
                </a:lnTo>
                <a:lnTo>
                  <a:pt x="13" y="76"/>
                </a:lnTo>
                <a:lnTo>
                  <a:pt x="10" y="76"/>
                </a:lnTo>
                <a:lnTo>
                  <a:pt x="8" y="76"/>
                </a:lnTo>
                <a:lnTo>
                  <a:pt x="5" y="75"/>
                </a:lnTo>
                <a:lnTo>
                  <a:pt x="2" y="73"/>
                </a:lnTo>
                <a:lnTo>
                  <a:pt x="2" y="72"/>
                </a:lnTo>
                <a:lnTo>
                  <a:pt x="2" y="72"/>
                </a:lnTo>
                <a:close/>
                <a:moveTo>
                  <a:pt x="2" y="17"/>
                </a:moveTo>
                <a:lnTo>
                  <a:pt x="2" y="4"/>
                </a:lnTo>
                <a:lnTo>
                  <a:pt x="2" y="3"/>
                </a:lnTo>
                <a:lnTo>
                  <a:pt x="5" y="1"/>
                </a:lnTo>
                <a:lnTo>
                  <a:pt x="8" y="0"/>
                </a:lnTo>
                <a:lnTo>
                  <a:pt x="10" y="0"/>
                </a:lnTo>
                <a:lnTo>
                  <a:pt x="13" y="0"/>
                </a:lnTo>
                <a:lnTo>
                  <a:pt x="15" y="1"/>
                </a:lnTo>
                <a:lnTo>
                  <a:pt x="18" y="3"/>
                </a:lnTo>
                <a:lnTo>
                  <a:pt x="18" y="4"/>
                </a:lnTo>
                <a:lnTo>
                  <a:pt x="18" y="17"/>
                </a:lnTo>
                <a:lnTo>
                  <a:pt x="18" y="18"/>
                </a:lnTo>
                <a:lnTo>
                  <a:pt x="15" y="19"/>
                </a:lnTo>
                <a:lnTo>
                  <a:pt x="13" y="20"/>
                </a:lnTo>
                <a:lnTo>
                  <a:pt x="10" y="20"/>
                </a:lnTo>
                <a:lnTo>
                  <a:pt x="8" y="20"/>
                </a:lnTo>
                <a:lnTo>
                  <a:pt x="5" y="19"/>
                </a:lnTo>
                <a:lnTo>
                  <a:pt x="2" y="18"/>
                </a:lnTo>
                <a:lnTo>
                  <a:pt x="2" y="17"/>
                </a:lnTo>
                <a:lnTo>
                  <a:pt x="2" y="17"/>
                </a:lnTo>
                <a:close/>
              </a:path>
            </a:pathLst>
          </a:custGeom>
          <a:solidFill>
            <a:srgbClr val="000000"/>
          </a:solidFill>
          <a:ln w="4763" cap="flat" cmpd="sng">
            <a:solidFill>
              <a:srgbClr val="000000"/>
            </a:solidFill>
            <a:prstDash val="solid"/>
            <a:headEnd type="none" w="med" len="med"/>
            <a:tailEnd type="none" w="med" len="med"/>
          </a:ln>
        </p:spPr>
        <p:txBody>
          <a:bodyPr/>
          <a:p>
            <a:endParaRPr lang="zh-CN" altLang="en-US"/>
          </a:p>
        </p:txBody>
      </p:sp>
      <p:sp>
        <p:nvSpPr>
          <p:cNvPr id="162872" name="任意多边形 162871"/>
          <p:cNvSpPr>
            <a:spLocks noEditPoints="1"/>
          </p:cNvSpPr>
          <p:nvPr/>
        </p:nvSpPr>
        <p:spPr>
          <a:xfrm>
            <a:off x="6167438" y="4757738"/>
            <a:ext cx="28575" cy="1604962"/>
          </a:xfrm>
          <a:custGeom>
            <a:avLst/>
            <a:gdLst/>
            <a:ahLst/>
            <a:cxnLst/>
            <a:pathLst>
              <a:path w="18" h="1011">
                <a:moveTo>
                  <a:pt x="0" y="1007"/>
                </a:moveTo>
                <a:lnTo>
                  <a:pt x="0" y="983"/>
                </a:lnTo>
                <a:lnTo>
                  <a:pt x="0" y="982"/>
                </a:lnTo>
                <a:lnTo>
                  <a:pt x="3" y="981"/>
                </a:lnTo>
                <a:lnTo>
                  <a:pt x="5" y="979"/>
                </a:lnTo>
                <a:lnTo>
                  <a:pt x="8" y="979"/>
                </a:lnTo>
                <a:lnTo>
                  <a:pt x="11" y="979"/>
                </a:lnTo>
                <a:lnTo>
                  <a:pt x="13" y="981"/>
                </a:lnTo>
                <a:lnTo>
                  <a:pt x="16" y="982"/>
                </a:lnTo>
                <a:lnTo>
                  <a:pt x="16" y="983"/>
                </a:lnTo>
                <a:lnTo>
                  <a:pt x="16" y="1007"/>
                </a:lnTo>
                <a:lnTo>
                  <a:pt x="16" y="1008"/>
                </a:lnTo>
                <a:lnTo>
                  <a:pt x="13" y="1010"/>
                </a:lnTo>
                <a:lnTo>
                  <a:pt x="11" y="1011"/>
                </a:lnTo>
                <a:lnTo>
                  <a:pt x="8" y="1011"/>
                </a:lnTo>
                <a:lnTo>
                  <a:pt x="5" y="1011"/>
                </a:lnTo>
                <a:lnTo>
                  <a:pt x="3" y="1010"/>
                </a:lnTo>
                <a:lnTo>
                  <a:pt x="0" y="1008"/>
                </a:lnTo>
                <a:lnTo>
                  <a:pt x="0" y="1007"/>
                </a:lnTo>
                <a:lnTo>
                  <a:pt x="0" y="1007"/>
                </a:lnTo>
                <a:close/>
                <a:moveTo>
                  <a:pt x="0" y="952"/>
                </a:moveTo>
                <a:lnTo>
                  <a:pt x="0" y="927"/>
                </a:lnTo>
                <a:lnTo>
                  <a:pt x="0" y="926"/>
                </a:lnTo>
                <a:lnTo>
                  <a:pt x="3" y="925"/>
                </a:lnTo>
                <a:lnTo>
                  <a:pt x="5" y="924"/>
                </a:lnTo>
                <a:lnTo>
                  <a:pt x="8" y="924"/>
                </a:lnTo>
                <a:lnTo>
                  <a:pt x="11" y="924"/>
                </a:lnTo>
                <a:lnTo>
                  <a:pt x="13" y="925"/>
                </a:lnTo>
                <a:lnTo>
                  <a:pt x="16" y="926"/>
                </a:lnTo>
                <a:lnTo>
                  <a:pt x="16" y="927"/>
                </a:lnTo>
                <a:lnTo>
                  <a:pt x="16" y="952"/>
                </a:lnTo>
                <a:lnTo>
                  <a:pt x="16" y="953"/>
                </a:lnTo>
                <a:lnTo>
                  <a:pt x="13" y="954"/>
                </a:lnTo>
                <a:lnTo>
                  <a:pt x="11" y="955"/>
                </a:lnTo>
                <a:lnTo>
                  <a:pt x="8" y="955"/>
                </a:lnTo>
                <a:lnTo>
                  <a:pt x="5" y="955"/>
                </a:lnTo>
                <a:lnTo>
                  <a:pt x="3" y="954"/>
                </a:lnTo>
                <a:lnTo>
                  <a:pt x="0" y="953"/>
                </a:lnTo>
                <a:lnTo>
                  <a:pt x="0" y="952"/>
                </a:lnTo>
                <a:lnTo>
                  <a:pt x="0" y="952"/>
                </a:lnTo>
                <a:close/>
                <a:moveTo>
                  <a:pt x="0" y="896"/>
                </a:moveTo>
                <a:lnTo>
                  <a:pt x="0" y="872"/>
                </a:lnTo>
                <a:lnTo>
                  <a:pt x="0" y="871"/>
                </a:lnTo>
                <a:lnTo>
                  <a:pt x="3" y="869"/>
                </a:lnTo>
                <a:lnTo>
                  <a:pt x="5" y="869"/>
                </a:lnTo>
                <a:lnTo>
                  <a:pt x="8" y="868"/>
                </a:lnTo>
                <a:lnTo>
                  <a:pt x="11" y="869"/>
                </a:lnTo>
                <a:lnTo>
                  <a:pt x="13" y="869"/>
                </a:lnTo>
                <a:lnTo>
                  <a:pt x="16" y="871"/>
                </a:lnTo>
                <a:lnTo>
                  <a:pt x="16" y="872"/>
                </a:lnTo>
                <a:lnTo>
                  <a:pt x="16" y="896"/>
                </a:lnTo>
                <a:lnTo>
                  <a:pt x="16" y="897"/>
                </a:lnTo>
                <a:lnTo>
                  <a:pt x="13" y="898"/>
                </a:lnTo>
                <a:lnTo>
                  <a:pt x="11" y="900"/>
                </a:lnTo>
                <a:lnTo>
                  <a:pt x="8" y="900"/>
                </a:lnTo>
                <a:lnTo>
                  <a:pt x="5" y="900"/>
                </a:lnTo>
                <a:lnTo>
                  <a:pt x="3" y="898"/>
                </a:lnTo>
                <a:lnTo>
                  <a:pt x="0" y="897"/>
                </a:lnTo>
                <a:lnTo>
                  <a:pt x="0" y="896"/>
                </a:lnTo>
                <a:lnTo>
                  <a:pt x="0" y="896"/>
                </a:lnTo>
                <a:close/>
                <a:moveTo>
                  <a:pt x="0" y="840"/>
                </a:moveTo>
                <a:lnTo>
                  <a:pt x="0" y="817"/>
                </a:lnTo>
                <a:lnTo>
                  <a:pt x="0" y="816"/>
                </a:lnTo>
                <a:lnTo>
                  <a:pt x="3" y="815"/>
                </a:lnTo>
                <a:lnTo>
                  <a:pt x="5" y="814"/>
                </a:lnTo>
                <a:lnTo>
                  <a:pt x="8" y="814"/>
                </a:lnTo>
                <a:lnTo>
                  <a:pt x="11" y="814"/>
                </a:lnTo>
                <a:lnTo>
                  <a:pt x="13" y="815"/>
                </a:lnTo>
                <a:lnTo>
                  <a:pt x="16" y="816"/>
                </a:lnTo>
                <a:lnTo>
                  <a:pt x="16" y="817"/>
                </a:lnTo>
                <a:lnTo>
                  <a:pt x="16" y="840"/>
                </a:lnTo>
                <a:lnTo>
                  <a:pt x="16" y="843"/>
                </a:lnTo>
                <a:lnTo>
                  <a:pt x="13" y="844"/>
                </a:lnTo>
                <a:lnTo>
                  <a:pt x="11" y="844"/>
                </a:lnTo>
                <a:lnTo>
                  <a:pt x="8" y="845"/>
                </a:lnTo>
                <a:lnTo>
                  <a:pt x="5" y="844"/>
                </a:lnTo>
                <a:lnTo>
                  <a:pt x="3" y="844"/>
                </a:lnTo>
                <a:lnTo>
                  <a:pt x="0" y="843"/>
                </a:lnTo>
                <a:lnTo>
                  <a:pt x="0" y="840"/>
                </a:lnTo>
                <a:lnTo>
                  <a:pt x="0" y="840"/>
                </a:lnTo>
                <a:close/>
                <a:moveTo>
                  <a:pt x="0" y="786"/>
                </a:moveTo>
                <a:lnTo>
                  <a:pt x="0" y="762"/>
                </a:lnTo>
                <a:lnTo>
                  <a:pt x="0" y="760"/>
                </a:lnTo>
                <a:lnTo>
                  <a:pt x="3" y="759"/>
                </a:lnTo>
                <a:lnTo>
                  <a:pt x="5" y="758"/>
                </a:lnTo>
                <a:lnTo>
                  <a:pt x="8" y="758"/>
                </a:lnTo>
                <a:lnTo>
                  <a:pt x="11" y="758"/>
                </a:lnTo>
                <a:lnTo>
                  <a:pt x="13" y="759"/>
                </a:lnTo>
                <a:lnTo>
                  <a:pt x="16" y="760"/>
                </a:lnTo>
                <a:lnTo>
                  <a:pt x="16" y="762"/>
                </a:lnTo>
                <a:lnTo>
                  <a:pt x="16" y="786"/>
                </a:lnTo>
                <a:lnTo>
                  <a:pt x="16" y="787"/>
                </a:lnTo>
                <a:lnTo>
                  <a:pt x="13" y="788"/>
                </a:lnTo>
                <a:lnTo>
                  <a:pt x="11" y="790"/>
                </a:lnTo>
                <a:lnTo>
                  <a:pt x="8" y="790"/>
                </a:lnTo>
                <a:lnTo>
                  <a:pt x="5" y="790"/>
                </a:lnTo>
                <a:lnTo>
                  <a:pt x="3" y="788"/>
                </a:lnTo>
                <a:lnTo>
                  <a:pt x="0" y="787"/>
                </a:lnTo>
                <a:lnTo>
                  <a:pt x="0" y="786"/>
                </a:lnTo>
                <a:lnTo>
                  <a:pt x="0" y="786"/>
                </a:lnTo>
                <a:close/>
                <a:moveTo>
                  <a:pt x="0" y="730"/>
                </a:moveTo>
                <a:lnTo>
                  <a:pt x="0" y="706"/>
                </a:lnTo>
                <a:lnTo>
                  <a:pt x="0" y="705"/>
                </a:lnTo>
                <a:lnTo>
                  <a:pt x="3" y="704"/>
                </a:lnTo>
                <a:lnTo>
                  <a:pt x="5" y="702"/>
                </a:lnTo>
                <a:lnTo>
                  <a:pt x="8" y="702"/>
                </a:lnTo>
                <a:lnTo>
                  <a:pt x="13" y="702"/>
                </a:lnTo>
                <a:lnTo>
                  <a:pt x="16" y="704"/>
                </a:lnTo>
                <a:lnTo>
                  <a:pt x="16" y="705"/>
                </a:lnTo>
                <a:lnTo>
                  <a:pt x="16" y="706"/>
                </a:lnTo>
                <a:lnTo>
                  <a:pt x="16" y="730"/>
                </a:lnTo>
                <a:lnTo>
                  <a:pt x="16" y="731"/>
                </a:lnTo>
                <a:lnTo>
                  <a:pt x="13" y="733"/>
                </a:lnTo>
                <a:lnTo>
                  <a:pt x="11" y="734"/>
                </a:lnTo>
                <a:lnTo>
                  <a:pt x="8" y="734"/>
                </a:lnTo>
                <a:lnTo>
                  <a:pt x="5" y="734"/>
                </a:lnTo>
                <a:lnTo>
                  <a:pt x="3" y="733"/>
                </a:lnTo>
                <a:lnTo>
                  <a:pt x="0" y="731"/>
                </a:lnTo>
                <a:lnTo>
                  <a:pt x="0" y="730"/>
                </a:lnTo>
                <a:lnTo>
                  <a:pt x="0" y="730"/>
                </a:lnTo>
                <a:close/>
                <a:moveTo>
                  <a:pt x="0" y="674"/>
                </a:moveTo>
                <a:lnTo>
                  <a:pt x="0" y="650"/>
                </a:lnTo>
                <a:lnTo>
                  <a:pt x="0" y="649"/>
                </a:lnTo>
                <a:lnTo>
                  <a:pt x="3" y="648"/>
                </a:lnTo>
                <a:lnTo>
                  <a:pt x="5" y="648"/>
                </a:lnTo>
                <a:lnTo>
                  <a:pt x="8" y="647"/>
                </a:lnTo>
                <a:lnTo>
                  <a:pt x="13" y="648"/>
                </a:lnTo>
                <a:lnTo>
                  <a:pt x="16" y="648"/>
                </a:lnTo>
                <a:lnTo>
                  <a:pt x="16" y="649"/>
                </a:lnTo>
                <a:lnTo>
                  <a:pt x="16" y="650"/>
                </a:lnTo>
                <a:lnTo>
                  <a:pt x="16" y="674"/>
                </a:lnTo>
                <a:lnTo>
                  <a:pt x="16" y="676"/>
                </a:lnTo>
                <a:lnTo>
                  <a:pt x="16" y="677"/>
                </a:lnTo>
                <a:lnTo>
                  <a:pt x="13" y="678"/>
                </a:lnTo>
                <a:lnTo>
                  <a:pt x="8" y="678"/>
                </a:lnTo>
                <a:lnTo>
                  <a:pt x="5" y="678"/>
                </a:lnTo>
                <a:lnTo>
                  <a:pt x="3" y="677"/>
                </a:lnTo>
                <a:lnTo>
                  <a:pt x="0" y="676"/>
                </a:lnTo>
                <a:lnTo>
                  <a:pt x="0" y="674"/>
                </a:lnTo>
                <a:lnTo>
                  <a:pt x="0" y="674"/>
                </a:lnTo>
                <a:close/>
                <a:moveTo>
                  <a:pt x="0" y="619"/>
                </a:moveTo>
                <a:lnTo>
                  <a:pt x="0" y="596"/>
                </a:lnTo>
                <a:lnTo>
                  <a:pt x="3" y="595"/>
                </a:lnTo>
                <a:lnTo>
                  <a:pt x="3" y="594"/>
                </a:lnTo>
                <a:lnTo>
                  <a:pt x="5" y="592"/>
                </a:lnTo>
                <a:lnTo>
                  <a:pt x="8" y="592"/>
                </a:lnTo>
                <a:lnTo>
                  <a:pt x="13" y="592"/>
                </a:lnTo>
                <a:lnTo>
                  <a:pt x="16" y="594"/>
                </a:lnTo>
                <a:lnTo>
                  <a:pt x="16" y="595"/>
                </a:lnTo>
                <a:lnTo>
                  <a:pt x="18" y="596"/>
                </a:lnTo>
                <a:lnTo>
                  <a:pt x="18" y="619"/>
                </a:lnTo>
                <a:lnTo>
                  <a:pt x="16" y="621"/>
                </a:lnTo>
                <a:lnTo>
                  <a:pt x="16" y="623"/>
                </a:lnTo>
                <a:lnTo>
                  <a:pt x="13" y="623"/>
                </a:lnTo>
                <a:lnTo>
                  <a:pt x="8" y="624"/>
                </a:lnTo>
                <a:lnTo>
                  <a:pt x="5" y="623"/>
                </a:lnTo>
                <a:lnTo>
                  <a:pt x="3" y="623"/>
                </a:lnTo>
                <a:lnTo>
                  <a:pt x="3" y="621"/>
                </a:lnTo>
                <a:lnTo>
                  <a:pt x="0" y="619"/>
                </a:lnTo>
                <a:lnTo>
                  <a:pt x="0" y="619"/>
                </a:lnTo>
                <a:close/>
                <a:moveTo>
                  <a:pt x="0" y="564"/>
                </a:moveTo>
                <a:lnTo>
                  <a:pt x="0" y="540"/>
                </a:lnTo>
                <a:lnTo>
                  <a:pt x="3" y="539"/>
                </a:lnTo>
                <a:lnTo>
                  <a:pt x="3" y="538"/>
                </a:lnTo>
                <a:lnTo>
                  <a:pt x="5" y="537"/>
                </a:lnTo>
                <a:lnTo>
                  <a:pt x="8" y="537"/>
                </a:lnTo>
                <a:lnTo>
                  <a:pt x="13" y="537"/>
                </a:lnTo>
                <a:lnTo>
                  <a:pt x="16" y="538"/>
                </a:lnTo>
                <a:lnTo>
                  <a:pt x="16" y="539"/>
                </a:lnTo>
                <a:lnTo>
                  <a:pt x="18" y="540"/>
                </a:lnTo>
                <a:lnTo>
                  <a:pt x="18" y="564"/>
                </a:lnTo>
                <a:lnTo>
                  <a:pt x="16" y="566"/>
                </a:lnTo>
                <a:lnTo>
                  <a:pt x="16" y="567"/>
                </a:lnTo>
                <a:lnTo>
                  <a:pt x="13" y="568"/>
                </a:lnTo>
                <a:lnTo>
                  <a:pt x="8" y="568"/>
                </a:lnTo>
                <a:lnTo>
                  <a:pt x="5" y="568"/>
                </a:lnTo>
                <a:lnTo>
                  <a:pt x="3" y="567"/>
                </a:lnTo>
                <a:lnTo>
                  <a:pt x="3" y="566"/>
                </a:lnTo>
                <a:lnTo>
                  <a:pt x="0" y="564"/>
                </a:lnTo>
                <a:lnTo>
                  <a:pt x="0" y="564"/>
                </a:lnTo>
                <a:close/>
                <a:moveTo>
                  <a:pt x="0" y="509"/>
                </a:moveTo>
                <a:lnTo>
                  <a:pt x="0" y="485"/>
                </a:lnTo>
                <a:lnTo>
                  <a:pt x="3" y="483"/>
                </a:lnTo>
                <a:lnTo>
                  <a:pt x="3" y="482"/>
                </a:lnTo>
                <a:lnTo>
                  <a:pt x="5" y="481"/>
                </a:lnTo>
                <a:lnTo>
                  <a:pt x="8" y="481"/>
                </a:lnTo>
                <a:lnTo>
                  <a:pt x="13" y="481"/>
                </a:lnTo>
                <a:lnTo>
                  <a:pt x="16" y="482"/>
                </a:lnTo>
                <a:lnTo>
                  <a:pt x="16" y="483"/>
                </a:lnTo>
                <a:lnTo>
                  <a:pt x="18" y="485"/>
                </a:lnTo>
                <a:lnTo>
                  <a:pt x="18" y="509"/>
                </a:lnTo>
                <a:lnTo>
                  <a:pt x="16" y="510"/>
                </a:lnTo>
                <a:lnTo>
                  <a:pt x="16" y="511"/>
                </a:lnTo>
                <a:lnTo>
                  <a:pt x="13" y="513"/>
                </a:lnTo>
                <a:lnTo>
                  <a:pt x="8" y="513"/>
                </a:lnTo>
                <a:lnTo>
                  <a:pt x="5" y="513"/>
                </a:lnTo>
                <a:lnTo>
                  <a:pt x="3" y="511"/>
                </a:lnTo>
                <a:lnTo>
                  <a:pt x="3" y="510"/>
                </a:lnTo>
                <a:lnTo>
                  <a:pt x="0" y="509"/>
                </a:lnTo>
                <a:lnTo>
                  <a:pt x="0" y="509"/>
                </a:lnTo>
                <a:close/>
                <a:moveTo>
                  <a:pt x="0" y="453"/>
                </a:moveTo>
                <a:lnTo>
                  <a:pt x="0" y="429"/>
                </a:lnTo>
                <a:lnTo>
                  <a:pt x="3" y="428"/>
                </a:lnTo>
                <a:lnTo>
                  <a:pt x="3" y="427"/>
                </a:lnTo>
                <a:lnTo>
                  <a:pt x="5" y="427"/>
                </a:lnTo>
                <a:lnTo>
                  <a:pt x="11" y="425"/>
                </a:lnTo>
                <a:lnTo>
                  <a:pt x="13" y="427"/>
                </a:lnTo>
                <a:lnTo>
                  <a:pt x="16" y="427"/>
                </a:lnTo>
                <a:lnTo>
                  <a:pt x="16" y="428"/>
                </a:lnTo>
                <a:lnTo>
                  <a:pt x="18" y="429"/>
                </a:lnTo>
                <a:lnTo>
                  <a:pt x="18" y="453"/>
                </a:lnTo>
                <a:lnTo>
                  <a:pt x="16" y="454"/>
                </a:lnTo>
                <a:lnTo>
                  <a:pt x="16" y="456"/>
                </a:lnTo>
                <a:lnTo>
                  <a:pt x="13" y="457"/>
                </a:lnTo>
                <a:lnTo>
                  <a:pt x="11" y="457"/>
                </a:lnTo>
                <a:lnTo>
                  <a:pt x="5" y="457"/>
                </a:lnTo>
                <a:lnTo>
                  <a:pt x="3" y="456"/>
                </a:lnTo>
                <a:lnTo>
                  <a:pt x="3" y="454"/>
                </a:lnTo>
                <a:lnTo>
                  <a:pt x="0" y="453"/>
                </a:lnTo>
                <a:lnTo>
                  <a:pt x="0" y="453"/>
                </a:lnTo>
                <a:close/>
                <a:moveTo>
                  <a:pt x="0" y="397"/>
                </a:moveTo>
                <a:lnTo>
                  <a:pt x="0" y="375"/>
                </a:lnTo>
                <a:lnTo>
                  <a:pt x="3" y="373"/>
                </a:lnTo>
                <a:lnTo>
                  <a:pt x="3" y="372"/>
                </a:lnTo>
                <a:lnTo>
                  <a:pt x="5" y="371"/>
                </a:lnTo>
                <a:lnTo>
                  <a:pt x="11" y="371"/>
                </a:lnTo>
                <a:lnTo>
                  <a:pt x="13" y="371"/>
                </a:lnTo>
                <a:lnTo>
                  <a:pt x="16" y="372"/>
                </a:lnTo>
                <a:lnTo>
                  <a:pt x="16" y="373"/>
                </a:lnTo>
                <a:lnTo>
                  <a:pt x="18" y="375"/>
                </a:lnTo>
                <a:lnTo>
                  <a:pt x="18" y="397"/>
                </a:lnTo>
                <a:lnTo>
                  <a:pt x="16" y="400"/>
                </a:lnTo>
                <a:lnTo>
                  <a:pt x="16" y="401"/>
                </a:lnTo>
                <a:lnTo>
                  <a:pt x="13" y="401"/>
                </a:lnTo>
                <a:lnTo>
                  <a:pt x="11" y="402"/>
                </a:lnTo>
                <a:lnTo>
                  <a:pt x="5" y="401"/>
                </a:lnTo>
                <a:lnTo>
                  <a:pt x="3" y="401"/>
                </a:lnTo>
                <a:lnTo>
                  <a:pt x="3" y="400"/>
                </a:lnTo>
                <a:lnTo>
                  <a:pt x="0" y="397"/>
                </a:lnTo>
                <a:lnTo>
                  <a:pt x="0" y="397"/>
                </a:lnTo>
                <a:close/>
                <a:moveTo>
                  <a:pt x="0" y="343"/>
                </a:moveTo>
                <a:lnTo>
                  <a:pt x="3" y="319"/>
                </a:lnTo>
                <a:lnTo>
                  <a:pt x="3" y="318"/>
                </a:lnTo>
                <a:lnTo>
                  <a:pt x="3" y="316"/>
                </a:lnTo>
                <a:lnTo>
                  <a:pt x="5" y="315"/>
                </a:lnTo>
                <a:lnTo>
                  <a:pt x="11" y="315"/>
                </a:lnTo>
                <a:lnTo>
                  <a:pt x="13" y="315"/>
                </a:lnTo>
                <a:lnTo>
                  <a:pt x="16" y="316"/>
                </a:lnTo>
                <a:lnTo>
                  <a:pt x="18" y="318"/>
                </a:lnTo>
                <a:lnTo>
                  <a:pt x="18" y="319"/>
                </a:lnTo>
                <a:lnTo>
                  <a:pt x="18" y="343"/>
                </a:lnTo>
                <a:lnTo>
                  <a:pt x="16" y="344"/>
                </a:lnTo>
                <a:lnTo>
                  <a:pt x="16" y="346"/>
                </a:lnTo>
                <a:lnTo>
                  <a:pt x="13" y="347"/>
                </a:lnTo>
                <a:lnTo>
                  <a:pt x="11" y="347"/>
                </a:lnTo>
                <a:lnTo>
                  <a:pt x="5" y="347"/>
                </a:lnTo>
                <a:lnTo>
                  <a:pt x="3" y="346"/>
                </a:lnTo>
                <a:lnTo>
                  <a:pt x="3" y="344"/>
                </a:lnTo>
                <a:lnTo>
                  <a:pt x="0" y="343"/>
                </a:lnTo>
                <a:lnTo>
                  <a:pt x="0" y="343"/>
                </a:lnTo>
                <a:close/>
                <a:moveTo>
                  <a:pt x="3" y="287"/>
                </a:moveTo>
                <a:lnTo>
                  <a:pt x="3" y="263"/>
                </a:lnTo>
                <a:lnTo>
                  <a:pt x="3" y="262"/>
                </a:lnTo>
                <a:lnTo>
                  <a:pt x="3" y="261"/>
                </a:lnTo>
                <a:lnTo>
                  <a:pt x="5" y="260"/>
                </a:lnTo>
                <a:lnTo>
                  <a:pt x="11" y="260"/>
                </a:lnTo>
                <a:lnTo>
                  <a:pt x="13" y="260"/>
                </a:lnTo>
                <a:lnTo>
                  <a:pt x="16" y="261"/>
                </a:lnTo>
                <a:lnTo>
                  <a:pt x="18" y="262"/>
                </a:lnTo>
                <a:lnTo>
                  <a:pt x="18" y="263"/>
                </a:lnTo>
                <a:lnTo>
                  <a:pt x="18" y="287"/>
                </a:lnTo>
                <a:lnTo>
                  <a:pt x="18" y="289"/>
                </a:lnTo>
                <a:lnTo>
                  <a:pt x="16" y="290"/>
                </a:lnTo>
                <a:lnTo>
                  <a:pt x="13" y="291"/>
                </a:lnTo>
                <a:lnTo>
                  <a:pt x="11" y="291"/>
                </a:lnTo>
                <a:lnTo>
                  <a:pt x="5" y="291"/>
                </a:lnTo>
                <a:lnTo>
                  <a:pt x="3" y="290"/>
                </a:lnTo>
                <a:lnTo>
                  <a:pt x="3" y="289"/>
                </a:lnTo>
                <a:lnTo>
                  <a:pt x="3" y="287"/>
                </a:lnTo>
                <a:lnTo>
                  <a:pt x="3" y="287"/>
                </a:lnTo>
                <a:close/>
                <a:moveTo>
                  <a:pt x="3" y="232"/>
                </a:moveTo>
                <a:lnTo>
                  <a:pt x="3" y="208"/>
                </a:lnTo>
                <a:lnTo>
                  <a:pt x="3" y="206"/>
                </a:lnTo>
                <a:lnTo>
                  <a:pt x="5" y="205"/>
                </a:lnTo>
                <a:lnTo>
                  <a:pt x="8" y="205"/>
                </a:lnTo>
                <a:lnTo>
                  <a:pt x="11" y="204"/>
                </a:lnTo>
                <a:lnTo>
                  <a:pt x="13" y="205"/>
                </a:lnTo>
                <a:lnTo>
                  <a:pt x="16" y="205"/>
                </a:lnTo>
                <a:lnTo>
                  <a:pt x="18" y="206"/>
                </a:lnTo>
                <a:lnTo>
                  <a:pt x="18" y="208"/>
                </a:lnTo>
                <a:lnTo>
                  <a:pt x="18" y="232"/>
                </a:lnTo>
                <a:lnTo>
                  <a:pt x="18" y="233"/>
                </a:lnTo>
                <a:lnTo>
                  <a:pt x="16" y="234"/>
                </a:lnTo>
                <a:lnTo>
                  <a:pt x="13" y="236"/>
                </a:lnTo>
                <a:lnTo>
                  <a:pt x="11" y="236"/>
                </a:lnTo>
                <a:lnTo>
                  <a:pt x="8" y="236"/>
                </a:lnTo>
                <a:lnTo>
                  <a:pt x="5" y="234"/>
                </a:lnTo>
                <a:lnTo>
                  <a:pt x="3" y="233"/>
                </a:lnTo>
                <a:lnTo>
                  <a:pt x="3" y="232"/>
                </a:lnTo>
                <a:lnTo>
                  <a:pt x="3" y="232"/>
                </a:lnTo>
                <a:close/>
                <a:moveTo>
                  <a:pt x="3" y="176"/>
                </a:moveTo>
                <a:lnTo>
                  <a:pt x="3" y="153"/>
                </a:lnTo>
                <a:lnTo>
                  <a:pt x="3" y="152"/>
                </a:lnTo>
                <a:lnTo>
                  <a:pt x="5" y="151"/>
                </a:lnTo>
                <a:lnTo>
                  <a:pt x="8" y="149"/>
                </a:lnTo>
                <a:lnTo>
                  <a:pt x="11" y="149"/>
                </a:lnTo>
                <a:lnTo>
                  <a:pt x="13" y="149"/>
                </a:lnTo>
                <a:lnTo>
                  <a:pt x="16" y="151"/>
                </a:lnTo>
                <a:lnTo>
                  <a:pt x="18" y="152"/>
                </a:lnTo>
                <a:lnTo>
                  <a:pt x="18" y="153"/>
                </a:lnTo>
                <a:lnTo>
                  <a:pt x="18" y="176"/>
                </a:lnTo>
                <a:lnTo>
                  <a:pt x="18" y="179"/>
                </a:lnTo>
                <a:lnTo>
                  <a:pt x="16" y="180"/>
                </a:lnTo>
                <a:lnTo>
                  <a:pt x="13" y="180"/>
                </a:lnTo>
                <a:lnTo>
                  <a:pt x="11" y="181"/>
                </a:lnTo>
                <a:lnTo>
                  <a:pt x="8" y="180"/>
                </a:lnTo>
                <a:lnTo>
                  <a:pt x="5" y="180"/>
                </a:lnTo>
                <a:lnTo>
                  <a:pt x="3" y="179"/>
                </a:lnTo>
                <a:lnTo>
                  <a:pt x="3" y="176"/>
                </a:lnTo>
                <a:lnTo>
                  <a:pt x="3" y="176"/>
                </a:lnTo>
                <a:close/>
                <a:moveTo>
                  <a:pt x="3" y="122"/>
                </a:moveTo>
                <a:lnTo>
                  <a:pt x="3" y="98"/>
                </a:lnTo>
                <a:lnTo>
                  <a:pt x="3" y="96"/>
                </a:lnTo>
                <a:lnTo>
                  <a:pt x="5" y="95"/>
                </a:lnTo>
                <a:lnTo>
                  <a:pt x="8" y="94"/>
                </a:lnTo>
                <a:lnTo>
                  <a:pt x="11" y="94"/>
                </a:lnTo>
                <a:lnTo>
                  <a:pt x="13" y="94"/>
                </a:lnTo>
                <a:lnTo>
                  <a:pt x="16" y="95"/>
                </a:lnTo>
                <a:lnTo>
                  <a:pt x="18" y="96"/>
                </a:lnTo>
                <a:lnTo>
                  <a:pt x="18" y="98"/>
                </a:lnTo>
                <a:lnTo>
                  <a:pt x="18" y="122"/>
                </a:lnTo>
                <a:lnTo>
                  <a:pt x="18" y="123"/>
                </a:lnTo>
                <a:lnTo>
                  <a:pt x="16" y="124"/>
                </a:lnTo>
                <a:lnTo>
                  <a:pt x="13" y="125"/>
                </a:lnTo>
                <a:lnTo>
                  <a:pt x="11" y="125"/>
                </a:lnTo>
                <a:lnTo>
                  <a:pt x="8" y="125"/>
                </a:lnTo>
                <a:lnTo>
                  <a:pt x="5" y="124"/>
                </a:lnTo>
                <a:lnTo>
                  <a:pt x="3" y="123"/>
                </a:lnTo>
                <a:lnTo>
                  <a:pt x="3" y="122"/>
                </a:lnTo>
                <a:lnTo>
                  <a:pt x="3" y="122"/>
                </a:lnTo>
                <a:close/>
                <a:moveTo>
                  <a:pt x="3" y="66"/>
                </a:moveTo>
                <a:lnTo>
                  <a:pt x="3" y="42"/>
                </a:lnTo>
                <a:lnTo>
                  <a:pt x="3" y="41"/>
                </a:lnTo>
                <a:lnTo>
                  <a:pt x="5" y="39"/>
                </a:lnTo>
                <a:lnTo>
                  <a:pt x="8" y="38"/>
                </a:lnTo>
                <a:lnTo>
                  <a:pt x="11" y="38"/>
                </a:lnTo>
                <a:lnTo>
                  <a:pt x="13" y="38"/>
                </a:lnTo>
                <a:lnTo>
                  <a:pt x="16" y="39"/>
                </a:lnTo>
                <a:lnTo>
                  <a:pt x="18" y="41"/>
                </a:lnTo>
                <a:lnTo>
                  <a:pt x="18" y="42"/>
                </a:lnTo>
                <a:lnTo>
                  <a:pt x="18" y="66"/>
                </a:lnTo>
                <a:lnTo>
                  <a:pt x="18" y="67"/>
                </a:lnTo>
                <a:lnTo>
                  <a:pt x="16" y="69"/>
                </a:lnTo>
                <a:lnTo>
                  <a:pt x="13" y="70"/>
                </a:lnTo>
                <a:lnTo>
                  <a:pt x="11" y="70"/>
                </a:lnTo>
                <a:lnTo>
                  <a:pt x="8" y="70"/>
                </a:lnTo>
                <a:lnTo>
                  <a:pt x="5" y="69"/>
                </a:lnTo>
                <a:lnTo>
                  <a:pt x="3" y="67"/>
                </a:lnTo>
                <a:lnTo>
                  <a:pt x="3" y="66"/>
                </a:lnTo>
                <a:lnTo>
                  <a:pt x="3" y="66"/>
                </a:lnTo>
                <a:close/>
                <a:moveTo>
                  <a:pt x="3" y="10"/>
                </a:moveTo>
                <a:lnTo>
                  <a:pt x="3" y="4"/>
                </a:lnTo>
                <a:lnTo>
                  <a:pt x="3" y="3"/>
                </a:lnTo>
                <a:lnTo>
                  <a:pt x="5" y="1"/>
                </a:lnTo>
                <a:lnTo>
                  <a:pt x="8" y="0"/>
                </a:lnTo>
                <a:lnTo>
                  <a:pt x="11" y="0"/>
                </a:lnTo>
                <a:lnTo>
                  <a:pt x="13" y="0"/>
                </a:lnTo>
                <a:lnTo>
                  <a:pt x="16" y="1"/>
                </a:lnTo>
                <a:lnTo>
                  <a:pt x="18" y="3"/>
                </a:lnTo>
                <a:lnTo>
                  <a:pt x="18" y="4"/>
                </a:lnTo>
                <a:lnTo>
                  <a:pt x="18" y="10"/>
                </a:lnTo>
                <a:lnTo>
                  <a:pt x="18" y="12"/>
                </a:lnTo>
                <a:lnTo>
                  <a:pt x="16" y="13"/>
                </a:lnTo>
                <a:lnTo>
                  <a:pt x="13" y="14"/>
                </a:lnTo>
                <a:lnTo>
                  <a:pt x="11" y="14"/>
                </a:lnTo>
                <a:lnTo>
                  <a:pt x="8" y="14"/>
                </a:lnTo>
                <a:lnTo>
                  <a:pt x="5" y="13"/>
                </a:lnTo>
                <a:lnTo>
                  <a:pt x="3" y="12"/>
                </a:lnTo>
                <a:lnTo>
                  <a:pt x="3" y="10"/>
                </a:lnTo>
                <a:lnTo>
                  <a:pt x="3" y="10"/>
                </a:lnTo>
                <a:close/>
              </a:path>
            </a:pathLst>
          </a:custGeom>
          <a:solidFill>
            <a:srgbClr val="000000"/>
          </a:solidFill>
          <a:ln w="4763" cap="flat" cmpd="sng">
            <a:solidFill>
              <a:srgbClr val="000000"/>
            </a:solidFill>
            <a:prstDash val="solid"/>
            <a:headEnd type="none" w="med" len="med"/>
            <a:tailEnd type="none" w="med" len="med"/>
          </a:ln>
        </p:spPr>
        <p:txBody>
          <a:bodyPr/>
          <a:p>
            <a:endParaRPr lang="zh-CN" altLang="en-US"/>
          </a:p>
        </p:txBody>
      </p:sp>
      <p:sp>
        <p:nvSpPr>
          <p:cNvPr id="162873" name="直接连接符 162872"/>
          <p:cNvSpPr/>
          <p:nvPr/>
        </p:nvSpPr>
        <p:spPr>
          <a:xfrm>
            <a:off x="5065713" y="6731000"/>
            <a:ext cx="582612" cy="1588"/>
          </a:xfrm>
          <a:prstGeom prst="line">
            <a:avLst/>
          </a:prstGeom>
          <a:ln w="38100" cap="flat" cmpd="sng">
            <a:solidFill>
              <a:srgbClr val="000099"/>
            </a:solidFill>
            <a:prstDash val="solid"/>
            <a:headEnd type="none" w="med" len="med"/>
            <a:tailEnd type="none" w="med" len="med"/>
          </a:ln>
        </p:spPr>
      </p:sp>
      <p:sp>
        <p:nvSpPr>
          <p:cNvPr id="162874" name="任意多边形 162873"/>
          <p:cNvSpPr>
            <a:spLocks noEditPoints="1"/>
          </p:cNvSpPr>
          <p:nvPr/>
        </p:nvSpPr>
        <p:spPr>
          <a:xfrm>
            <a:off x="5062538" y="6289675"/>
            <a:ext cx="568325" cy="26988"/>
          </a:xfrm>
          <a:custGeom>
            <a:avLst/>
            <a:gdLst/>
            <a:ahLst/>
            <a:cxnLst/>
            <a:pathLst>
              <a:path w="358" h="17">
                <a:moveTo>
                  <a:pt x="0" y="2"/>
                </a:moveTo>
                <a:lnTo>
                  <a:pt x="33" y="2"/>
                </a:lnTo>
                <a:lnTo>
                  <a:pt x="33" y="17"/>
                </a:lnTo>
                <a:lnTo>
                  <a:pt x="0" y="17"/>
                </a:lnTo>
                <a:lnTo>
                  <a:pt x="0" y="2"/>
                </a:lnTo>
                <a:close/>
                <a:moveTo>
                  <a:pt x="65" y="0"/>
                </a:moveTo>
                <a:lnTo>
                  <a:pt x="98" y="0"/>
                </a:lnTo>
                <a:lnTo>
                  <a:pt x="98" y="17"/>
                </a:lnTo>
                <a:lnTo>
                  <a:pt x="65" y="17"/>
                </a:lnTo>
                <a:lnTo>
                  <a:pt x="65" y="0"/>
                </a:lnTo>
                <a:close/>
                <a:moveTo>
                  <a:pt x="130" y="0"/>
                </a:moveTo>
                <a:lnTo>
                  <a:pt x="163" y="0"/>
                </a:lnTo>
                <a:lnTo>
                  <a:pt x="163" y="17"/>
                </a:lnTo>
                <a:lnTo>
                  <a:pt x="130" y="17"/>
                </a:lnTo>
                <a:lnTo>
                  <a:pt x="130" y="0"/>
                </a:lnTo>
                <a:close/>
                <a:moveTo>
                  <a:pt x="194" y="0"/>
                </a:moveTo>
                <a:lnTo>
                  <a:pt x="228" y="0"/>
                </a:lnTo>
                <a:lnTo>
                  <a:pt x="228" y="17"/>
                </a:lnTo>
                <a:lnTo>
                  <a:pt x="194" y="17"/>
                </a:lnTo>
                <a:lnTo>
                  <a:pt x="194" y="0"/>
                </a:lnTo>
                <a:close/>
                <a:moveTo>
                  <a:pt x="259" y="0"/>
                </a:moveTo>
                <a:lnTo>
                  <a:pt x="293" y="0"/>
                </a:lnTo>
                <a:lnTo>
                  <a:pt x="293" y="16"/>
                </a:lnTo>
                <a:lnTo>
                  <a:pt x="259" y="17"/>
                </a:lnTo>
                <a:lnTo>
                  <a:pt x="259" y="0"/>
                </a:lnTo>
                <a:close/>
                <a:moveTo>
                  <a:pt x="324" y="0"/>
                </a:moveTo>
                <a:lnTo>
                  <a:pt x="358" y="0"/>
                </a:lnTo>
                <a:lnTo>
                  <a:pt x="358" y="16"/>
                </a:lnTo>
                <a:lnTo>
                  <a:pt x="324" y="16"/>
                </a:lnTo>
                <a:lnTo>
                  <a:pt x="324" y="0"/>
                </a:lnTo>
                <a:close/>
              </a:path>
            </a:pathLst>
          </a:custGeom>
          <a:solidFill>
            <a:srgbClr val="000000"/>
          </a:solidFill>
          <a:ln w="4763" cap="flat" cmpd="sng">
            <a:solidFill>
              <a:srgbClr val="000000"/>
            </a:solidFill>
            <a:prstDash val="solid"/>
            <a:headEnd type="none" w="med" len="med"/>
            <a:tailEnd type="none" w="med" len="med"/>
          </a:ln>
        </p:spPr>
        <p:txBody>
          <a:bodyPr/>
          <a:p>
            <a:endParaRPr lang="zh-CN" altLang="en-US"/>
          </a:p>
        </p:txBody>
      </p:sp>
      <p:sp>
        <p:nvSpPr>
          <p:cNvPr id="162875" name="矩形 162874"/>
          <p:cNvSpPr/>
          <p:nvPr/>
        </p:nvSpPr>
        <p:spPr>
          <a:xfrm>
            <a:off x="6069013" y="6816725"/>
            <a:ext cx="34925" cy="152400"/>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ea typeface="楷体_GB2312" panose="02010609030101010101" pitchFamily="49" charset="-122"/>
              </a:rPr>
              <a:t>t</a:t>
            </a:r>
            <a:endParaRPr lang="en-US" altLang="zh-CN" sz="2400" b="1">
              <a:solidFill>
                <a:srgbClr val="FF0000"/>
              </a:solidFill>
              <a:latin typeface="Times New Roman" panose="02020603050405020304" charset="0"/>
              <a:ea typeface="楷体_GB2312" panose="02010609030101010101" pitchFamily="49" charset="-122"/>
            </a:endParaRPr>
          </a:p>
        </p:txBody>
      </p:sp>
      <p:sp>
        <p:nvSpPr>
          <p:cNvPr id="162876" name="矩形 162875"/>
          <p:cNvSpPr/>
          <p:nvPr/>
        </p:nvSpPr>
        <p:spPr>
          <a:xfrm>
            <a:off x="6143625" y="6869113"/>
            <a:ext cx="44450" cy="106362"/>
          </a:xfrm>
          <a:prstGeom prst="rect">
            <a:avLst/>
          </a:prstGeom>
          <a:noFill/>
          <a:ln w="9525">
            <a:noFill/>
          </a:ln>
        </p:spPr>
        <p:txBody>
          <a:bodyPr wrap="none" lIns="0" tIns="0" rIns="0" bIns="0">
            <a:spAutoFit/>
          </a:bodyPr>
          <a:p>
            <a:pPr>
              <a:spcBef>
                <a:spcPct val="50000"/>
              </a:spcBef>
            </a:pPr>
            <a:r>
              <a:rPr lang="en-US" altLang="zh-CN" sz="700" b="1">
                <a:solidFill>
                  <a:srgbClr val="000000"/>
                </a:solidFill>
                <a:latin typeface="Times New Roman" panose="02020603050405020304" charset="0"/>
                <a:ea typeface="楷体_GB2312" panose="02010609030101010101" pitchFamily="49" charset="-122"/>
              </a:rPr>
              <a:t>1</a:t>
            </a:r>
            <a:endParaRPr lang="en-US" altLang="zh-CN" sz="2400" b="1">
              <a:solidFill>
                <a:srgbClr val="FF0000"/>
              </a:solidFill>
              <a:latin typeface="Times New Roman" panose="02020603050405020304" charset="0"/>
              <a:ea typeface="楷体_GB2312" panose="02010609030101010101" pitchFamily="49" charset="-122"/>
            </a:endParaRPr>
          </a:p>
        </p:txBody>
      </p:sp>
      <p:sp>
        <p:nvSpPr>
          <p:cNvPr id="162878" name="矩形 162877"/>
          <p:cNvSpPr/>
          <p:nvPr/>
        </p:nvSpPr>
        <p:spPr>
          <a:xfrm>
            <a:off x="8909050" y="6802438"/>
            <a:ext cx="34925" cy="152400"/>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ea typeface="楷体_GB2312" panose="02010609030101010101" pitchFamily="49" charset="-122"/>
              </a:rPr>
              <a:t>t</a:t>
            </a:r>
            <a:endParaRPr lang="en-US" altLang="zh-CN" sz="2400" b="1">
              <a:solidFill>
                <a:srgbClr val="FF0000"/>
              </a:solidFill>
              <a:latin typeface="Times New Roman" panose="02020603050405020304" charset="0"/>
              <a:ea typeface="楷体_GB2312" panose="02010609030101010101" pitchFamily="49" charset="-122"/>
            </a:endParaRPr>
          </a:p>
        </p:txBody>
      </p:sp>
      <p:sp>
        <p:nvSpPr>
          <p:cNvPr id="162880" name="任意多边形 162879"/>
          <p:cNvSpPr/>
          <p:nvPr/>
        </p:nvSpPr>
        <p:spPr>
          <a:xfrm>
            <a:off x="5024438" y="4522788"/>
            <a:ext cx="79375" cy="131762"/>
          </a:xfrm>
          <a:custGeom>
            <a:avLst/>
            <a:gdLst/>
            <a:ahLst/>
            <a:cxnLst/>
            <a:pathLst>
              <a:path w="50" h="83">
                <a:moveTo>
                  <a:pt x="0" y="83"/>
                </a:moveTo>
                <a:lnTo>
                  <a:pt x="50" y="83"/>
                </a:lnTo>
                <a:lnTo>
                  <a:pt x="26" y="0"/>
                </a:lnTo>
                <a:lnTo>
                  <a:pt x="0" y="83"/>
                </a:lnTo>
                <a:close/>
              </a:path>
            </a:pathLst>
          </a:custGeom>
          <a:solidFill>
            <a:srgbClr val="000000"/>
          </a:solidFill>
          <a:ln w="9525">
            <a:noFill/>
          </a:ln>
        </p:spPr>
        <p:txBody>
          <a:bodyPr/>
          <a:p>
            <a:endParaRPr lang="zh-CN" altLang="en-US"/>
          </a:p>
        </p:txBody>
      </p:sp>
      <p:sp>
        <p:nvSpPr>
          <p:cNvPr id="162881" name="任意多边形 162880"/>
          <p:cNvSpPr/>
          <p:nvPr/>
        </p:nvSpPr>
        <p:spPr>
          <a:xfrm>
            <a:off x="5151438" y="4649788"/>
            <a:ext cx="79375" cy="131762"/>
          </a:xfrm>
          <a:custGeom>
            <a:avLst/>
            <a:gdLst/>
            <a:ahLst/>
            <a:cxnLst/>
            <a:pathLst>
              <a:path w="50" h="83">
                <a:moveTo>
                  <a:pt x="0" y="83"/>
                </a:moveTo>
                <a:lnTo>
                  <a:pt x="50" y="83"/>
                </a:lnTo>
                <a:lnTo>
                  <a:pt x="26" y="0"/>
                </a:lnTo>
                <a:lnTo>
                  <a:pt x="0" y="83"/>
                </a:lnTo>
                <a:close/>
              </a:path>
            </a:pathLst>
          </a:custGeom>
          <a:noFill/>
          <a:ln w="7938" cap="flat" cmpd="sng">
            <a:solidFill>
              <a:srgbClr val="000000"/>
            </a:solidFill>
            <a:prstDash val="solid"/>
            <a:headEnd type="none" w="med" len="med"/>
            <a:tailEnd type="none" w="med" len="med"/>
          </a:ln>
        </p:spPr>
        <p:txBody>
          <a:bodyPr/>
          <a:p>
            <a:endParaRPr lang="zh-CN" altLang="en-US"/>
          </a:p>
        </p:txBody>
      </p:sp>
      <p:sp>
        <p:nvSpPr>
          <p:cNvPr id="162882" name="任意多边形 162881"/>
          <p:cNvSpPr/>
          <p:nvPr/>
        </p:nvSpPr>
        <p:spPr>
          <a:xfrm>
            <a:off x="5024438" y="6013450"/>
            <a:ext cx="79375" cy="131763"/>
          </a:xfrm>
          <a:custGeom>
            <a:avLst/>
            <a:gdLst/>
            <a:ahLst/>
            <a:cxnLst/>
            <a:pathLst>
              <a:path w="50" h="83">
                <a:moveTo>
                  <a:pt x="0" y="83"/>
                </a:moveTo>
                <a:lnTo>
                  <a:pt x="50" y="83"/>
                </a:lnTo>
                <a:lnTo>
                  <a:pt x="26" y="0"/>
                </a:lnTo>
                <a:lnTo>
                  <a:pt x="0" y="83"/>
                </a:lnTo>
                <a:close/>
              </a:path>
            </a:pathLst>
          </a:custGeom>
          <a:solidFill>
            <a:srgbClr val="000000"/>
          </a:solidFill>
          <a:ln w="9525" cap="flat" cmpd="sng">
            <a:solidFill>
              <a:schemeClr val="accent2"/>
            </a:solidFill>
            <a:prstDash val="solid"/>
            <a:headEnd type="none" w="med" len="med"/>
            <a:tailEnd type="none" w="med" len="med"/>
          </a:ln>
        </p:spPr>
        <p:txBody>
          <a:bodyPr/>
          <a:p>
            <a:endParaRPr lang="zh-CN" altLang="en-US"/>
          </a:p>
        </p:txBody>
      </p:sp>
      <p:sp>
        <p:nvSpPr>
          <p:cNvPr id="162883" name="任意多边形 162882"/>
          <p:cNvSpPr/>
          <p:nvPr/>
        </p:nvSpPr>
        <p:spPr>
          <a:xfrm>
            <a:off x="5024438" y="6026150"/>
            <a:ext cx="79375" cy="131763"/>
          </a:xfrm>
          <a:custGeom>
            <a:avLst/>
            <a:gdLst/>
            <a:ahLst/>
            <a:cxnLst/>
            <a:pathLst>
              <a:path w="50" h="83">
                <a:moveTo>
                  <a:pt x="0" y="83"/>
                </a:moveTo>
                <a:lnTo>
                  <a:pt x="50" y="83"/>
                </a:lnTo>
                <a:lnTo>
                  <a:pt x="26" y="0"/>
                </a:lnTo>
                <a:lnTo>
                  <a:pt x="0" y="83"/>
                </a:lnTo>
                <a:close/>
              </a:path>
            </a:pathLst>
          </a:custGeom>
          <a:noFill/>
          <a:ln w="7938" cap="flat" cmpd="sng">
            <a:solidFill>
              <a:srgbClr val="000000"/>
            </a:solidFill>
            <a:prstDash val="solid"/>
            <a:headEnd type="none" w="med" len="med"/>
            <a:tailEnd type="none" w="med" len="med"/>
          </a:ln>
        </p:spPr>
        <p:txBody>
          <a:bodyPr/>
          <a:p>
            <a:endParaRPr lang="zh-CN" altLang="en-US"/>
          </a:p>
        </p:txBody>
      </p:sp>
      <p:sp>
        <p:nvSpPr>
          <p:cNvPr id="162884" name="任意多边形 162883"/>
          <p:cNvSpPr/>
          <p:nvPr/>
        </p:nvSpPr>
        <p:spPr>
          <a:xfrm>
            <a:off x="8812213" y="6781800"/>
            <a:ext cx="273050" cy="36513"/>
          </a:xfrm>
          <a:custGeom>
            <a:avLst/>
            <a:gdLst/>
            <a:ahLst/>
            <a:cxnLst/>
            <a:pathLst>
              <a:path w="172" h="23">
                <a:moveTo>
                  <a:pt x="0" y="23"/>
                </a:moveTo>
                <a:lnTo>
                  <a:pt x="0" y="0"/>
                </a:lnTo>
                <a:lnTo>
                  <a:pt x="172" y="12"/>
                </a:lnTo>
                <a:lnTo>
                  <a:pt x="0" y="23"/>
                </a:lnTo>
                <a:close/>
              </a:path>
            </a:pathLst>
          </a:custGeom>
          <a:noFill/>
          <a:ln w="7938" cap="flat" cmpd="sng">
            <a:solidFill>
              <a:srgbClr val="000000"/>
            </a:solidFill>
            <a:prstDash val="solid"/>
            <a:headEnd type="none" w="med" len="med"/>
            <a:tailEnd type="none" w="med" len="med"/>
          </a:ln>
        </p:spPr>
        <p:txBody>
          <a:bodyPr/>
          <a:p>
            <a:endParaRPr lang="zh-CN" altLang="en-US"/>
          </a:p>
        </p:txBody>
      </p:sp>
      <p:sp>
        <p:nvSpPr>
          <p:cNvPr id="162885" name="文本框 162884"/>
          <p:cNvSpPr txBox="1"/>
          <p:nvPr/>
        </p:nvSpPr>
        <p:spPr>
          <a:xfrm>
            <a:off x="4448175" y="4397375"/>
            <a:ext cx="571500" cy="1193800"/>
          </a:xfrm>
          <a:prstGeom prst="rect">
            <a:avLst/>
          </a:prstGeom>
          <a:noFill/>
          <a:ln w="9525">
            <a:noFill/>
          </a:ln>
        </p:spPr>
        <p:txBody>
          <a:bodyPr lIns="0" tIns="0" rIns="0" bIns="0"/>
          <a:p>
            <a:pPr algn="r"/>
            <a:r>
              <a:rPr lang="en-US" altLang="zh-CN" b="1" i="1" err="1">
                <a:solidFill>
                  <a:srgbClr val="000099"/>
                </a:solidFill>
                <a:latin typeface="Times New Roman" panose="02020603050405020304" charset="0"/>
                <a:ea typeface="楷体_GB2312" panose="02010609030101010101" pitchFamily="49" charset="-122"/>
              </a:rPr>
              <a:t>v</a:t>
            </a:r>
            <a:r>
              <a:rPr lang="en-US" altLang="zh-CN" b="1" baseline="-25000" err="1">
                <a:solidFill>
                  <a:srgbClr val="000099"/>
                </a:solidFill>
                <a:latin typeface="Times New Roman" panose="02020603050405020304" charset="0"/>
                <a:ea typeface="楷体_GB2312" panose="02010609030101010101" pitchFamily="49" charset="-122"/>
              </a:rPr>
              <a:t>I</a:t>
            </a:r>
            <a:endParaRPr lang="en-US" altLang="zh-CN" b="1">
              <a:solidFill>
                <a:srgbClr val="000099"/>
              </a:solidFill>
              <a:latin typeface="Times New Roman" panose="02020603050405020304" charset="0"/>
              <a:ea typeface="楷体_GB2312" panose="02010609030101010101" pitchFamily="49" charset="-122"/>
            </a:endParaRPr>
          </a:p>
          <a:p>
            <a:pPr algn="r"/>
            <a:r>
              <a:rPr lang="en-US" altLang="zh-CN" sz="1200" b="1" i="1">
                <a:latin typeface="Times New Roman" panose="02020603050405020304" charset="0"/>
                <a:ea typeface="楷体_GB2312" panose="02010609030101010101" pitchFamily="49" charset="-122"/>
              </a:rPr>
              <a:t>V</a:t>
            </a:r>
            <a:r>
              <a:rPr lang="en-US" altLang="zh-CN" sz="1200" b="1" baseline="-25000">
                <a:latin typeface="Times New Roman" panose="02020603050405020304" charset="0"/>
                <a:ea typeface="楷体_GB2312" panose="02010609030101010101" pitchFamily="49" charset="-122"/>
              </a:rPr>
              <a:t>DD</a:t>
            </a:r>
            <a:r>
              <a:rPr lang="en-US" altLang="zh-CN" sz="1200" b="1">
                <a:latin typeface="Times New Roman" panose="02020603050405020304" charset="0"/>
                <a:ea typeface="楷体_GB2312" panose="02010609030101010101" pitchFamily="49" charset="-122"/>
              </a:rPr>
              <a:t>+</a:t>
            </a:r>
            <a:endParaRPr lang="en-US" altLang="zh-CN" sz="1200" b="1">
              <a:latin typeface="Times New Roman" panose="02020603050405020304" charset="0"/>
              <a:ea typeface="楷体_GB2312" panose="02010609030101010101" pitchFamily="49" charset="-122"/>
            </a:endParaRPr>
          </a:p>
          <a:p>
            <a:pPr algn="r">
              <a:spcBef>
                <a:spcPts val="600"/>
              </a:spcBef>
            </a:pPr>
            <a:r>
              <a:rPr lang="en-US" altLang="zh-CN" sz="1200" b="1" i="1" err="1">
                <a:latin typeface="Times New Roman" panose="02020603050405020304" charset="0"/>
                <a:ea typeface="楷体_GB2312" panose="02010609030101010101" pitchFamily="49" charset="-122"/>
              </a:rPr>
              <a:t>V</a:t>
            </a:r>
            <a:r>
              <a:rPr lang="en-US" altLang="zh-CN" sz="1200" b="1" err="1">
                <a:latin typeface="Times New Roman" panose="02020603050405020304" charset="0"/>
                <a:ea typeface="楷体_GB2312" panose="02010609030101010101" pitchFamily="49" charset="-122"/>
              </a:rPr>
              <a:t>th</a:t>
            </a:r>
            <a:endParaRPr lang="en-US" altLang="zh-CN" sz="1200" b="1">
              <a:latin typeface="Times New Roman" panose="02020603050405020304" charset="0"/>
              <a:ea typeface="楷体_GB2312" panose="02010609030101010101" pitchFamily="49" charset="-122"/>
            </a:endParaRPr>
          </a:p>
          <a:p>
            <a:pPr algn="r">
              <a:spcBef>
                <a:spcPts val="600"/>
              </a:spcBef>
            </a:pPr>
            <a:r>
              <a:rPr lang="en-US" altLang="zh-CN" sz="1200" b="1">
                <a:latin typeface="Times New Roman" panose="02020603050405020304" charset="0"/>
                <a:ea typeface="楷体_GB2312" panose="02010609030101010101" pitchFamily="49" charset="-122"/>
              </a:rPr>
              <a:t>0</a:t>
            </a:r>
            <a:endParaRPr lang="en-US" altLang="zh-CN" sz="3200">
              <a:latin typeface="Times New Roman" panose="02020603050405020304" charset="0"/>
              <a:ea typeface="楷体_GB2312" panose="02010609030101010101" pitchFamily="49" charset="-122"/>
            </a:endParaRPr>
          </a:p>
        </p:txBody>
      </p:sp>
      <p:sp>
        <p:nvSpPr>
          <p:cNvPr id="162886" name="文本框 162885"/>
          <p:cNvSpPr txBox="1"/>
          <p:nvPr/>
        </p:nvSpPr>
        <p:spPr>
          <a:xfrm>
            <a:off x="4686300" y="5854700"/>
            <a:ext cx="331788" cy="839788"/>
          </a:xfrm>
          <a:prstGeom prst="rect">
            <a:avLst/>
          </a:prstGeom>
          <a:noFill/>
          <a:ln w="9525">
            <a:noFill/>
          </a:ln>
        </p:spPr>
        <p:txBody>
          <a:bodyPr lIns="0" tIns="0" rIns="0" bIns="0"/>
          <a:p>
            <a:pPr algn="r"/>
            <a:r>
              <a:rPr lang="en-US" altLang="zh-CN" b="1" i="1">
                <a:solidFill>
                  <a:srgbClr val="000099"/>
                </a:solidFill>
                <a:latin typeface="Times New Roman" panose="02020603050405020304" charset="0"/>
                <a:ea typeface="楷体_GB2312" panose="02010609030101010101" pitchFamily="49" charset="-122"/>
              </a:rPr>
              <a:t>v</a:t>
            </a:r>
            <a:r>
              <a:rPr lang="en-US" altLang="zh-CN" b="1" baseline="-25000">
                <a:solidFill>
                  <a:srgbClr val="000099"/>
                </a:solidFill>
                <a:latin typeface="Times New Roman" panose="02020603050405020304" charset="0"/>
                <a:ea typeface="楷体_GB2312" panose="02010609030101010101" pitchFamily="49" charset="-122"/>
              </a:rPr>
              <a:t>O2</a:t>
            </a:r>
            <a:endParaRPr lang="en-US" altLang="zh-CN" b="1">
              <a:solidFill>
                <a:srgbClr val="000099"/>
              </a:solidFill>
              <a:latin typeface="Times New Roman" panose="02020603050405020304" charset="0"/>
              <a:ea typeface="楷体_GB2312" panose="02010609030101010101" pitchFamily="49" charset="-122"/>
            </a:endParaRPr>
          </a:p>
          <a:p>
            <a:pPr algn="r">
              <a:spcBef>
                <a:spcPts val="400"/>
              </a:spcBef>
            </a:pPr>
            <a:r>
              <a:rPr lang="en-US" altLang="zh-CN" sz="1200" b="1" i="1">
                <a:latin typeface="Times New Roman" panose="02020603050405020304" charset="0"/>
                <a:ea typeface="楷体_GB2312" panose="02010609030101010101" pitchFamily="49" charset="-122"/>
              </a:rPr>
              <a:t>V</a:t>
            </a:r>
            <a:r>
              <a:rPr lang="en-US" altLang="zh-CN" sz="1200" b="1" baseline="-25000">
                <a:latin typeface="Times New Roman" panose="02020603050405020304" charset="0"/>
                <a:ea typeface="楷体_GB2312" panose="02010609030101010101" pitchFamily="49" charset="-122"/>
              </a:rPr>
              <a:t>DD</a:t>
            </a:r>
            <a:endParaRPr lang="en-US" altLang="zh-CN" sz="1200" b="1">
              <a:latin typeface="Times New Roman" panose="02020603050405020304" charset="0"/>
              <a:ea typeface="楷体_GB2312" panose="02010609030101010101" pitchFamily="49" charset="-122"/>
            </a:endParaRPr>
          </a:p>
          <a:p>
            <a:pPr algn="r"/>
            <a:endParaRPr lang="en-US" altLang="zh-CN" sz="1200" b="1">
              <a:latin typeface="Times New Roman" panose="02020603050405020304" charset="0"/>
              <a:ea typeface="楷体_GB2312" panose="02010609030101010101" pitchFamily="49" charset="-122"/>
            </a:endParaRPr>
          </a:p>
          <a:p>
            <a:pPr algn="r"/>
            <a:r>
              <a:rPr lang="en-US" altLang="zh-CN" sz="1200" b="1">
                <a:latin typeface="Times New Roman" panose="02020603050405020304" charset="0"/>
                <a:ea typeface="楷体_GB2312" panose="02010609030101010101" pitchFamily="49" charset="-122"/>
              </a:rPr>
              <a:t>0</a:t>
            </a:r>
            <a:endParaRPr lang="en-US" altLang="zh-CN" sz="3200">
              <a:latin typeface="Times New Roman" panose="02020603050405020304" charset="0"/>
              <a:ea typeface="楷体_GB2312" panose="02010609030101010101" pitchFamily="49" charset="-122"/>
            </a:endParaRPr>
          </a:p>
        </p:txBody>
      </p:sp>
      <p:sp>
        <p:nvSpPr>
          <p:cNvPr id="162887" name="直接连接符 162886"/>
          <p:cNvSpPr/>
          <p:nvPr/>
        </p:nvSpPr>
        <p:spPr>
          <a:xfrm flipH="1">
            <a:off x="5632450" y="4724400"/>
            <a:ext cx="9525" cy="290513"/>
          </a:xfrm>
          <a:prstGeom prst="line">
            <a:avLst/>
          </a:prstGeom>
          <a:ln w="38100" cap="flat" cmpd="sng">
            <a:solidFill>
              <a:srgbClr val="000099"/>
            </a:solidFill>
            <a:prstDash val="solid"/>
            <a:headEnd type="none" w="med" len="med"/>
            <a:tailEnd type="none" w="med" len="med"/>
          </a:ln>
        </p:spPr>
      </p:sp>
      <p:sp>
        <p:nvSpPr>
          <p:cNvPr id="162888" name="矩形 162887"/>
          <p:cNvSpPr/>
          <p:nvPr/>
        </p:nvSpPr>
        <p:spPr>
          <a:xfrm>
            <a:off x="1141413" y="5603875"/>
            <a:ext cx="404812" cy="404813"/>
          </a:xfrm>
          <a:prstGeom prst="rect">
            <a:avLst/>
          </a:prstGeom>
          <a:solidFill>
            <a:srgbClr val="66FF66">
              <a:alpha val="50000"/>
            </a:srgbClr>
          </a:solidFill>
          <a:ln w="9525">
            <a:noFill/>
          </a:ln>
        </p:spPr>
        <p:txBody>
          <a:bodyPr/>
          <a:p>
            <a:endParaRPr lang="zh-CN" altLang="en-US"/>
          </a:p>
        </p:txBody>
      </p:sp>
      <p:sp>
        <p:nvSpPr>
          <p:cNvPr id="162889" name="矩形 162888"/>
          <p:cNvSpPr/>
          <p:nvPr/>
        </p:nvSpPr>
        <p:spPr>
          <a:xfrm>
            <a:off x="3059113" y="4695825"/>
            <a:ext cx="404812" cy="404813"/>
          </a:xfrm>
          <a:prstGeom prst="rect">
            <a:avLst/>
          </a:prstGeom>
          <a:solidFill>
            <a:srgbClr val="66FF66">
              <a:alpha val="50000"/>
            </a:srgbClr>
          </a:solidFill>
          <a:ln w="9525">
            <a:noFill/>
          </a:ln>
        </p:spPr>
        <p:txBody>
          <a:bodyPr/>
          <a:p>
            <a:endParaRPr lang="zh-CN" altLang="en-US"/>
          </a:p>
        </p:txBody>
      </p:sp>
      <p:grpSp>
        <p:nvGrpSpPr>
          <p:cNvPr id="162890" name="组合 162889"/>
          <p:cNvGrpSpPr/>
          <p:nvPr/>
        </p:nvGrpSpPr>
        <p:grpSpPr>
          <a:xfrm>
            <a:off x="1522413" y="5505450"/>
            <a:ext cx="2454275" cy="1316038"/>
            <a:chOff x="4764" y="832"/>
            <a:chExt cx="1831" cy="923"/>
          </a:xfrm>
        </p:grpSpPr>
        <p:sp>
          <p:nvSpPr>
            <p:cNvPr id="162891" name="任意多边形 162890"/>
            <p:cNvSpPr/>
            <p:nvPr/>
          </p:nvSpPr>
          <p:spPr>
            <a:xfrm rot="5400000">
              <a:off x="4726" y="1357"/>
              <a:ext cx="109" cy="33"/>
            </a:xfrm>
            <a:custGeom>
              <a:avLst/>
              <a:gdLst/>
              <a:ahLst/>
              <a:cxnLst/>
              <a:pathLst>
                <a:path w="20000" h="20000">
                  <a:moveTo>
                    <a:pt x="0" y="0"/>
                  </a:moveTo>
                  <a:lnTo>
                    <a:pt x="0" y="19636"/>
                  </a:lnTo>
                  <a:lnTo>
                    <a:pt x="19910" y="10182"/>
                  </a:lnTo>
                  <a:lnTo>
                    <a:pt x="0" y="0"/>
                  </a:lnTo>
                  <a:close/>
                </a:path>
              </a:pathLst>
            </a:custGeom>
            <a:solidFill>
              <a:srgbClr val="000000">
                <a:alpha val="100000"/>
              </a:srgbClr>
            </a:solidFill>
            <a:ln w="57150" cap="flat" cmpd="sng">
              <a:solidFill>
                <a:srgbClr val="0000FF"/>
              </a:solidFill>
              <a:prstDash val="solid"/>
              <a:headEnd type="none" w="sm" len="lg"/>
              <a:tailEnd type="none" w="sm" len="lg"/>
            </a:ln>
          </p:spPr>
          <p:txBody>
            <a:bodyPr/>
            <a:p>
              <a:endParaRPr lang="zh-CN" altLang="en-US"/>
            </a:p>
          </p:txBody>
        </p:sp>
        <p:sp>
          <p:nvSpPr>
            <p:cNvPr id="162892" name="直接连接符 162891"/>
            <p:cNvSpPr/>
            <p:nvPr/>
          </p:nvSpPr>
          <p:spPr>
            <a:xfrm flipH="1" flipV="1">
              <a:off x="4925" y="1754"/>
              <a:ext cx="1670" cy="1"/>
            </a:xfrm>
            <a:prstGeom prst="line">
              <a:avLst/>
            </a:prstGeom>
            <a:ln w="57150" cap="flat" cmpd="sng">
              <a:solidFill>
                <a:srgbClr val="0000FF"/>
              </a:solidFill>
              <a:prstDash val="solid"/>
              <a:headEnd type="none" w="sm" len="lg"/>
              <a:tailEnd type="none" w="sm" len="lg"/>
            </a:ln>
          </p:spPr>
        </p:sp>
        <p:sp>
          <p:nvSpPr>
            <p:cNvPr id="162893" name="直接连接符 162892"/>
            <p:cNvSpPr/>
            <p:nvPr/>
          </p:nvSpPr>
          <p:spPr>
            <a:xfrm>
              <a:off x="4925" y="1080"/>
              <a:ext cx="1" cy="674"/>
            </a:xfrm>
            <a:prstGeom prst="line">
              <a:avLst/>
            </a:prstGeom>
            <a:ln w="57150" cap="flat" cmpd="sng">
              <a:solidFill>
                <a:srgbClr val="0000FF"/>
              </a:solidFill>
              <a:prstDash val="solid"/>
              <a:headEnd type="none" w="sm" len="lg"/>
              <a:tailEnd type="none" w="sm" len="lg"/>
            </a:ln>
          </p:spPr>
        </p:sp>
        <p:sp>
          <p:nvSpPr>
            <p:cNvPr id="162894" name="直接连接符 162893"/>
            <p:cNvSpPr/>
            <p:nvPr/>
          </p:nvSpPr>
          <p:spPr>
            <a:xfrm flipV="1">
              <a:off x="4779" y="1077"/>
              <a:ext cx="0" cy="262"/>
            </a:xfrm>
            <a:prstGeom prst="line">
              <a:avLst/>
            </a:prstGeom>
            <a:ln w="57150" cap="flat" cmpd="sng">
              <a:solidFill>
                <a:srgbClr val="0000FF"/>
              </a:solidFill>
              <a:prstDash val="solid"/>
              <a:headEnd type="none" w="sm" len="lg"/>
              <a:tailEnd type="none" w="sm" len="lg"/>
            </a:ln>
          </p:spPr>
        </p:sp>
        <p:sp>
          <p:nvSpPr>
            <p:cNvPr id="162895" name="直接连接符 162894"/>
            <p:cNvSpPr/>
            <p:nvPr/>
          </p:nvSpPr>
          <p:spPr>
            <a:xfrm>
              <a:off x="4808" y="1055"/>
              <a:ext cx="90" cy="0"/>
            </a:xfrm>
            <a:prstGeom prst="line">
              <a:avLst/>
            </a:prstGeom>
            <a:ln w="57150" cap="flat" cmpd="sng">
              <a:solidFill>
                <a:srgbClr val="0000FF"/>
              </a:solidFill>
              <a:prstDash val="solid"/>
              <a:headEnd type="none" w="med" len="med"/>
              <a:tailEnd type="none" w="med" len="med"/>
            </a:ln>
          </p:spPr>
        </p:sp>
        <p:grpSp>
          <p:nvGrpSpPr>
            <p:cNvPr id="162896" name="组合 162895"/>
            <p:cNvGrpSpPr/>
            <p:nvPr/>
          </p:nvGrpSpPr>
          <p:grpSpPr>
            <a:xfrm>
              <a:off x="6290" y="832"/>
              <a:ext cx="295" cy="922"/>
              <a:chOff x="5939" y="1252"/>
              <a:chExt cx="295" cy="922"/>
            </a:xfrm>
          </p:grpSpPr>
          <p:sp>
            <p:nvSpPr>
              <p:cNvPr id="162897" name="直接连接符 162896"/>
              <p:cNvSpPr/>
              <p:nvPr/>
            </p:nvSpPr>
            <p:spPr>
              <a:xfrm>
                <a:off x="6234" y="1303"/>
                <a:ext cx="0" cy="871"/>
              </a:xfrm>
              <a:prstGeom prst="line">
                <a:avLst/>
              </a:prstGeom>
              <a:ln w="57150" cap="flat" cmpd="sng">
                <a:solidFill>
                  <a:srgbClr val="0000FF"/>
                </a:solidFill>
                <a:prstDash val="solid"/>
                <a:headEnd type="none" w="med" len="med"/>
                <a:tailEnd type="none" w="med" len="med"/>
              </a:ln>
            </p:spPr>
          </p:sp>
          <p:sp>
            <p:nvSpPr>
              <p:cNvPr id="162898" name="任意多边形 162897"/>
              <p:cNvSpPr/>
              <p:nvPr/>
            </p:nvSpPr>
            <p:spPr>
              <a:xfrm>
                <a:off x="6177" y="1253"/>
                <a:ext cx="57" cy="69"/>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0000FF"/>
                </a:solidFill>
                <a:prstDash val="solid"/>
                <a:headEnd type="none" w="med" len="med"/>
                <a:tailEnd type="none" w="med" len="med"/>
              </a:ln>
            </p:spPr>
            <p:txBody>
              <a:bodyPr/>
              <a:p>
                <a:endParaRPr lang="zh-CN" altLang="en-US"/>
              </a:p>
            </p:txBody>
          </p:sp>
          <p:sp>
            <p:nvSpPr>
              <p:cNvPr id="162899" name="直接连接符 162898"/>
              <p:cNvSpPr/>
              <p:nvPr/>
            </p:nvSpPr>
            <p:spPr>
              <a:xfrm>
                <a:off x="5939" y="1252"/>
                <a:ext cx="243" cy="0"/>
              </a:xfrm>
              <a:prstGeom prst="line">
                <a:avLst/>
              </a:prstGeom>
              <a:ln w="57150" cap="flat" cmpd="sng">
                <a:solidFill>
                  <a:srgbClr val="0000FF"/>
                </a:solidFill>
                <a:prstDash val="solid"/>
                <a:headEnd type="none" w="med" len="med"/>
                <a:tailEnd type="none" w="med" len="med"/>
              </a:ln>
            </p:spPr>
          </p:sp>
        </p:grpSp>
        <p:sp>
          <p:nvSpPr>
            <p:cNvPr id="162900" name="任意多边形 162899"/>
            <p:cNvSpPr/>
            <p:nvPr/>
          </p:nvSpPr>
          <p:spPr>
            <a:xfrm>
              <a:off x="4898" y="1055"/>
              <a:ext cx="30" cy="29"/>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0000FF"/>
              </a:solidFill>
              <a:prstDash val="dash"/>
              <a:headEnd type="none" w="med" len="med"/>
              <a:tailEnd type="none" w="med" len="med"/>
            </a:ln>
          </p:spPr>
          <p:txBody>
            <a:bodyPr/>
            <a:p>
              <a:endParaRPr lang="zh-CN" altLang="en-US"/>
            </a:p>
          </p:txBody>
        </p:sp>
        <p:sp>
          <p:nvSpPr>
            <p:cNvPr id="162901" name="任意多边形 162900"/>
            <p:cNvSpPr/>
            <p:nvPr/>
          </p:nvSpPr>
          <p:spPr>
            <a:xfrm flipH="1">
              <a:off x="4779" y="1055"/>
              <a:ext cx="32" cy="29"/>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57150" cap="flat" cmpd="sng">
              <a:solidFill>
                <a:srgbClr val="0000FF"/>
              </a:solidFill>
              <a:prstDash val="dash"/>
              <a:headEnd type="none" w="med" len="med"/>
              <a:tailEnd type="none" w="med" len="med"/>
            </a:ln>
          </p:spPr>
          <p:txBody>
            <a:bodyPr/>
            <a:p>
              <a:endParaRPr lang="zh-CN" altLang="en-US"/>
            </a:p>
          </p:txBody>
        </p:sp>
      </p:grpSp>
      <p:grpSp>
        <p:nvGrpSpPr>
          <p:cNvPr id="162902" name="组合 162901"/>
          <p:cNvGrpSpPr/>
          <p:nvPr/>
        </p:nvGrpSpPr>
        <p:grpSpPr>
          <a:xfrm>
            <a:off x="-42862" y="4227513"/>
            <a:ext cx="4646612" cy="2640012"/>
            <a:chOff x="2483" y="657"/>
            <a:chExt cx="3147" cy="1671"/>
          </a:xfrm>
        </p:grpSpPr>
        <p:graphicFrame>
          <p:nvGraphicFramePr>
            <p:cNvPr id="162903" name="内容占位符 162902"/>
            <p:cNvGraphicFramePr/>
            <p:nvPr>
              <p:ph idx="1"/>
            </p:nvPr>
          </p:nvGraphicFramePr>
          <p:xfrm>
            <a:off x="2483" y="657"/>
            <a:ext cx="3147" cy="1671"/>
          </p:xfrm>
          <a:graphic>
            <a:graphicData uri="http://schemas.openxmlformats.org/presentationml/2006/ole">
              <mc:AlternateContent xmlns:mc="http://schemas.openxmlformats.org/markup-compatibility/2006">
                <mc:Choice xmlns:v="urn:schemas-microsoft-com:vml" Requires="v">
                  <p:oleObj spid="_x0000_s3085" name="" r:id="rId1" imgW="2919730" imgH="1551940" progId="Word.Picture.8">
                    <p:embed/>
                  </p:oleObj>
                </mc:Choice>
                <mc:Fallback>
                  <p:oleObj name="" r:id="rId1" imgW="2919730" imgH="1551940" progId="Word.Picture.8">
                    <p:embed/>
                    <p:pic>
                      <p:nvPicPr>
                        <p:cNvPr id="0" name="图片 3084"/>
                        <p:cNvPicPr/>
                        <p:nvPr/>
                      </p:nvPicPr>
                      <p:blipFill>
                        <a:blip r:embed="rId2"/>
                        <a:stretch>
                          <a:fillRect/>
                        </a:stretch>
                      </p:blipFill>
                      <p:spPr>
                        <a:xfrm>
                          <a:off x="2483" y="657"/>
                          <a:ext cx="3147" cy="1671"/>
                        </a:xfrm>
                        <a:prstGeom prst="rect">
                          <a:avLst/>
                        </a:prstGeom>
                        <a:noFill/>
                        <a:ln w="38100">
                          <a:noFill/>
                          <a:miter/>
                        </a:ln>
                      </p:spPr>
                    </p:pic>
                  </p:oleObj>
                </mc:Fallback>
              </mc:AlternateContent>
            </a:graphicData>
          </a:graphic>
        </p:graphicFrame>
        <p:sp>
          <p:nvSpPr>
            <p:cNvPr id="162904" name="文本框 162903"/>
            <p:cNvSpPr txBox="1"/>
            <p:nvPr/>
          </p:nvSpPr>
          <p:spPr>
            <a:xfrm>
              <a:off x="3986" y="2032"/>
              <a:ext cx="227" cy="142"/>
            </a:xfrm>
            <a:prstGeom prst="rect">
              <a:avLst/>
            </a:prstGeom>
            <a:noFill/>
            <a:ln w="9525">
              <a:noFill/>
            </a:ln>
          </p:spPr>
          <p:txBody>
            <a:bodyPr lIns="0" tIns="0" rIns="0" bIns="0"/>
            <a:p>
              <a:pPr algn="ctr"/>
              <a:r>
                <a:rPr lang="en-US" altLang="zh-CN" sz="1200" i="1">
                  <a:latin typeface="Times New Roman" panose="02020603050405020304" charset="0"/>
                  <a:ea typeface="楷体_GB2312" panose="02010609030101010101" pitchFamily="49" charset="-122"/>
                </a:rPr>
                <a:t>V</a:t>
              </a:r>
              <a:r>
                <a:rPr lang="en-US" altLang="zh-CN" sz="1200" baseline="-25000">
                  <a:latin typeface="Times New Roman" panose="02020603050405020304" charset="0"/>
                  <a:ea typeface="楷体_GB2312" panose="02010609030101010101" pitchFamily="49" charset="-122"/>
                </a:rPr>
                <a:t>C</a:t>
              </a:r>
              <a:endParaRPr lang="en-US" altLang="zh-CN" sz="3200">
                <a:latin typeface="Times New Roman" panose="02020603050405020304" charset="0"/>
                <a:ea typeface="楷体_GB2312" panose="02010609030101010101" pitchFamily="49" charset="-122"/>
              </a:endParaRPr>
            </a:p>
          </p:txBody>
        </p:sp>
      </p:grpSp>
      <p:sp>
        <p:nvSpPr>
          <p:cNvPr id="162905" name="椭圆 162904"/>
          <p:cNvSpPr/>
          <p:nvPr/>
        </p:nvSpPr>
        <p:spPr>
          <a:xfrm>
            <a:off x="6116638" y="4981575"/>
            <a:ext cx="90487" cy="9048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nchorCtr="0"/>
          <a:p>
            <a:pPr algn="ctr"/>
            <a:endParaRPr lang="en-GB" altLang="x-none">
              <a:latin typeface="Times New Roman" panose="02020603050405020304" charset="0"/>
              <a:ea typeface="楷体_GB2312" panose="02010609030101010101" pitchFamily="49" charset="-122"/>
            </a:endParaRPr>
          </a:p>
        </p:txBody>
      </p:sp>
      <p:sp>
        <p:nvSpPr>
          <p:cNvPr id="162906" name="直接连接符 162905"/>
          <p:cNvSpPr/>
          <p:nvPr/>
        </p:nvSpPr>
        <p:spPr>
          <a:xfrm flipV="1">
            <a:off x="144463" y="5341938"/>
            <a:ext cx="0" cy="442912"/>
          </a:xfrm>
          <a:prstGeom prst="line">
            <a:avLst/>
          </a:prstGeom>
          <a:ln w="38100" cap="flat" cmpd="sng">
            <a:solidFill>
              <a:srgbClr val="FF0000"/>
            </a:solidFill>
            <a:prstDash val="solid"/>
            <a:headEnd type="triangle" w="med" len="med"/>
            <a:tailEnd type="none" w="med" len="med"/>
          </a:ln>
        </p:spPr>
      </p:sp>
      <p:sp>
        <p:nvSpPr>
          <p:cNvPr id="162907" name="直接连接符 162906"/>
          <p:cNvSpPr/>
          <p:nvPr/>
        </p:nvSpPr>
        <p:spPr>
          <a:xfrm>
            <a:off x="6162675" y="4987925"/>
            <a:ext cx="0" cy="360363"/>
          </a:xfrm>
          <a:prstGeom prst="line">
            <a:avLst/>
          </a:prstGeom>
          <a:ln w="38100" cap="flat" cmpd="sng">
            <a:solidFill>
              <a:srgbClr val="000099"/>
            </a:solidFill>
            <a:prstDash val="solid"/>
            <a:headEnd type="none" w="med" len="med"/>
            <a:tailEnd type="none" w="med" len="med"/>
          </a:ln>
        </p:spPr>
      </p:sp>
      <p:grpSp>
        <p:nvGrpSpPr>
          <p:cNvPr id="162908" name="组合 162907"/>
          <p:cNvGrpSpPr/>
          <p:nvPr/>
        </p:nvGrpSpPr>
        <p:grpSpPr>
          <a:xfrm>
            <a:off x="6148388" y="4684713"/>
            <a:ext cx="2798762" cy="2062162"/>
            <a:chOff x="4052" y="2624"/>
            <a:chExt cx="1763" cy="1299"/>
          </a:xfrm>
        </p:grpSpPr>
        <p:sp>
          <p:nvSpPr>
            <p:cNvPr id="162909" name="任意多边形 162908"/>
            <p:cNvSpPr/>
            <p:nvPr/>
          </p:nvSpPr>
          <p:spPr>
            <a:xfrm>
              <a:off x="4052" y="2824"/>
              <a:ext cx="346" cy="207"/>
            </a:xfrm>
            <a:custGeom>
              <a:avLst/>
              <a:gdLst/>
              <a:ahLst/>
              <a:cxnLst/>
              <a:pathLst>
                <a:path w="346" h="207">
                  <a:moveTo>
                    <a:pt x="0" y="207"/>
                  </a:moveTo>
                  <a:lnTo>
                    <a:pt x="34" y="174"/>
                  </a:lnTo>
                  <a:lnTo>
                    <a:pt x="49" y="158"/>
                  </a:lnTo>
                  <a:lnTo>
                    <a:pt x="68" y="141"/>
                  </a:lnTo>
                  <a:lnTo>
                    <a:pt x="86" y="126"/>
                  </a:lnTo>
                  <a:lnTo>
                    <a:pt x="104" y="111"/>
                  </a:lnTo>
                  <a:lnTo>
                    <a:pt x="125" y="96"/>
                  </a:lnTo>
                  <a:lnTo>
                    <a:pt x="146" y="83"/>
                  </a:lnTo>
                  <a:lnTo>
                    <a:pt x="169" y="70"/>
                  </a:lnTo>
                  <a:lnTo>
                    <a:pt x="192" y="59"/>
                  </a:lnTo>
                  <a:lnTo>
                    <a:pt x="216" y="48"/>
                  </a:lnTo>
                  <a:lnTo>
                    <a:pt x="239" y="38"/>
                  </a:lnTo>
                  <a:lnTo>
                    <a:pt x="265" y="27"/>
                  </a:lnTo>
                  <a:lnTo>
                    <a:pt x="291" y="17"/>
                  </a:lnTo>
                  <a:lnTo>
                    <a:pt x="346" y="0"/>
                  </a:lnTo>
                </a:path>
              </a:pathLst>
            </a:custGeom>
            <a:noFill/>
            <a:ln w="53975" cap="flat" cmpd="sng">
              <a:solidFill>
                <a:srgbClr val="000099"/>
              </a:solidFill>
              <a:prstDash val="solid"/>
              <a:headEnd type="none" w="med" len="med"/>
              <a:tailEnd type="none" w="med" len="med"/>
            </a:ln>
          </p:spPr>
          <p:txBody>
            <a:bodyPr/>
            <a:p>
              <a:endParaRPr lang="zh-CN" altLang="en-US"/>
            </a:p>
          </p:txBody>
        </p:sp>
        <p:grpSp>
          <p:nvGrpSpPr>
            <p:cNvPr id="162910" name="组合 162909"/>
            <p:cNvGrpSpPr/>
            <p:nvPr/>
          </p:nvGrpSpPr>
          <p:grpSpPr>
            <a:xfrm>
              <a:off x="4375" y="2624"/>
              <a:ext cx="1440" cy="1299"/>
              <a:chOff x="4199" y="2624"/>
              <a:chExt cx="1440" cy="1299"/>
            </a:xfrm>
          </p:grpSpPr>
          <p:sp>
            <p:nvSpPr>
              <p:cNvPr id="162911" name="矩形 162910"/>
              <p:cNvSpPr/>
              <p:nvPr/>
            </p:nvSpPr>
            <p:spPr>
              <a:xfrm>
                <a:off x="5583" y="2976"/>
                <a:ext cx="22" cy="96"/>
              </a:xfrm>
              <a:prstGeom prst="rect">
                <a:avLst/>
              </a:prstGeom>
              <a:noFill/>
              <a:ln w="9525">
                <a:noFill/>
              </a:ln>
            </p:spPr>
            <p:txBody>
              <a:bodyPr wrap="none" lIns="0" tIns="0" rIns="0" bIns="0">
                <a:spAutoFit/>
              </a:bodyPr>
              <a:p>
                <a:pPr>
                  <a:spcBef>
                    <a:spcPct val="50000"/>
                  </a:spcBef>
                </a:pPr>
                <a:r>
                  <a:rPr lang="en-US" altLang="zh-CN" sz="1000" b="1" i="1">
                    <a:solidFill>
                      <a:srgbClr val="000000"/>
                    </a:solidFill>
                    <a:latin typeface="Times New Roman" panose="02020603050405020304" charset="0"/>
                    <a:ea typeface="楷体_GB2312" panose="02010609030101010101" pitchFamily="49" charset="-122"/>
                  </a:rPr>
                  <a:t>t</a:t>
                </a:r>
                <a:endParaRPr lang="en-US" altLang="zh-CN" sz="2400" b="1">
                  <a:solidFill>
                    <a:srgbClr val="FF0000"/>
                  </a:solidFill>
                  <a:latin typeface="Times New Roman" panose="02020603050405020304" charset="0"/>
                  <a:ea typeface="楷体_GB2312" panose="02010609030101010101" pitchFamily="49" charset="-122"/>
                </a:endParaRPr>
              </a:p>
            </p:txBody>
          </p:sp>
          <p:sp>
            <p:nvSpPr>
              <p:cNvPr id="162912" name="任意多边形 162911"/>
              <p:cNvSpPr/>
              <p:nvPr/>
            </p:nvSpPr>
            <p:spPr>
              <a:xfrm>
                <a:off x="5467" y="2982"/>
                <a:ext cx="172" cy="24"/>
              </a:xfrm>
              <a:custGeom>
                <a:avLst/>
                <a:gdLst/>
                <a:ahLst/>
                <a:cxnLst/>
                <a:pathLst>
                  <a:path w="172" h="24">
                    <a:moveTo>
                      <a:pt x="0" y="24"/>
                    </a:moveTo>
                    <a:lnTo>
                      <a:pt x="0" y="0"/>
                    </a:lnTo>
                    <a:lnTo>
                      <a:pt x="172" y="12"/>
                    </a:lnTo>
                    <a:lnTo>
                      <a:pt x="0" y="24"/>
                    </a:lnTo>
                    <a:close/>
                  </a:path>
                </a:pathLst>
              </a:custGeom>
              <a:solidFill>
                <a:srgbClr val="000000"/>
              </a:solidFill>
              <a:ln w="9525">
                <a:noFill/>
              </a:ln>
            </p:spPr>
            <p:txBody>
              <a:bodyPr/>
              <a:p>
                <a:endParaRPr lang="zh-CN" altLang="en-US"/>
              </a:p>
            </p:txBody>
          </p:sp>
          <p:sp>
            <p:nvSpPr>
              <p:cNvPr id="162913" name="任意多边形 162912"/>
              <p:cNvSpPr/>
              <p:nvPr/>
            </p:nvSpPr>
            <p:spPr>
              <a:xfrm>
                <a:off x="5427" y="2982"/>
                <a:ext cx="172" cy="24"/>
              </a:xfrm>
              <a:custGeom>
                <a:avLst/>
                <a:gdLst/>
                <a:ahLst/>
                <a:cxnLst/>
                <a:pathLst>
                  <a:path w="172" h="24">
                    <a:moveTo>
                      <a:pt x="0" y="24"/>
                    </a:moveTo>
                    <a:lnTo>
                      <a:pt x="0" y="0"/>
                    </a:lnTo>
                    <a:lnTo>
                      <a:pt x="172" y="12"/>
                    </a:lnTo>
                    <a:lnTo>
                      <a:pt x="0" y="24"/>
                    </a:lnTo>
                    <a:close/>
                  </a:path>
                </a:pathLst>
              </a:custGeom>
              <a:noFill/>
              <a:ln w="7938" cap="flat" cmpd="sng">
                <a:solidFill>
                  <a:srgbClr val="000099"/>
                </a:solidFill>
                <a:prstDash val="solid"/>
                <a:headEnd type="none" w="med" len="med"/>
                <a:tailEnd type="none" w="med" len="med"/>
              </a:ln>
            </p:spPr>
            <p:txBody>
              <a:bodyPr/>
              <a:p>
                <a:endParaRPr lang="zh-CN" altLang="en-US"/>
              </a:p>
            </p:txBody>
          </p:sp>
          <p:sp>
            <p:nvSpPr>
              <p:cNvPr id="162914" name="任意多边形 162913"/>
              <p:cNvSpPr>
                <a:spLocks noEditPoints="1"/>
              </p:cNvSpPr>
              <p:nvPr/>
            </p:nvSpPr>
            <p:spPr>
              <a:xfrm>
                <a:off x="4201" y="2686"/>
                <a:ext cx="19" cy="1029"/>
              </a:xfrm>
              <a:custGeom>
                <a:avLst/>
                <a:gdLst/>
                <a:ahLst/>
                <a:cxnLst/>
                <a:pathLst>
                  <a:path w="19" h="1029">
                    <a:moveTo>
                      <a:pt x="0" y="1025"/>
                    </a:moveTo>
                    <a:lnTo>
                      <a:pt x="0" y="1001"/>
                    </a:lnTo>
                    <a:lnTo>
                      <a:pt x="3" y="1000"/>
                    </a:lnTo>
                    <a:lnTo>
                      <a:pt x="3" y="998"/>
                    </a:lnTo>
                    <a:lnTo>
                      <a:pt x="6" y="997"/>
                    </a:lnTo>
                    <a:lnTo>
                      <a:pt x="11" y="997"/>
                    </a:lnTo>
                    <a:lnTo>
                      <a:pt x="13" y="997"/>
                    </a:lnTo>
                    <a:lnTo>
                      <a:pt x="16" y="998"/>
                    </a:lnTo>
                    <a:lnTo>
                      <a:pt x="16" y="1000"/>
                    </a:lnTo>
                    <a:lnTo>
                      <a:pt x="19" y="1001"/>
                    </a:lnTo>
                    <a:lnTo>
                      <a:pt x="19" y="1025"/>
                    </a:lnTo>
                    <a:lnTo>
                      <a:pt x="16" y="1026"/>
                    </a:lnTo>
                    <a:lnTo>
                      <a:pt x="16" y="1027"/>
                    </a:lnTo>
                    <a:lnTo>
                      <a:pt x="13" y="1029"/>
                    </a:lnTo>
                    <a:lnTo>
                      <a:pt x="11" y="1029"/>
                    </a:lnTo>
                    <a:lnTo>
                      <a:pt x="6" y="1029"/>
                    </a:lnTo>
                    <a:lnTo>
                      <a:pt x="3" y="1027"/>
                    </a:lnTo>
                    <a:lnTo>
                      <a:pt x="3" y="1026"/>
                    </a:lnTo>
                    <a:lnTo>
                      <a:pt x="0" y="1025"/>
                    </a:lnTo>
                    <a:lnTo>
                      <a:pt x="0" y="1025"/>
                    </a:lnTo>
                    <a:close/>
                    <a:moveTo>
                      <a:pt x="0" y="969"/>
                    </a:moveTo>
                    <a:lnTo>
                      <a:pt x="0" y="945"/>
                    </a:lnTo>
                    <a:lnTo>
                      <a:pt x="3" y="944"/>
                    </a:lnTo>
                    <a:lnTo>
                      <a:pt x="3" y="943"/>
                    </a:lnTo>
                    <a:lnTo>
                      <a:pt x="6" y="941"/>
                    </a:lnTo>
                    <a:lnTo>
                      <a:pt x="11" y="941"/>
                    </a:lnTo>
                    <a:lnTo>
                      <a:pt x="13" y="941"/>
                    </a:lnTo>
                    <a:lnTo>
                      <a:pt x="16" y="943"/>
                    </a:lnTo>
                    <a:lnTo>
                      <a:pt x="16" y="944"/>
                    </a:lnTo>
                    <a:lnTo>
                      <a:pt x="19" y="945"/>
                    </a:lnTo>
                    <a:lnTo>
                      <a:pt x="19" y="969"/>
                    </a:lnTo>
                    <a:lnTo>
                      <a:pt x="16" y="971"/>
                    </a:lnTo>
                    <a:lnTo>
                      <a:pt x="16" y="972"/>
                    </a:lnTo>
                    <a:lnTo>
                      <a:pt x="13" y="973"/>
                    </a:lnTo>
                    <a:lnTo>
                      <a:pt x="11" y="973"/>
                    </a:lnTo>
                    <a:lnTo>
                      <a:pt x="6" y="973"/>
                    </a:lnTo>
                    <a:lnTo>
                      <a:pt x="3" y="972"/>
                    </a:lnTo>
                    <a:lnTo>
                      <a:pt x="3" y="971"/>
                    </a:lnTo>
                    <a:lnTo>
                      <a:pt x="0" y="969"/>
                    </a:lnTo>
                    <a:lnTo>
                      <a:pt x="0" y="969"/>
                    </a:lnTo>
                    <a:close/>
                    <a:moveTo>
                      <a:pt x="0" y="914"/>
                    </a:moveTo>
                    <a:lnTo>
                      <a:pt x="0" y="890"/>
                    </a:lnTo>
                    <a:lnTo>
                      <a:pt x="3" y="888"/>
                    </a:lnTo>
                    <a:lnTo>
                      <a:pt x="3" y="887"/>
                    </a:lnTo>
                    <a:lnTo>
                      <a:pt x="6" y="887"/>
                    </a:lnTo>
                    <a:lnTo>
                      <a:pt x="11" y="886"/>
                    </a:lnTo>
                    <a:lnTo>
                      <a:pt x="13" y="887"/>
                    </a:lnTo>
                    <a:lnTo>
                      <a:pt x="16" y="887"/>
                    </a:lnTo>
                    <a:lnTo>
                      <a:pt x="16" y="888"/>
                    </a:lnTo>
                    <a:lnTo>
                      <a:pt x="19" y="890"/>
                    </a:lnTo>
                    <a:lnTo>
                      <a:pt x="19" y="914"/>
                    </a:lnTo>
                    <a:lnTo>
                      <a:pt x="16" y="915"/>
                    </a:lnTo>
                    <a:lnTo>
                      <a:pt x="16" y="916"/>
                    </a:lnTo>
                    <a:lnTo>
                      <a:pt x="13" y="917"/>
                    </a:lnTo>
                    <a:lnTo>
                      <a:pt x="11" y="917"/>
                    </a:lnTo>
                    <a:lnTo>
                      <a:pt x="6" y="917"/>
                    </a:lnTo>
                    <a:lnTo>
                      <a:pt x="3" y="916"/>
                    </a:lnTo>
                    <a:lnTo>
                      <a:pt x="3" y="915"/>
                    </a:lnTo>
                    <a:lnTo>
                      <a:pt x="0" y="914"/>
                    </a:lnTo>
                    <a:lnTo>
                      <a:pt x="0" y="914"/>
                    </a:lnTo>
                    <a:close/>
                    <a:moveTo>
                      <a:pt x="3" y="858"/>
                    </a:moveTo>
                    <a:lnTo>
                      <a:pt x="3" y="835"/>
                    </a:lnTo>
                    <a:lnTo>
                      <a:pt x="3" y="833"/>
                    </a:lnTo>
                    <a:lnTo>
                      <a:pt x="3" y="831"/>
                    </a:lnTo>
                    <a:lnTo>
                      <a:pt x="6" y="831"/>
                    </a:lnTo>
                    <a:lnTo>
                      <a:pt x="11" y="831"/>
                    </a:lnTo>
                    <a:lnTo>
                      <a:pt x="13" y="831"/>
                    </a:lnTo>
                    <a:lnTo>
                      <a:pt x="16" y="831"/>
                    </a:lnTo>
                    <a:lnTo>
                      <a:pt x="19" y="833"/>
                    </a:lnTo>
                    <a:lnTo>
                      <a:pt x="19" y="835"/>
                    </a:lnTo>
                    <a:lnTo>
                      <a:pt x="19" y="858"/>
                    </a:lnTo>
                    <a:lnTo>
                      <a:pt x="19" y="860"/>
                    </a:lnTo>
                    <a:lnTo>
                      <a:pt x="16" y="862"/>
                    </a:lnTo>
                    <a:lnTo>
                      <a:pt x="13" y="862"/>
                    </a:lnTo>
                    <a:lnTo>
                      <a:pt x="11" y="863"/>
                    </a:lnTo>
                    <a:lnTo>
                      <a:pt x="6" y="862"/>
                    </a:lnTo>
                    <a:lnTo>
                      <a:pt x="3" y="862"/>
                    </a:lnTo>
                    <a:lnTo>
                      <a:pt x="3" y="860"/>
                    </a:lnTo>
                    <a:lnTo>
                      <a:pt x="3" y="858"/>
                    </a:lnTo>
                    <a:lnTo>
                      <a:pt x="3" y="858"/>
                    </a:lnTo>
                    <a:close/>
                    <a:moveTo>
                      <a:pt x="3" y="804"/>
                    </a:moveTo>
                    <a:lnTo>
                      <a:pt x="3" y="779"/>
                    </a:lnTo>
                    <a:lnTo>
                      <a:pt x="3" y="778"/>
                    </a:lnTo>
                    <a:lnTo>
                      <a:pt x="3" y="777"/>
                    </a:lnTo>
                    <a:lnTo>
                      <a:pt x="6" y="776"/>
                    </a:lnTo>
                    <a:lnTo>
                      <a:pt x="11" y="776"/>
                    </a:lnTo>
                    <a:lnTo>
                      <a:pt x="13" y="776"/>
                    </a:lnTo>
                    <a:lnTo>
                      <a:pt x="16" y="777"/>
                    </a:lnTo>
                    <a:lnTo>
                      <a:pt x="19" y="778"/>
                    </a:lnTo>
                    <a:lnTo>
                      <a:pt x="19" y="779"/>
                    </a:lnTo>
                    <a:lnTo>
                      <a:pt x="19" y="804"/>
                    </a:lnTo>
                    <a:lnTo>
                      <a:pt x="19" y="805"/>
                    </a:lnTo>
                    <a:lnTo>
                      <a:pt x="16" y="806"/>
                    </a:lnTo>
                    <a:lnTo>
                      <a:pt x="13" y="807"/>
                    </a:lnTo>
                    <a:lnTo>
                      <a:pt x="11" y="807"/>
                    </a:lnTo>
                    <a:lnTo>
                      <a:pt x="6" y="807"/>
                    </a:lnTo>
                    <a:lnTo>
                      <a:pt x="3" y="806"/>
                    </a:lnTo>
                    <a:lnTo>
                      <a:pt x="3" y="805"/>
                    </a:lnTo>
                    <a:lnTo>
                      <a:pt x="3" y="804"/>
                    </a:lnTo>
                    <a:lnTo>
                      <a:pt x="3" y="804"/>
                    </a:lnTo>
                    <a:close/>
                    <a:moveTo>
                      <a:pt x="3" y="748"/>
                    </a:moveTo>
                    <a:lnTo>
                      <a:pt x="3" y="724"/>
                    </a:lnTo>
                    <a:lnTo>
                      <a:pt x="3" y="723"/>
                    </a:lnTo>
                    <a:lnTo>
                      <a:pt x="3" y="721"/>
                    </a:lnTo>
                    <a:lnTo>
                      <a:pt x="6" y="720"/>
                    </a:lnTo>
                    <a:lnTo>
                      <a:pt x="11" y="720"/>
                    </a:lnTo>
                    <a:lnTo>
                      <a:pt x="13" y="720"/>
                    </a:lnTo>
                    <a:lnTo>
                      <a:pt x="16" y="721"/>
                    </a:lnTo>
                    <a:lnTo>
                      <a:pt x="19" y="723"/>
                    </a:lnTo>
                    <a:lnTo>
                      <a:pt x="19" y="724"/>
                    </a:lnTo>
                    <a:lnTo>
                      <a:pt x="19" y="748"/>
                    </a:lnTo>
                    <a:lnTo>
                      <a:pt x="19" y="749"/>
                    </a:lnTo>
                    <a:lnTo>
                      <a:pt x="16" y="750"/>
                    </a:lnTo>
                    <a:lnTo>
                      <a:pt x="13" y="752"/>
                    </a:lnTo>
                    <a:lnTo>
                      <a:pt x="11" y="752"/>
                    </a:lnTo>
                    <a:lnTo>
                      <a:pt x="6" y="752"/>
                    </a:lnTo>
                    <a:lnTo>
                      <a:pt x="3" y="750"/>
                    </a:lnTo>
                    <a:lnTo>
                      <a:pt x="3" y="749"/>
                    </a:lnTo>
                    <a:lnTo>
                      <a:pt x="3" y="748"/>
                    </a:lnTo>
                    <a:lnTo>
                      <a:pt x="3" y="748"/>
                    </a:lnTo>
                    <a:close/>
                    <a:moveTo>
                      <a:pt x="3" y="692"/>
                    </a:moveTo>
                    <a:lnTo>
                      <a:pt x="3" y="668"/>
                    </a:lnTo>
                    <a:lnTo>
                      <a:pt x="3" y="667"/>
                    </a:lnTo>
                    <a:lnTo>
                      <a:pt x="6" y="666"/>
                    </a:lnTo>
                    <a:lnTo>
                      <a:pt x="8" y="666"/>
                    </a:lnTo>
                    <a:lnTo>
                      <a:pt x="11" y="664"/>
                    </a:lnTo>
                    <a:lnTo>
                      <a:pt x="13" y="666"/>
                    </a:lnTo>
                    <a:lnTo>
                      <a:pt x="16" y="666"/>
                    </a:lnTo>
                    <a:lnTo>
                      <a:pt x="19" y="667"/>
                    </a:lnTo>
                    <a:lnTo>
                      <a:pt x="19" y="668"/>
                    </a:lnTo>
                    <a:lnTo>
                      <a:pt x="19" y="692"/>
                    </a:lnTo>
                    <a:lnTo>
                      <a:pt x="19" y="693"/>
                    </a:lnTo>
                    <a:lnTo>
                      <a:pt x="16" y="695"/>
                    </a:lnTo>
                    <a:lnTo>
                      <a:pt x="13" y="696"/>
                    </a:lnTo>
                    <a:lnTo>
                      <a:pt x="11" y="696"/>
                    </a:lnTo>
                    <a:lnTo>
                      <a:pt x="8" y="696"/>
                    </a:lnTo>
                    <a:lnTo>
                      <a:pt x="6" y="695"/>
                    </a:lnTo>
                    <a:lnTo>
                      <a:pt x="3" y="693"/>
                    </a:lnTo>
                    <a:lnTo>
                      <a:pt x="3" y="692"/>
                    </a:lnTo>
                    <a:lnTo>
                      <a:pt x="3" y="692"/>
                    </a:lnTo>
                    <a:close/>
                    <a:moveTo>
                      <a:pt x="3" y="637"/>
                    </a:moveTo>
                    <a:lnTo>
                      <a:pt x="3" y="614"/>
                    </a:lnTo>
                    <a:lnTo>
                      <a:pt x="3" y="611"/>
                    </a:lnTo>
                    <a:lnTo>
                      <a:pt x="6" y="610"/>
                    </a:lnTo>
                    <a:lnTo>
                      <a:pt x="8" y="610"/>
                    </a:lnTo>
                    <a:lnTo>
                      <a:pt x="11" y="610"/>
                    </a:lnTo>
                    <a:lnTo>
                      <a:pt x="13" y="610"/>
                    </a:lnTo>
                    <a:lnTo>
                      <a:pt x="16" y="610"/>
                    </a:lnTo>
                    <a:lnTo>
                      <a:pt x="19" y="611"/>
                    </a:lnTo>
                    <a:lnTo>
                      <a:pt x="19" y="614"/>
                    </a:lnTo>
                    <a:lnTo>
                      <a:pt x="19" y="637"/>
                    </a:lnTo>
                    <a:lnTo>
                      <a:pt x="19" y="639"/>
                    </a:lnTo>
                    <a:lnTo>
                      <a:pt x="16" y="640"/>
                    </a:lnTo>
                    <a:lnTo>
                      <a:pt x="13" y="640"/>
                    </a:lnTo>
                    <a:lnTo>
                      <a:pt x="11" y="642"/>
                    </a:lnTo>
                    <a:lnTo>
                      <a:pt x="8" y="640"/>
                    </a:lnTo>
                    <a:lnTo>
                      <a:pt x="6" y="640"/>
                    </a:lnTo>
                    <a:lnTo>
                      <a:pt x="3" y="639"/>
                    </a:lnTo>
                    <a:lnTo>
                      <a:pt x="3" y="637"/>
                    </a:lnTo>
                    <a:lnTo>
                      <a:pt x="3" y="637"/>
                    </a:lnTo>
                    <a:close/>
                    <a:moveTo>
                      <a:pt x="3" y="582"/>
                    </a:moveTo>
                    <a:lnTo>
                      <a:pt x="3" y="558"/>
                    </a:lnTo>
                    <a:lnTo>
                      <a:pt x="3" y="557"/>
                    </a:lnTo>
                    <a:lnTo>
                      <a:pt x="6" y="556"/>
                    </a:lnTo>
                    <a:lnTo>
                      <a:pt x="8" y="554"/>
                    </a:lnTo>
                    <a:lnTo>
                      <a:pt x="11" y="554"/>
                    </a:lnTo>
                    <a:lnTo>
                      <a:pt x="13" y="554"/>
                    </a:lnTo>
                    <a:lnTo>
                      <a:pt x="16" y="556"/>
                    </a:lnTo>
                    <a:lnTo>
                      <a:pt x="19" y="557"/>
                    </a:lnTo>
                    <a:lnTo>
                      <a:pt x="19" y="558"/>
                    </a:lnTo>
                    <a:lnTo>
                      <a:pt x="19" y="582"/>
                    </a:lnTo>
                    <a:lnTo>
                      <a:pt x="19" y="583"/>
                    </a:lnTo>
                    <a:lnTo>
                      <a:pt x="16" y="585"/>
                    </a:lnTo>
                    <a:lnTo>
                      <a:pt x="13" y="586"/>
                    </a:lnTo>
                    <a:lnTo>
                      <a:pt x="11" y="586"/>
                    </a:lnTo>
                    <a:lnTo>
                      <a:pt x="8" y="586"/>
                    </a:lnTo>
                    <a:lnTo>
                      <a:pt x="6" y="585"/>
                    </a:lnTo>
                    <a:lnTo>
                      <a:pt x="3" y="583"/>
                    </a:lnTo>
                    <a:lnTo>
                      <a:pt x="3" y="582"/>
                    </a:lnTo>
                    <a:lnTo>
                      <a:pt x="3" y="582"/>
                    </a:lnTo>
                    <a:close/>
                    <a:moveTo>
                      <a:pt x="3" y="526"/>
                    </a:moveTo>
                    <a:lnTo>
                      <a:pt x="3" y="502"/>
                    </a:lnTo>
                    <a:lnTo>
                      <a:pt x="3" y="501"/>
                    </a:lnTo>
                    <a:lnTo>
                      <a:pt x="6" y="500"/>
                    </a:lnTo>
                    <a:lnTo>
                      <a:pt x="8" y="499"/>
                    </a:lnTo>
                    <a:lnTo>
                      <a:pt x="11" y="499"/>
                    </a:lnTo>
                    <a:lnTo>
                      <a:pt x="13" y="499"/>
                    </a:lnTo>
                    <a:lnTo>
                      <a:pt x="16" y="500"/>
                    </a:lnTo>
                    <a:lnTo>
                      <a:pt x="19" y="501"/>
                    </a:lnTo>
                    <a:lnTo>
                      <a:pt x="19" y="502"/>
                    </a:lnTo>
                    <a:lnTo>
                      <a:pt x="19" y="526"/>
                    </a:lnTo>
                    <a:lnTo>
                      <a:pt x="19" y="528"/>
                    </a:lnTo>
                    <a:lnTo>
                      <a:pt x="16" y="529"/>
                    </a:lnTo>
                    <a:lnTo>
                      <a:pt x="13" y="530"/>
                    </a:lnTo>
                    <a:lnTo>
                      <a:pt x="11" y="530"/>
                    </a:lnTo>
                    <a:lnTo>
                      <a:pt x="8" y="530"/>
                    </a:lnTo>
                    <a:lnTo>
                      <a:pt x="6" y="529"/>
                    </a:lnTo>
                    <a:lnTo>
                      <a:pt x="3" y="528"/>
                    </a:lnTo>
                    <a:lnTo>
                      <a:pt x="3" y="526"/>
                    </a:lnTo>
                    <a:lnTo>
                      <a:pt x="3" y="526"/>
                    </a:lnTo>
                    <a:close/>
                    <a:moveTo>
                      <a:pt x="3" y="471"/>
                    </a:moveTo>
                    <a:lnTo>
                      <a:pt x="3" y="447"/>
                    </a:lnTo>
                    <a:lnTo>
                      <a:pt x="3" y="446"/>
                    </a:lnTo>
                    <a:lnTo>
                      <a:pt x="6" y="444"/>
                    </a:lnTo>
                    <a:lnTo>
                      <a:pt x="8" y="444"/>
                    </a:lnTo>
                    <a:lnTo>
                      <a:pt x="11" y="443"/>
                    </a:lnTo>
                    <a:lnTo>
                      <a:pt x="13" y="444"/>
                    </a:lnTo>
                    <a:lnTo>
                      <a:pt x="16" y="444"/>
                    </a:lnTo>
                    <a:lnTo>
                      <a:pt x="19" y="446"/>
                    </a:lnTo>
                    <a:lnTo>
                      <a:pt x="19" y="447"/>
                    </a:lnTo>
                    <a:lnTo>
                      <a:pt x="19" y="471"/>
                    </a:lnTo>
                    <a:lnTo>
                      <a:pt x="19" y="472"/>
                    </a:lnTo>
                    <a:lnTo>
                      <a:pt x="16" y="473"/>
                    </a:lnTo>
                    <a:lnTo>
                      <a:pt x="13" y="475"/>
                    </a:lnTo>
                    <a:lnTo>
                      <a:pt x="11" y="475"/>
                    </a:lnTo>
                    <a:lnTo>
                      <a:pt x="8" y="475"/>
                    </a:lnTo>
                    <a:lnTo>
                      <a:pt x="6" y="473"/>
                    </a:lnTo>
                    <a:lnTo>
                      <a:pt x="3" y="472"/>
                    </a:lnTo>
                    <a:lnTo>
                      <a:pt x="3" y="471"/>
                    </a:lnTo>
                    <a:lnTo>
                      <a:pt x="3" y="471"/>
                    </a:lnTo>
                    <a:close/>
                    <a:moveTo>
                      <a:pt x="3" y="415"/>
                    </a:moveTo>
                    <a:lnTo>
                      <a:pt x="3" y="392"/>
                    </a:lnTo>
                    <a:lnTo>
                      <a:pt x="3" y="390"/>
                    </a:lnTo>
                    <a:lnTo>
                      <a:pt x="6" y="389"/>
                    </a:lnTo>
                    <a:lnTo>
                      <a:pt x="8" y="389"/>
                    </a:lnTo>
                    <a:lnTo>
                      <a:pt x="11" y="389"/>
                    </a:lnTo>
                    <a:lnTo>
                      <a:pt x="13" y="389"/>
                    </a:lnTo>
                    <a:lnTo>
                      <a:pt x="16" y="389"/>
                    </a:lnTo>
                    <a:lnTo>
                      <a:pt x="19" y="390"/>
                    </a:lnTo>
                    <a:lnTo>
                      <a:pt x="19" y="392"/>
                    </a:lnTo>
                    <a:lnTo>
                      <a:pt x="19" y="415"/>
                    </a:lnTo>
                    <a:lnTo>
                      <a:pt x="19" y="418"/>
                    </a:lnTo>
                    <a:lnTo>
                      <a:pt x="16" y="419"/>
                    </a:lnTo>
                    <a:lnTo>
                      <a:pt x="13" y="419"/>
                    </a:lnTo>
                    <a:lnTo>
                      <a:pt x="11" y="420"/>
                    </a:lnTo>
                    <a:lnTo>
                      <a:pt x="8" y="419"/>
                    </a:lnTo>
                    <a:lnTo>
                      <a:pt x="6" y="419"/>
                    </a:lnTo>
                    <a:lnTo>
                      <a:pt x="3" y="418"/>
                    </a:lnTo>
                    <a:lnTo>
                      <a:pt x="3" y="415"/>
                    </a:lnTo>
                    <a:lnTo>
                      <a:pt x="3" y="415"/>
                    </a:lnTo>
                    <a:close/>
                    <a:moveTo>
                      <a:pt x="3" y="361"/>
                    </a:moveTo>
                    <a:lnTo>
                      <a:pt x="3" y="337"/>
                    </a:lnTo>
                    <a:lnTo>
                      <a:pt x="3" y="335"/>
                    </a:lnTo>
                    <a:lnTo>
                      <a:pt x="6" y="334"/>
                    </a:lnTo>
                    <a:lnTo>
                      <a:pt x="8" y="333"/>
                    </a:lnTo>
                    <a:lnTo>
                      <a:pt x="11" y="333"/>
                    </a:lnTo>
                    <a:lnTo>
                      <a:pt x="13" y="333"/>
                    </a:lnTo>
                    <a:lnTo>
                      <a:pt x="16" y="334"/>
                    </a:lnTo>
                    <a:lnTo>
                      <a:pt x="19" y="335"/>
                    </a:lnTo>
                    <a:lnTo>
                      <a:pt x="19" y="337"/>
                    </a:lnTo>
                    <a:lnTo>
                      <a:pt x="19" y="361"/>
                    </a:lnTo>
                    <a:lnTo>
                      <a:pt x="19" y="362"/>
                    </a:lnTo>
                    <a:lnTo>
                      <a:pt x="16" y="363"/>
                    </a:lnTo>
                    <a:lnTo>
                      <a:pt x="13" y="365"/>
                    </a:lnTo>
                    <a:lnTo>
                      <a:pt x="11" y="365"/>
                    </a:lnTo>
                    <a:lnTo>
                      <a:pt x="8" y="365"/>
                    </a:lnTo>
                    <a:lnTo>
                      <a:pt x="6" y="363"/>
                    </a:lnTo>
                    <a:lnTo>
                      <a:pt x="3" y="362"/>
                    </a:lnTo>
                    <a:lnTo>
                      <a:pt x="3" y="361"/>
                    </a:lnTo>
                    <a:lnTo>
                      <a:pt x="3" y="361"/>
                    </a:lnTo>
                    <a:close/>
                    <a:moveTo>
                      <a:pt x="3" y="305"/>
                    </a:moveTo>
                    <a:lnTo>
                      <a:pt x="3" y="281"/>
                    </a:lnTo>
                    <a:lnTo>
                      <a:pt x="3" y="280"/>
                    </a:lnTo>
                    <a:lnTo>
                      <a:pt x="6" y="279"/>
                    </a:lnTo>
                    <a:lnTo>
                      <a:pt x="8" y="277"/>
                    </a:lnTo>
                    <a:lnTo>
                      <a:pt x="11" y="277"/>
                    </a:lnTo>
                    <a:lnTo>
                      <a:pt x="13" y="277"/>
                    </a:lnTo>
                    <a:lnTo>
                      <a:pt x="16" y="279"/>
                    </a:lnTo>
                    <a:lnTo>
                      <a:pt x="19" y="280"/>
                    </a:lnTo>
                    <a:lnTo>
                      <a:pt x="19" y="281"/>
                    </a:lnTo>
                    <a:lnTo>
                      <a:pt x="19" y="305"/>
                    </a:lnTo>
                    <a:lnTo>
                      <a:pt x="19" y="306"/>
                    </a:lnTo>
                    <a:lnTo>
                      <a:pt x="16" y="308"/>
                    </a:lnTo>
                    <a:lnTo>
                      <a:pt x="13" y="309"/>
                    </a:lnTo>
                    <a:lnTo>
                      <a:pt x="11" y="309"/>
                    </a:lnTo>
                    <a:lnTo>
                      <a:pt x="8" y="309"/>
                    </a:lnTo>
                    <a:lnTo>
                      <a:pt x="6" y="308"/>
                    </a:lnTo>
                    <a:lnTo>
                      <a:pt x="3" y="306"/>
                    </a:lnTo>
                    <a:lnTo>
                      <a:pt x="3" y="305"/>
                    </a:lnTo>
                    <a:lnTo>
                      <a:pt x="3" y="305"/>
                    </a:lnTo>
                    <a:close/>
                    <a:moveTo>
                      <a:pt x="3" y="249"/>
                    </a:moveTo>
                    <a:lnTo>
                      <a:pt x="3" y="225"/>
                    </a:lnTo>
                    <a:lnTo>
                      <a:pt x="3" y="224"/>
                    </a:lnTo>
                    <a:lnTo>
                      <a:pt x="6" y="223"/>
                    </a:lnTo>
                    <a:lnTo>
                      <a:pt x="8" y="223"/>
                    </a:lnTo>
                    <a:lnTo>
                      <a:pt x="11" y="222"/>
                    </a:lnTo>
                    <a:lnTo>
                      <a:pt x="13" y="223"/>
                    </a:lnTo>
                    <a:lnTo>
                      <a:pt x="16" y="223"/>
                    </a:lnTo>
                    <a:lnTo>
                      <a:pt x="19" y="224"/>
                    </a:lnTo>
                    <a:lnTo>
                      <a:pt x="19" y="225"/>
                    </a:lnTo>
                    <a:lnTo>
                      <a:pt x="19" y="249"/>
                    </a:lnTo>
                    <a:lnTo>
                      <a:pt x="19" y="251"/>
                    </a:lnTo>
                    <a:lnTo>
                      <a:pt x="16" y="252"/>
                    </a:lnTo>
                    <a:lnTo>
                      <a:pt x="13" y="253"/>
                    </a:lnTo>
                    <a:lnTo>
                      <a:pt x="11" y="253"/>
                    </a:lnTo>
                    <a:lnTo>
                      <a:pt x="8" y="253"/>
                    </a:lnTo>
                    <a:lnTo>
                      <a:pt x="6" y="252"/>
                    </a:lnTo>
                    <a:lnTo>
                      <a:pt x="3" y="251"/>
                    </a:lnTo>
                    <a:lnTo>
                      <a:pt x="3" y="249"/>
                    </a:lnTo>
                    <a:lnTo>
                      <a:pt x="3" y="249"/>
                    </a:lnTo>
                    <a:close/>
                    <a:moveTo>
                      <a:pt x="3" y="194"/>
                    </a:moveTo>
                    <a:lnTo>
                      <a:pt x="3" y="171"/>
                    </a:lnTo>
                    <a:lnTo>
                      <a:pt x="3" y="168"/>
                    </a:lnTo>
                    <a:lnTo>
                      <a:pt x="6" y="167"/>
                    </a:lnTo>
                    <a:lnTo>
                      <a:pt x="8" y="167"/>
                    </a:lnTo>
                    <a:lnTo>
                      <a:pt x="11" y="167"/>
                    </a:lnTo>
                    <a:lnTo>
                      <a:pt x="13" y="167"/>
                    </a:lnTo>
                    <a:lnTo>
                      <a:pt x="16" y="167"/>
                    </a:lnTo>
                    <a:lnTo>
                      <a:pt x="19" y="168"/>
                    </a:lnTo>
                    <a:lnTo>
                      <a:pt x="19" y="171"/>
                    </a:lnTo>
                    <a:lnTo>
                      <a:pt x="19" y="194"/>
                    </a:lnTo>
                    <a:lnTo>
                      <a:pt x="19" y="196"/>
                    </a:lnTo>
                    <a:lnTo>
                      <a:pt x="16" y="198"/>
                    </a:lnTo>
                    <a:lnTo>
                      <a:pt x="13" y="198"/>
                    </a:lnTo>
                    <a:lnTo>
                      <a:pt x="11" y="199"/>
                    </a:lnTo>
                    <a:lnTo>
                      <a:pt x="8" y="198"/>
                    </a:lnTo>
                    <a:lnTo>
                      <a:pt x="6" y="198"/>
                    </a:lnTo>
                    <a:lnTo>
                      <a:pt x="3" y="196"/>
                    </a:lnTo>
                    <a:lnTo>
                      <a:pt x="3" y="194"/>
                    </a:lnTo>
                    <a:lnTo>
                      <a:pt x="3" y="194"/>
                    </a:lnTo>
                    <a:close/>
                    <a:moveTo>
                      <a:pt x="3" y="139"/>
                    </a:moveTo>
                    <a:lnTo>
                      <a:pt x="3" y="115"/>
                    </a:lnTo>
                    <a:lnTo>
                      <a:pt x="3" y="114"/>
                    </a:lnTo>
                    <a:lnTo>
                      <a:pt x="6" y="113"/>
                    </a:lnTo>
                    <a:lnTo>
                      <a:pt x="8" y="112"/>
                    </a:lnTo>
                    <a:lnTo>
                      <a:pt x="11" y="112"/>
                    </a:lnTo>
                    <a:lnTo>
                      <a:pt x="13" y="112"/>
                    </a:lnTo>
                    <a:lnTo>
                      <a:pt x="16" y="113"/>
                    </a:lnTo>
                    <a:lnTo>
                      <a:pt x="19" y="114"/>
                    </a:lnTo>
                    <a:lnTo>
                      <a:pt x="19" y="115"/>
                    </a:lnTo>
                    <a:lnTo>
                      <a:pt x="19" y="139"/>
                    </a:lnTo>
                    <a:lnTo>
                      <a:pt x="19" y="141"/>
                    </a:lnTo>
                    <a:lnTo>
                      <a:pt x="16" y="142"/>
                    </a:lnTo>
                    <a:lnTo>
                      <a:pt x="13" y="143"/>
                    </a:lnTo>
                    <a:lnTo>
                      <a:pt x="11" y="143"/>
                    </a:lnTo>
                    <a:lnTo>
                      <a:pt x="8" y="143"/>
                    </a:lnTo>
                    <a:lnTo>
                      <a:pt x="6" y="142"/>
                    </a:lnTo>
                    <a:lnTo>
                      <a:pt x="3" y="141"/>
                    </a:lnTo>
                    <a:lnTo>
                      <a:pt x="3" y="139"/>
                    </a:lnTo>
                    <a:lnTo>
                      <a:pt x="3" y="139"/>
                    </a:lnTo>
                    <a:close/>
                    <a:moveTo>
                      <a:pt x="3" y="84"/>
                    </a:moveTo>
                    <a:lnTo>
                      <a:pt x="3" y="60"/>
                    </a:lnTo>
                    <a:lnTo>
                      <a:pt x="3" y="58"/>
                    </a:lnTo>
                    <a:lnTo>
                      <a:pt x="6" y="57"/>
                    </a:lnTo>
                    <a:lnTo>
                      <a:pt x="8" y="56"/>
                    </a:lnTo>
                    <a:lnTo>
                      <a:pt x="11" y="56"/>
                    </a:lnTo>
                    <a:lnTo>
                      <a:pt x="13" y="56"/>
                    </a:lnTo>
                    <a:lnTo>
                      <a:pt x="16" y="57"/>
                    </a:lnTo>
                    <a:lnTo>
                      <a:pt x="19" y="58"/>
                    </a:lnTo>
                    <a:lnTo>
                      <a:pt x="19" y="60"/>
                    </a:lnTo>
                    <a:lnTo>
                      <a:pt x="19" y="84"/>
                    </a:lnTo>
                    <a:lnTo>
                      <a:pt x="19" y="85"/>
                    </a:lnTo>
                    <a:lnTo>
                      <a:pt x="16" y="86"/>
                    </a:lnTo>
                    <a:lnTo>
                      <a:pt x="13" y="88"/>
                    </a:lnTo>
                    <a:lnTo>
                      <a:pt x="11" y="88"/>
                    </a:lnTo>
                    <a:lnTo>
                      <a:pt x="8" y="88"/>
                    </a:lnTo>
                    <a:lnTo>
                      <a:pt x="6" y="86"/>
                    </a:lnTo>
                    <a:lnTo>
                      <a:pt x="3" y="85"/>
                    </a:lnTo>
                    <a:lnTo>
                      <a:pt x="3" y="84"/>
                    </a:lnTo>
                    <a:lnTo>
                      <a:pt x="3" y="84"/>
                    </a:lnTo>
                    <a:close/>
                    <a:moveTo>
                      <a:pt x="3" y="28"/>
                    </a:moveTo>
                    <a:lnTo>
                      <a:pt x="3" y="4"/>
                    </a:lnTo>
                    <a:lnTo>
                      <a:pt x="3" y="3"/>
                    </a:lnTo>
                    <a:lnTo>
                      <a:pt x="6" y="2"/>
                    </a:lnTo>
                    <a:lnTo>
                      <a:pt x="8" y="2"/>
                    </a:lnTo>
                    <a:lnTo>
                      <a:pt x="11" y="0"/>
                    </a:lnTo>
                    <a:lnTo>
                      <a:pt x="13" y="2"/>
                    </a:lnTo>
                    <a:lnTo>
                      <a:pt x="16" y="2"/>
                    </a:lnTo>
                    <a:lnTo>
                      <a:pt x="19" y="3"/>
                    </a:lnTo>
                    <a:lnTo>
                      <a:pt x="19" y="4"/>
                    </a:lnTo>
                    <a:lnTo>
                      <a:pt x="19" y="28"/>
                    </a:lnTo>
                    <a:lnTo>
                      <a:pt x="19" y="29"/>
                    </a:lnTo>
                    <a:lnTo>
                      <a:pt x="16" y="31"/>
                    </a:lnTo>
                    <a:lnTo>
                      <a:pt x="13" y="32"/>
                    </a:lnTo>
                    <a:lnTo>
                      <a:pt x="11" y="32"/>
                    </a:lnTo>
                    <a:lnTo>
                      <a:pt x="8" y="32"/>
                    </a:lnTo>
                    <a:lnTo>
                      <a:pt x="6" y="31"/>
                    </a:lnTo>
                    <a:lnTo>
                      <a:pt x="3" y="29"/>
                    </a:lnTo>
                    <a:lnTo>
                      <a:pt x="3" y="28"/>
                    </a:lnTo>
                    <a:lnTo>
                      <a:pt x="3" y="28"/>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p>
            </p:txBody>
          </p:sp>
          <p:sp>
            <p:nvSpPr>
              <p:cNvPr id="162915" name="任意多边形 162914"/>
              <p:cNvSpPr>
                <a:spLocks noEditPoints="1"/>
              </p:cNvSpPr>
              <p:nvPr/>
            </p:nvSpPr>
            <p:spPr>
              <a:xfrm>
                <a:off x="4550" y="2642"/>
                <a:ext cx="18" cy="1013"/>
              </a:xfrm>
              <a:custGeom>
                <a:avLst/>
                <a:gdLst/>
                <a:ahLst/>
                <a:cxnLst/>
                <a:pathLst>
                  <a:path w="18" h="1013">
                    <a:moveTo>
                      <a:pt x="0" y="1009"/>
                    </a:moveTo>
                    <a:lnTo>
                      <a:pt x="0" y="985"/>
                    </a:lnTo>
                    <a:lnTo>
                      <a:pt x="0" y="984"/>
                    </a:lnTo>
                    <a:lnTo>
                      <a:pt x="2" y="983"/>
                    </a:lnTo>
                    <a:lnTo>
                      <a:pt x="5" y="982"/>
                    </a:lnTo>
                    <a:lnTo>
                      <a:pt x="7" y="982"/>
                    </a:lnTo>
                    <a:lnTo>
                      <a:pt x="13" y="982"/>
                    </a:lnTo>
                    <a:lnTo>
                      <a:pt x="15" y="983"/>
                    </a:lnTo>
                    <a:lnTo>
                      <a:pt x="15" y="984"/>
                    </a:lnTo>
                    <a:lnTo>
                      <a:pt x="15" y="985"/>
                    </a:lnTo>
                    <a:lnTo>
                      <a:pt x="15" y="1009"/>
                    </a:lnTo>
                    <a:lnTo>
                      <a:pt x="15" y="1011"/>
                    </a:lnTo>
                    <a:lnTo>
                      <a:pt x="13" y="1012"/>
                    </a:lnTo>
                    <a:lnTo>
                      <a:pt x="10" y="1012"/>
                    </a:lnTo>
                    <a:lnTo>
                      <a:pt x="7" y="1013"/>
                    </a:lnTo>
                    <a:lnTo>
                      <a:pt x="5" y="1012"/>
                    </a:lnTo>
                    <a:lnTo>
                      <a:pt x="2" y="1012"/>
                    </a:lnTo>
                    <a:lnTo>
                      <a:pt x="0" y="1011"/>
                    </a:lnTo>
                    <a:lnTo>
                      <a:pt x="0" y="1009"/>
                    </a:lnTo>
                    <a:lnTo>
                      <a:pt x="0" y="1009"/>
                    </a:lnTo>
                    <a:close/>
                    <a:moveTo>
                      <a:pt x="0" y="954"/>
                    </a:moveTo>
                    <a:lnTo>
                      <a:pt x="0" y="930"/>
                    </a:lnTo>
                    <a:lnTo>
                      <a:pt x="0" y="928"/>
                    </a:lnTo>
                    <a:lnTo>
                      <a:pt x="2" y="927"/>
                    </a:lnTo>
                    <a:lnTo>
                      <a:pt x="5" y="926"/>
                    </a:lnTo>
                    <a:lnTo>
                      <a:pt x="7" y="926"/>
                    </a:lnTo>
                    <a:lnTo>
                      <a:pt x="13" y="926"/>
                    </a:lnTo>
                    <a:lnTo>
                      <a:pt x="15" y="927"/>
                    </a:lnTo>
                    <a:lnTo>
                      <a:pt x="15" y="928"/>
                    </a:lnTo>
                    <a:lnTo>
                      <a:pt x="15" y="930"/>
                    </a:lnTo>
                    <a:lnTo>
                      <a:pt x="15" y="954"/>
                    </a:lnTo>
                    <a:lnTo>
                      <a:pt x="15" y="955"/>
                    </a:lnTo>
                    <a:lnTo>
                      <a:pt x="15" y="956"/>
                    </a:lnTo>
                    <a:lnTo>
                      <a:pt x="13" y="958"/>
                    </a:lnTo>
                    <a:lnTo>
                      <a:pt x="7" y="958"/>
                    </a:lnTo>
                    <a:lnTo>
                      <a:pt x="5" y="958"/>
                    </a:lnTo>
                    <a:lnTo>
                      <a:pt x="2" y="956"/>
                    </a:lnTo>
                    <a:lnTo>
                      <a:pt x="0" y="955"/>
                    </a:lnTo>
                    <a:lnTo>
                      <a:pt x="0" y="954"/>
                    </a:lnTo>
                    <a:lnTo>
                      <a:pt x="0" y="954"/>
                    </a:lnTo>
                    <a:close/>
                    <a:moveTo>
                      <a:pt x="0" y="898"/>
                    </a:moveTo>
                    <a:lnTo>
                      <a:pt x="0" y="874"/>
                    </a:lnTo>
                    <a:lnTo>
                      <a:pt x="0" y="873"/>
                    </a:lnTo>
                    <a:lnTo>
                      <a:pt x="2" y="872"/>
                    </a:lnTo>
                    <a:lnTo>
                      <a:pt x="5" y="870"/>
                    </a:lnTo>
                    <a:lnTo>
                      <a:pt x="7" y="870"/>
                    </a:lnTo>
                    <a:lnTo>
                      <a:pt x="13" y="870"/>
                    </a:lnTo>
                    <a:lnTo>
                      <a:pt x="15" y="872"/>
                    </a:lnTo>
                    <a:lnTo>
                      <a:pt x="15" y="873"/>
                    </a:lnTo>
                    <a:lnTo>
                      <a:pt x="15" y="874"/>
                    </a:lnTo>
                    <a:lnTo>
                      <a:pt x="15" y="898"/>
                    </a:lnTo>
                    <a:lnTo>
                      <a:pt x="15" y="899"/>
                    </a:lnTo>
                    <a:lnTo>
                      <a:pt x="15" y="901"/>
                    </a:lnTo>
                    <a:lnTo>
                      <a:pt x="13" y="902"/>
                    </a:lnTo>
                    <a:lnTo>
                      <a:pt x="7" y="902"/>
                    </a:lnTo>
                    <a:lnTo>
                      <a:pt x="5" y="902"/>
                    </a:lnTo>
                    <a:lnTo>
                      <a:pt x="2" y="901"/>
                    </a:lnTo>
                    <a:lnTo>
                      <a:pt x="0" y="899"/>
                    </a:lnTo>
                    <a:lnTo>
                      <a:pt x="0" y="898"/>
                    </a:lnTo>
                    <a:lnTo>
                      <a:pt x="0" y="898"/>
                    </a:lnTo>
                    <a:close/>
                    <a:moveTo>
                      <a:pt x="0" y="842"/>
                    </a:moveTo>
                    <a:lnTo>
                      <a:pt x="0" y="820"/>
                    </a:lnTo>
                    <a:lnTo>
                      <a:pt x="2" y="817"/>
                    </a:lnTo>
                    <a:lnTo>
                      <a:pt x="2" y="816"/>
                    </a:lnTo>
                    <a:lnTo>
                      <a:pt x="5" y="816"/>
                    </a:lnTo>
                    <a:lnTo>
                      <a:pt x="7" y="815"/>
                    </a:lnTo>
                    <a:lnTo>
                      <a:pt x="13" y="816"/>
                    </a:lnTo>
                    <a:lnTo>
                      <a:pt x="15" y="816"/>
                    </a:lnTo>
                    <a:lnTo>
                      <a:pt x="15" y="817"/>
                    </a:lnTo>
                    <a:lnTo>
                      <a:pt x="18" y="820"/>
                    </a:lnTo>
                    <a:lnTo>
                      <a:pt x="18" y="842"/>
                    </a:lnTo>
                    <a:lnTo>
                      <a:pt x="15" y="844"/>
                    </a:lnTo>
                    <a:lnTo>
                      <a:pt x="15" y="845"/>
                    </a:lnTo>
                    <a:lnTo>
                      <a:pt x="13" y="846"/>
                    </a:lnTo>
                    <a:lnTo>
                      <a:pt x="7" y="846"/>
                    </a:lnTo>
                    <a:lnTo>
                      <a:pt x="5" y="846"/>
                    </a:lnTo>
                    <a:lnTo>
                      <a:pt x="2" y="845"/>
                    </a:lnTo>
                    <a:lnTo>
                      <a:pt x="2" y="844"/>
                    </a:lnTo>
                    <a:lnTo>
                      <a:pt x="0" y="842"/>
                    </a:lnTo>
                    <a:lnTo>
                      <a:pt x="0" y="842"/>
                    </a:lnTo>
                    <a:close/>
                    <a:moveTo>
                      <a:pt x="0" y="788"/>
                    </a:moveTo>
                    <a:lnTo>
                      <a:pt x="0" y="764"/>
                    </a:lnTo>
                    <a:lnTo>
                      <a:pt x="2" y="763"/>
                    </a:lnTo>
                    <a:lnTo>
                      <a:pt x="2" y="762"/>
                    </a:lnTo>
                    <a:lnTo>
                      <a:pt x="5" y="760"/>
                    </a:lnTo>
                    <a:lnTo>
                      <a:pt x="7" y="760"/>
                    </a:lnTo>
                    <a:lnTo>
                      <a:pt x="13" y="760"/>
                    </a:lnTo>
                    <a:lnTo>
                      <a:pt x="15" y="762"/>
                    </a:lnTo>
                    <a:lnTo>
                      <a:pt x="15" y="763"/>
                    </a:lnTo>
                    <a:lnTo>
                      <a:pt x="18" y="764"/>
                    </a:lnTo>
                    <a:lnTo>
                      <a:pt x="18" y="788"/>
                    </a:lnTo>
                    <a:lnTo>
                      <a:pt x="15" y="789"/>
                    </a:lnTo>
                    <a:lnTo>
                      <a:pt x="15" y="791"/>
                    </a:lnTo>
                    <a:lnTo>
                      <a:pt x="13" y="791"/>
                    </a:lnTo>
                    <a:lnTo>
                      <a:pt x="7" y="792"/>
                    </a:lnTo>
                    <a:lnTo>
                      <a:pt x="5" y="791"/>
                    </a:lnTo>
                    <a:lnTo>
                      <a:pt x="2" y="791"/>
                    </a:lnTo>
                    <a:lnTo>
                      <a:pt x="2" y="789"/>
                    </a:lnTo>
                    <a:lnTo>
                      <a:pt x="0" y="788"/>
                    </a:lnTo>
                    <a:lnTo>
                      <a:pt x="0" y="788"/>
                    </a:lnTo>
                    <a:close/>
                    <a:moveTo>
                      <a:pt x="0" y="732"/>
                    </a:moveTo>
                    <a:lnTo>
                      <a:pt x="0" y="708"/>
                    </a:lnTo>
                    <a:lnTo>
                      <a:pt x="2" y="707"/>
                    </a:lnTo>
                    <a:lnTo>
                      <a:pt x="2" y="706"/>
                    </a:lnTo>
                    <a:lnTo>
                      <a:pt x="5" y="705"/>
                    </a:lnTo>
                    <a:lnTo>
                      <a:pt x="7" y="705"/>
                    </a:lnTo>
                    <a:lnTo>
                      <a:pt x="13" y="705"/>
                    </a:lnTo>
                    <a:lnTo>
                      <a:pt x="15" y="706"/>
                    </a:lnTo>
                    <a:lnTo>
                      <a:pt x="15" y="707"/>
                    </a:lnTo>
                    <a:lnTo>
                      <a:pt x="18" y="708"/>
                    </a:lnTo>
                    <a:lnTo>
                      <a:pt x="18" y="732"/>
                    </a:lnTo>
                    <a:lnTo>
                      <a:pt x="15" y="734"/>
                    </a:lnTo>
                    <a:lnTo>
                      <a:pt x="15" y="735"/>
                    </a:lnTo>
                    <a:lnTo>
                      <a:pt x="13" y="736"/>
                    </a:lnTo>
                    <a:lnTo>
                      <a:pt x="7" y="736"/>
                    </a:lnTo>
                    <a:lnTo>
                      <a:pt x="5" y="736"/>
                    </a:lnTo>
                    <a:lnTo>
                      <a:pt x="2" y="735"/>
                    </a:lnTo>
                    <a:lnTo>
                      <a:pt x="2" y="734"/>
                    </a:lnTo>
                    <a:lnTo>
                      <a:pt x="0" y="732"/>
                    </a:lnTo>
                    <a:lnTo>
                      <a:pt x="0" y="732"/>
                    </a:lnTo>
                    <a:close/>
                    <a:moveTo>
                      <a:pt x="0" y="677"/>
                    </a:moveTo>
                    <a:lnTo>
                      <a:pt x="0" y="653"/>
                    </a:lnTo>
                    <a:lnTo>
                      <a:pt x="2" y="651"/>
                    </a:lnTo>
                    <a:lnTo>
                      <a:pt x="2" y="650"/>
                    </a:lnTo>
                    <a:lnTo>
                      <a:pt x="5" y="649"/>
                    </a:lnTo>
                    <a:lnTo>
                      <a:pt x="7" y="649"/>
                    </a:lnTo>
                    <a:lnTo>
                      <a:pt x="13" y="649"/>
                    </a:lnTo>
                    <a:lnTo>
                      <a:pt x="15" y="650"/>
                    </a:lnTo>
                    <a:lnTo>
                      <a:pt x="15" y="651"/>
                    </a:lnTo>
                    <a:lnTo>
                      <a:pt x="18" y="653"/>
                    </a:lnTo>
                    <a:lnTo>
                      <a:pt x="18" y="677"/>
                    </a:lnTo>
                    <a:lnTo>
                      <a:pt x="15" y="678"/>
                    </a:lnTo>
                    <a:lnTo>
                      <a:pt x="15" y="679"/>
                    </a:lnTo>
                    <a:lnTo>
                      <a:pt x="13" y="681"/>
                    </a:lnTo>
                    <a:lnTo>
                      <a:pt x="7" y="681"/>
                    </a:lnTo>
                    <a:lnTo>
                      <a:pt x="5" y="681"/>
                    </a:lnTo>
                    <a:lnTo>
                      <a:pt x="2" y="679"/>
                    </a:lnTo>
                    <a:lnTo>
                      <a:pt x="2" y="678"/>
                    </a:lnTo>
                    <a:lnTo>
                      <a:pt x="0" y="677"/>
                    </a:lnTo>
                    <a:lnTo>
                      <a:pt x="0" y="677"/>
                    </a:lnTo>
                    <a:close/>
                    <a:moveTo>
                      <a:pt x="0" y="621"/>
                    </a:moveTo>
                    <a:lnTo>
                      <a:pt x="0" y="598"/>
                    </a:lnTo>
                    <a:lnTo>
                      <a:pt x="2" y="596"/>
                    </a:lnTo>
                    <a:lnTo>
                      <a:pt x="2" y="595"/>
                    </a:lnTo>
                    <a:lnTo>
                      <a:pt x="5" y="595"/>
                    </a:lnTo>
                    <a:lnTo>
                      <a:pt x="7" y="593"/>
                    </a:lnTo>
                    <a:lnTo>
                      <a:pt x="13" y="595"/>
                    </a:lnTo>
                    <a:lnTo>
                      <a:pt x="15" y="595"/>
                    </a:lnTo>
                    <a:lnTo>
                      <a:pt x="15" y="596"/>
                    </a:lnTo>
                    <a:lnTo>
                      <a:pt x="18" y="598"/>
                    </a:lnTo>
                    <a:lnTo>
                      <a:pt x="18" y="621"/>
                    </a:lnTo>
                    <a:lnTo>
                      <a:pt x="15" y="622"/>
                    </a:lnTo>
                    <a:lnTo>
                      <a:pt x="15" y="624"/>
                    </a:lnTo>
                    <a:lnTo>
                      <a:pt x="13" y="625"/>
                    </a:lnTo>
                    <a:lnTo>
                      <a:pt x="7" y="625"/>
                    </a:lnTo>
                    <a:lnTo>
                      <a:pt x="5" y="625"/>
                    </a:lnTo>
                    <a:lnTo>
                      <a:pt x="2" y="624"/>
                    </a:lnTo>
                    <a:lnTo>
                      <a:pt x="2" y="622"/>
                    </a:lnTo>
                    <a:lnTo>
                      <a:pt x="0" y="621"/>
                    </a:lnTo>
                    <a:lnTo>
                      <a:pt x="0" y="621"/>
                    </a:lnTo>
                    <a:close/>
                    <a:moveTo>
                      <a:pt x="0" y="567"/>
                    </a:moveTo>
                    <a:lnTo>
                      <a:pt x="0" y="543"/>
                    </a:lnTo>
                    <a:lnTo>
                      <a:pt x="2" y="541"/>
                    </a:lnTo>
                    <a:lnTo>
                      <a:pt x="2" y="540"/>
                    </a:lnTo>
                    <a:lnTo>
                      <a:pt x="5" y="539"/>
                    </a:lnTo>
                    <a:lnTo>
                      <a:pt x="10" y="539"/>
                    </a:lnTo>
                    <a:lnTo>
                      <a:pt x="13" y="539"/>
                    </a:lnTo>
                    <a:lnTo>
                      <a:pt x="15" y="540"/>
                    </a:lnTo>
                    <a:lnTo>
                      <a:pt x="15" y="541"/>
                    </a:lnTo>
                    <a:lnTo>
                      <a:pt x="18" y="543"/>
                    </a:lnTo>
                    <a:lnTo>
                      <a:pt x="18" y="567"/>
                    </a:lnTo>
                    <a:lnTo>
                      <a:pt x="15" y="568"/>
                    </a:lnTo>
                    <a:lnTo>
                      <a:pt x="15" y="569"/>
                    </a:lnTo>
                    <a:lnTo>
                      <a:pt x="13" y="569"/>
                    </a:lnTo>
                    <a:lnTo>
                      <a:pt x="7" y="570"/>
                    </a:lnTo>
                    <a:lnTo>
                      <a:pt x="5" y="569"/>
                    </a:lnTo>
                    <a:lnTo>
                      <a:pt x="2" y="569"/>
                    </a:lnTo>
                    <a:lnTo>
                      <a:pt x="2" y="568"/>
                    </a:lnTo>
                    <a:lnTo>
                      <a:pt x="0" y="567"/>
                    </a:lnTo>
                    <a:lnTo>
                      <a:pt x="0" y="567"/>
                    </a:lnTo>
                    <a:close/>
                    <a:moveTo>
                      <a:pt x="0" y="511"/>
                    </a:moveTo>
                    <a:lnTo>
                      <a:pt x="0" y="487"/>
                    </a:lnTo>
                    <a:lnTo>
                      <a:pt x="2" y="486"/>
                    </a:lnTo>
                    <a:lnTo>
                      <a:pt x="2" y="484"/>
                    </a:lnTo>
                    <a:lnTo>
                      <a:pt x="5" y="483"/>
                    </a:lnTo>
                    <a:lnTo>
                      <a:pt x="10" y="483"/>
                    </a:lnTo>
                    <a:lnTo>
                      <a:pt x="13" y="483"/>
                    </a:lnTo>
                    <a:lnTo>
                      <a:pt x="15" y="484"/>
                    </a:lnTo>
                    <a:lnTo>
                      <a:pt x="15" y="486"/>
                    </a:lnTo>
                    <a:lnTo>
                      <a:pt x="18" y="487"/>
                    </a:lnTo>
                    <a:lnTo>
                      <a:pt x="18" y="511"/>
                    </a:lnTo>
                    <a:lnTo>
                      <a:pt x="15" y="512"/>
                    </a:lnTo>
                    <a:lnTo>
                      <a:pt x="15" y="514"/>
                    </a:lnTo>
                    <a:lnTo>
                      <a:pt x="13" y="515"/>
                    </a:lnTo>
                    <a:lnTo>
                      <a:pt x="10" y="515"/>
                    </a:lnTo>
                    <a:lnTo>
                      <a:pt x="5" y="515"/>
                    </a:lnTo>
                    <a:lnTo>
                      <a:pt x="2" y="514"/>
                    </a:lnTo>
                    <a:lnTo>
                      <a:pt x="2" y="512"/>
                    </a:lnTo>
                    <a:lnTo>
                      <a:pt x="0" y="511"/>
                    </a:lnTo>
                    <a:lnTo>
                      <a:pt x="0" y="511"/>
                    </a:lnTo>
                    <a:close/>
                    <a:moveTo>
                      <a:pt x="0" y="455"/>
                    </a:moveTo>
                    <a:lnTo>
                      <a:pt x="0" y="431"/>
                    </a:lnTo>
                    <a:lnTo>
                      <a:pt x="2" y="430"/>
                    </a:lnTo>
                    <a:lnTo>
                      <a:pt x="2" y="429"/>
                    </a:lnTo>
                    <a:lnTo>
                      <a:pt x="5" y="428"/>
                    </a:lnTo>
                    <a:lnTo>
                      <a:pt x="10" y="428"/>
                    </a:lnTo>
                    <a:lnTo>
                      <a:pt x="13" y="428"/>
                    </a:lnTo>
                    <a:lnTo>
                      <a:pt x="15" y="429"/>
                    </a:lnTo>
                    <a:lnTo>
                      <a:pt x="15" y="430"/>
                    </a:lnTo>
                    <a:lnTo>
                      <a:pt x="18" y="431"/>
                    </a:lnTo>
                    <a:lnTo>
                      <a:pt x="18" y="455"/>
                    </a:lnTo>
                    <a:lnTo>
                      <a:pt x="15" y="457"/>
                    </a:lnTo>
                    <a:lnTo>
                      <a:pt x="15" y="458"/>
                    </a:lnTo>
                    <a:lnTo>
                      <a:pt x="13" y="459"/>
                    </a:lnTo>
                    <a:lnTo>
                      <a:pt x="10" y="459"/>
                    </a:lnTo>
                    <a:lnTo>
                      <a:pt x="5" y="459"/>
                    </a:lnTo>
                    <a:lnTo>
                      <a:pt x="2" y="458"/>
                    </a:lnTo>
                    <a:lnTo>
                      <a:pt x="2" y="457"/>
                    </a:lnTo>
                    <a:lnTo>
                      <a:pt x="0" y="455"/>
                    </a:lnTo>
                    <a:lnTo>
                      <a:pt x="0" y="455"/>
                    </a:lnTo>
                    <a:close/>
                    <a:moveTo>
                      <a:pt x="0" y="400"/>
                    </a:moveTo>
                    <a:lnTo>
                      <a:pt x="0" y="377"/>
                    </a:lnTo>
                    <a:lnTo>
                      <a:pt x="2" y="374"/>
                    </a:lnTo>
                    <a:lnTo>
                      <a:pt x="2" y="373"/>
                    </a:lnTo>
                    <a:lnTo>
                      <a:pt x="5" y="373"/>
                    </a:lnTo>
                    <a:lnTo>
                      <a:pt x="10" y="372"/>
                    </a:lnTo>
                    <a:lnTo>
                      <a:pt x="13" y="373"/>
                    </a:lnTo>
                    <a:lnTo>
                      <a:pt x="15" y="373"/>
                    </a:lnTo>
                    <a:lnTo>
                      <a:pt x="15" y="374"/>
                    </a:lnTo>
                    <a:lnTo>
                      <a:pt x="18" y="377"/>
                    </a:lnTo>
                    <a:lnTo>
                      <a:pt x="18" y="400"/>
                    </a:lnTo>
                    <a:lnTo>
                      <a:pt x="15" y="401"/>
                    </a:lnTo>
                    <a:lnTo>
                      <a:pt x="15" y="402"/>
                    </a:lnTo>
                    <a:lnTo>
                      <a:pt x="13" y="404"/>
                    </a:lnTo>
                    <a:lnTo>
                      <a:pt x="10" y="404"/>
                    </a:lnTo>
                    <a:lnTo>
                      <a:pt x="5" y="404"/>
                    </a:lnTo>
                    <a:lnTo>
                      <a:pt x="2" y="402"/>
                    </a:lnTo>
                    <a:lnTo>
                      <a:pt x="2" y="401"/>
                    </a:lnTo>
                    <a:lnTo>
                      <a:pt x="0" y="400"/>
                    </a:lnTo>
                    <a:lnTo>
                      <a:pt x="0" y="400"/>
                    </a:lnTo>
                    <a:close/>
                    <a:moveTo>
                      <a:pt x="0" y="345"/>
                    </a:moveTo>
                    <a:lnTo>
                      <a:pt x="0" y="321"/>
                    </a:lnTo>
                    <a:lnTo>
                      <a:pt x="2" y="320"/>
                    </a:lnTo>
                    <a:lnTo>
                      <a:pt x="2" y="319"/>
                    </a:lnTo>
                    <a:lnTo>
                      <a:pt x="5" y="317"/>
                    </a:lnTo>
                    <a:lnTo>
                      <a:pt x="10" y="317"/>
                    </a:lnTo>
                    <a:lnTo>
                      <a:pt x="13" y="317"/>
                    </a:lnTo>
                    <a:lnTo>
                      <a:pt x="15" y="319"/>
                    </a:lnTo>
                    <a:lnTo>
                      <a:pt x="15" y="320"/>
                    </a:lnTo>
                    <a:lnTo>
                      <a:pt x="18" y="321"/>
                    </a:lnTo>
                    <a:lnTo>
                      <a:pt x="18" y="345"/>
                    </a:lnTo>
                    <a:lnTo>
                      <a:pt x="15" y="347"/>
                    </a:lnTo>
                    <a:lnTo>
                      <a:pt x="15" y="348"/>
                    </a:lnTo>
                    <a:lnTo>
                      <a:pt x="13" y="348"/>
                    </a:lnTo>
                    <a:lnTo>
                      <a:pt x="10" y="349"/>
                    </a:lnTo>
                    <a:lnTo>
                      <a:pt x="5" y="348"/>
                    </a:lnTo>
                    <a:lnTo>
                      <a:pt x="2" y="348"/>
                    </a:lnTo>
                    <a:lnTo>
                      <a:pt x="2" y="347"/>
                    </a:lnTo>
                    <a:lnTo>
                      <a:pt x="0" y="345"/>
                    </a:lnTo>
                    <a:lnTo>
                      <a:pt x="0" y="345"/>
                    </a:lnTo>
                    <a:close/>
                    <a:moveTo>
                      <a:pt x="0" y="290"/>
                    </a:moveTo>
                    <a:lnTo>
                      <a:pt x="0" y="266"/>
                    </a:lnTo>
                    <a:lnTo>
                      <a:pt x="2" y="264"/>
                    </a:lnTo>
                    <a:lnTo>
                      <a:pt x="2" y="263"/>
                    </a:lnTo>
                    <a:lnTo>
                      <a:pt x="5" y="262"/>
                    </a:lnTo>
                    <a:lnTo>
                      <a:pt x="10" y="262"/>
                    </a:lnTo>
                    <a:lnTo>
                      <a:pt x="13" y="262"/>
                    </a:lnTo>
                    <a:lnTo>
                      <a:pt x="15" y="263"/>
                    </a:lnTo>
                    <a:lnTo>
                      <a:pt x="15" y="264"/>
                    </a:lnTo>
                    <a:lnTo>
                      <a:pt x="18" y="266"/>
                    </a:lnTo>
                    <a:lnTo>
                      <a:pt x="18" y="290"/>
                    </a:lnTo>
                    <a:lnTo>
                      <a:pt x="15" y="291"/>
                    </a:lnTo>
                    <a:lnTo>
                      <a:pt x="15" y="292"/>
                    </a:lnTo>
                    <a:lnTo>
                      <a:pt x="13" y="293"/>
                    </a:lnTo>
                    <a:lnTo>
                      <a:pt x="10" y="293"/>
                    </a:lnTo>
                    <a:lnTo>
                      <a:pt x="5" y="293"/>
                    </a:lnTo>
                    <a:lnTo>
                      <a:pt x="2" y="292"/>
                    </a:lnTo>
                    <a:lnTo>
                      <a:pt x="2" y="291"/>
                    </a:lnTo>
                    <a:lnTo>
                      <a:pt x="0" y="290"/>
                    </a:lnTo>
                    <a:lnTo>
                      <a:pt x="0" y="290"/>
                    </a:lnTo>
                    <a:close/>
                    <a:moveTo>
                      <a:pt x="2" y="234"/>
                    </a:moveTo>
                    <a:lnTo>
                      <a:pt x="2" y="210"/>
                    </a:lnTo>
                    <a:lnTo>
                      <a:pt x="2" y="209"/>
                    </a:lnTo>
                    <a:lnTo>
                      <a:pt x="2" y="207"/>
                    </a:lnTo>
                    <a:lnTo>
                      <a:pt x="5" y="206"/>
                    </a:lnTo>
                    <a:lnTo>
                      <a:pt x="10" y="206"/>
                    </a:lnTo>
                    <a:lnTo>
                      <a:pt x="13" y="206"/>
                    </a:lnTo>
                    <a:lnTo>
                      <a:pt x="15" y="207"/>
                    </a:lnTo>
                    <a:lnTo>
                      <a:pt x="18" y="209"/>
                    </a:lnTo>
                    <a:lnTo>
                      <a:pt x="18" y="210"/>
                    </a:lnTo>
                    <a:lnTo>
                      <a:pt x="18" y="234"/>
                    </a:lnTo>
                    <a:lnTo>
                      <a:pt x="18" y="235"/>
                    </a:lnTo>
                    <a:lnTo>
                      <a:pt x="15" y="237"/>
                    </a:lnTo>
                    <a:lnTo>
                      <a:pt x="13" y="238"/>
                    </a:lnTo>
                    <a:lnTo>
                      <a:pt x="10" y="238"/>
                    </a:lnTo>
                    <a:lnTo>
                      <a:pt x="5" y="238"/>
                    </a:lnTo>
                    <a:lnTo>
                      <a:pt x="2" y="237"/>
                    </a:lnTo>
                    <a:lnTo>
                      <a:pt x="2" y="235"/>
                    </a:lnTo>
                    <a:lnTo>
                      <a:pt x="2" y="234"/>
                    </a:lnTo>
                    <a:lnTo>
                      <a:pt x="2" y="234"/>
                    </a:lnTo>
                    <a:close/>
                    <a:moveTo>
                      <a:pt x="2" y="178"/>
                    </a:moveTo>
                    <a:lnTo>
                      <a:pt x="2" y="156"/>
                    </a:lnTo>
                    <a:lnTo>
                      <a:pt x="2" y="153"/>
                    </a:lnTo>
                    <a:lnTo>
                      <a:pt x="2" y="152"/>
                    </a:lnTo>
                    <a:lnTo>
                      <a:pt x="5" y="152"/>
                    </a:lnTo>
                    <a:lnTo>
                      <a:pt x="10" y="151"/>
                    </a:lnTo>
                    <a:lnTo>
                      <a:pt x="13" y="152"/>
                    </a:lnTo>
                    <a:lnTo>
                      <a:pt x="15" y="152"/>
                    </a:lnTo>
                    <a:lnTo>
                      <a:pt x="18" y="153"/>
                    </a:lnTo>
                    <a:lnTo>
                      <a:pt x="18" y="156"/>
                    </a:lnTo>
                    <a:lnTo>
                      <a:pt x="18" y="178"/>
                    </a:lnTo>
                    <a:lnTo>
                      <a:pt x="18" y="180"/>
                    </a:lnTo>
                    <a:lnTo>
                      <a:pt x="15" y="181"/>
                    </a:lnTo>
                    <a:lnTo>
                      <a:pt x="13" y="182"/>
                    </a:lnTo>
                    <a:lnTo>
                      <a:pt x="10" y="182"/>
                    </a:lnTo>
                    <a:lnTo>
                      <a:pt x="5" y="182"/>
                    </a:lnTo>
                    <a:lnTo>
                      <a:pt x="2" y="181"/>
                    </a:lnTo>
                    <a:lnTo>
                      <a:pt x="2" y="180"/>
                    </a:lnTo>
                    <a:lnTo>
                      <a:pt x="2" y="178"/>
                    </a:lnTo>
                    <a:lnTo>
                      <a:pt x="2" y="178"/>
                    </a:lnTo>
                    <a:close/>
                    <a:moveTo>
                      <a:pt x="2" y="124"/>
                    </a:moveTo>
                    <a:lnTo>
                      <a:pt x="2" y="100"/>
                    </a:lnTo>
                    <a:lnTo>
                      <a:pt x="2" y="99"/>
                    </a:lnTo>
                    <a:lnTo>
                      <a:pt x="5" y="97"/>
                    </a:lnTo>
                    <a:lnTo>
                      <a:pt x="7" y="96"/>
                    </a:lnTo>
                    <a:lnTo>
                      <a:pt x="10" y="96"/>
                    </a:lnTo>
                    <a:lnTo>
                      <a:pt x="13" y="96"/>
                    </a:lnTo>
                    <a:lnTo>
                      <a:pt x="15" y="97"/>
                    </a:lnTo>
                    <a:lnTo>
                      <a:pt x="18" y="99"/>
                    </a:lnTo>
                    <a:lnTo>
                      <a:pt x="18" y="100"/>
                    </a:lnTo>
                    <a:lnTo>
                      <a:pt x="18" y="124"/>
                    </a:lnTo>
                    <a:lnTo>
                      <a:pt x="18" y="125"/>
                    </a:lnTo>
                    <a:lnTo>
                      <a:pt x="15" y="126"/>
                    </a:lnTo>
                    <a:lnTo>
                      <a:pt x="13" y="126"/>
                    </a:lnTo>
                    <a:lnTo>
                      <a:pt x="10" y="128"/>
                    </a:lnTo>
                    <a:lnTo>
                      <a:pt x="5" y="126"/>
                    </a:lnTo>
                    <a:lnTo>
                      <a:pt x="2" y="126"/>
                    </a:lnTo>
                    <a:lnTo>
                      <a:pt x="2" y="125"/>
                    </a:lnTo>
                    <a:lnTo>
                      <a:pt x="2" y="124"/>
                    </a:lnTo>
                    <a:lnTo>
                      <a:pt x="2" y="124"/>
                    </a:lnTo>
                    <a:close/>
                    <a:moveTo>
                      <a:pt x="2" y="68"/>
                    </a:moveTo>
                    <a:lnTo>
                      <a:pt x="2" y="44"/>
                    </a:lnTo>
                    <a:lnTo>
                      <a:pt x="2" y="43"/>
                    </a:lnTo>
                    <a:lnTo>
                      <a:pt x="5" y="42"/>
                    </a:lnTo>
                    <a:lnTo>
                      <a:pt x="7" y="40"/>
                    </a:lnTo>
                    <a:lnTo>
                      <a:pt x="10" y="40"/>
                    </a:lnTo>
                    <a:lnTo>
                      <a:pt x="13" y="40"/>
                    </a:lnTo>
                    <a:lnTo>
                      <a:pt x="15" y="42"/>
                    </a:lnTo>
                    <a:lnTo>
                      <a:pt x="18" y="43"/>
                    </a:lnTo>
                    <a:lnTo>
                      <a:pt x="18" y="44"/>
                    </a:lnTo>
                    <a:lnTo>
                      <a:pt x="18" y="68"/>
                    </a:lnTo>
                    <a:lnTo>
                      <a:pt x="18" y="70"/>
                    </a:lnTo>
                    <a:lnTo>
                      <a:pt x="15" y="71"/>
                    </a:lnTo>
                    <a:lnTo>
                      <a:pt x="13" y="72"/>
                    </a:lnTo>
                    <a:lnTo>
                      <a:pt x="10" y="72"/>
                    </a:lnTo>
                    <a:lnTo>
                      <a:pt x="7" y="72"/>
                    </a:lnTo>
                    <a:lnTo>
                      <a:pt x="5" y="71"/>
                    </a:lnTo>
                    <a:lnTo>
                      <a:pt x="2" y="70"/>
                    </a:lnTo>
                    <a:lnTo>
                      <a:pt x="2" y="68"/>
                    </a:lnTo>
                    <a:lnTo>
                      <a:pt x="2" y="68"/>
                    </a:lnTo>
                    <a:close/>
                    <a:moveTo>
                      <a:pt x="2" y="13"/>
                    </a:moveTo>
                    <a:lnTo>
                      <a:pt x="2" y="4"/>
                    </a:lnTo>
                    <a:lnTo>
                      <a:pt x="2" y="2"/>
                    </a:lnTo>
                    <a:lnTo>
                      <a:pt x="5" y="1"/>
                    </a:lnTo>
                    <a:lnTo>
                      <a:pt x="7" y="0"/>
                    </a:lnTo>
                    <a:lnTo>
                      <a:pt x="10" y="0"/>
                    </a:lnTo>
                    <a:lnTo>
                      <a:pt x="13" y="0"/>
                    </a:lnTo>
                    <a:lnTo>
                      <a:pt x="15" y="1"/>
                    </a:lnTo>
                    <a:lnTo>
                      <a:pt x="18" y="2"/>
                    </a:lnTo>
                    <a:lnTo>
                      <a:pt x="18" y="4"/>
                    </a:lnTo>
                    <a:lnTo>
                      <a:pt x="18" y="13"/>
                    </a:lnTo>
                    <a:lnTo>
                      <a:pt x="18" y="14"/>
                    </a:lnTo>
                    <a:lnTo>
                      <a:pt x="15" y="15"/>
                    </a:lnTo>
                    <a:lnTo>
                      <a:pt x="13" y="16"/>
                    </a:lnTo>
                    <a:lnTo>
                      <a:pt x="10" y="16"/>
                    </a:lnTo>
                    <a:lnTo>
                      <a:pt x="7" y="16"/>
                    </a:lnTo>
                    <a:lnTo>
                      <a:pt x="5" y="15"/>
                    </a:lnTo>
                    <a:lnTo>
                      <a:pt x="2" y="14"/>
                    </a:lnTo>
                    <a:lnTo>
                      <a:pt x="2" y="13"/>
                    </a:lnTo>
                    <a:lnTo>
                      <a:pt x="2" y="13"/>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p>
            </p:txBody>
          </p:sp>
          <p:sp>
            <p:nvSpPr>
              <p:cNvPr id="162916" name="直接连接符 162915"/>
              <p:cNvSpPr/>
              <p:nvPr/>
            </p:nvSpPr>
            <p:spPr>
              <a:xfrm>
                <a:off x="4906" y="3630"/>
                <a:ext cx="1" cy="292"/>
              </a:xfrm>
              <a:prstGeom prst="line">
                <a:avLst/>
              </a:prstGeom>
              <a:ln w="53975" cap="flat" cmpd="sng">
                <a:solidFill>
                  <a:srgbClr val="000099"/>
                </a:solidFill>
                <a:prstDash val="solid"/>
                <a:headEnd type="none" w="med" len="med"/>
                <a:tailEnd type="none" w="med" len="med"/>
              </a:ln>
            </p:spPr>
          </p:sp>
          <p:sp>
            <p:nvSpPr>
              <p:cNvPr id="162917" name="直接连接符 162916"/>
              <p:cNvSpPr/>
              <p:nvPr/>
            </p:nvSpPr>
            <p:spPr>
              <a:xfrm flipV="1">
                <a:off x="5270" y="3631"/>
                <a:ext cx="1" cy="292"/>
              </a:xfrm>
              <a:prstGeom prst="line">
                <a:avLst/>
              </a:prstGeom>
              <a:ln w="53975" cap="flat" cmpd="sng">
                <a:solidFill>
                  <a:srgbClr val="000099"/>
                </a:solidFill>
                <a:prstDash val="solid"/>
                <a:headEnd type="none" w="med" len="med"/>
                <a:tailEnd type="none" w="med" len="med"/>
              </a:ln>
            </p:spPr>
          </p:sp>
          <p:sp>
            <p:nvSpPr>
              <p:cNvPr id="162918" name="直接连接符 162917"/>
              <p:cNvSpPr/>
              <p:nvPr/>
            </p:nvSpPr>
            <p:spPr>
              <a:xfrm>
                <a:off x="4901" y="3636"/>
                <a:ext cx="382" cy="1"/>
              </a:xfrm>
              <a:prstGeom prst="line">
                <a:avLst/>
              </a:prstGeom>
              <a:ln w="53975" cap="flat" cmpd="sng">
                <a:solidFill>
                  <a:srgbClr val="000099"/>
                </a:solidFill>
                <a:prstDash val="solid"/>
                <a:headEnd type="none" w="med" len="med"/>
                <a:tailEnd type="none" w="med" len="med"/>
              </a:ln>
            </p:spPr>
          </p:sp>
          <p:sp>
            <p:nvSpPr>
              <p:cNvPr id="162919" name="直接连接符 162918"/>
              <p:cNvSpPr/>
              <p:nvPr/>
            </p:nvSpPr>
            <p:spPr>
              <a:xfrm>
                <a:off x="4550" y="3915"/>
                <a:ext cx="366" cy="1"/>
              </a:xfrm>
              <a:prstGeom prst="line">
                <a:avLst/>
              </a:prstGeom>
              <a:ln w="53975" cap="flat" cmpd="sng">
                <a:solidFill>
                  <a:srgbClr val="000099"/>
                </a:solidFill>
                <a:prstDash val="solid"/>
                <a:headEnd type="none" w="med" len="med"/>
                <a:tailEnd type="none" w="med" len="med"/>
              </a:ln>
            </p:spPr>
          </p:sp>
          <p:sp>
            <p:nvSpPr>
              <p:cNvPr id="162920" name="直接连接符 162919"/>
              <p:cNvSpPr/>
              <p:nvPr/>
            </p:nvSpPr>
            <p:spPr>
              <a:xfrm flipV="1">
                <a:off x="5262" y="3917"/>
                <a:ext cx="369" cy="1"/>
              </a:xfrm>
              <a:prstGeom prst="line">
                <a:avLst/>
              </a:prstGeom>
              <a:ln w="53975" cap="flat" cmpd="sng">
                <a:solidFill>
                  <a:srgbClr val="000099"/>
                </a:solidFill>
                <a:prstDash val="solid"/>
                <a:headEnd type="none" w="med" len="med"/>
                <a:tailEnd type="none" w="med" len="med"/>
              </a:ln>
            </p:spPr>
          </p:sp>
          <p:sp>
            <p:nvSpPr>
              <p:cNvPr id="162921" name="直接连接符 162920"/>
              <p:cNvSpPr/>
              <p:nvPr/>
            </p:nvSpPr>
            <p:spPr>
              <a:xfrm>
                <a:off x="4212" y="3632"/>
                <a:ext cx="1" cy="289"/>
              </a:xfrm>
              <a:prstGeom prst="line">
                <a:avLst/>
              </a:prstGeom>
              <a:ln w="53975" cap="flat" cmpd="sng">
                <a:solidFill>
                  <a:srgbClr val="000099"/>
                </a:solidFill>
                <a:prstDash val="solid"/>
                <a:headEnd type="none" w="med" len="med"/>
                <a:tailEnd type="none" w="med" len="med"/>
              </a:ln>
            </p:spPr>
          </p:sp>
          <p:sp>
            <p:nvSpPr>
              <p:cNvPr id="162922" name="直接连接符 162921"/>
              <p:cNvSpPr/>
              <p:nvPr/>
            </p:nvSpPr>
            <p:spPr>
              <a:xfrm flipV="1">
                <a:off x="4560" y="3632"/>
                <a:ext cx="1" cy="289"/>
              </a:xfrm>
              <a:prstGeom prst="line">
                <a:avLst/>
              </a:prstGeom>
              <a:ln w="53975" cap="flat" cmpd="sng">
                <a:solidFill>
                  <a:srgbClr val="000099"/>
                </a:solidFill>
                <a:prstDash val="solid"/>
                <a:headEnd type="none" w="med" len="med"/>
                <a:tailEnd type="none" w="med" len="med"/>
              </a:ln>
            </p:spPr>
          </p:sp>
          <p:sp>
            <p:nvSpPr>
              <p:cNvPr id="162923" name="直接连接符 162922"/>
              <p:cNvSpPr/>
              <p:nvPr/>
            </p:nvSpPr>
            <p:spPr>
              <a:xfrm>
                <a:off x="4199" y="3636"/>
                <a:ext cx="369" cy="1"/>
              </a:xfrm>
              <a:prstGeom prst="line">
                <a:avLst/>
              </a:prstGeom>
              <a:ln w="53975" cap="flat" cmpd="sng">
                <a:solidFill>
                  <a:srgbClr val="000099"/>
                </a:solidFill>
                <a:prstDash val="solid"/>
                <a:headEnd type="none" w="med" len="med"/>
                <a:tailEnd type="none" w="med" len="med"/>
              </a:ln>
            </p:spPr>
          </p:sp>
          <p:sp>
            <p:nvSpPr>
              <p:cNvPr id="162924" name="直接连接符 162923"/>
              <p:cNvSpPr/>
              <p:nvPr/>
            </p:nvSpPr>
            <p:spPr>
              <a:xfrm flipV="1">
                <a:off x="5244" y="2828"/>
                <a:ext cx="1" cy="163"/>
              </a:xfrm>
              <a:prstGeom prst="line">
                <a:avLst/>
              </a:prstGeom>
              <a:ln w="53975" cap="flat" cmpd="sng">
                <a:solidFill>
                  <a:srgbClr val="000099"/>
                </a:solidFill>
                <a:prstDash val="solid"/>
                <a:headEnd type="none" w="med" len="med"/>
                <a:tailEnd type="none" w="med" len="med"/>
              </a:ln>
            </p:spPr>
          </p:sp>
          <p:sp>
            <p:nvSpPr>
              <p:cNvPr id="162925" name="任意多边形 162924"/>
              <p:cNvSpPr/>
              <p:nvPr/>
            </p:nvSpPr>
            <p:spPr>
              <a:xfrm>
                <a:off x="4212" y="2624"/>
                <a:ext cx="343" cy="207"/>
              </a:xfrm>
              <a:custGeom>
                <a:avLst/>
                <a:gdLst/>
                <a:ahLst/>
                <a:cxnLst/>
                <a:pathLst>
                  <a:path w="343" h="207">
                    <a:moveTo>
                      <a:pt x="0" y="0"/>
                    </a:moveTo>
                    <a:lnTo>
                      <a:pt x="34" y="33"/>
                    </a:lnTo>
                    <a:lnTo>
                      <a:pt x="49" y="49"/>
                    </a:lnTo>
                    <a:lnTo>
                      <a:pt x="67" y="66"/>
                    </a:lnTo>
                    <a:lnTo>
                      <a:pt x="86" y="81"/>
                    </a:lnTo>
                    <a:lnTo>
                      <a:pt x="104" y="96"/>
                    </a:lnTo>
                    <a:lnTo>
                      <a:pt x="125" y="110"/>
                    </a:lnTo>
                    <a:lnTo>
                      <a:pt x="145" y="124"/>
                    </a:lnTo>
                    <a:lnTo>
                      <a:pt x="166" y="137"/>
                    </a:lnTo>
                    <a:lnTo>
                      <a:pt x="189" y="148"/>
                    </a:lnTo>
                    <a:lnTo>
                      <a:pt x="215" y="159"/>
                    </a:lnTo>
                    <a:lnTo>
                      <a:pt x="239" y="169"/>
                    </a:lnTo>
                    <a:lnTo>
                      <a:pt x="265" y="180"/>
                    </a:lnTo>
                    <a:lnTo>
                      <a:pt x="291" y="188"/>
                    </a:lnTo>
                    <a:lnTo>
                      <a:pt x="343" y="207"/>
                    </a:lnTo>
                  </a:path>
                </a:pathLst>
              </a:custGeom>
              <a:noFill/>
              <a:ln w="53975" cap="flat" cmpd="sng">
                <a:solidFill>
                  <a:srgbClr val="000099"/>
                </a:solidFill>
                <a:prstDash val="solid"/>
                <a:headEnd type="none" w="med" len="med"/>
                <a:tailEnd type="none" w="med" len="med"/>
              </a:ln>
            </p:spPr>
            <p:txBody>
              <a:bodyPr/>
              <a:p>
                <a:endParaRPr lang="zh-CN" altLang="en-US"/>
              </a:p>
            </p:txBody>
          </p:sp>
          <p:sp>
            <p:nvSpPr>
              <p:cNvPr id="162926" name="直接连接符 162925"/>
              <p:cNvSpPr/>
              <p:nvPr/>
            </p:nvSpPr>
            <p:spPr>
              <a:xfrm flipV="1">
                <a:off x="4214" y="2628"/>
                <a:ext cx="1" cy="206"/>
              </a:xfrm>
              <a:prstGeom prst="line">
                <a:avLst/>
              </a:prstGeom>
              <a:ln w="53975" cap="flat" cmpd="sng">
                <a:solidFill>
                  <a:srgbClr val="000099"/>
                </a:solidFill>
                <a:prstDash val="solid"/>
                <a:headEnd type="none" w="med" len="med"/>
                <a:tailEnd type="none" w="med" len="med"/>
              </a:ln>
            </p:spPr>
          </p:sp>
          <p:sp>
            <p:nvSpPr>
              <p:cNvPr id="162927" name="任意多边形 162926"/>
              <p:cNvSpPr/>
              <p:nvPr/>
            </p:nvSpPr>
            <p:spPr>
              <a:xfrm>
                <a:off x="4901" y="2624"/>
                <a:ext cx="345" cy="207"/>
              </a:xfrm>
              <a:custGeom>
                <a:avLst/>
                <a:gdLst/>
                <a:ahLst/>
                <a:cxnLst/>
                <a:pathLst>
                  <a:path w="345" h="207">
                    <a:moveTo>
                      <a:pt x="0" y="0"/>
                    </a:moveTo>
                    <a:lnTo>
                      <a:pt x="33" y="33"/>
                    </a:lnTo>
                    <a:lnTo>
                      <a:pt x="49" y="49"/>
                    </a:lnTo>
                    <a:lnTo>
                      <a:pt x="67" y="66"/>
                    </a:lnTo>
                    <a:lnTo>
                      <a:pt x="85" y="81"/>
                    </a:lnTo>
                    <a:lnTo>
                      <a:pt x="104" y="96"/>
                    </a:lnTo>
                    <a:lnTo>
                      <a:pt x="124" y="110"/>
                    </a:lnTo>
                    <a:lnTo>
                      <a:pt x="145" y="124"/>
                    </a:lnTo>
                    <a:lnTo>
                      <a:pt x="169" y="137"/>
                    </a:lnTo>
                    <a:lnTo>
                      <a:pt x="189" y="148"/>
                    </a:lnTo>
                    <a:lnTo>
                      <a:pt x="215" y="159"/>
                    </a:lnTo>
                    <a:lnTo>
                      <a:pt x="239" y="169"/>
                    </a:lnTo>
                    <a:lnTo>
                      <a:pt x="265" y="180"/>
                    </a:lnTo>
                    <a:lnTo>
                      <a:pt x="291" y="188"/>
                    </a:lnTo>
                    <a:lnTo>
                      <a:pt x="345" y="207"/>
                    </a:lnTo>
                  </a:path>
                </a:pathLst>
              </a:custGeom>
              <a:noFill/>
              <a:ln w="53975" cap="flat" cmpd="sng">
                <a:solidFill>
                  <a:srgbClr val="000099"/>
                </a:solidFill>
                <a:prstDash val="solid"/>
                <a:headEnd type="none" w="med" len="med"/>
                <a:tailEnd type="none" w="med" len="med"/>
              </a:ln>
            </p:spPr>
            <p:txBody>
              <a:bodyPr/>
              <a:p>
                <a:endParaRPr lang="zh-CN" altLang="en-US"/>
              </a:p>
            </p:txBody>
          </p:sp>
          <p:sp>
            <p:nvSpPr>
              <p:cNvPr id="162928" name="直接连接符 162927"/>
              <p:cNvSpPr/>
              <p:nvPr/>
            </p:nvSpPr>
            <p:spPr>
              <a:xfrm flipV="1">
                <a:off x="4906" y="2628"/>
                <a:ext cx="1" cy="208"/>
              </a:xfrm>
              <a:prstGeom prst="line">
                <a:avLst/>
              </a:prstGeom>
              <a:ln w="53975" cap="flat" cmpd="sng">
                <a:solidFill>
                  <a:srgbClr val="000099"/>
                </a:solidFill>
                <a:prstDash val="solid"/>
                <a:headEnd type="none" w="med" len="med"/>
                <a:tailEnd type="none" w="med" len="med"/>
              </a:ln>
            </p:spPr>
          </p:sp>
          <p:sp>
            <p:nvSpPr>
              <p:cNvPr id="162929" name="任意多边形 162928"/>
              <p:cNvSpPr/>
              <p:nvPr/>
            </p:nvSpPr>
            <p:spPr>
              <a:xfrm>
                <a:off x="4557" y="2833"/>
                <a:ext cx="346" cy="207"/>
              </a:xfrm>
              <a:custGeom>
                <a:avLst/>
                <a:gdLst/>
                <a:ahLst/>
                <a:cxnLst/>
                <a:pathLst>
                  <a:path w="346" h="207">
                    <a:moveTo>
                      <a:pt x="0" y="207"/>
                    </a:moveTo>
                    <a:lnTo>
                      <a:pt x="34" y="174"/>
                    </a:lnTo>
                    <a:lnTo>
                      <a:pt x="52" y="158"/>
                    </a:lnTo>
                    <a:lnTo>
                      <a:pt x="68" y="141"/>
                    </a:lnTo>
                    <a:lnTo>
                      <a:pt x="86" y="126"/>
                    </a:lnTo>
                    <a:lnTo>
                      <a:pt x="107" y="111"/>
                    </a:lnTo>
                    <a:lnTo>
                      <a:pt x="125" y="96"/>
                    </a:lnTo>
                    <a:lnTo>
                      <a:pt x="146" y="83"/>
                    </a:lnTo>
                    <a:lnTo>
                      <a:pt x="169" y="70"/>
                    </a:lnTo>
                    <a:lnTo>
                      <a:pt x="193" y="59"/>
                    </a:lnTo>
                    <a:lnTo>
                      <a:pt x="216" y="48"/>
                    </a:lnTo>
                    <a:lnTo>
                      <a:pt x="242" y="38"/>
                    </a:lnTo>
                    <a:lnTo>
                      <a:pt x="268" y="27"/>
                    </a:lnTo>
                    <a:lnTo>
                      <a:pt x="294" y="17"/>
                    </a:lnTo>
                    <a:lnTo>
                      <a:pt x="346" y="0"/>
                    </a:lnTo>
                  </a:path>
                </a:pathLst>
              </a:custGeom>
              <a:noFill/>
              <a:ln w="53975" cap="flat" cmpd="sng">
                <a:solidFill>
                  <a:srgbClr val="000099"/>
                </a:solidFill>
                <a:prstDash val="solid"/>
                <a:headEnd type="none" w="med" len="med"/>
                <a:tailEnd type="none" w="med" len="med"/>
              </a:ln>
            </p:spPr>
            <p:txBody>
              <a:bodyPr/>
              <a:p>
                <a:endParaRPr lang="zh-CN" altLang="en-US"/>
              </a:p>
            </p:txBody>
          </p:sp>
          <p:sp>
            <p:nvSpPr>
              <p:cNvPr id="162930" name="直接连接符 162929"/>
              <p:cNvSpPr/>
              <p:nvPr/>
            </p:nvSpPr>
            <p:spPr>
              <a:xfrm>
                <a:off x="4563" y="2830"/>
                <a:ext cx="1" cy="205"/>
              </a:xfrm>
              <a:prstGeom prst="line">
                <a:avLst/>
              </a:prstGeom>
              <a:ln w="53975" cap="flat" cmpd="sng">
                <a:solidFill>
                  <a:srgbClr val="000099"/>
                </a:solidFill>
                <a:prstDash val="solid"/>
                <a:headEnd type="none" w="med" len="med"/>
                <a:tailEnd type="none" w="med" len="med"/>
              </a:ln>
            </p:spPr>
          </p:sp>
        </p:grpSp>
      </p:grpSp>
      <p:sp>
        <p:nvSpPr>
          <p:cNvPr id="162931" name="矩形 162930"/>
          <p:cNvSpPr/>
          <p:nvPr/>
        </p:nvSpPr>
        <p:spPr>
          <a:xfrm>
            <a:off x="5395913" y="4486275"/>
            <a:ext cx="180975" cy="179388"/>
          </a:xfrm>
          <a:prstGeom prst="rect">
            <a:avLst/>
          </a:prstGeom>
          <a:solidFill>
            <a:schemeClr val="bg1"/>
          </a:solidFill>
          <a:ln w="9525">
            <a:noFill/>
          </a:ln>
        </p:spPr>
        <p:txBody>
          <a:bodyPr/>
          <a:p>
            <a:endParaRPr lang="zh-CN" altLang="en-US"/>
          </a:p>
        </p:txBody>
      </p:sp>
      <p:sp>
        <p:nvSpPr>
          <p:cNvPr id="162932" name="任意多边形 162931"/>
          <p:cNvSpPr/>
          <p:nvPr/>
        </p:nvSpPr>
        <p:spPr>
          <a:xfrm flipH="1" flipV="1">
            <a:off x="5653088" y="4062413"/>
            <a:ext cx="515937" cy="915987"/>
          </a:xfrm>
          <a:custGeom>
            <a:avLst/>
            <a:gdLst>
              <a:gd name="txL" fmla="*/ 0 w 14617"/>
              <a:gd name="txT" fmla="*/ 0 h 21600"/>
              <a:gd name="txR" fmla="*/ 14617 w 14617"/>
              <a:gd name="txB" fmla="*/ 21600 h 21600"/>
            </a:gdLst>
            <a:ahLst/>
            <a:cxnLst>
              <a:cxn ang="270">
                <a:pos x="0" y="0"/>
              </a:cxn>
              <a:cxn ang="270">
                <a:pos x="14616" y="5696"/>
              </a:cxn>
              <a:cxn ang="90">
                <a:pos x="0" y="21600"/>
              </a:cxn>
            </a:cxnLst>
            <a:rect l="txL" t="txT" r="txR" b="txB"/>
            <a:pathLst>
              <a:path w="14617" h="21600" fill="none">
                <a:moveTo>
                  <a:pt x="0" y="0"/>
                </a:moveTo>
                <a:arcTo wR="21600" hR="21600" stAng="-5400000" swAng="2555007"/>
              </a:path>
              <a:path w="14617" h="21600" stroke="0">
                <a:moveTo>
                  <a:pt x="0" y="0"/>
                </a:moveTo>
                <a:arcTo wR="21600" hR="21600" stAng="-5400000" swAng="2555007"/>
                <a:lnTo>
                  <a:pt x="0" y="21600"/>
                </a:lnTo>
                <a:close/>
              </a:path>
            </a:pathLst>
          </a:custGeom>
          <a:noFill/>
          <a:ln w="38100" cap="flat" cmpd="sng">
            <a:solidFill>
              <a:srgbClr val="000099"/>
            </a:solidFill>
            <a:prstDash val="solid"/>
            <a:headEnd type="none" w="med" len="med"/>
            <a:tailEnd type="none" w="med" len="med"/>
          </a:ln>
        </p:spPr>
        <p:txBody>
          <a:bodyPr/>
          <a:p>
            <a:endParaRPr lang="zh-CN" altLang="en-US"/>
          </a:p>
        </p:txBody>
      </p:sp>
      <p:grpSp>
        <p:nvGrpSpPr>
          <p:cNvPr id="162933" name="组合 162932"/>
          <p:cNvGrpSpPr/>
          <p:nvPr/>
        </p:nvGrpSpPr>
        <p:grpSpPr>
          <a:xfrm>
            <a:off x="5634038" y="6284913"/>
            <a:ext cx="492125" cy="438150"/>
            <a:chOff x="1192" y="3712"/>
            <a:chExt cx="285" cy="284"/>
          </a:xfrm>
        </p:grpSpPr>
        <p:sp>
          <p:nvSpPr>
            <p:cNvPr id="162934" name="直接连接符 162933"/>
            <p:cNvSpPr/>
            <p:nvPr/>
          </p:nvSpPr>
          <p:spPr>
            <a:xfrm>
              <a:off x="1192" y="3712"/>
              <a:ext cx="0" cy="284"/>
            </a:xfrm>
            <a:prstGeom prst="line">
              <a:avLst/>
            </a:prstGeom>
            <a:ln w="38100" cap="flat" cmpd="sng">
              <a:solidFill>
                <a:srgbClr val="000099"/>
              </a:solidFill>
              <a:prstDash val="solid"/>
              <a:headEnd type="none" w="med" len="med"/>
              <a:tailEnd type="none" w="med" len="med"/>
            </a:ln>
          </p:spPr>
        </p:sp>
        <p:sp>
          <p:nvSpPr>
            <p:cNvPr id="162935" name="直接连接符 162934"/>
            <p:cNvSpPr/>
            <p:nvPr/>
          </p:nvSpPr>
          <p:spPr>
            <a:xfrm>
              <a:off x="1193" y="3716"/>
              <a:ext cx="284" cy="0"/>
            </a:xfrm>
            <a:prstGeom prst="line">
              <a:avLst/>
            </a:prstGeom>
            <a:ln w="38100" cap="flat" cmpd="sng">
              <a:solidFill>
                <a:srgbClr val="000099"/>
              </a:solidFill>
              <a:prstDash val="solid"/>
              <a:headEnd type="none" w="med" len="med"/>
              <a:tailEnd type="none" w="med" len="med"/>
            </a:ln>
          </p:spPr>
        </p:sp>
      </p:grpSp>
      <p:sp>
        <p:nvSpPr>
          <p:cNvPr id="162936" name="流程图: 摘录 162935"/>
          <p:cNvSpPr/>
          <p:nvPr/>
        </p:nvSpPr>
        <p:spPr>
          <a:xfrm>
            <a:off x="4991100" y="5067300"/>
            <a:ext cx="206375" cy="88900"/>
          </a:xfrm>
          <a:prstGeom prst="flowChartExtract">
            <a:avLst/>
          </a:prstGeom>
          <a:noFill/>
          <a:ln w="9525">
            <a:noFill/>
          </a:ln>
        </p:spPr>
        <p:txBody>
          <a:bodyPr/>
          <a:p>
            <a:endParaRPr lang="zh-CN" altLang="en-US"/>
          </a:p>
        </p:txBody>
      </p:sp>
      <p:grpSp>
        <p:nvGrpSpPr>
          <p:cNvPr id="162937" name="组合 162936"/>
          <p:cNvGrpSpPr/>
          <p:nvPr/>
        </p:nvGrpSpPr>
        <p:grpSpPr>
          <a:xfrm>
            <a:off x="6161088" y="6270625"/>
            <a:ext cx="476250" cy="455613"/>
            <a:chOff x="1290" y="3769"/>
            <a:chExt cx="300" cy="287"/>
          </a:xfrm>
        </p:grpSpPr>
        <p:sp>
          <p:nvSpPr>
            <p:cNvPr id="162938" name="直接连接符 162937"/>
            <p:cNvSpPr/>
            <p:nvPr/>
          </p:nvSpPr>
          <p:spPr>
            <a:xfrm>
              <a:off x="1290" y="3769"/>
              <a:ext cx="0" cy="284"/>
            </a:xfrm>
            <a:prstGeom prst="line">
              <a:avLst/>
            </a:prstGeom>
            <a:ln w="38100" cap="flat" cmpd="sng">
              <a:solidFill>
                <a:srgbClr val="000099"/>
              </a:solidFill>
              <a:prstDash val="solid"/>
              <a:headEnd type="none" w="med" len="med"/>
              <a:tailEnd type="none" w="med" len="med"/>
            </a:ln>
          </p:spPr>
        </p:sp>
        <p:sp>
          <p:nvSpPr>
            <p:cNvPr id="162939" name="直接连接符 162938"/>
            <p:cNvSpPr/>
            <p:nvPr/>
          </p:nvSpPr>
          <p:spPr>
            <a:xfrm>
              <a:off x="1298" y="4056"/>
              <a:ext cx="292" cy="0"/>
            </a:xfrm>
            <a:prstGeom prst="line">
              <a:avLst/>
            </a:prstGeom>
            <a:ln w="38100" cap="flat" cmpd="sng">
              <a:solidFill>
                <a:srgbClr val="000099"/>
              </a:solidFill>
              <a:prstDash val="solid"/>
              <a:headEnd type="none" w="med" len="med"/>
              <a:tailEnd type="none" w="med" len="med"/>
            </a:ln>
          </p:spPr>
        </p:sp>
      </p:grpSp>
      <p:grpSp>
        <p:nvGrpSpPr>
          <p:cNvPr id="162941" name="组合 162940"/>
          <p:cNvGrpSpPr/>
          <p:nvPr/>
        </p:nvGrpSpPr>
        <p:grpSpPr>
          <a:xfrm>
            <a:off x="2900363" y="2533650"/>
            <a:ext cx="2122487" cy="730250"/>
            <a:chOff x="1827" y="1404"/>
            <a:chExt cx="1337" cy="460"/>
          </a:xfrm>
        </p:grpSpPr>
        <p:sp>
          <p:nvSpPr>
            <p:cNvPr id="162942" name="矩形 162941"/>
            <p:cNvSpPr>
              <a:spLocks noChangeAspect="1" noTextEdit="1"/>
            </p:cNvSpPr>
            <p:nvPr/>
          </p:nvSpPr>
          <p:spPr>
            <a:xfrm>
              <a:off x="1832" y="1412"/>
              <a:ext cx="1332" cy="431"/>
            </a:xfrm>
            <a:prstGeom prst="rect">
              <a:avLst/>
            </a:prstGeom>
            <a:noFill/>
            <a:ln w="9525">
              <a:noFill/>
            </a:ln>
          </p:spPr>
          <p:txBody>
            <a:bodyPr/>
            <a:p>
              <a:endParaRPr lang="zh-CN" altLang="en-US">
                <a:solidFill>
                  <a:srgbClr val="000066"/>
                </a:solidFill>
              </a:endParaRPr>
            </a:p>
          </p:txBody>
        </p:sp>
        <p:sp>
          <p:nvSpPr>
            <p:cNvPr id="162943" name="矩形 162942"/>
            <p:cNvSpPr/>
            <p:nvPr/>
          </p:nvSpPr>
          <p:spPr>
            <a:xfrm>
              <a:off x="1827" y="1411"/>
              <a:ext cx="299" cy="228"/>
            </a:xfrm>
            <a:prstGeom prst="rect">
              <a:avLst/>
            </a:prstGeom>
            <a:noFill/>
            <a:ln w="9525">
              <a:noFill/>
            </a:ln>
          </p:spPr>
          <p:txBody>
            <a:bodyPr/>
            <a:p>
              <a:endParaRPr lang="zh-CN" altLang="en-US">
                <a:solidFill>
                  <a:srgbClr val="000066"/>
                </a:solidFill>
              </a:endParaRPr>
            </a:p>
          </p:txBody>
        </p:sp>
        <p:sp>
          <p:nvSpPr>
            <p:cNvPr id="162944" name="矩形 162943"/>
            <p:cNvSpPr/>
            <p:nvPr/>
          </p:nvSpPr>
          <p:spPr>
            <a:xfrm>
              <a:off x="1827" y="1446"/>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sz="2400" b="1" i="1">
                <a:solidFill>
                  <a:srgbClr val="000066"/>
                </a:solidFill>
                <a:latin typeface="Times New Roman" panose="02020603050405020304" charset="0"/>
                <a:ea typeface="楷体_GB2312" panose="02010609030101010101" pitchFamily="49" charset="-122"/>
              </a:endParaRPr>
            </a:p>
          </p:txBody>
        </p:sp>
        <p:sp>
          <p:nvSpPr>
            <p:cNvPr id="162945" name="矩形 162944"/>
            <p:cNvSpPr/>
            <p:nvPr/>
          </p:nvSpPr>
          <p:spPr>
            <a:xfrm>
              <a:off x="1904" y="1523"/>
              <a:ext cx="37" cy="115"/>
            </a:xfrm>
            <a:prstGeom prst="rect">
              <a:avLst/>
            </a:prstGeom>
            <a:noFill/>
            <a:ln w="9525">
              <a:noFill/>
            </a:ln>
          </p:spPr>
          <p:txBody>
            <a:bodyPr wrap="none" lIns="0" tIns="0" rIns="0" bIns="0">
              <a:spAutoFit/>
            </a:bodyPr>
            <a:p>
              <a:r>
                <a:rPr lang="en-US" altLang="zh-CN" sz="1200" b="1">
                  <a:solidFill>
                    <a:srgbClr val="000066"/>
                  </a:solidFill>
                  <a:latin typeface="Times New Roman" panose="02020603050405020304" charset="0"/>
                  <a:ea typeface="楷体_GB2312" panose="02010609030101010101" pitchFamily="49" charset="-122"/>
                </a:rPr>
                <a:t>I</a:t>
              </a:r>
              <a:endParaRPr lang="en-US" altLang="zh-CN" sz="1200" b="1">
                <a:solidFill>
                  <a:srgbClr val="000066"/>
                </a:solidFill>
                <a:latin typeface="Times New Roman" panose="02020603050405020304" charset="0"/>
                <a:ea typeface="楷体_GB2312" panose="02010609030101010101" pitchFamily="49" charset="-122"/>
              </a:endParaRPr>
            </a:p>
          </p:txBody>
        </p:sp>
        <p:sp>
          <p:nvSpPr>
            <p:cNvPr id="162946" name="矩形 162945"/>
            <p:cNvSpPr/>
            <p:nvPr/>
          </p:nvSpPr>
          <p:spPr>
            <a:xfrm>
              <a:off x="2314" y="1411"/>
              <a:ext cx="296" cy="224"/>
            </a:xfrm>
            <a:prstGeom prst="rect">
              <a:avLst/>
            </a:prstGeom>
            <a:noFill/>
            <a:ln w="9525">
              <a:noFill/>
            </a:ln>
          </p:spPr>
          <p:txBody>
            <a:bodyPr/>
            <a:p>
              <a:endParaRPr lang="zh-CN" altLang="en-US">
                <a:solidFill>
                  <a:srgbClr val="000066"/>
                </a:solidFill>
              </a:endParaRPr>
            </a:p>
          </p:txBody>
        </p:sp>
        <p:sp>
          <p:nvSpPr>
            <p:cNvPr id="162947" name="矩形 162946"/>
            <p:cNvSpPr/>
            <p:nvPr/>
          </p:nvSpPr>
          <p:spPr>
            <a:xfrm>
              <a:off x="2314" y="1446"/>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sz="2400" b="1" i="1">
                <a:solidFill>
                  <a:srgbClr val="000066"/>
                </a:solidFill>
                <a:latin typeface="Times New Roman" panose="02020603050405020304" charset="0"/>
                <a:ea typeface="楷体_GB2312" panose="02010609030101010101" pitchFamily="49" charset="-122"/>
              </a:endParaRPr>
            </a:p>
          </p:txBody>
        </p:sp>
        <p:sp>
          <p:nvSpPr>
            <p:cNvPr id="162948" name="矩形 162947"/>
            <p:cNvSpPr/>
            <p:nvPr/>
          </p:nvSpPr>
          <p:spPr>
            <a:xfrm>
              <a:off x="2389" y="1523"/>
              <a:ext cx="75" cy="115"/>
            </a:xfrm>
            <a:prstGeom prst="rect">
              <a:avLst/>
            </a:prstGeom>
            <a:noFill/>
            <a:ln w="9525">
              <a:noFill/>
            </a:ln>
          </p:spPr>
          <p:txBody>
            <a:bodyPr wrap="none" lIns="0" tIns="0" rIns="0" bIns="0">
              <a:spAutoFit/>
            </a:bodyPr>
            <a:p>
              <a:r>
                <a:rPr lang="en-US" altLang="zh-CN" sz="1200" b="1">
                  <a:solidFill>
                    <a:srgbClr val="000066"/>
                  </a:solidFill>
                  <a:latin typeface="Times New Roman" panose="02020603050405020304" charset="0"/>
                  <a:ea typeface="楷体_GB2312" panose="02010609030101010101" pitchFamily="49" charset="-122"/>
                </a:rPr>
                <a:t>O</a:t>
              </a:r>
              <a:endParaRPr lang="en-US" altLang="zh-CN" sz="1200" b="1">
                <a:solidFill>
                  <a:srgbClr val="000066"/>
                </a:solidFill>
                <a:latin typeface="Times New Roman" panose="02020603050405020304" charset="0"/>
                <a:ea typeface="楷体_GB2312" panose="02010609030101010101" pitchFamily="49" charset="-122"/>
              </a:endParaRPr>
            </a:p>
          </p:txBody>
        </p:sp>
        <p:sp>
          <p:nvSpPr>
            <p:cNvPr id="162949" name="矩形 162948"/>
            <p:cNvSpPr/>
            <p:nvPr/>
          </p:nvSpPr>
          <p:spPr>
            <a:xfrm>
              <a:off x="2453" y="1523"/>
              <a:ext cx="48" cy="115"/>
            </a:xfrm>
            <a:prstGeom prst="rect">
              <a:avLst/>
            </a:prstGeom>
            <a:noFill/>
            <a:ln w="9525">
              <a:noFill/>
            </a:ln>
          </p:spPr>
          <p:txBody>
            <a:bodyPr wrap="none" lIns="0" tIns="0" rIns="0" bIns="0">
              <a:spAutoFit/>
            </a:bodyPr>
            <a:p>
              <a:r>
                <a:rPr lang="en-US" altLang="zh-CN" sz="1200" b="1">
                  <a:solidFill>
                    <a:srgbClr val="000066"/>
                  </a:solidFill>
                  <a:latin typeface="Times New Roman" panose="02020603050405020304" charset="0"/>
                  <a:ea typeface="楷体_GB2312" panose="02010609030101010101" pitchFamily="49" charset="-122"/>
                </a:rPr>
                <a:t>1</a:t>
              </a:r>
              <a:endParaRPr lang="en-US" altLang="zh-CN" sz="1200" b="1">
                <a:solidFill>
                  <a:srgbClr val="000066"/>
                </a:solidFill>
                <a:latin typeface="Times New Roman" panose="02020603050405020304" charset="0"/>
                <a:ea typeface="楷体_GB2312" panose="02010609030101010101" pitchFamily="49" charset="-122"/>
              </a:endParaRPr>
            </a:p>
          </p:txBody>
        </p:sp>
        <p:sp>
          <p:nvSpPr>
            <p:cNvPr id="162950" name="矩形 162949"/>
            <p:cNvSpPr/>
            <p:nvPr/>
          </p:nvSpPr>
          <p:spPr>
            <a:xfrm>
              <a:off x="2866" y="1411"/>
              <a:ext cx="298" cy="224"/>
            </a:xfrm>
            <a:prstGeom prst="rect">
              <a:avLst/>
            </a:prstGeom>
            <a:noFill/>
            <a:ln w="9525">
              <a:noFill/>
            </a:ln>
          </p:spPr>
          <p:txBody>
            <a:bodyPr/>
            <a:p>
              <a:endParaRPr lang="zh-CN" altLang="en-US">
                <a:solidFill>
                  <a:srgbClr val="000066"/>
                </a:solidFill>
              </a:endParaRPr>
            </a:p>
          </p:txBody>
        </p:sp>
        <p:sp>
          <p:nvSpPr>
            <p:cNvPr id="162951" name="矩形 162950"/>
            <p:cNvSpPr/>
            <p:nvPr/>
          </p:nvSpPr>
          <p:spPr>
            <a:xfrm>
              <a:off x="2866" y="1446"/>
              <a:ext cx="64" cy="173"/>
            </a:xfrm>
            <a:prstGeom prst="rect">
              <a:avLst/>
            </a:prstGeom>
            <a:noFill/>
            <a:ln w="9525">
              <a:noFill/>
            </a:ln>
          </p:spPr>
          <p:txBody>
            <a:bodyPr wrap="none" lIns="0" tIns="0" rIns="0" bIns="0">
              <a:spAutoFit/>
            </a:bodyPr>
            <a:p>
              <a:r>
                <a:rPr lang="en-US" altLang="zh-CN" b="1" i="1">
                  <a:solidFill>
                    <a:srgbClr val="000066"/>
                  </a:solidFill>
                  <a:latin typeface="Times New Roman" panose="02020603050405020304" charset="0"/>
                  <a:ea typeface="楷体_GB2312" panose="02010609030101010101" pitchFamily="49" charset="-122"/>
                </a:rPr>
                <a:t>v</a:t>
              </a:r>
              <a:endParaRPr lang="en-US" altLang="zh-CN" sz="2400" b="1" i="1">
                <a:solidFill>
                  <a:srgbClr val="000066"/>
                </a:solidFill>
                <a:latin typeface="Times New Roman" panose="02020603050405020304" charset="0"/>
                <a:ea typeface="楷体_GB2312" panose="02010609030101010101" pitchFamily="49" charset="-122"/>
              </a:endParaRPr>
            </a:p>
          </p:txBody>
        </p:sp>
        <p:sp>
          <p:nvSpPr>
            <p:cNvPr id="162952" name="矩形 162951"/>
            <p:cNvSpPr/>
            <p:nvPr/>
          </p:nvSpPr>
          <p:spPr>
            <a:xfrm>
              <a:off x="2942" y="1523"/>
              <a:ext cx="75" cy="115"/>
            </a:xfrm>
            <a:prstGeom prst="rect">
              <a:avLst/>
            </a:prstGeom>
            <a:noFill/>
            <a:ln w="9525">
              <a:noFill/>
            </a:ln>
          </p:spPr>
          <p:txBody>
            <a:bodyPr wrap="none" lIns="0" tIns="0" rIns="0" bIns="0">
              <a:spAutoFit/>
            </a:bodyPr>
            <a:p>
              <a:r>
                <a:rPr lang="en-US" altLang="zh-CN" sz="1200" b="1">
                  <a:solidFill>
                    <a:srgbClr val="000066"/>
                  </a:solidFill>
                  <a:latin typeface="Times New Roman" panose="02020603050405020304" charset="0"/>
                  <a:ea typeface="楷体_GB2312" panose="02010609030101010101" pitchFamily="49" charset="-122"/>
                </a:rPr>
                <a:t>O</a:t>
              </a:r>
              <a:endParaRPr lang="en-US" altLang="zh-CN" sz="1200" b="1">
                <a:solidFill>
                  <a:srgbClr val="000066"/>
                </a:solidFill>
                <a:latin typeface="Times New Roman" panose="02020603050405020304" charset="0"/>
                <a:ea typeface="楷体_GB2312" panose="02010609030101010101" pitchFamily="49" charset="-122"/>
              </a:endParaRPr>
            </a:p>
          </p:txBody>
        </p:sp>
        <p:sp>
          <p:nvSpPr>
            <p:cNvPr id="162953" name="直接连接符 162952"/>
            <p:cNvSpPr/>
            <p:nvPr/>
          </p:nvSpPr>
          <p:spPr>
            <a:xfrm>
              <a:off x="3004" y="1683"/>
              <a:ext cx="2" cy="179"/>
            </a:xfrm>
            <a:prstGeom prst="line">
              <a:avLst/>
            </a:prstGeom>
            <a:ln w="38100" cap="flat" cmpd="sng">
              <a:solidFill>
                <a:srgbClr val="000099"/>
              </a:solidFill>
              <a:prstDash val="solid"/>
              <a:headEnd type="none" w="med" len="med"/>
              <a:tailEnd type="none" w="med" len="med"/>
            </a:ln>
          </p:spPr>
        </p:sp>
        <p:sp>
          <p:nvSpPr>
            <p:cNvPr id="162954" name="直接连接符 162953"/>
            <p:cNvSpPr/>
            <p:nvPr/>
          </p:nvSpPr>
          <p:spPr>
            <a:xfrm>
              <a:off x="1940" y="1862"/>
              <a:ext cx="1058" cy="2"/>
            </a:xfrm>
            <a:prstGeom prst="line">
              <a:avLst/>
            </a:prstGeom>
            <a:ln w="38100" cap="flat" cmpd="sng">
              <a:solidFill>
                <a:srgbClr val="000099"/>
              </a:solidFill>
              <a:prstDash val="solid"/>
              <a:headEnd type="none" w="med" len="med"/>
              <a:tailEnd type="none" w="med" len="med"/>
            </a:ln>
          </p:spPr>
        </p:sp>
        <p:sp>
          <p:nvSpPr>
            <p:cNvPr id="162955" name="任意多边形 162954"/>
            <p:cNvSpPr/>
            <p:nvPr/>
          </p:nvSpPr>
          <p:spPr>
            <a:xfrm>
              <a:off x="1928" y="1655"/>
              <a:ext cx="29" cy="116"/>
            </a:xfrm>
            <a:custGeom>
              <a:avLst/>
              <a:gdLst/>
              <a:ahLst/>
              <a:cxnLst/>
              <a:pathLst>
                <a:path w="23" h="87">
                  <a:moveTo>
                    <a:pt x="11" y="0"/>
                  </a:moveTo>
                  <a:lnTo>
                    <a:pt x="0" y="87"/>
                  </a:lnTo>
                  <a:lnTo>
                    <a:pt x="23" y="87"/>
                  </a:lnTo>
                  <a:lnTo>
                    <a:pt x="11" y="0"/>
                  </a:lnTo>
                  <a:close/>
                </a:path>
              </a:pathLst>
            </a:custGeom>
            <a:solidFill>
              <a:srgbClr val="000000"/>
            </a:solidFill>
            <a:ln w="38100" cap="flat" cmpd="sng">
              <a:solidFill>
                <a:srgbClr val="000099"/>
              </a:solidFill>
              <a:prstDash val="solid"/>
              <a:headEnd type="none" w="med" len="med"/>
              <a:tailEnd type="none" w="med" len="med"/>
            </a:ln>
          </p:spPr>
          <p:txBody>
            <a:bodyPr/>
            <a:p>
              <a:endParaRPr lang="zh-CN" altLang="en-US">
                <a:solidFill>
                  <a:srgbClr val="000066"/>
                </a:solidFill>
              </a:endParaRPr>
            </a:p>
          </p:txBody>
        </p:sp>
        <p:sp>
          <p:nvSpPr>
            <p:cNvPr id="162956" name="直接连接符 162955"/>
            <p:cNvSpPr/>
            <p:nvPr/>
          </p:nvSpPr>
          <p:spPr>
            <a:xfrm>
              <a:off x="1940" y="1776"/>
              <a:ext cx="2" cy="86"/>
            </a:xfrm>
            <a:prstGeom prst="line">
              <a:avLst/>
            </a:prstGeom>
            <a:ln w="38100" cap="flat" cmpd="sng">
              <a:solidFill>
                <a:srgbClr val="000099"/>
              </a:solidFill>
              <a:prstDash val="solid"/>
              <a:headEnd type="none" w="med" len="med"/>
              <a:tailEnd type="none" w="med" len="med"/>
            </a:ln>
          </p:spPr>
        </p:sp>
        <p:sp>
          <p:nvSpPr>
            <p:cNvPr id="162957" name="任意多边形 162956"/>
            <p:cNvSpPr/>
            <p:nvPr/>
          </p:nvSpPr>
          <p:spPr>
            <a:xfrm>
              <a:off x="2191" y="1506"/>
              <a:ext cx="109" cy="32"/>
            </a:xfrm>
            <a:custGeom>
              <a:avLst/>
              <a:gdLst/>
              <a:ahLst/>
              <a:cxnLst/>
              <a:pathLst>
                <a:path w="86" h="24">
                  <a:moveTo>
                    <a:pt x="86" y="12"/>
                  </a:moveTo>
                  <a:lnTo>
                    <a:pt x="0" y="0"/>
                  </a:lnTo>
                  <a:lnTo>
                    <a:pt x="0" y="24"/>
                  </a:lnTo>
                  <a:lnTo>
                    <a:pt x="86" y="12"/>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solidFill>
                  <a:srgbClr val="000066"/>
                </a:solidFill>
              </a:endParaRPr>
            </a:p>
          </p:txBody>
        </p:sp>
        <p:sp>
          <p:nvSpPr>
            <p:cNvPr id="162958" name="直接连接符 162957"/>
            <p:cNvSpPr/>
            <p:nvPr/>
          </p:nvSpPr>
          <p:spPr>
            <a:xfrm flipH="1">
              <a:off x="2023" y="1522"/>
              <a:ext cx="174" cy="1"/>
            </a:xfrm>
            <a:prstGeom prst="line">
              <a:avLst/>
            </a:prstGeom>
            <a:ln w="28575" cap="flat" cmpd="sng">
              <a:solidFill>
                <a:srgbClr val="000099"/>
              </a:solidFill>
              <a:prstDash val="solid"/>
              <a:headEnd type="none" w="med" len="med"/>
              <a:tailEnd type="none" w="med" len="med"/>
            </a:ln>
          </p:spPr>
        </p:sp>
        <p:sp>
          <p:nvSpPr>
            <p:cNvPr id="162959" name="任意多边形 162958"/>
            <p:cNvSpPr/>
            <p:nvPr/>
          </p:nvSpPr>
          <p:spPr>
            <a:xfrm>
              <a:off x="2738" y="1506"/>
              <a:ext cx="108" cy="32"/>
            </a:xfrm>
            <a:custGeom>
              <a:avLst/>
              <a:gdLst/>
              <a:ahLst/>
              <a:cxnLst/>
              <a:pathLst>
                <a:path w="85" h="24">
                  <a:moveTo>
                    <a:pt x="85" y="12"/>
                  </a:moveTo>
                  <a:lnTo>
                    <a:pt x="0" y="0"/>
                  </a:lnTo>
                  <a:lnTo>
                    <a:pt x="0" y="24"/>
                  </a:lnTo>
                  <a:lnTo>
                    <a:pt x="85" y="12"/>
                  </a:lnTo>
                  <a:close/>
                </a:path>
              </a:pathLst>
            </a:custGeom>
            <a:solidFill>
              <a:srgbClr val="000000"/>
            </a:solidFill>
            <a:ln w="4763" cap="flat" cmpd="sng">
              <a:solidFill>
                <a:srgbClr val="000099"/>
              </a:solidFill>
              <a:prstDash val="solid"/>
              <a:headEnd type="none" w="med" len="med"/>
              <a:tailEnd type="none" w="med" len="med"/>
            </a:ln>
          </p:spPr>
          <p:txBody>
            <a:bodyPr/>
            <a:p>
              <a:endParaRPr lang="zh-CN" altLang="en-US">
                <a:solidFill>
                  <a:srgbClr val="000066"/>
                </a:solidFill>
              </a:endParaRPr>
            </a:p>
          </p:txBody>
        </p:sp>
        <p:sp>
          <p:nvSpPr>
            <p:cNvPr id="162960" name="直接连接符 162959"/>
            <p:cNvSpPr/>
            <p:nvPr/>
          </p:nvSpPr>
          <p:spPr>
            <a:xfrm flipH="1" flipV="1">
              <a:off x="2570" y="1523"/>
              <a:ext cx="173" cy="7"/>
            </a:xfrm>
            <a:prstGeom prst="line">
              <a:avLst/>
            </a:prstGeom>
            <a:ln w="28575" cap="flat" cmpd="sng">
              <a:solidFill>
                <a:srgbClr val="000099"/>
              </a:solidFill>
              <a:prstDash val="solid"/>
              <a:headEnd type="none" w="med" len="med"/>
              <a:tailEnd type="none" w="med" len="med"/>
            </a:ln>
          </p:spPr>
        </p:sp>
        <p:sp>
          <p:nvSpPr>
            <p:cNvPr id="162961" name="直接连接符 162960"/>
            <p:cNvSpPr/>
            <p:nvPr/>
          </p:nvSpPr>
          <p:spPr>
            <a:xfrm>
              <a:off x="1998" y="1404"/>
              <a:ext cx="0" cy="252"/>
            </a:xfrm>
            <a:prstGeom prst="line">
              <a:avLst/>
            </a:prstGeom>
            <a:ln w="9525" cap="flat" cmpd="sng">
              <a:solidFill>
                <a:srgbClr val="000099"/>
              </a:solidFill>
              <a:prstDash val="solid"/>
              <a:headEnd type="none" w="med" len="med"/>
              <a:tailEnd type="triangle" w="med" len="med"/>
            </a:ln>
          </p:spPr>
        </p:sp>
        <p:sp>
          <p:nvSpPr>
            <p:cNvPr id="162962" name="直接连接符 162961"/>
            <p:cNvSpPr/>
            <p:nvPr/>
          </p:nvSpPr>
          <p:spPr>
            <a:xfrm flipV="1">
              <a:off x="2529" y="1413"/>
              <a:ext cx="0" cy="234"/>
            </a:xfrm>
            <a:prstGeom prst="line">
              <a:avLst/>
            </a:prstGeom>
            <a:ln w="9525" cap="flat" cmpd="sng">
              <a:solidFill>
                <a:srgbClr val="000099"/>
              </a:solidFill>
              <a:prstDash val="solid"/>
              <a:headEnd type="none" w="med" len="med"/>
              <a:tailEnd type="triangle" w="med" len="med"/>
            </a:ln>
          </p:spPr>
        </p:sp>
        <p:sp>
          <p:nvSpPr>
            <p:cNvPr id="162963" name="直接连接符 162962"/>
            <p:cNvSpPr/>
            <p:nvPr/>
          </p:nvSpPr>
          <p:spPr>
            <a:xfrm>
              <a:off x="3069" y="1404"/>
              <a:ext cx="0" cy="252"/>
            </a:xfrm>
            <a:prstGeom prst="line">
              <a:avLst/>
            </a:prstGeom>
            <a:ln w="9525" cap="flat" cmpd="sng">
              <a:solidFill>
                <a:srgbClr val="000099"/>
              </a:solidFill>
              <a:prstDash val="solid"/>
              <a:headEnd type="none" w="med" len="med"/>
              <a:tailEnd type="triangle" w="med" len="med"/>
            </a:ln>
          </p:spPr>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62860"/>
                                        </p:tgtEl>
                                        <p:attrNameLst>
                                          <p:attrName>style.visibility</p:attrName>
                                        </p:attrNameLst>
                                      </p:cBhvr>
                                      <p:to>
                                        <p:strVal val="visible"/>
                                      </p:to>
                                    </p:set>
                                    <p:animEffect transition="in" filter="box(in)">
                                      <p:cBhvr>
                                        <p:cTn id="7" dur="500"/>
                                        <p:tgtEl>
                                          <p:spTgt spid="162860"/>
                                        </p:tgtEl>
                                      </p:cBhvr>
                                    </p:animEffect>
                                  </p:childTnLst>
                                  <p:subTnLst>
                                    <p:set>
                                      <p:cBhvr override="childStyle">
                                        <p:cTn dur="1" fill="hold" display="0" masterRel="nextClick" afterEffect="1"/>
                                        <p:tgtEl>
                                          <p:spTgt spid="162860"/>
                                        </p:tgtEl>
                                        <p:attrNameLst>
                                          <p:attrName>style.visibility</p:attrName>
                                        </p:attrNameLst>
                                      </p:cBhvr>
                                      <p:to>
                                        <p:strVal val="hidden"/>
                                      </p:to>
                                    </p:set>
                                  </p:sub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162859"/>
                                        </p:tgtEl>
                                        <p:attrNameLst>
                                          <p:attrName>style.visibility</p:attrName>
                                        </p:attrNameLst>
                                      </p:cBhvr>
                                      <p:to>
                                        <p:strVal val="visible"/>
                                      </p:to>
                                    </p:set>
                                    <p:animEffect transition="in" filter="box(in)">
                                      <p:cBhvr>
                                        <p:cTn id="11" dur="500"/>
                                        <p:tgtEl>
                                          <p:spTgt spid="162859"/>
                                        </p:tgtEl>
                                      </p:cBhvr>
                                    </p:animEffect>
                                  </p:childTnLst>
                                  <p:subTnLst>
                                    <p:set>
                                      <p:cBhvr override="childStyle">
                                        <p:cTn dur="1" fill="hold" display="0" masterRel="nextClick" afterEffect="1"/>
                                        <p:tgtEl>
                                          <p:spTgt spid="162859"/>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62888"/>
                                        </p:tgtEl>
                                        <p:attrNameLst>
                                          <p:attrName>style.visibility</p:attrName>
                                        </p:attrNameLst>
                                      </p:cBhvr>
                                      <p:to>
                                        <p:strVal val="visible"/>
                                      </p:to>
                                    </p:set>
                                    <p:animEffect transition="in" filter="box(in)">
                                      <p:cBhvr>
                                        <p:cTn id="16" dur="500"/>
                                        <p:tgtEl>
                                          <p:spTgt spid="162888"/>
                                        </p:tgtEl>
                                      </p:cBhvr>
                                    </p:animEffect>
                                  </p:childTnLst>
                                </p:cTn>
                              </p:par>
                            </p:childTnLst>
                          </p:cTn>
                        </p:par>
                        <p:par>
                          <p:cTn id="17" fill="hold">
                            <p:stCondLst>
                              <p:cond delay="500"/>
                            </p:stCondLst>
                            <p:childTnLst>
                              <p:par>
                                <p:cTn id="18" presetID="4" presetClass="entr" presetSubtype="16" fill="hold" nodeType="afterEffect">
                                  <p:stCondLst>
                                    <p:cond delay="0"/>
                                  </p:stCondLst>
                                  <p:childTnLst>
                                    <p:set>
                                      <p:cBhvr>
                                        <p:cTn id="19" dur="1" fill="hold">
                                          <p:stCondLst>
                                            <p:cond delay="0"/>
                                          </p:stCondLst>
                                        </p:cTn>
                                        <p:tgtEl>
                                          <p:spTgt spid="162889"/>
                                        </p:tgtEl>
                                        <p:attrNameLst>
                                          <p:attrName>style.visibility</p:attrName>
                                        </p:attrNameLst>
                                      </p:cBhvr>
                                      <p:to>
                                        <p:strVal val="visible"/>
                                      </p:to>
                                    </p:set>
                                    <p:animEffect transition="in" filter="box(in)">
                                      <p:cBhvr>
                                        <p:cTn id="20" dur="500"/>
                                        <p:tgtEl>
                                          <p:spTgt spid="16288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62890"/>
                                        </p:tgtEl>
                                        <p:attrNameLst>
                                          <p:attrName>style.visibility</p:attrName>
                                        </p:attrNameLst>
                                      </p:cBhvr>
                                      <p:to>
                                        <p:strVal val="visible"/>
                                      </p:to>
                                    </p:set>
                                    <p:animEffect transition="in" filter="wipe(right)">
                                      <p:cBhvr>
                                        <p:cTn id="25" dur="500"/>
                                        <p:tgtEl>
                                          <p:spTgt spid="16289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2822"/>
                                        </p:tgtEl>
                                        <p:attrNameLst>
                                          <p:attrName>style.visibility</p:attrName>
                                        </p:attrNameLst>
                                      </p:cBhvr>
                                      <p:to>
                                        <p:strVal val="visible"/>
                                      </p:to>
                                    </p:set>
                                    <p:animEffect transition="in" filter="wipe(left)">
                                      <p:cBhvr>
                                        <p:cTn id="30" dur="500"/>
                                        <p:tgtEl>
                                          <p:spTgt spid="162822"/>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162932"/>
                                        </p:tgtEl>
                                        <p:attrNameLst>
                                          <p:attrName>style.visibility</p:attrName>
                                        </p:attrNameLst>
                                      </p:cBhvr>
                                      <p:to>
                                        <p:strVal val="visible"/>
                                      </p:to>
                                    </p:set>
                                    <p:animEffect transition="in" filter="strips(downRight)">
                                      <p:cBhvr>
                                        <p:cTn id="35" dur="500"/>
                                        <p:tgtEl>
                                          <p:spTgt spid="162932"/>
                                        </p:tgtEl>
                                      </p:cBhvr>
                                    </p:animEffect>
                                  </p:childTnLst>
                                </p:cTn>
                              </p:par>
                            </p:childTnLst>
                          </p:cTn>
                        </p:par>
                        <p:par>
                          <p:cTn id="36" fill="hold">
                            <p:stCondLst>
                              <p:cond delay="500"/>
                            </p:stCondLst>
                            <p:childTnLst>
                              <p:par>
                                <p:cTn id="37" presetID="18" presetClass="entr" presetSubtype="3" fill="hold" nodeType="afterEffect">
                                  <p:stCondLst>
                                    <p:cond delay="0"/>
                                  </p:stCondLst>
                                  <p:childTnLst>
                                    <p:set>
                                      <p:cBhvr>
                                        <p:cTn id="38" dur="1" fill="hold">
                                          <p:stCondLst>
                                            <p:cond delay="0"/>
                                          </p:stCondLst>
                                        </p:cTn>
                                        <p:tgtEl>
                                          <p:spTgt spid="162906"/>
                                        </p:tgtEl>
                                        <p:attrNameLst>
                                          <p:attrName>style.visibility</p:attrName>
                                        </p:attrNameLst>
                                      </p:cBhvr>
                                      <p:to>
                                        <p:strVal val="visible"/>
                                      </p:to>
                                    </p:set>
                                    <p:animEffect transition="in" filter="strips(upRight)">
                                      <p:cBhvr>
                                        <p:cTn id="39" dur="500"/>
                                        <p:tgtEl>
                                          <p:spTgt spid="162906"/>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xit" presetSubtype="16" fill="hold" nodeType="clickEffect">
                                  <p:stCondLst>
                                    <p:cond delay="0"/>
                                  </p:stCondLst>
                                  <p:childTnLst>
                                    <p:animEffect transition="out" filter="box(in)">
                                      <p:cBhvr>
                                        <p:cTn id="43" dur="500"/>
                                        <p:tgtEl>
                                          <p:spTgt spid="162888"/>
                                        </p:tgtEl>
                                      </p:cBhvr>
                                    </p:animEffect>
                                    <p:set>
                                      <p:cBhvr>
                                        <p:cTn id="44" dur="1" fill="hold">
                                          <p:stCondLst>
                                            <p:cond delay="499"/>
                                          </p:stCondLst>
                                        </p:cTn>
                                        <p:tgtEl>
                                          <p:spTgt spid="162888"/>
                                        </p:tgtEl>
                                        <p:attrNameLst>
                                          <p:attrName>style.visibility</p:attrName>
                                        </p:attrNameLst>
                                      </p:cBhvr>
                                      <p:to>
                                        <p:strVal val="hidden"/>
                                      </p:to>
                                    </p:set>
                                  </p:childTnLst>
                                </p:cTn>
                              </p:par>
                              <p:par>
                                <p:cTn id="45" presetID="4" presetClass="exit" presetSubtype="16" fill="hold" nodeType="withEffect">
                                  <p:stCondLst>
                                    <p:cond delay="0"/>
                                  </p:stCondLst>
                                  <p:childTnLst>
                                    <p:animEffect transition="out" filter="box(in)">
                                      <p:cBhvr>
                                        <p:cTn id="46" dur="500"/>
                                        <p:tgtEl>
                                          <p:spTgt spid="162889"/>
                                        </p:tgtEl>
                                      </p:cBhvr>
                                    </p:animEffect>
                                    <p:set>
                                      <p:cBhvr>
                                        <p:cTn id="47" dur="1" fill="hold">
                                          <p:stCondLst>
                                            <p:cond delay="499"/>
                                          </p:stCondLst>
                                        </p:cTn>
                                        <p:tgtEl>
                                          <p:spTgt spid="162889"/>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2823"/>
                                        </p:tgtEl>
                                        <p:attrNameLst>
                                          <p:attrName>style.visibility</p:attrName>
                                        </p:attrNameLst>
                                      </p:cBhvr>
                                      <p:to>
                                        <p:strVal val="visible"/>
                                      </p:to>
                                    </p:set>
                                    <p:animEffect transition="in" filter="wipe(left)">
                                      <p:cBhvr>
                                        <p:cTn id="52" dur="500"/>
                                        <p:tgtEl>
                                          <p:spTgt spid="1628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2824"/>
                                        </p:tgtEl>
                                        <p:attrNameLst>
                                          <p:attrName>style.visibility</p:attrName>
                                        </p:attrNameLst>
                                      </p:cBhvr>
                                      <p:to>
                                        <p:strVal val="visible"/>
                                      </p:to>
                                    </p:set>
                                    <p:animEffect transition="in" filter="wipe(left)">
                                      <p:cBhvr>
                                        <p:cTn id="57" dur="500"/>
                                        <p:tgtEl>
                                          <p:spTgt spid="1628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2829"/>
                                        </p:tgtEl>
                                        <p:attrNameLst>
                                          <p:attrName>style.visibility</p:attrName>
                                        </p:attrNameLst>
                                      </p:cBhvr>
                                      <p:to>
                                        <p:strVal val="visible"/>
                                      </p:to>
                                    </p:set>
                                    <p:animEffect transition="in" filter="wipe(left)">
                                      <p:cBhvr>
                                        <p:cTn id="62" dur="500"/>
                                        <p:tgtEl>
                                          <p:spTgt spid="16282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2830"/>
                                        </p:tgtEl>
                                        <p:attrNameLst>
                                          <p:attrName>style.visibility</p:attrName>
                                        </p:attrNameLst>
                                      </p:cBhvr>
                                      <p:to>
                                        <p:strVal val="visible"/>
                                      </p:to>
                                    </p:set>
                                    <p:animEffect transition="in" filter="wipe(left)">
                                      <p:cBhvr>
                                        <p:cTn id="67" dur="500"/>
                                        <p:tgtEl>
                                          <p:spTgt spid="16283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2835"/>
                                        </p:tgtEl>
                                        <p:attrNameLst>
                                          <p:attrName>style.visibility</p:attrName>
                                        </p:attrNameLst>
                                      </p:cBhvr>
                                      <p:to>
                                        <p:strVal val="visible"/>
                                      </p:to>
                                    </p:set>
                                    <p:animEffect transition="in" filter="wipe(left)">
                                      <p:cBhvr>
                                        <p:cTn id="72" dur="500"/>
                                        <p:tgtEl>
                                          <p:spTgt spid="16283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62836"/>
                                        </p:tgtEl>
                                        <p:attrNameLst>
                                          <p:attrName>style.visibility</p:attrName>
                                        </p:attrNameLst>
                                      </p:cBhvr>
                                      <p:to>
                                        <p:strVal val="visible"/>
                                      </p:to>
                                    </p:set>
                                    <p:animEffect transition="in" filter="wipe(left)">
                                      <p:cBhvr>
                                        <p:cTn id="77" dur="500"/>
                                        <p:tgtEl>
                                          <p:spTgt spid="162836"/>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4" fill="hold" grpId="0" nodeType="clickEffect">
                                  <p:stCondLst>
                                    <p:cond delay="0"/>
                                  </p:stCondLst>
                                  <p:childTnLst>
                                    <p:set>
                                      <p:cBhvr>
                                        <p:cTn id="81" dur="1" fill="hold">
                                          <p:stCondLst>
                                            <p:cond delay="0"/>
                                          </p:stCondLst>
                                        </p:cTn>
                                        <p:tgtEl>
                                          <p:spTgt spid="162905"/>
                                        </p:tgtEl>
                                        <p:attrNameLst>
                                          <p:attrName>style.visibility</p:attrName>
                                        </p:attrNameLst>
                                      </p:cBhvr>
                                      <p:to>
                                        <p:strVal val="visible"/>
                                      </p:to>
                                    </p:set>
                                    <p:animEffect transition="in" filter="wheel(4)">
                                      <p:cBhvr>
                                        <p:cTn id="82" dur="500"/>
                                        <p:tgtEl>
                                          <p:spTgt spid="16290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62858"/>
                                        </p:tgtEl>
                                        <p:attrNameLst>
                                          <p:attrName>style.visibility</p:attrName>
                                        </p:attrNameLst>
                                      </p:cBhvr>
                                      <p:to>
                                        <p:strVal val="visible"/>
                                      </p:to>
                                    </p:set>
                                    <p:animEffect transition="in" filter="wipe(left)">
                                      <p:cBhvr>
                                        <p:cTn id="87" dur="500"/>
                                        <p:tgtEl>
                                          <p:spTgt spid="162858"/>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nodeType="clickEffect">
                                  <p:stCondLst>
                                    <p:cond delay="0"/>
                                  </p:stCondLst>
                                  <p:childTnLst>
                                    <p:set>
                                      <p:cBhvr>
                                        <p:cTn id="91" dur="1" fill="hold">
                                          <p:stCondLst>
                                            <p:cond delay="0"/>
                                          </p:stCondLst>
                                        </p:cTn>
                                        <p:tgtEl>
                                          <p:spTgt spid="162941"/>
                                        </p:tgtEl>
                                        <p:attrNameLst>
                                          <p:attrName>style.visibility</p:attrName>
                                        </p:attrNameLst>
                                      </p:cBhvr>
                                      <p:to>
                                        <p:strVal val="visible"/>
                                      </p:to>
                                    </p:set>
                                    <p:animEffect transition="in" filter="box(in)">
                                      <p:cBhvr>
                                        <p:cTn id="92" dur="500"/>
                                        <p:tgtEl>
                                          <p:spTgt spid="16294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62843"/>
                                        </p:tgtEl>
                                        <p:attrNameLst>
                                          <p:attrName>style.visibility</p:attrName>
                                        </p:attrNameLst>
                                      </p:cBhvr>
                                      <p:to>
                                        <p:strVal val="visible"/>
                                      </p:to>
                                    </p:set>
                                    <p:animEffect transition="in" filter="wipe(left)">
                                      <p:cBhvr>
                                        <p:cTn id="97" dur="500"/>
                                        <p:tgtEl>
                                          <p:spTgt spid="162843"/>
                                        </p:tgtEl>
                                      </p:cBhvr>
                                    </p:animEffect>
                                  </p:childTnLst>
                                </p:cTn>
                              </p:par>
                            </p:childTnLst>
                          </p:cTn>
                        </p:par>
                      </p:childTnLst>
                    </p:cTn>
                  </p:par>
                  <p:par>
                    <p:cTn id="98" fill="hold">
                      <p:stCondLst>
                        <p:cond delay="indefinite"/>
                      </p:stCondLst>
                      <p:childTnLst>
                        <p:par>
                          <p:cTn id="99" fill="hold">
                            <p:stCondLst>
                              <p:cond delay="0"/>
                            </p:stCondLst>
                            <p:childTnLst>
                              <p:par>
                                <p:cTn id="100" presetID="4" presetClass="entr" presetSubtype="16" fill="hold" nodeType="clickEffect">
                                  <p:stCondLst>
                                    <p:cond delay="0"/>
                                  </p:stCondLst>
                                  <p:childTnLst>
                                    <p:set>
                                      <p:cBhvr>
                                        <p:cTn id="101" dur="1" fill="hold">
                                          <p:stCondLst>
                                            <p:cond delay="0"/>
                                          </p:stCondLst>
                                        </p:cTn>
                                        <p:tgtEl>
                                          <p:spTgt spid="162862"/>
                                        </p:tgtEl>
                                        <p:attrNameLst>
                                          <p:attrName>style.visibility</p:attrName>
                                        </p:attrNameLst>
                                      </p:cBhvr>
                                      <p:to>
                                        <p:strVal val="visible"/>
                                      </p:to>
                                    </p:set>
                                    <p:animEffect transition="in" filter="box(in)">
                                      <p:cBhvr>
                                        <p:cTn id="102" dur="500"/>
                                        <p:tgtEl>
                                          <p:spTgt spid="162862"/>
                                        </p:tgtEl>
                                      </p:cBhvr>
                                    </p:animEffect>
                                  </p:childTnLst>
                                </p:cTn>
                              </p:par>
                            </p:childTnLst>
                          </p:cTn>
                        </p:par>
                        <p:par>
                          <p:cTn id="103" fill="hold">
                            <p:stCondLst>
                              <p:cond delay="500"/>
                            </p:stCondLst>
                            <p:childTnLst>
                              <p:par>
                                <p:cTn id="104" presetID="4" presetClass="entr" presetSubtype="16" fill="hold" nodeType="afterEffect">
                                  <p:stCondLst>
                                    <p:cond delay="0"/>
                                  </p:stCondLst>
                                  <p:childTnLst>
                                    <p:set>
                                      <p:cBhvr>
                                        <p:cTn id="105" dur="1" fill="hold">
                                          <p:stCondLst>
                                            <p:cond delay="0"/>
                                          </p:stCondLst>
                                        </p:cTn>
                                        <p:tgtEl>
                                          <p:spTgt spid="162861"/>
                                        </p:tgtEl>
                                        <p:attrNameLst>
                                          <p:attrName>style.visibility</p:attrName>
                                        </p:attrNameLst>
                                      </p:cBhvr>
                                      <p:to>
                                        <p:strVal val="visible"/>
                                      </p:to>
                                    </p:set>
                                    <p:animEffect transition="in" filter="box(in)">
                                      <p:cBhvr>
                                        <p:cTn id="106" dur="500"/>
                                        <p:tgtEl>
                                          <p:spTgt spid="16286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62846"/>
                                        </p:tgtEl>
                                        <p:attrNameLst>
                                          <p:attrName>style.visibility</p:attrName>
                                        </p:attrNameLst>
                                      </p:cBhvr>
                                      <p:to>
                                        <p:strVal val="visible"/>
                                      </p:to>
                                    </p:set>
                                    <p:animEffect transition="in" filter="wipe(left)">
                                      <p:cBhvr>
                                        <p:cTn id="111" dur="500"/>
                                        <p:tgtEl>
                                          <p:spTgt spid="162846"/>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499"/>
                                          </p:stCondLst>
                                        </p:cTn>
                                        <p:tgtEl>
                                          <p:spTgt spid="16293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8" presetClass="entr" presetSubtype="6" fill="hold" nodeType="clickEffect">
                                  <p:stCondLst>
                                    <p:cond delay="0"/>
                                  </p:stCondLst>
                                  <p:childTnLst>
                                    <p:set>
                                      <p:cBhvr>
                                        <p:cTn id="119" dur="1" fill="hold">
                                          <p:stCondLst>
                                            <p:cond delay="0"/>
                                          </p:stCondLst>
                                        </p:cTn>
                                        <p:tgtEl>
                                          <p:spTgt spid="162907"/>
                                        </p:tgtEl>
                                        <p:attrNameLst>
                                          <p:attrName>style.visibility</p:attrName>
                                        </p:attrNameLst>
                                      </p:cBhvr>
                                      <p:to>
                                        <p:strVal val="visible"/>
                                      </p:to>
                                    </p:set>
                                    <p:animEffect transition="in" filter="strips(downRight)">
                                      <p:cBhvr>
                                        <p:cTn id="120" dur="500"/>
                                        <p:tgtEl>
                                          <p:spTgt spid="162907"/>
                                        </p:tgtEl>
                                      </p:cBhvr>
                                    </p:animEffect>
                                  </p:childTnLst>
                                </p:cTn>
                              </p:par>
                            </p:childTnLst>
                          </p:cTn>
                        </p:par>
                      </p:childTnLst>
                    </p:cTn>
                  </p:par>
                  <p:par>
                    <p:cTn id="121" fill="hold">
                      <p:stCondLst>
                        <p:cond delay="indefinite"/>
                      </p:stCondLst>
                      <p:childTnLst>
                        <p:par>
                          <p:cTn id="122" fill="hold">
                            <p:stCondLst>
                              <p:cond delay="0"/>
                            </p:stCondLst>
                            <p:childTnLst>
                              <p:par>
                                <p:cTn id="123" presetID="18" presetClass="entr" presetSubtype="6" fill="hold" grpId="0" nodeType="clickEffect">
                                  <p:stCondLst>
                                    <p:cond delay="0"/>
                                  </p:stCondLst>
                                  <p:childTnLst>
                                    <p:set>
                                      <p:cBhvr>
                                        <p:cTn id="124" dur="1" fill="hold">
                                          <p:stCondLst>
                                            <p:cond delay="0"/>
                                          </p:stCondLst>
                                        </p:cTn>
                                        <p:tgtEl>
                                          <p:spTgt spid="162821"/>
                                        </p:tgtEl>
                                        <p:attrNameLst>
                                          <p:attrName>style.visibility</p:attrName>
                                        </p:attrNameLst>
                                      </p:cBhvr>
                                      <p:to>
                                        <p:strVal val="visible"/>
                                      </p:to>
                                    </p:set>
                                    <p:animEffect transition="in" filter="strips(downRight)">
                                      <p:cBhvr>
                                        <p:cTn id="125" dur="500"/>
                                        <p:tgtEl>
                                          <p:spTgt spid="162821"/>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162908"/>
                                        </p:tgtEl>
                                        <p:attrNameLst>
                                          <p:attrName>style.visibility</p:attrName>
                                        </p:attrNameLst>
                                      </p:cBhvr>
                                      <p:to>
                                        <p:strVal val="visible"/>
                                      </p:to>
                                    </p:set>
                                    <p:animEffect transition="in" filter="wipe(left)">
                                      <p:cBhvr>
                                        <p:cTn id="130" dur="500"/>
                                        <p:tgtEl>
                                          <p:spTgt spid="162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1" grpId="0"/>
      <p:bldP spid="162822" grpId="0"/>
      <p:bldP spid="16290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2" name="Rectangle 3"/>
          <p:cNvSpPr>
            <a:spLocks noGrp="1"/>
          </p:cNvSpPr>
          <p:nvPr/>
        </p:nvSpPr>
        <p:spPr>
          <a:xfrm>
            <a:off x="990600" y="11430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3.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振荡周期计算</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3844" name="矩形 163843"/>
          <p:cNvSpPr/>
          <p:nvPr/>
        </p:nvSpPr>
        <p:spPr>
          <a:xfrm>
            <a:off x="1554163" y="4294188"/>
            <a:ext cx="584200" cy="2030412"/>
          </a:xfrm>
          <a:prstGeom prst="rect">
            <a:avLst/>
          </a:prstGeom>
          <a:solidFill>
            <a:srgbClr val="00FF00">
              <a:alpha val="25000"/>
            </a:srgbClr>
          </a:solidFill>
          <a:ln w="38100">
            <a:noFill/>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45" name="矩形 163844"/>
          <p:cNvSpPr/>
          <p:nvPr/>
        </p:nvSpPr>
        <p:spPr>
          <a:xfrm>
            <a:off x="2138363" y="4281488"/>
            <a:ext cx="584200" cy="2043112"/>
          </a:xfrm>
          <a:prstGeom prst="rect">
            <a:avLst/>
          </a:prstGeom>
          <a:solidFill>
            <a:schemeClr val="hlink">
              <a:alpha val="25000"/>
            </a:schemeClr>
          </a:solidFill>
          <a:ln w="38100">
            <a:noFill/>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46" name="直接连接符 163845"/>
          <p:cNvSpPr/>
          <p:nvPr/>
        </p:nvSpPr>
        <p:spPr>
          <a:xfrm>
            <a:off x="461963" y="5697538"/>
            <a:ext cx="3175" cy="673100"/>
          </a:xfrm>
          <a:prstGeom prst="line">
            <a:avLst/>
          </a:prstGeom>
          <a:ln w="25400" cap="flat" cmpd="sng">
            <a:solidFill>
              <a:schemeClr val="accent2"/>
            </a:solidFill>
            <a:prstDash val="solid"/>
            <a:headEnd type="none" w="med" len="med"/>
            <a:tailEnd type="none" w="med" len="med"/>
          </a:ln>
        </p:spPr>
      </p:sp>
      <p:sp>
        <p:nvSpPr>
          <p:cNvPr id="163847" name="直接连接符 163846"/>
          <p:cNvSpPr/>
          <p:nvPr/>
        </p:nvSpPr>
        <p:spPr>
          <a:xfrm flipH="1">
            <a:off x="469900" y="6370638"/>
            <a:ext cx="4097338" cy="1587"/>
          </a:xfrm>
          <a:prstGeom prst="line">
            <a:avLst/>
          </a:prstGeom>
          <a:ln w="25400" cap="flat" cmpd="sng">
            <a:solidFill>
              <a:schemeClr val="accent2"/>
            </a:solidFill>
            <a:prstDash val="solid"/>
            <a:headEnd type="none" w="med" len="med"/>
            <a:tailEnd type="none" w="med" len="med"/>
          </a:ln>
        </p:spPr>
      </p:sp>
      <p:sp>
        <p:nvSpPr>
          <p:cNvPr id="163848" name="直接连接符 163847"/>
          <p:cNvSpPr/>
          <p:nvPr/>
        </p:nvSpPr>
        <p:spPr>
          <a:xfrm>
            <a:off x="461963" y="4691063"/>
            <a:ext cx="3175" cy="785812"/>
          </a:xfrm>
          <a:prstGeom prst="line">
            <a:avLst/>
          </a:prstGeom>
          <a:ln w="25400" cap="flat" cmpd="sng">
            <a:solidFill>
              <a:schemeClr val="accent2"/>
            </a:solidFill>
            <a:prstDash val="solid"/>
            <a:headEnd type="none" w="med" len="med"/>
            <a:tailEnd type="none" w="med" len="med"/>
          </a:ln>
        </p:spPr>
      </p:sp>
      <p:sp>
        <p:nvSpPr>
          <p:cNvPr id="163849" name="直接连接符 163848"/>
          <p:cNvSpPr/>
          <p:nvPr/>
        </p:nvSpPr>
        <p:spPr>
          <a:xfrm flipH="1">
            <a:off x="461963" y="5364163"/>
            <a:ext cx="4110037" cy="1587"/>
          </a:xfrm>
          <a:prstGeom prst="line">
            <a:avLst/>
          </a:prstGeom>
          <a:ln w="25400" cap="flat" cmpd="sng">
            <a:solidFill>
              <a:schemeClr val="accent2"/>
            </a:solidFill>
            <a:prstDash val="solid"/>
            <a:headEnd type="none" w="med" len="med"/>
            <a:tailEnd type="none" w="med" len="med"/>
          </a:ln>
        </p:spPr>
      </p:sp>
      <p:sp>
        <p:nvSpPr>
          <p:cNvPr id="163850" name="任意多边形 163849"/>
          <p:cNvSpPr>
            <a:spLocks noEditPoints="1"/>
          </p:cNvSpPr>
          <p:nvPr/>
        </p:nvSpPr>
        <p:spPr>
          <a:xfrm>
            <a:off x="454025" y="4848225"/>
            <a:ext cx="3333750" cy="12700"/>
          </a:xfrm>
          <a:custGeom>
            <a:avLst/>
            <a:gdLst/>
            <a:ahLst/>
            <a:cxnLst/>
            <a:pathLst>
              <a:path w="2100" h="8">
                <a:moveTo>
                  <a:pt x="10" y="0"/>
                </a:moveTo>
                <a:lnTo>
                  <a:pt x="57" y="0"/>
                </a:lnTo>
                <a:lnTo>
                  <a:pt x="59" y="0"/>
                </a:lnTo>
                <a:lnTo>
                  <a:pt x="62" y="1"/>
                </a:lnTo>
                <a:lnTo>
                  <a:pt x="65" y="2"/>
                </a:lnTo>
                <a:lnTo>
                  <a:pt x="65" y="3"/>
                </a:lnTo>
                <a:lnTo>
                  <a:pt x="65" y="6"/>
                </a:lnTo>
                <a:lnTo>
                  <a:pt x="62" y="7"/>
                </a:lnTo>
                <a:lnTo>
                  <a:pt x="59" y="7"/>
                </a:lnTo>
                <a:lnTo>
                  <a:pt x="57" y="7"/>
                </a:lnTo>
                <a:lnTo>
                  <a:pt x="10" y="7"/>
                </a:lnTo>
                <a:lnTo>
                  <a:pt x="5" y="7"/>
                </a:lnTo>
                <a:lnTo>
                  <a:pt x="2" y="6"/>
                </a:lnTo>
                <a:lnTo>
                  <a:pt x="2" y="5"/>
                </a:lnTo>
                <a:lnTo>
                  <a:pt x="0" y="3"/>
                </a:lnTo>
                <a:lnTo>
                  <a:pt x="2" y="2"/>
                </a:lnTo>
                <a:lnTo>
                  <a:pt x="2" y="1"/>
                </a:lnTo>
                <a:lnTo>
                  <a:pt x="5" y="0"/>
                </a:lnTo>
                <a:lnTo>
                  <a:pt x="10" y="0"/>
                </a:lnTo>
                <a:lnTo>
                  <a:pt x="10" y="0"/>
                </a:lnTo>
                <a:close/>
                <a:moveTo>
                  <a:pt x="122" y="0"/>
                </a:moveTo>
                <a:lnTo>
                  <a:pt x="171" y="0"/>
                </a:lnTo>
                <a:lnTo>
                  <a:pt x="174" y="0"/>
                </a:lnTo>
                <a:lnTo>
                  <a:pt x="176" y="1"/>
                </a:lnTo>
                <a:lnTo>
                  <a:pt x="179" y="2"/>
                </a:lnTo>
                <a:lnTo>
                  <a:pt x="179" y="3"/>
                </a:lnTo>
                <a:lnTo>
                  <a:pt x="179" y="6"/>
                </a:lnTo>
                <a:lnTo>
                  <a:pt x="176" y="7"/>
                </a:lnTo>
                <a:lnTo>
                  <a:pt x="174" y="7"/>
                </a:lnTo>
                <a:lnTo>
                  <a:pt x="171" y="7"/>
                </a:lnTo>
                <a:lnTo>
                  <a:pt x="122" y="7"/>
                </a:lnTo>
                <a:lnTo>
                  <a:pt x="119" y="7"/>
                </a:lnTo>
                <a:lnTo>
                  <a:pt x="117" y="7"/>
                </a:lnTo>
                <a:lnTo>
                  <a:pt x="114" y="6"/>
                </a:lnTo>
                <a:lnTo>
                  <a:pt x="114" y="3"/>
                </a:lnTo>
                <a:lnTo>
                  <a:pt x="114" y="2"/>
                </a:lnTo>
                <a:lnTo>
                  <a:pt x="117" y="1"/>
                </a:lnTo>
                <a:lnTo>
                  <a:pt x="119" y="0"/>
                </a:lnTo>
                <a:lnTo>
                  <a:pt x="122" y="0"/>
                </a:lnTo>
                <a:lnTo>
                  <a:pt x="122" y="0"/>
                </a:lnTo>
                <a:close/>
                <a:moveTo>
                  <a:pt x="236" y="0"/>
                </a:moveTo>
                <a:lnTo>
                  <a:pt x="285" y="0"/>
                </a:lnTo>
                <a:lnTo>
                  <a:pt x="288" y="0"/>
                </a:lnTo>
                <a:lnTo>
                  <a:pt x="291" y="1"/>
                </a:lnTo>
                <a:lnTo>
                  <a:pt x="293" y="2"/>
                </a:lnTo>
                <a:lnTo>
                  <a:pt x="293" y="3"/>
                </a:lnTo>
                <a:lnTo>
                  <a:pt x="293" y="6"/>
                </a:lnTo>
                <a:lnTo>
                  <a:pt x="291" y="7"/>
                </a:lnTo>
                <a:lnTo>
                  <a:pt x="288" y="7"/>
                </a:lnTo>
                <a:lnTo>
                  <a:pt x="285" y="7"/>
                </a:lnTo>
                <a:lnTo>
                  <a:pt x="236" y="7"/>
                </a:lnTo>
                <a:lnTo>
                  <a:pt x="233" y="7"/>
                </a:lnTo>
                <a:lnTo>
                  <a:pt x="231" y="7"/>
                </a:lnTo>
                <a:lnTo>
                  <a:pt x="228" y="6"/>
                </a:lnTo>
                <a:lnTo>
                  <a:pt x="228" y="3"/>
                </a:lnTo>
                <a:lnTo>
                  <a:pt x="228" y="2"/>
                </a:lnTo>
                <a:lnTo>
                  <a:pt x="231" y="1"/>
                </a:lnTo>
                <a:lnTo>
                  <a:pt x="233" y="0"/>
                </a:lnTo>
                <a:lnTo>
                  <a:pt x="236" y="0"/>
                </a:lnTo>
                <a:lnTo>
                  <a:pt x="236" y="0"/>
                </a:lnTo>
                <a:close/>
                <a:moveTo>
                  <a:pt x="350" y="0"/>
                </a:moveTo>
                <a:lnTo>
                  <a:pt x="400" y="0"/>
                </a:lnTo>
                <a:lnTo>
                  <a:pt x="402" y="1"/>
                </a:lnTo>
                <a:lnTo>
                  <a:pt x="405" y="1"/>
                </a:lnTo>
                <a:lnTo>
                  <a:pt x="405" y="2"/>
                </a:lnTo>
                <a:lnTo>
                  <a:pt x="408" y="3"/>
                </a:lnTo>
                <a:lnTo>
                  <a:pt x="405" y="6"/>
                </a:lnTo>
                <a:lnTo>
                  <a:pt x="405" y="7"/>
                </a:lnTo>
                <a:lnTo>
                  <a:pt x="402" y="7"/>
                </a:lnTo>
                <a:lnTo>
                  <a:pt x="400" y="8"/>
                </a:lnTo>
                <a:lnTo>
                  <a:pt x="350" y="8"/>
                </a:lnTo>
                <a:lnTo>
                  <a:pt x="348" y="7"/>
                </a:lnTo>
                <a:lnTo>
                  <a:pt x="345" y="7"/>
                </a:lnTo>
                <a:lnTo>
                  <a:pt x="343" y="6"/>
                </a:lnTo>
                <a:lnTo>
                  <a:pt x="343" y="3"/>
                </a:lnTo>
                <a:lnTo>
                  <a:pt x="343" y="2"/>
                </a:lnTo>
                <a:lnTo>
                  <a:pt x="345" y="1"/>
                </a:lnTo>
                <a:lnTo>
                  <a:pt x="348" y="1"/>
                </a:lnTo>
                <a:lnTo>
                  <a:pt x="350" y="0"/>
                </a:lnTo>
                <a:lnTo>
                  <a:pt x="350" y="0"/>
                </a:lnTo>
                <a:close/>
                <a:moveTo>
                  <a:pt x="465" y="0"/>
                </a:moveTo>
                <a:lnTo>
                  <a:pt x="512" y="0"/>
                </a:lnTo>
                <a:lnTo>
                  <a:pt x="514" y="1"/>
                </a:lnTo>
                <a:lnTo>
                  <a:pt x="517" y="1"/>
                </a:lnTo>
                <a:lnTo>
                  <a:pt x="519" y="2"/>
                </a:lnTo>
                <a:lnTo>
                  <a:pt x="519" y="3"/>
                </a:lnTo>
                <a:lnTo>
                  <a:pt x="519" y="6"/>
                </a:lnTo>
                <a:lnTo>
                  <a:pt x="517" y="7"/>
                </a:lnTo>
                <a:lnTo>
                  <a:pt x="514" y="7"/>
                </a:lnTo>
                <a:lnTo>
                  <a:pt x="512" y="8"/>
                </a:lnTo>
                <a:lnTo>
                  <a:pt x="465" y="8"/>
                </a:lnTo>
                <a:lnTo>
                  <a:pt x="460" y="7"/>
                </a:lnTo>
                <a:lnTo>
                  <a:pt x="457" y="7"/>
                </a:lnTo>
                <a:lnTo>
                  <a:pt x="457" y="6"/>
                </a:lnTo>
                <a:lnTo>
                  <a:pt x="454" y="3"/>
                </a:lnTo>
                <a:lnTo>
                  <a:pt x="457" y="2"/>
                </a:lnTo>
                <a:lnTo>
                  <a:pt x="457" y="1"/>
                </a:lnTo>
                <a:lnTo>
                  <a:pt x="460" y="1"/>
                </a:lnTo>
                <a:lnTo>
                  <a:pt x="465" y="0"/>
                </a:lnTo>
                <a:lnTo>
                  <a:pt x="465" y="0"/>
                </a:lnTo>
                <a:close/>
                <a:moveTo>
                  <a:pt x="577" y="0"/>
                </a:moveTo>
                <a:lnTo>
                  <a:pt x="626" y="0"/>
                </a:lnTo>
                <a:lnTo>
                  <a:pt x="629" y="1"/>
                </a:lnTo>
                <a:lnTo>
                  <a:pt x="631" y="1"/>
                </a:lnTo>
                <a:lnTo>
                  <a:pt x="634" y="2"/>
                </a:lnTo>
                <a:lnTo>
                  <a:pt x="634" y="3"/>
                </a:lnTo>
                <a:lnTo>
                  <a:pt x="634" y="6"/>
                </a:lnTo>
                <a:lnTo>
                  <a:pt x="631" y="7"/>
                </a:lnTo>
                <a:lnTo>
                  <a:pt x="629" y="7"/>
                </a:lnTo>
                <a:lnTo>
                  <a:pt x="626" y="8"/>
                </a:lnTo>
                <a:lnTo>
                  <a:pt x="577" y="8"/>
                </a:lnTo>
                <a:lnTo>
                  <a:pt x="574" y="7"/>
                </a:lnTo>
                <a:lnTo>
                  <a:pt x="571" y="7"/>
                </a:lnTo>
                <a:lnTo>
                  <a:pt x="569" y="6"/>
                </a:lnTo>
                <a:lnTo>
                  <a:pt x="569" y="3"/>
                </a:lnTo>
                <a:lnTo>
                  <a:pt x="569" y="2"/>
                </a:lnTo>
                <a:lnTo>
                  <a:pt x="571" y="1"/>
                </a:lnTo>
                <a:lnTo>
                  <a:pt x="574" y="1"/>
                </a:lnTo>
                <a:lnTo>
                  <a:pt x="577" y="0"/>
                </a:lnTo>
                <a:lnTo>
                  <a:pt x="577" y="0"/>
                </a:lnTo>
                <a:close/>
                <a:moveTo>
                  <a:pt x="691" y="0"/>
                </a:moveTo>
                <a:lnTo>
                  <a:pt x="740" y="0"/>
                </a:lnTo>
                <a:lnTo>
                  <a:pt x="743" y="1"/>
                </a:lnTo>
                <a:lnTo>
                  <a:pt x="746" y="1"/>
                </a:lnTo>
                <a:lnTo>
                  <a:pt x="748" y="2"/>
                </a:lnTo>
                <a:lnTo>
                  <a:pt x="748" y="3"/>
                </a:lnTo>
                <a:lnTo>
                  <a:pt x="748" y="6"/>
                </a:lnTo>
                <a:lnTo>
                  <a:pt x="746" y="7"/>
                </a:lnTo>
                <a:lnTo>
                  <a:pt x="743" y="7"/>
                </a:lnTo>
                <a:lnTo>
                  <a:pt x="740" y="8"/>
                </a:lnTo>
                <a:lnTo>
                  <a:pt x="691" y="8"/>
                </a:lnTo>
                <a:lnTo>
                  <a:pt x="688" y="7"/>
                </a:lnTo>
                <a:lnTo>
                  <a:pt x="686" y="7"/>
                </a:lnTo>
                <a:lnTo>
                  <a:pt x="683" y="6"/>
                </a:lnTo>
                <a:lnTo>
                  <a:pt x="683" y="3"/>
                </a:lnTo>
                <a:lnTo>
                  <a:pt x="683" y="2"/>
                </a:lnTo>
                <a:lnTo>
                  <a:pt x="686" y="1"/>
                </a:lnTo>
                <a:lnTo>
                  <a:pt x="688" y="1"/>
                </a:lnTo>
                <a:lnTo>
                  <a:pt x="691" y="0"/>
                </a:lnTo>
                <a:lnTo>
                  <a:pt x="691" y="0"/>
                </a:lnTo>
                <a:close/>
                <a:moveTo>
                  <a:pt x="805" y="0"/>
                </a:moveTo>
                <a:lnTo>
                  <a:pt x="855" y="0"/>
                </a:lnTo>
                <a:lnTo>
                  <a:pt x="857" y="1"/>
                </a:lnTo>
                <a:lnTo>
                  <a:pt x="860" y="1"/>
                </a:lnTo>
                <a:lnTo>
                  <a:pt x="860" y="2"/>
                </a:lnTo>
                <a:lnTo>
                  <a:pt x="863" y="3"/>
                </a:lnTo>
                <a:lnTo>
                  <a:pt x="860" y="6"/>
                </a:lnTo>
                <a:lnTo>
                  <a:pt x="860" y="7"/>
                </a:lnTo>
                <a:lnTo>
                  <a:pt x="857" y="7"/>
                </a:lnTo>
                <a:lnTo>
                  <a:pt x="855" y="8"/>
                </a:lnTo>
                <a:lnTo>
                  <a:pt x="805" y="8"/>
                </a:lnTo>
                <a:lnTo>
                  <a:pt x="803" y="7"/>
                </a:lnTo>
                <a:lnTo>
                  <a:pt x="800" y="7"/>
                </a:lnTo>
                <a:lnTo>
                  <a:pt x="798" y="6"/>
                </a:lnTo>
                <a:lnTo>
                  <a:pt x="798" y="3"/>
                </a:lnTo>
                <a:lnTo>
                  <a:pt x="798" y="2"/>
                </a:lnTo>
                <a:lnTo>
                  <a:pt x="800" y="1"/>
                </a:lnTo>
                <a:lnTo>
                  <a:pt x="803" y="1"/>
                </a:lnTo>
                <a:lnTo>
                  <a:pt x="805" y="0"/>
                </a:lnTo>
                <a:lnTo>
                  <a:pt x="805" y="0"/>
                </a:lnTo>
                <a:close/>
                <a:moveTo>
                  <a:pt x="920" y="0"/>
                </a:moveTo>
                <a:lnTo>
                  <a:pt x="967" y="0"/>
                </a:lnTo>
                <a:lnTo>
                  <a:pt x="969" y="1"/>
                </a:lnTo>
                <a:lnTo>
                  <a:pt x="972" y="1"/>
                </a:lnTo>
                <a:lnTo>
                  <a:pt x="974" y="2"/>
                </a:lnTo>
                <a:lnTo>
                  <a:pt x="974" y="5"/>
                </a:lnTo>
                <a:lnTo>
                  <a:pt x="974" y="6"/>
                </a:lnTo>
                <a:lnTo>
                  <a:pt x="972" y="7"/>
                </a:lnTo>
                <a:lnTo>
                  <a:pt x="969" y="7"/>
                </a:lnTo>
                <a:lnTo>
                  <a:pt x="967" y="8"/>
                </a:lnTo>
                <a:lnTo>
                  <a:pt x="920" y="8"/>
                </a:lnTo>
                <a:lnTo>
                  <a:pt x="915" y="7"/>
                </a:lnTo>
                <a:lnTo>
                  <a:pt x="912" y="7"/>
                </a:lnTo>
                <a:lnTo>
                  <a:pt x="912" y="6"/>
                </a:lnTo>
                <a:lnTo>
                  <a:pt x="909" y="3"/>
                </a:lnTo>
                <a:lnTo>
                  <a:pt x="912" y="2"/>
                </a:lnTo>
                <a:lnTo>
                  <a:pt x="912" y="1"/>
                </a:lnTo>
                <a:lnTo>
                  <a:pt x="915" y="1"/>
                </a:lnTo>
                <a:lnTo>
                  <a:pt x="920" y="0"/>
                </a:lnTo>
                <a:lnTo>
                  <a:pt x="920" y="0"/>
                </a:lnTo>
                <a:close/>
                <a:moveTo>
                  <a:pt x="1032" y="0"/>
                </a:moveTo>
                <a:lnTo>
                  <a:pt x="1081" y="0"/>
                </a:lnTo>
                <a:lnTo>
                  <a:pt x="1084" y="1"/>
                </a:lnTo>
                <a:lnTo>
                  <a:pt x="1086" y="1"/>
                </a:lnTo>
                <a:lnTo>
                  <a:pt x="1089" y="2"/>
                </a:lnTo>
                <a:lnTo>
                  <a:pt x="1089" y="5"/>
                </a:lnTo>
                <a:lnTo>
                  <a:pt x="1089" y="6"/>
                </a:lnTo>
                <a:lnTo>
                  <a:pt x="1086" y="7"/>
                </a:lnTo>
                <a:lnTo>
                  <a:pt x="1084" y="7"/>
                </a:lnTo>
                <a:lnTo>
                  <a:pt x="1081" y="8"/>
                </a:lnTo>
                <a:lnTo>
                  <a:pt x="1032" y="8"/>
                </a:lnTo>
                <a:lnTo>
                  <a:pt x="1029" y="7"/>
                </a:lnTo>
                <a:lnTo>
                  <a:pt x="1026" y="7"/>
                </a:lnTo>
                <a:lnTo>
                  <a:pt x="1024" y="6"/>
                </a:lnTo>
                <a:lnTo>
                  <a:pt x="1024" y="5"/>
                </a:lnTo>
                <a:lnTo>
                  <a:pt x="1024" y="2"/>
                </a:lnTo>
                <a:lnTo>
                  <a:pt x="1026" y="1"/>
                </a:lnTo>
                <a:lnTo>
                  <a:pt x="1029" y="1"/>
                </a:lnTo>
                <a:lnTo>
                  <a:pt x="1032" y="0"/>
                </a:lnTo>
                <a:lnTo>
                  <a:pt x="1032" y="0"/>
                </a:lnTo>
                <a:close/>
                <a:moveTo>
                  <a:pt x="1146" y="0"/>
                </a:moveTo>
                <a:lnTo>
                  <a:pt x="1195" y="0"/>
                </a:lnTo>
                <a:lnTo>
                  <a:pt x="1198" y="1"/>
                </a:lnTo>
                <a:lnTo>
                  <a:pt x="1201" y="1"/>
                </a:lnTo>
                <a:lnTo>
                  <a:pt x="1203" y="2"/>
                </a:lnTo>
                <a:lnTo>
                  <a:pt x="1203" y="5"/>
                </a:lnTo>
                <a:lnTo>
                  <a:pt x="1203" y="6"/>
                </a:lnTo>
                <a:lnTo>
                  <a:pt x="1201" y="7"/>
                </a:lnTo>
                <a:lnTo>
                  <a:pt x="1198" y="7"/>
                </a:lnTo>
                <a:lnTo>
                  <a:pt x="1195" y="8"/>
                </a:lnTo>
                <a:lnTo>
                  <a:pt x="1146" y="8"/>
                </a:lnTo>
                <a:lnTo>
                  <a:pt x="1143" y="7"/>
                </a:lnTo>
                <a:lnTo>
                  <a:pt x="1141" y="7"/>
                </a:lnTo>
                <a:lnTo>
                  <a:pt x="1138" y="6"/>
                </a:lnTo>
                <a:lnTo>
                  <a:pt x="1138" y="5"/>
                </a:lnTo>
                <a:lnTo>
                  <a:pt x="1138" y="2"/>
                </a:lnTo>
                <a:lnTo>
                  <a:pt x="1141" y="1"/>
                </a:lnTo>
                <a:lnTo>
                  <a:pt x="1143" y="1"/>
                </a:lnTo>
                <a:lnTo>
                  <a:pt x="1146" y="0"/>
                </a:lnTo>
                <a:lnTo>
                  <a:pt x="1146" y="0"/>
                </a:lnTo>
                <a:close/>
                <a:moveTo>
                  <a:pt x="1260" y="0"/>
                </a:moveTo>
                <a:lnTo>
                  <a:pt x="1310" y="0"/>
                </a:lnTo>
                <a:lnTo>
                  <a:pt x="1312" y="1"/>
                </a:lnTo>
                <a:lnTo>
                  <a:pt x="1315" y="1"/>
                </a:lnTo>
                <a:lnTo>
                  <a:pt x="1315" y="2"/>
                </a:lnTo>
                <a:lnTo>
                  <a:pt x="1317" y="5"/>
                </a:lnTo>
                <a:lnTo>
                  <a:pt x="1315" y="6"/>
                </a:lnTo>
                <a:lnTo>
                  <a:pt x="1315" y="7"/>
                </a:lnTo>
                <a:lnTo>
                  <a:pt x="1312" y="7"/>
                </a:lnTo>
                <a:lnTo>
                  <a:pt x="1310" y="8"/>
                </a:lnTo>
                <a:lnTo>
                  <a:pt x="1260" y="8"/>
                </a:lnTo>
                <a:lnTo>
                  <a:pt x="1258" y="7"/>
                </a:lnTo>
                <a:lnTo>
                  <a:pt x="1255" y="7"/>
                </a:lnTo>
                <a:lnTo>
                  <a:pt x="1252" y="6"/>
                </a:lnTo>
                <a:lnTo>
                  <a:pt x="1252" y="5"/>
                </a:lnTo>
                <a:lnTo>
                  <a:pt x="1252" y="2"/>
                </a:lnTo>
                <a:lnTo>
                  <a:pt x="1255" y="1"/>
                </a:lnTo>
                <a:lnTo>
                  <a:pt x="1258" y="1"/>
                </a:lnTo>
                <a:lnTo>
                  <a:pt x="1260" y="0"/>
                </a:lnTo>
                <a:lnTo>
                  <a:pt x="1260" y="0"/>
                </a:lnTo>
                <a:close/>
                <a:moveTo>
                  <a:pt x="1375" y="0"/>
                </a:moveTo>
                <a:lnTo>
                  <a:pt x="1421" y="0"/>
                </a:lnTo>
                <a:lnTo>
                  <a:pt x="1424" y="1"/>
                </a:lnTo>
                <a:lnTo>
                  <a:pt x="1427" y="1"/>
                </a:lnTo>
                <a:lnTo>
                  <a:pt x="1429" y="2"/>
                </a:lnTo>
                <a:lnTo>
                  <a:pt x="1429" y="5"/>
                </a:lnTo>
                <a:lnTo>
                  <a:pt x="1429" y="6"/>
                </a:lnTo>
                <a:lnTo>
                  <a:pt x="1427" y="7"/>
                </a:lnTo>
                <a:lnTo>
                  <a:pt x="1424" y="7"/>
                </a:lnTo>
                <a:lnTo>
                  <a:pt x="1421" y="8"/>
                </a:lnTo>
                <a:lnTo>
                  <a:pt x="1375" y="8"/>
                </a:lnTo>
                <a:lnTo>
                  <a:pt x="1369" y="7"/>
                </a:lnTo>
                <a:lnTo>
                  <a:pt x="1367" y="7"/>
                </a:lnTo>
                <a:lnTo>
                  <a:pt x="1367" y="6"/>
                </a:lnTo>
                <a:lnTo>
                  <a:pt x="1364" y="5"/>
                </a:lnTo>
                <a:lnTo>
                  <a:pt x="1367" y="2"/>
                </a:lnTo>
                <a:lnTo>
                  <a:pt x="1367" y="1"/>
                </a:lnTo>
                <a:lnTo>
                  <a:pt x="1369" y="1"/>
                </a:lnTo>
                <a:lnTo>
                  <a:pt x="1375" y="0"/>
                </a:lnTo>
                <a:lnTo>
                  <a:pt x="1375" y="0"/>
                </a:lnTo>
                <a:close/>
                <a:moveTo>
                  <a:pt x="1486" y="0"/>
                </a:moveTo>
                <a:lnTo>
                  <a:pt x="1536" y="0"/>
                </a:lnTo>
                <a:lnTo>
                  <a:pt x="1538" y="1"/>
                </a:lnTo>
                <a:lnTo>
                  <a:pt x="1541" y="1"/>
                </a:lnTo>
                <a:lnTo>
                  <a:pt x="1544" y="2"/>
                </a:lnTo>
                <a:lnTo>
                  <a:pt x="1544" y="5"/>
                </a:lnTo>
                <a:lnTo>
                  <a:pt x="1544" y="6"/>
                </a:lnTo>
                <a:lnTo>
                  <a:pt x="1541" y="7"/>
                </a:lnTo>
                <a:lnTo>
                  <a:pt x="1538" y="7"/>
                </a:lnTo>
                <a:lnTo>
                  <a:pt x="1536" y="8"/>
                </a:lnTo>
                <a:lnTo>
                  <a:pt x="1486" y="8"/>
                </a:lnTo>
                <a:lnTo>
                  <a:pt x="1484" y="7"/>
                </a:lnTo>
                <a:lnTo>
                  <a:pt x="1481" y="7"/>
                </a:lnTo>
                <a:lnTo>
                  <a:pt x="1479" y="6"/>
                </a:lnTo>
                <a:lnTo>
                  <a:pt x="1479" y="5"/>
                </a:lnTo>
                <a:lnTo>
                  <a:pt x="1479" y="2"/>
                </a:lnTo>
                <a:lnTo>
                  <a:pt x="1481" y="1"/>
                </a:lnTo>
                <a:lnTo>
                  <a:pt x="1484" y="1"/>
                </a:lnTo>
                <a:lnTo>
                  <a:pt x="1486" y="0"/>
                </a:lnTo>
                <a:lnTo>
                  <a:pt x="1486" y="0"/>
                </a:lnTo>
                <a:close/>
                <a:moveTo>
                  <a:pt x="1601" y="1"/>
                </a:moveTo>
                <a:lnTo>
                  <a:pt x="1650" y="1"/>
                </a:lnTo>
                <a:lnTo>
                  <a:pt x="1653" y="1"/>
                </a:lnTo>
                <a:lnTo>
                  <a:pt x="1655" y="1"/>
                </a:lnTo>
                <a:lnTo>
                  <a:pt x="1658" y="2"/>
                </a:lnTo>
                <a:lnTo>
                  <a:pt x="1658" y="5"/>
                </a:lnTo>
                <a:lnTo>
                  <a:pt x="1658" y="6"/>
                </a:lnTo>
                <a:lnTo>
                  <a:pt x="1655" y="7"/>
                </a:lnTo>
                <a:lnTo>
                  <a:pt x="1653" y="8"/>
                </a:lnTo>
                <a:lnTo>
                  <a:pt x="1650" y="8"/>
                </a:lnTo>
                <a:lnTo>
                  <a:pt x="1601" y="8"/>
                </a:lnTo>
                <a:lnTo>
                  <a:pt x="1598" y="8"/>
                </a:lnTo>
                <a:lnTo>
                  <a:pt x="1596" y="7"/>
                </a:lnTo>
                <a:lnTo>
                  <a:pt x="1593" y="6"/>
                </a:lnTo>
                <a:lnTo>
                  <a:pt x="1593" y="5"/>
                </a:lnTo>
                <a:lnTo>
                  <a:pt x="1593" y="2"/>
                </a:lnTo>
                <a:lnTo>
                  <a:pt x="1596" y="1"/>
                </a:lnTo>
                <a:lnTo>
                  <a:pt x="1598" y="1"/>
                </a:lnTo>
                <a:lnTo>
                  <a:pt x="1601" y="1"/>
                </a:lnTo>
                <a:lnTo>
                  <a:pt x="1601" y="1"/>
                </a:lnTo>
                <a:close/>
                <a:moveTo>
                  <a:pt x="1715" y="1"/>
                </a:moveTo>
                <a:lnTo>
                  <a:pt x="1765" y="1"/>
                </a:lnTo>
                <a:lnTo>
                  <a:pt x="1767" y="1"/>
                </a:lnTo>
                <a:lnTo>
                  <a:pt x="1770" y="1"/>
                </a:lnTo>
                <a:lnTo>
                  <a:pt x="1770" y="2"/>
                </a:lnTo>
                <a:lnTo>
                  <a:pt x="1772" y="5"/>
                </a:lnTo>
                <a:lnTo>
                  <a:pt x="1770" y="6"/>
                </a:lnTo>
                <a:lnTo>
                  <a:pt x="1770" y="7"/>
                </a:lnTo>
                <a:lnTo>
                  <a:pt x="1767" y="8"/>
                </a:lnTo>
                <a:lnTo>
                  <a:pt x="1765" y="8"/>
                </a:lnTo>
                <a:lnTo>
                  <a:pt x="1715" y="8"/>
                </a:lnTo>
                <a:lnTo>
                  <a:pt x="1713" y="8"/>
                </a:lnTo>
                <a:lnTo>
                  <a:pt x="1710" y="7"/>
                </a:lnTo>
                <a:lnTo>
                  <a:pt x="1707" y="6"/>
                </a:lnTo>
                <a:lnTo>
                  <a:pt x="1707" y="5"/>
                </a:lnTo>
                <a:lnTo>
                  <a:pt x="1707" y="2"/>
                </a:lnTo>
                <a:lnTo>
                  <a:pt x="1710" y="1"/>
                </a:lnTo>
                <a:lnTo>
                  <a:pt x="1713" y="1"/>
                </a:lnTo>
                <a:lnTo>
                  <a:pt x="1715" y="1"/>
                </a:lnTo>
                <a:lnTo>
                  <a:pt x="1715" y="1"/>
                </a:lnTo>
                <a:close/>
                <a:moveTo>
                  <a:pt x="1830" y="1"/>
                </a:moveTo>
                <a:lnTo>
                  <a:pt x="1876" y="1"/>
                </a:lnTo>
                <a:lnTo>
                  <a:pt x="1879" y="1"/>
                </a:lnTo>
                <a:lnTo>
                  <a:pt x="1882" y="1"/>
                </a:lnTo>
                <a:lnTo>
                  <a:pt x="1884" y="2"/>
                </a:lnTo>
                <a:lnTo>
                  <a:pt x="1884" y="5"/>
                </a:lnTo>
                <a:lnTo>
                  <a:pt x="1884" y="6"/>
                </a:lnTo>
                <a:lnTo>
                  <a:pt x="1882" y="7"/>
                </a:lnTo>
                <a:lnTo>
                  <a:pt x="1879" y="8"/>
                </a:lnTo>
                <a:lnTo>
                  <a:pt x="1876" y="8"/>
                </a:lnTo>
                <a:lnTo>
                  <a:pt x="1830" y="8"/>
                </a:lnTo>
                <a:lnTo>
                  <a:pt x="1824" y="8"/>
                </a:lnTo>
                <a:lnTo>
                  <a:pt x="1822" y="7"/>
                </a:lnTo>
                <a:lnTo>
                  <a:pt x="1822" y="6"/>
                </a:lnTo>
                <a:lnTo>
                  <a:pt x="1819" y="5"/>
                </a:lnTo>
                <a:lnTo>
                  <a:pt x="1822" y="2"/>
                </a:lnTo>
                <a:lnTo>
                  <a:pt x="1822" y="1"/>
                </a:lnTo>
                <a:lnTo>
                  <a:pt x="1824" y="1"/>
                </a:lnTo>
                <a:lnTo>
                  <a:pt x="1830" y="1"/>
                </a:lnTo>
                <a:lnTo>
                  <a:pt x="1830" y="1"/>
                </a:lnTo>
                <a:close/>
                <a:moveTo>
                  <a:pt x="1941" y="1"/>
                </a:moveTo>
                <a:lnTo>
                  <a:pt x="1991" y="1"/>
                </a:lnTo>
                <a:lnTo>
                  <a:pt x="1993" y="1"/>
                </a:lnTo>
                <a:lnTo>
                  <a:pt x="1996" y="2"/>
                </a:lnTo>
                <a:lnTo>
                  <a:pt x="1999" y="3"/>
                </a:lnTo>
                <a:lnTo>
                  <a:pt x="1999" y="5"/>
                </a:lnTo>
                <a:lnTo>
                  <a:pt x="1999" y="6"/>
                </a:lnTo>
                <a:lnTo>
                  <a:pt x="1996" y="7"/>
                </a:lnTo>
                <a:lnTo>
                  <a:pt x="1993" y="8"/>
                </a:lnTo>
                <a:lnTo>
                  <a:pt x="1991" y="8"/>
                </a:lnTo>
                <a:lnTo>
                  <a:pt x="1941" y="8"/>
                </a:lnTo>
                <a:lnTo>
                  <a:pt x="1939" y="8"/>
                </a:lnTo>
                <a:lnTo>
                  <a:pt x="1936" y="7"/>
                </a:lnTo>
                <a:lnTo>
                  <a:pt x="1934" y="6"/>
                </a:lnTo>
                <a:lnTo>
                  <a:pt x="1934" y="5"/>
                </a:lnTo>
                <a:lnTo>
                  <a:pt x="1934" y="3"/>
                </a:lnTo>
                <a:lnTo>
                  <a:pt x="1936" y="2"/>
                </a:lnTo>
                <a:lnTo>
                  <a:pt x="1939" y="1"/>
                </a:lnTo>
                <a:lnTo>
                  <a:pt x="1941" y="1"/>
                </a:lnTo>
                <a:lnTo>
                  <a:pt x="1941" y="1"/>
                </a:lnTo>
                <a:close/>
                <a:moveTo>
                  <a:pt x="2056" y="1"/>
                </a:moveTo>
                <a:lnTo>
                  <a:pt x="2092" y="1"/>
                </a:lnTo>
                <a:lnTo>
                  <a:pt x="2095" y="1"/>
                </a:lnTo>
                <a:lnTo>
                  <a:pt x="2097" y="2"/>
                </a:lnTo>
                <a:lnTo>
                  <a:pt x="2100" y="3"/>
                </a:lnTo>
                <a:lnTo>
                  <a:pt x="2100" y="5"/>
                </a:lnTo>
                <a:lnTo>
                  <a:pt x="2100" y="6"/>
                </a:lnTo>
                <a:lnTo>
                  <a:pt x="2097" y="7"/>
                </a:lnTo>
                <a:lnTo>
                  <a:pt x="2095" y="8"/>
                </a:lnTo>
                <a:lnTo>
                  <a:pt x="2092" y="8"/>
                </a:lnTo>
                <a:lnTo>
                  <a:pt x="2056" y="8"/>
                </a:lnTo>
                <a:lnTo>
                  <a:pt x="2053" y="8"/>
                </a:lnTo>
                <a:lnTo>
                  <a:pt x="2051" y="7"/>
                </a:lnTo>
                <a:lnTo>
                  <a:pt x="2048" y="6"/>
                </a:lnTo>
                <a:lnTo>
                  <a:pt x="2048" y="5"/>
                </a:lnTo>
                <a:lnTo>
                  <a:pt x="2048" y="3"/>
                </a:lnTo>
                <a:lnTo>
                  <a:pt x="2051" y="2"/>
                </a:lnTo>
                <a:lnTo>
                  <a:pt x="2053" y="1"/>
                </a:lnTo>
                <a:lnTo>
                  <a:pt x="2056" y="1"/>
                </a:lnTo>
                <a:lnTo>
                  <a:pt x="2056" y="1"/>
                </a:lnTo>
                <a:close/>
              </a:path>
            </a:pathLst>
          </a:custGeom>
          <a:solidFill>
            <a:srgbClr val="000000"/>
          </a:solidFill>
          <a:ln w="4763"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1" name="任意多边形 163850"/>
          <p:cNvSpPr/>
          <p:nvPr/>
        </p:nvSpPr>
        <p:spPr>
          <a:xfrm>
            <a:off x="474663" y="5113338"/>
            <a:ext cx="534987" cy="246062"/>
          </a:xfrm>
          <a:custGeom>
            <a:avLst/>
            <a:gdLst/>
            <a:ahLst/>
            <a:cxnLst/>
            <a:pathLst>
              <a:path w="337" h="155">
                <a:moveTo>
                  <a:pt x="337" y="0"/>
                </a:moveTo>
                <a:lnTo>
                  <a:pt x="283" y="14"/>
                </a:lnTo>
                <a:lnTo>
                  <a:pt x="257" y="22"/>
                </a:lnTo>
                <a:lnTo>
                  <a:pt x="231" y="30"/>
                </a:lnTo>
                <a:lnTo>
                  <a:pt x="205" y="38"/>
                </a:lnTo>
                <a:lnTo>
                  <a:pt x="179" y="46"/>
                </a:lnTo>
                <a:lnTo>
                  <a:pt x="156" y="55"/>
                </a:lnTo>
                <a:lnTo>
                  <a:pt x="135" y="65"/>
                </a:lnTo>
                <a:lnTo>
                  <a:pt x="114" y="76"/>
                </a:lnTo>
                <a:lnTo>
                  <a:pt x="96" y="86"/>
                </a:lnTo>
                <a:lnTo>
                  <a:pt x="78" y="97"/>
                </a:lnTo>
                <a:lnTo>
                  <a:pt x="59" y="108"/>
                </a:lnTo>
                <a:lnTo>
                  <a:pt x="44" y="120"/>
                </a:lnTo>
                <a:lnTo>
                  <a:pt x="28" y="131"/>
                </a:lnTo>
                <a:lnTo>
                  <a:pt x="0" y="155"/>
                </a:lnTo>
              </a:path>
            </a:pathLst>
          </a:custGeom>
          <a:noFill/>
          <a:ln w="53975"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2" name="任意多边形 163851"/>
          <p:cNvSpPr>
            <a:spLocks noEditPoints="1"/>
          </p:cNvSpPr>
          <p:nvPr/>
        </p:nvSpPr>
        <p:spPr>
          <a:xfrm>
            <a:off x="454025" y="5102225"/>
            <a:ext cx="3354388" cy="14288"/>
          </a:xfrm>
          <a:custGeom>
            <a:avLst/>
            <a:gdLst/>
            <a:ahLst/>
            <a:cxnLst/>
            <a:pathLst>
              <a:path w="2113" h="9">
                <a:moveTo>
                  <a:pt x="10" y="0"/>
                </a:moveTo>
                <a:lnTo>
                  <a:pt x="57" y="0"/>
                </a:lnTo>
                <a:lnTo>
                  <a:pt x="59" y="0"/>
                </a:lnTo>
                <a:lnTo>
                  <a:pt x="62" y="2"/>
                </a:lnTo>
                <a:lnTo>
                  <a:pt x="65" y="3"/>
                </a:lnTo>
                <a:lnTo>
                  <a:pt x="65" y="4"/>
                </a:lnTo>
                <a:lnTo>
                  <a:pt x="65" y="5"/>
                </a:lnTo>
                <a:lnTo>
                  <a:pt x="62" y="7"/>
                </a:lnTo>
                <a:lnTo>
                  <a:pt x="59" y="8"/>
                </a:lnTo>
                <a:lnTo>
                  <a:pt x="57" y="8"/>
                </a:lnTo>
                <a:lnTo>
                  <a:pt x="10" y="8"/>
                </a:lnTo>
                <a:lnTo>
                  <a:pt x="5" y="8"/>
                </a:lnTo>
                <a:lnTo>
                  <a:pt x="2" y="7"/>
                </a:lnTo>
                <a:lnTo>
                  <a:pt x="2" y="5"/>
                </a:lnTo>
                <a:lnTo>
                  <a:pt x="0" y="4"/>
                </a:lnTo>
                <a:lnTo>
                  <a:pt x="2" y="3"/>
                </a:lnTo>
                <a:lnTo>
                  <a:pt x="2" y="2"/>
                </a:lnTo>
                <a:lnTo>
                  <a:pt x="5" y="0"/>
                </a:lnTo>
                <a:lnTo>
                  <a:pt x="10" y="0"/>
                </a:lnTo>
                <a:lnTo>
                  <a:pt x="10" y="0"/>
                </a:lnTo>
                <a:close/>
                <a:moveTo>
                  <a:pt x="122" y="0"/>
                </a:moveTo>
                <a:lnTo>
                  <a:pt x="171" y="0"/>
                </a:lnTo>
                <a:lnTo>
                  <a:pt x="174" y="0"/>
                </a:lnTo>
                <a:lnTo>
                  <a:pt x="176" y="2"/>
                </a:lnTo>
                <a:lnTo>
                  <a:pt x="179" y="3"/>
                </a:lnTo>
                <a:lnTo>
                  <a:pt x="179" y="4"/>
                </a:lnTo>
                <a:lnTo>
                  <a:pt x="179" y="5"/>
                </a:lnTo>
                <a:lnTo>
                  <a:pt x="176" y="7"/>
                </a:lnTo>
                <a:lnTo>
                  <a:pt x="174" y="8"/>
                </a:lnTo>
                <a:lnTo>
                  <a:pt x="171" y="8"/>
                </a:lnTo>
                <a:lnTo>
                  <a:pt x="122" y="8"/>
                </a:lnTo>
                <a:lnTo>
                  <a:pt x="119" y="8"/>
                </a:lnTo>
                <a:lnTo>
                  <a:pt x="117" y="7"/>
                </a:lnTo>
                <a:lnTo>
                  <a:pt x="114" y="5"/>
                </a:lnTo>
                <a:lnTo>
                  <a:pt x="114" y="4"/>
                </a:lnTo>
                <a:lnTo>
                  <a:pt x="114" y="3"/>
                </a:lnTo>
                <a:lnTo>
                  <a:pt x="117" y="2"/>
                </a:lnTo>
                <a:lnTo>
                  <a:pt x="119" y="0"/>
                </a:lnTo>
                <a:lnTo>
                  <a:pt x="122" y="0"/>
                </a:lnTo>
                <a:lnTo>
                  <a:pt x="122" y="0"/>
                </a:lnTo>
                <a:close/>
                <a:moveTo>
                  <a:pt x="236" y="0"/>
                </a:moveTo>
                <a:lnTo>
                  <a:pt x="285" y="0"/>
                </a:lnTo>
                <a:lnTo>
                  <a:pt x="288" y="0"/>
                </a:lnTo>
                <a:lnTo>
                  <a:pt x="291" y="2"/>
                </a:lnTo>
                <a:lnTo>
                  <a:pt x="293" y="3"/>
                </a:lnTo>
                <a:lnTo>
                  <a:pt x="293" y="4"/>
                </a:lnTo>
                <a:lnTo>
                  <a:pt x="293" y="5"/>
                </a:lnTo>
                <a:lnTo>
                  <a:pt x="291" y="7"/>
                </a:lnTo>
                <a:lnTo>
                  <a:pt x="288" y="8"/>
                </a:lnTo>
                <a:lnTo>
                  <a:pt x="285" y="8"/>
                </a:lnTo>
                <a:lnTo>
                  <a:pt x="236" y="8"/>
                </a:lnTo>
                <a:lnTo>
                  <a:pt x="233" y="8"/>
                </a:lnTo>
                <a:lnTo>
                  <a:pt x="231" y="7"/>
                </a:lnTo>
                <a:lnTo>
                  <a:pt x="228" y="5"/>
                </a:lnTo>
                <a:lnTo>
                  <a:pt x="228" y="4"/>
                </a:lnTo>
                <a:lnTo>
                  <a:pt x="228" y="3"/>
                </a:lnTo>
                <a:lnTo>
                  <a:pt x="231" y="2"/>
                </a:lnTo>
                <a:lnTo>
                  <a:pt x="233" y="0"/>
                </a:lnTo>
                <a:lnTo>
                  <a:pt x="236" y="0"/>
                </a:lnTo>
                <a:lnTo>
                  <a:pt x="236" y="0"/>
                </a:lnTo>
                <a:close/>
                <a:moveTo>
                  <a:pt x="350" y="0"/>
                </a:moveTo>
                <a:lnTo>
                  <a:pt x="400" y="0"/>
                </a:lnTo>
                <a:lnTo>
                  <a:pt x="402" y="0"/>
                </a:lnTo>
                <a:lnTo>
                  <a:pt x="405" y="2"/>
                </a:lnTo>
                <a:lnTo>
                  <a:pt x="405" y="3"/>
                </a:lnTo>
                <a:lnTo>
                  <a:pt x="408" y="4"/>
                </a:lnTo>
                <a:lnTo>
                  <a:pt x="405" y="5"/>
                </a:lnTo>
                <a:lnTo>
                  <a:pt x="405" y="7"/>
                </a:lnTo>
                <a:lnTo>
                  <a:pt x="402" y="8"/>
                </a:lnTo>
                <a:lnTo>
                  <a:pt x="400" y="8"/>
                </a:lnTo>
                <a:lnTo>
                  <a:pt x="350" y="8"/>
                </a:lnTo>
                <a:lnTo>
                  <a:pt x="348" y="8"/>
                </a:lnTo>
                <a:lnTo>
                  <a:pt x="345" y="7"/>
                </a:lnTo>
                <a:lnTo>
                  <a:pt x="343" y="5"/>
                </a:lnTo>
                <a:lnTo>
                  <a:pt x="343" y="4"/>
                </a:lnTo>
                <a:lnTo>
                  <a:pt x="343" y="3"/>
                </a:lnTo>
                <a:lnTo>
                  <a:pt x="345" y="2"/>
                </a:lnTo>
                <a:lnTo>
                  <a:pt x="348" y="0"/>
                </a:lnTo>
                <a:lnTo>
                  <a:pt x="350" y="0"/>
                </a:lnTo>
                <a:lnTo>
                  <a:pt x="350" y="0"/>
                </a:lnTo>
                <a:close/>
                <a:moveTo>
                  <a:pt x="465" y="0"/>
                </a:moveTo>
                <a:lnTo>
                  <a:pt x="512" y="0"/>
                </a:lnTo>
                <a:lnTo>
                  <a:pt x="514" y="0"/>
                </a:lnTo>
                <a:lnTo>
                  <a:pt x="517" y="2"/>
                </a:lnTo>
                <a:lnTo>
                  <a:pt x="519" y="3"/>
                </a:lnTo>
                <a:lnTo>
                  <a:pt x="519" y="4"/>
                </a:lnTo>
                <a:lnTo>
                  <a:pt x="519" y="5"/>
                </a:lnTo>
                <a:lnTo>
                  <a:pt x="517" y="7"/>
                </a:lnTo>
                <a:lnTo>
                  <a:pt x="514" y="8"/>
                </a:lnTo>
                <a:lnTo>
                  <a:pt x="512" y="8"/>
                </a:lnTo>
                <a:lnTo>
                  <a:pt x="465" y="8"/>
                </a:lnTo>
                <a:lnTo>
                  <a:pt x="460" y="8"/>
                </a:lnTo>
                <a:lnTo>
                  <a:pt x="457" y="7"/>
                </a:lnTo>
                <a:lnTo>
                  <a:pt x="457" y="5"/>
                </a:lnTo>
                <a:lnTo>
                  <a:pt x="454" y="4"/>
                </a:lnTo>
                <a:lnTo>
                  <a:pt x="457" y="3"/>
                </a:lnTo>
                <a:lnTo>
                  <a:pt x="457" y="2"/>
                </a:lnTo>
                <a:lnTo>
                  <a:pt x="460" y="0"/>
                </a:lnTo>
                <a:lnTo>
                  <a:pt x="465" y="0"/>
                </a:lnTo>
                <a:lnTo>
                  <a:pt x="465" y="0"/>
                </a:lnTo>
                <a:close/>
                <a:moveTo>
                  <a:pt x="577" y="0"/>
                </a:moveTo>
                <a:lnTo>
                  <a:pt x="626" y="0"/>
                </a:lnTo>
                <a:lnTo>
                  <a:pt x="629" y="0"/>
                </a:lnTo>
                <a:lnTo>
                  <a:pt x="631" y="2"/>
                </a:lnTo>
                <a:lnTo>
                  <a:pt x="634" y="3"/>
                </a:lnTo>
                <a:lnTo>
                  <a:pt x="634" y="4"/>
                </a:lnTo>
                <a:lnTo>
                  <a:pt x="634" y="5"/>
                </a:lnTo>
                <a:lnTo>
                  <a:pt x="631" y="7"/>
                </a:lnTo>
                <a:lnTo>
                  <a:pt x="629" y="8"/>
                </a:lnTo>
                <a:lnTo>
                  <a:pt x="626" y="8"/>
                </a:lnTo>
                <a:lnTo>
                  <a:pt x="577" y="8"/>
                </a:lnTo>
                <a:lnTo>
                  <a:pt x="574" y="8"/>
                </a:lnTo>
                <a:lnTo>
                  <a:pt x="571" y="7"/>
                </a:lnTo>
                <a:lnTo>
                  <a:pt x="569" y="5"/>
                </a:lnTo>
                <a:lnTo>
                  <a:pt x="569" y="4"/>
                </a:lnTo>
                <a:lnTo>
                  <a:pt x="569" y="3"/>
                </a:lnTo>
                <a:lnTo>
                  <a:pt x="571" y="2"/>
                </a:lnTo>
                <a:lnTo>
                  <a:pt x="574" y="0"/>
                </a:lnTo>
                <a:lnTo>
                  <a:pt x="577" y="0"/>
                </a:lnTo>
                <a:lnTo>
                  <a:pt x="577" y="0"/>
                </a:lnTo>
                <a:close/>
                <a:moveTo>
                  <a:pt x="691" y="0"/>
                </a:moveTo>
                <a:lnTo>
                  <a:pt x="740" y="0"/>
                </a:lnTo>
                <a:lnTo>
                  <a:pt x="743" y="0"/>
                </a:lnTo>
                <a:lnTo>
                  <a:pt x="746" y="2"/>
                </a:lnTo>
                <a:lnTo>
                  <a:pt x="748" y="3"/>
                </a:lnTo>
                <a:lnTo>
                  <a:pt x="748" y="4"/>
                </a:lnTo>
                <a:lnTo>
                  <a:pt x="748" y="5"/>
                </a:lnTo>
                <a:lnTo>
                  <a:pt x="746" y="7"/>
                </a:lnTo>
                <a:lnTo>
                  <a:pt x="743" y="8"/>
                </a:lnTo>
                <a:lnTo>
                  <a:pt x="740" y="8"/>
                </a:lnTo>
                <a:lnTo>
                  <a:pt x="691" y="8"/>
                </a:lnTo>
                <a:lnTo>
                  <a:pt x="688" y="8"/>
                </a:lnTo>
                <a:lnTo>
                  <a:pt x="686" y="7"/>
                </a:lnTo>
                <a:lnTo>
                  <a:pt x="683" y="5"/>
                </a:lnTo>
                <a:lnTo>
                  <a:pt x="683" y="4"/>
                </a:lnTo>
                <a:lnTo>
                  <a:pt x="683" y="3"/>
                </a:lnTo>
                <a:lnTo>
                  <a:pt x="686" y="2"/>
                </a:lnTo>
                <a:lnTo>
                  <a:pt x="688" y="0"/>
                </a:lnTo>
                <a:lnTo>
                  <a:pt x="691" y="0"/>
                </a:lnTo>
                <a:lnTo>
                  <a:pt x="691" y="0"/>
                </a:lnTo>
                <a:close/>
                <a:moveTo>
                  <a:pt x="805" y="0"/>
                </a:moveTo>
                <a:lnTo>
                  <a:pt x="855" y="0"/>
                </a:lnTo>
                <a:lnTo>
                  <a:pt x="857" y="0"/>
                </a:lnTo>
                <a:lnTo>
                  <a:pt x="860" y="2"/>
                </a:lnTo>
                <a:lnTo>
                  <a:pt x="860" y="3"/>
                </a:lnTo>
                <a:lnTo>
                  <a:pt x="863" y="4"/>
                </a:lnTo>
                <a:lnTo>
                  <a:pt x="860" y="5"/>
                </a:lnTo>
                <a:lnTo>
                  <a:pt x="860" y="7"/>
                </a:lnTo>
                <a:lnTo>
                  <a:pt x="857" y="8"/>
                </a:lnTo>
                <a:lnTo>
                  <a:pt x="855" y="8"/>
                </a:lnTo>
                <a:lnTo>
                  <a:pt x="805" y="8"/>
                </a:lnTo>
                <a:lnTo>
                  <a:pt x="803" y="8"/>
                </a:lnTo>
                <a:lnTo>
                  <a:pt x="800" y="7"/>
                </a:lnTo>
                <a:lnTo>
                  <a:pt x="798" y="5"/>
                </a:lnTo>
                <a:lnTo>
                  <a:pt x="798" y="4"/>
                </a:lnTo>
                <a:lnTo>
                  <a:pt x="798" y="3"/>
                </a:lnTo>
                <a:lnTo>
                  <a:pt x="800" y="2"/>
                </a:lnTo>
                <a:lnTo>
                  <a:pt x="803" y="0"/>
                </a:lnTo>
                <a:lnTo>
                  <a:pt x="805" y="0"/>
                </a:lnTo>
                <a:lnTo>
                  <a:pt x="805" y="0"/>
                </a:lnTo>
                <a:close/>
                <a:moveTo>
                  <a:pt x="920" y="0"/>
                </a:moveTo>
                <a:lnTo>
                  <a:pt x="967" y="0"/>
                </a:lnTo>
                <a:lnTo>
                  <a:pt x="969" y="0"/>
                </a:lnTo>
                <a:lnTo>
                  <a:pt x="972" y="2"/>
                </a:lnTo>
                <a:lnTo>
                  <a:pt x="974" y="3"/>
                </a:lnTo>
                <a:lnTo>
                  <a:pt x="974" y="4"/>
                </a:lnTo>
                <a:lnTo>
                  <a:pt x="974" y="5"/>
                </a:lnTo>
                <a:lnTo>
                  <a:pt x="972" y="7"/>
                </a:lnTo>
                <a:lnTo>
                  <a:pt x="969" y="8"/>
                </a:lnTo>
                <a:lnTo>
                  <a:pt x="967" y="8"/>
                </a:lnTo>
                <a:lnTo>
                  <a:pt x="920" y="8"/>
                </a:lnTo>
                <a:lnTo>
                  <a:pt x="915" y="8"/>
                </a:lnTo>
                <a:lnTo>
                  <a:pt x="912" y="7"/>
                </a:lnTo>
                <a:lnTo>
                  <a:pt x="912" y="5"/>
                </a:lnTo>
                <a:lnTo>
                  <a:pt x="909" y="4"/>
                </a:lnTo>
                <a:lnTo>
                  <a:pt x="912" y="3"/>
                </a:lnTo>
                <a:lnTo>
                  <a:pt x="912" y="2"/>
                </a:lnTo>
                <a:lnTo>
                  <a:pt x="915" y="0"/>
                </a:lnTo>
                <a:lnTo>
                  <a:pt x="920" y="0"/>
                </a:lnTo>
                <a:lnTo>
                  <a:pt x="920" y="0"/>
                </a:lnTo>
                <a:close/>
                <a:moveTo>
                  <a:pt x="1032" y="0"/>
                </a:moveTo>
                <a:lnTo>
                  <a:pt x="1081" y="0"/>
                </a:lnTo>
                <a:lnTo>
                  <a:pt x="1084" y="0"/>
                </a:lnTo>
                <a:lnTo>
                  <a:pt x="1086" y="2"/>
                </a:lnTo>
                <a:lnTo>
                  <a:pt x="1089" y="3"/>
                </a:lnTo>
                <a:lnTo>
                  <a:pt x="1089" y="4"/>
                </a:lnTo>
                <a:lnTo>
                  <a:pt x="1089" y="5"/>
                </a:lnTo>
                <a:lnTo>
                  <a:pt x="1086" y="7"/>
                </a:lnTo>
                <a:lnTo>
                  <a:pt x="1084" y="8"/>
                </a:lnTo>
                <a:lnTo>
                  <a:pt x="1081" y="8"/>
                </a:lnTo>
                <a:lnTo>
                  <a:pt x="1032" y="8"/>
                </a:lnTo>
                <a:lnTo>
                  <a:pt x="1029" y="8"/>
                </a:lnTo>
                <a:lnTo>
                  <a:pt x="1026" y="7"/>
                </a:lnTo>
                <a:lnTo>
                  <a:pt x="1024" y="5"/>
                </a:lnTo>
                <a:lnTo>
                  <a:pt x="1024" y="4"/>
                </a:lnTo>
                <a:lnTo>
                  <a:pt x="1024" y="3"/>
                </a:lnTo>
                <a:lnTo>
                  <a:pt x="1026" y="2"/>
                </a:lnTo>
                <a:lnTo>
                  <a:pt x="1029" y="0"/>
                </a:lnTo>
                <a:lnTo>
                  <a:pt x="1032" y="0"/>
                </a:lnTo>
                <a:lnTo>
                  <a:pt x="1032" y="0"/>
                </a:lnTo>
                <a:close/>
                <a:moveTo>
                  <a:pt x="1146" y="0"/>
                </a:moveTo>
                <a:lnTo>
                  <a:pt x="1195" y="0"/>
                </a:lnTo>
                <a:lnTo>
                  <a:pt x="1198" y="0"/>
                </a:lnTo>
                <a:lnTo>
                  <a:pt x="1201" y="2"/>
                </a:lnTo>
                <a:lnTo>
                  <a:pt x="1203" y="3"/>
                </a:lnTo>
                <a:lnTo>
                  <a:pt x="1203" y="4"/>
                </a:lnTo>
                <a:lnTo>
                  <a:pt x="1203" y="5"/>
                </a:lnTo>
                <a:lnTo>
                  <a:pt x="1201" y="7"/>
                </a:lnTo>
                <a:lnTo>
                  <a:pt x="1198" y="8"/>
                </a:lnTo>
                <a:lnTo>
                  <a:pt x="1195" y="8"/>
                </a:lnTo>
                <a:lnTo>
                  <a:pt x="1146" y="8"/>
                </a:lnTo>
                <a:lnTo>
                  <a:pt x="1143" y="8"/>
                </a:lnTo>
                <a:lnTo>
                  <a:pt x="1141" y="7"/>
                </a:lnTo>
                <a:lnTo>
                  <a:pt x="1138" y="5"/>
                </a:lnTo>
                <a:lnTo>
                  <a:pt x="1138" y="4"/>
                </a:lnTo>
                <a:lnTo>
                  <a:pt x="1138" y="3"/>
                </a:lnTo>
                <a:lnTo>
                  <a:pt x="1141" y="2"/>
                </a:lnTo>
                <a:lnTo>
                  <a:pt x="1143" y="0"/>
                </a:lnTo>
                <a:lnTo>
                  <a:pt x="1146" y="0"/>
                </a:lnTo>
                <a:lnTo>
                  <a:pt x="1146" y="0"/>
                </a:lnTo>
                <a:close/>
                <a:moveTo>
                  <a:pt x="1260" y="0"/>
                </a:moveTo>
                <a:lnTo>
                  <a:pt x="1310" y="0"/>
                </a:lnTo>
                <a:lnTo>
                  <a:pt x="1312" y="0"/>
                </a:lnTo>
                <a:lnTo>
                  <a:pt x="1315" y="2"/>
                </a:lnTo>
                <a:lnTo>
                  <a:pt x="1315" y="3"/>
                </a:lnTo>
                <a:lnTo>
                  <a:pt x="1317" y="4"/>
                </a:lnTo>
                <a:lnTo>
                  <a:pt x="1315" y="5"/>
                </a:lnTo>
                <a:lnTo>
                  <a:pt x="1315" y="7"/>
                </a:lnTo>
                <a:lnTo>
                  <a:pt x="1312" y="8"/>
                </a:lnTo>
                <a:lnTo>
                  <a:pt x="1310" y="8"/>
                </a:lnTo>
                <a:lnTo>
                  <a:pt x="1260" y="8"/>
                </a:lnTo>
                <a:lnTo>
                  <a:pt x="1258" y="8"/>
                </a:lnTo>
                <a:lnTo>
                  <a:pt x="1255" y="7"/>
                </a:lnTo>
                <a:lnTo>
                  <a:pt x="1252" y="5"/>
                </a:lnTo>
                <a:lnTo>
                  <a:pt x="1252" y="4"/>
                </a:lnTo>
                <a:lnTo>
                  <a:pt x="1252" y="3"/>
                </a:lnTo>
                <a:lnTo>
                  <a:pt x="1255" y="2"/>
                </a:lnTo>
                <a:lnTo>
                  <a:pt x="1258" y="0"/>
                </a:lnTo>
                <a:lnTo>
                  <a:pt x="1260" y="0"/>
                </a:lnTo>
                <a:lnTo>
                  <a:pt x="1260" y="0"/>
                </a:lnTo>
                <a:close/>
                <a:moveTo>
                  <a:pt x="1375" y="0"/>
                </a:moveTo>
                <a:lnTo>
                  <a:pt x="1421" y="0"/>
                </a:lnTo>
                <a:lnTo>
                  <a:pt x="1424" y="0"/>
                </a:lnTo>
                <a:lnTo>
                  <a:pt x="1427" y="2"/>
                </a:lnTo>
                <a:lnTo>
                  <a:pt x="1429" y="3"/>
                </a:lnTo>
                <a:lnTo>
                  <a:pt x="1429" y="4"/>
                </a:lnTo>
                <a:lnTo>
                  <a:pt x="1429" y="5"/>
                </a:lnTo>
                <a:lnTo>
                  <a:pt x="1427" y="7"/>
                </a:lnTo>
                <a:lnTo>
                  <a:pt x="1424" y="8"/>
                </a:lnTo>
                <a:lnTo>
                  <a:pt x="1421" y="8"/>
                </a:lnTo>
                <a:lnTo>
                  <a:pt x="1375" y="8"/>
                </a:lnTo>
                <a:lnTo>
                  <a:pt x="1369" y="8"/>
                </a:lnTo>
                <a:lnTo>
                  <a:pt x="1367" y="7"/>
                </a:lnTo>
                <a:lnTo>
                  <a:pt x="1367" y="5"/>
                </a:lnTo>
                <a:lnTo>
                  <a:pt x="1364" y="4"/>
                </a:lnTo>
                <a:lnTo>
                  <a:pt x="1367" y="3"/>
                </a:lnTo>
                <a:lnTo>
                  <a:pt x="1367" y="2"/>
                </a:lnTo>
                <a:lnTo>
                  <a:pt x="1369" y="0"/>
                </a:lnTo>
                <a:lnTo>
                  <a:pt x="1375" y="0"/>
                </a:lnTo>
                <a:lnTo>
                  <a:pt x="1375" y="0"/>
                </a:lnTo>
                <a:close/>
                <a:moveTo>
                  <a:pt x="1486" y="0"/>
                </a:moveTo>
                <a:lnTo>
                  <a:pt x="1536" y="0"/>
                </a:lnTo>
                <a:lnTo>
                  <a:pt x="1538" y="0"/>
                </a:lnTo>
                <a:lnTo>
                  <a:pt x="1541" y="2"/>
                </a:lnTo>
                <a:lnTo>
                  <a:pt x="1544" y="3"/>
                </a:lnTo>
                <a:lnTo>
                  <a:pt x="1544" y="4"/>
                </a:lnTo>
                <a:lnTo>
                  <a:pt x="1544" y="5"/>
                </a:lnTo>
                <a:lnTo>
                  <a:pt x="1541" y="7"/>
                </a:lnTo>
                <a:lnTo>
                  <a:pt x="1538" y="8"/>
                </a:lnTo>
                <a:lnTo>
                  <a:pt x="1536" y="8"/>
                </a:lnTo>
                <a:lnTo>
                  <a:pt x="1486" y="8"/>
                </a:lnTo>
                <a:lnTo>
                  <a:pt x="1484" y="8"/>
                </a:lnTo>
                <a:lnTo>
                  <a:pt x="1481" y="7"/>
                </a:lnTo>
                <a:lnTo>
                  <a:pt x="1479" y="5"/>
                </a:lnTo>
                <a:lnTo>
                  <a:pt x="1479" y="4"/>
                </a:lnTo>
                <a:lnTo>
                  <a:pt x="1479" y="3"/>
                </a:lnTo>
                <a:lnTo>
                  <a:pt x="1481" y="2"/>
                </a:lnTo>
                <a:lnTo>
                  <a:pt x="1484" y="0"/>
                </a:lnTo>
                <a:lnTo>
                  <a:pt x="1486" y="0"/>
                </a:lnTo>
                <a:lnTo>
                  <a:pt x="1486" y="0"/>
                </a:lnTo>
                <a:close/>
                <a:moveTo>
                  <a:pt x="1601" y="0"/>
                </a:moveTo>
                <a:lnTo>
                  <a:pt x="1650" y="0"/>
                </a:lnTo>
                <a:lnTo>
                  <a:pt x="1653" y="0"/>
                </a:lnTo>
                <a:lnTo>
                  <a:pt x="1655" y="2"/>
                </a:lnTo>
                <a:lnTo>
                  <a:pt x="1658" y="3"/>
                </a:lnTo>
                <a:lnTo>
                  <a:pt x="1658" y="4"/>
                </a:lnTo>
                <a:lnTo>
                  <a:pt x="1658" y="5"/>
                </a:lnTo>
                <a:lnTo>
                  <a:pt x="1655" y="7"/>
                </a:lnTo>
                <a:lnTo>
                  <a:pt x="1653" y="8"/>
                </a:lnTo>
                <a:lnTo>
                  <a:pt x="1650" y="8"/>
                </a:lnTo>
                <a:lnTo>
                  <a:pt x="1601" y="8"/>
                </a:lnTo>
                <a:lnTo>
                  <a:pt x="1598" y="8"/>
                </a:lnTo>
                <a:lnTo>
                  <a:pt x="1596" y="7"/>
                </a:lnTo>
                <a:lnTo>
                  <a:pt x="1593" y="5"/>
                </a:lnTo>
                <a:lnTo>
                  <a:pt x="1593" y="4"/>
                </a:lnTo>
                <a:lnTo>
                  <a:pt x="1593" y="3"/>
                </a:lnTo>
                <a:lnTo>
                  <a:pt x="1596" y="2"/>
                </a:lnTo>
                <a:lnTo>
                  <a:pt x="1598" y="0"/>
                </a:lnTo>
                <a:lnTo>
                  <a:pt x="1601" y="0"/>
                </a:lnTo>
                <a:lnTo>
                  <a:pt x="1601" y="0"/>
                </a:lnTo>
                <a:close/>
                <a:moveTo>
                  <a:pt x="1715" y="0"/>
                </a:moveTo>
                <a:lnTo>
                  <a:pt x="1765" y="0"/>
                </a:lnTo>
                <a:lnTo>
                  <a:pt x="1767" y="0"/>
                </a:lnTo>
                <a:lnTo>
                  <a:pt x="1770" y="2"/>
                </a:lnTo>
                <a:lnTo>
                  <a:pt x="1770" y="3"/>
                </a:lnTo>
                <a:lnTo>
                  <a:pt x="1772" y="4"/>
                </a:lnTo>
                <a:lnTo>
                  <a:pt x="1770" y="7"/>
                </a:lnTo>
                <a:lnTo>
                  <a:pt x="1770" y="8"/>
                </a:lnTo>
                <a:lnTo>
                  <a:pt x="1767" y="8"/>
                </a:lnTo>
                <a:lnTo>
                  <a:pt x="1765" y="8"/>
                </a:lnTo>
                <a:lnTo>
                  <a:pt x="1715" y="8"/>
                </a:lnTo>
                <a:lnTo>
                  <a:pt x="1713" y="8"/>
                </a:lnTo>
                <a:lnTo>
                  <a:pt x="1710" y="8"/>
                </a:lnTo>
                <a:lnTo>
                  <a:pt x="1707" y="5"/>
                </a:lnTo>
                <a:lnTo>
                  <a:pt x="1707" y="4"/>
                </a:lnTo>
                <a:lnTo>
                  <a:pt x="1707" y="3"/>
                </a:lnTo>
                <a:lnTo>
                  <a:pt x="1710" y="2"/>
                </a:lnTo>
                <a:lnTo>
                  <a:pt x="1713" y="0"/>
                </a:lnTo>
                <a:lnTo>
                  <a:pt x="1715" y="0"/>
                </a:lnTo>
                <a:lnTo>
                  <a:pt x="1715" y="0"/>
                </a:lnTo>
                <a:close/>
                <a:moveTo>
                  <a:pt x="1830" y="0"/>
                </a:moveTo>
                <a:lnTo>
                  <a:pt x="1876" y="0"/>
                </a:lnTo>
                <a:lnTo>
                  <a:pt x="1879" y="0"/>
                </a:lnTo>
                <a:lnTo>
                  <a:pt x="1882" y="2"/>
                </a:lnTo>
                <a:lnTo>
                  <a:pt x="1884" y="3"/>
                </a:lnTo>
                <a:lnTo>
                  <a:pt x="1884" y="4"/>
                </a:lnTo>
                <a:lnTo>
                  <a:pt x="1884" y="7"/>
                </a:lnTo>
                <a:lnTo>
                  <a:pt x="1882" y="8"/>
                </a:lnTo>
                <a:lnTo>
                  <a:pt x="1879" y="8"/>
                </a:lnTo>
                <a:lnTo>
                  <a:pt x="1876" y="8"/>
                </a:lnTo>
                <a:lnTo>
                  <a:pt x="1830" y="8"/>
                </a:lnTo>
                <a:lnTo>
                  <a:pt x="1824" y="8"/>
                </a:lnTo>
                <a:lnTo>
                  <a:pt x="1822" y="8"/>
                </a:lnTo>
                <a:lnTo>
                  <a:pt x="1822" y="7"/>
                </a:lnTo>
                <a:lnTo>
                  <a:pt x="1819" y="4"/>
                </a:lnTo>
                <a:lnTo>
                  <a:pt x="1822" y="3"/>
                </a:lnTo>
                <a:lnTo>
                  <a:pt x="1822" y="2"/>
                </a:lnTo>
                <a:lnTo>
                  <a:pt x="1824" y="0"/>
                </a:lnTo>
                <a:lnTo>
                  <a:pt x="1830" y="0"/>
                </a:lnTo>
                <a:lnTo>
                  <a:pt x="1830" y="0"/>
                </a:lnTo>
                <a:close/>
                <a:moveTo>
                  <a:pt x="1941" y="0"/>
                </a:moveTo>
                <a:lnTo>
                  <a:pt x="1991" y="0"/>
                </a:lnTo>
                <a:lnTo>
                  <a:pt x="1993" y="0"/>
                </a:lnTo>
                <a:lnTo>
                  <a:pt x="1996" y="2"/>
                </a:lnTo>
                <a:lnTo>
                  <a:pt x="1999" y="3"/>
                </a:lnTo>
                <a:lnTo>
                  <a:pt x="1999" y="4"/>
                </a:lnTo>
                <a:lnTo>
                  <a:pt x="1999" y="7"/>
                </a:lnTo>
                <a:lnTo>
                  <a:pt x="1996" y="8"/>
                </a:lnTo>
                <a:lnTo>
                  <a:pt x="1993" y="8"/>
                </a:lnTo>
                <a:lnTo>
                  <a:pt x="1991" y="8"/>
                </a:lnTo>
                <a:lnTo>
                  <a:pt x="1941" y="8"/>
                </a:lnTo>
                <a:lnTo>
                  <a:pt x="1939" y="8"/>
                </a:lnTo>
                <a:lnTo>
                  <a:pt x="1936" y="8"/>
                </a:lnTo>
                <a:lnTo>
                  <a:pt x="1934" y="7"/>
                </a:lnTo>
                <a:lnTo>
                  <a:pt x="1934" y="4"/>
                </a:lnTo>
                <a:lnTo>
                  <a:pt x="1934" y="3"/>
                </a:lnTo>
                <a:lnTo>
                  <a:pt x="1936" y="2"/>
                </a:lnTo>
                <a:lnTo>
                  <a:pt x="1939" y="0"/>
                </a:lnTo>
                <a:lnTo>
                  <a:pt x="1941" y="0"/>
                </a:lnTo>
                <a:lnTo>
                  <a:pt x="1941" y="0"/>
                </a:lnTo>
                <a:close/>
                <a:moveTo>
                  <a:pt x="2056" y="0"/>
                </a:moveTo>
                <a:lnTo>
                  <a:pt x="2105" y="0"/>
                </a:lnTo>
                <a:lnTo>
                  <a:pt x="2108" y="2"/>
                </a:lnTo>
                <a:lnTo>
                  <a:pt x="2110" y="2"/>
                </a:lnTo>
                <a:lnTo>
                  <a:pt x="2113" y="3"/>
                </a:lnTo>
                <a:lnTo>
                  <a:pt x="2113" y="4"/>
                </a:lnTo>
                <a:lnTo>
                  <a:pt x="2113" y="7"/>
                </a:lnTo>
                <a:lnTo>
                  <a:pt x="2110" y="8"/>
                </a:lnTo>
                <a:lnTo>
                  <a:pt x="2108" y="8"/>
                </a:lnTo>
                <a:lnTo>
                  <a:pt x="2105" y="9"/>
                </a:lnTo>
                <a:lnTo>
                  <a:pt x="2056" y="9"/>
                </a:lnTo>
                <a:lnTo>
                  <a:pt x="2053" y="8"/>
                </a:lnTo>
                <a:lnTo>
                  <a:pt x="2051" y="8"/>
                </a:lnTo>
                <a:lnTo>
                  <a:pt x="2048" y="7"/>
                </a:lnTo>
                <a:lnTo>
                  <a:pt x="2048" y="4"/>
                </a:lnTo>
                <a:lnTo>
                  <a:pt x="2048" y="3"/>
                </a:lnTo>
                <a:lnTo>
                  <a:pt x="2051" y="2"/>
                </a:lnTo>
                <a:lnTo>
                  <a:pt x="2053" y="2"/>
                </a:lnTo>
                <a:lnTo>
                  <a:pt x="2056" y="0"/>
                </a:lnTo>
                <a:lnTo>
                  <a:pt x="2056" y="0"/>
                </a:lnTo>
                <a:close/>
              </a:path>
            </a:pathLst>
          </a:custGeom>
          <a:solidFill>
            <a:srgbClr val="000000"/>
          </a:solidFill>
          <a:ln w="4763"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3" name="任意多边形 163852"/>
          <p:cNvSpPr>
            <a:spLocks noEditPoints="1"/>
          </p:cNvSpPr>
          <p:nvPr/>
        </p:nvSpPr>
        <p:spPr>
          <a:xfrm>
            <a:off x="1006475" y="4237038"/>
            <a:ext cx="28575" cy="1703387"/>
          </a:xfrm>
          <a:custGeom>
            <a:avLst/>
            <a:gdLst/>
            <a:ahLst/>
            <a:cxnLst/>
            <a:pathLst>
              <a:path w="18" h="1073">
                <a:moveTo>
                  <a:pt x="0" y="1068"/>
                </a:moveTo>
                <a:lnTo>
                  <a:pt x="0" y="1045"/>
                </a:lnTo>
                <a:lnTo>
                  <a:pt x="0" y="1042"/>
                </a:lnTo>
                <a:lnTo>
                  <a:pt x="2" y="1041"/>
                </a:lnTo>
                <a:lnTo>
                  <a:pt x="5" y="1041"/>
                </a:lnTo>
                <a:lnTo>
                  <a:pt x="8" y="1041"/>
                </a:lnTo>
                <a:lnTo>
                  <a:pt x="13" y="1041"/>
                </a:lnTo>
                <a:lnTo>
                  <a:pt x="15" y="1041"/>
                </a:lnTo>
                <a:lnTo>
                  <a:pt x="15" y="1042"/>
                </a:lnTo>
                <a:lnTo>
                  <a:pt x="15" y="1045"/>
                </a:lnTo>
                <a:lnTo>
                  <a:pt x="15" y="1068"/>
                </a:lnTo>
                <a:lnTo>
                  <a:pt x="15" y="1070"/>
                </a:lnTo>
                <a:lnTo>
                  <a:pt x="13" y="1072"/>
                </a:lnTo>
                <a:lnTo>
                  <a:pt x="10" y="1072"/>
                </a:lnTo>
                <a:lnTo>
                  <a:pt x="8" y="1073"/>
                </a:lnTo>
                <a:lnTo>
                  <a:pt x="5" y="1072"/>
                </a:lnTo>
                <a:lnTo>
                  <a:pt x="2" y="1072"/>
                </a:lnTo>
                <a:lnTo>
                  <a:pt x="0" y="1070"/>
                </a:lnTo>
                <a:lnTo>
                  <a:pt x="0" y="1068"/>
                </a:lnTo>
                <a:lnTo>
                  <a:pt x="0" y="1068"/>
                </a:lnTo>
                <a:close/>
                <a:moveTo>
                  <a:pt x="0" y="1013"/>
                </a:moveTo>
                <a:lnTo>
                  <a:pt x="0" y="989"/>
                </a:lnTo>
                <a:lnTo>
                  <a:pt x="0" y="988"/>
                </a:lnTo>
                <a:lnTo>
                  <a:pt x="2" y="987"/>
                </a:lnTo>
                <a:lnTo>
                  <a:pt x="5" y="986"/>
                </a:lnTo>
                <a:lnTo>
                  <a:pt x="8" y="986"/>
                </a:lnTo>
                <a:lnTo>
                  <a:pt x="13" y="986"/>
                </a:lnTo>
                <a:lnTo>
                  <a:pt x="15" y="987"/>
                </a:lnTo>
                <a:lnTo>
                  <a:pt x="15" y="988"/>
                </a:lnTo>
                <a:lnTo>
                  <a:pt x="15" y="989"/>
                </a:lnTo>
                <a:lnTo>
                  <a:pt x="15" y="1013"/>
                </a:lnTo>
                <a:lnTo>
                  <a:pt x="15" y="1015"/>
                </a:lnTo>
                <a:lnTo>
                  <a:pt x="15" y="1016"/>
                </a:lnTo>
                <a:lnTo>
                  <a:pt x="13" y="1017"/>
                </a:lnTo>
                <a:lnTo>
                  <a:pt x="8" y="1017"/>
                </a:lnTo>
                <a:lnTo>
                  <a:pt x="5" y="1017"/>
                </a:lnTo>
                <a:lnTo>
                  <a:pt x="2" y="1016"/>
                </a:lnTo>
                <a:lnTo>
                  <a:pt x="0" y="1015"/>
                </a:lnTo>
                <a:lnTo>
                  <a:pt x="0" y="1013"/>
                </a:lnTo>
                <a:lnTo>
                  <a:pt x="0" y="1013"/>
                </a:lnTo>
                <a:close/>
                <a:moveTo>
                  <a:pt x="0" y="958"/>
                </a:moveTo>
                <a:lnTo>
                  <a:pt x="0" y="934"/>
                </a:lnTo>
                <a:lnTo>
                  <a:pt x="0" y="932"/>
                </a:lnTo>
                <a:lnTo>
                  <a:pt x="2" y="931"/>
                </a:lnTo>
                <a:lnTo>
                  <a:pt x="5" y="930"/>
                </a:lnTo>
                <a:lnTo>
                  <a:pt x="8" y="930"/>
                </a:lnTo>
                <a:lnTo>
                  <a:pt x="13" y="930"/>
                </a:lnTo>
                <a:lnTo>
                  <a:pt x="15" y="931"/>
                </a:lnTo>
                <a:lnTo>
                  <a:pt x="15" y="932"/>
                </a:lnTo>
                <a:lnTo>
                  <a:pt x="15" y="934"/>
                </a:lnTo>
                <a:lnTo>
                  <a:pt x="15" y="958"/>
                </a:lnTo>
                <a:lnTo>
                  <a:pt x="15" y="959"/>
                </a:lnTo>
                <a:lnTo>
                  <a:pt x="15" y="960"/>
                </a:lnTo>
                <a:lnTo>
                  <a:pt x="13" y="961"/>
                </a:lnTo>
                <a:lnTo>
                  <a:pt x="8" y="961"/>
                </a:lnTo>
                <a:lnTo>
                  <a:pt x="5" y="961"/>
                </a:lnTo>
                <a:lnTo>
                  <a:pt x="2" y="960"/>
                </a:lnTo>
                <a:lnTo>
                  <a:pt x="0" y="959"/>
                </a:lnTo>
                <a:lnTo>
                  <a:pt x="0" y="958"/>
                </a:lnTo>
                <a:lnTo>
                  <a:pt x="0" y="958"/>
                </a:lnTo>
                <a:close/>
                <a:moveTo>
                  <a:pt x="0" y="902"/>
                </a:moveTo>
                <a:lnTo>
                  <a:pt x="0" y="878"/>
                </a:lnTo>
                <a:lnTo>
                  <a:pt x="2" y="877"/>
                </a:lnTo>
                <a:lnTo>
                  <a:pt x="2" y="875"/>
                </a:lnTo>
                <a:lnTo>
                  <a:pt x="5" y="875"/>
                </a:lnTo>
                <a:lnTo>
                  <a:pt x="8" y="874"/>
                </a:lnTo>
                <a:lnTo>
                  <a:pt x="13" y="875"/>
                </a:lnTo>
                <a:lnTo>
                  <a:pt x="15" y="875"/>
                </a:lnTo>
                <a:lnTo>
                  <a:pt x="15" y="877"/>
                </a:lnTo>
                <a:lnTo>
                  <a:pt x="18" y="878"/>
                </a:lnTo>
                <a:lnTo>
                  <a:pt x="18" y="902"/>
                </a:lnTo>
                <a:lnTo>
                  <a:pt x="15" y="903"/>
                </a:lnTo>
                <a:lnTo>
                  <a:pt x="15" y="905"/>
                </a:lnTo>
                <a:lnTo>
                  <a:pt x="13" y="906"/>
                </a:lnTo>
                <a:lnTo>
                  <a:pt x="8" y="906"/>
                </a:lnTo>
                <a:lnTo>
                  <a:pt x="5" y="906"/>
                </a:lnTo>
                <a:lnTo>
                  <a:pt x="2" y="905"/>
                </a:lnTo>
                <a:lnTo>
                  <a:pt x="0" y="903"/>
                </a:lnTo>
                <a:lnTo>
                  <a:pt x="0" y="902"/>
                </a:lnTo>
                <a:lnTo>
                  <a:pt x="0" y="902"/>
                </a:lnTo>
                <a:close/>
                <a:moveTo>
                  <a:pt x="0" y="846"/>
                </a:moveTo>
                <a:lnTo>
                  <a:pt x="0" y="824"/>
                </a:lnTo>
                <a:lnTo>
                  <a:pt x="2" y="821"/>
                </a:lnTo>
                <a:lnTo>
                  <a:pt x="2" y="820"/>
                </a:lnTo>
                <a:lnTo>
                  <a:pt x="5" y="820"/>
                </a:lnTo>
                <a:lnTo>
                  <a:pt x="8" y="820"/>
                </a:lnTo>
                <a:lnTo>
                  <a:pt x="13" y="820"/>
                </a:lnTo>
                <a:lnTo>
                  <a:pt x="15" y="820"/>
                </a:lnTo>
                <a:lnTo>
                  <a:pt x="15" y="821"/>
                </a:lnTo>
                <a:lnTo>
                  <a:pt x="18" y="824"/>
                </a:lnTo>
                <a:lnTo>
                  <a:pt x="18" y="846"/>
                </a:lnTo>
                <a:lnTo>
                  <a:pt x="15" y="849"/>
                </a:lnTo>
                <a:lnTo>
                  <a:pt x="15" y="850"/>
                </a:lnTo>
                <a:lnTo>
                  <a:pt x="13" y="850"/>
                </a:lnTo>
                <a:lnTo>
                  <a:pt x="8" y="851"/>
                </a:lnTo>
                <a:lnTo>
                  <a:pt x="5" y="850"/>
                </a:lnTo>
                <a:lnTo>
                  <a:pt x="2" y="850"/>
                </a:lnTo>
                <a:lnTo>
                  <a:pt x="2" y="849"/>
                </a:lnTo>
                <a:lnTo>
                  <a:pt x="0" y="846"/>
                </a:lnTo>
                <a:lnTo>
                  <a:pt x="0" y="846"/>
                </a:lnTo>
                <a:close/>
                <a:moveTo>
                  <a:pt x="0" y="792"/>
                </a:moveTo>
                <a:lnTo>
                  <a:pt x="0" y="768"/>
                </a:lnTo>
                <a:lnTo>
                  <a:pt x="2" y="767"/>
                </a:lnTo>
                <a:lnTo>
                  <a:pt x="2" y="765"/>
                </a:lnTo>
                <a:lnTo>
                  <a:pt x="5" y="764"/>
                </a:lnTo>
                <a:lnTo>
                  <a:pt x="8" y="764"/>
                </a:lnTo>
                <a:lnTo>
                  <a:pt x="13" y="764"/>
                </a:lnTo>
                <a:lnTo>
                  <a:pt x="15" y="765"/>
                </a:lnTo>
                <a:lnTo>
                  <a:pt x="15" y="767"/>
                </a:lnTo>
                <a:lnTo>
                  <a:pt x="18" y="768"/>
                </a:lnTo>
                <a:lnTo>
                  <a:pt x="18" y="792"/>
                </a:lnTo>
                <a:lnTo>
                  <a:pt x="15" y="793"/>
                </a:lnTo>
                <a:lnTo>
                  <a:pt x="15" y="795"/>
                </a:lnTo>
                <a:lnTo>
                  <a:pt x="13" y="796"/>
                </a:lnTo>
                <a:lnTo>
                  <a:pt x="8" y="796"/>
                </a:lnTo>
                <a:lnTo>
                  <a:pt x="5" y="796"/>
                </a:lnTo>
                <a:lnTo>
                  <a:pt x="2" y="795"/>
                </a:lnTo>
                <a:lnTo>
                  <a:pt x="2" y="793"/>
                </a:lnTo>
                <a:lnTo>
                  <a:pt x="0" y="792"/>
                </a:lnTo>
                <a:lnTo>
                  <a:pt x="0" y="792"/>
                </a:lnTo>
                <a:close/>
                <a:moveTo>
                  <a:pt x="0" y="736"/>
                </a:moveTo>
                <a:lnTo>
                  <a:pt x="0" y="712"/>
                </a:lnTo>
                <a:lnTo>
                  <a:pt x="2" y="711"/>
                </a:lnTo>
                <a:lnTo>
                  <a:pt x="2" y="710"/>
                </a:lnTo>
                <a:lnTo>
                  <a:pt x="5" y="708"/>
                </a:lnTo>
                <a:lnTo>
                  <a:pt x="8" y="708"/>
                </a:lnTo>
                <a:lnTo>
                  <a:pt x="13" y="708"/>
                </a:lnTo>
                <a:lnTo>
                  <a:pt x="15" y="710"/>
                </a:lnTo>
                <a:lnTo>
                  <a:pt x="15" y="711"/>
                </a:lnTo>
                <a:lnTo>
                  <a:pt x="18" y="712"/>
                </a:lnTo>
                <a:lnTo>
                  <a:pt x="18" y="736"/>
                </a:lnTo>
                <a:lnTo>
                  <a:pt x="15" y="738"/>
                </a:lnTo>
                <a:lnTo>
                  <a:pt x="15" y="739"/>
                </a:lnTo>
                <a:lnTo>
                  <a:pt x="13" y="740"/>
                </a:lnTo>
                <a:lnTo>
                  <a:pt x="8" y="740"/>
                </a:lnTo>
                <a:lnTo>
                  <a:pt x="5" y="740"/>
                </a:lnTo>
                <a:lnTo>
                  <a:pt x="2" y="739"/>
                </a:lnTo>
                <a:lnTo>
                  <a:pt x="2" y="738"/>
                </a:lnTo>
                <a:lnTo>
                  <a:pt x="0" y="736"/>
                </a:lnTo>
                <a:lnTo>
                  <a:pt x="0" y="736"/>
                </a:lnTo>
                <a:close/>
                <a:moveTo>
                  <a:pt x="0" y="681"/>
                </a:moveTo>
                <a:lnTo>
                  <a:pt x="0" y="657"/>
                </a:lnTo>
                <a:lnTo>
                  <a:pt x="2" y="655"/>
                </a:lnTo>
                <a:lnTo>
                  <a:pt x="2" y="654"/>
                </a:lnTo>
                <a:lnTo>
                  <a:pt x="5" y="654"/>
                </a:lnTo>
                <a:lnTo>
                  <a:pt x="8" y="653"/>
                </a:lnTo>
                <a:lnTo>
                  <a:pt x="13" y="654"/>
                </a:lnTo>
                <a:lnTo>
                  <a:pt x="15" y="654"/>
                </a:lnTo>
                <a:lnTo>
                  <a:pt x="15" y="655"/>
                </a:lnTo>
                <a:lnTo>
                  <a:pt x="18" y="657"/>
                </a:lnTo>
                <a:lnTo>
                  <a:pt x="18" y="681"/>
                </a:lnTo>
                <a:lnTo>
                  <a:pt x="15" y="682"/>
                </a:lnTo>
                <a:lnTo>
                  <a:pt x="15" y="683"/>
                </a:lnTo>
                <a:lnTo>
                  <a:pt x="13" y="684"/>
                </a:lnTo>
                <a:lnTo>
                  <a:pt x="8" y="684"/>
                </a:lnTo>
                <a:lnTo>
                  <a:pt x="5" y="684"/>
                </a:lnTo>
                <a:lnTo>
                  <a:pt x="2" y="683"/>
                </a:lnTo>
                <a:lnTo>
                  <a:pt x="2" y="682"/>
                </a:lnTo>
                <a:lnTo>
                  <a:pt x="0" y="681"/>
                </a:lnTo>
                <a:lnTo>
                  <a:pt x="0" y="681"/>
                </a:lnTo>
                <a:close/>
                <a:moveTo>
                  <a:pt x="0" y="625"/>
                </a:moveTo>
                <a:lnTo>
                  <a:pt x="0" y="602"/>
                </a:lnTo>
                <a:lnTo>
                  <a:pt x="2" y="600"/>
                </a:lnTo>
                <a:lnTo>
                  <a:pt x="2" y="598"/>
                </a:lnTo>
                <a:lnTo>
                  <a:pt x="5" y="598"/>
                </a:lnTo>
                <a:lnTo>
                  <a:pt x="8" y="598"/>
                </a:lnTo>
                <a:lnTo>
                  <a:pt x="13" y="598"/>
                </a:lnTo>
                <a:lnTo>
                  <a:pt x="15" y="598"/>
                </a:lnTo>
                <a:lnTo>
                  <a:pt x="15" y="600"/>
                </a:lnTo>
                <a:lnTo>
                  <a:pt x="18" y="602"/>
                </a:lnTo>
                <a:lnTo>
                  <a:pt x="18" y="625"/>
                </a:lnTo>
                <a:lnTo>
                  <a:pt x="15" y="628"/>
                </a:lnTo>
                <a:lnTo>
                  <a:pt x="15" y="629"/>
                </a:lnTo>
                <a:lnTo>
                  <a:pt x="13" y="629"/>
                </a:lnTo>
                <a:lnTo>
                  <a:pt x="8" y="630"/>
                </a:lnTo>
                <a:lnTo>
                  <a:pt x="5" y="629"/>
                </a:lnTo>
                <a:lnTo>
                  <a:pt x="2" y="629"/>
                </a:lnTo>
                <a:lnTo>
                  <a:pt x="2" y="628"/>
                </a:lnTo>
                <a:lnTo>
                  <a:pt x="0" y="625"/>
                </a:lnTo>
                <a:lnTo>
                  <a:pt x="0" y="625"/>
                </a:lnTo>
                <a:close/>
                <a:moveTo>
                  <a:pt x="0" y="571"/>
                </a:moveTo>
                <a:lnTo>
                  <a:pt x="0" y="547"/>
                </a:lnTo>
                <a:lnTo>
                  <a:pt x="2" y="545"/>
                </a:lnTo>
                <a:lnTo>
                  <a:pt x="2" y="544"/>
                </a:lnTo>
                <a:lnTo>
                  <a:pt x="5" y="543"/>
                </a:lnTo>
                <a:lnTo>
                  <a:pt x="10" y="543"/>
                </a:lnTo>
                <a:lnTo>
                  <a:pt x="13" y="543"/>
                </a:lnTo>
                <a:lnTo>
                  <a:pt x="15" y="544"/>
                </a:lnTo>
                <a:lnTo>
                  <a:pt x="15" y="545"/>
                </a:lnTo>
                <a:lnTo>
                  <a:pt x="18" y="547"/>
                </a:lnTo>
                <a:lnTo>
                  <a:pt x="18" y="571"/>
                </a:lnTo>
                <a:lnTo>
                  <a:pt x="15" y="572"/>
                </a:lnTo>
                <a:lnTo>
                  <a:pt x="15" y="573"/>
                </a:lnTo>
                <a:lnTo>
                  <a:pt x="13" y="574"/>
                </a:lnTo>
                <a:lnTo>
                  <a:pt x="10" y="574"/>
                </a:lnTo>
                <a:lnTo>
                  <a:pt x="5" y="574"/>
                </a:lnTo>
                <a:lnTo>
                  <a:pt x="2" y="573"/>
                </a:lnTo>
                <a:lnTo>
                  <a:pt x="2" y="572"/>
                </a:lnTo>
                <a:lnTo>
                  <a:pt x="0" y="571"/>
                </a:lnTo>
                <a:lnTo>
                  <a:pt x="0" y="571"/>
                </a:lnTo>
                <a:close/>
                <a:moveTo>
                  <a:pt x="0" y="515"/>
                </a:moveTo>
                <a:lnTo>
                  <a:pt x="0" y="491"/>
                </a:lnTo>
                <a:lnTo>
                  <a:pt x="2" y="490"/>
                </a:lnTo>
                <a:lnTo>
                  <a:pt x="2" y="488"/>
                </a:lnTo>
                <a:lnTo>
                  <a:pt x="5" y="487"/>
                </a:lnTo>
                <a:lnTo>
                  <a:pt x="10" y="487"/>
                </a:lnTo>
                <a:lnTo>
                  <a:pt x="13" y="487"/>
                </a:lnTo>
                <a:lnTo>
                  <a:pt x="15" y="488"/>
                </a:lnTo>
                <a:lnTo>
                  <a:pt x="15" y="490"/>
                </a:lnTo>
                <a:lnTo>
                  <a:pt x="18" y="491"/>
                </a:lnTo>
                <a:lnTo>
                  <a:pt x="18" y="515"/>
                </a:lnTo>
                <a:lnTo>
                  <a:pt x="15" y="516"/>
                </a:lnTo>
                <a:lnTo>
                  <a:pt x="15" y="517"/>
                </a:lnTo>
                <a:lnTo>
                  <a:pt x="13" y="519"/>
                </a:lnTo>
                <a:lnTo>
                  <a:pt x="10" y="519"/>
                </a:lnTo>
                <a:lnTo>
                  <a:pt x="5" y="519"/>
                </a:lnTo>
                <a:lnTo>
                  <a:pt x="2" y="517"/>
                </a:lnTo>
                <a:lnTo>
                  <a:pt x="2" y="516"/>
                </a:lnTo>
                <a:lnTo>
                  <a:pt x="0" y="515"/>
                </a:lnTo>
                <a:lnTo>
                  <a:pt x="0" y="515"/>
                </a:lnTo>
                <a:close/>
                <a:moveTo>
                  <a:pt x="0" y="459"/>
                </a:moveTo>
                <a:lnTo>
                  <a:pt x="0" y="435"/>
                </a:lnTo>
                <a:lnTo>
                  <a:pt x="2" y="434"/>
                </a:lnTo>
                <a:lnTo>
                  <a:pt x="2" y="433"/>
                </a:lnTo>
                <a:lnTo>
                  <a:pt x="5" y="433"/>
                </a:lnTo>
                <a:lnTo>
                  <a:pt x="10" y="431"/>
                </a:lnTo>
                <a:lnTo>
                  <a:pt x="13" y="433"/>
                </a:lnTo>
                <a:lnTo>
                  <a:pt x="15" y="433"/>
                </a:lnTo>
                <a:lnTo>
                  <a:pt x="15" y="434"/>
                </a:lnTo>
                <a:lnTo>
                  <a:pt x="18" y="435"/>
                </a:lnTo>
                <a:lnTo>
                  <a:pt x="18" y="459"/>
                </a:lnTo>
                <a:lnTo>
                  <a:pt x="15" y="461"/>
                </a:lnTo>
                <a:lnTo>
                  <a:pt x="15" y="462"/>
                </a:lnTo>
                <a:lnTo>
                  <a:pt x="13" y="463"/>
                </a:lnTo>
                <a:lnTo>
                  <a:pt x="10" y="463"/>
                </a:lnTo>
                <a:lnTo>
                  <a:pt x="5" y="463"/>
                </a:lnTo>
                <a:lnTo>
                  <a:pt x="2" y="462"/>
                </a:lnTo>
                <a:lnTo>
                  <a:pt x="2" y="461"/>
                </a:lnTo>
                <a:lnTo>
                  <a:pt x="0" y="459"/>
                </a:lnTo>
                <a:lnTo>
                  <a:pt x="0" y="459"/>
                </a:lnTo>
                <a:close/>
                <a:moveTo>
                  <a:pt x="0" y="404"/>
                </a:moveTo>
                <a:lnTo>
                  <a:pt x="0" y="381"/>
                </a:lnTo>
                <a:lnTo>
                  <a:pt x="2" y="378"/>
                </a:lnTo>
                <a:lnTo>
                  <a:pt x="2" y="377"/>
                </a:lnTo>
                <a:lnTo>
                  <a:pt x="5" y="377"/>
                </a:lnTo>
                <a:lnTo>
                  <a:pt x="10" y="377"/>
                </a:lnTo>
                <a:lnTo>
                  <a:pt x="13" y="377"/>
                </a:lnTo>
                <a:lnTo>
                  <a:pt x="15" y="377"/>
                </a:lnTo>
                <a:lnTo>
                  <a:pt x="15" y="378"/>
                </a:lnTo>
                <a:lnTo>
                  <a:pt x="18" y="381"/>
                </a:lnTo>
                <a:lnTo>
                  <a:pt x="18" y="404"/>
                </a:lnTo>
                <a:lnTo>
                  <a:pt x="15" y="406"/>
                </a:lnTo>
                <a:lnTo>
                  <a:pt x="15" y="407"/>
                </a:lnTo>
                <a:lnTo>
                  <a:pt x="13" y="407"/>
                </a:lnTo>
                <a:lnTo>
                  <a:pt x="10" y="409"/>
                </a:lnTo>
                <a:lnTo>
                  <a:pt x="5" y="407"/>
                </a:lnTo>
                <a:lnTo>
                  <a:pt x="2" y="407"/>
                </a:lnTo>
                <a:lnTo>
                  <a:pt x="2" y="406"/>
                </a:lnTo>
                <a:lnTo>
                  <a:pt x="0" y="404"/>
                </a:lnTo>
                <a:lnTo>
                  <a:pt x="0" y="404"/>
                </a:lnTo>
                <a:close/>
                <a:moveTo>
                  <a:pt x="0" y="349"/>
                </a:moveTo>
                <a:lnTo>
                  <a:pt x="0" y="325"/>
                </a:lnTo>
                <a:lnTo>
                  <a:pt x="2" y="324"/>
                </a:lnTo>
                <a:lnTo>
                  <a:pt x="2" y="323"/>
                </a:lnTo>
                <a:lnTo>
                  <a:pt x="5" y="321"/>
                </a:lnTo>
                <a:lnTo>
                  <a:pt x="10" y="321"/>
                </a:lnTo>
                <a:lnTo>
                  <a:pt x="13" y="321"/>
                </a:lnTo>
                <a:lnTo>
                  <a:pt x="15" y="323"/>
                </a:lnTo>
                <a:lnTo>
                  <a:pt x="15" y="324"/>
                </a:lnTo>
                <a:lnTo>
                  <a:pt x="18" y="325"/>
                </a:lnTo>
                <a:lnTo>
                  <a:pt x="18" y="349"/>
                </a:lnTo>
                <a:lnTo>
                  <a:pt x="15" y="350"/>
                </a:lnTo>
                <a:lnTo>
                  <a:pt x="15" y="352"/>
                </a:lnTo>
                <a:lnTo>
                  <a:pt x="13" y="353"/>
                </a:lnTo>
                <a:lnTo>
                  <a:pt x="10" y="353"/>
                </a:lnTo>
                <a:lnTo>
                  <a:pt x="5" y="353"/>
                </a:lnTo>
                <a:lnTo>
                  <a:pt x="2" y="352"/>
                </a:lnTo>
                <a:lnTo>
                  <a:pt x="2" y="350"/>
                </a:lnTo>
                <a:lnTo>
                  <a:pt x="0" y="349"/>
                </a:lnTo>
                <a:lnTo>
                  <a:pt x="0" y="349"/>
                </a:lnTo>
                <a:close/>
                <a:moveTo>
                  <a:pt x="0" y="294"/>
                </a:moveTo>
                <a:lnTo>
                  <a:pt x="0" y="270"/>
                </a:lnTo>
                <a:lnTo>
                  <a:pt x="2" y="268"/>
                </a:lnTo>
                <a:lnTo>
                  <a:pt x="2" y="267"/>
                </a:lnTo>
                <a:lnTo>
                  <a:pt x="5" y="266"/>
                </a:lnTo>
                <a:lnTo>
                  <a:pt x="10" y="266"/>
                </a:lnTo>
                <a:lnTo>
                  <a:pt x="13" y="266"/>
                </a:lnTo>
                <a:lnTo>
                  <a:pt x="15" y="267"/>
                </a:lnTo>
                <a:lnTo>
                  <a:pt x="15" y="268"/>
                </a:lnTo>
                <a:lnTo>
                  <a:pt x="18" y="270"/>
                </a:lnTo>
                <a:lnTo>
                  <a:pt x="18" y="294"/>
                </a:lnTo>
                <a:lnTo>
                  <a:pt x="15" y="295"/>
                </a:lnTo>
                <a:lnTo>
                  <a:pt x="15" y="296"/>
                </a:lnTo>
                <a:lnTo>
                  <a:pt x="13" y="297"/>
                </a:lnTo>
                <a:lnTo>
                  <a:pt x="10" y="297"/>
                </a:lnTo>
                <a:lnTo>
                  <a:pt x="5" y="297"/>
                </a:lnTo>
                <a:lnTo>
                  <a:pt x="2" y="296"/>
                </a:lnTo>
                <a:lnTo>
                  <a:pt x="2" y="295"/>
                </a:lnTo>
                <a:lnTo>
                  <a:pt x="0" y="294"/>
                </a:lnTo>
                <a:lnTo>
                  <a:pt x="0" y="294"/>
                </a:lnTo>
                <a:close/>
                <a:moveTo>
                  <a:pt x="2" y="238"/>
                </a:moveTo>
                <a:lnTo>
                  <a:pt x="2" y="214"/>
                </a:lnTo>
                <a:lnTo>
                  <a:pt x="2" y="213"/>
                </a:lnTo>
                <a:lnTo>
                  <a:pt x="2" y="211"/>
                </a:lnTo>
                <a:lnTo>
                  <a:pt x="5" y="211"/>
                </a:lnTo>
                <a:lnTo>
                  <a:pt x="10" y="210"/>
                </a:lnTo>
                <a:lnTo>
                  <a:pt x="13" y="211"/>
                </a:lnTo>
                <a:lnTo>
                  <a:pt x="15" y="211"/>
                </a:lnTo>
                <a:lnTo>
                  <a:pt x="18" y="213"/>
                </a:lnTo>
                <a:lnTo>
                  <a:pt x="18" y="214"/>
                </a:lnTo>
                <a:lnTo>
                  <a:pt x="18" y="238"/>
                </a:lnTo>
                <a:lnTo>
                  <a:pt x="18" y="239"/>
                </a:lnTo>
                <a:lnTo>
                  <a:pt x="15" y="240"/>
                </a:lnTo>
                <a:lnTo>
                  <a:pt x="13" y="242"/>
                </a:lnTo>
                <a:lnTo>
                  <a:pt x="10" y="242"/>
                </a:lnTo>
                <a:lnTo>
                  <a:pt x="5" y="242"/>
                </a:lnTo>
                <a:lnTo>
                  <a:pt x="2" y="240"/>
                </a:lnTo>
                <a:lnTo>
                  <a:pt x="2" y="239"/>
                </a:lnTo>
                <a:lnTo>
                  <a:pt x="2" y="238"/>
                </a:lnTo>
                <a:lnTo>
                  <a:pt x="2" y="238"/>
                </a:lnTo>
                <a:close/>
                <a:moveTo>
                  <a:pt x="2" y="182"/>
                </a:moveTo>
                <a:lnTo>
                  <a:pt x="2" y="159"/>
                </a:lnTo>
                <a:lnTo>
                  <a:pt x="2" y="157"/>
                </a:lnTo>
                <a:lnTo>
                  <a:pt x="2" y="156"/>
                </a:lnTo>
                <a:lnTo>
                  <a:pt x="5" y="156"/>
                </a:lnTo>
                <a:lnTo>
                  <a:pt x="10" y="156"/>
                </a:lnTo>
                <a:lnTo>
                  <a:pt x="13" y="156"/>
                </a:lnTo>
                <a:lnTo>
                  <a:pt x="15" y="156"/>
                </a:lnTo>
                <a:lnTo>
                  <a:pt x="18" y="157"/>
                </a:lnTo>
                <a:lnTo>
                  <a:pt x="18" y="159"/>
                </a:lnTo>
                <a:lnTo>
                  <a:pt x="18" y="182"/>
                </a:lnTo>
                <a:lnTo>
                  <a:pt x="18" y="185"/>
                </a:lnTo>
                <a:lnTo>
                  <a:pt x="15" y="186"/>
                </a:lnTo>
                <a:lnTo>
                  <a:pt x="13" y="186"/>
                </a:lnTo>
                <a:lnTo>
                  <a:pt x="10" y="187"/>
                </a:lnTo>
                <a:lnTo>
                  <a:pt x="5" y="186"/>
                </a:lnTo>
                <a:lnTo>
                  <a:pt x="2" y="186"/>
                </a:lnTo>
                <a:lnTo>
                  <a:pt x="2" y="185"/>
                </a:lnTo>
                <a:lnTo>
                  <a:pt x="2" y="182"/>
                </a:lnTo>
                <a:lnTo>
                  <a:pt x="2" y="182"/>
                </a:lnTo>
                <a:close/>
                <a:moveTo>
                  <a:pt x="2" y="128"/>
                </a:moveTo>
                <a:lnTo>
                  <a:pt x="2" y="104"/>
                </a:lnTo>
                <a:lnTo>
                  <a:pt x="2" y="103"/>
                </a:lnTo>
                <a:lnTo>
                  <a:pt x="5" y="101"/>
                </a:lnTo>
                <a:lnTo>
                  <a:pt x="8" y="100"/>
                </a:lnTo>
                <a:lnTo>
                  <a:pt x="10" y="100"/>
                </a:lnTo>
                <a:lnTo>
                  <a:pt x="13" y="100"/>
                </a:lnTo>
                <a:lnTo>
                  <a:pt x="15" y="101"/>
                </a:lnTo>
                <a:lnTo>
                  <a:pt x="18" y="103"/>
                </a:lnTo>
                <a:lnTo>
                  <a:pt x="18" y="104"/>
                </a:lnTo>
                <a:lnTo>
                  <a:pt x="18" y="128"/>
                </a:lnTo>
                <a:lnTo>
                  <a:pt x="18" y="129"/>
                </a:lnTo>
                <a:lnTo>
                  <a:pt x="15" y="130"/>
                </a:lnTo>
                <a:lnTo>
                  <a:pt x="13" y="132"/>
                </a:lnTo>
                <a:lnTo>
                  <a:pt x="10" y="132"/>
                </a:lnTo>
                <a:lnTo>
                  <a:pt x="5" y="132"/>
                </a:lnTo>
                <a:lnTo>
                  <a:pt x="2" y="130"/>
                </a:lnTo>
                <a:lnTo>
                  <a:pt x="2" y="129"/>
                </a:lnTo>
                <a:lnTo>
                  <a:pt x="2" y="128"/>
                </a:lnTo>
                <a:lnTo>
                  <a:pt x="2" y="128"/>
                </a:lnTo>
                <a:close/>
                <a:moveTo>
                  <a:pt x="2" y="72"/>
                </a:moveTo>
                <a:lnTo>
                  <a:pt x="2" y="48"/>
                </a:lnTo>
                <a:lnTo>
                  <a:pt x="2" y="47"/>
                </a:lnTo>
                <a:lnTo>
                  <a:pt x="5" y="46"/>
                </a:lnTo>
                <a:lnTo>
                  <a:pt x="8" y="44"/>
                </a:lnTo>
                <a:lnTo>
                  <a:pt x="10" y="44"/>
                </a:lnTo>
                <a:lnTo>
                  <a:pt x="13" y="44"/>
                </a:lnTo>
                <a:lnTo>
                  <a:pt x="15" y="46"/>
                </a:lnTo>
                <a:lnTo>
                  <a:pt x="18" y="47"/>
                </a:lnTo>
                <a:lnTo>
                  <a:pt x="18" y="48"/>
                </a:lnTo>
                <a:lnTo>
                  <a:pt x="18" y="72"/>
                </a:lnTo>
                <a:lnTo>
                  <a:pt x="18" y="73"/>
                </a:lnTo>
                <a:lnTo>
                  <a:pt x="15" y="75"/>
                </a:lnTo>
                <a:lnTo>
                  <a:pt x="13" y="76"/>
                </a:lnTo>
                <a:lnTo>
                  <a:pt x="10" y="76"/>
                </a:lnTo>
                <a:lnTo>
                  <a:pt x="8" y="76"/>
                </a:lnTo>
                <a:lnTo>
                  <a:pt x="5" y="75"/>
                </a:lnTo>
                <a:lnTo>
                  <a:pt x="2" y="73"/>
                </a:lnTo>
                <a:lnTo>
                  <a:pt x="2" y="72"/>
                </a:lnTo>
                <a:lnTo>
                  <a:pt x="2" y="72"/>
                </a:lnTo>
                <a:close/>
                <a:moveTo>
                  <a:pt x="2" y="17"/>
                </a:moveTo>
                <a:lnTo>
                  <a:pt x="2" y="4"/>
                </a:lnTo>
                <a:lnTo>
                  <a:pt x="2" y="3"/>
                </a:lnTo>
                <a:lnTo>
                  <a:pt x="5" y="1"/>
                </a:lnTo>
                <a:lnTo>
                  <a:pt x="8" y="0"/>
                </a:lnTo>
                <a:lnTo>
                  <a:pt x="10" y="0"/>
                </a:lnTo>
                <a:lnTo>
                  <a:pt x="13" y="0"/>
                </a:lnTo>
                <a:lnTo>
                  <a:pt x="15" y="1"/>
                </a:lnTo>
                <a:lnTo>
                  <a:pt x="18" y="3"/>
                </a:lnTo>
                <a:lnTo>
                  <a:pt x="18" y="4"/>
                </a:lnTo>
                <a:lnTo>
                  <a:pt x="18" y="17"/>
                </a:lnTo>
                <a:lnTo>
                  <a:pt x="18" y="18"/>
                </a:lnTo>
                <a:lnTo>
                  <a:pt x="15" y="19"/>
                </a:lnTo>
                <a:lnTo>
                  <a:pt x="13" y="20"/>
                </a:lnTo>
                <a:lnTo>
                  <a:pt x="10" y="20"/>
                </a:lnTo>
                <a:lnTo>
                  <a:pt x="8" y="20"/>
                </a:lnTo>
                <a:lnTo>
                  <a:pt x="5" y="19"/>
                </a:lnTo>
                <a:lnTo>
                  <a:pt x="2" y="18"/>
                </a:lnTo>
                <a:lnTo>
                  <a:pt x="2" y="17"/>
                </a:lnTo>
                <a:lnTo>
                  <a:pt x="2" y="17"/>
                </a:lnTo>
                <a:close/>
              </a:path>
            </a:pathLst>
          </a:custGeom>
          <a:solidFill>
            <a:srgbClr val="000000">
              <a:alpha val="25000"/>
            </a:srgbClr>
          </a:solidFill>
          <a:ln w="4763" cap="flat" cmpd="sng">
            <a:solidFill>
              <a:srgbClr val="000000"/>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4" name="任意多边形 163853"/>
          <p:cNvSpPr>
            <a:spLocks noEditPoints="1"/>
          </p:cNvSpPr>
          <p:nvPr/>
        </p:nvSpPr>
        <p:spPr>
          <a:xfrm>
            <a:off x="1558925" y="4321175"/>
            <a:ext cx="28575" cy="1604963"/>
          </a:xfrm>
          <a:custGeom>
            <a:avLst/>
            <a:gdLst/>
            <a:ahLst/>
            <a:cxnLst/>
            <a:pathLst>
              <a:path w="18" h="1011">
                <a:moveTo>
                  <a:pt x="0" y="1007"/>
                </a:moveTo>
                <a:lnTo>
                  <a:pt x="0" y="983"/>
                </a:lnTo>
                <a:lnTo>
                  <a:pt x="0" y="982"/>
                </a:lnTo>
                <a:lnTo>
                  <a:pt x="3" y="981"/>
                </a:lnTo>
                <a:lnTo>
                  <a:pt x="5" y="979"/>
                </a:lnTo>
                <a:lnTo>
                  <a:pt x="8" y="979"/>
                </a:lnTo>
                <a:lnTo>
                  <a:pt x="11" y="979"/>
                </a:lnTo>
                <a:lnTo>
                  <a:pt x="13" y="981"/>
                </a:lnTo>
                <a:lnTo>
                  <a:pt x="16" y="982"/>
                </a:lnTo>
                <a:lnTo>
                  <a:pt x="16" y="983"/>
                </a:lnTo>
                <a:lnTo>
                  <a:pt x="16" y="1007"/>
                </a:lnTo>
                <a:lnTo>
                  <a:pt x="16" y="1008"/>
                </a:lnTo>
                <a:lnTo>
                  <a:pt x="13" y="1010"/>
                </a:lnTo>
                <a:lnTo>
                  <a:pt x="11" y="1011"/>
                </a:lnTo>
                <a:lnTo>
                  <a:pt x="8" y="1011"/>
                </a:lnTo>
                <a:lnTo>
                  <a:pt x="5" y="1011"/>
                </a:lnTo>
                <a:lnTo>
                  <a:pt x="3" y="1010"/>
                </a:lnTo>
                <a:lnTo>
                  <a:pt x="0" y="1008"/>
                </a:lnTo>
                <a:lnTo>
                  <a:pt x="0" y="1007"/>
                </a:lnTo>
                <a:lnTo>
                  <a:pt x="0" y="1007"/>
                </a:lnTo>
                <a:close/>
                <a:moveTo>
                  <a:pt x="0" y="952"/>
                </a:moveTo>
                <a:lnTo>
                  <a:pt x="0" y="927"/>
                </a:lnTo>
                <a:lnTo>
                  <a:pt x="0" y="926"/>
                </a:lnTo>
                <a:lnTo>
                  <a:pt x="3" y="925"/>
                </a:lnTo>
                <a:lnTo>
                  <a:pt x="5" y="924"/>
                </a:lnTo>
                <a:lnTo>
                  <a:pt x="8" y="924"/>
                </a:lnTo>
                <a:lnTo>
                  <a:pt x="11" y="924"/>
                </a:lnTo>
                <a:lnTo>
                  <a:pt x="13" y="925"/>
                </a:lnTo>
                <a:lnTo>
                  <a:pt x="16" y="926"/>
                </a:lnTo>
                <a:lnTo>
                  <a:pt x="16" y="927"/>
                </a:lnTo>
                <a:lnTo>
                  <a:pt x="16" y="952"/>
                </a:lnTo>
                <a:lnTo>
                  <a:pt x="16" y="953"/>
                </a:lnTo>
                <a:lnTo>
                  <a:pt x="13" y="954"/>
                </a:lnTo>
                <a:lnTo>
                  <a:pt x="11" y="955"/>
                </a:lnTo>
                <a:lnTo>
                  <a:pt x="8" y="955"/>
                </a:lnTo>
                <a:lnTo>
                  <a:pt x="5" y="955"/>
                </a:lnTo>
                <a:lnTo>
                  <a:pt x="3" y="954"/>
                </a:lnTo>
                <a:lnTo>
                  <a:pt x="0" y="953"/>
                </a:lnTo>
                <a:lnTo>
                  <a:pt x="0" y="952"/>
                </a:lnTo>
                <a:lnTo>
                  <a:pt x="0" y="952"/>
                </a:lnTo>
                <a:close/>
                <a:moveTo>
                  <a:pt x="0" y="896"/>
                </a:moveTo>
                <a:lnTo>
                  <a:pt x="0" y="872"/>
                </a:lnTo>
                <a:lnTo>
                  <a:pt x="0" y="871"/>
                </a:lnTo>
                <a:lnTo>
                  <a:pt x="3" y="869"/>
                </a:lnTo>
                <a:lnTo>
                  <a:pt x="5" y="869"/>
                </a:lnTo>
                <a:lnTo>
                  <a:pt x="8" y="868"/>
                </a:lnTo>
                <a:lnTo>
                  <a:pt x="11" y="869"/>
                </a:lnTo>
                <a:lnTo>
                  <a:pt x="13" y="869"/>
                </a:lnTo>
                <a:lnTo>
                  <a:pt x="16" y="871"/>
                </a:lnTo>
                <a:lnTo>
                  <a:pt x="16" y="872"/>
                </a:lnTo>
                <a:lnTo>
                  <a:pt x="16" y="896"/>
                </a:lnTo>
                <a:lnTo>
                  <a:pt x="16" y="897"/>
                </a:lnTo>
                <a:lnTo>
                  <a:pt x="13" y="898"/>
                </a:lnTo>
                <a:lnTo>
                  <a:pt x="11" y="900"/>
                </a:lnTo>
                <a:lnTo>
                  <a:pt x="8" y="900"/>
                </a:lnTo>
                <a:lnTo>
                  <a:pt x="5" y="900"/>
                </a:lnTo>
                <a:lnTo>
                  <a:pt x="3" y="898"/>
                </a:lnTo>
                <a:lnTo>
                  <a:pt x="0" y="897"/>
                </a:lnTo>
                <a:lnTo>
                  <a:pt x="0" y="896"/>
                </a:lnTo>
                <a:lnTo>
                  <a:pt x="0" y="896"/>
                </a:lnTo>
                <a:close/>
                <a:moveTo>
                  <a:pt x="0" y="840"/>
                </a:moveTo>
                <a:lnTo>
                  <a:pt x="0" y="817"/>
                </a:lnTo>
                <a:lnTo>
                  <a:pt x="0" y="816"/>
                </a:lnTo>
                <a:lnTo>
                  <a:pt x="3" y="815"/>
                </a:lnTo>
                <a:lnTo>
                  <a:pt x="5" y="814"/>
                </a:lnTo>
                <a:lnTo>
                  <a:pt x="8" y="814"/>
                </a:lnTo>
                <a:lnTo>
                  <a:pt x="11" y="814"/>
                </a:lnTo>
                <a:lnTo>
                  <a:pt x="13" y="815"/>
                </a:lnTo>
                <a:lnTo>
                  <a:pt x="16" y="816"/>
                </a:lnTo>
                <a:lnTo>
                  <a:pt x="16" y="817"/>
                </a:lnTo>
                <a:lnTo>
                  <a:pt x="16" y="840"/>
                </a:lnTo>
                <a:lnTo>
                  <a:pt x="16" y="843"/>
                </a:lnTo>
                <a:lnTo>
                  <a:pt x="13" y="844"/>
                </a:lnTo>
                <a:lnTo>
                  <a:pt x="11" y="844"/>
                </a:lnTo>
                <a:lnTo>
                  <a:pt x="8" y="845"/>
                </a:lnTo>
                <a:lnTo>
                  <a:pt x="5" y="844"/>
                </a:lnTo>
                <a:lnTo>
                  <a:pt x="3" y="844"/>
                </a:lnTo>
                <a:lnTo>
                  <a:pt x="0" y="843"/>
                </a:lnTo>
                <a:lnTo>
                  <a:pt x="0" y="840"/>
                </a:lnTo>
                <a:lnTo>
                  <a:pt x="0" y="840"/>
                </a:lnTo>
                <a:close/>
                <a:moveTo>
                  <a:pt x="0" y="786"/>
                </a:moveTo>
                <a:lnTo>
                  <a:pt x="0" y="762"/>
                </a:lnTo>
                <a:lnTo>
                  <a:pt x="0" y="760"/>
                </a:lnTo>
                <a:lnTo>
                  <a:pt x="3" y="759"/>
                </a:lnTo>
                <a:lnTo>
                  <a:pt x="5" y="758"/>
                </a:lnTo>
                <a:lnTo>
                  <a:pt x="8" y="758"/>
                </a:lnTo>
                <a:lnTo>
                  <a:pt x="11" y="758"/>
                </a:lnTo>
                <a:lnTo>
                  <a:pt x="13" y="759"/>
                </a:lnTo>
                <a:lnTo>
                  <a:pt x="16" y="760"/>
                </a:lnTo>
                <a:lnTo>
                  <a:pt x="16" y="762"/>
                </a:lnTo>
                <a:lnTo>
                  <a:pt x="16" y="786"/>
                </a:lnTo>
                <a:lnTo>
                  <a:pt x="16" y="787"/>
                </a:lnTo>
                <a:lnTo>
                  <a:pt x="13" y="788"/>
                </a:lnTo>
                <a:lnTo>
                  <a:pt x="11" y="790"/>
                </a:lnTo>
                <a:lnTo>
                  <a:pt x="8" y="790"/>
                </a:lnTo>
                <a:lnTo>
                  <a:pt x="5" y="790"/>
                </a:lnTo>
                <a:lnTo>
                  <a:pt x="3" y="788"/>
                </a:lnTo>
                <a:lnTo>
                  <a:pt x="0" y="787"/>
                </a:lnTo>
                <a:lnTo>
                  <a:pt x="0" y="786"/>
                </a:lnTo>
                <a:lnTo>
                  <a:pt x="0" y="786"/>
                </a:lnTo>
                <a:close/>
                <a:moveTo>
                  <a:pt x="0" y="730"/>
                </a:moveTo>
                <a:lnTo>
                  <a:pt x="0" y="706"/>
                </a:lnTo>
                <a:lnTo>
                  <a:pt x="0" y="705"/>
                </a:lnTo>
                <a:lnTo>
                  <a:pt x="3" y="704"/>
                </a:lnTo>
                <a:lnTo>
                  <a:pt x="5" y="702"/>
                </a:lnTo>
                <a:lnTo>
                  <a:pt x="8" y="702"/>
                </a:lnTo>
                <a:lnTo>
                  <a:pt x="13" y="702"/>
                </a:lnTo>
                <a:lnTo>
                  <a:pt x="16" y="704"/>
                </a:lnTo>
                <a:lnTo>
                  <a:pt x="16" y="705"/>
                </a:lnTo>
                <a:lnTo>
                  <a:pt x="16" y="706"/>
                </a:lnTo>
                <a:lnTo>
                  <a:pt x="16" y="730"/>
                </a:lnTo>
                <a:lnTo>
                  <a:pt x="16" y="731"/>
                </a:lnTo>
                <a:lnTo>
                  <a:pt x="13" y="733"/>
                </a:lnTo>
                <a:lnTo>
                  <a:pt x="11" y="734"/>
                </a:lnTo>
                <a:lnTo>
                  <a:pt x="8" y="734"/>
                </a:lnTo>
                <a:lnTo>
                  <a:pt x="5" y="734"/>
                </a:lnTo>
                <a:lnTo>
                  <a:pt x="3" y="733"/>
                </a:lnTo>
                <a:lnTo>
                  <a:pt x="0" y="731"/>
                </a:lnTo>
                <a:lnTo>
                  <a:pt x="0" y="730"/>
                </a:lnTo>
                <a:lnTo>
                  <a:pt x="0" y="730"/>
                </a:lnTo>
                <a:close/>
                <a:moveTo>
                  <a:pt x="0" y="674"/>
                </a:moveTo>
                <a:lnTo>
                  <a:pt x="0" y="650"/>
                </a:lnTo>
                <a:lnTo>
                  <a:pt x="0" y="649"/>
                </a:lnTo>
                <a:lnTo>
                  <a:pt x="3" y="648"/>
                </a:lnTo>
                <a:lnTo>
                  <a:pt x="5" y="648"/>
                </a:lnTo>
                <a:lnTo>
                  <a:pt x="8" y="647"/>
                </a:lnTo>
                <a:lnTo>
                  <a:pt x="13" y="648"/>
                </a:lnTo>
                <a:lnTo>
                  <a:pt x="16" y="648"/>
                </a:lnTo>
                <a:lnTo>
                  <a:pt x="16" y="649"/>
                </a:lnTo>
                <a:lnTo>
                  <a:pt x="16" y="650"/>
                </a:lnTo>
                <a:lnTo>
                  <a:pt x="16" y="674"/>
                </a:lnTo>
                <a:lnTo>
                  <a:pt x="16" y="676"/>
                </a:lnTo>
                <a:lnTo>
                  <a:pt x="16" y="677"/>
                </a:lnTo>
                <a:lnTo>
                  <a:pt x="13" y="678"/>
                </a:lnTo>
                <a:lnTo>
                  <a:pt x="8" y="678"/>
                </a:lnTo>
                <a:lnTo>
                  <a:pt x="5" y="678"/>
                </a:lnTo>
                <a:lnTo>
                  <a:pt x="3" y="677"/>
                </a:lnTo>
                <a:lnTo>
                  <a:pt x="0" y="676"/>
                </a:lnTo>
                <a:lnTo>
                  <a:pt x="0" y="674"/>
                </a:lnTo>
                <a:lnTo>
                  <a:pt x="0" y="674"/>
                </a:lnTo>
                <a:close/>
                <a:moveTo>
                  <a:pt x="0" y="619"/>
                </a:moveTo>
                <a:lnTo>
                  <a:pt x="0" y="596"/>
                </a:lnTo>
                <a:lnTo>
                  <a:pt x="3" y="595"/>
                </a:lnTo>
                <a:lnTo>
                  <a:pt x="3" y="594"/>
                </a:lnTo>
                <a:lnTo>
                  <a:pt x="5" y="592"/>
                </a:lnTo>
                <a:lnTo>
                  <a:pt x="8" y="592"/>
                </a:lnTo>
                <a:lnTo>
                  <a:pt x="13" y="592"/>
                </a:lnTo>
                <a:lnTo>
                  <a:pt x="16" y="594"/>
                </a:lnTo>
                <a:lnTo>
                  <a:pt x="16" y="595"/>
                </a:lnTo>
                <a:lnTo>
                  <a:pt x="18" y="596"/>
                </a:lnTo>
                <a:lnTo>
                  <a:pt x="18" y="619"/>
                </a:lnTo>
                <a:lnTo>
                  <a:pt x="16" y="621"/>
                </a:lnTo>
                <a:lnTo>
                  <a:pt x="16" y="623"/>
                </a:lnTo>
                <a:lnTo>
                  <a:pt x="13" y="623"/>
                </a:lnTo>
                <a:lnTo>
                  <a:pt x="8" y="624"/>
                </a:lnTo>
                <a:lnTo>
                  <a:pt x="5" y="623"/>
                </a:lnTo>
                <a:lnTo>
                  <a:pt x="3" y="623"/>
                </a:lnTo>
                <a:lnTo>
                  <a:pt x="3" y="621"/>
                </a:lnTo>
                <a:lnTo>
                  <a:pt x="0" y="619"/>
                </a:lnTo>
                <a:lnTo>
                  <a:pt x="0" y="619"/>
                </a:lnTo>
                <a:close/>
                <a:moveTo>
                  <a:pt x="0" y="564"/>
                </a:moveTo>
                <a:lnTo>
                  <a:pt x="0" y="540"/>
                </a:lnTo>
                <a:lnTo>
                  <a:pt x="3" y="539"/>
                </a:lnTo>
                <a:lnTo>
                  <a:pt x="3" y="538"/>
                </a:lnTo>
                <a:lnTo>
                  <a:pt x="5" y="537"/>
                </a:lnTo>
                <a:lnTo>
                  <a:pt x="8" y="537"/>
                </a:lnTo>
                <a:lnTo>
                  <a:pt x="13" y="537"/>
                </a:lnTo>
                <a:lnTo>
                  <a:pt x="16" y="538"/>
                </a:lnTo>
                <a:lnTo>
                  <a:pt x="16" y="539"/>
                </a:lnTo>
                <a:lnTo>
                  <a:pt x="18" y="540"/>
                </a:lnTo>
                <a:lnTo>
                  <a:pt x="18" y="564"/>
                </a:lnTo>
                <a:lnTo>
                  <a:pt x="16" y="566"/>
                </a:lnTo>
                <a:lnTo>
                  <a:pt x="16" y="567"/>
                </a:lnTo>
                <a:lnTo>
                  <a:pt x="13" y="568"/>
                </a:lnTo>
                <a:lnTo>
                  <a:pt x="8" y="568"/>
                </a:lnTo>
                <a:lnTo>
                  <a:pt x="5" y="568"/>
                </a:lnTo>
                <a:lnTo>
                  <a:pt x="3" y="567"/>
                </a:lnTo>
                <a:lnTo>
                  <a:pt x="3" y="566"/>
                </a:lnTo>
                <a:lnTo>
                  <a:pt x="0" y="564"/>
                </a:lnTo>
                <a:lnTo>
                  <a:pt x="0" y="564"/>
                </a:lnTo>
                <a:close/>
                <a:moveTo>
                  <a:pt x="0" y="509"/>
                </a:moveTo>
                <a:lnTo>
                  <a:pt x="0" y="485"/>
                </a:lnTo>
                <a:lnTo>
                  <a:pt x="3" y="483"/>
                </a:lnTo>
                <a:lnTo>
                  <a:pt x="3" y="482"/>
                </a:lnTo>
                <a:lnTo>
                  <a:pt x="5" y="481"/>
                </a:lnTo>
                <a:lnTo>
                  <a:pt x="8" y="481"/>
                </a:lnTo>
                <a:lnTo>
                  <a:pt x="13" y="481"/>
                </a:lnTo>
                <a:lnTo>
                  <a:pt x="16" y="482"/>
                </a:lnTo>
                <a:lnTo>
                  <a:pt x="16" y="483"/>
                </a:lnTo>
                <a:lnTo>
                  <a:pt x="18" y="485"/>
                </a:lnTo>
                <a:lnTo>
                  <a:pt x="18" y="509"/>
                </a:lnTo>
                <a:lnTo>
                  <a:pt x="16" y="510"/>
                </a:lnTo>
                <a:lnTo>
                  <a:pt x="16" y="511"/>
                </a:lnTo>
                <a:lnTo>
                  <a:pt x="13" y="513"/>
                </a:lnTo>
                <a:lnTo>
                  <a:pt x="8" y="513"/>
                </a:lnTo>
                <a:lnTo>
                  <a:pt x="5" y="513"/>
                </a:lnTo>
                <a:lnTo>
                  <a:pt x="3" y="511"/>
                </a:lnTo>
                <a:lnTo>
                  <a:pt x="3" y="510"/>
                </a:lnTo>
                <a:lnTo>
                  <a:pt x="0" y="509"/>
                </a:lnTo>
                <a:lnTo>
                  <a:pt x="0" y="509"/>
                </a:lnTo>
                <a:close/>
                <a:moveTo>
                  <a:pt x="0" y="453"/>
                </a:moveTo>
                <a:lnTo>
                  <a:pt x="0" y="429"/>
                </a:lnTo>
                <a:lnTo>
                  <a:pt x="3" y="428"/>
                </a:lnTo>
                <a:lnTo>
                  <a:pt x="3" y="427"/>
                </a:lnTo>
                <a:lnTo>
                  <a:pt x="5" y="427"/>
                </a:lnTo>
                <a:lnTo>
                  <a:pt x="11" y="425"/>
                </a:lnTo>
                <a:lnTo>
                  <a:pt x="13" y="427"/>
                </a:lnTo>
                <a:lnTo>
                  <a:pt x="16" y="427"/>
                </a:lnTo>
                <a:lnTo>
                  <a:pt x="16" y="428"/>
                </a:lnTo>
                <a:lnTo>
                  <a:pt x="18" y="429"/>
                </a:lnTo>
                <a:lnTo>
                  <a:pt x="18" y="453"/>
                </a:lnTo>
                <a:lnTo>
                  <a:pt x="16" y="454"/>
                </a:lnTo>
                <a:lnTo>
                  <a:pt x="16" y="456"/>
                </a:lnTo>
                <a:lnTo>
                  <a:pt x="13" y="457"/>
                </a:lnTo>
                <a:lnTo>
                  <a:pt x="11" y="457"/>
                </a:lnTo>
                <a:lnTo>
                  <a:pt x="5" y="457"/>
                </a:lnTo>
                <a:lnTo>
                  <a:pt x="3" y="456"/>
                </a:lnTo>
                <a:lnTo>
                  <a:pt x="3" y="454"/>
                </a:lnTo>
                <a:lnTo>
                  <a:pt x="0" y="453"/>
                </a:lnTo>
                <a:lnTo>
                  <a:pt x="0" y="453"/>
                </a:lnTo>
                <a:close/>
                <a:moveTo>
                  <a:pt x="0" y="397"/>
                </a:moveTo>
                <a:lnTo>
                  <a:pt x="0" y="375"/>
                </a:lnTo>
                <a:lnTo>
                  <a:pt x="3" y="373"/>
                </a:lnTo>
                <a:lnTo>
                  <a:pt x="3" y="372"/>
                </a:lnTo>
                <a:lnTo>
                  <a:pt x="5" y="371"/>
                </a:lnTo>
                <a:lnTo>
                  <a:pt x="11" y="371"/>
                </a:lnTo>
                <a:lnTo>
                  <a:pt x="13" y="371"/>
                </a:lnTo>
                <a:lnTo>
                  <a:pt x="16" y="372"/>
                </a:lnTo>
                <a:lnTo>
                  <a:pt x="16" y="373"/>
                </a:lnTo>
                <a:lnTo>
                  <a:pt x="18" y="375"/>
                </a:lnTo>
                <a:lnTo>
                  <a:pt x="18" y="397"/>
                </a:lnTo>
                <a:lnTo>
                  <a:pt x="16" y="400"/>
                </a:lnTo>
                <a:lnTo>
                  <a:pt x="16" y="401"/>
                </a:lnTo>
                <a:lnTo>
                  <a:pt x="13" y="401"/>
                </a:lnTo>
                <a:lnTo>
                  <a:pt x="11" y="402"/>
                </a:lnTo>
                <a:lnTo>
                  <a:pt x="5" y="401"/>
                </a:lnTo>
                <a:lnTo>
                  <a:pt x="3" y="401"/>
                </a:lnTo>
                <a:lnTo>
                  <a:pt x="3" y="400"/>
                </a:lnTo>
                <a:lnTo>
                  <a:pt x="0" y="397"/>
                </a:lnTo>
                <a:lnTo>
                  <a:pt x="0" y="397"/>
                </a:lnTo>
                <a:close/>
                <a:moveTo>
                  <a:pt x="0" y="343"/>
                </a:moveTo>
                <a:lnTo>
                  <a:pt x="3" y="319"/>
                </a:lnTo>
                <a:lnTo>
                  <a:pt x="3" y="318"/>
                </a:lnTo>
                <a:lnTo>
                  <a:pt x="3" y="316"/>
                </a:lnTo>
                <a:lnTo>
                  <a:pt x="5" y="315"/>
                </a:lnTo>
                <a:lnTo>
                  <a:pt x="11" y="315"/>
                </a:lnTo>
                <a:lnTo>
                  <a:pt x="13" y="315"/>
                </a:lnTo>
                <a:lnTo>
                  <a:pt x="16" y="316"/>
                </a:lnTo>
                <a:lnTo>
                  <a:pt x="18" y="318"/>
                </a:lnTo>
                <a:lnTo>
                  <a:pt x="18" y="319"/>
                </a:lnTo>
                <a:lnTo>
                  <a:pt x="18" y="343"/>
                </a:lnTo>
                <a:lnTo>
                  <a:pt x="16" y="344"/>
                </a:lnTo>
                <a:lnTo>
                  <a:pt x="16" y="346"/>
                </a:lnTo>
                <a:lnTo>
                  <a:pt x="13" y="347"/>
                </a:lnTo>
                <a:lnTo>
                  <a:pt x="11" y="347"/>
                </a:lnTo>
                <a:lnTo>
                  <a:pt x="5" y="347"/>
                </a:lnTo>
                <a:lnTo>
                  <a:pt x="3" y="346"/>
                </a:lnTo>
                <a:lnTo>
                  <a:pt x="3" y="344"/>
                </a:lnTo>
                <a:lnTo>
                  <a:pt x="0" y="343"/>
                </a:lnTo>
                <a:lnTo>
                  <a:pt x="0" y="343"/>
                </a:lnTo>
                <a:close/>
                <a:moveTo>
                  <a:pt x="3" y="287"/>
                </a:moveTo>
                <a:lnTo>
                  <a:pt x="3" y="263"/>
                </a:lnTo>
                <a:lnTo>
                  <a:pt x="3" y="262"/>
                </a:lnTo>
                <a:lnTo>
                  <a:pt x="3" y="261"/>
                </a:lnTo>
                <a:lnTo>
                  <a:pt x="5" y="260"/>
                </a:lnTo>
                <a:lnTo>
                  <a:pt x="11" y="260"/>
                </a:lnTo>
                <a:lnTo>
                  <a:pt x="13" y="260"/>
                </a:lnTo>
                <a:lnTo>
                  <a:pt x="16" y="261"/>
                </a:lnTo>
                <a:lnTo>
                  <a:pt x="18" y="262"/>
                </a:lnTo>
                <a:lnTo>
                  <a:pt x="18" y="263"/>
                </a:lnTo>
                <a:lnTo>
                  <a:pt x="18" y="287"/>
                </a:lnTo>
                <a:lnTo>
                  <a:pt x="18" y="289"/>
                </a:lnTo>
                <a:lnTo>
                  <a:pt x="16" y="290"/>
                </a:lnTo>
                <a:lnTo>
                  <a:pt x="13" y="291"/>
                </a:lnTo>
                <a:lnTo>
                  <a:pt x="11" y="291"/>
                </a:lnTo>
                <a:lnTo>
                  <a:pt x="5" y="291"/>
                </a:lnTo>
                <a:lnTo>
                  <a:pt x="3" y="290"/>
                </a:lnTo>
                <a:lnTo>
                  <a:pt x="3" y="289"/>
                </a:lnTo>
                <a:lnTo>
                  <a:pt x="3" y="287"/>
                </a:lnTo>
                <a:lnTo>
                  <a:pt x="3" y="287"/>
                </a:lnTo>
                <a:close/>
                <a:moveTo>
                  <a:pt x="3" y="232"/>
                </a:moveTo>
                <a:lnTo>
                  <a:pt x="3" y="208"/>
                </a:lnTo>
                <a:lnTo>
                  <a:pt x="3" y="206"/>
                </a:lnTo>
                <a:lnTo>
                  <a:pt x="5" y="205"/>
                </a:lnTo>
                <a:lnTo>
                  <a:pt x="8" y="205"/>
                </a:lnTo>
                <a:lnTo>
                  <a:pt x="11" y="204"/>
                </a:lnTo>
                <a:lnTo>
                  <a:pt x="13" y="205"/>
                </a:lnTo>
                <a:lnTo>
                  <a:pt x="16" y="205"/>
                </a:lnTo>
                <a:lnTo>
                  <a:pt x="18" y="206"/>
                </a:lnTo>
                <a:lnTo>
                  <a:pt x="18" y="208"/>
                </a:lnTo>
                <a:lnTo>
                  <a:pt x="18" y="232"/>
                </a:lnTo>
                <a:lnTo>
                  <a:pt x="18" y="233"/>
                </a:lnTo>
                <a:lnTo>
                  <a:pt x="16" y="234"/>
                </a:lnTo>
                <a:lnTo>
                  <a:pt x="13" y="236"/>
                </a:lnTo>
                <a:lnTo>
                  <a:pt x="11" y="236"/>
                </a:lnTo>
                <a:lnTo>
                  <a:pt x="8" y="236"/>
                </a:lnTo>
                <a:lnTo>
                  <a:pt x="5" y="234"/>
                </a:lnTo>
                <a:lnTo>
                  <a:pt x="3" y="233"/>
                </a:lnTo>
                <a:lnTo>
                  <a:pt x="3" y="232"/>
                </a:lnTo>
                <a:lnTo>
                  <a:pt x="3" y="232"/>
                </a:lnTo>
                <a:close/>
                <a:moveTo>
                  <a:pt x="3" y="176"/>
                </a:moveTo>
                <a:lnTo>
                  <a:pt x="3" y="153"/>
                </a:lnTo>
                <a:lnTo>
                  <a:pt x="3" y="152"/>
                </a:lnTo>
                <a:lnTo>
                  <a:pt x="5" y="151"/>
                </a:lnTo>
                <a:lnTo>
                  <a:pt x="8" y="149"/>
                </a:lnTo>
                <a:lnTo>
                  <a:pt x="11" y="149"/>
                </a:lnTo>
                <a:lnTo>
                  <a:pt x="13" y="149"/>
                </a:lnTo>
                <a:lnTo>
                  <a:pt x="16" y="151"/>
                </a:lnTo>
                <a:lnTo>
                  <a:pt x="18" y="152"/>
                </a:lnTo>
                <a:lnTo>
                  <a:pt x="18" y="153"/>
                </a:lnTo>
                <a:lnTo>
                  <a:pt x="18" y="176"/>
                </a:lnTo>
                <a:lnTo>
                  <a:pt x="18" y="179"/>
                </a:lnTo>
                <a:lnTo>
                  <a:pt x="16" y="180"/>
                </a:lnTo>
                <a:lnTo>
                  <a:pt x="13" y="180"/>
                </a:lnTo>
                <a:lnTo>
                  <a:pt x="11" y="181"/>
                </a:lnTo>
                <a:lnTo>
                  <a:pt x="8" y="180"/>
                </a:lnTo>
                <a:lnTo>
                  <a:pt x="5" y="180"/>
                </a:lnTo>
                <a:lnTo>
                  <a:pt x="3" y="179"/>
                </a:lnTo>
                <a:lnTo>
                  <a:pt x="3" y="176"/>
                </a:lnTo>
                <a:lnTo>
                  <a:pt x="3" y="176"/>
                </a:lnTo>
                <a:close/>
                <a:moveTo>
                  <a:pt x="3" y="122"/>
                </a:moveTo>
                <a:lnTo>
                  <a:pt x="3" y="98"/>
                </a:lnTo>
                <a:lnTo>
                  <a:pt x="3" y="96"/>
                </a:lnTo>
                <a:lnTo>
                  <a:pt x="5" y="95"/>
                </a:lnTo>
                <a:lnTo>
                  <a:pt x="8" y="94"/>
                </a:lnTo>
                <a:lnTo>
                  <a:pt x="11" y="94"/>
                </a:lnTo>
                <a:lnTo>
                  <a:pt x="13" y="94"/>
                </a:lnTo>
                <a:lnTo>
                  <a:pt x="16" y="95"/>
                </a:lnTo>
                <a:lnTo>
                  <a:pt x="18" y="96"/>
                </a:lnTo>
                <a:lnTo>
                  <a:pt x="18" y="98"/>
                </a:lnTo>
                <a:lnTo>
                  <a:pt x="18" y="122"/>
                </a:lnTo>
                <a:lnTo>
                  <a:pt x="18" y="123"/>
                </a:lnTo>
                <a:lnTo>
                  <a:pt x="16" y="124"/>
                </a:lnTo>
                <a:lnTo>
                  <a:pt x="13" y="125"/>
                </a:lnTo>
                <a:lnTo>
                  <a:pt x="11" y="125"/>
                </a:lnTo>
                <a:lnTo>
                  <a:pt x="8" y="125"/>
                </a:lnTo>
                <a:lnTo>
                  <a:pt x="5" y="124"/>
                </a:lnTo>
                <a:lnTo>
                  <a:pt x="3" y="123"/>
                </a:lnTo>
                <a:lnTo>
                  <a:pt x="3" y="122"/>
                </a:lnTo>
                <a:lnTo>
                  <a:pt x="3" y="122"/>
                </a:lnTo>
                <a:close/>
                <a:moveTo>
                  <a:pt x="3" y="66"/>
                </a:moveTo>
                <a:lnTo>
                  <a:pt x="3" y="42"/>
                </a:lnTo>
                <a:lnTo>
                  <a:pt x="3" y="41"/>
                </a:lnTo>
                <a:lnTo>
                  <a:pt x="5" y="39"/>
                </a:lnTo>
                <a:lnTo>
                  <a:pt x="8" y="38"/>
                </a:lnTo>
                <a:lnTo>
                  <a:pt x="11" y="38"/>
                </a:lnTo>
                <a:lnTo>
                  <a:pt x="13" y="38"/>
                </a:lnTo>
                <a:lnTo>
                  <a:pt x="16" y="39"/>
                </a:lnTo>
                <a:lnTo>
                  <a:pt x="18" y="41"/>
                </a:lnTo>
                <a:lnTo>
                  <a:pt x="18" y="42"/>
                </a:lnTo>
                <a:lnTo>
                  <a:pt x="18" y="66"/>
                </a:lnTo>
                <a:lnTo>
                  <a:pt x="18" y="67"/>
                </a:lnTo>
                <a:lnTo>
                  <a:pt x="16" y="69"/>
                </a:lnTo>
                <a:lnTo>
                  <a:pt x="13" y="70"/>
                </a:lnTo>
                <a:lnTo>
                  <a:pt x="11" y="70"/>
                </a:lnTo>
                <a:lnTo>
                  <a:pt x="8" y="70"/>
                </a:lnTo>
                <a:lnTo>
                  <a:pt x="5" y="69"/>
                </a:lnTo>
                <a:lnTo>
                  <a:pt x="3" y="67"/>
                </a:lnTo>
                <a:lnTo>
                  <a:pt x="3" y="66"/>
                </a:lnTo>
                <a:lnTo>
                  <a:pt x="3" y="66"/>
                </a:lnTo>
                <a:close/>
                <a:moveTo>
                  <a:pt x="3" y="10"/>
                </a:moveTo>
                <a:lnTo>
                  <a:pt x="3" y="4"/>
                </a:lnTo>
                <a:lnTo>
                  <a:pt x="3" y="3"/>
                </a:lnTo>
                <a:lnTo>
                  <a:pt x="5" y="1"/>
                </a:lnTo>
                <a:lnTo>
                  <a:pt x="8" y="0"/>
                </a:lnTo>
                <a:lnTo>
                  <a:pt x="11" y="0"/>
                </a:lnTo>
                <a:lnTo>
                  <a:pt x="13" y="0"/>
                </a:lnTo>
                <a:lnTo>
                  <a:pt x="16" y="1"/>
                </a:lnTo>
                <a:lnTo>
                  <a:pt x="18" y="3"/>
                </a:lnTo>
                <a:lnTo>
                  <a:pt x="18" y="4"/>
                </a:lnTo>
                <a:lnTo>
                  <a:pt x="18" y="10"/>
                </a:lnTo>
                <a:lnTo>
                  <a:pt x="18" y="12"/>
                </a:lnTo>
                <a:lnTo>
                  <a:pt x="16" y="13"/>
                </a:lnTo>
                <a:lnTo>
                  <a:pt x="13" y="14"/>
                </a:lnTo>
                <a:lnTo>
                  <a:pt x="11" y="14"/>
                </a:lnTo>
                <a:lnTo>
                  <a:pt x="8" y="14"/>
                </a:lnTo>
                <a:lnTo>
                  <a:pt x="5" y="13"/>
                </a:lnTo>
                <a:lnTo>
                  <a:pt x="3" y="12"/>
                </a:lnTo>
                <a:lnTo>
                  <a:pt x="3" y="10"/>
                </a:lnTo>
                <a:lnTo>
                  <a:pt x="3" y="10"/>
                </a:lnTo>
                <a:close/>
              </a:path>
            </a:pathLst>
          </a:custGeom>
          <a:solidFill>
            <a:srgbClr val="000000">
              <a:alpha val="25000"/>
            </a:srgbClr>
          </a:solidFill>
          <a:ln w="4763" cap="flat" cmpd="sng">
            <a:solidFill>
              <a:srgbClr val="000000"/>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5" name="任意多边形 163854"/>
          <p:cNvSpPr>
            <a:spLocks noEditPoints="1"/>
          </p:cNvSpPr>
          <p:nvPr/>
        </p:nvSpPr>
        <p:spPr>
          <a:xfrm>
            <a:off x="2103438" y="4359275"/>
            <a:ext cx="30162" cy="1633538"/>
          </a:xfrm>
          <a:custGeom>
            <a:avLst/>
            <a:gdLst/>
            <a:ahLst/>
            <a:cxnLst/>
            <a:pathLst>
              <a:path w="19" h="1029">
                <a:moveTo>
                  <a:pt x="0" y="1025"/>
                </a:moveTo>
                <a:lnTo>
                  <a:pt x="0" y="1001"/>
                </a:lnTo>
                <a:lnTo>
                  <a:pt x="3" y="1000"/>
                </a:lnTo>
                <a:lnTo>
                  <a:pt x="3" y="998"/>
                </a:lnTo>
                <a:lnTo>
                  <a:pt x="6" y="997"/>
                </a:lnTo>
                <a:lnTo>
                  <a:pt x="11" y="997"/>
                </a:lnTo>
                <a:lnTo>
                  <a:pt x="13" y="997"/>
                </a:lnTo>
                <a:lnTo>
                  <a:pt x="16" y="998"/>
                </a:lnTo>
                <a:lnTo>
                  <a:pt x="16" y="1000"/>
                </a:lnTo>
                <a:lnTo>
                  <a:pt x="19" y="1001"/>
                </a:lnTo>
                <a:lnTo>
                  <a:pt x="19" y="1025"/>
                </a:lnTo>
                <a:lnTo>
                  <a:pt x="16" y="1026"/>
                </a:lnTo>
                <a:lnTo>
                  <a:pt x="16" y="1027"/>
                </a:lnTo>
                <a:lnTo>
                  <a:pt x="13" y="1029"/>
                </a:lnTo>
                <a:lnTo>
                  <a:pt x="11" y="1029"/>
                </a:lnTo>
                <a:lnTo>
                  <a:pt x="6" y="1029"/>
                </a:lnTo>
                <a:lnTo>
                  <a:pt x="3" y="1027"/>
                </a:lnTo>
                <a:lnTo>
                  <a:pt x="3" y="1026"/>
                </a:lnTo>
                <a:lnTo>
                  <a:pt x="0" y="1025"/>
                </a:lnTo>
                <a:lnTo>
                  <a:pt x="0" y="1025"/>
                </a:lnTo>
                <a:close/>
                <a:moveTo>
                  <a:pt x="0" y="969"/>
                </a:moveTo>
                <a:lnTo>
                  <a:pt x="0" y="945"/>
                </a:lnTo>
                <a:lnTo>
                  <a:pt x="3" y="944"/>
                </a:lnTo>
                <a:lnTo>
                  <a:pt x="3" y="943"/>
                </a:lnTo>
                <a:lnTo>
                  <a:pt x="6" y="941"/>
                </a:lnTo>
                <a:lnTo>
                  <a:pt x="11" y="941"/>
                </a:lnTo>
                <a:lnTo>
                  <a:pt x="13" y="941"/>
                </a:lnTo>
                <a:lnTo>
                  <a:pt x="16" y="943"/>
                </a:lnTo>
                <a:lnTo>
                  <a:pt x="16" y="944"/>
                </a:lnTo>
                <a:lnTo>
                  <a:pt x="19" y="945"/>
                </a:lnTo>
                <a:lnTo>
                  <a:pt x="19" y="969"/>
                </a:lnTo>
                <a:lnTo>
                  <a:pt x="16" y="971"/>
                </a:lnTo>
                <a:lnTo>
                  <a:pt x="16" y="972"/>
                </a:lnTo>
                <a:lnTo>
                  <a:pt x="13" y="973"/>
                </a:lnTo>
                <a:lnTo>
                  <a:pt x="11" y="973"/>
                </a:lnTo>
                <a:lnTo>
                  <a:pt x="6" y="973"/>
                </a:lnTo>
                <a:lnTo>
                  <a:pt x="3" y="972"/>
                </a:lnTo>
                <a:lnTo>
                  <a:pt x="3" y="971"/>
                </a:lnTo>
                <a:lnTo>
                  <a:pt x="0" y="969"/>
                </a:lnTo>
                <a:lnTo>
                  <a:pt x="0" y="969"/>
                </a:lnTo>
                <a:close/>
                <a:moveTo>
                  <a:pt x="0" y="914"/>
                </a:moveTo>
                <a:lnTo>
                  <a:pt x="0" y="890"/>
                </a:lnTo>
                <a:lnTo>
                  <a:pt x="3" y="888"/>
                </a:lnTo>
                <a:lnTo>
                  <a:pt x="3" y="887"/>
                </a:lnTo>
                <a:lnTo>
                  <a:pt x="6" y="887"/>
                </a:lnTo>
                <a:lnTo>
                  <a:pt x="11" y="886"/>
                </a:lnTo>
                <a:lnTo>
                  <a:pt x="13" y="887"/>
                </a:lnTo>
                <a:lnTo>
                  <a:pt x="16" y="887"/>
                </a:lnTo>
                <a:lnTo>
                  <a:pt x="16" y="888"/>
                </a:lnTo>
                <a:lnTo>
                  <a:pt x="19" y="890"/>
                </a:lnTo>
                <a:lnTo>
                  <a:pt x="19" y="914"/>
                </a:lnTo>
                <a:lnTo>
                  <a:pt x="16" y="915"/>
                </a:lnTo>
                <a:lnTo>
                  <a:pt x="16" y="916"/>
                </a:lnTo>
                <a:lnTo>
                  <a:pt x="13" y="917"/>
                </a:lnTo>
                <a:lnTo>
                  <a:pt x="11" y="917"/>
                </a:lnTo>
                <a:lnTo>
                  <a:pt x="6" y="917"/>
                </a:lnTo>
                <a:lnTo>
                  <a:pt x="3" y="916"/>
                </a:lnTo>
                <a:lnTo>
                  <a:pt x="3" y="915"/>
                </a:lnTo>
                <a:lnTo>
                  <a:pt x="0" y="914"/>
                </a:lnTo>
                <a:lnTo>
                  <a:pt x="0" y="914"/>
                </a:lnTo>
                <a:close/>
                <a:moveTo>
                  <a:pt x="3" y="858"/>
                </a:moveTo>
                <a:lnTo>
                  <a:pt x="3" y="835"/>
                </a:lnTo>
                <a:lnTo>
                  <a:pt x="3" y="833"/>
                </a:lnTo>
                <a:lnTo>
                  <a:pt x="3" y="831"/>
                </a:lnTo>
                <a:lnTo>
                  <a:pt x="6" y="831"/>
                </a:lnTo>
                <a:lnTo>
                  <a:pt x="11" y="831"/>
                </a:lnTo>
                <a:lnTo>
                  <a:pt x="13" y="831"/>
                </a:lnTo>
                <a:lnTo>
                  <a:pt x="16" y="831"/>
                </a:lnTo>
                <a:lnTo>
                  <a:pt x="19" y="833"/>
                </a:lnTo>
                <a:lnTo>
                  <a:pt x="19" y="835"/>
                </a:lnTo>
                <a:lnTo>
                  <a:pt x="19" y="858"/>
                </a:lnTo>
                <a:lnTo>
                  <a:pt x="19" y="860"/>
                </a:lnTo>
                <a:lnTo>
                  <a:pt x="16" y="862"/>
                </a:lnTo>
                <a:lnTo>
                  <a:pt x="13" y="862"/>
                </a:lnTo>
                <a:lnTo>
                  <a:pt x="11" y="863"/>
                </a:lnTo>
                <a:lnTo>
                  <a:pt x="6" y="862"/>
                </a:lnTo>
                <a:lnTo>
                  <a:pt x="3" y="862"/>
                </a:lnTo>
                <a:lnTo>
                  <a:pt x="3" y="860"/>
                </a:lnTo>
                <a:lnTo>
                  <a:pt x="3" y="858"/>
                </a:lnTo>
                <a:lnTo>
                  <a:pt x="3" y="858"/>
                </a:lnTo>
                <a:close/>
                <a:moveTo>
                  <a:pt x="3" y="804"/>
                </a:moveTo>
                <a:lnTo>
                  <a:pt x="3" y="779"/>
                </a:lnTo>
                <a:lnTo>
                  <a:pt x="3" y="778"/>
                </a:lnTo>
                <a:lnTo>
                  <a:pt x="3" y="777"/>
                </a:lnTo>
                <a:lnTo>
                  <a:pt x="6" y="776"/>
                </a:lnTo>
                <a:lnTo>
                  <a:pt x="11" y="776"/>
                </a:lnTo>
                <a:lnTo>
                  <a:pt x="13" y="776"/>
                </a:lnTo>
                <a:lnTo>
                  <a:pt x="16" y="777"/>
                </a:lnTo>
                <a:lnTo>
                  <a:pt x="19" y="778"/>
                </a:lnTo>
                <a:lnTo>
                  <a:pt x="19" y="779"/>
                </a:lnTo>
                <a:lnTo>
                  <a:pt x="19" y="804"/>
                </a:lnTo>
                <a:lnTo>
                  <a:pt x="19" y="805"/>
                </a:lnTo>
                <a:lnTo>
                  <a:pt x="16" y="806"/>
                </a:lnTo>
                <a:lnTo>
                  <a:pt x="13" y="807"/>
                </a:lnTo>
                <a:lnTo>
                  <a:pt x="11" y="807"/>
                </a:lnTo>
                <a:lnTo>
                  <a:pt x="6" y="807"/>
                </a:lnTo>
                <a:lnTo>
                  <a:pt x="3" y="806"/>
                </a:lnTo>
                <a:lnTo>
                  <a:pt x="3" y="805"/>
                </a:lnTo>
                <a:lnTo>
                  <a:pt x="3" y="804"/>
                </a:lnTo>
                <a:lnTo>
                  <a:pt x="3" y="804"/>
                </a:lnTo>
                <a:close/>
                <a:moveTo>
                  <a:pt x="3" y="748"/>
                </a:moveTo>
                <a:lnTo>
                  <a:pt x="3" y="724"/>
                </a:lnTo>
                <a:lnTo>
                  <a:pt x="3" y="723"/>
                </a:lnTo>
                <a:lnTo>
                  <a:pt x="3" y="721"/>
                </a:lnTo>
                <a:lnTo>
                  <a:pt x="6" y="720"/>
                </a:lnTo>
                <a:lnTo>
                  <a:pt x="11" y="720"/>
                </a:lnTo>
                <a:lnTo>
                  <a:pt x="13" y="720"/>
                </a:lnTo>
                <a:lnTo>
                  <a:pt x="16" y="721"/>
                </a:lnTo>
                <a:lnTo>
                  <a:pt x="19" y="723"/>
                </a:lnTo>
                <a:lnTo>
                  <a:pt x="19" y="724"/>
                </a:lnTo>
                <a:lnTo>
                  <a:pt x="19" y="748"/>
                </a:lnTo>
                <a:lnTo>
                  <a:pt x="19" y="749"/>
                </a:lnTo>
                <a:lnTo>
                  <a:pt x="16" y="750"/>
                </a:lnTo>
                <a:lnTo>
                  <a:pt x="13" y="752"/>
                </a:lnTo>
                <a:lnTo>
                  <a:pt x="11" y="752"/>
                </a:lnTo>
                <a:lnTo>
                  <a:pt x="6" y="752"/>
                </a:lnTo>
                <a:lnTo>
                  <a:pt x="3" y="750"/>
                </a:lnTo>
                <a:lnTo>
                  <a:pt x="3" y="749"/>
                </a:lnTo>
                <a:lnTo>
                  <a:pt x="3" y="748"/>
                </a:lnTo>
                <a:lnTo>
                  <a:pt x="3" y="748"/>
                </a:lnTo>
                <a:close/>
                <a:moveTo>
                  <a:pt x="3" y="692"/>
                </a:moveTo>
                <a:lnTo>
                  <a:pt x="3" y="668"/>
                </a:lnTo>
                <a:lnTo>
                  <a:pt x="3" y="667"/>
                </a:lnTo>
                <a:lnTo>
                  <a:pt x="6" y="666"/>
                </a:lnTo>
                <a:lnTo>
                  <a:pt x="8" y="666"/>
                </a:lnTo>
                <a:lnTo>
                  <a:pt x="11" y="664"/>
                </a:lnTo>
                <a:lnTo>
                  <a:pt x="13" y="666"/>
                </a:lnTo>
                <a:lnTo>
                  <a:pt x="16" y="666"/>
                </a:lnTo>
                <a:lnTo>
                  <a:pt x="19" y="667"/>
                </a:lnTo>
                <a:lnTo>
                  <a:pt x="19" y="668"/>
                </a:lnTo>
                <a:lnTo>
                  <a:pt x="19" y="692"/>
                </a:lnTo>
                <a:lnTo>
                  <a:pt x="19" y="693"/>
                </a:lnTo>
                <a:lnTo>
                  <a:pt x="16" y="695"/>
                </a:lnTo>
                <a:lnTo>
                  <a:pt x="13" y="696"/>
                </a:lnTo>
                <a:lnTo>
                  <a:pt x="11" y="696"/>
                </a:lnTo>
                <a:lnTo>
                  <a:pt x="8" y="696"/>
                </a:lnTo>
                <a:lnTo>
                  <a:pt x="6" y="695"/>
                </a:lnTo>
                <a:lnTo>
                  <a:pt x="3" y="693"/>
                </a:lnTo>
                <a:lnTo>
                  <a:pt x="3" y="692"/>
                </a:lnTo>
                <a:lnTo>
                  <a:pt x="3" y="692"/>
                </a:lnTo>
                <a:close/>
                <a:moveTo>
                  <a:pt x="3" y="637"/>
                </a:moveTo>
                <a:lnTo>
                  <a:pt x="3" y="614"/>
                </a:lnTo>
                <a:lnTo>
                  <a:pt x="3" y="611"/>
                </a:lnTo>
                <a:lnTo>
                  <a:pt x="6" y="610"/>
                </a:lnTo>
                <a:lnTo>
                  <a:pt x="8" y="610"/>
                </a:lnTo>
                <a:lnTo>
                  <a:pt x="11" y="610"/>
                </a:lnTo>
                <a:lnTo>
                  <a:pt x="13" y="610"/>
                </a:lnTo>
                <a:lnTo>
                  <a:pt x="16" y="610"/>
                </a:lnTo>
                <a:lnTo>
                  <a:pt x="19" y="611"/>
                </a:lnTo>
                <a:lnTo>
                  <a:pt x="19" y="614"/>
                </a:lnTo>
                <a:lnTo>
                  <a:pt x="19" y="637"/>
                </a:lnTo>
                <a:lnTo>
                  <a:pt x="19" y="639"/>
                </a:lnTo>
                <a:lnTo>
                  <a:pt x="16" y="640"/>
                </a:lnTo>
                <a:lnTo>
                  <a:pt x="13" y="640"/>
                </a:lnTo>
                <a:lnTo>
                  <a:pt x="11" y="642"/>
                </a:lnTo>
                <a:lnTo>
                  <a:pt x="8" y="640"/>
                </a:lnTo>
                <a:lnTo>
                  <a:pt x="6" y="640"/>
                </a:lnTo>
                <a:lnTo>
                  <a:pt x="3" y="639"/>
                </a:lnTo>
                <a:lnTo>
                  <a:pt x="3" y="637"/>
                </a:lnTo>
                <a:lnTo>
                  <a:pt x="3" y="637"/>
                </a:lnTo>
                <a:close/>
                <a:moveTo>
                  <a:pt x="3" y="582"/>
                </a:moveTo>
                <a:lnTo>
                  <a:pt x="3" y="558"/>
                </a:lnTo>
                <a:lnTo>
                  <a:pt x="3" y="557"/>
                </a:lnTo>
                <a:lnTo>
                  <a:pt x="6" y="556"/>
                </a:lnTo>
                <a:lnTo>
                  <a:pt x="8" y="554"/>
                </a:lnTo>
                <a:lnTo>
                  <a:pt x="11" y="554"/>
                </a:lnTo>
                <a:lnTo>
                  <a:pt x="13" y="554"/>
                </a:lnTo>
                <a:lnTo>
                  <a:pt x="16" y="556"/>
                </a:lnTo>
                <a:lnTo>
                  <a:pt x="19" y="557"/>
                </a:lnTo>
                <a:lnTo>
                  <a:pt x="19" y="558"/>
                </a:lnTo>
                <a:lnTo>
                  <a:pt x="19" y="582"/>
                </a:lnTo>
                <a:lnTo>
                  <a:pt x="19" y="583"/>
                </a:lnTo>
                <a:lnTo>
                  <a:pt x="16" y="585"/>
                </a:lnTo>
                <a:lnTo>
                  <a:pt x="13" y="586"/>
                </a:lnTo>
                <a:lnTo>
                  <a:pt x="11" y="586"/>
                </a:lnTo>
                <a:lnTo>
                  <a:pt x="8" y="586"/>
                </a:lnTo>
                <a:lnTo>
                  <a:pt x="6" y="585"/>
                </a:lnTo>
                <a:lnTo>
                  <a:pt x="3" y="583"/>
                </a:lnTo>
                <a:lnTo>
                  <a:pt x="3" y="582"/>
                </a:lnTo>
                <a:lnTo>
                  <a:pt x="3" y="582"/>
                </a:lnTo>
                <a:close/>
                <a:moveTo>
                  <a:pt x="3" y="526"/>
                </a:moveTo>
                <a:lnTo>
                  <a:pt x="3" y="502"/>
                </a:lnTo>
                <a:lnTo>
                  <a:pt x="3" y="501"/>
                </a:lnTo>
                <a:lnTo>
                  <a:pt x="6" y="500"/>
                </a:lnTo>
                <a:lnTo>
                  <a:pt x="8" y="499"/>
                </a:lnTo>
                <a:lnTo>
                  <a:pt x="11" y="499"/>
                </a:lnTo>
                <a:lnTo>
                  <a:pt x="13" y="499"/>
                </a:lnTo>
                <a:lnTo>
                  <a:pt x="16" y="500"/>
                </a:lnTo>
                <a:lnTo>
                  <a:pt x="19" y="501"/>
                </a:lnTo>
                <a:lnTo>
                  <a:pt x="19" y="502"/>
                </a:lnTo>
                <a:lnTo>
                  <a:pt x="19" y="526"/>
                </a:lnTo>
                <a:lnTo>
                  <a:pt x="19" y="528"/>
                </a:lnTo>
                <a:lnTo>
                  <a:pt x="16" y="529"/>
                </a:lnTo>
                <a:lnTo>
                  <a:pt x="13" y="530"/>
                </a:lnTo>
                <a:lnTo>
                  <a:pt x="11" y="530"/>
                </a:lnTo>
                <a:lnTo>
                  <a:pt x="8" y="530"/>
                </a:lnTo>
                <a:lnTo>
                  <a:pt x="6" y="529"/>
                </a:lnTo>
                <a:lnTo>
                  <a:pt x="3" y="528"/>
                </a:lnTo>
                <a:lnTo>
                  <a:pt x="3" y="526"/>
                </a:lnTo>
                <a:lnTo>
                  <a:pt x="3" y="526"/>
                </a:lnTo>
                <a:close/>
                <a:moveTo>
                  <a:pt x="3" y="471"/>
                </a:moveTo>
                <a:lnTo>
                  <a:pt x="3" y="447"/>
                </a:lnTo>
                <a:lnTo>
                  <a:pt x="3" y="446"/>
                </a:lnTo>
                <a:lnTo>
                  <a:pt x="6" y="444"/>
                </a:lnTo>
                <a:lnTo>
                  <a:pt x="8" y="444"/>
                </a:lnTo>
                <a:lnTo>
                  <a:pt x="11" y="443"/>
                </a:lnTo>
                <a:lnTo>
                  <a:pt x="13" y="444"/>
                </a:lnTo>
                <a:lnTo>
                  <a:pt x="16" y="444"/>
                </a:lnTo>
                <a:lnTo>
                  <a:pt x="19" y="446"/>
                </a:lnTo>
                <a:lnTo>
                  <a:pt x="19" y="447"/>
                </a:lnTo>
                <a:lnTo>
                  <a:pt x="19" y="471"/>
                </a:lnTo>
                <a:lnTo>
                  <a:pt x="19" y="472"/>
                </a:lnTo>
                <a:lnTo>
                  <a:pt x="16" y="473"/>
                </a:lnTo>
                <a:lnTo>
                  <a:pt x="13" y="475"/>
                </a:lnTo>
                <a:lnTo>
                  <a:pt x="11" y="475"/>
                </a:lnTo>
                <a:lnTo>
                  <a:pt x="8" y="475"/>
                </a:lnTo>
                <a:lnTo>
                  <a:pt x="6" y="473"/>
                </a:lnTo>
                <a:lnTo>
                  <a:pt x="3" y="472"/>
                </a:lnTo>
                <a:lnTo>
                  <a:pt x="3" y="471"/>
                </a:lnTo>
                <a:lnTo>
                  <a:pt x="3" y="471"/>
                </a:lnTo>
                <a:close/>
                <a:moveTo>
                  <a:pt x="3" y="415"/>
                </a:moveTo>
                <a:lnTo>
                  <a:pt x="3" y="392"/>
                </a:lnTo>
                <a:lnTo>
                  <a:pt x="3" y="390"/>
                </a:lnTo>
                <a:lnTo>
                  <a:pt x="6" y="389"/>
                </a:lnTo>
                <a:lnTo>
                  <a:pt x="8" y="389"/>
                </a:lnTo>
                <a:lnTo>
                  <a:pt x="11" y="389"/>
                </a:lnTo>
                <a:lnTo>
                  <a:pt x="13" y="389"/>
                </a:lnTo>
                <a:lnTo>
                  <a:pt x="16" y="389"/>
                </a:lnTo>
                <a:lnTo>
                  <a:pt x="19" y="390"/>
                </a:lnTo>
                <a:lnTo>
                  <a:pt x="19" y="392"/>
                </a:lnTo>
                <a:lnTo>
                  <a:pt x="19" y="415"/>
                </a:lnTo>
                <a:lnTo>
                  <a:pt x="19" y="418"/>
                </a:lnTo>
                <a:lnTo>
                  <a:pt x="16" y="419"/>
                </a:lnTo>
                <a:lnTo>
                  <a:pt x="13" y="419"/>
                </a:lnTo>
                <a:lnTo>
                  <a:pt x="11" y="420"/>
                </a:lnTo>
                <a:lnTo>
                  <a:pt x="8" y="419"/>
                </a:lnTo>
                <a:lnTo>
                  <a:pt x="6" y="419"/>
                </a:lnTo>
                <a:lnTo>
                  <a:pt x="3" y="418"/>
                </a:lnTo>
                <a:lnTo>
                  <a:pt x="3" y="415"/>
                </a:lnTo>
                <a:lnTo>
                  <a:pt x="3" y="415"/>
                </a:lnTo>
                <a:close/>
                <a:moveTo>
                  <a:pt x="3" y="361"/>
                </a:moveTo>
                <a:lnTo>
                  <a:pt x="3" y="337"/>
                </a:lnTo>
                <a:lnTo>
                  <a:pt x="3" y="335"/>
                </a:lnTo>
                <a:lnTo>
                  <a:pt x="6" y="334"/>
                </a:lnTo>
                <a:lnTo>
                  <a:pt x="8" y="333"/>
                </a:lnTo>
                <a:lnTo>
                  <a:pt x="11" y="333"/>
                </a:lnTo>
                <a:lnTo>
                  <a:pt x="13" y="333"/>
                </a:lnTo>
                <a:lnTo>
                  <a:pt x="16" y="334"/>
                </a:lnTo>
                <a:lnTo>
                  <a:pt x="19" y="335"/>
                </a:lnTo>
                <a:lnTo>
                  <a:pt x="19" y="337"/>
                </a:lnTo>
                <a:lnTo>
                  <a:pt x="19" y="361"/>
                </a:lnTo>
                <a:lnTo>
                  <a:pt x="19" y="362"/>
                </a:lnTo>
                <a:lnTo>
                  <a:pt x="16" y="363"/>
                </a:lnTo>
                <a:lnTo>
                  <a:pt x="13" y="365"/>
                </a:lnTo>
                <a:lnTo>
                  <a:pt x="11" y="365"/>
                </a:lnTo>
                <a:lnTo>
                  <a:pt x="8" y="365"/>
                </a:lnTo>
                <a:lnTo>
                  <a:pt x="6" y="363"/>
                </a:lnTo>
                <a:lnTo>
                  <a:pt x="3" y="362"/>
                </a:lnTo>
                <a:lnTo>
                  <a:pt x="3" y="361"/>
                </a:lnTo>
                <a:lnTo>
                  <a:pt x="3" y="361"/>
                </a:lnTo>
                <a:close/>
                <a:moveTo>
                  <a:pt x="3" y="305"/>
                </a:moveTo>
                <a:lnTo>
                  <a:pt x="3" y="281"/>
                </a:lnTo>
                <a:lnTo>
                  <a:pt x="3" y="280"/>
                </a:lnTo>
                <a:lnTo>
                  <a:pt x="6" y="279"/>
                </a:lnTo>
                <a:lnTo>
                  <a:pt x="8" y="277"/>
                </a:lnTo>
                <a:lnTo>
                  <a:pt x="11" y="277"/>
                </a:lnTo>
                <a:lnTo>
                  <a:pt x="13" y="277"/>
                </a:lnTo>
                <a:lnTo>
                  <a:pt x="16" y="279"/>
                </a:lnTo>
                <a:lnTo>
                  <a:pt x="19" y="280"/>
                </a:lnTo>
                <a:lnTo>
                  <a:pt x="19" y="281"/>
                </a:lnTo>
                <a:lnTo>
                  <a:pt x="19" y="305"/>
                </a:lnTo>
                <a:lnTo>
                  <a:pt x="19" y="306"/>
                </a:lnTo>
                <a:lnTo>
                  <a:pt x="16" y="308"/>
                </a:lnTo>
                <a:lnTo>
                  <a:pt x="13" y="309"/>
                </a:lnTo>
                <a:lnTo>
                  <a:pt x="11" y="309"/>
                </a:lnTo>
                <a:lnTo>
                  <a:pt x="8" y="309"/>
                </a:lnTo>
                <a:lnTo>
                  <a:pt x="6" y="308"/>
                </a:lnTo>
                <a:lnTo>
                  <a:pt x="3" y="306"/>
                </a:lnTo>
                <a:lnTo>
                  <a:pt x="3" y="305"/>
                </a:lnTo>
                <a:lnTo>
                  <a:pt x="3" y="305"/>
                </a:lnTo>
                <a:close/>
                <a:moveTo>
                  <a:pt x="3" y="249"/>
                </a:moveTo>
                <a:lnTo>
                  <a:pt x="3" y="225"/>
                </a:lnTo>
                <a:lnTo>
                  <a:pt x="3" y="224"/>
                </a:lnTo>
                <a:lnTo>
                  <a:pt x="6" y="223"/>
                </a:lnTo>
                <a:lnTo>
                  <a:pt x="8" y="223"/>
                </a:lnTo>
                <a:lnTo>
                  <a:pt x="11" y="222"/>
                </a:lnTo>
                <a:lnTo>
                  <a:pt x="13" y="223"/>
                </a:lnTo>
                <a:lnTo>
                  <a:pt x="16" y="223"/>
                </a:lnTo>
                <a:lnTo>
                  <a:pt x="19" y="224"/>
                </a:lnTo>
                <a:lnTo>
                  <a:pt x="19" y="225"/>
                </a:lnTo>
                <a:lnTo>
                  <a:pt x="19" y="249"/>
                </a:lnTo>
                <a:lnTo>
                  <a:pt x="19" y="251"/>
                </a:lnTo>
                <a:lnTo>
                  <a:pt x="16" y="252"/>
                </a:lnTo>
                <a:lnTo>
                  <a:pt x="13" y="253"/>
                </a:lnTo>
                <a:lnTo>
                  <a:pt x="11" y="253"/>
                </a:lnTo>
                <a:lnTo>
                  <a:pt x="8" y="253"/>
                </a:lnTo>
                <a:lnTo>
                  <a:pt x="6" y="252"/>
                </a:lnTo>
                <a:lnTo>
                  <a:pt x="3" y="251"/>
                </a:lnTo>
                <a:lnTo>
                  <a:pt x="3" y="249"/>
                </a:lnTo>
                <a:lnTo>
                  <a:pt x="3" y="249"/>
                </a:lnTo>
                <a:close/>
                <a:moveTo>
                  <a:pt x="3" y="194"/>
                </a:moveTo>
                <a:lnTo>
                  <a:pt x="3" y="171"/>
                </a:lnTo>
                <a:lnTo>
                  <a:pt x="3" y="168"/>
                </a:lnTo>
                <a:lnTo>
                  <a:pt x="6" y="167"/>
                </a:lnTo>
                <a:lnTo>
                  <a:pt x="8" y="167"/>
                </a:lnTo>
                <a:lnTo>
                  <a:pt x="11" y="167"/>
                </a:lnTo>
                <a:lnTo>
                  <a:pt x="13" y="167"/>
                </a:lnTo>
                <a:lnTo>
                  <a:pt x="16" y="167"/>
                </a:lnTo>
                <a:lnTo>
                  <a:pt x="19" y="168"/>
                </a:lnTo>
                <a:lnTo>
                  <a:pt x="19" y="171"/>
                </a:lnTo>
                <a:lnTo>
                  <a:pt x="19" y="194"/>
                </a:lnTo>
                <a:lnTo>
                  <a:pt x="19" y="196"/>
                </a:lnTo>
                <a:lnTo>
                  <a:pt x="16" y="198"/>
                </a:lnTo>
                <a:lnTo>
                  <a:pt x="13" y="198"/>
                </a:lnTo>
                <a:lnTo>
                  <a:pt x="11" y="199"/>
                </a:lnTo>
                <a:lnTo>
                  <a:pt x="8" y="198"/>
                </a:lnTo>
                <a:lnTo>
                  <a:pt x="6" y="198"/>
                </a:lnTo>
                <a:lnTo>
                  <a:pt x="3" y="196"/>
                </a:lnTo>
                <a:lnTo>
                  <a:pt x="3" y="194"/>
                </a:lnTo>
                <a:lnTo>
                  <a:pt x="3" y="194"/>
                </a:lnTo>
                <a:close/>
                <a:moveTo>
                  <a:pt x="3" y="139"/>
                </a:moveTo>
                <a:lnTo>
                  <a:pt x="3" y="115"/>
                </a:lnTo>
                <a:lnTo>
                  <a:pt x="3" y="114"/>
                </a:lnTo>
                <a:lnTo>
                  <a:pt x="6" y="113"/>
                </a:lnTo>
                <a:lnTo>
                  <a:pt x="8" y="112"/>
                </a:lnTo>
                <a:lnTo>
                  <a:pt x="11" y="112"/>
                </a:lnTo>
                <a:lnTo>
                  <a:pt x="13" y="112"/>
                </a:lnTo>
                <a:lnTo>
                  <a:pt x="16" y="113"/>
                </a:lnTo>
                <a:lnTo>
                  <a:pt x="19" y="114"/>
                </a:lnTo>
                <a:lnTo>
                  <a:pt x="19" y="115"/>
                </a:lnTo>
                <a:lnTo>
                  <a:pt x="19" y="139"/>
                </a:lnTo>
                <a:lnTo>
                  <a:pt x="19" y="141"/>
                </a:lnTo>
                <a:lnTo>
                  <a:pt x="16" y="142"/>
                </a:lnTo>
                <a:lnTo>
                  <a:pt x="13" y="143"/>
                </a:lnTo>
                <a:lnTo>
                  <a:pt x="11" y="143"/>
                </a:lnTo>
                <a:lnTo>
                  <a:pt x="8" y="143"/>
                </a:lnTo>
                <a:lnTo>
                  <a:pt x="6" y="142"/>
                </a:lnTo>
                <a:lnTo>
                  <a:pt x="3" y="141"/>
                </a:lnTo>
                <a:lnTo>
                  <a:pt x="3" y="139"/>
                </a:lnTo>
                <a:lnTo>
                  <a:pt x="3" y="139"/>
                </a:lnTo>
                <a:close/>
                <a:moveTo>
                  <a:pt x="3" y="84"/>
                </a:moveTo>
                <a:lnTo>
                  <a:pt x="3" y="60"/>
                </a:lnTo>
                <a:lnTo>
                  <a:pt x="3" y="58"/>
                </a:lnTo>
                <a:lnTo>
                  <a:pt x="6" y="57"/>
                </a:lnTo>
                <a:lnTo>
                  <a:pt x="8" y="56"/>
                </a:lnTo>
                <a:lnTo>
                  <a:pt x="11" y="56"/>
                </a:lnTo>
                <a:lnTo>
                  <a:pt x="13" y="56"/>
                </a:lnTo>
                <a:lnTo>
                  <a:pt x="16" y="57"/>
                </a:lnTo>
                <a:lnTo>
                  <a:pt x="19" y="58"/>
                </a:lnTo>
                <a:lnTo>
                  <a:pt x="19" y="60"/>
                </a:lnTo>
                <a:lnTo>
                  <a:pt x="19" y="84"/>
                </a:lnTo>
                <a:lnTo>
                  <a:pt x="19" y="85"/>
                </a:lnTo>
                <a:lnTo>
                  <a:pt x="16" y="86"/>
                </a:lnTo>
                <a:lnTo>
                  <a:pt x="13" y="88"/>
                </a:lnTo>
                <a:lnTo>
                  <a:pt x="11" y="88"/>
                </a:lnTo>
                <a:lnTo>
                  <a:pt x="8" y="88"/>
                </a:lnTo>
                <a:lnTo>
                  <a:pt x="6" y="86"/>
                </a:lnTo>
                <a:lnTo>
                  <a:pt x="3" y="85"/>
                </a:lnTo>
                <a:lnTo>
                  <a:pt x="3" y="84"/>
                </a:lnTo>
                <a:lnTo>
                  <a:pt x="3" y="84"/>
                </a:lnTo>
                <a:close/>
                <a:moveTo>
                  <a:pt x="3" y="28"/>
                </a:moveTo>
                <a:lnTo>
                  <a:pt x="3" y="4"/>
                </a:lnTo>
                <a:lnTo>
                  <a:pt x="3" y="3"/>
                </a:lnTo>
                <a:lnTo>
                  <a:pt x="6" y="2"/>
                </a:lnTo>
                <a:lnTo>
                  <a:pt x="8" y="2"/>
                </a:lnTo>
                <a:lnTo>
                  <a:pt x="11" y="0"/>
                </a:lnTo>
                <a:lnTo>
                  <a:pt x="13" y="2"/>
                </a:lnTo>
                <a:lnTo>
                  <a:pt x="16" y="2"/>
                </a:lnTo>
                <a:lnTo>
                  <a:pt x="19" y="3"/>
                </a:lnTo>
                <a:lnTo>
                  <a:pt x="19" y="4"/>
                </a:lnTo>
                <a:lnTo>
                  <a:pt x="19" y="28"/>
                </a:lnTo>
                <a:lnTo>
                  <a:pt x="19" y="29"/>
                </a:lnTo>
                <a:lnTo>
                  <a:pt x="16" y="31"/>
                </a:lnTo>
                <a:lnTo>
                  <a:pt x="13" y="32"/>
                </a:lnTo>
                <a:lnTo>
                  <a:pt x="11" y="32"/>
                </a:lnTo>
                <a:lnTo>
                  <a:pt x="8" y="32"/>
                </a:lnTo>
                <a:lnTo>
                  <a:pt x="6" y="31"/>
                </a:lnTo>
                <a:lnTo>
                  <a:pt x="3" y="29"/>
                </a:lnTo>
                <a:lnTo>
                  <a:pt x="3" y="28"/>
                </a:lnTo>
                <a:lnTo>
                  <a:pt x="3" y="28"/>
                </a:lnTo>
                <a:close/>
              </a:path>
            </a:pathLst>
          </a:custGeom>
          <a:solidFill>
            <a:srgbClr val="000000">
              <a:alpha val="25000"/>
            </a:srgbClr>
          </a:solidFill>
          <a:ln w="4763" cap="flat" cmpd="sng">
            <a:solidFill>
              <a:srgbClr val="000000"/>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6" name="任意多边形 163855"/>
          <p:cNvSpPr>
            <a:spLocks noEditPoints="1"/>
          </p:cNvSpPr>
          <p:nvPr/>
        </p:nvSpPr>
        <p:spPr>
          <a:xfrm>
            <a:off x="2657475" y="4289425"/>
            <a:ext cx="28575" cy="1608138"/>
          </a:xfrm>
          <a:custGeom>
            <a:avLst/>
            <a:gdLst/>
            <a:ahLst/>
            <a:cxnLst/>
            <a:pathLst>
              <a:path w="18" h="1013">
                <a:moveTo>
                  <a:pt x="0" y="1009"/>
                </a:moveTo>
                <a:lnTo>
                  <a:pt x="0" y="985"/>
                </a:lnTo>
                <a:lnTo>
                  <a:pt x="0" y="984"/>
                </a:lnTo>
                <a:lnTo>
                  <a:pt x="2" y="983"/>
                </a:lnTo>
                <a:lnTo>
                  <a:pt x="5" y="982"/>
                </a:lnTo>
                <a:lnTo>
                  <a:pt x="7" y="982"/>
                </a:lnTo>
                <a:lnTo>
                  <a:pt x="13" y="982"/>
                </a:lnTo>
                <a:lnTo>
                  <a:pt x="15" y="983"/>
                </a:lnTo>
                <a:lnTo>
                  <a:pt x="15" y="984"/>
                </a:lnTo>
                <a:lnTo>
                  <a:pt x="15" y="985"/>
                </a:lnTo>
                <a:lnTo>
                  <a:pt x="15" y="1009"/>
                </a:lnTo>
                <a:lnTo>
                  <a:pt x="15" y="1011"/>
                </a:lnTo>
                <a:lnTo>
                  <a:pt x="13" y="1012"/>
                </a:lnTo>
                <a:lnTo>
                  <a:pt x="10" y="1012"/>
                </a:lnTo>
                <a:lnTo>
                  <a:pt x="7" y="1013"/>
                </a:lnTo>
                <a:lnTo>
                  <a:pt x="5" y="1012"/>
                </a:lnTo>
                <a:lnTo>
                  <a:pt x="2" y="1012"/>
                </a:lnTo>
                <a:lnTo>
                  <a:pt x="0" y="1011"/>
                </a:lnTo>
                <a:lnTo>
                  <a:pt x="0" y="1009"/>
                </a:lnTo>
                <a:lnTo>
                  <a:pt x="0" y="1009"/>
                </a:lnTo>
                <a:close/>
                <a:moveTo>
                  <a:pt x="0" y="954"/>
                </a:moveTo>
                <a:lnTo>
                  <a:pt x="0" y="930"/>
                </a:lnTo>
                <a:lnTo>
                  <a:pt x="0" y="928"/>
                </a:lnTo>
                <a:lnTo>
                  <a:pt x="2" y="927"/>
                </a:lnTo>
                <a:lnTo>
                  <a:pt x="5" y="926"/>
                </a:lnTo>
                <a:lnTo>
                  <a:pt x="7" y="926"/>
                </a:lnTo>
                <a:lnTo>
                  <a:pt x="13" y="926"/>
                </a:lnTo>
                <a:lnTo>
                  <a:pt x="15" y="927"/>
                </a:lnTo>
                <a:lnTo>
                  <a:pt x="15" y="928"/>
                </a:lnTo>
                <a:lnTo>
                  <a:pt x="15" y="930"/>
                </a:lnTo>
                <a:lnTo>
                  <a:pt x="15" y="954"/>
                </a:lnTo>
                <a:lnTo>
                  <a:pt x="15" y="955"/>
                </a:lnTo>
                <a:lnTo>
                  <a:pt x="15" y="956"/>
                </a:lnTo>
                <a:lnTo>
                  <a:pt x="13" y="958"/>
                </a:lnTo>
                <a:lnTo>
                  <a:pt x="7" y="958"/>
                </a:lnTo>
                <a:lnTo>
                  <a:pt x="5" y="958"/>
                </a:lnTo>
                <a:lnTo>
                  <a:pt x="2" y="956"/>
                </a:lnTo>
                <a:lnTo>
                  <a:pt x="0" y="955"/>
                </a:lnTo>
                <a:lnTo>
                  <a:pt x="0" y="954"/>
                </a:lnTo>
                <a:lnTo>
                  <a:pt x="0" y="954"/>
                </a:lnTo>
                <a:close/>
                <a:moveTo>
                  <a:pt x="0" y="898"/>
                </a:moveTo>
                <a:lnTo>
                  <a:pt x="0" y="874"/>
                </a:lnTo>
                <a:lnTo>
                  <a:pt x="0" y="873"/>
                </a:lnTo>
                <a:lnTo>
                  <a:pt x="2" y="872"/>
                </a:lnTo>
                <a:lnTo>
                  <a:pt x="5" y="870"/>
                </a:lnTo>
                <a:lnTo>
                  <a:pt x="7" y="870"/>
                </a:lnTo>
                <a:lnTo>
                  <a:pt x="13" y="870"/>
                </a:lnTo>
                <a:lnTo>
                  <a:pt x="15" y="872"/>
                </a:lnTo>
                <a:lnTo>
                  <a:pt x="15" y="873"/>
                </a:lnTo>
                <a:lnTo>
                  <a:pt x="15" y="874"/>
                </a:lnTo>
                <a:lnTo>
                  <a:pt x="15" y="898"/>
                </a:lnTo>
                <a:lnTo>
                  <a:pt x="15" y="899"/>
                </a:lnTo>
                <a:lnTo>
                  <a:pt x="15" y="901"/>
                </a:lnTo>
                <a:lnTo>
                  <a:pt x="13" y="902"/>
                </a:lnTo>
                <a:lnTo>
                  <a:pt x="7" y="902"/>
                </a:lnTo>
                <a:lnTo>
                  <a:pt x="5" y="902"/>
                </a:lnTo>
                <a:lnTo>
                  <a:pt x="2" y="901"/>
                </a:lnTo>
                <a:lnTo>
                  <a:pt x="0" y="899"/>
                </a:lnTo>
                <a:lnTo>
                  <a:pt x="0" y="898"/>
                </a:lnTo>
                <a:lnTo>
                  <a:pt x="0" y="898"/>
                </a:lnTo>
                <a:close/>
                <a:moveTo>
                  <a:pt x="0" y="842"/>
                </a:moveTo>
                <a:lnTo>
                  <a:pt x="0" y="820"/>
                </a:lnTo>
                <a:lnTo>
                  <a:pt x="2" y="817"/>
                </a:lnTo>
                <a:lnTo>
                  <a:pt x="2" y="816"/>
                </a:lnTo>
                <a:lnTo>
                  <a:pt x="5" y="816"/>
                </a:lnTo>
                <a:lnTo>
                  <a:pt x="7" y="815"/>
                </a:lnTo>
                <a:lnTo>
                  <a:pt x="13" y="816"/>
                </a:lnTo>
                <a:lnTo>
                  <a:pt x="15" y="816"/>
                </a:lnTo>
                <a:lnTo>
                  <a:pt x="15" y="817"/>
                </a:lnTo>
                <a:lnTo>
                  <a:pt x="18" y="820"/>
                </a:lnTo>
                <a:lnTo>
                  <a:pt x="18" y="842"/>
                </a:lnTo>
                <a:lnTo>
                  <a:pt x="15" y="844"/>
                </a:lnTo>
                <a:lnTo>
                  <a:pt x="15" y="845"/>
                </a:lnTo>
                <a:lnTo>
                  <a:pt x="13" y="846"/>
                </a:lnTo>
                <a:lnTo>
                  <a:pt x="7" y="846"/>
                </a:lnTo>
                <a:lnTo>
                  <a:pt x="5" y="846"/>
                </a:lnTo>
                <a:lnTo>
                  <a:pt x="2" y="845"/>
                </a:lnTo>
                <a:lnTo>
                  <a:pt x="2" y="844"/>
                </a:lnTo>
                <a:lnTo>
                  <a:pt x="0" y="842"/>
                </a:lnTo>
                <a:lnTo>
                  <a:pt x="0" y="842"/>
                </a:lnTo>
                <a:close/>
                <a:moveTo>
                  <a:pt x="0" y="788"/>
                </a:moveTo>
                <a:lnTo>
                  <a:pt x="0" y="764"/>
                </a:lnTo>
                <a:lnTo>
                  <a:pt x="2" y="763"/>
                </a:lnTo>
                <a:lnTo>
                  <a:pt x="2" y="762"/>
                </a:lnTo>
                <a:lnTo>
                  <a:pt x="5" y="760"/>
                </a:lnTo>
                <a:lnTo>
                  <a:pt x="7" y="760"/>
                </a:lnTo>
                <a:lnTo>
                  <a:pt x="13" y="760"/>
                </a:lnTo>
                <a:lnTo>
                  <a:pt x="15" y="762"/>
                </a:lnTo>
                <a:lnTo>
                  <a:pt x="15" y="763"/>
                </a:lnTo>
                <a:lnTo>
                  <a:pt x="18" y="764"/>
                </a:lnTo>
                <a:lnTo>
                  <a:pt x="18" y="788"/>
                </a:lnTo>
                <a:lnTo>
                  <a:pt x="15" y="789"/>
                </a:lnTo>
                <a:lnTo>
                  <a:pt x="15" y="791"/>
                </a:lnTo>
                <a:lnTo>
                  <a:pt x="13" y="791"/>
                </a:lnTo>
                <a:lnTo>
                  <a:pt x="7" y="792"/>
                </a:lnTo>
                <a:lnTo>
                  <a:pt x="5" y="791"/>
                </a:lnTo>
                <a:lnTo>
                  <a:pt x="2" y="791"/>
                </a:lnTo>
                <a:lnTo>
                  <a:pt x="2" y="789"/>
                </a:lnTo>
                <a:lnTo>
                  <a:pt x="0" y="788"/>
                </a:lnTo>
                <a:lnTo>
                  <a:pt x="0" y="788"/>
                </a:lnTo>
                <a:close/>
                <a:moveTo>
                  <a:pt x="0" y="732"/>
                </a:moveTo>
                <a:lnTo>
                  <a:pt x="0" y="708"/>
                </a:lnTo>
                <a:lnTo>
                  <a:pt x="2" y="707"/>
                </a:lnTo>
                <a:lnTo>
                  <a:pt x="2" y="706"/>
                </a:lnTo>
                <a:lnTo>
                  <a:pt x="5" y="705"/>
                </a:lnTo>
                <a:lnTo>
                  <a:pt x="7" y="705"/>
                </a:lnTo>
                <a:lnTo>
                  <a:pt x="13" y="705"/>
                </a:lnTo>
                <a:lnTo>
                  <a:pt x="15" y="706"/>
                </a:lnTo>
                <a:lnTo>
                  <a:pt x="15" y="707"/>
                </a:lnTo>
                <a:lnTo>
                  <a:pt x="18" y="708"/>
                </a:lnTo>
                <a:lnTo>
                  <a:pt x="18" y="732"/>
                </a:lnTo>
                <a:lnTo>
                  <a:pt x="15" y="734"/>
                </a:lnTo>
                <a:lnTo>
                  <a:pt x="15" y="735"/>
                </a:lnTo>
                <a:lnTo>
                  <a:pt x="13" y="736"/>
                </a:lnTo>
                <a:lnTo>
                  <a:pt x="7" y="736"/>
                </a:lnTo>
                <a:lnTo>
                  <a:pt x="5" y="736"/>
                </a:lnTo>
                <a:lnTo>
                  <a:pt x="2" y="735"/>
                </a:lnTo>
                <a:lnTo>
                  <a:pt x="2" y="734"/>
                </a:lnTo>
                <a:lnTo>
                  <a:pt x="0" y="732"/>
                </a:lnTo>
                <a:lnTo>
                  <a:pt x="0" y="732"/>
                </a:lnTo>
                <a:close/>
                <a:moveTo>
                  <a:pt x="0" y="677"/>
                </a:moveTo>
                <a:lnTo>
                  <a:pt x="0" y="653"/>
                </a:lnTo>
                <a:lnTo>
                  <a:pt x="2" y="651"/>
                </a:lnTo>
                <a:lnTo>
                  <a:pt x="2" y="650"/>
                </a:lnTo>
                <a:lnTo>
                  <a:pt x="5" y="649"/>
                </a:lnTo>
                <a:lnTo>
                  <a:pt x="7" y="649"/>
                </a:lnTo>
                <a:lnTo>
                  <a:pt x="13" y="649"/>
                </a:lnTo>
                <a:lnTo>
                  <a:pt x="15" y="650"/>
                </a:lnTo>
                <a:lnTo>
                  <a:pt x="15" y="651"/>
                </a:lnTo>
                <a:lnTo>
                  <a:pt x="18" y="653"/>
                </a:lnTo>
                <a:lnTo>
                  <a:pt x="18" y="677"/>
                </a:lnTo>
                <a:lnTo>
                  <a:pt x="15" y="678"/>
                </a:lnTo>
                <a:lnTo>
                  <a:pt x="15" y="679"/>
                </a:lnTo>
                <a:lnTo>
                  <a:pt x="13" y="681"/>
                </a:lnTo>
                <a:lnTo>
                  <a:pt x="7" y="681"/>
                </a:lnTo>
                <a:lnTo>
                  <a:pt x="5" y="681"/>
                </a:lnTo>
                <a:lnTo>
                  <a:pt x="2" y="679"/>
                </a:lnTo>
                <a:lnTo>
                  <a:pt x="2" y="678"/>
                </a:lnTo>
                <a:lnTo>
                  <a:pt x="0" y="677"/>
                </a:lnTo>
                <a:lnTo>
                  <a:pt x="0" y="677"/>
                </a:lnTo>
                <a:close/>
                <a:moveTo>
                  <a:pt x="0" y="621"/>
                </a:moveTo>
                <a:lnTo>
                  <a:pt x="0" y="598"/>
                </a:lnTo>
                <a:lnTo>
                  <a:pt x="2" y="596"/>
                </a:lnTo>
                <a:lnTo>
                  <a:pt x="2" y="595"/>
                </a:lnTo>
                <a:lnTo>
                  <a:pt x="5" y="595"/>
                </a:lnTo>
                <a:lnTo>
                  <a:pt x="7" y="593"/>
                </a:lnTo>
                <a:lnTo>
                  <a:pt x="13" y="595"/>
                </a:lnTo>
                <a:lnTo>
                  <a:pt x="15" y="595"/>
                </a:lnTo>
                <a:lnTo>
                  <a:pt x="15" y="596"/>
                </a:lnTo>
                <a:lnTo>
                  <a:pt x="18" y="598"/>
                </a:lnTo>
                <a:lnTo>
                  <a:pt x="18" y="621"/>
                </a:lnTo>
                <a:lnTo>
                  <a:pt x="15" y="622"/>
                </a:lnTo>
                <a:lnTo>
                  <a:pt x="15" y="624"/>
                </a:lnTo>
                <a:lnTo>
                  <a:pt x="13" y="625"/>
                </a:lnTo>
                <a:lnTo>
                  <a:pt x="7" y="625"/>
                </a:lnTo>
                <a:lnTo>
                  <a:pt x="5" y="625"/>
                </a:lnTo>
                <a:lnTo>
                  <a:pt x="2" y="624"/>
                </a:lnTo>
                <a:lnTo>
                  <a:pt x="2" y="622"/>
                </a:lnTo>
                <a:lnTo>
                  <a:pt x="0" y="621"/>
                </a:lnTo>
                <a:lnTo>
                  <a:pt x="0" y="621"/>
                </a:lnTo>
                <a:close/>
                <a:moveTo>
                  <a:pt x="0" y="567"/>
                </a:moveTo>
                <a:lnTo>
                  <a:pt x="0" y="543"/>
                </a:lnTo>
                <a:lnTo>
                  <a:pt x="2" y="541"/>
                </a:lnTo>
                <a:lnTo>
                  <a:pt x="2" y="540"/>
                </a:lnTo>
                <a:lnTo>
                  <a:pt x="5" y="539"/>
                </a:lnTo>
                <a:lnTo>
                  <a:pt x="10" y="539"/>
                </a:lnTo>
                <a:lnTo>
                  <a:pt x="13" y="539"/>
                </a:lnTo>
                <a:lnTo>
                  <a:pt x="15" y="540"/>
                </a:lnTo>
                <a:lnTo>
                  <a:pt x="15" y="541"/>
                </a:lnTo>
                <a:lnTo>
                  <a:pt x="18" y="543"/>
                </a:lnTo>
                <a:lnTo>
                  <a:pt x="18" y="567"/>
                </a:lnTo>
                <a:lnTo>
                  <a:pt x="15" y="568"/>
                </a:lnTo>
                <a:lnTo>
                  <a:pt x="15" y="569"/>
                </a:lnTo>
                <a:lnTo>
                  <a:pt x="13" y="569"/>
                </a:lnTo>
                <a:lnTo>
                  <a:pt x="7" y="570"/>
                </a:lnTo>
                <a:lnTo>
                  <a:pt x="5" y="569"/>
                </a:lnTo>
                <a:lnTo>
                  <a:pt x="2" y="569"/>
                </a:lnTo>
                <a:lnTo>
                  <a:pt x="2" y="568"/>
                </a:lnTo>
                <a:lnTo>
                  <a:pt x="0" y="567"/>
                </a:lnTo>
                <a:lnTo>
                  <a:pt x="0" y="567"/>
                </a:lnTo>
                <a:close/>
                <a:moveTo>
                  <a:pt x="0" y="511"/>
                </a:moveTo>
                <a:lnTo>
                  <a:pt x="0" y="487"/>
                </a:lnTo>
                <a:lnTo>
                  <a:pt x="2" y="486"/>
                </a:lnTo>
                <a:lnTo>
                  <a:pt x="2" y="484"/>
                </a:lnTo>
                <a:lnTo>
                  <a:pt x="5" y="483"/>
                </a:lnTo>
                <a:lnTo>
                  <a:pt x="10" y="483"/>
                </a:lnTo>
                <a:lnTo>
                  <a:pt x="13" y="483"/>
                </a:lnTo>
                <a:lnTo>
                  <a:pt x="15" y="484"/>
                </a:lnTo>
                <a:lnTo>
                  <a:pt x="15" y="486"/>
                </a:lnTo>
                <a:lnTo>
                  <a:pt x="18" y="487"/>
                </a:lnTo>
                <a:lnTo>
                  <a:pt x="18" y="511"/>
                </a:lnTo>
                <a:lnTo>
                  <a:pt x="15" y="512"/>
                </a:lnTo>
                <a:lnTo>
                  <a:pt x="15" y="514"/>
                </a:lnTo>
                <a:lnTo>
                  <a:pt x="13" y="515"/>
                </a:lnTo>
                <a:lnTo>
                  <a:pt x="10" y="515"/>
                </a:lnTo>
                <a:lnTo>
                  <a:pt x="5" y="515"/>
                </a:lnTo>
                <a:lnTo>
                  <a:pt x="2" y="514"/>
                </a:lnTo>
                <a:lnTo>
                  <a:pt x="2" y="512"/>
                </a:lnTo>
                <a:lnTo>
                  <a:pt x="0" y="511"/>
                </a:lnTo>
                <a:lnTo>
                  <a:pt x="0" y="511"/>
                </a:lnTo>
                <a:close/>
                <a:moveTo>
                  <a:pt x="0" y="455"/>
                </a:moveTo>
                <a:lnTo>
                  <a:pt x="0" y="431"/>
                </a:lnTo>
                <a:lnTo>
                  <a:pt x="2" y="430"/>
                </a:lnTo>
                <a:lnTo>
                  <a:pt x="2" y="429"/>
                </a:lnTo>
                <a:lnTo>
                  <a:pt x="5" y="428"/>
                </a:lnTo>
                <a:lnTo>
                  <a:pt x="10" y="428"/>
                </a:lnTo>
                <a:lnTo>
                  <a:pt x="13" y="428"/>
                </a:lnTo>
                <a:lnTo>
                  <a:pt x="15" y="429"/>
                </a:lnTo>
                <a:lnTo>
                  <a:pt x="15" y="430"/>
                </a:lnTo>
                <a:lnTo>
                  <a:pt x="18" y="431"/>
                </a:lnTo>
                <a:lnTo>
                  <a:pt x="18" y="455"/>
                </a:lnTo>
                <a:lnTo>
                  <a:pt x="15" y="457"/>
                </a:lnTo>
                <a:lnTo>
                  <a:pt x="15" y="458"/>
                </a:lnTo>
                <a:lnTo>
                  <a:pt x="13" y="459"/>
                </a:lnTo>
                <a:lnTo>
                  <a:pt x="10" y="459"/>
                </a:lnTo>
                <a:lnTo>
                  <a:pt x="5" y="459"/>
                </a:lnTo>
                <a:lnTo>
                  <a:pt x="2" y="458"/>
                </a:lnTo>
                <a:lnTo>
                  <a:pt x="2" y="457"/>
                </a:lnTo>
                <a:lnTo>
                  <a:pt x="0" y="455"/>
                </a:lnTo>
                <a:lnTo>
                  <a:pt x="0" y="455"/>
                </a:lnTo>
                <a:close/>
                <a:moveTo>
                  <a:pt x="0" y="400"/>
                </a:moveTo>
                <a:lnTo>
                  <a:pt x="0" y="377"/>
                </a:lnTo>
                <a:lnTo>
                  <a:pt x="2" y="374"/>
                </a:lnTo>
                <a:lnTo>
                  <a:pt x="2" y="373"/>
                </a:lnTo>
                <a:lnTo>
                  <a:pt x="5" y="373"/>
                </a:lnTo>
                <a:lnTo>
                  <a:pt x="10" y="372"/>
                </a:lnTo>
                <a:lnTo>
                  <a:pt x="13" y="373"/>
                </a:lnTo>
                <a:lnTo>
                  <a:pt x="15" y="373"/>
                </a:lnTo>
                <a:lnTo>
                  <a:pt x="15" y="374"/>
                </a:lnTo>
                <a:lnTo>
                  <a:pt x="18" y="377"/>
                </a:lnTo>
                <a:lnTo>
                  <a:pt x="18" y="400"/>
                </a:lnTo>
                <a:lnTo>
                  <a:pt x="15" y="401"/>
                </a:lnTo>
                <a:lnTo>
                  <a:pt x="15" y="402"/>
                </a:lnTo>
                <a:lnTo>
                  <a:pt x="13" y="404"/>
                </a:lnTo>
                <a:lnTo>
                  <a:pt x="10" y="404"/>
                </a:lnTo>
                <a:lnTo>
                  <a:pt x="5" y="404"/>
                </a:lnTo>
                <a:lnTo>
                  <a:pt x="2" y="402"/>
                </a:lnTo>
                <a:lnTo>
                  <a:pt x="2" y="401"/>
                </a:lnTo>
                <a:lnTo>
                  <a:pt x="0" y="400"/>
                </a:lnTo>
                <a:lnTo>
                  <a:pt x="0" y="400"/>
                </a:lnTo>
                <a:close/>
                <a:moveTo>
                  <a:pt x="0" y="345"/>
                </a:moveTo>
                <a:lnTo>
                  <a:pt x="0" y="321"/>
                </a:lnTo>
                <a:lnTo>
                  <a:pt x="2" y="320"/>
                </a:lnTo>
                <a:lnTo>
                  <a:pt x="2" y="319"/>
                </a:lnTo>
                <a:lnTo>
                  <a:pt x="5" y="317"/>
                </a:lnTo>
                <a:lnTo>
                  <a:pt x="10" y="317"/>
                </a:lnTo>
                <a:lnTo>
                  <a:pt x="13" y="317"/>
                </a:lnTo>
                <a:lnTo>
                  <a:pt x="15" y="319"/>
                </a:lnTo>
                <a:lnTo>
                  <a:pt x="15" y="320"/>
                </a:lnTo>
                <a:lnTo>
                  <a:pt x="18" y="321"/>
                </a:lnTo>
                <a:lnTo>
                  <a:pt x="18" y="345"/>
                </a:lnTo>
                <a:lnTo>
                  <a:pt x="15" y="347"/>
                </a:lnTo>
                <a:lnTo>
                  <a:pt x="15" y="348"/>
                </a:lnTo>
                <a:lnTo>
                  <a:pt x="13" y="348"/>
                </a:lnTo>
                <a:lnTo>
                  <a:pt x="10" y="349"/>
                </a:lnTo>
                <a:lnTo>
                  <a:pt x="5" y="348"/>
                </a:lnTo>
                <a:lnTo>
                  <a:pt x="2" y="348"/>
                </a:lnTo>
                <a:lnTo>
                  <a:pt x="2" y="347"/>
                </a:lnTo>
                <a:lnTo>
                  <a:pt x="0" y="345"/>
                </a:lnTo>
                <a:lnTo>
                  <a:pt x="0" y="345"/>
                </a:lnTo>
                <a:close/>
                <a:moveTo>
                  <a:pt x="0" y="290"/>
                </a:moveTo>
                <a:lnTo>
                  <a:pt x="0" y="266"/>
                </a:lnTo>
                <a:lnTo>
                  <a:pt x="2" y="264"/>
                </a:lnTo>
                <a:lnTo>
                  <a:pt x="2" y="263"/>
                </a:lnTo>
                <a:lnTo>
                  <a:pt x="5" y="262"/>
                </a:lnTo>
                <a:lnTo>
                  <a:pt x="10" y="262"/>
                </a:lnTo>
                <a:lnTo>
                  <a:pt x="13" y="262"/>
                </a:lnTo>
                <a:lnTo>
                  <a:pt x="15" y="263"/>
                </a:lnTo>
                <a:lnTo>
                  <a:pt x="15" y="264"/>
                </a:lnTo>
                <a:lnTo>
                  <a:pt x="18" y="266"/>
                </a:lnTo>
                <a:lnTo>
                  <a:pt x="18" y="290"/>
                </a:lnTo>
                <a:lnTo>
                  <a:pt x="15" y="291"/>
                </a:lnTo>
                <a:lnTo>
                  <a:pt x="15" y="292"/>
                </a:lnTo>
                <a:lnTo>
                  <a:pt x="13" y="293"/>
                </a:lnTo>
                <a:lnTo>
                  <a:pt x="10" y="293"/>
                </a:lnTo>
                <a:lnTo>
                  <a:pt x="5" y="293"/>
                </a:lnTo>
                <a:lnTo>
                  <a:pt x="2" y="292"/>
                </a:lnTo>
                <a:lnTo>
                  <a:pt x="2" y="291"/>
                </a:lnTo>
                <a:lnTo>
                  <a:pt x="0" y="290"/>
                </a:lnTo>
                <a:lnTo>
                  <a:pt x="0" y="290"/>
                </a:lnTo>
                <a:close/>
                <a:moveTo>
                  <a:pt x="2" y="234"/>
                </a:moveTo>
                <a:lnTo>
                  <a:pt x="2" y="210"/>
                </a:lnTo>
                <a:lnTo>
                  <a:pt x="2" y="209"/>
                </a:lnTo>
                <a:lnTo>
                  <a:pt x="2" y="207"/>
                </a:lnTo>
                <a:lnTo>
                  <a:pt x="5" y="206"/>
                </a:lnTo>
                <a:lnTo>
                  <a:pt x="10" y="206"/>
                </a:lnTo>
                <a:lnTo>
                  <a:pt x="13" y="206"/>
                </a:lnTo>
                <a:lnTo>
                  <a:pt x="15" y="207"/>
                </a:lnTo>
                <a:lnTo>
                  <a:pt x="18" y="209"/>
                </a:lnTo>
                <a:lnTo>
                  <a:pt x="18" y="210"/>
                </a:lnTo>
                <a:lnTo>
                  <a:pt x="18" y="234"/>
                </a:lnTo>
                <a:lnTo>
                  <a:pt x="18" y="235"/>
                </a:lnTo>
                <a:lnTo>
                  <a:pt x="15" y="237"/>
                </a:lnTo>
                <a:lnTo>
                  <a:pt x="13" y="238"/>
                </a:lnTo>
                <a:lnTo>
                  <a:pt x="10" y="238"/>
                </a:lnTo>
                <a:lnTo>
                  <a:pt x="5" y="238"/>
                </a:lnTo>
                <a:lnTo>
                  <a:pt x="2" y="237"/>
                </a:lnTo>
                <a:lnTo>
                  <a:pt x="2" y="235"/>
                </a:lnTo>
                <a:lnTo>
                  <a:pt x="2" y="234"/>
                </a:lnTo>
                <a:lnTo>
                  <a:pt x="2" y="234"/>
                </a:lnTo>
                <a:close/>
                <a:moveTo>
                  <a:pt x="2" y="178"/>
                </a:moveTo>
                <a:lnTo>
                  <a:pt x="2" y="156"/>
                </a:lnTo>
                <a:lnTo>
                  <a:pt x="2" y="153"/>
                </a:lnTo>
                <a:lnTo>
                  <a:pt x="2" y="152"/>
                </a:lnTo>
                <a:lnTo>
                  <a:pt x="5" y="152"/>
                </a:lnTo>
                <a:lnTo>
                  <a:pt x="10" y="151"/>
                </a:lnTo>
                <a:lnTo>
                  <a:pt x="13" y="152"/>
                </a:lnTo>
                <a:lnTo>
                  <a:pt x="15" y="152"/>
                </a:lnTo>
                <a:lnTo>
                  <a:pt x="18" y="153"/>
                </a:lnTo>
                <a:lnTo>
                  <a:pt x="18" y="156"/>
                </a:lnTo>
                <a:lnTo>
                  <a:pt x="18" y="178"/>
                </a:lnTo>
                <a:lnTo>
                  <a:pt x="18" y="180"/>
                </a:lnTo>
                <a:lnTo>
                  <a:pt x="15" y="181"/>
                </a:lnTo>
                <a:lnTo>
                  <a:pt x="13" y="182"/>
                </a:lnTo>
                <a:lnTo>
                  <a:pt x="10" y="182"/>
                </a:lnTo>
                <a:lnTo>
                  <a:pt x="5" y="182"/>
                </a:lnTo>
                <a:lnTo>
                  <a:pt x="2" y="181"/>
                </a:lnTo>
                <a:lnTo>
                  <a:pt x="2" y="180"/>
                </a:lnTo>
                <a:lnTo>
                  <a:pt x="2" y="178"/>
                </a:lnTo>
                <a:lnTo>
                  <a:pt x="2" y="178"/>
                </a:lnTo>
                <a:close/>
                <a:moveTo>
                  <a:pt x="2" y="124"/>
                </a:moveTo>
                <a:lnTo>
                  <a:pt x="2" y="100"/>
                </a:lnTo>
                <a:lnTo>
                  <a:pt x="2" y="99"/>
                </a:lnTo>
                <a:lnTo>
                  <a:pt x="5" y="97"/>
                </a:lnTo>
                <a:lnTo>
                  <a:pt x="7" y="96"/>
                </a:lnTo>
                <a:lnTo>
                  <a:pt x="10" y="96"/>
                </a:lnTo>
                <a:lnTo>
                  <a:pt x="13" y="96"/>
                </a:lnTo>
                <a:lnTo>
                  <a:pt x="15" y="97"/>
                </a:lnTo>
                <a:lnTo>
                  <a:pt x="18" y="99"/>
                </a:lnTo>
                <a:lnTo>
                  <a:pt x="18" y="100"/>
                </a:lnTo>
                <a:lnTo>
                  <a:pt x="18" y="124"/>
                </a:lnTo>
                <a:lnTo>
                  <a:pt x="18" y="125"/>
                </a:lnTo>
                <a:lnTo>
                  <a:pt x="15" y="126"/>
                </a:lnTo>
                <a:lnTo>
                  <a:pt x="13" y="126"/>
                </a:lnTo>
                <a:lnTo>
                  <a:pt x="10" y="128"/>
                </a:lnTo>
                <a:lnTo>
                  <a:pt x="5" y="126"/>
                </a:lnTo>
                <a:lnTo>
                  <a:pt x="2" y="126"/>
                </a:lnTo>
                <a:lnTo>
                  <a:pt x="2" y="125"/>
                </a:lnTo>
                <a:lnTo>
                  <a:pt x="2" y="124"/>
                </a:lnTo>
                <a:lnTo>
                  <a:pt x="2" y="124"/>
                </a:lnTo>
                <a:close/>
                <a:moveTo>
                  <a:pt x="2" y="68"/>
                </a:moveTo>
                <a:lnTo>
                  <a:pt x="2" y="44"/>
                </a:lnTo>
                <a:lnTo>
                  <a:pt x="2" y="43"/>
                </a:lnTo>
                <a:lnTo>
                  <a:pt x="5" y="42"/>
                </a:lnTo>
                <a:lnTo>
                  <a:pt x="7" y="40"/>
                </a:lnTo>
                <a:lnTo>
                  <a:pt x="10" y="40"/>
                </a:lnTo>
                <a:lnTo>
                  <a:pt x="13" y="40"/>
                </a:lnTo>
                <a:lnTo>
                  <a:pt x="15" y="42"/>
                </a:lnTo>
                <a:lnTo>
                  <a:pt x="18" y="43"/>
                </a:lnTo>
                <a:lnTo>
                  <a:pt x="18" y="44"/>
                </a:lnTo>
                <a:lnTo>
                  <a:pt x="18" y="68"/>
                </a:lnTo>
                <a:lnTo>
                  <a:pt x="18" y="70"/>
                </a:lnTo>
                <a:lnTo>
                  <a:pt x="15" y="71"/>
                </a:lnTo>
                <a:lnTo>
                  <a:pt x="13" y="72"/>
                </a:lnTo>
                <a:lnTo>
                  <a:pt x="10" y="72"/>
                </a:lnTo>
                <a:lnTo>
                  <a:pt x="7" y="72"/>
                </a:lnTo>
                <a:lnTo>
                  <a:pt x="5" y="71"/>
                </a:lnTo>
                <a:lnTo>
                  <a:pt x="2" y="70"/>
                </a:lnTo>
                <a:lnTo>
                  <a:pt x="2" y="68"/>
                </a:lnTo>
                <a:lnTo>
                  <a:pt x="2" y="68"/>
                </a:lnTo>
                <a:close/>
                <a:moveTo>
                  <a:pt x="2" y="13"/>
                </a:moveTo>
                <a:lnTo>
                  <a:pt x="2" y="4"/>
                </a:lnTo>
                <a:lnTo>
                  <a:pt x="2" y="2"/>
                </a:lnTo>
                <a:lnTo>
                  <a:pt x="5" y="1"/>
                </a:lnTo>
                <a:lnTo>
                  <a:pt x="7" y="0"/>
                </a:lnTo>
                <a:lnTo>
                  <a:pt x="10" y="0"/>
                </a:lnTo>
                <a:lnTo>
                  <a:pt x="13" y="0"/>
                </a:lnTo>
                <a:lnTo>
                  <a:pt x="15" y="1"/>
                </a:lnTo>
                <a:lnTo>
                  <a:pt x="18" y="2"/>
                </a:lnTo>
                <a:lnTo>
                  <a:pt x="18" y="4"/>
                </a:lnTo>
                <a:lnTo>
                  <a:pt x="18" y="13"/>
                </a:lnTo>
                <a:lnTo>
                  <a:pt x="18" y="14"/>
                </a:lnTo>
                <a:lnTo>
                  <a:pt x="15" y="15"/>
                </a:lnTo>
                <a:lnTo>
                  <a:pt x="13" y="16"/>
                </a:lnTo>
                <a:lnTo>
                  <a:pt x="10" y="16"/>
                </a:lnTo>
                <a:lnTo>
                  <a:pt x="7" y="16"/>
                </a:lnTo>
                <a:lnTo>
                  <a:pt x="5" y="15"/>
                </a:lnTo>
                <a:lnTo>
                  <a:pt x="2" y="14"/>
                </a:lnTo>
                <a:lnTo>
                  <a:pt x="2" y="13"/>
                </a:lnTo>
                <a:lnTo>
                  <a:pt x="2" y="13"/>
                </a:lnTo>
                <a:close/>
              </a:path>
            </a:pathLst>
          </a:custGeom>
          <a:solidFill>
            <a:srgbClr val="000000">
              <a:alpha val="25000"/>
            </a:srgbClr>
          </a:solidFill>
          <a:ln w="4763" cap="flat" cmpd="sng">
            <a:solidFill>
              <a:srgbClr val="000000"/>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57" name="直接连接符 163856"/>
          <p:cNvSpPr/>
          <p:nvPr/>
        </p:nvSpPr>
        <p:spPr>
          <a:xfrm>
            <a:off x="1022350" y="5861050"/>
            <a:ext cx="1588" cy="458788"/>
          </a:xfrm>
          <a:prstGeom prst="line">
            <a:avLst/>
          </a:prstGeom>
          <a:ln w="53975" cap="flat" cmpd="sng">
            <a:solidFill>
              <a:srgbClr val="0000CC"/>
            </a:solidFill>
            <a:prstDash val="solid"/>
            <a:headEnd type="none" w="med" len="med"/>
            <a:tailEnd type="none" w="med" len="med"/>
          </a:ln>
        </p:spPr>
      </p:sp>
      <p:sp>
        <p:nvSpPr>
          <p:cNvPr id="163858" name="直接连接符 163857"/>
          <p:cNvSpPr/>
          <p:nvPr/>
        </p:nvSpPr>
        <p:spPr>
          <a:xfrm flipV="1">
            <a:off x="1571625" y="5861050"/>
            <a:ext cx="4763" cy="458788"/>
          </a:xfrm>
          <a:prstGeom prst="line">
            <a:avLst/>
          </a:prstGeom>
          <a:ln w="53975" cap="flat" cmpd="sng">
            <a:solidFill>
              <a:srgbClr val="0000CC"/>
            </a:solidFill>
            <a:prstDash val="solid"/>
            <a:headEnd type="none" w="med" len="med"/>
            <a:tailEnd type="none" w="med" len="med"/>
          </a:ln>
        </p:spPr>
      </p:sp>
      <p:sp>
        <p:nvSpPr>
          <p:cNvPr id="163859" name="直接连接符 163858"/>
          <p:cNvSpPr/>
          <p:nvPr/>
        </p:nvSpPr>
        <p:spPr>
          <a:xfrm>
            <a:off x="3222625" y="5857875"/>
            <a:ext cx="1588" cy="463550"/>
          </a:xfrm>
          <a:prstGeom prst="line">
            <a:avLst/>
          </a:prstGeom>
          <a:ln w="53975" cap="flat" cmpd="sng">
            <a:solidFill>
              <a:srgbClr val="0000CC"/>
            </a:solidFill>
            <a:prstDash val="solid"/>
            <a:headEnd type="none" w="med" len="med"/>
            <a:tailEnd type="none" w="med" len="med"/>
          </a:ln>
        </p:spPr>
      </p:sp>
      <p:sp>
        <p:nvSpPr>
          <p:cNvPr id="163860" name="直接连接符 163859"/>
          <p:cNvSpPr/>
          <p:nvPr/>
        </p:nvSpPr>
        <p:spPr>
          <a:xfrm flipV="1">
            <a:off x="3800475" y="5859463"/>
            <a:ext cx="1588" cy="463550"/>
          </a:xfrm>
          <a:prstGeom prst="line">
            <a:avLst/>
          </a:prstGeom>
          <a:ln w="53975" cap="flat" cmpd="sng">
            <a:solidFill>
              <a:srgbClr val="0000CC"/>
            </a:solidFill>
            <a:prstDash val="solid"/>
            <a:headEnd type="none" w="med" len="med"/>
            <a:tailEnd type="none" w="med" len="med"/>
          </a:ln>
        </p:spPr>
      </p:sp>
      <p:sp>
        <p:nvSpPr>
          <p:cNvPr id="163861" name="直接连接符 163860"/>
          <p:cNvSpPr/>
          <p:nvPr/>
        </p:nvSpPr>
        <p:spPr>
          <a:xfrm>
            <a:off x="457200" y="6307138"/>
            <a:ext cx="582613" cy="1587"/>
          </a:xfrm>
          <a:prstGeom prst="line">
            <a:avLst/>
          </a:prstGeom>
          <a:ln w="53975" cap="flat" cmpd="sng">
            <a:solidFill>
              <a:srgbClr val="0000CC"/>
            </a:solidFill>
            <a:prstDash val="solid"/>
            <a:headEnd type="none" w="med" len="med"/>
            <a:tailEnd type="none" w="med" len="med"/>
          </a:ln>
        </p:spPr>
      </p:sp>
      <p:sp>
        <p:nvSpPr>
          <p:cNvPr id="163862" name="直接连接符 163861"/>
          <p:cNvSpPr/>
          <p:nvPr/>
        </p:nvSpPr>
        <p:spPr>
          <a:xfrm flipV="1">
            <a:off x="1001713" y="5865813"/>
            <a:ext cx="590550" cy="1587"/>
          </a:xfrm>
          <a:prstGeom prst="line">
            <a:avLst/>
          </a:prstGeom>
          <a:ln w="53975" cap="flat" cmpd="sng">
            <a:solidFill>
              <a:srgbClr val="0000CC"/>
            </a:solidFill>
            <a:prstDash val="solid"/>
            <a:headEnd type="none" w="med" len="med"/>
            <a:tailEnd type="none" w="med" len="med"/>
          </a:ln>
        </p:spPr>
      </p:sp>
      <p:sp>
        <p:nvSpPr>
          <p:cNvPr id="163863" name="直接连接符 163862"/>
          <p:cNvSpPr/>
          <p:nvPr/>
        </p:nvSpPr>
        <p:spPr>
          <a:xfrm>
            <a:off x="3214688" y="5867400"/>
            <a:ext cx="606425" cy="1588"/>
          </a:xfrm>
          <a:prstGeom prst="line">
            <a:avLst/>
          </a:prstGeom>
          <a:ln w="53975" cap="flat" cmpd="sng">
            <a:solidFill>
              <a:srgbClr val="0000CC"/>
            </a:solidFill>
            <a:prstDash val="solid"/>
            <a:headEnd type="none" w="med" len="med"/>
            <a:tailEnd type="none" w="med" len="med"/>
          </a:ln>
        </p:spPr>
      </p:sp>
      <p:sp>
        <p:nvSpPr>
          <p:cNvPr id="163864" name="直接连接符 163863"/>
          <p:cNvSpPr/>
          <p:nvPr/>
        </p:nvSpPr>
        <p:spPr>
          <a:xfrm>
            <a:off x="2657475" y="6310313"/>
            <a:ext cx="581025" cy="1587"/>
          </a:xfrm>
          <a:prstGeom prst="line">
            <a:avLst/>
          </a:prstGeom>
          <a:ln w="53975" cap="flat" cmpd="sng">
            <a:solidFill>
              <a:srgbClr val="0000CC"/>
            </a:solidFill>
            <a:prstDash val="solid"/>
            <a:headEnd type="none" w="med" len="med"/>
            <a:tailEnd type="none" w="med" len="med"/>
          </a:ln>
        </p:spPr>
      </p:sp>
      <p:sp>
        <p:nvSpPr>
          <p:cNvPr id="163865" name="直接连接符 163864"/>
          <p:cNvSpPr/>
          <p:nvPr/>
        </p:nvSpPr>
        <p:spPr>
          <a:xfrm flipV="1">
            <a:off x="3787775" y="6313488"/>
            <a:ext cx="585788" cy="1587"/>
          </a:xfrm>
          <a:prstGeom prst="line">
            <a:avLst/>
          </a:prstGeom>
          <a:ln w="53975" cap="flat" cmpd="sng">
            <a:solidFill>
              <a:srgbClr val="0000CC"/>
            </a:solidFill>
            <a:prstDash val="solid"/>
            <a:headEnd type="none" w="med" len="med"/>
            <a:tailEnd type="none" w="med" len="med"/>
          </a:ln>
        </p:spPr>
      </p:sp>
      <p:sp>
        <p:nvSpPr>
          <p:cNvPr id="163866" name="直接连接符 163865"/>
          <p:cNvSpPr/>
          <p:nvPr/>
        </p:nvSpPr>
        <p:spPr>
          <a:xfrm>
            <a:off x="2120900" y="5861050"/>
            <a:ext cx="1588" cy="458788"/>
          </a:xfrm>
          <a:prstGeom prst="line">
            <a:avLst/>
          </a:prstGeom>
          <a:ln w="53975" cap="flat" cmpd="sng">
            <a:solidFill>
              <a:srgbClr val="0000CC"/>
            </a:solidFill>
            <a:prstDash val="solid"/>
            <a:headEnd type="none" w="med" len="med"/>
            <a:tailEnd type="none" w="med" len="med"/>
          </a:ln>
        </p:spPr>
      </p:sp>
      <p:sp>
        <p:nvSpPr>
          <p:cNvPr id="163867" name="直接连接符 163866"/>
          <p:cNvSpPr/>
          <p:nvPr/>
        </p:nvSpPr>
        <p:spPr>
          <a:xfrm flipV="1">
            <a:off x="2673350" y="5861050"/>
            <a:ext cx="1588" cy="458788"/>
          </a:xfrm>
          <a:prstGeom prst="line">
            <a:avLst/>
          </a:prstGeom>
          <a:ln w="53975" cap="flat" cmpd="sng">
            <a:solidFill>
              <a:srgbClr val="0000CC"/>
            </a:solidFill>
            <a:prstDash val="solid"/>
            <a:headEnd type="none" w="med" len="med"/>
            <a:tailEnd type="none" w="med" len="med"/>
          </a:ln>
        </p:spPr>
      </p:sp>
      <p:sp>
        <p:nvSpPr>
          <p:cNvPr id="163868" name="直接连接符 163867"/>
          <p:cNvSpPr/>
          <p:nvPr/>
        </p:nvSpPr>
        <p:spPr>
          <a:xfrm>
            <a:off x="1555750" y="6307138"/>
            <a:ext cx="585788" cy="1587"/>
          </a:xfrm>
          <a:prstGeom prst="line">
            <a:avLst/>
          </a:prstGeom>
          <a:ln w="53975" cap="flat" cmpd="sng">
            <a:solidFill>
              <a:srgbClr val="0000CC"/>
            </a:solidFill>
            <a:prstDash val="solid"/>
            <a:headEnd type="none" w="med" len="med"/>
            <a:tailEnd type="none" w="med" len="med"/>
          </a:ln>
        </p:spPr>
      </p:sp>
      <p:sp>
        <p:nvSpPr>
          <p:cNvPr id="163869" name="直接连接符 163868"/>
          <p:cNvSpPr/>
          <p:nvPr/>
        </p:nvSpPr>
        <p:spPr>
          <a:xfrm>
            <a:off x="2100263" y="5867400"/>
            <a:ext cx="585787" cy="1588"/>
          </a:xfrm>
          <a:prstGeom prst="line">
            <a:avLst/>
          </a:prstGeom>
          <a:ln w="53975" cap="flat" cmpd="sng">
            <a:solidFill>
              <a:srgbClr val="0000CC"/>
            </a:solidFill>
            <a:prstDash val="solid"/>
            <a:headEnd type="none" w="med" len="med"/>
            <a:tailEnd type="none" w="med" len="med"/>
          </a:ln>
        </p:spPr>
      </p:sp>
      <p:sp>
        <p:nvSpPr>
          <p:cNvPr id="163870" name="任意多边形 163869"/>
          <p:cNvSpPr>
            <a:spLocks noEditPoints="1"/>
          </p:cNvSpPr>
          <p:nvPr/>
        </p:nvSpPr>
        <p:spPr>
          <a:xfrm>
            <a:off x="454025" y="5853113"/>
            <a:ext cx="568325" cy="26987"/>
          </a:xfrm>
          <a:custGeom>
            <a:avLst/>
            <a:gdLst/>
            <a:ahLst/>
            <a:cxnLst/>
            <a:pathLst>
              <a:path w="358" h="17">
                <a:moveTo>
                  <a:pt x="0" y="2"/>
                </a:moveTo>
                <a:lnTo>
                  <a:pt x="33" y="2"/>
                </a:lnTo>
                <a:lnTo>
                  <a:pt x="33" y="17"/>
                </a:lnTo>
                <a:lnTo>
                  <a:pt x="0" y="17"/>
                </a:lnTo>
                <a:lnTo>
                  <a:pt x="0" y="2"/>
                </a:lnTo>
                <a:close/>
                <a:moveTo>
                  <a:pt x="65" y="0"/>
                </a:moveTo>
                <a:lnTo>
                  <a:pt x="98" y="0"/>
                </a:lnTo>
                <a:lnTo>
                  <a:pt x="98" y="17"/>
                </a:lnTo>
                <a:lnTo>
                  <a:pt x="65" y="17"/>
                </a:lnTo>
                <a:lnTo>
                  <a:pt x="65" y="0"/>
                </a:lnTo>
                <a:close/>
                <a:moveTo>
                  <a:pt x="130" y="0"/>
                </a:moveTo>
                <a:lnTo>
                  <a:pt x="163" y="0"/>
                </a:lnTo>
                <a:lnTo>
                  <a:pt x="163" y="17"/>
                </a:lnTo>
                <a:lnTo>
                  <a:pt x="130" y="17"/>
                </a:lnTo>
                <a:lnTo>
                  <a:pt x="130" y="0"/>
                </a:lnTo>
                <a:close/>
                <a:moveTo>
                  <a:pt x="194" y="0"/>
                </a:moveTo>
                <a:lnTo>
                  <a:pt x="228" y="0"/>
                </a:lnTo>
                <a:lnTo>
                  <a:pt x="228" y="17"/>
                </a:lnTo>
                <a:lnTo>
                  <a:pt x="194" y="17"/>
                </a:lnTo>
                <a:lnTo>
                  <a:pt x="194" y="0"/>
                </a:lnTo>
                <a:close/>
                <a:moveTo>
                  <a:pt x="259" y="0"/>
                </a:moveTo>
                <a:lnTo>
                  <a:pt x="293" y="0"/>
                </a:lnTo>
                <a:lnTo>
                  <a:pt x="293" y="16"/>
                </a:lnTo>
                <a:lnTo>
                  <a:pt x="259" y="17"/>
                </a:lnTo>
                <a:lnTo>
                  <a:pt x="259" y="0"/>
                </a:lnTo>
                <a:close/>
                <a:moveTo>
                  <a:pt x="324" y="0"/>
                </a:moveTo>
                <a:lnTo>
                  <a:pt x="358" y="0"/>
                </a:lnTo>
                <a:lnTo>
                  <a:pt x="358" y="16"/>
                </a:lnTo>
                <a:lnTo>
                  <a:pt x="324" y="16"/>
                </a:lnTo>
                <a:lnTo>
                  <a:pt x="324" y="0"/>
                </a:lnTo>
                <a:close/>
              </a:path>
            </a:pathLst>
          </a:custGeom>
          <a:solidFill>
            <a:srgbClr val="000000"/>
          </a:solidFill>
          <a:ln w="4763"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71" name="任意多边形 163870"/>
          <p:cNvSpPr/>
          <p:nvPr/>
        </p:nvSpPr>
        <p:spPr>
          <a:xfrm>
            <a:off x="1019175" y="4781550"/>
            <a:ext cx="547688" cy="328613"/>
          </a:xfrm>
          <a:custGeom>
            <a:avLst/>
            <a:gdLst/>
            <a:ahLst/>
            <a:cxnLst/>
            <a:pathLst>
              <a:path w="345" h="207">
                <a:moveTo>
                  <a:pt x="0" y="0"/>
                </a:moveTo>
                <a:lnTo>
                  <a:pt x="33" y="34"/>
                </a:lnTo>
                <a:lnTo>
                  <a:pt x="49" y="50"/>
                </a:lnTo>
                <a:lnTo>
                  <a:pt x="67" y="66"/>
                </a:lnTo>
                <a:lnTo>
                  <a:pt x="85" y="82"/>
                </a:lnTo>
                <a:lnTo>
                  <a:pt x="104" y="97"/>
                </a:lnTo>
                <a:lnTo>
                  <a:pt x="124" y="111"/>
                </a:lnTo>
                <a:lnTo>
                  <a:pt x="145" y="125"/>
                </a:lnTo>
                <a:lnTo>
                  <a:pt x="169" y="137"/>
                </a:lnTo>
                <a:lnTo>
                  <a:pt x="192" y="149"/>
                </a:lnTo>
                <a:lnTo>
                  <a:pt x="215" y="159"/>
                </a:lnTo>
                <a:lnTo>
                  <a:pt x="239" y="171"/>
                </a:lnTo>
                <a:lnTo>
                  <a:pt x="265" y="180"/>
                </a:lnTo>
                <a:lnTo>
                  <a:pt x="291" y="190"/>
                </a:lnTo>
                <a:lnTo>
                  <a:pt x="345" y="207"/>
                </a:lnTo>
              </a:path>
            </a:pathLst>
          </a:custGeom>
          <a:noFill/>
          <a:ln w="53975"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72" name="直接连接符 163871"/>
          <p:cNvSpPr/>
          <p:nvPr/>
        </p:nvSpPr>
        <p:spPr>
          <a:xfrm flipV="1">
            <a:off x="1027113" y="4789488"/>
            <a:ext cx="1587" cy="325437"/>
          </a:xfrm>
          <a:prstGeom prst="line">
            <a:avLst/>
          </a:prstGeom>
          <a:ln w="53975" cap="flat" cmpd="sng">
            <a:solidFill>
              <a:srgbClr val="0000CC"/>
            </a:solidFill>
            <a:prstDash val="solid"/>
            <a:headEnd type="none" w="med" len="med"/>
            <a:tailEnd type="none" w="med" len="med"/>
          </a:ln>
        </p:spPr>
      </p:sp>
      <p:sp>
        <p:nvSpPr>
          <p:cNvPr id="163873" name="直接连接符 163872"/>
          <p:cNvSpPr/>
          <p:nvPr/>
        </p:nvSpPr>
        <p:spPr>
          <a:xfrm flipV="1">
            <a:off x="3759200" y="5105400"/>
            <a:ext cx="1588" cy="258763"/>
          </a:xfrm>
          <a:prstGeom prst="line">
            <a:avLst/>
          </a:prstGeom>
          <a:ln w="53975" cap="flat" cmpd="sng">
            <a:solidFill>
              <a:srgbClr val="0000CC"/>
            </a:solidFill>
            <a:prstDash val="solid"/>
            <a:headEnd type="none" w="med" len="med"/>
            <a:tailEnd type="none" w="med" len="med"/>
          </a:ln>
        </p:spPr>
      </p:sp>
      <p:sp>
        <p:nvSpPr>
          <p:cNvPr id="163874" name="任意多边形 163873"/>
          <p:cNvSpPr/>
          <p:nvPr/>
        </p:nvSpPr>
        <p:spPr>
          <a:xfrm>
            <a:off x="2120900" y="4781550"/>
            <a:ext cx="544513" cy="328613"/>
          </a:xfrm>
          <a:custGeom>
            <a:avLst/>
            <a:gdLst/>
            <a:ahLst/>
            <a:cxnLst/>
            <a:pathLst>
              <a:path w="343" h="207">
                <a:moveTo>
                  <a:pt x="0" y="0"/>
                </a:moveTo>
                <a:lnTo>
                  <a:pt x="34" y="33"/>
                </a:lnTo>
                <a:lnTo>
                  <a:pt x="49" y="49"/>
                </a:lnTo>
                <a:lnTo>
                  <a:pt x="67" y="66"/>
                </a:lnTo>
                <a:lnTo>
                  <a:pt x="86" y="81"/>
                </a:lnTo>
                <a:lnTo>
                  <a:pt x="104" y="96"/>
                </a:lnTo>
                <a:lnTo>
                  <a:pt x="125" y="110"/>
                </a:lnTo>
                <a:lnTo>
                  <a:pt x="145" y="124"/>
                </a:lnTo>
                <a:lnTo>
                  <a:pt x="166" y="137"/>
                </a:lnTo>
                <a:lnTo>
                  <a:pt x="189" y="148"/>
                </a:lnTo>
                <a:lnTo>
                  <a:pt x="215" y="159"/>
                </a:lnTo>
                <a:lnTo>
                  <a:pt x="239" y="169"/>
                </a:lnTo>
                <a:lnTo>
                  <a:pt x="265" y="180"/>
                </a:lnTo>
                <a:lnTo>
                  <a:pt x="291" y="188"/>
                </a:lnTo>
                <a:lnTo>
                  <a:pt x="343" y="207"/>
                </a:lnTo>
              </a:path>
            </a:pathLst>
          </a:custGeom>
          <a:noFill/>
          <a:ln w="53975"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75" name="直接连接符 163874"/>
          <p:cNvSpPr/>
          <p:nvPr/>
        </p:nvSpPr>
        <p:spPr>
          <a:xfrm flipV="1">
            <a:off x="2124075" y="4787900"/>
            <a:ext cx="1588" cy="327025"/>
          </a:xfrm>
          <a:prstGeom prst="line">
            <a:avLst/>
          </a:prstGeom>
          <a:ln w="53975" cap="flat" cmpd="sng">
            <a:solidFill>
              <a:srgbClr val="0000CC"/>
            </a:solidFill>
            <a:prstDash val="solid"/>
            <a:headEnd type="none" w="med" len="med"/>
            <a:tailEnd type="none" w="med" len="med"/>
          </a:ln>
        </p:spPr>
      </p:sp>
      <p:sp>
        <p:nvSpPr>
          <p:cNvPr id="163876" name="任意多边形 163875"/>
          <p:cNvSpPr/>
          <p:nvPr/>
        </p:nvSpPr>
        <p:spPr>
          <a:xfrm>
            <a:off x="3214688" y="4781550"/>
            <a:ext cx="547687" cy="328613"/>
          </a:xfrm>
          <a:custGeom>
            <a:avLst/>
            <a:gdLst/>
            <a:ahLst/>
            <a:cxnLst/>
            <a:pathLst>
              <a:path w="345" h="207">
                <a:moveTo>
                  <a:pt x="0" y="0"/>
                </a:moveTo>
                <a:lnTo>
                  <a:pt x="33" y="33"/>
                </a:lnTo>
                <a:lnTo>
                  <a:pt x="49" y="49"/>
                </a:lnTo>
                <a:lnTo>
                  <a:pt x="67" y="66"/>
                </a:lnTo>
                <a:lnTo>
                  <a:pt x="85" y="81"/>
                </a:lnTo>
                <a:lnTo>
                  <a:pt x="104" y="96"/>
                </a:lnTo>
                <a:lnTo>
                  <a:pt x="124" y="110"/>
                </a:lnTo>
                <a:lnTo>
                  <a:pt x="145" y="124"/>
                </a:lnTo>
                <a:lnTo>
                  <a:pt x="169" y="137"/>
                </a:lnTo>
                <a:lnTo>
                  <a:pt x="189" y="148"/>
                </a:lnTo>
                <a:lnTo>
                  <a:pt x="215" y="159"/>
                </a:lnTo>
                <a:lnTo>
                  <a:pt x="239" y="169"/>
                </a:lnTo>
                <a:lnTo>
                  <a:pt x="265" y="180"/>
                </a:lnTo>
                <a:lnTo>
                  <a:pt x="291" y="188"/>
                </a:lnTo>
                <a:lnTo>
                  <a:pt x="345" y="207"/>
                </a:lnTo>
              </a:path>
            </a:pathLst>
          </a:custGeom>
          <a:noFill/>
          <a:ln w="53975"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77" name="直接连接符 163876"/>
          <p:cNvSpPr/>
          <p:nvPr/>
        </p:nvSpPr>
        <p:spPr>
          <a:xfrm flipV="1">
            <a:off x="3222625" y="4787900"/>
            <a:ext cx="1588" cy="330200"/>
          </a:xfrm>
          <a:prstGeom prst="line">
            <a:avLst/>
          </a:prstGeom>
          <a:ln w="53975" cap="flat" cmpd="sng">
            <a:solidFill>
              <a:srgbClr val="0000CC"/>
            </a:solidFill>
            <a:prstDash val="solid"/>
            <a:headEnd type="none" w="med" len="med"/>
            <a:tailEnd type="none" w="med" len="med"/>
          </a:ln>
        </p:spPr>
      </p:sp>
      <p:sp>
        <p:nvSpPr>
          <p:cNvPr id="163878" name="任意多边形 163877"/>
          <p:cNvSpPr/>
          <p:nvPr/>
        </p:nvSpPr>
        <p:spPr>
          <a:xfrm>
            <a:off x="1571625" y="5113338"/>
            <a:ext cx="549275" cy="328612"/>
          </a:xfrm>
          <a:custGeom>
            <a:avLst/>
            <a:gdLst/>
            <a:ahLst/>
            <a:cxnLst/>
            <a:pathLst>
              <a:path w="346" h="207">
                <a:moveTo>
                  <a:pt x="0" y="207"/>
                </a:moveTo>
                <a:lnTo>
                  <a:pt x="34" y="174"/>
                </a:lnTo>
                <a:lnTo>
                  <a:pt x="49" y="158"/>
                </a:lnTo>
                <a:lnTo>
                  <a:pt x="68" y="141"/>
                </a:lnTo>
                <a:lnTo>
                  <a:pt x="86" y="126"/>
                </a:lnTo>
                <a:lnTo>
                  <a:pt x="104" y="111"/>
                </a:lnTo>
                <a:lnTo>
                  <a:pt x="125" y="96"/>
                </a:lnTo>
                <a:lnTo>
                  <a:pt x="146" y="83"/>
                </a:lnTo>
                <a:lnTo>
                  <a:pt x="169" y="70"/>
                </a:lnTo>
                <a:lnTo>
                  <a:pt x="192" y="59"/>
                </a:lnTo>
                <a:lnTo>
                  <a:pt x="216" y="48"/>
                </a:lnTo>
                <a:lnTo>
                  <a:pt x="239" y="38"/>
                </a:lnTo>
                <a:lnTo>
                  <a:pt x="265" y="27"/>
                </a:lnTo>
                <a:lnTo>
                  <a:pt x="291" y="17"/>
                </a:lnTo>
                <a:lnTo>
                  <a:pt x="346" y="0"/>
                </a:lnTo>
              </a:path>
            </a:pathLst>
          </a:custGeom>
          <a:noFill/>
          <a:ln w="53975"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79" name="直接连接符 163878"/>
          <p:cNvSpPr/>
          <p:nvPr/>
        </p:nvSpPr>
        <p:spPr>
          <a:xfrm>
            <a:off x="1579563" y="5108575"/>
            <a:ext cx="1587" cy="325438"/>
          </a:xfrm>
          <a:prstGeom prst="line">
            <a:avLst/>
          </a:prstGeom>
          <a:ln w="53975" cap="flat" cmpd="sng">
            <a:solidFill>
              <a:srgbClr val="0000CC"/>
            </a:solidFill>
            <a:prstDash val="solid"/>
            <a:headEnd type="none" w="med" len="med"/>
            <a:tailEnd type="none" w="med" len="med"/>
          </a:ln>
        </p:spPr>
      </p:sp>
      <p:sp>
        <p:nvSpPr>
          <p:cNvPr id="163880" name="任意多边形 163879"/>
          <p:cNvSpPr/>
          <p:nvPr/>
        </p:nvSpPr>
        <p:spPr>
          <a:xfrm>
            <a:off x="2668588" y="5113338"/>
            <a:ext cx="549275" cy="328612"/>
          </a:xfrm>
          <a:custGeom>
            <a:avLst/>
            <a:gdLst/>
            <a:ahLst/>
            <a:cxnLst/>
            <a:pathLst>
              <a:path w="346" h="207">
                <a:moveTo>
                  <a:pt x="0" y="207"/>
                </a:moveTo>
                <a:lnTo>
                  <a:pt x="34" y="174"/>
                </a:lnTo>
                <a:lnTo>
                  <a:pt x="52" y="158"/>
                </a:lnTo>
                <a:lnTo>
                  <a:pt x="68" y="141"/>
                </a:lnTo>
                <a:lnTo>
                  <a:pt x="86" y="126"/>
                </a:lnTo>
                <a:lnTo>
                  <a:pt x="107" y="111"/>
                </a:lnTo>
                <a:lnTo>
                  <a:pt x="125" y="96"/>
                </a:lnTo>
                <a:lnTo>
                  <a:pt x="146" y="83"/>
                </a:lnTo>
                <a:lnTo>
                  <a:pt x="169" y="70"/>
                </a:lnTo>
                <a:lnTo>
                  <a:pt x="193" y="59"/>
                </a:lnTo>
                <a:lnTo>
                  <a:pt x="216" y="48"/>
                </a:lnTo>
                <a:lnTo>
                  <a:pt x="242" y="38"/>
                </a:lnTo>
                <a:lnTo>
                  <a:pt x="268" y="27"/>
                </a:lnTo>
                <a:lnTo>
                  <a:pt x="294" y="17"/>
                </a:lnTo>
                <a:lnTo>
                  <a:pt x="346" y="0"/>
                </a:lnTo>
              </a:path>
            </a:pathLst>
          </a:custGeom>
          <a:noFill/>
          <a:ln w="53975" cap="flat" cmpd="sng">
            <a:solidFill>
              <a:srgbClr val="0000CC"/>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1" name="直接连接符 163880"/>
          <p:cNvSpPr/>
          <p:nvPr/>
        </p:nvSpPr>
        <p:spPr>
          <a:xfrm>
            <a:off x="2678113" y="5108575"/>
            <a:ext cx="1587" cy="325438"/>
          </a:xfrm>
          <a:prstGeom prst="line">
            <a:avLst/>
          </a:prstGeom>
          <a:ln w="53975" cap="flat" cmpd="sng">
            <a:solidFill>
              <a:schemeClr val="accent2"/>
            </a:solidFill>
            <a:prstDash val="solid"/>
            <a:headEnd type="none" w="med" len="med"/>
            <a:tailEnd type="none" w="med" len="med"/>
          </a:ln>
        </p:spPr>
      </p:sp>
      <p:sp>
        <p:nvSpPr>
          <p:cNvPr id="163882" name="矩形 163881"/>
          <p:cNvSpPr/>
          <p:nvPr/>
        </p:nvSpPr>
        <p:spPr>
          <a:xfrm>
            <a:off x="8983663" y="3802063"/>
            <a:ext cx="31750" cy="153670"/>
          </a:xfrm>
          <a:prstGeom prst="rect">
            <a:avLst/>
          </a:prstGeom>
          <a:noFill/>
          <a:ln w="9525">
            <a:noFill/>
          </a:ln>
        </p:spPr>
        <p:txBody>
          <a:bodyPr wrap="none" lIns="0" tIns="0" rIns="0" bIns="0">
            <a:spAutoFit/>
          </a:bodyPr>
          <a:p>
            <a:pPr>
              <a:spcBef>
                <a:spcPct val="50000"/>
              </a:spcBef>
            </a:pPr>
            <a:r>
              <a:rPr lang="en-US" altLang="zh-CN" sz="1000" i="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1000" i="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3" name="矩形 163882"/>
          <p:cNvSpPr/>
          <p:nvPr/>
        </p:nvSpPr>
        <p:spPr>
          <a:xfrm>
            <a:off x="1460500" y="6380163"/>
            <a:ext cx="70485" cy="307340"/>
          </a:xfrm>
          <a:prstGeom prst="rect">
            <a:avLst/>
          </a:prstGeom>
          <a:noFill/>
          <a:ln w="9525">
            <a:noFill/>
          </a:ln>
        </p:spPr>
        <p:txBody>
          <a:bodyPr wrap="none" lIns="0" tIns="0" rIns="0" bIns="0">
            <a:spAutoFit/>
          </a:bodyPr>
          <a:p>
            <a:pPr>
              <a:spcBef>
                <a:spcPct val="50000"/>
              </a:spcBef>
            </a:pPr>
            <a:r>
              <a:rPr lang="en-US" altLang="zh-CN" sz="2000" i="1">
                <a:solidFill>
                  <a:srgbClr val="000066"/>
                </a:solidFill>
                <a:latin typeface="Times New Roman" panose="02020603050405020304" charset="0"/>
                <a:ea typeface="楷体" panose="02010609060101010101" charset="-122"/>
                <a:cs typeface="Times New Roman" panose="02020603050405020304" charset="0"/>
              </a:rPr>
              <a:t>t</a:t>
            </a:r>
            <a:endParaRPr lang="en-US" altLang="zh-CN" sz="2000"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4" name="矩形 163883"/>
          <p:cNvSpPr/>
          <p:nvPr/>
        </p:nvSpPr>
        <p:spPr>
          <a:xfrm>
            <a:off x="1535113" y="6432550"/>
            <a:ext cx="127000" cy="307340"/>
          </a:xfrm>
          <a:prstGeom prst="rect">
            <a:avLst/>
          </a:prstGeom>
          <a:noFill/>
          <a:ln w="9525">
            <a:noFill/>
          </a:ln>
        </p:spPr>
        <p:txBody>
          <a:bodyPr wrap="none" lIns="0" tIns="0" rIns="0" bIns="0">
            <a:spAutoFit/>
          </a:bodyPr>
          <a:p>
            <a:pPr>
              <a:spcBef>
                <a:spcPct val="50000"/>
              </a:spcBef>
            </a:pPr>
            <a:r>
              <a:rPr lang="en-US" altLang="zh-CN" sz="2000">
                <a:solidFill>
                  <a:srgbClr val="000066"/>
                </a:solidFill>
                <a:latin typeface="Times New Roman" panose="02020603050405020304" charset="0"/>
                <a:ea typeface="楷体" panose="02010609060101010101" charset="-122"/>
                <a:cs typeface="Times New Roman" panose="02020603050405020304" charset="0"/>
              </a:rPr>
              <a:t>1</a:t>
            </a:r>
            <a:endParaRPr lang="en-US" altLang="zh-CN" sz="20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6" name="矩形 163885"/>
          <p:cNvSpPr/>
          <p:nvPr/>
        </p:nvSpPr>
        <p:spPr>
          <a:xfrm>
            <a:off x="2079625" y="6392863"/>
            <a:ext cx="70485" cy="307340"/>
          </a:xfrm>
          <a:prstGeom prst="rect">
            <a:avLst/>
          </a:prstGeom>
          <a:noFill/>
          <a:ln w="9525">
            <a:noFill/>
          </a:ln>
        </p:spPr>
        <p:txBody>
          <a:bodyPr wrap="none" lIns="0" tIns="0" rIns="0" bIns="0">
            <a:spAutoFit/>
          </a:bodyPr>
          <a:p>
            <a:pPr>
              <a:spcBef>
                <a:spcPct val="50000"/>
              </a:spcBef>
            </a:pPr>
            <a:r>
              <a:rPr lang="en-US" altLang="zh-CN" sz="2000" i="1">
                <a:solidFill>
                  <a:srgbClr val="000066"/>
                </a:solidFill>
                <a:latin typeface="Times New Roman" panose="02020603050405020304" charset="0"/>
                <a:ea typeface="楷体" panose="02010609060101010101" charset="-122"/>
                <a:cs typeface="Times New Roman" panose="02020603050405020304" charset="0"/>
              </a:rPr>
              <a:t>t</a:t>
            </a:r>
            <a:endParaRPr lang="en-US" altLang="zh-CN" sz="2000"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7" name="矩形 163886"/>
          <p:cNvSpPr/>
          <p:nvPr/>
        </p:nvSpPr>
        <p:spPr>
          <a:xfrm>
            <a:off x="2154238" y="6445250"/>
            <a:ext cx="127000" cy="307340"/>
          </a:xfrm>
          <a:prstGeom prst="rect">
            <a:avLst/>
          </a:prstGeom>
          <a:noFill/>
          <a:ln w="9525">
            <a:noFill/>
          </a:ln>
        </p:spPr>
        <p:txBody>
          <a:bodyPr wrap="none" lIns="0" tIns="0" rIns="0" bIns="0">
            <a:spAutoFit/>
          </a:bodyPr>
          <a:p>
            <a:pPr>
              <a:spcBef>
                <a:spcPct val="50000"/>
              </a:spcBef>
            </a:pPr>
            <a:r>
              <a:rPr lang="en-US" altLang="zh-CN" sz="2000">
                <a:solidFill>
                  <a:srgbClr val="000066"/>
                </a:solidFill>
                <a:latin typeface="Times New Roman" panose="02020603050405020304" charset="0"/>
                <a:ea typeface="楷体" panose="02010609060101010101" charset="-122"/>
                <a:cs typeface="Times New Roman" panose="02020603050405020304" charset="0"/>
              </a:rPr>
              <a:t>2</a:t>
            </a:r>
            <a:endParaRPr lang="en-US" altLang="zh-CN" sz="20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8" name="矩形 163887"/>
          <p:cNvSpPr/>
          <p:nvPr/>
        </p:nvSpPr>
        <p:spPr>
          <a:xfrm>
            <a:off x="2239963" y="6391275"/>
            <a:ext cx="63500" cy="307340"/>
          </a:xfrm>
          <a:prstGeom prst="rect">
            <a:avLst/>
          </a:prstGeom>
          <a:noFill/>
          <a:ln w="9525">
            <a:noFill/>
          </a:ln>
        </p:spPr>
        <p:txBody>
          <a:bodyPr wrap="none" lIns="0" tIns="0" rIns="0" bIns="0">
            <a:spAutoFit/>
          </a:bodyPr>
          <a:p>
            <a:pPr>
              <a:spcBef>
                <a:spcPct val="50000"/>
              </a:spcBef>
            </a:pPr>
            <a:r>
              <a:rPr lang="en-US" altLang="zh-CN" sz="2000"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20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89" name="矩形 163888"/>
          <p:cNvSpPr/>
          <p:nvPr/>
        </p:nvSpPr>
        <p:spPr>
          <a:xfrm>
            <a:off x="4514850" y="6254750"/>
            <a:ext cx="84455" cy="368935"/>
          </a:xfrm>
          <a:prstGeom prst="rect">
            <a:avLst/>
          </a:prstGeom>
          <a:noFill/>
          <a:ln w="9525">
            <a:noFill/>
          </a:ln>
        </p:spPr>
        <p:txBody>
          <a:bodyPr wrap="none" lIns="0" tIns="0" rIns="0" bIns="0">
            <a:spAutoFit/>
          </a:bodyPr>
          <a:p>
            <a:pPr>
              <a:spcBef>
                <a:spcPct val="50000"/>
              </a:spcBef>
            </a:pPr>
            <a:r>
              <a:rPr lang="en-US" altLang="zh-CN" sz="2400" i="1">
                <a:solidFill>
                  <a:srgbClr val="000066"/>
                </a:solidFill>
                <a:latin typeface="Times New Roman" panose="02020603050405020304" charset="0"/>
                <a:ea typeface="楷体" panose="02010609060101010101" charset="-122"/>
                <a:cs typeface="Times New Roman" panose="02020603050405020304" charset="0"/>
              </a:rPr>
              <a:t>t</a:t>
            </a:r>
            <a:endParaRPr lang="en-US" altLang="zh-CN" sz="2400" i="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2" name="任意多边形 163891"/>
          <p:cNvSpPr/>
          <p:nvPr/>
        </p:nvSpPr>
        <p:spPr>
          <a:xfrm>
            <a:off x="415925" y="4606925"/>
            <a:ext cx="79375" cy="131763"/>
          </a:xfrm>
          <a:custGeom>
            <a:avLst/>
            <a:gdLst/>
            <a:ahLst/>
            <a:cxnLst/>
            <a:pathLst>
              <a:path w="50" h="83">
                <a:moveTo>
                  <a:pt x="0" y="83"/>
                </a:moveTo>
                <a:lnTo>
                  <a:pt x="50" y="83"/>
                </a:lnTo>
                <a:lnTo>
                  <a:pt x="26" y="0"/>
                </a:lnTo>
                <a:lnTo>
                  <a:pt x="0" y="83"/>
                </a:lnTo>
                <a:close/>
              </a:path>
            </a:pathLst>
          </a:custGeom>
          <a:solidFill>
            <a:srgbClr val="000000"/>
          </a:solidFill>
          <a:ln w="9525">
            <a:noFill/>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3" name="任意多边形 163892"/>
          <p:cNvSpPr/>
          <p:nvPr/>
        </p:nvSpPr>
        <p:spPr>
          <a:xfrm>
            <a:off x="542925" y="4733925"/>
            <a:ext cx="79375" cy="131763"/>
          </a:xfrm>
          <a:custGeom>
            <a:avLst/>
            <a:gdLst/>
            <a:ahLst/>
            <a:cxnLst/>
            <a:pathLst>
              <a:path w="50" h="83">
                <a:moveTo>
                  <a:pt x="0" y="83"/>
                </a:moveTo>
                <a:lnTo>
                  <a:pt x="50" y="83"/>
                </a:lnTo>
                <a:lnTo>
                  <a:pt x="26" y="0"/>
                </a:lnTo>
                <a:lnTo>
                  <a:pt x="0" y="83"/>
                </a:lnTo>
                <a:close/>
              </a:path>
            </a:pathLst>
          </a:custGeom>
          <a:noFill/>
          <a:ln w="7938" cap="flat" cmpd="sng">
            <a:solidFill>
              <a:schemeClr val="accent2"/>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4" name="任意多边形 163893"/>
          <p:cNvSpPr/>
          <p:nvPr/>
        </p:nvSpPr>
        <p:spPr>
          <a:xfrm>
            <a:off x="4459288" y="5337175"/>
            <a:ext cx="273050" cy="38100"/>
          </a:xfrm>
          <a:custGeom>
            <a:avLst/>
            <a:gdLst/>
            <a:ahLst/>
            <a:cxnLst/>
            <a:pathLst>
              <a:path w="172" h="24">
                <a:moveTo>
                  <a:pt x="0" y="24"/>
                </a:moveTo>
                <a:lnTo>
                  <a:pt x="0" y="0"/>
                </a:lnTo>
                <a:lnTo>
                  <a:pt x="172" y="12"/>
                </a:lnTo>
                <a:lnTo>
                  <a:pt x="0" y="24"/>
                </a:lnTo>
                <a:close/>
              </a:path>
            </a:pathLst>
          </a:custGeom>
          <a:noFill/>
          <a:ln w="7938" cap="flat" cmpd="sng">
            <a:solidFill>
              <a:schemeClr val="accent2"/>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5" name="任意多边形 163894"/>
          <p:cNvSpPr/>
          <p:nvPr/>
        </p:nvSpPr>
        <p:spPr>
          <a:xfrm>
            <a:off x="415925" y="5614988"/>
            <a:ext cx="79375" cy="131762"/>
          </a:xfrm>
          <a:custGeom>
            <a:avLst/>
            <a:gdLst/>
            <a:ahLst/>
            <a:cxnLst/>
            <a:pathLst>
              <a:path w="50" h="83">
                <a:moveTo>
                  <a:pt x="0" y="83"/>
                </a:moveTo>
                <a:lnTo>
                  <a:pt x="50" y="83"/>
                </a:lnTo>
                <a:lnTo>
                  <a:pt x="26" y="0"/>
                </a:lnTo>
                <a:lnTo>
                  <a:pt x="0" y="83"/>
                </a:lnTo>
                <a:close/>
              </a:path>
            </a:pathLst>
          </a:custGeom>
          <a:solidFill>
            <a:srgbClr val="000000"/>
          </a:solidFill>
          <a:ln w="9525">
            <a:noFill/>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6" name="任意多边形 163895"/>
          <p:cNvSpPr/>
          <p:nvPr/>
        </p:nvSpPr>
        <p:spPr>
          <a:xfrm>
            <a:off x="542925" y="5741988"/>
            <a:ext cx="79375" cy="131762"/>
          </a:xfrm>
          <a:custGeom>
            <a:avLst/>
            <a:gdLst/>
            <a:ahLst/>
            <a:cxnLst/>
            <a:pathLst>
              <a:path w="50" h="83">
                <a:moveTo>
                  <a:pt x="0" y="83"/>
                </a:moveTo>
                <a:lnTo>
                  <a:pt x="50" y="83"/>
                </a:lnTo>
                <a:lnTo>
                  <a:pt x="26" y="0"/>
                </a:lnTo>
                <a:lnTo>
                  <a:pt x="0" y="83"/>
                </a:lnTo>
                <a:close/>
              </a:path>
            </a:pathLst>
          </a:custGeom>
          <a:noFill/>
          <a:ln w="7938" cap="flat" cmpd="sng">
            <a:solidFill>
              <a:schemeClr val="accent2"/>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7" name="任意多边形 163896"/>
          <p:cNvSpPr/>
          <p:nvPr/>
        </p:nvSpPr>
        <p:spPr>
          <a:xfrm>
            <a:off x="4471988" y="6332538"/>
            <a:ext cx="273050" cy="36512"/>
          </a:xfrm>
          <a:custGeom>
            <a:avLst/>
            <a:gdLst/>
            <a:ahLst/>
            <a:cxnLst/>
            <a:pathLst>
              <a:path w="172" h="23">
                <a:moveTo>
                  <a:pt x="0" y="23"/>
                </a:moveTo>
                <a:lnTo>
                  <a:pt x="0" y="0"/>
                </a:lnTo>
                <a:lnTo>
                  <a:pt x="172" y="12"/>
                </a:lnTo>
                <a:lnTo>
                  <a:pt x="0" y="23"/>
                </a:lnTo>
                <a:close/>
              </a:path>
            </a:pathLst>
          </a:custGeom>
          <a:solidFill>
            <a:srgbClr val="000000"/>
          </a:solidFill>
          <a:ln w="9525" cap="flat" cmpd="sng">
            <a:solidFill>
              <a:schemeClr val="accent2"/>
            </a:solidFill>
            <a:prstDash val="solid"/>
            <a:headEnd type="none" w="med" len="med"/>
            <a:tailEnd type="none" w="med" len="med"/>
          </a:ln>
        </p:spPr>
        <p:txBody>
          <a:bodyPr/>
          <a:p>
            <a:endParaRPr lang="zh-CN" altLang="en-US">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8" name="文本框 163897"/>
          <p:cNvSpPr txBox="1"/>
          <p:nvPr/>
        </p:nvSpPr>
        <p:spPr>
          <a:xfrm>
            <a:off x="1778000" y="5965825"/>
            <a:ext cx="254000" cy="146050"/>
          </a:xfrm>
          <a:prstGeom prst="rect">
            <a:avLst/>
          </a:prstGeom>
          <a:solidFill>
            <a:srgbClr val="00FF00">
              <a:alpha val="25000"/>
            </a:srgbClr>
          </a:solidFill>
          <a:ln w="9525" cap="flat" cmpd="sng">
            <a:solidFill>
              <a:srgbClr val="0000CC"/>
            </a:solidFill>
            <a:prstDash val="solid"/>
            <a:miter/>
            <a:headEnd type="none" w="med" len="med"/>
            <a:tailEnd type="none" w="med" len="med"/>
          </a:ln>
        </p:spPr>
        <p:txBody>
          <a:bodyPr lIns="0" tIns="0" rIns="0" bIns="0"/>
          <a:p>
            <a:pPr algn="ctr"/>
            <a:r>
              <a:rPr lang="en-US" altLang="zh-CN" sz="1600" i="1">
                <a:solidFill>
                  <a:srgbClr val="000066"/>
                </a:solidFill>
                <a:latin typeface="Times New Roman" panose="02020603050405020304" charset="0"/>
                <a:ea typeface="楷体" panose="02010609060101010101" charset="-122"/>
                <a:cs typeface="Times New Roman" panose="02020603050405020304" charset="0"/>
              </a:rPr>
              <a:t>T</a:t>
            </a:r>
            <a:r>
              <a:rPr lang="en-US" altLang="zh-CN" sz="1600" baseline="-25000">
                <a:solidFill>
                  <a:srgbClr val="000066"/>
                </a:solidFill>
                <a:latin typeface="Times New Roman" panose="02020603050405020304" charset="0"/>
                <a:ea typeface="楷体" panose="02010609060101010101" charset="-122"/>
                <a:cs typeface="Times New Roman" panose="02020603050405020304" charset="0"/>
              </a:rPr>
              <a:t>1</a:t>
            </a:r>
            <a:endParaRPr lang="en-US" altLang="zh-CN" sz="1600" baseline="-250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899" name="直接连接符 163898"/>
          <p:cNvSpPr/>
          <p:nvPr/>
        </p:nvSpPr>
        <p:spPr>
          <a:xfrm>
            <a:off x="1554163" y="5965825"/>
            <a:ext cx="582612" cy="0"/>
          </a:xfrm>
          <a:prstGeom prst="line">
            <a:avLst/>
          </a:prstGeom>
          <a:ln w="28575" cap="flat" cmpd="sng">
            <a:solidFill>
              <a:srgbClr val="0000CC"/>
            </a:solidFill>
            <a:prstDash val="solid"/>
            <a:headEnd type="triangle" w="med" len="med"/>
            <a:tailEnd type="triangle" w="med" len="med"/>
          </a:ln>
        </p:spPr>
      </p:sp>
      <p:sp>
        <p:nvSpPr>
          <p:cNvPr id="163900" name="文本框 163899"/>
          <p:cNvSpPr txBox="1"/>
          <p:nvPr/>
        </p:nvSpPr>
        <p:spPr>
          <a:xfrm>
            <a:off x="2317750" y="5965825"/>
            <a:ext cx="254000" cy="146050"/>
          </a:xfrm>
          <a:prstGeom prst="rect">
            <a:avLst/>
          </a:prstGeom>
          <a:solidFill>
            <a:srgbClr val="FF9966">
              <a:alpha val="25000"/>
            </a:srgbClr>
          </a:solidFill>
          <a:ln w="9525" cap="flat" cmpd="sng">
            <a:solidFill>
              <a:srgbClr val="0000CC"/>
            </a:solidFill>
            <a:prstDash val="solid"/>
            <a:miter/>
            <a:headEnd type="none" w="med" len="med"/>
            <a:tailEnd type="none" w="med" len="med"/>
          </a:ln>
        </p:spPr>
        <p:txBody>
          <a:bodyPr lIns="0" tIns="0" rIns="0" bIns="0"/>
          <a:p>
            <a:pPr algn="ctr"/>
            <a:r>
              <a:rPr lang="en-US" altLang="zh-CN" sz="1600" i="1">
                <a:solidFill>
                  <a:srgbClr val="000066"/>
                </a:solidFill>
                <a:latin typeface="Times New Roman" panose="02020603050405020304" charset="0"/>
                <a:ea typeface="楷体" panose="02010609060101010101" charset="-122"/>
                <a:cs typeface="Times New Roman" panose="02020603050405020304" charset="0"/>
              </a:rPr>
              <a:t>T</a:t>
            </a:r>
            <a:r>
              <a:rPr lang="en-US" altLang="zh-CN" sz="1600" baseline="-25000">
                <a:solidFill>
                  <a:srgbClr val="000066"/>
                </a:solidFill>
                <a:latin typeface="Times New Roman" panose="02020603050405020304" charset="0"/>
                <a:ea typeface="楷体" panose="02010609060101010101" charset="-122"/>
                <a:cs typeface="Times New Roman" panose="02020603050405020304" charset="0"/>
              </a:rPr>
              <a:t>2</a:t>
            </a:r>
            <a:endParaRPr lang="en-US" altLang="zh-CN" sz="1600" baseline="-250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901" name="直接连接符 163900"/>
          <p:cNvSpPr/>
          <p:nvPr/>
        </p:nvSpPr>
        <p:spPr>
          <a:xfrm>
            <a:off x="2093913" y="5965825"/>
            <a:ext cx="582612" cy="0"/>
          </a:xfrm>
          <a:prstGeom prst="line">
            <a:avLst/>
          </a:prstGeom>
          <a:ln w="28575" cap="flat" cmpd="sng">
            <a:solidFill>
              <a:srgbClr val="0000CC"/>
            </a:solidFill>
            <a:prstDash val="solid"/>
            <a:headEnd type="triangle" w="med" len="med"/>
            <a:tailEnd type="triangle" w="med" len="med"/>
          </a:ln>
        </p:spPr>
      </p:sp>
      <p:graphicFrame>
        <p:nvGraphicFramePr>
          <p:cNvPr id="163903" name="对象 163902"/>
          <p:cNvGraphicFramePr/>
          <p:nvPr/>
        </p:nvGraphicFramePr>
        <p:xfrm>
          <a:off x="381000" y="1600200"/>
          <a:ext cx="4248150" cy="807720"/>
        </p:xfrm>
        <a:graphic>
          <a:graphicData uri="http://schemas.openxmlformats.org/presentationml/2006/ole">
            <mc:AlternateContent xmlns:mc="http://schemas.openxmlformats.org/markup-compatibility/2006">
              <mc:Choice xmlns:v="urn:schemas-microsoft-com:vml" Requires="v">
                <p:oleObj spid="_x0000_s3078" name="" r:id="rId1" imgW="1890395" imgH="317500" progId="Equation.DSMT4">
                  <p:embed/>
                </p:oleObj>
              </mc:Choice>
              <mc:Fallback>
                <p:oleObj name="" r:id="rId1" imgW="1890395" imgH="317500" progId="Equation.DSMT4">
                  <p:embed/>
                  <p:pic>
                    <p:nvPicPr>
                      <p:cNvPr id="0" name="图片 3077"/>
                      <p:cNvPicPr/>
                      <p:nvPr/>
                    </p:nvPicPr>
                    <p:blipFill>
                      <a:blip r:embed="rId2"/>
                      <a:stretch>
                        <a:fillRect/>
                      </a:stretch>
                    </p:blipFill>
                    <p:spPr>
                      <a:xfrm>
                        <a:off x="381000" y="1600200"/>
                        <a:ext cx="4248150" cy="807720"/>
                      </a:xfrm>
                      <a:prstGeom prst="rect">
                        <a:avLst/>
                      </a:prstGeom>
                      <a:noFill/>
                      <a:ln w="38100">
                        <a:noFill/>
                        <a:miter/>
                      </a:ln>
                    </p:spPr>
                  </p:pic>
                </p:oleObj>
              </mc:Fallback>
            </mc:AlternateContent>
          </a:graphicData>
        </a:graphic>
      </p:graphicFrame>
      <p:graphicFrame>
        <p:nvGraphicFramePr>
          <p:cNvPr id="163905" name="对象 163904"/>
          <p:cNvGraphicFramePr/>
          <p:nvPr/>
        </p:nvGraphicFramePr>
        <p:xfrm>
          <a:off x="5597525" y="1625600"/>
          <a:ext cx="2532063" cy="917575"/>
        </p:xfrm>
        <a:graphic>
          <a:graphicData uri="http://schemas.openxmlformats.org/presentationml/2006/ole">
            <mc:AlternateContent xmlns:mc="http://schemas.openxmlformats.org/markup-compatibility/2006">
              <mc:Choice xmlns:v="urn:schemas-microsoft-com:vml" Requires="v">
                <p:oleObj spid="_x0000_s3080" name="" r:id="rId3" imgW="1231265" imgH="444500" progId="Equation.DSMT4">
                  <p:embed/>
                </p:oleObj>
              </mc:Choice>
              <mc:Fallback>
                <p:oleObj name="" r:id="rId3" imgW="1231265" imgH="444500" progId="Equation.DSMT4">
                  <p:embed/>
                  <p:pic>
                    <p:nvPicPr>
                      <p:cNvPr id="0" name="图片 3079"/>
                      <p:cNvPicPr/>
                      <p:nvPr/>
                    </p:nvPicPr>
                    <p:blipFill>
                      <a:blip r:embed="rId4"/>
                      <a:stretch>
                        <a:fillRect/>
                      </a:stretch>
                    </p:blipFill>
                    <p:spPr>
                      <a:xfrm>
                        <a:off x="5597525" y="1625600"/>
                        <a:ext cx="2532063" cy="917575"/>
                      </a:xfrm>
                      <a:prstGeom prst="rect">
                        <a:avLst/>
                      </a:prstGeom>
                      <a:noFill/>
                      <a:ln w="38100">
                        <a:noFill/>
                        <a:miter/>
                      </a:ln>
                    </p:spPr>
                  </p:pic>
                </p:oleObj>
              </mc:Fallback>
            </mc:AlternateContent>
          </a:graphicData>
        </a:graphic>
      </p:graphicFrame>
      <p:graphicFrame>
        <p:nvGraphicFramePr>
          <p:cNvPr id="163906" name="对象 163905"/>
          <p:cNvGraphicFramePr/>
          <p:nvPr/>
        </p:nvGraphicFramePr>
        <p:xfrm>
          <a:off x="336550" y="2425700"/>
          <a:ext cx="2478088" cy="881063"/>
        </p:xfrm>
        <a:graphic>
          <a:graphicData uri="http://schemas.openxmlformats.org/presentationml/2006/ole">
            <mc:AlternateContent xmlns:mc="http://schemas.openxmlformats.org/markup-compatibility/2006">
              <mc:Choice xmlns:v="urn:schemas-microsoft-com:vml" Requires="v">
                <p:oleObj spid="_x0000_s3081" name="" r:id="rId5" imgW="1218565" imgH="431800" progId="Equation.DSMT4">
                  <p:embed/>
                </p:oleObj>
              </mc:Choice>
              <mc:Fallback>
                <p:oleObj name="" r:id="rId5" imgW="1218565" imgH="431800" progId="Equation.DSMT4">
                  <p:embed/>
                  <p:pic>
                    <p:nvPicPr>
                      <p:cNvPr id="0" name="图片 3080"/>
                      <p:cNvPicPr/>
                      <p:nvPr/>
                    </p:nvPicPr>
                    <p:blipFill>
                      <a:blip r:embed="rId6"/>
                      <a:stretch>
                        <a:fillRect/>
                      </a:stretch>
                    </p:blipFill>
                    <p:spPr>
                      <a:xfrm>
                        <a:off x="336550" y="2425700"/>
                        <a:ext cx="2478088" cy="881063"/>
                      </a:xfrm>
                      <a:prstGeom prst="rect">
                        <a:avLst/>
                      </a:prstGeom>
                      <a:noFill/>
                      <a:ln w="38100">
                        <a:noFill/>
                        <a:miter/>
                      </a:ln>
                    </p:spPr>
                  </p:pic>
                </p:oleObj>
              </mc:Fallback>
            </mc:AlternateContent>
          </a:graphicData>
        </a:graphic>
      </p:graphicFrame>
      <p:graphicFrame>
        <p:nvGraphicFramePr>
          <p:cNvPr id="163907" name="对象 163906"/>
          <p:cNvGraphicFramePr/>
          <p:nvPr/>
        </p:nvGraphicFramePr>
        <p:xfrm>
          <a:off x="400050" y="3284538"/>
          <a:ext cx="1979613" cy="936625"/>
        </p:xfrm>
        <a:graphic>
          <a:graphicData uri="http://schemas.openxmlformats.org/presentationml/2006/ole">
            <mc:AlternateContent xmlns:mc="http://schemas.openxmlformats.org/markup-compatibility/2006">
              <mc:Choice xmlns:v="urn:schemas-microsoft-com:vml" Requires="v">
                <p:oleObj spid="_x0000_s3079" name="" r:id="rId7" imgW="913765" imgH="431800" progId="Equation.DSMT4">
                  <p:embed/>
                </p:oleObj>
              </mc:Choice>
              <mc:Fallback>
                <p:oleObj name="" r:id="rId7" imgW="913765" imgH="431800" progId="Equation.DSMT4">
                  <p:embed/>
                  <p:pic>
                    <p:nvPicPr>
                      <p:cNvPr id="0" name="图片 3078"/>
                      <p:cNvPicPr/>
                      <p:nvPr/>
                    </p:nvPicPr>
                    <p:blipFill>
                      <a:blip r:embed="rId8"/>
                      <a:stretch>
                        <a:fillRect/>
                      </a:stretch>
                    </p:blipFill>
                    <p:spPr>
                      <a:xfrm>
                        <a:off x="400050" y="3284538"/>
                        <a:ext cx="1979613" cy="936625"/>
                      </a:xfrm>
                      <a:prstGeom prst="rect">
                        <a:avLst/>
                      </a:prstGeom>
                      <a:noFill/>
                      <a:ln w="38100">
                        <a:noFill/>
                        <a:miter/>
                      </a:ln>
                    </p:spPr>
                  </p:pic>
                </p:oleObj>
              </mc:Fallback>
            </mc:AlternateContent>
          </a:graphicData>
        </a:graphic>
      </p:graphicFrame>
      <p:graphicFrame>
        <p:nvGraphicFramePr>
          <p:cNvPr id="163908" name="对象 163907"/>
          <p:cNvGraphicFramePr/>
          <p:nvPr/>
        </p:nvGraphicFramePr>
        <p:xfrm>
          <a:off x="3890963" y="2968625"/>
          <a:ext cx="4235450" cy="990600"/>
        </p:xfrm>
        <a:graphic>
          <a:graphicData uri="http://schemas.openxmlformats.org/presentationml/2006/ole">
            <mc:AlternateContent xmlns:mc="http://schemas.openxmlformats.org/markup-compatibility/2006">
              <mc:Choice xmlns:v="urn:schemas-microsoft-com:vml" Requires="v">
                <p:oleObj spid="_x0000_s3082" name="" r:id="rId9" imgW="2208530" imgH="482600" progId="Equation.DSMT4">
                  <p:embed/>
                </p:oleObj>
              </mc:Choice>
              <mc:Fallback>
                <p:oleObj name="" r:id="rId9" imgW="2208530" imgH="482600" progId="Equation.DSMT4">
                  <p:embed/>
                  <p:pic>
                    <p:nvPicPr>
                      <p:cNvPr id="0" name="图片 3081"/>
                      <p:cNvPicPr/>
                      <p:nvPr/>
                    </p:nvPicPr>
                    <p:blipFill>
                      <a:blip r:embed="rId10"/>
                      <a:stretch>
                        <a:fillRect/>
                      </a:stretch>
                    </p:blipFill>
                    <p:spPr>
                      <a:xfrm>
                        <a:off x="3890963" y="2968625"/>
                        <a:ext cx="4235450" cy="990600"/>
                      </a:xfrm>
                      <a:prstGeom prst="rect">
                        <a:avLst/>
                      </a:prstGeom>
                      <a:noFill/>
                      <a:ln w="38100">
                        <a:noFill/>
                        <a:miter/>
                      </a:ln>
                    </p:spPr>
                  </p:pic>
                </p:oleObj>
              </mc:Fallback>
            </mc:AlternateContent>
          </a:graphicData>
        </a:graphic>
      </p:graphicFrame>
      <p:sp>
        <p:nvSpPr>
          <p:cNvPr id="163909" name="矩形 163908"/>
          <p:cNvSpPr/>
          <p:nvPr/>
        </p:nvSpPr>
        <p:spPr>
          <a:xfrm>
            <a:off x="5048250" y="4527550"/>
            <a:ext cx="2727325" cy="460375"/>
          </a:xfrm>
          <a:prstGeom prst="rect">
            <a:avLst/>
          </a:prstGeom>
          <a:noFill/>
          <a:ln w="9525">
            <a:noFill/>
          </a:ln>
        </p:spPr>
        <p:txBody>
          <a:bodyPr>
            <a:spAutoFit/>
          </a:bodyPr>
          <a:p>
            <a:r>
              <a:rPr lang="en-US" altLang="zh-CN" sz="2400" i="1">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a:solidFill>
                  <a:srgbClr val="000066"/>
                </a:solidFill>
                <a:latin typeface="Times New Roman" panose="02020603050405020304" charset="0"/>
                <a:ea typeface="楷体" panose="02010609060101010101" charset="-122"/>
                <a:cs typeface="Times New Roman" panose="02020603050405020304" charset="0"/>
              </a:rPr>
              <a:t>RC</a:t>
            </a:r>
            <a:r>
              <a:rPr lang="en-US" altLang="zh-CN" sz="2400">
                <a:solidFill>
                  <a:srgbClr val="000066"/>
                </a:solidFill>
                <a:latin typeface="Times New Roman" panose="02020603050405020304" charset="0"/>
                <a:ea typeface="楷体" panose="02010609060101010101" charset="-122"/>
                <a:cs typeface="Times New Roman" panose="02020603050405020304" charset="0"/>
              </a:rPr>
              <a:t>1n4≈1.4</a:t>
            </a:r>
            <a:r>
              <a:rPr lang="en-US" altLang="zh-CN" sz="2400" i="1">
                <a:solidFill>
                  <a:srgbClr val="000066"/>
                </a:solidFill>
                <a:latin typeface="Times New Roman" panose="02020603050405020304" charset="0"/>
                <a:ea typeface="楷体" panose="02010609060101010101" charset="-122"/>
                <a:cs typeface="Times New Roman" panose="02020603050405020304" charset="0"/>
              </a:rPr>
              <a:t>RC</a:t>
            </a:r>
            <a:r>
              <a:rPr lang="en-US" altLang="zh-CN" sz="240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24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63910" name="矩形 163909"/>
          <p:cNvSpPr/>
          <p:nvPr/>
        </p:nvSpPr>
        <p:spPr>
          <a:xfrm>
            <a:off x="5047933" y="5217795"/>
            <a:ext cx="4073525" cy="1198880"/>
          </a:xfrm>
          <a:prstGeom prst="rect">
            <a:avLst/>
          </a:prstGeom>
          <a:noFill/>
          <a:ln w="9525">
            <a:noFill/>
          </a:ln>
        </p:spPr>
        <p:txBody>
          <a:bodyPr>
            <a:spAutoFit/>
          </a:bodyPr>
          <a:p>
            <a:pPr>
              <a:spcBef>
                <a:spcPct val="5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由门电路组成的多谐振荡器的振荡周期</a:t>
            </a:r>
            <a:r>
              <a:rPr lang="en-US" altLang="zh-CN" sz="2400" i="1">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取决于</a:t>
            </a:r>
            <a:r>
              <a:rPr lang="en-US" altLang="zh-CN" sz="2400" i="1">
                <a:solidFill>
                  <a:srgbClr val="000066"/>
                </a:solidFill>
                <a:latin typeface="Times New Roman" panose="02020603050405020304" charset="0"/>
                <a:ea typeface="楷体" panose="02010609060101010101" charset="-122"/>
                <a:cs typeface="Times New Roman" panose="02020603050405020304" charset="0"/>
              </a:rPr>
              <a:t>R</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400" i="1">
                <a:solidFill>
                  <a:srgbClr val="000066"/>
                </a:solidFill>
                <a:latin typeface="Times New Roman" panose="02020603050405020304" charset="0"/>
                <a:ea typeface="楷体" panose="02010609060101010101" charset="-122"/>
                <a:cs typeface="Times New Roman" panose="02020603050405020304" charset="0"/>
              </a:rPr>
              <a:t>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电路和</a:t>
            </a:r>
            <a:r>
              <a:rPr lang="zh-CN" altLang="en-US" sz="2400" b="1" i="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err="1">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err="1">
                <a:solidFill>
                  <a:srgbClr val="000066"/>
                </a:solidFill>
                <a:latin typeface="Times New Roman" panose="02020603050405020304" charset="0"/>
                <a:ea typeface="楷体" panose="02010609060101010101" charset="-122"/>
                <a:cs typeface="Times New Roman" panose="02020603050405020304" charset="0"/>
              </a:rPr>
              <a:t>TH</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频率稳定性较差。 </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63911" name="组合 163910"/>
          <p:cNvGrpSpPr/>
          <p:nvPr/>
        </p:nvGrpSpPr>
        <p:grpSpPr>
          <a:xfrm>
            <a:off x="1604963" y="6200775"/>
            <a:ext cx="1082675" cy="430213"/>
            <a:chOff x="3624" y="4045"/>
            <a:chExt cx="682" cy="271"/>
          </a:xfrm>
        </p:grpSpPr>
        <p:sp>
          <p:nvSpPr>
            <p:cNvPr id="163912" name="直接连接符 163911"/>
            <p:cNvSpPr/>
            <p:nvPr/>
          </p:nvSpPr>
          <p:spPr>
            <a:xfrm>
              <a:off x="3672" y="4052"/>
              <a:ext cx="629" cy="0"/>
            </a:xfrm>
            <a:prstGeom prst="line">
              <a:avLst/>
            </a:prstGeom>
            <a:ln w="38100" cap="flat" cmpd="sng">
              <a:solidFill>
                <a:srgbClr val="FF0000"/>
              </a:solidFill>
              <a:prstDash val="solid"/>
              <a:headEnd type="none" w="med" len="med"/>
              <a:tailEnd type="none" w="med" len="med"/>
            </a:ln>
          </p:spPr>
        </p:sp>
        <p:sp>
          <p:nvSpPr>
            <p:cNvPr id="163913" name="直接连接符 163912"/>
            <p:cNvSpPr/>
            <p:nvPr/>
          </p:nvSpPr>
          <p:spPr>
            <a:xfrm>
              <a:off x="4099" y="4048"/>
              <a:ext cx="207" cy="0"/>
            </a:xfrm>
            <a:prstGeom prst="line">
              <a:avLst/>
            </a:prstGeom>
            <a:ln w="38100" cap="flat" cmpd="sng">
              <a:solidFill>
                <a:srgbClr val="FF0000"/>
              </a:solidFill>
              <a:prstDash val="solid"/>
              <a:headEnd type="none" w="med" len="med"/>
              <a:tailEnd type="triangle" w="med" len="med"/>
            </a:ln>
          </p:spPr>
        </p:sp>
        <p:sp>
          <p:nvSpPr>
            <p:cNvPr id="163914" name="直接连接符 163913"/>
            <p:cNvSpPr/>
            <p:nvPr/>
          </p:nvSpPr>
          <p:spPr>
            <a:xfrm flipH="1">
              <a:off x="3624" y="4045"/>
              <a:ext cx="185" cy="0"/>
            </a:xfrm>
            <a:prstGeom prst="line">
              <a:avLst/>
            </a:prstGeom>
            <a:ln w="38100" cap="flat" cmpd="sng">
              <a:solidFill>
                <a:srgbClr val="FF0000"/>
              </a:solidFill>
              <a:prstDash val="solid"/>
              <a:headEnd type="none" w="med" len="med"/>
              <a:tailEnd type="triangle" w="med" len="med"/>
            </a:ln>
          </p:spPr>
        </p:sp>
        <p:sp>
          <p:nvSpPr>
            <p:cNvPr id="163915" name="矩形 163914"/>
            <p:cNvSpPr/>
            <p:nvPr/>
          </p:nvSpPr>
          <p:spPr>
            <a:xfrm>
              <a:off x="3808" y="4104"/>
              <a:ext cx="186" cy="212"/>
            </a:xfrm>
            <a:prstGeom prst="rect">
              <a:avLst/>
            </a:prstGeom>
            <a:noFill/>
            <a:ln w="9525">
              <a:noFill/>
            </a:ln>
          </p:spPr>
          <p:txBody>
            <a:bodyPr wrap="none" anchor="t" anchorCtr="0">
              <a:spAutoFit/>
            </a:bodyPr>
            <a:p>
              <a:r>
                <a:rPr lang="en-US" altLang="zh-CN" sz="1600" i="1">
                  <a:solidFill>
                    <a:srgbClr val="000066"/>
                  </a:solidFill>
                  <a:latin typeface="Times New Roman" panose="02020603050405020304" charset="0"/>
                  <a:ea typeface="楷体" panose="02010609060101010101" charset="-122"/>
                  <a:cs typeface="Times New Roman" panose="02020603050405020304" charset="0"/>
                </a:rPr>
                <a:t>T</a:t>
              </a:r>
              <a:endParaRPr lang="en-US" altLang="zh-CN" sz="1600" i="1">
                <a:solidFill>
                  <a:srgbClr val="000066"/>
                </a:solidFill>
                <a:latin typeface="Times New Roman" panose="02020603050405020304" charset="0"/>
                <a:ea typeface="楷体" panose="02010609060101010101" charset="-122"/>
                <a:cs typeface="Times New Roman" panose="02020603050405020304" charset="0"/>
              </a:endParaRPr>
            </a:p>
          </p:txBody>
        </p:sp>
      </p:grpSp>
      <p:sp>
        <p:nvSpPr>
          <p:cNvPr id="163917" name="矩形 163916"/>
          <p:cNvSpPr/>
          <p:nvPr/>
        </p:nvSpPr>
        <p:spPr>
          <a:xfrm>
            <a:off x="4606925" y="5340350"/>
            <a:ext cx="84455" cy="368935"/>
          </a:xfrm>
          <a:prstGeom prst="rect">
            <a:avLst/>
          </a:prstGeom>
          <a:noFill/>
          <a:ln w="9525">
            <a:noFill/>
          </a:ln>
        </p:spPr>
        <p:txBody>
          <a:bodyPr wrap="none" lIns="0" tIns="0" rIns="0" bIns="0">
            <a:spAutoFit/>
          </a:bodyPr>
          <a:p>
            <a:pPr>
              <a:spcBef>
                <a:spcPct val="50000"/>
              </a:spcBef>
            </a:pPr>
            <a:r>
              <a:rPr lang="en-US" altLang="zh-CN" sz="2400" i="1">
                <a:solidFill>
                  <a:srgbClr val="000066"/>
                </a:solidFill>
                <a:latin typeface="Times New Roman" panose="02020603050405020304" charset="0"/>
                <a:ea typeface="楷体" panose="02010609060101010101" charset="-122"/>
                <a:cs typeface="Times New Roman" panose="02020603050405020304" charset="0"/>
              </a:rPr>
              <a:t>t</a:t>
            </a:r>
            <a:endParaRPr lang="en-US" altLang="zh-CN" sz="2400" i="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39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639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63844"/>
                                        </p:tgtEl>
                                        <p:attrNameLst>
                                          <p:attrName>style.visibility</p:attrName>
                                        </p:attrNameLst>
                                      </p:cBhvr>
                                      <p:to>
                                        <p:strVal val="visible"/>
                                      </p:to>
                                    </p:set>
                                    <p:animEffect transition="in" filter="box(in)">
                                      <p:cBhvr>
                                        <p:cTn id="15" dur="500"/>
                                        <p:tgtEl>
                                          <p:spTgt spid="163844"/>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63906"/>
                                        </p:tgtEl>
                                        <p:attrNameLst>
                                          <p:attrName>style.visibility</p:attrName>
                                        </p:attrNameLst>
                                      </p:cBhvr>
                                      <p:to>
                                        <p:strVal val="visible"/>
                                      </p:to>
                                    </p:set>
                                    <p:animEffect transition="in" filter="randombar(horizontal)">
                                      <p:cBhvr>
                                        <p:cTn id="20" dur="500"/>
                                        <p:tgtEl>
                                          <p:spTgt spid="16390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63845"/>
                                        </p:tgtEl>
                                        <p:attrNameLst>
                                          <p:attrName>style.visibility</p:attrName>
                                        </p:attrNameLst>
                                      </p:cBhvr>
                                      <p:to>
                                        <p:strVal val="visible"/>
                                      </p:to>
                                    </p:set>
                                    <p:animEffect transition="in" filter="box(in)">
                                      <p:cBhvr>
                                        <p:cTn id="25" dur="500"/>
                                        <p:tgtEl>
                                          <p:spTgt spid="163845"/>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163907"/>
                                        </p:tgtEl>
                                        <p:attrNameLst>
                                          <p:attrName>style.visibility</p:attrName>
                                        </p:attrNameLst>
                                      </p:cBhvr>
                                      <p:to>
                                        <p:strVal val="visible"/>
                                      </p:to>
                                    </p:set>
                                    <p:animEffect transition="in" filter="randombar(horizontal)">
                                      <p:cBhvr>
                                        <p:cTn id="30" dur="500"/>
                                        <p:tgtEl>
                                          <p:spTgt spid="163907"/>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163908"/>
                                        </p:tgtEl>
                                        <p:attrNameLst>
                                          <p:attrName>style.visibility</p:attrName>
                                        </p:attrNameLst>
                                      </p:cBhvr>
                                      <p:to>
                                        <p:strVal val="visible"/>
                                      </p:to>
                                    </p:set>
                                    <p:animEffect transition="in" filter="randombar(horizontal)">
                                      <p:cBhvr>
                                        <p:cTn id="35" dur="500"/>
                                        <p:tgtEl>
                                          <p:spTgt spid="163908"/>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163909"/>
                                        </p:tgtEl>
                                        <p:attrNameLst>
                                          <p:attrName>style.visibility</p:attrName>
                                        </p:attrNameLst>
                                      </p:cBhvr>
                                      <p:to>
                                        <p:strVal val="visible"/>
                                      </p:to>
                                    </p:set>
                                    <p:animEffect transition="in" filter="strips(downRight)">
                                      <p:cBhvr>
                                        <p:cTn id="40" dur="500"/>
                                        <p:tgtEl>
                                          <p:spTgt spid="163909"/>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163910"/>
                                        </p:tgtEl>
                                        <p:attrNameLst>
                                          <p:attrName>style.visibility</p:attrName>
                                        </p:attrNameLst>
                                      </p:cBhvr>
                                      <p:to>
                                        <p:strVal val="visible"/>
                                      </p:to>
                                    </p:set>
                                    <p:animEffect transition="in" filter="strips(downRight)">
                                      <p:cBhvr>
                                        <p:cTn id="45" dur="500"/>
                                        <p:tgtEl>
                                          <p:spTgt spid="163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9" grpId="0"/>
      <p:bldP spid="1639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990600" y="104902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7.5.3 </a:t>
            </a:r>
            <a:r>
              <a:rPr lang="zh-CN" altLang="en-US" sz="2400" i="0" dirty="0">
                <a:solidFill>
                  <a:srgbClr val="0070C0"/>
                </a:solidFill>
                <a:latin typeface="黑体" panose="02010609060101010101" pitchFamily="49" charset="-122"/>
                <a:ea typeface="黑体" panose="02010609060101010101" pitchFamily="49" charset="-122"/>
              </a:rPr>
              <a:t>石英晶体</a:t>
            </a:r>
            <a:r>
              <a:rPr lang="zh-CN" altLang="en-US" sz="2400" i="0" dirty="0">
                <a:solidFill>
                  <a:srgbClr val="0070C0"/>
                </a:solidFill>
                <a:latin typeface="黑体" panose="02010609060101010101" pitchFamily="49" charset="-122"/>
                <a:ea typeface="黑体" panose="02010609060101010101" pitchFamily="49" charset="-122"/>
              </a:rPr>
              <a:t>振荡器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1828800" y="1676400"/>
            <a:ext cx="5398135" cy="2972435"/>
          </a:xfrm>
          <a:prstGeom prst="rect">
            <a:avLst/>
          </a:prstGeom>
        </p:spPr>
      </p:pic>
      <p:sp>
        <p:nvSpPr>
          <p:cNvPr id="307302" name="Text Box 102"/>
          <p:cNvSpPr txBox="1"/>
          <p:nvPr/>
        </p:nvSpPr>
        <p:spPr>
          <a:xfrm>
            <a:off x="1706880" y="4876800"/>
            <a:ext cx="6339205" cy="460375"/>
          </a:xfrm>
          <a:prstGeom prst="rect">
            <a:avLst/>
          </a:prstGeom>
          <a:noFill/>
          <a:ln w="9525">
            <a:noFill/>
          </a:ln>
        </p:spPr>
        <p:txBody>
          <a:bodyPr wrap="square" anchor="t" anchorCtr="0">
            <a:spAutoFit/>
          </a:bodyPr>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当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f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f</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0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电抗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X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0</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307309" name="Group 109"/>
          <p:cNvGrpSpPr/>
          <p:nvPr/>
        </p:nvGrpSpPr>
        <p:grpSpPr>
          <a:xfrm>
            <a:off x="1171258" y="5407025"/>
            <a:ext cx="7273925" cy="968375"/>
            <a:chOff x="611" y="3546"/>
            <a:chExt cx="4582" cy="610"/>
          </a:xfrm>
        </p:grpSpPr>
        <p:sp>
          <p:nvSpPr>
            <p:cNvPr id="67620" name="Rectangle 106"/>
            <p:cNvSpPr/>
            <p:nvPr/>
          </p:nvSpPr>
          <p:spPr>
            <a:xfrm>
              <a:off x="611" y="3546"/>
              <a:ext cx="4582" cy="610"/>
            </a:xfrm>
            <a:prstGeom prst="rect">
              <a:avLst/>
            </a:prstGeom>
            <a:noFill/>
            <a:ln w="9525">
              <a:noFill/>
            </a:ln>
          </p:spPr>
          <p:txBody>
            <a:bodyPr anchor="ctr" anchorCtr="0">
              <a:spAutoFit/>
            </a:bodyPr>
            <a:p>
              <a:pPr>
                <a:lnSpc>
                  <a:spcPct val="120000"/>
                </a:lnSpc>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具有极高的等效品质因数</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Q</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选频特性极高</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频率稳定度极高</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7621" name="AutoShape 107"/>
            <p:cNvSpPr/>
            <p:nvPr/>
          </p:nvSpPr>
          <p:spPr>
            <a:xfrm>
              <a:off x="3061" y="3702"/>
              <a:ext cx="363" cy="136"/>
            </a:xfrm>
            <a:prstGeom prst="rightArrow">
              <a:avLst>
                <a:gd name="adj1" fmla="val 50000"/>
                <a:gd name="adj2" fmla="val 66715"/>
              </a:avLst>
            </a:prstGeom>
            <a:solidFill>
              <a:schemeClr val="accent1"/>
            </a:solidFill>
            <a:ln w="28575" cap="flat" cmpd="sng">
              <a:solidFill>
                <a:schemeClr val="tx1"/>
              </a:solidFill>
              <a:prstDash val="solid"/>
              <a:miter/>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67622" name="AutoShape 108"/>
            <p:cNvSpPr/>
            <p:nvPr/>
          </p:nvSpPr>
          <p:spPr>
            <a:xfrm>
              <a:off x="748" y="3929"/>
              <a:ext cx="363" cy="136"/>
            </a:xfrm>
            <a:prstGeom prst="rightArrow">
              <a:avLst>
                <a:gd name="adj1" fmla="val 50000"/>
                <a:gd name="adj2" fmla="val 66715"/>
              </a:avLst>
            </a:prstGeom>
            <a:solidFill>
              <a:schemeClr val="accent1"/>
            </a:solidFill>
            <a:ln w="28575" cap="flat" cmpd="sng">
              <a:solidFill>
                <a:schemeClr val="tx1"/>
              </a:solidFill>
              <a:prstDash val="solid"/>
              <a:miter/>
              <a:headEnd type="none" w="med" len="med"/>
              <a:tailEnd type="none" w="med" len="med"/>
            </a:ln>
          </p:spPr>
          <p:txBody>
            <a:bodyPr lIns="90000" tIns="46800" rIns="90000" bIns="46800"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grpSp>
      <p:sp>
        <p:nvSpPr>
          <p:cNvPr id="307311" name="Rectangle 111"/>
          <p:cNvSpPr/>
          <p:nvPr/>
        </p:nvSpPr>
        <p:spPr>
          <a:xfrm>
            <a:off x="1171258" y="6270625"/>
            <a:ext cx="6913562" cy="457200"/>
          </a:xfrm>
          <a:prstGeom prst="rect">
            <a:avLst/>
          </a:prstGeom>
          <a:noFill/>
          <a:ln w="28575">
            <a:noFill/>
          </a:ln>
        </p:spPr>
        <p:txBody>
          <a:bodyPr lIns="90000" tIns="46800" rIns="90000" bIns="46800" anchor="t" anchorCtr="0">
            <a:spAutoFit/>
          </a:bodyPr>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频率稳定度</a:t>
            </a:r>
            <a:r>
              <a:rPr lang="en-US" altLang="zh-CN" sz="2400" b="1" dirty="0">
                <a:solidFill>
                  <a:srgbClr val="CC3300"/>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f</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0</a:t>
            </a: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FF0000"/>
                </a:solidFill>
                <a:latin typeface="Times New Roman" panose="02020603050405020304" charset="0"/>
                <a:ea typeface="楷体" panose="02010609060101010101" charset="-122"/>
                <a:cs typeface="Times New Roman" panose="02020603050405020304" charset="0"/>
              </a:rPr>
              <a:t>f</a:t>
            </a:r>
            <a:r>
              <a:rPr lang="en-US" altLang="zh-CN" sz="2400" b="1" baseline="-25000" dirty="0">
                <a:solidFill>
                  <a:srgbClr val="FF0000"/>
                </a:solidFill>
                <a:latin typeface="Times New Roman" panose="02020603050405020304" charset="0"/>
                <a:ea typeface="楷体" panose="02010609060101010101" charset="-122"/>
                <a:cs typeface="Times New Roman" panose="02020603050405020304" charset="0"/>
              </a:rPr>
              <a:t>0</a:t>
            </a:r>
            <a:r>
              <a:rPr lang="en-US" altLang="zh-CN" sz="2400" b="1" dirty="0">
                <a:solidFill>
                  <a:srgbClr val="CC3300"/>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可达</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10</a:t>
            </a:r>
            <a:r>
              <a:rPr lang="en-US" altLang="zh-CN" sz="2400" b="1" baseline="30000" dirty="0">
                <a:solidFill>
                  <a:srgbClr val="000066"/>
                </a:solidFill>
                <a:latin typeface="Times New Roman" panose="02020603050405020304" charset="0"/>
                <a:ea typeface="楷体" panose="02010609060101010101" charset="-122"/>
                <a:cs typeface="Times New Roman" panose="02020603050405020304" charset="0"/>
              </a:rPr>
              <a:t>-10</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~10</a:t>
            </a:r>
            <a:r>
              <a:rPr lang="en-US" altLang="zh-CN" sz="2400" b="1" baseline="30000" dirty="0">
                <a:solidFill>
                  <a:srgbClr val="000066"/>
                </a:solidFill>
                <a:latin typeface="Times New Roman" panose="02020603050405020304" charset="0"/>
                <a:ea typeface="楷体" panose="02010609060101010101" charset="-122"/>
                <a:cs typeface="Times New Roman" panose="02020603050405020304" charset="0"/>
              </a:rPr>
              <a:t>-11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302">
                                            <p:txEl>
                                              <p:charRg st="0" end="14"/>
                                            </p:txEl>
                                          </p:spTgt>
                                        </p:tgtEl>
                                        <p:attrNameLst>
                                          <p:attrName>style.visibility</p:attrName>
                                        </p:attrNameLst>
                                      </p:cBhvr>
                                      <p:to>
                                        <p:strVal val="visible"/>
                                      </p:to>
                                    </p:set>
                                    <p:animEffect transition="in" filter="wipe(left)">
                                      <p:cBhvr>
                                        <p:cTn id="7" dur="500"/>
                                        <p:tgtEl>
                                          <p:spTgt spid="307302">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07309"/>
                                        </p:tgtEl>
                                        <p:attrNameLst>
                                          <p:attrName>style.visibility</p:attrName>
                                        </p:attrNameLst>
                                      </p:cBhvr>
                                      <p:to>
                                        <p:strVal val="visible"/>
                                      </p:to>
                                    </p:set>
                                    <p:animEffect transition="in" filter="slide(fromBottom)">
                                      <p:cBhvr>
                                        <p:cTn id="12" dur="500"/>
                                        <p:tgtEl>
                                          <p:spTgt spid="30730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07311"/>
                                        </p:tgtEl>
                                        <p:attrNameLst>
                                          <p:attrName>style.visibility</p:attrName>
                                        </p:attrNameLst>
                                      </p:cBhvr>
                                      <p:to>
                                        <p:strVal val="visible"/>
                                      </p:to>
                                    </p:set>
                                    <p:animEffect transition="in" filter="slide(fromBottom)">
                                      <p:cBhvr>
                                        <p:cTn id="17" dur="500"/>
                                        <p:tgtEl>
                                          <p:spTgt spid="307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02" grpId="0" build="p"/>
      <p:bldP spid="30731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1590" y="6011545"/>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1"/>
          <a:stretch>
            <a:fillRect/>
          </a:stretch>
        </p:blipFill>
        <p:spPr>
          <a:xfrm>
            <a:off x="609600" y="1524000"/>
            <a:ext cx="3606165" cy="2028825"/>
          </a:xfrm>
          <a:prstGeom prst="rect">
            <a:avLst/>
          </a:prstGeom>
        </p:spPr>
      </p:pic>
      <p:pic>
        <p:nvPicPr>
          <p:cNvPr id="6" name="图片 5"/>
          <p:cNvPicPr>
            <a:picLocks noChangeAspect="1"/>
          </p:cNvPicPr>
          <p:nvPr/>
        </p:nvPicPr>
        <p:blipFill>
          <a:blip r:embed="rId2"/>
          <a:stretch>
            <a:fillRect/>
          </a:stretch>
        </p:blipFill>
        <p:spPr>
          <a:xfrm>
            <a:off x="838200" y="4114800"/>
            <a:ext cx="2703195" cy="2286000"/>
          </a:xfrm>
          <a:prstGeom prst="rect">
            <a:avLst/>
          </a:prstGeom>
        </p:spPr>
      </p:pic>
      <p:sp>
        <p:nvSpPr>
          <p:cNvPr id="100" name="文本框 99"/>
          <p:cNvSpPr txBox="1"/>
          <p:nvPr/>
        </p:nvSpPr>
        <p:spPr>
          <a:xfrm>
            <a:off x="4215765" y="1295400"/>
            <a:ext cx="5080000" cy="460375"/>
          </a:xfrm>
          <a:prstGeom prst="rect">
            <a:avLst/>
          </a:prstGeom>
          <a:noFill/>
          <a:ln w="9525">
            <a:noFill/>
          </a:ln>
        </p:spPr>
        <p:txBody>
          <a:bodyPr>
            <a:spAutoFit/>
          </a:bodyPr>
          <a:p>
            <a:r>
              <a:rPr lang="zh-CN" sz="2400" b="1">
                <a:solidFill>
                  <a:srgbClr val="FE09D6"/>
                </a:solidFill>
                <a:latin typeface="Times New Roman" panose="02020603050405020304" charset="0"/>
                <a:ea typeface="楷体" panose="02010609060101010101" charset="-122"/>
              </a:rPr>
              <a:t>串联谐振型振荡器</a:t>
            </a:r>
            <a:endParaRPr lang="zh-CN" altLang="en-US" sz="2400" b="1">
              <a:solidFill>
                <a:srgbClr val="FE09D6"/>
              </a:solidFill>
              <a:latin typeface="Times New Roman" panose="02020603050405020304" charset="0"/>
              <a:ea typeface="楷体" panose="02010609060101010101" charset="-122"/>
            </a:endParaRPr>
          </a:p>
        </p:txBody>
      </p:sp>
      <p:sp>
        <p:nvSpPr>
          <p:cNvPr id="8" name="文本框 7"/>
          <p:cNvSpPr txBox="1"/>
          <p:nvPr/>
        </p:nvSpPr>
        <p:spPr>
          <a:xfrm>
            <a:off x="4343400" y="4267200"/>
            <a:ext cx="5080000" cy="460375"/>
          </a:xfrm>
          <a:prstGeom prst="rect">
            <a:avLst/>
          </a:prstGeom>
          <a:noFill/>
          <a:ln w="9525">
            <a:noFill/>
          </a:ln>
        </p:spPr>
        <p:txBody>
          <a:bodyPr>
            <a:spAutoFit/>
          </a:bodyPr>
          <a:p>
            <a:r>
              <a:rPr lang="zh-CN" sz="2400" b="1">
                <a:solidFill>
                  <a:srgbClr val="FE09D6"/>
                </a:solidFill>
                <a:latin typeface="Times New Roman" panose="02020603050405020304" charset="0"/>
                <a:ea typeface="楷体" panose="02010609060101010101" charset="-122"/>
              </a:rPr>
              <a:t>并联谐振型振荡器</a:t>
            </a:r>
            <a:endParaRPr lang="zh-CN" altLang="en-US" sz="2400" b="1">
              <a:solidFill>
                <a:srgbClr val="FE09D6"/>
              </a:solidFill>
              <a:latin typeface="Times New Roman" panose="02020603050405020304" charset="0"/>
              <a:ea typeface="楷体" panose="02010609060101010101" charset="-122"/>
            </a:endParaRPr>
          </a:p>
        </p:txBody>
      </p:sp>
      <p:sp>
        <p:nvSpPr>
          <p:cNvPr id="9" name="文本框 8"/>
          <p:cNvSpPr txBox="1"/>
          <p:nvPr/>
        </p:nvSpPr>
        <p:spPr>
          <a:xfrm>
            <a:off x="4191000" y="1934210"/>
            <a:ext cx="5080000" cy="1069340"/>
          </a:xfrm>
          <a:prstGeom prst="rect">
            <a:avLst/>
          </a:prstGeom>
          <a:noFill/>
          <a:ln w="9525">
            <a:noFill/>
          </a:ln>
        </p:spPr>
        <p:txBody>
          <a:bodyPr>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石英晶体工作于串联谐振频率</a:t>
            </a: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f</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s</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等效为一个低阻抗的元件或导线</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a:p>
            <a:endParaRPr lang="zh-CN" altLang="en-US" sz="2400" b="1" i="1" baseline="-2500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1" name="文本框 10"/>
          <p:cNvSpPr txBox="1"/>
          <p:nvPr/>
        </p:nvSpPr>
        <p:spPr>
          <a:xfrm>
            <a:off x="3810000" y="5105400"/>
            <a:ext cx="5080000" cy="1568450"/>
          </a:xfrm>
          <a:prstGeom prst="rect">
            <a:avLst/>
          </a:prstGeom>
          <a:noFill/>
          <a:ln w="9525">
            <a:noFill/>
          </a:ln>
        </p:spPr>
        <p:txBody>
          <a:bodyPr>
            <a:spAutoFit/>
          </a:bodyPr>
          <a:p>
            <a:r>
              <a:rPr lang="en-US" altLang="zh-CN" sz="2400" b="1">
                <a:solidFill>
                  <a:srgbClr val="000066"/>
                </a:solidFill>
                <a:latin typeface="Times New Roman" panose="02020603050405020304" charset="0"/>
                <a:ea typeface="楷体" panose="02010609060101010101" charset="-122"/>
              </a:rPr>
              <a:t>      </a:t>
            </a:r>
            <a:r>
              <a:rPr lang="zh-CN" sz="2400" b="1">
                <a:solidFill>
                  <a:srgbClr val="000066"/>
                </a:solidFill>
                <a:latin typeface="Times New Roman" panose="02020603050405020304" charset="0"/>
                <a:ea typeface="楷体" panose="02010609060101010101" charset="-122"/>
              </a:rPr>
              <a:t>石英晶体工作在</a:t>
            </a:r>
            <a:r>
              <a:rPr lang="en-US" altLang="zh-CN" sz="2400" b="1" i="1">
                <a:solidFill>
                  <a:srgbClr val="000066"/>
                </a:solidFill>
                <a:latin typeface="Times New Roman" panose="02020603050405020304" charset="0"/>
                <a:ea typeface="楷体" panose="02010609060101010101" charset="-122"/>
                <a:cs typeface="Times New Roman" panose="02020603050405020304" charset="0"/>
                <a:sym typeface="+mn-ea"/>
              </a:rPr>
              <a:t>f</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sym typeface="+mn-ea"/>
              </a:rPr>
              <a:t>s</a:t>
            </a:r>
            <a:r>
              <a:rPr lang="zh-CN" sz="2400" b="1">
                <a:solidFill>
                  <a:srgbClr val="000066"/>
                </a:solidFill>
                <a:latin typeface="Times New Roman" panose="02020603050405020304" charset="0"/>
                <a:ea typeface="楷体" panose="02010609060101010101" charset="-122"/>
                <a:sym typeface="+mn-ea"/>
              </a:rPr>
              <a:t>与</a:t>
            </a:r>
            <a:r>
              <a:rPr lang="en-US" altLang="zh-CN" sz="2400" b="1" i="1">
                <a:solidFill>
                  <a:srgbClr val="000066"/>
                </a:solidFill>
                <a:latin typeface="Times New Roman" panose="02020603050405020304" charset="0"/>
                <a:ea typeface="楷体" panose="02010609060101010101" charset="-122"/>
                <a:cs typeface="Times New Roman" panose="02020603050405020304" charset="0"/>
                <a:sym typeface="+mn-ea"/>
              </a:rPr>
              <a:t>f</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sym typeface="+mn-ea"/>
              </a:rPr>
              <a:t>p</a:t>
            </a:r>
            <a:r>
              <a:rPr lang="zh-CN" sz="2400" b="1">
                <a:solidFill>
                  <a:srgbClr val="000066"/>
                </a:solidFill>
                <a:latin typeface="Times New Roman" panose="02020603050405020304" charset="0"/>
                <a:ea typeface="楷体" panose="02010609060101010101" charset="-122"/>
                <a:sym typeface="+mn-ea"/>
              </a:rPr>
              <a:t>之间，等效为电感</a:t>
            </a:r>
            <a:endParaRPr lang="zh-CN" altLang="en-US" sz="2400" b="1">
              <a:solidFill>
                <a:srgbClr val="000066"/>
              </a:solidFill>
              <a:latin typeface="Times New Roman" panose="02020603050405020304" charset="0"/>
              <a:ea typeface="楷体" panose="02010609060101010101" charset="-122"/>
            </a:endParaRPr>
          </a:p>
          <a:p>
            <a:endParaRPr lang="zh-CN" altLang="en-US" sz="2400" b="1">
              <a:solidFill>
                <a:srgbClr val="000066"/>
              </a:solidFill>
              <a:latin typeface="Times New Roman" panose="02020603050405020304" charset="0"/>
              <a:ea typeface="楷体" panose="02010609060101010101" charset="-122"/>
            </a:endParaRPr>
          </a:p>
          <a:p>
            <a:endParaRPr lang="zh-CN" altLang="en-US" sz="2400" b="1">
              <a:solidFill>
                <a:srgbClr val="000066"/>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990600" y="1049020"/>
            <a:ext cx="693610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7.5.4 </a:t>
            </a:r>
            <a:r>
              <a:rPr lang="zh-CN" altLang="en-US" sz="2400" i="0" dirty="0">
                <a:solidFill>
                  <a:srgbClr val="0070C0"/>
                </a:solidFill>
                <a:latin typeface="黑体" panose="02010609060101010101" pitchFamily="49" charset="-122"/>
                <a:ea typeface="黑体" panose="02010609060101010101" pitchFamily="49" charset="-122"/>
              </a:rPr>
              <a:t>多谐振荡器的应用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Rectangle 3"/>
          <p:cNvSpPr>
            <a:spLocks noGrp="1"/>
          </p:cNvSpPr>
          <p:nvPr/>
        </p:nvSpPr>
        <p:spPr>
          <a:xfrm>
            <a:off x="609600" y="15240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 panose="02010609060101010101" charset="-122"/>
                <a:cs typeface="Times New Roman" panose="02020603050405020304" charset="0"/>
              </a:rPr>
              <a:t>1. </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电子多音</a:t>
            </a:r>
            <a:r>
              <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rPr>
              <a:t>门铃</a:t>
            </a:r>
            <a:endParaRPr lang="zh-CN" altLang="en-US"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pic>
        <p:nvPicPr>
          <p:cNvPr id="5" name="图片 4"/>
          <p:cNvPicPr>
            <a:picLocks noChangeAspect="1"/>
          </p:cNvPicPr>
          <p:nvPr/>
        </p:nvPicPr>
        <p:blipFill>
          <a:blip r:embed="rId1"/>
          <a:stretch>
            <a:fillRect/>
          </a:stretch>
        </p:blipFill>
        <p:spPr>
          <a:xfrm>
            <a:off x="5105400" y="1116965"/>
            <a:ext cx="4022725" cy="3672205"/>
          </a:xfrm>
          <a:prstGeom prst="rect">
            <a:avLst/>
          </a:prstGeom>
        </p:spPr>
      </p:pic>
      <p:grpSp>
        <p:nvGrpSpPr>
          <p:cNvPr id="18" name="组合 17"/>
          <p:cNvGrpSpPr/>
          <p:nvPr/>
        </p:nvGrpSpPr>
        <p:grpSpPr>
          <a:xfrm>
            <a:off x="25400" y="2083753"/>
            <a:ext cx="5080000" cy="2553335"/>
            <a:chOff x="115" y="3224"/>
            <a:chExt cx="8000" cy="4021"/>
          </a:xfrm>
        </p:grpSpPr>
        <p:sp>
          <p:nvSpPr>
            <p:cNvPr id="103" name="文本框 102"/>
            <p:cNvSpPr txBox="1"/>
            <p:nvPr/>
          </p:nvSpPr>
          <p:spPr>
            <a:xfrm>
              <a:off x="115" y="3224"/>
              <a:ext cx="8000" cy="4021"/>
            </a:xfrm>
            <a:prstGeom prst="rect">
              <a:avLst/>
            </a:prstGeom>
            <a:noFill/>
            <a:ln w="9525">
              <a:noFill/>
            </a:ln>
          </p:spPr>
          <p:txBody>
            <a:bodyPr>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rPr>
                <a:t>当按钮开关</a:t>
              </a:r>
              <a:r>
                <a:rPr lang="en-US" sz="2000" b="1">
                  <a:solidFill>
                    <a:srgbClr val="000066"/>
                  </a:solidFill>
                  <a:latin typeface="Times New Roman" panose="02020603050405020304" charset="0"/>
                  <a:ea typeface="楷体" panose="02010609060101010101" charset="-122"/>
                  <a:cs typeface="Times New Roman" panose="02020603050405020304" charset="0"/>
                </a:rPr>
                <a:t>AN</a:t>
              </a:r>
              <a:r>
                <a:rPr lang="zh-CN" sz="2000" b="1">
                  <a:solidFill>
                    <a:srgbClr val="000066"/>
                  </a:solidFill>
                  <a:latin typeface="Times New Roman" panose="02020603050405020304" charset="0"/>
                  <a:ea typeface="楷体" panose="02010609060101010101" charset="-122"/>
                  <a:cs typeface="Times New Roman" panose="02020603050405020304" charset="0"/>
                </a:rPr>
                <a:t>按下时，电源接通，</a:t>
              </a:r>
              <a:r>
                <a:rPr lang="en-US" sz="2000" b="1" i="1">
                  <a:solidFill>
                    <a:srgbClr val="000066"/>
                  </a:solidFill>
                  <a:latin typeface="Times New Roman" panose="02020603050405020304" charset="0"/>
                  <a:ea typeface="楷体" panose="02010609060101010101" charset="-122"/>
                  <a:cs typeface="Times New Roman" panose="02020603050405020304" charset="0"/>
                </a:rPr>
                <a:t>V</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CC</a:t>
              </a:r>
              <a:r>
                <a:rPr lang="zh-CN" sz="2000" b="1">
                  <a:solidFill>
                    <a:srgbClr val="000066"/>
                  </a:solidFill>
                  <a:latin typeface="Times New Roman" panose="02020603050405020304" charset="0"/>
                  <a:ea typeface="楷体" panose="02010609060101010101" charset="-122"/>
                  <a:cs typeface="Times New Roman" panose="02020603050405020304" charset="0"/>
                </a:rPr>
                <a:t>通过二极管</a:t>
              </a:r>
              <a:r>
                <a:rPr lang="en-US" sz="2000" b="1">
                  <a:solidFill>
                    <a:srgbClr val="000066"/>
                  </a:solidFill>
                  <a:latin typeface="Times New Roman" panose="02020603050405020304" charset="0"/>
                  <a:ea typeface="楷体" panose="02010609060101010101" charset="-122"/>
                  <a:cs typeface="Times New Roman" panose="02020603050405020304" charset="0"/>
                </a:rPr>
                <a:t>VD</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对电容</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充电，当电容电压上升到高电平时，复位解除；由于</a:t>
              </a:r>
              <a:r>
                <a:rPr lang="en-US" sz="2000" b="1">
                  <a:solidFill>
                    <a:srgbClr val="000066"/>
                  </a:solidFill>
                  <a:latin typeface="Times New Roman" panose="02020603050405020304" charset="0"/>
                  <a:ea typeface="楷体" panose="02010609060101010101" charset="-122"/>
                  <a:cs typeface="Times New Roman" panose="02020603050405020304" charset="0"/>
                </a:rPr>
                <a:t>VD</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将</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短路，所以电源</a:t>
              </a:r>
              <a:r>
                <a:rPr lang="en-US" sz="2000" b="1" i="1">
                  <a:solidFill>
                    <a:srgbClr val="000066"/>
                  </a:solidFill>
                  <a:latin typeface="Times New Roman" panose="02020603050405020304" charset="0"/>
                  <a:ea typeface="楷体" panose="02010609060101010101" charset="-122"/>
                  <a:cs typeface="Times New Roman" panose="02020603050405020304" charset="0"/>
                </a:rPr>
                <a:t>V</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CC</a:t>
              </a:r>
              <a:r>
                <a:rPr lang="zh-CN" sz="2000" b="1">
                  <a:solidFill>
                    <a:srgbClr val="000066"/>
                  </a:solidFill>
                  <a:latin typeface="Times New Roman" panose="02020603050405020304" charset="0"/>
                  <a:ea typeface="楷体" panose="02010609060101010101" charset="-122"/>
                  <a:cs typeface="Times New Roman" panose="02020603050405020304" charset="0"/>
                </a:rPr>
                <a:t>经</a:t>
              </a:r>
              <a:r>
                <a:rPr lang="en-US" sz="2000" b="1">
                  <a:solidFill>
                    <a:srgbClr val="000066"/>
                  </a:solidFill>
                  <a:latin typeface="Times New Roman" panose="02020603050405020304" charset="0"/>
                  <a:ea typeface="楷体" panose="02010609060101010101" charset="-122"/>
                  <a:cs typeface="Times New Roman" panose="02020603050405020304" charset="0"/>
                </a:rPr>
                <a:t>VD</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向电容</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zh-CN" sz="2000" b="1">
                  <a:solidFill>
                    <a:srgbClr val="000066"/>
                  </a:solidFill>
                  <a:latin typeface="Times New Roman" panose="02020603050405020304" charset="0"/>
                  <a:ea typeface="楷体" panose="02010609060101010101" charset="-122"/>
                  <a:cs typeface="Times New Roman" panose="02020603050405020304" charset="0"/>
                </a:rPr>
                <a:t>充电，充电时间常数为</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a:t>
              </a:r>
              <a:r>
                <a:rPr lang="zh-CN" sz="2000" b="1">
                  <a:solidFill>
                    <a:srgbClr val="000066"/>
                  </a:solidFill>
                  <a:latin typeface="Times New Roman" panose="02020603050405020304" charset="0"/>
                  <a:ea typeface="楷体" panose="02010609060101010101" charset="-122"/>
                  <a:sym typeface="+mn-ea"/>
                </a:rPr>
                <a:t>放电时间常数</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a:t>
              </a:r>
              <a:r>
                <a:rPr lang="zh-CN" sz="2000" b="1">
                  <a:solidFill>
                    <a:srgbClr val="000066"/>
                  </a:solidFill>
                  <a:latin typeface="Times New Roman" panose="02020603050405020304" charset="0"/>
                  <a:ea typeface="楷体" panose="02010609060101010101" charset="-122"/>
                  <a:sym typeface="+mn-ea"/>
                </a:rPr>
                <a:t>多谐振荡器产生高频振荡，喇叭发出高音。</a:t>
              </a:r>
              <a:endParaRPr lang="zh-CN" altLang="en-US" sz="2000" b="1">
                <a:latin typeface="Times New Roman" panose="02020603050405020304" charset="0"/>
                <a:ea typeface="楷体" panose="02010609060101010101" charset="-122"/>
              </a:endParaRPr>
            </a:p>
            <a:p>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9" name="对象 8"/>
            <p:cNvGraphicFramePr/>
            <p:nvPr/>
          </p:nvGraphicFramePr>
          <p:xfrm>
            <a:off x="4320" y="5140"/>
            <a:ext cx="2263" cy="667"/>
          </p:xfrm>
          <a:graphic>
            <a:graphicData uri="http://schemas.openxmlformats.org/presentationml/2006/ole">
              <mc:AlternateContent xmlns:mc="http://schemas.openxmlformats.org/markup-compatibility/2006">
                <mc:Choice xmlns:v="urn:schemas-microsoft-com:vml" Requires="v">
                  <p:oleObj spid="_x0000_s10" name="" r:id="rId2" imgW="1148080" imgH="347345" progId="Equation.KSEE3">
                    <p:embed/>
                  </p:oleObj>
                </mc:Choice>
                <mc:Fallback>
                  <p:oleObj name="" r:id="rId2" imgW="1148080" imgH="347345" progId="Equation.KSEE3">
                    <p:embed/>
                    <p:pic>
                      <p:nvPicPr>
                        <p:cNvPr id="0" name="图片 9"/>
                        <p:cNvPicPr/>
                        <p:nvPr/>
                      </p:nvPicPr>
                      <p:blipFill>
                        <a:blip r:embed="rId3"/>
                        <a:stretch>
                          <a:fillRect/>
                        </a:stretch>
                      </p:blipFill>
                      <p:spPr>
                        <a:xfrm>
                          <a:off x="4320" y="5140"/>
                          <a:ext cx="2263" cy="667"/>
                        </a:xfrm>
                        <a:prstGeom prst="rect">
                          <a:avLst/>
                        </a:prstGeom>
                      </p:spPr>
                    </p:pic>
                  </p:oleObj>
                </mc:Fallback>
              </mc:AlternateContent>
            </a:graphicData>
          </a:graphic>
        </p:graphicFrame>
        <p:graphicFrame>
          <p:nvGraphicFramePr>
            <p:cNvPr id="11" name="对象 10"/>
            <p:cNvGraphicFramePr/>
            <p:nvPr/>
          </p:nvGraphicFramePr>
          <p:xfrm>
            <a:off x="2040" y="5702"/>
            <a:ext cx="1935" cy="566"/>
          </p:xfrm>
          <a:graphic>
            <a:graphicData uri="http://schemas.openxmlformats.org/presentationml/2006/ole">
              <mc:AlternateContent xmlns:mc="http://schemas.openxmlformats.org/markup-compatibility/2006">
                <mc:Choice xmlns:v="urn:schemas-microsoft-com:vml" Requires="v">
                  <p:oleObj spid="_x0000_s12" name="" r:id="rId4" imgW="1061085" imgH="436880" progId="Equation.KSEE3">
                    <p:embed/>
                  </p:oleObj>
                </mc:Choice>
                <mc:Fallback>
                  <p:oleObj name="" r:id="rId4" imgW="1061085" imgH="436880" progId="Equation.KSEE3">
                    <p:embed/>
                    <p:pic>
                      <p:nvPicPr>
                        <p:cNvPr id="0" name="图片 11"/>
                        <p:cNvPicPr/>
                        <p:nvPr/>
                      </p:nvPicPr>
                      <p:blipFill>
                        <a:blip r:embed="rId5"/>
                        <a:stretch>
                          <a:fillRect/>
                        </a:stretch>
                      </p:blipFill>
                      <p:spPr>
                        <a:xfrm>
                          <a:off x="2040" y="5702"/>
                          <a:ext cx="1935" cy="566"/>
                        </a:xfrm>
                        <a:prstGeom prst="rect">
                          <a:avLst/>
                        </a:prstGeom>
                      </p:spPr>
                    </p:pic>
                  </p:oleObj>
                </mc:Fallback>
              </mc:AlternateContent>
            </a:graphicData>
          </a:graphic>
        </p:graphicFrame>
      </p:grpSp>
      <p:grpSp>
        <p:nvGrpSpPr>
          <p:cNvPr id="24" name="组合 23"/>
          <p:cNvGrpSpPr/>
          <p:nvPr/>
        </p:nvGrpSpPr>
        <p:grpSpPr>
          <a:xfrm>
            <a:off x="228600" y="4495800"/>
            <a:ext cx="8823960" cy="1629410"/>
            <a:chOff x="360" y="6998"/>
            <a:chExt cx="13896" cy="2566"/>
          </a:xfrm>
        </p:grpSpPr>
        <p:sp>
          <p:nvSpPr>
            <p:cNvPr id="13" name="文本框 12"/>
            <p:cNvSpPr txBox="1"/>
            <p:nvPr/>
          </p:nvSpPr>
          <p:spPr>
            <a:xfrm>
              <a:off x="360" y="6998"/>
              <a:ext cx="13896" cy="2567"/>
            </a:xfrm>
            <a:prstGeom prst="rect">
              <a:avLst/>
            </a:prstGeom>
            <a:noFill/>
            <a:ln w="9525">
              <a:noFill/>
            </a:ln>
          </p:spPr>
          <p:txBody>
            <a:bodyPr wrap="square">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rPr>
                <a:t>当按钮开关</a:t>
              </a:r>
              <a:r>
                <a:rPr lang="en-US" sz="2000" b="1">
                  <a:solidFill>
                    <a:srgbClr val="000066"/>
                  </a:solidFill>
                  <a:latin typeface="Times New Roman" panose="02020603050405020304" charset="0"/>
                  <a:ea typeface="楷体" panose="02010609060101010101" charset="-122"/>
                  <a:cs typeface="Times New Roman" panose="02020603050405020304" charset="0"/>
                </a:rPr>
                <a:t>AN</a:t>
              </a:r>
              <a:r>
                <a:rPr lang="zh-CN" sz="2000" b="1">
                  <a:solidFill>
                    <a:srgbClr val="000066"/>
                  </a:solidFill>
                  <a:latin typeface="Times New Roman" panose="02020603050405020304" charset="0"/>
                  <a:ea typeface="楷体" panose="02010609060101010101" charset="-122"/>
                  <a:cs typeface="Times New Roman" panose="02020603050405020304" charset="0"/>
                </a:rPr>
                <a:t>松开时，电源断开，电容</a:t>
              </a:r>
              <a:endParaRPr lang="zh-CN" sz="2000" b="1">
                <a:solidFill>
                  <a:srgbClr val="000066"/>
                </a:solidFill>
                <a:latin typeface="Times New Roman" panose="02020603050405020304" charset="0"/>
                <a:ea typeface="楷体" panose="02010609060101010101" charset="-122"/>
                <a:cs typeface="Times New Roman" panose="02020603050405020304" charset="0"/>
              </a:endParaRPr>
            </a:p>
            <a:p>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通过</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4</a:t>
              </a:r>
              <a:r>
                <a:rPr lang="zh-CN" sz="2000" b="1">
                  <a:solidFill>
                    <a:srgbClr val="000066"/>
                  </a:solidFill>
                  <a:latin typeface="Times New Roman" panose="02020603050405020304" charset="0"/>
                  <a:ea typeface="楷体" panose="02010609060101010101" charset="-122"/>
                  <a:cs typeface="Times New Roman" panose="02020603050405020304" charset="0"/>
                </a:rPr>
                <a:t>放电，当电压下降至复位电平之前，电路继续维持振荡；但此时电源</a:t>
              </a:r>
              <a:r>
                <a:rPr lang="en-US" sz="2000" b="1" i="1">
                  <a:solidFill>
                    <a:srgbClr val="000066"/>
                  </a:solidFill>
                  <a:latin typeface="Times New Roman" panose="02020603050405020304" charset="0"/>
                  <a:ea typeface="楷体" panose="02010609060101010101" charset="-122"/>
                  <a:cs typeface="Times New Roman" panose="02020603050405020304" charset="0"/>
                </a:rPr>
                <a:t>V</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CC</a:t>
              </a:r>
              <a:r>
                <a:rPr lang="zh-CN" sz="2000" b="1">
                  <a:solidFill>
                    <a:srgbClr val="000066"/>
                  </a:solidFill>
                  <a:latin typeface="Times New Roman" panose="02020603050405020304" charset="0"/>
                  <a:ea typeface="楷体" panose="02010609060101010101" charset="-122"/>
                  <a:cs typeface="Times New Roman" panose="02020603050405020304" charset="0"/>
                </a:rPr>
                <a:t>经</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向电容</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zh-CN" sz="2000" b="1">
                  <a:solidFill>
                    <a:srgbClr val="000066"/>
                  </a:solidFill>
                  <a:latin typeface="Times New Roman" panose="02020603050405020304" charset="0"/>
                  <a:ea typeface="楷体" panose="02010609060101010101" charset="-122"/>
                  <a:cs typeface="Times New Roman" panose="02020603050405020304" charset="0"/>
                </a:rPr>
                <a:t>充电，充电时间常数为</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sym typeface="+mn-ea"/>
                </a:rPr>
                <a:t>，放电时间常数</a:t>
              </a:r>
              <a:r>
                <a:rPr lang="en-US" altLang="zh-CN" sz="2000" b="1">
                  <a:solidFill>
                    <a:srgbClr val="000066"/>
                  </a:solidFill>
                  <a:latin typeface="Times New Roman" panose="02020603050405020304" charset="0"/>
                  <a:ea typeface="楷体" panose="02010609060101010101" charset="-122"/>
                  <a:sym typeface="+mn-ea"/>
                </a:rPr>
                <a:t>                   </a:t>
              </a:r>
              <a:r>
                <a:rPr lang="zh-CN" sz="2000" b="1">
                  <a:solidFill>
                    <a:srgbClr val="000066"/>
                  </a:solidFill>
                  <a:latin typeface="Times New Roman" panose="02020603050405020304" charset="0"/>
                  <a:ea typeface="楷体" panose="02010609060101010101" charset="-122"/>
                  <a:sym typeface="+mn-ea"/>
                </a:rPr>
                <a:t>，多谐振荡器产生低频振荡，喇叭发出低音。</a:t>
              </a:r>
              <a:endParaRPr lang="zh-CN" altLang="en-US" sz="2000" b="1">
                <a:solidFill>
                  <a:srgbClr val="000066"/>
                </a:solidFill>
                <a:latin typeface="Times New Roman" panose="02020603050405020304" charset="0"/>
                <a:ea typeface="楷体" panose="02010609060101010101" charset="-122"/>
              </a:endParaRPr>
            </a:p>
            <a:p>
              <a:endParaRPr lang="en-US" altLang="zh-CN" sz="20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6" name="对象 15"/>
            <p:cNvGraphicFramePr/>
            <p:nvPr/>
          </p:nvGraphicFramePr>
          <p:xfrm>
            <a:off x="9480" y="8040"/>
            <a:ext cx="3710" cy="567"/>
          </p:xfrm>
          <a:graphic>
            <a:graphicData uri="http://schemas.openxmlformats.org/presentationml/2006/ole">
              <mc:AlternateContent xmlns:mc="http://schemas.openxmlformats.org/markup-compatibility/2006">
                <mc:Choice xmlns:v="urn:schemas-microsoft-com:vml" Requires="v">
                  <p:oleObj spid="_x0000_s17" name="" r:id="rId6" imgW="1913890" imgH="352425" progId="Equation.KSEE3">
                    <p:embed/>
                  </p:oleObj>
                </mc:Choice>
                <mc:Fallback>
                  <p:oleObj name="" r:id="rId6" imgW="1913890" imgH="352425" progId="Equation.KSEE3">
                    <p:embed/>
                    <p:pic>
                      <p:nvPicPr>
                        <p:cNvPr id="0" name="图片 16"/>
                        <p:cNvPicPr/>
                        <p:nvPr/>
                      </p:nvPicPr>
                      <p:blipFill>
                        <a:blip r:embed="rId7"/>
                        <a:stretch>
                          <a:fillRect/>
                        </a:stretch>
                      </p:blipFill>
                      <p:spPr>
                        <a:xfrm>
                          <a:off x="9480" y="8040"/>
                          <a:ext cx="3710" cy="567"/>
                        </a:xfrm>
                        <a:prstGeom prst="rect">
                          <a:avLst/>
                        </a:prstGeom>
                      </p:spPr>
                    </p:pic>
                  </p:oleObj>
                </mc:Fallback>
              </mc:AlternateContent>
            </a:graphicData>
          </a:graphic>
        </p:graphicFrame>
        <p:graphicFrame>
          <p:nvGraphicFramePr>
            <p:cNvPr id="21" name="对象 20"/>
            <p:cNvGraphicFramePr/>
            <p:nvPr/>
          </p:nvGraphicFramePr>
          <p:xfrm>
            <a:off x="3000" y="8487"/>
            <a:ext cx="1935" cy="566"/>
          </p:xfrm>
          <a:graphic>
            <a:graphicData uri="http://schemas.openxmlformats.org/presentationml/2006/ole">
              <mc:AlternateContent xmlns:mc="http://schemas.openxmlformats.org/markup-compatibility/2006">
                <mc:Choice xmlns:v="urn:schemas-microsoft-com:vml" Requires="v">
                  <p:oleObj spid="_x0000_s22" name="" r:id="rId8" imgW="1061085" imgH="436880" progId="Equation.KSEE3">
                    <p:embed/>
                  </p:oleObj>
                </mc:Choice>
                <mc:Fallback>
                  <p:oleObj name="" r:id="rId8" imgW="1061085" imgH="436880" progId="Equation.KSEE3">
                    <p:embed/>
                    <p:pic>
                      <p:nvPicPr>
                        <p:cNvPr id="0" name="图片 11"/>
                        <p:cNvPicPr/>
                        <p:nvPr/>
                      </p:nvPicPr>
                      <p:blipFill>
                        <a:blip r:embed="rId5"/>
                        <a:stretch>
                          <a:fillRect/>
                        </a:stretch>
                      </p:blipFill>
                      <p:spPr>
                        <a:xfrm>
                          <a:off x="3000" y="8487"/>
                          <a:ext cx="1935" cy="566"/>
                        </a:xfrm>
                        <a:prstGeom prst="rect">
                          <a:avLst/>
                        </a:prstGeom>
                      </p:spPr>
                    </p:pic>
                  </p:oleObj>
                </mc:Fallback>
              </mc:AlternateContent>
            </a:graphicData>
          </a:graphic>
        </p:graphicFrame>
      </p:grpSp>
      <p:sp>
        <p:nvSpPr>
          <p:cNvPr id="23" name="文本框 22"/>
          <p:cNvSpPr txBox="1"/>
          <p:nvPr/>
        </p:nvSpPr>
        <p:spPr>
          <a:xfrm>
            <a:off x="288925" y="5943600"/>
            <a:ext cx="8420735" cy="706755"/>
          </a:xfrm>
          <a:prstGeom prst="rect">
            <a:avLst/>
          </a:prstGeom>
          <a:noFill/>
          <a:ln w="9525">
            <a:noFill/>
          </a:ln>
        </p:spPr>
        <p:txBody>
          <a:bodyPr wrap="square">
            <a:spAutoFit/>
          </a:bodyPr>
          <a:p>
            <a:pPr indent="266700"/>
            <a:r>
              <a:rPr lang="zh-CN" sz="2000" b="1">
                <a:solidFill>
                  <a:srgbClr val="000066"/>
                </a:solidFill>
                <a:latin typeface="Times New Roman" panose="02020603050405020304" charset="0"/>
                <a:ea typeface="楷体" panose="02010609060101010101" charset="-122"/>
                <a:cs typeface="Times New Roman" panose="02020603050405020304" charset="0"/>
              </a:rPr>
              <a:t>当电容</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放电至电位降为复位电平以下时，多谐振荡器停止振荡，喇叭停止发声。调节相关参数，即可改变高、低音发声频率及低音维持的时间。</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Rectangle 3"/>
          <p:cNvSpPr>
            <a:spLocks noGrp="1"/>
          </p:cNvSpPr>
          <p:nvPr/>
        </p:nvSpPr>
        <p:spPr>
          <a:xfrm>
            <a:off x="990600" y="1170940"/>
            <a:ext cx="311467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sz="2400" b="1" kern="1200" dirty="0">
                <a:solidFill>
                  <a:srgbClr val="FE09D6"/>
                </a:solidFill>
                <a:latin typeface="Times New Roman" panose="02020603050405020304" charset="0"/>
                <a:ea typeface="楷体" panose="02010609060101010101" charset="-122"/>
                <a:cs typeface="Times New Roman" panose="02020603050405020304" charset="0"/>
              </a:rPr>
              <a:t>2. 简易温控报警器</a:t>
            </a:r>
            <a:endParaRPr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pic>
        <p:nvPicPr>
          <p:cNvPr id="6" name="图片 5"/>
          <p:cNvPicPr>
            <a:picLocks noChangeAspect="1"/>
          </p:cNvPicPr>
          <p:nvPr/>
        </p:nvPicPr>
        <p:blipFill>
          <a:blip r:embed="rId1"/>
          <a:stretch>
            <a:fillRect/>
          </a:stretch>
        </p:blipFill>
        <p:spPr>
          <a:xfrm>
            <a:off x="5029200" y="2286000"/>
            <a:ext cx="3989070" cy="2692400"/>
          </a:xfrm>
          <a:prstGeom prst="rect">
            <a:avLst/>
          </a:prstGeom>
        </p:spPr>
      </p:pic>
      <p:sp>
        <p:nvSpPr>
          <p:cNvPr id="107" name="文本框 106"/>
          <p:cNvSpPr txBox="1"/>
          <p:nvPr/>
        </p:nvSpPr>
        <p:spPr>
          <a:xfrm>
            <a:off x="425450" y="1905000"/>
            <a:ext cx="4244975" cy="4521835"/>
          </a:xfrm>
          <a:prstGeom prst="rect">
            <a:avLst/>
          </a:prstGeom>
          <a:noFill/>
          <a:ln w="9525">
            <a:noFill/>
          </a:ln>
        </p:spPr>
        <p:txBody>
          <a:bodyPr wrap="square">
            <a:spAutoFit/>
          </a:bodyPr>
          <a:p>
            <a:pPr>
              <a:lnSpc>
                <a:spcPct val="12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当温度低于设定温度值时，晶体管</a:t>
            </a:r>
            <a:r>
              <a:rPr lang="en-US" sz="2400" b="1">
                <a:solidFill>
                  <a:srgbClr val="000066"/>
                </a:solidFill>
                <a:latin typeface="Times New Roman" panose="02020603050405020304" charset="0"/>
                <a:ea typeface="楷体" panose="02010609060101010101" charset="-122"/>
                <a:cs typeface="Times New Roman" panose="02020603050405020304" charset="0"/>
              </a:rPr>
              <a:t>VT</a:t>
            </a:r>
            <a:r>
              <a:rPr lang="zh-CN" sz="2400" b="1">
                <a:solidFill>
                  <a:srgbClr val="000066"/>
                </a:solidFill>
                <a:latin typeface="Times New Roman" panose="02020603050405020304" charset="0"/>
                <a:ea typeface="楷体" panose="02010609060101010101" charset="-122"/>
                <a:cs typeface="Times New Roman" panose="02020603050405020304" charset="0"/>
              </a:rPr>
              <a:t>的穿透电流</a:t>
            </a:r>
            <a:r>
              <a:rPr lang="en-US" sz="2400" b="1" i="1">
                <a:solidFill>
                  <a:srgbClr val="000066"/>
                </a:solidFill>
                <a:latin typeface="Times New Roman" panose="02020603050405020304" charset="0"/>
                <a:ea typeface="楷体" panose="02010609060101010101" charset="-122"/>
                <a:cs typeface="Times New Roman" panose="02020603050405020304" charset="0"/>
              </a:rPr>
              <a:t>I</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CEO</a:t>
            </a:r>
            <a:r>
              <a:rPr lang="zh-CN" sz="2400" b="1">
                <a:solidFill>
                  <a:srgbClr val="000066"/>
                </a:solidFill>
                <a:latin typeface="Times New Roman" panose="02020603050405020304" charset="0"/>
                <a:ea typeface="楷体" panose="02010609060101010101" charset="-122"/>
                <a:cs typeface="Times New Roman" panose="02020603050405020304" charset="0"/>
              </a:rPr>
              <a:t>较小，</a:t>
            </a:r>
            <a:r>
              <a:rPr lang="en-US" sz="2400" b="1">
                <a:solidFill>
                  <a:srgbClr val="000066"/>
                </a:solidFill>
                <a:latin typeface="Times New Roman" panose="02020603050405020304" charset="0"/>
                <a:ea typeface="楷体" panose="02010609060101010101" charset="-122"/>
                <a:cs typeface="Times New Roman" panose="02020603050405020304" charset="0"/>
              </a:rPr>
              <a:t>555</a:t>
            </a:r>
            <a:r>
              <a:rPr lang="zh-CN" sz="2400" b="1">
                <a:solidFill>
                  <a:srgbClr val="000066"/>
                </a:solidFill>
                <a:latin typeface="Times New Roman" panose="02020603050405020304" charset="0"/>
                <a:ea typeface="楷体" panose="02010609060101010101" charset="-122"/>
                <a:cs typeface="Times New Roman" panose="02020603050405020304" charset="0"/>
              </a:rPr>
              <a:t>复位端的电压较低，电路工作在复位状态，多谐振荡器不工作，扬声器无声音；当温度升高到设定温度值时，晶体管</a:t>
            </a:r>
            <a:r>
              <a:rPr lang="en-US" sz="2400" b="1">
                <a:solidFill>
                  <a:srgbClr val="000066"/>
                </a:solidFill>
                <a:latin typeface="Times New Roman" panose="02020603050405020304" charset="0"/>
                <a:ea typeface="楷体" panose="02010609060101010101" charset="-122"/>
                <a:cs typeface="Times New Roman" panose="02020603050405020304" charset="0"/>
              </a:rPr>
              <a:t>VT</a:t>
            </a:r>
            <a:r>
              <a:rPr lang="zh-CN" sz="2400" b="1">
                <a:solidFill>
                  <a:srgbClr val="000066"/>
                </a:solidFill>
                <a:latin typeface="Times New Roman" panose="02020603050405020304" charset="0"/>
                <a:ea typeface="楷体" panose="02010609060101010101" charset="-122"/>
                <a:cs typeface="Times New Roman" panose="02020603050405020304" charset="0"/>
              </a:rPr>
              <a:t>的穿透电流</a:t>
            </a:r>
            <a:r>
              <a:rPr lang="en-US" sz="2400" b="1" i="1">
                <a:solidFill>
                  <a:srgbClr val="000066"/>
                </a:solidFill>
                <a:latin typeface="Times New Roman" panose="02020603050405020304" charset="0"/>
                <a:ea typeface="楷体" panose="02010609060101010101" charset="-122"/>
                <a:cs typeface="Times New Roman" panose="02020603050405020304" charset="0"/>
              </a:rPr>
              <a:t>I</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CEO</a:t>
            </a:r>
            <a:r>
              <a:rPr lang="zh-CN" sz="2400" b="1">
                <a:solidFill>
                  <a:srgbClr val="000066"/>
                </a:solidFill>
                <a:latin typeface="Times New Roman" panose="02020603050405020304" charset="0"/>
                <a:ea typeface="楷体" panose="02010609060101010101" charset="-122"/>
                <a:cs typeface="Times New Roman" panose="02020603050405020304" charset="0"/>
              </a:rPr>
              <a:t>较大，</a:t>
            </a:r>
            <a:r>
              <a:rPr lang="en-US" sz="2400" b="1">
                <a:solidFill>
                  <a:srgbClr val="000066"/>
                </a:solidFill>
                <a:latin typeface="Times New Roman" panose="02020603050405020304" charset="0"/>
                <a:ea typeface="楷体" panose="02010609060101010101" charset="-122"/>
                <a:cs typeface="Times New Roman" panose="02020603050405020304" charset="0"/>
              </a:rPr>
              <a:t>555</a:t>
            </a:r>
            <a:r>
              <a:rPr lang="zh-CN" sz="2400" b="1">
                <a:solidFill>
                  <a:srgbClr val="000066"/>
                </a:solidFill>
                <a:latin typeface="Times New Roman" panose="02020603050405020304" charset="0"/>
                <a:ea typeface="楷体" panose="02010609060101010101" charset="-122"/>
                <a:cs typeface="Times New Roman" panose="02020603050405020304" charset="0"/>
              </a:rPr>
              <a:t>复位端的电压升高到复位状态解除，多谐振荡器开始工作，扬声器发出警报声。</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6"/>
          <p:cNvSpPr txBox="1"/>
          <p:nvPr/>
        </p:nvSpPr>
        <p:spPr>
          <a:xfrm>
            <a:off x="2971800" y="533400"/>
            <a:ext cx="375348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7.5 </a:t>
            </a:r>
            <a:r>
              <a:rPr lang="zh-CN" altLang="en-US" b="1" dirty="0">
                <a:solidFill>
                  <a:srgbClr val="FF0000"/>
                </a:solidFill>
                <a:latin typeface="黑体" panose="02010609060101010101" pitchFamily="49" charset="-122"/>
                <a:ea typeface="黑体" panose="02010609060101010101" pitchFamily="49" charset="-122"/>
              </a:rPr>
              <a:t>多谐振荡器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Rectangle 3"/>
          <p:cNvSpPr>
            <a:spLocks noGrp="1"/>
          </p:cNvSpPr>
          <p:nvPr/>
        </p:nvSpPr>
        <p:spPr>
          <a:xfrm>
            <a:off x="990600" y="1170940"/>
            <a:ext cx="311467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sz="2400" b="1" kern="1200" dirty="0">
                <a:solidFill>
                  <a:srgbClr val="FE09D6"/>
                </a:solidFill>
                <a:latin typeface="Times New Roman" panose="02020603050405020304" charset="0"/>
                <a:ea typeface="楷体" panose="02010609060101010101" charset="-122"/>
                <a:cs typeface="Times New Roman" panose="02020603050405020304" charset="0"/>
              </a:rPr>
              <a:t>3. 秒脉冲发生器</a:t>
            </a:r>
            <a:endParaRPr sz="2400" b="1" kern="1200" dirty="0">
              <a:solidFill>
                <a:srgbClr val="FE09D6"/>
              </a:solidFill>
              <a:latin typeface="Times New Roman" panose="02020603050405020304" charset="0"/>
              <a:ea typeface="楷体" panose="02010609060101010101" charset="-122"/>
              <a:cs typeface="Times New Roman" panose="02020603050405020304" charset="0"/>
            </a:endParaRPr>
          </a:p>
        </p:txBody>
      </p:sp>
      <p:pic>
        <p:nvPicPr>
          <p:cNvPr id="4" name="图片 3"/>
          <p:cNvPicPr>
            <a:picLocks noChangeAspect="1"/>
          </p:cNvPicPr>
          <p:nvPr/>
        </p:nvPicPr>
        <p:blipFill>
          <a:blip r:embed="rId1"/>
          <a:stretch>
            <a:fillRect/>
          </a:stretch>
        </p:blipFill>
        <p:spPr>
          <a:xfrm>
            <a:off x="838200" y="1752600"/>
            <a:ext cx="7546340" cy="2189480"/>
          </a:xfrm>
          <a:prstGeom prst="rect">
            <a:avLst/>
          </a:prstGeom>
        </p:spPr>
      </p:pic>
      <p:sp>
        <p:nvSpPr>
          <p:cNvPr id="5" name="文本框 4"/>
          <p:cNvSpPr txBox="1"/>
          <p:nvPr/>
        </p:nvSpPr>
        <p:spPr>
          <a:xfrm>
            <a:off x="457200" y="4419600"/>
            <a:ext cx="8519160" cy="1568450"/>
          </a:xfrm>
          <a:prstGeom prst="rect">
            <a:avLst/>
          </a:prstGeom>
          <a:noFill/>
          <a:ln w="9525">
            <a:noFill/>
          </a:ln>
        </p:spPr>
        <p:txBody>
          <a:bodyPr wrap="square">
            <a:spAutoFit/>
          </a:bodyPr>
          <a:p>
            <a:pPr indent="400050"/>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由石英晶体多谐振荡器产生</a:t>
            </a:r>
            <a:r>
              <a:rPr lang="en-US" sz="2400" b="1" i="1">
                <a:solidFill>
                  <a:srgbClr val="000066"/>
                </a:solidFill>
                <a:latin typeface="Times New Roman" panose="02020603050405020304" charset="0"/>
                <a:ea typeface="楷体" panose="02010609060101010101" charset="-122"/>
                <a:cs typeface="Times New Roman" panose="02020603050405020304" charset="0"/>
              </a:rPr>
              <a:t>f=</a:t>
            </a:r>
            <a:r>
              <a:rPr lang="en-US" sz="2400" b="1">
                <a:solidFill>
                  <a:srgbClr val="000066"/>
                </a:solidFill>
                <a:latin typeface="Times New Roman" panose="02020603050405020304" charset="0"/>
                <a:ea typeface="楷体" panose="02010609060101010101" charset="-122"/>
                <a:cs typeface="Times New Roman" panose="02020603050405020304" charset="0"/>
              </a:rPr>
              <a:t>32768Hz</a:t>
            </a:r>
            <a:r>
              <a:rPr lang="zh-CN" sz="2400" b="1">
                <a:solidFill>
                  <a:srgbClr val="000066"/>
                </a:solidFill>
                <a:latin typeface="Times New Roman" panose="02020603050405020304" charset="0"/>
                <a:ea typeface="楷体" panose="02010609060101010101" charset="-122"/>
                <a:cs typeface="Times New Roman" panose="02020603050405020304" charset="0"/>
              </a:rPr>
              <a:t>的基准信号，经</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30000">
                <a:solidFill>
                  <a:srgbClr val="000066"/>
                </a:solidFill>
                <a:latin typeface="Times New Roman" panose="02020603050405020304" charset="0"/>
                <a:ea typeface="楷体" panose="02010609060101010101" charset="-122"/>
                <a:cs typeface="Times New Roman" panose="02020603050405020304" charset="0"/>
              </a:rPr>
              <a:t>’</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触发器构成</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15</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级异步计数器分频后，便可得到稳定度极高的秒信号。这种秒脉冲发生器可用做各种计时系统的基准信号源。</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a:p>
            <a:pPr indent="400050"/>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7" name="图片 6"/>
          <p:cNvPicPr/>
          <p:nvPr/>
        </p:nvPicPr>
        <p:blipFill>
          <a:blip r:embed="rId2"/>
          <a:stretch>
            <a:fillRect/>
          </a:stretch>
        </p:blipFill>
        <p:spPr>
          <a:xfrm>
            <a:off x="1752600" y="4824730"/>
            <a:ext cx="171450" cy="1905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140271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1. </a:t>
            </a:r>
            <a:r>
              <a:rPr sz="2400" b="1" kern="1200" dirty="0">
                <a:solidFill>
                  <a:srgbClr val="000066"/>
                </a:solidFill>
                <a:latin typeface="Times New Roman" panose="02020603050405020304" charset="0"/>
                <a:ea typeface="楷体" panose="02010609060101010101" charset="-122"/>
                <a:cs typeface="Times New Roman" panose="02020603050405020304" charset="0"/>
              </a:rPr>
              <a:t>555定时器是一种用途很广的集成电路，除了能组成施密特触发器、单稳态触发器和多谐振荡器以外，还可以接成各种灵活多变的应用电路。</a:t>
            </a:r>
            <a:endParaRPr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8" name="矩形 107"/>
          <p:cNvSpPr/>
          <p:nvPr/>
        </p:nvSpPr>
        <p:spPr>
          <a:xfrm>
            <a:off x="784860" y="3200400"/>
            <a:ext cx="7856220" cy="2943860"/>
          </a:xfrm>
          <a:prstGeom prst="rect">
            <a:avLst/>
          </a:prstGeom>
          <a:noFill/>
          <a:ln w="9525">
            <a:noFill/>
          </a:ln>
        </p:spPr>
        <p:txBody>
          <a:bodyPr vert="horz" wrap="square" lIns="91440" tIns="45720" rIns="91440" bIns="45720" rtlCol="0" anchor="t" anchorCtr="0"/>
          <a:p>
            <a:pPr lvl="0" algn="l">
              <a:lnSpc>
                <a:spcPct val="120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2</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．单稳态触发器具有一个稳态，可以由门电路构成，也可以由</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555</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定时器构成。单稳态触发器分为可重复触发和不可重复触发两类。单稳态触发器不能自动地产生矩形脉冲，但却可以把其它形状的信号变换成为矩形波，用途很广。</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blinds(horizontal)">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P spid="108" grpId="0"/>
      <p:bldP spid="108"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600200"/>
            <a:ext cx="8003540" cy="235267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3</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施密特触发器是一种能够把输入波形整形成为适合于数字电路需要的矩形脉冲的电路，为数字系统提供标准的脉冲信号。而且由于它具有滞回特性，所以抗干扰能力也很强。施密特触发器可以由分立元件构成，也555定时器构成。</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Rectangle 3"/>
          <p:cNvSpPr>
            <a:spLocks noGrp="1"/>
          </p:cNvSpPr>
          <p:nvPr/>
        </p:nvSpPr>
        <p:spPr>
          <a:xfrm>
            <a:off x="685800" y="3886200"/>
            <a:ext cx="8003540" cy="18364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4</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多谐振荡器是一种自激振荡电路，不需要外加输入信号，就可以自动地产生出矩形脉冲。多谐振荡器没有稳态，所以又称为无稳电路。多谐振荡器可以由门电路构成，也可以由555定时器构成。</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147" grpId="0" build="p"/>
      <p:bldP spid="6147" grpI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70230" y="1752600"/>
            <a:ext cx="8003540" cy="4184650"/>
          </a:xfrm>
        </p:spPr>
        <p:txBody>
          <a:bodyPr vert="horz" wrap="square" lIns="91440" tIns="45720" rIns="91440" bIns="45720" anchor="t" anchorCtr="0"/>
          <a:p>
            <a:pPr marL="0" indent="0" algn="ctr" eaLnBrk="1" latinLnBrk="0" hangingPunct="1">
              <a:lnSpc>
                <a:spcPct val="120000"/>
              </a:lnSpc>
              <a:spcBef>
                <a:spcPts val="0"/>
              </a:spcBef>
              <a:buNone/>
            </a:pPr>
            <a:r>
              <a:rPr lang="en-US" altLang="zh-CN" b="1" kern="1200" dirty="0">
                <a:solidFill>
                  <a:srgbClr val="000066"/>
                </a:solidFill>
                <a:latin typeface="Times New Roman" panose="02020603050405020304" charset="0"/>
                <a:ea typeface="楷体" panose="02010609060101010101" charset="-122"/>
                <a:cs typeface="Times New Roman" panose="02020603050405020304" charset="0"/>
              </a:rPr>
              <a:t>P208-211</a:t>
            </a:r>
            <a:endParaRPr lang="en-US" altLang="zh-CN"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7-4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7-7</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7-8</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7-9</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7-11</a:t>
            </a:r>
            <a:endPar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7-12</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buNone/>
            </a:pP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buNone/>
            </a:pP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6147">
                                            <p:txEl>
                                              <p:pRg st="0" end="0"/>
                                            </p:txEl>
                                          </p:spTgt>
                                        </p:tgtEl>
                                        <p:attrNameLst>
                                          <p:attrName>style.visibility</p:attrName>
                                        </p:attrNameLst>
                                      </p:cBhvr>
                                      <p:to>
                                        <p:strVal val="visible"/>
                                      </p:to>
                                    </p:set>
                                    <p:anim calcmode="discrete" valueType="clr">
                                      <p:cBhvr override="childStyle">
                                        <p:cTn id="7" dur="80"/>
                                        <p:tgtEl>
                                          <p:spTgt spid="614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14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614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6147">
                                            <p:txEl>
                                              <p:pRg st="1" end="1"/>
                                            </p:txEl>
                                          </p:spTgt>
                                        </p:tgtEl>
                                        <p:attrNameLst>
                                          <p:attrName>style.visibility</p:attrName>
                                        </p:attrNameLst>
                                      </p:cBhvr>
                                      <p:to>
                                        <p:strVal val="visible"/>
                                      </p:to>
                                    </p:set>
                                    <p:anim calcmode="discrete" valueType="clr">
                                      <p:cBhvr override="childStyle">
                                        <p:cTn id="14" dur="80"/>
                                        <p:tgtEl>
                                          <p:spTgt spid="614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614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614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6147">
                                            <p:txEl>
                                              <p:pRg st="2" end="2"/>
                                            </p:txEl>
                                          </p:spTgt>
                                        </p:tgtEl>
                                        <p:attrNameLst>
                                          <p:attrName>style.visibility</p:attrName>
                                        </p:attrNameLst>
                                      </p:cBhvr>
                                      <p:to>
                                        <p:strVal val="visible"/>
                                      </p:to>
                                    </p:set>
                                    <p:anim calcmode="discrete" valueType="clr">
                                      <p:cBhvr override="childStyle">
                                        <p:cTn id="21" dur="80"/>
                                        <p:tgtEl>
                                          <p:spTgt spid="614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614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614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6147">
                                            <p:txEl>
                                              <p:pRg st="3" end="3"/>
                                            </p:txEl>
                                          </p:spTgt>
                                        </p:tgtEl>
                                        <p:attrNameLst>
                                          <p:attrName>style.visibility</p:attrName>
                                        </p:attrNameLst>
                                      </p:cBhvr>
                                      <p:to>
                                        <p:strVal val="visible"/>
                                      </p:to>
                                    </p:set>
                                    <p:anim calcmode="discrete" valueType="clr">
                                      <p:cBhvr override="childStyle">
                                        <p:cTn id="28" dur="80"/>
                                        <p:tgtEl>
                                          <p:spTgt spid="614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6147">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6147">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6147">
                                            <p:txEl>
                                              <p:pRg st="4" end="4"/>
                                            </p:txEl>
                                          </p:spTgt>
                                        </p:tgtEl>
                                        <p:attrNameLst>
                                          <p:attrName>style.visibility</p:attrName>
                                        </p:attrNameLst>
                                      </p:cBhvr>
                                      <p:to>
                                        <p:strVal val="visible"/>
                                      </p:to>
                                    </p:set>
                                    <p:anim calcmode="discrete" valueType="clr">
                                      <p:cBhvr override="childStyle">
                                        <p:cTn id="35" dur="80"/>
                                        <p:tgtEl>
                                          <p:spTgt spid="614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6147">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6147">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6147">
                                            <p:txEl>
                                              <p:pRg st="5" end="5"/>
                                            </p:txEl>
                                          </p:spTgt>
                                        </p:tgtEl>
                                        <p:attrNameLst>
                                          <p:attrName>style.visibility</p:attrName>
                                        </p:attrNameLst>
                                      </p:cBhvr>
                                      <p:to>
                                        <p:strVal val="visible"/>
                                      </p:to>
                                    </p:set>
                                    <p:anim calcmode="discrete" valueType="clr">
                                      <p:cBhvr override="childStyle">
                                        <p:cTn id="42" dur="80"/>
                                        <p:tgtEl>
                                          <p:spTgt spid="614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6147">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6147">
                                            <p:txEl>
                                              <p:pRg st="5" end="5"/>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6147">
                                            <p:txEl>
                                              <p:pRg st="6" end="6"/>
                                            </p:txEl>
                                          </p:spTgt>
                                        </p:tgtEl>
                                        <p:attrNameLst>
                                          <p:attrName>style.visibility</p:attrName>
                                        </p:attrNameLst>
                                      </p:cBhvr>
                                      <p:to>
                                        <p:strVal val="visible"/>
                                      </p:to>
                                    </p:set>
                                    <p:anim calcmode="discrete" valueType="clr">
                                      <p:cBhvr override="childStyle">
                                        <p:cTn id="49" dur="80"/>
                                        <p:tgtEl>
                                          <p:spTgt spid="614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6147">
                                            <p:txEl>
                                              <p:pRg st="6" end="6"/>
                                            </p:txEl>
                                          </p:spTgt>
                                        </p:tgtEl>
                                        <p:attrNameLst>
                                          <p:attrName>fillcolor</p:attrName>
                                        </p:attrNameLst>
                                      </p:cBhvr>
                                      <p:tavLst>
                                        <p:tav tm="0">
                                          <p:val>
                                            <p:clrVal>
                                              <a:schemeClr val="accent2"/>
                                            </p:clrVal>
                                          </p:val>
                                        </p:tav>
                                        <p:tav tm="50000">
                                          <p:val>
                                            <p:clrVal>
                                              <a:schemeClr val="hlink"/>
                                            </p:clrVal>
                                          </p:val>
                                        </p:tav>
                                      </p:tavLst>
                                    </p:anim>
                                    <p:set>
                                      <p:cBhvr>
                                        <p:cTn id="51" dur="80"/>
                                        <p:tgtEl>
                                          <p:spTgt spid="6147">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Lst>
  </p:timing>
</p:sld>
</file>

<file path=ppt/tags/tag1.xml><?xml version="1.0" encoding="utf-8"?>
<p:tagLst xmlns:p="http://schemas.openxmlformats.org/presentationml/2006/main">
  <p:tag name="KSO_WM_UNIT_PLACING_PICTURE_USER_VIEWPORT" val="{&quot;height&quot;:8025,&quot;width&quot;:18900}"/>
</p:tagLst>
</file>

<file path=ppt/tags/tag2.xml><?xml version="1.0" encoding="utf-8"?>
<p:tagLst xmlns:p="http://schemas.openxmlformats.org/presentationml/2006/main">
  <p:tag name="KSO_WM_UNIT_PLACING_PICTURE_USER_VIEWPORT" val="{&quot;height&quot;:8025,&quot;width&quot;:18900}"/>
</p:tagLst>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9406</Words>
  <Application>WPS 演示</Application>
  <PresentationFormat>全屏显示(4:3)</PresentationFormat>
  <Paragraphs>1801</Paragraphs>
  <Slides>71</Slides>
  <Notes>8</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74</vt:i4>
      </vt:variant>
      <vt:variant>
        <vt:lpstr>幻灯片标题</vt:lpstr>
      </vt:variant>
      <vt:variant>
        <vt:i4>71</vt:i4>
      </vt:variant>
    </vt:vector>
  </HeadingPairs>
  <TitlesOfParts>
    <vt:vector size="169" baseType="lpstr">
      <vt:lpstr>Arial</vt:lpstr>
      <vt:lpstr>宋体</vt:lpstr>
      <vt:lpstr>Wingdings</vt:lpstr>
      <vt:lpstr>Calibri</vt:lpstr>
      <vt:lpstr>微软雅黑</vt:lpstr>
      <vt:lpstr>黑体</vt:lpstr>
      <vt:lpstr>Times New Roman</vt:lpstr>
      <vt:lpstr>楷体</vt:lpstr>
      <vt:lpstr>Arial Unicode MS</vt:lpstr>
      <vt:lpstr>楷体_GB2312</vt:lpstr>
      <vt:lpstr>新宋体</vt:lpstr>
      <vt:lpstr>Batang</vt:lpstr>
      <vt:lpstr>Constantia</vt:lpstr>
      <vt:lpstr>Bookman Old Style</vt:lpstr>
      <vt:lpstr>Verdana</vt:lpstr>
      <vt:lpstr>Symbol</vt:lpstr>
      <vt:lpstr>Arial Narrow</vt:lpstr>
      <vt:lpstr>Arial Black</vt:lpstr>
      <vt:lpstr>Monotype Corsiva</vt:lpstr>
      <vt:lpstr>Mongolian Baiti</vt:lpstr>
      <vt:lpstr>华康简宋</vt:lpstr>
      <vt:lpstr>Book Antiqua</vt:lpstr>
      <vt:lpstr>Segoe Print</vt:lpstr>
      <vt:lpstr>Default Design</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Word.Picture.8</vt:lpstr>
      <vt:lpstr>Paint.Picture</vt:lpstr>
      <vt:lpstr>Paint.Picture</vt:lpstr>
      <vt:lpstr>Paint.Picture</vt:lpstr>
      <vt:lpstr>Word.Picture.8</vt:lpstr>
      <vt:lpstr>Equation.KSEE3</vt:lpstr>
      <vt:lpstr>Paint.Picture</vt:lpstr>
      <vt:lpstr>Equation.3</vt:lpstr>
      <vt:lpstr>Equation.3</vt:lpstr>
      <vt:lpstr>Equation.3</vt:lpstr>
      <vt:lpstr>Equation.KSEE3</vt:lpstr>
      <vt:lpstr>Equation.KSEE3</vt:lpstr>
      <vt:lpstr>Equation.KSEE3</vt:lpstr>
      <vt:lpstr>Equation.KSEE3</vt:lpstr>
      <vt:lpstr>Equation.DSMT4</vt:lpstr>
      <vt:lpstr>Equation.DSMT4</vt:lpstr>
      <vt:lpstr>Equation.3</vt:lpstr>
      <vt:lpstr>Equation.3</vt:lpstr>
      <vt:lpstr>Word.Picture.8</vt:lpstr>
      <vt:lpstr>Equation.DSMT4</vt:lpstr>
      <vt:lpstr>Word.Picture.8</vt:lpstr>
      <vt:lpstr>Equation.KSEE3</vt:lpstr>
      <vt:lpstr>Equation.DSMT4</vt:lpstr>
      <vt:lpstr>Equation.DSMT4</vt:lpstr>
      <vt:lpstr>Equation.DSMT4</vt:lpstr>
      <vt:lpstr>Equation.DSMT4</vt:lpstr>
      <vt:lpstr>Word.Picture.8</vt:lpstr>
      <vt:lpstr>Word.Picture.8</vt:lpstr>
      <vt:lpstr>Word.Picture.8</vt:lpstr>
      <vt:lpstr>Word.Picture.8</vt:lpstr>
      <vt:lpstr>Word.Picture.8</vt:lpstr>
      <vt:lpstr>Word.Picture.8</vt:lpstr>
      <vt:lpstr>Equation.KSEE3</vt:lpstr>
      <vt:lpstr>Word.Picture.8</vt:lpstr>
      <vt:lpstr>Equation.3</vt:lpstr>
      <vt:lpstr>Equation.KSEE3</vt:lpstr>
      <vt:lpstr>Equation.KSEE3</vt:lpstr>
      <vt:lpstr>Equation.3</vt:lpstr>
      <vt:lpstr>Equation.3</vt:lpstr>
      <vt:lpstr>Equation.3</vt:lpstr>
      <vt:lpstr>Equation.3</vt:lpstr>
      <vt:lpstr>Equation.3</vt:lpstr>
      <vt:lpstr>Equation.3</vt:lpstr>
      <vt:lpstr>Equation.KSEE3</vt:lpstr>
      <vt:lpstr>Equation.3</vt:lpstr>
      <vt:lpstr>Equation.DSMT4</vt:lpstr>
      <vt:lpstr>Equation.KSEE3</vt:lpstr>
      <vt:lpstr>Equation.DSMT4</vt:lpstr>
      <vt:lpstr>Word.Picture.8</vt:lpstr>
      <vt:lpstr>Word.Picture.8</vt:lpstr>
      <vt:lpstr>Equation.DSMT4</vt:lpstr>
      <vt:lpstr>Equation.DSMT4</vt:lpstr>
      <vt:lpstr>Equation.DSMT4</vt:lpstr>
      <vt:lpstr>Equation.DSMT4</vt:lpstr>
      <vt:lpstr>Equation.KSEE3</vt:lpstr>
      <vt:lpstr>Equation.DSMT4</vt:lpstr>
      <vt:lpstr>Equation.KSEE3</vt:lpstr>
      <vt:lpstr>Equation.KSEE3</vt:lpstr>
      <vt:lpstr>Equation.KSEE3</vt:lpstr>
      <vt:lpstr>Equation.KSEE3</vt:lpstr>
      <vt:lpstr>Equation.KSEE3</vt:lpstr>
      <vt:lpstr>Equation.KSEE3</vt:lpstr>
      <vt:lpstr>PowerPoint 演示文稿</vt:lpstr>
      <vt:lpstr>第7章 脉冲波形的产生与整形电路</vt:lpstr>
      <vt:lpstr>PowerPoint 演示文稿</vt:lpstr>
      <vt:lpstr>7.1.1 脉冲波形的产生电路与整形电路的特点</vt:lpstr>
      <vt:lpstr>PowerPoint 演示文稿</vt:lpstr>
      <vt:lpstr>7.1.2 电路基本分析方法</vt:lpstr>
      <vt:lpstr>PowerPoint 演示文稿</vt:lpstr>
      <vt:lpstr>PowerPoint 演示文稿</vt:lpstr>
      <vt:lpstr>7.2.1 555定时器的电路结构</vt:lpstr>
      <vt:lpstr>PowerPoint 演示文稿</vt:lpstr>
      <vt:lpstr>7.2.2 555定时器工作原理</vt:lpstr>
      <vt:lpstr>PowerPoint 演示文稿</vt:lpstr>
      <vt:lpstr>PowerPoint 演示文稿</vt:lpstr>
      <vt:lpstr>PowerPoint 演示文稿</vt:lpstr>
      <vt:lpstr>7.3.1 555定时器构成的单稳态触发器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7.3.2 由门电路构成的单稳态触发器</vt:lpstr>
      <vt:lpstr>PowerPoint 演示文稿</vt:lpstr>
      <vt:lpstr>PowerPoint 演示文稿</vt:lpstr>
      <vt:lpstr>PowerPoint 演示文稿</vt:lpstr>
      <vt:lpstr>PowerPoint 演示文稿</vt:lpstr>
      <vt:lpstr>PowerPoint 演示文稿</vt:lpstr>
      <vt:lpstr>PowerPoint 演示文稿</vt:lpstr>
      <vt:lpstr>7.3.3 集成单稳态触发器</vt:lpstr>
      <vt:lpstr>PowerPoint 演示文稿</vt:lpstr>
      <vt:lpstr>PowerPoint 演示文稿</vt:lpstr>
      <vt:lpstr>PowerPoint 演示文稿</vt:lpstr>
      <vt:lpstr>PowerPoint 演示文稿</vt:lpstr>
      <vt:lpstr>PowerPoint 演示文稿</vt:lpstr>
      <vt:lpstr>7.3.4 单稳态触发器的应用</vt:lpstr>
      <vt:lpstr>PowerPoint 演示文稿</vt:lpstr>
      <vt:lpstr>PowerPoint 演示文稿</vt:lpstr>
      <vt:lpstr>PowerPoint 演示文稿</vt:lpstr>
      <vt:lpstr>PowerPoint 演示文稿</vt:lpstr>
      <vt:lpstr>PowerPoint 演示文稿</vt:lpstr>
      <vt:lpstr>7.4.1 由555定时器构成的施密特触发器</vt:lpstr>
      <vt:lpstr>PowerPoint 演示文稿</vt:lpstr>
      <vt:lpstr>PowerPoint 演示文稿</vt:lpstr>
      <vt:lpstr>PowerPoint 演示文稿</vt:lpstr>
      <vt:lpstr>7.4.2 由门电路构成的施密特触发器</vt:lpstr>
      <vt:lpstr>PowerPoint 演示文稿</vt:lpstr>
      <vt:lpstr>PowerPoint 演示文稿</vt:lpstr>
      <vt:lpstr>PowerPoint 演示文稿</vt:lpstr>
      <vt:lpstr>7.4.3 施密特触发器的应用</vt:lpstr>
      <vt:lpstr>PowerPoint 演示文稿</vt:lpstr>
      <vt:lpstr>PowerPoint 演示文稿</vt:lpstr>
      <vt:lpstr>PowerPoint 演示文稿</vt:lpstr>
      <vt:lpstr>PowerPoint 演示文稿</vt:lpstr>
      <vt:lpstr>PowerPoint 演示文稿</vt:lpstr>
      <vt:lpstr>7.5.1 由555定时器构成的多谐振荡器</vt:lpstr>
      <vt:lpstr>PowerPoint 演示文稿</vt:lpstr>
      <vt:lpstr>PowerPoint 演示文稿</vt:lpstr>
      <vt:lpstr>PowerPoint 演示文稿</vt:lpstr>
      <vt:lpstr>7.5.2 由门电路构成的多谐振荡器</vt:lpstr>
      <vt:lpstr>PowerPoint 演示文稿</vt:lpstr>
      <vt:lpstr>PowerPoint 演示文稿</vt:lpstr>
      <vt:lpstr>PowerPoint 演示文稿</vt:lpstr>
      <vt:lpstr>7.5.3 石英晶体振荡器</vt:lpstr>
      <vt:lpstr>PowerPoint 演示文稿</vt:lpstr>
      <vt:lpstr>7.5.4 多谐振荡器的应用</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WPS_1632966238</cp:lastModifiedBy>
  <cp:revision>335</cp:revision>
  <dcterms:created xsi:type="dcterms:W3CDTF">2007-02-20T07:59:00Z</dcterms:created>
  <dcterms:modified xsi:type="dcterms:W3CDTF">2022-03-21T06:20:13Z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160DC163B17743C097BE7B5D74E96AB6</vt:lpwstr>
  </property>
  <property fmtid="{D5CDD505-2E9C-101B-9397-08002B2CF9AE}" pid="3" name="KSOProductBuildVer">
    <vt:lpwstr>2052-11.1.0.11365</vt:lpwstr>
  </property>
</Properties>
</file>